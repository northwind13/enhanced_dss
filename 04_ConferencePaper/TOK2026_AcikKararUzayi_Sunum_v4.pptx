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75e53fd6-eb13-93e0-629e-7b633dce0d81}">
          <p14:sldIdLst>
            <p14:sldId id="256"/>
            <p14:sldId id="257"/>
            <p14:sldId id="258"/>
          </p14:sldIdLst>
        </p14:section>
        <p14:section name="Mimari" id="{e937b60f-3c19-bfa7-96b0-bb687bef34ba}">
          <p14:sldIdLst>
            <p14:sldId id="259"/>
            <p14:sldId id="260"/>
            <p14:sldId id="261"/>
            <p14:sldId id="262"/>
          </p14:sldIdLst>
        </p14:section>
        <p14:section name="Değerlendirme" id="{bb44379a-8740-d2d6-14a5-09d2d7ccfed9}">
          <p14:sldIdLst>
            <p14:sldId id="263"/>
            <p14:sldId id="264"/>
            <p14:sldId id="265"/>
            <p14:sldId id="266"/>
            <p14:sldId id="267"/>
          </p14:sldIdLst>
        </p14:section>
        <p14:section name="Sonuç" id="{f3e62d82-dd0c-a1e4-75a1-830918200c83}">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Deneme</c:v>
                </c:pt>
              </c:strCache>
            </c:strRef>
          </c:tx>
          <c:spPr>
            <a:solidFill>
              <a:srgbClr val="D7DEE8"/>
            </a:solidFill>
            <a:effectLst/>
          </c:spPr>
          <c:invertIfNegative val="0"/>
          <c:dLbls>
            <c:numFmt formatCode="#,##0" sourceLinked="0"/>
            <c:txPr>
              <a:bodyPr/>
              <a:lstStyle/>
              <a:p>
                <a:pPr>
                  <a:defRPr b="0" i="0" strike="noStrike" sz="1400" u="none">
                    <a:solidFill>
                      <a:srgbClr val="1C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Aşama 1 (parametre)</c:v>
                  </c:pt>
                  <c:pt idx="1">
                    <c:v>Aşama 2 (çözünürlük)</c:v>
                  </c:pt>
                  <c:pt idx="2">
                    <c:v>Aşama 3 (üretken)</c:v>
                  </c:pt>
                </c:lvl>
              </c:multiLvlStrCache>
            </c:multiLvlStrRef>
          </c:cat>
          <c:val>
            <c:numRef>
              <c:f>Sheet1!$B$2:$B$4</c:f>
              <c:numCache>
                <c:formatCode>General</c:formatCode>
                <c:ptCount val="3"/>
                <c:pt idx="0">
                  <c:v>2093</c:v>
                </c:pt>
                <c:pt idx="1">
                  <c:v>1411</c:v>
                </c:pt>
                <c:pt idx="2">
                  <c:v>788</c:v>
                </c:pt>
              </c:numCache>
            </c:numRef>
          </c:val>
        </c:ser>
        <c:ser>
          <c:idx val="1"/>
          <c:order val="1"/>
          <c:tx>
            <c:strRef>
              <c:f>Sheet1!$C$1</c:f>
              <c:strCache>
                <c:ptCount val="1"/>
                <c:pt idx="0">
                  <c:v>Kabul</c:v>
                </c:pt>
              </c:strCache>
            </c:strRef>
          </c:tx>
          <c:spPr>
            <a:solidFill>
              <a:srgbClr val="1F3A5F"/>
            </a:solidFill>
            <a:effectLst/>
          </c:spPr>
          <c:invertIfNegative val="0"/>
          <c:dLbls>
            <c:numFmt formatCode="#,##0" sourceLinked="0"/>
            <c:txPr>
              <a:bodyPr/>
              <a:lstStyle/>
              <a:p>
                <a:pPr>
                  <a:defRPr b="0" i="0" strike="noStrike" sz="1400" u="none">
                    <a:solidFill>
                      <a:srgbClr val="1C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Aşama 1 (parametre)</c:v>
                  </c:pt>
                  <c:pt idx="1">
                    <c:v>Aşama 2 (çözünürlük)</c:v>
                  </c:pt>
                  <c:pt idx="2">
                    <c:v>Aşama 3 (üretken)</c:v>
                  </c:pt>
                </c:lvl>
              </c:multiLvlStrCache>
            </c:multiLvlStrRef>
          </c:cat>
          <c:val>
            <c:numRef>
              <c:f>Sheet1!$C$2:$C$4</c:f>
              <c:numCache>
                <c:formatCode>General</c:formatCode>
                <c:ptCount val="3"/>
                <c:pt idx="0">
                  <c:v>451</c:v>
                </c:pt>
                <c:pt idx="1">
                  <c:v>469</c:v>
                </c:pt>
                <c:pt idx="2">
                  <c:v>338</c:v>
                </c:pt>
              </c:numCache>
            </c:numRef>
          </c:val>
        </c:ser>
        <c:dLbls>
          <c:numFmt formatCode="#,##0" sourceLinked="0"/>
          <c:txPr>
            <a:bodyPr/>
            <a:lstStyle/>
            <a:p>
              <a:pPr>
                <a:defRPr b="0" i="0" strike="noStrike" sz="1400" u="none">
                  <a:solidFill>
                    <a:srgbClr val="1C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C2430"/>
                </a:solidFill>
                <a:latin typeface="+mn-lt"/>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F"/>
                </a:solidFill>
                <a:latin typeface="+mn-lt"/>
              </a:defRPr>
            </a:pPr>
            <a:endParaRPr lang="en-US"/>
          </a:p>
        </c:txPr>
        <c:crossAx val="2094734554"/>
        <c:crosses val="autoZero"/>
        <c:crossBetween val="between"/>
        <c:majorUnit val="500"/>
      </c:valAx>
      <c:spPr>
        <a:noFill/>
        <a:ln>
          <a:noFill/>
        </a:ln>
        <a:effectLst/>
      </c:spPr>
    </c:plotArea>
    <c:legend>
      <c:legendPos val="t"/>
      <c:overlay val="0"/>
      <c:txPr>
        <a:bodyPr/>
        <a:lstStyle/>
        <a:p>
          <a:pPr>
            <a:defRPr sz="1400">
              <a:solidFill>
                <a:srgbClr val="1C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KDS yok</c:v>
                </c:pt>
              </c:strCache>
            </c:strRef>
          </c:tx>
          <c:spPr>
            <a:solidFill>
              <a:srgbClr val="6B7A8F"/>
            </a:solidFill>
            <a:effectLst/>
          </c:spPr>
          <c:invertIfNegative val="0"/>
          <c:dLbls>
            <c:numFmt formatCode="0" sourceLinked="0"/>
            <c:txPr>
              <a:bodyPr/>
              <a:lstStyle/>
              <a:p>
                <a:pPr>
                  <a:defRPr b="0" i="0" strike="noStrike" sz="1300" u="none">
                    <a:solidFill>
                      <a:srgbClr val="1C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S1</c:v>
                  </c:pt>
                  <c:pt idx="1">
                    <c:v>S2</c:v>
                  </c:pt>
                  <c:pt idx="2">
                    <c:v>S3</c:v>
                  </c:pt>
                  <c:pt idx="3">
                    <c:v>S4</c:v>
                  </c:pt>
                  <c:pt idx="4">
                    <c:v>S5</c:v>
                  </c:pt>
                </c:lvl>
              </c:multiLvlStrCache>
            </c:multiLvlStrRef>
          </c:cat>
          <c:val>
            <c:numRef>
              <c:f>Sheet1!$B$2:$B$6</c:f>
              <c:numCache>
                <c:formatCode>General</c:formatCode>
                <c:ptCount val="5"/>
                <c:pt idx="0">
                  <c:v>269.3</c:v>
                </c:pt>
                <c:pt idx="1">
                  <c:v>269.6</c:v>
                </c:pt>
                <c:pt idx="2">
                  <c:v>233.5</c:v>
                </c:pt>
                <c:pt idx="3">
                  <c:v>240.5</c:v>
                </c:pt>
                <c:pt idx="4">
                  <c:v>240.5</c:v>
                </c:pt>
              </c:numCache>
            </c:numRef>
          </c:val>
        </c:ser>
        <c:ser>
          <c:idx val="1"/>
          <c:order val="1"/>
          <c:tx>
            <c:strRef>
              <c:f>Sheet1!$C$1</c:f>
              <c:strCache>
                <c:ptCount val="1"/>
                <c:pt idx="0">
                  <c:v>F5 statik</c:v>
                </c:pt>
              </c:strCache>
            </c:strRef>
          </c:tx>
          <c:spPr>
            <a:solidFill>
              <a:srgbClr val="D7DEE8"/>
            </a:solidFill>
            <a:effectLst/>
          </c:spPr>
          <c:invertIfNegative val="0"/>
          <c:dLbls>
            <c:numFmt formatCode="0" sourceLinked="0"/>
            <c:txPr>
              <a:bodyPr/>
              <a:lstStyle/>
              <a:p>
                <a:pPr>
                  <a:defRPr b="0" i="0" strike="noStrike" sz="1300" u="none">
                    <a:solidFill>
                      <a:srgbClr val="1C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S1</c:v>
                  </c:pt>
                  <c:pt idx="1">
                    <c:v>S2</c:v>
                  </c:pt>
                  <c:pt idx="2">
                    <c:v>S3</c:v>
                  </c:pt>
                  <c:pt idx="3">
                    <c:v>S4</c:v>
                  </c:pt>
                  <c:pt idx="4">
                    <c:v>S5</c:v>
                  </c:pt>
                </c:lvl>
              </c:multiLvlStrCache>
            </c:multiLvlStrRef>
          </c:cat>
          <c:val>
            <c:numRef>
              <c:f>Sheet1!$C$2:$C$6</c:f>
              <c:numCache>
                <c:formatCode>General</c:formatCode>
                <c:ptCount val="5"/>
                <c:pt idx="0">
                  <c:v>89.2</c:v>
                </c:pt>
                <c:pt idx="1">
                  <c:v>186.5</c:v>
                </c:pt>
                <c:pt idx="2">
                  <c:v>27.4</c:v>
                </c:pt>
                <c:pt idx="3">
                  <c:v>48.1</c:v>
                </c:pt>
                <c:pt idx="4">
                  <c:v>53.4</c:v>
                </c:pt>
              </c:numCache>
            </c:numRef>
          </c:val>
        </c:ser>
        <c:ser>
          <c:idx val="2"/>
          <c:order val="2"/>
          <c:tx>
            <c:strRef>
              <c:f>Sheet1!$D$1</c:f>
              <c:strCache>
                <c:ptCount val="1"/>
                <c:pt idx="0">
                  <c:v>DisasterAware</c:v>
                </c:pt>
              </c:strCache>
            </c:strRef>
          </c:tx>
          <c:spPr>
            <a:solidFill>
              <a:srgbClr val="8B2635"/>
            </a:solidFill>
            <a:effectLst/>
          </c:spPr>
          <c:invertIfNegative val="0"/>
          <c:dLbls>
            <c:numFmt formatCode="0" sourceLinked="0"/>
            <c:txPr>
              <a:bodyPr/>
              <a:lstStyle/>
              <a:p>
                <a:pPr>
                  <a:defRPr b="0" i="0" strike="noStrike" sz="1300" u="none">
                    <a:solidFill>
                      <a:srgbClr val="1C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S1</c:v>
                  </c:pt>
                  <c:pt idx="1">
                    <c:v>S2</c:v>
                  </c:pt>
                  <c:pt idx="2">
                    <c:v>S3</c:v>
                  </c:pt>
                  <c:pt idx="3">
                    <c:v>S4</c:v>
                  </c:pt>
                  <c:pt idx="4">
                    <c:v>S5</c:v>
                  </c:pt>
                </c:lvl>
              </c:multiLvlStrCache>
            </c:multiLvlStrRef>
          </c:cat>
          <c:val>
            <c:numRef>
              <c:f>Sheet1!$D$2:$D$6</c:f>
              <c:numCache>
                <c:formatCode>General</c:formatCode>
                <c:ptCount val="5"/>
                <c:pt idx="0">
                  <c:v>36.7</c:v>
                </c:pt>
                <c:pt idx="1">
                  <c:v>120.6</c:v>
                </c:pt>
                <c:pt idx="2">
                  <c:v>14.1</c:v>
                </c:pt>
                <c:pt idx="3">
                  <c:v>27.2</c:v>
                </c:pt>
                <c:pt idx="4">
                  <c:v>29.2</c:v>
                </c:pt>
              </c:numCache>
            </c:numRef>
          </c:val>
        </c:ser>
        <c:dLbls>
          <c:numFmt formatCode="0" sourceLinked="0"/>
          <c:txPr>
            <a:bodyPr/>
            <a:lstStyle/>
            <a:p>
              <a:pPr>
                <a:defRPr b="0" i="0" strike="noStrike" sz="1300" u="none">
                  <a:solidFill>
                    <a:srgbClr val="1C24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C2430"/>
                </a:solidFill>
                <a:latin typeface="+mn-lt"/>
              </a:defRPr>
            </a:pPr>
            <a:endParaRPr lang="en-US"/>
          </a:p>
        </c:txPr>
        <c:crossAx val="2094734552"/>
        <c:crosses val="autoZero"/>
        <c:auto val="1"/>
        <c:lblAlgn val="ctr"/>
        <c:noMultiLvlLbl val="1"/>
      </c:catAx>
      <c:valAx>
        <c:axId val="2094734552"/>
        <c:scaling>
          <c:orientation val="minMax"/>
          <c:max val="300"/>
        </c:scaling>
        <c:delete val="0"/>
        <c:axPos val="l"/>
        <c:majorGridlines>
          <c:spPr>
            <a:ln w="6350" cap="flat">
              <a:solidFill>
                <a:srgbClr val="D7DEE8"/>
              </a:solidFill>
              <a:prstDash val="solid"/>
              <a:round/>
            </a:ln>
          </c:spPr>
        </c:majorGridlines>
        <c:title>
          <c:tx>
            <c:rich>
              <a:bodyPr/>
              <a:lstStyle/>
              <a:p>
                <a:pPr>
                  <a:defRPr sz="1300" b="0" i="0" u="none" strike="noStrike">
                    <a:solidFill>
                      <a:srgbClr val="6B7A8F"/>
                    </a:solidFill>
                    <a:latin typeface="+mn-lt"/>
                  </a:defRPr>
                </a:pPr>
                <a:r>
                  <a:rPr sz="1300" b="0" i="0" u="none" strike="noStrike">
                    <a:solidFill>
                      <a:srgbClr val="6B7A8F"/>
                    </a:solidFill>
                    <a:latin typeface="+mn-lt"/>
                  </a:rPr>
                  <a:t>yanan alan (ha)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400">
              <a:solidFill>
                <a:srgbClr val="1C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F5 statik</c:v>
                </c:pt>
              </c:strCache>
            </c:strRef>
          </c:tx>
          <c:spPr>
            <a:solidFill>
              <a:srgbClr val="D7DEE8"/>
            </a:solidFill>
            <a:effectLst/>
          </c:spPr>
          <c:invertIfNegative val="0"/>
          <c:dLbls>
            <c:numFmt formatCode="0" sourceLinked="0"/>
            <c:txPr>
              <a:bodyPr/>
              <a:lstStyle/>
              <a:p>
                <a:pPr>
                  <a:defRPr b="0" i="0" strike="noStrike" sz="1300" u="none">
                    <a:solidFill>
                      <a:srgbClr val="1C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S1</c:v>
                  </c:pt>
                  <c:pt idx="1">
                    <c:v>S2</c:v>
                  </c:pt>
                  <c:pt idx="2">
                    <c:v>S3</c:v>
                  </c:pt>
                  <c:pt idx="3">
                    <c:v>S4</c:v>
                  </c:pt>
                  <c:pt idx="4">
                    <c:v>S5</c:v>
                  </c:pt>
                  <c:pt idx="5">
                    <c:v>Ort.</c:v>
                  </c:pt>
                </c:lvl>
              </c:multiLvlStrCache>
            </c:multiLvlStrRef>
          </c:cat>
          <c:val>
            <c:numRef>
              <c:f>Sheet1!$B$2:$B$7</c:f>
              <c:numCache>
                <c:formatCode>General</c:formatCode>
                <c:ptCount val="6"/>
                <c:pt idx="0">
                  <c:v>20</c:v>
                </c:pt>
                <c:pt idx="1">
                  <c:v>3</c:v>
                </c:pt>
                <c:pt idx="2">
                  <c:v>20</c:v>
                </c:pt>
                <c:pt idx="3">
                  <c:v>10</c:v>
                </c:pt>
                <c:pt idx="4">
                  <c:v>10</c:v>
                </c:pt>
                <c:pt idx="5">
                  <c:v>13</c:v>
                </c:pt>
              </c:numCache>
            </c:numRef>
          </c:val>
        </c:ser>
        <c:ser>
          <c:idx val="1"/>
          <c:order val="1"/>
          <c:tx>
            <c:strRef>
              <c:f>Sheet1!$C$1</c:f>
              <c:strCache>
                <c:ptCount val="1"/>
                <c:pt idx="0">
                  <c:v>DisasterAware</c:v>
                </c:pt>
              </c:strCache>
            </c:strRef>
          </c:tx>
          <c:spPr>
            <a:solidFill>
              <a:srgbClr val="8B2635"/>
            </a:solidFill>
            <a:effectLst/>
          </c:spPr>
          <c:invertIfNegative val="0"/>
          <c:dLbls>
            <c:numFmt formatCode="0" sourceLinked="0"/>
            <c:txPr>
              <a:bodyPr/>
              <a:lstStyle/>
              <a:p>
                <a:pPr>
                  <a:defRPr b="0" i="0" strike="noStrike" sz="1300" u="none">
                    <a:solidFill>
                      <a:srgbClr val="1C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S1</c:v>
                  </c:pt>
                  <c:pt idx="1">
                    <c:v>S2</c:v>
                  </c:pt>
                  <c:pt idx="2">
                    <c:v>S3</c:v>
                  </c:pt>
                  <c:pt idx="3">
                    <c:v>S4</c:v>
                  </c:pt>
                  <c:pt idx="4">
                    <c:v>S5</c:v>
                  </c:pt>
                  <c:pt idx="5">
                    <c:v>Ort.</c:v>
                  </c:pt>
                </c:lvl>
              </c:multiLvlStrCache>
            </c:multiLvlStrRef>
          </c:cat>
          <c:val>
            <c:numRef>
              <c:f>Sheet1!$C$2:$C$7</c:f>
              <c:numCache>
                <c:formatCode>General</c:formatCode>
                <c:ptCount val="6"/>
                <c:pt idx="0">
                  <c:v>70</c:v>
                </c:pt>
                <c:pt idx="1">
                  <c:v>23</c:v>
                </c:pt>
                <c:pt idx="2">
                  <c:v>87</c:v>
                </c:pt>
                <c:pt idx="3">
                  <c:v>97</c:v>
                </c:pt>
                <c:pt idx="4">
                  <c:v>100</c:v>
                </c:pt>
                <c:pt idx="5">
                  <c:v>75</c:v>
                </c:pt>
              </c:numCache>
            </c:numRef>
          </c:val>
        </c:ser>
        <c:dLbls>
          <c:numFmt formatCode="0" sourceLinked="0"/>
          <c:txPr>
            <a:bodyPr/>
            <a:lstStyle/>
            <a:p>
              <a:pPr>
                <a:defRPr b="0" i="0" strike="noStrike" sz="1300" u="none">
                  <a:solidFill>
                    <a:srgbClr val="1C24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C2430"/>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D7DEE8"/>
              </a:solidFill>
              <a:prstDash val="solid"/>
              <a:round/>
            </a:ln>
          </c:spPr>
        </c:majorGridlines>
        <c:title>
          <c:tx>
            <c:rich>
              <a:bodyPr/>
              <a:lstStyle/>
              <a:p>
                <a:pPr>
                  <a:defRPr sz="1300" b="0" i="0" u="none" strike="noStrike">
                    <a:solidFill>
                      <a:srgbClr val="6B7A8F"/>
                    </a:solidFill>
                    <a:latin typeface="+mn-lt"/>
                  </a:defRPr>
                </a:pPr>
                <a:r>
                  <a:rPr sz="1300" b="0" i="0" u="none" strike="noStrike">
                    <a:solidFill>
                      <a:srgbClr val="6B7A8F"/>
                    </a:solidFill>
                    <a:latin typeface="+mn-lt"/>
                  </a:rPr>
                  <a:t>olay süresinde söndürülen yangın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F"/>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400">
              <a:solidFill>
                <a:srgbClr val="1C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Açılış. Bildirinin konusu: kural tabanlı karar destek sistemlerinin kapalı karar uzayı sorunu ve bunu çalışma sırasında, denetim altında açan üç aşamalı bir uyarlama mimarisi. Örnek uygulama orman yangını müdahalesi.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Kural tabanlı KDS'nin gücü izlenebilirlik, zayıflığı kapalılık. Gerçek operasyonda öngörülmemiş durum sık. Öğrenilmiş politikalar esnek ama gerekçesiz. Bildirinin sorusu ve ilkesi: bilgi modelden, kabul kararı kapılardan.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Referans slaydı; sunumda hızlı geçilir (15 s) veya soru-cevapta açılır. Türkçe karşılıklar bildirideki terimlerle aynı.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1:15-1:45. Karar katmanının sözlüğü. On gözlem özelliği, her biri bir güven değeriyle gelir; güven düşükse kavram kalıcılık tahminiyle harmanlanır. Beş karar kavramı komutanın sorduğu sorulardır; kurallar yalnızca bu beş kavram üzerine yazıldığı için kural yükü çarpımdan toplama iner. Altı müdahale ailesi her kuralı icra edilebilir bir emre bağlar; eylemsizlik her ailenin sıfır noktasıdır, maliyet eylemsizliği de fiyatlar. Aile listesi kapalıdır; açıklık yeni kurallar ve aynı aileler üzerinde bileşimlerle gelir. Bir alt katmanda yedi fiziksel etki ve üç kanal vardır; üçüncü aşamanın önerdiği yeni müdahaleler bu etkilerden kurulur.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1:30-2:45. Şekil 1. Değer tabanlı seçici (bağlamsal haydut) bir aşama çağırır; aday değişiklik doğrulama kapılarından geçer; yalnızca kabul edilirse kural tabanına işlenir. Uyarlama iki belirti üzerine tetiklenir: maliyet açığı (kural ateşleniyor ama yetersiz) ve kapsama boşluğu (hiçbir kural ateşlenmiyor). Aşama 1 ve 2 gelişen bulanık sistem geleneği; aşama 3 sözlüğün kendisini genişletir. Seçici: alfa 0,05, epsilon 0,10; ödül öngörülen maliyet düşüşü.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2:45-3:45. Önerici önceden eğitilmiş genel amaçlı bir LLM. Üç girdi, tek çıktı. Yeni nesne üç türden biri: makro, ara kavram, koşul eyleyicisi. Koşul eyleyicisi yeni müdahale tanımlar ama çağırabileceği fiziksel etkiler benzetimde doğrulanmış sabit kümeyle sınırlı. Günce: önceki kabul/retler isteme eklenir, yinelenen öneri önlenir; kabul edilen nesneler soy kütüğüne yazılır.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3:45-4:45. İlk dört kapı cebirsel, benzetim maliyeti yok; ret kapı adıyla modele döner. G3 ve G4 gölge benzetimde iki bağımsız tohum. Paketlere ek: G5 marj, G5b katkı ayrımı (yeni nesnenin emri çıkarılınca maliyet yükselmeli, yoksa kazanç kuraldaki olağan emirlere aittir). Önerici deterministik değil, ama kabul kararları modele dayanmadığı için süreç denetlenebilir.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4:45-5:30. Bölgesel ajanlı bulanık KDS; ajan beş kavram üzerinde çıkarım yapar, altı müdahale ailesine şiddet atar. Eşleştirilmiş Monte Carlo karşılaştırması: 5 senaryo ailesi, senaryo başına aynı 30 dünya, toplam 600 koşu. Aşama 3 bu kampanyada doğrudan büyük dil modeli ile beslendi (çağrı başına bir öneri, bir düzeltme hakkı); her öneri aynı kapı dizisinden geçti. Bütün yapılandırmalar aynı dünyayı, aynı tutuşmaları ve aynı rastgele akışı oynatır; fark yalnızca karar mekanizmasından. Not: bu sayılar bildirideki Tablo 3'ten değil, kapı dizisi tamamlandıktan sonra yapılan güncel kampanyadandır; soru gelirse böyle söyle.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5:30-6:15. 150 dünya, 788 LLM önerisi, 338 kabul (yüzde 43). Düşük kabul oranı tasarımın beklenen sonucu: adaylar gölge benzetimde ucuz sınanır ve güvenle reddedilir; retlerin çoğu tahmin testlerini geçtikten sonra paket marjında (G5) düşer. Kabul türe göre değişir: mevcut müdahaleleri paketleyen makrolar yüzde 80, doğrulanmış etkilerden yeni müdahale kuran eyleyici paketleri yüzde 46, ara kavramlar yüzde 37, mevcut sözlük içinde yalnız kurallar yüzde 28. Sözlüğü genişleten nesneler, sözlük içindeki yeni kurallardan daha sık geçer. Kural sayısı episode sonunda ortalama 10,4; kendini ayarlayan tabanla (10,3) aynı, fark kural sayısından değil içeriğinden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6:00-6:20. Somut bir örnek. Kent-orman arayüzü senaryosunda ikinci dakikada model, varlık maruziyeti ve söndürme uygulanabilirliği çok yüksekken önleyici bir varlık kuşağı öneriyor. Bu başlangıç kurallarında olmayan bir taktik: yangın gelmeden varlık ve yerleşim hücrelerini kaplamak ve hazırlamak. Öneri üç koşuldan kuruluyor; her koşul benzetimin bildiği bir etki, bir sektör ve bir hücre bandı. Gölge tahmin öneriyle maliyeti 0,135'ten 0,128'e indiriyor, ikinci tohum aynı yönü veriyor, paket marjı aşılıyor; kural kabul ediliyor ve kaynağı, kapıları, konumuyla birlikte deftere işleniyor. Red de aynı ayrıntıyla kayıtlı.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6:15-6:45. İki katman var. Kural tabanlı çekirdek (F5) tek başına yanan alanı serbest yanmaya göre yüzde 68 düşürür; bu kazanç kural tabanının kendisine aittir. Açık karar uzayı bunun üzerine gelir: DisasterAware statik tabana göre yanan alanı yüzde 44 daha düşürür (eşli fark 35 ± 9 ha, 150 dünyanın 131'inde daha iyi) ve beş senaryonun hepsinde en düşük sütundur; S1'de 89'dan 37 hektara, S3'te 27'den 14'e. En zor senaryo S2 (kısıtlı kaynak, iki uzak tutuşma): 187'den 121'e. Kendini ayarlayan tabana (F5+EvFIS, 75 ha) göre de 30 ± 7 ha, 150 dünyanın 128'inde; sorulursa söyle.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6:45-7:15. Açık karar uzayının katkısı en net söndürme oranında: statik tabanda yüzde 13, DisasterAware ile yüzde 75. Kent-orman arayüzü senaryolarında yüzde 87 ile 100; S5'te gözlem kesintisi ve gürültü altında bile yüzde 100, yanan alan S4'e göre yalnızca yüzde 7 artar. S2 en zor senaryo: kısıtlı kaynak ve iki uzak tutuşma; statik taban yüzde 3, DisasterAware yüzde 23. Kazanç yeni kurallardan ve sektör + hücre bandı ile konumlandırılmış müdahalelerden gelir (episode başına ortalama 39 konumlandırılmış emir); başlangıç kural kümesinde bunların hiçbiri yoktur ve her biri kapı dizisinden geçerek kabul edilmiştir. Bedel hesaplamadır: episode başına 10 model çağrısı, 124 s; kaynak maliyeti statik tabanın altında.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7:15-7:35. Mimaride yangına özgü bileşen yok. Dört koşulu sağlayan her KDS'de aynı döngü ve kapı dizisi değişmeden kullanılabilir. İki sınır: fiziksel etki kümesi tasarımcıya ait; önerici deterministik değil, süreç deterministik.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7:35-8:00. Üç cümlelik kapanış ve gelecek çalışma. Sorulara geç.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11091672"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Başlık</a:t>
            </a:r>
            <a:endParaRPr lang="en-US" sz="4000" dirty="0"/>
          </a:p>
        </p:txBody>
      </p:sp>
      <p:sp>
        <p:nvSpPr>
          <p:cNvPr id="3" name="Text 0"/>
          <p:cNvSpPr/>
          <p:nvPr>
            <p:ph idx="101" type="body" hasCustomPrompt="1"/>
          </p:nvPr>
        </p:nvSpPr>
        <p:spPr>
          <a:xfrm>
            <a:off x="548640" y="3886200"/>
            <a:ext cx="11091672" cy="914400"/>
          </a:xfrm>
          <a:prstGeom prst="rect">
            <a:avLst/>
          </a:prstGeom>
          <a:noFill/>
          <a:ln/>
        </p:spPr>
        <p:txBody>
          <a:bodyPr wrap="square" rtlCol="0"/>
          <a:lstStyle>
            <a:lvl1pPr indent="0" marL="0">
              <a:buNone/>
              <a:defRPr lang="en-US" sz="2200" dirty="0">
                <a:solidFill>
                  <a:schemeClr val="accent5"/>
                </a:solidFill>
              </a:defRPr>
            </a:lvl1pPr>
          </a:lstStyle>
          <a:p>
            <a:pPr indent="0" marL="0">
              <a:buNone/>
            </a:pPr>
            <a:r>
              <a:rPr lang="en-US" sz="2200" dirty="0">
                <a:solidFill>
                  <a:schemeClr val="accent5"/>
                </a:solidFill>
              </a:rPr>
              <a:t>Alt başlık</a:t>
            </a:r>
            <a:endParaRPr lang="en-US" sz="2200" dirty="0"/>
          </a:p>
        </p:txBody>
      </p:sp>
      <p:sp>
        <p:nvSpPr>
          <p:cNvPr id="4" name="Text 0"/>
          <p:cNvSpPr/>
          <p:nvPr>
            <p:ph idx="102" type="body" hasCustomPrompt="1"/>
          </p:nvPr>
        </p:nvSpPr>
        <p:spPr>
          <a:xfrm>
            <a:off x="548640" y="5120640"/>
            <a:ext cx="11091672"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r>
              <a:rPr lang="en-US" sz="1800" dirty="0">
                <a:solidFill>
                  <a:schemeClr val="bg1"/>
                </a:solidFill>
              </a:rPr>
              <a:t>Yazarlar</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r>
              <a:rPr lang="en-US" sz="3400" b="1" dirty="0">
                <a:solidFill>
                  <a:schemeClr val="tx2"/>
                </a:solidFill>
              </a:rPr>
              <a:t>Başlık</a:t>
            </a:r>
            <a:endParaRPr lang="en-US" sz="3400" dirty="0"/>
          </a:p>
        </p:txBody>
      </p:sp>
      <p:sp>
        <p:nvSpPr>
          <p:cNvPr id="3" name="Text 0"/>
          <p:cNvSpPr/>
          <p:nvPr/>
        </p:nvSpPr>
        <p:spPr>
          <a:xfrm>
            <a:off x="548640" y="6400800"/>
            <a:ext cx="7315200" cy="320040"/>
          </a:xfrm>
          <a:prstGeom prst="rect">
            <a:avLst/>
          </a:prstGeom>
          <a:noFill/>
          <a:ln/>
        </p:spPr>
        <p:txBody>
          <a:bodyPr wrap="square" lIns="0" tIns="0" rIns="0" bIns="0" rtlCol="0" anchor="ctr"/>
          <a:lstStyle/>
          <a:p>
            <a:pPr indent="0" marL="0">
              <a:buNone/>
            </a:pPr>
            <a:r>
              <a:rPr lang="en-US" sz="1200" dirty="0">
                <a:solidFill>
                  <a:schemeClr val="accent4"/>
                </a:solidFill>
              </a:rPr>
              <a:t>Akman, Leblebicioğlu | TOK 2026 | ODTÜ EEE</a:t>
            </a:r>
            <a:endParaRPr lang="en-US" sz="12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Başlık</a:t>
            </a:r>
            <a:endParaRPr lang="en-US" sz="3400" dirty="0"/>
          </a:p>
        </p:txBody>
      </p:sp>
      <p:sp>
        <p:nvSpPr>
          <p:cNvPr id="3" name="Text 0"/>
          <p:cNvSpPr/>
          <p:nvPr/>
        </p:nvSpPr>
        <p:spPr>
          <a:xfrm>
            <a:off x="548640" y="6400800"/>
            <a:ext cx="7315200" cy="320040"/>
          </a:xfrm>
          <a:prstGeom prst="rect">
            <a:avLst/>
          </a:prstGeom>
          <a:noFill/>
          <a:ln/>
        </p:spPr>
        <p:txBody>
          <a:bodyPr wrap="square" lIns="0" tIns="0" rIns="0" bIns="0" rtlCol="0" anchor="ctr"/>
          <a:lstStyle/>
          <a:p>
            <a:pPr indent="0" marL="0">
              <a:buNone/>
            </a:pPr>
            <a:r>
              <a:rPr lang="en-US" sz="1200" dirty="0">
                <a:solidFill>
                  <a:schemeClr val="accent5"/>
                </a:solidFill>
              </a:rPr>
              <a:t>Akman, Leblebicioğlu | TOK 2026 | ODTÜ EEE</a:t>
            </a:r>
            <a:endParaRPr lang="en-US" sz="12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11091672" cy="1828800"/>
          </a:xfrm>
          <a:prstGeom prst="rect">
            <a:avLst/>
          </a:prstGeom>
          <a:noFill/>
          <a:ln/>
        </p:spPr>
        <p:txBody>
          <a:bodyPr wrap="square" lIns="0" tIns="0" rIns="0" bIns="0" rtlCol="0" anchor="b"/>
          <a:lstStyle/>
          <a:p>
            <a:pPr algn="l" indent="0" marL="0">
              <a:buNone/>
            </a:pPr>
            <a:r>
              <a:rPr lang="en-US" sz="4000" b="1" dirty="0">
                <a:solidFill>
                  <a:schemeClr val="bg1"/>
                </a:solidFill>
              </a:rPr>
              <a:t>Kural tabanlı karar destek sistemlerinde açık karar uzayı</a:t>
            </a:r>
            <a:endParaRPr lang="en-US" sz="4000" dirty="0"/>
          </a:p>
        </p:txBody>
      </p:sp>
      <p:sp>
        <p:nvSpPr>
          <p:cNvPr id="3" name="Text 0"/>
          <p:cNvSpPr/>
          <p:nvPr>
            <p:ph idx="101" type="body" hasCustomPrompt="1"/>
          </p:nvPr>
        </p:nvSpPr>
        <p:spPr>
          <a:xfrm>
            <a:off x="548640" y="3886200"/>
            <a:ext cx="11091672" cy="914400"/>
          </a:xfrm>
          <a:prstGeom prst="rect">
            <a:avLst/>
          </a:prstGeom>
          <a:noFill/>
          <a:ln/>
        </p:spPr>
        <p:txBody>
          <a:bodyPr wrap="square" lIns="0" tIns="0" rIns="0" bIns="0" rtlCol="0" anchor="t"/>
          <a:lstStyle/>
          <a:p>
            <a:pPr indent="0" marL="0">
              <a:buNone/>
            </a:pPr>
            <a:r>
              <a:rPr lang="en-US" sz="2200" dirty="0">
                <a:solidFill>
                  <a:schemeClr val="accent5"/>
                </a:solidFill>
              </a:rPr>
              <a:t>Büyük dil modeli destekli kural üretimi ve belirlenimci doğrulama</a:t>
            </a:r>
            <a:endParaRPr lang="en-US" sz="2200" dirty="0"/>
          </a:p>
        </p:txBody>
      </p:sp>
      <p:sp>
        <p:nvSpPr>
          <p:cNvPr id="4" name="Text 0"/>
          <p:cNvSpPr/>
          <p:nvPr>
            <p:ph idx="102" type="body" hasCustomPrompt="1"/>
          </p:nvPr>
        </p:nvSpPr>
        <p:spPr>
          <a:xfrm>
            <a:off x="548640" y="5120640"/>
            <a:ext cx="11091672" cy="1097280"/>
          </a:xfrm>
          <a:prstGeom prst="rect">
            <a:avLst/>
          </a:prstGeom>
          <a:noFill/>
          <a:ln/>
        </p:spPr>
        <p:txBody>
          <a:bodyPr wrap="square" lIns="0" tIns="0" rIns="0" bIns="0" rtlCol="0" anchor="t"/>
          <a:lstStyle/>
          <a:p>
            <a:pPr indent="0" marL="0">
              <a:buNone/>
            </a:pPr>
            <a:r>
              <a:rPr lang="en-US" sz="1800" b="1" dirty="0">
                <a:solidFill>
                  <a:schemeClr val="bg1"/>
                </a:solidFill>
              </a:rPr>
              <a:t>Çağlar Akman, Mehmet Kemal Leblebicioğlu</a:t>
            </a:r>
            <a:endParaRPr lang="en-US" sz="1800" dirty="0"/>
          </a:p>
          <a:p>
            <a:pPr indent="0" marL="0">
              <a:buNone/>
            </a:pPr>
            <a:r>
              <a:rPr lang="en-US" sz="1600" dirty="0">
                <a:solidFill>
                  <a:schemeClr val="accent5"/>
                </a:solidFill>
              </a:rPr>
              <a:t>Elektrik ve Elektronik Mühendisliği Bölümü, Orta Doğu Teknik Üniversitesi</a:t>
            </a:r>
            <a:endParaRPr lang="en-US" sz="1800" dirty="0"/>
          </a:p>
        </p:txBody>
      </p:sp>
      <p:sp>
        <p:nvSpPr>
          <p:cNvPr id="5" name="mark"/>
          <p:cNvSpPr/>
          <p:nvPr/>
        </p:nvSpPr>
        <p:spPr>
          <a:xfrm>
            <a:off x="10177272" y="640080"/>
            <a:ext cx="1188720" cy="1188720"/>
          </a:xfrm>
          <a:prstGeom prst="ellipse">
            <a:avLst/>
          </a:prstGeom>
          <a:solidFill>
            <a:schemeClr val="accent1"/>
          </a:solidFill>
          <a:ln w="12700">
            <a:solidFill>
              <a:schemeClr val="accent1"/>
            </a:solidFill>
            <a:prstDash val="solid"/>
          </a:ln>
        </p:spPr>
      </p:sp>
      <p:pic>
        <p:nvPicPr>
          <p:cNvPr id="6" name="mark icon" descr="preencoded.png">    </p:cNvPr>
          <p:cNvPicPr>
            <a:picLocks noChangeAspect="1"/>
          </p:cNvPicPr>
          <p:nvPr/>
        </p:nvPicPr>
        <p:blipFill>
          <a:blip r:embed="rId1"/>
          <a:stretch>
            <a:fillRect/>
          </a:stretch>
        </p:blipFill>
        <p:spPr>
          <a:xfrm>
            <a:off x="10469880" y="932688"/>
            <a:ext cx="603504" cy="603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Sorun: karar uzayı tasarımda kapanır</a:t>
            </a:r>
            <a:endParaRPr lang="en-US" sz="3400" dirty="0"/>
          </a:p>
        </p:txBody>
      </p:sp>
      <p:sp>
        <p:nvSpPr>
          <p:cNvPr id="3" name="FaBookOpen circle"/>
          <p:cNvSpPr/>
          <p:nvPr/>
        </p:nvSpPr>
        <p:spPr>
          <a:xfrm>
            <a:off x="548640" y="1645920"/>
            <a:ext cx="822960" cy="822960"/>
          </a:xfrm>
          <a:prstGeom prst="ellipse">
            <a:avLst/>
          </a:prstGeom>
          <a:solidFill>
            <a:srgbClr val="1F3A5F"/>
          </a:solidFill>
          <a:ln w="12700">
            <a:solidFill>
              <a:srgbClr val="1F3A5F"/>
            </a:solidFill>
            <a:prstDash val="solid"/>
          </a:ln>
        </p:spPr>
      </p:sp>
      <p:pic>
        <p:nvPicPr>
          <p:cNvPr id="4" name="FaBookOpen icon" descr="preencoded.png">    </p:cNvPr>
          <p:cNvPicPr>
            <a:picLocks noChangeAspect="1"/>
          </p:cNvPicPr>
          <p:nvPr/>
        </p:nvPicPr>
        <p:blipFill>
          <a:blip r:embed="rId1"/>
          <a:stretch>
            <a:fillRect/>
          </a:stretch>
        </p:blipFill>
        <p:spPr>
          <a:xfrm>
            <a:off x="754380" y="1851660"/>
            <a:ext cx="411480" cy="411480"/>
          </a:xfrm>
          <a:prstGeom prst="rect">
            <a:avLst/>
          </a:prstGeom>
        </p:spPr>
      </p:pic>
      <p:sp>
        <p:nvSpPr>
          <p:cNvPr id="5" name="Text 2"/>
          <p:cNvSpPr txBox="1"/>
          <p:nvPr/>
        </p:nvSpPr>
        <p:spPr>
          <a:xfrm>
            <a:off x="1645920" y="1600200"/>
            <a:ext cx="5852160" cy="457200"/>
          </a:xfrm>
          <a:prstGeom prst="rect">
            <a:avLst/>
          </a:prstGeom>
          <a:noFill/>
          <a:ln/>
        </p:spPr>
        <p:txBody>
          <a:bodyPr wrap="square" lIns="0" tIns="0" rIns="0" bIns="0" rtlCol="0" anchor="t"/>
          <a:lstStyle/>
          <a:p>
            <a:pPr indent="0" marL="0">
              <a:buNone/>
            </a:pPr>
            <a:r>
              <a:rPr lang="en-US" sz="2400" b="1" dirty="0">
                <a:solidFill>
                  <a:schemeClr val="tx2"/>
                </a:solidFill>
              </a:rPr>
              <a:t>Kurallar tasarım aşamasında yazılır</a:t>
            </a:r>
            <a:endParaRPr lang="en-US" sz="2400" dirty="0"/>
          </a:p>
        </p:txBody>
      </p:sp>
      <p:sp>
        <p:nvSpPr>
          <p:cNvPr id="6" name="Text 3"/>
          <p:cNvSpPr txBox="1"/>
          <p:nvPr/>
        </p:nvSpPr>
        <p:spPr>
          <a:xfrm>
            <a:off x="1645920" y="2075688"/>
            <a:ext cx="5577840" cy="822960"/>
          </a:xfrm>
          <a:prstGeom prst="rect">
            <a:avLst/>
          </a:prstGeom>
          <a:noFill/>
          <a:ln/>
        </p:spPr>
        <p:txBody>
          <a:bodyPr wrap="square" lIns="0" tIns="0" rIns="0" bIns="0" rtlCol="0" anchor="t"/>
          <a:lstStyle/>
          <a:p>
            <a:pPr indent="0" marL="0">
              <a:buNone/>
            </a:pPr>
            <a:r>
              <a:rPr lang="en-US" sz="1800" dirty="0">
                <a:solidFill>
                  <a:schemeClr val="tx1"/>
                </a:solidFill>
              </a:rPr>
              <a:t>EĞER-İSE kuralları izlenebilir, ancak çalışma sırasında değişmez.</a:t>
            </a:r>
            <a:endParaRPr lang="en-US" sz="1800" dirty="0"/>
          </a:p>
        </p:txBody>
      </p:sp>
      <p:sp>
        <p:nvSpPr>
          <p:cNvPr id="7" name="FaExclamationTriangle circle"/>
          <p:cNvSpPr/>
          <p:nvPr/>
        </p:nvSpPr>
        <p:spPr>
          <a:xfrm>
            <a:off x="548640" y="3108960"/>
            <a:ext cx="822960" cy="822960"/>
          </a:xfrm>
          <a:prstGeom prst="ellipse">
            <a:avLst/>
          </a:prstGeom>
          <a:solidFill>
            <a:srgbClr val="1F3A5F"/>
          </a:solidFill>
          <a:ln w="12700">
            <a:solidFill>
              <a:srgbClr val="1F3A5F"/>
            </a:solidFill>
            <a:prstDash val="solid"/>
          </a:ln>
        </p:spPr>
      </p:sp>
      <p:pic>
        <p:nvPicPr>
          <p:cNvPr id="8" name="FaExclamationTriangle icon" descr="preencoded.png">    </p:cNvPr>
          <p:cNvPicPr>
            <a:picLocks noChangeAspect="1"/>
          </p:cNvPicPr>
          <p:nvPr/>
        </p:nvPicPr>
        <p:blipFill>
          <a:blip r:embed="rId2"/>
          <a:stretch>
            <a:fillRect/>
          </a:stretch>
        </p:blipFill>
        <p:spPr>
          <a:xfrm>
            <a:off x="754380" y="3314700"/>
            <a:ext cx="411480" cy="411480"/>
          </a:xfrm>
          <a:prstGeom prst="rect">
            <a:avLst/>
          </a:prstGeom>
        </p:spPr>
      </p:pic>
      <p:sp>
        <p:nvSpPr>
          <p:cNvPr id="9" name="Text 5"/>
          <p:cNvSpPr txBox="1"/>
          <p:nvPr/>
        </p:nvSpPr>
        <p:spPr>
          <a:xfrm>
            <a:off x="1645920" y="3063240"/>
            <a:ext cx="5852160" cy="457200"/>
          </a:xfrm>
          <a:prstGeom prst="rect">
            <a:avLst/>
          </a:prstGeom>
          <a:noFill/>
          <a:ln/>
        </p:spPr>
        <p:txBody>
          <a:bodyPr wrap="square" lIns="0" tIns="0" rIns="0" bIns="0" rtlCol="0" anchor="t"/>
          <a:lstStyle/>
          <a:p>
            <a:pPr indent="0" marL="0">
              <a:buNone/>
            </a:pPr>
            <a:r>
              <a:rPr lang="en-US" sz="2400" b="1" dirty="0">
                <a:solidFill>
                  <a:schemeClr val="tx2"/>
                </a:solidFill>
              </a:rPr>
              <a:t>Öngörülmemiş durumda yanıt yok</a:t>
            </a:r>
            <a:endParaRPr lang="en-US" sz="2400" dirty="0"/>
          </a:p>
        </p:txBody>
      </p:sp>
      <p:sp>
        <p:nvSpPr>
          <p:cNvPr id="10" name="Text 6"/>
          <p:cNvSpPr txBox="1"/>
          <p:nvPr/>
        </p:nvSpPr>
        <p:spPr>
          <a:xfrm>
            <a:off x="1645920" y="3538728"/>
            <a:ext cx="5577840" cy="822960"/>
          </a:xfrm>
          <a:prstGeom prst="rect">
            <a:avLst/>
          </a:prstGeom>
          <a:noFill/>
          <a:ln/>
        </p:spPr>
        <p:txBody>
          <a:bodyPr wrap="square" lIns="0" tIns="0" rIns="0" bIns="0" rtlCol="0" anchor="t"/>
          <a:lstStyle/>
          <a:p>
            <a:pPr indent="0" marL="0">
              <a:buNone/>
            </a:pPr>
            <a:r>
              <a:rPr lang="en-US" sz="1800" dirty="0">
                <a:solidFill>
                  <a:schemeClr val="tx1"/>
                </a:solidFill>
              </a:rPr>
              <a:t>Sensör kaybı, beklenmedik dinamik, görülmemiş durum bileşimi: ya hiçbir kural ateşlenmez ya da yetersiz kalır.</a:t>
            </a:r>
            <a:endParaRPr lang="en-US" sz="1800" dirty="0"/>
          </a:p>
        </p:txBody>
      </p:sp>
      <p:sp>
        <p:nvSpPr>
          <p:cNvPr id="11" name="FaEyeSlash circle"/>
          <p:cNvSpPr/>
          <p:nvPr/>
        </p:nvSpPr>
        <p:spPr>
          <a:xfrm>
            <a:off x="548640" y="4572000"/>
            <a:ext cx="822960" cy="822960"/>
          </a:xfrm>
          <a:prstGeom prst="ellipse">
            <a:avLst/>
          </a:prstGeom>
          <a:solidFill>
            <a:srgbClr val="1F3A5F"/>
          </a:solidFill>
          <a:ln w="12700">
            <a:solidFill>
              <a:srgbClr val="1F3A5F"/>
            </a:solidFill>
            <a:prstDash val="solid"/>
          </a:ln>
        </p:spPr>
      </p:sp>
      <p:pic>
        <p:nvPicPr>
          <p:cNvPr id="12" name="FaEyeSlash icon" descr="preencoded.png">    </p:cNvPr>
          <p:cNvPicPr>
            <a:picLocks noChangeAspect="1"/>
          </p:cNvPicPr>
          <p:nvPr/>
        </p:nvPicPr>
        <p:blipFill>
          <a:blip r:embed="rId3"/>
          <a:stretch>
            <a:fillRect/>
          </a:stretch>
        </p:blipFill>
        <p:spPr>
          <a:xfrm>
            <a:off x="754380" y="4777740"/>
            <a:ext cx="411480" cy="411480"/>
          </a:xfrm>
          <a:prstGeom prst="rect">
            <a:avLst/>
          </a:prstGeom>
        </p:spPr>
      </p:pic>
      <p:sp>
        <p:nvSpPr>
          <p:cNvPr id="13" name="Text 8"/>
          <p:cNvSpPr txBox="1"/>
          <p:nvPr/>
        </p:nvSpPr>
        <p:spPr>
          <a:xfrm>
            <a:off x="1645920" y="4526280"/>
            <a:ext cx="5852160" cy="457200"/>
          </a:xfrm>
          <a:prstGeom prst="rect">
            <a:avLst/>
          </a:prstGeom>
          <a:noFill/>
          <a:ln/>
        </p:spPr>
        <p:txBody>
          <a:bodyPr wrap="square" lIns="0" tIns="0" rIns="0" bIns="0" rtlCol="0" anchor="t"/>
          <a:lstStyle/>
          <a:p>
            <a:pPr indent="0" marL="0">
              <a:buNone/>
            </a:pPr>
            <a:r>
              <a:rPr lang="en-US" sz="2400" b="1" dirty="0">
                <a:solidFill>
                  <a:schemeClr val="tx2"/>
                </a:solidFill>
              </a:rPr>
              <a:t>Kara kutu politikalar gerekçe vermez</a:t>
            </a:r>
            <a:endParaRPr lang="en-US" sz="2400" dirty="0"/>
          </a:p>
        </p:txBody>
      </p:sp>
      <p:sp>
        <p:nvSpPr>
          <p:cNvPr id="14" name="Text 9"/>
          <p:cNvSpPr txBox="1"/>
          <p:nvPr/>
        </p:nvSpPr>
        <p:spPr>
          <a:xfrm>
            <a:off x="1645920" y="5001768"/>
            <a:ext cx="5577840" cy="822960"/>
          </a:xfrm>
          <a:prstGeom prst="rect">
            <a:avLst/>
          </a:prstGeom>
          <a:noFill/>
          <a:ln/>
        </p:spPr>
        <p:txBody>
          <a:bodyPr wrap="square" lIns="0" tIns="0" rIns="0" bIns="0" rtlCol="0" anchor="t"/>
          <a:lstStyle/>
          <a:p>
            <a:pPr indent="0" marL="0">
              <a:buNone/>
            </a:pPr>
            <a:r>
              <a:rPr lang="en-US" sz="1800" dirty="0">
                <a:solidFill>
                  <a:schemeClr val="tx1"/>
                </a:solidFill>
              </a:rPr>
              <a:t>Katılığı giderir, ancak kritik alanlarda güven ve hesap verebilirlik kaybolur.</a:t>
            </a:r>
            <a:endParaRPr lang="en-US" sz="1800" dirty="0"/>
          </a:p>
        </p:txBody>
      </p:sp>
      <p:sp>
        <p:nvSpPr>
          <p:cNvPr id="15" name="question card"/>
          <p:cNvSpPr/>
          <p:nvPr/>
        </p:nvSpPr>
        <p:spPr>
          <a:xfrm>
            <a:off x="7589520" y="1600200"/>
            <a:ext cx="4069080" cy="4297680"/>
          </a:xfrm>
          <a:prstGeom prst="roundRect">
            <a:avLst>
              <a:gd name="adj" fmla="val 2697"/>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6" name="Text 11"/>
          <p:cNvSpPr txBox="1"/>
          <p:nvPr/>
        </p:nvSpPr>
        <p:spPr>
          <a:xfrm>
            <a:off x="7909560" y="1874520"/>
            <a:ext cx="3474720" cy="457200"/>
          </a:xfrm>
          <a:prstGeom prst="rect">
            <a:avLst/>
          </a:prstGeom>
          <a:noFill/>
          <a:ln/>
        </p:spPr>
        <p:txBody>
          <a:bodyPr wrap="square" lIns="0" tIns="0" rIns="0" bIns="0" rtlCol="0" anchor="t"/>
          <a:lstStyle/>
          <a:p>
            <a:pPr indent="0" marL="0">
              <a:buNone/>
            </a:pPr>
            <a:r>
              <a:rPr lang="en-US" sz="2000" b="1" dirty="0">
                <a:solidFill>
                  <a:schemeClr val="accent1"/>
                </a:solidFill>
              </a:rPr>
              <a:t>Soru</a:t>
            </a:r>
            <a:endParaRPr lang="en-US" sz="2000" dirty="0"/>
          </a:p>
        </p:txBody>
      </p:sp>
      <p:sp>
        <p:nvSpPr>
          <p:cNvPr id="17" name="Text 12"/>
          <p:cNvSpPr txBox="1"/>
          <p:nvPr/>
        </p:nvSpPr>
        <p:spPr>
          <a:xfrm>
            <a:off x="7909560" y="2377440"/>
            <a:ext cx="3474720" cy="2011680"/>
          </a:xfrm>
          <a:prstGeom prst="rect">
            <a:avLst/>
          </a:prstGeom>
          <a:noFill/>
          <a:ln/>
        </p:spPr>
        <p:txBody>
          <a:bodyPr wrap="square" lIns="0" tIns="0" rIns="0" bIns="0" rtlCol="0" anchor="t"/>
          <a:lstStyle/>
          <a:p>
            <a:pPr indent="0" marL="0">
              <a:buNone/>
            </a:pPr>
            <a:r>
              <a:rPr lang="en-US" sz="2400" b="1" dirty="0">
                <a:solidFill>
                  <a:schemeClr val="tx2"/>
                </a:solidFill>
              </a:rPr>
              <a:t>Karar uzayı çalışma sırasında, izlenebilirlik korunarak nasıl açık tutulur?</a:t>
            </a:r>
            <a:endParaRPr lang="en-US" sz="2400" dirty="0"/>
          </a:p>
        </p:txBody>
      </p:sp>
      <p:sp>
        <p:nvSpPr>
          <p:cNvPr id="18" name="Text 13"/>
          <p:cNvSpPr txBox="1"/>
          <p:nvPr/>
        </p:nvSpPr>
        <p:spPr>
          <a:xfrm>
            <a:off x="7909560" y="4343400"/>
            <a:ext cx="3474720" cy="1371600"/>
          </a:xfrm>
          <a:prstGeom prst="rect">
            <a:avLst/>
          </a:prstGeom>
          <a:noFill/>
          <a:ln/>
        </p:spPr>
        <p:txBody>
          <a:bodyPr wrap="square" lIns="0" tIns="0" rIns="0" bIns="0" rtlCol="0" anchor="t"/>
          <a:lstStyle/>
          <a:p>
            <a:pPr indent="0" marL="0">
              <a:buNone/>
            </a:pPr>
            <a:r>
              <a:rPr lang="en-US" sz="1800" dirty="0">
                <a:solidFill>
                  <a:schemeClr val="tx1"/>
                </a:solidFill>
              </a:rPr>
              <a:t>Yanıt: yeni bilgi bir dil modelinden gelir, kabul kararı yalnızca belirlenimci doğrulamaya dayanır.</a:t>
            </a:r>
            <a:endParaRPr lang="en-US" sz="18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Terimler</a:t>
            </a:r>
            <a:endParaRPr lang="en-US" sz="3400" dirty="0"/>
          </a:p>
        </p:txBody>
      </p:sp>
      <p:graphicFrame>
        <p:nvGraphicFramePr>
          <p:cNvPr id="4" name="glossary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743200"/>
                <a:gridCol w="2103120"/>
                <a:gridCol w="6245352"/>
              </a:tblGrid>
              <a:tr h="365760">
                <a:tc>
                  <a:txBody>
                    <a:bodyPr/>
                    <a:lstStyle/>
                    <a:p>
                      <a:pPr indent="0" marL="0">
                        <a:buNone/>
                      </a:pPr>
                      <a:r>
                        <a:rPr lang="en-US" sz="1400" b="1" dirty="0">
                          <a:solidFill>
                            <a:srgbClr val="FFFFFF"/>
                          </a:solidFill>
                          <a:latin typeface="+mn-lt" pitchFamily="34" charset="0"/>
                          <a:ea typeface="+mn-lt" pitchFamily="34" charset="-122"/>
                          <a:cs typeface="+mn-lt" pitchFamily="34" charset="-120"/>
                        </a:rPr>
                        <a:t>Terim</a:t>
                      </a:r>
                      <a:endParaRPr lang="en-US" sz="14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İngilizce</a:t>
                      </a:r>
                      <a:endParaRPr lang="en-US" sz="14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Anlamı</a:t>
                      </a:r>
                      <a:endParaRPr lang="en-US" sz="14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Karar uzayı</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decision space</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Sistemin bir anda verebileceği emirlerin kümesi ve bu kümenin genişletilme kuralları</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Kapalı / açık karar uzayı</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closed / open</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Tasarımda sabitlenen küme; çalışma sırasında doğrulanarak büyüyen küme</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Tohum kural tabanı (F5)</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seed rule base</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Beş EĞER-İSE kuralından oluşan başlangıç doktrini</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Gelişen bulanık sistem (evFIS)</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evolving fuzzy system</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Aşama 1-2: kural parametrelerini ve terim çözünürlüğünü çevrimiçi ayarlayan katman</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Üretken öneri</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generative proposal</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Aşama 3: dil modelinin şema içinde önerdiği kural, kavram veya müdahale paketi</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Makro / eyleyici / ara kavram</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macro / actuator / concept</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Mevcut müdahale demeti / doğrulanmış etkilerden yeni müdahale / kavramların doğrusal bileşimi</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Koşul (clause)</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clause</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Etki + sektör + hücre bandı + miktar; konumlandırılmış emrin en küçük birimi</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Gölge benzetim</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shadow forecast</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Adayı icra etmeden iki bağımsız tohumla ileriye koşturan tahmin</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Doğrulama kapısı (G1-G5b)</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verification gate</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Belirlenimci kabul koşulu; kabul kararı önericiye bırakılmaz</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Yeterlilik eşiği</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satisficing bound</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Öngörülen maliyet bu eşiğin üstündeyse uyarlama tetiklenir</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Eşleştirilmiş dünya</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paired world</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Aynı tohum, aynı arazi ve tutuşma; her yapılandırma aynı dünyayı oynatır</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65760">
                <a:tc>
                  <a:txBody>
                    <a:bodyPr/>
                    <a:lstStyle/>
                    <a:p>
                      <a:pPr indent="0" marL="0">
                        <a:buNone/>
                      </a:pPr>
                      <a:r>
                        <a:rPr lang="en-US" sz="1300" b="1" dirty="0">
                          <a:solidFill>
                            <a:srgbClr val="1F3A5F"/>
                          </a:solidFill>
                          <a:latin typeface="+mn-lt" pitchFamily="34" charset="0"/>
                          <a:ea typeface="+mn-lt" pitchFamily="34" charset="-122"/>
                          <a:cs typeface="+mn-lt" pitchFamily="34" charset="-120"/>
                        </a:rPr>
                        <a:t>Karar maliyeti J</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i="1" dirty="0">
                          <a:solidFill>
                            <a:srgbClr val="6B7A8F"/>
                          </a:solidFill>
                          <a:latin typeface="+mn-lt" pitchFamily="34" charset="0"/>
                          <a:ea typeface="+mn-lt" pitchFamily="34" charset="-122"/>
                          <a:cs typeface="+mn-lt" pitchFamily="34" charset="-120"/>
                        </a:rPr>
                        <a:t>decision cost</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300" dirty="0">
                          <a:solidFill>
                            <a:srgbClr val="1C2430"/>
                          </a:solidFill>
                          <a:latin typeface="+mn-lt" pitchFamily="34" charset="0"/>
                          <a:ea typeface="+mn-lt" pitchFamily="34" charset="-122"/>
                          <a:cs typeface="+mn-lt" pitchFamily="34" charset="-120"/>
                        </a:rPr>
                        <a:t>Yanma, varlık, nüfus (fiziksel) + müdahale, gecikme (yanıt) terimlerinin ağırlıklı toplamı</a:t>
                      </a:r>
                      <a:endParaRPr lang="en-US" sz="13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Karar katmanı: özellik → kavram → kural → müdahale</a:t>
            </a:r>
            <a:endParaRPr lang="en-US" sz="3400" dirty="0"/>
          </a:p>
        </p:txBody>
      </p:sp>
      <p:sp>
        <p:nvSpPr>
          <p:cNvPr id="3" name="vocab 10 gözlem özelliği"/>
          <p:cNvSpPr/>
          <p:nvPr/>
        </p:nvSpPr>
        <p:spPr>
          <a:xfrm>
            <a:off x="548640" y="1371600"/>
            <a:ext cx="3520440" cy="4343400"/>
          </a:xfrm>
          <a:prstGeom prst="roundRect">
            <a:avLst>
              <a:gd name="adj" fmla="val 3117"/>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4" name="Text 2"/>
          <p:cNvSpPr txBox="1"/>
          <p:nvPr/>
        </p:nvSpPr>
        <p:spPr>
          <a:xfrm>
            <a:off x="777240" y="1508760"/>
            <a:ext cx="3108960" cy="411480"/>
          </a:xfrm>
          <a:prstGeom prst="rect">
            <a:avLst/>
          </a:prstGeom>
          <a:noFill/>
          <a:ln/>
        </p:spPr>
        <p:txBody>
          <a:bodyPr wrap="square" lIns="0" tIns="0" rIns="0" bIns="0" rtlCol="0" anchor="t"/>
          <a:lstStyle/>
          <a:p>
            <a:pPr indent="0" marL="0">
              <a:buNone/>
            </a:pPr>
            <a:r>
              <a:rPr lang="en-US" sz="2100" b="1" dirty="0">
                <a:solidFill>
                  <a:schemeClr val="accent1"/>
                </a:solidFill>
              </a:rPr>
              <a:t>10 gözlem özelliği</a:t>
            </a:r>
            <a:endParaRPr lang="en-US" sz="2100" dirty="0"/>
          </a:p>
        </p:txBody>
      </p:sp>
      <p:sp>
        <p:nvSpPr>
          <p:cNvPr id="5" name="Text 3"/>
          <p:cNvSpPr txBox="1"/>
          <p:nvPr/>
        </p:nvSpPr>
        <p:spPr>
          <a:xfrm>
            <a:off x="777240" y="1920240"/>
            <a:ext cx="3108960" cy="365760"/>
          </a:xfrm>
          <a:prstGeom prst="rect">
            <a:avLst/>
          </a:prstGeom>
          <a:noFill/>
          <a:ln/>
        </p:spPr>
        <p:txBody>
          <a:bodyPr wrap="square" lIns="0" tIns="0" rIns="0" bIns="0" rtlCol="0" anchor="t"/>
          <a:lstStyle/>
          <a:p>
            <a:pPr indent="0" marL="0">
              <a:buNone/>
            </a:pPr>
            <a:r>
              <a:rPr lang="en-US" sz="1400" i="1" dirty="0">
                <a:solidFill>
                  <a:schemeClr val="accent4"/>
                </a:solidFill>
              </a:rPr>
              <a:t>her biri güven değeri taşır</a:t>
            </a:r>
            <a:endParaRPr lang="en-US" sz="1400" dirty="0"/>
          </a:p>
        </p:txBody>
      </p:sp>
      <p:sp>
        <p:nvSpPr>
          <p:cNvPr id="6" name="Text 4"/>
          <p:cNvSpPr txBox="1"/>
          <p:nvPr/>
        </p:nvSpPr>
        <p:spPr>
          <a:xfrm>
            <a:off x="777240" y="2377440"/>
            <a:ext cx="3154680" cy="3246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Yangın şiddeti</a:t>
            </a:r>
            <a:endParaRPr lang="en-US" sz="1400" dirty="0"/>
          </a:p>
          <a:p>
            <a:pPr marL="342900" indent="-342900">
              <a:spcAft>
                <a:spcPts val="300"/>
              </a:spcAft>
              <a:buSzPct val="100000"/>
              <a:buChar char="•"/>
            </a:pPr>
            <a:r>
              <a:rPr lang="en-US" sz="1400" dirty="0">
                <a:solidFill>
                  <a:schemeClr val="tx1"/>
                </a:solidFill>
              </a:rPr>
              <a:t>Yayılma potansiyeli</a:t>
            </a:r>
            <a:endParaRPr lang="en-US" sz="1400" dirty="0"/>
          </a:p>
          <a:p>
            <a:pPr marL="342900" indent="-342900">
              <a:spcAft>
                <a:spcPts val="300"/>
              </a:spcAft>
              <a:buSzPct val="100000"/>
              <a:buChar char="•"/>
            </a:pPr>
            <a:r>
              <a:rPr lang="en-US" sz="1400" dirty="0">
                <a:solidFill>
                  <a:schemeClr val="tx1"/>
                </a:solidFill>
              </a:rPr>
              <a:t>Hava şiddeti</a:t>
            </a:r>
            <a:endParaRPr lang="en-US" sz="1400" dirty="0"/>
          </a:p>
          <a:p>
            <a:pPr marL="342900" indent="-342900">
              <a:spcAft>
                <a:spcPts val="300"/>
              </a:spcAft>
              <a:buSzPct val="100000"/>
              <a:buChar char="•"/>
            </a:pPr>
            <a:r>
              <a:rPr lang="en-US" sz="1400" dirty="0">
                <a:solidFill>
                  <a:schemeClr val="tx1"/>
                </a:solidFill>
              </a:rPr>
              <a:t>Tutuşma yakınlığı</a:t>
            </a:r>
            <a:endParaRPr lang="en-US" sz="1400" dirty="0"/>
          </a:p>
          <a:p>
            <a:pPr marL="342900" indent="-342900">
              <a:spcAft>
                <a:spcPts val="300"/>
              </a:spcAft>
              <a:buSzPct val="100000"/>
              <a:buChar char="•"/>
            </a:pPr>
            <a:r>
              <a:rPr lang="en-US" sz="1400" dirty="0">
                <a:solidFill>
                  <a:schemeClr val="tx1"/>
                </a:solidFill>
              </a:rPr>
              <a:t>Yakıt yükü</a:t>
            </a:r>
            <a:endParaRPr lang="en-US" sz="1400" dirty="0"/>
          </a:p>
          <a:p>
            <a:pPr marL="342900" indent="-342900">
              <a:spcAft>
                <a:spcPts val="300"/>
              </a:spcAft>
              <a:buSzPct val="100000"/>
              <a:buChar char="•"/>
            </a:pPr>
            <a:r>
              <a:rPr lang="en-US" sz="1400" dirty="0">
                <a:solidFill>
                  <a:schemeClr val="tx1"/>
                </a:solidFill>
              </a:rPr>
              <a:t>Varlık maruziyeti</a:t>
            </a:r>
            <a:endParaRPr lang="en-US" sz="1400" dirty="0"/>
          </a:p>
          <a:p>
            <a:pPr marL="342900" indent="-342900">
              <a:spcAft>
                <a:spcPts val="300"/>
              </a:spcAft>
              <a:buSzPct val="100000"/>
              <a:buChar char="•"/>
            </a:pPr>
            <a:r>
              <a:rPr lang="en-US" sz="1400" dirty="0">
                <a:solidFill>
                  <a:schemeClr val="tx1"/>
                </a:solidFill>
              </a:rPr>
              <a:t>Kaynak erişilebilirliği</a:t>
            </a:r>
            <a:endParaRPr lang="en-US" sz="1400" dirty="0"/>
          </a:p>
          <a:p>
            <a:pPr marL="342900" indent="-342900">
              <a:spcAft>
                <a:spcPts val="300"/>
              </a:spcAft>
              <a:buSzPct val="100000"/>
              <a:buChar char="•"/>
            </a:pPr>
            <a:r>
              <a:rPr lang="en-US" sz="1400" dirty="0">
                <a:solidFill>
                  <a:schemeClr val="tx1"/>
                </a:solidFill>
              </a:rPr>
              <a:t>Yol ve erişim durumu</a:t>
            </a:r>
            <a:endParaRPr lang="en-US" sz="1400" dirty="0"/>
          </a:p>
          <a:p>
            <a:pPr marL="342900" indent="-342900">
              <a:spcAft>
                <a:spcPts val="300"/>
              </a:spcAft>
              <a:buSzPct val="100000"/>
              <a:buChar char="•"/>
            </a:pPr>
            <a:r>
              <a:rPr lang="en-US" sz="1400" dirty="0">
                <a:solidFill>
                  <a:schemeClr val="tx1"/>
                </a:solidFill>
              </a:rPr>
              <a:t>Söndürme kapasitesi</a:t>
            </a:r>
            <a:endParaRPr lang="en-US" sz="1400" dirty="0"/>
          </a:p>
          <a:p>
            <a:pPr marL="342900" indent="-342900">
              <a:spcAft>
                <a:spcPts val="300"/>
              </a:spcAft>
              <a:buSzPct val="100000"/>
              <a:buChar char="•"/>
            </a:pPr>
            <a:r>
              <a:rPr lang="en-US" sz="1400" dirty="0">
                <a:solidFill>
                  <a:schemeClr val="tx1"/>
                </a:solidFill>
              </a:rPr>
              <a:t>Zamansal aciliyet</a:t>
            </a:r>
            <a:endParaRPr lang="en-US" sz="1400" dirty="0"/>
          </a:p>
        </p:txBody>
      </p:sp>
      <p:sp>
        <p:nvSpPr>
          <p:cNvPr id="7" name="arrow"/>
          <p:cNvSpPr/>
          <p:nvPr/>
        </p:nvSpPr>
        <p:spPr>
          <a:xfrm>
            <a:off x="4114800" y="3246120"/>
            <a:ext cx="320040" cy="457200"/>
          </a:xfrm>
          <a:prstGeom prst="rightArrow">
            <a:avLst/>
          </a:prstGeom>
          <a:solidFill>
            <a:schemeClr val="accent4"/>
          </a:solidFill>
          <a:ln w="12700">
            <a:solidFill>
              <a:schemeClr val="accent4"/>
            </a:solidFill>
            <a:prstDash val="solid"/>
          </a:ln>
        </p:spPr>
      </p:sp>
      <p:sp>
        <p:nvSpPr>
          <p:cNvPr id="8" name="vocab 5 karar kavramı"/>
          <p:cNvSpPr/>
          <p:nvPr/>
        </p:nvSpPr>
        <p:spPr>
          <a:xfrm>
            <a:off x="4480560" y="1371600"/>
            <a:ext cx="3520440" cy="4343400"/>
          </a:xfrm>
          <a:prstGeom prst="roundRect">
            <a:avLst>
              <a:gd name="adj" fmla="val 3117"/>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9" name="Text 7"/>
          <p:cNvSpPr txBox="1"/>
          <p:nvPr/>
        </p:nvSpPr>
        <p:spPr>
          <a:xfrm>
            <a:off x="4709160" y="1508760"/>
            <a:ext cx="3108960" cy="411480"/>
          </a:xfrm>
          <a:prstGeom prst="rect">
            <a:avLst/>
          </a:prstGeom>
          <a:noFill/>
          <a:ln/>
        </p:spPr>
        <p:txBody>
          <a:bodyPr wrap="square" lIns="0" tIns="0" rIns="0" bIns="0" rtlCol="0" anchor="t"/>
          <a:lstStyle/>
          <a:p>
            <a:pPr indent="0" marL="0">
              <a:buNone/>
            </a:pPr>
            <a:r>
              <a:rPr lang="en-US" sz="2100" b="1" dirty="0">
                <a:solidFill>
                  <a:schemeClr val="accent1"/>
                </a:solidFill>
              </a:rPr>
              <a:t>5 karar kavramı</a:t>
            </a:r>
            <a:endParaRPr lang="en-US" sz="2100" dirty="0"/>
          </a:p>
        </p:txBody>
      </p:sp>
      <p:sp>
        <p:nvSpPr>
          <p:cNvPr id="10" name="Text 8"/>
          <p:cNvSpPr txBox="1"/>
          <p:nvPr/>
        </p:nvSpPr>
        <p:spPr>
          <a:xfrm>
            <a:off x="4709160" y="1920240"/>
            <a:ext cx="3108960" cy="365760"/>
          </a:xfrm>
          <a:prstGeom prst="rect">
            <a:avLst/>
          </a:prstGeom>
          <a:noFill/>
          <a:ln/>
        </p:spPr>
        <p:txBody>
          <a:bodyPr wrap="square" lIns="0" tIns="0" rIns="0" bIns="0" rtlCol="0" anchor="t"/>
          <a:lstStyle/>
          <a:p>
            <a:pPr indent="0" marL="0">
              <a:buNone/>
            </a:pPr>
            <a:r>
              <a:rPr lang="en-US" sz="1400" i="1" dirty="0">
                <a:solidFill>
                  <a:schemeClr val="accent4"/>
                </a:solidFill>
              </a:rPr>
              <a:t>kurallar yalnızca bunlar üzerine yazılır</a:t>
            </a:r>
            <a:endParaRPr lang="en-US" sz="1400" dirty="0"/>
          </a:p>
        </p:txBody>
      </p:sp>
      <p:sp>
        <p:nvSpPr>
          <p:cNvPr id="11" name="Text 9"/>
          <p:cNvSpPr txBox="1"/>
          <p:nvPr/>
        </p:nvSpPr>
        <p:spPr>
          <a:xfrm>
            <a:off x="4709160" y="2377440"/>
            <a:ext cx="3154680" cy="324612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chemeClr val="tx1"/>
                </a:solidFill>
              </a:rPr>
              <a:t>Yangın tehdit düzeyi</a:t>
            </a:r>
            <a:endParaRPr lang="en-US" sz="1700" dirty="0"/>
          </a:p>
          <a:p>
            <a:pPr marL="342900" indent="-342900">
              <a:spcAft>
                <a:spcPts val="700"/>
              </a:spcAft>
              <a:buSzPct val="100000"/>
              <a:buChar char="•"/>
            </a:pPr>
            <a:r>
              <a:rPr lang="en-US" sz="1700" dirty="0">
                <a:solidFill>
                  <a:schemeClr val="tx1"/>
                </a:solidFill>
              </a:rPr>
              <a:t>Söndürme uygulanabilirliği</a:t>
            </a:r>
            <a:endParaRPr lang="en-US" sz="1700" dirty="0"/>
          </a:p>
          <a:p>
            <a:pPr marL="342900" indent="-342900">
              <a:spcAft>
                <a:spcPts val="700"/>
              </a:spcAft>
              <a:buSzPct val="100000"/>
              <a:buChar char="•"/>
            </a:pPr>
            <a:r>
              <a:rPr lang="en-US" sz="1700" dirty="0">
                <a:solidFill>
                  <a:schemeClr val="tx1"/>
                </a:solidFill>
              </a:rPr>
              <a:t>Varlık maruziyet riski</a:t>
            </a:r>
            <a:endParaRPr lang="en-US" sz="1700" dirty="0"/>
          </a:p>
          <a:p>
            <a:pPr marL="342900" indent="-342900">
              <a:spcAft>
                <a:spcPts val="700"/>
              </a:spcAft>
              <a:buSzPct val="100000"/>
              <a:buChar char="•"/>
            </a:pPr>
            <a:r>
              <a:rPr lang="en-US" sz="1700" dirty="0">
                <a:solidFill>
                  <a:schemeClr val="tx1"/>
                </a:solidFill>
              </a:rPr>
              <a:t>Müdahale aciliyeti</a:t>
            </a:r>
            <a:endParaRPr lang="en-US" sz="1700" dirty="0"/>
          </a:p>
          <a:p>
            <a:pPr marL="342900" indent="-342900">
              <a:spcAft>
                <a:spcPts val="700"/>
              </a:spcAft>
              <a:buSzPct val="100000"/>
              <a:buChar char="•"/>
            </a:pPr>
            <a:r>
              <a:rPr lang="en-US" sz="1700" dirty="0">
                <a:solidFill>
                  <a:schemeClr val="tx1"/>
                </a:solidFill>
              </a:rPr>
              <a:t>Tahliye baskısı</a:t>
            </a:r>
            <a:endParaRPr lang="en-US" sz="1700" dirty="0"/>
          </a:p>
        </p:txBody>
      </p:sp>
      <p:sp>
        <p:nvSpPr>
          <p:cNvPr id="12" name="arrow"/>
          <p:cNvSpPr/>
          <p:nvPr/>
        </p:nvSpPr>
        <p:spPr>
          <a:xfrm>
            <a:off x="8046720" y="3246120"/>
            <a:ext cx="320040" cy="457200"/>
          </a:xfrm>
          <a:prstGeom prst="rightArrow">
            <a:avLst/>
          </a:prstGeom>
          <a:solidFill>
            <a:schemeClr val="accent4"/>
          </a:solidFill>
          <a:ln w="12700">
            <a:solidFill>
              <a:schemeClr val="accent4"/>
            </a:solidFill>
            <a:prstDash val="solid"/>
          </a:ln>
        </p:spPr>
      </p:sp>
      <p:sp>
        <p:nvSpPr>
          <p:cNvPr id="13" name="vocab 6 müdahale ailesi"/>
          <p:cNvSpPr/>
          <p:nvPr/>
        </p:nvSpPr>
        <p:spPr>
          <a:xfrm>
            <a:off x="8412480" y="1371600"/>
            <a:ext cx="3520440" cy="4343400"/>
          </a:xfrm>
          <a:prstGeom prst="roundRect">
            <a:avLst>
              <a:gd name="adj" fmla="val 3117"/>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4" name="Text 12"/>
          <p:cNvSpPr txBox="1"/>
          <p:nvPr/>
        </p:nvSpPr>
        <p:spPr>
          <a:xfrm>
            <a:off x="8641080" y="1508760"/>
            <a:ext cx="3108960" cy="411480"/>
          </a:xfrm>
          <a:prstGeom prst="rect">
            <a:avLst/>
          </a:prstGeom>
          <a:noFill/>
          <a:ln/>
        </p:spPr>
        <p:txBody>
          <a:bodyPr wrap="square" lIns="0" tIns="0" rIns="0" bIns="0" rtlCol="0" anchor="t"/>
          <a:lstStyle/>
          <a:p>
            <a:pPr indent="0" marL="0">
              <a:buNone/>
            </a:pPr>
            <a:r>
              <a:rPr lang="en-US" sz="2100" b="1" dirty="0">
                <a:solidFill>
                  <a:schemeClr val="accent1"/>
                </a:solidFill>
              </a:rPr>
              <a:t>6 müdahale ailesi</a:t>
            </a:r>
            <a:endParaRPr lang="en-US" sz="2100" dirty="0"/>
          </a:p>
        </p:txBody>
      </p:sp>
      <p:sp>
        <p:nvSpPr>
          <p:cNvPr id="15" name="Text 13"/>
          <p:cNvSpPr txBox="1"/>
          <p:nvPr/>
        </p:nvSpPr>
        <p:spPr>
          <a:xfrm>
            <a:off x="8641080" y="1920240"/>
            <a:ext cx="3108960" cy="365760"/>
          </a:xfrm>
          <a:prstGeom prst="rect">
            <a:avLst/>
          </a:prstGeom>
          <a:noFill/>
          <a:ln/>
        </p:spPr>
        <p:txBody>
          <a:bodyPr wrap="square" lIns="0" tIns="0" rIns="0" bIns="0" rtlCol="0" anchor="t"/>
          <a:lstStyle/>
          <a:p>
            <a:pPr indent="0" marL="0">
              <a:buNone/>
            </a:pPr>
            <a:r>
              <a:rPr lang="en-US" sz="1400" i="1" dirty="0">
                <a:solidFill>
                  <a:schemeClr val="accent4"/>
                </a:solidFill>
              </a:rPr>
              <a:t>her kural bir şiddet atar; 0 = eylemsizlik</a:t>
            </a:r>
            <a:endParaRPr lang="en-US" sz="1400" dirty="0"/>
          </a:p>
        </p:txBody>
      </p:sp>
      <p:sp>
        <p:nvSpPr>
          <p:cNvPr id="16" name="Text 14"/>
          <p:cNvSpPr txBox="1"/>
          <p:nvPr/>
        </p:nvSpPr>
        <p:spPr>
          <a:xfrm>
            <a:off x="8641080" y="2377440"/>
            <a:ext cx="3154680" cy="324612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chemeClr val="tx1"/>
                </a:solidFill>
              </a:rPr>
              <a:t>Söndürme çabası</a:t>
            </a:r>
            <a:endParaRPr lang="en-US" sz="1700" dirty="0"/>
          </a:p>
          <a:p>
            <a:pPr marL="342900" indent="-342900">
              <a:spcAft>
                <a:spcPts val="700"/>
              </a:spcAft>
              <a:buSzPct val="100000"/>
              <a:buChar char="•"/>
            </a:pPr>
            <a:r>
              <a:rPr lang="en-US" sz="1700" dirty="0">
                <a:solidFill>
                  <a:schemeClr val="tx1"/>
                </a:solidFill>
              </a:rPr>
              <a:t>Kaynak konuşlandırma</a:t>
            </a:r>
            <a:endParaRPr lang="en-US" sz="1700" dirty="0"/>
          </a:p>
          <a:p>
            <a:pPr marL="342900" indent="-342900">
              <a:spcAft>
                <a:spcPts val="700"/>
              </a:spcAft>
              <a:buSzPct val="100000"/>
              <a:buChar char="•"/>
            </a:pPr>
            <a:r>
              <a:rPr lang="en-US" sz="1700" dirty="0">
                <a:solidFill>
                  <a:schemeClr val="tx1"/>
                </a:solidFill>
              </a:rPr>
              <a:t>Kontrol hattı</a:t>
            </a:r>
            <a:endParaRPr lang="en-US" sz="1700" dirty="0"/>
          </a:p>
          <a:p>
            <a:pPr marL="342900" indent="-342900">
              <a:spcAft>
                <a:spcPts val="700"/>
              </a:spcAft>
              <a:buSzPct val="100000"/>
              <a:buChar char="•"/>
            </a:pPr>
            <a:r>
              <a:rPr lang="en-US" sz="1700" dirty="0">
                <a:solidFill>
                  <a:schemeClr val="tx1"/>
                </a:solidFill>
              </a:rPr>
              <a:t>Varlık koruma</a:t>
            </a:r>
            <a:endParaRPr lang="en-US" sz="1700" dirty="0"/>
          </a:p>
          <a:p>
            <a:pPr marL="342900" indent="-342900">
              <a:spcAft>
                <a:spcPts val="700"/>
              </a:spcAft>
              <a:buSzPct val="100000"/>
              <a:buChar char="•"/>
            </a:pPr>
            <a:r>
              <a:rPr lang="en-US" sz="1700" dirty="0">
                <a:solidFill>
                  <a:schemeClr val="tx1"/>
                </a:solidFill>
              </a:rPr>
              <a:t>Tahliye</a:t>
            </a:r>
            <a:endParaRPr lang="en-US" sz="1700" dirty="0"/>
          </a:p>
          <a:p>
            <a:pPr marL="342900" indent="-342900">
              <a:spcAft>
                <a:spcPts val="700"/>
              </a:spcAft>
              <a:buSzPct val="100000"/>
              <a:buChar char="•"/>
            </a:pPr>
            <a:r>
              <a:rPr lang="en-US" sz="1700" dirty="0">
                <a:solidFill>
                  <a:schemeClr val="tx1"/>
                </a:solidFill>
              </a:rPr>
              <a:t>Kamu uyarısı</a:t>
            </a:r>
            <a:endParaRPr lang="en-US" sz="1700" dirty="0"/>
          </a:p>
        </p:txBody>
      </p:sp>
      <p:sp>
        <p:nvSpPr>
          <p:cNvPr id="17" name="physics card"/>
          <p:cNvSpPr/>
          <p:nvPr/>
        </p:nvSpPr>
        <p:spPr>
          <a:xfrm>
            <a:off x="548640" y="5806440"/>
            <a:ext cx="11091672" cy="502920"/>
          </a:xfrm>
          <a:prstGeom prst="roundRect">
            <a:avLst>
              <a:gd name="adj" fmla="val 21818"/>
            </a:avLst>
          </a:prstGeom>
          <a:solidFill>
            <a:schemeClr val="accent5"/>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8" name="Text 16"/>
          <p:cNvSpPr txBox="1"/>
          <p:nvPr/>
        </p:nvSpPr>
        <p:spPr>
          <a:xfrm>
            <a:off x="731520" y="5806440"/>
            <a:ext cx="10789920" cy="502920"/>
          </a:xfrm>
          <a:prstGeom prst="rect">
            <a:avLst/>
          </a:prstGeom>
          <a:noFill/>
          <a:ln/>
        </p:spPr>
        <p:txBody>
          <a:bodyPr wrap="square" lIns="0" tIns="0" rIns="0" bIns="0" rtlCol="0" anchor="ctr"/>
          <a:lstStyle/>
          <a:p>
            <a:pPr indent="0" marL="0">
              <a:buNone/>
            </a:pPr>
            <a:r>
              <a:rPr lang="en-US" sz="1300" dirty="0">
                <a:solidFill>
                  <a:schemeClr val="tx2"/>
                </a:solidFill>
              </a:rPr>
              <a:t>Altta benzetimin doğruladığı 7 fiziksel etki (ıslatma, temizleme, tutuşturma, kaplama, su çekme, tahliye, hazırlama) ve 3 kanal (su ikmali, geciktirici atışı, taktik yakma). Tohum tabanı: 5 kural; öncül uzayı 5⁵ = 3125 bileşim, yalnızca etkin alt küme kurulur.</a:t>
            </a:r>
            <a:endParaRPr lang="en-US" sz="13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Üç aşamalı uyarlama döngüsü</a:t>
            </a:r>
            <a:endParaRPr lang="en-US" sz="3400" dirty="0"/>
          </a:p>
        </p:txBody>
      </p:sp>
      <p:pic>
        <p:nvPicPr>
          <p:cNvPr id="3" name="Şekil 1" descr="fig1.png">    </p:cNvPr>
          <p:cNvPicPr>
            <a:picLocks noChangeAspect="1"/>
          </p:cNvPicPr>
          <p:nvPr/>
        </p:nvPicPr>
        <p:blipFill>
          <a:blip r:embed="rId1"/>
          <a:stretch>
            <a:fillRect/>
          </a:stretch>
        </p:blipFill>
        <p:spPr>
          <a:xfrm>
            <a:off x="548640" y="1325880"/>
            <a:ext cx="8503920" cy="4809744"/>
          </a:xfrm>
          <a:prstGeom prst="rect">
            <a:avLst/>
          </a:prstGeom>
        </p:spPr>
      </p:pic>
      <p:sp>
        <p:nvSpPr>
          <p:cNvPr id="4" name="step 1"/>
          <p:cNvSpPr/>
          <p:nvPr/>
        </p:nvSpPr>
        <p:spPr>
          <a:xfrm>
            <a:off x="9281160" y="1325880"/>
            <a:ext cx="457200" cy="457200"/>
          </a:xfrm>
          <a:prstGeom prst="ellipse">
            <a:avLst/>
          </a:prstGeom>
          <a:solidFill>
            <a:schemeClr val="accent1"/>
          </a:solidFill>
          <a:ln w="12700">
            <a:solidFill>
              <a:schemeClr val="accent1"/>
            </a:solidFill>
            <a:prstDash val="solid"/>
          </a:ln>
        </p:spPr>
      </p:sp>
      <p:sp>
        <p:nvSpPr>
          <p:cNvPr id="5" name="Text 2"/>
          <p:cNvSpPr txBox="1"/>
          <p:nvPr/>
        </p:nvSpPr>
        <p:spPr>
          <a:xfrm>
            <a:off x="9281160" y="13258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9281160" y="1828800"/>
            <a:ext cx="2377440" cy="320040"/>
          </a:xfrm>
          <a:prstGeom prst="rect">
            <a:avLst/>
          </a:prstGeom>
          <a:noFill/>
          <a:ln/>
        </p:spPr>
        <p:txBody>
          <a:bodyPr wrap="square" lIns="0" tIns="0" rIns="0" bIns="0" rtlCol="0" anchor="t"/>
          <a:lstStyle/>
          <a:p>
            <a:pPr indent="0" marL="0">
              <a:buNone/>
            </a:pPr>
            <a:r>
              <a:rPr lang="en-US" sz="1800" b="1" dirty="0">
                <a:solidFill>
                  <a:schemeClr val="tx2"/>
                </a:solidFill>
              </a:rPr>
              <a:t>Parametre uyarlaması</a:t>
            </a:r>
            <a:endParaRPr lang="en-US" sz="1800" dirty="0"/>
          </a:p>
        </p:txBody>
      </p:sp>
      <p:sp>
        <p:nvSpPr>
          <p:cNvPr id="7" name="Text 4"/>
          <p:cNvSpPr txBox="1"/>
          <p:nvPr/>
        </p:nvSpPr>
        <p:spPr>
          <a:xfrm>
            <a:off x="9281160" y="2148840"/>
            <a:ext cx="2377440" cy="502920"/>
          </a:xfrm>
          <a:prstGeom prst="rect">
            <a:avLst/>
          </a:prstGeom>
          <a:noFill/>
          <a:ln/>
        </p:spPr>
        <p:txBody>
          <a:bodyPr wrap="square" lIns="0" tIns="0" rIns="0" bIns="0" rtlCol="0" anchor="t"/>
          <a:lstStyle/>
          <a:p>
            <a:pPr indent="0" marL="0">
              <a:buNone/>
            </a:pPr>
            <a:r>
              <a:rPr lang="en-US" sz="1500" dirty="0">
                <a:solidFill>
                  <a:schemeClr val="tx1"/>
                </a:solidFill>
              </a:rPr>
              <a:t>Mevcut kuralların şiddetleri ve terim sınırları ayarlanır.</a:t>
            </a:r>
            <a:endParaRPr lang="en-US" sz="1500" dirty="0"/>
          </a:p>
        </p:txBody>
      </p:sp>
      <p:sp>
        <p:nvSpPr>
          <p:cNvPr id="8" name="step 2"/>
          <p:cNvSpPr/>
          <p:nvPr/>
        </p:nvSpPr>
        <p:spPr>
          <a:xfrm>
            <a:off x="9281160" y="269748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9281160" y="2697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9281160" y="3200400"/>
            <a:ext cx="2377440" cy="320040"/>
          </a:xfrm>
          <a:prstGeom prst="rect">
            <a:avLst/>
          </a:prstGeom>
          <a:noFill/>
          <a:ln/>
        </p:spPr>
        <p:txBody>
          <a:bodyPr wrap="square" lIns="0" tIns="0" rIns="0" bIns="0" rtlCol="0" anchor="t"/>
          <a:lstStyle/>
          <a:p>
            <a:pPr indent="0" marL="0">
              <a:buNone/>
            </a:pPr>
            <a:r>
              <a:rPr lang="en-US" sz="1800" b="1" dirty="0">
                <a:solidFill>
                  <a:schemeClr val="tx2"/>
                </a:solidFill>
              </a:rPr>
              <a:t>Çözünürlük büyütme</a:t>
            </a:r>
            <a:endParaRPr lang="en-US" sz="1800" dirty="0"/>
          </a:p>
        </p:txBody>
      </p:sp>
      <p:sp>
        <p:nvSpPr>
          <p:cNvPr id="11" name="Text 8"/>
          <p:cNvSpPr txBox="1"/>
          <p:nvPr/>
        </p:nvSpPr>
        <p:spPr>
          <a:xfrm>
            <a:off x="9281160" y="3520440"/>
            <a:ext cx="2377440" cy="502920"/>
          </a:xfrm>
          <a:prstGeom prst="rect">
            <a:avLst/>
          </a:prstGeom>
          <a:noFill/>
          <a:ln/>
        </p:spPr>
        <p:txBody>
          <a:bodyPr wrap="square" lIns="0" tIns="0" rIns="0" bIns="0" rtlCol="0" anchor="t"/>
          <a:lstStyle/>
          <a:p>
            <a:pPr indent="0" marL="0">
              <a:buNone/>
            </a:pPr>
            <a:r>
              <a:rPr lang="en-US" sz="1500" dirty="0">
                <a:solidFill>
                  <a:schemeClr val="tx1"/>
                </a:solidFill>
              </a:rPr>
              <a:t>Boş öncül bileşimlerine kural yazılır, terim kümesi genişler.</a:t>
            </a:r>
            <a:endParaRPr lang="en-US" sz="1500" dirty="0"/>
          </a:p>
        </p:txBody>
      </p:sp>
      <p:sp>
        <p:nvSpPr>
          <p:cNvPr id="12" name="step 3"/>
          <p:cNvSpPr/>
          <p:nvPr/>
        </p:nvSpPr>
        <p:spPr>
          <a:xfrm>
            <a:off x="9281160" y="406908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9281160" y="40690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9281160" y="4572000"/>
            <a:ext cx="2377440" cy="320040"/>
          </a:xfrm>
          <a:prstGeom prst="rect">
            <a:avLst/>
          </a:prstGeom>
          <a:noFill/>
          <a:ln/>
        </p:spPr>
        <p:txBody>
          <a:bodyPr wrap="square" lIns="0" tIns="0" rIns="0" bIns="0" rtlCol="0" anchor="t"/>
          <a:lstStyle/>
          <a:p>
            <a:pPr indent="0" marL="0">
              <a:buNone/>
            </a:pPr>
            <a:r>
              <a:rPr lang="en-US" sz="1800" b="1" dirty="0">
                <a:solidFill>
                  <a:schemeClr val="tx2"/>
                </a:solidFill>
              </a:rPr>
              <a:t>Üretken öneri</a:t>
            </a:r>
            <a:endParaRPr lang="en-US" sz="1800" dirty="0"/>
          </a:p>
        </p:txBody>
      </p:sp>
      <p:sp>
        <p:nvSpPr>
          <p:cNvPr id="15" name="Text 12"/>
          <p:cNvSpPr txBox="1"/>
          <p:nvPr/>
        </p:nvSpPr>
        <p:spPr>
          <a:xfrm>
            <a:off x="9281160" y="4892040"/>
            <a:ext cx="2377440" cy="502920"/>
          </a:xfrm>
          <a:prstGeom prst="rect">
            <a:avLst/>
          </a:prstGeom>
          <a:noFill/>
          <a:ln/>
        </p:spPr>
        <p:txBody>
          <a:bodyPr wrap="square" lIns="0" tIns="0" rIns="0" bIns="0" rtlCol="0" anchor="t"/>
          <a:lstStyle/>
          <a:p>
            <a:pPr indent="0" marL="0">
              <a:buNone/>
            </a:pPr>
            <a:r>
              <a:rPr lang="en-US" sz="1500" dirty="0">
                <a:solidFill>
                  <a:schemeClr val="tx1"/>
                </a:solidFill>
              </a:rPr>
              <a:t>Dil modeli yeni kural, kavram ve bileşik müdahale önerir.</a:t>
            </a:r>
            <a:endParaRPr lang="en-US" sz="1500" dirty="0"/>
          </a:p>
        </p:txBody>
      </p:sp>
      <p:sp>
        <p:nvSpPr>
          <p:cNvPr id="16" name="rule card"/>
          <p:cNvSpPr/>
          <p:nvPr/>
        </p:nvSpPr>
        <p:spPr>
          <a:xfrm>
            <a:off x="9281160" y="5532120"/>
            <a:ext cx="2377440" cy="594360"/>
          </a:xfrm>
          <a:prstGeom prst="roundRect">
            <a:avLst>
              <a:gd name="adj" fmla="val 18462"/>
            </a:avLst>
          </a:prstGeom>
          <a:solidFill>
            <a:schemeClr val="accent5"/>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7" name="Text 14"/>
          <p:cNvSpPr txBox="1"/>
          <p:nvPr/>
        </p:nvSpPr>
        <p:spPr>
          <a:xfrm>
            <a:off x="9372600" y="5532120"/>
            <a:ext cx="2240280" cy="594360"/>
          </a:xfrm>
          <a:prstGeom prst="rect">
            <a:avLst/>
          </a:prstGeom>
          <a:noFill/>
          <a:ln/>
        </p:spPr>
        <p:txBody>
          <a:bodyPr wrap="square" lIns="0" tIns="0" rIns="0" bIns="0" rtlCol="0" anchor="ctr"/>
          <a:lstStyle/>
          <a:p>
            <a:pPr indent="0" marL="0">
              <a:buNone/>
            </a:pPr>
            <a:r>
              <a:rPr lang="en-US" sz="1600" b="1" dirty="0">
                <a:solidFill>
                  <a:schemeClr val="tx2"/>
                </a:solidFill>
              </a:rPr>
              <a:t>Aday: ΔĴphys &lt; 0 ise tutulur</a:t>
            </a:r>
            <a:endParaRPr lang="en-US" sz="16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Aşama 3: şema kısıtlı üretken öneri</a:t>
            </a:r>
            <a:endParaRPr lang="en-US" sz="3400" dirty="0"/>
          </a:p>
        </p:txBody>
      </p:sp>
      <p:sp>
        <p:nvSpPr>
          <p:cNvPr id="3" name="Text 1"/>
          <p:cNvSpPr txBox="1"/>
          <p:nvPr/>
        </p:nvSpPr>
        <p:spPr>
          <a:xfrm>
            <a:off x="548640" y="1463040"/>
            <a:ext cx="3474720" cy="457200"/>
          </a:xfrm>
          <a:prstGeom prst="rect">
            <a:avLst/>
          </a:prstGeom>
          <a:noFill/>
          <a:ln/>
        </p:spPr>
        <p:txBody>
          <a:bodyPr wrap="square" lIns="0" tIns="0" rIns="0" bIns="0" rtlCol="0" anchor="t"/>
          <a:lstStyle/>
          <a:p>
            <a:pPr indent="0" marL="0">
              <a:buNone/>
            </a:pPr>
            <a:r>
              <a:rPr lang="en-US" sz="2000" b="1" dirty="0">
                <a:solidFill>
                  <a:schemeClr val="accent1"/>
                </a:solidFill>
              </a:rPr>
              <a:t>Modele verilen</a:t>
            </a:r>
            <a:endParaRPr lang="en-US" sz="2000" dirty="0"/>
          </a:p>
        </p:txBody>
      </p:sp>
      <p:sp>
        <p:nvSpPr>
          <p:cNvPr id="4" name="FaUserCog circle"/>
          <p:cNvSpPr/>
          <p:nvPr/>
        </p:nvSpPr>
        <p:spPr>
          <a:xfrm>
            <a:off x="548640" y="2011680"/>
            <a:ext cx="640080" cy="640080"/>
          </a:xfrm>
          <a:prstGeom prst="ellipse">
            <a:avLst/>
          </a:prstGeom>
          <a:solidFill>
            <a:srgbClr val="1F3A5F"/>
          </a:solidFill>
          <a:ln w="12700">
            <a:solidFill>
              <a:srgbClr val="1F3A5F"/>
            </a:solidFill>
            <a:prstDash val="solid"/>
          </a:ln>
        </p:spPr>
      </p:sp>
      <p:pic>
        <p:nvPicPr>
          <p:cNvPr id="5" name="FaUserCog icon" descr="preencoded.png">    </p:cNvPr>
          <p:cNvPicPr>
            <a:picLocks noChangeAspect="1"/>
          </p:cNvPicPr>
          <p:nvPr/>
        </p:nvPicPr>
        <p:blipFill>
          <a:blip r:embed="rId1"/>
          <a:stretch>
            <a:fillRect/>
          </a:stretch>
        </p:blipFill>
        <p:spPr>
          <a:xfrm>
            <a:off x="708660" y="2171700"/>
            <a:ext cx="320040" cy="320040"/>
          </a:xfrm>
          <a:prstGeom prst="rect">
            <a:avLst/>
          </a:prstGeom>
        </p:spPr>
      </p:pic>
      <p:sp>
        <p:nvSpPr>
          <p:cNvPr id="6" name="Text 3"/>
          <p:cNvSpPr txBox="1"/>
          <p:nvPr/>
        </p:nvSpPr>
        <p:spPr>
          <a:xfrm>
            <a:off x="1371600" y="2011680"/>
            <a:ext cx="2651760" cy="914400"/>
          </a:xfrm>
          <a:prstGeom prst="rect">
            <a:avLst/>
          </a:prstGeom>
          <a:noFill/>
          <a:ln/>
        </p:spPr>
        <p:txBody>
          <a:bodyPr wrap="square" lIns="0" tIns="0" rIns="0" bIns="0" rtlCol="0" anchor="ctr"/>
          <a:lstStyle/>
          <a:p>
            <a:pPr indent="0" marL="0">
              <a:buNone/>
            </a:pPr>
            <a:r>
              <a:rPr lang="en-US" sz="1700" dirty="0">
                <a:solidFill>
                  <a:schemeClr val="tx1"/>
                </a:solidFill>
              </a:rPr>
              <a:t>Rol tanımlayan sistem talimatı</a:t>
            </a:r>
            <a:endParaRPr lang="en-US" sz="1700" dirty="0"/>
          </a:p>
        </p:txBody>
      </p:sp>
      <p:sp>
        <p:nvSpPr>
          <p:cNvPr id="7" name="FaClipboardList circle"/>
          <p:cNvSpPr/>
          <p:nvPr/>
        </p:nvSpPr>
        <p:spPr>
          <a:xfrm>
            <a:off x="548640" y="3108960"/>
            <a:ext cx="640080" cy="640080"/>
          </a:xfrm>
          <a:prstGeom prst="ellipse">
            <a:avLst/>
          </a:prstGeom>
          <a:solidFill>
            <a:srgbClr val="1F3A5F"/>
          </a:solidFill>
          <a:ln w="12700">
            <a:solidFill>
              <a:srgbClr val="1F3A5F"/>
            </a:solidFill>
            <a:prstDash val="solid"/>
          </a:ln>
        </p:spPr>
      </p:sp>
      <p:pic>
        <p:nvPicPr>
          <p:cNvPr id="8" name="FaClipboardList icon" descr="preencoded.png">    </p:cNvPr>
          <p:cNvPicPr>
            <a:picLocks noChangeAspect="1"/>
          </p:cNvPicPr>
          <p:nvPr/>
        </p:nvPicPr>
        <p:blipFill>
          <a:blip r:embed="rId2"/>
          <a:stretch>
            <a:fillRect/>
          </a:stretch>
        </p:blipFill>
        <p:spPr>
          <a:xfrm>
            <a:off x="708660" y="3268980"/>
            <a:ext cx="320040" cy="320040"/>
          </a:xfrm>
          <a:prstGeom prst="rect">
            <a:avLst/>
          </a:prstGeom>
        </p:spPr>
      </p:pic>
      <p:sp>
        <p:nvSpPr>
          <p:cNvPr id="9" name="Text 5"/>
          <p:cNvSpPr txBox="1"/>
          <p:nvPr/>
        </p:nvSpPr>
        <p:spPr>
          <a:xfrm>
            <a:off x="1371600" y="3108960"/>
            <a:ext cx="2651760" cy="914400"/>
          </a:xfrm>
          <a:prstGeom prst="rect">
            <a:avLst/>
          </a:prstGeom>
          <a:noFill/>
          <a:ln/>
        </p:spPr>
        <p:txBody>
          <a:bodyPr wrap="square" lIns="0" tIns="0" rIns="0" bIns="0" rtlCol="0" anchor="ctr"/>
          <a:lstStyle/>
          <a:p>
            <a:pPr indent="0" marL="0">
              <a:buNone/>
            </a:pPr>
            <a:r>
              <a:rPr lang="en-US" sz="1700" dirty="0">
                <a:solidFill>
                  <a:schemeClr val="tx1"/>
                </a:solidFill>
              </a:rPr>
              <a:t>Çevrim durumu: kavramlar, etkin kurallar, kapsama, kaynak</a:t>
            </a:r>
            <a:endParaRPr lang="en-US" sz="1700" dirty="0"/>
          </a:p>
        </p:txBody>
      </p:sp>
      <p:sp>
        <p:nvSpPr>
          <p:cNvPr id="10" name="FaLock circle"/>
          <p:cNvSpPr/>
          <p:nvPr/>
        </p:nvSpPr>
        <p:spPr>
          <a:xfrm>
            <a:off x="548640" y="4206240"/>
            <a:ext cx="640080" cy="640080"/>
          </a:xfrm>
          <a:prstGeom prst="ellipse">
            <a:avLst/>
          </a:prstGeom>
          <a:solidFill>
            <a:srgbClr val="1F3A5F"/>
          </a:solidFill>
          <a:ln w="12700">
            <a:solidFill>
              <a:srgbClr val="1F3A5F"/>
            </a:solidFill>
            <a:prstDash val="solid"/>
          </a:ln>
        </p:spPr>
      </p:sp>
      <p:pic>
        <p:nvPicPr>
          <p:cNvPr id="11" name="FaLock icon" descr="preencoded.png">    </p:cNvPr>
          <p:cNvPicPr>
            <a:picLocks noChangeAspect="1"/>
          </p:cNvPicPr>
          <p:nvPr/>
        </p:nvPicPr>
        <p:blipFill>
          <a:blip r:embed="rId3"/>
          <a:stretch>
            <a:fillRect/>
          </a:stretch>
        </p:blipFill>
        <p:spPr>
          <a:xfrm>
            <a:off x="708660" y="4366260"/>
            <a:ext cx="320040" cy="320040"/>
          </a:xfrm>
          <a:prstGeom prst="rect">
            <a:avLst/>
          </a:prstGeom>
        </p:spPr>
      </p:pic>
      <p:sp>
        <p:nvSpPr>
          <p:cNvPr id="12" name="Text 7"/>
          <p:cNvSpPr txBox="1"/>
          <p:nvPr/>
        </p:nvSpPr>
        <p:spPr>
          <a:xfrm>
            <a:off x="1371600" y="4206240"/>
            <a:ext cx="2651760" cy="914400"/>
          </a:xfrm>
          <a:prstGeom prst="rect">
            <a:avLst/>
          </a:prstGeom>
          <a:noFill/>
          <a:ln/>
        </p:spPr>
        <p:txBody>
          <a:bodyPr wrap="square" lIns="0" tIns="0" rIns="0" bIns="0" rtlCol="0" anchor="ctr"/>
          <a:lstStyle/>
          <a:p>
            <a:pPr indent="0" marL="0">
              <a:buNone/>
            </a:pPr>
            <a:r>
              <a:rPr lang="en-US" sz="1700" dirty="0">
                <a:solidFill>
                  <a:schemeClr val="tx1"/>
                </a:solidFill>
              </a:rPr>
              <a:t>Şema kısıtı: yalnızca sistemin kapalı sözlüğü</a:t>
            </a:r>
            <a:endParaRPr lang="en-US" sz="1700" dirty="0"/>
          </a:p>
        </p:txBody>
      </p:sp>
      <p:sp>
        <p:nvSpPr>
          <p:cNvPr id="13" name="arrow"/>
          <p:cNvSpPr/>
          <p:nvPr/>
        </p:nvSpPr>
        <p:spPr>
          <a:xfrm>
            <a:off x="4343400" y="2926080"/>
            <a:ext cx="731520" cy="640080"/>
          </a:xfrm>
          <a:prstGeom prst="rightArrow">
            <a:avLst/>
          </a:prstGeom>
          <a:solidFill>
            <a:schemeClr val="accent3"/>
          </a:solidFill>
          <a:ln w="12700">
            <a:solidFill>
              <a:schemeClr val="accent3"/>
            </a:solidFill>
            <a:prstDash val="solid"/>
          </a:ln>
        </p:spPr>
      </p:sp>
      <p:sp>
        <p:nvSpPr>
          <p:cNvPr id="14" name="output card"/>
          <p:cNvSpPr/>
          <p:nvPr/>
        </p:nvSpPr>
        <p:spPr>
          <a:xfrm>
            <a:off x="5257800" y="1463040"/>
            <a:ext cx="3017520" cy="4206240"/>
          </a:xfrm>
          <a:prstGeom prst="roundRect">
            <a:avLst>
              <a:gd name="adj" fmla="val 3636"/>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5" name="Text 10"/>
          <p:cNvSpPr txBox="1"/>
          <p:nvPr/>
        </p:nvSpPr>
        <p:spPr>
          <a:xfrm>
            <a:off x="5486400" y="1691640"/>
            <a:ext cx="2651760" cy="457200"/>
          </a:xfrm>
          <a:prstGeom prst="rect">
            <a:avLst/>
          </a:prstGeom>
          <a:noFill/>
          <a:ln/>
        </p:spPr>
        <p:txBody>
          <a:bodyPr wrap="square" lIns="0" tIns="0" rIns="0" bIns="0" rtlCol="0" anchor="t"/>
          <a:lstStyle/>
          <a:p>
            <a:pPr indent="0" marL="0">
              <a:buNone/>
            </a:pPr>
            <a:r>
              <a:rPr lang="en-US" sz="2000" b="1" dirty="0">
                <a:solidFill>
                  <a:schemeClr val="accent1"/>
                </a:solidFill>
              </a:rPr>
              <a:t>Tek öneri</a:t>
            </a:r>
            <a:endParaRPr lang="en-US" sz="2000" dirty="0"/>
          </a:p>
        </p:txBody>
      </p:sp>
      <p:sp>
        <p:nvSpPr>
          <p:cNvPr id="16" name="Text 11"/>
          <p:cNvSpPr txBox="1"/>
          <p:nvPr/>
        </p:nvSpPr>
        <p:spPr>
          <a:xfrm>
            <a:off x="5486400" y="2194560"/>
            <a:ext cx="2651760" cy="822960"/>
          </a:xfrm>
          <a:prstGeom prst="rect">
            <a:avLst/>
          </a:prstGeom>
          <a:noFill/>
          <a:ln/>
        </p:spPr>
        <p:txBody>
          <a:bodyPr wrap="square" lIns="0" tIns="0" rIns="0" bIns="0" rtlCol="0" anchor="t"/>
          <a:lstStyle/>
          <a:p>
            <a:pPr indent="0" marL="0">
              <a:buNone/>
            </a:pPr>
            <a:r>
              <a:rPr lang="en-US" sz="1700" dirty="0">
                <a:solidFill>
                  <a:schemeClr val="tx1"/>
                </a:solidFill>
              </a:rPr>
              <a:t>Bir kural, ya da bir kural + tek bir yeni sözlük nesnesi:</a:t>
            </a:r>
            <a:endParaRPr lang="en-US" sz="1700" dirty="0"/>
          </a:p>
        </p:txBody>
      </p:sp>
      <p:sp>
        <p:nvSpPr>
          <p:cNvPr id="17" name="dot"/>
          <p:cNvSpPr/>
          <p:nvPr/>
        </p:nvSpPr>
        <p:spPr>
          <a:xfrm>
            <a:off x="5486400" y="3172968"/>
            <a:ext cx="164592" cy="164592"/>
          </a:xfrm>
          <a:prstGeom prst="ellipse">
            <a:avLst/>
          </a:prstGeom>
          <a:solidFill>
            <a:schemeClr val="accent2"/>
          </a:solidFill>
          <a:ln w="12700">
            <a:solidFill>
              <a:schemeClr val="accent2"/>
            </a:solidFill>
            <a:prstDash val="solid"/>
          </a:ln>
        </p:spPr>
      </p:sp>
      <p:sp>
        <p:nvSpPr>
          <p:cNvPr id="18" name="Text 13"/>
          <p:cNvSpPr txBox="1"/>
          <p:nvPr/>
        </p:nvSpPr>
        <p:spPr>
          <a:xfrm>
            <a:off x="5760720" y="3063240"/>
            <a:ext cx="2423160" cy="822960"/>
          </a:xfrm>
          <a:prstGeom prst="rect">
            <a:avLst/>
          </a:prstGeom>
          <a:noFill/>
          <a:ln/>
        </p:spPr>
        <p:txBody>
          <a:bodyPr wrap="square" lIns="0" tIns="0" rIns="0" bIns="0" rtlCol="0" anchor="t"/>
          <a:lstStyle/>
          <a:p>
            <a:pPr indent="0" marL="0">
              <a:buNone/>
            </a:pPr>
            <a:r>
              <a:rPr lang="en-US" sz="1700" b="1" dirty="0">
                <a:solidFill>
                  <a:schemeClr val="tx2"/>
                </a:solidFill>
              </a:rPr>
              <a:t>Makro müdahale</a:t>
            </a:r>
            <a:endParaRPr lang="en-US" sz="1700" dirty="0"/>
          </a:p>
          <a:p>
            <a:pPr indent="0" marL="0">
              <a:buNone/>
            </a:pPr>
            <a:r>
              <a:rPr lang="en-US" sz="1500" dirty="0">
                <a:solidFill>
                  <a:schemeClr val="accent4"/>
                </a:solidFill>
              </a:rPr>
              <a:t>en çok 3 kanal, sabit oranlar</a:t>
            </a:r>
            <a:endParaRPr lang="en-US" sz="1700" dirty="0"/>
          </a:p>
        </p:txBody>
      </p:sp>
      <p:sp>
        <p:nvSpPr>
          <p:cNvPr id="19" name="dot"/>
          <p:cNvSpPr/>
          <p:nvPr/>
        </p:nvSpPr>
        <p:spPr>
          <a:xfrm>
            <a:off x="5486400" y="4014216"/>
            <a:ext cx="164592" cy="164592"/>
          </a:xfrm>
          <a:prstGeom prst="ellipse">
            <a:avLst/>
          </a:prstGeom>
          <a:solidFill>
            <a:schemeClr val="accent2"/>
          </a:solidFill>
          <a:ln w="12700">
            <a:solidFill>
              <a:schemeClr val="accent2"/>
            </a:solidFill>
            <a:prstDash val="solid"/>
          </a:ln>
        </p:spPr>
      </p:sp>
      <p:sp>
        <p:nvSpPr>
          <p:cNvPr id="20" name="Text 15"/>
          <p:cNvSpPr txBox="1"/>
          <p:nvPr/>
        </p:nvSpPr>
        <p:spPr>
          <a:xfrm>
            <a:off x="5760720" y="3904488"/>
            <a:ext cx="2423160" cy="822960"/>
          </a:xfrm>
          <a:prstGeom prst="rect">
            <a:avLst/>
          </a:prstGeom>
          <a:noFill/>
          <a:ln/>
        </p:spPr>
        <p:txBody>
          <a:bodyPr wrap="square" lIns="0" tIns="0" rIns="0" bIns="0" rtlCol="0" anchor="t"/>
          <a:lstStyle/>
          <a:p>
            <a:pPr indent="0" marL="0">
              <a:buNone/>
            </a:pPr>
            <a:r>
              <a:rPr lang="en-US" sz="1700" b="1" dirty="0">
                <a:solidFill>
                  <a:schemeClr val="tx2"/>
                </a:solidFill>
              </a:rPr>
              <a:t>Ara kavram</a:t>
            </a:r>
            <a:endParaRPr lang="en-US" sz="1700" dirty="0"/>
          </a:p>
          <a:p>
            <a:pPr indent="0" marL="0">
              <a:buNone/>
            </a:pPr>
            <a:r>
              <a:rPr lang="en-US" sz="1500" dirty="0">
                <a:solidFill>
                  <a:schemeClr val="accent4"/>
                </a:solidFill>
              </a:rPr>
              <a:t>en çok 4 girdinin normalize bileşimi</a:t>
            </a:r>
            <a:endParaRPr lang="en-US" sz="1700" dirty="0"/>
          </a:p>
        </p:txBody>
      </p:sp>
      <p:sp>
        <p:nvSpPr>
          <p:cNvPr id="21" name="dot"/>
          <p:cNvSpPr/>
          <p:nvPr/>
        </p:nvSpPr>
        <p:spPr>
          <a:xfrm>
            <a:off x="5486400" y="4855464"/>
            <a:ext cx="164592" cy="164592"/>
          </a:xfrm>
          <a:prstGeom prst="ellipse">
            <a:avLst/>
          </a:prstGeom>
          <a:solidFill>
            <a:schemeClr val="accent2"/>
          </a:solidFill>
          <a:ln w="12700">
            <a:solidFill>
              <a:schemeClr val="accent2"/>
            </a:solidFill>
            <a:prstDash val="solid"/>
          </a:ln>
        </p:spPr>
      </p:sp>
      <p:sp>
        <p:nvSpPr>
          <p:cNvPr id="22" name="Text 17"/>
          <p:cNvSpPr txBox="1"/>
          <p:nvPr/>
        </p:nvSpPr>
        <p:spPr>
          <a:xfrm>
            <a:off x="5760720" y="4745736"/>
            <a:ext cx="2423160" cy="822960"/>
          </a:xfrm>
          <a:prstGeom prst="rect">
            <a:avLst/>
          </a:prstGeom>
          <a:noFill/>
          <a:ln/>
        </p:spPr>
        <p:txBody>
          <a:bodyPr wrap="square" lIns="0" tIns="0" rIns="0" bIns="0" rtlCol="0" anchor="t"/>
          <a:lstStyle/>
          <a:p>
            <a:pPr indent="0" marL="0">
              <a:buNone/>
            </a:pPr>
            <a:r>
              <a:rPr lang="en-US" sz="1700" b="1" dirty="0">
                <a:solidFill>
                  <a:schemeClr val="tx2"/>
                </a:solidFill>
              </a:rPr>
              <a:t>Koşul eyleyicisi</a:t>
            </a:r>
            <a:endParaRPr lang="en-US" sz="1700" dirty="0"/>
          </a:p>
          <a:p>
            <a:pPr indent="0" marL="0">
              <a:buNone/>
            </a:pPr>
            <a:r>
              <a:rPr lang="en-US" sz="1500" dirty="0">
                <a:solidFill>
                  <a:schemeClr val="accent4"/>
                </a:solidFill>
              </a:rPr>
              <a:t>doğrulanmış etki + sektör + hücre bandı</a:t>
            </a:r>
            <a:endParaRPr lang="en-US" sz="1700" dirty="0"/>
          </a:p>
        </p:txBody>
      </p:sp>
      <p:sp>
        <p:nvSpPr>
          <p:cNvPr id="23" name="principle card"/>
          <p:cNvSpPr/>
          <p:nvPr/>
        </p:nvSpPr>
        <p:spPr>
          <a:xfrm>
            <a:off x="8595360" y="1463040"/>
            <a:ext cx="3063240" cy="4206240"/>
          </a:xfrm>
          <a:prstGeom prst="roundRect">
            <a:avLst>
              <a:gd name="adj" fmla="val 3582"/>
            </a:avLst>
          </a:prstGeom>
          <a:solidFill>
            <a:srgbClr val="1F3A5F"/>
          </a:solidFill>
          <a:ln w="9525">
            <a:solidFill>
              <a:srgbClr val="1F3A5F"/>
            </a:solidFill>
            <a:prstDash val="solid"/>
          </a:ln>
          <a:effectLst>
            <a:outerShdw sx="100000" sy="100000" kx="0" ky="0" algn="bl" rotWithShape="0" blurRad="50800" dist="12700" dir="5400000">
              <a:srgbClr val="6B7A8F">
                <a:alpha val="18000"/>
              </a:srgbClr>
            </a:outerShdw>
          </a:effectLst>
        </p:spPr>
      </p:sp>
      <p:sp>
        <p:nvSpPr>
          <p:cNvPr id="24" name="Text 19"/>
          <p:cNvSpPr txBox="1"/>
          <p:nvPr/>
        </p:nvSpPr>
        <p:spPr>
          <a:xfrm>
            <a:off x="8869680" y="1691640"/>
            <a:ext cx="2560320" cy="457200"/>
          </a:xfrm>
          <a:prstGeom prst="rect">
            <a:avLst/>
          </a:prstGeom>
          <a:noFill/>
          <a:ln/>
        </p:spPr>
        <p:txBody>
          <a:bodyPr wrap="square" lIns="0" tIns="0" rIns="0" bIns="0" rtlCol="0" anchor="t"/>
          <a:lstStyle/>
          <a:p>
            <a:pPr indent="0" marL="0">
              <a:buNone/>
            </a:pPr>
            <a:r>
              <a:rPr lang="en-US" sz="2000" b="1" dirty="0">
                <a:solidFill>
                  <a:schemeClr val="accent3"/>
                </a:solidFill>
              </a:rPr>
              <a:t>İlke</a:t>
            </a:r>
            <a:endParaRPr lang="en-US" sz="2000" dirty="0"/>
          </a:p>
        </p:txBody>
      </p:sp>
      <p:sp>
        <p:nvSpPr>
          <p:cNvPr id="25" name="Text 20"/>
          <p:cNvSpPr txBox="1"/>
          <p:nvPr/>
        </p:nvSpPr>
        <p:spPr>
          <a:xfrm>
            <a:off x="8869680" y="2194560"/>
            <a:ext cx="2560320" cy="1463040"/>
          </a:xfrm>
          <a:prstGeom prst="rect">
            <a:avLst/>
          </a:prstGeom>
          <a:noFill/>
          <a:ln/>
        </p:spPr>
        <p:txBody>
          <a:bodyPr wrap="square" lIns="0" tIns="0" rIns="0" bIns="0" rtlCol="0" anchor="t"/>
          <a:lstStyle/>
          <a:p>
            <a:pPr indent="0" marL="0">
              <a:buNone/>
            </a:pPr>
            <a:r>
              <a:rPr lang="en-US" sz="2400" b="1" dirty="0">
                <a:solidFill>
                  <a:schemeClr val="bg1"/>
                </a:solidFill>
              </a:rPr>
              <a:t>Müdahale düzeyinde açık, fiziksel etki düzeyinde kapalı</a:t>
            </a:r>
            <a:endParaRPr lang="en-US" sz="2400" dirty="0"/>
          </a:p>
        </p:txBody>
      </p:sp>
      <p:sp>
        <p:nvSpPr>
          <p:cNvPr id="26" name="Text 21"/>
          <p:cNvSpPr txBox="1"/>
          <p:nvPr/>
        </p:nvSpPr>
        <p:spPr>
          <a:xfrm>
            <a:off x="8869680" y="3749040"/>
            <a:ext cx="2560320" cy="1828800"/>
          </a:xfrm>
          <a:prstGeom prst="rect">
            <a:avLst/>
          </a:prstGeom>
          <a:noFill/>
          <a:ln/>
        </p:spPr>
        <p:txBody>
          <a:bodyPr wrap="square" lIns="0" tIns="0" rIns="0" bIns="0" rtlCol="0" anchor="t"/>
          <a:lstStyle/>
          <a:p>
            <a:pPr indent="0" marL="0">
              <a:buNone/>
            </a:pPr>
            <a:r>
              <a:rPr lang="en-US" sz="1600" dirty="0">
                <a:solidFill>
                  <a:schemeClr val="accent5"/>
                </a:solidFill>
              </a:rPr>
              <a:t>Model bağlam içinde kullanılır; ağırlık güncellemesi ve göreve özel eğitim yoktur. Reddedilen öneri, kapı adıyla birlikte sınırlı düzeltme hakkıyla geri döner.</a:t>
            </a:r>
            <a:endParaRPr lang="en-US" sz="16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Doğrulama kapıları: kabul kararı modele bırakılmaz</a:t>
            </a:r>
            <a:endParaRPr lang="en-US" sz="3400" dirty="0"/>
          </a:p>
        </p:txBody>
      </p:sp>
      <p:graphicFrame>
        <p:nvGraphicFramePr>
          <p:cNvPr id="8" name="gates table"/>
          <p:cNvGraphicFramePr>
            <a:graphicFrameLocks noGrp="1"/>
          </p:cNvGraphicFramePr>
          <p:nvPr>
            <p:extLst>
              <p:ext uri="{D42A27DB-BD31-4B8C-83A1-F6EECF244321}">
                <p14:modId xmlns:p14="http://schemas.microsoft.com/office/powerpoint/2010/main" val="1579011935"/>
              </p:ext>
            </p:extLst>
          </p:nvPr>
        </p:nvGraphicFramePr>
        <p:xfrm>
          <a:off x="548640" y="1417320"/>
          <a:ext cx="8321040" cy="914400"/>
        </p:xfrm>
        <a:graphic>
          <a:graphicData uri="http://schemas.openxmlformats.org/drawingml/2006/table">
            <a:tbl>
              <a:tblPr/>
              <a:tblGrid>
                <a:gridCol w="2011680"/>
                <a:gridCol w="4846320"/>
                <a:gridCol w="1463040"/>
              </a:tblGrid>
              <a:tr h="384048">
                <a:tc>
                  <a:txBody>
                    <a:bodyPr/>
                    <a:lstStyle/>
                    <a:p>
                      <a:pPr indent="0" marL="0">
                        <a:buNone/>
                      </a:pPr>
                      <a:r>
                        <a:rPr lang="en-US" sz="1500" b="1" dirty="0">
                          <a:solidFill>
                            <a:srgbClr val="FFFFFF"/>
                          </a:solidFill>
                          <a:latin typeface="+mn-lt" pitchFamily="34" charset="0"/>
                          <a:ea typeface="+mn-lt" pitchFamily="34" charset="-122"/>
                          <a:cs typeface="+mn-lt" pitchFamily="34" charset="-120"/>
                        </a:rPr>
                        <a:t>Kapı</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n-lt" pitchFamily="34" charset="0"/>
                          <a:ea typeface="+mn-lt" pitchFamily="34" charset="-122"/>
                          <a:cs typeface="+mn-lt" pitchFamily="34" charset="-120"/>
                        </a:rPr>
                        <a:t>Denetlenen koşul</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n-lt" pitchFamily="34" charset="0"/>
                          <a:ea typeface="+mn-lt" pitchFamily="34" charset="-122"/>
                          <a:cs typeface="+mn-lt" pitchFamily="34" charset="-120"/>
                        </a:rPr>
                        <a:t>Tür</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G1 Biçim</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Öncül ve sonuç iyi biçimli bir kural oluşturur</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cebirsel</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G2 Kısıt</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Sözlük, terim sayısı ve aralıklar geçerli; dolu bileşim yinelenmez</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cebirsel</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G2b Artıksızlık*</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Yeni kavram mevcut bir kavramı yinelemez (cos &lt; 0,95)</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cebirsel</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G2c İlgililik</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Önerinin tüm öncülleri mevcut durumda ateşlenir</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cebirsel</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G2d Havuz ekonomisi</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Bütçe doluyken fiziksel iş ekleyen öneri reddedilir</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cebirsel</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G3 İlk kazanç</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Öngörülen fiziksel maliyet düşer: ΔĴphys &lt; 0</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benzetim (a)</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G4 Gürbüzlük</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Aynı denetim bağımsız ikinci tohumda da geçer</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benzetim (b)</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G5 Sözlük getirisi*</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Kazanç iki koşuda da δv marjını aşar</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benzetim</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3A5F"/>
                          </a:solidFill>
                          <a:latin typeface="+mn-lt" pitchFamily="34" charset="0"/>
                          <a:ea typeface="+mn-lt" pitchFamily="34" charset="-122"/>
                          <a:cs typeface="+mn-lt" pitchFamily="34" charset="-120"/>
                        </a:rPr>
                        <a:t>G5b Katkı ayrımı*</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Yeni nesne çıkarıldığında maliyet iki koşuda da yükselir</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c>
                  <a:txBody>
                    <a:bodyPr/>
                    <a:lstStyle/>
                    <a:p>
                      <a:pPr indent="0" marL="0">
                        <a:buNone/>
                      </a:pPr>
                      <a:r>
                        <a:rPr lang="en-US" sz="1500" dirty="0">
                          <a:solidFill>
                            <a:srgbClr val="1C2430"/>
                          </a:solidFill>
                          <a:latin typeface="+mn-lt" pitchFamily="34" charset="0"/>
                          <a:ea typeface="+mn-lt" pitchFamily="34" charset="-122"/>
                          <a:cs typeface="+mn-lt" pitchFamily="34" charset="-120"/>
                        </a:rPr>
                        <a:t>benzetim</a:t>
                      </a:r>
                      <a:endParaRPr lang="en-US" sz="15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97880"/>
            <a:ext cx="7315200" cy="365760"/>
          </a:xfrm>
          <a:prstGeom prst="rect">
            <a:avLst/>
          </a:prstGeom>
          <a:noFill/>
          <a:ln/>
        </p:spPr>
        <p:txBody>
          <a:bodyPr wrap="square" lIns="0" tIns="0" rIns="0" bIns="0" rtlCol="0" anchor="t"/>
          <a:lstStyle/>
          <a:p>
            <a:pPr indent="0" marL="0">
              <a:buNone/>
            </a:pPr>
            <a:r>
              <a:rPr lang="en-US" sz="1300" i="1" dirty="0">
                <a:solidFill>
                  <a:schemeClr val="accent4"/>
                </a:solidFill>
              </a:rPr>
              <a:t>* yalnızca paket önerilere uygulanır</a:t>
            </a:r>
            <a:endParaRPr lang="en-US" sz="1300" dirty="0"/>
          </a:p>
        </p:txBody>
      </p:sp>
      <p:sp>
        <p:nvSpPr>
          <p:cNvPr id="5" name="gate note"/>
          <p:cNvSpPr/>
          <p:nvPr/>
        </p:nvSpPr>
        <p:spPr>
          <a:xfrm>
            <a:off x="9144000" y="1417320"/>
            <a:ext cx="2514600" cy="4343400"/>
          </a:xfrm>
          <a:prstGeom prst="roundRect">
            <a:avLst>
              <a:gd name="adj" fmla="val 4364"/>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6" name="FaShieldAlt circle"/>
          <p:cNvSpPr/>
          <p:nvPr/>
        </p:nvSpPr>
        <p:spPr>
          <a:xfrm>
            <a:off x="9372600" y="1691640"/>
            <a:ext cx="731520" cy="731520"/>
          </a:xfrm>
          <a:prstGeom prst="ellipse">
            <a:avLst/>
          </a:prstGeom>
          <a:solidFill>
            <a:srgbClr val="8B2635"/>
          </a:solidFill>
          <a:ln w="12700">
            <a:solidFill>
              <a:srgbClr val="8B2635"/>
            </a:solidFill>
            <a:prstDash val="solid"/>
          </a:ln>
        </p:spPr>
      </p:sp>
      <p:pic>
        <p:nvPicPr>
          <p:cNvPr id="7" name="FaShieldAlt icon" descr="preencoded.png">    </p:cNvPr>
          <p:cNvPicPr>
            <a:picLocks noChangeAspect="1"/>
          </p:cNvPicPr>
          <p:nvPr/>
        </p:nvPicPr>
        <p:blipFill>
          <a:blip r:embed="rId1"/>
          <a:stretch>
            <a:fillRect/>
          </a:stretch>
        </p:blipFill>
        <p:spPr>
          <a:xfrm>
            <a:off x="9555480" y="1874520"/>
            <a:ext cx="365760" cy="365760"/>
          </a:xfrm>
          <a:prstGeom prst="rect">
            <a:avLst/>
          </a:prstGeom>
        </p:spPr>
      </p:pic>
      <p:sp>
        <p:nvSpPr>
          <p:cNvPr id="8" name="Text 4"/>
          <p:cNvSpPr txBox="1"/>
          <p:nvPr/>
        </p:nvSpPr>
        <p:spPr>
          <a:xfrm>
            <a:off x="9372600" y="2606040"/>
            <a:ext cx="2103120" cy="457200"/>
          </a:xfrm>
          <a:prstGeom prst="rect">
            <a:avLst/>
          </a:prstGeom>
          <a:noFill/>
          <a:ln/>
        </p:spPr>
        <p:txBody>
          <a:bodyPr wrap="square" lIns="0" tIns="0" rIns="0" bIns="0" rtlCol="0" anchor="t"/>
          <a:lstStyle/>
          <a:p>
            <a:pPr indent="0" marL="0">
              <a:buNone/>
            </a:pPr>
            <a:r>
              <a:rPr lang="en-US" sz="2000" b="1" dirty="0">
                <a:solidFill>
                  <a:schemeClr val="tx2"/>
                </a:solidFill>
              </a:rPr>
              <a:t>İki bağımsız gelecek</a:t>
            </a:r>
            <a:endParaRPr lang="en-US" sz="2000" dirty="0"/>
          </a:p>
        </p:txBody>
      </p:sp>
      <p:sp>
        <p:nvSpPr>
          <p:cNvPr id="9" name="Text 5"/>
          <p:cNvSpPr txBox="1"/>
          <p:nvPr/>
        </p:nvSpPr>
        <p:spPr>
          <a:xfrm>
            <a:off x="9372600" y="3108960"/>
            <a:ext cx="2103120" cy="1371600"/>
          </a:xfrm>
          <a:prstGeom prst="rect">
            <a:avLst/>
          </a:prstGeom>
          <a:noFill/>
          <a:ln/>
        </p:spPr>
        <p:txBody>
          <a:bodyPr wrap="square" lIns="0" tIns="0" rIns="0" bIns="0" rtlCol="0" anchor="t"/>
          <a:lstStyle/>
          <a:p>
            <a:pPr indent="0" marL="0">
              <a:buNone/>
            </a:pPr>
            <a:r>
              <a:rPr lang="en-US" sz="1500" dirty="0">
                <a:solidFill>
                  <a:schemeClr val="tx1"/>
                </a:solidFill>
              </a:rPr>
              <a:t>Tek koşudaki iyileşme rastlantı olabilir. İki tohumda korunmayan kazanç kabul edilmez.</a:t>
            </a:r>
            <a:endParaRPr lang="en-US" sz="1500" dirty="0"/>
          </a:p>
        </p:txBody>
      </p:sp>
      <p:sp>
        <p:nvSpPr>
          <p:cNvPr id="10" name="Text 6"/>
          <p:cNvSpPr txBox="1"/>
          <p:nvPr/>
        </p:nvSpPr>
        <p:spPr>
          <a:xfrm>
            <a:off x="9372600" y="4526280"/>
            <a:ext cx="2103120" cy="1188720"/>
          </a:xfrm>
          <a:prstGeom prst="rect">
            <a:avLst/>
          </a:prstGeom>
          <a:noFill/>
          <a:ln/>
        </p:spPr>
        <p:txBody>
          <a:bodyPr wrap="square" lIns="0" tIns="0" rIns="0" bIns="0" rtlCol="0" anchor="t"/>
          <a:lstStyle/>
          <a:p>
            <a:pPr indent="0" marL="0">
              <a:buNone/>
            </a:pPr>
            <a:r>
              <a:rPr lang="en-US" sz="1500" b="1" dirty="0">
                <a:solidFill>
                  <a:schemeClr val="accent1"/>
                </a:solidFill>
              </a:rPr>
              <a:t>Sözlük yalnızca gerçekten katkı sağlayan nesnelerle büyür (G5, G5b).</a:t>
            </a:r>
            <a:endParaRPr lang="en-US" sz="15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Kullanım örneği: orman yangını müdahalesi</a:t>
            </a:r>
            <a:endParaRPr lang="en-US" sz="3400" dirty="0"/>
          </a:p>
        </p:txBody>
      </p:sp>
      <p:sp>
        <p:nvSpPr>
          <p:cNvPr id="3" name="stat karar kavramı"/>
          <p:cNvSpPr/>
          <p:nvPr/>
        </p:nvSpPr>
        <p:spPr>
          <a:xfrm>
            <a:off x="548640" y="1463040"/>
            <a:ext cx="2606040" cy="1554480"/>
          </a:xfrm>
          <a:prstGeom prst="roundRect">
            <a:avLst>
              <a:gd name="adj" fmla="val 7059"/>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4" name="Text 2"/>
          <p:cNvSpPr txBox="1"/>
          <p:nvPr/>
        </p:nvSpPr>
        <p:spPr>
          <a:xfrm>
            <a:off x="548640" y="1508760"/>
            <a:ext cx="2606040" cy="914400"/>
          </a:xfrm>
          <a:prstGeom prst="rect">
            <a:avLst/>
          </a:prstGeom>
          <a:noFill/>
          <a:ln/>
        </p:spPr>
        <p:txBody>
          <a:bodyPr wrap="square" lIns="0" tIns="0" rIns="0" bIns="0" rtlCol="0" anchor="ctr"/>
          <a:lstStyle/>
          <a:p>
            <a:pPr algn="ctr" indent="0" marL="0">
              <a:buNone/>
            </a:pPr>
            <a:r>
              <a:rPr lang="en-US" sz="4800" b="1" dirty="0">
                <a:solidFill>
                  <a:schemeClr val="accent1"/>
                </a:solidFill>
              </a:rPr>
              <a:t>5</a:t>
            </a:r>
            <a:endParaRPr lang="en-US" sz="4800" dirty="0"/>
          </a:p>
        </p:txBody>
      </p:sp>
      <p:sp>
        <p:nvSpPr>
          <p:cNvPr id="5" name="Text 3"/>
          <p:cNvSpPr txBox="1"/>
          <p:nvPr/>
        </p:nvSpPr>
        <p:spPr>
          <a:xfrm>
            <a:off x="548640" y="2423160"/>
            <a:ext cx="2606040" cy="457200"/>
          </a:xfrm>
          <a:prstGeom prst="rect">
            <a:avLst/>
          </a:prstGeom>
          <a:noFill/>
          <a:ln/>
        </p:spPr>
        <p:txBody>
          <a:bodyPr wrap="square" lIns="0" tIns="0" rIns="0" bIns="0" rtlCol="0" anchor="t"/>
          <a:lstStyle/>
          <a:p>
            <a:pPr algn="ctr" indent="0" marL="0">
              <a:buNone/>
            </a:pPr>
            <a:r>
              <a:rPr lang="en-US" sz="1700" dirty="0">
                <a:solidFill>
                  <a:schemeClr val="accent4"/>
                </a:solidFill>
              </a:rPr>
              <a:t>karar kavramı</a:t>
            </a:r>
            <a:endParaRPr lang="en-US" sz="1700" dirty="0"/>
          </a:p>
        </p:txBody>
      </p:sp>
      <p:sp>
        <p:nvSpPr>
          <p:cNvPr id="6" name="stat müdahale ailesi"/>
          <p:cNvSpPr/>
          <p:nvPr/>
        </p:nvSpPr>
        <p:spPr>
          <a:xfrm>
            <a:off x="3374136" y="1463040"/>
            <a:ext cx="2606040" cy="1554480"/>
          </a:xfrm>
          <a:prstGeom prst="roundRect">
            <a:avLst>
              <a:gd name="adj" fmla="val 7059"/>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7" name="Text 5"/>
          <p:cNvSpPr txBox="1"/>
          <p:nvPr/>
        </p:nvSpPr>
        <p:spPr>
          <a:xfrm>
            <a:off x="3374136" y="1508760"/>
            <a:ext cx="2606040" cy="914400"/>
          </a:xfrm>
          <a:prstGeom prst="rect">
            <a:avLst/>
          </a:prstGeom>
          <a:noFill/>
          <a:ln/>
        </p:spPr>
        <p:txBody>
          <a:bodyPr wrap="square" lIns="0" tIns="0" rIns="0" bIns="0" rtlCol="0" anchor="ctr"/>
          <a:lstStyle/>
          <a:p>
            <a:pPr algn="ctr" indent="0" marL="0">
              <a:buNone/>
            </a:pPr>
            <a:r>
              <a:rPr lang="en-US" sz="4800" b="1" dirty="0">
                <a:solidFill>
                  <a:schemeClr val="accent1"/>
                </a:solidFill>
              </a:rPr>
              <a:t>6</a:t>
            </a:r>
            <a:endParaRPr lang="en-US" sz="4800" dirty="0"/>
          </a:p>
        </p:txBody>
      </p:sp>
      <p:sp>
        <p:nvSpPr>
          <p:cNvPr id="8" name="Text 6"/>
          <p:cNvSpPr txBox="1"/>
          <p:nvPr/>
        </p:nvSpPr>
        <p:spPr>
          <a:xfrm>
            <a:off x="3374136" y="2423160"/>
            <a:ext cx="2606040" cy="457200"/>
          </a:xfrm>
          <a:prstGeom prst="rect">
            <a:avLst/>
          </a:prstGeom>
          <a:noFill/>
          <a:ln/>
        </p:spPr>
        <p:txBody>
          <a:bodyPr wrap="square" lIns="0" tIns="0" rIns="0" bIns="0" rtlCol="0" anchor="t"/>
          <a:lstStyle/>
          <a:p>
            <a:pPr algn="ctr" indent="0" marL="0">
              <a:buNone/>
            </a:pPr>
            <a:r>
              <a:rPr lang="en-US" sz="1700" dirty="0">
                <a:solidFill>
                  <a:schemeClr val="accent4"/>
                </a:solidFill>
              </a:rPr>
              <a:t>müdahale ailesi</a:t>
            </a:r>
            <a:endParaRPr lang="en-US" sz="1700" dirty="0"/>
          </a:p>
        </p:txBody>
      </p:sp>
      <p:sp>
        <p:nvSpPr>
          <p:cNvPr id="9" name="stat senaryo ailesi"/>
          <p:cNvSpPr/>
          <p:nvPr/>
        </p:nvSpPr>
        <p:spPr>
          <a:xfrm>
            <a:off x="6199632" y="1463040"/>
            <a:ext cx="2606040" cy="1554480"/>
          </a:xfrm>
          <a:prstGeom prst="roundRect">
            <a:avLst>
              <a:gd name="adj" fmla="val 7059"/>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0" name="Text 8"/>
          <p:cNvSpPr txBox="1"/>
          <p:nvPr/>
        </p:nvSpPr>
        <p:spPr>
          <a:xfrm>
            <a:off x="6199632" y="1508760"/>
            <a:ext cx="2606040" cy="914400"/>
          </a:xfrm>
          <a:prstGeom prst="rect">
            <a:avLst/>
          </a:prstGeom>
          <a:noFill/>
          <a:ln/>
        </p:spPr>
        <p:txBody>
          <a:bodyPr wrap="square" lIns="0" tIns="0" rIns="0" bIns="0" rtlCol="0" anchor="ctr"/>
          <a:lstStyle/>
          <a:p>
            <a:pPr algn="ctr" indent="0" marL="0">
              <a:buNone/>
            </a:pPr>
            <a:r>
              <a:rPr lang="en-US" sz="4800" b="1" dirty="0">
                <a:solidFill>
                  <a:schemeClr val="accent1"/>
                </a:solidFill>
              </a:rPr>
              <a:t>5</a:t>
            </a:r>
            <a:endParaRPr lang="en-US" sz="4800" dirty="0"/>
          </a:p>
        </p:txBody>
      </p:sp>
      <p:sp>
        <p:nvSpPr>
          <p:cNvPr id="11" name="Text 9"/>
          <p:cNvSpPr txBox="1"/>
          <p:nvPr/>
        </p:nvSpPr>
        <p:spPr>
          <a:xfrm>
            <a:off x="6199632" y="2423160"/>
            <a:ext cx="2606040" cy="457200"/>
          </a:xfrm>
          <a:prstGeom prst="rect">
            <a:avLst/>
          </a:prstGeom>
          <a:noFill/>
          <a:ln/>
        </p:spPr>
        <p:txBody>
          <a:bodyPr wrap="square" lIns="0" tIns="0" rIns="0" bIns="0" rtlCol="0" anchor="t"/>
          <a:lstStyle/>
          <a:p>
            <a:pPr algn="ctr" indent="0" marL="0">
              <a:buNone/>
            </a:pPr>
            <a:r>
              <a:rPr lang="en-US" sz="1700" dirty="0">
                <a:solidFill>
                  <a:schemeClr val="accent4"/>
                </a:solidFill>
              </a:rPr>
              <a:t>senaryo ailesi</a:t>
            </a:r>
            <a:endParaRPr lang="en-US" sz="1700" dirty="0"/>
          </a:p>
        </p:txBody>
      </p:sp>
      <p:sp>
        <p:nvSpPr>
          <p:cNvPr id="12" name="stat eşleştirilmiş dünya / senaryo"/>
          <p:cNvSpPr/>
          <p:nvPr/>
        </p:nvSpPr>
        <p:spPr>
          <a:xfrm>
            <a:off x="9025128" y="1463040"/>
            <a:ext cx="2606040" cy="1554480"/>
          </a:xfrm>
          <a:prstGeom prst="roundRect">
            <a:avLst>
              <a:gd name="adj" fmla="val 7059"/>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3" name="Text 11"/>
          <p:cNvSpPr txBox="1"/>
          <p:nvPr/>
        </p:nvSpPr>
        <p:spPr>
          <a:xfrm>
            <a:off x="9025128" y="1508760"/>
            <a:ext cx="2606040" cy="914400"/>
          </a:xfrm>
          <a:prstGeom prst="rect">
            <a:avLst/>
          </a:prstGeom>
          <a:noFill/>
          <a:ln/>
        </p:spPr>
        <p:txBody>
          <a:bodyPr wrap="square" lIns="0" tIns="0" rIns="0" bIns="0" rtlCol="0" anchor="ctr"/>
          <a:lstStyle/>
          <a:p>
            <a:pPr algn="ctr" indent="0" marL="0">
              <a:buNone/>
            </a:pPr>
            <a:r>
              <a:rPr lang="en-US" sz="4800" b="1" dirty="0">
                <a:solidFill>
                  <a:schemeClr val="accent1"/>
                </a:solidFill>
              </a:rPr>
              <a:t>30</a:t>
            </a:r>
            <a:endParaRPr lang="en-US" sz="4800" dirty="0"/>
          </a:p>
        </p:txBody>
      </p:sp>
      <p:sp>
        <p:nvSpPr>
          <p:cNvPr id="14" name="Text 12"/>
          <p:cNvSpPr txBox="1"/>
          <p:nvPr/>
        </p:nvSpPr>
        <p:spPr>
          <a:xfrm>
            <a:off x="9025128" y="2423160"/>
            <a:ext cx="2606040" cy="457200"/>
          </a:xfrm>
          <a:prstGeom prst="rect">
            <a:avLst/>
          </a:prstGeom>
          <a:noFill/>
          <a:ln/>
        </p:spPr>
        <p:txBody>
          <a:bodyPr wrap="square" lIns="0" tIns="0" rIns="0" bIns="0" rtlCol="0" anchor="t"/>
          <a:lstStyle/>
          <a:p>
            <a:pPr algn="ctr" indent="0" marL="0">
              <a:buNone/>
            </a:pPr>
            <a:r>
              <a:rPr lang="en-US" sz="1700" dirty="0">
                <a:solidFill>
                  <a:schemeClr val="accent4"/>
                </a:solidFill>
              </a:rPr>
              <a:t>eşleştirilmiş dünya / senaryo</a:t>
            </a:r>
            <a:endParaRPr lang="en-US" sz="1700" dirty="0"/>
          </a:p>
        </p:txBody>
      </p:sp>
      <p:graphicFrame>
        <p:nvGraphicFramePr>
          <p:cNvPr id="9" name="scenario table"/>
          <p:cNvGraphicFramePr>
            <a:graphicFrameLocks noGrp="1"/>
          </p:cNvGraphicFramePr>
          <p:nvPr>
            <p:extLst>
              <p:ext uri="{D42A27DB-BD31-4B8C-83A1-F6EECF244321}">
                <p14:modId xmlns:p14="http://schemas.microsoft.com/office/powerpoint/2010/main" val="1579011935"/>
              </p:ext>
            </p:extLst>
          </p:nvPr>
        </p:nvGraphicFramePr>
        <p:xfrm>
          <a:off x="548640" y="3337560"/>
          <a:ext cx="6675120" cy="914400"/>
        </p:xfrm>
        <a:graphic>
          <a:graphicData uri="http://schemas.openxmlformats.org/drawingml/2006/table">
            <a:tbl>
              <a:tblPr/>
              <a:tblGrid>
                <a:gridCol w="1005840"/>
                <a:gridCol w="3291840"/>
                <a:gridCol w="1097280"/>
                <a:gridCol w="1280160"/>
              </a:tblGrid>
              <a:tr h="384048">
                <a:tc>
                  <a:txBody>
                    <a:bodyPr/>
                    <a:lstStyle/>
                    <a:p>
                      <a:pPr indent="0" marL="0">
                        <a:buNone/>
                      </a:pPr>
                      <a:r>
                        <a:rPr lang="en-US" sz="1600" b="1" dirty="0">
                          <a:solidFill>
                            <a:srgbClr val="FFFFFF"/>
                          </a:solidFill>
                          <a:latin typeface="+mn-lt" pitchFamily="34" charset="0"/>
                          <a:ea typeface="+mn-lt" pitchFamily="34" charset="-122"/>
                          <a:cs typeface="+mn-lt" pitchFamily="34" charset="-120"/>
                        </a:rPr>
                        <a:t>Senaryo</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n-lt" pitchFamily="34" charset="0"/>
                          <a:ea typeface="+mn-lt" pitchFamily="34" charset="-122"/>
                          <a:cs typeface="+mn-lt" pitchFamily="34" charset="-120"/>
                        </a:rPr>
                        <a:t>Arazi</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n-lt" pitchFamily="34" charset="0"/>
                          <a:ea typeface="+mn-lt" pitchFamily="34" charset="-122"/>
                          <a:cs typeface="+mn-lt" pitchFamily="34" charset="-120"/>
                        </a:rPr>
                        <a:t>Kaynak</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n-lt" pitchFamily="34" charset="0"/>
                          <a:ea typeface="+mn-lt" pitchFamily="34" charset="-122"/>
                          <a:cs typeface="+mn-lt" pitchFamily="34" charset="-120"/>
                        </a:rPr>
                        <a:t>Tutuşma</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r>
              <a:tr h="384048">
                <a:tc>
                  <a:txBody>
                    <a:bodyPr/>
                    <a:lstStyle/>
                    <a:p>
                      <a:pPr indent="0" marL="0">
                        <a:buNone/>
                      </a:pPr>
                      <a:r>
                        <a:rPr lang="en-US" sz="1600" b="1" dirty="0">
                          <a:solidFill>
                            <a:srgbClr val="1F3A5F"/>
                          </a:solidFill>
                          <a:latin typeface="+mn-lt" pitchFamily="34" charset="0"/>
                          <a:ea typeface="+mn-lt" pitchFamily="34" charset="-122"/>
                          <a:cs typeface="+mn-lt" pitchFamily="34" charset="-120"/>
                        </a:rPr>
                        <a:t>S1</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Uzak orman</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Yeterli</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1, uzak</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84048">
                <a:tc>
                  <a:txBody>
                    <a:bodyPr/>
                    <a:lstStyle/>
                    <a:p>
                      <a:pPr indent="0" marL="0">
                        <a:buNone/>
                      </a:pPr>
                      <a:r>
                        <a:rPr lang="en-US" sz="1600" b="1" dirty="0">
                          <a:solidFill>
                            <a:srgbClr val="1F3A5F"/>
                          </a:solidFill>
                          <a:latin typeface="+mn-lt" pitchFamily="34" charset="0"/>
                          <a:ea typeface="+mn-lt" pitchFamily="34" charset="-122"/>
                          <a:cs typeface="+mn-lt" pitchFamily="34" charset="-120"/>
                        </a:rPr>
                        <a:t>S2</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Uzak orman</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Kısıtlı</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2, uzak</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84048">
                <a:tc>
                  <a:txBody>
                    <a:bodyPr/>
                    <a:lstStyle/>
                    <a:p>
                      <a:pPr indent="0" marL="0">
                        <a:buNone/>
                      </a:pPr>
                      <a:r>
                        <a:rPr lang="en-US" sz="1600" b="1" dirty="0">
                          <a:solidFill>
                            <a:srgbClr val="1F3A5F"/>
                          </a:solidFill>
                          <a:latin typeface="+mn-lt" pitchFamily="34" charset="0"/>
                          <a:ea typeface="+mn-lt" pitchFamily="34" charset="-122"/>
                          <a:cs typeface="+mn-lt" pitchFamily="34" charset="-120"/>
                        </a:rPr>
                        <a:t>S3</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Kent-orman arayüzü (12 yerleşim)</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Yeterli</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1, arayüzde</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84048">
                <a:tc>
                  <a:txBody>
                    <a:bodyPr/>
                    <a:lstStyle/>
                    <a:p>
                      <a:pPr indent="0" marL="0">
                        <a:buNone/>
                      </a:pPr>
                      <a:r>
                        <a:rPr lang="en-US" sz="1600" b="1" dirty="0">
                          <a:solidFill>
                            <a:srgbClr val="1F3A5F"/>
                          </a:solidFill>
                          <a:latin typeface="+mn-lt" pitchFamily="34" charset="0"/>
                          <a:ea typeface="+mn-lt" pitchFamily="34" charset="-122"/>
                          <a:cs typeface="+mn-lt" pitchFamily="34" charset="-120"/>
                        </a:rPr>
                        <a:t>S4</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Kent-orman arayüzü</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Kısıtlı</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2, arayüzde</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84048">
                <a:tc>
                  <a:txBody>
                    <a:bodyPr/>
                    <a:lstStyle/>
                    <a:p>
                      <a:pPr indent="0" marL="0">
                        <a:buNone/>
                      </a:pPr>
                      <a:r>
                        <a:rPr lang="en-US" sz="1600" b="1" dirty="0">
                          <a:solidFill>
                            <a:srgbClr val="1F3A5F"/>
                          </a:solidFill>
                          <a:latin typeface="+mn-lt" pitchFamily="34" charset="0"/>
                          <a:ea typeface="+mn-lt" pitchFamily="34" charset="-122"/>
                          <a:cs typeface="+mn-lt" pitchFamily="34" charset="-120"/>
                        </a:rPr>
                        <a:t>S5</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S4, gözlem kesintisi ve gürültü</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Kısıtlı</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2, arayüzde</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bl>
          </a:graphicData>
        </a:graphic>
      </p:graphicFrame>
      <p:sp>
        <p:nvSpPr>
          <p:cNvPr id="16" name="configs"/>
          <p:cNvSpPr/>
          <p:nvPr/>
        </p:nvSpPr>
        <p:spPr>
          <a:xfrm>
            <a:off x="7589520" y="3337560"/>
            <a:ext cx="4069080" cy="2377440"/>
          </a:xfrm>
          <a:prstGeom prst="roundRect">
            <a:avLst>
              <a:gd name="adj" fmla="val 4615"/>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7" name="Text 14"/>
          <p:cNvSpPr txBox="1"/>
          <p:nvPr/>
        </p:nvSpPr>
        <p:spPr>
          <a:xfrm>
            <a:off x="7863840" y="3520440"/>
            <a:ext cx="3566160" cy="411480"/>
          </a:xfrm>
          <a:prstGeom prst="rect">
            <a:avLst/>
          </a:prstGeom>
          <a:noFill/>
          <a:ln/>
        </p:spPr>
        <p:txBody>
          <a:bodyPr wrap="square" lIns="0" tIns="0" rIns="0" bIns="0" rtlCol="0" anchor="t"/>
          <a:lstStyle/>
          <a:p>
            <a:pPr indent="0" marL="0">
              <a:buNone/>
            </a:pPr>
            <a:r>
              <a:rPr lang="en-US" sz="1800" b="1" dirty="0">
                <a:solidFill>
                  <a:schemeClr val="tx2"/>
                </a:solidFill>
              </a:rPr>
              <a:t>Karşılaştırılan yapılandırmalar</a:t>
            </a:r>
            <a:endParaRPr lang="en-US" sz="1800" dirty="0"/>
          </a:p>
        </p:txBody>
      </p:sp>
      <p:sp>
        <p:nvSpPr>
          <p:cNvPr id="18" name="Text 15"/>
          <p:cNvSpPr txBox="1"/>
          <p:nvPr/>
        </p:nvSpPr>
        <p:spPr>
          <a:xfrm>
            <a:off x="7863840" y="397764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KDS yok: serbest yanma</a:t>
            </a:r>
            <a:endParaRPr lang="en-US" sz="1700" dirty="0"/>
          </a:p>
          <a:p>
            <a:pPr marL="342900" indent="-342900">
              <a:spcAft>
                <a:spcPts val="600"/>
              </a:spcAft>
              <a:buSzPct val="100000"/>
              <a:buChar char="•"/>
            </a:pPr>
            <a:r>
              <a:rPr lang="en-US" sz="1700" dirty="0">
                <a:solidFill>
                  <a:schemeClr val="tx1"/>
                </a:solidFill>
              </a:rPr>
              <a:t>F5: beş tohum kuralı, statik</a:t>
            </a:r>
            <a:endParaRPr lang="en-US" sz="1700" dirty="0"/>
          </a:p>
          <a:p>
            <a:pPr marL="342900" indent="-342900">
              <a:spcAft>
                <a:spcPts val="600"/>
              </a:spcAft>
              <a:buSzPct val="100000"/>
              <a:buChar char="•"/>
            </a:pPr>
            <a:r>
              <a:rPr lang="en-US" sz="1700" b="1" dirty="0">
                <a:solidFill>
                  <a:schemeClr val="accent1"/>
                </a:solidFill>
              </a:rPr>
              <a:t>DisasterAware: üç aşama, LLM önerici, açık karar uzayı</a:t>
            </a:r>
            <a:endParaRPr lang="en-US" sz="1700" dirty="0"/>
          </a:p>
        </p:txBody>
      </p:sp>
      <p:sp>
        <p:nvSpPr>
          <p:cNvPr id="19" name="Text 16"/>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300" i="1" dirty="0">
                <a:solidFill>
                  <a:schemeClr val="accent4"/>
                </a:solidFill>
              </a:rPr>
              <a:t>72×50 hücre, 30 m; fiziksel adım 2 dk, karar çevrimi 12 dk, ufuk 24 dk; senaryo başına aynı 30 dünya, toplam 600 koşu; olay söndürmeye veya 12 saate kadar. Ölçütler: yanan alan, etkilenen nüfus, olay süresinde söndürme; Jtotal = (Jyanma + Jvarlık + Jnüfus + 0,2 Jmüdahale + 0,2 Jgecikme) / 3,4</a:t>
            </a:r>
            <a:endParaRPr lang="en-US" sz="13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Uyarlama seçici çalışır: 788 öneriden 338 kabul</a:t>
            </a:r>
            <a:endParaRPr lang="en-US" sz="3400" dirty="0"/>
          </a:p>
        </p:txBody>
      </p:sp>
      <p:graphicFrame>
        <p:nvGraphicFramePr>
          <p:cNvPr id="3" name="adaptation chart" descr=""/>
          <p:cNvGraphicFramePr/>
          <p:nvPr/>
        </p:nvGraphicFramePr>
        <p:xfrm>
          <a:off x="548640" y="14173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463040"/>
            <a:ext cx="1188720" cy="548640"/>
          </a:xfrm>
          <a:prstGeom prst="rect">
            <a:avLst/>
          </a:prstGeom>
          <a:noFill/>
          <a:ln/>
        </p:spPr>
        <p:txBody>
          <a:bodyPr wrap="square" lIns="0" tIns="0" rIns="0" bIns="0" rtlCol="0" anchor="ctr"/>
          <a:lstStyle/>
          <a:p>
            <a:pPr indent="0" marL="0">
              <a:buNone/>
            </a:pPr>
            <a:r>
              <a:rPr lang="en-US" sz="2800" b="1" dirty="0">
                <a:solidFill>
                  <a:schemeClr val="accent1"/>
                </a:solidFill>
              </a:rPr>
              <a:t>22%</a:t>
            </a:r>
            <a:endParaRPr lang="en-US" sz="2800" dirty="0"/>
          </a:p>
        </p:txBody>
      </p:sp>
      <p:sp>
        <p:nvSpPr>
          <p:cNvPr id="5" name="Text 2"/>
          <p:cNvSpPr txBox="1"/>
          <p:nvPr/>
        </p:nvSpPr>
        <p:spPr>
          <a:xfrm>
            <a:off x="9052560" y="1463040"/>
            <a:ext cx="2560320" cy="548640"/>
          </a:xfrm>
          <a:prstGeom prst="rect">
            <a:avLst/>
          </a:prstGeom>
          <a:noFill/>
          <a:ln/>
        </p:spPr>
        <p:txBody>
          <a:bodyPr wrap="square" lIns="0" tIns="0" rIns="0" bIns="0" rtlCol="0" anchor="ctr"/>
          <a:lstStyle/>
          <a:p>
            <a:pPr indent="0" marL="0">
              <a:buNone/>
            </a:pPr>
            <a:r>
              <a:rPr lang="en-US" sz="1700" dirty="0">
                <a:solidFill>
                  <a:schemeClr val="tx1"/>
                </a:solidFill>
              </a:rPr>
              <a:t>kabul, aşama 1</a:t>
            </a:r>
            <a:endParaRPr lang="en-US" sz="1700" dirty="0"/>
          </a:p>
        </p:txBody>
      </p:sp>
      <p:sp>
        <p:nvSpPr>
          <p:cNvPr id="6" name="Text 3"/>
          <p:cNvSpPr txBox="1"/>
          <p:nvPr/>
        </p:nvSpPr>
        <p:spPr>
          <a:xfrm>
            <a:off x="7772400" y="2084832"/>
            <a:ext cx="1188720" cy="548640"/>
          </a:xfrm>
          <a:prstGeom prst="rect">
            <a:avLst/>
          </a:prstGeom>
          <a:noFill/>
          <a:ln/>
        </p:spPr>
        <p:txBody>
          <a:bodyPr wrap="square" lIns="0" tIns="0" rIns="0" bIns="0" rtlCol="0" anchor="ctr"/>
          <a:lstStyle/>
          <a:p>
            <a:pPr indent="0" marL="0">
              <a:buNone/>
            </a:pPr>
            <a:r>
              <a:rPr lang="en-US" sz="2800" b="1" dirty="0">
                <a:solidFill>
                  <a:schemeClr val="accent1"/>
                </a:solidFill>
              </a:rPr>
              <a:t>33%</a:t>
            </a:r>
            <a:endParaRPr lang="en-US" sz="2800" dirty="0"/>
          </a:p>
        </p:txBody>
      </p:sp>
      <p:sp>
        <p:nvSpPr>
          <p:cNvPr id="7" name="Text 4"/>
          <p:cNvSpPr txBox="1"/>
          <p:nvPr/>
        </p:nvSpPr>
        <p:spPr>
          <a:xfrm>
            <a:off x="9052560" y="2084832"/>
            <a:ext cx="2560320" cy="548640"/>
          </a:xfrm>
          <a:prstGeom prst="rect">
            <a:avLst/>
          </a:prstGeom>
          <a:noFill/>
          <a:ln/>
        </p:spPr>
        <p:txBody>
          <a:bodyPr wrap="square" lIns="0" tIns="0" rIns="0" bIns="0" rtlCol="0" anchor="ctr"/>
          <a:lstStyle/>
          <a:p>
            <a:pPr indent="0" marL="0">
              <a:buNone/>
            </a:pPr>
            <a:r>
              <a:rPr lang="en-US" sz="1700" dirty="0">
                <a:solidFill>
                  <a:schemeClr val="tx1"/>
                </a:solidFill>
              </a:rPr>
              <a:t>kabul, aşama 2</a:t>
            </a:r>
            <a:endParaRPr lang="en-US" sz="1700" dirty="0"/>
          </a:p>
        </p:txBody>
      </p:sp>
      <p:sp>
        <p:nvSpPr>
          <p:cNvPr id="8" name="Text 5"/>
          <p:cNvSpPr txBox="1"/>
          <p:nvPr/>
        </p:nvSpPr>
        <p:spPr>
          <a:xfrm>
            <a:off x="7772400" y="2706624"/>
            <a:ext cx="1188720" cy="548640"/>
          </a:xfrm>
          <a:prstGeom prst="rect">
            <a:avLst/>
          </a:prstGeom>
          <a:noFill/>
          <a:ln/>
        </p:spPr>
        <p:txBody>
          <a:bodyPr wrap="square" lIns="0" tIns="0" rIns="0" bIns="0" rtlCol="0" anchor="ctr"/>
          <a:lstStyle/>
          <a:p>
            <a:pPr indent="0" marL="0">
              <a:buNone/>
            </a:pPr>
            <a:r>
              <a:rPr lang="en-US" sz="2800" b="1" dirty="0">
                <a:solidFill>
                  <a:schemeClr val="accent1"/>
                </a:solidFill>
              </a:rPr>
              <a:t>43%</a:t>
            </a:r>
            <a:endParaRPr lang="en-US" sz="2800" dirty="0"/>
          </a:p>
        </p:txBody>
      </p:sp>
      <p:sp>
        <p:nvSpPr>
          <p:cNvPr id="9" name="Text 6"/>
          <p:cNvSpPr txBox="1"/>
          <p:nvPr/>
        </p:nvSpPr>
        <p:spPr>
          <a:xfrm>
            <a:off x="9052560" y="2706624"/>
            <a:ext cx="2560320" cy="548640"/>
          </a:xfrm>
          <a:prstGeom prst="rect">
            <a:avLst/>
          </a:prstGeom>
          <a:noFill/>
          <a:ln/>
        </p:spPr>
        <p:txBody>
          <a:bodyPr wrap="square" lIns="0" tIns="0" rIns="0" bIns="0" rtlCol="0" anchor="ctr"/>
          <a:lstStyle/>
          <a:p>
            <a:pPr indent="0" marL="0">
              <a:buNone/>
            </a:pPr>
            <a:r>
              <a:rPr lang="en-US" sz="1700" dirty="0">
                <a:solidFill>
                  <a:schemeClr val="tx1"/>
                </a:solidFill>
              </a:rPr>
              <a:t>kabul, aşama 3</a:t>
            </a:r>
            <a:endParaRPr lang="en-US" sz="1700" dirty="0"/>
          </a:p>
        </p:txBody>
      </p:sp>
      <p:sp>
        <p:nvSpPr>
          <p:cNvPr id="10" name="products card"/>
          <p:cNvSpPr/>
          <p:nvPr/>
        </p:nvSpPr>
        <p:spPr>
          <a:xfrm>
            <a:off x="7772400" y="3429000"/>
            <a:ext cx="3886200" cy="2468880"/>
          </a:xfrm>
          <a:prstGeom prst="roundRect">
            <a:avLst>
              <a:gd name="adj" fmla="val 4444"/>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1" name="Text 8"/>
          <p:cNvSpPr txBox="1"/>
          <p:nvPr/>
        </p:nvSpPr>
        <p:spPr>
          <a:xfrm>
            <a:off x="8046720" y="3611880"/>
            <a:ext cx="3383280" cy="411480"/>
          </a:xfrm>
          <a:prstGeom prst="rect">
            <a:avLst/>
          </a:prstGeom>
          <a:noFill/>
          <a:ln/>
        </p:spPr>
        <p:txBody>
          <a:bodyPr wrap="square" lIns="0" tIns="0" rIns="0" bIns="0" rtlCol="0" anchor="t"/>
          <a:lstStyle/>
          <a:p>
            <a:pPr indent="0" marL="0">
              <a:buNone/>
            </a:pPr>
            <a:r>
              <a:rPr lang="en-US" sz="1800" b="1" dirty="0">
                <a:solidFill>
                  <a:schemeClr val="tx2"/>
                </a:solidFill>
              </a:rPr>
              <a:t>Üretken aşamanın ürünleri</a:t>
            </a:r>
            <a:endParaRPr lang="en-US" sz="1800" dirty="0"/>
          </a:p>
        </p:txBody>
      </p:sp>
      <p:sp>
        <p:nvSpPr>
          <p:cNvPr id="12" name="Text 9"/>
          <p:cNvSpPr txBox="1"/>
          <p:nvPr/>
        </p:nvSpPr>
        <p:spPr>
          <a:xfrm>
            <a:off x="8046720" y="4069080"/>
            <a:ext cx="3429000" cy="17830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338 kabul: 67 yalnız kural, 271 paket</a:t>
            </a:r>
            <a:endParaRPr lang="en-US" sz="1600" dirty="0"/>
          </a:p>
          <a:p>
            <a:pPr marL="342900" indent="-342900">
              <a:spcAft>
                <a:spcPts val="400"/>
              </a:spcAft>
              <a:buSzPct val="100000"/>
              <a:buChar char="•"/>
            </a:pPr>
            <a:r>
              <a:rPr lang="en-US" sz="1600" dirty="0">
                <a:solidFill>
                  <a:schemeClr val="tx1"/>
                </a:solidFill>
              </a:rPr>
              <a:t>185 eyleyici paketi (doğrulanmış etkilerden yeni müdahale), 57 makro, 29 ara kavram</a:t>
            </a:r>
            <a:endParaRPr lang="en-US" sz="1600" dirty="0"/>
          </a:p>
          <a:p>
            <a:pPr marL="342900" indent="-342900">
              <a:spcAft>
                <a:spcPts val="400"/>
              </a:spcAft>
              <a:buSzPct val="100000"/>
              <a:buChar char="•"/>
            </a:pPr>
            <a:r>
              <a:rPr lang="en-US" sz="1600" dirty="0">
                <a:solidFill>
                  <a:schemeClr val="tx1"/>
                </a:solidFill>
              </a:rPr>
              <a:t>Ret: 276 paket marjı (G5), 155 iyileşme yok (G3), 12 çift tohum (G4)</a:t>
            </a:r>
            <a:endParaRPr lang="en-US" sz="16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Kabul edilen bir öneri örneği</a:t>
            </a:r>
            <a:endParaRPr lang="en-US" sz="3400" dirty="0"/>
          </a:p>
        </p:txBody>
      </p:sp>
      <p:sp>
        <p:nvSpPr>
          <p:cNvPr id="3" name="rule card"/>
          <p:cNvSpPr/>
          <p:nvPr/>
        </p:nvSpPr>
        <p:spPr>
          <a:xfrm>
            <a:off x="548640" y="1371600"/>
            <a:ext cx="6583680" cy="2103120"/>
          </a:xfrm>
          <a:prstGeom prst="roundRect">
            <a:avLst>
              <a:gd name="adj" fmla="val 5217"/>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4" name="Text 2"/>
          <p:cNvSpPr txBox="1"/>
          <p:nvPr/>
        </p:nvSpPr>
        <p:spPr>
          <a:xfrm>
            <a:off x="777240" y="1463040"/>
            <a:ext cx="6217920" cy="365760"/>
          </a:xfrm>
          <a:prstGeom prst="rect">
            <a:avLst/>
          </a:prstGeom>
          <a:noFill/>
          <a:ln/>
        </p:spPr>
        <p:txBody>
          <a:bodyPr wrap="square" lIns="0" tIns="0" rIns="0" bIns="0" rtlCol="0" anchor="t"/>
          <a:lstStyle/>
          <a:p>
            <a:pPr indent="0" marL="0">
              <a:buNone/>
            </a:pPr>
            <a:r>
              <a:rPr lang="en-US" sz="1500" i="1" dirty="0">
                <a:solidFill>
                  <a:schemeClr val="accent4"/>
                </a:solidFill>
              </a:rPr>
              <a:t>Dil modelinin önerdiği kural (S3, dünya 201, dakika 2)</a:t>
            </a:r>
            <a:endParaRPr lang="en-US" sz="1500" dirty="0"/>
          </a:p>
        </p:txBody>
      </p:sp>
      <p:sp>
        <p:nvSpPr>
          <p:cNvPr id="5" name="Text 3"/>
          <p:cNvSpPr txBox="1"/>
          <p:nvPr/>
        </p:nvSpPr>
        <p:spPr>
          <a:xfrm>
            <a:off x="777240" y="1828800"/>
            <a:ext cx="6217920" cy="914400"/>
          </a:xfrm>
          <a:prstGeom prst="rect">
            <a:avLst/>
          </a:prstGeom>
          <a:noFill/>
          <a:ln/>
        </p:spPr>
        <p:txBody>
          <a:bodyPr wrap="square" lIns="0" tIns="0" rIns="0" bIns="0" rtlCol="0" anchor="t"/>
          <a:lstStyle/>
          <a:p>
            <a:pPr indent="0" marL="0">
              <a:buNone/>
            </a:pPr>
            <a:r>
              <a:rPr lang="en-US" sz="1900" b="1" dirty="0">
                <a:solidFill>
                  <a:schemeClr val="accent1"/>
                </a:solidFill>
                <a:latin typeface="Consolas" pitchFamily="34" charset="0"/>
                <a:ea typeface="Consolas" pitchFamily="34" charset="-122"/>
                <a:cs typeface="Consolas" pitchFamily="34" charset="-120"/>
              </a:rPr>
              <a:t>IF </a:t>
            </a:r>
            <a:pPr indent="0" marL="0">
              <a:buNone/>
            </a:pPr>
            <a:r>
              <a:rPr lang="en-US" sz="1900" dirty="0">
                <a:solidFill>
                  <a:schemeClr val="tx2"/>
                </a:solidFill>
                <a:latin typeface="Consolas" pitchFamily="34" charset="0"/>
                <a:ea typeface="Consolas" pitchFamily="34" charset="-122"/>
                <a:cs typeface="Consolas" pitchFamily="34" charset="-120"/>
              </a:rPr>
              <a:t>asset exposure risk is VH </a:t>
            </a:r>
            <a:pPr indent="0" marL="0">
              <a:buNone/>
            </a:pPr>
            <a:r>
              <a:rPr lang="en-US" sz="1900" b="1" dirty="0">
                <a:solidFill>
                  <a:schemeClr val="accent1"/>
                </a:solidFill>
                <a:latin typeface="Consolas" pitchFamily="34" charset="0"/>
                <a:ea typeface="Consolas" pitchFamily="34" charset="-122"/>
                <a:cs typeface="Consolas" pitchFamily="34" charset="-120"/>
              </a:rPr>
              <a:t>AND </a:t>
            </a:r>
            <a:pPr indent="0" marL="0">
              <a:buNone/>
            </a:pPr>
            <a:r>
              <a:rPr lang="en-US" sz="1900" dirty="0">
                <a:solidFill>
                  <a:schemeClr val="tx2"/>
                </a:solidFill>
                <a:latin typeface="Consolas" pitchFamily="34" charset="0"/>
                <a:ea typeface="Consolas" pitchFamily="34" charset="-122"/>
                <a:cs typeface="Consolas" pitchFamily="34" charset="-120"/>
              </a:rPr>
              <a:t>suppression feasibility is VH</a:t>
            </a:r>
            <a:endParaRPr lang="en-US" sz="1900" dirty="0"/>
          </a:p>
          <a:p>
            <a:pPr indent="0" marL="0">
              <a:buNone/>
            </a:pPr>
            <a:r>
              <a:rPr lang="en-US" sz="1900" b="1" dirty="0">
                <a:solidFill>
                  <a:schemeClr val="accent1"/>
                </a:solidFill>
                <a:latin typeface="Consolas" pitchFamily="34" charset="0"/>
                <a:ea typeface="Consolas" pitchFamily="34" charset="-122"/>
                <a:cs typeface="Consolas" pitchFamily="34" charset="-120"/>
              </a:rPr>
              <a:t>THEN </a:t>
            </a:r>
            <a:pPr indent="0" marL="0">
              <a:buNone/>
            </a:pPr>
            <a:r>
              <a:rPr lang="en-US" sz="1900" dirty="0">
                <a:solidFill>
                  <a:schemeClr val="tx2"/>
                </a:solidFill>
                <a:latin typeface="Consolas" pitchFamily="34" charset="0"/>
                <a:ea typeface="Consolas" pitchFamily="34" charset="-122"/>
                <a:cs typeface="Consolas" pitchFamily="34" charset="-120"/>
              </a:rPr>
              <a:t>preemptive asset collar 0.9</a:t>
            </a:r>
            <a:endParaRPr lang="en-US" sz="1900" dirty="0"/>
          </a:p>
        </p:txBody>
      </p:sp>
      <p:sp>
        <p:nvSpPr>
          <p:cNvPr id="6" name="Text 4"/>
          <p:cNvSpPr txBox="1"/>
          <p:nvPr/>
        </p:nvSpPr>
        <p:spPr>
          <a:xfrm>
            <a:off x="777240" y="2788920"/>
            <a:ext cx="6217920" cy="640080"/>
          </a:xfrm>
          <a:prstGeom prst="rect">
            <a:avLst/>
          </a:prstGeom>
          <a:noFill/>
          <a:ln/>
        </p:spPr>
        <p:txBody>
          <a:bodyPr wrap="square" lIns="0" tIns="0" rIns="0" bIns="0" rtlCol="0" anchor="t"/>
          <a:lstStyle/>
          <a:p>
            <a:pPr indent="0" marL="0">
              <a:buNone/>
            </a:pPr>
            <a:r>
              <a:rPr lang="en-US" sz="1400" dirty="0">
                <a:solidFill>
                  <a:schemeClr val="tx1"/>
                </a:solidFill>
              </a:rPr>
              <a:t>Konumlama: su kaynağı (48,22), 30 m, hava aracı, ≈15 dk. Kaynak: üretken (LLM), kapılar G1-G4 geçildi; kural tabanına adaptation-born etiketiyle işlendi.</a:t>
            </a:r>
            <a:endParaRPr lang="en-US" sz="1400" dirty="0"/>
          </a:p>
        </p:txBody>
      </p:sp>
      <p:sp>
        <p:nvSpPr>
          <p:cNvPr id="7" name="clauses card"/>
          <p:cNvSpPr/>
          <p:nvPr/>
        </p:nvSpPr>
        <p:spPr>
          <a:xfrm>
            <a:off x="548640" y="3611880"/>
            <a:ext cx="6583680" cy="2194560"/>
          </a:xfrm>
          <a:prstGeom prst="roundRect">
            <a:avLst>
              <a:gd name="adj" fmla="val 5000"/>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8" name="Text 6"/>
          <p:cNvSpPr txBox="1"/>
          <p:nvPr/>
        </p:nvSpPr>
        <p:spPr>
          <a:xfrm>
            <a:off x="777240" y="3703320"/>
            <a:ext cx="6217920" cy="365760"/>
          </a:xfrm>
          <a:prstGeom prst="rect">
            <a:avLst/>
          </a:prstGeom>
          <a:noFill/>
          <a:ln/>
        </p:spPr>
        <p:txBody>
          <a:bodyPr wrap="square" lIns="0" tIns="0" rIns="0" bIns="0" rtlCol="0" anchor="t"/>
          <a:lstStyle/>
          <a:p>
            <a:pPr indent="0" marL="0">
              <a:buNone/>
            </a:pPr>
            <a:r>
              <a:rPr lang="en-US" sz="1500" i="1" dirty="0">
                <a:solidFill>
                  <a:schemeClr val="accent4"/>
                </a:solidFill>
              </a:rPr>
              <a:t>Yeni müdahale: doğrulanmış etkilerden kurulan 3 koşul</a:t>
            </a:r>
            <a:endParaRPr lang="en-US" sz="1500" dirty="0"/>
          </a:p>
        </p:txBody>
      </p:sp>
      <p:graphicFrame>
        <p:nvGraphicFramePr>
          <p:cNvPr id="11" name="clauses table"/>
          <p:cNvGraphicFramePr>
            <a:graphicFrameLocks noGrp="1"/>
          </p:cNvGraphicFramePr>
          <p:nvPr>
            <p:extLst>
              <p:ext uri="{D42A27DB-BD31-4B8C-83A1-F6EECF244321}">
                <p14:modId xmlns:p14="http://schemas.microsoft.com/office/powerpoint/2010/main" val="1579011935"/>
              </p:ext>
            </p:extLst>
          </p:nvPr>
        </p:nvGraphicFramePr>
        <p:xfrm>
          <a:off x="777240" y="4114800"/>
          <a:ext cx="6126480" cy="914400"/>
        </p:xfrm>
        <a:graphic>
          <a:graphicData uri="http://schemas.openxmlformats.org/drawingml/2006/table">
            <a:tbl>
              <a:tblPr/>
              <a:tblGrid>
                <a:gridCol w="2011680"/>
                <a:gridCol w="1463040"/>
                <a:gridCol w="1371600"/>
                <a:gridCol w="1280160"/>
              </a:tblGrid>
              <a:tr h="384048">
                <a:tc>
                  <a:txBody>
                    <a:bodyPr/>
                    <a:lstStyle/>
                    <a:p>
                      <a:pPr indent="0" marL="0">
                        <a:buNone/>
                      </a:pPr>
                      <a:r>
                        <a:rPr lang="en-US" sz="1600" b="1" dirty="0">
                          <a:solidFill>
                            <a:srgbClr val="FFFFFF"/>
                          </a:solidFill>
                          <a:latin typeface="+mn-lt" pitchFamily="34" charset="0"/>
                          <a:ea typeface="+mn-lt" pitchFamily="34" charset="-122"/>
                          <a:cs typeface="+mn-lt" pitchFamily="34" charset="-120"/>
                        </a:rPr>
                        <a:t>Etki</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n-lt" pitchFamily="34" charset="0"/>
                          <a:ea typeface="+mn-lt" pitchFamily="34" charset="-122"/>
                          <a:cs typeface="+mn-lt" pitchFamily="34" charset="-120"/>
                        </a:rPr>
                        <a:t>Sektör</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n-lt" pitchFamily="34" charset="0"/>
                          <a:ea typeface="+mn-lt" pitchFamily="34" charset="-122"/>
                          <a:cs typeface="+mn-lt" pitchFamily="34" charset="-120"/>
                        </a:rPr>
                        <a:t>Hücre bandı</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n-lt" pitchFamily="34" charset="0"/>
                          <a:ea typeface="+mn-lt" pitchFamily="34" charset="-122"/>
                          <a:cs typeface="+mn-lt" pitchFamily="34" charset="-120"/>
                        </a:rPr>
                        <a:t>Miktar</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solidFill>
                      <a:srgbClr val="1F3A5F"/>
                    </a:solidFill>
                  </a:tcPr>
                </a:tc>
              </a:tr>
              <a:tr h="384048">
                <a:tc>
                  <a:txBody>
                    <a:bodyPr/>
                    <a:lstStyle/>
                    <a:p>
                      <a:pPr indent="0" marL="0">
                        <a:buNone/>
                      </a:pPr>
                      <a:r>
                        <a:rPr lang="en-US" sz="1600" dirty="0">
                          <a:solidFill>
                            <a:srgbClr val="1C2430"/>
                          </a:solidFill>
                          <a:latin typeface="+mn-lt" pitchFamily="34" charset="0"/>
                          <a:ea typeface="+mn-lt" pitchFamily="34" charset="-122"/>
                          <a:cs typeface="+mn-lt" pitchFamily="34" charset="-120"/>
                        </a:rPr>
                        <a:t>kaplama (coat)</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varlıklar</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0-3</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1,0</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84048">
                <a:tc>
                  <a:txBody>
                    <a:bodyPr/>
                    <a:lstStyle/>
                    <a:p>
                      <a:pPr indent="0" marL="0">
                        <a:buNone/>
                      </a:pPr>
                      <a:r>
                        <a:rPr lang="en-US" sz="1600" dirty="0">
                          <a:solidFill>
                            <a:srgbClr val="1C2430"/>
                          </a:solidFill>
                          <a:latin typeface="+mn-lt" pitchFamily="34" charset="0"/>
                          <a:ea typeface="+mn-lt" pitchFamily="34" charset="-122"/>
                          <a:cs typeface="+mn-lt" pitchFamily="34" charset="-120"/>
                        </a:rPr>
                        <a:t>kaplama (coat)</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yerleşim</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0-2</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1,0</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r h="384048">
                <a:tc>
                  <a:txBody>
                    <a:bodyPr/>
                    <a:lstStyle/>
                    <a:p>
                      <a:pPr indent="0" marL="0">
                        <a:buNone/>
                      </a:pPr>
                      <a:r>
                        <a:rPr lang="en-US" sz="1600" dirty="0">
                          <a:solidFill>
                            <a:srgbClr val="1C2430"/>
                          </a:solidFill>
                          <a:latin typeface="+mn-lt" pitchFamily="34" charset="0"/>
                          <a:ea typeface="+mn-lt" pitchFamily="34" charset="-122"/>
                          <a:cs typeface="+mn-lt" pitchFamily="34" charset="-120"/>
                        </a:rPr>
                        <a:t>hazırlama (prime)</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yerleşim</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0-2</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c>
                  <a:txBody>
                    <a:bodyPr/>
                    <a:lstStyle/>
                    <a:p>
                      <a:pPr indent="0" marL="0">
                        <a:buNone/>
                      </a:pPr>
                      <a:r>
                        <a:rPr lang="en-US" sz="1600" dirty="0">
                          <a:solidFill>
                            <a:srgbClr val="1C2430"/>
                          </a:solidFill>
                          <a:latin typeface="+mn-lt" pitchFamily="34" charset="0"/>
                          <a:ea typeface="+mn-lt" pitchFamily="34" charset="-122"/>
                          <a:cs typeface="+mn-lt" pitchFamily="34" charset="-120"/>
                        </a:rPr>
                        <a:t>0,8</a:t>
                      </a:r>
                      <a:endParaRPr lang="en-US" sz="1600" dirty="0">
                        <a:latin typeface="+mn-lt" charset="0"/>
                        <a:ea typeface="+mn-lt" charset="0"/>
                        <a:cs typeface="+mn-lt" charset="0"/>
                      </a:endParaRPr>
                    </a:p>
                  </a:txBody>
                  <a:tcPr marL="91440" marR="91440" marT="45720" marB="45720" anchor="ctr">
                    <a:lnL w="9525" cap="flat" cmpd="sng" algn="ctr">
                      <a:solidFill>
                        <a:srgbClr val="D7DEE8"/>
                      </a:solidFill>
                      <a:prstDash val="solid"/>
                      <a:round/>
                      <a:headEnd type="none" w="med" len="med"/>
                      <a:tailEnd type="none" w="med" len="med"/>
                    </a:lnL>
                    <a:lnR w="9525" cap="flat" cmpd="sng" algn="ctr">
                      <a:solidFill>
                        <a:srgbClr val="D7DEE8"/>
                      </a:solidFill>
                      <a:prstDash val="solid"/>
                      <a:round/>
                      <a:headEnd type="none" w="med" len="med"/>
                      <a:tailEnd type="none" w="med" len="med"/>
                    </a:lnR>
                    <a:lnT w="9525" cap="flat" cmpd="sng" algn="ctr">
                      <a:solidFill>
                        <a:srgbClr val="D7DEE8"/>
                      </a:solidFill>
                      <a:prstDash val="solid"/>
                      <a:round/>
                      <a:headEnd type="none" w="med" len="med"/>
                      <a:tailEnd type="none" w="med" len="med"/>
                    </a:lnT>
                    <a:lnB w="9525" cap="flat" cmpd="sng" algn="ctr">
                      <a:solidFill>
                        <a:srgbClr val="D7DEE8"/>
                      </a:solidFill>
                      <a:prstDash val="solid"/>
                      <a:round/>
                      <a:headEnd type="none" w="med" len="med"/>
                      <a:tailEnd type="none" w="med" len="med"/>
                    </a:lnB>
                  </a:tcPr>
                </a:tc>
              </a:tr>
            </a:tbl>
          </a:graphicData>
        </a:graphic>
      </p:graphicFrame>
      <p:sp>
        <p:nvSpPr>
          <p:cNvPr id="10" name="gate card"/>
          <p:cNvSpPr/>
          <p:nvPr/>
        </p:nvSpPr>
        <p:spPr>
          <a:xfrm>
            <a:off x="7406640" y="1371600"/>
            <a:ext cx="4251960" cy="4434840"/>
          </a:xfrm>
          <a:prstGeom prst="roundRect">
            <a:avLst>
              <a:gd name="adj" fmla="val 2581"/>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1" name="Text 8"/>
          <p:cNvSpPr txBox="1"/>
          <p:nvPr/>
        </p:nvSpPr>
        <p:spPr>
          <a:xfrm>
            <a:off x="7680960" y="1508760"/>
            <a:ext cx="3749040" cy="411480"/>
          </a:xfrm>
          <a:prstGeom prst="rect">
            <a:avLst/>
          </a:prstGeom>
          <a:noFill/>
          <a:ln/>
        </p:spPr>
        <p:txBody>
          <a:bodyPr wrap="square" lIns="0" tIns="0" rIns="0" bIns="0" rtlCol="0" anchor="t"/>
          <a:lstStyle/>
          <a:p>
            <a:pPr indent="0" marL="0">
              <a:buNone/>
            </a:pPr>
            <a:r>
              <a:rPr lang="en-US" sz="2100" b="1" dirty="0">
                <a:solidFill>
                  <a:schemeClr val="accent1"/>
                </a:solidFill>
              </a:rPr>
              <a:t>Kapı kararı</a:t>
            </a:r>
            <a:endParaRPr lang="en-US" sz="2100" dirty="0"/>
          </a:p>
        </p:txBody>
      </p:sp>
      <p:sp>
        <p:nvSpPr>
          <p:cNvPr id="12" name="Text 9"/>
          <p:cNvSpPr txBox="1"/>
          <p:nvPr/>
        </p:nvSpPr>
        <p:spPr>
          <a:xfrm>
            <a:off x="7680960" y="2011680"/>
            <a:ext cx="868680" cy="640080"/>
          </a:xfrm>
          <a:prstGeom prst="rect">
            <a:avLst/>
          </a:prstGeom>
          <a:noFill/>
          <a:ln/>
        </p:spPr>
        <p:txBody>
          <a:bodyPr wrap="square" lIns="0" tIns="0" rIns="0" bIns="0" rtlCol="0" anchor="t"/>
          <a:lstStyle/>
          <a:p>
            <a:pPr indent="0" marL="0">
              <a:buNone/>
            </a:pPr>
            <a:r>
              <a:rPr lang="en-US" sz="1700" b="1" dirty="0">
                <a:solidFill>
                  <a:schemeClr val="tx2"/>
                </a:solidFill>
              </a:rPr>
              <a:t>G1, G2</a:t>
            </a:r>
            <a:endParaRPr lang="en-US" sz="1700" dirty="0"/>
          </a:p>
        </p:txBody>
      </p:sp>
      <p:sp>
        <p:nvSpPr>
          <p:cNvPr id="13" name="Text 10"/>
          <p:cNvSpPr txBox="1"/>
          <p:nvPr/>
        </p:nvSpPr>
        <p:spPr>
          <a:xfrm>
            <a:off x="8549640" y="2011680"/>
            <a:ext cx="2971800" cy="640080"/>
          </a:xfrm>
          <a:prstGeom prst="rect">
            <a:avLst/>
          </a:prstGeom>
          <a:noFill/>
          <a:ln/>
        </p:spPr>
        <p:txBody>
          <a:bodyPr wrap="square" lIns="0" tIns="0" rIns="0" bIns="0" rtlCol="0" anchor="t"/>
          <a:lstStyle/>
          <a:p>
            <a:pPr indent="0" marL="0">
              <a:buNone/>
            </a:pPr>
            <a:r>
              <a:rPr lang="en-US" sz="1500" dirty="0">
                <a:solidFill>
                  <a:schemeClr val="tx1"/>
                </a:solidFill>
              </a:rPr>
              <a:t>şema ve sözlük denetimi: geçti</a:t>
            </a:r>
            <a:endParaRPr lang="en-US" sz="1500" dirty="0"/>
          </a:p>
        </p:txBody>
      </p:sp>
      <p:sp>
        <p:nvSpPr>
          <p:cNvPr id="14" name="Text 11"/>
          <p:cNvSpPr txBox="1"/>
          <p:nvPr/>
        </p:nvSpPr>
        <p:spPr>
          <a:xfrm>
            <a:off x="7680960" y="2706624"/>
            <a:ext cx="868680" cy="640080"/>
          </a:xfrm>
          <a:prstGeom prst="rect">
            <a:avLst/>
          </a:prstGeom>
          <a:noFill/>
          <a:ln/>
        </p:spPr>
        <p:txBody>
          <a:bodyPr wrap="square" lIns="0" tIns="0" rIns="0" bIns="0" rtlCol="0" anchor="t"/>
          <a:lstStyle/>
          <a:p>
            <a:pPr indent="0" marL="0">
              <a:buNone/>
            </a:pPr>
            <a:r>
              <a:rPr lang="en-US" sz="1700" b="1" dirty="0">
                <a:solidFill>
                  <a:schemeClr val="tx2"/>
                </a:solidFill>
              </a:rPr>
              <a:t>G3</a:t>
            </a:r>
            <a:endParaRPr lang="en-US" sz="1700" dirty="0"/>
          </a:p>
        </p:txBody>
      </p:sp>
      <p:sp>
        <p:nvSpPr>
          <p:cNvPr id="15" name="Text 12"/>
          <p:cNvSpPr txBox="1"/>
          <p:nvPr/>
        </p:nvSpPr>
        <p:spPr>
          <a:xfrm>
            <a:off x="8549640" y="2706624"/>
            <a:ext cx="2971800" cy="640080"/>
          </a:xfrm>
          <a:prstGeom prst="rect">
            <a:avLst/>
          </a:prstGeom>
          <a:noFill/>
          <a:ln/>
        </p:spPr>
        <p:txBody>
          <a:bodyPr wrap="square" lIns="0" tIns="0" rIns="0" bIns="0" rtlCol="0" anchor="t"/>
          <a:lstStyle/>
          <a:p>
            <a:pPr indent="0" marL="0">
              <a:buNone/>
            </a:pPr>
            <a:r>
              <a:rPr lang="en-US" sz="1500" dirty="0">
                <a:solidFill>
                  <a:schemeClr val="tx1"/>
                </a:solidFill>
              </a:rPr>
              <a:t>gölge tahmin Ĵ: 0,1351 → 0,1284 (öneriyle daha düşük)</a:t>
            </a:r>
            <a:endParaRPr lang="en-US" sz="1500" dirty="0"/>
          </a:p>
        </p:txBody>
      </p:sp>
      <p:sp>
        <p:nvSpPr>
          <p:cNvPr id="16" name="Text 13"/>
          <p:cNvSpPr txBox="1"/>
          <p:nvPr/>
        </p:nvSpPr>
        <p:spPr>
          <a:xfrm>
            <a:off x="7680960" y="3401568"/>
            <a:ext cx="868680" cy="640080"/>
          </a:xfrm>
          <a:prstGeom prst="rect">
            <a:avLst/>
          </a:prstGeom>
          <a:noFill/>
          <a:ln/>
        </p:spPr>
        <p:txBody>
          <a:bodyPr wrap="square" lIns="0" tIns="0" rIns="0" bIns="0" rtlCol="0" anchor="t"/>
          <a:lstStyle/>
          <a:p>
            <a:pPr indent="0" marL="0">
              <a:buNone/>
            </a:pPr>
            <a:r>
              <a:rPr lang="en-US" sz="1700" b="1" dirty="0">
                <a:solidFill>
                  <a:schemeClr val="tx2"/>
                </a:solidFill>
              </a:rPr>
              <a:t>G4</a:t>
            </a:r>
            <a:endParaRPr lang="en-US" sz="1700" dirty="0"/>
          </a:p>
        </p:txBody>
      </p:sp>
      <p:sp>
        <p:nvSpPr>
          <p:cNvPr id="17" name="Text 14"/>
          <p:cNvSpPr txBox="1"/>
          <p:nvPr/>
        </p:nvSpPr>
        <p:spPr>
          <a:xfrm>
            <a:off x="8549640" y="3401568"/>
            <a:ext cx="2971800" cy="640080"/>
          </a:xfrm>
          <a:prstGeom prst="rect">
            <a:avLst/>
          </a:prstGeom>
          <a:noFill/>
          <a:ln/>
        </p:spPr>
        <p:txBody>
          <a:bodyPr wrap="square" lIns="0" tIns="0" rIns="0" bIns="0" rtlCol="0" anchor="t"/>
          <a:lstStyle/>
          <a:p>
            <a:pPr indent="0" marL="0">
              <a:buNone/>
            </a:pPr>
            <a:r>
              <a:rPr lang="en-US" sz="1500" dirty="0">
                <a:solidFill>
                  <a:schemeClr val="tx1"/>
                </a:solidFill>
              </a:rPr>
              <a:t>ikinci tohumla aynı yön: geçti</a:t>
            </a:r>
            <a:endParaRPr lang="en-US" sz="1500" dirty="0"/>
          </a:p>
        </p:txBody>
      </p:sp>
      <p:sp>
        <p:nvSpPr>
          <p:cNvPr id="18" name="Text 15"/>
          <p:cNvSpPr txBox="1"/>
          <p:nvPr/>
        </p:nvSpPr>
        <p:spPr>
          <a:xfrm>
            <a:off x="7680960" y="4096512"/>
            <a:ext cx="868680" cy="640080"/>
          </a:xfrm>
          <a:prstGeom prst="rect">
            <a:avLst/>
          </a:prstGeom>
          <a:noFill/>
          <a:ln/>
        </p:spPr>
        <p:txBody>
          <a:bodyPr wrap="square" lIns="0" tIns="0" rIns="0" bIns="0" rtlCol="0" anchor="t"/>
          <a:lstStyle/>
          <a:p>
            <a:pPr indent="0" marL="0">
              <a:buNone/>
            </a:pPr>
            <a:r>
              <a:rPr lang="en-US" sz="1700" b="1" dirty="0">
                <a:solidFill>
                  <a:schemeClr val="tx2"/>
                </a:solidFill>
              </a:rPr>
              <a:t>G5</a:t>
            </a:r>
            <a:endParaRPr lang="en-US" sz="1700" dirty="0"/>
          </a:p>
        </p:txBody>
      </p:sp>
      <p:sp>
        <p:nvSpPr>
          <p:cNvPr id="19" name="Text 16"/>
          <p:cNvSpPr txBox="1"/>
          <p:nvPr/>
        </p:nvSpPr>
        <p:spPr>
          <a:xfrm>
            <a:off x="8549640" y="4096512"/>
            <a:ext cx="2971800" cy="640080"/>
          </a:xfrm>
          <a:prstGeom prst="rect">
            <a:avLst/>
          </a:prstGeom>
          <a:noFill/>
          <a:ln/>
        </p:spPr>
        <p:txBody>
          <a:bodyPr wrap="square" lIns="0" tIns="0" rIns="0" bIns="0" rtlCol="0" anchor="t"/>
          <a:lstStyle/>
          <a:p>
            <a:pPr indent="0" marL="0">
              <a:buNone/>
            </a:pPr>
            <a:r>
              <a:rPr lang="en-US" sz="1500" dirty="0">
                <a:solidFill>
                  <a:schemeClr val="tx1"/>
                </a:solidFill>
              </a:rPr>
              <a:t>paket marjı: ΔĴ = −0,0067, eşik aşıldı</a:t>
            </a:r>
            <a:endParaRPr lang="en-US" sz="1500" dirty="0"/>
          </a:p>
        </p:txBody>
      </p:sp>
      <p:sp>
        <p:nvSpPr>
          <p:cNvPr id="20" name="Text 17"/>
          <p:cNvSpPr txBox="1"/>
          <p:nvPr/>
        </p:nvSpPr>
        <p:spPr>
          <a:xfrm>
            <a:off x="7680960" y="4791456"/>
            <a:ext cx="868680" cy="640080"/>
          </a:xfrm>
          <a:prstGeom prst="rect">
            <a:avLst/>
          </a:prstGeom>
          <a:noFill/>
          <a:ln/>
        </p:spPr>
        <p:txBody>
          <a:bodyPr wrap="square" lIns="0" tIns="0" rIns="0" bIns="0" rtlCol="0" anchor="t"/>
          <a:lstStyle/>
          <a:p>
            <a:pPr indent="0" marL="0">
              <a:buNone/>
            </a:pPr>
            <a:r>
              <a:rPr lang="en-US" sz="1700" b="1" dirty="0">
                <a:solidFill>
                  <a:schemeClr val="tx2"/>
                </a:solidFill>
              </a:rPr>
              <a:t>G5b</a:t>
            </a:r>
            <a:endParaRPr lang="en-US" sz="1700" dirty="0"/>
          </a:p>
        </p:txBody>
      </p:sp>
      <p:sp>
        <p:nvSpPr>
          <p:cNvPr id="21" name="Text 18"/>
          <p:cNvSpPr txBox="1"/>
          <p:nvPr/>
        </p:nvSpPr>
        <p:spPr>
          <a:xfrm>
            <a:off x="8549640" y="4791456"/>
            <a:ext cx="2971800" cy="640080"/>
          </a:xfrm>
          <a:prstGeom prst="rect">
            <a:avLst/>
          </a:prstGeom>
          <a:noFill/>
          <a:ln/>
        </p:spPr>
        <p:txBody>
          <a:bodyPr wrap="square" lIns="0" tIns="0" rIns="0" bIns="0" rtlCol="0" anchor="t"/>
          <a:lstStyle/>
          <a:p>
            <a:pPr indent="0" marL="0">
              <a:buNone/>
            </a:pPr>
            <a:r>
              <a:rPr lang="en-US" sz="1500" dirty="0">
                <a:solidFill>
                  <a:schemeClr val="tx1"/>
                </a:solidFill>
              </a:rPr>
              <a:t>tek nesne, katkı ayrımı gerekmedi</a:t>
            </a:r>
            <a:endParaRPr lang="en-US" sz="1500" dirty="0"/>
          </a:p>
        </p:txBody>
      </p:sp>
      <p:sp>
        <p:nvSpPr>
          <p:cNvPr id="22" name="Text 19"/>
          <p:cNvSpPr txBox="1"/>
          <p:nvPr/>
        </p:nvSpPr>
        <p:spPr>
          <a:xfrm>
            <a:off x="7680960" y="5486400"/>
            <a:ext cx="3840480" cy="274320"/>
          </a:xfrm>
          <a:prstGeom prst="rect">
            <a:avLst/>
          </a:prstGeom>
          <a:noFill/>
          <a:ln/>
        </p:spPr>
        <p:txBody>
          <a:bodyPr wrap="square" lIns="0" tIns="0" rIns="0" bIns="0" rtlCol="0" anchor="t"/>
          <a:lstStyle/>
          <a:p>
            <a:pPr indent="0" marL="0">
              <a:buNone/>
            </a:pPr>
            <a:r>
              <a:rPr lang="en-US" sz="1300" i="1" dirty="0">
                <a:solidFill>
                  <a:schemeClr val="accent4"/>
                </a:solidFill>
              </a:rPr>
              <a:t>Aynı önerinin reddi de aynı biçimde kayıtlıdır: kapı adı, iki tahmin değeri, gerekçe.</a:t>
            </a:r>
            <a:endParaRPr lang="en-US" sz="13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Yanan alan: DisasterAware statik tabana göre %44 az</a:t>
            </a:r>
            <a:endParaRPr lang="en-US" sz="3400" dirty="0"/>
          </a:p>
        </p:txBody>
      </p:sp>
      <p:graphicFrame>
        <p:nvGraphicFramePr>
          <p:cNvPr id="3" name="burned area chart" descr=""/>
          <p:cNvGraphicFramePr/>
          <p:nvPr/>
        </p:nvGraphicFramePr>
        <p:xfrm>
          <a:off x="548640" y="1371600"/>
          <a:ext cx="7223760" cy="4572000"/>
        </p:xfrm>
        <a:graphic xmlns:a="http://schemas.openxmlformats.org/drawingml/2006/main">
          <a:graphicData uri="http://schemas.openxmlformats.org/drawingml/2006/chart">
            <c:chart xmlns:c="http://schemas.openxmlformats.org/drawingml/2006/chart" r:id="rId1"/>
          </a:graphicData>
        </a:graphic>
      </p:graphicFrame>
      <p:sp>
        <p:nvSpPr>
          <p:cNvPr id="4" name="tile ortalama yanan alan: KDS yok, F5 statik, DisasterAware"/>
          <p:cNvSpPr/>
          <p:nvPr/>
        </p:nvSpPr>
        <p:spPr>
          <a:xfrm>
            <a:off x="8092440" y="1371600"/>
            <a:ext cx="3566160" cy="1417320"/>
          </a:xfrm>
          <a:prstGeom prst="roundRect">
            <a:avLst>
              <a:gd name="adj" fmla="val 7742"/>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5" name="Text 2"/>
          <p:cNvSpPr txBox="1"/>
          <p:nvPr/>
        </p:nvSpPr>
        <p:spPr>
          <a:xfrm>
            <a:off x="8321040" y="1463040"/>
            <a:ext cx="3200400" cy="685800"/>
          </a:xfrm>
          <a:prstGeom prst="rect">
            <a:avLst/>
          </a:prstGeom>
          <a:noFill/>
          <a:ln/>
        </p:spPr>
        <p:txBody>
          <a:bodyPr wrap="square" lIns="0" tIns="0" rIns="0" bIns="0" rtlCol="0" anchor="ctr"/>
          <a:lstStyle/>
          <a:p>
            <a:pPr indent="0" marL="0">
              <a:buNone/>
            </a:pPr>
            <a:r>
              <a:rPr lang="en-US" sz="2400" b="1" dirty="0">
                <a:solidFill>
                  <a:srgbClr val="8B2635"/>
                </a:solidFill>
              </a:rPr>
              <a:t>251 → 81 → 46 ha</a:t>
            </a:r>
            <a:endParaRPr lang="en-US" sz="2400" dirty="0"/>
          </a:p>
        </p:txBody>
      </p:sp>
      <p:sp>
        <p:nvSpPr>
          <p:cNvPr id="6" name="Text 3"/>
          <p:cNvSpPr txBox="1"/>
          <p:nvPr/>
        </p:nvSpPr>
        <p:spPr>
          <a:xfrm>
            <a:off x="8321040" y="2148840"/>
            <a:ext cx="3200400" cy="548640"/>
          </a:xfrm>
          <a:prstGeom prst="rect">
            <a:avLst/>
          </a:prstGeom>
          <a:noFill/>
          <a:ln/>
        </p:spPr>
        <p:txBody>
          <a:bodyPr wrap="square" lIns="0" tIns="0" rIns="0" bIns="0" rtlCol="0" anchor="t"/>
          <a:lstStyle/>
          <a:p>
            <a:pPr indent="0" marL="0">
              <a:buNone/>
            </a:pPr>
            <a:r>
              <a:rPr lang="en-US" sz="1500" dirty="0">
                <a:solidFill>
                  <a:schemeClr val="tx1"/>
                </a:solidFill>
              </a:rPr>
              <a:t>ortalama yanan alan: KDS yok, F5 statik, DisasterAware</a:t>
            </a:r>
            <a:endParaRPr lang="en-US" sz="1500" dirty="0"/>
          </a:p>
        </p:txBody>
      </p:sp>
      <p:sp>
        <p:nvSpPr>
          <p:cNvPr id="7" name="tile etkilenen nüfus, statik tabana karşı DisasterAware (494 → 117 kişi)"/>
          <p:cNvSpPr/>
          <p:nvPr/>
        </p:nvSpPr>
        <p:spPr>
          <a:xfrm>
            <a:off x="8092440" y="2926080"/>
            <a:ext cx="3566160" cy="1417320"/>
          </a:xfrm>
          <a:prstGeom prst="roundRect">
            <a:avLst>
              <a:gd name="adj" fmla="val 7742"/>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8" name="Text 5"/>
          <p:cNvSpPr txBox="1"/>
          <p:nvPr/>
        </p:nvSpPr>
        <p:spPr>
          <a:xfrm>
            <a:off x="8321040" y="3017520"/>
            <a:ext cx="3200400" cy="685800"/>
          </a:xfrm>
          <a:prstGeom prst="rect">
            <a:avLst/>
          </a:prstGeom>
          <a:noFill/>
          <a:ln/>
        </p:spPr>
        <p:txBody>
          <a:bodyPr wrap="square" lIns="0" tIns="0" rIns="0" bIns="0" rtlCol="0" anchor="ctr"/>
          <a:lstStyle/>
          <a:p>
            <a:pPr indent="0" marL="0">
              <a:buNone/>
            </a:pPr>
            <a:r>
              <a:rPr lang="en-US" sz="3000" b="1" dirty="0">
                <a:solidFill>
                  <a:srgbClr val="1F3A5F"/>
                </a:solidFill>
              </a:rPr>
              <a:t>−%76</a:t>
            </a:r>
            <a:endParaRPr lang="en-US" sz="3000" dirty="0"/>
          </a:p>
        </p:txBody>
      </p:sp>
      <p:sp>
        <p:nvSpPr>
          <p:cNvPr id="9" name="Text 6"/>
          <p:cNvSpPr txBox="1"/>
          <p:nvPr/>
        </p:nvSpPr>
        <p:spPr>
          <a:xfrm>
            <a:off x="8321040" y="3703320"/>
            <a:ext cx="3200400" cy="548640"/>
          </a:xfrm>
          <a:prstGeom prst="rect">
            <a:avLst/>
          </a:prstGeom>
          <a:noFill/>
          <a:ln/>
        </p:spPr>
        <p:txBody>
          <a:bodyPr wrap="square" lIns="0" tIns="0" rIns="0" bIns="0" rtlCol="0" anchor="t"/>
          <a:lstStyle/>
          <a:p>
            <a:pPr indent="0" marL="0">
              <a:buNone/>
            </a:pPr>
            <a:r>
              <a:rPr lang="en-US" sz="1500" dirty="0">
                <a:solidFill>
                  <a:schemeClr val="tx1"/>
                </a:solidFill>
              </a:rPr>
              <a:t>etkilenen nüfus, statik tabana karşı DisasterAware (494 → 117 kişi)</a:t>
            </a:r>
            <a:endParaRPr lang="en-US" sz="1500" dirty="0"/>
          </a:p>
        </p:txBody>
      </p:sp>
      <p:sp>
        <p:nvSpPr>
          <p:cNvPr id="10" name="tile fiziksel maliyet Jphys"/>
          <p:cNvSpPr/>
          <p:nvPr/>
        </p:nvSpPr>
        <p:spPr>
          <a:xfrm>
            <a:off x="8092440" y="4480560"/>
            <a:ext cx="3566160" cy="1417320"/>
          </a:xfrm>
          <a:prstGeom prst="roundRect">
            <a:avLst>
              <a:gd name="adj" fmla="val 7742"/>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1" name="Text 8"/>
          <p:cNvSpPr txBox="1"/>
          <p:nvPr/>
        </p:nvSpPr>
        <p:spPr>
          <a:xfrm>
            <a:off x="8321040" y="4572000"/>
            <a:ext cx="3200400" cy="685800"/>
          </a:xfrm>
          <a:prstGeom prst="rect">
            <a:avLst/>
          </a:prstGeom>
          <a:noFill/>
          <a:ln/>
        </p:spPr>
        <p:txBody>
          <a:bodyPr wrap="square" lIns="0" tIns="0" rIns="0" bIns="0" rtlCol="0" anchor="ctr"/>
          <a:lstStyle/>
          <a:p>
            <a:pPr indent="0" marL="0">
              <a:buNone/>
            </a:pPr>
            <a:r>
              <a:rPr lang="en-US" sz="2400" b="1" dirty="0">
                <a:solidFill>
                  <a:srgbClr val="1F3A5F"/>
                </a:solidFill>
              </a:rPr>
              <a:t>0,598 → 0,155 → 0,081</a:t>
            </a:r>
            <a:endParaRPr lang="en-US" sz="2400" dirty="0"/>
          </a:p>
        </p:txBody>
      </p:sp>
      <p:sp>
        <p:nvSpPr>
          <p:cNvPr id="12" name="Text 9"/>
          <p:cNvSpPr txBox="1"/>
          <p:nvPr/>
        </p:nvSpPr>
        <p:spPr>
          <a:xfrm>
            <a:off x="8321040" y="5257800"/>
            <a:ext cx="3200400" cy="548640"/>
          </a:xfrm>
          <a:prstGeom prst="rect">
            <a:avLst/>
          </a:prstGeom>
          <a:noFill/>
          <a:ln/>
        </p:spPr>
        <p:txBody>
          <a:bodyPr wrap="square" lIns="0" tIns="0" rIns="0" bIns="0" rtlCol="0" anchor="t"/>
          <a:lstStyle/>
          <a:p>
            <a:pPr indent="0" marL="0">
              <a:buNone/>
            </a:pPr>
            <a:r>
              <a:rPr lang="en-US" sz="1500" dirty="0">
                <a:solidFill>
                  <a:schemeClr val="tx1"/>
                </a:solidFill>
              </a:rPr>
              <a:t>fiziksel maliyet Jphys</a:t>
            </a:r>
            <a:endParaRPr lang="en-US" sz="15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Söndürülen yangın oranı: %13'ten %75'e</a:t>
            </a:r>
            <a:endParaRPr lang="en-US" sz="3400" dirty="0"/>
          </a:p>
        </p:txBody>
      </p:sp>
      <p:graphicFrame>
        <p:nvGraphicFramePr>
          <p:cNvPr id="3" name="extinguished chart" descr=""/>
          <p:cNvGraphicFramePr/>
          <p:nvPr/>
        </p:nvGraphicFramePr>
        <p:xfrm>
          <a:off x="548640" y="1371600"/>
          <a:ext cx="7223760" cy="4572000"/>
        </p:xfrm>
        <a:graphic xmlns:a="http://schemas.openxmlformats.org/drawingml/2006/main">
          <a:graphicData uri="http://schemas.openxmlformats.org/drawingml/2006/chart">
            <c:chart xmlns:c="http://schemas.openxmlformats.org/drawingml/2006/chart" r:id="rId1"/>
          </a:graphicData>
        </a:graphic>
      </p:graphicFrame>
      <p:sp>
        <p:nvSpPr>
          <p:cNvPr id="4" name="tile olay süresi içinde söndürülen yangın, statik tabana karşı DisasterAware"/>
          <p:cNvSpPr/>
          <p:nvPr/>
        </p:nvSpPr>
        <p:spPr>
          <a:xfrm>
            <a:off x="8092440" y="1371600"/>
            <a:ext cx="3566160" cy="1417320"/>
          </a:xfrm>
          <a:prstGeom prst="roundRect">
            <a:avLst>
              <a:gd name="adj" fmla="val 7742"/>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5" name="Text 2"/>
          <p:cNvSpPr txBox="1"/>
          <p:nvPr/>
        </p:nvSpPr>
        <p:spPr>
          <a:xfrm>
            <a:off x="8321040" y="1463040"/>
            <a:ext cx="3200400" cy="685800"/>
          </a:xfrm>
          <a:prstGeom prst="rect">
            <a:avLst/>
          </a:prstGeom>
          <a:noFill/>
          <a:ln/>
        </p:spPr>
        <p:txBody>
          <a:bodyPr wrap="square" lIns="0" tIns="0" rIns="0" bIns="0" rtlCol="0" anchor="ctr"/>
          <a:lstStyle/>
          <a:p>
            <a:pPr indent="0" marL="0">
              <a:buNone/>
            </a:pPr>
            <a:r>
              <a:rPr lang="en-US" sz="3000" b="1" dirty="0">
                <a:solidFill>
                  <a:srgbClr val="8B2635"/>
                </a:solidFill>
              </a:rPr>
              <a:t>%13 → %75</a:t>
            </a:r>
            <a:endParaRPr lang="en-US" sz="3000" dirty="0"/>
          </a:p>
        </p:txBody>
      </p:sp>
      <p:sp>
        <p:nvSpPr>
          <p:cNvPr id="6" name="Text 3"/>
          <p:cNvSpPr txBox="1"/>
          <p:nvPr/>
        </p:nvSpPr>
        <p:spPr>
          <a:xfrm>
            <a:off x="8321040" y="2148840"/>
            <a:ext cx="3200400" cy="594360"/>
          </a:xfrm>
          <a:prstGeom prst="rect">
            <a:avLst/>
          </a:prstGeom>
          <a:noFill/>
          <a:ln/>
        </p:spPr>
        <p:txBody>
          <a:bodyPr wrap="square" lIns="0" tIns="0" rIns="0" bIns="0" rtlCol="0" anchor="t"/>
          <a:lstStyle/>
          <a:p>
            <a:pPr indent="0" marL="0">
              <a:buNone/>
            </a:pPr>
            <a:r>
              <a:rPr lang="en-US" sz="1500" dirty="0">
                <a:solidFill>
                  <a:schemeClr val="tx1"/>
                </a:solidFill>
              </a:rPr>
              <a:t>olay süresi içinde söndürülen yangın, statik tabana karşı DisasterAware</a:t>
            </a:r>
            <a:endParaRPr lang="en-US" sz="1500" dirty="0"/>
          </a:p>
        </p:txBody>
      </p:sp>
      <p:sp>
        <p:nvSpPr>
          <p:cNvPr id="7" name="tile eşleştirilmiş dünyada daha az yanan alan; beş senaryonun hepsinde daha az nüfus, daha yüksek söndürme"/>
          <p:cNvSpPr/>
          <p:nvPr/>
        </p:nvSpPr>
        <p:spPr>
          <a:xfrm>
            <a:off x="8092440" y="2926080"/>
            <a:ext cx="3566160" cy="1417320"/>
          </a:xfrm>
          <a:prstGeom prst="roundRect">
            <a:avLst>
              <a:gd name="adj" fmla="val 7742"/>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8" name="Text 5"/>
          <p:cNvSpPr txBox="1"/>
          <p:nvPr/>
        </p:nvSpPr>
        <p:spPr>
          <a:xfrm>
            <a:off x="8321040" y="3017520"/>
            <a:ext cx="3200400" cy="685800"/>
          </a:xfrm>
          <a:prstGeom prst="rect">
            <a:avLst/>
          </a:prstGeom>
          <a:noFill/>
          <a:ln/>
        </p:spPr>
        <p:txBody>
          <a:bodyPr wrap="square" lIns="0" tIns="0" rIns="0" bIns="0" rtlCol="0" anchor="ctr"/>
          <a:lstStyle/>
          <a:p>
            <a:pPr indent="0" marL="0">
              <a:buNone/>
            </a:pPr>
            <a:r>
              <a:rPr lang="en-US" sz="3000" b="1" dirty="0">
                <a:solidFill>
                  <a:srgbClr val="1F3A5F"/>
                </a:solidFill>
              </a:rPr>
              <a:t>131 / 150</a:t>
            </a:r>
            <a:endParaRPr lang="en-US" sz="3000" dirty="0"/>
          </a:p>
        </p:txBody>
      </p:sp>
      <p:sp>
        <p:nvSpPr>
          <p:cNvPr id="9" name="Text 6"/>
          <p:cNvSpPr txBox="1"/>
          <p:nvPr/>
        </p:nvSpPr>
        <p:spPr>
          <a:xfrm>
            <a:off x="8321040" y="3703320"/>
            <a:ext cx="3200400" cy="594360"/>
          </a:xfrm>
          <a:prstGeom prst="rect">
            <a:avLst/>
          </a:prstGeom>
          <a:noFill/>
          <a:ln/>
        </p:spPr>
        <p:txBody>
          <a:bodyPr wrap="square" lIns="0" tIns="0" rIns="0" bIns="0" rtlCol="0" anchor="t"/>
          <a:lstStyle/>
          <a:p>
            <a:pPr indent="0" marL="0">
              <a:buNone/>
            </a:pPr>
            <a:r>
              <a:rPr lang="en-US" sz="1500" dirty="0">
                <a:solidFill>
                  <a:schemeClr val="tx1"/>
                </a:solidFill>
              </a:rPr>
              <a:t>eşleştirilmiş dünyada daha az yanan alan; beş senaryonun hepsinde daha az nüfus, daha yüksek söndürme</a:t>
            </a:r>
            <a:endParaRPr lang="en-US" sz="1500" dirty="0"/>
          </a:p>
        </p:txBody>
      </p:sp>
      <p:sp>
        <p:nvSpPr>
          <p:cNvPr id="10" name="tile kısıtlı kaynaklı arayüz senaryoları, gözlem kesintisi altında bile"/>
          <p:cNvSpPr/>
          <p:nvPr/>
        </p:nvSpPr>
        <p:spPr>
          <a:xfrm>
            <a:off x="8092440" y="4480560"/>
            <a:ext cx="3566160" cy="1417320"/>
          </a:xfrm>
          <a:prstGeom prst="roundRect">
            <a:avLst>
              <a:gd name="adj" fmla="val 7742"/>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1" name="Text 8"/>
          <p:cNvSpPr txBox="1"/>
          <p:nvPr/>
        </p:nvSpPr>
        <p:spPr>
          <a:xfrm>
            <a:off x="8321040" y="4572000"/>
            <a:ext cx="3200400" cy="685800"/>
          </a:xfrm>
          <a:prstGeom prst="rect">
            <a:avLst/>
          </a:prstGeom>
          <a:noFill/>
          <a:ln/>
        </p:spPr>
        <p:txBody>
          <a:bodyPr wrap="square" lIns="0" tIns="0" rIns="0" bIns="0" rtlCol="0" anchor="ctr"/>
          <a:lstStyle/>
          <a:p>
            <a:pPr indent="0" marL="0">
              <a:buNone/>
            </a:pPr>
            <a:r>
              <a:rPr lang="en-US" sz="2400" b="1" dirty="0">
                <a:solidFill>
                  <a:srgbClr val="1F3A5F"/>
                </a:solidFill>
              </a:rPr>
              <a:t>S4: %97, S5: %100</a:t>
            </a:r>
            <a:endParaRPr lang="en-US" sz="2400" dirty="0"/>
          </a:p>
        </p:txBody>
      </p:sp>
      <p:sp>
        <p:nvSpPr>
          <p:cNvPr id="12" name="Text 9"/>
          <p:cNvSpPr txBox="1"/>
          <p:nvPr/>
        </p:nvSpPr>
        <p:spPr>
          <a:xfrm>
            <a:off x="8321040" y="5257800"/>
            <a:ext cx="3200400" cy="594360"/>
          </a:xfrm>
          <a:prstGeom prst="rect">
            <a:avLst/>
          </a:prstGeom>
          <a:noFill/>
          <a:ln/>
        </p:spPr>
        <p:txBody>
          <a:bodyPr wrap="square" lIns="0" tIns="0" rIns="0" bIns="0" rtlCol="0" anchor="t"/>
          <a:lstStyle/>
          <a:p>
            <a:pPr indent="0" marL="0">
              <a:buNone/>
            </a:pPr>
            <a:r>
              <a:rPr lang="en-US" sz="1500" dirty="0">
                <a:solidFill>
                  <a:schemeClr val="tx1"/>
                </a:solidFill>
              </a:rPr>
              <a:t>kısıtlı kaynaklı arayüz senaryoları, gözlem kesintisi altında bile</a:t>
            </a:r>
            <a:endParaRPr lang="en-US" sz="15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tx2"/>
                </a:solidFill>
              </a:rPr>
              <a:t>Genellik ve sınırlar</a:t>
            </a:r>
            <a:endParaRPr lang="en-US" sz="3400" dirty="0"/>
          </a:p>
        </p:txBody>
      </p:sp>
      <p:sp>
        <p:nvSpPr>
          <p:cNvPr id="3" name="Text 1"/>
          <p:cNvSpPr txBox="1"/>
          <p:nvPr/>
        </p:nvSpPr>
        <p:spPr>
          <a:xfrm>
            <a:off x="548640" y="1463040"/>
            <a:ext cx="5486400" cy="457200"/>
          </a:xfrm>
          <a:prstGeom prst="rect">
            <a:avLst/>
          </a:prstGeom>
          <a:noFill/>
          <a:ln/>
        </p:spPr>
        <p:txBody>
          <a:bodyPr wrap="square" lIns="0" tIns="0" rIns="0" bIns="0" rtlCol="0" anchor="t"/>
          <a:lstStyle/>
          <a:p>
            <a:pPr indent="0" marL="0">
              <a:buNone/>
            </a:pPr>
            <a:r>
              <a:rPr lang="en-US" sz="2200" b="1" dirty="0">
                <a:solidFill>
                  <a:schemeClr val="tx2"/>
                </a:solidFill>
              </a:rPr>
              <a:t>Dört koşul yeterli</a:t>
            </a:r>
            <a:endParaRPr lang="en-US" sz="2200" dirty="0"/>
          </a:p>
        </p:txBody>
      </p:sp>
      <p:sp>
        <p:nvSpPr>
          <p:cNvPr id="4" name="FaLayerGroup circle"/>
          <p:cNvSpPr/>
          <p:nvPr/>
        </p:nvSpPr>
        <p:spPr>
          <a:xfrm>
            <a:off x="548640" y="2011680"/>
            <a:ext cx="640080" cy="640080"/>
          </a:xfrm>
          <a:prstGeom prst="ellipse">
            <a:avLst/>
          </a:prstGeom>
          <a:solidFill>
            <a:srgbClr val="1F3A5F"/>
          </a:solidFill>
          <a:ln w="12700">
            <a:solidFill>
              <a:srgbClr val="1F3A5F"/>
            </a:solidFill>
            <a:prstDash val="solid"/>
          </a:ln>
        </p:spPr>
      </p:sp>
      <p:pic>
        <p:nvPicPr>
          <p:cNvPr id="5" name="FaLayerGroup icon" descr="preencoded.png">    </p:cNvPr>
          <p:cNvPicPr>
            <a:picLocks noChangeAspect="1"/>
          </p:cNvPicPr>
          <p:nvPr/>
        </p:nvPicPr>
        <p:blipFill>
          <a:blip r:embed="rId1"/>
          <a:stretch>
            <a:fillRect/>
          </a:stretch>
        </p:blipFill>
        <p:spPr>
          <a:xfrm>
            <a:off x="708660" y="2171700"/>
            <a:ext cx="320040" cy="320040"/>
          </a:xfrm>
          <a:prstGeom prst="rect">
            <a:avLst/>
          </a:prstGeom>
        </p:spPr>
      </p:pic>
      <p:sp>
        <p:nvSpPr>
          <p:cNvPr id="6" name="Text 3"/>
          <p:cNvSpPr txBox="1"/>
          <p:nvPr/>
        </p:nvSpPr>
        <p:spPr>
          <a:xfrm>
            <a:off x="1371600" y="2011680"/>
            <a:ext cx="4754880" cy="640080"/>
          </a:xfrm>
          <a:prstGeom prst="rect">
            <a:avLst/>
          </a:prstGeom>
          <a:noFill/>
          <a:ln/>
        </p:spPr>
        <p:txBody>
          <a:bodyPr wrap="square" lIns="0" tIns="0" rIns="0" bIns="0" rtlCol="0" anchor="ctr"/>
          <a:lstStyle/>
          <a:p>
            <a:pPr indent="0" marL="0">
              <a:buNone/>
            </a:pPr>
            <a:r>
              <a:rPr lang="en-US" sz="1900" dirty="0">
                <a:solidFill>
                  <a:schemeClr val="tx1"/>
                </a:solidFill>
              </a:rPr>
              <a:t>Sınırlı boyutlu durum soyutlaması</a:t>
            </a:r>
            <a:endParaRPr lang="en-US" sz="1900" dirty="0"/>
          </a:p>
        </p:txBody>
      </p:sp>
      <p:sp>
        <p:nvSpPr>
          <p:cNvPr id="7" name="FaBook circle"/>
          <p:cNvSpPr/>
          <p:nvPr/>
        </p:nvSpPr>
        <p:spPr>
          <a:xfrm>
            <a:off x="548640" y="2852928"/>
            <a:ext cx="640080" cy="640080"/>
          </a:xfrm>
          <a:prstGeom prst="ellipse">
            <a:avLst/>
          </a:prstGeom>
          <a:solidFill>
            <a:srgbClr val="1F3A5F"/>
          </a:solidFill>
          <a:ln w="12700">
            <a:solidFill>
              <a:srgbClr val="1F3A5F"/>
            </a:solidFill>
            <a:prstDash val="solid"/>
          </a:ln>
        </p:spPr>
      </p:sp>
      <p:pic>
        <p:nvPicPr>
          <p:cNvPr id="8" name="FaBook icon" descr="preencoded.png">    </p:cNvPr>
          <p:cNvPicPr>
            <a:picLocks noChangeAspect="1"/>
          </p:cNvPicPr>
          <p:nvPr/>
        </p:nvPicPr>
        <p:blipFill>
          <a:blip r:embed="rId2"/>
          <a:stretch>
            <a:fillRect/>
          </a:stretch>
        </p:blipFill>
        <p:spPr>
          <a:xfrm>
            <a:off x="708660" y="3012948"/>
            <a:ext cx="320040" cy="320040"/>
          </a:xfrm>
          <a:prstGeom prst="rect">
            <a:avLst/>
          </a:prstGeom>
        </p:spPr>
      </p:pic>
      <p:sp>
        <p:nvSpPr>
          <p:cNvPr id="9" name="Text 5"/>
          <p:cNvSpPr txBox="1"/>
          <p:nvPr/>
        </p:nvSpPr>
        <p:spPr>
          <a:xfrm>
            <a:off x="1371600" y="2852928"/>
            <a:ext cx="4754880" cy="640080"/>
          </a:xfrm>
          <a:prstGeom prst="rect">
            <a:avLst/>
          </a:prstGeom>
          <a:noFill/>
          <a:ln/>
        </p:spPr>
        <p:txBody>
          <a:bodyPr wrap="square" lIns="0" tIns="0" rIns="0" bIns="0" rtlCol="0" anchor="ctr"/>
          <a:lstStyle/>
          <a:p>
            <a:pPr indent="0" marL="0">
              <a:buNone/>
            </a:pPr>
            <a:r>
              <a:rPr lang="en-US" sz="1900" dirty="0">
                <a:solidFill>
                  <a:schemeClr val="tx1"/>
                </a:solidFill>
              </a:rPr>
              <a:t>Kapalı bir müdahale sözlüğü</a:t>
            </a:r>
            <a:endParaRPr lang="en-US" sz="1900" dirty="0"/>
          </a:p>
        </p:txBody>
      </p:sp>
      <p:sp>
        <p:nvSpPr>
          <p:cNvPr id="10" name="FaCubes circle"/>
          <p:cNvSpPr/>
          <p:nvPr/>
        </p:nvSpPr>
        <p:spPr>
          <a:xfrm>
            <a:off x="548640" y="3694176"/>
            <a:ext cx="640080" cy="640080"/>
          </a:xfrm>
          <a:prstGeom prst="ellipse">
            <a:avLst/>
          </a:prstGeom>
          <a:solidFill>
            <a:srgbClr val="1F3A5F"/>
          </a:solidFill>
          <a:ln w="12700">
            <a:solidFill>
              <a:srgbClr val="1F3A5F"/>
            </a:solidFill>
            <a:prstDash val="solid"/>
          </a:ln>
        </p:spPr>
      </p:sp>
      <p:pic>
        <p:nvPicPr>
          <p:cNvPr id="11" name="FaCubes icon" descr="preencoded.png">    </p:cNvPr>
          <p:cNvPicPr>
            <a:picLocks noChangeAspect="1"/>
          </p:cNvPicPr>
          <p:nvPr/>
        </p:nvPicPr>
        <p:blipFill>
          <a:blip r:embed="rId3"/>
          <a:stretch>
            <a:fillRect/>
          </a:stretch>
        </p:blipFill>
        <p:spPr>
          <a:xfrm>
            <a:off x="708660" y="3854196"/>
            <a:ext cx="320040" cy="320040"/>
          </a:xfrm>
          <a:prstGeom prst="rect">
            <a:avLst/>
          </a:prstGeom>
        </p:spPr>
      </p:pic>
      <p:sp>
        <p:nvSpPr>
          <p:cNvPr id="12" name="Text 7"/>
          <p:cNvSpPr txBox="1"/>
          <p:nvPr/>
        </p:nvSpPr>
        <p:spPr>
          <a:xfrm>
            <a:off x="1371600" y="3694176"/>
            <a:ext cx="4754880" cy="640080"/>
          </a:xfrm>
          <a:prstGeom prst="rect">
            <a:avLst/>
          </a:prstGeom>
          <a:noFill/>
          <a:ln/>
        </p:spPr>
        <p:txBody>
          <a:bodyPr wrap="square" lIns="0" tIns="0" rIns="0" bIns="0" rtlCol="0" anchor="ctr"/>
          <a:lstStyle/>
          <a:p>
            <a:pPr indent="0" marL="0">
              <a:buNone/>
            </a:pPr>
            <a:r>
              <a:rPr lang="en-US" sz="1900" dirty="0">
                <a:solidFill>
                  <a:schemeClr val="tx1"/>
                </a:solidFill>
              </a:rPr>
              <a:t>Karar mantığından ayrık gölge benzetim veya sayısal ikiz</a:t>
            </a:r>
            <a:endParaRPr lang="en-US" sz="1900" dirty="0"/>
          </a:p>
        </p:txBody>
      </p:sp>
      <p:sp>
        <p:nvSpPr>
          <p:cNvPr id="13" name="FaCalculator circle"/>
          <p:cNvSpPr/>
          <p:nvPr/>
        </p:nvSpPr>
        <p:spPr>
          <a:xfrm>
            <a:off x="548640" y="4535424"/>
            <a:ext cx="640080" cy="640080"/>
          </a:xfrm>
          <a:prstGeom prst="ellipse">
            <a:avLst/>
          </a:prstGeom>
          <a:solidFill>
            <a:srgbClr val="1F3A5F"/>
          </a:solidFill>
          <a:ln w="12700">
            <a:solidFill>
              <a:srgbClr val="1F3A5F"/>
            </a:solidFill>
            <a:prstDash val="solid"/>
          </a:ln>
        </p:spPr>
      </p:sp>
      <p:pic>
        <p:nvPicPr>
          <p:cNvPr id="14" name="FaCalculator icon" descr="preencoded.png">    </p:cNvPr>
          <p:cNvPicPr>
            <a:picLocks noChangeAspect="1"/>
          </p:cNvPicPr>
          <p:nvPr/>
        </p:nvPicPr>
        <p:blipFill>
          <a:blip r:embed="rId4"/>
          <a:stretch>
            <a:fillRect/>
          </a:stretch>
        </p:blipFill>
        <p:spPr>
          <a:xfrm>
            <a:off x="708660" y="4695444"/>
            <a:ext cx="320040" cy="320040"/>
          </a:xfrm>
          <a:prstGeom prst="rect">
            <a:avLst/>
          </a:prstGeom>
        </p:spPr>
      </p:pic>
      <p:sp>
        <p:nvSpPr>
          <p:cNvPr id="15" name="Text 9"/>
          <p:cNvSpPr txBox="1"/>
          <p:nvPr/>
        </p:nvSpPr>
        <p:spPr>
          <a:xfrm>
            <a:off x="1371600" y="4535424"/>
            <a:ext cx="4754880" cy="640080"/>
          </a:xfrm>
          <a:prstGeom prst="rect">
            <a:avLst/>
          </a:prstGeom>
          <a:noFill/>
          <a:ln/>
        </p:spPr>
        <p:txBody>
          <a:bodyPr wrap="square" lIns="0" tIns="0" rIns="0" bIns="0" rtlCol="0" anchor="ctr"/>
          <a:lstStyle/>
          <a:p>
            <a:pPr indent="0" marL="0">
              <a:buNone/>
            </a:pPr>
            <a:r>
              <a:rPr lang="en-US" sz="1900" dirty="0">
                <a:solidFill>
                  <a:schemeClr val="tx1"/>
                </a:solidFill>
              </a:rPr>
              <a:t>Sayısal bir maliyet ölçüsü</a:t>
            </a:r>
            <a:endParaRPr lang="en-US" sz="1900" dirty="0"/>
          </a:p>
        </p:txBody>
      </p:sp>
      <p:sp>
        <p:nvSpPr>
          <p:cNvPr id="16" name="Text 10"/>
          <p:cNvSpPr txBox="1"/>
          <p:nvPr/>
        </p:nvSpPr>
        <p:spPr>
          <a:xfrm>
            <a:off x="548640" y="5440680"/>
            <a:ext cx="5760720" cy="822960"/>
          </a:xfrm>
          <a:prstGeom prst="rect">
            <a:avLst/>
          </a:prstGeom>
          <a:noFill/>
          <a:ln/>
        </p:spPr>
        <p:txBody>
          <a:bodyPr wrap="square" lIns="0" tIns="0" rIns="0" bIns="0" rtlCol="0" anchor="t"/>
          <a:lstStyle/>
          <a:p>
            <a:pPr indent="0" marL="0">
              <a:buNone/>
            </a:pPr>
            <a:r>
              <a:rPr lang="en-US" sz="1500" i="1" dirty="0">
                <a:solidFill>
                  <a:schemeClr val="accent4"/>
                </a:solidFill>
              </a:rPr>
              <a:t>Sel tahliyesi, süreç güvenliği, şebeke yeniden yapılandırması, lojistik: aynı döngü, aynı kapılar; alana özgü olan yalnızca sözlük, maliyet terimleri ve benzetim.</a:t>
            </a:r>
            <a:endParaRPr lang="en-US" sz="1500" dirty="0"/>
          </a:p>
        </p:txBody>
      </p:sp>
      <p:sp>
        <p:nvSpPr>
          <p:cNvPr id="17" name="limits card"/>
          <p:cNvSpPr/>
          <p:nvPr/>
        </p:nvSpPr>
        <p:spPr>
          <a:xfrm>
            <a:off x="6858000" y="1463040"/>
            <a:ext cx="4800600" cy="4480560"/>
          </a:xfrm>
          <a:prstGeom prst="roundRect">
            <a:avLst>
              <a:gd name="adj" fmla="val 2449"/>
            </a:avLst>
          </a:prstGeom>
          <a:solidFill>
            <a:schemeClr val="bg2"/>
          </a:solidFill>
          <a:ln w="9525">
            <a:solidFill>
              <a:schemeClr val="accent5"/>
            </a:solidFill>
            <a:prstDash val="solid"/>
          </a:ln>
          <a:effectLst>
            <a:outerShdw sx="100000" sy="100000" kx="0" ky="0" algn="bl" rotWithShape="0" blurRad="50800" dist="12700" dir="5400000">
              <a:srgbClr val="6B7A8F">
                <a:alpha val="18000"/>
              </a:srgbClr>
            </a:outerShdw>
          </a:effectLst>
        </p:spPr>
      </p:sp>
      <p:sp>
        <p:nvSpPr>
          <p:cNvPr id="18" name="Text 12"/>
          <p:cNvSpPr txBox="1"/>
          <p:nvPr/>
        </p:nvSpPr>
        <p:spPr>
          <a:xfrm>
            <a:off x="7132320" y="1691640"/>
            <a:ext cx="4206240" cy="457200"/>
          </a:xfrm>
          <a:prstGeom prst="rect">
            <a:avLst/>
          </a:prstGeom>
          <a:noFill/>
          <a:ln/>
        </p:spPr>
        <p:txBody>
          <a:bodyPr wrap="square" lIns="0" tIns="0" rIns="0" bIns="0" rtlCol="0" anchor="t"/>
          <a:lstStyle/>
          <a:p>
            <a:pPr indent="0" marL="0">
              <a:buNone/>
            </a:pPr>
            <a:r>
              <a:rPr lang="en-US" sz="2200" b="1" dirty="0">
                <a:solidFill>
                  <a:schemeClr val="accent1"/>
                </a:solidFill>
              </a:rPr>
              <a:t>İki sınır</a:t>
            </a:r>
            <a:endParaRPr lang="en-US" sz="2200" dirty="0"/>
          </a:p>
        </p:txBody>
      </p:sp>
      <p:sp>
        <p:nvSpPr>
          <p:cNvPr id="19" name="Text 13"/>
          <p:cNvSpPr txBox="1"/>
          <p:nvPr/>
        </p:nvSpPr>
        <p:spPr>
          <a:xfrm>
            <a:off x="7132320" y="2240280"/>
            <a:ext cx="4251960" cy="3566160"/>
          </a:xfrm>
          <a:prstGeom prst="rect">
            <a:avLst/>
          </a:prstGeom>
          <a:noFill/>
          <a:ln/>
        </p:spPr>
        <p:txBody>
          <a:bodyPr wrap="square" lIns="0" tIns="0" rIns="0" bIns="0" rtlCol="0" anchor="t"/>
          <a:lstStyle/>
          <a:p>
            <a:pPr indent="0" marL="0">
              <a:buNone/>
            </a:pPr>
            <a:r>
              <a:rPr lang="en-US" sz="1700" b="1" dirty="0">
                <a:solidFill>
                  <a:schemeClr val="tx2"/>
                </a:solidFill>
              </a:rPr>
              <a:t>Fiziksel etki kümesi öneriye kapalı</a:t>
            </a:r>
            <a:endParaRPr lang="en-US" sz="1700" dirty="0"/>
          </a:p>
          <a:p>
            <a:pPr indent="0" marL="0">
              <a:buNone/>
            </a:pPr>
            <a:r>
              <a:rPr lang="en-US" sz="1700" dirty="0">
                <a:solidFill>
                  <a:schemeClr val="tx1"/>
                </a:solidFill>
              </a:rPr>
              <a:t>Yeni bir etki, benzetimde doğrulanmış yeni bir alan gerektirir ve tasarımcı ekler; aksi halde benzetimin güvence işlevi kalmaz.</a:t>
            </a:r>
            <a:endParaRPr lang="en-US" sz="1700" dirty="0"/>
          </a:p>
          <a:p>
            <a:pPr indent="0" marL="0">
              <a:buNone/>
            </a:pPr>
            <a:r>
              <a:rPr lang="en-US" sz="800" dirty="0">
                <a:solidFill>
                  <a:schemeClr val="tx1"/>
                </a:solidFill>
              </a:rPr>
              <a:t> </a:t>
            </a:r>
            <a:endParaRPr lang="en-US" sz="1700" dirty="0"/>
          </a:p>
          <a:p>
            <a:pPr indent="0" marL="0">
              <a:buNone/>
            </a:pPr>
            <a:r>
              <a:rPr lang="en-US" sz="1700" b="1" dirty="0">
                <a:solidFill>
                  <a:schemeClr val="tx2"/>
                </a:solidFill>
              </a:rPr>
              <a:t>Tek tek öneriler birebir yeniden üretilemez</a:t>
            </a:r>
            <a:endParaRPr lang="en-US" sz="1700" dirty="0"/>
          </a:p>
          <a:p>
            <a:pPr indent="0" marL="0">
              <a:buNone/>
            </a:pPr>
            <a:r>
              <a:rPr lang="en-US" sz="1700" dirty="0">
                <a:solidFill>
                  <a:schemeClr val="tx1"/>
                </a:solidFill>
              </a:rPr>
              <a:t>Yeniden üretilebilir olan süreçtir: model, istem şablonu ve tohum tasarımı sabit; kabul kararlarının tamamı belirlenimci ve kayıtlı.</a:t>
            </a:r>
            <a:endParaRPr lang="en-US" sz="17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400" b="1" dirty="0">
                <a:solidFill>
                  <a:schemeClr val="bg1"/>
                </a:solidFill>
              </a:rPr>
              <a:t>Sonuç</a:t>
            </a:r>
            <a:endParaRPr lang="en-US" sz="3400" dirty="0"/>
          </a:p>
        </p:txBody>
      </p:sp>
      <p:sp>
        <p:nvSpPr>
          <p:cNvPr id="3" name="FaDoorOpen circle"/>
          <p:cNvSpPr/>
          <p:nvPr/>
        </p:nvSpPr>
        <p:spPr>
          <a:xfrm>
            <a:off x="548640" y="1554480"/>
            <a:ext cx="868680" cy="868680"/>
          </a:xfrm>
          <a:prstGeom prst="ellipse">
            <a:avLst/>
          </a:prstGeom>
          <a:solidFill>
            <a:srgbClr val="8B2635"/>
          </a:solidFill>
          <a:ln w="12700">
            <a:solidFill>
              <a:srgbClr val="8B2635"/>
            </a:solidFill>
            <a:prstDash val="solid"/>
          </a:ln>
        </p:spPr>
      </p:sp>
      <p:pic>
        <p:nvPicPr>
          <p:cNvPr id="4" name="FaDoorOpen icon" descr="preencoded.png">    </p:cNvPr>
          <p:cNvPicPr>
            <a:picLocks noChangeAspect="1"/>
          </p:cNvPicPr>
          <p:nvPr/>
        </p:nvPicPr>
        <p:blipFill>
          <a:blip r:embed="rId1"/>
          <a:stretch>
            <a:fillRect/>
          </a:stretch>
        </p:blipFill>
        <p:spPr>
          <a:xfrm>
            <a:off x="765810" y="1771650"/>
            <a:ext cx="434340" cy="434340"/>
          </a:xfrm>
          <a:prstGeom prst="rect">
            <a:avLst/>
          </a:prstGeom>
        </p:spPr>
      </p:pic>
      <p:sp>
        <p:nvSpPr>
          <p:cNvPr id="5" name="Text 2"/>
          <p:cNvSpPr txBox="1"/>
          <p:nvPr/>
        </p:nvSpPr>
        <p:spPr>
          <a:xfrm>
            <a:off x="548640" y="2606040"/>
            <a:ext cx="3429000" cy="548640"/>
          </a:xfrm>
          <a:prstGeom prst="rect">
            <a:avLst/>
          </a:prstGeom>
          <a:noFill/>
          <a:ln/>
        </p:spPr>
        <p:txBody>
          <a:bodyPr wrap="square" lIns="0" tIns="0" rIns="0" bIns="0" rtlCol="0" anchor="t"/>
          <a:lstStyle/>
          <a:p>
            <a:pPr indent="0" marL="0">
              <a:buNone/>
            </a:pPr>
            <a:r>
              <a:rPr lang="en-US" sz="2400" b="1" dirty="0">
                <a:solidFill>
                  <a:schemeClr val="bg1"/>
                </a:solidFill>
              </a:rPr>
              <a:t>Karar uzayı açılır</a:t>
            </a:r>
            <a:endParaRPr lang="en-US" sz="2400" dirty="0"/>
          </a:p>
        </p:txBody>
      </p:sp>
      <p:sp>
        <p:nvSpPr>
          <p:cNvPr id="6" name="Text 3"/>
          <p:cNvSpPr txBox="1"/>
          <p:nvPr/>
        </p:nvSpPr>
        <p:spPr>
          <a:xfrm>
            <a:off x="548640" y="3200400"/>
            <a:ext cx="3429000" cy="2011680"/>
          </a:xfrm>
          <a:prstGeom prst="rect">
            <a:avLst/>
          </a:prstGeom>
          <a:noFill/>
          <a:ln/>
        </p:spPr>
        <p:txBody>
          <a:bodyPr wrap="square" lIns="0" tIns="0" rIns="0" bIns="0" rtlCol="0" anchor="t"/>
          <a:lstStyle/>
          <a:p>
            <a:pPr indent="0" marL="0">
              <a:buNone/>
            </a:pPr>
            <a:r>
              <a:rPr lang="en-US" sz="1700" dirty="0">
                <a:solidFill>
                  <a:schemeClr val="accent5"/>
                </a:solidFill>
              </a:rPr>
              <a:t>Parametre ayarı ve çözünürlük büyütme mevcut bilgiyi esnetir; şema kısıtlı LLM yeni kural, kavram ve bileşik müdahale ekler.</a:t>
            </a:r>
            <a:endParaRPr lang="en-US" sz="1700" dirty="0"/>
          </a:p>
        </p:txBody>
      </p:sp>
      <p:sp>
        <p:nvSpPr>
          <p:cNvPr id="7" name="FaShieldAlt circle"/>
          <p:cNvSpPr/>
          <p:nvPr/>
        </p:nvSpPr>
        <p:spPr>
          <a:xfrm>
            <a:off x="4297680" y="1554480"/>
            <a:ext cx="868680" cy="868680"/>
          </a:xfrm>
          <a:prstGeom prst="ellipse">
            <a:avLst/>
          </a:prstGeom>
          <a:solidFill>
            <a:srgbClr val="8B2635"/>
          </a:solidFill>
          <a:ln w="12700">
            <a:solidFill>
              <a:srgbClr val="8B2635"/>
            </a:solidFill>
            <a:prstDash val="solid"/>
          </a:ln>
        </p:spPr>
      </p:sp>
      <p:pic>
        <p:nvPicPr>
          <p:cNvPr id="8" name="FaShieldAlt icon" descr="preencoded.png">    </p:cNvPr>
          <p:cNvPicPr>
            <a:picLocks noChangeAspect="1"/>
          </p:cNvPicPr>
          <p:nvPr/>
        </p:nvPicPr>
        <p:blipFill>
          <a:blip r:embed="rId2"/>
          <a:stretch>
            <a:fillRect/>
          </a:stretch>
        </p:blipFill>
        <p:spPr>
          <a:xfrm>
            <a:off x="4514850" y="1771650"/>
            <a:ext cx="434340" cy="434340"/>
          </a:xfrm>
          <a:prstGeom prst="rect">
            <a:avLst/>
          </a:prstGeom>
        </p:spPr>
      </p:pic>
      <p:sp>
        <p:nvSpPr>
          <p:cNvPr id="9" name="Text 5"/>
          <p:cNvSpPr txBox="1"/>
          <p:nvPr/>
        </p:nvSpPr>
        <p:spPr>
          <a:xfrm>
            <a:off x="4297680" y="2606040"/>
            <a:ext cx="3429000" cy="548640"/>
          </a:xfrm>
          <a:prstGeom prst="rect">
            <a:avLst/>
          </a:prstGeom>
          <a:noFill/>
          <a:ln/>
        </p:spPr>
        <p:txBody>
          <a:bodyPr wrap="square" lIns="0" tIns="0" rIns="0" bIns="0" rtlCol="0" anchor="t"/>
          <a:lstStyle/>
          <a:p>
            <a:pPr indent="0" marL="0">
              <a:buNone/>
            </a:pPr>
            <a:r>
              <a:rPr lang="en-US" sz="2400" b="1" dirty="0">
                <a:solidFill>
                  <a:schemeClr val="bg1"/>
                </a:solidFill>
              </a:rPr>
              <a:t>Güven doğrulamadan gelir</a:t>
            </a:r>
            <a:endParaRPr lang="en-US" sz="2400" dirty="0"/>
          </a:p>
        </p:txBody>
      </p:sp>
      <p:sp>
        <p:nvSpPr>
          <p:cNvPr id="10" name="Text 6"/>
          <p:cNvSpPr txBox="1"/>
          <p:nvPr/>
        </p:nvSpPr>
        <p:spPr>
          <a:xfrm>
            <a:off x="4297680" y="3200400"/>
            <a:ext cx="3429000" cy="2011680"/>
          </a:xfrm>
          <a:prstGeom prst="rect">
            <a:avLst/>
          </a:prstGeom>
          <a:noFill/>
          <a:ln/>
        </p:spPr>
        <p:txBody>
          <a:bodyPr wrap="square" lIns="0" tIns="0" rIns="0" bIns="0" rtlCol="0" anchor="t"/>
          <a:lstStyle/>
          <a:p>
            <a:pPr indent="0" marL="0">
              <a:buNone/>
            </a:pPr>
            <a:r>
              <a:rPr lang="en-US" sz="1700" dirty="0">
                <a:solidFill>
                  <a:schemeClr val="accent5"/>
                </a:solidFill>
              </a:rPr>
              <a:t>Belirlenimci kapı dizisi, çift tohumlu benzetim denetimi ve yeterlilik temelli kabul; model eğitimi değil.</a:t>
            </a:r>
            <a:endParaRPr lang="en-US" sz="1700" dirty="0"/>
          </a:p>
        </p:txBody>
      </p:sp>
      <p:sp>
        <p:nvSpPr>
          <p:cNvPr id="11" name="FaChartLine circle"/>
          <p:cNvSpPr/>
          <p:nvPr/>
        </p:nvSpPr>
        <p:spPr>
          <a:xfrm>
            <a:off x="8046720" y="1554480"/>
            <a:ext cx="868680" cy="868680"/>
          </a:xfrm>
          <a:prstGeom prst="ellipse">
            <a:avLst/>
          </a:prstGeom>
          <a:solidFill>
            <a:srgbClr val="8B2635"/>
          </a:solidFill>
          <a:ln w="12700">
            <a:solidFill>
              <a:srgbClr val="8B2635"/>
            </a:solidFill>
            <a:prstDash val="solid"/>
          </a:ln>
        </p:spPr>
      </p:sp>
      <p:pic>
        <p:nvPicPr>
          <p:cNvPr id="12" name="FaChartLine icon" descr="preencoded.png">    </p:cNvPr>
          <p:cNvPicPr>
            <a:picLocks noChangeAspect="1"/>
          </p:cNvPicPr>
          <p:nvPr/>
        </p:nvPicPr>
        <p:blipFill>
          <a:blip r:embed="rId3"/>
          <a:stretch>
            <a:fillRect/>
          </a:stretch>
        </p:blipFill>
        <p:spPr>
          <a:xfrm>
            <a:off x="8263890" y="1771650"/>
            <a:ext cx="434340" cy="434340"/>
          </a:xfrm>
          <a:prstGeom prst="rect">
            <a:avLst/>
          </a:prstGeom>
        </p:spPr>
      </p:pic>
      <p:sp>
        <p:nvSpPr>
          <p:cNvPr id="13" name="Text 8"/>
          <p:cNvSpPr txBox="1"/>
          <p:nvPr/>
        </p:nvSpPr>
        <p:spPr>
          <a:xfrm>
            <a:off x="8046720" y="2606040"/>
            <a:ext cx="3429000" cy="548640"/>
          </a:xfrm>
          <a:prstGeom prst="rect">
            <a:avLst/>
          </a:prstGeom>
          <a:noFill/>
          <a:ln/>
        </p:spPr>
        <p:txBody>
          <a:bodyPr wrap="square" lIns="0" tIns="0" rIns="0" bIns="0" rtlCol="0" anchor="t"/>
          <a:lstStyle/>
          <a:p>
            <a:pPr indent="0" marL="0">
              <a:buNone/>
            </a:pPr>
            <a:r>
              <a:rPr lang="en-US" sz="2400" b="1" dirty="0">
                <a:solidFill>
                  <a:schemeClr val="bg1"/>
                </a:solidFill>
              </a:rPr>
              <a:t>Seçici ve etkili</a:t>
            </a:r>
            <a:endParaRPr lang="en-US" sz="2400" dirty="0"/>
          </a:p>
        </p:txBody>
      </p:sp>
      <p:sp>
        <p:nvSpPr>
          <p:cNvPr id="14" name="Text 9"/>
          <p:cNvSpPr txBox="1"/>
          <p:nvPr/>
        </p:nvSpPr>
        <p:spPr>
          <a:xfrm>
            <a:off x="8046720" y="3200400"/>
            <a:ext cx="3429000" cy="2011680"/>
          </a:xfrm>
          <a:prstGeom prst="rect">
            <a:avLst/>
          </a:prstGeom>
          <a:noFill/>
          <a:ln/>
        </p:spPr>
        <p:txBody>
          <a:bodyPr wrap="square" lIns="0" tIns="0" rIns="0" bIns="0" rtlCol="0" anchor="t"/>
          <a:lstStyle/>
          <a:p>
            <a:pPr indent="0" marL="0">
              <a:buNone/>
            </a:pPr>
            <a:r>
              <a:rPr lang="en-US" sz="1700" dirty="0">
                <a:solidFill>
                  <a:schemeClr val="accent5"/>
                </a:solidFill>
              </a:rPr>
              <a:t>%22-43 kabul; söndürülen yangın oranı %13'ten %75'e, yanan alan statik tabana göre %44 az, 150 eşleştirilmiş dünyanın 131'inde.</a:t>
            </a:r>
            <a:endParaRPr lang="en-US" sz="1700" dirty="0"/>
          </a:p>
        </p:txBody>
      </p:sp>
      <p:sp>
        <p:nvSpPr>
          <p:cNvPr id="15" name="Text 10"/>
          <p:cNvSpPr txBox="1"/>
          <p:nvPr/>
        </p:nvSpPr>
        <p:spPr>
          <a:xfrm>
            <a:off x="548640" y="5440680"/>
            <a:ext cx="11064240" cy="548640"/>
          </a:xfrm>
          <a:prstGeom prst="rect">
            <a:avLst/>
          </a:prstGeom>
          <a:noFill/>
          <a:ln/>
        </p:spPr>
        <p:txBody>
          <a:bodyPr wrap="square" lIns="0" tIns="0" rIns="0" bIns="0" rtlCol="0" anchor="t"/>
          <a:lstStyle/>
          <a:p>
            <a:pPr indent="0" marL="0">
              <a:buNone/>
            </a:pPr>
            <a:r>
              <a:rPr lang="en-US" sz="1700" i="1" dirty="0">
                <a:solidFill>
                  <a:schemeClr val="accent3"/>
                </a:solidFill>
              </a:rPr>
              <a:t>Gelecek çalışma: farklı afet türleri ve endüstriyel KDS'lere aktarım; operatör güveninin saha çalışmalarıyla ölçülmesi.</a:t>
            </a:r>
            <a:endParaRPr lang="en-US" sz="1700" dirty="0"/>
          </a:p>
        </p:txBody>
      </p:sp>
      <p:sp>
        <p:nvSpPr>
          <p:cNvPr id="16" name="Text 11"/>
          <p:cNvSpPr txBox="1"/>
          <p:nvPr/>
        </p:nvSpPr>
        <p:spPr>
          <a:xfrm>
            <a:off x="548640" y="5943600"/>
            <a:ext cx="11064240" cy="411480"/>
          </a:xfrm>
          <a:prstGeom prst="rect">
            <a:avLst/>
          </a:prstGeom>
          <a:noFill/>
          <a:ln/>
        </p:spPr>
        <p:txBody>
          <a:bodyPr wrap="square" lIns="0" tIns="0" rIns="0" bIns="0" rtlCol="0" anchor="t"/>
          <a:lstStyle/>
          <a:p>
            <a:pPr indent="0" marL="0">
              <a:buNone/>
            </a:pPr>
            <a:r>
              <a:rPr lang="en-US" sz="1700" dirty="0">
                <a:solidFill>
                  <a:schemeClr val="bg1"/>
                </a:solidFill>
              </a:rPr>
              <a:t>Teşekkürler. caglar.akman@metu.edu.tr</a:t>
            </a:r>
            <a:endParaRPr lang="en-US" sz="1700" dirty="0"/>
          </a:p>
        </p:txBody>
      </p:sp>
      <p:sp>
        <p:nvSpPr>
          <p:cNvPr id="25" name="Slide Number Placeholder 0"/>
          <p:cNvSpPr>
            <a:spLocks noGrp="1"/>
          </p:cNvSpPr>
          <p:nvPr>
            <p:ph type="sldNum" sz="quarter" idx="4294967295"/>
          </p:nvPr>
        </p:nvSpPr>
        <p:spPr>
          <a:xfrm>
            <a:off x="10908792" y="6400800"/>
            <a:ext cx="73152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OK Akademik">
  <a:themeElements>
    <a:clrScheme name="TOK Akademik">
      <a:dk1>
        <a:srgbClr val="1C2430"/>
      </a:dk1>
      <a:lt1>
        <a:srgbClr val="FFFFFF"/>
      </a:lt1>
      <a:dk2>
        <a:srgbClr val="1F3A5F"/>
      </a:dk2>
      <a:lt2>
        <a:srgbClr val="EEF1F5"/>
      </a:lt2>
      <a:accent1>
        <a:srgbClr val="8B2635"/>
      </a:accent1>
      <a:accent2>
        <a:srgbClr val="3C6E9F"/>
      </a:accent2>
      <a:accent3>
        <a:srgbClr val="C9A227"/>
      </a:accent3>
      <a:accent4>
        <a:srgbClr val="6B7A8F"/>
      </a:accent4>
      <a:accent5>
        <a:srgbClr val="D7DEE8"/>
      </a:accent5>
      <a:accent6>
        <a:srgbClr val="2E7D5B"/>
      </a:accent6>
      <a:hlink>
        <a:srgbClr val="3C6E9F"/>
      </a:hlink>
      <a:folHlink>
        <a:srgbClr val="6B7A8F"/>
      </a:folHlink>
    </a:clrScheme>
    <a:fontScheme name="TOK Akademi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Kural tabanlı karar destek sistemlerinde açık karar uzayı</dc:title>
  <dc:subject>PptxGenJS Presentation</dc:subject>
  <dc:creator>Çağlar Akman</dc:creator>
  <cp:lastModifiedBy>Çağlar Akman</cp:lastModifiedBy>
  <cp:revision>1</cp:revision>
  <dcterms:created xsi:type="dcterms:W3CDTF">2026-10-06T19:05:07Z</dcterms:created>
  <dcterms:modified xsi:type="dcterms:W3CDTF">2026-10-06T19:05:07Z</dcterms:modified>
</cp:coreProperties>
</file>