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7375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3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THESIS DEFENSE — SUMMARY VERSION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77724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DisasterAware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Decision Support System for Wildfire Disaster Response and Management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Çağlar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Akman</a:t>
            </a:r>
            <a:endParaRPr lang="tr-TR" sz="1600" b="1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Mehmet Kemal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Leblebicioğlu</a:t>
            </a:r>
            <a:endParaRPr lang="tr-TR" sz="13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Technical University · Electrical and Electronics Engineering</a:t>
            </a:r>
            <a:endParaRPr lang="tr-TR" sz="1300">
              <a:solidFill>
                <a:srgbClr val="6E6E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tr-TR" sz="1300" dirty="0">
              <a:solidFill>
                <a:srgbClr val="6E6E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318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where tactics live, closed where physics rules.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CLAIMS → ANSWERS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Gaps, Three Hypotheses, Three Contributions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371600"/>
            <a:ext cx="11247120" cy="1481328"/>
          </a:xfrm>
          <a:prstGeom prst="roundRect">
            <a:avLst>
              <a:gd name="adj" fmla="val 3086"/>
            </a:avLst>
          </a:prstGeom>
          <a:solidFill>
            <a:srgbClr val="F2F2F2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18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1645920" y="1517904"/>
            <a:ext cx="9921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decision spaces in centralized architectures
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/ C1 — the open decision space: a hierarchically distributed, concept-abstracted layer that generates adaptive interventions over an open space, at a latency compatible with the cycle.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2971800"/>
            <a:ext cx="11247120" cy="1481328"/>
          </a:xfrm>
          <a:prstGeom prst="roundRect">
            <a:avLst>
              <a:gd name="adj" fmla="val 3086"/>
            </a:avLst>
          </a:prstGeom>
          <a:solidFill>
            <a:srgbClr val="F2F2F2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3429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18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645920" y="3118104"/>
            <a:ext cx="9921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Unrepresented epistemic uncertainty; limited explainability
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/ C2 — built-in explanation: confidence-gated reasoning whose every order traces to its concepts, rules, and per-feature confidence — no post-hoc attribution.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4572000"/>
            <a:ext cx="11247120" cy="1481328"/>
          </a:xfrm>
          <a:prstGeom prst="roundRect">
            <a:avLst>
              <a:gd name="adj" fmla="val 3086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5029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18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1645920" y="4718304"/>
            <a:ext cx="9921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Simulation–decision coupling without an end-to-end workflow
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/ C3 — end-to-end over separated cores: an independently validated simulator and a decision core that fields only gate-passing orders, ignition to containment.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of this summary serves one of these three lines; the full deck carries the derivations and the complete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Cores, One Typed Boundary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pic>
        <p:nvPicPr>
          <p:cNvPr id="7" name="Image 2" descr="/tmp/thx/deck/figs/Figure3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10" y="1371600"/>
            <a:ext cx="5796100" cy="4937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03720" y="1463040"/>
            <a:ext cx="48463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core advances the physical state; the decision core reads it only through the observation model and acts on it only through the intervention field.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payload: intensities over six intervention families, compiled from orders. Upward payload: observations with confidence, plus the coordination summary (priority, resource request, confidence).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rule, concept, or confidence ever crosses the boundary — which is what lets each core be validated on its own.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coordinator ranks regions and shares the pool; it performs no inference and never rewrites a local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Per-Cell State, One Transition Operator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371600"/>
            <a:ext cx="11247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state variables per cell — burning status, fuel mass, intensity proxy, time since ignition — advanced by one operator, once per step, deterministic given the seed: identical worlds replay under different decision configurations.</a:t>
            </a:r>
            <a:endParaRPr lang="en-US" sz="13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status: deterministic persistence ⊕ stochastic wind-anisotropic propagation ⊕ ignition injection. The spread rate is a Rothermel-like semi-empirical mapping — base rate by fuel type × moisture damping × tanh-saturated wind × slope × aspect–wind alignment (Rothermel, 1972; full formulation in Appendix A).</a:t>
            </a:r>
            <a:endParaRPr lang="en-US" sz="13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mass: combustion depletion minus suppression-driven reduction — the only channel through which orders touch the physics.</a:t>
            </a:r>
            <a:endParaRPr lang="en-US" sz="13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 bounded tanh combination of fuel, wind, slope. Ignition time: bookkeeping for persistence and extinction.</a:t>
            </a:r>
            <a:endParaRPr lang="en-US" sz="13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cellular rather than vector-front: locality of interventions, exact replay, and per-cell observation with confidence — a controllable surface that perimeter models do not expose.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5394960"/>
            <a:ext cx="11247120" cy="1097280"/>
          </a:xfrm>
          <a:prstGeom prst="roundRect">
            <a:avLst>
              <a:gd name="adj" fmla="val 4167"/>
            </a:avLst>
          </a:prstGeom>
          <a:solidFill>
            <a:srgbClr val="FDE8EB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5532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honest by design: 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cells-per-step with a metric reading (1 cell/step = 3 m/min at 90 m / 30 min), calibrated to benchmark head-fire rates per fuel class; a proxy faithful enough to price decisions, not a contribution to fire science.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Four Layers, One Loop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pic>
        <p:nvPicPr>
          <p:cNvPr id="7" name="Image 2" descr="/tmp/thx/deck/figs/Figure4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746" y="1371600"/>
            <a:ext cx="2938828" cy="49377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903720" y="1417320"/>
            <a:ext cx="4846320" cy="1143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9" name="Text 4"/>
          <p:cNvSpPr/>
          <p:nvPr/>
        </p:nvSpPr>
        <p:spPr>
          <a:xfrm>
            <a:off x="7132320" y="1508760"/>
            <a:ext cx="4434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Input space —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observation features from heterogeneous sensing, each with physical provenance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6903720" y="2651760"/>
            <a:ext cx="4846320" cy="1143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1" name="Text 6"/>
          <p:cNvSpPr/>
          <p:nvPr/>
        </p:nvSpPr>
        <p:spPr>
          <a:xfrm>
            <a:off x="7132320" y="2743200"/>
            <a:ext cx="4434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Perception —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estimates: bounded per-channel errors, and a confidence from coverage, freshness, channel quality, agreement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903720" y="3886200"/>
            <a:ext cx="4846320" cy="1143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8"/>
          <p:cNvSpPr/>
          <p:nvPr/>
        </p:nvSpPr>
        <p:spPr>
          <a:xfrm>
            <a:off x="7132320" y="3977640"/>
            <a:ext cx="4434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Concept space —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decision concepts compress the features; a closed catalog would need 3 125 rules — the hierarchy makes five seeds sufficient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903720" y="5120640"/>
            <a:ext cx="4846320" cy="1143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5" name="Text 10"/>
          <p:cNvSpPr/>
          <p:nvPr/>
        </p:nvSpPr>
        <p:spPr>
          <a:xfrm>
            <a:off x="7132320" y="5212080"/>
            <a:ext cx="4434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Decision space —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sparse zero-order Takagi–Sugeno rule base decides; cost and quality tests price and admit; adaptation grows the doctrine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2 &amp; 3 : THE ESSENCE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In, Language Out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carries its confidence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4"/>
              <p:cNvSpPr/>
              <p:nvPr/>
            </p:nvSpPr>
            <p:spPr>
              <a:xfrm>
                <a:off x="502920" y="1627632"/>
                <a:ext cx="5486400" cy="2926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152400" indent="-152400">
                  <a:lnSpc>
                    <a:spcPct val="104000"/>
                  </a:lnSpc>
                  <a:spcAft>
                    <a:spcPts val="600"/>
                  </a:spcAft>
                  <a:buSzPct val="100000"/>
                  <a:buChar char="•"/>
                </a:pPr>
                <a:r>
                  <a:rPr lang="en-US" sz="125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Per-channel maximum errors from the implementation: in-situ 0.02, UAV 0.03, satellite 0.05, camera 0.06, field 0.10, public 0.20; bounded (not Gaussian) noise; freshness half-life 90 min.</a:t>
                </a:r>
                <a:endParaRPr lang="en-US" sz="1250" dirty="0"/>
              </a:p>
              <a:p>
                <a:pPr marL="152400" indent="-152400">
                  <a:lnSpc>
                    <a:spcPct val="104000"/>
                  </a:lnSpc>
                  <a:spcAft>
                    <a:spcPts val="600"/>
                  </a:spcAft>
                  <a:buSzPct val="100000"/>
                  <a:buChar char="•"/>
                </a:pPr>
                <a:r>
                  <a:rPr lang="en-US" sz="125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Confidence γ = the minimum of four factors; it gates what a concept may claim.</a:t>
                </a:r>
                <a:endParaRPr lang="en-US" sz="1250" dirty="0"/>
              </a:p>
              <a:p>
                <a:pPr marL="152400" indent="-152400">
                  <a:lnSpc>
                    <a:spcPct val="104000"/>
                  </a:lnSpc>
                  <a:spcAft>
                    <a:spcPts val="600"/>
                  </a:spcAft>
                  <a:buSzPct val="100000"/>
                  <a:buChar char="•"/>
                </a:pPr>
                <a:r>
                  <a:rPr lang="en-US" sz="1250" b="1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Gated activation decays toward a persistence prior (</a:t>
                </a:r>
                <a14:m>
                  <m:oMath xmlns:m="http://schemas.openxmlformats.org/officeDocument/2006/math">
                    <m:r>
                      <a:rPr lang="en-US" sz="1250">
                        <a:latin typeface="Cambria Math"/>
                      </a:rPr>
                      <m:t>𝜌</m:t>
                    </m:r>
                    <m:r>
                      <a:rPr lang="en-US" sz="1250">
                        <a:latin typeface="Cambria Math"/>
                      </a:rPr>
                      <m:t> = 0.90</m:t>
                    </m:r>
                  </m:oMath>
                </a14:m>
                <a:r>
                  <a:rPr lang="en-US" sz="1250" b="1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instead of jumping on weak evidence: low confidence slows belief, never fabricates it.</a:t>
                </a:r>
                <a:endParaRPr lang="en-US" sz="1250" dirty="0"/>
              </a:p>
            </p:txBody>
          </p:sp>
        </mc:Choice>
        <mc:Fallback>
          <p:sp>
            <p:nvSpPr>
              <p:cNvPr id="8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627632"/>
                <a:ext cx="5486400" cy="2926080"/>
              </a:xfrm>
              <a:prstGeom prst="rect">
                <a:avLst/>
              </a:prstGeom>
              <a:blipFill>
                <a:blip r:embed="rId5"/>
                <a:stretch>
                  <a:fillRect l="-1889" t="-1875" r="-333"/>
                </a:stretch>
              </a:blipFill>
              <a:ln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5"/>
          <p:cNvSpPr/>
          <p:nvPr/>
        </p:nvSpPr>
        <p:spPr>
          <a:xfrm>
            <a:off x="6446520" y="12801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kill the rule explosion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46520" y="1627632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features → five decision concepts in a weighted hierarchy (every weight stated in Appendix D): fire threat level, asset exposure risk, suppression feasibility, intervention urgency, evacuation pressure.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concepts are the questions a commander asks — and the language every rule is written in.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Zero-order Takagi–Sugeno over one shared five-term partition: singleton consequents, weighted-average defuzzification — auditable, cheap, directly numeric.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4709160"/>
            <a:ext cx="11247120" cy="1783080"/>
          </a:xfrm>
          <a:prstGeom prst="roundRect">
            <a:avLst>
              <a:gd name="adj" fmla="val 2564"/>
            </a:avLst>
          </a:prstGeom>
          <a:solidFill>
            <a:srgbClr val="FDE8EB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4864608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H2: 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of any order reads directly — sensors (with confidence) → gated concepts → fired rules → intensities. Explanation is the data path itself, not an attribution method applied afterwards. Under degraded observation (scenario S5) this machinery is priced: the system loses 10% and remains the best configuration tested.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: THE ESSENCE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Decide, Price, Test — and Fail Safely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371600"/>
            <a:ext cx="11247120" cy="1572768"/>
          </a:xfrm>
          <a:prstGeom prst="roundRect">
            <a:avLst>
              <a:gd name="adj" fmla="val 2907"/>
            </a:avLst>
          </a:prstGeom>
          <a:solidFill>
            <a:srgbClr val="F2F2F2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1499616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cost J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in [0, 1] pricing the forecast end state on the shadow copy: burned area, asset loss, population exposure, response effort, delay — weights 0.29 / 0.29 / 0.29 / 0.06 / 0.06. Physical part for trials and comparisons; total for acceptance.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3063240"/>
            <a:ext cx="11247120" cy="1572768"/>
          </a:xfrm>
          <a:prstGeom prst="roundRect">
            <a:avLst>
              <a:gd name="adj" fmla="val 2907"/>
            </a:avLst>
          </a:prstGeom>
          <a:solidFill>
            <a:srgbClr val="F2F2F2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6"/>
              <p:cNvSpPr/>
              <p:nvPr/>
            </p:nvSpPr>
            <p:spPr>
              <a:xfrm>
                <a:off x="777240" y="3191256"/>
                <a:ext cx="10698480" cy="1371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ct val="104000"/>
                  </a:lnSpc>
                  <a:buNone/>
                </a:pPr>
                <a:r>
                  <a:rPr lang="en-US" sz="1300" b="1" dirty="0">
                    <a:solidFill>
                      <a:srgbClr val="E3183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satisficing cost test — </a:t>
                </a:r>
                <a:r>
                  <a:rPr lang="en-US" sz="125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accept the standing orders when the forecast beats the tighter of a fixed ceiling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en-US" sz="1250">
                            <a:latin typeface="Cambria Math"/>
                          </a:rPr>
                          <m:t>𝑇𝐻</m:t>
                        </m:r>
                      </m:sub>
                    </m:sSub>
                    <m:r>
                      <a:rPr lang="en-US" sz="1250">
                        <a:latin typeface="Cambria Math"/>
                      </a:rPr>
                      <m:t> = 0.35</m:t>
                    </m:r>
                  </m:oMath>
                </a14:m>
                <a:r>
                  <a:rPr lang="en-US" sz="125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and a 5% margin over the no-action shadow run. A failure summons exactly one adaptation stage this cycle.</a:t>
                </a:r>
                <a:endParaRPr lang="en-US" sz="1300" dirty="0"/>
              </a:p>
            </p:txBody>
          </p:sp>
        </mc:Choice>
        <mc:Fallback>
          <p:sp>
            <p:nvSpPr>
              <p:cNvPr id="10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3191256"/>
                <a:ext cx="10698480" cy="1371600"/>
              </a:xfrm>
              <a:prstGeom prst="rect">
                <a:avLst/>
              </a:prstGeom>
              <a:blipFill>
                <a:blip r:embed="rId5"/>
                <a:stretch>
                  <a:fillRect l="-969" r="-798"/>
                </a:stretch>
              </a:blipFill>
              <a:ln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7"/>
          <p:cNvSpPr/>
          <p:nvPr/>
        </p:nvSpPr>
        <p:spPr>
          <a:xfrm>
            <a:off x="502920" y="4754880"/>
            <a:ext cx="11247120" cy="1572768"/>
          </a:xfrm>
          <a:prstGeom prst="roundRect">
            <a:avLst>
              <a:gd name="adj" fmla="val 2907"/>
            </a:avLst>
          </a:prstGeom>
          <a:solidFill>
            <a:srgbClr val="FDE8EB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8"/>
              <p:cNvSpPr/>
              <p:nvPr/>
            </p:nvSpPr>
            <p:spPr>
              <a:xfrm>
                <a:off x="777240" y="4882896"/>
                <a:ext cx="10698480" cy="1371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ct val="104000"/>
                  </a:lnSpc>
                  <a:buNone/>
                </a:pPr>
                <a:r>
                  <a:rPr lang="en-US" sz="1300" b="1" dirty="0">
                    <a:solidFill>
                      <a:srgbClr val="E3183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quality test and the graduated fail-safe — </a:t>
                </a:r>
                <a:r>
                  <a:rPr lang="en-US" sz="125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does the order serve its demanding concepts? Below the gate </a:t>
                </a:r>
                <a14:m>
                  <m:oMath xmlns:m="http://schemas.openxmlformats.org/officeDocument/2006/math">
                    <m:r>
                      <a:rPr lang="en-US" sz="1250">
                        <a:latin typeface="Cambria Math"/>
                      </a:rPr>
                      <m:t>𝜂</m:t>
                    </m:r>
                    <m:r>
                      <a:rPr lang="en-US" sz="1250">
                        <a:latin typeface="Cambria Math"/>
                      </a:rPr>
                      <m:t> = 0.60</m:t>
                    </m:r>
                  </m:oMath>
                </a14:m>
                <a:r>
                  <a:rPr lang="en-US" sz="125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offensive orders are scaled by </a:t>
                </a:r>
                <a14:m>
                  <m:oMath xmlns:m="http://schemas.openxmlformats.org/officeDocument/2006/math">
                    <m:r>
                      <a:rPr lang="en-US" sz="1250">
                        <a:latin typeface="Cambria Math"/>
                      </a:rPr>
                      <m:t>𝜆</m:t>
                    </m:r>
                    <m:r>
                      <a:rPr lang="en-US" sz="1250">
                        <a:latin typeface="Cambria Math"/>
                      </a:rPr>
                      <m:t> = </m:t>
                    </m:r>
                    <m:r>
                      <a:rPr lang="en-US" sz="1250">
                        <a:latin typeface="Cambria Math"/>
                      </a:rPr>
                      <m:t>𝑄</m:t>
                    </m:r>
                    <m:r>
                      <a:rPr lang="en-US" sz="1250">
                        <a:latin typeface="Cambria Math"/>
                      </a:rPr>
                      <m:t>∕</m:t>
                    </m:r>
                    <m:r>
                      <a:rPr lang="en-US" sz="1250">
                        <a:latin typeface="Cambria Math"/>
                      </a:rPr>
                      <m:t>𝜂</m:t>
                    </m:r>
                  </m:oMath>
                </a14:m>
                <a:r>
                  <a:rPr lang="en-US" sz="125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toward the watchful baseline — derate, never panic; evacuation and public warning are never reduced.</a:t>
                </a:r>
                <a:endParaRPr lang="en-US" sz="1300" dirty="0"/>
              </a:p>
            </p:txBody>
          </p:sp>
        </mc:Choice>
        <mc:Fallback>
          <p:sp>
            <p:nvSpPr>
              <p:cNvPr id="12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4882896"/>
                <a:ext cx="10698480" cy="1371600"/>
              </a:xfrm>
              <a:prstGeom prst="rect">
                <a:avLst/>
              </a:prstGeom>
              <a:blipFill>
                <a:blip r:embed="rId6"/>
                <a:stretch>
                  <a:fillRect l="-969" t="-3556"/>
                </a:stretch>
              </a:blipFill>
              <a:ln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9"/>
          <p:cNvSpPr/>
          <p:nvPr/>
        </p:nvSpPr>
        <p:spPr>
          <a:xfrm>
            <a:off x="50292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i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tests, two orthogonal failures: cost failures summon adaptation, quality deficits summon the fail-safe — each failure visible, attributable, separately repairable.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DECISION SPACE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Seed Rules, Three Adaptation Stages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doctrine starts from five rules — one per operational regime — and grows only on demand, behind forecast gates.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decides between tuning and growing; a persistent deficit escalates.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965960"/>
            <a:ext cx="11247120" cy="13716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5"/>
              <p:cNvSpPr/>
              <p:nvPr/>
            </p:nvSpPr>
            <p:spPr>
              <a:xfrm>
                <a:off x="777240" y="2075688"/>
                <a:ext cx="10698480" cy="118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ct val="104000"/>
                  </a:lnSpc>
                  <a:buNone/>
                </a:pPr>
                <a:r>
                  <a:rPr lang="en-US" sz="1300" b="1" dirty="0">
                    <a:solidFill>
                      <a:srgbClr val="E3183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①  Parameter tuning — </a:t>
                </a:r>
                <a:r>
                  <a:rPr lang="en-US" sz="125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consequent steps of </a:t>
                </a:r>
                <a14:m>
                  <m:oMath xmlns:m="http://schemas.openxmlformats.org/officeDocument/2006/math">
                    <m:r>
                      <a:rPr lang="en-US" sz="1250">
                        <a:latin typeface="Cambria Math"/>
                      </a:rPr>
                      <m:t>±0.05</m:t>
                    </m:r>
                  </m:oMath>
                </a14:m>
                <a:r>
                  <a:rPr lang="en-US" sz="125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kept only on strict physical-forecast improvement from the same seed
</a:t>
                </a:r>
                <a:r>
                  <a:rPr lang="en-US" sz="1200" b="1" dirty="0">
                    <a:solidFill>
                      <a:srgbClr val="0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616 trials → 129 kept (21%) · 167 consequent updates: 103 escalations, 64 de-escalations</a:t>
                </a:r>
                <a:endParaRPr lang="en-US" sz="1300" dirty="0"/>
              </a:p>
            </p:txBody>
          </p:sp>
        </mc:Choice>
        <mc:Fallback>
          <p:sp>
            <p:nvSpPr>
              <p:cNvPr id="9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2075688"/>
                <a:ext cx="10698480" cy="1188720"/>
              </a:xfrm>
              <a:prstGeom prst="rect">
                <a:avLst/>
              </a:prstGeom>
              <a:blipFill>
                <a:blip r:embed="rId5"/>
                <a:stretch>
                  <a:fillRect l="-969" t="-4615"/>
                </a:stretch>
              </a:blipFill>
              <a:ln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6"/>
          <p:cNvSpPr/>
          <p:nvPr/>
        </p:nvSpPr>
        <p:spPr>
          <a:xfrm>
            <a:off x="502920" y="3447288"/>
            <a:ext cx="11247120" cy="13716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3557016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Resolution growth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instantiated on an uncovered cell — consequents seeded from what the strongest concepts demand — or a narrow term splitting an ambiguous reading
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 trials → 40 rules kept (11%) · 4 term insertions, 5 boundary shifts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4928616"/>
            <a:ext cx="11247120" cy="1371600"/>
          </a:xfrm>
          <a:prstGeom prst="roundRect">
            <a:avLst>
              <a:gd name="adj" fmla="val 3333"/>
            </a:avLst>
          </a:prstGeom>
          <a:solidFill>
            <a:srgbClr val="FDE8E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5038344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Generative vocabulary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proposal per invocation: a plain rule, or a package adding exactly one new object — macro, concept, or clause actuator — that the rule must use
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 invocations → 47 admitted (36 rules + 11 packages) · 42 survive dedup and pruning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acceptance is the design working: trials are cheap and rejected safely on the forecast; the selectivity is what makes admitted edits trustworthy.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DECISION SPACE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③ Is a Search Problem; the Gates Decide, Not the Model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298448"/>
            <a:ext cx="11247120" cy="13716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138988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problem: 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forecast physical cost change over the vocabulary-closed admissible space — where every evaluation is one reseeded rollout and the cycle budget is two.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5"/>
              <p:cNvSpPr/>
              <p:nvPr/>
            </p:nvSpPr>
            <p:spPr>
              <a:xfrm>
                <a:off x="777240" y="1874520"/>
                <a:ext cx="1069848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sz="1500">
                              <a:latin typeface="Cambria Math"/>
                            </a:rPr>
                            <m:t>⋆</m:t>
                          </m:r>
                        </m:sup>
                      </m:sSup>
                      <m:r>
                        <a:rPr lang="en-US" sz="1500">
                          <a:latin typeface="Cambria Math"/>
                        </a:rPr>
                        <m:t> = 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1500">
                              <a:latin typeface="Cambria Math"/>
                            </a:rPr>
                            <m:t>𝑎𝑟𝑔</m:t>
                          </m:r>
                          <m:r>
                            <a:rPr lang="en-US" sz="1500">
                              <a:latin typeface="Cambria Math"/>
                            </a:rPr>
                            <m:t> </m:t>
                          </m:r>
                          <m:r>
                            <a:rPr lang="en-US" sz="1500">
                              <a:latin typeface="Cambria Math"/>
                            </a:rPr>
                            <m:t>𝑚𝑖𝑛</m:t>
                          </m:r>
                        </m:e>
                        <m:lim>
                          <m:r>
                            <a:rPr lang="en-US" sz="1000">
                              <a:latin typeface="Cambria Math"/>
                            </a:rPr>
                            <m:t>𝑐</m:t>
                          </m:r>
                          <m:r>
                            <a:rPr lang="en-US" sz="1000">
                              <a:latin typeface="Cambria Math"/>
                            </a:rPr>
                            <m:t> ∈ </m:t>
                          </m:r>
                          <m:r>
                            <a:rPr lang="en-US" sz="1000">
                              <a:latin typeface="Cambria Math"/>
                            </a:rPr>
                            <m:t>���</m:t>
                          </m:r>
                          <m:r>
                            <a:rPr lang="en-US" sz="100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00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000">
                              <a:latin typeface="Cambria Math"/>
                            </a:rPr>
                            <m:t>)</m:t>
                          </m:r>
                        </m:lim>
                      </m:limLow>
                      <m:r>
                        <a:rPr lang="en-US" sz="1500">
                          <a:latin typeface="Cambria Math"/>
                        </a:rPr>
                        <m:t> </m:t>
                      </m:r>
                      <m:r>
                        <a:rPr lang="en-US" sz="1500">
                          <a:latin typeface="Cambria Math"/>
                        </a:rPr>
                        <m:t>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500">
                                  <a:latin typeface="Cambria Math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sz="1500">
                              <a:latin typeface="Cambria Math"/>
                            </a:rPr>
                            <m:t>𝑃h𝑦</m:t>
                          </m:r>
                        </m:sub>
                      </m:sSub>
                      <m:r>
                        <a:rPr lang="en-US" sz="1500">
                          <a:latin typeface="Cambria Math"/>
                        </a:rPr>
                        <m:t>(</m:t>
                      </m:r>
                      <m:r>
                        <a:rPr lang="en-US" sz="1500">
                          <a:latin typeface="Cambria Math"/>
                        </a:rPr>
                        <m:t>𝑐</m:t>
                      </m:r>
                      <m:r>
                        <a:rPr lang="en-US" sz="15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9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874520"/>
                <a:ext cx="10698480" cy="685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6"/>
          <p:cNvSpPr/>
          <p:nvPr/>
        </p:nvSpPr>
        <p:spPr>
          <a:xfrm>
            <a:off x="502920" y="2788920"/>
            <a:ext cx="11247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formally a learned proposal distribution over that closed space: it carries the prior of wildfire practice, so its two candidates per cycle land in the gate-passing region — classical solvers (enumeration, evolutionary search, Bayesian optimization, RL) each fail the two-rollout budget.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is exact and model-free: six free admissibility predicates, then strict cost decrease on two independent seeds; packages also clear a payoff margin and the ablation test — struck out, the cost must rise in both futures.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 the campaigns: 7 macro interventions, 1 + 4 intermediate concepts, 7 clause actuators (tactics with their own geometry) — one later re-ordered by a rule that had no part in creating it: vocabulary used, not merely grown.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 has no authority; the interface is proposer-agnostic — an evolutionary or a human proposer plugs into the same gate chain.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: VERIFICATION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Blind Hindcasts Anchor the Simulator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pic>
        <p:nvPicPr>
          <p:cNvPr id="7" name="Image 2" descr="/tmp/thx/deck/figs/ch5_27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29699"/>
            <a:ext cx="2651760" cy="2061242"/>
          </a:xfrm>
          <a:prstGeom prst="rect">
            <a:avLst/>
          </a:prstGeom>
        </p:spPr>
      </p:pic>
      <p:pic>
        <p:nvPicPr>
          <p:cNvPr id="8" name="Image 3" descr="/tmp/thx/deck/figs/ch5_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1463862"/>
            <a:ext cx="2651760" cy="2192916"/>
          </a:xfrm>
          <a:prstGeom prst="rect">
            <a:avLst/>
          </a:prstGeom>
        </p:spPr>
      </p:pic>
      <p:pic>
        <p:nvPicPr>
          <p:cNvPr id="9" name="Image 4" descr="/tmp/thx/deck/figs/ch5_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09" y="3794760"/>
            <a:ext cx="2554941" cy="2286000"/>
          </a:xfrm>
          <a:prstGeom prst="rect">
            <a:avLst/>
          </a:prstGeom>
        </p:spPr>
      </p:pic>
      <p:pic>
        <p:nvPicPr>
          <p:cNvPr id="10" name="Image 5" descr="/tmp/thx/deck/figs/ch5_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3920561"/>
            <a:ext cx="2651760" cy="2034397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172200" y="146304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Manavgat · Marmaris · Milas · Kayadere — real terrain, fuel, and weather from independent public data; all spread parameters frozen before any run; 50 replicates per case.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front propagation, not area overlap (the suppression-free core overpredicts final area by design): POD 85–97%, front-position score 82–90%, arrival-time score 71–98%.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agreement 86–94% — every criterion passes its pre-set acceptance level in every case.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correct burn · red: simulated only · blue: observed only · yellow: ignition.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: PARAMETER ANALYSES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Moves the Outcome, What the Loop Tolerates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pic>
        <p:nvPicPr>
          <p:cNvPr id="7" name="Image 2" descr="/tmp/thx/deck/figs/ch5_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713087"/>
            <a:ext cx="5852160" cy="40719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46520" y="1463040"/>
            <a:ext cx="53035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 runs, one bias at a time, five worlds per level — around an operating point where the fire is neither won nor lost outright (4 ignitions, quarter pool).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directions: the decision cycle (replanning late degrades the gain monotonically) and a resource pool below one half.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 directions: observation coverage down to five sensors at no measurable cost; the satisficing ceiling above its nominal; the quality gate inside the band quality actually occupies.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and resource are complementary, not interchangeable: a blind map is not recovered by resource, a scarce pool not by observation.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: PERFORMANCE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Rung of the Ladder Pays; the Open Space Pays Most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pic>
        <p:nvPicPr>
          <p:cNvPr id="7" name="Image 2" descr="/tmp/thx/deck/figs/ch5_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53" y="1371600"/>
            <a:ext cx="6519134" cy="4754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78040" y="1463040"/>
            <a:ext cx="4572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configurations on identical worlds, disjoint evaluation seeds, five scenario families, 6-hour checkpoint.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base: 220 → 84 ha (−62%), physical cost 0.506 → 0.163.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evFIS stages ①②: 78 ha; the gain is the delay term (0.318 → 0.233) — the same resources committed sooner.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DisasterAware: 39 ha (−82%), physical cost 0.090, total 0.112 — lowest in every scenario.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(degraded observation): +10% burned area, still the best of the four — degradation, not breakage.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: TEMPO, SCALE, VERDICT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Milliseconds Against Minutes; the Rubric Honored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 and scalability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1627632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decision: median 274 ms, p90 909 ms — 0.04% of a 12-minute cycle; first offensive order at minute 2 in all ten worlds.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times the agents cost at most ×1.29; the binding driver is domain size (grid ×4 → ×6.9), not agent count.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46520" y="12801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eight-criterion rubric, fixed in advance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46520" y="1627632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in full: predictive fidelity, timeliness, adaptability, scalability.</a:t>
            </a:r>
            <a:endParaRPr lang="en-US" sz="125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but bounded, stated openly: decision quality (no external baseline exists), robustness (noise and comms untested), uncertainty (no ensemble), explainability (operator side unevaluated).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3931920"/>
            <a:ext cx="11247120" cy="2514600"/>
          </a:xfrm>
          <a:prstGeom prst="roundRect">
            <a:avLst>
              <a:gd name="adj" fmla="val 1818"/>
            </a:avLst>
          </a:prstGeom>
          <a:solidFill>
            <a:srgbClr val="FDE8EB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4114800"/>
            <a:ext cx="10698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hypotheses supported by pre-registered criteria.
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lowest cost in all five scenario families at &lt; 0.2% of the cycle from 1 to 16 agents.
H2 — trace and adaptation ledgers complete over the recorded runs; the loop's sensitivity to its own parameters quantified.
H3 — all 151 745 fielded orders passed the applicable pre-execution gates; 5 502 candidates withheld; first order at the first cycle.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Delivered, Bounded, and Pointed Forward</a:t>
            </a:r>
            <a:endParaRPr lang="en-US" sz="2500" dirty="0"/>
          </a:p>
        </p:txBody>
      </p:sp>
      <p:pic>
        <p:nvPicPr>
          <p:cNvPr id="5" name="Image 0" descr="/tmp/thx/deck/figs/met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84607"/>
            <a:ext cx="475488" cy="398882"/>
          </a:xfrm>
          <a:prstGeom prst="rect">
            <a:avLst/>
          </a:prstGeom>
        </p:spPr>
      </p:pic>
      <p:pic>
        <p:nvPicPr>
          <p:cNvPr id="6" name="Image 1" descr="/tmp/thx/deck/figs/ee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86217"/>
            <a:ext cx="475488" cy="39566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371600"/>
            <a:ext cx="11247120" cy="1463040"/>
          </a:xfrm>
          <a:prstGeom prst="roundRect">
            <a:avLst>
              <a:gd name="adj" fmla="val 3125"/>
            </a:avLst>
          </a:prstGeom>
          <a:solidFill>
            <a:srgbClr val="FDE8EB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1499616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decision space grown from five rules under exact gates, halving the burned area of the static base; explanation as the data path itself; an end-to-end demonstration on a simulator validated against four real fires.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02920" y="2944368"/>
            <a:ext cx="11247120" cy="1463040"/>
          </a:xfrm>
          <a:prstGeom prst="roundRect">
            <a:avLst>
              <a:gd name="adj" fmla="val 3125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3072384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are internal (no like-for-like external system generates interventions over an open space); the validation base is four fires; LLM proposals are not bitwise reproducible — but nothing enters doctrine on the model's authority.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02920" y="4517136"/>
            <a:ext cx="11247120" cy="1463040"/>
          </a:xfrm>
          <a:prstGeom prst="roundRect">
            <a:avLst>
              <a:gd name="adj" fmla="val 3125"/>
            </a:avLst>
          </a:prstGeom>
          <a:solidFill>
            <a:srgbClr val="F2F2F2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4645152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studies, none requiring a change to the framework: an operator tabletop study, transfer to other spreading hazards, ensemble uncertainty propagation, and domain-size scaling.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0292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i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Combinatorially open, physically closed: doctrine grows in rules, names, and tactics — the state vector, the decision axes, and the seven effects never change.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41248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DisasterAware : open where tactics live, closed where physics rules.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3383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GRATITUDE TO THE EXAMINING COMMITTEE AND THE THESIS MONITORING COMMITTEE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37947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Mehmet Önder Efe  (Committee Chair)
Prof. Dr. Mehmet Kemal Leblebicioğlu  (Supervisor · Thesis Monitoring Committee)
Prof. Dr. Klaus Werner Schmidt
Assoc. Prof. Dr. Ahmet Güneş  (Thesis Monitoring Committee)
Assist. Prof. Dr. Kenan Ahıska  (Thesis Monitoring Committee)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2371</Words>
  <Application>Microsoft Office PowerPoint</Application>
  <PresentationFormat>Widescreen</PresentationFormat>
  <Paragraphs>138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cakman</cp:lastModifiedBy>
  <cp:revision>2</cp:revision>
  <dcterms:created xsi:type="dcterms:W3CDTF">2026-08-14T12:28:37Z</dcterms:created>
  <dcterms:modified xsi:type="dcterms:W3CDTF">2026-08-14T13:01:13Z</dcterms:modified>
</cp:coreProperties>
</file>