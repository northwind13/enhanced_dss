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6"/>
  </p:notesMasterIdLst>
  <p:sldIdLst>
    <p:sldId id="256" r:id="rId2"/>
    <p:sldId id="448" r:id="rId15"/>
    <p:sldId id="425" r:id="rId3"/>
    <p:sldId id="426" r:id="rId4"/>
    <p:sldId id="449" r:id="rId16"/>
    <p:sldId id="427" r:id="rId5"/>
    <p:sldId id="450" r:id="rId17"/>
    <p:sldId id="428" r:id="rId6"/>
    <p:sldId id="451" r:id="rId18"/>
    <p:sldId id="344" r:id="rId19"/>
    <p:sldId id="345" r:id="rId20"/>
    <p:sldId id="429" r:id="rId7"/>
    <p:sldId id="430" r:id="rId8"/>
    <p:sldId id="357" r:id="rId21"/>
    <p:sldId id="447" r:id="rId22"/>
    <p:sldId id="452" r:id="rId23"/>
    <p:sldId id="433" r:id="rId11"/>
    <p:sldId id="434" r:id="rId12"/>
    <p:sldId id="276" r:id="rId24"/>
    <p:sldId id="277" r:id="rId25"/>
    <p:sldId id="431" r:id="rId9"/>
    <p:sldId id="432" r:id="rId10"/>
    <p:sldId id="435" r:id="rId13"/>
    <p:sldId id="436" r:id="rId14"/>
  </p:sldIdLst>
  <p:sldSz cx="12192000" cy="6858000"/>
  <p:notesSz cx="6858000" cy="9144000"/>
  <p:defaultText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980" autoAdjust="0"/>
    <p:restoredTop sz="94660"/>
  </p:normalViewPr>
  <p:slideViewPr>
    <p:cSldViewPr snapToGrid="0">
      <p:cViewPr varScale="1">
        <p:scale>
          <a:sx n="72" d="100"/>
          <a:sy n="72" d="100"/>
        </p:scale>
        <p:origin x="101"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tr-T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214D7E9-271F-44E0-8E6B-1B4F3896678F}" type="datetimeFigureOut">
              <a:rPr lang="tr-TR" smtClean="0"/>
              <a:t>30.08.2026</a:t>
            </a:fld>
            <a:endParaRPr lang="tr-TR"/>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tr-TR"/>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r-T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tr-T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B35A6E8-EC6A-4AC8-A491-2520BD6B65EA}" type="slidenum">
              <a:rPr lang="tr-TR" smtClean="0"/>
              <a:t>‹#›</a:t>
            </a:fld>
            <a:endParaRPr lang="tr-TR"/>
          </a:p>
        </p:txBody>
      </p:sp>
    </p:spTree>
    <p:extLst>
      <p:ext uri="{BB962C8B-B14F-4D97-AF65-F5344CB8AC3E}">
        <p14:creationId xmlns:p14="http://schemas.microsoft.com/office/powerpoint/2010/main" val="9569146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a:t>EXPLAIN — Backup - Appendix A: the full Rothermel-like spread formulation (base rate x moisture x wind x slope x aspect) with the fuel-type calibration table and the metric interpretation (1 cell/step = 3 m/min at 90 m / 30 min).</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a:t>EXPLAIN — Backup - Appendix B: combustion consumption - the algebraic burn fraction with per-fuel baseline coefficients.</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a:t>EXPLAIN — Backup - Appendix B: the suppression mapping - five multiplicative factors (gain, capacity, availability, reachability, effectiveness) with calibration ranges; the only channel through which orders touch fuel.</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a:t>EXPLAIN — Backup - Appendix C: the fire intensity proxy - normalized inputs, tanh bound, parameter table; why a proxy rather than heat flux.</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a:t>EXPLAIN — Backup - Appendix D: the complete aggregation wiring of the concept hierarchy - every weight of levels 1-4, plus rho = 0.90 and alpha_min = 0.05.</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a:t>EXPLAIN — Backup - Appendix D: the shared five-term trapezoidal partition and the vector semantics of membership (activation is a five-term vector; a scalar only for priority, quality, reporting).</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a:t>EXPLAIN — Backup - Appendix E: generative rules G1-G13 verbatim from the persistent store.</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a:t>EXPLAIN — Backup - Appendix E: rules G14-G20 and the admitted vocabulary objects with recorded definitions.</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a:t>EXPLAIN — Backup - Appendix F: the proposer contract - deterministic input, one-JSON output, 90-second discipline, zero authority.</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a:t>EXPLAIN — Backup - Appendix F: anatomy of the standing mission brief of one recorded run - map affordances, assets, the two weight sets, doctrine vs library, when to invent what, standing rules.</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a:t>EXPLAIN — Backup - scope of the sensitivity evidence: what is swept (loop parameters) vs what is fixed by design (cost weights, protection priorities, frozen spread parameters); the honest answer if the jury asks what happens when the priorities change.</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a:t>EXPLAIN — Backup - Table 5.13 in full: a single decision line by line, each row produced by the row above it.</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a:t>EXPLAIN — this is where the Rothermel heritage sits. The spread rate is a semi-empirical product: a base rate set by fuel type, multiplied by moisture damping, wind amplification, slope acceleration and aspect-wind alignment (Appendix A, equations 76 to 81).</a:t>
            </a:r>
          </a:p>
          <a:p>
            <a:r>
              <a:rPr lang="en-US" sz="1200"/>
              <a:t>Moisture damping is max(0, 1 - moisture / extinction moisture): at the extinction threshold the spread rate is exactly zero, so wet fuel stops the fire without a special case.</a:t>
            </a:r>
          </a:p>
          <a:p>
            <a:r>
              <a:rPr lang="en-US" sz="1200"/>
              <a:t>Wind amplification is 1 + a_w tanh(wind / w0). The tanh saturates, so doubling an already strong wind does not double the spread rate; this is what keeps the model stable under extreme forcing.</a:t>
            </a:r>
          </a:p>
          <a:p>
            <a:r>
              <a:rPr lang="en-US" sz="1200"/>
              <a:t>Slope acceleration is min(3, 1 + a_s tan(slope)) - uphill preheating, capped at three so steep terrain cannot produce an unbounded rate. Aspect alignment is 1 + a_asp cos(aspect - wind direction): terrain facing into the wind spreads faster, terrain facing away spreads slower.</a:t>
            </a:r>
          </a:p>
          <a:p>
            <a:r>
              <a:rPr lang="en-US" sz="1200"/>
              <a:t>The output is expressed in normalised cells per step rather than metres per minute. At the reference discretisation (90 m cells, 30 min steps) one cell per step equals 3 m/min, so the base rates carry a direct physical reading.</a:t>
            </a:r>
          </a:p>
          <a:p>
            <a:r>
              <a:rPr lang="en-US" sz="1200"/>
              <a:t>Per-fuel-type parameters are on the backup slide: base rate, extinction moisture, wind, slope and aspect coefficients, calibrated against standard fire-behaviour literature rather than fitted to the fires being predicted.</a:t>
            </a:r>
          </a:p>
          <a:p>
            <a:endParaRPr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91867948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a:t>EXPLAIN — fuel mass is the only channel through which the decision layer touches the physics. Fuel falls by combustion (a fuel-type fractional burn rate, damped by moisture) minus a suppression-driven reduction, and the result is floored at zero: fuel can never rise and never go negative.</a:t>
            </a:r>
          </a:p>
          <a:p>
            <a:r>
              <a:rPr lang="en-US" sz="1200"/>
              <a:t>The suppression map (Appendix B, equations 83 to 88) is a product of four gates, each in [0,1]: capacity (how much of the maximum is actually on hand), availability (whether the resource is deployable at all), reachability (exponential decay in travel time, scaled by terrain accessibility), and effectiveness (nominal efficiency divided by 1 + gamma_I times current intensity).</a:t>
            </a:r>
          </a:p>
          <a:p>
            <a:r>
              <a:rPr lang="en-US" sz="1200"/>
              <a:t>Because the gates multiply, any single zero annuls the whole intervention. Resources that exist but cannot deploy, or that arrive too late, or that face inaccessible terrain, produce no fuel reduction at all. This is the formal statement of 'orders must be operationally feasible, not merely optimal'.</a:t>
            </a:r>
          </a:p>
          <a:p>
            <a:r>
              <a:rPr lang="en-US" sz="1200"/>
              <a:t>The effectiveness gate encodes an operational fact: a fierce fire resists suppression, so as intensity rises the marginal impact of the same resource falls.</a:t>
            </a:r>
          </a:p>
          <a:p>
            <a:r>
              <a:rPr lang="en-US" sz="1200"/>
              <a:t>A final saturation rule caps the reduction at the fuel actually present, which keeps the fuel state non-negative and consistent with the evolution equation.</a:t>
            </a:r>
          </a:p>
          <a:p>
            <a:r>
              <a:rPr lang="en-US" sz="1200"/>
              <a:t>WORKED EXAMPLE on the slide: gates 0.60 x 0.80 x 0.55 x 0.70 give 0.18 - the same crew delivers less than a fifth of nominal effect once distance and fire behaviour are accounted for. The curve shows the consequence: with suppression from step 6 the cell falls below the fuel threshold at step 8 instead of step 15.</a:t>
            </a:r>
          </a:p>
          <a:p>
            <a:endParaRPr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91867948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a:t>EXPLAIN — intensity is a bounded proxy, not flame physics. It is the hyperbolic tangent of a weighted sum of normalised fuel load, wind and slope, multiplied by the burning status, so it lives in [0,1] and is zero wherever the cell is not burning (Appendix C, equations 89 and 90).</a:t>
            </a:r>
          </a:p>
          <a:p>
            <a:r>
              <a:rPr lang="en-US" sz="1200"/>
              <a:t>Fuel load leads the expression; wind and slope enter as amplifying modifiers with smaller weights (beta = 2.0, gamma_W = 0.5, gamma_S = 0.3). The bound matters: intensity is used for ordinal prioritisation across cells and for the suppression resistance term, so what is needed is a consistent ranking, not a calibrated kilowatt per metre.</a:t>
            </a:r>
          </a:p>
          <a:p>
            <a:r>
              <a:rPr lang="en-US" sz="1200"/>
              <a:t>Time since ignition is pure bookkeeping: zero on a fresh ignition, advanced by one step while the cell keeps burning, cleared when the cell goes out. It costs one number per cell and supports persistence, extinction timing and the intensity dynamics.</a:t>
            </a:r>
          </a:p>
          <a:p>
            <a:r>
              <a:rPr lang="en-US" sz="1200"/>
              <a:t>If asked why intensity is not a physical fireline intensity: the decision layer never needs an absolute energy value, only a comparable severity across cells within the same run, and a bounded quantity keeps the suppression resistance term well behaved.</a:t>
            </a:r>
          </a:p>
          <a:p>
            <a:endParaRPr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91867948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a:t>BACKUP — parameter tables from Appendices A, B and C.</a:t>
            </a:r>
          </a:p>
          <a:p>
            <a:r>
              <a:rPr lang="en-US" sz="1200"/>
              <a:t>Table A.1 (spread rate): base rate in cells per step, extinction moisture, and wind, slope and aspect coefficients per fuel type. Grass spreads fastest and dries first; hardwood is slow and tolerates the most moisture.</a:t>
            </a:r>
          </a:p>
          <a:p>
            <a:r>
              <a:rPr lang="en-US" sz="1200"/>
              <a:t>Table B.1 (combustion): the fraction of fuel consumed per step by fuel type, chosen to give realistic residence times at 30 min steps without numerical instability.</a:t>
            </a:r>
          </a:p>
          <a:p>
            <a:r>
              <a:rPr lang="en-US" sz="1200"/>
              <a:t>Table B.2 (suppression): the three calibration parameters and what happens when each is increased.</a:t>
            </a:r>
          </a:p>
          <a:p>
            <a:r>
              <a:rPr lang="en-US" sz="1200"/>
              <a:t>Table C.1 (intensity): the three weights of the intensity proxy.</a:t>
            </a:r>
          </a:p>
          <a:p>
            <a:r>
              <a:rPr lang="en-US" sz="1200"/>
              <a:t>All values are calibrated against standard fire-behaviour literature and operational doctrine, not fitted to the fires used for validation.</a:t>
            </a:r>
          </a:p>
          <a:p>
            <a:endParaRPr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91867948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a:t>EXPLAIN — Features with explicit confidence, part 1: the ten features listed with how each confidence is computed.</a:t>
            </a:r>
          </a:p>
          <a:p>
            <a:endParaRPr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248226988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EXPLAIN — Features with explicit confidence, part 2: worked feature examples - observed vs effective values under the persistence prior.</a:t>
            </a:r>
          </a:p>
          <a:p>
            <a:endParaRPr lang="en-US" sz="120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rgbClr val="222222"/>
                </a:solidFill>
                <a:latin typeface="Calibri" pitchFamily="34" charset="0"/>
                <a:ea typeface="Calibri" pitchFamily="34" charset="-122"/>
                <a:cs typeface="Calibri" pitchFamily="34" charset="-120"/>
              </a:rPr>
              <a:t>The concept mappings require no further input, and the closed loop is exercised under biased parameters and degraded observation (S5).</a:t>
            </a:r>
            <a:endParaRPr lang="tr-TR" sz="1200" dirty="0">
              <a:solidFill>
                <a:srgbClr val="222222"/>
              </a:solidFill>
              <a:latin typeface="Calibri" pitchFamily="34" charset="0"/>
              <a:ea typeface="Calibri" pitchFamily="34" charset="-122"/>
              <a:cs typeface="Calibri" pitchFamily="34" charset="-120"/>
            </a:endParaRPr>
          </a:p>
          <a:p>
            <a:endParaRPr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379141789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a:t>EXPLAIN - both families are fuzzy and they share exactly the same antecedent side: the same five gated decision concepts, the same five-term trapezoidal partition, the same min-conjunction firing strength alpha_r. The only difference is the consequent - and that difference propagates through everything the framework does afterwards.</a:t>
            </a:r>
          </a:p>
          <a:p>
            <a:r>
              <a:rPr lang="en-US" sz="1200"/>
              <a:t>MAMDANI (left) - the consequent is a fuzzy set B_r: 'THEN U_DSS is B_r'. Each rule clips its output set at its own firing strength, the clipped sets are aggregated by max into mu_agg, and the crisp order is the centre of gravity of that area. Its genuine strength is linguistic output: it is the natural choice when the answer people want is a phrase.</a:t>
            </a:r>
          </a:p>
          <a:p>
            <a:r>
              <a:rPr lang="en-US" sz="1200"/>
              <a:t>ZERO-ORDER TAKAGI-SUGENO (right) - the consequent is a single number v_{r,m}: 'THEN U_DSS = 0.75'. There is no output set and no integral; the order is the activation-weighted average of those numbers, with the denominator floored at one so that weak evidence produces weak action instead of being renormalised back up to full strength.</a:t>
            </a:r>
          </a:p>
          <a:p>
            <a:r>
              <a:rPr lang="en-US" sz="1200"/>
              <a:t>READ THE FIGURE - the same five rules fire with strengths 0.10, 0.30, 0.80, 0.50 and 0.15. Mamdani clips the five output sets, aggregates and defuzzifies, returning 0.53. Takagi-Sugeno averages the five singletons 0.05, 0.25, 0.50, 0.75 and 0.95, returning 0.54.</a:t>
            </a:r>
          </a:p>
          <a:p>
            <a:r>
              <a:rPr lang="en-US" sz="1200"/>
              <a:t>WHY 0.53 AND NOT EXACTLY 0.54 - the two operators are different, so exact equality is not expected. Takagi-Sugeno averages only the peak positions. Mamdani takes the centre of gravity of an area, and three things move it: max-aggregation absorbs the overlapped parts (B1 sits almost entirely under the plateau of B2, B5 partly under B4, so those areas never count), the output sets have width so the centroid depends on areas rather than peaks, and the end sets are truncated at 0 and 1. Together these pull the centroid slightly left. The two would coincide exactly only for symmetric, equal-width, non-overlapping output sets. The gap of 0.005 is itself the argument: the choice is not about accuracy.</a:t>
            </a:r>
          </a:p>
          <a:p>
            <a:r>
              <a:rPr lang="en-US" sz="1200"/>
              <a:t>THE POINT - the two numbers are practically the same. The choice is therefore not about accuracy. It is about what is still available after the computation: on the left, one number and nothing else; on the right, one number plus the decomposition that produced it. The next slide turns that into three concrete requirements.</a:t>
            </a:r>
          </a:p>
          <a:p>
            <a:r>
              <a:rPr lang="en-US" sz="1200"/>
              <a:t>IF ASKED why the denominator is max(1, sum alpha_r) rather than sum alpha_r: with the usual normalisation, five rules firing at 0.05 would give the same order as five rules firing at 1.0. The unit floor removes that - weak evidence orders weak action.</a:t>
            </a:r>
          </a:p>
          <a:p>
            <a:endParaRPr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50384372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a:t>EXPLAIN - the three rows are not preferences, they are requirements the rest of the framework imposes. Take them one at a time and show that Mamdani fails each one for a structural reason, not a performance reason.</a:t>
            </a:r>
          </a:p>
          <a:p>
            <a:r>
              <a:rPr lang="en-US" sz="1200"/>
              <a:t>1. THE ORDER IS A NUMBER. The consequents here are numeric intervention intensities in [0,1] - suppression effort, evacuation urgency, resource commitment. Singletons are their natural form. Mamdani would wrap that number in an output set and then integrate it back out; the fuzzy output set is an artifact of the method, not a property of the problem.</a:t>
            </a:r>
          </a:p>
          <a:p>
            <a:r>
              <a:rPr lang="en-US" sz="1200"/>
              <a:t>2. ADAPTATION NEEDS A HANDLE. Stage-1 adaptation moves the singleton of the strongest-firing rules by plus or minus 0.05. The change is bounded, it is reversible, and it can be tested against the gate before it is kept. Mamdani has no scalar to move: tuning means reshaping a whole output set B_r, and the effect of that on any single order cannot be isolated or undone cleanly.</a:t>
            </a:r>
          </a:p>
          <a:p>
            <a:r>
              <a:rPr lang="en-US" sz="1200"/>
              <a:t>3. TRACEABILITY. Hypothesis H2 requires that every issued order be attributable to named rules with visible strengths. The weighted average is literally a sum of per-rule terms, so the share of rule r is alpha_r v_{r,m} divided by the total - it can be read off directly. The centroid integral destroys that: once the clipped sets are aggregated by max, which rule contributed what is no longer recoverable.</a:t>
            </a:r>
          </a:p>
          <a:p>
            <a:r>
              <a:rPr lang="en-US" sz="1200"/>
              <a:t>SAY IT PLAINLY - any one of these three would already be a strong argument. Together they leave one option. This is why the thesis does not present the choice as a matter of taste.</a:t>
            </a:r>
          </a:p>
          <a:p>
            <a:r>
              <a:rPr lang="en-US" sz="1200"/>
              <a:t>IF ASKED whether a Mamdani system could be made traceable by bookkeeping the rule strengths separately: you could record them, but the order itself would still not decompose into them - the centroid is a nonlinear functional of the aggregated shape, so the recorded strengths would be an annotation, not an explanation of the number that was issued.</a:t>
            </a:r>
          </a:p>
          <a:p>
            <a:endParaRPr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50384372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a:t>EXPLAIN - the natural objection to Takagi-Sugeno is that it gives up the linguistic character of fuzzy control. This slide answers that objection directly: the linguistic content lives on the condition side, and the condition side is untouched.</a:t>
            </a:r>
          </a:p>
          <a:p>
            <a:r>
              <a:rPr lang="en-US" sz="1200"/>
              <a:t>LEFT - one rule exactly as the framework writes it. Five antecedents, one per gated decision concept, each compared against a linguistic term of the shared five-term partition. An operator can read the rule as a sentence and challenge any one of its five conditions. That is the property Mamdani is praised for, and it is fully present here.</a:t>
            </a:r>
          </a:p>
          <a:p>
            <a:r>
              <a:rPr lang="en-US" sz="1200"/>
              <a:t>Only the consequent is numeric - and that is precisely the half the framework needs as a number, because it is an intervention intensity that will be executed and, in the adaptation loop, moved by plus or minus 0.05.</a:t>
            </a:r>
          </a:p>
          <a:p>
            <a:r>
              <a:rPr lang="en-US" sz="1200"/>
              <a:t>RIGHT - the same worked example, decomposed. The share of each rule is alpha_r v_{r,m} over the sum, so for this order R3 contributes 40 per cent and R4 38 per cent: two rules account for 78 per cent of what was issued. That is the audit trail H2 asks for, produced by the arithmetic itself rather than by extra logging.</a:t>
            </a:r>
          </a:p>
          <a:p>
            <a:r>
              <a:rPr lang="en-US" sz="1200"/>
              <a:t>SAY IT PLAINLY - nothing linguistic was traded away. The conditions stay in words; only the output side became numeric, which is where the framework needed a number anyway.</a:t>
            </a:r>
          </a:p>
          <a:p>
            <a:r>
              <a:rPr lang="en-US" sz="1200"/>
              <a:t>IF ASKED about first-order Takagi-Sugeno: a linear consequent would add parameters per rule without adding operational meaning - the intensities are ordinal commitments, not regression targets - and it would weaken this very decomposition, since a rule's contribution would then depend on the input point as well as on its firing strength.</a:t>
            </a:r>
          </a:p>
          <a:p>
            <a:endParaRPr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50384372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a:t>EXPLAIN - the gates in action, on real recorded objects. The left column is what entered doctrine and why it earned its place; the right column is what was turned away and which gate did it. Refusals are cheap where possible: the first four kinds cost no simulation.</a:t>
            </a:r>
          </a:p>
          <a:p>
            <a:r>
              <a:rPr lang="en-US" sz="1200"/>
              <a:t>ADMITTED - G6 and head_knockdown show the composed case: a generated rule ordering a generated macro, built on the action-list channels (drafting, retardant) that no seed rule ever ordered. interface_exposure is the one admitted concept, and G14 is the rule that fires on it. lakeside_capacity_bridge shows the vocabulary being used, not merely grown: a later rule, admitted separately, ordered the same actuator again at minute 114.</a:t>
            </a:r>
          </a:p>
          <a:p>
            <a:r>
              <a:rPr lang="en-US" sz="1200"/>
              <a:t>REFUSED - each example is from the thesis text. The G2b cosine near 1.0 is the near-duplicate concept; the G2c case cannot fire now, so it cannot answer the shortfall that called the stage; the G2d case adds no real effort on a spent pool; the G3 case helps nothing the physical forecast records; the G5 group is the actuator campaign, where six of seven refused tactics compiled to orders that touched nothing (an empty sector, a coating below extinction moisture, a spent pool) and one made things worse.</a:t>
            </a:r>
          </a:p>
          <a:p>
            <a:r>
              <a:rPr lang="en-US" sz="1200"/>
              <a:t>THE COUNTS - low acceptance is the intended behavior of a gated design: proposals are cheap and rejected safely on the forecast, and the selectivity of the gates is what makes the admitted edits trustworthy. About one in five proposals was admitted over the campaign.</a:t>
            </a:r>
          </a:p>
          <a:p>
            <a:r>
              <a:rPr lang="en-US" sz="1200"/>
              <a:t>IF ASKED where the numbers live - Table 5.12 for the products, Table 5.14 for the generative rules, Table 5.15 for the proposed and admitted counts by kind, Table 5.16 for the actuator definitions.</a:t>
            </a:r>
          </a:p>
          <a:p>
            <a:endParaRPr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a:t>EXPLAIN - one real admitted package, preemptive_asset_coating, walked through every gate in order. The point of the walk: five of the nine verdicts cost nothing at all, and the whole verification spends exactly two simulated futures.</a:t>
            </a:r>
          </a:p>
          <a:p>
            <a:r>
              <a:rPr lang="en-US" sz="1200"/>
              <a:t>THE FREE GATES - format, constraints, novelty, relevance, economy are algebraic checks against the reply, the vocabulary, the current reading, and the standing allocation. A failure here is returned to the proposer once, with the failing gate named, so the revision fixes exactly what failed.</a:t>
            </a:r>
          </a:p>
          <a:p>
            <a:r>
              <a:rPr lang="en-US" sz="1200"/>
              <a:t>THE PAID GATES - G3 and G4 are the two reseeded rollouts. G5 and G5b reuse those same two futures: G5 asks whether the growth beats the margin on both, G5b strikes the actuator out of its rule and asks whether the cost rises on both.</a:t>
            </a:r>
          </a:p>
          <a:p>
            <a:r>
              <a:rPr lang="en-US" sz="1200"/>
              <a:t>THIS PACKAGE - the actuator coats the assets and the populated cells before the front arrives, a preventive tactic with no counterpart in the seed doctrine: the base asset protection family raises a defensive posture but lays no retardant.</a:t>
            </a:r>
          </a:p>
          <a:p>
            <a:r>
              <a:rPr lang="en-US" sz="1200"/>
              <a:t>G2b ROW - shown as not applicable on purpose: the non-redundancy cosine applies only when the new object is a concept. Keeping the row makes the full chain visible for every kind of object.</a:t>
            </a:r>
          </a:p>
          <a:p>
            <a:r>
              <a:rPr lang="en-US" sz="1200"/>
              <a:t>IF ASKED why G5b was never the refusing gate in the campaign - the situation given to the proposer states that a new object must stand on its own, so packages did not arrive padded with ordinary orders, and the ablation was never put to work. That is reported as a fact of the campaign, not as a property of the gate.</a:t>
            </a:r>
          </a:p>
          <a:p>
            <a:endParaRPr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1C076D-AE1B-AE26-C908-FBC3D6F681C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tr-TR"/>
          </a:p>
        </p:txBody>
      </p:sp>
      <p:sp>
        <p:nvSpPr>
          <p:cNvPr id="3" name="Subtitle 2">
            <a:extLst>
              <a:ext uri="{FF2B5EF4-FFF2-40B4-BE49-F238E27FC236}">
                <a16:creationId xmlns:a16="http://schemas.microsoft.com/office/drawing/2014/main" id="{225096B5-8836-FB54-E8C5-A2BB8A63153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tr-TR"/>
          </a:p>
        </p:txBody>
      </p:sp>
      <p:sp>
        <p:nvSpPr>
          <p:cNvPr id="4" name="Date Placeholder 3">
            <a:extLst>
              <a:ext uri="{FF2B5EF4-FFF2-40B4-BE49-F238E27FC236}">
                <a16:creationId xmlns:a16="http://schemas.microsoft.com/office/drawing/2014/main" id="{395E4F43-9A51-F6ED-3849-A360AEDB29B4}"/>
              </a:ext>
            </a:extLst>
          </p:cNvPr>
          <p:cNvSpPr>
            <a:spLocks noGrp="1"/>
          </p:cNvSpPr>
          <p:nvPr>
            <p:ph type="dt" sz="half" idx="10"/>
          </p:nvPr>
        </p:nvSpPr>
        <p:spPr/>
        <p:txBody>
          <a:bodyPr/>
          <a:lstStyle/>
          <a:p>
            <a:fld id="{926FF796-7CC2-4AE1-8515-745E6CEB6D11}" type="datetimeFigureOut">
              <a:rPr lang="tr-TR" smtClean="0"/>
              <a:t>30.08.2026</a:t>
            </a:fld>
            <a:endParaRPr lang="tr-TR"/>
          </a:p>
        </p:txBody>
      </p:sp>
      <p:sp>
        <p:nvSpPr>
          <p:cNvPr id="5" name="Footer Placeholder 4">
            <a:extLst>
              <a:ext uri="{FF2B5EF4-FFF2-40B4-BE49-F238E27FC236}">
                <a16:creationId xmlns:a16="http://schemas.microsoft.com/office/drawing/2014/main" id="{44F54035-7DCF-2FE8-A2B5-32BC4423C9C8}"/>
              </a:ext>
            </a:extLst>
          </p:cNvPr>
          <p:cNvSpPr>
            <a:spLocks noGrp="1"/>
          </p:cNvSpPr>
          <p:nvPr>
            <p:ph type="ftr" sz="quarter" idx="11"/>
          </p:nvPr>
        </p:nvSpPr>
        <p:spPr/>
        <p:txBody>
          <a:bodyPr/>
          <a:lstStyle/>
          <a:p>
            <a:endParaRPr lang="tr-TR"/>
          </a:p>
        </p:txBody>
      </p:sp>
      <p:sp>
        <p:nvSpPr>
          <p:cNvPr id="6" name="Slide Number Placeholder 5">
            <a:extLst>
              <a:ext uri="{FF2B5EF4-FFF2-40B4-BE49-F238E27FC236}">
                <a16:creationId xmlns:a16="http://schemas.microsoft.com/office/drawing/2014/main" id="{0CD8AEA9-7532-1E69-4AAE-3A006C39F033}"/>
              </a:ext>
            </a:extLst>
          </p:cNvPr>
          <p:cNvSpPr>
            <a:spLocks noGrp="1"/>
          </p:cNvSpPr>
          <p:nvPr>
            <p:ph type="sldNum" sz="quarter" idx="12"/>
          </p:nvPr>
        </p:nvSpPr>
        <p:spPr/>
        <p:txBody>
          <a:bodyPr/>
          <a:lstStyle/>
          <a:p>
            <a:fld id="{F5889F67-6CF4-420D-9E16-A1384F4DF253}" type="slidenum">
              <a:rPr lang="tr-TR" smtClean="0"/>
              <a:t>‹#›</a:t>
            </a:fld>
            <a:endParaRPr lang="tr-TR"/>
          </a:p>
        </p:txBody>
      </p:sp>
    </p:spTree>
    <p:extLst>
      <p:ext uri="{BB962C8B-B14F-4D97-AF65-F5344CB8AC3E}">
        <p14:creationId xmlns:p14="http://schemas.microsoft.com/office/powerpoint/2010/main" val="31777226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B2806C-5E0F-2FEB-D818-B2BEE07ABAA5}"/>
              </a:ext>
            </a:extLst>
          </p:cNvPr>
          <p:cNvSpPr>
            <a:spLocks noGrp="1"/>
          </p:cNvSpPr>
          <p:nvPr>
            <p:ph type="title"/>
          </p:nvPr>
        </p:nvSpPr>
        <p:spPr/>
        <p:txBody>
          <a:bodyPr/>
          <a:lstStyle/>
          <a:p>
            <a:r>
              <a:rPr lang="en-US"/>
              <a:t>Click to edit Master title style</a:t>
            </a:r>
            <a:endParaRPr lang="tr-TR"/>
          </a:p>
        </p:txBody>
      </p:sp>
      <p:sp>
        <p:nvSpPr>
          <p:cNvPr id="3" name="Content Placeholder 2">
            <a:extLst>
              <a:ext uri="{FF2B5EF4-FFF2-40B4-BE49-F238E27FC236}">
                <a16:creationId xmlns:a16="http://schemas.microsoft.com/office/drawing/2014/main" id="{2AC02955-667F-4EDB-279C-EBD829D6BC3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r-TR"/>
          </a:p>
        </p:txBody>
      </p:sp>
      <p:sp>
        <p:nvSpPr>
          <p:cNvPr id="4" name="Date Placeholder 3">
            <a:extLst>
              <a:ext uri="{FF2B5EF4-FFF2-40B4-BE49-F238E27FC236}">
                <a16:creationId xmlns:a16="http://schemas.microsoft.com/office/drawing/2014/main" id="{672CC887-49A7-81CF-91B7-E88570514C96}"/>
              </a:ext>
            </a:extLst>
          </p:cNvPr>
          <p:cNvSpPr>
            <a:spLocks noGrp="1"/>
          </p:cNvSpPr>
          <p:nvPr>
            <p:ph type="dt" sz="half" idx="10"/>
          </p:nvPr>
        </p:nvSpPr>
        <p:spPr/>
        <p:txBody>
          <a:bodyPr/>
          <a:lstStyle/>
          <a:p>
            <a:fld id="{926FF796-7CC2-4AE1-8515-745E6CEB6D11}" type="datetimeFigureOut">
              <a:rPr lang="tr-TR" smtClean="0"/>
              <a:t>30.08.2026</a:t>
            </a:fld>
            <a:endParaRPr lang="tr-TR"/>
          </a:p>
        </p:txBody>
      </p:sp>
      <p:sp>
        <p:nvSpPr>
          <p:cNvPr id="5" name="Footer Placeholder 4">
            <a:extLst>
              <a:ext uri="{FF2B5EF4-FFF2-40B4-BE49-F238E27FC236}">
                <a16:creationId xmlns:a16="http://schemas.microsoft.com/office/drawing/2014/main" id="{C5EE1F74-DA19-3454-25CB-CC8116E4F2FC}"/>
              </a:ext>
            </a:extLst>
          </p:cNvPr>
          <p:cNvSpPr>
            <a:spLocks noGrp="1"/>
          </p:cNvSpPr>
          <p:nvPr>
            <p:ph type="ftr" sz="quarter" idx="11"/>
          </p:nvPr>
        </p:nvSpPr>
        <p:spPr/>
        <p:txBody>
          <a:bodyPr/>
          <a:lstStyle/>
          <a:p>
            <a:endParaRPr lang="tr-TR"/>
          </a:p>
        </p:txBody>
      </p:sp>
      <p:sp>
        <p:nvSpPr>
          <p:cNvPr id="6" name="Slide Number Placeholder 5">
            <a:extLst>
              <a:ext uri="{FF2B5EF4-FFF2-40B4-BE49-F238E27FC236}">
                <a16:creationId xmlns:a16="http://schemas.microsoft.com/office/drawing/2014/main" id="{0D3DB786-6449-D3A3-8147-93ED4A9A816C}"/>
              </a:ext>
            </a:extLst>
          </p:cNvPr>
          <p:cNvSpPr>
            <a:spLocks noGrp="1"/>
          </p:cNvSpPr>
          <p:nvPr>
            <p:ph type="sldNum" sz="quarter" idx="12"/>
          </p:nvPr>
        </p:nvSpPr>
        <p:spPr/>
        <p:txBody>
          <a:bodyPr/>
          <a:lstStyle/>
          <a:p>
            <a:fld id="{F5889F67-6CF4-420D-9E16-A1384F4DF253}" type="slidenum">
              <a:rPr lang="tr-TR" smtClean="0"/>
              <a:t>‹#›</a:t>
            </a:fld>
            <a:endParaRPr lang="tr-TR"/>
          </a:p>
        </p:txBody>
      </p:sp>
    </p:spTree>
    <p:extLst>
      <p:ext uri="{BB962C8B-B14F-4D97-AF65-F5344CB8AC3E}">
        <p14:creationId xmlns:p14="http://schemas.microsoft.com/office/powerpoint/2010/main" val="28468782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503A6A-D335-4F12-D7E1-015E4841C50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tr-TR"/>
          </a:p>
        </p:txBody>
      </p:sp>
      <p:sp>
        <p:nvSpPr>
          <p:cNvPr id="3" name="Text Placeholder 2">
            <a:extLst>
              <a:ext uri="{FF2B5EF4-FFF2-40B4-BE49-F238E27FC236}">
                <a16:creationId xmlns:a16="http://schemas.microsoft.com/office/drawing/2014/main" id="{728C7701-5817-232E-4A7D-E8F7C8D891A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7E21261-780E-B6AB-6340-89E81F1A4EE0}"/>
              </a:ext>
            </a:extLst>
          </p:cNvPr>
          <p:cNvSpPr>
            <a:spLocks noGrp="1"/>
          </p:cNvSpPr>
          <p:nvPr>
            <p:ph type="dt" sz="half" idx="10"/>
          </p:nvPr>
        </p:nvSpPr>
        <p:spPr/>
        <p:txBody>
          <a:bodyPr/>
          <a:lstStyle/>
          <a:p>
            <a:fld id="{926FF796-7CC2-4AE1-8515-745E6CEB6D11}" type="datetimeFigureOut">
              <a:rPr lang="tr-TR" smtClean="0"/>
              <a:t>30.08.2026</a:t>
            </a:fld>
            <a:endParaRPr lang="tr-TR"/>
          </a:p>
        </p:txBody>
      </p:sp>
      <p:sp>
        <p:nvSpPr>
          <p:cNvPr id="5" name="Footer Placeholder 4">
            <a:extLst>
              <a:ext uri="{FF2B5EF4-FFF2-40B4-BE49-F238E27FC236}">
                <a16:creationId xmlns:a16="http://schemas.microsoft.com/office/drawing/2014/main" id="{BEA5D078-54C2-3DBB-B4D3-9C2B57DC8278}"/>
              </a:ext>
            </a:extLst>
          </p:cNvPr>
          <p:cNvSpPr>
            <a:spLocks noGrp="1"/>
          </p:cNvSpPr>
          <p:nvPr>
            <p:ph type="ftr" sz="quarter" idx="11"/>
          </p:nvPr>
        </p:nvSpPr>
        <p:spPr/>
        <p:txBody>
          <a:bodyPr/>
          <a:lstStyle/>
          <a:p>
            <a:endParaRPr lang="tr-TR"/>
          </a:p>
        </p:txBody>
      </p:sp>
      <p:sp>
        <p:nvSpPr>
          <p:cNvPr id="6" name="Slide Number Placeholder 5">
            <a:extLst>
              <a:ext uri="{FF2B5EF4-FFF2-40B4-BE49-F238E27FC236}">
                <a16:creationId xmlns:a16="http://schemas.microsoft.com/office/drawing/2014/main" id="{2C64A27F-C840-FAEC-F14F-E147A26682B4}"/>
              </a:ext>
            </a:extLst>
          </p:cNvPr>
          <p:cNvSpPr>
            <a:spLocks noGrp="1"/>
          </p:cNvSpPr>
          <p:nvPr>
            <p:ph type="sldNum" sz="quarter" idx="12"/>
          </p:nvPr>
        </p:nvSpPr>
        <p:spPr/>
        <p:txBody>
          <a:bodyPr/>
          <a:lstStyle/>
          <a:p>
            <a:fld id="{F5889F67-6CF4-420D-9E16-A1384F4DF253}" type="slidenum">
              <a:rPr lang="tr-TR" smtClean="0"/>
              <a:t>‹#›</a:t>
            </a:fld>
            <a:endParaRPr lang="tr-TR"/>
          </a:p>
        </p:txBody>
      </p:sp>
    </p:spTree>
    <p:extLst>
      <p:ext uri="{BB962C8B-B14F-4D97-AF65-F5344CB8AC3E}">
        <p14:creationId xmlns:p14="http://schemas.microsoft.com/office/powerpoint/2010/main" val="7962022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5B58FE-5D84-4AFB-F6A1-EAF741D36606}"/>
              </a:ext>
            </a:extLst>
          </p:cNvPr>
          <p:cNvSpPr>
            <a:spLocks noGrp="1"/>
          </p:cNvSpPr>
          <p:nvPr>
            <p:ph type="title"/>
          </p:nvPr>
        </p:nvSpPr>
        <p:spPr/>
        <p:txBody>
          <a:bodyPr/>
          <a:lstStyle/>
          <a:p>
            <a:r>
              <a:rPr lang="en-US"/>
              <a:t>Click to edit Master title style</a:t>
            </a:r>
            <a:endParaRPr lang="tr-TR"/>
          </a:p>
        </p:txBody>
      </p:sp>
      <p:sp>
        <p:nvSpPr>
          <p:cNvPr id="3" name="Content Placeholder 2">
            <a:extLst>
              <a:ext uri="{FF2B5EF4-FFF2-40B4-BE49-F238E27FC236}">
                <a16:creationId xmlns:a16="http://schemas.microsoft.com/office/drawing/2014/main" id="{5047E9AC-9F19-877B-1F16-A1D14F622CE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r-TR"/>
          </a:p>
        </p:txBody>
      </p:sp>
      <p:sp>
        <p:nvSpPr>
          <p:cNvPr id="4" name="Content Placeholder 3">
            <a:extLst>
              <a:ext uri="{FF2B5EF4-FFF2-40B4-BE49-F238E27FC236}">
                <a16:creationId xmlns:a16="http://schemas.microsoft.com/office/drawing/2014/main" id="{CBD65C53-DF66-84BA-5C4B-E584B31CFF4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r-TR"/>
          </a:p>
        </p:txBody>
      </p:sp>
      <p:sp>
        <p:nvSpPr>
          <p:cNvPr id="5" name="Date Placeholder 4">
            <a:extLst>
              <a:ext uri="{FF2B5EF4-FFF2-40B4-BE49-F238E27FC236}">
                <a16:creationId xmlns:a16="http://schemas.microsoft.com/office/drawing/2014/main" id="{C2638EA3-E4E0-C40F-CAF8-8B00AEE0E340}"/>
              </a:ext>
            </a:extLst>
          </p:cNvPr>
          <p:cNvSpPr>
            <a:spLocks noGrp="1"/>
          </p:cNvSpPr>
          <p:nvPr>
            <p:ph type="dt" sz="half" idx="10"/>
          </p:nvPr>
        </p:nvSpPr>
        <p:spPr/>
        <p:txBody>
          <a:bodyPr/>
          <a:lstStyle/>
          <a:p>
            <a:fld id="{926FF796-7CC2-4AE1-8515-745E6CEB6D11}" type="datetimeFigureOut">
              <a:rPr lang="tr-TR" smtClean="0"/>
              <a:t>30.08.2026</a:t>
            </a:fld>
            <a:endParaRPr lang="tr-TR"/>
          </a:p>
        </p:txBody>
      </p:sp>
      <p:sp>
        <p:nvSpPr>
          <p:cNvPr id="6" name="Footer Placeholder 5">
            <a:extLst>
              <a:ext uri="{FF2B5EF4-FFF2-40B4-BE49-F238E27FC236}">
                <a16:creationId xmlns:a16="http://schemas.microsoft.com/office/drawing/2014/main" id="{420B4836-D7B8-8F5F-328C-E16AAD4B95BE}"/>
              </a:ext>
            </a:extLst>
          </p:cNvPr>
          <p:cNvSpPr>
            <a:spLocks noGrp="1"/>
          </p:cNvSpPr>
          <p:nvPr>
            <p:ph type="ftr" sz="quarter" idx="11"/>
          </p:nvPr>
        </p:nvSpPr>
        <p:spPr/>
        <p:txBody>
          <a:bodyPr/>
          <a:lstStyle/>
          <a:p>
            <a:endParaRPr lang="tr-TR"/>
          </a:p>
        </p:txBody>
      </p:sp>
      <p:sp>
        <p:nvSpPr>
          <p:cNvPr id="7" name="Slide Number Placeholder 6">
            <a:extLst>
              <a:ext uri="{FF2B5EF4-FFF2-40B4-BE49-F238E27FC236}">
                <a16:creationId xmlns:a16="http://schemas.microsoft.com/office/drawing/2014/main" id="{A58FEEEC-BCA7-C2E3-9895-4F043D7070B7}"/>
              </a:ext>
            </a:extLst>
          </p:cNvPr>
          <p:cNvSpPr>
            <a:spLocks noGrp="1"/>
          </p:cNvSpPr>
          <p:nvPr>
            <p:ph type="sldNum" sz="quarter" idx="12"/>
          </p:nvPr>
        </p:nvSpPr>
        <p:spPr/>
        <p:txBody>
          <a:bodyPr/>
          <a:lstStyle/>
          <a:p>
            <a:fld id="{F5889F67-6CF4-420D-9E16-A1384F4DF253}" type="slidenum">
              <a:rPr lang="tr-TR" smtClean="0"/>
              <a:t>‹#›</a:t>
            </a:fld>
            <a:endParaRPr lang="tr-TR"/>
          </a:p>
        </p:txBody>
      </p:sp>
    </p:spTree>
    <p:extLst>
      <p:ext uri="{BB962C8B-B14F-4D97-AF65-F5344CB8AC3E}">
        <p14:creationId xmlns:p14="http://schemas.microsoft.com/office/powerpoint/2010/main" val="11689711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C9C07B-FD2E-1141-5437-DB7A87B8C84A}"/>
              </a:ext>
            </a:extLst>
          </p:cNvPr>
          <p:cNvSpPr>
            <a:spLocks noGrp="1"/>
          </p:cNvSpPr>
          <p:nvPr>
            <p:ph type="title"/>
          </p:nvPr>
        </p:nvSpPr>
        <p:spPr>
          <a:xfrm>
            <a:off x="839788" y="365125"/>
            <a:ext cx="10515600" cy="1325563"/>
          </a:xfrm>
        </p:spPr>
        <p:txBody>
          <a:bodyPr/>
          <a:lstStyle/>
          <a:p>
            <a:r>
              <a:rPr lang="en-US"/>
              <a:t>Click to edit Master title style</a:t>
            </a:r>
            <a:endParaRPr lang="tr-TR"/>
          </a:p>
        </p:txBody>
      </p:sp>
      <p:sp>
        <p:nvSpPr>
          <p:cNvPr id="3" name="Text Placeholder 2">
            <a:extLst>
              <a:ext uri="{FF2B5EF4-FFF2-40B4-BE49-F238E27FC236}">
                <a16:creationId xmlns:a16="http://schemas.microsoft.com/office/drawing/2014/main" id="{4410CBCE-4BDA-14E8-29BF-016C00B6402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AEFAC1C-8C3A-CC89-C418-625DC791AC4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r-TR"/>
          </a:p>
        </p:txBody>
      </p:sp>
      <p:sp>
        <p:nvSpPr>
          <p:cNvPr id="5" name="Text Placeholder 4">
            <a:extLst>
              <a:ext uri="{FF2B5EF4-FFF2-40B4-BE49-F238E27FC236}">
                <a16:creationId xmlns:a16="http://schemas.microsoft.com/office/drawing/2014/main" id="{BC6413F9-BF70-BB5B-A52C-2DA3985A891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04BD7CB-CFC1-FAF7-2D1D-49E0B8B07D1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r-TR"/>
          </a:p>
        </p:txBody>
      </p:sp>
      <p:sp>
        <p:nvSpPr>
          <p:cNvPr id="7" name="Date Placeholder 6">
            <a:extLst>
              <a:ext uri="{FF2B5EF4-FFF2-40B4-BE49-F238E27FC236}">
                <a16:creationId xmlns:a16="http://schemas.microsoft.com/office/drawing/2014/main" id="{29E6B33A-8CDF-6509-6A85-8E3879ED9537}"/>
              </a:ext>
            </a:extLst>
          </p:cNvPr>
          <p:cNvSpPr>
            <a:spLocks noGrp="1"/>
          </p:cNvSpPr>
          <p:nvPr>
            <p:ph type="dt" sz="half" idx="10"/>
          </p:nvPr>
        </p:nvSpPr>
        <p:spPr/>
        <p:txBody>
          <a:bodyPr/>
          <a:lstStyle/>
          <a:p>
            <a:fld id="{926FF796-7CC2-4AE1-8515-745E6CEB6D11}" type="datetimeFigureOut">
              <a:rPr lang="tr-TR" smtClean="0"/>
              <a:t>30.08.2026</a:t>
            </a:fld>
            <a:endParaRPr lang="tr-TR"/>
          </a:p>
        </p:txBody>
      </p:sp>
      <p:sp>
        <p:nvSpPr>
          <p:cNvPr id="8" name="Footer Placeholder 7">
            <a:extLst>
              <a:ext uri="{FF2B5EF4-FFF2-40B4-BE49-F238E27FC236}">
                <a16:creationId xmlns:a16="http://schemas.microsoft.com/office/drawing/2014/main" id="{77BE8A9D-68A6-5CE5-1B6D-3106E2ED9D12}"/>
              </a:ext>
            </a:extLst>
          </p:cNvPr>
          <p:cNvSpPr>
            <a:spLocks noGrp="1"/>
          </p:cNvSpPr>
          <p:nvPr>
            <p:ph type="ftr" sz="quarter" idx="11"/>
          </p:nvPr>
        </p:nvSpPr>
        <p:spPr/>
        <p:txBody>
          <a:bodyPr/>
          <a:lstStyle/>
          <a:p>
            <a:endParaRPr lang="tr-TR"/>
          </a:p>
        </p:txBody>
      </p:sp>
      <p:sp>
        <p:nvSpPr>
          <p:cNvPr id="9" name="Slide Number Placeholder 8">
            <a:extLst>
              <a:ext uri="{FF2B5EF4-FFF2-40B4-BE49-F238E27FC236}">
                <a16:creationId xmlns:a16="http://schemas.microsoft.com/office/drawing/2014/main" id="{D0E774AF-C6D4-035E-F098-C5AFBB95EA14}"/>
              </a:ext>
            </a:extLst>
          </p:cNvPr>
          <p:cNvSpPr>
            <a:spLocks noGrp="1"/>
          </p:cNvSpPr>
          <p:nvPr>
            <p:ph type="sldNum" sz="quarter" idx="12"/>
          </p:nvPr>
        </p:nvSpPr>
        <p:spPr/>
        <p:txBody>
          <a:bodyPr/>
          <a:lstStyle/>
          <a:p>
            <a:fld id="{F5889F67-6CF4-420D-9E16-A1384F4DF253}" type="slidenum">
              <a:rPr lang="tr-TR" smtClean="0"/>
              <a:t>‹#›</a:t>
            </a:fld>
            <a:endParaRPr lang="tr-TR"/>
          </a:p>
        </p:txBody>
      </p:sp>
    </p:spTree>
    <p:extLst>
      <p:ext uri="{BB962C8B-B14F-4D97-AF65-F5344CB8AC3E}">
        <p14:creationId xmlns:p14="http://schemas.microsoft.com/office/powerpoint/2010/main" val="499795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0A42CA-4746-14CF-6606-8A573F8310E3}"/>
              </a:ext>
            </a:extLst>
          </p:cNvPr>
          <p:cNvSpPr>
            <a:spLocks noGrp="1"/>
          </p:cNvSpPr>
          <p:nvPr>
            <p:ph type="title"/>
          </p:nvPr>
        </p:nvSpPr>
        <p:spPr/>
        <p:txBody>
          <a:bodyPr/>
          <a:lstStyle/>
          <a:p>
            <a:r>
              <a:rPr lang="en-US"/>
              <a:t>Click to edit Master title style</a:t>
            </a:r>
            <a:endParaRPr lang="tr-TR"/>
          </a:p>
        </p:txBody>
      </p:sp>
      <p:sp>
        <p:nvSpPr>
          <p:cNvPr id="3" name="Date Placeholder 2">
            <a:extLst>
              <a:ext uri="{FF2B5EF4-FFF2-40B4-BE49-F238E27FC236}">
                <a16:creationId xmlns:a16="http://schemas.microsoft.com/office/drawing/2014/main" id="{6AAE0FC9-AD46-B326-3FFB-41336F159A8A}"/>
              </a:ext>
            </a:extLst>
          </p:cNvPr>
          <p:cNvSpPr>
            <a:spLocks noGrp="1"/>
          </p:cNvSpPr>
          <p:nvPr>
            <p:ph type="dt" sz="half" idx="10"/>
          </p:nvPr>
        </p:nvSpPr>
        <p:spPr/>
        <p:txBody>
          <a:bodyPr/>
          <a:lstStyle/>
          <a:p>
            <a:fld id="{926FF796-7CC2-4AE1-8515-745E6CEB6D11}" type="datetimeFigureOut">
              <a:rPr lang="tr-TR" smtClean="0"/>
              <a:t>30.08.2026</a:t>
            </a:fld>
            <a:endParaRPr lang="tr-TR"/>
          </a:p>
        </p:txBody>
      </p:sp>
      <p:sp>
        <p:nvSpPr>
          <p:cNvPr id="4" name="Footer Placeholder 3">
            <a:extLst>
              <a:ext uri="{FF2B5EF4-FFF2-40B4-BE49-F238E27FC236}">
                <a16:creationId xmlns:a16="http://schemas.microsoft.com/office/drawing/2014/main" id="{20722E93-A1F8-A543-2DFF-1090EBD8362E}"/>
              </a:ext>
            </a:extLst>
          </p:cNvPr>
          <p:cNvSpPr>
            <a:spLocks noGrp="1"/>
          </p:cNvSpPr>
          <p:nvPr>
            <p:ph type="ftr" sz="quarter" idx="11"/>
          </p:nvPr>
        </p:nvSpPr>
        <p:spPr/>
        <p:txBody>
          <a:bodyPr/>
          <a:lstStyle/>
          <a:p>
            <a:endParaRPr lang="tr-TR"/>
          </a:p>
        </p:txBody>
      </p:sp>
      <p:sp>
        <p:nvSpPr>
          <p:cNvPr id="5" name="Slide Number Placeholder 4">
            <a:extLst>
              <a:ext uri="{FF2B5EF4-FFF2-40B4-BE49-F238E27FC236}">
                <a16:creationId xmlns:a16="http://schemas.microsoft.com/office/drawing/2014/main" id="{D0AE6A39-2021-F24E-A18B-72EA43DE7AC9}"/>
              </a:ext>
            </a:extLst>
          </p:cNvPr>
          <p:cNvSpPr>
            <a:spLocks noGrp="1"/>
          </p:cNvSpPr>
          <p:nvPr>
            <p:ph type="sldNum" sz="quarter" idx="12"/>
          </p:nvPr>
        </p:nvSpPr>
        <p:spPr/>
        <p:txBody>
          <a:bodyPr/>
          <a:lstStyle/>
          <a:p>
            <a:fld id="{F5889F67-6CF4-420D-9E16-A1384F4DF253}" type="slidenum">
              <a:rPr lang="tr-TR" smtClean="0"/>
              <a:t>‹#›</a:t>
            </a:fld>
            <a:endParaRPr lang="tr-TR"/>
          </a:p>
        </p:txBody>
      </p:sp>
    </p:spTree>
    <p:extLst>
      <p:ext uri="{BB962C8B-B14F-4D97-AF65-F5344CB8AC3E}">
        <p14:creationId xmlns:p14="http://schemas.microsoft.com/office/powerpoint/2010/main" val="14177989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B1A55E5-8EA7-9331-840C-03807B906C31}"/>
              </a:ext>
            </a:extLst>
          </p:cNvPr>
          <p:cNvSpPr>
            <a:spLocks noGrp="1"/>
          </p:cNvSpPr>
          <p:nvPr>
            <p:ph type="dt" sz="half" idx="10"/>
          </p:nvPr>
        </p:nvSpPr>
        <p:spPr/>
        <p:txBody>
          <a:bodyPr/>
          <a:lstStyle/>
          <a:p>
            <a:fld id="{926FF796-7CC2-4AE1-8515-745E6CEB6D11}" type="datetimeFigureOut">
              <a:rPr lang="tr-TR" smtClean="0"/>
              <a:t>30.08.2026</a:t>
            </a:fld>
            <a:endParaRPr lang="tr-TR"/>
          </a:p>
        </p:txBody>
      </p:sp>
      <p:sp>
        <p:nvSpPr>
          <p:cNvPr id="3" name="Footer Placeholder 2">
            <a:extLst>
              <a:ext uri="{FF2B5EF4-FFF2-40B4-BE49-F238E27FC236}">
                <a16:creationId xmlns:a16="http://schemas.microsoft.com/office/drawing/2014/main" id="{F1689DBA-CAEE-373B-AFD7-09A37A399816}"/>
              </a:ext>
            </a:extLst>
          </p:cNvPr>
          <p:cNvSpPr>
            <a:spLocks noGrp="1"/>
          </p:cNvSpPr>
          <p:nvPr>
            <p:ph type="ftr" sz="quarter" idx="11"/>
          </p:nvPr>
        </p:nvSpPr>
        <p:spPr/>
        <p:txBody>
          <a:bodyPr/>
          <a:lstStyle/>
          <a:p>
            <a:endParaRPr lang="tr-TR"/>
          </a:p>
        </p:txBody>
      </p:sp>
      <p:sp>
        <p:nvSpPr>
          <p:cNvPr id="4" name="Slide Number Placeholder 3">
            <a:extLst>
              <a:ext uri="{FF2B5EF4-FFF2-40B4-BE49-F238E27FC236}">
                <a16:creationId xmlns:a16="http://schemas.microsoft.com/office/drawing/2014/main" id="{AF139403-8AEC-C8E8-1A40-C19AA2C34C91}"/>
              </a:ext>
            </a:extLst>
          </p:cNvPr>
          <p:cNvSpPr>
            <a:spLocks noGrp="1"/>
          </p:cNvSpPr>
          <p:nvPr>
            <p:ph type="sldNum" sz="quarter" idx="12"/>
          </p:nvPr>
        </p:nvSpPr>
        <p:spPr/>
        <p:txBody>
          <a:bodyPr/>
          <a:lstStyle/>
          <a:p>
            <a:fld id="{F5889F67-6CF4-420D-9E16-A1384F4DF253}" type="slidenum">
              <a:rPr lang="tr-TR" smtClean="0"/>
              <a:t>‹#›</a:t>
            </a:fld>
            <a:endParaRPr lang="tr-TR"/>
          </a:p>
        </p:txBody>
      </p:sp>
    </p:spTree>
    <p:extLst>
      <p:ext uri="{BB962C8B-B14F-4D97-AF65-F5344CB8AC3E}">
        <p14:creationId xmlns:p14="http://schemas.microsoft.com/office/powerpoint/2010/main" val="35532307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433A23-7263-D8AA-0CD4-FF709EFCB40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tr-TR"/>
          </a:p>
        </p:txBody>
      </p:sp>
      <p:sp>
        <p:nvSpPr>
          <p:cNvPr id="3" name="Content Placeholder 2">
            <a:extLst>
              <a:ext uri="{FF2B5EF4-FFF2-40B4-BE49-F238E27FC236}">
                <a16:creationId xmlns:a16="http://schemas.microsoft.com/office/drawing/2014/main" id="{ABB74938-F35E-162D-CB7A-11EEB0BA404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r-TR"/>
          </a:p>
        </p:txBody>
      </p:sp>
      <p:sp>
        <p:nvSpPr>
          <p:cNvPr id="4" name="Text Placeholder 3">
            <a:extLst>
              <a:ext uri="{FF2B5EF4-FFF2-40B4-BE49-F238E27FC236}">
                <a16:creationId xmlns:a16="http://schemas.microsoft.com/office/drawing/2014/main" id="{D9DC896E-92D7-E179-4FF9-C5F6DD83746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0BD3167-6C6B-7845-8550-9A8587F20F7B}"/>
              </a:ext>
            </a:extLst>
          </p:cNvPr>
          <p:cNvSpPr>
            <a:spLocks noGrp="1"/>
          </p:cNvSpPr>
          <p:nvPr>
            <p:ph type="dt" sz="half" idx="10"/>
          </p:nvPr>
        </p:nvSpPr>
        <p:spPr/>
        <p:txBody>
          <a:bodyPr/>
          <a:lstStyle/>
          <a:p>
            <a:fld id="{926FF796-7CC2-4AE1-8515-745E6CEB6D11}" type="datetimeFigureOut">
              <a:rPr lang="tr-TR" smtClean="0"/>
              <a:t>30.08.2026</a:t>
            </a:fld>
            <a:endParaRPr lang="tr-TR"/>
          </a:p>
        </p:txBody>
      </p:sp>
      <p:sp>
        <p:nvSpPr>
          <p:cNvPr id="6" name="Footer Placeholder 5">
            <a:extLst>
              <a:ext uri="{FF2B5EF4-FFF2-40B4-BE49-F238E27FC236}">
                <a16:creationId xmlns:a16="http://schemas.microsoft.com/office/drawing/2014/main" id="{FD8010AF-D24F-0567-95BE-429C8C2C6A11}"/>
              </a:ext>
            </a:extLst>
          </p:cNvPr>
          <p:cNvSpPr>
            <a:spLocks noGrp="1"/>
          </p:cNvSpPr>
          <p:nvPr>
            <p:ph type="ftr" sz="quarter" idx="11"/>
          </p:nvPr>
        </p:nvSpPr>
        <p:spPr/>
        <p:txBody>
          <a:bodyPr/>
          <a:lstStyle/>
          <a:p>
            <a:endParaRPr lang="tr-TR"/>
          </a:p>
        </p:txBody>
      </p:sp>
      <p:sp>
        <p:nvSpPr>
          <p:cNvPr id="7" name="Slide Number Placeholder 6">
            <a:extLst>
              <a:ext uri="{FF2B5EF4-FFF2-40B4-BE49-F238E27FC236}">
                <a16:creationId xmlns:a16="http://schemas.microsoft.com/office/drawing/2014/main" id="{0A4F191E-C321-2949-6EA2-BEE534A5C854}"/>
              </a:ext>
            </a:extLst>
          </p:cNvPr>
          <p:cNvSpPr>
            <a:spLocks noGrp="1"/>
          </p:cNvSpPr>
          <p:nvPr>
            <p:ph type="sldNum" sz="quarter" idx="12"/>
          </p:nvPr>
        </p:nvSpPr>
        <p:spPr/>
        <p:txBody>
          <a:bodyPr/>
          <a:lstStyle/>
          <a:p>
            <a:fld id="{F5889F67-6CF4-420D-9E16-A1384F4DF253}" type="slidenum">
              <a:rPr lang="tr-TR" smtClean="0"/>
              <a:t>‹#›</a:t>
            </a:fld>
            <a:endParaRPr lang="tr-TR"/>
          </a:p>
        </p:txBody>
      </p:sp>
    </p:spTree>
    <p:extLst>
      <p:ext uri="{BB962C8B-B14F-4D97-AF65-F5344CB8AC3E}">
        <p14:creationId xmlns:p14="http://schemas.microsoft.com/office/powerpoint/2010/main" val="22322676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4BB29D-1EE8-BD04-6CDE-21EBFAF68D9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tr-TR"/>
          </a:p>
        </p:txBody>
      </p:sp>
      <p:sp>
        <p:nvSpPr>
          <p:cNvPr id="3" name="Picture Placeholder 2">
            <a:extLst>
              <a:ext uri="{FF2B5EF4-FFF2-40B4-BE49-F238E27FC236}">
                <a16:creationId xmlns:a16="http://schemas.microsoft.com/office/drawing/2014/main" id="{FFC60708-478C-F76D-32A6-8769503E52B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tr-TR"/>
          </a:p>
        </p:txBody>
      </p:sp>
      <p:sp>
        <p:nvSpPr>
          <p:cNvPr id="4" name="Text Placeholder 3">
            <a:extLst>
              <a:ext uri="{FF2B5EF4-FFF2-40B4-BE49-F238E27FC236}">
                <a16:creationId xmlns:a16="http://schemas.microsoft.com/office/drawing/2014/main" id="{1F1CE0C3-1F9B-25DC-1A5C-578A9F84D34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F3BB065-688E-4E92-F277-CD0E73866227}"/>
              </a:ext>
            </a:extLst>
          </p:cNvPr>
          <p:cNvSpPr>
            <a:spLocks noGrp="1"/>
          </p:cNvSpPr>
          <p:nvPr>
            <p:ph type="dt" sz="half" idx="10"/>
          </p:nvPr>
        </p:nvSpPr>
        <p:spPr/>
        <p:txBody>
          <a:bodyPr/>
          <a:lstStyle/>
          <a:p>
            <a:fld id="{926FF796-7CC2-4AE1-8515-745E6CEB6D11}" type="datetimeFigureOut">
              <a:rPr lang="tr-TR" smtClean="0"/>
              <a:t>30.08.2026</a:t>
            </a:fld>
            <a:endParaRPr lang="tr-TR"/>
          </a:p>
        </p:txBody>
      </p:sp>
      <p:sp>
        <p:nvSpPr>
          <p:cNvPr id="6" name="Footer Placeholder 5">
            <a:extLst>
              <a:ext uri="{FF2B5EF4-FFF2-40B4-BE49-F238E27FC236}">
                <a16:creationId xmlns:a16="http://schemas.microsoft.com/office/drawing/2014/main" id="{1DBBBEDD-BBA5-BEAB-7F83-CBFED8224281}"/>
              </a:ext>
            </a:extLst>
          </p:cNvPr>
          <p:cNvSpPr>
            <a:spLocks noGrp="1"/>
          </p:cNvSpPr>
          <p:nvPr>
            <p:ph type="ftr" sz="quarter" idx="11"/>
          </p:nvPr>
        </p:nvSpPr>
        <p:spPr/>
        <p:txBody>
          <a:bodyPr/>
          <a:lstStyle/>
          <a:p>
            <a:endParaRPr lang="tr-TR"/>
          </a:p>
        </p:txBody>
      </p:sp>
      <p:sp>
        <p:nvSpPr>
          <p:cNvPr id="7" name="Slide Number Placeholder 6">
            <a:extLst>
              <a:ext uri="{FF2B5EF4-FFF2-40B4-BE49-F238E27FC236}">
                <a16:creationId xmlns:a16="http://schemas.microsoft.com/office/drawing/2014/main" id="{83FAC80B-2597-C1AD-3132-C12526C4D519}"/>
              </a:ext>
            </a:extLst>
          </p:cNvPr>
          <p:cNvSpPr>
            <a:spLocks noGrp="1"/>
          </p:cNvSpPr>
          <p:nvPr>
            <p:ph type="sldNum" sz="quarter" idx="12"/>
          </p:nvPr>
        </p:nvSpPr>
        <p:spPr/>
        <p:txBody>
          <a:bodyPr/>
          <a:lstStyle/>
          <a:p>
            <a:fld id="{F5889F67-6CF4-420D-9E16-A1384F4DF253}" type="slidenum">
              <a:rPr lang="tr-TR" smtClean="0"/>
              <a:t>‹#›</a:t>
            </a:fld>
            <a:endParaRPr lang="tr-TR"/>
          </a:p>
        </p:txBody>
      </p:sp>
    </p:spTree>
    <p:extLst>
      <p:ext uri="{BB962C8B-B14F-4D97-AF65-F5344CB8AC3E}">
        <p14:creationId xmlns:p14="http://schemas.microsoft.com/office/powerpoint/2010/main" val="41082612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3DEE9C-4B75-1EC7-4060-A010221873B3}"/>
              </a:ext>
            </a:extLst>
          </p:cNvPr>
          <p:cNvSpPr>
            <a:spLocks noGrp="1"/>
          </p:cNvSpPr>
          <p:nvPr>
            <p:ph type="title"/>
          </p:nvPr>
        </p:nvSpPr>
        <p:spPr/>
        <p:txBody>
          <a:bodyPr/>
          <a:lstStyle/>
          <a:p>
            <a:r>
              <a:rPr lang="en-US"/>
              <a:t>Click to edit Master title style</a:t>
            </a:r>
            <a:endParaRPr lang="tr-TR"/>
          </a:p>
        </p:txBody>
      </p:sp>
      <p:sp>
        <p:nvSpPr>
          <p:cNvPr id="3" name="Vertical Text Placeholder 2">
            <a:extLst>
              <a:ext uri="{FF2B5EF4-FFF2-40B4-BE49-F238E27FC236}">
                <a16:creationId xmlns:a16="http://schemas.microsoft.com/office/drawing/2014/main" id="{5C7DB90F-AE16-ABFE-2F82-58C5D4D2E74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r-TR"/>
          </a:p>
        </p:txBody>
      </p:sp>
      <p:sp>
        <p:nvSpPr>
          <p:cNvPr id="4" name="Date Placeholder 3">
            <a:extLst>
              <a:ext uri="{FF2B5EF4-FFF2-40B4-BE49-F238E27FC236}">
                <a16:creationId xmlns:a16="http://schemas.microsoft.com/office/drawing/2014/main" id="{2A45E8F3-140B-3C07-264A-06EBF96EDCF5}"/>
              </a:ext>
            </a:extLst>
          </p:cNvPr>
          <p:cNvSpPr>
            <a:spLocks noGrp="1"/>
          </p:cNvSpPr>
          <p:nvPr>
            <p:ph type="dt" sz="half" idx="10"/>
          </p:nvPr>
        </p:nvSpPr>
        <p:spPr/>
        <p:txBody>
          <a:bodyPr/>
          <a:lstStyle/>
          <a:p>
            <a:fld id="{926FF796-7CC2-4AE1-8515-745E6CEB6D11}" type="datetimeFigureOut">
              <a:rPr lang="tr-TR" smtClean="0"/>
              <a:t>30.08.2026</a:t>
            </a:fld>
            <a:endParaRPr lang="tr-TR"/>
          </a:p>
        </p:txBody>
      </p:sp>
      <p:sp>
        <p:nvSpPr>
          <p:cNvPr id="5" name="Footer Placeholder 4">
            <a:extLst>
              <a:ext uri="{FF2B5EF4-FFF2-40B4-BE49-F238E27FC236}">
                <a16:creationId xmlns:a16="http://schemas.microsoft.com/office/drawing/2014/main" id="{870F1121-07AC-11DD-96DE-5D9A0DFF6EA2}"/>
              </a:ext>
            </a:extLst>
          </p:cNvPr>
          <p:cNvSpPr>
            <a:spLocks noGrp="1"/>
          </p:cNvSpPr>
          <p:nvPr>
            <p:ph type="ftr" sz="quarter" idx="11"/>
          </p:nvPr>
        </p:nvSpPr>
        <p:spPr/>
        <p:txBody>
          <a:bodyPr/>
          <a:lstStyle/>
          <a:p>
            <a:endParaRPr lang="tr-TR"/>
          </a:p>
        </p:txBody>
      </p:sp>
      <p:sp>
        <p:nvSpPr>
          <p:cNvPr id="6" name="Slide Number Placeholder 5">
            <a:extLst>
              <a:ext uri="{FF2B5EF4-FFF2-40B4-BE49-F238E27FC236}">
                <a16:creationId xmlns:a16="http://schemas.microsoft.com/office/drawing/2014/main" id="{DB644026-4EA3-99BA-08FE-29DD0A4991DE}"/>
              </a:ext>
            </a:extLst>
          </p:cNvPr>
          <p:cNvSpPr>
            <a:spLocks noGrp="1"/>
          </p:cNvSpPr>
          <p:nvPr>
            <p:ph type="sldNum" sz="quarter" idx="12"/>
          </p:nvPr>
        </p:nvSpPr>
        <p:spPr/>
        <p:txBody>
          <a:bodyPr/>
          <a:lstStyle/>
          <a:p>
            <a:fld id="{F5889F67-6CF4-420D-9E16-A1384F4DF253}" type="slidenum">
              <a:rPr lang="tr-TR" smtClean="0"/>
              <a:t>‹#›</a:t>
            </a:fld>
            <a:endParaRPr lang="tr-TR"/>
          </a:p>
        </p:txBody>
      </p:sp>
    </p:spTree>
    <p:extLst>
      <p:ext uri="{BB962C8B-B14F-4D97-AF65-F5344CB8AC3E}">
        <p14:creationId xmlns:p14="http://schemas.microsoft.com/office/powerpoint/2010/main" val="7229288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C9CA57F-636F-1A0A-B8E3-883FCDD8622C}"/>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tr-TR"/>
          </a:p>
        </p:txBody>
      </p:sp>
      <p:sp>
        <p:nvSpPr>
          <p:cNvPr id="3" name="Vertical Text Placeholder 2">
            <a:extLst>
              <a:ext uri="{FF2B5EF4-FFF2-40B4-BE49-F238E27FC236}">
                <a16:creationId xmlns:a16="http://schemas.microsoft.com/office/drawing/2014/main" id="{652EF7B7-D54B-BD8C-1F0B-DDC32B91EA2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r-TR"/>
          </a:p>
        </p:txBody>
      </p:sp>
      <p:sp>
        <p:nvSpPr>
          <p:cNvPr id="4" name="Date Placeholder 3">
            <a:extLst>
              <a:ext uri="{FF2B5EF4-FFF2-40B4-BE49-F238E27FC236}">
                <a16:creationId xmlns:a16="http://schemas.microsoft.com/office/drawing/2014/main" id="{FB2194CD-E165-E808-D4F7-DC250D2490A9}"/>
              </a:ext>
            </a:extLst>
          </p:cNvPr>
          <p:cNvSpPr>
            <a:spLocks noGrp="1"/>
          </p:cNvSpPr>
          <p:nvPr>
            <p:ph type="dt" sz="half" idx="10"/>
          </p:nvPr>
        </p:nvSpPr>
        <p:spPr/>
        <p:txBody>
          <a:bodyPr/>
          <a:lstStyle/>
          <a:p>
            <a:fld id="{926FF796-7CC2-4AE1-8515-745E6CEB6D11}" type="datetimeFigureOut">
              <a:rPr lang="tr-TR" smtClean="0"/>
              <a:t>30.08.2026</a:t>
            </a:fld>
            <a:endParaRPr lang="tr-TR"/>
          </a:p>
        </p:txBody>
      </p:sp>
      <p:sp>
        <p:nvSpPr>
          <p:cNvPr id="5" name="Footer Placeholder 4">
            <a:extLst>
              <a:ext uri="{FF2B5EF4-FFF2-40B4-BE49-F238E27FC236}">
                <a16:creationId xmlns:a16="http://schemas.microsoft.com/office/drawing/2014/main" id="{36D1BCFC-5A3B-477A-0B20-0A78E19BEF6E}"/>
              </a:ext>
            </a:extLst>
          </p:cNvPr>
          <p:cNvSpPr>
            <a:spLocks noGrp="1"/>
          </p:cNvSpPr>
          <p:nvPr>
            <p:ph type="ftr" sz="quarter" idx="11"/>
          </p:nvPr>
        </p:nvSpPr>
        <p:spPr/>
        <p:txBody>
          <a:bodyPr/>
          <a:lstStyle/>
          <a:p>
            <a:endParaRPr lang="tr-TR"/>
          </a:p>
        </p:txBody>
      </p:sp>
      <p:sp>
        <p:nvSpPr>
          <p:cNvPr id="6" name="Slide Number Placeholder 5">
            <a:extLst>
              <a:ext uri="{FF2B5EF4-FFF2-40B4-BE49-F238E27FC236}">
                <a16:creationId xmlns:a16="http://schemas.microsoft.com/office/drawing/2014/main" id="{D99CC2F1-7C4A-AB5D-3010-6D67C05B07E8}"/>
              </a:ext>
            </a:extLst>
          </p:cNvPr>
          <p:cNvSpPr>
            <a:spLocks noGrp="1"/>
          </p:cNvSpPr>
          <p:nvPr>
            <p:ph type="sldNum" sz="quarter" idx="12"/>
          </p:nvPr>
        </p:nvSpPr>
        <p:spPr/>
        <p:txBody>
          <a:bodyPr/>
          <a:lstStyle/>
          <a:p>
            <a:fld id="{F5889F67-6CF4-420D-9E16-A1384F4DF253}" type="slidenum">
              <a:rPr lang="tr-TR" smtClean="0"/>
              <a:t>‹#›</a:t>
            </a:fld>
            <a:endParaRPr lang="tr-TR"/>
          </a:p>
        </p:txBody>
      </p:sp>
    </p:spTree>
    <p:extLst>
      <p:ext uri="{BB962C8B-B14F-4D97-AF65-F5344CB8AC3E}">
        <p14:creationId xmlns:p14="http://schemas.microsoft.com/office/powerpoint/2010/main" val="358920014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429626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101BF54-1F34-B343-EBA2-810E11851FD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tr-TR"/>
          </a:p>
        </p:txBody>
      </p:sp>
      <p:sp>
        <p:nvSpPr>
          <p:cNvPr id="3" name="Text Placeholder 2">
            <a:extLst>
              <a:ext uri="{FF2B5EF4-FFF2-40B4-BE49-F238E27FC236}">
                <a16:creationId xmlns:a16="http://schemas.microsoft.com/office/drawing/2014/main" id="{1D25002B-98CA-2BAE-BDD9-D99E34D100F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r-TR"/>
          </a:p>
        </p:txBody>
      </p:sp>
      <p:sp>
        <p:nvSpPr>
          <p:cNvPr id="4" name="Date Placeholder 3">
            <a:extLst>
              <a:ext uri="{FF2B5EF4-FFF2-40B4-BE49-F238E27FC236}">
                <a16:creationId xmlns:a16="http://schemas.microsoft.com/office/drawing/2014/main" id="{688486BC-355C-E559-0AB5-ADE73E63CE2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26FF796-7CC2-4AE1-8515-745E6CEB6D11}" type="datetimeFigureOut">
              <a:rPr lang="tr-TR" smtClean="0"/>
              <a:t>30.08.2026</a:t>
            </a:fld>
            <a:endParaRPr lang="tr-TR"/>
          </a:p>
        </p:txBody>
      </p:sp>
      <p:sp>
        <p:nvSpPr>
          <p:cNvPr id="5" name="Footer Placeholder 4">
            <a:extLst>
              <a:ext uri="{FF2B5EF4-FFF2-40B4-BE49-F238E27FC236}">
                <a16:creationId xmlns:a16="http://schemas.microsoft.com/office/drawing/2014/main" id="{04E98667-5CC0-94C9-0E13-70D2EFB31AE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tr-TR"/>
          </a:p>
        </p:txBody>
      </p:sp>
      <p:sp>
        <p:nvSpPr>
          <p:cNvPr id="6" name="Slide Number Placeholder 5">
            <a:extLst>
              <a:ext uri="{FF2B5EF4-FFF2-40B4-BE49-F238E27FC236}">
                <a16:creationId xmlns:a16="http://schemas.microsoft.com/office/drawing/2014/main" id="{8811F50E-864B-5AB8-F5D5-7F583F5A1B4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5889F67-6CF4-420D-9E16-A1384F4DF253}" type="slidenum">
              <a:rPr lang="tr-TR" smtClean="0"/>
              <a:t>‹#›</a:t>
            </a:fld>
            <a:endParaRPr lang="tr-TR"/>
          </a:p>
        </p:txBody>
      </p:sp>
    </p:spTree>
    <p:extLst>
      <p:ext uri="{BB962C8B-B14F-4D97-AF65-F5344CB8AC3E}">
        <p14:creationId xmlns:p14="http://schemas.microsoft.com/office/powerpoint/2010/main" val="20385466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NULL"/><Relationship Id="rId3" Type="http://schemas.openxmlformats.org/officeDocument/2006/relationships/image" Target="../media/image1.png"/><Relationship Id="rId7" Type="http://schemas.openxmlformats.org/officeDocument/2006/relationships/image" Target="NULL"/><Relationship Id="rId12" Type="http://schemas.openxmlformats.org/officeDocument/2006/relationships/image" Target="NULL"/><Relationship Id="rId2" Type="http://schemas.openxmlformats.org/officeDocument/2006/relationships/notesSlide" Target="../notesSlides/notesSlide1.xml"/><Relationship Id="rId1" Type="http://schemas.openxmlformats.org/officeDocument/2006/relationships/slideLayout" Target="../slideLayouts/slideLayout12.xml"/><Relationship Id="rId6" Type="http://schemas.openxmlformats.org/officeDocument/2006/relationships/image" Target="NULL"/><Relationship Id="rId11" Type="http://schemas.openxmlformats.org/officeDocument/2006/relationships/image" Target="NULL"/><Relationship Id="rId5" Type="http://schemas.openxmlformats.org/officeDocument/2006/relationships/image" Target="NULL"/><Relationship Id="rId10" Type="http://schemas.openxmlformats.org/officeDocument/2006/relationships/image" Target="NULL"/><Relationship Id="rId4" Type="http://schemas.openxmlformats.org/officeDocument/2006/relationships/image" Target="../media/image2.png"/><Relationship Id="rId9" Type="http://schemas.openxmlformats.org/officeDocument/2006/relationships/image" Target="NUL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NULL"/><Relationship Id="rId2" Type="http://schemas.openxmlformats.org/officeDocument/2006/relationships/notesSlide" Target="../notesSlides/notesSlide2.xml"/><Relationship Id="rId1" Type="http://schemas.openxmlformats.org/officeDocument/2006/relationships/slideLayout" Target="../slideLayouts/slideLayout12.xml"/><Relationship Id="rId6" Type="http://schemas.openxmlformats.org/officeDocument/2006/relationships/image" Target="NULL"/><Relationship Id="rId5" Type="http://schemas.openxmlformats.org/officeDocument/2006/relationships/image" Target="NUL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8" Type="http://schemas.openxmlformats.org/officeDocument/2006/relationships/image" Target="NULL"/><Relationship Id="rId3" Type="http://schemas.openxmlformats.org/officeDocument/2006/relationships/image" Target="../media/image1.png"/><Relationship Id="rId7" Type="http://schemas.openxmlformats.org/officeDocument/2006/relationships/image" Target="NULL"/><Relationship Id="rId12" Type="http://schemas.openxmlformats.org/officeDocument/2006/relationships/image" Target="NULL"/><Relationship Id="rId2" Type="http://schemas.openxmlformats.org/officeDocument/2006/relationships/notesSlide" Target="../notesSlides/notesSlide3.xml"/><Relationship Id="rId1" Type="http://schemas.openxmlformats.org/officeDocument/2006/relationships/slideLayout" Target="../slideLayouts/slideLayout12.xml"/><Relationship Id="rId6" Type="http://schemas.openxmlformats.org/officeDocument/2006/relationships/image" Target="NULL"/><Relationship Id="rId11" Type="http://schemas.openxmlformats.org/officeDocument/2006/relationships/image" Target="NULL"/><Relationship Id="rId5" Type="http://schemas.openxmlformats.org/officeDocument/2006/relationships/image" Target="NULL"/><Relationship Id="rId10" Type="http://schemas.openxmlformats.org/officeDocument/2006/relationships/image" Target="NULL"/><Relationship Id="rId4" Type="http://schemas.openxmlformats.org/officeDocument/2006/relationships/image" Target="../media/image2.png"/><Relationship Id="rId9" Type="http://schemas.openxmlformats.org/officeDocument/2006/relationships/image" Target="NULL"/></Relationships>
</file>

<file path=ppt/slides/_rels/slide5.xml.rels><?xml version="1.0" encoding="UTF-8" standalone="yes"?>
<Relationships xmlns="http://schemas.openxmlformats.org/package/2006/relationships"><Relationship Id="rId8" Type="http://schemas.openxmlformats.org/officeDocument/2006/relationships/image" Target="NULL"/><Relationship Id="rId3" Type="http://schemas.openxmlformats.org/officeDocument/2006/relationships/image" Target="../media/image1.png"/><Relationship Id="rId7" Type="http://schemas.openxmlformats.org/officeDocument/2006/relationships/image" Target="NULL"/><Relationship Id="rId2" Type="http://schemas.openxmlformats.org/officeDocument/2006/relationships/notesSlide" Target="../notesSlides/notesSlide4.xml"/><Relationship Id="rId1" Type="http://schemas.openxmlformats.org/officeDocument/2006/relationships/slideLayout" Target="../slideLayouts/slideLayout12.xml"/><Relationship Id="rId6" Type="http://schemas.openxmlformats.org/officeDocument/2006/relationships/image" Target="NULL"/><Relationship Id="rId5" Type="http://schemas.openxmlformats.org/officeDocument/2006/relationships/image" Target="NULL"/><Relationship Id="rId4" Type="http://schemas.openxmlformats.org/officeDocument/2006/relationships/image" Target="../media/image2.png"/><Relationship Id="rId9" Type="http://schemas.openxmlformats.org/officeDocument/2006/relationships/image" Target="NUL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2.xml"/><Relationship Id="rId6" Type="http://schemas.openxmlformats.org/officeDocument/2006/relationships/image" Target="NULL"/><Relationship Id="rId5" Type="http://schemas.openxmlformats.org/officeDocument/2006/relationships/image" Target="NULL"/><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2.xml"/><Relationship Id="rId5" Type="http://schemas.openxmlformats.org/officeDocument/2006/relationships/image" Target="NULL"/><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2.xml"/><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2.xml"/><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2.xml"/><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2.xml"/><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2.xml"/><Relationship Id="rId5" Type="http://schemas.openxmlformats.org/officeDocument/2006/relationships/image" Target="NULL"/><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2.xml"/><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2.xml"/><Relationship Id="rId5" Type="http://schemas.openxmlformats.org/officeDocument/2006/relationships/image" Target="../media/image3.png"/><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2.xml"/><Relationship Id="rId5" Type="http://schemas.openxmlformats.org/officeDocument/2006/relationships/image" Target="../media/image6.png"/><Relationship Id="rId4" Type="http://schemas.openxmlformats.org/officeDocument/2006/relationships/image" Target="../media/image2.pn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2.xml"/><Relationship Id="rId5" Type="http://schemas.openxmlformats.org/officeDocument/2006/relationships/image" Target="../media/image7.png"/><Relationship Id="rId4" Type="http://schemas.openxmlformats.org/officeDocument/2006/relationships/image" Target="../media/image2.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2.xml"/><Relationship Id="rId6" Type="http://schemas.openxmlformats.org/officeDocument/2006/relationships/image" Target="../media/image8.png"/><Relationship Id="rId5" Type="http://schemas.openxmlformats.org/officeDocument/2006/relationships/image" Target="../media/image61.png"/><Relationship Id="rId4" Type="http://schemas.openxmlformats.org/officeDocument/2006/relationships/image" Target="../media/image2.png"/></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12.xml"/><Relationship Id="rId6" Type="http://schemas.openxmlformats.org/officeDocument/2006/relationships/image" Target="../media/image8.png"/><Relationship Id="rId5" Type="http://schemas.openxmlformats.org/officeDocument/2006/relationships/image" Target="../media/image62.png"/><Relationship Id="rId4" Type="http://schemas.openxmlformats.org/officeDocument/2006/relationships/image" Target="../media/image2.png"/></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12.xml"/><Relationship Id="rId5" Type="http://schemas.openxmlformats.org/officeDocument/2006/relationships/image" Target="../media/image9.png"/><Relationship Id="rId4" Type="http://schemas.openxmlformats.org/officeDocument/2006/relationships/image" Target="../media/image2.png"/></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12.xml"/><Relationship Id="rId5" Type="http://schemas.openxmlformats.org/officeDocument/2006/relationships/image" Target="../media/image10.png"/><Relationship Id="rId4" Type="http://schemas.openxmlformats.org/officeDocument/2006/relationships/image" Target="../media/image2.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12.xml"/><Relationship Id="rId5" Type="http://schemas.openxmlformats.org/officeDocument/2006/relationships/image" Target="../media/image11.png"/><Relationship Id="rId4" Type="http://schemas.openxmlformats.org/officeDocument/2006/relationships/image" Target="../media/image2.png"/></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12.xml"/><Relationship Id="rId4" Type="http://schemas.openxmlformats.org/officeDocument/2006/relationships/image" Target="../media/image2.png"/></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12.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1" name="Kicker"/>
          <p:cNvSpPr/>
          <p:nvPr/>
        </p:nvSpPr>
        <p:spPr>
          <a:xfrm>
            <a:off x="914400" y="2331720"/>
            <a:ext cx="10360152" cy="411480"/>
          </a:xfrm>
          <a:prstGeom prst="rect">
            <a:avLst/>
          </a:prstGeom>
          <a:noFill/>
          <a:ln/>
        </p:spPr>
        <p:txBody>
          <a:bodyPr wrap="square" lIns="0" tIns="0" rIns="0" bIns="0" rtlCol="0" anchor="ctr"/>
          <a:lstStyle/>
          <a:p>
            <a:pPr marL="0" indent="0" algn="ctr">
              <a:buNone/>
            </a:pPr>
            <a:r>
              <a:rPr lang="en-US" sz="1400" b="1" i="0" dirty="0">
                <a:solidFill>
                  <a:srgbClr val="E31836"/>
                </a:solidFill>
                <a:latin typeface="Calibri" pitchFamily="34" charset="0"/>
                <a:ea typeface="Calibri" pitchFamily="34" charset="-122"/>
                <a:cs typeface="Calibri" pitchFamily="34" charset="-120"/>
              </a:rPr>
              <a:t>B A C K U P   ·   S U P P L E M E N T A R Y   M A T E R I A L</a:t>
            </a:r>
            <a:endParaRPr lang="en-US" sz="1400" dirty="0"/>
          </a:p>
        </p:txBody>
      </p:sp>
      <p:sp>
        <p:nvSpPr>
          <p:cNvPr id="9002" name="Big title"/>
          <p:cNvSpPr/>
          <p:nvPr/>
        </p:nvSpPr>
        <p:spPr>
          <a:xfrm>
            <a:off x="914400" y="2788920"/>
            <a:ext cx="10360152" cy="1005840"/>
          </a:xfrm>
          <a:prstGeom prst="rect">
            <a:avLst/>
          </a:prstGeom>
          <a:noFill/>
          <a:ln/>
        </p:spPr>
        <p:txBody>
          <a:bodyPr wrap="square" lIns="0" tIns="0" rIns="0" bIns="0" rtlCol="0" anchor="ctr"/>
          <a:lstStyle/>
          <a:p>
            <a:pPr marL="0" indent="0" algn="ctr">
              <a:buNone/>
            </a:pPr>
            <a:r>
              <a:rPr lang="en-US" sz="4400" b="1" i="0" dirty="0">
                <a:solidFill>
                  <a:srgbClr val="222222"/>
                </a:solidFill>
                <a:latin typeface="Calibri" pitchFamily="34" charset="0"/>
                <a:ea typeface="Calibri" pitchFamily="34" charset="-122"/>
                <a:cs typeface="Calibri" pitchFamily="34" charset="-120"/>
              </a:rPr>
              <a:t>Backup Slides</a:t>
            </a:r>
            <a:endParaRPr lang="en-US" sz="4400" dirty="0"/>
          </a:p>
        </p:txBody>
      </p:sp>
      <p:sp>
        <p:nvSpPr>
          <p:cNvPr id="9003" name="Sub"/>
          <p:cNvSpPr/>
          <p:nvPr/>
        </p:nvSpPr>
        <p:spPr>
          <a:xfrm>
            <a:off x="914400" y="3886200"/>
            <a:ext cx="10360152" cy="457200"/>
          </a:xfrm>
          <a:prstGeom prst="rect">
            <a:avLst/>
          </a:prstGeom>
          <a:noFill/>
          <a:ln/>
        </p:spPr>
        <p:txBody>
          <a:bodyPr wrap="square" lIns="0" tIns="0" rIns="0" bIns="0" rtlCol="0" anchor="ctr"/>
          <a:lstStyle/>
          <a:p>
            <a:pPr marL="0" indent="0" algn="ctr">
              <a:buNone/>
            </a:pPr>
            <a:r>
              <a:rPr lang="en-US" sz="1300" b="0" i="1" dirty="0">
                <a:solidFill>
                  <a:srgbClr val="6E6E6E"/>
                </a:solidFill>
                <a:latin typeface="Calibri" pitchFamily="34" charset="0"/>
                <a:ea typeface="Calibri" pitchFamily="34" charset="-122"/>
                <a:cs typeface="Calibri" pitchFamily="34" charset="-120"/>
              </a:rPr>
              <a:t>Ordered to follow the main presentation: simulation core, perception, concepts, the generative stage, evidence.</a:t>
            </a:r>
            <a:endParaRPr lang="en-US" sz="1300" dirty="0"/>
          </a:p>
        </p:txBody>
      </p:sp>
    </p:spTree>
    <p:extLst>
      <p:ext uri="{BB962C8B-B14F-4D97-AF65-F5344CB8AC3E}">
        <p14:creationId xmlns:p14="http://schemas.microsoft.com/office/powerpoint/2010/main" val="327417204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237744"/>
            <a:ext cx="10058400" cy="292608"/>
          </a:xfrm>
          <a:prstGeom prst="rect">
            <a:avLst/>
          </a:prstGeom>
          <a:noFill/>
          <a:ln/>
        </p:spPr>
        <p:txBody>
          <a:bodyPr wrap="square" lIns="0" tIns="0" rIns="0" bIns="0" rtlCol="0" anchor="ctr"/>
          <a:lstStyle/>
          <a:p>
            <a:pPr marL="0" indent="0">
              <a:buNone/>
            </a:pPr>
            <a:r>
              <a:rPr lang="en-US" sz="1300" b="1" kern="0" spc="200" dirty="0">
                <a:solidFill>
                  <a:srgbClr val="E31836"/>
                </a:solidFill>
                <a:latin typeface="Calibri" pitchFamily="34" charset="0"/>
                <a:ea typeface="Calibri" pitchFamily="34" charset="-122"/>
                <a:cs typeface="Calibri" pitchFamily="34" charset="-120"/>
              </a:rPr>
              <a:t>BACKUP · APPENDIX A</a:t>
            </a:r>
            <a:endParaRPr lang="en-US" sz="1300" dirty="0"/>
          </a:p>
        </p:txBody>
      </p:sp>
      <p:sp>
        <p:nvSpPr>
          <p:cNvPr id="3" name="Text 1"/>
          <p:cNvSpPr/>
          <p:nvPr/>
        </p:nvSpPr>
        <p:spPr>
          <a:xfrm>
            <a:off x="502920" y="493776"/>
            <a:ext cx="11247120" cy="621792"/>
          </a:xfrm>
          <a:prstGeom prst="rect">
            <a:avLst/>
          </a:prstGeom>
          <a:noFill/>
          <a:ln/>
        </p:spPr>
        <p:txBody>
          <a:bodyPr wrap="square" lIns="0" tIns="0" rIns="0" bIns="0" rtlCol="0" anchor="ctr"/>
          <a:lstStyle/>
          <a:p>
            <a:pPr marL="0" indent="0">
              <a:buNone/>
            </a:pPr>
            <a:r>
              <a:rPr lang="en-US" sz="2500" b="1" dirty="0">
                <a:solidFill>
                  <a:srgbClr val="000000"/>
                </a:solidFill>
                <a:latin typeface="Cambria" pitchFamily="34" charset="0"/>
                <a:ea typeface="Cambria" pitchFamily="34" charset="-122"/>
                <a:cs typeface="Cambria" pitchFamily="34" charset="-120"/>
              </a:rPr>
              <a:t>Rate of Spread : the Rothermel-like Semi-Empirical Mapping</a:t>
            </a:r>
            <a:endParaRPr lang="en-US" sz="2500" dirty="0"/>
          </a:p>
        </p:txBody>
      </p:sp>
      <p:pic>
        <p:nvPicPr>
          <p:cNvPr id="4" name="Image 0" descr="/tmp/thx/deck/figs/metu_emblem.png"/>
          <p:cNvPicPr>
            <a:picLocks noChangeAspect="1"/>
          </p:cNvPicPr>
          <p:nvPr/>
        </p:nvPicPr>
        <p:blipFill>
          <a:blip r:embed="rId3"/>
          <a:stretch>
            <a:fillRect/>
          </a:stretch>
        </p:blipFill>
        <p:spPr>
          <a:xfrm>
            <a:off x="10716768" y="184607"/>
            <a:ext cx="475488" cy="398882"/>
          </a:xfrm>
          <a:prstGeom prst="rect">
            <a:avLst/>
          </a:prstGeom>
        </p:spPr>
      </p:pic>
      <p:pic>
        <p:nvPicPr>
          <p:cNvPr id="5" name="Image 1" descr="/tmp/thx/deck/figs/eee_logo.png"/>
          <p:cNvPicPr>
            <a:picLocks noChangeAspect="1"/>
          </p:cNvPicPr>
          <p:nvPr/>
        </p:nvPicPr>
        <p:blipFill>
          <a:blip r:embed="rId4"/>
          <a:stretch>
            <a:fillRect/>
          </a:stretch>
        </p:blipFill>
        <p:spPr>
          <a:xfrm>
            <a:off x="11265408" y="186217"/>
            <a:ext cx="475488" cy="395662"/>
          </a:xfrm>
          <a:prstGeom prst="rect">
            <a:avLst/>
          </a:prstGeom>
        </p:spPr>
      </p:pic>
      <p:sp>
        <p:nvSpPr>
          <p:cNvPr id="6" name="Text 2"/>
          <p:cNvSpPr/>
          <p:nvPr/>
        </p:nvSpPr>
        <p:spPr>
          <a:xfrm>
            <a:off x="502920" y="1243584"/>
            <a:ext cx="11247120" cy="548640"/>
          </a:xfrm>
          <a:prstGeom prst="rect">
            <a:avLst/>
          </a:prstGeom>
          <a:noFill/>
          <a:ln/>
        </p:spPr>
        <p:txBody>
          <a:bodyPr wrap="square" lIns="0" tIns="0" rIns="0" bIns="0" rtlCol="0" anchor="t"/>
          <a:lstStyle/>
          <a:p>
            <a:pPr marL="0" indent="0">
              <a:lnSpc>
                <a:spcPct val="104000"/>
              </a:lnSpc>
              <a:buNone/>
            </a:pPr>
            <a:r>
              <a:rPr lang="en-US" sz="1250" dirty="0">
                <a:solidFill>
                  <a:srgbClr val="222222"/>
                </a:solidFill>
                <a:latin typeface="Calibri" pitchFamily="34" charset="0"/>
                <a:ea typeface="Calibri" pitchFamily="34" charset="-122"/>
                <a:cs typeface="Calibri" pitchFamily="34" charset="-120"/>
              </a:rPr>
              <a:t>A grid-consistent, DSS-oriented abstraction inspired by semi-empirical fire-behavior models (Rothermel, 1972): </a:t>
            </a:r>
            <a:r>
              <a:rPr lang="en-US" sz="1250" b="1" dirty="0">
                <a:solidFill>
                  <a:srgbClr val="000000"/>
                </a:solidFill>
                <a:latin typeface="Calibri" pitchFamily="34" charset="0"/>
                <a:ea typeface="Calibri" pitchFamily="34" charset="-122"/>
                <a:cs typeface="Calibri" pitchFamily="34" charset="-120"/>
              </a:rPr>
              <a:t>output in normalized cells-per-step, every factor tied to an already-defined state or input.</a:t>
            </a:r>
            <a:endParaRPr lang="en-US" sz="1250" dirty="0"/>
          </a:p>
        </p:txBody>
      </p:sp>
      <mc:AlternateContent xmlns:mc="http://schemas.openxmlformats.org/markup-compatibility/2006" xmlns:a14="http://schemas.microsoft.com/office/drawing/2010/main">
        <mc:Choice Requires="a14">
          <p:sp>
            <p:nvSpPr>
              <p:cNvPr id="7" name="Text 3"/>
              <p:cNvSpPr/>
              <p:nvPr/>
            </p:nvSpPr>
            <p:spPr>
              <a:xfrm>
                <a:off x="502920" y="1783080"/>
                <a:ext cx="6949440" cy="548640"/>
              </a:xfrm>
              <a:prstGeom prst="rect">
                <a:avLst/>
              </a:prstGeom>
              <a:noFill/>
              <a:ln/>
            </p:spPr>
            <p:txBody>
              <a:bodyPr wrap="square" lIns="0" tIns="0" rIns="0" bIns="0" rtlCol="0" anchor="ctr"/>
              <a:lstStyle/>
              <a:p>
                <a:pPr marL="0" indent="0" algn="ctr">
                  <a:buNone/>
                </a:pPr>
                <a14:m>
                  <m:oMathPara xmlns:m="http://schemas.openxmlformats.org/officeDocument/2006/math">
                    <m:oMath>
                      <m:sSub>
                        <m:sSubPr>
                          <m:ctrlPr>
                            <a:rPr lang="en-US" sz="1400">
                              <a:latin typeface="Cambria Math"/>
                            </a:rPr>
                          </m:ctrlPr>
                        </m:sSubPr>
                        <m:e>
                          <m:r>
                            <a:rPr lang="en-US" sz="1400">
                              <a:latin typeface="Cambria Math"/>
                            </a:rPr>
                            <m:t>𝑅</m:t>
                          </m:r>
                        </m:e>
                        <m:sub>
                          <m:r>
                            <a:rPr lang="en-US" sz="1400">
                              <a:latin typeface="Cambria Math"/>
                            </a:rPr>
                            <m:t>𝑠𝑝𝑟𝑒𝑎𝑑</m:t>
                          </m:r>
                          <m:r>
                            <a:rPr lang="en-US" sz="1400">
                              <a:latin typeface="Cambria Math"/>
                            </a:rPr>
                            <m:t>,</m:t>
                          </m:r>
                          <m:r>
                            <a:rPr lang="en-US" sz="1400">
                              <a:latin typeface="Cambria Math"/>
                            </a:rPr>
                            <m:t>𝑘</m:t>
                          </m:r>
                        </m:sub>
                      </m:sSub>
                      <m:r>
                        <a:rPr lang="en-US" sz="1400">
                          <a:latin typeface="Cambria Math"/>
                        </a:rPr>
                        <m:t> </m:t>
                      </m:r>
                      <m:d>
                        <m:dPr>
                          <m:ctrlPr>
                            <a:rPr lang="en-US" sz="1400">
                              <a:latin typeface="Cambria Math"/>
                            </a:rPr>
                          </m:ctrlPr>
                        </m:dPr>
                        <m:e>
                          <m:r>
                            <a:rPr lang="en-US" sz="1400">
                              <a:latin typeface="Cambria Math"/>
                            </a:rPr>
                            <m:t>𝑥</m:t>
                          </m:r>
                          <m:r>
                            <a:rPr lang="en-US" sz="1400">
                              <a:latin typeface="Cambria Math"/>
                            </a:rPr>
                            <m:t>,</m:t>
                          </m:r>
                          <m:r>
                            <a:rPr lang="en-US" sz="1400">
                              <a:latin typeface="Cambria Math"/>
                            </a:rPr>
                            <m:t>𝑦</m:t>
                          </m:r>
                        </m:e>
                      </m:d>
                      <m:r>
                        <a:rPr lang="en-US" sz="1400">
                          <a:latin typeface="Cambria Math"/>
                        </a:rPr>
                        <m:t>=</m:t>
                      </m:r>
                      <m:sSub>
                        <m:sSubPr>
                          <m:ctrlPr>
                            <a:rPr lang="en-US" sz="1400">
                              <a:latin typeface="Cambria Math"/>
                            </a:rPr>
                          </m:ctrlPr>
                        </m:sSubPr>
                        <m:e>
                          <m:r>
                            <a:rPr lang="en-US" sz="1400">
                              <a:latin typeface="Cambria Math"/>
                            </a:rPr>
                            <m:t>𝑟</m:t>
                          </m:r>
                        </m:e>
                        <m:sub>
                          <m:r>
                            <a:rPr lang="en-US" sz="1400">
                              <a:latin typeface="Cambria Math"/>
                            </a:rPr>
                            <m:t>𝑏𝑎𝑠𝑒</m:t>
                          </m:r>
                        </m:sub>
                      </m:sSub>
                      <m:r>
                        <a:rPr lang="en-US" sz="1400">
                          <a:latin typeface="Cambria Math"/>
                        </a:rPr>
                        <m:t> </m:t>
                      </m:r>
                      <m:d>
                        <m:dPr>
                          <m:ctrlPr>
                            <a:rPr lang="en-US" sz="1400" i="1">
                              <a:latin typeface="Cambria Math" panose="02040503050406030204" pitchFamily="18" charset="0"/>
                            </a:rPr>
                          </m:ctrlPr>
                        </m:dPr>
                        <m:e>
                          <m:sSub>
                            <m:sSubPr>
                              <m:ctrlPr>
                                <a:rPr lang="en-US" sz="1400">
                                  <a:latin typeface="Cambria Math"/>
                                </a:rPr>
                              </m:ctrlPr>
                            </m:sSubPr>
                            <m:e>
                              <m:r>
                                <a:rPr lang="en-US" sz="1400">
                                  <a:latin typeface="Cambria Math"/>
                                </a:rPr>
                                <m:t>𝐹</m:t>
                              </m:r>
                            </m:e>
                            <m:sub>
                              <m:r>
                                <a:rPr lang="en-US" sz="1400">
                                  <a:latin typeface="Cambria Math"/>
                                </a:rPr>
                                <m:t>𝑡𝑦𝑝𝑒</m:t>
                              </m:r>
                            </m:sub>
                          </m:sSub>
                          <m:d>
                            <m:dPr>
                              <m:ctrlPr>
                                <a:rPr lang="en-US" sz="1400">
                                  <a:latin typeface="Cambria Math"/>
                                </a:rPr>
                              </m:ctrlPr>
                            </m:dPr>
                            <m:e>
                              <m:r>
                                <a:rPr lang="en-US" sz="1400">
                                  <a:latin typeface="Cambria Math"/>
                                </a:rPr>
                                <m:t>𝑥</m:t>
                              </m:r>
                              <m:r>
                                <a:rPr lang="en-US" sz="1400">
                                  <a:latin typeface="Cambria Math"/>
                                </a:rPr>
                                <m:t>,</m:t>
                              </m:r>
                              <m:r>
                                <a:rPr lang="en-US" sz="1400">
                                  <a:latin typeface="Cambria Math"/>
                                </a:rPr>
                                <m:t>𝑦</m:t>
                              </m:r>
                            </m:e>
                          </m:d>
                        </m:e>
                      </m:d>
                      <m:r>
                        <a:rPr lang="en-US" sz="1400">
                          <a:latin typeface="Cambria Math"/>
                        </a:rPr>
                        <m:t>×</m:t>
                      </m:r>
                      <m:sSub>
                        <m:sSubPr>
                          <m:ctrlPr>
                            <a:rPr lang="en-US" sz="1400">
                              <a:latin typeface="Cambria Math"/>
                            </a:rPr>
                          </m:ctrlPr>
                        </m:sSubPr>
                        <m:e>
                          <m:r>
                            <a:rPr lang="en-US" sz="1400">
                              <a:latin typeface="Cambria Math"/>
                            </a:rPr>
                            <m:t>𝑔</m:t>
                          </m:r>
                        </m:e>
                        <m:sub>
                          <m:r>
                            <a:rPr lang="en-US" sz="1400">
                              <a:latin typeface="Cambria Math"/>
                            </a:rPr>
                            <m:t>𝑚𝑜𝑖𝑠𝑡</m:t>
                          </m:r>
                        </m:sub>
                      </m:sSub>
                      <m:d>
                        <m:dPr>
                          <m:ctrlPr>
                            <a:rPr lang="en-US" sz="1400">
                              <a:latin typeface="Cambria Math"/>
                            </a:rPr>
                          </m:ctrlPr>
                        </m:dPr>
                        <m:e>
                          <m:r>
                            <a:rPr lang="en-US" sz="1400">
                              <a:latin typeface="Cambria Math"/>
                            </a:rPr>
                            <m:t>𝑥</m:t>
                          </m:r>
                          <m:r>
                            <a:rPr lang="en-US" sz="1400">
                              <a:latin typeface="Cambria Math"/>
                            </a:rPr>
                            <m:t>,</m:t>
                          </m:r>
                          <m:r>
                            <a:rPr lang="en-US" sz="1400">
                              <a:latin typeface="Cambria Math"/>
                            </a:rPr>
                            <m:t>𝑦</m:t>
                          </m:r>
                        </m:e>
                      </m:d>
                      <m:r>
                        <a:rPr lang="en-US" sz="1400">
                          <a:latin typeface="Cambria Math"/>
                        </a:rPr>
                        <m:t>×</m:t>
                      </m:r>
                      <m:sSub>
                        <m:sSubPr>
                          <m:ctrlPr>
                            <a:rPr lang="en-US" sz="1400">
                              <a:latin typeface="Cambria Math"/>
                            </a:rPr>
                          </m:ctrlPr>
                        </m:sSubPr>
                        <m:e>
                          <m:r>
                            <a:rPr lang="en-US" sz="1400">
                              <a:latin typeface="Cambria Math"/>
                            </a:rPr>
                            <m:t>𝑔</m:t>
                          </m:r>
                        </m:e>
                        <m:sub>
                          <m:r>
                            <a:rPr lang="en-US" sz="1400">
                              <a:latin typeface="Cambria Math"/>
                            </a:rPr>
                            <m:t>𝑤𝑖𝑛𝑑</m:t>
                          </m:r>
                        </m:sub>
                      </m:sSub>
                      <m:d>
                        <m:dPr>
                          <m:ctrlPr>
                            <a:rPr lang="en-US" sz="1400">
                              <a:latin typeface="Cambria Math"/>
                            </a:rPr>
                          </m:ctrlPr>
                        </m:dPr>
                        <m:e>
                          <m:r>
                            <a:rPr lang="en-US" sz="1400">
                              <a:latin typeface="Cambria Math"/>
                            </a:rPr>
                            <m:t>𝑥</m:t>
                          </m:r>
                          <m:r>
                            <a:rPr lang="en-US" sz="1400">
                              <a:latin typeface="Cambria Math"/>
                            </a:rPr>
                            <m:t>,</m:t>
                          </m:r>
                          <m:r>
                            <a:rPr lang="en-US" sz="1400">
                              <a:latin typeface="Cambria Math"/>
                            </a:rPr>
                            <m:t>𝑦</m:t>
                          </m:r>
                        </m:e>
                      </m:d>
                      <m:r>
                        <a:rPr lang="en-US" sz="1400">
                          <a:latin typeface="Cambria Math"/>
                        </a:rPr>
                        <m:t>×</m:t>
                      </m:r>
                      <m:sSub>
                        <m:sSubPr>
                          <m:ctrlPr>
                            <a:rPr lang="en-US" sz="1400">
                              <a:latin typeface="Cambria Math"/>
                            </a:rPr>
                          </m:ctrlPr>
                        </m:sSubPr>
                        <m:e>
                          <m:r>
                            <a:rPr lang="en-US" sz="1400">
                              <a:latin typeface="Cambria Math"/>
                            </a:rPr>
                            <m:t>𝑔</m:t>
                          </m:r>
                        </m:e>
                        <m:sub>
                          <m:r>
                            <a:rPr lang="en-US" sz="1400">
                              <a:latin typeface="Cambria Math"/>
                            </a:rPr>
                            <m:t>𝑠𝑙𝑜𝑝𝑒</m:t>
                          </m:r>
                        </m:sub>
                      </m:sSub>
                      <m:d>
                        <m:dPr>
                          <m:ctrlPr>
                            <a:rPr lang="en-US" sz="1400">
                              <a:latin typeface="Cambria Math"/>
                            </a:rPr>
                          </m:ctrlPr>
                        </m:dPr>
                        <m:e>
                          <m:r>
                            <a:rPr lang="en-US" sz="1400">
                              <a:latin typeface="Cambria Math"/>
                            </a:rPr>
                            <m:t>𝑥</m:t>
                          </m:r>
                          <m:r>
                            <a:rPr lang="en-US" sz="1400">
                              <a:latin typeface="Cambria Math"/>
                            </a:rPr>
                            <m:t>,</m:t>
                          </m:r>
                          <m:r>
                            <a:rPr lang="en-US" sz="1400">
                              <a:latin typeface="Cambria Math"/>
                            </a:rPr>
                            <m:t>𝑦</m:t>
                          </m:r>
                        </m:e>
                      </m:d>
                      <m:r>
                        <a:rPr lang="en-US" sz="1400">
                          <a:latin typeface="Cambria Math"/>
                        </a:rPr>
                        <m:t>× </m:t>
                      </m:r>
                      <m:sSub>
                        <m:sSubPr>
                          <m:ctrlPr>
                            <a:rPr lang="en-US" sz="1400">
                              <a:latin typeface="Cambria Math"/>
                            </a:rPr>
                          </m:ctrlPr>
                        </m:sSubPr>
                        <m:e>
                          <m:r>
                            <a:rPr lang="en-US" sz="1400">
                              <a:latin typeface="Cambria Math"/>
                            </a:rPr>
                            <m:t>𝑔</m:t>
                          </m:r>
                        </m:e>
                        <m:sub>
                          <m:r>
                            <a:rPr lang="en-US" sz="1400">
                              <a:latin typeface="Cambria Math"/>
                            </a:rPr>
                            <m:t>𝑎𝑠𝑝𝑒𝑐𝑡</m:t>
                          </m:r>
                        </m:sub>
                      </m:sSub>
                      <m:d>
                        <m:dPr>
                          <m:ctrlPr>
                            <a:rPr lang="en-US" sz="1400">
                              <a:latin typeface="Cambria Math"/>
                            </a:rPr>
                          </m:ctrlPr>
                        </m:dPr>
                        <m:e>
                          <m:r>
                            <a:rPr lang="en-US" sz="1400">
                              <a:latin typeface="Cambria Math"/>
                            </a:rPr>
                            <m:t>𝑥</m:t>
                          </m:r>
                          <m:r>
                            <a:rPr lang="en-US" sz="1400">
                              <a:latin typeface="Cambria Math"/>
                            </a:rPr>
                            <m:t>,</m:t>
                          </m:r>
                          <m:r>
                            <a:rPr lang="en-US" sz="1400">
                              <a:latin typeface="Cambria Math"/>
                            </a:rPr>
                            <m:t>𝑦</m:t>
                          </m:r>
                        </m:e>
                      </m:d>
                    </m:oMath>
                  </m:oMathPara>
                </a14:m>
                <a:endParaRPr lang="en-US" sz="1300" dirty="0"/>
              </a:p>
            </p:txBody>
          </p:sp>
        </mc:Choice>
        <mc:Fallback xmlns="">
          <p:sp>
            <p:nvSpPr>
              <p:cNvPr id="7" name="Text 3"/>
              <p:cNvSpPr>
                <a:spLocks noRot="1" noChangeAspect="1" noMove="1" noResize="1" noEditPoints="1" noAdjustHandles="1" noChangeArrowheads="1" noChangeShapeType="1" noTextEdit="1"/>
              </p:cNvSpPr>
              <p:nvPr/>
            </p:nvSpPr>
            <p:spPr>
              <a:xfrm>
                <a:off x="502920" y="1783080"/>
                <a:ext cx="6949440" cy="548640"/>
              </a:xfrm>
              <a:prstGeom prst="rect">
                <a:avLst/>
              </a:prstGeom>
              <a:blipFill>
                <a:blip r:embed="rId5"/>
                <a:stretch>
                  <a:fillRect t="-5556" b="-14444"/>
                </a:stretch>
              </a:blipFill>
              <a:ln/>
            </p:spPr>
            <p:txBody>
              <a:bodyPr/>
              <a:lstStyle/>
              <a:p>
                <a:r>
                  <a:rPr lang="tr-TR">
                    <a:noFill/>
                  </a:rPr>
                  <a:t/>
                </a:r>
              </a:p>
            </p:txBody>
          </p:sp>
        </mc:Fallback>
      </mc:AlternateContent>
      <mc:AlternateContent xmlns:mc="http://schemas.openxmlformats.org/markup-compatibility/2006" xmlns:a14="http://schemas.microsoft.com/office/drawing/2010/main">
        <mc:Choice Requires="a14">
          <p:sp>
            <p:nvSpPr>
              <p:cNvPr id="8" name="Text 4"/>
              <p:cNvSpPr/>
              <p:nvPr/>
            </p:nvSpPr>
            <p:spPr>
              <a:xfrm>
                <a:off x="502920" y="2377440"/>
                <a:ext cx="6949440" cy="594360"/>
              </a:xfrm>
              <a:prstGeom prst="rect">
                <a:avLst/>
              </a:prstGeom>
              <a:noFill/>
              <a:ln/>
            </p:spPr>
            <p:txBody>
              <a:bodyPr wrap="square" lIns="0" tIns="0" rIns="0" bIns="0" rtlCol="0" anchor="ctr"/>
              <a:lstStyle/>
              <a:p>
                <a:pPr marL="0" indent="0" algn="ctr">
                  <a:buNone/>
                </a:pPr>
                <a14:m>
                  <m:oMathPara xmlns:m="http://schemas.openxmlformats.org/officeDocument/2006/math">
                    <m:oMath>
                      <m:sSub>
                        <m:sSubPr>
                          <m:ctrlPr>
                            <a:rPr lang="en-US" sz="1400">
                              <a:latin typeface="Cambria Math"/>
                            </a:rPr>
                          </m:ctrlPr>
                        </m:sSubPr>
                        <m:e>
                          <m:r>
                            <a:rPr lang="en-US" sz="1400">
                              <a:latin typeface="Cambria Math"/>
                            </a:rPr>
                            <m:t>𝑔</m:t>
                          </m:r>
                        </m:e>
                        <m:sub>
                          <m:r>
                            <a:rPr lang="en-US" sz="1400">
                              <a:latin typeface="Cambria Math"/>
                            </a:rPr>
                            <m:t>𝑚𝑜𝑖𝑠𝑡</m:t>
                          </m:r>
                        </m:sub>
                      </m:sSub>
                      <m:d>
                        <m:dPr>
                          <m:ctrlPr>
                            <a:rPr lang="en-US" sz="1400">
                              <a:latin typeface="Cambria Math"/>
                            </a:rPr>
                          </m:ctrlPr>
                        </m:dPr>
                        <m:e>
                          <m:r>
                            <a:rPr lang="en-US" sz="1400">
                              <a:latin typeface="Cambria Math"/>
                            </a:rPr>
                            <m:t>𝑥</m:t>
                          </m:r>
                          <m:r>
                            <a:rPr lang="en-US" sz="1400">
                              <a:latin typeface="Cambria Math"/>
                            </a:rPr>
                            <m:t>,</m:t>
                          </m:r>
                          <m:r>
                            <a:rPr lang="en-US" sz="1400">
                              <a:latin typeface="Cambria Math"/>
                            </a:rPr>
                            <m:t>𝑦</m:t>
                          </m:r>
                        </m:e>
                      </m:d>
                      <m:r>
                        <a:rPr lang="en-US" sz="1400">
                          <a:latin typeface="Cambria Math"/>
                        </a:rPr>
                        <m:t>=</m:t>
                      </m:r>
                      <m:func>
                        <m:funcPr>
                          <m:ctrlPr>
                            <a:rPr lang="en-US" sz="1400">
                              <a:latin typeface="Cambria Math"/>
                            </a:rPr>
                          </m:ctrlPr>
                        </m:funcPr>
                        <m:fName>
                          <m:r>
                            <m:rPr>
                              <m:sty m:val="p"/>
                            </m:rPr>
                            <a:rPr lang="en-US" sz="1400">
                              <a:latin typeface="Cambria Math"/>
                            </a:rPr>
                            <m:t>max</m:t>
                          </m:r>
                        </m:fName>
                        <m:e>
                          <m:d>
                            <m:dPr>
                              <m:ctrlPr>
                                <a:rPr lang="en-US" sz="1400">
                                  <a:latin typeface="Cambria Math"/>
                                </a:rPr>
                              </m:ctrlPr>
                            </m:dPr>
                            <m:e>
                              <m:r>
                                <a:rPr lang="en-US" sz="1400">
                                  <a:latin typeface="Cambria Math"/>
                                </a:rPr>
                                <m:t>0,1−</m:t>
                              </m:r>
                              <m:f>
                                <m:fPr>
                                  <m:ctrlPr>
                                    <a:rPr lang="en-US" sz="1400" i="1">
                                      <a:latin typeface="Cambria Math" panose="02040503050406030204" pitchFamily="18" charset="0"/>
                                    </a:rPr>
                                  </m:ctrlPr>
                                </m:fPr>
                                <m:num>
                                  <m:sSub>
                                    <m:sSubPr>
                                      <m:ctrlPr>
                                        <a:rPr lang="en-US" sz="1400">
                                          <a:latin typeface="Cambria Math"/>
                                        </a:rPr>
                                      </m:ctrlPr>
                                    </m:sSubPr>
                                    <m:e>
                                      <m:r>
                                        <a:rPr lang="en-US" sz="1400">
                                          <a:latin typeface="Cambria Math"/>
                                        </a:rPr>
                                        <m:t>𝐹</m:t>
                                      </m:r>
                                    </m:e>
                                    <m:sub>
                                      <m:r>
                                        <a:rPr lang="en-US" sz="1400">
                                          <a:latin typeface="Cambria Math"/>
                                        </a:rPr>
                                        <m:t>𝑚𝑜𝑖𝑠𝑡</m:t>
                                      </m:r>
                                      <m:r>
                                        <a:rPr lang="en-US" sz="1400">
                                          <a:latin typeface="Cambria Math"/>
                                        </a:rPr>
                                        <m:t>,</m:t>
                                      </m:r>
                                      <m:r>
                                        <a:rPr lang="en-US" sz="1400">
                                          <a:latin typeface="Cambria Math"/>
                                        </a:rPr>
                                        <m:t>𝑘</m:t>
                                      </m:r>
                                    </m:sub>
                                  </m:sSub>
                                  <m:d>
                                    <m:dPr>
                                      <m:ctrlPr>
                                        <a:rPr lang="en-US" sz="1400">
                                          <a:latin typeface="Cambria Math"/>
                                        </a:rPr>
                                      </m:ctrlPr>
                                    </m:dPr>
                                    <m:e>
                                      <m:r>
                                        <a:rPr lang="en-US" sz="1400">
                                          <a:latin typeface="Cambria Math"/>
                                        </a:rPr>
                                        <m:t>𝑥</m:t>
                                      </m:r>
                                      <m:r>
                                        <a:rPr lang="en-US" sz="1400">
                                          <a:latin typeface="Cambria Math"/>
                                        </a:rPr>
                                        <m:t>,</m:t>
                                      </m:r>
                                      <m:r>
                                        <a:rPr lang="en-US" sz="1400">
                                          <a:latin typeface="Cambria Math"/>
                                        </a:rPr>
                                        <m:t>𝑦</m:t>
                                      </m:r>
                                    </m:e>
                                  </m:d>
                                </m:num>
                                <m:den>
                                  <m:sSub>
                                    <m:sSubPr>
                                      <m:ctrlPr>
                                        <a:rPr lang="en-US" sz="1400">
                                          <a:latin typeface="Cambria Math"/>
                                        </a:rPr>
                                      </m:ctrlPr>
                                    </m:sSubPr>
                                    <m:e>
                                      <m:r>
                                        <a:rPr lang="en-US" sz="1400">
                                          <a:latin typeface="Cambria Math"/>
                                        </a:rPr>
                                        <m:t>𝑚</m:t>
                                      </m:r>
                                    </m:e>
                                    <m:sub>
                                      <m:r>
                                        <a:rPr lang="en-US" sz="1400">
                                          <a:latin typeface="Cambria Math"/>
                                        </a:rPr>
                                        <m:t>𝑒𝑥𝑡</m:t>
                                      </m:r>
                                    </m:sub>
                                  </m:sSub>
                                  <m:d>
                                    <m:dPr>
                                      <m:ctrlPr>
                                        <a:rPr lang="en-US" sz="1400" i="1">
                                          <a:latin typeface="Cambria Math" panose="02040503050406030204" pitchFamily="18" charset="0"/>
                                        </a:rPr>
                                      </m:ctrlPr>
                                    </m:dPr>
                                    <m:e>
                                      <m:sSub>
                                        <m:sSubPr>
                                          <m:ctrlPr>
                                            <a:rPr lang="en-US" sz="1400">
                                              <a:latin typeface="Cambria Math"/>
                                            </a:rPr>
                                          </m:ctrlPr>
                                        </m:sSubPr>
                                        <m:e>
                                          <m:r>
                                            <a:rPr lang="en-US" sz="1400">
                                              <a:latin typeface="Cambria Math"/>
                                            </a:rPr>
                                            <m:t>𝐹</m:t>
                                          </m:r>
                                        </m:e>
                                        <m:sub>
                                          <m:r>
                                            <a:rPr lang="en-US" sz="1400">
                                              <a:latin typeface="Cambria Math"/>
                                            </a:rPr>
                                            <m:t>𝑡𝑦𝑝𝑒</m:t>
                                          </m:r>
                                        </m:sub>
                                      </m:sSub>
                                      <m:d>
                                        <m:dPr>
                                          <m:ctrlPr>
                                            <a:rPr lang="en-US" sz="1400">
                                              <a:latin typeface="Cambria Math"/>
                                            </a:rPr>
                                          </m:ctrlPr>
                                        </m:dPr>
                                        <m:e>
                                          <m:r>
                                            <a:rPr lang="en-US" sz="1400">
                                              <a:latin typeface="Cambria Math"/>
                                            </a:rPr>
                                            <m:t>𝑥</m:t>
                                          </m:r>
                                          <m:r>
                                            <a:rPr lang="en-US" sz="1400">
                                              <a:latin typeface="Cambria Math"/>
                                            </a:rPr>
                                            <m:t>,</m:t>
                                          </m:r>
                                          <m:r>
                                            <a:rPr lang="en-US" sz="1400">
                                              <a:latin typeface="Cambria Math"/>
                                            </a:rPr>
                                            <m:t>𝑦</m:t>
                                          </m:r>
                                        </m:e>
                                      </m:d>
                                    </m:e>
                                  </m:d>
                                </m:den>
                              </m:f>
                            </m:e>
                          </m:d>
                        </m:e>
                      </m:func>
                    </m:oMath>
                  </m:oMathPara>
                </a14:m>
                <a:endParaRPr lang="en-US" sz="1300" dirty="0"/>
              </a:p>
            </p:txBody>
          </p:sp>
        </mc:Choice>
        <mc:Fallback xmlns="">
          <p:sp>
            <p:nvSpPr>
              <p:cNvPr id="8" name="Text 4"/>
              <p:cNvSpPr>
                <a:spLocks noRot="1" noChangeAspect="1" noMove="1" noResize="1" noEditPoints="1" noAdjustHandles="1" noChangeArrowheads="1" noChangeShapeType="1" noTextEdit="1"/>
              </p:cNvSpPr>
              <p:nvPr/>
            </p:nvSpPr>
            <p:spPr>
              <a:xfrm>
                <a:off x="502920" y="2377440"/>
                <a:ext cx="6949440" cy="594360"/>
              </a:xfrm>
              <a:prstGeom prst="rect">
                <a:avLst/>
              </a:prstGeom>
              <a:blipFill>
                <a:blip r:embed="rId6"/>
                <a:stretch>
                  <a:fillRect t="-6122" b="-11224"/>
                </a:stretch>
              </a:blipFill>
              <a:ln/>
            </p:spPr>
            <p:txBody>
              <a:bodyPr/>
              <a:lstStyle/>
              <a:p>
                <a:r>
                  <a:rPr lang="tr-TR">
                    <a:noFill/>
                  </a:rPr>
                  <a:t/>
                </a:r>
              </a:p>
            </p:txBody>
          </p:sp>
        </mc:Fallback>
      </mc:AlternateContent>
      <mc:AlternateContent xmlns:mc="http://schemas.openxmlformats.org/markup-compatibility/2006" xmlns:a14="http://schemas.microsoft.com/office/drawing/2010/main">
        <mc:Choice Requires="a14">
          <p:sp>
            <p:nvSpPr>
              <p:cNvPr id="9" name="Text 5"/>
              <p:cNvSpPr/>
              <p:nvPr/>
            </p:nvSpPr>
            <p:spPr>
              <a:xfrm>
                <a:off x="502920" y="3017520"/>
                <a:ext cx="6949440" cy="594360"/>
              </a:xfrm>
              <a:prstGeom prst="rect">
                <a:avLst/>
              </a:prstGeom>
              <a:noFill/>
              <a:ln/>
            </p:spPr>
            <p:txBody>
              <a:bodyPr wrap="square" lIns="0" tIns="0" rIns="0" bIns="0" rtlCol="0" anchor="ctr"/>
              <a:lstStyle/>
              <a:p>
                <a:pPr marL="0" indent="0" algn="ctr">
                  <a:buNone/>
                </a:pPr>
                <a14:m>
                  <m:oMathPara xmlns:m="http://schemas.openxmlformats.org/officeDocument/2006/math">
                    <m:oMath>
                      <m:sSub>
                        <m:sSubPr>
                          <m:ctrlPr>
                            <a:rPr lang="en-US" sz="1400">
                              <a:latin typeface="Cambria Math"/>
                            </a:rPr>
                          </m:ctrlPr>
                        </m:sSubPr>
                        <m:e>
                          <m:r>
                            <a:rPr lang="en-US" sz="1400">
                              <a:latin typeface="Cambria Math"/>
                            </a:rPr>
                            <m:t>𝑔</m:t>
                          </m:r>
                        </m:e>
                        <m:sub>
                          <m:r>
                            <a:rPr lang="en-US" sz="1400">
                              <a:latin typeface="Cambria Math"/>
                            </a:rPr>
                            <m:t>𝑤𝑖𝑛𝑑</m:t>
                          </m:r>
                        </m:sub>
                      </m:sSub>
                      <m:r>
                        <a:rPr lang="en-US" sz="1400">
                          <a:latin typeface="Cambria Math"/>
                        </a:rPr>
                        <m:t>(</m:t>
                      </m:r>
                      <m:r>
                        <a:rPr lang="en-US" sz="1400">
                          <a:latin typeface="Cambria Math"/>
                        </a:rPr>
                        <m:t>𝑥</m:t>
                      </m:r>
                      <m:r>
                        <a:rPr lang="en-US" sz="1400">
                          <a:latin typeface="Cambria Math"/>
                        </a:rPr>
                        <m:t>,</m:t>
                      </m:r>
                      <m:r>
                        <a:rPr lang="en-US" sz="1400">
                          <a:latin typeface="Cambria Math"/>
                        </a:rPr>
                        <m:t>𝑦</m:t>
                      </m:r>
                      <m:r>
                        <a:rPr lang="en-US" sz="1400">
                          <a:latin typeface="Cambria Math"/>
                        </a:rPr>
                        <m:t>)=1+</m:t>
                      </m:r>
                      <m:sSub>
                        <m:sSubPr>
                          <m:ctrlPr>
                            <a:rPr lang="en-US" sz="1400">
                              <a:latin typeface="Cambria Math"/>
                            </a:rPr>
                          </m:ctrlPr>
                        </m:sSubPr>
                        <m:e>
                          <m:r>
                            <a:rPr lang="en-US" sz="1400">
                              <a:latin typeface="Cambria Math"/>
                            </a:rPr>
                            <m:t>𝑎</m:t>
                          </m:r>
                        </m:e>
                        <m:sub>
                          <m:r>
                            <a:rPr lang="en-US" sz="1400">
                              <a:latin typeface="Cambria Math"/>
                            </a:rPr>
                            <m:t>𝑤</m:t>
                          </m:r>
                        </m:sub>
                      </m:sSub>
                      <m:r>
                        <a:rPr lang="en-US" sz="1400">
                          <a:latin typeface="Cambria Math"/>
                        </a:rPr>
                        <m:t>(</m:t>
                      </m:r>
                      <m:sSub>
                        <m:sSubPr>
                          <m:ctrlPr>
                            <a:rPr lang="en-US" sz="1400">
                              <a:latin typeface="Cambria Math"/>
                            </a:rPr>
                          </m:ctrlPr>
                        </m:sSubPr>
                        <m:e>
                          <m:r>
                            <a:rPr lang="en-US" sz="1400">
                              <a:latin typeface="Cambria Math"/>
                            </a:rPr>
                            <m:t>𝐹</m:t>
                          </m:r>
                        </m:e>
                        <m:sub>
                          <m:r>
                            <a:rPr lang="en-US" sz="1400">
                              <a:latin typeface="Cambria Math"/>
                            </a:rPr>
                            <m:t>𝑡𝑦𝑝𝑒</m:t>
                          </m:r>
                        </m:sub>
                      </m:sSub>
                      <m:r>
                        <a:rPr lang="en-US" sz="1400">
                          <a:latin typeface="Cambria Math"/>
                        </a:rPr>
                        <m:t>(</m:t>
                      </m:r>
                      <m:r>
                        <a:rPr lang="en-US" sz="1400">
                          <a:latin typeface="Cambria Math"/>
                        </a:rPr>
                        <m:t>𝑥</m:t>
                      </m:r>
                      <m:r>
                        <a:rPr lang="en-US" sz="1400">
                          <a:latin typeface="Cambria Math"/>
                        </a:rPr>
                        <m:t>,</m:t>
                      </m:r>
                      <m:r>
                        <a:rPr lang="en-US" sz="1400">
                          <a:latin typeface="Cambria Math"/>
                        </a:rPr>
                        <m:t>𝑦</m:t>
                      </m:r>
                      <m:r>
                        <a:rPr lang="en-US" sz="1400">
                          <a:latin typeface="Cambria Math"/>
                        </a:rPr>
                        <m:t>))⋅</m:t>
                      </m:r>
                      <m:r>
                        <a:rPr lang="en-US" sz="1400">
                          <a:latin typeface="Cambria Math"/>
                        </a:rPr>
                        <m:t>𝑡𝑎𝑛ℎ</m:t>
                      </m:r>
                      <m:d>
                        <m:dPr>
                          <m:ctrlPr>
                            <a:rPr lang="en-US" i="1">
                              <a:latin typeface="Cambria Math" panose="02040503050406030204" pitchFamily="18" charset="0"/>
                            </a:rPr>
                          </m:ctrlPr>
                        </m:dPr>
                        <m:e>
                          <m:f>
                            <m:fPr>
                              <m:ctrlPr>
                                <a:rPr lang="en-US" sz="1400" i="1">
                                  <a:latin typeface="Cambria Math" panose="02040503050406030204" pitchFamily="18" charset="0"/>
                                </a:rPr>
                              </m:ctrlPr>
                            </m:fPr>
                            <m:num>
                              <m:sSub>
                                <m:sSubPr>
                                  <m:ctrlPr>
                                    <a:rPr lang="en-US" sz="1400">
                                      <a:latin typeface="Cambria Math"/>
                                    </a:rPr>
                                  </m:ctrlPr>
                                </m:sSubPr>
                                <m:e>
                                  <m:r>
                                    <a:rPr lang="en-US" sz="1400">
                                      <a:latin typeface="Cambria Math"/>
                                    </a:rPr>
                                    <m:t>𝑊</m:t>
                                  </m:r>
                                </m:e>
                                <m:sub>
                                  <m:r>
                                    <a:rPr lang="en-US" sz="1400">
                                      <a:latin typeface="Cambria Math"/>
                                    </a:rPr>
                                    <m:t>𝑤𝑠</m:t>
                                  </m:r>
                                  <m:r>
                                    <a:rPr lang="en-US" sz="1400">
                                      <a:latin typeface="Cambria Math"/>
                                    </a:rPr>
                                    <m:t>,</m:t>
                                  </m:r>
                                  <m:r>
                                    <a:rPr lang="en-US" sz="1400">
                                      <a:latin typeface="Cambria Math"/>
                                    </a:rPr>
                                    <m:t>𝑘</m:t>
                                  </m:r>
                                </m:sub>
                              </m:sSub>
                              <m:d>
                                <m:dPr>
                                  <m:ctrlPr>
                                    <a:rPr lang="en-US" sz="1400">
                                      <a:latin typeface="Cambria Math"/>
                                    </a:rPr>
                                  </m:ctrlPr>
                                </m:dPr>
                                <m:e>
                                  <m:r>
                                    <a:rPr lang="en-US" sz="1400">
                                      <a:latin typeface="Cambria Math"/>
                                    </a:rPr>
                                    <m:t>𝑥</m:t>
                                  </m:r>
                                  <m:r>
                                    <a:rPr lang="en-US" sz="1400">
                                      <a:latin typeface="Cambria Math"/>
                                    </a:rPr>
                                    <m:t>,</m:t>
                                  </m:r>
                                  <m:r>
                                    <a:rPr lang="en-US" sz="1400">
                                      <a:latin typeface="Cambria Math"/>
                                    </a:rPr>
                                    <m:t>𝑦</m:t>
                                  </m:r>
                                </m:e>
                              </m:d>
                            </m:num>
                            <m:den>
                              <m:sSub>
                                <m:sSubPr>
                                  <m:ctrlPr>
                                    <a:rPr lang="en-US" sz="1400">
                                      <a:latin typeface="Cambria Math"/>
                                    </a:rPr>
                                  </m:ctrlPr>
                                </m:sSubPr>
                                <m:e>
                                  <m:r>
                                    <a:rPr lang="en-US" sz="1400">
                                      <a:latin typeface="Cambria Math"/>
                                    </a:rPr>
                                    <m:t>𝑤</m:t>
                                  </m:r>
                                </m:e>
                                <m:sub>
                                  <m:r>
                                    <a:rPr lang="en-US" sz="1400">
                                      <a:latin typeface="Cambria Math"/>
                                    </a:rPr>
                                    <m:t>0</m:t>
                                  </m:r>
                                </m:sub>
                              </m:sSub>
                            </m:den>
                          </m:f>
                        </m:e>
                      </m:d>
                    </m:oMath>
                  </m:oMathPara>
                </a14:m>
                <a:endParaRPr lang="en-US" sz="1300" dirty="0"/>
              </a:p>
            </p:txBody>
          </p:sp>
        </mc:Choice>
        <mc:Fallback xmlns="">
          <p:sp>
            <p:nvSpPr>
              <p:cNvPr id="9" name="Text 5"/>
              <p:cNvSpPr>
                <a:spLocks noRot="1" noChangeAspect="1" noMove="1" noResize="1" noEditPoints="1" noAdjustHandles="1" noChangeArrowheads="1" noChangeShapeType="1" noTextEdit="1"/>
              </p:cNvSpPr>
              <p:nvPr/>
            </p:nvSpPr>
            <p:spPr>
              <a:xfrm>
                <a:off x="502920" y="3017520"/>
                <a:ext cx="6949440" cy="594360"/>
              </a:xfrm>
              <a:prstGeom prst="rect">
                <a:avLst/>
              </a:prstGeom>
              <a:blipFill>
                <a:blip r:embed="rId7"/>
                <a:stretch>
                  <a:fillRect b="-2041"/>
                </a:stretch>
              </a:blipFill>
              <a:ln/>
            </p:spPr>
            <p:txBody>
              <a:bodyPr/>
              <a:lstStyle/>
              <a:p>
                <a:r>
                  <a:rPr lang="tr-TR">
                    <a:noFill/>
                  </a:rPr>
                  <a:t/>
                </a:r>
              </a:p>
            </p:txBody>
          </p:sp>
        </mc:Fallback>
      </mc:AlternateContent>
      <mc:AlternateContent xmlns:mc="http://schemas.openxmlformats.org/markup-compatibility/2006" xmlns:a14="http://schemas.microsoft.com/office/drawing/2010/main">
        <mc:Choice Requires="a14">
          <p:sp>
            <p:nvSpPr>
              <p:cNvPr id="10" name="Text 6"/>
              <p:cNvSpPr/>
              <p:nvPr/>
            </p:nvSpPr>
            <p:spPr>
              <a:xfrm>
                <a:off x="502920" y="3657600"/>
                <a:ext cx="6949440" cy="548640"/>
              </a:xfrm>
              <a:prstGeom prst="rect">
                <a:avLst/>
              </a:prstGeom>
              <a:noFill/>
              <a:ln/>
            </p:spPr>
            <p:txBody>
              <a:bodyPr wrap="square" lIns="0" tIns="0" rIns="0" bIns="0" rtlCol="0" anchor="ctr"/>
              <a:lstStyle/>
              <a:p>
                <a:pPr marL="0" indent="0" algn="ctr">
                  <a:buNone/>
                </a:pPr>
                <a14:m>
                  <m:oMathPara xmlns:m="http://schemas.openxmlformats.org/officeDocument/2006/math">
                    <m:oMath>
                      <m:sSub>
                        <m:sSubPr>
                          <m:ctrlPr>
                            <a:rPr lang="en-US" sz="1400">
                              <a:latin typeface="Cambria Math"/>
                            </a:rPr>
                          </m:ctrlPr>
                        </m:sSubPr>
                        <m:e>
                          <m:r>
                            <a:rPr lang="en-US" sz="1400">
                              <a:latin typeface="Cambria Math"/>
                            </a:rPr>
                            <m:t>𝑔</m:t>
                          </m:r>
                        </m:e>
                        <m:sub>
                          <m:r>
                            <a:rPr lang="en-US" sz="1400">
                              <a:latin typeface="Cambria Math"/>
                            </a:rPr>
                            <m:t>𝑠𝑙𝑜𝑝𝑒</m:t>
                          </m:r>
                        </m:sub>
                      </m:sSub>
                      <m:d>
                        <m:dPr>
                          <m:ctrlPr>
                            <a:rPr lang="en-US" sz="1400">
                              <a:latin typeface="Cambria Math"/>
                            </a:rPr>
                          </m:ctrlPr>
                        </m:dPr>
                        <m:e>
                          <m:r>
                            <a:rPr lang="en-US" sz="1400">
                              <a:latin typeface="Cambria Math"/>
                            </a:rPr>
                            <m:t>𝑥</m:t>
                          </m:r>
                          <m:r>
                            <a:rPr lang="en-US" sz="1400">
                              <a:latin typeface="Cambria Math"/>
                            </a:rPr>
                            <m:t>,</m:t>
                          </m:r>
                          <m:r>
                            <a:rPr lang="en-US" sz="1400">
                              <a:latin typeface="Cambria Math"/>
                            </a:rPr>
                            <m:t>𝑦</m:t>
                          </m:r>
                        </m:e>
                      </m:d>
                      <m:r>
                        <a:rPr lang="en-US" sz="1400">
                          <a:latin typeface="Cambria Math"/>
                        </a:rPr>
                        <m:t>=</m:t>
                      </m:r>
                      <m:func>
                        <m:funcPr>
                          <m:ctrlPr>
                            <a:rPr lang="en-US" sz="1400">
                              <a:latin typeface="Cambria Math"/>
                            </a:rPr>
                          </m:ctrlPr>
                        </m:funcPr>
                        <m:fName>
                          <m:r>
                            <m:rPr>
                              <m:sty m:val="p"/>
                            </m:rPr>
                            <a:rPr lang="en-US" sz="1400">
                              <a:latin typeface="Cambria Math"/>
                            </a:rPr>
                            <m:t>min</m:t>
                          </m:r>
                        </m:fName>
                        <m:e>
                          <m:d>
                            <m:dPr>
                              <m:ctrlPr>
                                <a:rPr lang="en-US" sz="1400">
                                  <a:latin typeface="Cambria Math"/>
                                </a:rPr>
                              </m:ctrlPr>
                            </m:dPr>
                            <m:e>
                              <m:r>
                                <a:rPr lang="en-US" sz="1400">
                                  <a:latin typeface="Cambria Math"/>
                                </a:rPr>
                                <m:t>3, 1+</m:t>
                              </m:r>
                              <m:sSub>
                                <m:sSubPr>
                                  <m:ctrlPr>
                                    <a:rPr lang="en-US" sz="1400">
                                      <a:latin typeface="Cambria Math"/>
                                    </a:rPr>
                                  </m:ctrlPr>
                                </m:sSubPr>
                                <m:e>
                                  <m:r>
                                    <a:rPr lang="en-US" sz="1400">
                                      <a:latin typeface="Cambria Math"/>
                                    </a:rPr>
                                    <m:t>𝑎</m:t>
                                  </m:r>
                                </m:e>
                                <m:sub>
                                  <m:r>
                                    <a:rPr lang="en-US" sz="1400">
                                      <a:latin typeface="Cambria Math"/>
                                    </a:rPr>
                                    <m:t>𝑠</m:t>
                                  </m:r>
                                </m:sub>
                              </m:sSub>
                              <m:d>
                                <m:dPr>
                                  <m:ctrlPr>
                                    <a:rPr lang="en-US" sz="1400" i="1">
                                      <a:latin typeface="Cambria Math" panose="02040503050406030204" pitchFamily="18" charset="0"/>
                                    </a:rPr>
                                  </m:ctrlPr>
                                </m:dPr>
                                <m:e>
                                  <m:sSub>
                                    <m:sSubPr>
                                      <m:ctrlPr>
                                        <a:rPr lang="en-US" sz="1400">
                                          <a:latin typeface="Cambria Math"/>
                                        </a:rPr>
                                      </m:ctrlPr>
                                    </m:sSubPr>
                                    <m:e>
                                      <m:r>
                                        <a:rPr lang="en-US" sz="1400">
                                          <a:latin typeface="Cambria Math"/>
                                        </a:rPr>
                                        <m:t>𝐹</m:t>
                                      </m:r>
                                    </m:e>
                                    <m:sub>
                                      <m:r>
                                        <a:rPr lang="en-US" sz="1400">
                                          <a:latin typeface="Cambria Math"/>
                                        </a:rPr>
                                        <m:t>𝑡𝑦𝑝𝑒</m:t>
                                      </m:r>
                                    </m:sub>
                                  </m:sSub>
                                  <m:d>
                                    <m:dPr>
                                      <m:ctrlPr>
                                        <a:rPr lang="en-US" sz="1400">
                                          <a:latin typeface="Cambria Math"/>
                                        </a:rPr>
                                      </m:ctrlPr>
                                    </m:dPr>
                                    <m:e>
                                      <m:r>
                                        <a:rPr lang="en-US" sz="1400">
                                          <a:latin typeface="Cambria Math"/>
                                        </a:rPr>
                                        <m:t>𝑥</m:t>
                                      </m:r>
                                      <m:r>
                                        <a:rPr lang="en-US" sz="1400">
                                          <a:latin typeface="Cambria Math"/>
                                        </a:rPr>
                                        <m:t>,</m:t>
                                      </m:r>
                                      <m:r>
                                        <a:rPr lang="en-US" sz="1400">
                                          <a:latin typeface="Cambria Math"/>
                                        </a:rPr>
                                        <m:t>𝑦</m:t>
                                      </m:r>
                                    </m:e>
                                  </m:d>
                                </m:e>
                              </m:d>
                              <m:r>
                                <a:rPr lang="en-US" sz="1400">
                                  <a:latin typeface="Cambria Math"/>
                                </a:rPr>
                                <m:t>⋅</m:t>
                              </m:r>
                              <m:func>
                                <m:funcPr>
                                  <m:ctrlPr>
                                    <a:rPr lang="en-US" sz="1400">
                                      <a:latin typeface="Cambria Math"/>
                                    </a:rPr>
                                  </m:ctrlPr>
                                </m:funcPr>
                                <m:fName>
                                  <m:r>
                                    <m:rPr>
                                      <m:sty m:val="p"/>
                                    </m:rPr>
                                    <a:rPr lang="en-US" sz="1400">
                                      <a:latin typeface="Cambria Math"/>
                                    </a:rPr>
                                    <m:t>tan</m:t>
                                  </m:r>
                                </m:fName>
                                <m:e>
                                  <m:d>
                                    <m:dPr>
                                      <m:ctrlPr>
                                        <a:rPr lang="en-US" sz="1400" i="1">
                                          <a:latin typeface="Cambria Math" panose="02040503050406030204" pitchFamily="18" charset="0"/>
                                        </a:rPr>
                                      </m:ctrlPr>
                                    </m:dPr>
                                    <m:e>
                                      <m:sSub>
                                        <m:sSubPr>
                                          <m:ctrlPr>
                                            <a:rPr lang="en-US" sz="1400">
                                              <a:latin typeface="Cambria Math"/>
                                            </a:rPr>
                                          </m:ctrlPr>
                                        </m:sSubPr>
                                        <m:e>
                                          <m:r>
                                            <a:rPr lang="en-US" sz="1400">
                                              <a:latin typeface="Cambria Math"/>
                                            </a:rPr>
                                            <m:t>𝐺</m:t>
                                          </m:r>
                                        </m:e>
                                        <m:sub>
                                          <m:r>
                                            <a:rPr lang="en-US" sz="1400">
                                              <a:latin typeface="Cambria Math"/>
                                            </a:rPr>
                                            <m:t>𝑠𝑙𝑜𝑝𝑒</m:t>
                                          </m:r>
                                        </m:sub>
                                      </m:sSub>
                                      <m:d>
                                        <m:dPr>
                                          <m:ctrlPr>
                                            <a:rPr lang="en-US" sz="1400">
                                              <a:latin typeface="Cambria Math"/>
                                            </a:rPr>
                                          </m:ctrlPr>
                                        </m:dPr>
                                        <m:e>
                                          <m:r>
                                            <a:rPr lang="en-US" sz="1400">
                                              <a:latin typeface="Cambria Math"/>
                                            </a:rPr>
                                            <m:t>𝑥</m:t>
                                          </m:r>
                                          <m:r>
                                            <a:rPr lang="en-US" sz="1400">
                                              <a:latin typeface="Cambria Math"/>
                                            </a:rPr>
                                            <m:t>,</m:t>
                                          </m:r>
                                          <m:r>
                                            <a:rPr lang="en-US" sz="1400">
                                              <a:latin typeface="Cambria Math"/>
                                            </a:rPr>
                                            <m:t>𝑦</m:t>
                                          </m:r>
                                        </m:e>
                                      </m:d>
                                    </m:e>
                                  </m:d>
                                </m:e>
                              </m:func>
                            </m:e>
                          </m:d>
                        </m:e>
                      </m:func>
                    </m:oMath>
                  </m:oMathPara>
                </a14:m>
                <a:endParaRPr lang="en-US" sz="1300" dirty="0"/>
              </a:p>
            </p:txBody>
          </p:sp>
        </mc:Choice>
        <mc:Fallback xmlns="">
          <p:sp>
            <p:nvSpPr>
              <p:cNvPr id="10" name="Text 6"/>
              <p:cNvSpPr>
                <a:spLocks noRot="1" noChangeAspect="1" noMove="1" noResize="1" noEditPoints="1" noAdjustHandles="1" noChangeArrowheads="1" noChangeShapeType="1" noTextEdit="1"/>
              </p:cNvSpPr>
              <p:nvPr/>
            </p:nvSpPr>
            <p:spPr>
              <a:xfrm>
                <a:off x="502920" y="3657600"/>
                <a:ext cx="6949440" cy="548640"/>
              </a:xfrm>
              <a:prstGeom prst="rect">
                <a:avLst/>
              </a:prstGeom>
              <a:blipFill>
                <a:blip r:embed="rId8"/>
                <a:stretch>
                  <a:fillRect/>
                </a:stretch>
              </a:blipFill>
              <a:ln/>
            </p:spPr>
            <p:txBody>
              <a:bodyPr/>
              <a:lstStyle/>
              <a:p>
                <a:r>
                  <a:rPr lang="tr-TR">
                    <a:noFill/>
                  </a:rPr>
                  <a:t/>
                </a:r>
              </a:p>
            </p:txBody>
          </p:sp>
        </mc:Fallback>
      </mc:AlternateContent>
      <mc:AlternateContent xmlns:mc="http://schemas.openxmlformats.org/markup-compatibility/2006" xmlns:a14="http://schemas.microsoft.com/office/drawing/2010/main">
        <mc:Choice Requires="a14">
          <p:sp>
            <p:nvSpPr>
              <p:cNvPr id="11" name="Text 7"/>
              <p:cNvSpPr/>
              <p:nvPr/>
            </p:nvSpPr>
            <p:spPr>
              <a:xfrm>
                <a:off x="502920" y="4251960"/>
                <a:ext cx="6949440" cy="548640"/>
              </a:xfrm>
              <a:prstGeom prst="rect">
                <a:avLst/>
              </a:prstGeom>
              <a:noFill/>
              <a:ln/>
            </p:spPr>
            <p:txBody>
              <a:bodyPr wrap="square" lIns="0" tIns="0" rIns="0" bIns="0" rtlCol="0" anchor="ctr"/>
              <a:lstStyle/>
              <a:p>
                <a:pPr marL="0" indent="0" algn="ctr">
                  <a:buNone/>
                </a:pPr>
                <a14:m>
                  <m:oMathPara xmlns:m="http://schemas.openxmlformats.org/officeDocument/2006/math">
                    <m:oMath>
                      <m:sSub>
                        <m:sSubPr>
                          <m:ctrlPr>
                            <a:rPr lang="en-US" sz="1400">
                              <a:latin typeface="Cambria Math"/>
                            </a:rPr>
                          </m:ctrlPr>
                        </m:sSubPr>
                        <m:e>
                          <m:r>
                            <a:rPr lang="en-US" sz="1400">
                              <a:latin typeface="Cambria Math"/>
                            </a:rPr>
                            <m:t>𝑔</m:t>
                          </m:r>
                        </m:e>
                        <m:sub>
                          <m:r>
                            <a:rPr lang="en-US" sz="1400">
                              <a:latin typeface="Cambria Math"/>
                            </a:rPr>
                            <m:t>𝑎𝑠𝑝𝑒𝑐𝑡</m:t>
                          </m:r>
                        </m:sub>
                      </m:sSub>
                      <m:d>
                        <m:dPr>
                          <m:ctrlPr>
                            <a:rPr lang="en-US" sz="1400">
                              <a:latin typeface="Cambria Math"/>
                            </a:rPr>
                          </m:ctrlPr>
                        </m:dPr>
                        <m:e>
                          <m:r>
                            <a:rPr lang="en-US" sz="1400">
                              <a:latin typeface="Cambria Math"/>
                            </a:rPr>
                            <m:t>𝑥</m:t>
                          </m:r>
                          <m:r>
                            <a:rPr lang="en-US" sz="1400">
                              <a:latin typeface="Cambria Math"/>
                            </a:rPr>
                            <m:t>,</m:t>
                          </m:r>
                          <m:r>
                            <a:rPr lang="en-US" sz="1400">
                              <a:latin typeface="Cambria Math"/>
                            </a:rPr>
                            <m:t>𝑦</m:t>
                          </m:r>
                        </m:e>
                      </m:d>
                      <m:r>
                        <a:rPr lang="en-US" sz="1400">
                          <a:latin typeface="Cambria Math"/>
                        </a:rPr>
                        <m:t>=1+</m:t>
                      </m:r>
                      <m:sSub>
                        <m:sSubPr>
                          <m:ctrlPr>
                            <a:rPr lang="en-US" sz="1400">
                              <a:latin typeface="Cambria Math"/>
                            </a:rPr>
                          </m:ctrlPr>
                        </m:sSubPr>
                        <m:e>
                          <m:r>
                            <a:rPr lang="en-US" sz="1400">
                              <a:latin typeface="Cambria Math"/>
                            </a:rPr>
                            <m:t>𝑎</m:t>
                          </m:r>
                        </m:e>
                        <m:sub>
                          <m:r>
                            <a:rPr lang="en-US" sz="1400">
                              <a:latin typeface="Cambria Math"/>
                            </a:rPr>
                            <m:t>𝑎𝑠𝑝</m:t>
                          </m:r>
                        </m:sub>
                      </m:sSub>
                      <m:d>
                        <m:dPr>
                          <m:ctrlPr>
                            <a:rPr lang="en-US" sz="1400" i="1">
                              <a:latin typeface="Cambria Math" panose="02040503050406030204" pitchFamily="18" charset="0"/>
                            </a:rPr>
                          </m:ctrlPr>
                        </m:dPr>
                        <m:e>
                          <m:sSub>
                            <m:sSubPr>
                              <m:ctrlPr>
                                <a:rPr lang="en-US" sz="1400">
                                  <a:latin typeface="Cambria Math"/>
                                </a:rPr>
                              </m:ctrlPr>
                            </m:sSubPr>
                            <m:e>
                              <m:r>
                                <a:rPr lang="en-US" sz="1400">
                                  <a:latin typeface="Cambria Math"/>
                                </a:rPr>
                                <m:t>𝐹</m:t>
                              </m:r>
                            </m:e>
                            <m:sub>
                              <m:r>
                                <a:rPr lang="en-US" sz="1400">
                                  <a:latin typeface="Cambria Math"/>
                                </a:rPr>
                                <m:t>𝑡𝑦𝑝𝑒</m:t>
                              </m:r>
                            </m:sub>
                          </m:sSub>
                          <m:d>
                            <m:dPr>
                              <m:ctrlPr>
                                <a:rPr lang="en-US" sz="1400">
                                  <a:latin typeface="Cambria Math"/>
                                </a:rPr>
                              </m:ctrlPr>
                            </m:dPr>
                            <m:e>
                              <m:r>
                                <a:rPr lang="en-US" sz="1400">
                                  <a:latin typeface="Cambria Math"/>
                                </a:rPr>
                                <m:t>𝑥</m:t>
                              </m:r>
                              <m:r>
                                <a:rPr lang="en-US" sz="1400">
                                  <a:latin typeface="Cambria Math"/>
                                </a:rPr>
                                <m:t>,</m:t>
                              </m:r>
                              <m:r>
                                <a:rPr lang="en-US" sz="1400">
                                  <a:latin typeface="Cambria Math"/>
                                </a:rPr>
                                <m:t>𝑦</m:t>
                              </m:r>
                            </m:e>
                          </m:d>
                        </m:e>
                      </m:d>
                      <m:r>
                        <a:rPr lang="en-US" sz="1400">
                          <a:latin typeface="Cambria Math"/>
                        </a:rPr>
                        <m:t>∙</m:t>
                      </m:r>
                      <m:func>
                        <m:funcPr>
                          <m:ctrlPr>
                            <a:rPr lang="en-US" sz="1400">
                              <a:latin typeface="Cambria Math"/>
                            </a:rPr>
                          </m:ctrlPr>
                        </m:funcPr>
                        <m:fName>
                          <m:r>
                            <m:rPr>
                              <m:sty m:val="p"/>
                            </m:rPr>
                            <a:rPr lang="en-US" sz="1400">
                              <a:latin typeface="Cambria Math"/>
                            </a:rPr>
                            <m:t>cos</m:t>
                          </m:r>
                        </m:fName>
                        <m:e>
                          <m:d>
                            <m:dPr>
                              <m:ctrlPr>
                                <a:rPr lang="en-US" sz="1400" i="1">
                                  <a:latin typeface="Cambria Math" panose="02040503050406030204" pitchFamily="18" charset="0"/>
                                </a:rPr>
                              </m:ctrlPr>
                            </m:dPr>
                            <m:e>
                              <m:sSub>
                                <m:sSubPr>
                                  <m:ctrlPr>
                                    <a:rPr lang="en-US" sz="1400">
                                      <a:latin typeface="Cambria Math"/>
                                    </a:rPr>
                                  </m:ctrlPr>
                                </m:sSubPr>
                                <m:e>
                                  <m:r>
                                    <a:rPr lang="en-US" sz="1400">
                                      <a:latin typeface="Cambria Math"/>
                                    </a:rPr>
                                    <m:t>𝐺</m:t>
                                  </m:r>
                                </m:e>
                                <m:sub>
                                  <m:r>
                                    <a:rPr lang="en-US" sz="1400">
                                      <a:latin typeface="Cambria Math"/>
                                    </a:rPr>
                                    <m:t>𝑎𝑠𝑝𝑒𝑐𝑡</m:t>
                                  </m:r>
                                </m:sub>
                              </m:sSub>
                              <m:d>
                                <m:dPr>
                                  <m:ctrlPr>
                                    <a:rPr lang="en-US" sz="1400">
                                      <a:latin typeface="Cambria Math"/>
                                    </a:rPr>
                                  </m:ctrlPr>
                                </m:dPr>
                                <m:e>
                                  <m:r>
                                    <a:rPr lang="en-US" sz="1400">
                                      <a:latin typeface="Cambria Math"/>
                                    </a:rPr>
                                    <m:t>𝑥</m:t>
                                  </m:r>
                                  <m:r>
                                    <a:rPr lang="en-US" sz="1400">
                                      <a:latin typeface="Cambria Math"/>
                                    </a:rPr>
                                    <m:t>,</m:t>
                                  </m:r>
                                  <m:r>
                                    <a:rPr lang="en-US" sz="1400">
                                      <a:latin typeface="Cambria Math"/>
                                    </a:rPr>
                                    <m:t>𝑦</m:t>
                                  </m:r>
                                </m:e>
                              </m:d>
                              <m:r>
                                <a:rPr lang="en-US" sz="1400">
                                  <a:latin typeface="Cambria Math"/>
                                </a:rPr>
                                <m:t>−</m:t>
                              </m:r>
                              <m:sSub>
                                <m:sSubPr>
                                  <m:ctrlPr>
                                    <a:rPr lang="en-US" sz="1400">
                                      <a:latin typeface="Cambria Math"/>
                                    </a:rPr>
                                  </m:ctrlPr>
                                </m:sSubPr>
                                <m:e>
                                  <m:r>
                                    <a:rPr lang="en-US" sz="1400">
                                      <a:latin typeface="Cambria Math"/>
                                    </a:rPr>
                                    <m:t>𝑊</m:t>
                                  </m:r>
                                </m:e>
                                <m:sub>
                                  <m:r>
                                    <a:rPr lang="en-US" sz="1400">
                                      <a:latin typeface="Cambria Math"/>
                                    </a:rPr>
                                    <m:t>𝑤𝑑</m:t>
                                  </m:r>
                                  <m:r>
                                    <a:rPr lang="en-US" sz="1400">
                                      <a:latin typeface="Cambria Math"/>
                                    </a:rPr>
                                    <m:t>,</m:t>
                                  </m:r>
                                  <m:r>
                                    <a:rPr lang="en-US" sz="1400">
                                      <a:latin typeface="Cambria Math"/>
                                    </a:rPr>
                                    <m:t>𝑘</m:t>
                                  </m:r>
                                </m:sub>
                              </m:sSub>
                              <m:d>
                                <m:dPr>
                                  <m:ctrlPr>
                                    <a:rPr lang="en-US" sz="1400">
                                      <a:latin typeface="Cambria Math"/>
                                    </a:rPr>
                                  </m:ctrlPr>
                                </m:dPr>
                                <m:e>
                                  <m:r>
                                    <a:rPr lang="en-US" sz="1400">
                                      <a:latin typeface="Cambria Math"/>
                                    </a:rPr>
                                    <m:t>𝑥</m:t>
                                  </m:r>
                                  <m:r>
                                    <a:rPr lang="en-US" sz="1400">
                                      <a:latin typeface="Cambria Math"/>
                                    </a:rPr>
                                    <m:t>,</m:t>
                                  </m:r>
                                  <m:r>
                                    <a:rPr lang="en-US" sz="1400">
                                      <a:latin typeface="Cambria Math"/>
                                    </a:rPr>
                                    <m:t>𝑦</m:t>
                                  </m:r>
                                </m:e>
                              </m:d>
                            </m:e>
                          </m:d>
                        </m:e>
                      </m:func>
                    </m:oMath>
                  </m:oMathPara>
                </a14:m>
                <a:endParaRPr lang="en-US" sz="1300" dirty="0"/>
              </a:p>
            </p:txBody>
          </p:sp>
        </mc:Choice>
        <mc:Fallback xmlns="">
          <p:sp>
            <p:nvSpPr>
              <p:cNvPr id="11" name="Text 7"/>
              <p:cNvSpPr>
                <a:spLocks noRot="1" noChangeAspect="1" noMove="1" noResize="1" noEditPoints="1" noAdjustHandles="1" noChangeArrowheads="1" noChangeShapeType="1" noTextEdit="1"/>
              </p:cNvSpPr>
              <p:nvPr/>
            </p:nvSpPr>
            <p:spPr>
              <a:xfrm>
                <a:off x="502920" y="4251960"/>
                <a:ext cx="6949440" cy="548640"/>
              </a:xfrm>
              <a:prstGeom prst="rect">
                <a:avLst/>
              </a:prstGeom>
              <a:blipFill>
                <a:blip r:embed="rId9"/>
                <a:stretch>
                  <a:fillRect/>
                </a:stretch>
              </a:blipFill>
              <a:ln/>
            </p:spPr>
            <p:txBody>
              <a:bodyPr/>
              <a:lstStyle/>
              <a:p>
                <a:r>
                  <a:rPr lang="tr-TR">
                    <a:noFill/>
                  </a:rPr>
                  <a:t/>
                </a:r>
              </a:p>
            </p:txBody>
          </p:sp>
        </mc:Fallback>
      </mc:AlternateContent>
      <mc:AlternateContent xmlns:mc="http://schemas.openxmlformats.org/markup-compatibility/2006" xmlns:a14="http://schemas.microsoft.com/office/drawing/2010/main">
        <mc:Choice Requires="a14">
          <p:sp>
            <p:nvSpPr>
              <p:cNvPr id="12" name="Text 8"/>
              <p:cNvSpPr/>
              <p:nvPr/>
            </p:nvSpPr>
            <p:spPr>
              <a:xfrm>
                <a:off x="7680960" y="1783080"/>
                <a:ext cx="4069080" cy="3017520"/>
              </a:xfrm>
              <a:prstGeom prst="rect">
                <a:avLst/>
              </a:prstGeom>
              <a:noFill/>
              <a:ln/>
            </p:spPr>
            <p:txBody>
              <a:bodyPr wrap="square" lIns="0" tIns="0" rIns="0" bIns="0" rtlCol="0" anchor="t"/>
              <a:lstStyle/>
              <a:p>
                <a:pPr marL="152400" indent="-152400">
                  <a:lnSpc>
                    <a:spcPct val="104000"/>
                  </a:lnSpc>
                  <a:spcAft>
                    <a:spcPts val="600"/>
                  </a:spcAft>
                  <a:buSzPct val="100000"/>
                  <a:buChar char="•"/>
                </a:pPr>
                <a:r>
                  <a:rPr lang="en-US" sz="1200" dirty="0">
                    <a:solidFill>
                      <a:srgbClr val="222222"/>
                    </a:solidFill>
                    <a:latin typeface="Calibri" pitchFamily="34" charset="0"/>
                    <a:ea typeface="Calibri" pitchFamily="34" charset="-122"/>
                    <a:cs typeface="Calibri" pitchFamily="34" charset="-120"/>
                  </a:rPr>
                  <a:t>Moisture damping: spread is suppressed at the extinction threshold </a:t>
                </a:r>
                <a14:m>
                  <m:oMath xmlns:m="http://schemas.openxmlformats.org/officeDocument/2006/math">
                    <m:sSub>
                      <m:sSubPr>
                        <m:ctrlPr>
                          <a:rPr lang="en-US" sz="1200">
                            <a:latin typeface="Cambria Math"/>
                          </a:rPr>
                        </m:ctrlPr>
                      </m:sSubPr>
                      <m:e>
                        <m:r>
                          <a:rPr lang="en-US" sz="1200">
                            <a:latin typeface="Cambria Math"/>
                          </a:rPr>
                          <m:t>𝑚</m:t>
                        </m:r>
                      </m:e>
                      <m:sub>
                        <m:r>
                          <a:rPr lang="en-US" sz="1200">
                            <a:latin typeface="Cambria Math"/>
                          </a:rPr>
                          <m:t>𝑒𝑥𝑡</m:t>
                        </m:r>
                      </m:sub>
                    </m:sSub>
                  </m:oMath>
                </a14:m>
                <a:r>
                  <a:rPr lang="en-US" sz="1200" dirty="0">
                    <a:solidFill>
                      <a:srgbClr val="222222"/>
                    </a:solidFill>
                    <a:latin typeface="Calibri" pitchFamily="34" charset="0"/>
                    <a:ea typeface="Calibri" pitchFamily="34" charset="-122"/>
                    <a:cs typeface="Calibri" pitchFamily="34" charset="-120"/>
                  </a:rPr>
                  <a:t>; the max(0, ·) keeps rates non-negative.</a:t>
                </a:r>
                <a:endParaRPr lang="en-US" sz="1200" dirty="0"/>
              </a:p>
              <a:p>
                <a:pPr marL="152400" indent="-152400">
                  <a:lnSpc>
                    <a:spcPct val="104000"/>
                  </a:lnSpc>
                  <a:spcAft>
                    <a:spcPts val="600"/>
                  </a:spcAft>
                  <a:buSzPct val="100000"/>
                  <a:buChar char="•"/>
                </a:pPr>
                <a:r>
                  <a:rPr lang="en-US" sz="1200" dirty="0">
                    <a:solidFill>
                      <a:srgbClr val="222222"/>
                    </a:solidFill>
                    <a:latin typeface="Calibri" pitchFamily="34" charset="0"/>
                    <a:ea typeface="Calibri" pitchFamily="34" charset="-122"/>
                    <a:cs typeface="Calibri" pitchFamily="34" charset="-120"/>
                  </a:rPr>
                  <a:t>Wind: tanh saturation, scaling constant 10 m/s — amplification grows but stays bounded in extreme wind.</a:t>
                </a:r>
                <a:endParaRPr lang="en-US" sz="1200" dirty="0"/>
              </a:p>
              <a:p>
                <a:pPr marL="152400" indent="-152400">
                  <a:lnSpc>
                    <a:spcPct val="104000"/>
                  </a:lnSpc>
                  <a:spcAft>
                    <a:spcPts val="600"/>
                  </a:spcAft>
                  <a:buSzPct val="100000"/>
                  <a:buChar char="•"/>
                </a:pPr>
                <a:r>
                  <a:rPr lang="en-US" sz="1200" dirty="0">
                    <a:solidFill>
                      <a:srgbClr val="222222"/>
                    </a:solidFill>
                    <a:latin typeface="Calibri" pitchFamily="34" charset="0"/>
                    <a:ea typeface="Calibri" pitchFamily="34" charset="-122"/>
                    <a:cs typeface="Calibri" pitchFamily="34" charset="-120"/>
                  </a:rPr>
                  <a:t>Slope: preheating on the upslope side; capped at ×3 so near-vertical DEM cells do not diverge.</a:t>
                </a:r>
                <a:endParaRPr lang="en-US" sz="1200" dirty="0"/>
              </a:p>
              <a:p>
                <a:pPr marL="152400" indent="-152400">
                  <a:lnSpc>
                    <a:spcPct val="104000"/>
                  </a:lnSpc>
                  <a:spcAft>
                    <a:spcPts val="600"/>
                  </a:spcAft>
                  <a:buSzPct val="100000"/>
                  <a:buChar char="•"/>
                </a:pPr>
                <a:r>
                  <a:rPr lang="en-US" sz="1200" dirty="0">
                    <a:solidFill>
                      <a:srgbClr val="222222"/>
                    </a:solidFill>
                    <a:latin typeface="Calibri" pitchFamily="34" charset="0"/>
                    <a:ea typeface="Calibri" pitchFamily="34" charset="-122"/>
                    <a:cs typeface="Calibri" pitchFamily="34" charset="-120"/>
                  </a:rPr>
                  <a:t>Aspect–wind alignment: cos(·) ≈ 1 accelerates, opposed wind decelerates.</a:t>
                </a:r>
                <a:endParaRPr lang="en-US" sz="1200" dirty="0"/>
              </a:p>
            </p:txBody>
          </p:sp>
        </mc:Choice>
        <mc:Fallback xmlns="">
          <p:sp>
            <p:nvSpPr>
              <p:cNvPr id="12" name="Text 8"/>
              <p:cNvSpPr>
                <a:spLocks noRot="1" noChangeAspect="1" noMove="1" noResize="1" noEditPoints="1" noAdjustHandles="1" noChangeArrowheads="1" noChangeShapeType="1" noTextEdit="1"/>
              </p:cNvSpPr>
              <p:nvPr/>
            </p:nvSpPr>
            <p:spPr>
              <a:xfrm>
                <a:off x="7680960" y="1783080"/>
                <a:ext cx="4069080" cy="3017520"/>
              </a:xfrm>
              <a:prstGeom prst="rect">
                <a:avLst/>
              </a:prstGeom>
              <a:blipFill>
                <a:blip r:embed="rId10"/>
                <a:stretch>
                  <a:fillRect l="-2395" t="-2020" r="-2246"/>
                </a:stretch>
              </a:blipFill>
              <a:ln/>
            </p:spPr>
            <p:txBody>
              <a:bodyPr/>
              <a:lstStyle/>
              <a:p>
                <a:r>
                  <a:rPr lang="tr-TR">
                    <a:noFill/>
                  </a:rPr>
                  <a:t/>
                </a:r>
              </a:p>
            </p:txBody>
          </p:sp>
        </mc:Fallback>
      </mc:AlternateContent>
      <mc:AlternateContent xmlns:mc="http://schemas.openxmlformats.org/markup-compatibility/2006" xmlns:a14="http://schemas.microsoft.com/office/drawing/2010/main">
        <mc:Choice Requires="a14">
          <p:graphicFrame>
            <p:nvGraphicFramePr>
              <p:cNvPr id="13" name="Table 0"/>
              <p:cNvGraphicFramePr>
                <a:graphicFrameLocks noGrp="1"/>
              </p:cNvGraphicFramePr>
              <p:nvPr/>
            </p:nvGraphicFramePr>
            <p:xfrm>
              <a:off x="502920" y="4983480"/>
              <a:ext cx="6949440" cy="1463040"/>
            </p:xfrm>
            <a:graphic>
              <a:graphicData uri="http://schemas.openxmlformats.org/drawingml/2006/table">
                <a:tbl>
                  <a:tblPr/>
                  <a:tblGrid>
                    <a:gridCol w="1920240">
                      <a:extLst>
                        <a:ext uri="{9D8B030D-6E8A-4147-A177-3AD203B41FA5}">
                          <a16:colId xmlns:a16="http://schemas.microsoft.com/office/drawing/2014/main" val="20000"/>
                        </a:ext>
                      </a:extLst>
                    </a:gridCol>
                    <a:gridCol w="1005840">
                      <a:extLst>
                        <a:ext uri="{9D8B030D-6E8A-4147-A177-3AD203B41FA5}">
                          <a16:colId xmlns:a16="http://schemas.microsoft.com/office/drawing/2014/main" val="20001"/>
                        </a:ext>
                      </a:extLst>
                    </a:gridCol>
                    <a:gridCol w="1005840">
                      <a:extLst>
                        <a:ext uri="{9D8B030D-6E8A-4147-A177-3AD203B41FA5}">
                          <a16:colId xmlns:a16="http://schemas.microsoft.com/office/drawing/2014/main" val="20002"/>
                        </a:ext>
                      </a:extLst>
                    </a:gridCol>
                    <a:gridCol w="1005840">
                      <a:extLst>
                        <a:ext uri="{9D8B030D-6E8A-4147-A177-3AD203B41FA5}">
                          <a16:colId xmlns:a16="http://schemas.microsoft.com/office/drawing/2014/main" val="20003"/>
                        </a:ext>
                      </a:extLst>
                    </a:gridCol>
                    <a:gridCol w="1005840">
                      <a:extLst>
                        <a:ext uri="{9D8B030D-6E8A-4147-A177-3AD203B41FA5}">
                          <a16:colId xmlns:a16="http://schemas.microsoft.com/office/drawing/2014/main" val="20004"/>
                        </a:ext>
                      </a:extLst>
                    </a:gridCol>
                    <a:gridCol w="1005840">
                      <a:extLst>
                        <a:ext uri="{9D8B030D-6E8A-4147-A177-3AD203B41FA5}">
                          <a16:colId xmlns:a16="http://schemas.microsoft.com/office/drawing/2014/main" val="20005"/>
                        </a:ext>
                      </a:extLst>
                    </a:gridCol>
                  </a:tblGrid>
                  <a:tr h="292608">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Fuel type</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solidFill>
                          <a:srgbClr val="000000"/>
                        </a:solidFill>
                      </a:tcPr>
                    </a:tc>
                    <a:tc>
                      <a:txBody>
                        <a:bodyPr/>
                        <a:lstStyle/>
                        <a:p>
                          <a:pPr marL="0" indent="0">
                            <a:buNone/>
                          </a:pPr>
                          <a14:m>
                            <m:oMathPara xmlns:m="http://schemas.openxmlformats.org/officeDocument/2006/math">
                              <m:oMath>
                                <m:sSub>
                                  <m:sSubPr>
                                    <m:ctrlPr>
                                      <a:rPr lang="en-US" sz="1200">
                                        <a:latin typeface="Cambria Math"/>
                                      </a:rPr>
                                    </m:ctrlPr>
                                  </m:sSubPr>
                                  <m:e>
                                    <m:r>
                                      <a:rPr lang="en-US" sz="1200">
                                        <a:latin typeface="Cambria Math"/>
                                      </a:rPr>
                                      <m:t>𝑟</m:t>
                                    </m:r>
                                  </m:e>
                                  <m:sub>
                                    <m:r>
                                      <a:rPr lang="en-US" sz="1200">
                                        <a:latin typeface="Cambria Math"/>
                                      </a:rPr>
                                      <m:t>𝑏𝑎𝑠𝑒</m:t>
                                    </m:r>
                                  </m:sub>
                                </m:sSub>
                              </m:oMath>
                            </m:oMathPara>
                          </a14:m>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solidFill>
                          <a:srgbClr val="000000"/>
                        </a:solidFill>
                      </a:tcPr>
                    </a:tc>
                    <a:tc>
                      <a:txBody>
                        <a:bodyPr/>
                        <a:lstStyle/>
                        <a:p>
                          <a:pPr marL="0" indent="0">
                            <a:buNone/>
                          </a:pPr>
                          <a14:m>
                            <m:oMathPara xmlns:m="http://schemas.openxmlformats.org/officeDocument/2006/math">
                              <m:oMath>
                                <m:sSub>
                                  <m:sSubPr>
                                    <m:ctrlPr>
                                      <a:rPr lang="en-US" sz="1200">
                                        <a:latin typeface="Cambria Math"/>
                                      </a:rPr>
                                    </m:ctrlPr>
                                  </m:sSubPr>
                                  <m:e>
                                    <m:r>
                                      <a:rPr lang="en-US" sz="1200">
                                        <a:latin typeface="Cambria Math"/>
                                      </a:rPr>
                                      <m:t>𝑚</m:t>
                                    </m:r>
                                  </m:e>
                                  <m:sub>
                                    <m:r>
                                      <a:rPr lang="en-US" sz="1200">
                                        <a:latin typeface="Cambria Math"/>
                                      </a:rPr>
                                      <m:t>𝑒𝑥𝑡</m:t>
                                    </m:r>
                                  </m:sub>
                                </m:sSub>
                              </m:oMath>
                            </m:oMathPara>
                          </a14:m>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solidFill>
                          <a:srgbClr val="000000"/>
                        </a:solidFill>
                      </a:tcPr>
                    </a:tc>
                    <a:tc>
                      <a:txBody>
                        <a:bodyPr/>
                        <a:lstStyle/>
                        <a:p>
                          <a:pPr marL="0" indent="0">
                            <a:buNone/>
                          </a:pPr>
                          <a14:m>
                            <m:oMathPara xmlns:m="http://schemas.openxmlformats.org/officeDocument/2006/math">
                              <m:oMath>
                                <m:sSub>
                                  <m:sSubPr>
                                    <m:ctrlPr>
                                      <a:rPr lang="en-US" sz="1200">
                                        <a:latin typeface="Cambria Math"/>
                                      </a:rPr>
                                    </m:ctrlPr>
                                  </m:sSubPr>
                                  <m:e>
                                    <m:r>
                                      <a:rPr lang="en-US" sz="1200">
                                        <a:latin typeface="Cambria Math"/>
                                      </a:rPr>
                                      <m:t>𝑎</m:t>
                                    </m:r>
                                  </m:e>
                                  <m:sub>
                                    <m:r>
                                      <a:rPr lang="en-US" sz="1200">
                                        <a:latin typeface="Cambria Math"/>
                                      </a:rPr>
                                      <m:t>𝑤</m:t>
                                    </m:r>
                                  </m:sub>
                                </m:sSub>
                              </m:oMath>
                            </m:oMathPara>
                          </a14:m>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solidFill>
                          <a:srgbClr val="000000"/>
                        </a:solidFill>
                      </a:tcPr>
                    </a:tc>
                    <a:tc>
                      <a:txBody>
                        <a:bodyPr/>
                        <a:lstStyle/>
                        <a:p>
                          <a:pPr marL="0" indent="0">
                            <a:buNone/>
                          </a:pPr>
                          <a14:m>
                            <m:oMathPara xmlns:m="http://schemas.openxmlformats.org/officeDocument/2006/math">
                              <m:oMath>
                                <m:sSub>
                                  <m:sSubPr>
                                    <m:ctrlPr>
                                      <a:rPr lang="en-US" sz="1200">
                                        <a:latin typeface="Cambria Math"/>
                                      </a:rPr>
                                    </m:ctrlPr>
                                  </m:sSubPr>
                                  <m:e>
                                    <m:r>
                                      <a:rPr lang="en-US" sz="1200">
                                        <a:latin typeface="Cambria Math"/>
                                      </a:rPr>
                                      <m:t>𝑎</m:t>
                                    </m:r>
                                  </m:e>
                                  <m:sub>
                                    <m:r>
                                      <a:rPr lang="en-US" sz="1200">
                                        <a:latin typeface="Cambria Math"/>
                                      </a:rPr>
                                      <m:t>𝑠</m:t>
                                    </m:r>
                                  </m:sub>
                                </m:sSub>
                              </m:oMath>
                            </m:oMathPara>
                          </a14:m>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solidFill>
                          <a:srgbClr val="000000"/>
                        </a:solidFill>
                      </a:tcPr>
                    </a:tc>
                    <a:tc>
                      <a:txBody>
                        <a:bodyPr/>
                        <a:lstStyle/>
                        <a:p>
                          <a:pPr marL="0" indent="0">
                            <a:buNone/>
                          </a:pPr>
                          <a14:m>
                            <m:oMathPara xmlns:m="http://schemas.openxmlformats.org/officeDocument/2006/math">
                              <m:oMath>
                                <m:sSub>
                                  <m:sSubPr>
                                    <m:ctrlPr>
                                      <a:rPr lang="en-US" sz="1200">
                                        <a:latin typeface="Cambria Math"/>
                                      </a:rPr>
                                    </m:ctrlPr>
                                  </m:sSubPr>
                                  <m:e>
                                    <m:r>
                                      <a:rPr lang="en-US" sz="1200">
                                        <a:latin typeface="Cambria Math"/>
                                      </a:rPr>
                                      <m:t>𝑎</m:t>
                                    </m:r>
                                  </m:e>
                                  <m:sub>
                                    <m:r>
                                      <a:rPr lang="en-US" sz="1200">
                                        <a:latin typeface="Cambria Math"/>
                                      </a:rPr>
                                      <m:t>𝑎𝑠𝑝</m:t>
                                    </m:r>
                                  </m:sub>
                                </m:sSub>
                              </m:oMath>
                            </m:oMathPara>
                          </a14:m>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solidFill>
                          <a:srgbClr val="000000"/>
                        </a:solidFill>
                      </a:tcPr>
                    </a:tc>
                    <a:extLst>
                      <a:ext uri="{0D108BD9-81ED-4DB2-BD59-A6C34878D82A}">
                        <a16:rowId xmlns:a16="http://schemas.microsoft.com/office/drawing/2014/main" val="10000"/>
                      </a:ext>
                    </a:extLst>
                  </a:tr>
                  <a:tr h="292608">
                    <a:tc>
                      <a:txBody>
                        <a:bodyPr/>
                        <a:lstStyle/>
                        <a:p>
                          <a:pPr marL="0" indent="0">
                            <a:buNone/>
                          </a:pPr>
                          <a:r>
                            <a:rPr lang="en-US" sz="1200" b="1" dirty="0">
                              <a:solidFill>
                                <a:srgbClr val="222222"/>
                              </a:solidFill>
                              <a:latin typeface="Calibri" pitchFamily="34" charset="0"/>
                              <a:ea typeface="Calibri" pitchFamily="34" charset="-122"/>
                              <a:cs typeface="Calibri" pitchFamily="34" charset="-120"/>
                            </a:rPr>
                            <a:t>Grass</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200" dirty="0">
                              <a:solidFill>
                                <a:srgbClr val="222222"/>
                              </a:solidFill>
                              <a:latin typeface="Calibri" pitchFamily="34" charset="0"/>
                              <a:ea typeface="Calibri" pitchFamily="34" charset="-122"/>
                              <a:cs typeface="Calibri" pitchFamily="34" charset="-120"/>
                            </a:rPr>
                            <a:t>2.00</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200" dirty="0">
                              <a:solidFill>
                                <a:srgbClr val="222222"/>
                              </a:solidFill>
                              <a:latin typeface="Calibri" pitchFamily="34" charset="0"/>
                              <a:ea typeface="Calibri" pitchFamily="34" charset="-122"/>
                              <a:cs typeface="Calibri" pitchFamily="34" charset="-120"/>
                            </a:rPr>
                            <a:t>0.15</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200" dirty="0">
                              <a:solidFill>
                                <a:srgbClr val="222222"/>
                              </a:solidFill>
                              <a:latin typeface="Calibri" pitchFamily="34" charset="0"/>
                              <a:ea typeface="Calibri" pitchFamily="34" charset="-122"/>
                              <a:cs typeface="Calibri" pitchFamily="34" charset="-120"/>
                            </a:rPr>
                            <a:t>25.0</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200" dirty="0">
                              <a:solidFill>
                                <a:srgbClr val="222222"/>
                              </a:solidFill>
                              <a:latin typeface="Calibri" pitchFamily="34" charset="0"/>
                              <a:ea typeface="Calibri" pitchFamily="34" charset="-122"/>
                              <a:cs typeface="Calibri" pitchFamily="34" charset="-120"/>
                            </a:rPr>
                            <a:t>2.0</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200" dirty="0">
                              <a:solidFill>
                                <a:srgbClr val="222222"/>
                              </a:solidFill>
                              <a:latin typeface="Calibri" pitchFamily="34" charset="0"/>
                              <a:ea typeface="Calibri" pitchFamily="34" charset="-122"/>
                              <a:cs typeface="Calibri" pitchFamily="34" charset="-120"/>
                            </a:rPr>
                            <a:t>0.30</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extLst>
                      <a:ext uri="{0D108BD9-81ED-4DB2-BD59-A6C34878D82A}">
                        <a16:rowId xmlns:a16="http://schemas.microsoft.com/office/drawing/2014/main" val="10001"/>
                      </a:ext>
                    </a:extLst>
                  </a:tr>
                  <a:tr h="292608">
                    <a:tc>
                      <a:txBody>
                        <a:bodyPr/>
                        <a:lstStyle/>
                        <a:p>
                          <a:pPr marL="0" indent="0">
                            <a:buNone/>
                          </a:pPr>
                          <a:r>
                            <a:rPr lang="en-US" sz="1200" b="1" dirty="0">
                              <a:solidFill>
                                <a:srgbClr val="222222"/>
                              </a:solidFill>
                              <a:latin typeface="Calibri" pitchFamily="34" charset="0"/>
                              <a:ea typeface="Calibri" pitchFamily="34" charset="-122"/>
                              <a:cs typeface="Calibri" pitchFamily="34" charset="-120"/>
                            </a:rPr>
                            <a:t>Shrub</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200" dirty="0">
                              <a:solidFill>
                                <a:srgbClr val="222222"/>
                              </a:solidFill>
                              <a:latin typeface="Calibri" pitchFamily="34" charset="0"/>
                              <a:ea typeface="Calibri" pitchFamily="34" charset="-122"/>
                              <a:cs typeface="Calibri" pitchFamily="34" charset="-120"/>
                            </a:rPr>
                            <a:t>0.80</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200" dirty="0">
                              <a:solidFill>
                                <a:srgbClr val="222222"/>
                              </a:solidFill>
                              <a:latin typeface="Calibri" pitchFamily="34" charset="0"/>
                              <a:ea typeface="Calibri" pitchFamily="34" charset="-122"/>
                              <a:cs typeface="Calibri" pitchFamily="34" charset="-120"/>
                            </a:rPr>
                            <a:t>0.20</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200" dirty="0">
                              <a:solidFill>
                                <a:srgbClr val="222222"/>
                              </a:solidFill>
                              <a:latin typeface="Calibri" pitchFamily="34" charset="0"/>
                              <a:ea typeface="Calibri" pitchFamily="34" charset="-122"/>
                              <a:cs typeface="Calibri" pitchFamily="34" charset="-120"/>
                            </a:rPr>
                            <a:t>15.0</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200" dirty="0">
                              <a:solidFill>
                                <a:srgbClr val="222222"/>
                              </a:solidFill>
                              <a:latin typeface="Calibri" pitchFamily="34" charset="0"/>
                              <a:ea typeface="Calibri" pitchFamily="34" charset="-122"/>
                              <a:cs typeface="Calibri" pitchFamily="34" charset="-120"/>
                            </a:rPr>
                            <a:t>2.0</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200" dirty="0">
                              <a:solidFill>
                                <a:srgbClr val="222222"/>
                              </a:solidFill>
                              <a:latin typeface="Calibri" pitchFamily="34" charset="0"/>
                              <a:ea typeface="Calibri" pitchFamily="34" charset="-122"/>
                              <a:cs typeface="Calibri" pitchFamily="34" charset="-120"/>
                            </a:rPr>
                            <a:t>0.25</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extLst>
                      <a:ext uri="{0D108BD9-81ED-4DB2-BD59-A6C34878D82A}">
                        <a16:rowId xmlns:a16="http://schemas.microsoft.com/office/drawing/2014/main" val="10002"/>
                      </a:ext>
                    </a:extLst>
                  </a:tr>
                  <a:tr h="292608">
                    <a:tc>
                      <a:txBody>
                        <a:bodyPr/>
                        <a:lstStyle/>
                        <a:p>
                          <a:pPr marL="0" indent="0">
                            <a:buNone/>
                          </a:pPr>
                          <a:r>
                            <a:rPr lang="en-US" sz="1200" b="1" dirty="0">
                              <a:solidFill>
                                <a:srgbClr val="222222"/>
                              </a:solidFill>
                              <a:latin typeface="Calibri" pitchFamily="34" charset="0"/>
                              <a:ea typeface="Calibri" pitchFamily="34" charset="-122"/>
                              <a:cs typeface="Calibri" pitchFamily="34" charset="-120"/>
                            </a:rPr>
                            <a:t>Pine litter</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200" dirty="0">
                              <a:solidFill>
                                <a:srgbClr val="222222"/>
                              </a:solidFill>
                              <a:latin typeface="Calibri" pitchFamily="34" charset="0"/>
                              <a:ea typeface="Calibri" pitchFamily="34" charset="-122"/>
                              <a:cs typeface="Calibri" pitchFamily="34" charset="-120"/>
                            </a:rPr>
                            <a:t>0.80</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200" dirty="0">
                              <a:solidFill>
                                <a:srgbClr val="222222"/>
                              </a:solidFill>
                              <a:latin typeface="Calibri" pitchFamily="34" charset="0"/>
                              <a:ea typeface="Calibri" pitchFamily="34" charset="-122"/>
                              <a:cs typeface="Calibri" pitchFamily="34" charset="-120"/>
                            </a:rPr>
                            <a:t>0.25</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200" dirty="0">
                              <a:solidFill>
                                <a:srgbClr val="222222"/>
                              </a:solidFill>
                              <a:latin typeface="Calibri" pitchFamily="34" charset="0"/>
                              <a:ea typeface="Calibri" pitchFamily="34" charset="-122"/>
                              <a:cs typeface="Calibri" pitchFamily="34" charset="-120"/>
                            </a:rPr>
                            <a:t>6.0</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200" dirty="0">
                              <a:solidFill>
                                <a:srgbClr val="222222"/>
                              </a:solidFill>
                              <a:latin typeface="Calibri" pitchFamily="34" charset="0"/>
                              <a:ea typeface="Calibri" pitchFamily="34" charset="-122"/>
                              <a:cs typeface="Calibri" pitchFamily="34" charset="-120"/>
                            </a:rPr>
                            <a:t>2.2</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200" dirty="0">
                              <a:solidFill>
                                <a:srgbClr val="222222"/>
                              </a:solidFill>
                              <a:latin typeface="Calibri" pitchFamily="34" charset="0"/>
                              <a:ea typeface="Calibri" pitchFamily="34" charset="-122"/>
                              <a:cs typeface="Calibri" pitchFamily="34" charset="-120"/>
                            </a:rPr>
                            <a:t>0.20</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extLst>
                      <a:ext uri="{0D108BD9-81ED-4DB2-BD59-A6C34878D82A}">
                        <a16:rowId xmlns:a16="http://schemas.microsoft.com/office/drawing/2014/main" val="10003"/>
                      </a:ext>
                    </a:extLst>
                  </a:tr>
                  <a:tr h="292608">
                    <a:tc>
                      <a:txBody>
                        <a:bodyPr/>
                        <a:lstStyle/>
                        <a:p>
                          <a:pPr marL="0" indent="0">
                            <a:buNone/>
                          </a:pPr>
                          <a:r>
                            <a:rPr lang="en-US" sz="1200" b="1" dirty="0">
                              <a:solidFill>
                                <a:srgbClr val="222222"/>
                              </a:solidFill>
                              <a:latin typeface="Calibri" pitchFamily="34" charset="0"/>
                              <a:ea typeface="Calibri" pitchFamily="34" charset="-122"/>
                              <a:cs typeface="Calibri" pitchFamily="34" charset="-120"/>
                            </a:rPr>
                            <a:t>Hardwood</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200" dirty="0">
                              <a:solidFill>
                                <a:srgbClr val="222222"/>
                              </a:solidFill>
                              <a:latin typeface="Calibri" pitchFamily="34" charset="0"/>
                              <a:ea typeface="Calibri" pitchFamily="34" charset="-122"/>
                              <a:cs typeface="Calibri" pitchFamily="34" charset="-120"/>
                            </a:rPr>
                            <a:t>0.30</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200" dirty="0">
                              <a:solidFill>
                                <a:srgbClr val="222222"/>
                              </a:solidFill>
                              <a:latin typeface="Calibri" pitchFamily="34" charset="0"/>
                              <a:ea typeface="Calibri" pitchFamily="34" charset="-122"/>
                              <a:cs typeface="Calibri" pitchFamily="34" charset="-120"/>
                            </a:rPr>
                            <a:t>0.30</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200" dirty="0">
                              <a:solidFill>
                                <a:srgbClr val="222222"/>
                              </a:solidFill>
                              <a:latin typeface="Calibri" pitchFamily="34" charset="0"/>
                              <a:ea typeface="Calibri" pitchFamily="34" charset="-122"/>
                              <a:cs typeface="Calibri" pitchFamily="34" charset="-120"/>
                            </a:rPr>
                            <a:t>4.0</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200" dirty="0">
                              <a:solidFill>
                                <a:srgbClr val="222222"/>
                              </a:solidFill>
                              <a:latin typeface="Calibri" pitchFamily="34" charset="0"/>
                              <a:ea typeface="Calibri" pitchFamily="34" charset="-122"/>
                              <a:cs typeface="Calibri" pitchFamily="34" charset="-120"/>
                            </a:rPr>
                            <a:t>1.8</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200" dirty="0">
                              <a:solidFill>
                                <a:srgbClr val="222222"/>
                              </a:solidFill>
                              <a:latin typeface="Calibri" pitchFamily="34" charset="0"/>
                              <a:ea typeface="Calibri" pitchFamily="34" charset="-122"/>
                              <a:cs typeface="Calibri" pitchFamily="34" charset="-120"/>
                            </a:rPr>
                            <a:t>0.15</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mc:Choice>
        <mc:Fallback xmlns="">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02920" y="4983480"/>
              <a:ext cx="6949440" cy="1528572"/>
            </p:xfrm>
            <a:graphic>
              <a:graphicData uri="http://schemas.openxmlformats.org/drawingml/2006/table">
                <a:tbl>
                  <a:tblPr/>
                  <a:tblGrid>
                    <a:gridCol w="1920240">
                      <a:extLst>
                        <a:ext uri="{9D8B030D-6E8A-4147-A177-3AD203B41FA5}">
                          <a16:colId xmlns:a16="http://schemas.microsoft.com/office/drawing/2014/main" val="20000"/>
                        </a:ext>
                      </a:extLst>
                    </a:gridCol>
                    <a:gridCol w="1005840">
                      <a:extLst>
                        <a:ext uri="{9D8B030D-6E8A-4147-A177-3AD203B41FA5}">
                          <a16:colId xmlns:a16="http://schemas.microsoft.com/office/drawing/2014/main" val="20001"/>
                        </a:ext>
                      </a:extLst>
                    </a:gridCol>
                    <a:gridCol w="1005840">
                      <a:extLst>
                        <a:ext uri="{9D8B030D-6E8A-4147-A177-3AD203B41FA5}">
                          <a16:colId xmlns:a16="http://schemas.microsoft.com/office/drawing/2014/main" val="20002"/>
                        </a:ext>
                      </a:extLst>
                    </a:gridCol>
                    <a:gridCol w="1005840">
                      <a:extLst>
                        <a:ext uri="{9D8B030D-6E8A-4147-A177-3AD203B41FA5}">
                          <a16:colId xmlns:a16="http://schemas.microsoft.com/office/drawing/2014/main" val="20003"/>
                        </a:ext>
                      </a:extLst>
                    </a:gridCol>
                    <a:gridCol w="1005840">
                      <a:extLst>
                        <a:ext uri="{9D8B030D-6E8A-4147-A177-3AD203B41FA5}">
                          <a16:colId xmlns:a16="http://schemas.microsoft.com/office/drawing/2014/main" val="20004"/>
                        </a:ext>
                      </a:extLst>
                    </a:gridCol>
                    <a:gridCol w="1005840">
                      <a:extLst>
                        <a:ext uri="{9D8B030D-6E8A-4147-A177-3AD203B41FA5}">
                          <a16:colId xmlns:a16="http://schemas.microsoft.com/office/drawing/2014/main" val="20005"/>
                        </a:ext>
                      </a:extLst>
                    </a:gridCol>
                  </a:tblGrid>
                  <a:tr h="358140">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Fuel type</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solidFill>
                          <a:srgbClr val="000000"/>
                        </a:solidFill>
                      </a:tcPr>
                    </a:tc>
                    <a:tc>
                      <a:txBody>
                        <a:bodyPr/>
                        <a:lstStyle/>
                        <a:p>
                          <a:endParaRPr lang="tr-T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blipFill>
                          <a:blip r:embed="rId11"/>
                          <a:stretch>
                            <a:fillRect l="-191515" t="-1695" r="-401818" b="-337288"/>
                          </a:stretch>
                        </a:blipFill>
                      </a:tcPr>
                    </a:tc>
                    <a:tc>
                      <a:txBody>
                        <a:bodyPr/>
                        <a:lstStyle/>
                        <a:p>
                          <a:endParaRPr lang="tr-T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blipFill>
                          <a:blip r:embed="rId11"/>
                          <a:stretch>
                            <a:fillRect l="-289759" t="-1695" r="-299398" b="-337288"/>
                          </a:stretch>
                        </a:blipFill>
                      </a:tcPr>
                    </a:tc>
                    <a:tc>
                      <a:txBody>
                        <a:bodyPr/>
                        <a:lstStyle/>
                        <a:p>
                          <a:endParaRPr lang="tr-T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blipFill>
                          <a:blip r:embed="rId11"/>
                          <a:stretch>
                            <a:fillRect l="-392121" t="-1695" r="-201212" b="-337288"/>
                          </a:stretch>
                        </a:blipFill>
                      </a:tcPr>
                    </a:tc>
                    <a:tc>
                      <a:txBody>
                        <a:bodyPr/>
                        <a:lstStyle/>
                        <a:p>
                          <a:endParaRPr lang="tr-T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blipFill>
                          <a:blip r:embed="rId11"/>
                          <a:stretch>
                            <a:fillRect l="-492121" t="-1695" r="-101212" b="-337288"/>
                          </a:stretch>
                        </a:blipFill>
                      </a:tcPr>
                    </a:tc>
                    <a:tc>
                      <a:txBody>
                        <a:bodyPr/>
                        <a:lstStyle/>
                        <a:p>
                          <a:endParaRPr lang="tr-T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blipFill>
                          <a:blip r:embed="rId11"/>
                          <a:stretch>
                            <a:fillRect l="-592121" t="-1695" r="-1212" b="-337288"/>
                          </a:stretch>
                        </a:blipFill>
                      </a:tcPr>
                    </a:tc>
                    <a:extLst>
                      <a:ext uri="{0D108BD9-81ED-4DB2-BD59-A6C34878D82A}">
                        <a16:rowId xmlns:a16="http://schemas.microsoft.com/office/drawing/2014/main" val="10000"/>
                      </a:ext>
                    </a:extLst>
                  </a:tr>
                  <a:tr h="292608">
                    <a:tc>
                      <a:txBody>
                        <a:bodyPr/>
                        <a:lstStyle/>
                        <a:p>
                          <a:pPr marL="0" indent="0">
                            <a:buNone/>
                          </a:pPr>
                          <a:r>
                            <a:rPr lang="en-US" sz="1200" b="1" dirty="0">
                              <a:solidFill>
                                <a:srgbClr val="222222"/>
                              </a:solidFill>
                              <a:latin typeface="Calibri" pitchFamily="34" charset="0"/>
                              <a:ea typeface="Calibri" pitchFamily="34" charset="-122"/>
                              <a:cs typeface="Calibri" pitchFamily="34" charset="-120"/>
                            </a:rPr>
                            <a:t>Grass</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200" dirty="0">
                              <a:solidFill>
                                <a:srgbClr val="222222"/>
                              </a:solidFill>
                              <a:latin typeface="Calibri" pitchFamily="34" charset="0"/>
                              <a:ea typeface="Calibri" pitchFamily="34" charset="-122"/>
                              <a:cs typeface="Calibri" pitchFamily="34" charset="-120"/>
                            </a:rPr>
                            <a:t>2.00</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200" dirty="0">
                              <a:solidFill>
                                <a:srgbClr val="222222"/>
                              </a:solidFill>
                              <a:latin typeface="Calibri" pitchFamily="34" charset="0"/>
                              <a:ea typeface="Calibri" pitchFamily="34" charset="-122"/>
                              <a:cs typeface="Calibri" pitchFamily="34" charset="-120"/>
                            </a:rPr>
                            <a:t>0.15</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200" dirty="0">
                              <a:solidFill>
                                <a:srgbClr val="222222"/>
                              </a:solidFill>
                              <a:latin typeface="Calibri" pitchFamily="34" charset="0"/>
                              <a:ea typeface="Calibri" pitchFamily="34" charset="-122"/>
                              <a:cs typeface="Calibri" pitchFamily="34" charset="-120"/>
                            </a:rPr>
                            <a:t>25.0</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200" dirty="0">
                              <a:solidFill>
                                <a:srgbClr val="222222"/>
                              </a:solidFill>
                              <a:latin typeface="Calibri" pitchFamily="34" charset="0"/>
                              <a:ea typeface="Calibri" pitchFamily="34" charset="-122"/>
                              <a:cs typeface="Calibri" pitchFamily="34" charset="-120"/>
                            </a:rPr>
                            <a:t>2.0</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200" dirty="0">
                              <a:solidFill>
                                <a:srgbClr val="222222"/>
                              </a:solidFill>
                              <a:latin typeface="Calibri" pitchFamily="34" charset="0"/>
                              <a:ea typeface="Calibri" pitchFamily="34" charset="-122"/>
                              <a:cs typeface="Calibri" pitchFamily="34" charset="-120"/>
                            </a:rPr>
                            <a:t>0.30</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extLst>
                      <a:ext uri="{0D108BD9-81ED-4DB2-BD59-A6C34878D82A}">
                        <a16:rowId xmlns:a16="http://schemas.microsoft.com/office/drawing/2014/main" val="10001"/>
                      </a:ext>
                    </a:extLst>
                  </a:tr>
                  <a:tr h="292608">
                    <a:tc>
                      <a:txBody>
                        <a:bodyPr/>
                        <a:lstStyle/>
                        <a:p>
                          <a:pPr marL="0" indent="0">
                            <a:buNone/>
                          </a:pPr>
                          <a:r>
                            <a:rPr lang="en-US" sz="1200" b="1" dirty="0">
                              <a:solidFill>
                                <a:srgbClr val="222222"/>
                              </a:solidFill>
                              <a:latin typeface="Calibri" pitchFamily="34" charset="0"/>
                              <a:ea typeface="Calibri" pitchFamily="34" charset="-122"/>
                              <a:cs typeface="Calibri" pitchFamily="34" charset="-120"/>
                            </a:rPr>
                            <a:t>Shrub</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200" dirty="0">
                              <a:solidFill>
                                <a:srgbClr val="222222"/>
                              </a:solidFill>
                              <a:latin typeface="Calibri" pitchFamily="34" charset="0"/>
                              <a:ea typeface="Calibri" pitchFamily="34" charset="-122"/>
                              <a:cs typeface="Calibri" pitchFamily="34" charset="-120"/>
                            </a:rPr>
                            <a:t>0.80</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200" dirty="0">
                              <a:solidFill>
                                <a:srgbClr val="222222"/>
                              </a:solidFill>
                              <a:latin typeface="Calibri" pitchFamily="34" charset="0"/>
                              <a:ea typeface="Calibri" pitchFamily="34" charset="-122"/>
                              <a:cs typeface="Calibri" pitchFamily="34" charset="-120"/>
                            </a:rPr>
                            <a:t>0.20</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200" dirty="0">
                              <a:solidFill>
                                <a:srgbClr val="222222"/>
                              </a:solidFill>
                              <a:latin typeface="Calibri" pitchFamily="34" charset="0"/>
                              <a:ea typeface="Calibri" pitchFamily="34" charset="-122"/>
                              <a:cs typeface="Calibri" pitchFamily="34" charset="-120"/>
                            </a:rPr>
                            <a:t>15.0</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200" dirty="0">
                              <a:solidFill>
                                <a:srgbClr val="222222"/>
                              </a:solidFill>
                              <a:latin typeface="Calibri" pitchFamily="34" charset="0"/>
                              <a:ea typeface="Calibri" pitchFamily="34" charset="-122"/>
                              <a:cs typeface="Calibri" pitchFamily="34" charset="-120"/>
                            </a:rPr>
                            <a:t>2.0</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200" dirty="0">
                              <a:solidFill>
                                <a:srgbClr val="222222"/>
                              </a:solidFill>
                              <a:latin typeface="Calibri" pitchFamily="34" charset="0"/>
                              <a:ea typeface="Calibri" pitchFamily="34" charset="-122"/>
                              <a:cs typeface="Calibri" pitchFamily="34" charset="-120"/>
                            </a:rPr>
                            <a:t>0.25</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extLst>
                      <a:ext uri="{0D108BD9-81ED-4DB2-BD59-A6C34878D82A}">
                        <a16:rowId xmlns:a16="http://schemas.microsoft.com/office/drawing/2014/main" val="10002"/>
                      </a:ext>
                    </a:extLst>
                  </a:tr>
                  <a:tr h="292608">
                    <a:tc>
                      <a:txBody>
                        <a:bodyPr/>
                        <a:lstStyle/>
                        <a:p>
                          <a:pPr marL="0" indent="0">
                            <a:buNone/>
                          </a:pPr>
                          <a:r>
                            <a:rPr lang="en-US" sz="1200" b="1" dirty="0">
                              <a:solidFill>
                                <a:srgbClr val="222222"/>
                              </a:solidFill>
                              <a:latin typeface="Calibri" pitchFamily="34" charset="0"/>
                              <a:ea typeface="Calibri" pitchFamily="34" charset="-122"/>
                              <a:cs typeface="Calibri" pitchFamily="34" charset="-120"/>
                            </a:rPr>
                            <a:t>Pine litter</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200" dirty="0">
                              <a:solidFill>
                                <a:srgbClr val="222222"/>
                              </a:solidFill>
                              <a:latin typeface="Calibri" pitchFamily="34" charset="0"/>
                              <a:ea typeface="Calibri" pitchFamily="34" charset="-122"/>
                              <a:cs typeface="Calibri" pitchFamily="34" charset="-120"/>
                            </a:rPr>
                            <a:t>0.80</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200" dirty="0">
                              <a:solidFill>
                                <a:srgbClr val="222222"/>
                              </a:solidFill>
                              <a:latin typeface="Calibri" pitchFamily="34" charset="0"/>
                              <a:ea typeface="Calibri" pitchFamily="34" charset="-122"/>
                              <a:cs typeface="Calibri" pitchFamily="34" charset="-120"/>
                            </a:rPr>
                            <a:t>0.25</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200" dirty="0">
                              <a:solidFill>
                                <a:srgbClr val="222222"/>
                              </a:solidFill>
                              <a:latin typeface="Calibri" pitchFamily="34" charset="0"/>
                              <a:ea typeface="Calibri" pitchFamily="34" charset="-122"/>
                              <a:cs typeface="Calibri" pitchFamily="34" charset="-120"/>
                            </a:rPr>
                            <a:t>6.0</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200" dirty="0">
                              <a:solidFill>
                                <a:srgbClr val="222222"/>
                              </a:solidFill>
                              <a:latin typeface="Calibri" pitchFamily="34" charset="0"/>
                              <a:ea typeface="Calibri" pitchFamily="34" charset="-122"/>
                              <a:cs typeface="Calibri" pitchFamily="34" charset="-120"/>
                            </a:rPr>
                            <a:t>2.2</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200" dirty="0">
                              <a:solidFill>
                                <a:srgbClr val="222222"/>
                              </a:solidFill>
                              <a:latin typeface="Calibri" pitchFamily="34" charset="0"/>
                              <a:ea typeface="Calibri" pitchFamily="34" charset="-122"/>
                              <a:cs typeface="Calibri" pitchFamily="34" charset="-120"/>
                            </a:rPr>
                            <a:t>0.20</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extLst>
                      <a:ext uri="{0D108BD9-81ED-4DB2-BD59-A6C34878D82A}">
                        <a16:rowId xmlns:a16="http://schemas.microsoft.com/office/drawing/2014/main" val="10003"/>
                      </a:ext>
                    </a:extLst>
                  </a:tr>
                  <a:tr h="292608">
                    <a:tc>
                      <a:txBody>
                        <a:bodyPr/>
                        <a:lstStyle/>
                        <a:p>
                          <a:pPr marL="0" indent="0">
                            <a:buNone/>
                          </a:pPr>
                          <a:r>
                            <a:rPr lang="en-US" sz="1200" b="1" dirty="0">
                              <a:solidFill>
                                <a:srgbClr val="222222"/>
                              </a:solidFill>
                              <a:latin typeface="Calibri" pitchFamily="34" charset="0"/>
                              <a:ea typeface="Calibri" pitchFamily="34" charset="-122"/>
                              <a:cs typeface="Calibri" pitchFamily="34" charset="-120"/>
                            </a:rPr>
                            <a:t>Hardwood</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200" dirty="0">
                              <a:solidFill>
                                <a:srgbClr val="222222"/>
                              </a:solidFill>
                              <a:latin typeface="Calibri" pitchFamily="34" charset="0"/>
                              <a:ea typeface="Calibri" pitchFamily="34" charset="-122"/>
                              <a:cs typeface="Calibri" pitchFamily="34" charset="-120"/>
                            </a:rPr>
                            <a:t>0.30</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200" dirty="0">
                              <a:solidFill>
                                <a:srgbClr val="222222"/>
                              </a:solidFill>
                              <a:latin typeface="Calibri" pitchFamily="34" charset="0"/>
                              <a:ea typeface="Calibri" pitchFamily="34" charset="-122"/>
                              <a:cs typeface="Calibri" pitchFamily="34" charset="-120"/>
                            </a:rPr>
                            <a:t>0.30</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200" dirty="0">
                              <a:solidFill>
                                <a:srgbClr val="222222"/>
                              </a:solidFill>
                              <a:latin typeface="Calibri" pitchFamily="34" charset="0"/>
                              <a:ea typeface="Calibri" pitchFamily="34" charset="-122"/>
                              <a:cs typeface="Calibri" pitchFamily="34" charset="-120"/>
                            </a:rPr>
                            <a:t>4.0</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200" dirty="0">
                              <a:solidFill>
                                <a:srgbClr val="222222"/>
                              </a:solidFill>
                              <a:latin typeface="Calibri" pitchFamily="34" charset="0"/>
                              <a:ea typeface="Calibri" pitchFamily="34" charset="-122"/>
                              <a:cs typeface="Calibri" pitchFamily="34" charset="-120"/>
                            </a:rPr>
                            <a:t>1.8</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200" dirty="0">
                              <a:solidFill>
                                <a:srgbClr val="222222"/>
                              </a:solidFill>
                              <a:latin typeface="Calibri" pitchFamily="34" charset="0"/>
                              <a:ea typeface="Calibri" pitchFamily="34" charset="-122"/>
                              <a:cs typeface="Calibri" pitchFamily="34" charset="-120"/>
                            </a:rPr>
                            <a:t>0.15</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mc:Fallback>
      </mc:AlternateContent>
      <p:sp>
        <p:nvSpPr>
          <p:cNvPr id="14" name="Shape 9"/>
          <p:cNvSpPr/>
          <p:nvPr/>
        </p:nvSpPr>
        <p:spPr>
          <a:xfrm>
            <a:off x="7680960" y="4983480"/>
            <a:ext cx="4069080" cy="1554480"/>
          </a:xfrm>
          <a:prstGeom prst="roundRect">
            <a:avLst>
              <a:gd name="adj" fmla="val 2941"/>
            </a:avLst>
          </a:prstGeom>
          <a:solidFill>
            <a:srgbClr val="FDE8EB"/>
          </a:solidFill>
          <a:ln/>
        </p:spPr>
        <p:txBody>
          <a:bodyPr/>
          <a:lstStyle/>
          <a:p>
            <a:endParaRPr lang="tr-TR"/>
          </a:p>
        </p:txBody>
      </p:sp>
      <mc:AlternateContent xmlns:mc="http://schemas.openxmlformats.org/markup-compatibility/2006" xmlns:a14="http://schemas.microsoft.com/office/drawing/2010/main">
        <mc:Choice Requires="a14">
          <p:sp>
            <p:nvSpPr>
              <p:cNvPr id="15" name="Text 10"/>
              <p:cNvSpPr/>
              <p:nvPr/>
            </p:nvSpPr>
            <p:spPr>
              <a:xfrm>
                <a:off x="7909560" y="5093208"/>
                <a:ext cx="3611880" cy="1371600"/>
              </a:xfrm>
              <a:prstGeom prst="rect">
                <a:avLst/>
              </a:prstGeom>
              <a:noFill/>
              <a:ln/>
            </p:spPr>
            <p:txBody>
              <a:bodyPr wrap="square" lIns="0" tIns="0" rIns="0" bIns="0" rtlCol="0" anchor="t"/>
              <a:lstStyle/>
              <a:p>
                <a:pPr marL="0" indent="0">
                  <a:lnSpc>
                    <a:spcPct val="104000"/>
                  </a:lnSpc>
                  <a:buNone/>
                </a:pPr>
                <a:r>
                  <a:rPr lang="en-US" sz="1200" b="1" dirty="0">
                    <a:solidFill>
                      <a:srgbClr val="000000"/>
                    </a:solidFill>
                    <a:latin typeface="Calibri" pitchFamily="34" charset="0"/>
                    <a:ea typeface="Calibri" pitchFamily="34" charset="-122"/>
                    <a:cs typeface="Calibri" pitchFamily="34" charset="-120"/>
                  </a:rPr>
                  <a:t>Calibration. </a:t>
                </a:r>
                <a:r>
                  <a:rPr lang="en-US" sz="1200" dirty="0">
                    <a:solidFill>
                      <a:srgbClr val="222222"/>
                    </a:solidFill>
                    <a:latin typeface="Calibri" pitchFamily="34" charset="0"/>
                    <a:ea typeface="Calibri" pitchFamily="34" charset="-122"/>
                    <a:cs typeface="Calibri" pitchFamily="34" charset="-120"/>
                  </a:rPr>
                  <a:t>At 90 m cells and 30 min steps, one cell/step = 3 m/min, so the base rates carry a metric reading and reproduce benchmark head-fire rates: grass tens of m/min, shrub 5–10, litter 2–4, hardwood &lt; 1. Other discretizations rescale by (90 m/</a:t>
                </a:r>
                <a14:m>
                  <m:oMath xmlns:m="http://schemas.openxmlformats.org/officeDocument/2006/math">
                    <m:r>
                      <a:rPr lang="en-US" sz="1200">
                        <a:latin typeface="Cambria Math"/>
                      </a:rPr>
                      <m:t>𝛥</m:t>
                    </m:r>
                    <m:r>
                      <a:rPr lang="en-US" sz="1200">
                        <a:latin typeface="Cambria Math"/>
                      </a:rPr>
                      <m:t>𝑥</m:t>
                    </m:r>
                  </m:oMath>
                </a14:m>
                <a:r>
                  <a:rPr lang="en-US" sz="1200" dirty="0">
                    <a:solidFill>
                      <a:srgbClr val="222222"/>
                    </a:solidFill>
                    <a:latin typeface="Calibri" pitchFamily="34" charset="0"/>
                    <a:ea typeface="Calibri" pitchFamily="34" charset="-122"/>
                    <a:cs typeface="Calibri" pitchFamily="34" charset="-120"/>
                  </a:rPr>
                  <a:t>)·(</a:t>
                </a:r>
                <a14:m>
                  <m:oMath xmlns:m="http://schemas.openxmlformats.org/officeDocument/2006/math">
                    <m:r>
                      <a:rPr lang="en-US" sz="1200">
                        <a:latin typeface="Cambria Math"/>
                      </a:rPr>
                      <m:t>𝛥</m:t>
                    </m:r>
                    <m:r>
                      <a:rPr lang="en-US" sz="1200">
                        <a:latin typeface="Cambria Math"/>
                      </a:rPr>
                      <m:t>𝑡</m:t>
                    </m:r>
                  </m:oMath>
                </a14:m>
                <a:r>
                  <a:rPr lang="en-US" sz="1200" dirty="0">
                    <a:solidFill>
                      <a:srgbClr val="222222"/>
                    </a:solidFill>
                    <a:latin typeface="Calibri" pitchFamily="34" charset="0"/>
                    <a:ea typeface="Calibri" pitchFamily="34" charset="-122"/>
                    <a:cs typeface="Calibri" pitchFamily="34" charset="-120"/>
                  </a:rPr>
                  <a:t>/30 min).</a:t>
                </a:r>
                <a:endParaRPr lang="en-US" sz="1200" dirty="0"/>
              </a:p>
            </p:txBody>
          </p:sp>
        </mc:Choice>
        <mc:Fallback xmlns="">
          <p:sp>
            <p:nvSpPr>
              <p:cNvPr id="15" name="Text 10"/>
              <p:cNvSpPr>
                <a:spLocks noRot="1" noChangeAspect="1" noMove="1" noResize="1" noEditPoints="1" noAdjustHandles="1" noChangeArrowheads="1" noChangeShapeType="1" noTextEdit="1"/>
              </p:cNvSpPr>
              <p:nvPr/>
            </p:nvSpPr>
            <p:spPr>
              <a:xfrm>
                <a:off x="7909560" y="5093208"/>
                <a:ext cx="3611880" cy="1371600"/>
              </a:xfrm>
              <a:prstGeom prst="rect">
                <a:avLst/>
              </a:prstGeom>
              <a:blipFill>
                <a:blip r:embed="rId12"/>
                <a:stretch>
                  <a:fillRect l="-2703" t="-3556" r="-169"/>
                </a:stretch>
              </a:blipFill>
              <a:ln/>
            </p:spPr>
            <p:txBody>
              <a:bodyPr/>
              <a:lstStyle/>
              <a:p>
                <a:r>
                  <a:rPr lang="tr-TR">
                    <a:noFill/>
                  </a:rPr>
                  <a:t/>
                </a:r>
              </a:p>
            </p:txBody>
          </p:sp>
        </mc:Fallback>
      </mc:AlternateContent>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237744"/>
            <a:ext cx="10058400" cy="292608"/>
          </a:xfrm>
          <a:prstGeom prst="rect">
            <a:avLst/>
          </a:prstGeom>
          <a:noFill/>
          <a:ln/>
        </p:spPr>
        <p:txBody>
          <a:bodyPr wrap="square" lIns="0" tIns="0" rIns="0" bIns="0" rtlCol="0" anchor="ctr"/>
          <a:lstStyle/>
          <a:p>
            <a:pPr marL="0" indent="0">
              <a:buNone/>
            </a:pPr>
            <a:r>
              <a:rPr lang="en-US" sz="1300" b="1" kern="0" spc="200" dirty="0">
                <a:solidFill>
                  <a:srgbClr val="E31836"/>
                </a:solidFill>
                <a:latin typeface="Calibri" pitchFamily="34" charset="0"/>
                <a:ea typeface="Calibri" pitchFamily="34" charset="-122"/>
                <a:cs typeface="Calibri" pitchFamily="34" charset="-120"/>
              </a:rPr>
              <a:t>BACKUP · APPENDIX B</a:t>
            </a:r>
            <a:endParaRPr lang="en-US" sz="1300" dirty="0"/>
          </a:p>
        </p:txBody>
      </p:sp>
      <p:sp>
        <p:nvSpPr>
          <p:cNvPr id="3" name="Text 1"/>
          <p:cNvSpPr/>
          <p:nvPr/>
        </p:nvSpPr>
        <p:spPr>
          <a:xfrm>
            <a:off x="502920" y="493776"/>
            <a:ext cx="11247120" cy="621792"/>
          </a:xfrm>
          <a:prstGeom prst="rect">
            <a:avLst/>
          </a:prstGeom>
          <a:noFill/>
          <a:ln/>
        </p:spPr>
        <p:txBody>
          <a:bodyPr wrap="square" lIns="0" tIns="0" rIns="0" bIns="0" rtlCol="0" anchor="ctr"/>
          <a:lstStyle/>
          <a:p>
            <a:pPr marL="0" indent="0">
              <a:buNone/>
            </a:pPr>
            <a:r>
              <a:rPr lang="en-US" sz="2500" b="1" dirty="0">
                <a:solidFill>
                  <a:srgbClr val="000000"/>
                </a:solidFill>
                <a:latin typeface="Cambria" pitchFamily="34" charset="0"/>
                <a:ea typeface="Cambria" pitchFamily="34" charset="-122"/>
                <a:cs typeface="Cambria" pitchFamily="34" charset="-120"/>
              </a:rPr>
              <a:t>Fuel Mass Evolution : Combustion Consumption</a:t>
            </a:r>
            <a:endParaRPr lang="en-US" sz="2500" dirty="0"/>
          </a:p>
        </p:txBody>
      </p:sp>
      <p:pic>
        <p:nvPicPr>
          <p:cNvPr id="4" name="Image 0" descr="/tmp/thx/deck/figs/metu_emblem.png"/>
          <p:cNvPicPr>
            <a:picLocks noChangeAspect="1"/>
          </p:cNvPicPr>
          <p:nvPr/>
        </p:nvPicPr>
        <p:blipFill>
          <a:blip r:embed="rId3"/>
          <a:stretch>
            <a:fillRect/>
          </a:stretch>
        </p:blipFill>
        <p:spPr>
          <a:xfrm>
            <a:off x="10716768" y="184607"/>
            <a:ext cx="475488" cy="398882"/>
          </a:xfrm>
          <a:prstGeom prst="rect">
            <a:avLst/>
          </a:prstGeom>
        </p:spPr>
      </p:pic>
      <p:pic>
        <p:nvPicPr>
          <p:cNvPr id="5" name="Image 1" descr="/tmp/thx/deck/figs/eee_logo.png"/>
          <p:cNvPicPr>
            <a:picLocks noChangeAspect="1"/>
          </p:cNvPicPr>
          <p:nvPr/>
        </p:nvPicPr>
        <p:blipFill>
          <a:blip r:embed="rId4"/>
          <a:stretch>
            <a:fillRect/>
          </a:stretch>
        </p:blipFill>
        <p:spPr>
          <a:xfrm>
            <a:off x="11265408" y="186217"/>
            <a:ext cx="475488" cy="395662"/>
          </a:xfrm>
          <a:prstGeom prst="rect">
            <a:avLst/>
          </a:prstGeom>
        </p:spPr>
      </p:pic>
      <p:sp>
        <p:nvSpPr>
          <p:cNvPr id="6" name="Text 2"/>
          <p:cNvSpPr/>
          <p:nvPr/>
        </p:nvSpPr>
        <p:spPr>
          <a:xfrm>
            <a:off x="502920" y="1261872"/>
            <a:ext cx="11247120" cy="457200"/>
          </a:xfrm>
          <a:prstGeom prst="rect">
            <a:avLst/>
          </a:prstGeom>
          <a:noFill/>
          <a:ln/>
        </p:spPr>
        <p:txBody>
          <a:bodyPr wrap="square" lIns="0" tIns="0" rIns="0" bIns="0" rtlCol="0" anchor="t"/>
          <a:lstStyle/>
          <a:p>
            <a:pPr marL="0" indent="0">
              <a:lnSpc>
                <a:spcPct val="104000"/>
              </a:lnSpc>
              <a:buNone/>
            </a:pPr>
            <a:r>
              <a:rPr lang="en-US" sz="1250" b="1" dirty="0">
                <a:solidFill>
                  <a:srgbClr val="000000"/>
                </a:solidFill>
                <a:latin typeface="Calibri" pitchFamily="34" charset="0"/>
                <a:ea typeface="Calibri" pitchFamily="34" charset="-122"/>
                <a:cs typeface="Calibri" pitchFamily="34" charset="-120"/>
              </a:rPr>
              <a:t>The consumption ratio is not a stored state: </a:t>
            </a:r>
            <a:r>
              <a:rPr lang="en-US" sz="1250" dirty="0">
                <a:solidFill>
                  <a:srgbClr val="222222"/>
                </a:solidFill>
                <a:latin typeface="Calibri" pitchFamily="34" charset="0"/>
                <a:ea typeface="Calibri" pitchFamily="34" charset="-122"/>
                <a:cs typeface="Calibri" pitchFamily="34" charset="-120"/>
              </a:rPr>
              <a:t>it is computed algebraically each step as a bounded function of fuel type and surface moisture.</a:t>
            </a:r>
            <a:endParaRPr lang="en-US" sz="1250" dirty="0"/>
          </a:p>
        </p:txBody>
      </p:sp>
      <mc:AlternateContent xmlns:mc="http://schemas.openxmlformats.org/markup-compatibility/2006" xmlns:a14="http://schemas.microsoft.com/office/drawing/2010/main">
        <mc:Choice Requires="a14">
          <p:sp>
            <p:nvSpPr>
              <p:cNvPr id="7" name="Text 3"/>
              <p:cNvSpPr/>
              <p:nvPr/>
            </p:nvSpPr>
            <p:spPr>
              <a:xfrm>
                <a:off x="502920" y="1783080"/>
                <a:ext cx="6949440" cy="685800"/>
              </a:xfrm>
              <a:prstGeom prst="rect">
                <a:avLst/>
              </a:prstGeom>
              <a:noFill/>
              <a:ln/>
            </p:spPr>
            <p:txBody>
              <a:bodyPr wrap="square" lIns="0" tIns="0" rIns="0" bIns="0" rtlCol="0" anchor="ctr"/>
              <a:lstStyle/>
              <a:p>
                <a:pPr marL="0" indent="0" algn="ctr">
                  <a:buNone/>
                </a:pPr>
                <a14:m>
                  <m:oMathPara xmlns:m="http://schemas.openxmlformats.org/officeDocument/2006/math">
                    <m:oMath>
                      <m:sSub>
                        <m:sSubPr>
                          <m:ctrlPr>
                            <a:rPr lang="en-US" sz="1400">
                              <a:latin typeface="Cambria Math"/>
                            </a:rPr>
                          </m:ctrlPr>
                        </m:sSubPr>
                        <m:e>
                          <m:r>
                            <a:rPr lang="en-US" sz="1400">
                              <a:latin typeface="Cambria Math"/>
                            </a:rPr>
                            <m:t>𝐹</m:t>
                          </m:r>
                        </m:e>
                        <m:sub>
                          <m:r>
                            <a:rPr lang="en-US" sz="1400">
                              <a:latin typeface="Cambria Math"/>
                            </a:rPr>
                            <m:t>𝑏𝑢𝑟𝑛</m:t>
                          </m:r>
                          <m:r>
                            <a:rPr lang="en-US" sz="1400">
                              <a:latin typeface="Cambria Math"/>
                            </a:rPr>
                            <m:t>,</m:t>
                          </m:r>
                          <m:r>
                            <a:rPr lang="en-US" sz="1400">
                              <a:latin typeface="Cambria Math"/>
                            </a:rPr>
                            <m:t>𝑘</m:t>
                          </m:r>
                        </m:sub>
                      </m:sSub>
                      <m:d>
                        <m:dPr>
                          <m:ctrlPr>
                            <a:rPr lang="en-US" sz="1400">
                              <a:latin typeface="Cambria Math"/>
                            </a:rPr>
                          </m:ctrlPr>
                        </m:dPr>
                        <m:e>
                          <m:r>
                            <a:rPr lang="en-US" sz="1400">
                              <a:latin typeface="Cambria Math"/>
                            </a:rPr>
                            <m:t>𝑥</m:t>
                          </m:r>
                          <m:r>
                            <a:rPr lang="en-US" sz="1400">
                              <a:latin typeface="Cambria Math"/>
                            </a:rPr>
                            <m:t>,</m:t>
                          </m:r>
                          <m:r>
                            <a:rPr lang="en-US" sz="1400">
                              <a:latin typeface="Cambria Math"/>
                            </a:rPr>
                            <m:t>𝑦</m:t>
                          </m:r>
                        </m:e>
                      </m:d>
                      <m:r>
                        <a:rPr lang="en-US" sz="1400">
                          <a:latin typeface="Cambria Math"/>
                        </a:rPr>
                        <m:t>=</m:t>
                      </m:r>
                      <m:sSub>
                        <m:sSubPr>
                          <m:ctrlPr>
                            <a:rPr lang="en-US" sz="1400">
                              <a:latin typeface="Cambria Math"/>
                            </a:rPr>
                          </m:ctrlPr>
                        </m:sSubPr>
                        <m:e>
                          <m:r>
                            <m:rPr>
                              <m:sty m:val="p"/>
                            </m:rPr>
                            <a:rPr lang="en-US" sz="1400">
                              <a:latin typeface="Cambria Math"/>
                            </a:rPr>
                            <m:t>sat</m:t>
                          </m:r>
                        </m:e>
                        <m:sub>
                          <m:d>
                            <m:dPr>
                              <m:begChr m:val="["/>
                              <m:endChr m:val="]"/>
                              <m:sepChr m:val=","/>
                              <m:ctrlPr>
                                <a:rPr lang="en-US" sz="1400">
                                  <a:latin typeface="Cambria Math"/>
                                </a:rPr>
                              </m:ctrlPr>
                            </m:dPr>
                            <m:e>
                              <m:r>
                                <a:rPr lang="en-US" sz="1400">
                                  <a:latin typeface="Cambria Math"/>
                                </a:rPr>
                                <m:t>0</m:t>
                              </m:r>
                            </m:e>
                            <m:e>
                              <m:r>
                                <a:rPr lang="en-US" sz="1400">
                                  <a:latin typeface="Cambria Math"/>
                                </a:rPr>
                                <m:t>1</m:t>
                              </m:r>
                            </m:e>
                          </m:d>
                        </m:sub>
                      </m:sSub>
                      <m:d>
                        <m:dPr>
                          <m:ctrlPr>
                            <a:rPr lang="en-US" sz="1400" i="1">
                              <a:latin typeface="Cambria Math" panose="02040503050406030204" pitchFamily="18" charset="0"/>
                            </a:rPr>
                          </m:ctrlPr>
                        </m:dPr>
                        <m:e>
                          <m:sSub>
                            <m:sSubPr>
                              <m:ctrlPr>
                                <a:rPr lang="en-US" sz="1400">
                                  <a:latin typeface="Cambria Math"/>
                                </a:rPr>
                              </m:ctrlPr>
                            </m:sSubPr>
                            <m:e>
                              <m:r>
                                <a:rPr lang="en-US" sz="1400">
                                  <a:latin typeface="Cambria Math"/>
                                </a:rPr>
                                <m:t>𝑏</m:t>
                              </m:r>
                            </m:e>
                            <m:sub>
                              <m:r>
                                <a:rPr lang="en-US" sz="1400">
                                  <a:latin typeface="Cambria Math"/>
                                </a:rPr>
                                <m:t>𝑏𝑎𝑠𝑒</m:t>
                              </m:r>
                            </m:sub>
                          </m:sSub>
                          <m:d>
                            <m:dPr>
                              <m:ctrlPr>
                                <a:rPr lang="en-US" sz="1400" i="1">
                                  <a:latin typeface="Cambria Math" panose="02040503050406030204" pitchFamily="18" charset="0"/>
                                </a:rPr>
                              </m:ctrlPr>
                            </m:dPr>
                            <m:e>
                              <m:sSub>
                                <m:sSubPr>
                                  <m:ctrlPr>
                                    <a:rPr lang="en-US" sz="1400">
                                      <a:latin typeface="Cambria Math"/>
                                    </a:rPr>
                                  </m:ctrlPr>
                                </m:sSubPr>
                                <m:e>
                                  <m:r>
                                    <a:rPr lang="en-US" sz="1400">
                                      <a:latin typeface="Cambria Math"/>
                                    </a:rPr>
                                    <m:t>𝐹</m:t>
                                  </m:r>
                                </m:e>
                                <m:sub>
                                  <m:r>
                                    <a:rPr lang="en-US" sz="1400">
                                      <a:latin typeface="Cambria Math"/>
                                    </a:rPr>
                                    <m:t>𝑡𝑦𝑝𝑒</m:t>
                                  </m:r>
                                </m:sub>
                              </m:sSub>
                              <m:d>
                                <m:dPr>
                                  <m:ctrlPr>
                                    <a:rPr lang="en-US" sz="1400">
                                      <a:latin typeface="Cambria Math"/>
                                    </a:rPr>
                                  </m:ctrlPr>
                                </m:dPr>
                                <m:e>
                                  <m:r>
                                    <a:rPr lang="en-US" sz="1400">
                                      <a:latin typeface="Cambria Math"/>
                                    </a:rPr>
                                    <m:t>𝑥</m:t>
                                  </m:r>
                                  <m:r>
                                    <a:rPr lang="en-US" sz="1400">
                                      <a:latin typeface="Cambria Math"/>
                                    </a:rPr>
                                    <m:t>,</m:t>
                                  </m:r>
                                  <m:r>
                                    <a:rPr lang="en-US" sz="1400">
                                      <a:latin typeface="Cambria Math"/>
                                    </a:rPr>
                                    <m:t>𝑦</m:t>
                                  </m:r>
                                </m:e>
                              </m:d>
                            </m:e>
                          </m:d>
                          <m:r>
                            <a:rPr lang="en-US" sz="1400">
                              <a:latin typeface="Cambria Math"/>
                            </a:rPr>
                            <m:t>⋅</m:t>
                          </m:r>
                          <m:d>
                            <m:dPr>
                              <m:ctrlPr>
                                <a:rPr lang="en-US" sz="1400">
                                  <a:latin typeface="Cambria Math"/>
                                </a:rPr>
                              </m:ctrlPr>
                            </m:dPr>
                            <m:e>
                              <m:r>
                                <a:rPr lang="en-US" sz="1400">
                                  <a:latin typeface="Cambria Math"/>
                                </a:rPr>
                                <m:t>1−</m:t>
                              </m:r>
                              <m:sSub>
                                <m:sSubPr>
                                  <m:ctrlPr>
                                    <a:rPr lang="en-US" sz="1400">
                                      <a:latin typeface="Cambria Math"/>
                                    </a:rPr>
                                  </m:ctrlPr>
                                </m:sSubPr>
                                <m:e>
                                  <m:r>
                                    <a:rPr lang="en-US" sz="1400">
                                      <a:latin typeface="Cambria Math"/>
                                    </a:rPr>
                                    <m:t>𝐹</m:t>
                                  </m:r>
                                </m:e>
                                <m:sub>
                                  <m:r>
                                    <a:rPr lang="en-US" sz="1400">
                                      <a:latin typeface="Cambria Math"/>
                                    </a:rPr>
                                    <m:t>𝑚𝑜𝑖𝑠𝑡</m:t>
                                  </m:r>
                                  <m:r>
                                    <a:rPr lang="en-US" sz="1400">
                                      <a:latin typeface="Cambria Math"/>
                                    </a:rPr>
                                    <m:t>,</m:t>
                                  </m:r>
                                  <m:r>
                                    <a:rPr lang="en-US" sz="1400">
                                      <a:latin typeface="Cambria Math"/>
                                    </a:rPr>
                                    <m:t>𝑘</m:t>
                                  </m:r>
                                </m:sub>
                              </m:sSub>
                              <m:d>
                                <m:dPr>
                                  <m:ctrlPr>
                                    <a:rPr lang="en-US" sz="1400">
                                      <a:latin typeface="Cambria Math"/>
                                    </a:rPr>
                                  </m:ctrlPr>
                                </m:dPr>
                                <m:e>
                                  <m:r>
                                    <a:rPr lang="en-US" sz="1400">
                                      <a:latin typeface="Cambria Math"/>
                                    </a:rPr>
                                    <m:t>𝑥</m:t>
                                  </m:r>
                                  <m:r>
                                    <a:rPr lang="en-US" sz="1400">
                                      <a:latin typeface="Cambria Math"/>
                                    </a:rPr>
                                    <m:t>,</m:t>
                                  </m:r>
                                  <m:r>
                                    <a:rPr lang="en-US" sz="1400">
                                      <a:latin typeface="Cambria Math"/>
                                    </a:rPr>
                                    <m:t>𝑦</m:t>
                                  </m:r>
                                </m:e>
                              </m:d>
                            </m:e>
                          </m:d>
                        </m:e>
                      </m:d>
                    </m:oMath>
                  </m:oMathPara>
                </a14:m>
                <a:endParaRPr lang="en-US" sz="1300" dirty="0"/>
              </a:p>
            </p:txBody>
          </p:sp>
        </mc:Choice>
        <mc:Fallback xmlns="">
          <p:sp>
            <p:nvSpPr>
              <p:cNvPr id="7" name="Text 3"/>
              <p:cNvSpPr>
                <a:spLocks noRot="1" noChangeAspect="1" noMove="1" noResize="1" noEditPoints="1" noAdjustHandles="1" noChangeArrowheads="1" noChangeShapeType="1" noTextEdit="1"/>
              </p:cNvSpPr>
              <p:nvPr/>
            </p:nvSpPr>
            <p:spPr>
              <a:xfrm>
                <a:off x="502920" y="1783080"/>
                <a:ext cx="6949440" cy="685800"/>
              </a:xfrm>
              <a:prstGeom prst="rect">
                <a:avLst/>
              </a:prstGeom>
              <a:blipFill>
                <a:blip r:embed="rId5"/>
                <a:stretch>
                  <a:fillRect/>
                </a:stretch>
              </a:blipFill>
              <a:ln/>
            </p:spPr>
            <p:txBody>
              <a:bodyPr/>
              <a:lstStyle/>
              <a:p>
                <a:r>
                  <a:rPr lang="tr-TR">
                    <a:noFill/>
                  </a:rPr>
                  <a:t/>
                </a:r>
              </a:p>
            </p:txBody>
          </p:sp>
        </mc:Fallback>
      </mc:AlternateContent>
      <mc:AlternateContent xmlns:mc="http://schemas.openxmlformats.org/markup-compatibility/2006" xmlns:a14="http://schemas.microsoft.com/office/drawing/2010/main">
        <mc:Choice Requires="a14">
          <p:sp>
            <p:nvSpPr>
              <p:cNvPr id="8" name="Text 4"/>
              <p:cNvSpPr/>
              <p:nvPr/>
            </p:nvSpPr>
            <p:spPr>
              <a:xfrm>
                <a:off x="502920" y="2606040"/>
                <a:ext cx="6949440" cy="1554480"/>
              </a:xfrm>
              <a:prstGeom prst="rect">
                <a:avLst/>
              </a:prstGeom>
              <a:noFill/>
              <a:ln/>
            </p:spPr>
            <p:txBody>
              <a:bodyPr wrap="square" lIns="0" tIns="0" rIns="0" bIns="0" rtlCol="0" anchor="t"/>
              <a:lstStyle/>
              <a:p>
                <a:pPr marL="152400" indent="-152400">
                  <a:lnSpc>
                    <a:spcPct val="104000"/>
                  </a:lnSpc>
                  <a:spcAft>
                    <a:spcPts val="600"/>
                  </a:spcAft>
                  <a:buSzPct val="100000"/>
                  <a:buChar char="•"/>
                </a:pPr>
                <a14:m>
                  <m:oMath xmlns:m="http://schemas.openxmlformats.org/officeDocument/2006/math">
                    <m:sSub>
                      <m:sSubPr>
                        <m:ctrlPr>
                          <a:rPr lang="en-US" sz="1250">
                            <a:latin typeface="Cambria Math"/>
                          </a:rPr>
                        </m:ctrlPr>
                      </m:sSubPr>
                      <m:e>
                        <m:r>
                          <a:rPr lang="en-US" sz="1250">
                            <a:latin typeface="Cambria Math"/>
                          </a:rPr>
                          <m:t>𝑏</m:t>
                        </m:r>
                      </m:e>
                      <m:sub>
                        <m:r>
                          <a:rPr lang="en-US" sz="1250">
                            <a:latin typeface="Cambria Math"/>
                          </a:rPr>
                          <m:t>𝑏𝑎𝑠𝑒</m:t>
                        </m:r>
                      </m:sub>
                    </m:sSub>
                  </m:oMath>
                </a14:m>
                <a:r>
                  <a:rPr lang="en-US" sz="1250" dirty="0">
                    <a:solidFill>
                      <a:srgbClr val="222222"/>
                    </a:solidFill>
                    <a:latin typeface="Calibri" pitchFamily="34" charset="0"/>
                    <a:ea typeface="Calibri" pitchFamily="34" charset="-122"/>
                    <a:cs typeface="Calibri" pitchFamily="34" charset="-120"/>
                  </a:rPr>
                  <a:t> is the baseline combustion coefficient of the fuel class — a fraction of fuel consumed per step, calibrated to the time resolution, not a universal constant.</a:t>
                </a:r>
                <a:endParaRPr lang="en-US" sz="1250" dirty="0"/>
              </a:p>
              <a:p>
                <a:pPr marL="152400" indent="-152400">
                  <a:lnSpc>
                    <a:spcPct val="104000"/>
                  </a:lnSpc>
                  <a:spcAft>
                    <a:spcPts val="600"/>
                  </a:spcAft>
                  <a:buSzPct val="100000"/>
                  <a:buChar char="•"/>
                </a:pPr>
                <a:r>
                  <a:rPr lang="en-US" sz="1250" dirty="0">
                    <a:solidFill>
                      <a:srgbClr val="222222"/>
                    </a:solidFill>
                    <a:latin typeface="Calibri" pitchFamily="34" charset="0"/>
                    <a:ea typeface="Calibri" pitchFamily="34" charset="-122"/>
                    <a:cs typeface="Calibri" pitchFamily="34" charset="-120"/>
                  </a:rPr>
                  <a:t>The linear moisture factor sends the burn fraction to zero as moisture approaches one; the saturation operator keeps the ratio in [0, 1].</a:t>
                </a:r>
                <a:endParaRPr lang="en-US" sz="1250" dirty="0"/>
              </a:p>
            </p:txBody>
          </p:sp>
        </mc:Choice>
        <mc:Fallback xmlns="">
          <p:sp>
            <p:nvSpPr>
              <p:cNvPr id="8" name="Text 4"/>
              <p:cNvSpPr>
                <a:spLocks noRot="1" noChangeAspect="1" noMove="1" noResize="1" noEditPoints="1" noAdjustHandles="1" noChangeArrowheads="1" noChangeShapeType="1" noTextEdit="1"/>
              </p:cNvSpPr>
              <p:nvPr/>
            </p:nvSpPr>
            <p:spPr>
              <a:xfrm>
                <a:off x="502920" y="2606040"/>
                <a:ext cx="6949440" cy="1554480"/>
              </a:xfrm>
              <a:prstGeom prst="rect">
                <a:avLst/>
              </a:prstGeom>
              <a:blipFill>
                <a:blip r:embed="rId6"/>
                <a:stretch>
                  <a:fillRect l="-2018" t="-5490"/>
                </a:stretch>
              </a:blipFill>
              <a:ln/>
            </p:spPr>
            <p:txBody>
              <a:bodyPr/>
              <a:lstStyle/>
              <a:p>
                <a:r>
                  <a:rPr lang="tr-TR">
                    <a:noFill/>
                  </a:rPr>
                  <a:t/>
                </a:r>
              </a:p>
            </p:txBody>
          </p:sp>
        </mc:Fallback>
      </mc:AlternateContent>
      <mc:AlternateContent xmlns:mc="http://schemas.openxmlformats.org/markup-compatibility/2006" xmlns:a14="http://schemas.microsoft.com/office/drawing/2010/main">
        <mc:Choice Requires="a14">
          <p:graphicFrame>
            <p:nvGraphicFramePr>
              <p:cNvPr id="9" name="Table 0"/>
              <p:cNvGraphicFramePr>
                <a:graphicFrameLocks noGrp="1"/>
              </p:cNvGraphicFramePr>
              <p:nvPr/>
            </p:nvGraphicFramePr>
            <p:xfrm>
              <a:off x="502920" y="4206240"/>
              <a:ext cx="6949440" cy="1645920"/>
            </p:xfrm>
            <a:graphic>
              <a:graphicData uri="http://schemas.openxmlformats.org/drawingml/2006/table">
                <a:tbl>
                  <a:tblPr/>
                  <a:tblGrid>
                    <a:gridCol w="2011680">
                      <a:extLst>
                        <a:ext uri="{9D8B030D-6E8A-4147-A177-3AD203B41FA5}">
                          <a16:colId xmlns:a16="http://schemas.microsoft.com/office/drawing/2014/main" val="20000"/>
                        </a:ext>
                      </a:extLst>
                    </a:gridCol>
                    <a:gridCol w="2011680">
                      <a:extLst>
                        <a:ext uri="{9D8B030D-6E8A-4147-A177-3AD203B41FA5}">
                          <a16:colId xmlns:a16="http://schemas.microsoft.com/office/drawing/2014/main" val="20001"/>
                        </a:ext>
                      </a:extLst>
                    </a:gridCol>
                    <a:gridCol w="2926080">
                      <a:extLst>
                        <a:ext uri="{9D8B030D-6E8A-4147-A177-3AD203B41FA5}">
                          <a16:colId xmlns:a16="http://schemas.microsoft.com/office/drawing/2014/main" val="20002"/>
                        </a:ext>
                      </a:extLst>
                    </a:gridCol>
                  </a:tblGrid>
                  <a:tr h="329184">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Fuel type</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solidFill>
                          <a:srgbClr val="000000"/>
                        </a:solidFill>
                      </a:tcPr>
                    </a:tc>
                    <a:tc>
                      <a:txBody>
                        <a:bodyPr/>
                        <a:lstStyle/>
                        <a:p>
                          <a:pPr marL="0" indent="0">
                            <a:buNone/>
                          </a:pPr>
                          <a14:m>
                            <m:oMath xmlns:m="http://schemas.openxmlformats.org/officeDocument/2006/math">
                              <m:sSub>
                                <m:sSubPr>
                                  <m:ctrlPr>
                                    <a:rPr lang="en-US" sz="1200">
                                      <a:latin typeface="Cambria Math"/>
                                    </a:rPr>
                                  </m:ctrlPr>
                                </m:sSubPr>
                                <m:e>
                                  <m:r>
                                    <a:rPr lang="en-US" sz="1200">
                                      <a:latin typeface="Cambria Math"/>
                                    </a:rPr>
                                    <m:t>𝑏</m:t>
                                  </m:r>
                                </m:e>
                                <m:sub>
                                  <m:r>
                                    <a:rPr lang="en-US" sz="1200">
                                      <a:latin typeface="Cambria Math"/>
                                    </a:rPr>
                                    <m:t>𝑏𝑎𝑠𝑒</m:t>
                                  </m:r>
                                </m:sub>
                              </m:sSub>
                            </m:oMath>
                          </a14:m>
                          <a:r>
                            <a:rPr lang="en-US" sz="1200" b="1" dirty="0">
                              <a:solidFill>
                                <a:srgbClr val="FFFFFF"/>
                              </a:solidFill>
                              <a:latin typeface="Calibri" pitchFamily="34" charset="0"/>
                              <a:ea typeface="Calibri" pitchFamily="34" charset="-122"/>
                              <a:cs typeface="Calibri" pitchFamily="34" charset="-120"/>
                            </a:rPr>
                            <a:t> (per step)</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solidFill>
                          <a:srgbClr val="000000"/>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Typical burn duration</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solidFill>
                          <a:srgbClr val="000000"/>
                        </a:solidFill>
                      </a:tcPr>
                    </a:tc>
                    <a:extLst>
                      <a:ext uri="{0D108BD9-81ED-4DB2-BD59-A6C34878D82A}">
                        <a16:rowId xmlns:a16="http://schemas.microsoft.com/office/drawing/2014/main" val="10000"/>
                      </a:ext>
                    </a:extLst>
                  </a:tr>
                  <a:tr h="329184">
                    <a:tc>
                      <a:txBody>
                        <a:bodyPr/>
                        <a:lstStyle/>
                        <a:p>
                          <a:pPr marL="0" indent="0">
                            <a:buNone/>
                          </a:pPr>
                          <a:r>
                            <a:rPr lang="en-US" sz="1200" b="1" dirty="0">
                              <a:solidFill>
                                <a:srgbClr val="222222"/>
                              </a:solidFill>
                              <a:latin typeface="Calibri" pitchFamily="34" charset="0"/>
                              <a:ea typeface="Calibri" pitchFamily="34" charset="-122"/>
                              <a:cs typeface="Calibri" pitchFamily="34" charset="-120"/>
                            </a:rPr>
                            <a:t>Grass</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200" dirty="0">
                              <a:solidFill>
                                <a:srgbClr val="222222"/>
                              </a:solidFill>
                              <a:latin typeface="Calibri" pitchFamily="34" charset="0"/>
                              <a:ea typeface="Calibri" pitchFamily="34" charset="-122"/>
                              <a:cs typeface="Calibri" pitchFamily="34" charset="-120"/>
                            </a:rPr>
                            <a:t>0.85</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200" dirty="0">
                              <a:solidFill>
                                <a:srgbClr val="6E6E6E"/>
                              </a:solidFill>
                              <a:latin typeface="Calibri" pitchFamily="34" charset="0"/>
                              <a:ea typeface="Calibri" pitchFamily="34" charset="-122"/>
                              <a:cs typeface="Calibri" pitchFamily="34" charset="-120"/>
                            </a:rPr>
                            <a:t>short, fast consumption</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extLst>
                      <a:ext uri="{0D108BD9-81ED-4DB2-BD59-A6C34878D82A}">
                        <a16:rowId xmlns:a16="http://schemas.microsoft.com/office/drawing/2014/main" val="10001"/>
                      </a:ext>
                    </a:extLst>
                  </a:tr>
                  <a:tr h="329184">
                    <a:tc>
                      <a:txBody>
                        <a:bodyPr/>
                        <a:lstStyle/>
                        <a:p>
                          <a:pPr marL="0" indent="0">
                            <a:buNone/>
                          </a:pPr>
                          <a:r>
                            <a:rPr lang="en-US" sz="1200" b="1" dirty="0">
                              <a:solidFill>
                                <a:srgbClr val="222222"/>
                              </a:solidFill>
                              <a:latin typeface="Calibri" pitchFamily="34" charset="0"/>
                              <a:ea typeface="Calibri" pitchFamily="34" charset="-122"/>
                              <a:cs typeface="Calibri" pitchFamily="34" charset="-120"/>
                            </a:rPr>
                            <a:t>Shrub</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200" dirty="0">
                              <a:solidFill>
                                <a:srgbClr val="222222"/>
                              </a:solidFill>
                              <a:latin typeface="Calibri" pitchFamily="34" charset="0"/>
                              <a:ea typeface="Calibri" pitchFamily="34" charset="-122"/>
                              <a:cs typeface="Calibri" pitchFamily="34" charset="-120"/>
                            </a:rPr>
                            <a:t>0.35</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200" dirty="0">
                              <a:solidFill>
                                <a:srgbClr val="6E6E6E"/>
                              </a:solidFill>
                              <a:latin typeface="Calibri" pitchFamily="34" charset="0"/>
                              <a:ea typeface="Calibri" pitchFamily="34" charset="-122"/>
                              <a:cs typeface="Calibri" pitchFamily="34" charset="-120"/>
                            </a:rPr>
                            <a:t>moderate consumption</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extLst>
                      <a:ext uri="{0D108BD9-81ED-4DB2-BD59-A6C34878D82A}">
                        <a16:rowId xmlns:a16="http://schemas.microsoft.com/office/drawing/2014/main" val="10002"/>
                      </a:ext>
                    </a:extLst>
                  </a:tr>
                  <a:tr h="329184">
                    <a:tc>
                      <a:txBody>
                        <a:bodyPr/>
                        <a:lstStyle/>
                        <a:p>
                          <a:pPr marL="0" indent="0">
                            <a:buNone/>
                          </a:pPr>
                          <a:r>
                            <a:rPr lang="en-US" sz="1200" b="1" dirty="0">
                              <a:solidFill>
                                <a:srgbClr val="222222"/>
                              </a:solidFill>
                              <a:latin typeface="Calibri" pitchFamily="34" charset="0"/>
                              <a:ea typeface="Calibri" pitchFamily="34" charset="-122"/>
                              <a:cs typeface="Calibri" pitchFamily="34" charset="-120"/>
                            </a:rPr>
                            <a:t>Pine litter</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200" dirty="0">
                              <a:solidFill>
                                <a:srgbClr val="222222"/>
                              </a:solidFill>
                              <a:latin typeface="Calibri" pitchFamily="34" charset="0"/>
                              <a:ea typeface="Calibri" pitchFamily="34" charset="-122"/>
                              <a:cs typeface="Calibri" pitchFamily="34" charset="-120"/>
                            </a:rPr>
                            <a:t>0.15</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200" dirty="0">
                              <a:solidFill>
                                <a:srgbClr val="6E6E6E"/>
                              </a:solidFill>
                              <a:latin typeface="Calibri" pitchFamily="34" charset="0"/>
                              <a:ea typeface="Calibri" pitchFamily="34" charset="-122"/>
                              <a:cs typeface="Calibri" pitchFamily="34" charset="-120"/>
                            </a:rPr>
                            <a:t>sustained surface burn</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extLst>
                      <a:ext uri="{0D108BD9-81ED-4DB2-BD59-A6C34878D82A}">
                        <a16:rowId xmlns:a16="http://schemas.microsoft.com/office/drawing/2014/main" val="10003"/>
                      </a:ext>
                    </a:extLst>
                  </a:tr>
                  <a:tr h="329184">
                    <a:tc>
                      <a:txBody>
                        <a:bodyPr/>
                        <a:lstStyle/>
                        <a:p>
                          <a:pPr marL="0" indent="0">
                            <a:buNone/>
                          </a:pPr>
                          <a:r>
                            <a:rPr lang="en-US" sz="1200" b="1" dirty="0">
                              <a:solidFill>
                                <a:srgbClr val="222222"/>
                              </a:solidFill>
                              <a:latin typeface="Calibri" pitchFamily="34" charset="0"/>
                              <a:ea typeface="Calibri" pitchFamily="34" charset="-122"/>
                              <a:cs typeface="Calibri" pitchFamily="34" charset="-120"/>
                            </a:rPr>
                            <a:t>Hardwood</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200" dirty="0">
                              <a:solidFill>
                                <a:srgbClr val="222222"/>
                              </a:solidFill>
                              <a:latin typeface="Calibri" pitchFamily="34" charset="0"/>
                              <a:ea typeface="Calibri" pitchFamily="34" charset="-122"/>
                              <a:cs typeface="Calibri" pitchFamily="34" charset="-120"/>
                            </a:rPr>
                            <a:t>0.08</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200" dirty="0">
                              <a:solidFill>
                                <a:srgbClr val="6E6E6E"/>
                              </a:solidFill>
                              <a:latin typeface="Calibri" pitchFamily="34" charset="0"/>
                              <a:ea typeface="Calibri" pitchFamily="34" charset="-122"/>
                              <a:cs typeface="Calibri" pitchFamily="34" charset="-120"/>
                            </a:rPr>
                            <a:t>slow combustion</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mc:Choice>
        <mc:Fallback xmlns="">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02920" y="4206240"/>
              <a:ext cx="6949440" cy="1657922"/>
            </p:xfrm>
            <a:graphic>
              <a:graphicData uri="http://schemas.openxmlformats.org/drawingml/2006/table">
                <a:tbl>
                  <a:tblPr/>
                  <a:tblGrid>
                    <a:gridCol w="2011680">
                      <a:extLst>
                        <a:ext uri="{9D8B030D-6E8A-4147-A177-3AD203B41FA5}">
                          <a16:colId xmlns:a16="http://schemas.microsoft.com/office/drawing/2014/main" val="20000"/>
                        </a:ext>
                      </a:extLst>
                    </a:gridCol>
                    <a:gridCol w="2011680">
                      <a:extLst>
                        <a:ext uri="{9D8B030D-6E8A-4147-A177-3AD203B41FA5}">
                          <a16:colId xmlns:a16="http://schemas.microsoft.com/office/drawing/2014/main" val="20001"/>
                        </a:ext>
                      </a:extLst>
                    </a:gridCol>
                    <a:gridCol w="2926080">
                      <a:extLst>
                        <a:ext uri="{9D8B030D-6E8A-4147-A177-3AD203B41FA5}">
                          <a16:colId xmlns:a16="http://schemas.microsoft.com/office/drawing/2014/main" val="20002"/>
                        </a:ext>
                      </a:extLst>
                    </a:gridCol>
                  </a:tblGrid>
                  <a:tr h="341186">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Fuel type</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solidFill>
                          <a:srgbClr val="000000"/>
                        </a:solidFill>
                      </a:tcPr>
                    </a:tc>
                    <a:tc>
                      <a:txBody>
                        <a:bodyPr/>
                        <a:lstStyle/>
                        <a:p>
                          <a:endParaRPr lang="tr-T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blipFill>
                          <a:blip r:embed="rId7"/>
                          <a:stretch>
                            <a:fillRect l="-100000" t="-1786" r="-145619" b="-391071"/>
                          </a:stretch>
                        </a:blip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Typical burn duration</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solidFill>
                          <a:srgbClr val="000000"/>
                        </a:solidFill>
                      </a:tcPr>
                    </a:tc>
                    <a:extLst>
                      <a:ext uri="{0D108BD9-81ED-4DB2-BD59-A6C34878D82A}">
                        <a16:rowId xmlns:a16="http://schemas.microsoft.com/office/drawing/2014/main" val="10000"/>
                      </a:ext>
                    </a:extLst>
                  </a:tr>
                  <a:tr h="329184">
                    <a:tc>
                      <a:txBody>
                        <a:bodyPr/>
                        <a:lstStyle/>
                        <a:p>
                          <a:pPr marL="0" indent="0">
                            <a:buNone/>
                          </a:pPr>
                          <a:r>
                            <a:rPr lang="en-US" sz="1200" b="1" dirty="0">
                              <a:solidFill>
                                <a:srgbClr val="222222"/>
                              </a:solidFill>
                              <a:latin typeface="Calibri" pitchFamily="34" charset="0"/>
                              <a:ea typeface="Calibri" pitchFamily="34" charset="-122"/>
                              <a:cs typeface="Calibri" pitchFamily="34" charset="-120"/>
                            </a:rPr>
                            <a:t>Grass</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200" dirty="0">
                              <a:solidFill>
                                <a:srgbClr val="222222"/>
                              </a:solidFill>
                              <a:latin typeface="Calibri" pitchFamily="34" charset="0"/>
                              <a:ea typeface="Calibri" pitchFamily="34" charset="-122"/>
                              <a:cs typeface="Calibri" pitchFamily="34" charset="-120"/>
                            </a:rPr>
                            <a:t>0.85</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200" dirty="0">
                              <a:solidFill>
                                <a:srgbClr val="6E6E6E"/>
                              </a:solidFill>
                              <a:latin typeface="Calibri" pitchFamily="34" charset="0"/>
                              <a:ea typeface="Calibri" pitchFamily="34" charset="-122"/>
                              <a:cs typeface="Calibri" pitchFamily="34" charset="-120"/>
                            </a:rPr>
                            <a:t>short, fast consumption</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extLst>
                      <a:ext uri="{0D108BD9-81ED-4DB2-BD59-A6C34878D82A}">
                        <a16:rowId xmlns:a16="http://schemas.microsoft.com/office/drawing/2014/main" val="10001"/>
                      </a:ext>
                    </a:extLst>
                  </a:tr>
                  <a:tr h="329184">
                    <a:tc>
                      <a:txBody>
                        <a:bodyPr/>
                        <a:lstStyle/>
                        <a:p>
                          <a:pPr marL="0" indent="0">
                            <a:buNone/>
                          </a:pPr>
                          <a:r>
                            <a:rPr lang="en-US" sz="1200" b="1" dirty="0">
                              <a:solidFill>
                                <a:srgbClr val="222222"/>
                              </a:solidFill>
                              <a:latin typeface="Calibri" pitchFamily="34" charset="0"/>
                              <a:ea typeface="Calibri" pitchFamily="34" charset="-122"/>
                              <a:cs typeface="Calibri" pitchFamily="34" charset="-120"/>
                            </a:rPr>
                            <a:t>Shrub</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200" dirty="0">
                              <a:solidFill>
                                <a:srgbClr val="222222"/>
                              </a:solidFill>
                              <a:latin typeface="Calibri" pitchFamily="34" charset="0"/>
                              <a:ea typeface="Calibri" pitchFamily="34" charset="-122"/>
                              <a:cs typeface="Calibri" pitchFamily="34" charset="-120"/>
                            </a:rPr>
                            <a:t>0.35</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200" dirty="0">
                              <a:solidFill>
                                <a:srgbClr val="6E6E6E"/>
                              </a:solidFill>
                              <a:latin typeface="Calibri" pitchFamily="34" charset="0"/>
                              <a:ea typeface="Calibri" pitchFamily="34" charset="-122"/>
                              <a:cs typeface="Calibri" pitchFamily="34" charset="-120"/>
                            </a:rPr>
                            <a:t>moderate consumption</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extLst>
                      <a:ext uri="{0D108BD9-81ED-4DB2-BD59-A6C34878D82A}">
                        <a16:rowId xmlns:a16="http://schemas.microsoft.com/office/drawing/2014/main" val="10002"/>
                      </a:ext>
                    </a:extLst>
                  </a:tr>
                  <a:tr h="329184">
                    <a:tc>
                      <a:txBody>
                        <a:bodyPr/>
                        <a:lstStyle/>
                        <a:p>
                          <a:pPr marL="0" indent="0">
                            <a:buNone/>
                          </a:pPr>
                          <a:r>
                            <a:rPr lang="en-US" sz="1200" b="1" dirty="0">
                              <a:solidFill>
                                <a:srgbClr val="222222"/>
                              </a:solidFill>
                              <a:latin typeface="Calibri" pitchFamily="34" charset="0"/>
                              <a:ea typeface="Calibri" pitchFamily="34" charset="-122"/>
                              <a:cs typeface="Calibri" pitchFamily="34" charset="-120"/>
                            </a:rPr>
                            <a:t>Pine litter</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200" dirty="0">
                              <a:solidFill>
                                <a:srgbClr val="222222"/>
                              </a:solidFill>
                              <a:latin typeface="Calibri" pitchFamily="34" charset="0"/>
                              <a:ea typeface="Calibri" pitchFamily="34" charset="-122"/>
                              <a:cs typeface="Calibri" pitchFamily="34" charset="-120"/>
                            </a:rPr>
                            <a:t>0.15</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200" dirty="0">
                              <a:solidFill>
                                <a:srgbClr val="6E6E6E"/>
                              </a:solidFill>
                              <a:latin typeface="Calibri" pitchFamily="34" charset="0"/>
                              <a:ea typeface="Calibri" pitchFamily="34" charset="-122"/>
                              <a:cs typeface="Calibri" pitchFamily="34" charset="-120"/>
                            </a:rPr>
                            <a:t>sustained surface burn</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extLst>
                      <a:ext uri="{0D108BD9-81ED-4DB2-BD59-A6C34878D82A}">
                        <a16:rowId xmlns:a16="http://schemas.microsoft.com/office/drawing/2014/main" val="10003"/>
                      </a:ext>
                    </a:extLst>
                  </a:tr>
                  <a:tr h="329184">
                    <a:tc>
                      <a:txBody>
                        <a:bodyPr/>
                        <a:lstStyle/>
                        <a:p>
                          <a:pPr marL="0" indent="0">
                            <a:buNone/>
                          </a:pPr>
                          <a:r>
                            <a:rPr lang="en-US" sz="1200" b="1" dirty="0">
                              <a:solidFill>
                                <a:srgbClr val="222222"/>
                              </a:solidFill>
                              <a:latin typeface="Calibri" pitchFamily="34" charset="0"/>
                              <a:ea typeface="Calibri" pitchFamily="34" charset="-122"/>
                              <a:cs typeface="Calibri" pitchFamily="34" charset="-120"/>
                            </a:rPr>
                            <a:t>Hardwood</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200" dirty="0">
                              <a:solidFill>
                                <a:srgbClr val="222222"/>
                              </a:solidFill>
                              <a:latin typeface="Calibri" pitchFamily="34" charset="0"/>
                              <a:ea typeface="Calibri" pitchFamily="34" charset="-122"/>
                              <a:cs typeface="Calibri" pitchFamily="34" charset="-120"/>
                            </a:rPr>
                            <a:t>0.08</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200" dirty="0">
                              <a:solidFill>
                                <a:srgbClr val="6E6E6E"/>
                              </a:solidFill>
                              <a:latin typeface="Calibri" pitchFamily="34" charset="0"/>
                              <a:ea typeface="Calibri" pitchFamily="34" charset="-122"/>
                              <a:cs typeface="Calibri" pitchFamily="34" charset="-120"/>
                            </a:rPr>
                            <a:t>slow combustion</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mc:Fallback>
      </mc:AlternateContent>
      <p:sp>
        <p:nvSpPr>
          <p:cNvPr id="10" name="Shape 5"/>
          <p:cNvSpPr/>
          <p:nvPr/>
        </p:nvSpPr>
        <p:spPr>
          <a:xfrm>
            <a:off x="7680960" y="1783080"/>
            <a:ext cx="4069080" cy="4114800"/>
          </a:xfrm>
          <a:prstGeom prst="roundRect">
            <a:avLst>
              <a:gd name="adj" fmla="val 1124"/>
            </a:avLst>
          </a:prstGeom>
          <a:solidFill>
            <a:srgbClr val="F2F2F2"/>
          </a:solidFill>
          <a:ln/>
        </p:spPr>
        <p:txBody>
          <a:bodyPr/>
          <a:lstStyle/>
          <a:p>
            <a:endParaRPr lang="tr-TR"/>
          </a:p>
        </p:txBody>
      </p:sp>
      <p:sp>
        <p:nvSpPr>
          <p:cNvPr id="11" name="Text 6"/>
          <p:cNvSpPr/>
          <p:nvPr/>
        </p:nvSpPr>
        <p:spPr>
          <a:xfrm>
            <a:off x="7909560" y="1920240"/>
            <a:ext cx="3611880" cy="3840480"/>
          </a:xfrm>
          <a:prstGeom prst="rect">
            <a:avLst/>
          </a:prstGeom>
          <a:noFill/>
          <a:ln/>
        </p:spPr>
        <p:txBody>
          <a:bodyPr wrap="square" lIns="0" tIns="0" rIns="0" bIns="0" rtlCol="0" anchor="t"/>
          <a:lstStyle/>
          <a:p>
            <a:pPr marL="0" indent="0">
              <a:lnSpc>
                <a:spcPct val="104000"/>
              </a:lnSpc>
              <a:buNone/>
            </a:pPr>
            <a:r>
              <a:rPr lang="en-US" sz="1200" b="1" dirty="0">
                <a:solidFill>
                  <a:srgbClr val="000000"/>
                </a:solidFill>
                <a:latin typeface="Calibri" pitchFamily="34" charset="0"/>
                <a:ea typeface="Calibri" pitchFamily="34" charset="-122"/>
                <a:cs typeface="Calibri" pitchFamily="34" charset="-120"/>
              </a:rPr>
              <a:t>Calibration. </a:t>
            </a:r>
            <a:r>
              <a:rPr lang="en-US" sz="1200" dirty="0">
                <a:solidFill>
                  <a:srgbClr val="222222"/>
                </a:solidFill>
                <a:latin typeface="Calibri" pitchFamily="34" charset="0"/>
                <a:ea typeface="Calibri" pitchFamily="34" charset="-122"/>
                <a:cs typeface="Calibri" pitchFamily="34" charset="-120"/>
              </a:rPr>
              <a:t>Coefficients are chosen so that, in dry conditions without suppression, fuel mass falls significantly over several steps without numerical instability.</a:t>
            </a:r>
            <a:r>
              <a:rPr lang="en-US" sz="1200" b="1" dirty="0">
                <a:solidFill>
                  <a:srgbClr val="000000"/>
                </a:solidFill>
                <a:latin typeface="Calibri" pitchFamily="34" charset="0"/>
                <a:ea typeface="Calibri" pitchFamily="34" charset="-122"/>
                <a:cs typeface="Calibri" pitchFamily="34" charset="-120"/>
              </a:rPr>
              <a:t>Structural differences — </a:t>
            </a:r>
            <a:r>
              <a:rPr lang="en-US" sz="1200" dirty="0">
                <a:solidFill>
                  <a:srgbClr val="222222"/>
                </a:solidFill>
                <a:latin typeface="Calibri" pitchFamily="34" charset="0"/>
                <a:ea typeface="Calibri" pitchFamily="34" charset="-122"/>
                <a:cs typeface="Calibri" pitchFamily="34" charset="-120"/>
              </a:rPr>
              <a:t>density, packing ratio, heat release — are abstracted into the fuel-dependent coefficient rather than modeled separately.</a:t>
            </a:r>
            <a:endParaRPr lang="en-US" sz="12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237744"/>
            <a:ext cx="10058400" cy="292608"/>
          </a:xfrm>
          <a:prstGeom prst="rect">
            <a:avLst/>
          </a:prstGeom>
          <a:noFill/>
          <a:ln/>
        </p:spPr>
        <p:txBody>
          <a:bodyPr wrap="square" lIns="0" tIns="0" rIns="0" bIns="0" rtlCol="0" anchor="ctr"/>
          <a:lstStyle/>
          <a:p>
            <a:pPr marL="0" indent="0">
              <a:buNone/>
            </a:pPr>
            <a:r>
              <a:rPr lang="en-US" sz="1300" b="1" kern="0" spc="200" dirty="0">
                <a:solidFill>
                  <a:srgbClr val="E31836"/>
                </a:solidFill>
                <a:latin typeface="Calibri" pitchFamily="34" charset="0"/>
                <a:ea typeface="Calibri" pitchFamily="34" charset="-122"/>
                <a:cs typeface="Calibri" pitchFamily="34" charset="-120"/>
              </a:rPr>
              <a:t>BACKUP · APPENDIX B</a:t>
            </a:r>
            <a:endParaRPr lang="en-US" sz="1300" dirty="0"/>
          </a:p>
        </p:txBody>
      </p:sp>
      <p:sp>
        <p:nvSpPr>
          <p:cNvPr id="3" name="Text 1"/>
          <p:cNvSpPr/>
          <p:nvPr/>
        </p:nvSpPr>
        <p:spPr>
          <a:xfrm>
            <a:off x="502920" y="493776"/>
            <a:ext cx="11247120" cy="621792"/>
          </a:xfrm>
          <a:prstGeom prst="rect">
            <a:avLst/>
          </a:prstGeom>
          <a:noFill/>
          <a:ln/>
        </p:spPr>
        <p:txBody>
          <a:bodyPr wrap="square" lIns="0" tIns="0" rIns="0" bIns="0" rtlCol="0" anchor="ctr"/>
          <a:lstStyle/>
          <a:p>
            <a:pPr marL="0" indent="0">
              <a:buNone/>
            </a:pPr>
            <a:r>
              <a:rPr lang="en-US" sz="2500" b="1" dirty="0">
                <a:solidFill>
                  <a:srgbClr val="000000"/>
                </a:solidFill>
                <a:latin typeface="Cambria" pitchFamily="34" charset="0"/>
                <a:ea typeface="Cambria" pitchFamily="34" charset="-122"/>
                <a:cs typeface="Cambria" pitchFamily="34" charset="-120"/>
              </a:rPr>
              <a:t>Suppression Mapping : Five Multiplicative Factors</a:t>
            </a:r>
            <a:endParaRPr lang="en-US" sz="2500" dirty="0"/>
          </a:p>
        </p:txBody>
      </p:sp>
      <p:pic>
        <p:nvPicPr>
          <p:cNvPr id="4" name="Image 0" descr="/tmp/thx/deck/figs/metu_emblem.png"/>
          <p:cNvPicPr>
            <a:picLocks noChangeAspect="1"/>
          </p:cNvPicPr>
          <p:nvPr/>
        </p:nvPicPr>
        <p:blipFill>
          <a:blip r:embed="rId3"/>
          <a:stretch>
            <a:fillRect/>
          </a:stretch>
        </p:blipFill>
        <p:spPr>
          <a:xfrm>
            <a:off x="10716768" y="184607"/>
            <a:ext cx="475488" cy="398882"/>
          </a:xfrm>
          <a:prstGeom prst="rect">
            <a:avLst/>
          </a:prstGeom>
        </p:spPr>
      </p:pic>
      <p:pic>
        <p:nvPicPr>
          <p:cNvPr id="5" name="Image 1" descr="/tmp/thx/deck/figs/eee_logo.png"/>
          <p:cNvPicPr>
            <a:picLocks noChangeAspect="1"/>
          </p:cNvPicPr>
          <p:nvPr/>
        </p:nvPicPr>
        <p:blipFill>
          <a:blip r:embed="rId4"/>
          <a:stretch>
            <a:fillRect/>
          </a:stretch>
        </p:blipFill>
        <p:spPr>
          <a:xfrm>
            <a:off x="11265408" y="186217"/>
            <a:ext cx="475488" cy="395662"/>
          </a:xfrm>
          <a:prstGeom prst="rect">
            <a:avLst/>
          </a:prstGeom>
        </p:spPr>
      </p:pic>
      <mc:AlternateContent xmlns:mc="http://schemas.openxmlformats.org/markup-compatibility/2006" xmlns:a14="http://schemas.microsoft.com/office/drawing/2010/main">
        <mc:Choice Requires="a14">
          <p:sp>
            <p:nvSpPr>
              <p:cNvPr id="6" name="Text 2"/>
              <p:cNvSpPr/>
              <p:nvPr/>
            </p:nvSpPr>
            <p:spPr>
              <a:xfrm>
                <a:off x="502920" y="1298448"/>
                <a:ext cx="6949440" cy="548640"/>
              </a:xfrm>
              <a:prstGeom prst="rect">
                <a:avLst/>
              </a:prstGeom>
              <a:noFill/>
              <a:ln/>
            </p:spPr>
            <p:txBody>
              <a:bodyPr wrap="square" lIns="0" tIns="0" rIns="0" bIns="0" rtlCol="0" anchor="ctr"/>
              <a:lstStyle/>
              <a:p>
                <a:pPr marL="0" indent="0" algn="ctr">
                  <a:buNone/>
                </a:pPr>
                <a14:m>
                  <m:oMathPara xmlns:m="http://schemas.openxmlformats.org/officeDocument/2006/math">
                    <m:oMath>
                      <m:sSub>
                        <m:sSubPr>
                          <m:ctrlPr>
                            <a:rPr lang="en-US" sz="1400">
                              <a:latin typeface="Cambria Math"/>
                            </a:rPr>
                          </m:ctrlPr>
                        </m:sSubPr>
                        <m:e>
                          <m:r>
                            <a:rPr lang="en-US" sz="1400">
                              <a:latin typeface="Cambria Math"/>
                            </a:rPr>
                            <m:t>𝐹</m:t>
                          </m:r>
                        </m:e>
                        <m:sub>
                          <m:r>
                            <a:rPr lang="en-US" sz="1400">
                              <a:latin typeface="Cambria Math"/>
                            </a:rPr>
                            <m:t>𝑟𝑒𝑑</m:t>
                          </m:r>
                          <m:r>
                            <a:rPr lang="en-US" sz="1400">
                              <a:latin typeface="Cambria Math"/>
                            </a:rPr>
                            <m:t>,</m:t>
                          </m:r>
                          <m:r>
                            <a:rPr lang="en-US" sz="1400">
                              <a:latin typeface="Cambria Math"/>
                            </a:rPr>
                            <m:t>𝑘</m:t>
                          </m:r>
                        </m:sub>
                      </m:sSub>
                      <m:d>
                        <m:dPr>
                          <m:ctrlPr>
                            <a:rPr lang="en-US" sz="1400">
                              <a:latin typeface="Cambria Math"/>
                            </a:rPr>
                          </m:ctrlPr>
                        </m:dPr>
                        <m:e>
                          <m:r>
                            <a:rPr lang="en-US" sz="1400">
                              <a:latin typeface="Cambria Math"/>
                            </a:rPr>
                            <m:t>𝑥</m:t>
                          </m:r>
                          <m:r>
                            <a:rPr lang="en-US" sz="1400">
                              <a:latin typeface="Cambria Math"/>
                            </a:rPr>
                            <m:t>,</m:t>
                          </m:r>
                          <m:r>
                            <a:rPr lang="en-US" sz="1400">
                              <a:latin typeface="Cambria Math"/>
                            </a:rPr>
                            <m:t>𝑦</m:t>
                          </m:r>
                        </m:e>
                      </m:d>
                      <m:r>
                        <a:rPr lang="en-US" sz="1400">
                          <a:latin typeface="Cambria Math"/>
                        </a:rPr>
                        <m:t>=</m:t>
                      </m:r>
                      <m:sSub>
                        <m:sSubPr>
                          <m:ctrlPr>
                            <a:rPr lang="en-US" sz="1400">
                              <a:latin typeface="Cambria Math"/>
                            </a:rPr>
                          </m:ctrlPr>
                        </m:sSubPr>
                        <m:e>
                          <m:r>
                            <a:rPr lang="en-US" sz="1400">
                              <a:latin typeface="Cambria Math"/>
                            </a:rPr>
                            <m:t>𝛼</m:t>
                          </m:r>
                        </m:e>
                        <m:sub>
                          <m:r>
                            <a:rPr lang="en-US" sz="1400">
                              <a:latin typeface="Cambria Math"/>
                            </a:rPr>
                            <m:t>𝑠</m:t>
                          </m:r>
                        </m:sub>
                      </m:sSub>
                      <m:r>
                        <a:rPr lang="en-US" sz="1400">
                          <a:latin typeface="Cambria Math"/>
                        </a:rPr>
                        <m:t>⋅</m:t>
                      </m:r>
                      <m:sSub>
                        <m:sSubPr>
                          <m:ctrlPr>
                            <a:rPr lang="en-US" sz="1400">
                              <a:latin typeface="Cambria Math"/>
                            </a:rPr>
                          </m:ctrlPr>
                        </m:sSubPr>
                        <m:e>
                          <m:r>
                            <a:rPr lang="en-US" sz="1400">
                              <a:latin typeface="Cambria Math"/>
                            </a:rPr>
                            <m:t>𝜂</m:t>
                          </m:r>
                        </m:e>
                        <m:sub>
                          <m:r>
                            <a:rPr lang="en-US" sz="1400">
                              <a:latin typeface="Cambria Math"/>
                            </a:rPr>
                            <m:t>𝑐𝑎𝑝</m:t>
                          </m:r>
                          <m:r>
                            <a:rPr lang="en-US" sz="1400">
                              <a:latin typeface="Cambria Math"/>
                            </a:rPr>
                            <m:t>,</m:t>
                          </m:r>
                          <m:r>
                            <a:rPr lang="en-US" sz="1400">
                              <a:latin typeface="Cambria Math"/>
                            </a:rPr>
                            <m:t>𝑘</m:t>
                          </m:r>
                        </m:sub>
                      </m:sSub>
                      <m:r>
                        <a:rPr lang="en-US" sz="1400">
                          <a:latin typeface="Cambria Math"/>
                        </a:rPr>
                        <m:t>⋅</m:t>
                      </m:r>
                      <m:sSub>
                        <m:sSubPr>
                          <m:ctrlPr>
                            <a:rPr lang="en-US" sz="1400">
                              <a:latin typeface="Cambria Math"/>
                            </a:rPr>
                          </m:ctrlPr>
                        </m:sSubPr>
                        <m:e>
                          <m:r>
                            <a:rPr lang="en-US" sz="1400">
                              <a:latin typeface="Cambria Math"/>
                            </a:rPr>
                            <m:t>𝜂</m:t>
                          </m:r>
                        </m:e>
                        <m:sub>
                          <m:r>
                            <a:rPr lang="en-US" sz="1400">
                              <a:latin typeface="Cambria Math"/>
                            </a:rPr>
                            <m:t>𝑎𝑣𝑎𝑖𝑙</m:t>
                          </m:r>
                          <m:r>
                            <a:rPr lang="en-US" sz="1400">
                              <a:latin typeface="Cambria Math"/>
                            </a:rPr>
                            <m:t>,</m:t>
                          </m:r>
                          <m:r>
                            <a:rPr lang="en-US" sz="1400">
                              <a:latin typeface="Cambria Math"/>
                            </a:rPr>
                            <m:t>𝑘</m:t>
                          </m:r>
                        </m:sub>
                      </m:sSub>
                      <m:r>
                        <a:rPr lang="en-US" sz="1400">
                          <a:latin typeface="Cambria Math"/>
                        </a:rPr>
                        <m:t>⋅</m:t>
                      </m:r>
                      <m:sSub>
                        <m:sSubPr>
                          <m:ctrlPr>
                            <a:rPr lang="en-US" sz="1400">
                              <a:latin typeface="Cambria Math"/>
                            </a:rPr>
                          </m:ctrlPr>
                        </m:sSubPr>
                        <m:e>
                          <m:r>
                            <a:rPr lang="en-US" sz="1400">
                              <a:latin typeface="Cambria Math"/>
                            </a:rPr>
                            <m:t>𝜂</m:t>
                          </m:r>
                        </m:e>
                        <m:sub>
                          <m:r>
                            <a:rPr lang="en-US" sz="1400">
                              <a:latin typeface="Cambria Math"/>
                            </a:rPr>
                            <m:t>𝑟𝑒𝑎𝑐ℎ</m:t>
                          </m:r>
                          <m:r>
                            <a:rPr lang="en-US" sz="1400">
                              <a:latin typeface="Cambria Math"/>
                            </a:rPr>
                            <m:t>,</m:t>
                          </m:r>
                          <m:r>
                            <a:rPr lang="en-US" sz="1400">
                              <a:latin typeface="Cambria Math"/>
                            </a:rPr>
                            <m:t>𝑘</m:t>
                          </m:r>
                        </m:sub>
                      </m:sSub>
                      <m:d>
                        <m:dPr>
                          <m:ctrlPr>
                            <a:rPr lang="en-US" sz="1400">
                              <a:latin typeface="Cambria Math"/>
                            </a:rPr>
                          </m:ctrlPr>
                        </m:dPr>
                        <m:e>
                          <m:r>
                            <a:rPr lang="en-US" sz="1400">
                              <a:latin typeface="Cambria Math"/>
                            </a:rPr>
                            <m:t>𝑥</m:t>
                          </m:r>
                          <m:r>
                            <a:rPr lang="en-US" sz="1400">
                              <a:latin typeface="Cambria Math"/>
                            </a:rPr>
                            <m:t>,</m:t>
                          </m:r>
                          <m:r>
                            <a:rPr lang="en-US" sz="1400">
                              <a:latin typeface="Cambria Math"/>
                            </a:rPr>
                            <m:t>𝑦</m:t>
                          </m:r>
                        </m:e>
                      </m:d>
                      <m:r>
                        <a:rPr lang="en-US" sz="1400">
                          <a:latin typeface="Cambria Math"/>
                        </a:rPr>
                        <m:t>⋅</m:t>
                      </m:r>
                      <m:sSub>
                        <m:sSubPr>
                          <m:ctrlPr>
                            <a:rPr lang="en-US" sz="1400">
                              <a:latin typeface="Cambria Math"/>
                            </a:rPr>
                          </m:ctrlPr>
                        </m:sSubPr>
                        <m:e>
                          <m:r>
                            <a:rPr lang="en-US" sz="1400">
                              <a:latin typeface="Cambria Math"/>
                            </a:rPr>
                            <m:t>𝜂</m:t>
                          </m:r>
                        </m:e>
                        <m:sub>
                          <m:r>
                            <a:rPr lang="en-US" sz="1400">
                              <a:latin typeface="Cambria Math"/>
                            </a:rPr>
                            <m:t>𝑒𝑓𝑓</m:t>
                          </m:r>
                          <m:r>
                            <a:rPr lang="en-US" sz="1400">
                              <a:latin typeface="Cambria Math"/>
                            </a:rPr>
                            <m:t>,</m:t>
                          </m:r>
                          <m:r>
                            <a:rPr lang="en-US" sz="1400">
                              <a:latin typeface="Cambria Math"/>
                            </a:rPr>
                            <m:t>𝑘</m:t>
                          </m:r>
                        </m:sub>
                      </m:sSub>
                      <m:d>
                        <m:dPr>
                          <m:ctrlPr>
                            <a:rPr lang="en-US" sz="1400">
                              <a:latin typeface="Cambria Math"/>
                            </a:rPr>
                          </m:ctrlPr>
                        </m:dPr>
                        <m:e>
                          <m:r>
                            <a:rPr lang="en-US" sz="1400">
                              <a:latin typeface="Cambria Math"/>
                            </a:rPr>
                            <m:t>𝑥</m:t>
                          </m:r>
                          <m:r>
                            <a:rPr lang="en-US" sz="1400">
                              <a:latin typeface="Cambria Math"/>
                            </a:rPr>
                            <m:t>,</m:t>
                          </m:r>
                          <m:r>
                            <a:rPr lang="en-US" sz="1400">
                              <a:latin typeface="Cambria Math"/>
                            </a:rPr>
                            <m:t>𝑦</m:t>
                          </m:r>
                        </m:e>
                      </m:d>
                    </m:oMath>
                  </m:oMathPara>
                </a14:m>
                <a:endParaRPr lang="en-US" sz="1300" dirty="0"/>
              </a:p>
            </p:txBody>
          </p:sp>
        </mc:Choice>
        <mc:Fallback xmlns="">
          <p:sp>
            <p:nvSpPr>
              <p:cNvPr id="6" name="Text 2"/>
              <p:cNvSpPr>
                <a:spLocks noRot="1" noChangeAspect="1" noMove="1" noResize="1" noEditPoints="1" noAdjustHandles="1" noChangeArrowheads="1" noChangeShapeType="1" noTextEdit="1"/>
              </p:cNvSpPr>
              <p:nvPr/>
            </p:nvSpPr>
            <p:spPr>
              <a:xfrm>
                <a:off x="502920" y="1298448"/>
                <a:ext cx="6949440" cy="548640"/>
              </a:xfrm>
              <a:prstGeom prst="rect">
                <a:avLst/>
              </a:prstGeom>
              <a:blipFill>
                <a:blip r:embed="rId5"/>
                <a:stretch>
                  <a:fillRect/>
                </a:stretch>
              </a:blipFill>
              <a:ln/>
            </p:spPr>
            <p:txBody>
              <a:bodyPr/>
              <a:lstStyle/>
              <a:p>
                <a:r>
                  <a:rPr lang="tr-TR">
                    <a:noFill/>
                  </a:rPr>
                  <a:t/>
                </a:r>
              </a:p>
            </p:txBody>
          </p:sp>
        </mc:Fallback>
      </mc:AlternateContent>
      <mc:AlternateContent xmlns:mc="http://schemas.openxmlformats.org/markup-compatibility/2006" xmlns:a14="http://schemas.microsoft.com/office/drawing/2010/main">
        <mc:Choice Requires="a14">
          <p:sp>
            <p:nvSpPr>
              <p:cNvPr id="7" name="Text 3"/>
              <p:cNvSpPr/>
              <p:nvPr/>
            </p:nvSpPr>
            <p:spPr>
              <a:xfrm>
                <a:off x="502920" y="1883664"/>
                <a:ext cx="3383280" cy="548640"/>
              </a:xfrm>
              <a:prstGeom prst="rect">
                <a:avLst/>
              </a:prstGeom>
              <a:noFill/>
              <a:ln/>
            </p:spPr>
            <p:txBody>
              <a:bodyPr wrap="square" lIns="0" tIns="0" rIns="0" bIns="0" rtlCol="0" anchor="ctr"/>
              <a:lstStyle/>
              <a:p>
                <a:pPr marL="0" indent="0" algn="ctr">
                  <a:buNone/>
                </a:pPr>
                <a14:m>
                  <m:oMathPara xmlns:m="http://schemas.openxmlformats.org/officeDocument/2006/math">
                    <m:oMath>
                      <m:sSub>
                        <m:sSubPr>
                          <m:ctrlPr>
                            <a:rPr lang="en-US" sz="1400">
                              <a:latin typeface="Cambria Math"/>
                            </a:rPr>
                          </m:ctrlPr>
                        </m:sSubPr>
                        <m:e>
                          <m:r>
                            <a:rPr lang="en-US" sz="1400">
                              <a:latin typeface="Cambria Math"/>
                            </a:rPr>
                            <m:t>𝜂</m:t>
                          </m:r>
                        </m:e>
                        <m:sub>
                          <m:r>
                            <a:rPr lang="en-US" sz="1400">
                              <a:latin typeface="Cambria Math"/>
                            </a:rPr>
                            <m:t>𝑐𝑎𝑝</m:t>
                          </m:r>
                          <m:r>
                            <a:rPr lang="en-US" sz="1400">
                              <a:latin typeface="Cambria Math"/>
                            </a:rPr>
                            <m:t>,</m:t>
                          </m:r>
                          <m:r>
                            <a:rPr lang="en-US" sz="1400">
                              <a:latin typeface="Cambria Math"/>
                            </a:rPr>
                            <m:t>𝑘</m:t>
                          </m:r>
                        </m:sub>
                      </m:sSub>
                      <m:r>
                        <a:rPr lang="en-US" sz="1400">
                          <a:latin typeface="Cambria Math"/>
                        </a:rPr>
                        <m:t>=</m:t>
                      </m:r>
                      <m:f>
                        <m:fPr>
                          <m:ctrlPr>
                            <a:rPr lang="en-US" sz="1400" i="1">
                              <a:latin typeface="Cambria Math" panose="02040503050406030204" pitchFamily="18" charset="0"/>
                            </a:rPr>
                          </m:ctrlPr>
                        </m:fPr>
                        <m:num>
                          <m:sSub>
                            <m:sSubPr>
                              <m:ctrlPr>
                                <a:rPr lang="en-US" sz="1400">
                                  <a:latin typeface="Cambria Math"/>
                                </a:rPr>
                              </m:ctrlPr>
                            </m:sSubPr>
                            <m:e>
                              <m:r>
                                <a:rPr lang="en-US" sz="1400">
                                  <a:latin typeface="Cambria Math"/>
                                </a:rPr>
                                <m:t>𝑅</m:t>
                              </m:r>
                            </m:e>
                            <m:sub>
                              <m:r>
                                <a:rPr lang="en-US" sz="1400">
                                  <a:latin typeface="Cambria Math"/>
                                </a:rPr>
                                <m:t>𝑐𝑎𝑝</m:t>
                              </m:r>
                              <m:r>
                                <a:rPr lang="en-US" sz="1400">
                                  <a:latin typeface="Cambria Math"/>
                                </a:rPr>
                                <m:t>,</m:t>
                              </m:r>
                              <m:r>
                                <a:rPr lang="en-US" sz="1400">
                                  <a:latin typeface="Cambria Math"/>
                                </a:rPr>
                                <m:t>𝑘</m:t>
                              </m:r>
                            </m:sub>
                          </m:sSub>
                        </m:num>
                        <m:den>
                          <m:sSub>
                            <m:sSubPr>
                              <m:ctrlPr>
                                <a:rPr lang="en-US" sz="1400">
                                  <a:latin typeface="Cambria Math"/>
                                </a:rPr>
                              </m:ctrlPr>
                            </m:sSubPr>
                            <m:e>
                              <m:r>
                                <a:rPr lang="en-US" sz="1400">
                                  <a:latin typeface="Cambria Math"/>
                                </a:rPr>
                                <m:t>𝑅</m:t>
                              </m:r>
                            </m:e>
                            <m:sub>
                              <m:r>
                                <a:rPr lang="en-US" sz="1400">
                                  <a:latin typeface="Cambria Math"/>
                                </a:rPr>
                                <m:t>𝑐𝑎𝑝</m:t>
                              </m:r>
                              <m:r>
                                <a:rPr lang="en-US" sz="1400">
                                  <a:latin typeface="Cambria Math"/>
                                </a:rPr>
                                <m:t>,</m:t>
                              </m:r>
                              <m:r>
                                <a:rPr lang="en-US" sz="1400">
                                  <a:latin typeface="Cambria Math"/>
                                </a:rPr>
                                <m:t>𝑚𝑎𝑥</m:t>
                              </m:r>
                            </m:sub>
                          </m:sSub>
                        </m:den>
                      </m:f>
                    </m:oMath>
                  </m:oMathPara>
                </a14:m>
                <a:endParaRPr lang="en-US" sz="1300" dirty="0"/>
              </a:p>
            </p:txBody>
          </p:sp>
        </mc:Choice>
        <mc:Fallback xmlns="">
          <p:sp>
            <p:nvSpPr>
              <p:cNvPr id="7" name="Text 3"/>
              <p:cNvSpPr>
                <a:spLocks noRot="1" noChangeAspect="1" noMove="1" noResize="1" noEditPoints="1" noAdjustHandles="1" noChangeArrowheads="1" noChangeShapeType="1" noTextEdit="1"/>
              </p:cNvSpPr>
              <p:nvPr/>
            </p:nvSpPr>
            <p:spPr>
              <a:xfrm>
                <a:off x="502920" y="1883664"/>
                <a:ext cx="3383280" cy="548640"/>
              </a:xfrm>
              <a:prstGeom prst="rect">
                <a:avLst/>
              </a:prstGeom>
              <a:blipFill>
                <a:blip r:embed="rId6"/>
                <a:stretch>
                  <a:fillRect/>
                </a:stretch>
              </a:blipFill>
              <a:ln/>
            </p:spPr>
            <p:txBody>
              <a:bodyPr/>
              <a:lstStyle/>
              <a:p>
                <a:r>
                  <a:rPr lang="tr-TR">
                    <a:noFill/>
                  </a:rPr>
                  <a:t/>
                </a:r>
              </a:p>
            </p:txBody>
          </p:sp>
        </mc:Fallback>
      </mc:AlternateContent>
      <mc:AlternateContent xmlns:mc="http://schemas.openxmlformats.org/markup-compatibility/2006" xmlns:a14="http://schemas.microsoft.com/office/drawing/2010/main">
        <mc:Choice Requires="a14">
          <p:sp>
            <p:nvSpPr>
              <p:cNvPr id="8" name="Text 4"/>
              <p:cNvSpPr/>
              <p:nvPr/>
            </p:nvSpPr>
            <p:spPr>
              <a:xfrm>
                <a:off x="4069080" y="1883664"/>
                <a:ext cx="3383280" cy="548640"/>
              </a:xfrm>
              <a:prstGeom prst="rect">
                <a:avLst/>
              </a:prstGeom>
              <a:noFill/>
              <a:ln/>
            </p:spPr>
            <p:txBody>
              <a:bodyPr wrap="square" lIns="0" tIns="0" rIns="0" bIns="0" rtlCol="0" anchor="ctr"/>
              <a:lstStyle/>
              <a:p>
                <a:pPr marL="0" indent="0" algn="ctr">
                  <a:buNone/>
                </a:pPr>
                <a14:m>
                  <m:oMathPara xmlns:m="http://schemas.openxmlformats.org/officeDocument/2006/math">
                    <m:oMath>
                      <m:sSub>
                        <m:sSubPr>
                          <m:ctrlPr>
                            <a:rPr lang="en-US" sz="1400">
                              <a:latin typeface="Cambria Math"/>
                            </a:rPr>
                          </m:ctrlPr>
                        </m:sSubPr>
                        <m:e>
                          <m:r>
                            <a:rPr lang="en-US" sz="1400">
                              <a:latin typeface="Cambria Math"/>
                            </a:rPr>
                            <m:t>𝜂</m:t>
                          </m:r>
                        </m:e>
                        <m:sub>
                          <m:r>
                            <a:rPr lang="en-US" sz="1400">
                              <a:latin typeface="Cambria Math"/>
                            </a:rPr>
                            <m:t>𝑎𝑣𝑎𝑖𝑙</m:t>
                          </m:r>
                          <m:r>
                            <a:rPr lang="en-US" sz="1400">
                              <a:latin typeface="Cambria Math"/>
                            </a:rPr>
                            <m:t>,</m:t>
                          </m:r>
                          <m:r>
                            <a:rPr lang="en-US" sz="1400">
                              <a:latin typeface="Cambria Math"/>
                            </a:rPr>
                            <m:t>𝑘</m:t>
                          </m:r>
                        </m:sub>
                      </m:sSub>
                      <m:r>
                        <a:rPr lang="en-US" sz="1400">
                          <a:latin typeface="Cambria Math"/>
                        </a:rPr>
                        <m:t>=</m:t>
                      </m:r>
                      <m:sSub>
                        <m:sSubPr>
                          <m:ctrlPr>
                            <a:rPr lang="en-US" sz="1400">
                              <a:latin typeface="Cambria Math"/>
                            </a:rPr>
                          </m:ctrlPr>
                        </m:sSubPr>
                        <m:e>
                          <m:r>
                            <a:rPr lang="en-US" sz="1400">
                              <a:latin typeface="Cambria Math"/>
                            </a:rPr>
                            <m:t>𝑅</m:t>
                          </m:r>
                        </m:e>
                        <m:sub>
                          <m:r>
                            <a:rPr lang="en-US" sz="1400">
                              <a:latin typeface="Cambria Math"/>
                            </a:rPr>
                            <m:t>𝑎𝑣𝑎𝑖𝑙</m:t>
                          </m:r>
                          <m:r>
                            <a:rPr lang="en-US" sz="1400">
                              <a:latin typeface="Cambria Math"/>
                            </a:rPr>
                            <m:t>,</m:t>
                          </m:r>
                          <m:r>
                            <a:rPr lang="en-US" sz="1400">
                              <a:latin typeface="Cambria Math"/>
                            </a:rPr>
                            <m:t>𝑘</m:t>
                          </m:r>
                        </m:sub>
                      </m:sSub>
                    </m:oMath>
                  </m:oMathPara>
                </a14:m>
                <a:endParaRPr lang="en-US" sz="1300" dirty="0"/>
              </a:p>
            </p:txBody>
          </p:sp>
        </mc:Choice>
        <mc:Fallback xmlns="">
          <p:sp>
            <p:nvSpPr>
              <p:cNvPr id="8" name="Text 4"/>
              <p:cNvSpPr>
                <a:spLocks noRot="1" noChangeAspect="1" noMove="1" noResize="1" noEditPoints="1" noAdjustHandles="1" noChangeArrowheads="1" noChangeShapeType="1" noTextEdit="1"/>
              </p:cNvSpPr>
              <p:nvPr/>
            </p:nvSpPr>
            <p:spPr>
              <a:xfrm>
                <a:off x="4069080" y="1883664"/>
                <a:ext cx="3383280" cy="548640"/>
              </a:xfrm>
              <a:prstGeom prst="rect">
                <a:avLst/>
              </a:prstGeom>
              <a:blipFill>
                <a:blip r:embed="rId7"/>
                <a:stretch>
                  <a:fillRect/>
                </a:stretch>
              </a:blipFill>
              <a:ln/>
            </p:spPr>
            <p:txBody>
              <a:bodyPr/>
              <a:lstStyle/>
              <a:p>
                <a:r>
                  <a:rPr lang="tr-TR">
                    <a:noFill/>
                  </a:rPr>
                  <a:t/>
                </a:r>
              </a:p>
            </p:txBody>
          </p:sp>
        </mc:Fallback>
      </mc:AlternateContent>
      <mc:AlternateContent xmlns:mc="http://schemas.openxmlformats.org/markup-compatibility/2006" xmlns:a14="http://schemas.microsoft.com/office/drawing/2010/main">
        <mc:Choice Requires="a14">
          <p:sp>
            <p:nvSpPr>
              <p:cNvPr id="9" name="Text 5"/>
              <p:cNvSpPr/>
              <p:nvPr/>
            </p:nvSpPr>
            <p:spPr>
              <a:xfrm>
                <a:off x="502920" y="2468880"/>
                <a:ext cx="6949440" cy="548640"/>
              </a:xfrm>
              <a:prstGeom prst="rect">
                <a:avLst/>
              </a:prstGeom>
              <a:noFill/>
              <a:ln/>
            </p:spPr>
            <p:txBody>
              <a:bodyPr wrap="square" lIns="0" tIns="0" rIns="0" bIns="0" rtlCol="0" anchor="ctr"/>
              <a:lstStyle/>
              <a:p>
                <a:pPr marL="0" indent="0" algn="ctr">
                  <a:buNone/>
                </a:pPr>
                <a14:m>
                  <m:oMathPara xmlns:m="http://schemas.openxmlformats.org/officeDocument/2006/math">
                    <m:oMath>
                      <m:sSub>
                        <m:sSubPr>
                          <m:ctrlPr>
                            <a:rPr lang="en-US" sz="1400">
                              <a:latin typeface="Cambria Math"/>
                            </a:rPr>
                          </m:ctrlPr>
                        </m:sSubPr>
                        <m:e>
                          <m:r>
                            <a:rPr lang="en-US" sz="1400">
                              <a:latin typeface="Cambria Math"/>
                            </a:rPr>
                            <m:t>𝜂</m:t>
                          </m:r>
                        </m:e>
                        <m:sub>
                          <m:r>
                            <a:rPr lang="en-US" sz="1400">
                              <a:latin typeface="Cambria Math"/>
                            </a:rPr>
                            <m:t>𝑟𝑒𝑎𝑐ℎ</m:t>
                          </m:r>
                          <m:r>
                            <a:rPr lang="en-US" sz="1400">
                              <a:latin typeface="Cambria Math"/>
                            </a:rPr>
                            <m:t>,</m:t>
                          </m:r>
                          <m:r>
                            <a:rPr lang="en-US" sz="1400">
                              <a:latin typeface="Cambria Math"/>
                            </a:rPr>
                            <m:t>𝑘</m:t>
                          </m:r>
                        </m:sub>
                      </m:sSub>
                      <m:d>
                        <m:dPr>
                          <m:ctrlPr>
                            <a:rPr lang="en-US" sz="1400">
                              <a:latin typeface="Cambria Math"/>
                            </a:rPr>
                          </m:ctrlPr>
                        </m:dPr>
                        <m:e>
                          <m:r>
                            <a:rPr lang="en-US" sz="1400">
                              <a:latin typeface="Cambria Math"/>
                            </a:rPr>
                            <m:t>𝑥</m:t>
                          </m:r>
                          <m:r>
                            <a:rPr lang="en-US" sz="1400">
                              <a:latin typeface="Cambria Math"/>
                            </a:rPr>
                            <m:t>,</m:t>
                          </m:r>
                          <m:r>
                            <a:rPr lang="en-US" sz="1400">
                              <a:latin typeface="Cambria Math"/>
                            </a:rPr>
                            <m:t>𝑦</m:t>
                          </m:r>
                        </m:e>
                      </m:d>
                      <m:r>
                        <a:rPr lang="en-US" sz="1400">
                          <a:latin typeface="Cambria Math"/>
                        </a:rPr>
                        <m:t>=</m:t>
                      </m:r>
                      <m:r>
                        <m:rPr>
                          <m:sty m:val="p"/>
                        </m:rPr>
                        <a:rPr lang="en-US" sz="1400">
                          <a:latin typeface="Cambria Math"/>
                        </a:rPr>
                        <m:t>exp</m:t>
                      </m:r>
                      <m:d>
                        <m:dPr>
                          <m:ctrlPr>
                            <a:rPr lang="en-US" sz="1400">
                              <a:latin typeface="Cambria Math"/>
                            </a:rPr>
                          </m:ctrlPr>
                        </m:dPr>
                        <m:e>
                          <m:r>
                            <a:rPr lang="en-US" sz="1400">
                              <a:latin typeface="Cambria Math"/>
                            </a:rPr>
                            <m:t>−</m:t>
                          </m:r>
                          <m:sSub>
                            <m:sSubPr>
                              <m:ctrlPr>
                                <a:rPr lang="en-US" sz="1400">
                                  <a:latin typeface="Cambria Math"/>
                                </a:rPr>
                              </m:ctrlPr>
                            </m:sSubPr>
                            <m:e>
                              <m:r>
                                <a:rPr lang="en-US" sz="1400">
                                  <a:latin typeface="Cambria Math"/>
                                </a:rPr>
                                <m:t>𝛽</m:t>
                              </m:r>
                            </m:e>
                            <m:sub>
                              <m:r>
                                <a:rPr lang="en-US" sz="1400">
                                  <a:latin typeface="Cambria Math"/>
                                </a:rPr>
                                <m:t>𝑡</m:t>
                              </m:r>
                            </m:sub>
                          </m:sSub>
                          <m:r>
                            <m:rPr>
                              <m:nor/>
                            </m:rPr>
                            <a:rPr lang="en-US" sz="1400" i="0">
                              <a:latin typeface="Cambria Math"/>
                            </a:rPr>
                            <m:t> </m:t>
                          </m:r>
                          <m:sSub>
                            <m:sSubPr>
                              <m:ctrlPr>
                                <a:rPr lang="en-US" sz="1400">
                                  <a:latin typeface="Cambria Math"/>
                                </a:rPr>
                              </m:ctrlPr>
                            </m:sSubPr>
                            <m:e>
                              <m:r>
                                <a:rPr lang="en-US" sz="1400">
                                  <a:latin typeface="Cambria Math"/>
                                </a:rPr>
                                <m:t>𝑅</m:t>
                              </m:r>
                            </m:e>
                            <m:sub>
                              <m:r>
                                <a:rPr lang="en-US" sz="1400">
                                  <a:latin typeface="Cambria Math"/>
                                </a:rPr>
                                <m:t>𝑡𝑖𝑚𝑒</m:t>
                              </m:r>
                              <m:r>
                                <a:rPr lang="en-US" sz="1400">
                                  <a:latin typeface="Cambria Math"/>
                                </a:rPr>
                                <m:t>,</m:t>
                              </m:r>
                              <m:r>
                                <a:rPr lang="en-US" sz="1400">
                                  <a:latin typeface="Cambria Math"/>
                                </a:rPr>
                                <m:t>𝑘</m:t>
                              </m:r>
                            </m:sub>
                          </m:sSub>
                          <m:d>
                            <m:dPr>
                              <m:ctrlPr>
                                <a:rPr lang="en-US" sz="1400">
                                  <a:latin typeface="Cambria Math"/>
                                </a:rPr>
                              </m:ctrlPr>
                            </m:dPr>
                            <m:e>
                              <m:r>
                                <a:rPr lang="en-US" sz="1400">
                                  <a:latin typeface="Cambria Math"/>
                                </a:rPr>
                                <m:t>𝑥</m:t>
                              </m:r>
                              <m:r>
                                <a:rPr lang="en-US" sz="1400">
                                  <a:latin typeface="Cambria Math"/>
                                </a:rPr>
                                <m:t>,</m:t>
                              </m:r>
                              <m:r>
                                <a:rPr lang="en-US" sz="1400">
                                  <a:latin typeface="Cambria Math"/>
                                </a:rPr>
                                <m:t>𝑦</m:t>
                              </m:r>
                            </m:e>
                          </m:d>
                        </m:e>
                      </m:d>
                      <m:r>
                        <a:rPr lang="en-US" sz="1400">
                          <a:latin typeface="Cambria Math"/>
                        </a:rPr>
                        <m:t>⋅</m:t>
                      </m:r>
                      <m:sSub>
                        <m:sSubPr>
                          <m:ctrlPr>
                            <a:rPr lang="en-US" sz="1400">
                              <a:latin typeface="Cambria Math"/>
                            </a:rPr>
                          </m:ctrlPr>
                        </m:sSubPr>
                        <m:e>
                          <m:r>
                            <a:rPr lang="en-US" sz="1400">
                              <a:latin typeface="Cambria Math"/>
                            </a:rPr>
                            <m:t>𝐺</m:t>
                          </m:r>
                        </m:e>
                        <m:sub>
                          <m:r>
                            <a:rPr lang="en-US" sz="1400">
                              <a:latin typeface="Cambria Math"/>
                            </a:rPr>
                            <m:t>𝑎𝑐𝑐𝑒𝑠𝑠</m:t>
                          </m:r>
                        </m:sub>
                      </m:sSub>
                      <m:d>
                        <m:dPr>
                          <m:ctrlPr>
                            <a:rPr lang="en-US" sz="1400">
                              <a:latin typeface="Cambria Math"/>
                            </a:rPr>
                          </m:ctrlPr>
                        </m:dPr>
                        <m:e>
                          <m:r>
                            <a:rPr lang="en-US" sz="1400">
                              <a:latin typeface="Cambria Math"/>
                            </a:rPr>
                            <m:t>𝑥</m:t>
                          </m:r>
                          <m:r>
                            <a:rPr lang="en-US" sz="1400">
                              <a:latin typeface="Cambria Math"/>
                            </a:rPr>
                            <m:t>,</m:t>
                          </m:r>
                          <m:r>
                            <a:rPr lang="en-US" sz="1400">
                              <a:latin typeface="Cambria Math"/>
                            </a:rPr>
                            <m:t>𝑦</m:t>
                          </m:r>
                        </m:e>
                      </m:d>
                    </m:oMath>
                  </m:oMathPara>
                </a14:m>
                <a:endParaRPr lang="en-US" sz="1300" dirty="0"/>
              </a:p>
            </p:txBody>
          </p:sp>
        </mc:Choice>
        <mc:Fallback xmlns="">
          <p:sp>
            <p:nvSpPr>
              <p:cNvPr id="9" name="Text 5"/>
              <p:cNvSpPr>
                <a:spLocks noRot="1" noChangeAspect="1" noMove="1" noResize="1" noEditPoints="1" noAdjustHandles="1" noChangeArrowheads="1" noChangeShapeType="1" noTextEdit="1"/>
              </p:cNvSpPr>
              <p:nvPr/>
            </p:nvSpPr>
            <p:spPr>
              <a:xfrm>
                <a:off x="502920" y="2468880"/>
                <a:ext cx="6949440" cy="548640"/>
              </a:xfrm>
              <a:prstGeom prst="rect">
                <a:avLst/>
              </a:prstGeom>
              <a:blipFill>
                <a:blip r:embed="rId8"/>
                <a:stretch>
                  <a:fillRect/>
                </a:stretch>
              </a:blipFill>
              <a:ln/>
            </p:spPr>
            <p:txBody>
              <a:bodyPr/>
              <a:lstStyle/>
              <a:p>
                <a:r>
                  <a:rPr lang="tr-TR">
                    <a:noFill/>
                  </a:rPr>
                  <a:t/>
                </a:r>
              </a:p>
            </p:txBody>
          </p:sp>
        </mc:Fallback>
      </mc:AlternateContent>
      <mc:AlternateContent xmlns:mc="http://schemas.openxmlformats.org/markup-compatibility/2006" xmlns:a14="http://schemas.microsoft.com/office/drawing/2010/main">
        <mc:Choice Requires="a14">
          <p:sp>
            <p:nvSpPr>
              <p:cNvPr id="10" name="Text 6"/>
              <p:cNvSpPr/>
              <p:nvPr/>
            </p:nvSpPr>
            <p:spPr>
              <a:xfrm>
                <a:off x="502920" y="3054096"/>
                <a:ext cx="6949440" cy="548640"/>
              </a:xfrm>
              <a:prstGeom prst="rect">
                <a:avLst/>
              </a:prstGeom>
              <a:noFill/>
              <a:ln/>
            </p:spPr>
            <p:txBody>
              <a:bodyPr wrap="square" lIns="0" tIns="0" rIns="0" bIns="0" rtlCol="0" anchor="ctr"/>
              <a:lstStyle/>
              <a:p>
                <a:pPr marL="0" indent="0" algn="ctr">
                  <a:buNone/>
                </a:pPr>
                <a14:m>
                  <m:oMathPara xmlns:m="http://schemas.openxmlformats.org/officeDocument/2006/math">
                    <m:oMath>
                      <m:sSub>
                        <m:sSubPr>
                          <m:ctrlPr>
                            <a:rPr lang="en-US" sz="1400">
                              <a:latin typeface="Cambria Math"/>
                            </a:rPr>
                          </m:ctrlPr>
                        </m:sSubPr>
                        <m:e>
                          <m:r>
                            <a:rPr lang="en-US" sz="1400">
                              <a:latin typeface="Cambria Math"/>
                            </a:rPr>
                            <m:t>𝜂</m:t>
                          </m:r>
                        </m:e>
                        <m:sub>
                          <m:r>
                            <a:rPr lang="en-US" sz="1400">
                              <a:latin typeface="Cambria Math"/>
                            </a:rPr>
                            <m:t>𝑒𝑓𝑓</m:t>
                          </m:r>
                          <m:r>
                            <a:rPr lang="en-US" sz="1400">
                              <a:latin typeface="Cambria Math"/>
                            </a:rPr>
                            <m:t>,</m:t>
                          </m:r>
                          <m:r>
                            <a:rPr lang="en-US" sz="1400">
                              <a:latin typeface="Cambria Math"/>
                            </a:rPr>
                            <m:t>𝑘</m:t>
                          </m:r>
                        </m:sub>
                      </m:sSub>
                      <m:d>
                        <m:dPr>
                          <m:ctrlPr>
                            <a:rPr lang="en-US" sz="1400">
                              <a:latin typeface="Cambria Math"/>
                            </a:rPr>
                          </m:ctrlPr>
                        </m:dPr>
                        <m:e>
                          <m:r>
                            <a:rPr lang="en-US" sz="1400">
                              <a:latin typeface="Cambria Math"/>
                            </a:rPr>
                            <m:t>𝑥</m:t>
                          </m:r>
                          <m:r>
                            <a:rPr lang="en-US" sz="1400">
                              <a:latin typeface="Cambria Math"/>
                            </a:rPr>
                            <m:t>,</m:t>
                          </m:r>
                          <m:r>
                            <a:rPr lang="en-US" sz="1400">
                              <a:latin typeface="Cambria Math"/>
                            </a:rPr>
                            <m:t>𝑦</m:t>
                          </m:r>
                        </m:e>
                      </m:d>
                      <m:r>
                        <a:rPr lang="en-US" sz="1400">
                          <a:latin typeface="Cambria Math"/>
                        </a:rPr>
                        <m:t>=</m:t>
                      </m:r>
                      <m:f>
                        <m:fPr>
                          <m:ctrlPr>
                            <a:rPr lang="en-US" sz="1400" i="1">
                              <a:latin typeface="Cambria Math" panose="02040503050406030204" pitchFamily="18" charset="0"/>
                            </a:rPr>
                          </m:ctrlPr>
                        </m:fPr>
                        <m:num>
                          <m:sSub>
                            <m:sSubPr>
                              <m:ctrlPr>
                                <a:rPr lang="en-US" sz="1400">
                                  <a:latin typeface="Cambria Math"/>
                                </a:rPr>
                              </m:ctrlPr>
                            </m:sSubPr>
                            <m:e>
                              <m:r>
                                <a:rPr lang="en-US" sz="1400">
                                  <a:latin typeface="Cambria Math"/>
                                </a:rPr>
                                <m:t>𝑅</m:t>
                              </m:r>
                            </m:e>
                            <m:sub>
                              <m:r>
                                <a:rPr lang="en-US" sz="1400">
                                  <a:latin typeface="Cambria Math"/>
                                </a:rPr>
                                <m:t>𝑒𝑓𝑓</m:t>
                              </m:r>
                              <m:r>
                                <a:rPr lang="en-US" sz="1400">
                                  <a:latin typeface="Cambria Math"/>
                                </a:rPr>
                                <m:t>,</m:t>
                              </m:r>
                              <m:r>
                                <a:rPr lang="en-US" sz="1400">
                                  <a:latin typeface="Cambria Math"/>
                                </a:rPr>
                                <m:t>𝑘</m:t>
                              </m:r>
                            </m:sub>
                          </m:sSub>
                          <m:d>
                            <m:dPr>
                              <m:ctrlPr>
                                <a:rPr lang="en-US" sz="1400">
                                  <a:latin typeface="Cambria Math"/>
                                </a:rPr>
                              </m:ctrlPr>
                            </m:dPr>
                            <m:e>
                              <m:r>
                                <a:rPr lang="en-US" sz="1400">
                                  <a:latin typeface="Cambria Math"/>
                                </a:rPr>
                                <m:t>𝑥</m:t>
                              </m:r>
                              <m:r>
                                <a:rPr lang="en-US" sz="1400">
                                  <a:latin typeface="Cambria Math"/>
                                </a:rPr>
                                <m:t>,</m:t>
                              </m:r>
                              <m:r>
                                <a:rPr lang="en-US" sz="1400">
                                  <a:latin typeface="Cambria Math"/>
                                </a:rPr>
                                <m:t>𝑦</m:t>
                              </m:r>
                            </m:e>
                          </m:d>
                        </m:num>
                        <m:den>
                          <m:r>
                            <a:rPr lang="en-US" sz="1400">
                              <a:latin typeface="Cambria Math"/>
                            </a:rPr>
                            <m:t>1+</m:t>
                          </m:r>
                          <m:sSub>
                            <m:sSubPr>
                              <m:ctrlPr>
                                <a:rPr lang="en-US" sz="1400">
                                  <a:latin typeface="Cambria Math"/>
                                </a:rPr>
                              </m:ctrlPr>
                            </m:sSubPr>
                            <m:e>
                              <m:r>
                                <a:rPr lang="en-US" sz="1400">
                                  <a:latin typeface="Cambria Math"/>
                                </a:rPr>
                                <m:t>𝛾</m:t>
                              </m:r>
                            </m:e>
                            <m:sub>
                              <m:r>
                                <a:rPr lang="en-US" sz="1400">
                                  <a:latin typeface="Cambria Math"/>
                                </a:rPr>
                                <m:t>𝐼</m:t>
                              </m:r>
                            </m:sub>
                          </m:sSub>
                          <m:r>
                            <m:rPr>
                              <m:nor/>
                            </m:rPr>
                            <a:rPr lang="en-US" sz="1400" i="0">
                              <a:latin typeface="Cambria Math"/>
                            </a:rPr>
                            <m:t> </m:t>
                          </m:r>
                          <m:sSub>
                            <m:sSubPr>
                              <m:ctrlPr>
                                <a:rPr lang="en-US" sz="1400">
                                  <a:latin typeface="Cambria Math"/>
                                </a:rPr>
                              </m:ctrlPr>
                            </m:sSubPr>
                            <m:e>
                              <m:r>
                                <a:rPr lang="en-US" sz="1400">
                                  <a:latin typeface="Cambria Math"/>
                                </a:rPr>
                                <m:t>𝐼</m:t>
                              </m:r>
                            </m:e>
                            <m:sub>
                              <m:r>
                                <a:rPr lang="en-US" sz="1400">
                                  <a:latin typeface="Cambria Math"/>
                                </a:rPr>
                                <m:t>𝑘</m:t>
                              </m:r>
                            </m:sub>
                          </m:sSub>
                          <m:d>
                            <m:dPr>
                              <m:ctrlPr>
                                <a:rPr lang="en-US" sz="1400">
                                  <a:latin typeface="Cambria Math"/>
                                </a:rPr>
                              </m:ctrlPr>
                            </m:dPr>
                            <m:e>
                              <m:r>
                                <a:rPr lang="en-US" sz="1400">
                                  <a:latin typeface="Cambria Math"/>
                                </a:rPr>
                                <m:t>𝑥</m:t>
                              </m:r>
                              <m:r>
                                <a:rPr lang="en-US" sz="1400">
                                  <a:latin typeface="Cambria Math"/>
                                </a:rPr>
                                <m:t>,</m:t>
                              </m:r>
                              <m:r>
                                <a:rPr lang="en-US" sz="1400">
                                  <a:latin typeface="Cambria Math"/>
                                </a:rPr>
                                <m:t>𝑦</m:t>
                              </m:r>
                            </m:e>
                          </m:d>
                        </m:den>
                      </m:f>
                    </m:oMath>
                  </m:oMathPara>
                </a14:m>
                <a:endParaRPr lang="en-US" sz="1300" dirty="0"/>
              </a:p>
            </p:txBody>
          </p:sp>
        </mc:Choice>
        <mc:Fallback xmlns="">
          <p:sp>
            <p:nvSpPr>
              <p:cNvPr id="10" name="Text 6"/>
              <p:cNvSpPr>
                <a:spLocks noRot="1" noChangeAspect="1" noMove="1" noResize="1" noEditPoints="1" noAdjustHandles="1" noChangeArrowheads="1" noChangeShapeType="1" noTextEdit="1"/>
              </p:cNvSpPr>
              <p:nvPr/>
            </p:nvSpPr>
            <p:spPr>
              <a:xfrm>
                <a:off x="502920" y="3054096"/>
                <a:ext cx="6949440" cy="548640"/>
              </a:xfrm>
              <a:prstGeom prst="rect">
                <a:avLst/>
              </a:prstGeom>
              <a:blipFill>
                <a:blip r:embed="rId9"/>
                <a:stretch>
                  <a:fillRect b="-3333"/>
                </a:stretch>
              </a:blipFill>
              <a:ln/>
            </p:spPr>
            <p:txBody>
              <a:bodyPr/>
              <a:lstStyle/>
              <a:p>
                <a:r>
                  <a:rPr lang="tr-TR">
                    <a:noFill/>
                  </a:rPr>
                  <a:t/>
                </a:r>
              </a:p>
            </p:txBody>
          </p:sp>
        </mc:Fallback>
      </mc:AlternateContent>
      <mc:AlternateContent xmlns:mc="http://schemas.openxmlformats.org/markup-compatibility/2006" xmlns:a14="http://schemas.microsoft.com/office/drawing/2010/main">
        <mc:Choice Requires="a14">
          <p:sp>
            <p:nvSpPr>
              <p:cNvPr id="11" name="Text 7"/>
              <p:cNvSpPr/>
              <p:nvPr/>
            </p:nvSpPr>
            <p:spPr>
              <a:xfrm>
                <a:off x="502920" y="3639312"/>
                <a:ext cx="6949440" cy="640080"/>
              </a:xfrm>
              <a:prstGeom prst="rect">
                <a:avLst/>
              </a:prstGeom>
              <a:noFill/>
              <a:ln/>
            </p:spPr>
            <p:txBody>
              <a:bodyPr wrap="square" lIns="0" tIns="0" rIns="0" bIns="0" rtlCol="0" anchor="ctr"/>
              <a:lstStyle/>
              <a:p>
                <a:pPr marL="0" indent="0" algn="ctr">
                  <a:buNone/>
                </a:pPr>
                <a14:m>
                  <m:oMathPara xmlns:m="http://schemas.openxmlformats.org/officeDocument/2006/math">
                    <m:oMath>
                      <m:sSubSup>
                        <m:sSubSupPr>
                          <m:ctrlPr>
                            <a:rPr lang="en-US" sz="1400">
                              <a:latin typeface="Cambria Math"/>
                            </a:rPr>
                          </m:ctrlPr>
                        </m:sSubSupPr>
                        <m:e>
                          <m:r>
                            <a:rPr lang="en-US" sz="1400">
                              <a:latin typeface="Cambria Math"/>
                            </a:rPr>
                            <m:t>𝐹</m:t>
                          </m:r>
                        </m:e>
                        <m:sub>
                          <m:r>
                            <a:rPr lang="en-US" sz="1400">
                              <a:latin typeface="Cambria Math"/>
                            </a:rPr>
                            <m:t>𝑟𝑒𝑑</m:t>
                          </m:r>
                          <m:r>
                            <a:rPr lang="en-US" sz="1400">
                              <a:latin typeface="Cambria Math"/>
                            </a:rPr>
                            <m:t>,</m:t>
                          </m:r>
                          <m:r>
                            <a:rPr lang="en-US" sz="1400">
                              <a:latin typeface="Cambria Math"/>
                            </a:rPr>
                            <m:t>𝑘</m:t>
                          </m:r>
                        </m:sub>
                        <m:sup>
                          <m:r>
                            <a:rPr lang="en-US" sz="1400">
                              <a:latin typeface="Cambria Math"/>
                            </a:rPr>
                            <m:t>𝑟𝑎𝑤</m:t>
                          </m:r>
                        </m:sup>
                      </m:sSubSup>
                      <m:d>
                        <m:dPr>
                          <m:ctrlPr>
                            <a:rPr lang="en-US" sz="1400">
                              <a:latin typeface="Cambria Math"/>
                            </a:rPr>
                          </m:ctrlPr>
                        </m:dPr>
                        <m:e>
                          <m:r>
                            <a:rPr lang="en-US" sz="1400">
                              <a:latin typeface="Cambria Math"/>
                            </a:rPr>
                            <m:t>𝑥</m:t>
                          </m:r>
                          <m:r>
                            <a:rPr lang="en-US" sz="1400">
                              <a:latin typeface="Cambria Math"/>
                            </a:rPr>
                            <m:t>,</m:t>
                          </m:r>
                          <m:r>
                            <a:rPr lang="en-US" sz="1400">
                              <a:latin typeface="Cambria Math"/>
                            </a:rPr>
                            <m:t>𝑦</m:t>
                          </m:r>
                        </m:e>
                      </m:d>
                      <m:r>
                        <a:rPr lang="en-US" sz="1400">
                          <a:latin typeface="Cambria Math"/>
                        </a:rPr>
                        <m:t>=</m:t>
                      </m:r>
                      <m:sSub>
                        <m:sSubPr>
                          <m:ctrlPr>
                            <a:rPr lang="en-US" sz="1400">
                              <a:latin typeface="Cambria Math"/>
                            </a:rPr>
                          </m:ctrlPr>
                        </m:sSubPr>
                        <m:e>
                          <m:r>
                            <a:rPr lang="en-US" sz="1400">
                              <a:latin typeface="Cambria Math"/>
                            </a:rPr>
                            <m:t>𝛼</m:t>
                          </m:r>
                        </m:e>
                        <m:sub>
                          <m:r>
                            <a:rPr lang="en-US" sz="1400">
                              <a:latin typeface="Cambria Math"/>
                            </a:rPr>
                            <m:t>𝑠</m:t>
                          </m:r>
                        </m:sub>
                      </m:sSub>
                      <m:r>
                        <a:rPr lang="en-US" sz="1400">
                          <a:latin typeface="Cambria Math"/>
                        </a:rPr>
                        <m:t>⋅</m:t>
                      </m:r>
                      <m:d>
                        <m:dPr>
                          <m:ctrlPr>
                            <a:rPr lang="en-US" i="1">
                              <a:latin typeface="Cambria Math" panose="02040503050406030204" pitchFamily="18" charset="0"/>
                            </a:rPr>
                          </m:ctrlPr>
                        </m:dPr>
                        <m:e>
                          <m:f>
                            <m:fPr>
                              <m:ctrlPr>
                                <a:rPr lang="en-US" sz="1400" i="1">
                                  <a:latin typeface="Cambria Math" panose="02040503050406030204" pitchFamily="18" charset="0"/>
                                </a:rPr>
                              </m:ctrlPr>
                            </m:fPr>
                            <m:num>
                              <m:sSub>
                                <m:sSubPr>
                                  <m:ctrlPr>
                                    <a:rPr lang="en-US" sz="1400">
                                      <a:latin typeface="Cambria Math"/>
                                    </a:rPr>
                                  </m:ctrlPr>
                                </m:sSubPr>
                                <m:e>
                                  <m:r>
                                    <a:rPr lang="en-US" sz="1400">
                                      <a:latin typeface="Cambria Math"/>
                                    </a:rPr>
                                    <m:t>𝑅</m:t>
                                  </m:r>
                                </m:e>
                                <m:sub>
                                  <m:r>
                                    <a:rPr lang="en-US" sz="1400">
                                      <a:latin typeface="Cambria Math"/>
                                    </a:rPr>
                                    <m:t>𝑐𝑎𝑝</m:t>
                                  </m:r>
                                  <m:r>
                                    <a:rPr lang="en-US" sz="1400">
                                      <a:latin typeface="Cambria Math"/>
                                    </a:rPr>
                                    <m:t>,</m:t>
                                  </m:r>
                                  <m:r>
                                    <a:rPr lang="en-US" sz="1400">
                                      <a:latin typeface="Cambria Math"/>
                                    </a:rPr>
                                    <m:t>𝑘</m:t>
                                  </m:r>
                                </m:sub>
                              </m:sSub>
                            </m:num>
                            <m:den>
                              <m:sSub>
                                <m:sSubPr>
                                  <m:ctrlPr>
                                    <a:rPr lang="en-US" sz="1400">
                                      <a:latin typeface="Cambria Math"/>
                                    </a:rPr>
                                  </m:ctrlPr>
                                </m:sSubPr>
                                <m:e>
                                  <m:r>
                                    <a:rPr lang="en-US" sz="1400">
                                      <a:latin typeface="Cambria Math"/>
                                    </a:rPr>
                                    <m:t>𝑅</m:t>
                                  </m:r>
                                </m:e>
                                <m:sub>
                                  <m:r>
                                    <a:rPr lang="en-US" sz="1400">
                                      <a:latin typeface="Cambria Math"/>
                                    </a:rPr>
                                    <m:t>𝑐𝑎𝑝</m:t>
                                  </m:r>
                                  <m:r>
                                    <a:rPr lang="en-US" sz="1400">
                                      <a:latin typeface="Cambria Math"/>
                                    </a:rPr>
                                    <m:t>,</m:t>
                                  </m:r>
                                  <m:r>
                                    <a:rPr lang="en-US" sz="1400">
                                      <a:latin typeface="Cambria Math"/>
                                    </a:rPr>
                                    <m:t>𝑚𝑎𝑥</m:t>
                                  </m:r>
                                </m:sub>
                              </m:sSub>
                            </m:den>
                          </m:f>
                        </m:e>
                      </m:d>
                      <m:r>
                        <a:rPr lang="en-US" sz="1400">
                          <a:latin typeface="Cambria Math"/>
                        </a:rPr>
                        <m:t>⋅</m:t>
                      </m:r>
                      <m:sSub>
                        <m:sSubPr>
                          <m:ctrlPr>
                            <a:rPr lang="en-US" sz="1400">
                              <a:latin typeface="Cambria Math"/>
                            </a:rPr>
                          </m:ctrlPr>
                        </m:sSubPr>
                        <m:e>
                          <m:r>
                            <a:rPr lang="en-US" sz="1400">
                              <a:latin typeface="Cambria Math"/>
                            </a:rPr>
                            <m:t>𝑅</m:t>
                          </m:r>
                        </m:e>
                        <m:sub>
                          <m:r>
                            <a:rPr lang="en-US" sz="1400">
                              <a:latin typeface="Cambria Math"/>
                            </a:rPr>
                            <m:t>𝑎𝑣𝑎𝑖𝑙</m:t>
                          </m:r>
                          <m:r>
                            <a:rPr lang="en-US" sz="1400">
                              <a:latin typeface="Cambria Math"/>
                            </a:rPr>
                            <m:t>,</m:t>
                          </m:r>
                          <m:r>
                            <a:rPr lang="en-US" sz="1400">
                              <a:latin typeface="Cambria Math"/>
                            </a:rPr>
                            <m:t>𝑘</m:t>
                          </m:r>
                        </m:sub>
                      </m:sSub>
                      <m:r>
                        <a:rPr lang="en-US" sz="1400">
                          <a:latin typeface="Cambria Math"/>
                        </a:rPr>
                        <m:t>⋅</m:t>
                      </m:r>
                      <m:func>
                        <m:funcPr>
                          <m:ctrlPr>
                            <a:rPr lang="en-US" sz="1400">
                              <a:latin typeface="Cambria Math"/>
                            </a:rPr>
                          </m:ctrlPr>
                        </m:funcPr>
                        <m:fName>
                          <m:r>
                            <m:rPr>
                              <m:sty m:val="p"/>
                            </m:rPr>
                            <a:rPr lang="en-US" sz="1400">
                              <a:latin typeface="Cambria Math"/>
                            </a:rPr>
                            <m:t>exp</m:t>
                          </m:r>
                        </m:fName>
                        <m:e>
                          <m:d>
                            <m:dPr>
                              <m:ctrlPr>
                                <a:rPr lang="en-US" sz="1400">
                                  <a:latin typeface="Cambria Math"/>
                                </a:rPr>
                              </m:ctrlPr>
                            </m:dPr>
                            <m:e>
                              <m:r>
                                <a:rPr lang="en-US" sz="1400">
                                  <a:latin typeface="Cambria Math"/>
                                </a:rPr>
                                <m:t>−</m:t>
                              </m:r>
                              <m:sSub>
                                <m:sSubPr>
                                  <m:ctrlPr>
                                    <a:rPr lang="en-US" sz="1400">
                                      <a:latin typeface="Cambria Math"/>
                                    </a:rPr>
                                  </m:ctrlPr>
                                </m:sSubPr>
                                <m:e>
                                  <m:r>
                                    <a:rPr lang="en-US" sz="1400">
                                      <a:latin typeface="Cambria Math"/>
                                    </a:rPr>
                                    <m:t>𝛽</m:t>
                                  </m:r>
                                </m:e>
                                <m:sub>
                                  <m:r>
                                    <a:rPr lang="en-US" sz="1400">
                                      <a:latin typeface="Cambria Math"/>
                                    </a:rPr>
                                    <m:t>𝑡</m:t>
                                  </m:r>
                                </m:sub>
                              </m:sSub>
                              <m:sSub>
                                <m:sSubPr>
                                  <m:ctrlPr>
                                    <a:rPr lang="en-US" sz="1400">
                                      <a:latin typeface="Cambria Math"/>
                                    </a:rPr>
                                  </m:ctrlPr>
                                </m:sSubPr>
                                <m:e>
                                  <m:r>
                                    <a:rPr lang="en-US" sz="1400">
                                      <a:latin typeface="Cambria Math"/>
                                    </a:rPr>
                                    <m:t>𝑅</m:t>
                                  </m:r>
                                </m:e>
                                <m:sub>
                                  <m:r>
                                    <a:rPr lang="en-US" sz="1400">
                                      <a:latin typeface="Cambria Math"/>
                                    </a:rPr>
                                    <m:t>𝑡𝑖𝑚𝑒</m:t>
                                  </m:r>
                                  <m:r>
                                    <a:rPr lang="en-US" sz="1400">
                                      <a:latin typeface="Cambria Math"/>
                                    </a:rPr>
                                    <m:t>,</m:t>
                                  </m:r>
                                  <m:r>
                                    <a:rPr lang="en-US" sz="1400">
                                      <a:latin typeface="Cambria Math"/>
                                    </a:rPr>
                                    <m:t>𝑘</m:t>
                                  </m:r>
                                </m:sub>
                              </m:sSub>
                              <m:d>
                                <m:dPr>
                                  <m:ctrlPr>
                                    <a:rPr lang="en-US" sz="1400">
                                      <a:latin typeface="Cambria Math"/>
                                    </a:rPr>
                                  </m:ctrlPr>
                                </m:dPr>
                                <m:e>
                                  <m:r>
                                    <a:rPr lang="en-US" sz="1400">
                                      <a:latin typeface="Cambria Math"/>
                                    </a:rPr>
                                    <m:t>𝑥</m:t>
                                  </m:r>
                                  <m:r>
                                    <a:rPr lang="en-US" sz="1400">
                                      <a:latin typeface="Cambria Math"/>
                                    </a:rPr>
                                    <m:t>,</m:t>
                                  </m:r>
                                  <m:r>
                                    <a:rPr lang="en-US" sz="1400">
                                      <a:latin typeface="Cambria Math"/>
                                    </a:rPr>
                                    <m:t>𝑦</m:t>
                                  </m:r>
                                </m:e>
                              </m:d>
                            </m:e>
                          </m:d>
                        </m:e>
                      </m:func>
                      <m:r>
                        <a:rPr lang="en-US" sz="1400">
                          <a:latin typeface="Cambria Math"/>
                        </a:rPr>
                        <m:t>⋅</m:t>
                      </m:r>
                      <m:sSub>
                        <m:sSubPr>
                          <m:ctrlPr>
                            <a:rPr lang="en-US" sz="1400">
                              <a:latin typeface="Cambria Math"/>
                            </a:rPr>
                          </m:ctrlPr>
                        </m:sSubPr>
                        <m:e>
                          <m:r>
                            <a:rPr lang="en-US" sz="1400">
                              <a:latin typeface="Cambria Math"/>
                            </a:rPr>
                            <m:t>𝐺</m:t>
                          </m:r>
                        </m:e>
                        <m:sub>
                          <m:r>
                            <a:rPr lang="en-US" sz="1400">
                              <a:latin typeface="Cambria Math"/>
                            </a:rPr>
                            <m:t>𝑎𝑐𝑐𝑒𝑠𝑠</m:t>
                          </m:r>
                        </m:sub>
                      </m:sSub>
                      <m:d>
                        <m:dPr>
                          <m:ctrlPr>
                            <a:rPr lang="en-US" sz="1400">
                              <a:latin typeface="Cambria Math"/>
                            </a:rPr>
                          </m:ctrlPr>
                        </m:dPr>
                        <m:e>
                          <m:r>
                            <a:rPr lang="en-US" sz="1400">
                              <a:latin typeface="Cambria Math"/>
                            </a:rPr>
                            <m:t>𝑥</m:t>
                          </m:r>
                          <m:r>
                            <a:rPr lang="en-US" sz="1400">
                              <a:latin typeface="Cambria Math"/>
                            </a:rPr>
                            <m:t>,</m:t>
                          </m:r>
                          <m:r>
                            <a:rPr lang="en-US" sz="1400">
                              <a:latin typeface="Cambria Math"/>
                            </a:rPr>
                            <m:t>𝑦</m:t>
                          </m:r>
                        </m:e>
                      </m:d>
                      <m:r>
                        <a:rPr lang="en-US" sz="1400">
                          <a:latin typeface="Cambria Math"/>
                        </a:rPr>
                        <m:t>⋅</m:t>
                      </m:r>
                      <m:f>
                        <m:fPr>
                          <m:ctrlPr>
                            <a:rPr lang="en-US" sz="1400" i="1">
                              <a:latin typeface="Cambria Math" panose="02040503050406030204" pitchFamily="18" charset="0"/>
                            </a:rPr>
                          </m:ctrlPr>
                        </m:fPr>
                        <m:num>
                          <m:sSub>
                            <m:sSubPr>
                              <m:ctrlPr>
                                <a:rPr lang="en-US" sz="1400">
                                  <a:latin typeface="Cambria Math"/>
                                </a:rPr>
                              </m:ctrlPr>
                            </m:sSubPr>
                            <m:e>
                              <m:r>
                                <a:rPr lang="en-US" sz="1400">
                                  <a:latin typeface="Cambria Math"/>
                                </a:rPr>
                                <m:t>𝑅</m:t>
                              </m:r>
                            </m:e>
                            <m:sub>
                              <m:r>
                                <a:rPr lang="en-US" sz="1400">
                                  <a:latin typeface="Cambria Math"/>
                                </a:rPr>
                                <m:t>𝑒𝑓𝑓</m:t>
                              </m:r>
                              <m:r>
                                <a:rPr lang="en-US" sz="1400">
                                  <a:latin typeface="Cambria Math"/>
                                </a:rPr>
                                <m:t>,</m:t>
                              </m:r>
                              <m:r>
                                <a:rPr lang="en-US" sz="1400">
                                  <a:latin typeface="Cambria Math"/>
                                </a:rPr>
                                <m:t>𝑘</m:t>
                              </m:r>
                            </m:sub>
                          </m:sSub>
                          <m:d>
                            <m:dPr>
                              <m:ctrlPr>
                                <a:rPr lang="en-US" sz="1400">
                                  <a:latin typeface="Cambria Math"/>
                                </a:rPr>
                              </m:ctrlPr>
                            </m:dPr>
                            <m:e>
                              <m:r>
                                <a:rPr lang="en-US" sz="1400">
                                  <a:latin typeface="Cambria Math"/>
                                </a:rPr>
                                <m:t>𝑥</m:t>
                              </m:r>
                              <m:r>
                                <a:rPr lang="en-US" sz="1400">
                                  <a:latin typeface="Cambria Math"/>
                                </a:rPr>
                                <m:t>,</m:t>
                              </m:r>
                              <m:r>
                                <a:rPr lang="en-US" sz="1400">
                                  <a:latin typeface="Cambria Math"/>
                                </a:rPr>
                                <m:t>𝑦</m:t>
                              </m:r>
                            </m:e>
                          </m:d>
                        </m:num>
                        <m:den>
                          <m:r>
                            <a:rPr lang="en-US" sz="1400">
                              <a:latin typeface="Cambria Math"/>
                            </a:rPr>
                            <m:t>1+</m:t>
                          </m:r>
                          <m:sSub>
                            <m:sSubPr>
                              <m:ctrlPr>
                                <a:rPr lang="en-US" sz="1400">
                                  <a:latin typeface="Cambria Math"/>
                                </a:rPr>
                              </m:ctrlPr>
                            </m:sSubPr>
                            <m:e>
                              <m:r>
                                <a:rPr lang="en-US" sz="1400">
                                  <a:latin typeface="Cambria Math"/>
                                </a:rPr>
                                <m:t>𝛾</m:t>
                              </m:r>
                            </m:e>
                            <m:sub>
                              <m:r>
                                <a:rPr lang="en-US" sz="1400">
                                  <a:latin typeface="Cambria Math"/>
                                </a:rPr>
                                <m:t>𝐼</m:t>
                              </m:r>
                            </m:sub>
                          </m:sSub>
                          <m:sSub>
                            <m:sSubPr>
                              <m:ctrlPr>
                                <a:rPr lang="en-US" sz="1400">
                                  <a:latin typeface="Cambria Math"/>
                                </a:rPr>
                              </m:ctrlPr>
                            </m:sSubPr>
                            <m:e>
                              <m:r>
                                <a:rPr lang="en-US" sz="1400">
                                  <a:latin typeface="Cambria Math"/>
                                </a:rPr>
                                <m:t>𝐼</m:t>
                              </m:r>
                            </m:e>
                            <m:sub>
                              <m:r>
                                <a:rPr lang="en-US" sz="1400">
                                  <a:latin typeface="Cambria Math"/>
                                </a:rPr>
                                <m:t>𝑘</m:t>
                              </m:r>
                            </m:sub>
                          </m:sSub>
                          <m:d>
                            <m:dPr>
                              <m:ctrlPr>
                                <a:rPr lang="en-US" sz="1400">
                                  <a:latin typeface="Cambria Math"/>
                                </a:rPr>
                              </m:ctrlPr>
                            </m:dPr>
                            <m:e>
                              <m:r>
                                <a:rPr lang="en-US" sz="1400">
                                  <a:latin typeface="Cambria Math"/>
                                </a:rPr>
                                <m:t>𝑥</m:t>
                              </m:r>
                              <m:r>
                                <a:rPr lang="en-US" sz="1400">
                                  <a:latin typeface="Cambria Math"/>
                                </a:rPr>
                                <m:t>,</m:t>
                              </m:r>
                              <m:r>
                                <a:rPr lang="en-US" sz="1400">
                                  <a:latin typeface="Cambria Math"/>
                                </a:rPr>
                                <m:t>𝑦</m:t>
                              </m:r>
                            </m:e>
                          </m:d>
                        </m:den>
                      </m:f>
                    </m:oMath>
                  </m:oMathPara>
                </a14:m>
                <a:endParaRPr lang="en-US" sz="1300" dirty="0"/>
              </a:p>
            </p:txBody>
          </p:sp>
        </mc:Choice>
        <mc:Fallback xmlns="">
          <p:sp>
            <p:nvSpPr>
              <p:cNvPr id="11" name="Text 7"/>
              <p:cNvSpPr>
                <a:spLocks noRot="1" noChangeAspect="1" noMove="1" noResize="1" noEditPoints="1" noAdjustHandles="1" noChangeArrowheads="1" noChangeShapeType="1" noTextEdit="1"/>
              </p:cNvSpPr>
              <p:nvPr/>
            </p:nvSpPr>
            <p:spPr>
              <a:xfrm>
                <a:off x="502920" y="3639312"/>
                <a:ext cx="6949440" cy="640080"/>
              </a:xfrm>
              <a:prstGeom prst="rect">
                <a:avLst/>
              </a:prstGeom>
              <a:blipFill>
                <a:blip r:embed="rId10"/>
                <a:stretch>
                  <a:fillRect t="-12381" b="-20952"/>
                </a:stretch>
              </a:blipFill>
              <a:ln/>
            </p:spPr>
            <p:txBody>
              <a:bodyPr/>
              <a:lstStyle/>
              <a:p>
                <a:r>
                  <a:rPr lang="tr-TR">
                    <a:noFill/>
                  </a:rPr>
                  <a:t/>
                </a:r>
              </a:p>
            </p:txBody>
          </p:sp>
        </mc:Fallback>
      </mc:AlternateContent>
      <mc:AlternateContent xmlns:mc="http://schemas.openxmlformats.org/markup-compatibility/2006" xmlns:a14="http://schemas.microsoft.com/office/drawing/2010/main">
        <mc:Choice Requires="a14">
          <p:sp>
            <p:nvSpPr>
              <p:cNvPr id="12" name="Text 8"/>
              <p:cNvSpPr/>
              <p:nvPr/>
            </p:nvSpPr>
            <p:spPr>
              <a:xfrm>
                <a:off x="7680960" y="1298448"/>
                <a:ext cx="4069080" cy="3291840"/>
              </a:xfrm>
              <a:prstGeom prst="rect">
                <a:avLst/>
              </a:prstGeom>
              <a:noFill/>
              <a:ln/>
            </p:spPr>
            <p:txBody>
              <a:bodyPr wrap="square" lIns="0" tIns="0" rIns="0" bIns="0" rtlCol="0" anchor="t"/>
              <a:lstStyle/>
              <a:p>
                <a:pPr marL="152400" indent="-152400">
                  <a:lnSpc>
                    <a:spcPct val="104000"/>
                  </a:lnSpc>
                  <a:spcAft>
                    <a:spcPts val="600"/>
                  </a:spcAft>
                  <a:buSzPct val="100000"/>
                  <a:buChar char="•"/>
                </a:pPr>
                <a14:m>
                  <m:oMath xmlns:m="http://schemas.openxmlformats.org/officeDocument/2006/math">
                    <m:sSub>
                      <m:sSubPr>
                        <m:ctrlPr>
                          <a:rPr lang="en-US" sz="1200">
                            <a:latin typeface="Cambria Math"/>
                          </a:rPr>
                        </m:ctrlPr>
                      </m:sSubPr>
                      <m:e>
                        <m:r>
                          <a:rPr lang="en-US" sz="1200">
                            <a:latin typeface="Cambria Math"/>
                          </a:rPr>
                          <m:t>𝛼</m:t>
                        </m:r>
                      </m:e>
                      <m:sub>
                        <m:r>
                          <a:rPr lang="en-US" sz="1200">
                            <a:latin typeface="Cambria Math"/>
                          </a:rPr>
                          <m:t>𝑠</m:t>
                        </m:r>
                      </m:sub>
                    </m:sSub>
                  </m:oMath>
                </a14:m>
                <a:r>
                  <a:rPr lang="en-US" sz="1200" dirty="0">
                    <a:solidFill>
                      <a:srgbClr val="222222"/>
                    </a:solidFill>
                    <a:latin typeface="Calibri" pitchFamily="34" charset="0"/>
                    <a:ea typeface="Calibri" pitchFamily="34" charset="-122"/>
                    <a:cs typeface="Calibri" pitchFamily="34" charset="-120"/>
                  </a:rPr>
                  <a:t> — global gain: how strong one step of suppression can be; dimensionless fraction per step.</a:t>
                </a:r>
                <a:endParaRPr lang="en-US" sz="1200" dirty="0"/>
              </a:p>
              <a:p>
                <a:pPr marL="152400" indent="-152400">
                  <a:lnSpc>
                    <a:spcPct val="104000"/>
                  </a:lnSpc>
                  <a:spcAft>
                    <a:spcPts val="600"/>
                  </a:spcAft>
                  <a:buSzPct val="100000"/>
                  <a:buChar char="•"/>
                </a:pPr>
                <a:r>
                  <a:rPr lang="en-US" sz="1200" dirty="0">
                    <a:solidFill>
                      <a:srgbClr val="222222"/>
                    </a:solidFill>
                    <a:latin typeface="Calibri" pitchFamily="34" charset="0"/>
                    <a:ea typeface="Calibri" pitchFamily="34" charset="-122"/>
                    <a:cs typeface="Calibri" pitchFamily="34" charset="-120"/>
                  </a:rPr>
                  <a:t>Capacity and availability — magnitude vs a strict necessary condition: undeployable resources contribute zero.</a:t>
                </a:r>
                <a:endParaRPr lang="en-US" sz="1200" dirty="0"/>
              </a:p>
              <a:p>
                <a:pPr marL="152400" indent="-152400">
                  <a:lnSpc>
                    <a:spcPct val="104000"/>
                  </a:lnSpc>
                  <a:spcAft>
                    <a:spcPts val="600"/>
                  </a:spcAft>
                  <a:buSzPct val="100000"/>
                  <a:buChar char="•"/>
                </a:pPr>
                <a:r>
                  <a:rPr lang="en-US" sz="1200" dirty="0">
                    <a:solidFill>
                      <a:srgbClr val="222222"/>
                    </a:solidFill>
                    <a:latin typeface="Calibri" pitchFamily="34" charset="0"/>
                    <a:ea typeface="Calibri" pitchFamily="34" charset="-122"/>
                    <a:cs typeface="Calibri" pitchFamily="34" charset="-120"/>
                  </a:rPr>
                  <a:t>Reachability — exponential decay with travel time (</a:t>
                </a:r>
                <a14:m>
                  <m:oMath xmlns:m="http://schemas.openxmlformats.org/officeDocument/2006/math">
                    <m:sSub>
                      <m:sSubPr>
                        <m:ctrlPr>
                          <a:rPr lang="en-US" sz="1200">
                            <a:latin typeface="Cambria Math"/>
                          </a:rPr>
                        </m:ctrlPr>
                      </m:sSubPr>
                      <m:e>
                        <m:r>
                          <a:rPr lang="en-US" sz="1200">
                            <a:latin typeface="Cambria Math"/>
                          </a:rPr>
                          <m:t>𝛽</m:t>
                        </m:r>
                      </m:e>
                      <m:sub>
                        <m:r>
                          <a:rPr lang="en-US" sz="1200">
                            <a:latin typeface="Cambria Math"/>
                          </a:rPr>
                          <m:t>𝑡</m:t>
                        </m:r>
                      </m:sub>
                    </m:sSub>
                  </m:oMath>
                </a14:m>
                <a:r>
                  <a:rPr lang="en-US" sz="1200" dirty="0">
                    <a:solidFill>
                      <a:srgbClr val="222222"/>
                    </a:solidFill>
                    <a:latin typeface="Calibri" pitchFamily="34" charset="0"/>
                    <a:ea typeface="Calibri" pitchFamily="34" charset="-122"/>
                    <a:cs typeface="Calibri" pitchFamily="34" charset="-120"/>
                  </a:rPr>
                  <a:t>, reference 0.03 per minute) times static terrain access.</a:t>
                </a:r>
                <a:endParaRPr lang="en-US" sz="1200" dirty="0"/>
              </a:p>
              <a:p>
                <a:pPr marL="152400" indent="-152400">
                  <a:lnSpc>
                    <a:spcPct val="104000"/>
                  </a:lnSpc>
                  <a:spcAft>
                    <a:spcPts val="600"/>
                  </a:spcAft>
                  <a:buSzPct val="100000"/>
                  <a:buChar char="•"/>
                </a:pPr>
                <a:r>
                  <a:rPr lang="en-US" sz="1200" dirty="0">
                    <a:solidFill>
                      <a:srgbClr val="222222"/>
                    </a:solidFill>
                    <a:latin typeface="Calibri" pitchFamily="34" charset="0"/>
                    <a:ea typeface="Calibri" pitchFamily="34" charset="-122"/>
                    <a:cs typeface="Calibri" pitchFamily="34" charset="-120"/>
                  </a:rPr>
                  <a:t>Effectiveness — high intensity resists suppression (</a:t>
                </a:r>
                <a14:m>
                  <m:oMath xmlns:m="http://schemas.openxmlformats.org/officeDocument/2006/math">
                    <m:sSub>
                      <m:sSubPr>
                        <m:ctrlPr>
                          <a:rPr lang="en-US" sz="1200">
                            <a:latin typeface="Cambria Math"/>
                          </a:rPr>
                        </m:ctrlPr>
                      </m:sSubPr>
                      <m:e>
                        <m:r>
                          <a:rPr lang="en-US" sz="1200">
                            <a:latin typeface="Cambria Math"/>
                          </a:rPr>
                          <m:t>𝛾</m:t>
                        </m:r>
                      </m:e>
                      <m:sub>
                        <m:r>
                          <a:rPr lang="en-US" sz="1200">
                            <a:latin typeface="Cambria Math"/>
                          </a:rPr>
                          <m:t>𝐼</m:t>
                        </m:r>
                      </m:sub>
                    </m:sSub>
                  </m:oMath>
                </a14:m>
                <a:r>
                  <a:rPr lang="en-US" sz="1200" dirty="0">
                    <a:solidFill>
                      <a:srgbClr val="222222"/>
                    </a:solidFill>
                    <a:latin typeface="Calibri" pitchFamily="34" charset="0"/>
                    <a:ea typeface="Calibri" pitchFamily="34" charset="-122"/>
                    <a:cs typeface="Calibri" pitchFamily="34" charset="-120"/>
                  </a:rPr>
                  <a:t>): the denominator grows with the current-state intensity.</a:t>
                </a:r>
                <a:endParaRPr lang="en-US" sz="1200" dirty="0"/>
              </a:p>
              <a:p>
                <a:pPr marL="152400" indent="-152400">
                  <a:lnSpc>
                    <a:spcPct val="104000"/>
                  </a:lnSpc>
                  <a:spcAft>
                    <a:spcPts val="600"/>
                  </a:spcAft>
                  <a:buSzPct val="100000"/>
                  <a:buChar char="•"/>
                </a:pPr>
                <a:r>
                  <a:rPr lang="en-US" sz="1200" dirty="0">
                    <a:solidFill>
                      <a:srgbClr val="222222"/>
                    </a:solidFill>
                    <a:latin typeface="Calibri" pitchFamily="34" charset="0"/>
                    <a:ea typeface="Calibri" pitchFamily="34" charset="-122"/>
                    <a:cs typeface="Calibri" pitchFamily="34" charset="-120"/>
                  </a:rPr>
                  <a:t>Saturation: reduction never exceeds the remaining fuel load — no negative fuel states.</a:t>
                </a:r>
                <a:endParaRPr lang="en-US" sz="1200" dirty="0"/>
              </a:p>
            </p:txBody>
          </p:sp>
        </mc:Choice>
        <mc:Fallback xmlns="">
          <p:sp>
            <p:nvSpPr>
              <p:cNvPr id="12" name="Text 8"/>
              <p:cNvSpPr>
                <a:spLocks noRot="1" noChangeAspect="1" noMove="1" noResize="1" noEditPoints="1" noAdjustHandles="1" noChangeArrowheads="1" noChangeShapeType="1" noTextEdit="1"/>
              </p:cNvSpPr>
              <p:nvPr/>
            </p:nvSpPr>
            <p:spPr>
              <a:xfrm>
                <a:off x="7680960" y="1298448"/>
                <a:ext cx="4069080" cy="3291840"/>
              </a:xfrm>
              <a:prstGeom prst="rect">
                <a:avLst/>
              </a:prstGeom>
              <a:blipFill>
                <a:blip r:embed="rId11"/>
                <a:stretch>
                  <a:fillRect l="-3293" t="-2407" r="-1048"/>
                </a:stretch>
              </a:blipFill>
              <a:ln/>
            </p:spPr>
            <p:txBody>
              <a:bodyPr/>
              <a:lstStyle/>
              <a:p>
                <a:r>
                  <a:rPr lang="tr-TR">
                    <a:noFill/>
                  </a:rPr>
                  <a:t/>
                </a:r>
              </a:p>
            </p:txBody>
          </p:sp>
        </mc:Fallback>
      </mc:AlternateContent>
      <mc:AlternateContent xmlns:mc="http://schemas.openxmlformats.org/markup-compatibility/2006" xmlns:a14="http://schemas.microsoft.com/office/drawing/2010/main">
        <mc:Choice Requires="a14">
          <p:graphicFrame>
            <p:nvGraphicFramePr>
              <p:cNvPr id="13" name="Table 0"/>
              <p:cNvGraphicFramePr>
                <a:graphicFrameLocks noGrp="1"/>
              </p:cNvGraphicFramePr>
              <p:nvPr/>
            </p:nvGraphicFramePr>
            <p:xfrm>
              <a:off x="502920" y="4572000"/>
              <a:ext cx="11247120" cy="1463040"/>
            </p:xfrm>
            <a:graphic>
              <a:graphicData uri="http://schemas.openxmlformats.org/drawingml/2006/table">
                <a:tbl>
                  <a:tblPr/>
                  <a:tblGrid>
                    <a:gridCol w="2926080">
                      <a:extLst>
                        <a:ext uri="{9D8B030D-6E8A-4147-A177-3AD203B41FA5}">
                          <a16:colId xmlns:a16="http://schemas.microsoft.com/office/drawing/2014/main" val="20000"/>
                        </a:ext>
                      </a:extLst>
                    </a:gridCol>
                    <a:gridCol w="2377440">
                      <a:extLst>
                        <a:ext uri="{9D8B030D-6E8A-4147-A177-3AD203B41FA5}">
                          <a16:colId xmlns:a16="http://schemas.microsoft.com/office/drawing/2014/main" val="20001"/>
                        </a:ext>
                      </a:extLst>
                    </a:gridCol>
                    <a:gridCol w="5943600">
                      <a:extLst>
                        <a:ext uri="{9D8B030D-6E8A-4147-A177-3AD203B41FA5}">
                          <a16:colId xmlns:a16="http://schemas.microsoft.com/office/drawing/2014/main" val="20002"/>
                        </a:ext>
                      </a:extLst>
                    </a:gridCol>
                  </a:tblGrid>
                  <a:tr h="365760">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Parameter</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solidFill>
                          <a:srgbClr val="000000"/>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Typical range</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solidFill>
                          <a:srgbClr val="000000"/>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Effect when increased</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solidFill>
                          <a:srgbClr val="000000"/>
                        </a:solidFill>
                      </a:tcPr>
                    </a:tc>
                    <a:extLst>
                      <a:ext uri="{0D108BD9-81ED-4DB2-BD59-A6C34878D82A}">
                        <a16:rowId xmlns:a16="http://schemas.microsoft.com/office/drawing/2014/main" val="10000"/>
                      </a:ext>
                    </a:extLst>
                  </a:tr>
                  <a:tr h="365760">
                    <a:tc>
                      <a:txBody>
                        <a:bodyPr/>
                        <a:lstStyle/>
                        <a:p>
                          <a:pPr marL="0" indent="0">
                            <a:buNone/>
                          </a:pPr>
                          <a:r>
                            <a:rPr lang="en-US" sz="1200" b="1" dirty="0">
                              <a:solidFill>
                                <a:srgbClr val="222222"/>
                              </a:solidFill>
                              <a:latin typeface="Calibri" pitchFamily="34" charset="0"/>
                              <a:ea typeface="Calibri" pitchFamily="34" charset="-122"/>
                              <a:cs typeface="Calibri" pitchFamily="34" charset="-120"/>
                            </a:rPr>
                            <a:t>Global gain </a:t>
                          </a:r>
                          <a14:m>
                            <m:oMath xmlns:m="http://schemas.openxmlformats.org/officeDocument/2006/math">
                              <m:sSub>
                                <m:sSubPr>
                                  <m:ctrlPr>
                                    <a:rPr lang="en-US" sz="1200">
                                      <a:latin typeface="Cambria Math"/>
                                    </a:rPr>
                                  </m:ctrlPr>
                                </m:sSubPr>
                                <m:e>
                                  <m:r>
                                    <a:rPr lang="en-US" sz="1200">
                                      <a:latin typeface="Cambria Math"/>
                                    </a:rPr>
                                    <m:t>𝛼</m:t>
                                  </m:r>
                                </m:e>
                                <m:sub>
                                  <m:r>
                                    <a:rPr lang="en-US" sz="1200">
                                      <a:latin typeface="Cambria Math"/>
                                    </a:rPr>
                                    <m:t>𝑠</m:t>
                                  </m:r>
                                </m:sub>
                              </m:sSub>
                            </m:oMath>
                          </a14:m>
                          <a:endParaRPr lang="en-US" sz="120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200" dirty="0">
                              <a:solidFill>
                                <a:srgbClr val="222222"/>
                              </a:solidFill>
                              <a:latin typeface="Calibri" pitchFamily="34" charset="0"/>
                              <a:ea typeface="Calibri" pitchFamily="34" charset="-122"/>
                              <a:cs typeface="Calibri" pitchFamily="34" charset="-120"/>
                            </a:rPr>
                            <a:t>0.01 – 0.30</a:t>
                          </a:r>
                          <a:endParaRPr lang="en-US" sz="120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200" dirty="0">
                              <a:solidFill>
                                <a:srgbClr val="6E6E6E"/>
                              </a:solidFill>
                              <a:latin typeface="Calibri" pitchFamily="34" charset="0"/>
                              <a:ea typeface="Calibri" pitchFamily="34" charset="-122"/>
                              <a:cs typeface="Calibri" pitchFamily="34" charset="-120"/>
                            </a:rPr>
                            <a:t>stronger mitigation per step</a:t>
                          </a:r>
                          <a:endParaRPr lang="en-US" sz="120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extLst>
                      <a:ext uri="{0D108BD9-81ED-4DB2-BD59-A6C34878D82A}">
                        <a16:rowId xmlns:a16="http://schemas.microsoft.com/office/drawing/2014/main" val="10001"/>
                      </a:ext>
                    </a:extLst>
                  </a:tr>
                  <a:tr h="365760">
                    <a:tc>
                      <a:txBody>
                        <a:bodyPr/>
                        <a:lstStyle/>
                        <a:p>
                          <a:pPr marL="0" indent="0">
                            <a:buNone/>
                          </a:pPr>
                          <a:r>
                            <a:rPr lang="en-US" sz="1200" b="1" dirty="0">
                              <a:solidFill>
                                <a:srgbClr val="222222"/>
                              </a:solidFill>
                              <a:latin typeface="Calibri" pitchFamily="34" charset="0"/>
                              <a:ea typeface="Calibri" pitchFamily="34" charset="-122"/>
                              <a:cs typeface="Calibri" pitchFamily="34" charset="-120"/>
                            </a:rPr>
                            <a:t>Travel-time decay </a:t>
                          </a:r>
                          <a14:m>
                            <m:oMath xmlns:m="http://schemas.openxmlformats.org/officeDocument/2006/math">
                              <m:sSub>
                                <m:sSubPr>
                                  <m:ctrlPr>
                                    <a:rPr lang="en-US" sz="1200">
                                      <a:latin typeface="Cambria Math"/>
                                    </a:rPr>
                                  </m:ctrlPr>
                                </m:sSubPr>
                                <m:e>
                                  <m:r>
                                    <a:rPr lang="en-US" sz="1200">
                                      <a:latin typeface="Cambria Math"/>
                                    </a:rPr>
                                    <m:t>𝛽</m:t>
                                  </m:r>
                                </m:e>
                                <m:sub>
                                  <m:r>
                                    <a:rPr lang="en-US" sz="1200">
                                      <a:latin typeface="Cambria Math"/>
                                    </a:rPr>
                                    <m:t>𝑡</m:t>
                                  </m:r>
                                </m:sub>
                              </m:sSub>
                            </m:oMath>
                          </a14:m>
                          <a:endParaRPr lang="en-US" sz="120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200" dirty="0">
                              <a:solidFill>
                                <a:srgbClr val="222222"/>
                              </a:solidFill>
                              <a:latin typeface="Calibri" pitchFamily="34" charset="0"/>
                              <a:ea typeface="Calibri" pitchFamily="34" charset="-122"/>
                              <a:cs typeface="Calibri" pitchFamily="34" charset="-120"/>
                            </a:rPr>
                            <a:t>0.01 – 0.10 /min</a:t>
                          </a:r>
                          <a:endParaRPr lang="en-US" sz="120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200" dirty="0">
                              <a:solidFill>
                                <a:srgbClr val="6E6E6E"/>
                              </a:solidFill>
                              <a:latin typeface="Calibri" pitchFamily="34" charset="0"/>
                              <a:ea typeface="Calibri" pitchFamily="34" charset="-122"/>
                              <a:cs typeface="Calibri" pitchFamily="34" charset="-120"/>
                            </a:rPr>
                            <a:t>faster decay of effectiveness with delay</a:t>
                          </a:r>
                          <a:endParaRPr lang="en-US" sz="120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extLst>
                      <a:ext uri="{0D108BD9-81ED-4DB2-BD59-A6C34878D82A}">
                        <a16:rowId xmlns:a16="http://schemas.microsoft.com/office/drawing/2014/main" val="10002"/>
                      </a:ext>
                    </a:extLst>
                  </a:tr>
                  <a:tr h="365760">
                    <a:tc>
                      <a:txBody>
                        <a:bodyPr/>
                        <a:lstStyle/>
                        <a:p>
                          <a:pPr marL="0" indent="0">
                            <a:buNone/>
                          </a:pPr>
                          <a:r>
                            <a:rPr lang="en-US" sz="1200" b="1" dirty="0">
                              <a:solidFill>
                                <a:srgbClr val="222222"/>
                              </a:solidFill>
                              <a:latin typeface="Calibri" pitchFamily="34" charset="0"/>
                              <a:ea typeface="Calibri" pitchFamily="34" charset="-122"/>
                              <a:cs typeface="Calibri" pitchFamily="34" charset="-120"/>
                            </a:rPr>
                            <a:t>Intensity resistance </a:t>
                          </a:r>
                          <a14:m>
                            <m:oMath xmlns:m="http://schemas.openxmlformats.org/officeDocument/2006/math">
                              <m:sSub>
                                <m:sSubPr>
                                  <m:ctrlPr>
                                    <a:rPr lang="en-US" sz="1200">
                                      <a:latin typeface="Cambria Math"/>
                                    </a:rPr>
                                  </m:ctrlPr>
                                </m:sSubPr>
                                <m:e>
                                  <m:r>
                                    <a:rPr lang="en-US" sz="1200">
                                      <a:latin typeface="Cambria Math"/>
                                    </a:rPr>
                                    <m:t>𝛾</m:t>
                                  </m:r>
                                </m:e>
                                <m:sub>
                                  <m:r>
                                    <a:rPr lang="en-US" sz="1200">
                                      <a:latin typeface="Cambria Math"/>
                                    </a:rPr>
                                    <m:t>𝐼</m:t>
                                  </m:r>
                                </m:sub>
                              </m:sSub>
                            </m:oMath>
                          </a14:m>
                          <a:endParaRPr lang="en-US" sz="120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200" dirty="0">
                              <a:solidFill>
                                <a:srgbClr val="222222"/>
                              </a:solidFill>
                              <a:latin typeface="Calibri" pitchFamily="34" charset="0"/>
                              <a:ea typeface="Calibri" pitchFamily="34" charset="-122"/>
                              <a:cs typeface="Calibri" pitchFamily="34" charset="-120"/>
                            </a:rPr>
                            <a:t>0.5 – 5.0</a:t>
                          </a:r>
                          <a:endParaRPr lang="en-US" sz="120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200" dirty="0">
                              <a:solidFill>
                                <a:srgbClr val="6E6E6E"/>
                              </a:solidFill>
                              <a:latin typeface="Calibri" pitchFamily="34" charset="0"/>
                              <a:ea typeface="Calibri" pitchFamily="34" charset="-122"/>
                              <a:cs typeface="Calibri" pitchFamily="34" charset="-120"/>
                            </a:rPr>
                            <a:t>intense fires progressively harder to suppress</a:t>
                          </a:r>
                          <a:endParaRPr lang="en-US" sz="120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mc:Choice>
        <mc:Fallback xmlns="">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02920" y="4572000"/>
              <a:ext cx="11247120" cy="1463040"/>
            </p:xfrm>
            <a:graphic>
              <a:graphicData uri="http://schemas.openxmlformats.org/drawingml/2006/table">
                <a:tbl>
                  <a:tblPr/>
                  <a:tblGrid>
                    <a:gridCol w="2926080">
                      <a:extLst>
                        <a:ext uri="{9D8B030D-6E8A-4147-A177-3AD203B41FA5}">
                          <a16:colId xmlns:a16="http://schemas.microsoft.com/office/drawing/2014/main" val="20000"/>
                        </a:ext>
                      </a:extLst>
                    </a:gridCol>
                    <a:gridCol w="2377440">
                      <a:extLst>
                        <a:ext uri="{9D8B030D-6E8A-4147-A177-3AD203B41FA5}">
                          <a16:colId xmlns:a16="http://schemas.microsoft.com/office/drawing/2014/main" val="20001"/>
                        </a:ext>
                      </a:extLst>
                    </a:gridCol>
                    <a:gridCol w="5943600">
                      <a:extLst>
                        <a:ext uri="{9D8B030D-6E8A-4147-A177-3AD203B41FA5}">
                          <a16:colId xmlns:a16="http://schemas.microsoft.com/office/drawing/2014/main" val="20002"/>
                        </a:ext>
                      </a:extLst>
                    </a:gridCol>
                  </a:tblGrid>
                  <a:tr h="365760">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Parameter</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solidFill>
                          <a:srgbClr val="000000"/>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Typical range</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solidFill>
                          <a:srgbClr val="000000"/>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Effect when increased</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solidFill>
                          <a:srgbClr val="000000"/>
                        </a:solidFill>
                      </a:tcPr>
                    </a:tc>
                    <a:extLst>
                      <a:ext uri="{0D108BD9-81ED-4DB2-BD59-A6C34878D82A}">
                        <a16:rowId xmlns:a16="http://schemas.microsoft.com/office/drawing/2014/main" val="10000"/>
                      </a:ext>
                    </a:extLst>
                  </a:tr>
                  <a:tr h="365760">
                    <a:tc>
                      <a:txBody>
                        <a:bodyPr/>
                        <a:lstStyle/>
                        <a:p>
                          <a:endParaRPr lang="tr-T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blipFill>
                          <a:blip r:embed="rId12"/>
                          <a:stretch>
                            <a:fillRect l="-208" t="-101667" r="-285000" b="-211667"/>
                          </a:stretch>
                        </a:blipFill>
                      </a:tcPr>
                    </a:tc>
                    <a:tc>
                      <a:txBody>
                        <a:bodyPr/>
                        <a:lstStyle/>
                        <a:p>
                          <a:pPr marL="0" indent="0">
                            <a:buNone/>
                          </a:pPr>
                          <a:r>
                            <a:rPr lang="en-US" sz="1200" dirty="0">
                              <a:solidFill>
                                <a:srgbClr val="222222"/>
                              </a:solidFill>
                              <a:latin typeface="Calibri" pitchFamily="34" charset="0"/>
                              <a:ea typeface="Calibri" pitchFamily="34" charset="-122"/>
                              <a:cs typeface="Calibri" pitchFamily="34" charset="-120"/>
                            </a:rPr>
                            <a:t>0.01 – 0.30</a:t>
                          </a:r>
                          <a:endParaRPr lang="en-US" sz="120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200" dirty="0">
                              <a:solidFill>
                                <a:srgbClr val="6E6E6E"/>
                              </a:solidFill>
                              <a:latin typeface="Calibri" pitchFamily="34" charset="0"/>
                              <a:ea typeface="Calibri" pitchFamily="34" charset="-122"/>
                              <a:cs typeface="Calibri" pitchFamily="34" charset="-120"/>
                            </a:rPr>
                            <a:t>stronger mitigation per step</a:t>
                          </a:r>
                          <a:endParaRPr lang="en-US" sz="120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extLst>
                      <a:ext uri="{0D108BD9-81ED-4DB2-BD59-A6C34878D82A}">
                        <a16:rowId xmlns:a16="http://schemas.microsoft.com/office/drawing/2014/main" val="10001"/>
                      </a:ext>
                    </a:extLst>
                  </a:tr>
                  <a:tr h="365760">
                    <a:tc>
                      <a:txBody>
                        <a:bodyPr/>
                        <a:lstStyle/>
                        <a:p>
                          <a:endParaRPr lang="tr-T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blipFill>
                          <a:blip r:embed="rId12"/>
                          <a:stretch>
                            <a:fillRect l="-208" t="-201667" r="-285000" b="-111667"/>
                          </a:stretch>
                        </a:blipFill>
                      </a:tcPr>
                    </a:tc>
                    <a:tc>
                      <a:txBody>
                        <a:bodyPr/>
                        <a:lstStyle/>
                        <a:p>
                          <a:pPr marL="0" indent="0">
                            <a:buNone/>
                          </a:pPr>
                          <a:r>
                            <a:rPr lang="en-US" sz="1200" dirty="0">
                              <a:solidFill>
                                <a:srgbClr val="222222"/>
                              </a:solidFill>
                              <a:latin typeface="Calibri" pitchFamily="34" charset="0"/>
                              <a:ea typeface="Calibri" pitchFamily="34" charset="-122"/>
                              <a:cs typeface="Calibri" pitchFamily="34" charset="-120"/>
                            </a:rPr>
                            <a:t>0.01 – 0.10 /min</a:t>
                          </a:r>
                          <a:endParaRPr lang="en-US" sz="120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200" dirty="0">
                              <a:solidFill>
                                <a:srgbClr val="6E6E6E"/>
                              </a:solidFill>
                              <a:latin typeface="Calibri" pitchFamily="34" charset="0"/>
                              <a:ea typeface="Calibri" pitchFamily="34" charset="-122"/>
                              <a:cs typeface="Calibri" pitchFamily="34" charset="-120"/>
                            </a:rPr>
                            <a:t>faster decay of effectiveness with delay</a:t>
                          </a:r>
                          <a:endParaRPr lang="en-US" sz="120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extLst>
                      <a:ext uri="{0D108BD9-81ED-4DB2-BD59-A6C34878D82A}">
                        <a16:rowId xmlns:a16="http://schemas.microsoft.com/office/drawing/2014/main" val="10002"/>
                      </a:ext>
                    </a:extLst>
                  </a:tr>
                  <a:tr h="365760">
                    <a:tc>
                      <a:txBody>
                        <a:bodyPr/>
                        <a:lstStyle/>
                        <a:p>
                          <a:endParaRPr lang="tr-T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blipFill>
                          <a:blip r:embed="rId12"/>
                          <a:stretch>
                            <a:fillRect l="-208" t="-301667" r="-285000" b="-11667"/>
                          </a:stretch>
                        </a:blipFill>
                      </a:tcPr>
                    </a:tc>
                    <a:tc>
                      <a:txBody>
                        <a:bodyPr/>
                        <a:lstStyle/>
                        <a:p>
                          <a:pPr marL="0" indent="0">
                            <a:buNone/>
                          </a:pPr>
                          <a:r>
                            <a:rPr lang="en-US" sz="1200" dirty="0">
                              <a:solidFill>
                                <a:srgbClr val="222222"/>
                              </a:solidFill>
                              <a:latin typeface="Calibri" pitchFamily="34" charset="0"/>
                              <a:ea typeface="Calibri" pitchFamily="34" charset="-122"/>
                              <a:cs typeface="Calibri" pitchFamily="34" charset="-120"/>
                            </a:rPr>
                            <a:t>0.5 – 5.0</a:t>
                          </a:r>
                          <a:endParaRPr lang="en-US" sz="120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200" dirty="0">
                              <a:solidFill>
                                <a:srgbClr val="6E6E6E"/>
                              </a:solidFill>
                              <a:latin typeface="Calibri" pitchFamily="34" charset="0"/>
                              <a:ea typeface="Calibri" pitchFamily="34" charset="-122"/>
                              <a:cs typeface="Calibri" pitchFamily="34" charset="-120"/>
                            </a:rPr>
                            <a:t>intense fires progressively harder to suppress</a:t>
                          </a:r>
                          <a:endParaRPr lang="en-US" sz="120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mc:Fallback>
      </mc:AlternateContent>
      <p:sp>
        <p:nvSpPr>
          <p:cNvPr id="14" name="Text 9"/>
          <p:cNvSpPr/>
          <p:nvPr/>
        </p:nvSpPr>
        <p:spPr>
          <a:xfrm>
            <a:off x="502920" y="5989320"/>
            <a:ext cx="11247120" cy="548640"/>
          </a:xfrm>
          <a:prstGeom prst="rect">
            <a:avLst/>
          </a:prstGeom>
          <a:noFill/>
          <a:ln/>
        </p:spPr>
        <p:txBody>
          <a:bodyPr wrap="square" lIns="0" tIns="0" rIns="0" bIns="0" rtlCol="0" anchor="t"/>
          <a:lstStyle/>
          <a:p>
            <a:pPr marL="0" indent="0">
              <a:lnSpc>
                <a:spcPct val="104000"/>
              </a:lnSpc>
              <a:buNone/>
            </a:pPr>
            <a:r>
              <a:rPr lang="en-US" sz="1200" i="1" dirty="0">
                <a:solidFill>
                  <a:srgbClr val="6E6E6E"/>
                </a:solidFill>
                <a:latin typeface="Calibri" pitchFamily="34" charset="0"/>
                <a:ea typeface="Calibri" pitchFamily="34" charset="-122"/>
                <a:cs typeface="Calibri" pitchFamily="34" charset="-120"/>
              </a:rPr>
              <a:t>Each factor enters multiplicatively: vanishing capacity, availability, or reachability annuls the mitigation; intensity attenuates it; the product stays bounded for discrete-time simulation. Calibration: historical response data, doctrine constraints, or structured sensitivity analysis.</a:t>
            </a:r>
            <a:endParaRPr lang="en-US" sz="12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237744"/>
            <a:ext cx="10058400" cy="292608"/>
          </a:xfrm>
          <a:prstGeom prst="rect">
            <a:avLst/>
          </a:prstGeom>
          <a:noFill/>
          <a:ln/>
        </p:spPr>
        <p:txBody>
          <a:bodyPr wrap="square" lIns="0" tIns="0" rIns="0" bIns="0" rtlCol="0" anchor="ctr"/>
          <a:lstStyle/>
          <a:p>
            <a:pPr marL="0" indent="0">
              <a:buNone/>
            </a:pPr>
            <a:r>
              <a:rPr lang="en-US" sz="1300" b="1" kern="0" spc="200" dirty="0">
                <a:solidFill>
                  <a:srgbClr val="E31836"/>
                </a:solidFill>
                <a:latin typeface="Calibri" pitchFamily="34" charset="0"/>
                <a:ea typeface="Calibri" pitchFamily="34" charset="-122"/>
                <a:cs typeface="Calibri" pitchFamily="34" charset="-120"/>
              </a:rPr>
              <a:t>BACKUP · APPENDIX C</a:t>
            </a:r>
            <a:endParaRPr lang="en-US" sz="1300" dirty="0"/>
          </a:p>
        </p:txBody>
      </p:sp>
      <p:sp>
        <p:nvSpPr>
          <p:cNvPr id="3" name="Text 1"/>
          <p:cNvSpPr/>
          <p:nvPr/>
        </p:nvSpPr>
        <p:spPr>
          <a:xfrm>
            <a:off x="502920" y="493776"/>
            <a:ext cx="11247120" cy="621792"/>
          </a:xfrm>
          <a:prstGeom prst="rect">
            <a:avLst/>
          </a:prstGeom>
          <a:noFill/>
          <a:ln/>
        </p:spPr>
        <p:txBody>
          <a:bodyPr wrap="square" lIns="0" tIns="0" rIns="0" bIns="0" rtlCol="0" anchor="ctr"/>
          <a:lstStyle/>
          <a:p>
            <a:pPr marL="0" indent="0">
              <a:buNone/>
            </a:pPr>
            <a:r>
              <a:rPr lang="en-US" sz="2500" b="1" dirty="0">
                <a:solidFill>
                  <a:srgbClr val="000000"/>
                </a:solidFill>
                <a:latin typeface="Cambria" pitchFamily="34" charset="0"/>
                <a:ea typeface="Cambria" pitchFamily="34" charset="-122"/>
                <a:cs typeface="Cambria" pitchFamily="34" charset="-120"/>
              </a:rPr>
              <a:t>Fire Intensity Proxy : Normalized, Bounded, Interpretable</a:t>
            </a:r>
            <a:endParaRPr lang="en-US" sz="2500" dirty="0"/>
          </a:p>
        </p:txBody>
      </p:sp>
      <p:pic>
        <p:nvPicPr>
          <p:cNvPr id="4" name="Image 0" descr="/tmp/thx/deck/figs/metu_emblem.png"/>
          <p:cNvPicPr>
            <a:picLocks noChangeAspect="1"/>
          </p:cNvPicPr>
          <p:nvPr/>
        </p:nvPicPr>
        <p:blipFill>
          <a:blip r:embed="rId3"/>
          <a:stretch>
            <a:fillRect/>
          </a:stretch>
        </p:blipFill>
        <p:spPr>
          <a:xfrm>
            <a:off x="10716768" y="184607"/>
            <a:ext cx="475488" cy="398882"/>
          </a:xfrm>
          <a:prstGeom prst="rect">
            <a:avLst/>
          </a:prstGeom>
        </p:spPr>
      </p:pic>
      <p:pic>
        <p:nvPicPr>
          <p:cNvPr id="5" name="Image 1" descr="/tmp/thx/deck/figs/eee_logo.png"/>
          <p:cNvPicPr>
            <a:picLocks noChangeAspect="1"/>
          </p:cNvPicPr>
          <p:nvPr/>
        </p:nvPicPr>
        <p:blipFill>
          <a:blip r:embed="rId4"/>
          <a:stretch>
            <a:fillRect/>
          </a:stretch>
        </p:blipFill>
        <p:spPr>
          <a:xfrm>
            <a:off x="11265408" y="186217"/>
            <a:ext cx="475488" cy="395662"/>
          </a:xfrm>
          <a:prstGeom prst="rect">
            <a:avLst/>
          </a:prstGeom>
        </p:spPr>
      </p:pic>
      <p:sp>
        <p:nvSpPr>
          <p:cNvPr id="6" name="Text 2"/>
          <p:cNvSpPr/>
          <p:nvPr/>
        </p:nvSpPr>
        <p:spPr>
          <a:xfrm>
            <a:off x="502920" y="1261872"/>
            <a:ext cx="11247120" cy="457200"/>
          </a:xfrm>
          <a:prstGeom prst="rect">
            <a:avLst/>
          </a:prstGeom>
          <a:noFill/>
          <a:ln/>
        </p:spPr>
        <p:txBody>
          <a:bodyPr wrap="square" lIns="0" tIns="0" rIns="0" bIns="0" rtlCol="0" anchor="t"/>
          <a:lstStyle/>
          <a:p>
            <a:pPr marL="0" indent="0">
              <a:lnSpc>
                <a:spcPct val="104000"/>
              </a:lnSpc>
              <a:buNone/>
            </a:pPr>
            <a:r>
              <a:rPr lang="en-US" sz="1250" b="1" dirty="0">
                <a:solidFill>
                  <a:srgbClr val="000000"/>
                </a:solidFill>
                <a:latin typeface="Calibri" pitchFamily="34" charset="0"/>
                <a:ea typeface="Calibri" pitchFamily="34" charset="-122"/>
                <a:cs typeface="Calibri" pitchFamily="34" charset="-120"/>
              </a:rPr>
              <a:t>A bounded indicator of local combustion strength — not flame temperature. </a:t>
            </a:r>
            <a:r>
              <a:rPr lang="en-US" sz="1250" dirty="0">
                <a:solidFill>
                  <a:srgbClr val="222222"/>
                </a:solidFill>
                <a:latin typeface="Calibri" pitchFamily="34" charset="0"/>
                <a:ea typeface="Calibri" pitchFamily="34" charset="-122"/>
                <a:cs typeface="Calibri" pitchFamily="34" charset="-120"/>
              </a:rPr>
              <a:t>Used for suppression resistance, risk prioritization, decision-layer features, and visualization.</a:t>
            </a:r>
            <a:endParaRPr lang="en-US" sz="1250" dirty="0"/>
          </a:p>
        </p:txBody>
      </p:sp>
      <mc:AlternateContent xmlns:mc="http://schemas.openxmlformats.org/markup-compatibility/2006" xmlns:a14="http://schemas.microsoft.com/office/drawing/2010/main">
        <mc:Choice Requires="a14">
          <p:sp>
            <p:nvSpPr>
              <p:cNvPr id="7" name="Text 3"/>
              <p:cNvSpPr/>
              <p:nvPr/>
            </p:nvSpPr>
            <p:spPr>
              <a:xfrm>
                <a:off x="502920" y="1783080"/>
                <a:ext cx="3566160" cy="640080"/>
              </a:xfrm>
              <a:prstGeom prst="rect">
                <a:avLst/>
              </a:prstGeom>
              <a:noFill/>
              <a:ln/>
            </p:spPr>
            <p:txBody>
              <a:bodyPr wrap="square" lIns="0" tIns="0" rIns="0" bIns="0" rtlCol="0" anchor="ctr"/>
              <a:lstStyle/>
              <a:p>
                <a:pPr marL="0" indent="0" algn="ctr">
                  <a:buNone/>
                </a:pPr>
                <a14:m>
                  <m:oMathPara xmlns:m="http://schemas.openxmlformats.org/officeDocument/2006/math">
                    <m:oMath>
                      <m:sSub>
                        <m:sSubPr>
                          <m:ctrlPr>
                            <a:rPr lang="en-US" sz="1400" i="1">
                              <a:latin typeface="Cambria Math" panose="02040503050406030204" pitchFamily="18" charset="0"/>
                            </a:rPr>
                          </m:ctrlPr>
                        </m:sSubPr>
                        <m:e>
                          <m:acc>
                            <m:accPr>
                              <m:chr m:val="̃"/>
                              <m:ctrlPr>
                                <a:rPr lang="en-US" sz="1400">
                                  <a:latin typeface="Cambria Math"/>
                                </a:rPr>
                              </m:ctrlPr>
                            </m:accPr>
                            <m:e>
                              <m:r>
                                <a:rPr lang="en-US" sz="1400">
                                  <a:latin typeface="Cambria Math"/>
                                </a:rPr>
                                <m:t>𝐹</m:t>
                              </m:r>
                            </m:e>
                          </m:acc>
                        </m:e>
                        <m:sub>
                          <m:r>
                            <a:rPr lang="en-US" sz="1400">
                              <a:latin typeface="Cambria Math"/>
                            </a:rPr>
                            <m:t>𝑘</m:t>
                          </m:r>
                        </m:sub>
                      </m:sSub>
                      <m:d>
                        <m:dPr>
                          <m:ctrlPr>
                            <a:rPr lang="en-US" sz="1400">
                              <a:latin typeface="Cambria Math"/>
                            </a:rPr>
                          </m:ctrlPr>
                        </m:dPr>
                        <m:e>
                          <m:r>
                            <a:rPr lang="en-US" sz="1400">
                              <a:latin typeface="Cambria Math"/>
                            </a:rPr>
                            <m:t>𝑥</m:t>
                          </m:r>
                          <m:r>
                            <a:rPr lang="en-US" sz="1400">
                              <a:latin typeface="Cambria Math"/>
                            </a:rPr>
                            <m:t>,</m:t>
                          </m:r>
                          <m:r>
                            <a:rPr lang="en-US" sz="1400">
                              <a:latin typeface="Cambria Math"/>
                            </a:rPr>
                            <m:t>𝑦</m:t>
                          </m:r>
                        </m:e>
                      </m:d>
                      <m:r>
                        <m:rPr>
                          <m:aln/>
                        </m:rPr>
                        <a:rPr lang="en-US" sz="1400">
                          <a:latin typeface="Cambria Math"/>
                        </a:rPr>
                        <m:t>=</m:t>
                      </m:r>
                      <m:f>
                        <m:fPr>
                          <m:ctrlPr>
                            <a:rPr lang="en-US" sz="1400" i="1">
                              <a:latin typeface="Cambria Math" panose="02040503050406030204" pitchFamily="18" charset="0"/>
                            </a:rPr>
                          </m:ctrlPr>
                        </m:fPr>
                        <m:num>
                          <m:sSub>
                            <m:sSubPr>
                              <m:ctrlPr>
                                <a:rPr lang="en-US" sz="1400">
                                  <a:latin typeface="Cambria Math"/>
                                </a:rPr>
                              </m:ctrlPr>
                            </m:sSubPr>
                            <m:e>
                              <m:r>
                                <a:rPr lang="en-US" sz="1400">
                                  <a:latin typeface="Cambria Math"/>
                                </a:rPr>
                                <m:t>𝐹</m:t>
                              </m:r>
                            </m:e>
                            <m:sub>
                              <m:r>
                                <a:rPr lang="en-US" sz="1400">
                                  <a:latin typeface="Cambria Math"/>
                                </a:rPr>
                                <m:t>𝑙𝑜𝑎𝑑</m:t>
                              </m:r>
                              <m:r>
                                <a:rPr lang="en-US" sz="1400">
                                  <a:latin typeface="Cambria Math"/>
                                </a:rPr>
                                <m:t>,</m:t>
                              </m:r>
                              <m:r>
                                <a:rPr lang="en-US" sz="1400">
                                  <a:latin typeface="Cambria Math"/>
                                </a:rPr>
                                <m:t>𝑘</m:t>
                              </m:r>
                            </m:sub>
                          </m:sSub>
                          <m:d>
                            <m:dPr>
                              <m:ctrlPr>
                                <a:rPr lang="en-US" sz="1400">
                                  <a:latin typeface="Cambria Math"/>
                                </a:rPr>
                              </m:ctrlPr>
                            </m:dPr>
                            <m:e>
                              <m:r>
                                <a:rPr lang="en-US" sz="1400">
                                  <a:latin typeface="Cambria Math"/>
                                </a:rPr>
                                <m:t>𝑥</m:t>
                              </m:r>
                              <m:r>
                                <a:rPr lang="en-US" sz="1400">
                                  <a:latin typeface="Cambria Math"/>
                                </a:rPr>
                                <m:t>,</m:t>
                              </m:r>
                              <m:r>
                                <a:rPr lang="en-US" sz="1400">
                                  <a:latin typeface="Cambria Math"/>
                                </a:rPr>
                                <m:t>𝑦</m:t>
                              </m:r>
                            </m:e>
                          </m:d>
                        </m:num>
                        <m:den>
                          <m:sSub>
                            <m:sSubPr>
                              <m:ctrlPr>
                                <a:rPr lang="en-US" sz="1400">
                                  <a:latin typeface="Cambria Math"/>
                                </a:rPr>
                              </m:ctrlPr>
                            </m:sSubPr>
                            <m:e>
                              <m:r>
                                <a:rPr lang="en-US" sz="1400">
                                  <a:latin typeface="Cambria Math"/>
                                </a:rPr>
                                <m:t>𝐹</m:t>
                              </m:r>
                            </m:e>
                            <m:sub>
                              <m:r>
                                <a:rPr lang="en-US" sz="1400">
                                  <a:latin typeface="Cambria Math"/>
                                </a:rPr>
                                <m:t>𝑙𝑜𝑎𝑑</m:t>
                              </m:r>
                              <m:r>
                                <a:rPr lang="en-US" sz="1400">
                                  <a:latin typeface="Cambria Math"/>
                                </a:rPr>
                                <m:t>,</m:t>
                              </m:r>
                              <m:func>
                                <m:funcPr>
                                  <m:ctrlPr>
                                    <a:rPr lang="en-US" sz="1400">
                                      <a:latin typeface="Cambria Math"/>
                                    </a:rPr>
                                  </m:ctrlPr>
                                </m:funcPr>
                                <m:fName>
                                  <m:r>
                                    <m:rPr>
                                      <m:sty m:val="p"/>
                                    </m:rPr>
                                    <a:rPr lang="en-US" sz="1400">
                                      <a:latin typeface="Cambria Math"/>
                                    </a:rPr>
                                    <m:t>max</m:t>
                                  </m:r>
                                </m:fName>
                                <m:e/>
                              </m:func>
                            </m:sub>
                          </m:sSub>
                        </m:den>
                      </m:f>
                    </m:oMath>
                  </m:oMathPara>
                </a14:m>
                <a:endParaRPr lang="en-US" sz="1300" dirty="0"/>
              </a:p>
            </p:txBody>
          </p:sp>
        </mc:Choice>
        <mc:Fallback xmlns="">
          <p:sp>
            <p:nvSpPr>
              <p:cNvPr id="7" name="Text 3"/>
              <p:cNvSpPr>
                <a:spLocks noRot="1" noChangeAspect="1" noMove="1" noResize="1" noEditPoints="1" noAdjustHandles="1" noChangeArrowheads="1" noChangeShapeType="1" noTextEdit="1"/>
              </p:cNvSpPr>
              <p:nvPr/>
            </p:nvSpPr>
            <p:spPr>
              <a:xfrm>
                <a:off x="502920" y="1783080"/>
                <a:ext cx="3566160" cy="640080"/>
              </a:xfrm>
              <a:prstGeom prst="rect">
                <a:avLst/>
              </a:prstGeom>
              <a:blipFill>
                <a:blip r:embed="rId5"/>
                <a:stretch>
                  <a:fillRect/>
                </a:stretch>
              </a:blipFill>
              <a:ln/>
            </p:spPr>
            <p:txBody>
              <a:bodyPr/>
              <a:lstStyle/>
              <a:p>
                <a:r>
                  <a:rPr lang="tr-TR">
                    <a:noFill/>
                  </a:rPr>
                  <a:t/>
                </a:r>
              </a:p>
            </p:txBody>
          </p:sp>
        </mc:Fallback>
      </mc:AlternateContent>
      <mc:AlternateContent xmlns:mc="http://schemas.openxmlformats.org/markup-compatibility/2006" xmlns:a14="http://schemas.microsoft.com/office/drawing/2010/main">
        <mc:Choice Requires="a14">
          <p:sp>
            <p:nvSpPr>
              <p:cNvPr id="8" name="Text 4"/>
              <p:cNvSpPr/>
              <p:nvPr/>
            </p:nvSpPr>
            <p:spPr>
              <a:xfrm>
                <a:off x="4206240" y="1783080"/>
                <a:ext cx="3566160" cy="640080"/>
              </a:xfrm>
              <a:prstGeom prst="rect">
                <a:avLst/>
              </a:prstGeom>
              <a:noFill/>
              <a:ln/>
            </p:spPr>
            <p:txBody>
              <a:bodyPr wrap="square" lIns="0" tIns="0" rIns="0" bIns="0" rtlCol="0" anchor="ctr"/>
              <a:lstStyle/>
              <a:p>
                <a:pPr marL="0" indent="0" algn="ctr">
                  <a:buNone/>
                </a:pPr>
                <a14:m>
                  <m:oMathPara xmlns:m="http://schemas.openxmlformats.org/officeDocument/2006/math">
                    <m:oMath>
                      <m:sSub>
                        <m:sSubPr>
                          <m:ctrlPr>
                            <a:rPr lang="en-US" sz="1400" i="1">
                              <a:latin typeface="Cambria Math" panose="02040503050406030204" pitchFamily="18" charset="0"/>
                            </a:rPr>
                          </m:ctrlPr>
                        </m:sSubPr>
                        <m:e>
                          <m:acc>
                            <m:accPr>
                              <m:chr m:val="̃"/>
                              <m:ctrlPr>
                                <a:rPr lang="en-US" sz="1400">
                                  <a:latin typeface="Cambria Math"/>
                                </a:rPr>
                              </m:ctrlPr>
                            </m:accPr>
                            <m:e>
                              <m:r>
                                <a:rPr lang="en-US" sz="1400">
                                  <a:latin typeface="Cambria Math"/>
                                </a:rPr>
                                <m:t>𝑊</m:t>
                              </m:r>
                            </m:e>
                          </m:acc>
                        </m:e>
                        <m:sub>
                          <m:r>
                            <a:rPr lang="en-US" sz="1400">
                              <a:latin typeface="Cambria Math"/>
                            </a:rPr>
                            <m:t>𝑘</m:t>
                          </m:r>
                        </m:sub>
                      </m:sSub>
                      <m:d>
                        <m:dPr>
                          <m:ctrlPr>
                            <a:rPr lang="en-US" sz="1400">
                              <a:latin typeface="Cambria Math"/>
                            </a:rPr>
                          </m:ctrlPr>
                        </m:dPr>
                        <m:e>
                          <m:r>
                            <a:rPr lang="en-US" sz="1400">
                              <a:latin typeface="Cambria Math"/>
                            </a:rPr>
                            <m:t>𝑥</m:t>
                          </m:r>
                          <m:r>
                            <a:rPr lang="en-US" sz="1400">
                              <a:latin typeface="Cambria Math"/>
                            </a:rPr>
                            <m:t>,</m:t>
                          </m:r>
                          <m:r>
                            <a:rPr lang="en-US" sz="1400">
                              <a:latin typeface="Cambria Math"/>
                            </a:rPr>
                            <m:t>𝑦</m:t>
                          </m:r>
                        </m:e>
                      </m:d>
                      <m:r>
                        <m:rPr>
                          <m:aln/>
                        </m:rPr>
                        <a:rPr lang="en-US" sz="1400">
                          <a:latin typeface="Cambria Math"/>
                        </a:rPr>
                        <m:t>=</m:t>
                      </m:r>
                      <m:f>
                        <m:fPr>
                          <m:ctrlPr>
                            <a:rPr lang="en-US" sz="1400" i="1">
                              <a:latin typeface="Cambria Math" panose="02040503050406030204" pitchFamily="18" charset="0"/>
                            </a:rPr>
                          </m:ctrlPr>
                        </m:fPr>
                        <m:num>
                          <m:sSub>
                            <m:sSubPr>
                              <m:ctrlPr>
                                <a:rPr lang="en-US" sz="1400">
                                  <a:latin typeface="Cambria Math"/>
                                </a:rPr>
                              </m:ctrlPr>
                            </m:sSubPr>
                            <m:e>
                              <m:r>
                                <a:rPr lang="en-US" sz="1400">
                                  <a:latin typeface="Cambria Math"/>
                                </a:rPr>
                                <m:t>𝑊</m:t>
                              </m:r>
                            </m:e>
                            <m:sub>
                              <m:r>
                                <a:rPr lang="en-US" sz="1400">
                                  <a:latin typeface="Cambria Math"/>
                                </a:rPr>
                                <m:t>𝑤𝑠</m:t>
                              </m:r>
                              <m:r>
                                <a:rPr lang="en-US" sz="1400">
                                  <a:latin typeface="Cambria Math"/>
                                </a:rPr>
                                <m:t>,</m:t>
                              </m:r>
                              <m:r>
                                <a:rPr lang="en-US" sz="1400">
                                  <a:latin typeface="Cambria Math"/>
                                </a:rPr>
                                <m:t>𝑘</m:t>
                              </m:r>
                            </m:sub>
                          </m:sSub>
                          <m:d>
                            <m:dPr>
                              <m:ctrlPr>
                                <a:rPr lang="en-US" sz="1400">
                                  <a:latin typeface="Cambria Math"/>
                                </a:rPr>
                              </m:ctrlPr>
                            </m:dPr>
                            <m:e>
                              <m:r>
                                <a:rPr lang="en-US" sz="1400">
                                  <a:latin typeface="Cambria Math"/>
                                </a:rPr>
                                <m:t>𝑥</m:t>
                              </m:r>
                              <m:r>
                                <a:rPr lang="en-US" sz="1400">
                                  <a:latin typeface="Cambria Math"/>
                                </a:rPr>
                                <m:t>,</m:t>
                              </m:r>
                              <m:r>
                                <a:rPr lang="en-US" sz="1400">
                                  <a:latin typeface="Cambria Math"/>
                                </a:rPr>
                                <m:t>𝑦</m:t>
                              </m:r>
                            </m:e>
                          </m:d>
                        </m:num>
                        <m:den>
                          <m:sSub>
                            <m:sSubPr>
                              <m:ctrlPr>
                                <a:rPr lang="en-US" sz="1400">
                                  <a:latin typeface="Cambria Math"/>
                                </a:rPr>
                              </m:ctrlPr>
                            </m:sSubPr>
                            <m:e>
                              <m:r>
                                <a:rPr lang="en-US" sz="1400">
                                  <a:latin typeface="Cambria Math"/>
                                </a:rPr>
                                <m:t>𝑊</m:t>
                              </m:r>
                            </m:e>
                            <m:sub>
                              <m:r>
                                <a:rPr lang="en-US" sz="1400">
                                  <a:latin typeface="Cambria Math"/>
                                </a:rPr>
                                <m:t>𝑤𝑠</m:t>
                              </m:r>
                              <m:r>
                                <a:rPr lang="en-US" sz="1400">
                                  <a:latin typeface="Cambria Math"/>
                                </a:rPr>
                                <m:t>,</m:t>
                              </m:r>
                              <m:func>
                                <m:funcPr>
                                  <m:ctrlPr>
                                    <a:rPr lang="en-US" sz="1400">
                                      <a:latin typeface="Cambria Math"/>
                                    </a:rPr>
                                  </m:ctrlPr>
                                </m:funcPr>
                                <m:fName>
                                  <m:r>
                                    <m:rPr>
                                      <m:sty m:val="p"/>
                                    </m:rPr>
                                    <a:rPr lang="en-US" sz="1400">
                                      <a:latin typeface="Cambria Math"/>
                                    </a:rPr>
                                    <m:t>max</m:t>
                                  </m:r>
                                </m:fName>
                                <m:e/>
                              </m:func>
                            </m:sub>
                          </m:sSub>
                        </m:den>
                      </m:f>
                    </m:oMath>
                  </m:oMathPara>
                </a14:m>
                <a:endParaRPr lang="en-US" sz="1300" dirty="0"/>
              </a:p>
            </p:txBody>
          </p:sp>
        </mc:Choice>
        <mc:Fallback xmlns="">
          <p:sp>
            <p:nvSpPr>
              <p:cNvPr id="8" name="Text 4"/>
              <p:cNvSpPr>
                <a:spLocks noRot="1" noChangeAspect="1" noMove="1" noResize="1" noEditPoints="1" noAdjustHandles="1" noChangeArrowheads="1" noChangeShapeType="1" noTextEdit="1"/>
              </p:cNvSpPr>
              <p:nvPr/>
            </p:nvSpPr>
            <p:spPr>
              <a:xfrm>
                <a:off x="4206240" y="1783080"/>
                <a:ext cx="3566160" cy="640080"/>
              </a:xfrm>
              <a:prstGeom prst="rect">
                <a:avLst/>
              </a:prstGeom>
              <a:blipFill>
                <a:blip r:embed="rId6"/>
                <a:stretch>
                  <a:fillRect/>
                </a:stretch>
              </a:blipFill>
              <a:ln/>
            </p:spPr>
            <p:txBody>
              <a:bodyPr/>
              <a:lstStyle/>
              <a:p>
                <a:r>
                  <a:rPr lang="tr-TR">
                    <a:noFill/>
                  </a:rPr>
                  <a:t/>
                </a:r>
              </a:p>
            </p:txBody>
          </p:sp>
        </mc:Fallback>
      </mc:AlternateContent>
      <mc:AlternateContent xmlns:mc="http://schemas.openxmlformats.org/markup-compatibility/2006" xmlns:a14="http://schemas.microsoft.com/office/drawing/2010/main">
        <mc:Choice Requires="a14">
          <p:sp>
            <p:nvSpPr>
              <p:cNvPr id="9" name="Text 5"/>
              <p:cNvSpPr/>
              <p:nvPr/>
            </p:nvSpPr>
            <p:spPr>
              <a:xfrm>
                <a:off x="7909560" y="1783080"/>
                <a:ext cx="3566160" cy="640080"/>
              </a:xfrm>
              <a:prstGeom prst="rect">
                <a:avLst/>
              </a:prstGeom>
              <a:noFill/>
              <a:ln/>
            </p:spPr>
            <p:txBody>
              <a:bodyPr wrap="square" lIns="0" tIns="0" rIns="0" bIns="0" rtlCol="0" anchor="ctr"/>
              <a:lstStyle/>
              <a:p>
                <a:pPr marL="0" indent="0" algn="ctr">
                  <a:buNone/>
                </a:pPr>
                <a14:m>
                  <m:oMathPara xmlns:m="http://schemas.openxmlformats.org/officeDocument/2006/math">
                    <m:oMath>
                      <m:acc>
                        <m:accPr>
                          <m:chr m:val="̃"/>
                          <m:ctrlPr>
                            <a:rPr lang="en-US" sz="1400">
                              <a:latin typeface="Cambria Math"/>
                            </a:rPr>
                          </m:ctrlPr>
                        </m:accPr>
                        <m:e>
                          <m:r>
                            <a:rPr lang="en-US" sz="1400">
                              <a:latin typeface="Cambria Math"/>
                            </a:rPr>
                            <m:t>𝑆</m:t>
                          </m:r>
                        </m:e>
                      </m:acc>
                      <m:d>
                        <m:dPr>
                          <m:ctrlPr>
                            <a:rPr lang="en-US" sz="1400">
                              <a:latin typeface="Cambria Math"/>
                            </a:rPr>
                          </m:ctrlPr>
                        </m:dPr>
                        <m:e>
                          <m:r>
                            <a:rPr lang="en-US" sz="1400">
                              <a:latin typeface="Cambria Math"/>
                            </a:rPr>
                            <m:t>𝑥</m:t>
                          </m:r>
                          <m:r>
                            <a:rPr lang="en-US" sz="1400">
                              <a:latin typeface="Cambria Math"/>
                            </a:rPr>
                            <m:t>,</m:t>
                          </m:r>
                          <m:r>
                            <a:rPr lang="en-US" sz="1400">
                              <a:latin typeface="Cambria Math"/>
                            </a:rPr>
                            <m:t>𝑦</m:t>
                          </m:r>
                        </m:e>
                      </m:d>
                      <m:r>
                        <m:rPr>
                          <m:aln/>
                        </m:rPr>
                        <a:rPr lang="en-US" sz="1400">
                          <a:latin typeface="Cambria Math"/>
                        </a:rPr>
                        <m:t>=</m:t>
                      </m:r>
                      <m:f>
                        <m:fPr>
                          <m:ctrlPr>
                            <a:rPr lang="en-US" sz="1400" i="1">
                              <a:latin typeface="Cambria Math" panose="02040503050406030204" pitchFamily="18" charset="0"/>
                            </a:rPr>
                          </m:ctrlPr>
                        </m:fPr>
                        <m:num>
                          <m:func>
                            <m:funcPr>
                              <m:ctrlPr>
                                <a:rPr lang="en-US" sz="1400">
                                  <a:latin typeface="Cambria Math"/>
                                </a:rPr>
                              </m:ctrlPr>
                            </m:funcPr>
                            <m:fName>
                              <m:r>
                                <m:rPr>
                                  <m:sty m:val="p"/>
                                </m:rPr>
                                <a:rPr lang="en-US" sz="1400">
                                  <a:latin typeface="Cambria Math"/>
                                </a:rPr>
                                <m:t>tan</m:t>
                              </m:r>
                            </m:fName>
                            <m:e>
                              <m:d>
                                <m:dPr>
                                  <m:ctrlPr>
                                    <a:rPr lang="en-US" sz="1400" i="1">
                                      <a:latin typeface="Cambria Math" panose="02040503050406030204" pitchFamily="18" charset="0"/>
                                    </a:rPr>
                                  </m:ctrlPr>
                                </m:dPr>
                                <m:e>
                                  <m:sSub>
                                    <m:sSubPr>
                                      <m:ctrlPr>
                                        <a:rPr lang="en-US" sz="1400">
                                          <a:latin typeface="Cambria Math"/>
                                        </a:rPr>
                                      </m:ctrlPr>
                                    </m:sSubPr>
                                    <m:e>
                                      <m:r>
                                        <a:rPr lang="en-US" sz="1400">
                                          <a:latin typeface="Cambria Math"/>
                                        </a:rPr>
                                        <m:t>𝐺</m:t>
                                      </m:r>
                                    </m:e>
                                    <m:sub>
                                      <m:r>
                                        <a:rPr lang="en-US" sz="1400">
                                          <a:latin typeface="Cambria Math"/>
                                        </a:rPr>
                                        <m:t>𝑠𝑙𝑜𝑝𝑒</m:t>
                                      </m:r>
                                    </m:sub>
                                  </m:sSub>
                                  <m:d>
                                    <m:dPr>
                                      <m:ctrlPr>
                                        <a:rPr lang="en-US" sz="1400">
                                          <a:latin typeface="Cambria Math"/>
                                        </a:rPr>
                                      </m:ctrlPr>
                                    </m:dPr>
                                    <m:e>
                                      <m:r>
                                        <a:rPr lang="en-US" sz="1400">
                                          <a:latin typeface="Cambria Math"/>
                                        </a:rPr>
                                        <m:t>𝑥</m:t>
                                      </m:r>
                                      <m:r>
                                        <a:rPr lang="en-US" sz="1400">
                                          <a:latin typeface="Cambria Math"/>
                                        </a:rPr>
                                        <m:t>,</m:t>
                                      </m:r>
                                      <m:r>
                                        <a:rPr lang="en-US" sz="1400">
                                          <a:latin typeface="Cambria Math"/>
                                        </a:rPr>
                                        <m:t>𝑦</m:t>
                                      </m:r>
                                    </m:e>
                                  </m:d>
                                </m:e>
                              </m:d>
                            </m:e>
                          </m:func>
                        </m:num>
                        <m:den>
                          <m:func>
                            <m:funcPr>
                              <m:ctrlPr>
                                <a:rPr lang="en-US" sz="1400">
                                  <a:latin typeface="Cambria Math"/>
                                </a:rPr>
                              </m:ctrlPr>
                            </m:funcPr>
                            <m:fName>
                              <m:r>
                                <m:rPr>
                                  <m:sty m:val="p"/>
                                </m:rPr>
                                <a:rPr lang="en-US" sz="1400">
                                  <a:latin typeface="Cambria Math"/>
                                </a:rPr>
                                <m:t>tan</m:t>
                              </m:r>
                            </m:fName>
                            <m:e>
                              <m:d>
                                <m:dPr>
                                  <m:ctrlPr>
                                    <a:rPr lang="en-US" sz="1400" i="1">
                                      <a:latin typeface="Cambria Math" panose="02040503050406030204" pitchFamily="18" charset="0"/>
                                    </a:rPr>
                                  </m:ctrlPr>
                                </m:dPr>
                                <m:e>
                                  <m:sSub>
                                    <m:sSubPr>
                                      <m:ctrlPr>
                                        <a:rPr lang="en-US" sz="1400">
                                          <a:latin typeface="Cambria Math"/>
                                        </a:rPr>
                                      </m:ctrlPr>
                                    </m:sSubPr>
                                    <m:e>
                                      <m:r>
                                        <a:rPr lang="en-US" sz="1400">
                                          <a:latin typeface="Cambria Math"/>
                                        </a:rPr>
                                        <m:t>𝐺</m:t>
                                      </m:r>
                                    </m:e>
                                    <m:sub>
                                      <m:r>
                                        <a:rPr lang="en-US" sz="1400">
                                          <a:latin typeface="Cambria Math"/>
                                        </a:rPr>
                                        <m:t>𝑠𝑙𝑜𝑝𝑒</m:t>
                                      </m:r>
                                      <m:r>
                                        <a:rPr lang="en-US" sz="1400">
                                          <a:latin typeface="Cambria Math"/>
                                        </a:rPr>
                                        <m:t>,</m:t>
                                      </m:r>
                                      <m:func>
                                        <m:funcPr>
                                          <m:ctrlPr>
                                            <a:rPr lang="en-US" sz="1400">
                                              <a:latin typeface="Cambria Math"/>
                                            </a:rPr>
                                          </m:ctrlPr>
                                        </m:funcPr>
                                        <m:fName>
                                          <m:r>
                                            <m:rPr>
                                              <m:sty m:val="p"/>
                                            </m:rPr>
                                            <a:rPr lang="en-US" sz="1400">
                                              <a:latin typeface="Cambria Math"/>
                                            </a:rPr>
                                            <m:t>max</m:t>
                                          </m:r>
                                        </m:fName>
                                        <m:e/>
                                      </m:func>
                                    </m:sub>
                                  </m:sSub>
                                </m:e>
                              </m:d>
                            </m:e>
                          </m:func>
                        </m:den>
                      </m:f>
                    </m:oMath>
                  </m:oMathPara>
                </a14:m>
                <a:endParaRPr lang="en-US" sz="1300" dirty="0"/>
              </a:p>
            </p:txBody>
          </p:sp>
        </mc:Choice>
        <mc:Fallback xmlns="">
          <p:sp>
            <p:nvSpPr>
              <p:cNvPr id="9" name="Text 5"/>
              <p:cNvSpPr>
                <a:spLocks noRot="1" noChangeAspect="1" noMove="1" noResize="1" noEditPoints="1" noAdjustHandles="1" noChangeArrowheads="1" noChangeShapeType="1" noTextEdit="1"/>
              </p:cNvSpPr>
              <p:nvPr/>
            </p:nvSpPr>
            <p:spPr>
              <a:xfrm>
                <a:off x="7909560" y="1783080"/>
                <a:ext cx="3566160" cy="640080"/>
              </a:xfrm>
              <a:prstGeom prst="rect">
                <a:avLst/>
              </a:prstGeom>
              <a:blipFill>
                <a:blip r:embed="rId7"/>
                <a:stretch>
                  <a:fillRect t="-5714" b="-8571"/>
                </a:stretch>
              </a:blipFill>
              <a:ln/>
            </p:spPr>
            <p:txBody>
              <a:bodyPr/>
              <a:lstStyle/>
              <a:p>
                <a:r>
                  <a:rPr lang="tr-TR">
                    <a:noFill/>
                  </a:rPr>
                  <a:t/>
                </a:r>
              </a:p>
            </p:txBody>
          </p:sp>
        </mc:Fallback>
      </mc:AlternateContent>
      <mc:AlternateContent xmlns:mc="http://schemas.openxmlformats.org/markup-compatibility/2006" xmlns:a14="http://schemas.microsoft.com/office/drawing/2010/main">
        <mc:Choice Requires="a14">
          <p:sp>
            <p:nvSpPr>
              <p:cNvPr id="10" name="Text 6"/>
              <p:cNvSpPr/>
              <p:nvPr/>
            </p:nvSpPr>
            <p:spPr>
              <a:xfrm>
                <a:off x="502920" y="2514600"/>
                <a:ext cx="11064240" cy="685800"/>
              </a:xfrm>
              <a:prstGeom prst="rect">
                <a:avLst/>
              </a:prstGeom>
              <a:noFill/>
              <a:ln/>
            </p:spPr>
            <p:txBody>
              <a:bodyPr wrap="square" lIns="0" tIns="0" rIns="0" bIns="0" rtlCol="0" anchor="ctr"/>
              <a:lstStyle/>
              <a:p>
                <a:pPr marL="0" indent="0" algn="ctr">
                  <a:buNone/>
                </a:pPr>
                <a14:m>
                  <m:oMathPara xmlns:m="http://schemas.openxmlformats.org/officeDocument/2006/math">
                    <m:oMath>
                      <m:sSub>
                        <m:sSubPr>
                          <m:ctrlPr>
                            <a:rPr lang="en-US" sz="1400">
                              <a:latin typeface="Cambria Math"/>
                            </a:rPr>
                          </m:ctrlPr>
                        </m:sSubPr>
                        <m:e>
                          <m:r>
                            <a:rPr lang="en-US" sz="1400">
                              <a:latin typeface="Cambria Math"/>
                            </a:rPr>
                            <m:t>𝐼</m:t>
                          </m:r>
                        </m:e>
                        <m:sub>
                          <m:r>
                            <a:rPr lang="en-US" sz="1400">
                              <a:latin typeface="Cambria Math"/>
                            </a:rPr>
                            <m:t>𝑘</m:t>
                          </m:r>
                          <m:r>
                            <a:rPr lang="en-US" sz="1400">
                              <a:latin typeface="Cambria Math"/>
                            </a:rPr>
                            <m:t>+1</m:t>
                          </m:r>
                        </m:sub>
                      </m:sSub>
                      <m:d>
                        <m:dPr>
                          <m:ctrlPr>
                            <a:rPr lang="en-US" sz="1400">
                              <a:latin typeface="Cambria Math"/>
                            </a:rPr>
                          </m:ctrlPr>
                        </m:dPr>
                        <m:e>
                          <m:r>
                            <a:rPr lang="en-US" sz="1400">
                              <a:latin typeface="Cambria Math"/>
                            </a:rPr>
                            <m:t>𝑥</m:t>
                          </m:r>
                          <m:r>
                            <a:rPr lang="en-US" sz="1400">
                              <a:latin typeface="Cambria Math"/>
                            </a:rPr>
                            <m:t>,</m:t>
                          </m:r>
                          <m:r>
                            <a:rPr lang="en-US" sz="1400">
                              <a:latin typeface="Cambria Math"/>
                            </a:rPr>
                            <m:t>𝑦</m:t>
                          </m:r>
                        </m:e>
                      </m:d>
                      <m:r>
                        <a:rPr lang="en-US" sz="1400">
                          <a:latin typeface="Cambria Math"/>
                        </a:rPr>
                        <m:t>=</m:t>
                      </m:r>
                      <m:sSub>
                        <m:sSubPr>
                          <m:ctrlPr>
                            <a:rPr lang="en-US" sz="1400">
                              <a:latin typeface="Cambria Math"/>
                            </a:rPr>
                          </m:ctrlPr>
                        </m:sSubPr>
                        <m:e>
                          <m:r>
                            <a:rPr lang="en-US" sz="1400">
                              <a:latin typeface="Cambria Math"/>
                            </a:rPr>
                            <m:t>𝐵</m:t>
                          </m:r>
                        </m:e>
                        <m:sub>
                          <m:r>
                            <a:rPr lang="en-US" sz="1400">
                              <a:latin typeface="Cambria Math"/>
                            </a:rPr>
                            <m:t>𝑘</m:t>
                          </m:r>
                          <m:r>
                            <a:rPr lang="en-US" sz="1400">
                              <a:latin typeface="Cambria Math"/>
                            </a:rPr>
                            <m:t>+1</m:t>
                          </m:r>
                        </m:sub>
                      </m:sSub>
                      <m:d>
                        <m:dPr>
                          <m:ctrlPr>
                            <a:rPr lang="en-US" sz="1400">
                              <a:latin typeface="Cambria Math"/>
                            </a:rPr>
                          </m:ctrlPr>
                        </m:dPr>
                        <m:e>
                          <m:r>
                            <a:rPr lang="en-US" sz="1400">
                              <a:latin typeface="Cambria Math"/>
                            </a:rPr>
                            <m:t>𝑥</m:t>
                          </m:r>
                          <m:r>
                            <a:rPr lang="en-US" sz="1400">
                              <a:latin typeface="Cambria Math"/>
                            </a:rPr>
                            <m:t>,</m:t>
                          </m:r>
                          <m:r>
                            <a:rPr lang="en-US" sz="1400">
                              <a:latin typeface="Cambria Math"/>
                            </a:rPr>
                            <m:t>𝑦</m:t>
                          </m:r>
                        </m:e>
                      </m:d>
                      <m:r>
                        <a:rPr lang="en-US" sz="1400">
                          <a:latin typeface="Cambria Math"/>
                        </a:rPr>
                        <m:t>∙</m:t>
                      </m:r>
                      <m:func>
                        <m:funcPr>
                          <m:ctrlPr>
                            <a:rPr lang="en-US" sz="1400">
                              <a:latin typeface="Cambria Math"/>
                            </a:rPr>
                          </m:ctrlPr>
                        </m:funcPr>
                        <m:fName>
                          <m:r>
                            <m:rPr>
                              <m:sty m:val="p"/>
                            </m:rPr>
                            <a:rPr lang="en-US" sz="1400">
                              <a:latin typeface="Cambria Math"/>
                            </a:rPr>
                            <m:t>tanh</m:t>
                          </m:r>
                        </m:fName>
                        <m:e>
                          <m:d>
                            <m:dPr>
                              <m:ctrlPr>
                                <a:rPr lang="en-US" sz="1400">
                                  <a:latin typeface="Cambria Math"/>
                                </a:rPr>
                              </m:ctrlPr>
                            </m:dPr>
                            <m:e>
                              <m:r>
                                <a:rPr lang="en-US" sz="1400">
                                  <a:latin typeface="Cambria Math"/>
                                </a:rPr>
                                <m:t>𝛽</m:t>
                              </m:r>
                              <m:d>
                                <m:dPr>
                                  <m:ctrlPr>
                                    <a:rPr lang="en-US" i="1">
                                      <a:latin typeface="Cambria Math" panose="02040503050406030204" pitchFamily="18" charset="0"/>
                                    </a:rPr>
                                  </m:ctrlPr>
                                </m:dPr>
                                <m:e>
                                  <m:sSub>
                                    <m:sSubPr>
                                      <m:ctrlPr>
                                        <a:rPr lang="en-US" sz="1400" i="1">
                                          <a:latin typeface="Cambria Math" panose="02040503050406030204" pitchFamily="18" charset="0"/>
                                        </a:rPr>
                                      </m:ctrlPr>
                                    </m:sSubPr>
                                    <m:e>
                                      <m:acc>
                                        <m:accPr>
                                          <m:chr m:val="̃"/>
                                          <m:ctrlPr>
                                            <a:rPr lang="en-US" sz="1400">
                                              <a:latin typeface="Cambria Math"/>
                                            </a:rPr>
                                          </m:ctrlPr>
                                        </m:accPr>
                                        <m:e>
                                          <m:r>
                                            <a:rPr lang="en-US" sz="1400">
                                              <a:latin typeface="Cambria Math"/>
                                            </a:rPr>
                                            <m:t>𝐹</m:t>
                                          </m:r>
                                        </m:e>
                                      </m:acc>
                                    </m:e>
                                    <m:sub>
                                      <m:r>
                                        <a:rPr lang="en-US" sz="1400">
                                          <a:latin typeface="Cambria Math"/>
                                        </a:rPr>
                                        <m:t>𝑘</m:t>
                                      </m:r>
                                    </m:sub>
                                  </m:sSub>
                                  <m:d>
                                    <m:dPr>
                                      <m:ctrlPr>
                                        <a:rPr lang="en-US" sz="1400">
                                          <a:latin typeface="Cambria Math"/>
                                        </a:rPr>
                                      </m:ctrlPr>
                                    </m:dPr>
                                    <m:e>
                                      <m:r>
                                        <a:rPr lang="en-US" sz="1400">
                                          <a:latin typeface="Cambria Math"/>
                                        </a:rPr>
                                        <m:t>𝑥</m:t>
                                      </m:r>
                                      <m:r>
                                        <a:rPr lang="en-US" sz="1400">
                                          <a:latin typeface="Cambria Math"/>
                                        </a:rPr>
                                        <m:t>,</m:t>
                                      </m:r>
                                      <m:r>
                                        <a:rPr lang="en-US" sz="1400">
                                          <a:latin typeface="Cambria Math"/>
                                        </a:rPr>
                                        <m:t>𝑦</m:t>
                                      </m:r>
                                    </m:e>
                                  </m:d>
                                  <m:r>
                                    <a:rPr lang="en-US" sz="1400">
                                      <a:latin typeface="Cambria Math"/>
                                    </a:rPr>
                                    <m:t>+</m:t>
                                  </m:r>
                                  <m:sSub>
                                    <m:sSubPr>
                                      <m:ctrlPr>
                                        <a:rPr lang="en-US" sz="1400">
                                          <a:latin typeface="Cambria Math"/>
                                        </a:rPr>
                                      </m:ctrlPr>
                                    </m:sSubPr>
                                    <m:e>
                                      <m:r>
                                        <a:rPr lang="en-US" sz="1400">
                                          <a:latin typeface="Cambria Math"/>
                                        </a:rPr>
                                        <m:t>𝛾</m:t>
                                      </m:r>
                                    </m:e>
                                    <m:sub>
                                      <m:r>
                                        <a:rPr lang="en-US" sz="1400">
                                          <a:latin typeface="Cambria Math"/>
                                        </a:rPr>
                                        <m:t>𝑊</m:t>
                                      </m:r>
                                    </m:sub>
                                  </m:sSub>
                                  <m:sSub>
                                    <m:sSubPr>
                                      <m:ctrlPr>
                                        <a:rPr lang="en-US" sz="1400" i="1">
                                          <a:latin typeface="Cambria Math" panose="02040503050406030204" pitchFamily="18" charset="0"/>
                                        </a:rPr>
                                      </m:ctrlPr>
                                    </m:sSubPr>
                                    <m:e>
                                      <m:acc>
                                        <m:accPr>
                                          <m:chr m:val="̃"/>
                                          <m:ctrlPr>
                                            <a:rPr lang="en-US" sz="1400">
                                              <a:latin typeface="Cambria Math"/>
                                            </a:rPr>
                                          </m:ctrlPr>
                                        </m:accPr>
                                        <m:e>
                                          <m:r>
                                            <a:rPr lang="en-US" sz="1400">
                                              <a:latin typeface="Cambria Math"/>
                                            </a:rPr>
                                            <m:t>𝑊</m:t>
                                          </m:r>
                                        </m:e>
                                      </m:acc>
                                    </m:e>
                                    <m:sub>
                                      <m:r>
                                        <a:rPr lang="en-US" sz="1400">
                                          <a:latin typeface="Cambria Math"/>
                                        </a:rPr>
                                        <m:t>𝑘</m:t>
                                      </m:r>
                                    </m:sub>
                                  </m:sSub>
                                  <m:d>
                                    <m:dPr>
                                      <m:ctrlPr>
                                        <a:rPr lang="en-US" sz="1400">
                                          <a:latin typeface="Cambria Math"/>
                                        </a:rPr>
                                      </m:ctrlPr>
                                    </m:dPr>
                                    <m:e>
                                      <m:r>
                                        <a:rPr lang="en-US" sz="1400">
                                          <a:latin typeface="Cambria Math"/>
                                        </a:rPr>
                                        <m:t>𝑥</m:t>
                                      </m:r>
                                      <m:r>
                                        <a:rPr lang="en-US" sz="1400">
                                          <a:latin typeface="Cambria Math"/>
                                        </a:rPr>
                                        <m:t>,</m:t>
                                      </m:r>
                                      <m:r>
                                        <a:rPr lang="en-US" sz="1400">
                                          <a:latin typeface="Cambria Math"/>
                                        </a:rPr>
                                        <m:t>𝑦</m:t>
                                      </m:r>
                                    </m:e>
                                  </m:d>
                                  <m:r>
                                    <a:rPr lang="en-US" sz="1400">
                                      <a:latin typeface="Cambria Math"/>
                                    </a:rPr>
                                    <m:t>+</m:t>
                                  </m:r>
                                  <m:sSub>
                                    <m:sSubPr>
                                      <m:ctrlPr>
                                        <a:rPr lang="en-US" sz="1400">
                                          <a:latin typeface="Cambria Math"/>
                                        </a:rPr>
                                      </m:ctrlPr>
                                    </m:sSubPr>
                                    <m:e>
                                      <m:r>
                                        <a:rPr lang="en-US" sz="1400">
                                          <a:latin typeface="Cambria Math"/>
                                        </a:rPr>
                                        <m:t>𝛾</m:t>
                                      </m:r>
                                    </m:e>
                                    <m:sub>
                                      <m:r>
                                        <a:rPr lang="en-US" sz="1400">
                                          <a:latin typeface="Cambria Math"/>
                                        </a:rPr>
                                        <m:t>𝑆</m:t>
                                      </m:r>
                                    </m:sub>
                                  </m:sSub>
                                  <m:acc>
                                    <m:accPr>
                                      <m:chr m:val="̃"/>
                                      <m:ctrlPr>
                                        <a:rPr lang="en-US" sz="1400">
                                          <a:latin typeface="Cambria Math"/>
                                        </a:rPr>
                                      </m:ctrlPr>
                                    </m:accPr>
                                    <m:e>
                                      <m:r>
                                        <a:rPr lang="en-US" sz="1400">
                                          <a:latin typeface="Cambria Math"/>
                                        </a:rPr>
                                        <m:t>𝑆</m:t>
                                      </m:r>
                                    </m:e>
                                  </m:acc>
                                  <m:d>
                                    <m:dPr>
                                      <m:ctrlPr>
                                        <a:rPr lang="en-US" sz="1400">
                                          <a:latin typeface="Cambria Math"/>
                                        </a:rPr>
                                      </m:ctrlPr>
                                    </m:dPr>
                                    <m:e>
                                      <m:r>
                                        <a:rPr lang="en-US" sz="1400">
                                          <a:latin typeface="Cambria Math"/>
                                        </a:rPr>
                                        <m:t>𝑥</m:t>
                                      </m:r>
                                      <m:r>
                                        <a:rPr lang="en-US" sz="1400">
                                          <a:latin typeface="Cambria Math"/>
                                        </a:rPr>
                                        <m:t>,</m:t>
                                      </m:r>
                                      <m:r>
                                        <a:rPr lang="en-US" sz="1400">
                                          <a:latin typeface="Cambria Math"/>
                                        </a:rPr>
                                        <m:t>𝑦</m:t>
                                      </m:r>
                                    </m:e>
                                  </m:d>
                                </m:e>
                              </m:d>
                            </m:e>
                          </m:d>
                        </m:e>
                      </m:func>
                    </m:oMath>
                  </m:oMathPara>
                </a14:m>
                <a:endParaRPr lang="en-US" sz="1300" dirty="0"/>
              </a:p>
            </p:txBody>
          </p:sp>
        </mc:Choice>
        <mc:Fallback xmlns="">
          <p:sp>
            <p:nvSpPr>
              <p:cNvPr id="10" name="Text 6"/>
              <p:cNvSpPr>
                <a:spLocks noRot="1" noChangeAspect="1" noMove="1" noResize="1" noEditPoints="1" noAdjustHandles="1" noChangeArrowheads="1" noChangeShapeType="1" noTextEdit="1"/>
              </p:cNvSpPr>
              <p:nvPr/>
            </p:nvSpPr>
            <p:spPr>
              <a:xfrm>
                <a:off x="502920" y="2514600"/>
                <a:ext cx="11064240" cy="685800"/>
              </a:xfrm>
              <a:prstGeom prst="rect">
                <a:avLst/>
              </a:prstGeom>
              <a:blipFill>
                <a:blip r:embed="rId8"/>
                <a:stretch>
                  <a:fillRect/>
                </a:stretch>
              </a:blipFill>
              <a:ln/>
            </p:spPr>
            <p:txBody>
              <a:bodyPr/>
              <a:lstStyle/>
              <a:p>
                <a:r>
                  <a:rPr lang="tr-TR">
                    <a:noFill/>
                  </a:rPr>
                  <a:t/>
                </a:r>
              </a:p>
            </p:txBody>
          </p:sp>
        </mc:Fallback>
      </mc:AlternateContent>
      <p:sp>
        <p:nvSpPr>
          <p:cNvPr id="11" name="Text 7"/>
          <p:cNvSpPr/>
          <p:nvPr/>
        </p:nvSpPr>
        <p:spPr>
          <a:xfrm>
            <a:off x="502920" y="3383280"/>
            <a:ext cx="6949440" cy="2011680"/>
          </a:xfrm>
          <a:prstGeom prst="rect">
            <a:avLst/>
          </a:prstGeom>
          <a:noFill/>
          <a:ln/>
        </p:spPr>
        <p:txBody>
          <a:bodyPr wrap="square" lIns="0" tIns="0" rIns="0" bIns="0" rtlCol="0" anchor="t"/>
          <a:lstStyle/>
          <a:p>
            <a:pPr marL="152400" indent="-152400">
              <a:lnSpc>
                <a:spcPct val="104000"/>
              </a:lnSpc>
              <a:spcAft>
                <a:spcPts val="600"/>
              </a:spcAft>
              <a:buSzPct val="100000"/>
              <a:buChar char="•"/>
            </a:pPr>
            <a:r>
              <a:rPr lang="en-US" sz="1250" dirty="0">
                <a:solidFill>
                  <a:srgbClr val="222222"/>
                </a:solidFill>
                <a:latin typeface="Calibri" pitchFamily="34" charset="0"/>
                <a:ea typeface="Calibri" pitchFamily="34" charset="-122"/>
                <a:cs typeface="Calibri" pitchFamily="34" charset="-120"/>
              </a:rPr>
              <a:t>Inputs are normalized by their reference maxima (fuel load, 20 m/s wind, maximum terrain slope), so the proxy is scale- and resolution-consistent.</a:t>
            </a:r>
            <a:endParaRPr lang="en-US" sz="1250" dirty="0"/>
          </a:p>
          <a:p>
            <a:pPr marL="152400" indent="-152400">
              <a:lnSpc>
                <a:spcPct val="104000"/>
              </a:lnSpc>
              <a:spcAft>
                <a:spcPts val="600"/>
              </a:spcAft>
              <a:buSzPct val="100000"/>
              <a:buChar char="•"/>
            </a:pPr>
            <a:r>
              <a:rPr lang="en-US" sz="1250" dirty="0">
                <a:solidFill>
                  <a:srgbClr val="222222"/>
                </a:solidFill>
                <a:latin typeface="Calibri" pitchFamily="34" charset="0"/>
                <a:ea typeface="Calibri" pitchFamily="34" charset="-122"/>
                <a:cs typeface="Calibri" pitchFamily="34" charset="-120"/>
              </a:rPr>
              <a:t>The burning-status factor forces zero intensity on non-burning cells; tanh bounds the proxy in [0, 1].</a:t>
            </a:r>
            <a:endParaRPr lang="en-US" sz="1250" dirty="0"/>
          </a:p>
          <a:p>
            <a:pPr marL="152400" indent="-152400">
              <a:lnSpc>
                <a:spcPct val="104000"/>
              </a:lnSpc>
              <a:spcAft>
                <a:spcPts val="600"/>
              </a:spcAft>
              <a:buSzPct val="100000"/>
              <a:buChar char="•"/>
            </a:pPr>
            <a:r>
              <a:rPr lang="en-US" sz="1250" b="1" dirty="0">
                <a:solidFill>
                  <a:srgbClr val="222222"/>
                </a:solidFill>
                <a:latin typeface="Calibri" pitchFamily="34" charset="0"/>
                <a:ea typeface="Calibri" pitchFamily="34" charset="-122"/>
                <a:cs typeface="Calibri" pitchFamily="34" charset="-120"/>
              </a:rPr>
              <a:t>Fuel load remains the dominant contributor; wind and slope act as amplifying modifiers.</a:t>
            </a:r>
            <a:endParaRPr lang="en-US" sz="1250" dirty="0"/>
          </a:p>
        </p:txBody>
      </p:sp>
      <mc:AlternateContent xmlns:mc="http://schemas.openxmlformats.org/markup-compatibility/2006" xmlns:a14="http://schemas.microsoft.com/office/drawing/2010/main">
        <mc:Choice Requires="a14">
          <p:graphicFrame>
            <p:nvGraphicFramePr>
              <p:cNvPr id="12" name="Table 0"/>
              <p:cNvGraphicFramePr>
                <a:graphicFrameLocks noGrp="1"/>
              </p:cNvGraphicFramePr>
              <p:nvPr/>
            </p:nvGraphicFramePr>
            <p:xfrm>
              <a:off x="7680960" y="3383280"/>
              <a:ext cx="4069080" cy="1883664"/>
            </p:xfrm>
            <a:graphic>
              <a:graphicData uri="http://schemas.openxmlformats.org/drawingml/2006/table">
                <a:tbl>
                  <a:tblPr/>
                  <a:tblGrid>
                    <a:gridCol w="1325880">
                      <a:extLst>
                        <a:ext uri="{9D8B030D-6E8A-4147-A177-3AD203B41FA5}">
                          <a16:colId xmlns:a16="http://schemas.microsoft.com/office/drawing/2014/main" val="20000"/>
                        </a:ext>
                      </a:extLst>
                    </a:gridCol>
                    <a:gridCol w="777240">
                      <a:extLst>
                        <a:ext uri="{9D8B030D-6E8A-4147-A177-3AD203B41FA5}">
                          <a16:colId xmlns:a16="http://schemas.microsoft.com/office/drawing/2014/main" val="20001"/>
                        </a:ext>
                      </a:extLst>
                    </a:gridCol>
                    <a:gridCol w="685800">
                      <a:extLst>
                        <a:ext uri="{9D8B030D-6E8A-4147-A177-3AD203B41FA5}">
                          <a16:colId xmlns:a16="http://schemas.microsoft.com/office/drawing/2014/main" val="20002"/>
                        </a:ext>
                      </a:extLst>
                    </a:gridCol>
                    <a:gridCol w="1280160">
                      <a:extLst>
                        <a:ext uri="{9D8B030D-6E8A-4147-A177-3AD203B41FA5}">
                          <a16:colId xmlns:a16="http://schemas.microsoft.com/office/drawing/2014/main" val="20003"/>
                        </a:ext>
                      </a:extLst>
                    </a:gridCol>
                  </a:tblGrid>
                  <a:tr h="384048">
                    <a:tc>
                      <a:txBody>
                        <a:bodyPr/>
                        <a:lstStyle/>
                        <a:p>
                          <a:pPr marL="0" indent="0">
                            <a:buNone/>
                          </a:pP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solidFill>
                          <a:srgbClr val="000000"/>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Range</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solidFill>
                          <a:srgbClr val="000000"/>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Value</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solidFill>
                          <a:srgbClr val="000000"/>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Interpretation</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solidFill>
                          <a:srgbClr val="000000"/>
                        </a:solidFill>
                      </a:tcPr>
                    </a:tc>
                    <a:extLst>
                      <a:ext uri="{0D108BD9-81ED-4DB2-BD59-A6C34878D82A}">
                        <a16:rowId xmlns:a16="http://schemas.microsoft.com/office/drawing/2014/main" val="10000"/>
                      </a:ext>
                    </a:extLst>
                  </a:tr>
                  <a:tr h="384048">
                    <a:tc>
                      <a:txBody>
                        <a:bodyPr/>
                        <a:lstStyle/>
                        <a:p>
                          <a:pPr marL="0" indent="0">
                            <a:buNone/>
                          </a:pPr>
                          <a14:m>
                            <m:oMath xmlns:m="http://schemas.openxmlformats.org/officeDocument/2006/math">
                              <m:r>
                                <a:rPr lang="en-US" sz="1200">
                                  <a:latin typeface="Cambria Math"/>
                                </a:rPr>
                                <m:t>𝛽</m:t>
                              </m:r>
                            </m:oMath>
                          </a14:m>
                          <a:r>
                            <a:rPr lang="en-US" sz="1200" b="1" dirty="0">
                              <a:solidFill>
                                <a:srgbClr val="222222"/>
                              </a:solidFill>
                              <a:latin typeface="Calibri" pitchFamily="34" charset="0"/>
                              <a:ea typeface="Calibri" pitchFamily="34" charset="-122"/>
                              <a:cs typeface="Calibri" pitchFamily="34" charset="-120"/>
                            </a:rPr>
                            <a:t> global gain</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200" dirty="0">
                              <a:solidFill>
                                <a:srgbClr val="222222"/>
                              </a:solidFill>
                              <a:latin typeface="Calibri" pitchFamily="34" charset="0"/>
                              <a:ea typeface="Calibri" pitchFamily="34" charset="-122"/>
                              <a:cs typeface="Calibri" pitchFamily="34" charset="-120"/>
                            </a:rPr>
                            <a:t>1 – 3</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200" b="1" dirty="0">
                              <a:solidFill>
                                <a:srgbClr val="E31836"/>
                              </a:solidFill>
                              <a:latin typeface="Calibri" pitchFamily="34" charset="0"/>
                              <a:ea typeface="Calibri" pitchFamily="34" charset="-122"/>
                              <a:cs typeface="Calibri" pitchFamily="34" charset="-120"/>
                            </a:rPr>
                            <a:t>2.0</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200" dirty="0">
                              <a:solidFill>
                                <a:srgbClr val="6E6E6E"/>
                              </a:solidFill>
                              <a:latin typeface="Calibri" pitchFamily="34" charset="0"/>
                              <a:ea typeface="Calibri" pitchFamily="34" charset="-122"/>
                              <a:cs typeface="Calibri" pitchFamily="34" charset="-120"/>
                            </a:rPr>
                            <a:t>moderate amplification</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extLst>
                      <a:ext uri="{0D108BD9-81ED-4DB2-BD59-A6C34878D82A}">
                        <a16:rowId xmlns:a16="http://schemas.microsoft.com/office/drawing/2014/main" val="10001"/>
                      </a:ext>
                    </a:extLst>
                  </a:tr>
                  <a:tr h="384048">
                    <a:tc>
                      <a:txBody>
                        <a:bodyPr/>
                        <a:lstStyle/>
                        <a:p>
                          <a:pPr marL="0" indent="0">
                            <a:buNone/>
                          </a:pPr>
                          <a14:m>
                            <m:oMath xmlns:m="http://schemas.openxmlformats.org/officeDocument/2006/math">
                              <m:sSub>
                                <m:sSubPr>
                                  <m:ctrlPr>
                                    <a:rPr lang="en-US" sz="1200">
                                      <a:latin typeface="Cambria Math"/>
                                    </a:rPr>
                                  </m:ctrlPr>
                                </m:sSubPr>
                                <m:e>
                                  <m:r>
                                    <a:rPr lang="en-US" sz="1200">
                                      <a:latin typeface="Cambria Math"/>
                                    </a:rPr>
                                    <m:t>𝛾</m:t>
                                  </m:r>
                                </m:e>
                                <m:sub>
                                  <m:r>
                                    <a:rPr lang="en-US" sz="1200">
                                      <a:latin typeface="Cambria Math"/>
                                    </a:rPr>
                                    <m:t>𝑊</m:t>
                                  </m:r>
                                </m:sub>
                              </m:sSub>
                            </m:oMath>
                          </a14:m>
                          <a:r>
                            <a:rPr lang="en-US" sz="1200" b="1" dirty="0">
                              <a:solidFill>
                                <a:srgbClr val="222222"/>
                              </a:solidFill>
                              <a:latin typeface="Calibri" pitchFamily="34" charset="0"/>
                              <a:ea typeface="Calibri" pitchFamily="34" charset="-122"/>
                              <a:cs typeface="Calibri" pitchFamily="34" charset="-120"/>
                            </a:rPr>
                            <a:t> wind weight</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200" dirty="0">
                              <a:solidFill>
                                <a:srgbClr val="222222"/>
                              </a:solidFill>
                              <a:latin typeface="Calibri" pitchFamily="34" charset="0"/>
                              <a:ea typeface="Calibri" pitchFamily="34" charset="-122"/>
                              <a:cs typeface="Calibri" pitchFamily="34" charset="-120"/>
                            </a:rPr>
                            <a:t>0 – 0.7</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200" b="1" dirty="0">
                              <a:solidFill>
                                <a:srgbClr val="E31836"/>
                              </a:solidFill>
                              <a:latin typeface="Calibri" pitchFamily="34" charset="0"/>
                              <a:ea typeface="Calibri" pitchFamily="34" charset="-122"/>
                              <a:cs typeface="Calibri" pitchFamily="34" charset="-120"/>
                            </a:rPr>
                            <a:t>0.5</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200" dirty="0">
                              <a:solidFill>
                                <a:srgbClr val="6E6E6E"/>
                              </a:solidFill>
                              <a:latin typeface="Calibri" pitchFamily="34" charset="0"/>
                              <a:ea typeface="Calibri" pitchFamily="34" charset="-122"/>
                              <a:cs typeface="Calibri" pitchFamily="34" charset="-120"/>
                            </a:rPr>
                            <a:t>wind moderately increases intensity</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extLst>
                      <a:ext uri="{0D108BD9-81ED-4DB2-BD59-A6C34878D82A}">
                        <a16:rowId xmlns:a16="http://schemas.microsoft.com/office/drawing/2014/main" val="10002"/>
                      </a:ext>
                    </a:extLst>
                  </a:tr>
                  <a:tr h="384048">
                    <a:tc>
                      <a:txBody>
                        <a:bodyPr/>
                        <a:lstStyle/>
                        <a:p>
                          <a:pPr marL="0" indent="0">
                            <a:buNone/>
                          </a:pPr>
                          <a14:m>
                            <m:oMath xmlns:m="http://schemas.openxmlformats.org/officeDocument/2006/math">
                              <m:sSub>
                                <m:sSubPr>
                                  <m:ctrlPr>
                                    <a:rPr lang="en-US" sz="1200">
                                      <a:latin typeface="Cambria Math"/>
                                    </a:rPr>
                                  </m:ctrlPr>
                                </m:sSubPr>
                                <m:e>
                                  <m:r>
                                    <a:rPr lang="en-US" sz="1200">
                                      <a:latin typeface="Cambria Math"/>
                                    </a:rPr>
                                    <m:t>𝛾</m:t>
                                  </m:r>
                                </m:e>
                                <m:sub>
                                  <m:r>
                                    <a:rPr lang="en-US" sz="1200">
                                      <a:latin typeface="Cambria Math"/>
                                    </a:rPr>
                                    <m:t>𝑆</m:t>
                                  </m:r>
                                </m:sub>
                              </m:sSub>
                            </m:oMath>
                          </a14:m>
                          <a:r>
                            <a:rPr lang="en-US" sz="1200" b="1" dirty="0">
                              <a:solidFill>
                                <a:srgbClr val="222222"/>
                              </a:solidFill>
                              <a:latin typeface="Calibri" pitchFamily="34" charset="0"/>
                              <a:ea typeface="Calibri" pitchFamily="34" charset="-122"/>
                              <a:cs typeface="Calibri" pitchFamily="34" charset="-120"/>
                            </a:rPr>
                            <a:t> slope weight</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200" dirty="0">
                              <a:solidFill>
                                <a:srgbClr val="222222"/>
                              </a:solidFill>
                              <a:latin typeface="Calibri" pitchFamily="34" charset="0"/>
                              <a:ea typeface="Calibri" pitchFamily="34" charset="-122"/>
                              <a:cs typeface="Calibri" pitchFamily="34" charset="-120"/>
                            </a:rPr>
                            <a:t>0 – 0.5</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200" b="1" dirty="0">
                              <a:solidFill>
                                <a:srgbClr val="E31836"/>
                              </a:solidFill>
                              <a:latin typeface="Calibri" pitchFamily="34" charset="0"/>
                              <a:ea typeface="Calibri" pitchFamily="34" charset="-122"/>
                              <a:cs typeface="Calibri" pitchFamily="34" charset="-120"/>
                            </a:rPr>
                            <a:t>0.3</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200" dirty="0">
                              <a:solidFill>
                                <a:srgbClr val="6E6E6E"/>
                              </a:solidFill>
                              <a:latin typeface="Calibri" pitchFamily="34" charset="0"/>
                              <a:ea typeface="Calibri" pitchFamily="34" charset="-122"/>
                              <a:cs typeface="Calibri" pitchFamily="34" charset="-120"/>
                            </a:rPr>
                            <a:t>slope has secondary influence</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mc:Choice>
        <mc:Fallback xmlns="">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7680960" y="3383280"/>
              <a:ext cx="4069080" cy="1883664"/>
            </p:xfrm>
            <a:graphic>
              <a:graphicData uri="http://schemas.openxmlformats.org/drawingml/2006/table">
                <a:tbl>
                  <a:tblPr/>
                  <a:tblGrid>
                    <a:gridCol w="1325880">
                      <a:extLst>
                        <a:ext uri="{9D8B030D-6E8A-4147-A177-3AD203B41FA5}">
                          <a16:colId xmlns:a16="http://schemas.microsoft.com/office/drawing/2014/main" val="20000"/>
                        </a:ext>
                      </a:extLst>
                    </a:gridCol>
                    <a:gridCol w="777240">
                      <a:extLst>
                        <a:ext uri="{9D8B030D-6E8A-4147-A177-3AD203B41FA5}">
                          <a16:colId xmlns:a16="http://schemas.microsoft.com/office/drawing/2014/main" val="20001"/>
                        </a:ext>
                      </a:extLst>
                    </a:gridCol>
                    <a:gridCol w="685800">
                      <a:extLst>
                        <a:ext uri="{9D8B030D-6E8A-4147-A177-3AD203B41FA5}">
                          <a16:colId xmlns:a16="http://schemas.microsoft.com/office/drawing/2014/main" val="20002"/>
                        </a:ext>
                      </a:extLst>
                    </a:gridCol>
                    <a:gridCol w="1280160">
                      <a:extLst>
                        <a:ext uri="{9D8B030D-6E8A-4147-A177-3AD203B41FA5}">
                          <a16:colId xmlns:a16="http://schemas.microsoft.com/office/drawing/2014/main" val="20003"/>
                        </a:ext>
                      </a:extLst>
                    </a:gridCol>
                  </a:tblGrid>
                  <a:tr h="384048">
                    <a:tc>
                      <a:txBody>
                        <a:bodyPr/>
                        <a:lstStyle/>
                        <a:p>
                          <a:pPr marL="0" indent="0">
                            <a:buNone/>
                          </a:pP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solidFill>
                          <a:srgbClr val="000000"/>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Range</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solidFill>
                          <a:srgbClr val="000000"/>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Value</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solidFill>
                          <a:srgbClr val="000000"/>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Interpretation</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solidFill>
                          <a:srgbClr val="000000"/>
                        </a:solidFill>
                      </a:tcPr>
                    </a:tc>
                    <a:extLst>
                      <a:ext uri="{0D108BD9-81ED-4DB2-BD59-A6C34878D82A}">
                        <a16:rowId xmlns:a16="http://schemas.microsoft.com/office/drawing/2014/main" val="10000"/>
                      </a:ext>
                    </a:extLst>
                  </a:tr>
                  <a:tr h="438912">
                    <a:tc>
                      <a:txBody>
                        <a:bodyPr/>
                        <a:lstStyle/>
                        <a:p>
                          <a:endParaRPr lang="tr-T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blipFill>
                          <a:blip r:embed="rId9"/>
                          <a:stretch>
                            <a:fillRect l="-459" t="-88889" r="-207339" b="-254167"/>
                          </a:stretch>
                        </a:blipFill>
                      </a:tcPr>
                    </a:tc>
                    <a:tc>
                      <a:txBody>
                        <a:bodyPr/>
                        <a:lstStyle/>
                        <a:p>
                          <a:pPr marL="0" indent="0">
                            <a:buNone/>
                          </a:pPr>
                          <a:r>
                            <a:rPr lang="en-US" sz="1200" dirty="0">
                              <a:solidFill>
                                <a:srgbClr val="222222"/>
                              </a:solidFill>
                              <a:latin typeface="Calibri" pitchFamily="34" charset="0"/>
                              <a:ea typeface="Calibri" pitchFamily="34" charset="-122"/>
                              <a:cs typeface="Calibri" pitchFamily="34" charset="-120"/>
                            </a:rPr>
                            <a:t>1 – 3</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200" b="1" dirty="0">
                              <a:solidFill>
                                <a:srgbClr val="E31836"/>
                              </a:solidFill>
                              <a:latin typeface="Calibri" pitchFamily="34" charset="0"/>
                              <a:ea typeface="Calibri" pitchFamily="34" charset="-122"/>
                              <a:cs typeface="Calibri" pitchFamily="34" charset="-120"/>
                            </a:rPr>
                            <a:t>2.0</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200" dirty="0">
                              <a:solidFill>
                                <a:srgbClr val="6E6E6E"/>
                              </a:solidFill>
                              <a:latin typeface="Calibri" pitchFamily="34" charset="0"/>
                              <a:ea typeface="Calibri" pitchFamily="34" charset="-122"/>
                              <a:cs typeface="Calibri" pitchFamily="34" charset="-120"/>
                            </a:rPr>
                            <a:t>moderate amplification</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extLst>
                      <a:ext uri="{0D108BD9-81ED-4DB2-BD59-A6C34878D82A}">
                        <a16:rowId xmlns:a16="http://schemas.microsoft.com/office/drawing/2014/main" val="10001"/>
                      </a:ext>
                    </a:extLst>
                  </a:tr>
                  <a:tr h="438912">
                    <a:tc>
                      <a:txBody>
                        <a:bodyPr/>
                        <a:lstStyle/>
                        <a:p>
                          <a:endParaRPr lang="tr-T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blipFill>
                          <a:blip r:embed="rId9"/>
                          <a:stretch>
                            <a:fillRect l="-459" t="-188889" r="-207339" b="-154167"/>
                          </a:stretch>
                        </a:blipFill>
                      </a:tcPr>
                    </a:tc>
                    <a:tc>
                      <a:txBody>
                        <a:bodyPr/>
                        <a:lstStyle/>
                        <a:p>
                          <a:pPr marL="0" indent="0">
                            <a:buNone/>
                          </a:pPr>
                          <a:r>
                            <a:rPr lang="en-US" sz="1200" dirty="0">
                              <a:solidFill>
                                <a:srgbClr val="222222"/>
                              </a:solidFill>
                              <a:latin typeface="Calibri" pitchFamily="34" charset="0"/>
                              <a:ea typeface="Calibri" pitchFamily="34" charset="-122"/>
                              <a:cs typeface="Calibri" pitchFamily="34" charset="-120"/>
                            </a:rPr>
                            <a:t>0 – 0.7</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200" b="1" dirty="0">
                              <a:solidFill>
                                <a:srgbClr val="E31836"/>
                              </a:solidFill>
                              <a:latin typeface="Calibri" pitchFamily="34" charset="0"/>
                              <a:ea typeface="Calibri" pitchFamily="34" charset="-122"/>
                              <a:cs typeface="Calibri" pitchFamily="34" charset="-120"/>
                            </a:rPr>
                            <a:t>0.5</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200" dirty="0">
                              <a:solidFill>
                                <a:srgbClr val="6E6E6E"/>
                              </a:solidFill>
                              <a:latin typeface="Calibri" pitchFamily="34" charset="0"/>
                              <a:ea typeface="Calibri" pitchFamily="34" charset="-122"/>
                              <a:cs typeface="Calibri" pitchFamily="34" charset="-120"/>
                            </a:rPr>
                            <a:t>wind moderately increases intensity</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extLst>
                      <a:ext uri="{0D108BD9-81ED-4DB2-BD59-A6C34878D82A}">
                        <a16:rowId xmlns:a16="http://schemas.microsoft.com/office/drawing/2014/main" val="10002"/>
                      </a:ext>
                    </a:extLst>
                  </a:tr>
                  <a:tr h="621792">
                    <a:tc>
                      <a:txBody>
                        <a:bodyPr/>
                        <a:lstStyle/>
                        <a:p>
                          <a:endParaRPr lang="tr-T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blipFill>
                          <a:blip r:embed="rId9"/>
                          <a:stretch>
                            <a:fillRect l="-459" t="-203922" r="-207339" b="-8824"/>
                          </a:stretch>
                        </a:blipFill>
                      </a:tcPr>
                    </a:tc>
                    <a:tc>
                      <a:txBody>
                        <a:bodyPr/>
                        <a:lstStyle/>
                        <a:p>
                          <a:pPr marL="0" indent="0">
                            <a:buNone/>
                          </a:pPr>
                          <a:r>
                            <a:rPr lang="en-US" sz="1200" dirty="0">
                              <a:solidFill>
                                <a:srgbClr val="222222"/>
                              </a:solidFill>
                              <a:latin typeface="Calibri" pitchFamily="34" charset="0"/>
                              <a:ea typeface="Calibri" pitchFamily="34" charset="-122"/>
                              <a:cs typeface="Calibri" pitchFamily="34" charset="-120"/>
                            </a:rPr>
                            <a:t>0 – 0.5</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200" b="1" dirty="0">
                              <a:solidFill>
                                <a:srgbClr val="E31836"/>
                              </a:solidFill>
                              <a:latin typeface="Calibri" pitchFamily="34" charset="0"/>
                              <a:ea typeface="Calibri" pitchFamily="34" charset="-122"/>
                              <a:cs typeface="Calibri" pitchFamily="34" charset="-120"/>
                            </a:rPr>
                            <a:t>0.3</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200" dirty="0">
                              <a:solidFill>
                                <a:srgbClr val="6E6E6E"/>
                              </a:solidFill>
                              <a:latin typeface="Calibri" pitchFamily="34" charset="0"/>
                              <a:ea typeface="Calibri" pitchFamily="34" charset="-122"/>
                              <a:cs typeface="Calibri" pitchFamily="34" charset="-120"/>
                            </a:rPr>
                            <a:t>slope has secondary influence</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mc:Fallback>
      </mc:AlternateContent>
      <p:sp>
        <p:nvSpPr>
          <p:cNvPr id="13" name="Shape 8"/>
          <p:cNvSpPr/>
          <p:nvPr/>
        </p:nvSpPr>
        <p:spPr>
          <a:xfrm>
            <a:off x="502920" y="5577840"/>
            <a:ext cx="11247120" cy="914400"/>
          </a:xfrm>
          <a:prstGeom prst="roundRect">
            <a:avLst>
              <a:gd name="adj" fmla="val 5000"/>
            </a:avLst>
          </a:prstGeom>
          <a:solidFill>
            <a:srgbClr val="F2F2F2"/>
          </a:solidFill>
          <a:ln/>
        </p:spPr>
        <p:txBody>
          <a:bodyPr/>
          <a:lstStyle/>
          <a:p>
            <a:endParaRPr lang="tr-TR"/>
          </a:p>
        </p:txBody>
      </p:sp>
      <p:sp>
        <p:nvSpPr>
          <p:cNvPr id="14" name="Text 9"/>
          <p:cNvSpPr/>
          <p:nvPr/>
        </p:nvSpPr>
        <p:spPr>
          <a:xfrm>
            <a:off x="777240" y="5705856"/>
            <a:ext cx="10698480" cy="731520"/>
          </a:xfrm>
          <a:prstGeom prst="rect">
            <a:avLst/>
          </a:prstGeom>
          <a:noFill/>
          <a:ln/>
        </p:spPr>
        <p:txBody>
          <a:bodyPr wrap="square" lIns="0" tIns="0" rIns="0" bIns="0" rtlCol="0" anchor="t"/>
          <a:lstStyle/>
          <a:p>
            <a:pPr marL="0" indent="0">
              <a:lnSpc>
                <a:spcPct val="104000"/>
              </a:lnSpc>
              <a:buNone/>
            </a:pPr>
            <a:r>
              <a:rPr lang="en-US" sz="1250" b="1" dirty="0">
                <a:solidFill>
                  <a:srgbClr val="000000"/>
                </a:solidFill>
                <a:latin typeface="Calibri" pitchFamily="34" charset="0"/>
                <a:ea typeface="Calibri" pitchFamily="34" charset="-122"/>
                <a:cs typeface="Calibri" pitchFamily="34" charset="-120"/>
              </a:rPr>
              <a:t>Why a proxy: </a:t>
            </a:r>
            <a:r>
              <a:rPr lang="en-US" sz="1250" dirty="0">
                <a:solidFill>
                  <a:srgbClr val="222222"/>
                </a:solidFill>
                <a:latin typeface="Calibri" pitchFamily="34" charset="0"/>
                <a:ea typeface="Calibri" pitchFamily="34" charset="-122"/>
                <a:cs typeface="Calibri" pitchFamily="34" charset="-120"/>
              </a:rPr>
              <a:t>the decision layer needs a stable, comparable severity signal across cells and scenarios — not a heat-flux model. Suppression effectiveness reads this proxy at the current state, before the transition, so mitigation decisions rest on observable conditions.</a:t>
            </a:r>
            <a:endParaRPr lang="en-US" sz="125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237744"/>
            <a:ext cx="10058400" cy="292608"/>
          </a:xfrm>
          <a:prstGeom prst="rect">
            <a:avLst/>
          </a:prstGeom>
          <a:noFill/>
          <a:ln/>
        </p:spPr>
        <p:txBody>
          <a:bodyPr wrap="square" lIns="0" tIns="0" rIns="0" bIns="0" rtlCol="0" anchor="ctr"/>
          <a:lstStyle/>
          <a:p>
            <a:pPr marL="0" indent="0">
              <a:buNone/>
            </a:pPr>
            <a:r>
              <a:rPr lang="en-US" sz="1300" b="1" kern="0" spc="200" dirty="0">
                <a:solidFill>
                  <a:srgbClr val="E31836"/>
                </a:solidFill>
                <a:latin typeface="Calibri" pitchFamily="34" charset="0"/>
                <a:ea typeface="Calibri" pitchFamily="34" charset="-122"/>
                <a:cs typeface="Calibri" pitchFamily="34" charset="-120"/>
              </a:rPr>
              <a:t>BACKUP · APPENDIX D</a:t>
            </a:r>
            <a:endParaRPr lang="en-US" sz="1300" dirty="0"/>
          </a:p>
        </p:txBody>
      </p:sp>
      <p:sp>
        <p:nvSpPr>
          <p:cNvPr id="3" name="Text 1"/>
          <p:cNvSpPr/>
          <p:nvPr/>
        </p:nvSpPr>
        <p:spPr>
          <a:xfrm>
            <a:off x="502920" y="493776"/>
            <a:ext cx="11247120" cy="621792"/>
          </a:xfrm>
          <a:prstGeom prst="rect">
            <a:avLst/>
          </a:prstGeom>
          <a:noFill/>
          <a:ln/>
        </p:spPr>
        <p:txBody>
          <a:bodyPr wrap="square" lIns="0" tIns="0" rIns="0" bIns="0" rtlCol="0" anchor="ctr"/>
          <a:lstStyle/>
          <a:p>
            <a:pPr marL="0" indent="0">
              <a:buNone/>
            </a:pPr>
            <a:r>
              <a:rPr lang="en-US" sz="2500" b="1" dirty="0">
                <a:solidFill>
                  <a:srgbClr val="000000"/>
                </a:solidFill>
                <a:latin typeface="Cambria" pitchFamily="34" charset="0"/>
                <a:ea typeface="Cambria" pitchFamily="34" charset="-122"/>
                <a:cs typeface="Cambria" pitchFamily="34" charset="-120"/>
              </a:rPr>
              <a:t>The Complete Concept Wiring : Every Weight of the Hierarchy</a:t>
            </a:r>
            <a:endParaRPr lang="en-US" sz="2500" dirty="0"/>
          </a:p>
        </p:txBody>
      </p:sp>
      <p:pic>
        <p:nvPicPr>
          <p:cNvPr id="4" name="Image 0" descr="/tmp/thx/deck/figs/metu_emblem.png"/>
          <p:cNvPicPr>
            <a:picLocks noChangeAspect="1"/>
          </p:cNvPicPr>
          <p:nvPr/>
        </p:nvPicPr>
        <p:blipFill>
          <a:blip r:embed="rId3"/>
          <a:stretch>
            <a:fillRect/>
          </a:stretch>
        </p:blipFill>
        <p:spPr>
          <a:xfrm>
            <a:off x="10716768" y="184607"/>
            <a:ext cx="475488" cy="398882"/>
          </a:xfrm>
          <a:prstGeom prst="rect">
            <a:avLst/>
          </a:prstGeom>
        </p:spPr>
      </p:pic>
      <p:pic>
        <p:nvPicPr>
          <p:cNvPr id="5" name="Image 1" descr="/tmp/thx/deck/figs/eee_logo.png"/>
          <p:cNvPicPr>
            <a:picLocks noChangeAspect="1"/>
          </p:cNvPicPr>
          <p:nvPr/>
        </p:nvPicPr>
        <p:blipFill>
          <a:blip r:embed="rId4"/>
          <a:stretch>
            <a:fillRect/>
          </a:stretch>
        </p:blipFill>
        <p:spPr>
          <a:xfrm>
            <a:off x="11265408" y="186217"/>
            <a:ext cx="475488" cy="395662"/>
          </a:xfrm>
          <a:prstGeom prst="rect">
            <a:avLst/>
          </a:prstGeom>
        </p:spPr>
      </p:pic>
      <mc:AlternateContent xmlns:mc="http://schemas.openxmlformats.org/markup-compatibility/2006" xmlns:a14="http://schemas.microsoft.com/office/drawing/2010/main">
        <mc:Choice Requires="a14">
          <p:graphicFrame>
            <p:nvGraphicFramePr>
              <p:cNvPr id="6" name="Table 0"/>
              <p:cNvGraphicFramePr>
                <a:graphicFrameLocks noGrp="1"/>
              </p:cNvGraphicFramePr>
              <p:nvPr/>
            </p:nvGraphicFramePr>
            <p:xfrm>
              <a:off x="457200" y="1325880"/>
              <a:ext cx="11292840" cy="4398264"/>
            </p:xfrm>
            <a:graphic>
              <a:graphicData uri="http://schemas.openxmlformats.org/drawingml/2006/table">
                <a:tbl>
                  <a:tblPr/>
                  <a:tblGrid>
                    <a:gridCol w="2468880">
                      <a:extLst>
                        <a:ext uri="{9D8B030D-6E8A-4147-A177-3AD203B41FA5}">
                          <a16:colId xmlns:a16="http://schemas.microsoft.com/office/drawing/2014/main" val="20000"/>
                        </a:ext>
                      </a:extLst>
                    </a:gridCol>
                    <a:gridCol w="6400800">
                      <a:extLst>
                        <a:ext uri="{9D8B030D-6E8A-4147-A177-3AD203B41FA5}">
                          <a16:colId xmlns:a16="http://schemas.microsoft.com/office/drawing/2014/main" val="20001"/>
                        </a:ext>
                      </a:extLst>
                    </a:gridCol>
                    <a:gridCol w="2423160">
                      <a:extLst>
                        <a:ext uri="{9D8B030D-6E8A-4147-A177-3AD203B41FA5}">
                          <a16:colId xmlns:a16="http://schemas.microsoft.com/office/drawing/2014/main" val="20002"/>
                        </a:ext>
                      </a:extLst>
                    </a:gridCol>
                  </a:tblGrid>
                  <a:tr h="338328">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Concept</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solidFill>
                          <a:srgbClr val="000000"/>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Contributors</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solidFill>
                          <a:srgbClr val="000000"/>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Weights </a:t>
                          </a:r>
                          <a14:m>
                            <m:oMath xmlns:m="http://schemas.openxmlformats.org/officeDocument/2006/math">
                              <m:r>
                                <a:rPr lang="en-US" sz="1200">
                                  <a:latin typeface="Cambria Math"/>
                                </a:rPr>
                                <m:t>𝜔</m:t>
                              </m:r>
                            </m:oMath>
                          </a14:m>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solidFill>
                          <a:srgbClr val="000000"/>
                        </a:solidFill>
                      </a:tcPr>
                    </a:tc>
                    <a:extLst>
                      <a:ext uri="{0D108BD9-81ED-4DB2-BD59-A6C34878D82A}">
                        <a16:rowId xmlns:a16="http://schemas.microsoft.com/office/drawing/2014/main" val="10000"/>
                      </a:ext>
                    </a:extLst>
                  </a:tr>
                  <a:tr h="338328">
                    <a:tc>
                      <a:txBody>
                        <a:bodyPr/>
                        <a:lstStyle/>
                        <a:p>
                          <a:pPr marL="0" indent="0">
                            <a:buNone/>
                          </a:pPr>
                          <a:r>
                            <a:rPr lang="en-US" sz="1200" b="1" dirty="0">
                              <a:solidFill>
                                <a:srgbClr val="E31836"/>
                              </a:solidFill>
                              <a:latin typeface="Calibri" pitchFamily="34" charset="0"/>
                              <a:ea typeface="Calibri" pitchFamily="34" charset="-122"/>
                              <a:cs typeface="Calibri" pitchFamily="34" charset="-120"/>
                            </a:rPr>
                            <a:t>L1 fire severity</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200" dirty="0">
                              <a:solidFill>
                                <a:srgbClr val="222222"/>
                              </a:solidFill>
                              <a:latin typeface="Calibri" pitchFamily="34" charset="0"/>
                              <a:ea typeface="Calibri" pitchFamily="34" charset="-122"/>
                              <a:cs typeface="Calibri" pitchFamily="34" charset="-120"/>
                            </a:rPr>
                            <a:t>fire intensity, spread potential</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200" b="1" dirty="0">
                              <a:solidFill>
                                <a:srgbClr val="222222"/>
                              </a:solidFill>
                              <a:latin typeface="Calibri" pitchFamily="34" charset="0"/>
                              <a:ea typeface="Calibri" pitchFamily="34" charset="-122"/>
                              <a:cs typeface="Calibri" pitchFamily="34" charset="-120"/>
                            </a:rPr>
                            <a:t>0.60, 0.40</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extLst>
                      <a:ext uri="{0D108BD9-81ED-4DB2-BD59-A6C34878D82A}">
                        <a16:rowId xmlns:a16="http://schemas.microsoft.com/office/drawing/2014/main" val="10001"/>
                      </a:ext>
                    </a:extLst>
                  </a:tr>
                  <a:tr h="338328">
                    <a:tc>
                      <a:txBody>
                        <a:bodyPr/>
                        <a:lstStyle/>
                        <a:p>
                          <a:pPr marL="0" indent="0">
                            <a:buNone/>
                          </a:pPr>
                          <a:r>
                            <a:rPr lang="en-US" sz="1200" b="1" dirty="0">
                              <a:solidFill>
                                <a:srgbClr val="E31836"/>
                              </a:solidFill>
                              <a:latin typeface="Calibri" pitchFamily="34" charset="0"/>
                              <a:ea typeface="Calibri" pitchFamily="34" charset="-122"/>
                              <a:cs typeface="Calibri" pitchFamily="34" charset="-120"/>
                            </a:rPr>
                            <a:t>L1 spread hazard</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200" dirty="0">
                              <a:solidFill>
                                <a:srgbClr val="222222"/>
                              </a:solidFill>
                              <a:latin typeface="Calibri" pitchFamily="34" charset="0"/>
                              <a:ea typeface="Calibri" pitchFamily="34" charset="-122"/>
                              <a:cs typeface="Calibri" pitchFamily="34" charset="-120"/>
                            </a:rPr>
                            <a:t>spread potential, weather severity, ignition proximity</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200" b="1" dirty="0">
                              <a:solidFill>
                                <a:srgbClr val="222222"/>
                              </a:solidFill>
                              <a:latin typeface="Calibri" pitchFamily="34" charset="0"/>
                              <a:ea typeface="Calibri" pitchFamily="34" charset="-122"/>
                              <a:cs typeface="Calibri" pitchFamily="34" charset="-120"/>
                            </a:rPr>
                            <a:t>0.45, 0.35, 0.20</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extLst>
                      <a:ext uri="{0D108BD9-81ED-4DB2-BD59-A6C34878D82A}">
                        <a16:rowId xmlns:a16="http://schemas.microsoft.com/office/drawing/2014/main" val="10002"/>
                      </a:ext>
                    </a:extLst>
                  </a:tr>
                  <a:tr h="338328">
                    <a:tc>
                      <a:txBody>
                        <a:bodyPr/>
                        <a:lstStyle/>
                        <a:p>
                          <a:pPr marL="0" indent="0">
                            <a:buNone/>
                          </a:pPr>
                          <a:r>
                            <a:rPr lang="en-US" sz="1200" b="1" dirty="0">
                              <a:solidFill>
                                <a:srgbClr val="E31836"/>
                              </a:solidFill>
                              <a:latin typeface="Calibri" pitchFamily="34" charset="0"/>
                              <a:ea typeface="Calibri" pitchFamily="34" charset="-122"/>
                              <a:cs typeface="Calibri" pitchFamily="34" charset="-120"/>
                            </a:rPr>
                            <a:t>L1 fuel hazard</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200" dirty="0">
                              <a:solidFill>
                                <a:srgbClr val="222222"/>
                              </a:solidFill>
                              <a:latin typeface="Calibri" pitchFamily="34" charset="0"/>
                              <a:ea typeface="Calibri" pitchFamily="34" charset="-122"/>
                              <a:cs typeface="Calibri" pitchFamily="34" charset="-120"/>
                            </a:rPr>
                            <a:t>weather severity, fuel load</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200" b="1" dirty="0">
                              <a:solidFill>
                                <a:srgbClr val="222222"/>
                              </a:solidFill>
                              <a:latin typeface="Calibri" pitchFamily="34" charset="0"/>
                              <a:ea typeface="Calibri" pitchFamily="34" charset="-122"/>
                              <a:cs typeface="Calibri" pitchFamily="34" charset="-120"/>
                            </a:rPr>
                            <a:t>0.40, 0.60</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extLst>
                      <a:ext uri="{0D108BD9-81ED-4DB2-BD59-A6C34878D82A}">
                        <a16:rowId xmlns:a16="http://schemas.microsoft.com/office/drawing/2014/main" val="10003"/>
                      </a:ext>
                    </a:extLst>
                  </a:tr>
                  <a:tr h="338328">
                    <a:tc>
                      <a:txBody>
                        <a:bodyPr/>
                        <a:lstStyle/>
                        <a:p>
                          <a:pPr marL="0" indent="0">
                            <a:buNone/>
                          </a:pPr>
                          <a:r>
                            <a:rPr lang="en-US" sz="1200" b="1" dirty="0">
                              <a:solidFill>
                                <a:srgbClr val="E31836"/>
                              </a:solidFill>
                              <a:latin typeface="Calibri" pitchFamily="34" charset="0"/>
                              <a:ea typeface="Calibri" pitchFamily="34" charset="-122"/>
                              <a:cs typeface="Calibri" pitchFamily="34" charset="-120"/>
                            </a:rPr>
                            <a:t>L1 asset value</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200" dirty="0">
                              <a:solidFill>
                                <a:srgbClr val="222222"/>
                              </a:solidFill>
                              <a:latin typeface="Calibri" pitchFamily="34" charset="0"/>
                              <a:ea typeface="Calibri" pitchFamily="34" charset="-122"/>
                              <a:cs typeface="Calibri" pitchFamily="34" charset="-120"/>
                            </a:rPr>
                            <a:t>asset exposure</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200" b="1" dirty="0">
                              <a:solidFill>
                                <a:srgbClr val="222222"/>
                              </a:solidFill>
                              <a:latin typeface="Calibri" pitchFamily="34" charset="0"/>
                              <a:ea typeface="Calibri" pitchFamily="34" charset="-122"/>
                              <a:cs typeface="Calibri" pitchFamily="34" charset="-120"/>
                            </a:rPr>
                            <a:t>1.00</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extLst>
                      <a:ext uri="{0D108BD9-81ED-4DB2-BD59-A6C34878D82A}">
                        <a16:rowId xmlns:a16="http://schemas.microsoft.com/office/drawing/2014/main" val="10004"/>
                      </a:ext>
                    </a:extLst>
                  </a:tr>
                  <a:tr h="338328">
                    <a:tc>
                      <a:txBody>
                        <a:bodyPr/>
                        <a:lstStyle/>
                        <a:p>
                          <a:pPr marL="0" indent="0">
                            <a:buNone/>
                          </a:pPr>
                          <a:r>
                            <a:rPr lang="en-US" sz="1200" b="1" dirty="0">
                              <a:solidFill>
                                <a:srgbClr val="E31836"/>
                              </a:solidFill>
                              <a:latin typeface="Calibri" pitchFamily="34" charset="0"/>
                              <a:ea typeface="Calibri" pitchFamily="34" charset="-122"/>
                              <a:cs typeface="Calibri" pitchFamily="34" charset="-120"/>
                            </a:rPr>
                            <a:t>L1 crew reachability</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200" dirty="0">
                              <a:solidFill>
                                <a:srgbClr val="222222"/>
                              </a:solidFill>
                              <a:latin typeface="Calibri" pitchFamily="34" charset="0"/>
                              <a:ea typeface="Calibri" pitchFamily="34" charset="-122"/>
                              <a:cs typeface="Calibri" pitchFamily="34" charset="-120"/>
                            </a:rPr>
                            <a:t>resource accessibility, access &amp; road status</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200" b="1" dirty="0">
                              <a:solidFill>
                                <a:srgbClr val="222222"/>
                              </a:solidFill>
                              <a:latin typeface="Calibri" pitchFamily="34" charset="0"/>
                              <a:ea typeface="Calibri" pitchFamily="34" charset="-122"/>
                              <a:cs typeface="Calibri" pitchFamily="34" charset="-120"/>
                            </a:rPr>
                            <a:t>0.55, 0.45</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extLst>
                      <a:ext uri="{0D108BD9-81ED-4DB2-BD59-A6C34878D82A}">
                        <a16:rowId xmlns:a16="http://schemas.microsoft.com/office/drawing/2014/main" val="10005"/>
                      </a:ext>
                    </a:extLst>
                  </a:tr>
                  <a:tr h="338328">
                    <a:tc>
                      <a:txBody>
                        <a:bodyPr/>
                        <a:lstStyle/>
                        <a:p>
                          <a:pPr marL="0" indent="0">
                            <a:buNone/>
                          </a:pPr>
                          <a:r>
                            <a:rPr lang="en-US" sz="1200" b="1" dirty="0">
                              <a:solidFill>
                                <a:srgbClr val="E31836"/>
                              </a:solidFill>
                              <a:latin typeface="Calibri" pitchFamily="34" charset="0"/>
                              <a:ea typeface="Calibri" pitchFamily="34" charset="-122"/>
                              <a:cs typeface="Calibri" pitchFamily="34" charset="-120"/>
                            </a:rPr>
                            <a:t>L1 logistics support</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200" dirty="0">
                              <a:solidFill>
                                <a:srgbClr val="222222"/>
                              </a:solidFill>
                              <a:latin typeface="Calibri" pitchFamily="34" charset="0"/>
                              <a:ea typeface="Calibri" pitchFamily="34" charset="-122"/>
                              <a:cs typeface="Calibri" pitchFamily="34" charset="-120"/>
                            </a:rPr>
                            <a:t>suppression availability</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200" b="1" dirty="0">
                              <a:solidFill>
                                <a:srgbClr val="222222"/>
                              </a:solidFill>
                              <a:latin typeface="Calibri" pitchFamily="34" charset="0"/>
                              <a:ea typeface="Calibri" pitchFamily="34" charset="-122"/>
                              <a:cs typeface="Calibri" pitchFamily="34" charset="-120"/>
                            </a:rPr>
                            <a:t>1.00</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extLst>
                      <a:ext uri="{0D108BD9-81ED-4DB2-BD59-A6C34878D82A}">
                        <a16:rowId xmlns:a16="http://schemas.microsoft.com/office/drawing/2014/main" val="10006"/>
                      </a:ext>
                    </a:extLst>
                  </a:tr>
                  <a:tr h="338328">
                    <a:tc>
                      <a:txBody>
                        <a:bodyPr/>
                        <a:lstStyle/>
                        <a:p>
                          <a:pPr marL="0" indent="0">
                            <a:buNone/>
                          </a:pPr>
                          <a:r>
                            <a:rPr lang="en-US" sz="1200" b="1" dirty="0">
                              <a:solidFill>
                                <a:srgbClr val="E31836"/>
                              </a:solidFill>
                              <a:latin typeface="Calibri" pitchFamily="34" charset="0"/>
                              <a:ea typeface="Calibri" pitchFamily="34" charset="-122"/>
                              <a:cs typeface="Calibri" pitchFamily="34" charset="-120"/>
                            </a:rPr>
                            <a:t>L2 fire threat level</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200" dirty="0">
                              <a:solidFill>
                                <a:srgbClr val="222222"/>
                              </a:solidFill>
                              <a:latin typeface="Calibri" pitchFamily="34" charset="0"/>
                              <a:ea typeface="Calibri" pitchFamily="34" charset="-122"/>
                              <a:cs typeface="Calibri" pitchFamily="34" charset="-120"/>
                            </a:rPr>
                            <a:t>fire severity, spread hazard, fuel hazard</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200" b="1" dirty="0">
                              <a:solidFill>
                                <a:srgbClr val="222222"/>
                              </a:solidFill>
                              <a:latin typeface="Calibri" pitchFamily="34" charset="0"/>
                              <a:ea typeface="Calibri" pitchFamily="34" charset="-122"/>
                              <a:cs typeface="Calibri" pitchFamily="34" charset="-120"/>
                            </a:rPr>
                            <a:t>0.50, 0.30, 0.20</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extLst>
                      <a:ext uri="{0D108BD9-81ED-4DB2-BD59-A6C34878D82A}">
                        <a16:rowId xmlns:a16="http://schemas.microsoft.com/office/drawing/2014/main" val="10007"/>
                      </a:ext>
                    </a:extLst>
                  </a:tr>
                  <a:tr h="338328">
                    <a:tc>
                      <a:txBody>
                        <a:bodyPr/>
                        <a:lstStyle/>
                        <a:p>
                          <a:pPr marL="0" indent="0">
                            <a:buNone/>
                          </a:pPr>
                          <a:r>
                            <a:rPr lang="en-US" sz="1200" b="1" dirty="0">
                              <a:solidFill>
                                <a:srgbClr val="E31836"/>
                              </a:solidFill>
                              <a:latin typeface="Calibri" pitchFamily="34" charset="0"/>
                              <a:ea typeface="Calibri" pitchFamily="34" charset="-122"/>
                              <a:cs typeface="Calibri" pitchFamily="34" charset="-120"/>
                            </a:rPr>
                            <a:t>L2 asset exposure risk</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200" dirty="0">
                              <a:solidFill>
                                <a:srgbClr val="222222"/>
                              </a:solidFill>
                              <a:latin typeface="Calibri" pitchFamily="34" charset="0"/>
                              <a:ea typeface="Calibri" pitchFamily="34" charset="-122"/>
                              <a:cs typeface="Calibri" pitchFamily="34" charset="-120"/>
                            </a:rPr>
                            <a:t>spread hazard, asset value</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200" b="1" dirty="0">
                              <a:solidFill>
                                <a:srgbClr val="222222"/>
                              </a:solidFill>
                              <a:latin typeface="Calibri" pitchFamily="34" charset="0"/>
                              <a:ea typeface="Calibri" pitchFamily="34" charset="-122"/>
                              <a:cs typeface="Calibri" pitchFamily="34" charset="-120"/>
                            </a:rPr>
                            <a:t>0.40, 0.60</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extLst>
                      <a:ext uri="{0D108BD9-81ED-4DB2-BD59-A6C34878D82A}">
                        <a16:rowId xmlns:a16="http://schemas.microsoft.com/office/drawing/2014/main" val="10008"/>
                      </a:ext>
                    </a:extLst>
                  </a:tr>
                  <a:tr h="338328">
                    <a:tc>
                      <a:txBody>
                        <a:bodyPr/>
                        <a:lstStyle/>
                        <a:p>
                          <a:pPr marL="0" indent="0">
                            <a:buNone/>
                          </a:pPr>
                          <a:r>
                            <a:rPr lang="en-US" sz="1200" b="1" dirty="0">
                              <a:solidFill>
                                <a:srgbClr val="E31836"/>
                              </a:solidFill>
                              <a:latin typeface="Calibri" pitchFamily="34" charset="0"/>
                              <a:ea typeface="Calibri" pitchFamily="34" charset="-122"/>
                              <a:cs typeface="Calibri" pitchFamily="34" charset="-120"/>
                            </a:rPr>
                            <a:t>L2 suppression feasibility</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200" dirty="0">
                              <a:solidFill>
                                <a:srgbClr val="222222"/>
                              </a:solidFill>
                              <a:latin typeface="Calibri" pitchFamily="34" charset="0"/>
                              <a:ea typeface="Calibri" pitchFamily="34" charset="-122"/>
                              <a:cs typeface="Calibri" pitchFamily="34" charset="-120"/>
                            </a:rPr>
                            <a:t>crew reachability, logistics support</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200" b="1" dirty="0">
                              <a:solidFill>
                                <a:srgbClr val="222222"/>
                              </a:solidFill>
                              <a:latin typeface="Calibri" pitchFamily="34" charset="0"/>
                              <a:ea typeface="Calibri" pitchFamily="34" charset="-122"/>
                              <a:cs typeface="Calibri" pitchFamily="34" charset="-120"/>
                            </a:rPr>
                            <a:t>0.50, 0.50</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extLst>
                      <a:ext uri="{0D108BD9-81ED-4DB2-BD59-A6C34878D82A}">
                        <a16:rowId xmlns:a16="http://schemas.microsoft.com/office/drawing/2014/main" val="10009"/>
                      </a:ext>
                    </a:extLst>
                  </a:tr>
                  <a:tr h="338328">
                    <a:tc>
                      <a:txBody>
                        <a:bodyPr/>
                        <a:lstStyle/>
                        <a:p>
                          <a:pPr marL="0" indent="0">
                            <a:buNone/>
                          </a:pPr>
                          <a:r>
                            <a:rPr lang="en-US" sz="1200" b="1" dirty="0">
                              <a:solidFill>
                                <a:srgbClr val="E31836"/>
                              </a:solidFill>
                              <a:latin typeface="Calibri" pitchFamily="34" charset="0"/>
                              <a:ea typeface="Calibri" pitchFamily="34" charset="-122"/>
                              <a:cs typeface="Calibri" pitchFamily="34" charset="-120"/>
                            </a:rPr>
                            <a:t>L3 intervention urgency</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200" dirty="0">
                              <a:solidFill>
                                <a:srgbClr val="222222"/>
                              </a:solidFill>
                              <a:latin typeface="Calibri" pitchFamily="34" charset="0"/>
                              <a:ea typeface="Calibri" pitchFamily="34" charset="-122"/>
                              <a:cs typeface="Calibri" pitchFamily="34" charset="-120"/>
                            </a:rPr>
                            <a:t>fire threat level, asset exposure risk, temporal urgency</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200" b="1" dirty="0">
                              <a:solidFill>
                                <a:srgbClr val="222222"/>
                              </a:solidFill>
                              <a:latin typeface="Calibri" pitchFamily="34" charset="0"/>
                              <a:ea typeface="Calibri" pitchFamily="34" charset="-122"/>
                              <a:cs typeface="Calibri" pitchFamily="34" charset="-120"/>
                            </a:rPr>
                            <a:t>0.40, 0.35, 0.25</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extLst>
                      <a:ext uri="{0D108BD9-81ED-4DB2-BD59-A6C34878D82A}">
                        <a16:rowId xmlns:a16="http://schemas.microsoft.com/office/drawing/2014/main" val="10010"/>
                      </a:ext>
                    </a:extLst>
                  </a:tr>
                  <a:tr h="338328">
                    <a:tc>
                      <a:txBody>
                        <a:bodyPr/>
                        <a:lstStyle/>
                        <a:p>
                          <a:pPr marL="0" indent="0">
                            <a:buNone/>
                          </a:pPr>
                          <a:r>
                            <a:rPr lang="en-US" sz="1200" b="1" dirty="0">
                              <a:solidFill>
                                <a:srgbClr val="E31836"/>
                              </a:solidFill>
                              <a:latin typeface="Calibri" pitchFamily="34" charset="0"/>
                              <a:ea typeface="Calibri" pitchFamily="34" charset="-122"/>
                              <a:cs typeface="Calibri" pitchFamily="34" charset="-120"/>
                            </a:rPr>
                            <a:t>L3 evacuation pressure</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200" dirty="0">
                              <a:solidFill>
                                <a:srgbClr val="222222"/>
                              </a:solidFill>
                              <a:latin typeface="Calibri" pitchFamily="34" charset="0"/>
                              <a:ea typeface="Calibri" pitchFamily="34" charset="-122"/>
                              <a:cs typeface="Calibri" pitchFamily="34" charset="-120"/>
                            </a:rPr>
                            <a:t>asset exposure risk, inverted access &amp; road status, temporal urgency</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200" b="1" dirty="0">
                              <a:solidFill>
                                <a:srgbClr val="222222"/>
                              </a:solidFill>
                              <a:latin typeface="Calibri" pitchFamily="34" charset="0"/>
                              <a:ea typeface="Calibri" pitchFamily="34" charset="-122"/>
                              <a:cs typeface="Calibri" pitchFamily="34" charset="-120"/>
                            </a:rPr>
                            <a:t>0.45, 0.25, 0.30</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extLst>
                      <a:ext uri="{0D108BD9-81ED-4DB2-BD59-A6C34878D82A}">
                        <a16:rowId xmlns:a16="http://schemas.microsoft.com/office/drawing/2014/main" val="10011"/>
                      </a:ext>
                    </a:extLst>
                  </a:tr>
                  <a:tr h="338328">
                    <a:tc>
                      <a:txBody>
                        <a:bodyPr/>
                        <a:lstStyle/>
                        <a:p>
                          <a:pPr marL="0" indent="0">
                            <a:buNone/>
                          </a:pPr>
                          <a:r>
                            <a:rPr lang="en-US" sz="1200" b="1" dirty="0">
                              <a:solidFill>
                                <a:srgbClr val="E31836"/>
                              </a:solidFill>
                              <a:latin typeface="Calibri" pitchFamily="34" charset="0"/>
                              <a:ea typeface="Calibri" pitchFamily="34" charset="-122"/>
                              <a:cs typeface="Calibri" pitchFamily="34" charset="-120"/>
                            </a:rPr>
                            <a:t>L4 operational priority</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200" dirty="0">
                              <a:solidFill>
                                <a:srgbClr val="222222"/>
                              </a:solidFill>
                              <a:latin typeface="Calibri" pitchFamily="34" charset="0"/>
                              <a:ea typeface="Calibri" pitchFamily="34" charset="-122"/>
                              <a:cs typeface="Calibri" pitchFamily="34" charset="-120"/>
                            </a:rPr>
                            <a:t>fire threat level, asset exposure risk</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200" b="1" dirty="0">
                              <a:solidFill>
                                <a:srgbClr val="222222"/>
                              </a:solidFill>
                              <a:latin typeface="Calibri" pitchFamily="34" charset="0"/>
                              <a:ea typeface="Calibri" pitchFamily="34" charset="-122"/>
                              <a:cs typeface="Calibri" pitchFamily="34" charset="-120"/>
                            </a:rPr>
                            <a:t>0.55, 0.45</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extLst>
                      <a:ext uri="{0D108BD9-81ED-4DB2-BD59-A6C34878D82A}">
                        <a16:rowId xmlns:a16="http://schemas.microsoft.com/office/drawing/2014/main" val="10012"/>
                      </a:ext>
                    </a:extLst>
                  </a:tr>
                </a:tbl>
              </a:graphicData>
            </a:graphic>
          </p:graphicFrame>
        </mc:Choice>
        <mc:Fallback xmlns="">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57200" y="1325880"/>
              <a:ext cx="11292840" cy="4398264"/>
            </p:xfrm>
            <a:graphic>
              <a:graphicData uri="http://schemas.openxmlformats.org/drawingml/2006/table">
                <a:tbl>
                  <a:tblPr/>
                  <a:tblGrid>
                    <a:gridCol w="2468880">
                      <a:extLst>
                        <a:ext uri="{9D8B030D-6E8A-4147-A177-3AD203B41FA5}">
                          <a16:colId xmlns:a16="http://schemas.microsoft.com/office/drawing/2014/main" val="20000"/>
                        </a:ext>
                      </a:extLst>
                    </a:gridCol>
                    <a:gridCol w="6400800">
                      <a:extLst>
                        <a:ext uri="{9D8B030D-6E8A-4147-A177-3AD203B41FA5}">
                          <a16:colId xmlns:a16="http://schemas.microsoft.com/office/drawing/2014/main" val="20001"/>
                        </a:ext>
                      </a:extLst>
                    </a:gridCol>
                    <a:gridCol w="2423160">
                      <a:extLst>
                        <a:ext uri="{9D8B030D-6E8A-4147-A177-3AD203B41FA5}">
                          <a16:colId xmlns:a16="http://schemas.microsoft.com/office/drawing/2014/main" val="20002"/>
                        </a:ext>
                      </a:extLst>
                    </a:gridCol>
                  </a:tblGrid>
                  <a:tr h="338328">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Concept</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solidFill>
                          <a:srgbClr val="000000"/>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Contributors</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solidFill>
                          <a:srgbClr val="000000"/>
                        </a:solidFill>
                      </a:tcPr>
                    </a:tc>
                    <a:tc>
                      <a:txBody>
                        <a:bodyPr/>
                        <a:lstStyle/>
                        <a:p>
                          <a:endParaRPr lang="tr-T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blipFill>
                          <a:blip r:embed="rId5"/>
                          <a:stretch>
                            <a:fillRect l="-365829" t="-1786" r="-503" b="-1194643"/>
                          </a:stretch>
                        </a:blipFill>
                      </a:tcPr>
                    </a:tc>
                    <a:extLst>
                      <a:ext uri="{0D108BD9-81ED-4DB2-BD59-A6C34878D82A}">
                        <a16:rowId xmlns:a16="http://schemas.microsoft.com/office/drawing/2014/main" val="10000"/>
                      </a:ext>
                    </a:extLst>
                  </a:tr>
                  <a:tr h="338328">
                    <a:tc>
                      <a:txBody>
                        <a:bodyPr/>
                        <a:lstStyle/>
                        <a:p>
                          <a:pPr marL="0" indent="0">
                            <a:buNone/>
                          </a:pPr>
                          <a:r>
                            <a:rPr lang="en-US" sz="1200" b="1" dirty="0">
                              <a:solidFill>
                                <a:srgbClr val="E31836"/>
                              </a:solidFill>
                              <a:latin typeface="Calibri" pitchFamily="34" charset="0"/>
                              <a:ea typeface="Calibri" pitchFamily="34" charset="-122"/>
                              <a:cs typeface="Calibri" pitchFamily="34" charset="-120"/>
                            </a:rPr>
                            <a:t>L1 fire severity</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200" dirty="0">
                              <a:solidFill>
                                <a:srgbClr val="222222"/>
                              </a:solidFill>
                              <a:latin typeface="Calibri" pitchFamily="34" charset="0"/>
                              <a:ea typeface="Calibri" pitchFamily="34" charset="-122"/>
                              <a:cs typeface="Calibri" pitchFamily="34" charset="-120"/>
                            </a:rPr>
                            <a:t>fire intensity, spread potential</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200" b="1" dirty="0">
                              <a:solidFill>
                                <a:srgbClr val="222222"/>
                              </a:solidFill>
                              <a:latin typeface="Calibri" pitchFamily="34" charset="0"/>
                              <a:ea typeface="Calibri" pitchFamily="34" charset="-122"/>
                              <a:cs typeface="Calibri" pitchFamily="34" charset="-120"/>
                            </a:rPr>
                            <a:t>0.60, 0.40</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extLst>
                      <a:ext uri="{0D108BD9-81ED-4DB2-BD59-A6C34878D82A}">
                        <a16:rowId xmlns:a16="http://schemas.microsoft.com/office/drawing/2014/main" val="10001"/>
                      </a:ext>
                    </a:extLst>
                  </a:tr>
                  <a:tr h="338328">
                    <a:tc>
                      <a:txBody>
                        <a:bodyPr/>
                        <a:lstStyle/>
                        <a:p>
                          <a:pPr marL="0" indent="0">
                            <a:buNone/>
                          </a:pPr>
                          <a:r>
                            <a:rPr lang="en-US" sz="1200" b="1" dirty="0">
                              <a:solidFill>
                                <a:srgbClr val="E31836"/>
                              </a:solidFill>
                              <a:latin typeface="Calibri" pitchFamily="34" charset="0"/>
                              <a:ea typeface="Calibri" pitchFamily="34" charset="-122"/>
                              <a:cs typeface="Calibri" pitchFamily="34" charset="-120"/>
                            </a:rPr>
                            <a:t>L1 spread hazard</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200" dirty="0">
                              <a:solidFill>
                                <a:srgbClr val="222222"/>
                              </a:solidFill>
                              <a:latin typeface="Calibri" pitchFamily="34" charset="0"/>
                              <a:ea typeface="Calibri" pitchFamily="34" charset="-122"/>
                              <a:cs typeface="Calibri" pitchFamily="34" charset="-120"/>
                            </a:rPr>
                            <a:t>spread potential, weather severity, ignition proximity</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200" b="1" dirty="0">
                              <a:solidFill>
                                <a:srgbClr val="222222"/>
                              </a:solidFill>
                              <a:latin typeface="Calibri" pitchFamily="34" charset="0"/>
                              <a:ea typeface="Calibri" pitchFamily="34" charset="-122"/>
                              <a:cs typeface="Calibri" pitchFamily="34" charset="-120"/>
                            </a:rPr>
                            <a:t>0.45, 0.35, 0.20</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extLst>
                      <a:ext uri="{0D108BD9-81ED-4DB2-BD59-A6C34878D82A}">
                        <a16:rowId xmlns:a16="http://schemas.microsoft.com/office/drawing/2014/main" val="10002"/>
                      </a:ext>
                    </a:extLst>
                  </a:tr>
                  <a:tr h="338328">
                    <a:tc>
                      <a:txBody>
                        <a:bodyPr/>
                        <a:lstStyle/>
                        <a:p>
                          <a:pPr marL="0" indent="0">
                            <a:buNone/>
                          </a:pPr>
                          <a:r>
                            <a:rPr lang="en-US" sz="1200" b="1" dirty="0">
                              <a:solidFill>
                                <a:srgbClr val="E31836"/>
                              </a:solidFill>
                              <a:latin typeface="Calibri" pitchFamily="34" charset="0"/>
                              <a:ea typeface="Calibri" pitchFamily="34" charset="-122"/>
                              <a:cs typeface="Calibri" pitchFamily="34" charset="-120"/>
                            </a:rPr>
                            <a:t>L1 fuel hazard</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200" dirty="0">
                              <a:solidFill>
                                <a:srgbClr val="222222"/>
                              </a:solidFill>
                              <a:latin typeface="Calibri" pitchFamily="34" charset="0"/>
                              <a:ea typeface="Calibri" pitchFamily="34" charset="-122"/>
                              <a:cs typeface="Calibri" pitchFamily="34" charset="-120"/>
                            </a:rPr>
                            <a:t>weather severity, fuel load</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200" b="1" dirty="0">
                              <a:solidFill>
                                <a:srgbClr val="222222"/>
                              </a:solidFill>
                              <a:latin typeface="Calibri" pitchFamily="34" charset="0"/>
                              <a:ea typeface="Calibri" pitchFamily="34" charset="-122"/>
                              <a:cs typeface="Calibri" pitchFamily="34" charset="-120"/>
                            </a:rPr>
                            <a:t>0.40, 0.60</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extLst>
                      <a:ext uri="{0D108BD9-81ED-4DB2-BD59-A6C34878D82A}">
                        <a16:rowId xmlns:a16="http://schemas.microsoft.com/office/drawing/2014/main" val="10003"/>
                      </a:ext>
                    </a:extLst>
                  </a:tr>
                  <a:tr h="338328">
                    <a:tc>
                      <a:txBody>
                        <a:bodyPr/>
                        <a:lstStyle/>
                        <a:p>
                          <a:pPr marL="0" indent="0">
                            <a:buNone/>
                          </a:pPr>
                          <a:r>
                            <a:rPr lang="en-US" sz="1200" b="1" dirty="0">
                              <a:solidFill>
                                <a:srgbClr val="E31836"/>
                              </a:solidFill>
                              <a:latin typeface="Calibri" pitchFamily="34" charset="0"/>
                              <a:ea typeface="Calibri" pitchFamily="34" charset="-122"/>
                              <a:cs typeface="Calibri" pitchFamily="34" charset="-120"/>
                            </a:rPr>
                            <a:t>L1 asset value</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200" dirty="0">
                              <a:solidFill>
                                <a:srgbClr val="222222"/>
                              </a:solidFill>
                              <a:latin typeface="Calibri" pitchFamily="34" charset="0"/>
                              <a:ea typeface="Calibri" pitchFamily="34" charset="-122"/>
                              <a:cs typeface="Calibri" pitchFamily="34" charset="-120"/>
                            </a:rPr>
                            <a:t>asset exposure</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200" b="1" dirty="0">
                              <a:solidFill>
                                <a:srgbClr val="222222"/>
                              </a:solidFill>
                              <a:latin typeface="Calibri" pitchFamily="34" charset="0"/>
                              <a:ea typeface="Calibri" pitchFamily="34" charset="-122"/>
                              <a:cs typeface="Calibri" pitchFamily="34" charset="-120"/>
                            </a:rPr>
                            <a:t>1.00</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extLst>
                      <a:ext uri="{0D108BD9-81ED-4DB2-BD59-A6C34878D82A}">
                        <a16:rowId xmlns:a16="http://schemas.microsoft.com/office/drawing/2014/main" val="10004"/>
                      </a:ext>
                    </a:extLst>
                  </a:tr>
                  <a:tr h="338328">
                    <a:tc>
                      <a:txBody>
                        <a:bodyPr/>
                        <a:lstStyle/>
                        <a:p>
                          <a:pPr marL="0" indent="0">
                            <a:buNone/>
                          </a:pPr>
                          <a:r>
                            <a:rPr lang="en-US" sz="1200" b="1" dirty="0">
                              <a:solidFill>
                                <a:srgbClr val="E31836"/>
                              </a:solidFill>
                              <a:latin typeface="Calibri" pitchFamily="34" charset="0"/>
                              <a:ea typeface="Calibri" pitchFamily="34" charset="-122"/>
                              <a:cs typeface="Calibri" pitchFamily="34" charset="-120"/>
                            </a:rPr>
                            <a:t>L1 crew reachability</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200" dirty="0">
                              <a:solidFill>
                                <a:srgbClr val="222222"/>
                              </a:solidFill>
                              <a:latin typeface="Calibri" pitchFamily="34" charset="0"/>
                              <a:ea typeface="Calibri" pitchFamily="34" charset="-122"/>
                              <a:cs typeface="Calibri" pitchFamily="34" charset="-120"/>
                            </a:rPr>
                            <a:t>resource accessibility, access &amp; road status</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200" b="1" dirty="0">
                              <a:solidFill>
                                <a:srgbClr val="222222"/>
                              </a:solidFill>
                              <a:latin typeface="Calibri" pitchFamily="34" charset="0"/>
                              <a:ea typeface="Calibri" pitchFamily="34" charset="-122"/>
                              <a:cs typeface="Calibri" pitchFamily="34" charset="-120"/>
                            </a:rPr>
                            <a:t>0.55, 0.45</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extLst>
                      <a:ext uri="{0D108BD9-81ED-4DB2-BD59-A6C34878D82A}">
                        <a16:rowId xmlns:a16="http://schemas.microsoft.com/office/drawing/2014/main" val="10005"/>
                      </a:ext>
                    </a:extLst>
                  </a:tr>
                  <a:tr h="338328">
                    <a:tc>
                      <a:txBody>
                        <a:bodyPr/>
                        <a:lstStyle/>
                        <a:p>
                          <a:pPr marL="0" indent="0">
                            <a:buNone/>
                          </a:pPr>
                          <a:r>
                            <a:rPr lang="en-US" sz="1200" b="1" dirty="0">
                              <a:solidFill>
                                <a:srgbClr val="E31836"/>
                              </a:solidFill>
                              <a:latin typeface="Calibri" pitchFamily="34" charset="0"/>
                              <a:ea typeface="Calibri" pitchFamily="34" charset="-122"/>
                              <a:cs typeface="Calibri" pitchFamily="34" charset="-120"/>
                            </a:rPr>
                            <a:t>L1 logistics support</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200" dirty="0">
                              <a:solidFill>
                                <a:srgbClr val="222222"/>
                              </a:solidFill>
                              <a:latin typeface="Calibri" pitchFamily="34" charset="0"/>
                              <a:ea typeface="Calibri" pitchFamily="34" charset="-122"/>
                              <a:cs typeface="Calibri" pitchFamily="34" charset="-120"/>
                            </a:rPr>
                            <a:t>suppression availability</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200" b="1" dirty="0">
                              <a:solidFill>
                                <a:srgbClr val="222222"/>
                              </a:solidFill>
                              <a:latin typeface="Calibri" pitchFamily="34" charset="0"/>
                              <a:ea typeface="Calibri" pitchFamily="34" charset="-122"/>
                              <a:cs typeface="Calibri" pitchFamily="34" charset="-120"/>
                            </a:rPr>
                            <a:t>1.00</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extLst>
                      <a:ext uri="{0D108BD9-81ED-4DB2-BD59-A6C34878D82A}">
                        <a16:rowId xmlns:a16="http://schemas.microsoft.com/office/drawing/2014/main" val="10006"/>
                      </a:ext>
                    </a:extLst>
                  </a:tr>
                  <a:tr h="338328">
                    <a:tc>
                      <a:txBody>
                        <a:bodyPr/>
                        <a:lstStyle/>
                        <a:p>
                          <a:pPr marL="0" indent="0">
                            <a:buNone/>
                          </a:pPr>
                          <a:r>
                            <a:rPr lang="en-US" sz="1200" b="1" dirty="0">
                              <a:solidFill>
                                <a:srgbClr val="E31836"/>
                              </a:solidFill>
                              <a:latin typeface="Calibri" pitchFamily="34" charset="0"/>
                              <a:ea typeface="Calibri" pitchFamily="34" charset="-122"/>
                              <a:cs typeface="Calibri" pitchFamily="34" charset="-120"/>
                            </a:rPr>
                            <a:t>L2 fire threat level</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200" dirty="0">
                              <a:solidFill>
                                <a:srgbClr val="222222"/>
                              </a:solidFill>
                              <a:latin typeface="Calibri" pitchFamily="34" charset="0"/>
                              <a:ea typeface="Calibri" pitchFamily="34" charset="-122"/>
                              <a:cs typeface="Calibri" pitchFamily="34" charset="-120"/>
                            </a:rPr>
                            <a:t>fire severity, spread hazard, fuel hazard</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200" b="1" dirty="0">
                              <a:solidFill>
                                <a:srgbClr val="222222"/>
                              </a:solidFill>
                              <a:latin typeface="Calibri" pitchFamily="34" charset="0"/>
                              <a:ea typeface="Calibri" pitchFamily="34" charset="-122"/>
                              <a:cs typeface="Calibri" pitchFamily="34" charset="-120"/>
                            </a:rPr>
                            <a:t>0.50, 0.30, 0.20</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extLst>
                      <a:ext uri="{0D108BD9-81ED-4DB2-BD59-A6C34878D82A}">
                        <a16:rowId xmlns:a16="http://schemas.microsoft.com/office/drawing/2014/main" val="10007"/>
                      </a:ext>
                    </a:extLst>
                  </a:tr>
                  <a:tr h="338328">
                    <a:tc>
                      <a:txBody>
                        <a:bodyPr/>
                        <a:lstStyle/>
                        <a:p>
                          <a:pPr marL="0" indent="0">
                            <a:buNone/>
                          </a:pPr>
                          <a:r>
                            <a:rPr lang="en-US" sz="1200" b="1" dirty="0">
                              <a:solidFill>
                                <a:srgbClr val="E31836"/>
                              </a:solidFill>
                              <a:latin typeface="Calibri" pitchFamily="34" charset="0"/>
                              <a:ea typeface="Calibri" pitchFamily="34" charset="-122"/>
                              <a:cs typeface="Calibri" pitchFamily="34" charset="-120"/>
                            </a:rPr>
                            <a:t>L2 asset exposure risk</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200" dirty="0">
                              <a:solidFill>
                                <a:srgbClr val="222222"/>
                              </a:solidFill>
                              <a:latin typeface="Calibri" pitchFamily="34" charset="0"/>
                              <a:ea typeface="Calibri" pitchFamily="34" charset="-122"/>
                              <a:cs typeface="Calibri" pitchFamily="34" charset="-120"/>
                            </a:rPr>
                            <a:t>spread hazard, asset value</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200" b="1" dirty="0">
                              <a:solidFill>
                                <a:srgbClr val="222222"/>
                              </a:solidFill>
                              <a:latin typeface="Calibri" pitchFamily="34" charset="0"/>
                              <a:ea typeface="Calibri" pitchFamily="34" charset="-122"/>
                              <a:cs typeface="Calibri" pitchFamily="34" charset="-120"/>
                            </a:rPr>
                            <a:t>0.40, 0.60</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extLst>
                      <a:ext uri="{0D108BD9-81ED-4DB2-BD59-A6C34878D82A}">
                        <a16:rowId xmlns:a16="http://schemas.microsoft.com/office/drawing/2014/main" val="10008"/>
                      </a:ext>
                    </a:extLst>
                  </a:tr>
                  <a:tr h="338328">
                    <a:tc>
                      <a:txBody>
                        <a:bodyPr/>
                        <a:lstStyle/>
                        <a:p>
                          <a:pPr marL="0" indent="0">
                            <a:buNone/>
                          </a:pPr>
                          <a:r>
                            <a:rPr lang="en-US" sz="1200" b="1" dirty="0">
                              <a:solidFill>
                                <a:srgbClr val="E31836"/>
                              </a:solidFill>
                              <a:latin typeface="Calibri" pitchFamily="34" charset="0"/>
                              <a:ea typeface="Calibri" pitchFamily="34" charset="-122"/>
                              <a:cs typeface="Calibri" pitchFamily="34" charset="-120"/>
                            </a:rPr>
                            <a:t>L2 suppression feasibility</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200" dirty="0">
                              <a:solidFill>
                                <a:srgbClr val="222222"/>
                              </a:solidFill>
                              <a:latin typeface="Calibri" pitchFamily="34" charset="0"/>
                              <a:ea typeface="Calibri" pitchFamily="34" charset="-122"/>
                              <a:cs typeface="Calibri" pitchFamily="34" charset="-120"/>
                            </a:rPr>
                            <a:t>crew reachability, logistics support</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200" b="1" dirty="0">
                              <a:solidFill>
                                <a:srgbClr val="222222"/>
                              </a:solidFill>
                              <a:latin typeface="Calibri" pitchFamily="34" charset="0"/>
                              <a:ea typeface="Calibri" pitchFamily="34" charset="-122"/>
                              <a:cs typeface="Calibri" pitchFamily="34" charset="-120"/>
                            </a:rPr>
                            <a:t>0.50, 0.50</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extLst>
                      <a:ext uri="{0D108BD9-81ED-4DB2-BD59-A6C34878D82A}">
                        <a16:rowId xmlns:a16="http://schemas.microsoft.com/office/drawing/2014/main" val="10009"/>
                      </a:ext>
                    </a:extLst>
                  </a:tr>
                  <a:tr h="338328">
                    <a:tc>
                      <a:txBody>
                        <a:bodyPr/>
                        <a:lstStyle/>
                        <a:p>
                          <a:pPr marL="0" indent="0">
                            <a:buNone/>
                          </a:pPr>
                          <a:r>
                            <a:rPr lang="en-US" sz="1200" b="1" dirty="0">
                              <a:solidFill>
                                <a:srgbClr val="E31836"/>
                              </a:solidFill>
                              <a:latin typeface="Calibri" pitchFamily="34" charset="0"/>
                              <a:ea typeface="Calibri" pitchFamily="34" charset="-122"/>
                              <a:cs typeface="Calibri" pitchFamily="34" charset="-120"/>
                            </a:rPr>
                            <a:t>L3 intervention urgency</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200" dirty="0">
                              <a:solidFill>
                                <a:srgbClr val="222222"/>
                              </a:solidFill>
                              <a:latin typeface="Calibri" pitchFamily="34" charset="0"/>
                              <a:ea typeface="Calibri" pitchFamily="34" charset="-122"/>
                              <a:cs typeface="Calibri" pitchFamily="34" charset="-120"/>
                            </a:rPr>
                            <a:t>fire threat level, asset exposure risk, temporal urgency</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200" b="1" dirty="0">
                              <a:solidFill>
                                <a:srgbClr val="222222"/>
                              </a:solidFill>
                              <a:latin typeface="Calibri" pitchFamily="34" charset="0"/>
                              <a:ea typeface="Calibri" pitchFamily="34" charset="-122"/>
                              <a:cs typeface="Calibri" pitchFamily="34" charset="-120"/>
                            </a:rPr>
                            <a:t>0.40, 0.35, 0.25</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extLst>
                      <a:ext uri="{0D108BD9-81ED-4DB2-BD59-A6C34878D82A}">
                        <a16:rowId xmlns:a16="http://schemas.microsoft.com/office/drawing/2014/main" val="10010"/>
                      </a:ext>
                    </a:extLst>
                  </a:tr>
                  <a:tr h="338328">
                    <a:tc>
                      <a:txBody>
                        <a:bodyPr/>
                        <a:lstStyle/>
                        <a:p>
                          <a:pPr marL="0" indent="0">
                            <a:buNone/>
                          </a:pPr>
                          <a:r>
                            <a:rPr lang="en-US" sz="1200" b="1" dirty="0">
                              <a:solidFill>
                                <a:srgbClr val="E31836"/>
                              </a:solidFill>
                              <a:latin typeface="Calibri" pitchFamily="34" charset="0"/>
                              <a:ea typeface="Calibri" pitchFamily="34" charset="-122"/>
                              <a:cs typeface="Calibri" pitchFamily="34" charset="-120"/>
                            </a:rPr>
                            <a:t>L3 evacuation pressure</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200" dirty="0">
                              <a:solidFill>
                                <a:srgbClr val="222222"/>
                              </a:solidFill>
                              <a:latin typeface="Calibri" pitchFamily="34" charset="0"/>
                              <a:ea typeface="Calibri" pitchFamily="34" charset="-122"/>
                              <a:cs typeface="Calibri" pitchFamily="34" charset="-120"/>
                            </a:rPr>
                            <a:t>asset exposure risk, inverted access &amp; road status, temporal urgency</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200" b="1" dirty="0">
                              <a:solidFill>
                                <a:srgbClr val="222222"/>
                              </a:solidFill>
                              <a:latin typeface="Calibri" pitchFamily="34" charset="0"/>
                              <a:ea typeface="Calibri" pitchFamily="34" charset="-122"/>
                              <a:cs typeface="Calibri" pitchFamily="34" charset="-120"/>
                            </a:rPr>
                            <a:t>0.45, 0.25, 0.30</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extLst>
                      <a:ext uri="{0D108BD9-81ED-4DB2-BD59-A6C34878D82A}">
                        <a16:rowId xmlns:a16="http://schemas.microsoft.com/office/drawing/2014/main" val="10011"/>
                      </a:ext>
                    </a:extLst>
                  </a:tr>
                  <a:tr h="338328">
                    <a:tc>
                      <a:txBody>
                        <a:bodyPr/>
                        <a:lstStyle/>
                        <a:p>
                          <a:pPr marL="0" indent="0">
                            <a:buNone/>
                          </a:pPr>
                          <a:r>
                            <a:rPr lang="en-US" sz="1200" b="1" dirty="0">
                              <a:solidFill>
                                <a:srgbClr val="E31836"/>
                              </a:solidFill>
                              <a:latin typeface="Calibri" pitchFamily="34" charset="0"/>
                              <a:ea typeface="Calibri" pitchFamily="34" charset="-122"/>
                              <a:cs typeface="Calibri" pitchFamily="34" charset="-120"/>
                            </a:rPr>
                            <a:t>L4 operational priority</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200" dirty="0">
                              <a:solidFill>
                                <a:srgbClr val="222222"/>
                              </a:solidFill>
                              <a:latin typeface="Calibri" pitchFamily="34" charset="0"/>
                              <a:ea typeface="Calibri" pitchFamily="34" charset="-122"/>
                              <a:cs typeface="Calibri" pitchFamily="34" charset="-120"/>
                            </a:rPr>
                            <a:t>fire threat level, asset exposure risk</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200" b="1" dirty="0">
                              <a:solidFill>
                                <a:srgbClr val="222222"/>
                              </a:solidFill>
                              <a:latin typeface="Calibri" pitchFamily="34" charset="0"/>
                              <a:ea typeface="Calibri" pitchFamily="34" charset="-122"/>
                              <a:cs typeface="Calibri" pitchFamily="34" charset="-120"/>
                            </a:rPr>
                            <a:t>0.55, 0.45</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extLst>
                      <a:ext uri="{0D108BD9-81ED-4DB2-BD59-A6C34878D82A}">
                        <a16:rowId xmlns:a16="http://schemas.microsoft.com/office/drawing/2014/main" val="10012"/>
                      </a:ext>
                    </a:extLst>
                  </a:tr>
                </a:tbl>
              </a:graphicData>
            </a:graphic>
          </p:graphicFrame>
        </mc:Fallback>
      </mc:AlternateContent>
      <mc:AlternateContent xmlns:mc="http://schemas.openxmlformats.org/markup-compatibility/2006" xmlns:a14="http://schemas.microsoft.com/office/drawing/2010/main">
        <mc:Choice Requires="a14">
          <p:sp>
            <p:nvSpPr>
              <p:cNvPr id="7" name="Text 2"/>
              <p:cNvSpPr/>
              <p:nvPr/>
            </p:nvSpPr>
            <p:spPr>
              <a:xfrm>
                <a:off x="457200" y="5897880"/>
                <a:ext cx="11292840" cy="640080"/>
              </a:xfrm>
              <a:prstGeom prst="rect">
                <a:avLst/>
              </a:prstGeom>
              <a:noFill/>
              <a:ln/>
            </p:spPr>
            <p:txBody>
              <a:bodyPr wrap="square" lIns="0" tIns="0" rIns="0" bIns="0" rtlCol="0" anchor="t"/>
              <a:lstStyle/>
              <a:p>
                <a:pPr marL="0" indent="0">
                  <a:lnSpc>
                    <a:spcPct val="104000"/>
                  </a:lnSpc>
                  <a:buNone/>
                </a:pPr>
                <a:r>
                  <a:rPr lang="en-US" sz="1250" dirty="0">
                    <a:solidFill>
                      <a:srgbClr val="222222"/>
                    </a:solidFill>
                    <a:latin typeface="Calibri" pitchFamily="34" charset="0"/>
                    <a:ea typeface="Calibri" pitchFamily="34" charset="-122"/>
                    <a:cs typeface="Calibri" pitchFamily="34" charset="-120"/>
                  </a:rPr>
                  <a:t>the full aggregation wiring of levels 1–4. Two constants close the layer : persistence decay </a:t>
                </a:r>
                <a14:m>
                  <m:oMath xmlns:m="http://schemas.openxmlformats.org/officeDocument/2006/math">
                    <m:r>
                      <a:rPr lang="en-US" sz="1250">
                        <a:latin typeface="Cambria Math"/>
                      </a:rPr>
                      <m:t>𝜌</m:t>
                    </m:r>
                    <m:r>
                      <a:rPr lang="en-US" sz="1250">
                        <a:latin typeface="Cambria Math"/>
                      </a:rPr>
                      <m:t> = 0.90</m:t>
                    </m:r>
                  </m:oMath>
                </a14:m>
                <a:r>
                  <a:rPr lang="en-US" sz="1250" dirty="0">
                    <a:solidFill>
                      <a:srgbClr val="222222"/>
                    </a:solidFill>
                    <a:latin typeface="Calibri" pitchFamily="34" charset="0"/>
                    <a:ea typeface="Calibri" pitchFamily="34" charset="-122"/>
                    <a:cs typeface="Calibri" pitchFamily="34" charset="-120"/>
                  </a:rPr>
                  <a:t> and coverage floor </a:t>
                </a:r>
                <a14:m>
                  <m:oMath xmlns:m="http://schemas.openxmlformats.org/officeDocument/2006/math">
                    <m:sSub>
                      <m:sSubPr>
                        <m:ctrlPr>
                          <a:rPr lang="en-US" sz="1250">
                            <a:latin typeface="Cambria Math"/>
                          </a:rPr>
                        </m:ctrlPr>
                      </m:sSubPr>
                      <m:e>
                        <m:r>
                          <a:rPr lang="en-US" sz="1250">
                            <a:latin typeface="Cambria Math"/>
                          </a:rPr>
                          <m:t>𝛼</m:t>
                        </m:r>
                      </m:e>
                      <m:sub>
                        <m:r>
                          <a:rPr lang="en-US" sz="1250">
                            <a:latin typeface="Cambria Math"/>
                          </a:rPr>
                          <m:t>𝑚𝑖𝑛</m:t>
                        </m:r>
                      </m:sub>
                    </m:sSub>
                    <m:r>
                      <a:rPr lang="en-US" sz="1250">
                        <a:latin typeface="Cambria Math"/>
                      </a:rPr>
                      <m:t> = 0.05</m:t>
                    </m:r>
                  </m:oMath>
                </a14:m>
                <a:r>
                  <a:rPr lang="en-US" sz="1250" dirty="0">
                    <a:solidFill>
                      <a:srgbClr val="222222"/>
                    </a:solidFill>
                    <a:latin typeface="Calibri" pitchFamily="34" charset="0"/>
                    <a:ea typeface="Calibri" pitchFamily="34" charset="-122"/>
                    <a:cs typeface="Calibri" pitchFamily="34" charset="-120"/>
                  </a:rPr>
                  <a:t>. </a:t>
                </a:r>
                <a:r>
                  <a:rPr lang="en-US" sz="1250" b="1" dirty="0">
                    <a:solidFill>
                      <a:srgbClr val="000000"/>
                    </a:solidFill>
                    <a:latin typeface="Calibri" pitchFamily="34" charset="0"/>
                    <a:ea typeface="Calibri" pitchFamily="34" charset="-122"/>
                    <a:cs typeface="Calibri" pitchFamily="34" charset="-120"/>
                  </a:rPr>
                  <a:t>The one exception in the wiring: evacuation pressure uses the complement of access &amp; road status.</a:t>
                </a:r>
                <a:endParaRPr lang="en-US" sz="1250" dirty="0"/>
              </a:p>
            </p:txBody>
          </p:sp>
        </mc:Choice>
        <mc:Fallback xmlns="">
          <p:sp>
            <p:nvSpPr>
              <p:cNvPr id="7" name="Text 2"/>
              <p:cNvSpPr>
                <a:spLocks noRot="1" noChangeAspect="1" noMove="1" noResize="1" noEditPoints="1" noAdjustHandles="1" noChangeArrowheads="1" noChangeShapeType="1" noTextEdit="1"/>
              </p:cNvSpPr>
              <p:nvPr/>
            </p:nvSpPr>
            <p:spPr>
              <a:xfrm>
                <a:off x="457200" y="5897880"/>
                <a:ext cx="11292840" cy="640080"/>
              </a:xfrm>
              <a:prstGeom prst="rect">
                <a:avLst/>
              </a:prstGeom>
              <a:blipFill>
                <a:blip r:embed="rId6"/>
                <a:stretch>
                  <a:fillRect l="-863"/>
                </a:stretch>
              </a:blipFill>
              <a:ln/>
            </p:spPr>
            <p:txBody>
              <a:bodyPr/>
              <a:lstStyle/>
              <a:p>
                <a:r>
                  <a:rPr lang="tr-TR">
                    <a:noFill/>
                  </a:rPr>
                  <a:t/>
                </a:r>
              </a:p>
            </p:txBody>
          </p:sp>
        </mc:Fallback>
      </mc:AlternateContent>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237744"/>
            <a:ext cx="10058400" cy="292608"/>
          </a:xfrm>
          <a:prstGeom prst="rect">
            <a:avLst/>
          </a:prstGeom>
          <a:noFill/>
          <a:ln/>
        </p:spPr>
        <p:txBody>
          <a:bodyPr wrap="square" lIns="0" tIns="0" rIns="0" bIns="0" rtlCol="0" anchor="ctr"/>
          <a:lstStyle/>
          <a:p>
            <a:pPr marL="0" indent="0">
              <a:buNone/>
            </a:pPr>
            <a:r>
              <a:rPr lang="en-US" sz="1300" b="1" kern="0" spc="200" dirty="0">
                <a:solidFill>
                  <a:srgbClr val="E31836"/>
                </a:solidFill>
                <a:latin typeface="Calibri" pitchFamily="34" charset="0"/>
                <a:ea typeface="Calibri" pitchFamily="34" charset="-122"/>
                <a:cs typeface="Calibri" pitchFamily="34" charset="-120"/>
              </a:rPr>
              <a:t>BACKUP · APPENDIX D</a:t>
            </a:r>
            <a:endParaRPr lang="en-US" sz="1300" dirty="0"/>
          </a:p>
        </p:txBody>
      </p:sp>
      <p:sp>
        <p:nvSpPr>
          <p:cNvPr id="3" name="Text 1"/>
          <p:cNvSpPr/>
          <p:nvPr/>
        </p:nvSpPr>
        <p:spPr>
          <a:xfrm>
            <a:off x="502920" y="493776"/>
            <a:ext cx="11247120" cy="621792"/>
          </a:xfrm>
          <a:prstGeom prst="rect">
            <a:avLst/>
          </a:prstGeom>
          <a:noFill/>
          <a:ln/>
        </p:spPr>
        <p:txBody>
          <a:bodyPr wrap="square" lIns="0" tIns="0" rIns="0" bIns="0" rtlCol="0" anchor="ctr"/>
          <a:lstStyle/>
          <a:p>
            <a:pPr marL="0" indent="0">
              <a:buNone/>
            </a:pPr>
            <a:r>
              <a:rPr lang="en-US" sz="2500" b="1" dirty="0">
                <a:solidFill>
                  <a:srgbClr val="000000"/>
                </a:solidFill>
                <a:latin typeface="Cambria" pitchFamily="34" charset="0"/>
                <a:ea typeface="Cambria" pitchFamily="34" charset="-122"/>
                <a:cs typeface="Cambria" pitchFamily="34" charset="-120"/>
              </a:rPr>
              <a:t>Shared Five-Term Partition and Vector Semantics</a:t>
            </a:r>
            <a:endParaRPr lang="en-US" sz="2500" dirty="0"/>
          </a:p>
        </p:txBody>
      </p:sp>
      <p:pic>
        <p:nvPicPr>
          <p:cNvPr id="4" name="Image 0" descr="/tmp/thx/deck/figs/metu_emblem.png"/>
          <p:cNvPicPr>
            <a:picLocks noChangeAspect="1"/>
          </p:cNvPicPr>
          <p:nvPr/>
        </p:nvPicPr>
        <p:blipFill>
          <a:blip r:embed="rId3"/>
          <a:stretch>
            <a:fillRect/>
          </a:stretch>
        </p:blipFill>
        <p:spPr>
          <a:xfrm>
            <a:off x="10716768" y="184607"/>
            <a:ext cx="475488" cy="398882"/>
          </a:xfrm>
          <a:prstGeom prst="rect">
            <a:avLst/>
          </a:prstGeom>
        </p:spPr>
      </p:pic>
      <p:pic>
        <p:nvPicPr>
          <p:cNvPr id="5" name="Image 1" descr="/tmp/thx/deck/figs/eee_logo.png"/>
          <p:cNvPicPr>
            <a:picLocks noChangeAspect="1"/>
          </p:cNvPicPr>
          <p:nvPr/>
        </p:nvPicPr>
        <p:blipFill>
          <a:blip r:embed="rId4"/>
          <a:stretch>
            <a:fillRect/>
          </a:stretch>
        </p:blipFill>
        <p:spPr>
          <a:xfrm>
            <a:off x="11265408" y="186217"/>
            <a:ext cx="475488" cy="395662"/>
          </a:xfrm>
          <a:prstGeom prst="rect">
            <a:avLst/>
          </a:prstGeom>
        </p:spPr>
      </p:pic>
      <p:graphicFrame>
        <p:nvGraphicFramePr>
          <p:cNvPr id="7" name="Table 0"/>
          <p:cNvGraphicFramePr>
            <a:graphicFrameLocks noGrp="1"/>
          </p:cNvGraphicFramePr>
          <p:nvPr/>
        </p:nvGraphicFramePr>
        <p:xfrm>
          <a:off x="502920" y="1371600"/>
          <a:ext cx="5120640" cy="914400"/>
        </p:xfrm>
        <a:graphic>
          <a:graphicData uri="http://schemas.openxmlformats.org/drawingml/2006/table">
            <a:tbl>
              <a:tblPr/>
              <a:tblGrid>
                <a:gridCol w="1828800">
                  <a:extLst>
                    <a:ext uri="{9D8B030D-6E8A-4147-A177-3AD203B41FA5}">
                      <a16:colId xmlns:a16="http://schemas.microsoft.com/office/drawing/2014/main" val="20000"/>
                    </a:ext>
                  </a:extLst>
                </a:gridCol>
                <a:gridCol w="3291840">
                  <a:extLst>
                    <a:ext uri="{9D8B030D-6E8A-4147-A177-3AD203B41FA5}">
                      <a16:colId xmlns:a16="http://schemas.microsoft.com/office/drawing/2014/main" val="20001"/>
                    </a:ext>
                  </a:extLst>
                </a:gridCol>
              </a:tblGrid>
              <a:tr h="402336">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Term</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solidFill>
                      <a:srgbClr val="000000"/>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Trapezoid (a, b, c, d)</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solidFill>
                      <a:srgbClr val="000000"/>
                    </a:solidFill>
                  </a:tcPr>
                </a:tc>
                <a:extLst>
                  <a:ext uri="{0D108BD9-81ED-4DB2-BD59-A6C34878D82A}">
                    <a16:rowId xmlns:a16="http://schemas.microsoft.com/office/drawing/2014/main" val="10000"/>
                  </a:ext>
                </a:extLst>
              </a:tr>
              <a:tr h="402336">
                <a:tc>
                  <a:txBody>
                    <a:bodyPr/>
                    <a:lstStyle/>
                    <a:p>
                      <a:pPr marL="0" indent="0">
                        <a:buNone/>
                      </a:pPr>
                      <a:r>
                        <a:rPr lang="en-US" sz="1200" b="1" dirty="0">
                          <a:solidFill>
                            <a:srgbClr val="E31836"/>
                          </a:solidFill>
                          <a:latin typeface="Calibri" pitchFamily="34" charset="0"/>
                          <a:ea typeface="Calibri" pitchFamily="34" charset="-122"/>
                          <a:cs typeface="Calibri" pitchFamily="34" charset="-120"/>
                        </a:rPr>
                        <a:t>very low</a:t>
                      </a:r>
                      <a:endParaRPr lang="en-US" sz="120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200" dirty="0">
                          <a:solidFill>
                            <a:srgbClr val="222222"/>
                          </a:solidFill>
                          <a:latin typeface="Calibri" pitchFamily="34" charset="0"/>
                          <a:ea typeface="Calibri" pitchFamily="34" charset="-122"/>
                          <a:cs typeface="Calibri" pitchFamily="34" charset="-120"/>
                        </a:rPr>
                        <a:t>(0.00, 0.00, 0.15, 0.30)</a:t>
                      </a:r>
                      <a:endParaRPr lang="en-US" sz="120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extLst>
                  <a:ext uri="{0D108BD9-81ED-4DB2-BD59-A6C34878D82A}">
                    <a16:rowId xmlns:a16="http://schemas.microsoft.com/office/drawing/2014/main" val="10001"/>
                  </a:ext>
                </a:extLst>
              </a:tr>
              <a:tr h="402336">
                <a:tc>
                  <a:txBody>
                    <a:bodyPr/>
                    <a:lstStyle/>
                    <a:p>
                      <a:pPr marL="0" indent="0">
                        <a:buNone/>
                      </a:pPr>
                      <a:r>
                        <a:rPr lang="en-US" sz="1200" b="1" dirty="0">
                          <a:solidFill>
                            <a:srgbClr val="E31836"/>
                          </a:solidFill>
                          <a:latin typeface="Calibri" pitchFamily="34" charset="0"/>
                          <a:ea typeface="Calibri" pitchFamily="34" charset="-122"/>
                          <a:cs typeface="Calibri" pitchFamily="34" charset="-120"/>
                        </a:rPr>
                        <a:t>low</a:t>
                      </a:r>
                      <a:endParaRPr lang="en-US" sz="120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200" dirty="0">
                          <a:solidFill>
                            <a:srgbClr val="222222"/>
                          </a:solidFill>
                          <a:latin typeface="Calibri" pitchFamily="34" charset="0"/>
                          <a:ea typeface="Calibri" pitchFamily="34" charset="-122"/>
                          <a:cs typeface="Calibri" pitchFamily="34" charset="-120"/>
                        </a:rPr>
                        <a:t>(0.15, 0.30, 0.35, 0.50)</a:t>
                      </a:r>
                      <a:endParaRPr lang="en-US" sz="120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extLst>
                  <a:ext uri="{0D108BD9-81ED-4DB2-BD59-A6C34878D82A}">
                    <a16:rowId xmlns:a16="http://schemas.microsoft.com/office/drawing/2014/main" val="10002"/>
                  </a:ext>
                </a:extLst>
              </a:tr>
              <a:tr h="402336">
                <a:tc>
                  <a:txBody>
                    <a:bodyPr/>
                    <a:lstStyle/>
                    <a:p>
                      <a:pPr marL="0" indent="0">
                        <a:buNone/>
                      </a:pPr>
                      <a:r>
                        <a:rPr lang="en-US" sz="1200" b="1" dirty="0">
                          <a:solidFill>
                            <a:srgbClr val="E31836"/>
                          </a:solidFill>
                          <a:latin typeface="Calibri" pitchFamily="34" charset="0"/>
                          <a:ea typeface="Calibri" pitchFamily="34" charset="-122"/>
                          <a:cs typeface="Calibri" pitchFamily="34" charset="-120"/>
                        </a:rPr>
                        <a:t>medium</a:t>
                      </a:r>
                      <a:endParaRPr lang="en-US" sz="120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200" dirty="0">
                          <a:solidFill>
                            <a:srgbClr val="222222"/>
                          </a:solidFill>
                          <a:latin typeface="Calibri" pitchFamily="34" charset="0"/>
                          <a:ea typeface="Calibri" pitchFamily="34" charset="-122"/>
                          <a:cs typeface="Calibri" pitchFamily="34" charset="-120"/>
                        </a:rPr>
                        <a:t>(0.35, 0.50, 0.55, 0.70)</a:t>
                      </a:r>
                      <a:endParaRPr lang="en-US" sz="120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extLst>
                  <a:ext uri="{0D108BD9-81ED-4DB2-BD59-A6C34878D82A}">
                    <a16:rowId xmlns:a16="http://schemas.microsoft.com/office/drawing/2014/main" val="10003"/>
                  </a:ext>
                </a:extLst>
              </a:tr>
              <a:tr h="402336">
                <a:tc>
                  <a:txBody>
                    <a:bodyPr/>
                    <a:lstStyle/>
                    <a:p>
                      <a:pPr marL="0" indent="0">
                        <a:buNone/>
                      </a:pPr>
                      <a:r>
                        <a:rPr lang="en-US" sz="1200" b="1" dirty="0">
                          <a:solidFill>
                            <a:srgbClr val="E31836"/>
                          </a:solidFill>
                          <a:latin typeface="Calibri" pitchFamily="34" charset="0"/>
                          <a:ea typeface="Calibri" pitchFamily="34" charset="-122"/>
                          <a:cs typeface="Calibri" pitchFamily="34" charset="-120"/>
                        </a:rPr>
                        <a:t>high</a:t>
                      </a:r>
                      <a:endParaRPr lang="en-US" sz="120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200" dirty="0">
                          <a:solidFill>
                            <a:srgbClr val="222222"/>
                          </a:solidFill>
                          <a:latin typeface="Calibri" pitchFamily="34" charset="0"/>
                          <a:ea typeface="Calibri" pitchFamily="34" charset="-122"/>
                          <a:cs typeface="Calibri" pitchFamily="34" charset="-120"/>
                        </a:rPr>
                        <a:t>(0.55, 0.70, 0.75, 0.90)</a:t>
                      </a:r>
                      <a:endParaRPr lang="en-US" sz="120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extLst>
                  <a:ext uri="{0D108BD9-81ED-4DB2-BD59-A6C34878D82A}">
                    <a16:rowId xmlns:a16="http://schemas.microsoft.com/office/drawing/2014/main" val="10004"/>
                  </a:ext>
                </a:extLst>
              </a:tr>
              <a:tr h="402336">
                <a:tc>
                  <a:txBody>
                    <a:bodyPr/>
                    <a:lstStyle/>
                    <a:p>
                      <a:pPr marL="0" indent="0">
                        <a:buNone/>
                      </a:pPr>
                      <a:r>
                        <a:rPr lang="en-US" sz="1200" b="1" dirty="0">
                          <a:solidFill>
                            <a:srgbClr val="E31836"/>
                          </a:solidFill>
                          <a:latin typeface="Calibri" pitchFamily="34" charset="0"/>
                          <a:ea typeface="Calibri" pitchFamily="34" charset="-122"/>
                          <a:cs typeface="Calibri" pitchFamily="34" charset="-120"/>
                        </a:rPr>
                        <a:t>very high</a:t>
                      </a:r>
                      <a:endParaRPr lang="en-US" sz="120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200" dirty="0">
                          <a:solidFill>
                            <a:srgbClr val="222222"/>
                          </a:solidFill>
                          <a:latin typeface="Calibri" pitchFamily="34" charset="0"/>
                          <a:ea typeface="Calibri" pitchFamily="34" charset="-122"/>
                          <a:cs typeface="Calibri" pitchFamily="34" charset="-120"/>
                        </a:rPr>
                        <a:t>(0.75, 0.90, 1.00, 1.00)</a:t>
                      </a:r>
                      <a:endParaRPr lang="en-US" sz="120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mc:AlternateContent xmlns:mc="http://schemas.openxmlformats.org/markup-compatibility/2006" xmlns:a14="http://schemas.microsoft.com/office/drawing/2010/main">
        <mc:Choice Requires="a14">
          <p:sp>
            <p:nvSpPr>
              <p:cNvPr id="6" name="Text 2"/>
              <p:cNvSpPr/>
              <p:nvPr/>
            </p:nvSpPr>
            <p:spPr>
              <a:xfrm>
                <a:off x="502920" y="3657600"/>
                <a:ext cx="5120640" cy="731520"/>
              </a:xfrm>
              <a:prstGeom prst="rect">
                <a:avLst/>
              </a:prstGeom>
              <a:noFill/>
              <a:ln/>
            </p:spPr>
            <p:txBody>
              <a:bodyPr wrap="square" lIns="0" tIns="0" rIns="0" bIns="0" rtlCol="0" anchor="t"/>
              <a:lstStyle/>
              <a:p>
                <a:pPr marL="0" indent="0">
                  <a:lnSpc>
                    <a:spcPct val="104000"/>
                  </a:lnSpc>
                  <a:buNone/>
                </a:pPr>
                <a:r>
                  <a:rPr lang="en-US" sz="1200" i="1" dirty="0">
                    <a:solidFill>
                      <a:srgbClr val="6E6E6E"/>
                    </a:solidFill>
                    <a:latin typeface="Calibri" pitchFamily="34" charset="0"/>
                    <a:ea typeface="Calibri" pitchFamily="34" charset="-122"/>
                    <a:cs typeface="Calibri" pitchFamily="34" charset="-120"/>
                  </a:rPr>
                  <a:t>one partition for all features and concepts, on the unit interval; the end terms saturate at the boundaries. Overlaps guarantee the coverage floor </a:t>
                </a:r>
                <a14:m>
                  <m:oMath xmlns:m="http://schemas.openxmlformats.org/officeDocument/2006/math">
                    <m:sSub>
                      <m:sSubPr>
                        <m:ctrlPr>
                          <a:rPr lang="en-US" sz="1200">
                            <a:latin typeface="Cambria Math"/>
                          </a:rPr>
                        </m:ctrlPr>
                      </m:sSubPr>
                      <m:e>
                        <m:r>
                          <a:rPr lang="en-US" sz="1200">
                            <a:latin typeface="Cambria Math"/>
                          </a:rPr>
                          <m:t>𝛼</m:t>
                        </m:r>
                      </m:e>
                      <m:sub>
                        <m:r>
                          <a:rPr lang="en-US" sz="1200">
                            <a:latin typeface="Cambria Math"/>
                          </a:rPr>
                          <m:t>𝑚𝑖𝑛</m:t>
                        </m:r>
                      </m:sub>
                    </m:sSub>
                    <m:r>
                      <a:rPr lang="en-US" sz="1200">
                        <a:latin typeface="Cambria Math"/>
                      </a:rPr>
                      <m:t> = 0.05</m:t>
                    </m:r>
                  </m:oMath>
                </a14:m>
                <a:r>
                  <a:rPr lang="en-US" sz="1200" i="1" dirty="0">
                    <a:solidFill>
                      <a:srgbClr val="6E6E6E"/>
                    </a:solidFill>
                    <a:latin typeface="Calibri" pitchFamily="34" charset="0"/>
                    <a:ea typeface="Calibri" pitchFamily="34" charset="-122"/>
                    <a:cs typeface="Calibri" pitchFamily="34" charset="-120"/>
                  </a:rPr>
                  <a:t>.</a:t>
                </a:r>
                <a:endParaRPr lang="en-US" sz="1200" dirty="0"/>
              </a:p>
            </p:txBody>
          </p:sp>
        </mc:Choice>
        <mc:Fallback xmlns="">
          <p:sp>
            <p:nvSpPr>
              <p:cNvPr id="6" name="Text 2"/>
              <p:cNvSpPr>
                <a:spLocks noRot="1" noChangeAspect="1" noMove="1" noResize="1" noEditPoints="1" noAdjustHandles="1" noChangeArrowheads="1" noChangeShapeType="1" noTextEdit="1"/>
              </p:cNvSpPr>
              <p:nvPr/>
            </p:nvSpPr>
            <p:spPr>
              <a:xfrm>
                <a:off x="502920" y="3657600"/>
                <a:ext cx="5120640" cy="731520"/>
              </a:xfrm>
              <a:prstGeom prst="rect">
                <a:avLst/>
              </a:prstGeom>
              <a:blipFill>
                <a:blip r:embed="rId5"/>
                <a:stretch>
                  <a:fillRect l="-1905" t="-6667"/>
                </a:stretch>
              </a:blipFill>
              <a:ln/>
            </p:spPr>
            <p:txBody>
              <a:bodyPr/>
              <a:lstStyle/>
              <a:p>
                <a:r>
                  <a:rPr lang="tr-TR">
                    <a:noFill/>
                  </a:rPr>
                  <a:t/>
                </a:r>
              </a:p>
            </p:txBody>
          </p:sp>
        </mc:Fallback>
      </mc:AlternateContent>
      <p:sp>
        <p:nvSpPr>
          <p:cNvPr id="8" name="Shape 3"/>
          <p:cNvSpPr/>
          <p:nvPr/>
        </p:nvSpPr>
        <p:spPr>
          <a:xfrm>
            <a:off x="5989320" y="1371600"/>
            <a:ext cx="5760720" cy="4846320"/>
          </a:xfrm>
          <a:prstGeom prst="roundRect">
            <a:avLst>
              <a:gd name="adj" fmla="val 943"/>
            </a:avLst>
          </a:prstGeom>
          <a:solidFill>
            <a:srgbClr val="F2F2F2"/>
          </a:solidFill>
          <a:ln/>
        </p:spPr>
        <p:txBody>
          <a:bodyPr/>
          <a:lstStyle/>
          <a:p>
            <a:endParaRPr lang="tr-TR"/>
          </a:p>
        </p:txBody>
      </p:sp>
      <p:sp>
        <p:nvSpPr>
          <p:cNvPr id="9" name="Text 4"/>
          <p:cNvSpPr/>
          <p:nvPr/>
        </p:nvSpPr>
        <p:spPr>
          <a:xfrm>
            <a:off x="6263640" y="1536192"/>
            <a:ext cx="5212080" cy="4572000"/>
          </a:xfrm>
          <a:prstGeom prst="rect">
            <a:avLst/>
          </a:prstGeom>
          <a:noFill/>
          <a:ln/>
        </p:spPr>
        <p:txBody>
          <a:bodyPr wrap="square" lIns="0" tIns="0" rIns="0" bIns="0" rtlCol="0" anchor="t"/>
          <a:lstStyle/>
          <a:p>
            <a:pPr marL="0" indent="0">
              <a:lnSpc>
                <a:spcPct val="104000"/>
              </a:lnSpc>
              <a:buNone/>
            </a:pPr>
            <a:r>
              <a:rPr lang="en-US" sz="1300" b="1" dirty="0">
                <a:solidFill>
                  <a:srgbClr val="E31836"/>
                </a:solidFill>
                <a:latin typeface="Calibri" pitchFamily="34" charset="0"/>
                <a:ea typeface="Calibri" pitchFamily="34" charset="-122"/>
                <a:cs typeface="Calibri" pitchFamily="34" charset="-120"/>
              </a:rPr>
              <a:t>Membership is computed with vectors, exactly as in the code.</a:t>
            </a:r>
            <a:r>
              <a:rPr lang="en-US" sz="1250" dirty="0">
                <a:solidFill>
                  <a:srgbClr val="222222"/>
                </a:solidFill>
                <a:latin typeface="Calibri" pitchFamily="34" charset="0"/>
                <a:ea typeface="Calibri" pitchFamily="34" charset="-122"/>
                <a:cs typeface="Calibri" pitchFamily="34" charset="-120"/>
              </a:rPr>
              <a:t>Each input value fuzzifies into a five-term membership vector; the aggregation combines these vectors term by term. A concept activation is therefore a five-term vector, not a single number.
Rule antecedents read the vector directly — the membership of a linguistic term is its matching component.</a:t>
            </a:r>
            <a:r>
              <a:rPr lang="en-US" sz="1250" b="1" dirty="0">
                <a:solidFill>
                  <a:srgbClr val="000000"/>
                </a:solidFill>
                <a:latin typeface="Calibri" pitchFamily="34" charset="0"/>
                <a:ea typeface="Calibri" pitchFamily="34" charset="-122"/>
                <a:cs typeface="Calibri" pitchFamily="34" charset="-120"/>
              </a:rPr>
              <a:t>A scalar is needed only three times: </a:t>
            </a:r>
            <a:r>
              <a:rPr lang="en-US" sz="1250" dirty="0">
                <a:solidFill>
                  <a:srgbClr val="222222"/>
                </a:solidFill>
                <a:latin typeface="Calibri" pitchFamily="34" charset="0"/>
                <a:ea typeface="Calibri" pitchFamily="34" charset="-122"/>
                <a:cs typeface="Calibri" pitchFamily="34" charset="-120"/>
              </a:rPr>
              <a:t>the priority sent to the coordinator, the quality measure, and reporting — the expected value over the term centers. The worked examples follow the highest component of each vector, which passes through the same weighted sums and is a faithful sample of the full computation.</a:t>
            </a:r>
            <a:r>
              <a:rPr lang="en-US" sz="1250" i="1" dirty="0">
                <a:solidFill>
                  <a:srgbClr val="6E6E6E"/>
                </a:solidFill>
                <a:latin typeface="Calibri" pitchFamily="34" charset="0"/>
                <a:ea typeface="Calibri" pitchFamily="34" charset="-122"/>
                <a:cs typeface="Calibri" pitchFamily="34" charset="-120"/>
              </a:rPr>
              <a:t>Per-pair term tables are not required; adaptation refines the shared partition by splitting terms where the field needs it.</a:t>
            </a:r>
            <a:endParaRPr lang="en-US" sz="13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237744"/>
            <a:ext cx="10058400" cy="292608"/>
          </a:xfrm>
          <a:prstGeom prst="rect">
            <a:avLst/>
          </a:prstGeom>
          <a:noFill/>
          <a:ln/>
        </p:spPr>
        <p:txBody>
          <a:bodyPr wrap="square" lIns="0" tIns="0" rIns="0" bIns="0" rtlCol="0" anchor="ctr"/>
          <a:lstStyle/>
          <a:p>
            <a:pPr marL="0" indent="0">
              <a:buNone/>
            </a:pPr>
            <a:r>
              <a:rPr lang="en-US" sz="1300" b="1" kern="0" spc="200" dirty="0">
                <a:solidFill>
                  <a:srgbClr val="E31836"/>
                </a:solidFill>
                <a:latin typeface="Calibri" pitchFamily="34" charset="0"/>
                <a:ea typeface="Calibri" pitchFamily="34" charset="-122"/>
                <a:cs typeface="Calibri" pitchFamily="34" charset="-120"/>
              </a:rPr>
              <a:t>BACKUP · APPENDIX E</a:t>
            </a:r>
            <a:endParaRPr lang="en-US" sz="1300" dirty="0"/>
          </a:p>
        </p:txBody>
      </p:sp>
      <p:sp>
        <p:nvSpPr>
          <p:cNvPr id="3" name="Text 1"/>
          <p:cNvSpPr/>
          <p:nvPr/>
        </p:nvSpPr>
        <p:spPr>
          <a:xfrm>
            <a:off x="502920" y="493776"/>
            <a:ext cx="11247120" cy="621792"/>
          </a:xfrm>
          <a:prstGeom prst="rect">
            <a:avLst/>
          </a:prstGeom>
          <a:noFill/>
          <a:ln/>
        </p:spPr>
        <p:txBody>
          <a:bodyPr wrap="square" lIns="0" tIns="0" rIns="0" bIns="0" rtlCol="0" anchor="ctr"/>
          <a:lstStyle/>
          <a:p>
            <a:pPr marL="0" indent="0">
              <a:buNone/>
            </a:pPr>
            <a:r>
              <a:rPr lang="en-US" sz="2500" b="1" dirty="0">
                <a:solidFill>
                  <a:srgbClr val="000000"/>
                </a:solidFill>
                <a:latin typeface="Cambria" pitchFamily="34" charset="0"/>
                <a:ea typeface="Cambria" pitchFamily="34" charset="-122"/>
                <a:cs typeface="Cambria" pitchFamily="34" charset="-120"/>
              </a:rPr>
              <a:t>Generative Rules Admitted over the Recorded Runs (G1–G13)</a:t>
            </a:r>
            <a:endParaRPr lang="en-US" sz="2500" dirty="0"/>
          </a:p>
        </p:txBody>
      </p:sp>
      <p:pic>
        <p:nvPicPr>
          <p:cNvPr id="4" name="Image 0" descr="/tmp/thx/deck/figs/metu_emblem.png"/>
          <p:cNvPicPr>
            <a:picLocks noChangeAspect="1"/>
          </p:cNvPicPr>
          <p:nvPr/>
        </p:nvPicPr>
        <p:blipFill>
          <a:blip r:embed="rId3"/>
          <a:stretch>
            <a:fillRect/>
          </a:stretch>
        </p:blipFill>
        <p:spPr>
          <a:xfrm>
            <a:off x="10716768" y="184607"/>
            <a:ext cx="475488" cy="398882"/>
          </a:xfrm>
          <a:prstGeom prst="rect">
            <a:avLst/>
          </a:prstGeom>
        </p:spPr>
      </p:pic>
      <p:pic>
        <p:nvPicPr>
          <p:cNvPr id="5" name="Image 1" descr="/tmp/thx/deck/figs/eee_logo.png"/>
          <p:cNvPicPr>
            <a:picLocks noChangeAspect="1"/>
          </p:cNvPicPr>
          <p:nvPr/>
        </p:nvPicPr>
        <p:blipFill>
          <a:blip r:embed="rId4"/>
          <a:stretch>
            <a:fillRect/>
          </a:stretch>
        </p:blipFill>
        <p:spPr>
          <a:xfrm>
            <a:off x="11265408" y="186217"/>
            <a:ext cx="475488" cy="395662"/>
          </a:xfrm>
          <a:prstGeom prst="rect">
            <a:avLst/>
          </a:prstGeom>
        </p:spPr>
      </p:pic>
      <p:graphicFrame>
        <p:nvGraphicFramePr>
          <p:cNvPr id="8" name="Table 0"/>
          <p:cNvGraphicFramePr>
            <a:graphicFrameLocks noGrp="1"/>
          </p:cNvGraphicFramePr>
          <p:nvPr/>
        </p:nvGraphicFramePr>
        <p:xfrm>
          <a:off x="457200" y="1325880"/>
          <a:ext cx="11292840" cy="914400"/>
        </p:xfrm>
        <a:graphic>
          <a:graphicData uri="http://schemas.openxmlformats.org/drawingml/2006/table">
            <a:tbl>
              <a:tblPr/>
              <a:tblGrid>
                <a:gridCol w="594360">
                  <a:extLst>
                    <a:ext uri="{9D8B030D-6E8A-4147-A177-3AD203B41FA5}">
                      <a16:colId xmlns:a16="http://schemas.microsoft.com/office/drawing/2014/main" val="20000"/>
                    </a:ext>
                  </a:extLst>
                </a:gridCol>
                <a:gridCol w="5120640">
                  <a:extLst>
                    <a:ext uri="{9D8B030D-6E8A-4147-A177-3AD203B41FA5}">
                      <a16:colId xmlns:a16="http://schemas.microsoft.com/office/drawing/2014/main" val="20001"/>
                    </a:ext>
                  </a:extLst>
                </a:gridCol>
                <a:gridCol w="5577840">
                  <a:extLst>
                    <a:ext uri="{9D8B030D-6E8A-4147-A177-3AD203B41FA5}">
                      <a16:colId xmlns:a16="http://schemas.microsoft.com/office/drawing/2014/main" val="20002"/>
                    </a:ext>
                  </a:extLst>
                </a:gridCol>
              </a:tblGrid>
              <a:tr h="329184">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ID</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solidFill>
                      <a:srgbClr val="000000"/>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IF (gated decision concepts)</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solidFill>
                      <a:srgbClr val="000000"/>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THEN (intensities)</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solidFill>
                      <a:srgbClr val="000000"/>
                    </a:solidFill>
                  </a:tcPr>
                </a:tc>
                <a:extLst>
                  <a:ext uri="{0D108BD9-81ED-4DB2-BD59-A6C34878D82A}">
                    <a16:rowId xmlns:a16="http://schemas.microsoft.com/office/drawing/2014/main" val="10000"/>
                  </a:ext>
                </a:extLst>
              </a:tr>
              <a:tr h="329184">
                <a:tc>
                  <a:txBody>
                    <a:bodyPr/>
                    <a:lstStyle/>
                    <a:p>
                      <a:pPr marL="0" indent="0">
                        <a:buNone/>
                      </a:pPr>
                      <a:r>
                        <a:rPr lang="en-US" sz="1200" b="1" dirty="0">
                          <a:solidFill>
                            <a:srgbClr val="E31836"/>
                          </a:solidFill>
                          <a:latin typeface="Calibri" pitchFamily="34" charset="0"/>
                          <a:ea typeface="Calibri" pitchFamily="34" charset="-122"/>
                          <a:cs typeface="Calibri" pitchFamily="34" charset="-120"/>
                        </a:rPr>
                        <a:t>G1</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200" dirty="0">
                          <a:solidFill>
                            <a:srgbClr val="222222"/>
                          </a:solidFill>
                          <a:latin typeface="Calibri" pitchFamily="34" charset="0"/>
                          <a:ea typeface="Calibri" pitchFamily="34" charset="-122"/>
                          <a:cs typeface="Calibri" pitchFamily="34" charset="-120"/>
                        </a:rPr>
                        <a:t>fire threat H ∧ feasibility VH</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200" dirty="0">
                          <a:solidFill>
                            <a:srgbClr val="222222"/>
                          </a:solidFill>
                          <a:latin typeface="Calibri" pitchFamily="34" charset="0"/>
                          <a:ea typeface="Calibri" pitchFamily="34" charset="-122"/>
                          <a:cs typeface="Calibri" pitchFamily="34" charset="-120"/>
                        </a:rPr>
                        <a:t>suppression 0.9; retardant drop 0.8; deployment 0.7</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extLst>
                  <a:ext uri="{0D108BD9-81ED-4DB2-BD59-A6C34878D82A}">
                    <a16:rowId xmlns:a16="http://schemas.microsoft.com/office/drawing/2014/main" val="10001"/>
                  </a:ext>
                </a:extLst>
              </a:tr>
              <a:tr h="329184">
                <a:tc>
                  <a:txBody>
                    <a:bodyPr/>
                    <a:lstStyle/>
                    <a:p>
                      <a:pPr marL="0" indent="0">
                        <a:buNone/>
                      </a:pPr>
                      <a:r>
                        <a:rPr lang="en-US" sz="1200" b="1" dirty="0">
                          <a:solidFill>
                            <a:srgbClr val="E31836"/>
                          </a:solidFill>
                          <a:latin typeface="Calibri" pitchFamily="34" charset="0"/>
                          <a:ea typeface="Calibri" pitchFamily="34" charset="-122"/>
                          <a:cs typeface="Calibri" pitchFamily="34" charset="-120"/>
                        </a:rPr>
                        <a:t>G2</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200" dirty="0">
                          <a:solidFill>
                            <a:srgbClr val="222222"/>
                          </a:solidFill>
                          <a:latin typeface="Calibri" pitchFamily="34" charset="0"/>
                          <a:ea typeface="Calibri" pitchFamily="34" charset="-122"/>
                          <a:cs typeface="Calibri" pitchFamily="34" charset="-120"/>
                        </a:rPr>
                        <a:t>feasibility VH ∧ urgency VH</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200" dirty="0">
                          <a:solidFill>
                            <a:srgbClr val="222222"/>
                          </a:solidFill>
                          <a:latin typeface="Calibri" pitchFamily="34" charset="0"/>
                          <a:ea typeface="Calibri" pitchFamily="34" charset="-122"/>
                          <a:cs typeface="Calibri" pitchFamily="34" charset="-120"/>
                        </a:rPr>
                        <a:t>suppression 0.9; retardant drop 0.8; deployment 0.7</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extLst>
                  <a:ext uri="{0D108BD9-81ED-4DB2-BD59-A6C34878D82A}">
                    <a16:rowId xmlns:a16="http://schemas.microsoft.com/office/drawing/2014/main" val="10002"/>
                  </a:ext>
                </a:extLst>
              </a:tr>
              <a:tr h="329184">
                <a:tc>
                  <a:txBody>
                    <a:bodyPr/>
                    <a:lstStyle/>
                    <a:p>
                      <a:pPr marL="0" indent="0">
                        <a:buNone/>
                      </a:pPr>
                      <a:r>
                        <a:rPr lang="en-US" sz="1200" b="1" dirty="0">
                          <a:solidFill>
                            <a:srgbClr val="E31836"/>
                          </a:solidFill>
                          <a:latin typeface="Calibri" pitchFamily="34" charset="0"/>
                          <a:ea typeface="Calibri" pitchFamily="34" charset="-122"/>
                          <a:cs typeface="Calibri" pitchFamily="34" charset="-120"/>
                        </a:rPr>
                        <a:t>G3</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200" dirty="0">
                          <a:solidFill>
                            <a:srgbClr val="222222"/>
                          </a:solidFill>
                          <a:latin typeface="Calibri" pitchFamily="34" charset="0"/>
                          <a:ea typeface="Calibri" pitchFamily="34" charset="-122"/>
                          <a:cs typeface="Calibri" pitchFamily="34" charset="-120"/>
                        </a:rPr>
                        <a:t>feasibility VH ∧ fire threat H ∧ urgency VH</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200" dirty="0">
                          <a:solidFill>
                            <a:srgbClr val="222222"/>
                          </a:solidFill>
                          <a:latin typeface="Calibri" pitchFamily="34" charset="0"/>
                          <a:ea typeface="Calibri" pitchFamily="34" charset="-122"/>
                          <a:cs typeface="Calibri" pitchFamily="34" charset="-120"/>
                        </a:rPr>
                        <a:t>suppression 0.95; retardant drop 0.85; deployment 0.9</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extLst>
                  <a:ext uri="{0D108BD9-81ED-4DB2-BD59-A6C34878D82A}">
                    <a16:rowId xmlns:a16="http://schemas.microsoft.com/office/drawing/2014/main" val="10003"/>
                  </a:ext>
                </a:extLst>
              </a:tr>
              <a:tr h="329184">
                <a:tc>
                  <a:txBody>
                    <a:bodyPr/>
                    <a:lstStyle/>
                    <a:p>
                      <a:pPr marL="0" indent="0">
                        <a:buNone/>
                      </a:pPr>
                      <a:r>
                        <a:rPr lang="en-US" sz="1200" b="1" dirty="0">
                          <a:solidFill>
                            <a:srgbClr val="E31836"/>
                          </a:solidFill>
                          <a:latin typeface="Calibri" pitchFamily="34" charset="0"/>
                          <a:ea typeface="Calibri" pitchFamily="34" charset="-122"/>
                          <a:cs typeface="Calibri" pitchFamily="34" charset="-120"/>
                        </a:rPr>
                        <a:t>G4</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200" dirty="0">
                          <a:solidFill>
                            <a:srgbClr val="222222"/>
                          </a:solidFill>
                          <a:latin typeface="Calibri" pitchFamily="34" charset="0"/>
                          <a:ea typeface="Calibri" pitchFamily="34" charset="-122"/>
                          <a:cs typeface="Calibri" pitchFamily="34" charset="-120"/>
                        </a:rPr>
                        <a:t>feasibility VH ∧ urgency VH ∧ fire threat M</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200" dirty="0">
                          <a:solidFill>
                            <a:srgbClr val="222222"/>
                          </a:solidFill>
                          <a:latin typeface="Calibri" pitchFamily="34" charset="0"/>
                          <a:ea typeface="Calibri" pitchFamily="34" charset="-122"/>
                          <a:cs typeface="Calibri" pitchFamily="34" charset="-120"/>
                        </a:rPr>
                        <a:t>downwind_containment_shield 0.9; retardant drop 0.8; asset prot. 0.6</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extLst>
                  <a:ext uri="{0D108BD9-81ED-4DB2-BD59-A6C34878D82A}">
                    <a16:rowId xmlns:a16="http://schemas.microsoft.com/office/drawing/2014/main" val="10004"/>
                  </a:ext>
                </a:extLst>
              </a:tr>
              <a:tr h="329184">
                <a:tc>
                  <a:txBody>
                    <a:bodyPr/>
                    <a:lstStyle/>
                    <a:p>
                      <a:pPr marL="0" indent="0">
                        <a:buNone/>
                      </a:pPr>
                      <a:r>
                        <a:rPr lang="en-US" sz="1200" b="1" dirty="0">
                          <a:solidFill>
                            <a:srgbClr val="E31836"/>
                          </a:solidFill>
                          <a:latin typeface="Calibri" pitchFamily="34" charset="0"/>
                          <a:ea typeface="Calibri" pitchFamily="34" charset="-122"/>
                          <a:cs typeface="Calibri" pitchFamily="34" charset="-120"/>
                        </a:rPr>
                        <a:t>G5</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200" dirty="0">
                          <a:solidFill>
                            <a:srgbClr val="222222"/>
                          </a:solidFill>
                          <a:latin typeface="Calibri" pitchFamily="34" charset="0"/>
                          <a:ea typeface="Calibri" pitchFamily="34" charset="-122"/>
                          <a:cs typeface="Calibri" pitchFamily="34" charset="-120"/>
                        </a:rPr>
                        <a:t>asset risk VH ∧ feasibility VH</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200" dirty="0">
                          <a:solidFill>
                            <a:srgbClr val="222222"/>
                          </a:solidFill>
                          <a:latin typeface="Calibri" pitchFamily="34" charset="0"/>
                          <a:ea typeface="Calibri" pitchFamily="34" charset="-122"/>
                          <a:cs typeface="Calibri" pitchFamily="34" charset="-120"/>
                        </a:rPr>
                        <a:t>downwind_retardant_shield 0.9; asset prot. 0.7; deployment 0.7</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extLst>
                  <a:ext uri="{0D108BD9-81ED-4DB2-BD59-A6C34878D82A}">
                    <a16:rowId xmlns:a16="http://schemas.microsoft.com/office/drawing/2014/main" val="10005"/>
                  </a:ext>
                </a:extLst>
              </a:tr>
              <a:tr h="329184">
                <a:tc>
                  <a:txBody>
                    <a:bodyPr/>
                    <a:lstStyle/>
                    <a:p>
                      <a:pPr marL="0" indent="0">
                        <a:buNone/>
                      </a:pPr>
                      <a:r>
                        <a:rPr lang="en-US" sz="1200" b="1" dirty="0">
                          <a:solidFill>
                            <a:srgbClr val="E31836"/>
                          </a:solidFill>
                          <a:latin typeface="Calibri" pitchFamily="34" charset="0"/>
                          <a:ea typeface="Calibri" pitchFamily="34" charset="-122"/>
                          <a:cs typeface="Calibri" pitchFamily="34" charset="-120"/>
                        </a:rPr>
                        <a:t>G6</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200" dirty="0">
                          <a:solidFill>
                            <a:srgbClr val="222222"/>
                          </a:solidFill>
                          <a:latin typeface="Calibri" pitchFamily="34" charset="0"/>
                          <a:ea typeface="Calibri" pitchFamily="34" charset="-122"/>
                          <a:cs typeface="Calibri" pitchFamily="34" charset="-120"/>
                        </a:rPr>
                        <a:t>fire threat ≥ H ∧ feasibility VH</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200" dirty="0">
                          <a:solidFill>
                            <a:srgbClr val="222222"/>
                          </a:solidFill>
                          <a:latin typeface="Calibri" pitchFamily="34" charset="0"/>
                          <a:ea typeface="Calibri" pitchFamily="34" charset="-122"/>
                          <a:cs typeface="Calibri" pitchFamily="34" charset="-120"/>
                        </a:rPr>
                        <a:t>head_knockdown 0.95; deployment 0.8</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extLst>
                  <a:ext uri="{0D108BD9-81ED-4DB2-BD59-A6C34878D82A}">
                    <a16:rowId xmlns:a16="http://schemas.microsoft.com/office/drawing/2014/main" val="10006"/>
                  </a:ext>
                </a:extLst>
              </a:tr>
              <a:tr h="329184">
                <a:tc>
                  <a:txBody>
                    <a:bodyPr/>
                    <a:lstStyle/>
                    <a:p>
                      <a:pPr marL="0" indent="0">
                        <a:buNone/>
                      </a:pPr>
                      <a:r>
                        <a:rPr lang="en-US" sz="1200" b="1" dirty="0">
                          <a:solidFill>
                            <a:srgbClr val="E31836"/>
                          </a:solidFill>
                          <a:latin typeface="Calibri" pitchFamily="34" charset="0"/>
                          <a:ea typeface="Calibri" pitchFamily="34" charset="-122"/>
                          <a:cs typeface="Calibri" pitchFamily="34" charset="-120"/>
                        </a:rPr>
                        <a:t>G7</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200" dirty="0">
                          <a:solidFill>
                            <a:srgbClr val="222222"/>
                          </a:solidFill>
                          <a:latin typeface="Calibri" pitchFamily="34" charset="0"/>
                          <a:ea typeface="Calibri" pitchFamily="34" charset="-122"/>
                          <a:cs typeface="Calibri" pitchFamily="34" charset="-120"/>
                        </a:rPr>
                        <a:t>feasibility VH ∧ fire threat ≥ H ∧ evac. pressure VH</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200" dirty="0">
                          <a:solidFill>
                            <a:srgbClr val="222222"/>
                          </a:solidFill>
                          <a:latin typeface="Calibri" pitchFamily="34" charset="0"/>
                          <a:ea typeface="Calibri" pitchFamily="34" charset="-122"/>
                          <a:cs typeface="Calibri" pitchFamily="34" charset="-120"/>
                        </a:rPr>
                        <a:t>wet_containment_line 0.9; deployment 0.8</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extLst>
                  <a:ext uri="{0D108BD9-81ED-4DB2-BD59-A6C34878D82A}">
                    <a16:rowId xmlns:a16="http://schemas.microsoft.com/office/drawing/2014/main" val="10007"/>
                  </a:ext>
                </a:extLst>
              </a:tr>
              <a:tr h="329184">
                <a:tc>
                  <a:txBody>
                    <a:bodyPr/>
                    <a:lstStyle/>
                    <a:p>
                      <a:pPr marL="0" indent="0">
                        <a:buNone/>
                      </a:pPr>
                      <a:r>
                        <a:rPr lang="en-US" sz="1200" b="1" dirty="0">
                          <a:solidFill>
                            <a:srgbClr val="E31836"/>
                          </a:solidFill>
                          <a:latin typeface="Calibri" pitchFamily="34" charset="0"/>
                          <a:ea typeface="Calibri" pitchFamily="34" charset="-122"/>
                          <a:cs typeface="Calibri" pitchFamily="34" charset="-120"/>
                        </a:rPr>
                        <a:t>G8</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200" dirty="0">
                          <a:solidFill>
                            <a:srgbClr val="222222"/>
                          </a:solidFill>
                          <a:latin typeface="Calibri" pitchFamily="34" charset="0"/>
                          <a:ea typeface="Calibri" pitchFamily="34" charset="-122"/>
                          <a:cs typeface="Calibri" pitchFamily="34" charset="-120"/>
                        </a:rPr>
                        <a:t>feasibility H ∧ fire threat H</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200" dirty="0">
                          <a:solidFill>
                            <a:srgbClr val="222222"/>
                          </a:solidFill>
                          <a:latin typeface="Calibri" pitchFamily="34" charset="0"/>
                          <a:ea typeface="Calibri" pitchFamily="34" charset="-122"/>
                          <a:cs typeface="Calibri" pitchFamily="34" charset="-120"/>
                        </a:rPr>
                        <a:t>counterfire_strip 0.9; deployment 0.8</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extLst>
                  <a:ext uri="{0D108BD9-81ED-4DB2-BD59-A6C34878D82A}">
                    <a16:rowId xmlns:a16="http://schemas.microsoft.com/office/drawing/2014/main" val="10008"/>
                  </a:ext>
                </a:extLst>
              </a:tr>
              <a:tr h="329184">
                <a:tc>
                  <a:txBody>
                    <a:bodyPr/>
                    <a:lstStyle/>
                    <a:p>
                      <a:pPr marL="0" indent="0">
                        <a:buNone/>
                      </a:pPr>
                      <a:r>
                        <a:rPr lang="en-US" sz="1200" b="1" dirty="0">
                          <a:solidFill>
                            <a:srgbClr val="E31836"/>
                          </a:solidFill>
                          <a:latin typeface="Calibri" pitchFamily="34" charset="0"/>
                          <a:ea typeface="Calibri" pitchFamily="34" charset="-122"/>
                          <a:cs typeface="Calibri" pitchFamily="34" charset="-120"/>
                        </a:rPr>
                        <a:t>G9</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200" dirty="0">
                          <a:solidFill>
                            <a:srgbClr val="222222"/>
                          </a:solidFill>
                          <a:latin typeface="Calibri" pitchFamily="34" charset="0"/>
                          <a:ea typeface="Calibri" pitchFamily="34" charset="-122"/>
                          <a:cs typeface="Calibri" pitchFamily="34" charset="-120"/>
                        </a:rPr>
                        <a:t>feasibility VH ∧ asset risk H ∧ evac. pressure H</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200" dirty="0">
                          <a:solidFill>
                            <a:srgbClr val="222222"/>
                          </a:solidFill>
                          <a:latin typeface="Calibri" pitchFamily="34" charset="0"/>
                          <a:ea typeface="Calibri" pitchFamily="34" charset="-122"/>
                          <a:cs typeface="Calibri" pitchFamily="34" charset="-120"/>
                        </a:rPr>
                        <a:t>suppression 0.9; water drafting 0.8; deployment 0.7</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extLst>
                  <a:ext uri="{0D108BD9-81ED-4DB2-BD59-A6C34878D82A}">
                    <a16:rowId xmlns:a16="http://schemas.microsoft.com/office/drawing/2014/main" val="10009"/>
                  </a:ext>
                </a:extLst>
              </a:tr>
              <a:tr h="329184">
                <a:tc>
                  <a:txBody>
                    <a:bodyPr/>
                    <a:lstStyle/>
                    <a:p>
                      <a:pPr marL="0" indent="0">
                        <a:buNone/>
                      </a:pPr>
                      <a:r>
                        <a:rPr lang="en-US" sz="1200" b="1" dirty="0">
                          <a:solidFill>
                            <a:srgbClr val="E31836"/>
                          </a:solidFill>
                          <a:latin typeface="Calibri" pitchFamily="34" charset="0"/>
                          <a:ea typeface="Calibri" pitchFamily="34" charset="-122"/>
                          <a:cs typeface="Calibri" pitchFamily="34" charset="-120"/>
                        </a:rPr>
                        <a:t>G10</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200" dirty="0">
                          <a:solidFill>
                            <a:srgbClr val="222222"/>
                          </a:solidFill>
                          <a:latin typeface="Calibri" pitchFamily="34" charset="0"/>
                          <a:ea typeface="Calibri" pitchFamily="34" charset="-122"/>
                          <a:cs typeface="Calibri" pitchFamily="34" charset="-120"/>
                        </a:rPr>
                        <a:t>asset risk VH ∧ feasibility VH ∧ urgency VL</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200" dirty="0">
                          <a:solidFill>
                            <a:srgbClr val="222222"/>
                          </a:solidFill>
                          <a:latin typeface="Calibri" pitchFamily="34" charset="0"/>
                          <a:ea typeface="Calibri" pitchFamily="34" charset="-122"/>
                          <a:cs typeface="Calibri" pitchFamily="34" charset="-120"/>
                        </a:rPr>
                        <a:t>asset prot. 0.9; containment 0.8; retardant drop 0.7</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extLst>
                  <a:ext uri="{0D108BD9-81ED-4DB2-BD59-A6C34878D82A}">
                    <a16:rowId xmlns:a16="http://schemas.microsoft.com/office/drawing/2014/main" val="10010"/>
                  </a:ext>
                </a:extLst>
              </a:tr>
              <a:tr h="329184">
                <a:tc>
                  <a:txBody>
                    <a:bodyPr/>
                    <a:lstStyle/>
                    <a:p>
                      <a:pPr marL="0" indent="0">
                        <a:buNone/>
                      </a:pPr>
                      <a:r>
                        <a:rPr lang="en-US" sz="1200" b="1" dirty="0">
                          <a:solidFill>
                            <a:srgbClr val="E31836"/>
                          </a:solidFill>
                          <a:latin typeface="Calibri" pitchFamily="34" charset="0"/>
                          <a:ea typeface="Calibri" pitchFamily="34" charset="-122"/>
                          <a:cs typeface="Calibri" pitchFamily="34" charset="-120"/>
                        </a:rPr>
                        <a:t>G11</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200" dirty="0">
                          <a:solidFill>
                            <a:srgbClr val="222222"/>
                          </a:solidFill>
                          <a:latin typeface="Calibri" pitchFamily="34" charset="0"/>
                          <a:ea typeface="Calibri" pitchFamily="34" charset="-122"/>
                          <a:cs typeface="Calibri" pitchFamily="34" charset="-120"/>
                        </a:rPr>
                        <a:t>feasibility VH ∧ asset risk VH ∧ fire threat VL</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200" dirty="0">
                          <a:solidFill>
                            <a:srgbClr val="222222"/>
                          </a:solidFill>
                          <a:latin typeface="Calibri" pitchFamily="34" charset="0"/>
                          <a:ea typeface="Calibri" pitchFamily="34" charset="-122"/>
                          <a:cs typeface="Calibri" pitchFamily="34" charset="-120"/>
                        </a:rPr>
                        <a:t>suppression 0.9; water drafting 0.8; deployment 0.8</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extLst>
                  <a:ext uri="{0D108BD9-81ED-4DB2-BD59-A6C34878D82A}">
                    <a16:rowId xmlns:a16="http://schemas.microsoft.com/office/drawing/2014/main" val="10011"/>
                  </a:ext>
                </a:extLst>
              </a:tr>
              <a:tr h="329184">
                <a:tc>
                  <a:txBody>
                    <a:bodyPr/>
                    <a:lstStyle/>
                    <a:p>
                      <a:pPr marL="0" indent="0">
                        <a:buNone/>
                      </a:pPr>
                      <a:r>
                        <a:rPr lang="en-US" sz="1200" b="1" dirty="0">
                          <a:solidFill>
                            <a:srgbClr val="E31836"/>
                          </a:solidFill>
                          <a:latin typeface="Calibri" pitchFamily="34" charset="0"/>
                          <a:ea typeface="Calibri" pitchFamily="34" charset="-122"/>
                          <a:cs typeface="Calibri" pitchFamily="34" charset="-120"/>
                        </a:rPr>
                        <a:t>G12</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200" dirty="0">
                          <a:solidFill>
                            <a:srgbClr val="222222"/>
                          </a:solidFill>
                          <a:latin typeface="Calibri" pitchFamily="34" charset="0"/>
                          <a:ea typeface="Calibri" pitchFamily="34" charset="-122"/>
                          <a:cs typeface="Calibri" pitchFamily="34" charset="-120"/>
                        </a:rPr>
                        <a:t>feasibility VH ∧ asset risk VH ∧ evac. pressure VH</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200" dirty="0">
                          <a:solidFill>
                            <a:srgbClr val="222222"/>
                          </a:solidFill>
                          <a:latin typeface="Calibri" pitchFamily="34" charset="0"/>
                          <a:ea typeface="Calibri" pitchFamily="34" charset="-122"/>
                          <a:cs typeface="Calibri" pitchFamily="34" charset="-120"/>
                        </a:rPr>
                        <a:t>suppression 0.9; water drafting 0.8; retardant drop 0.7</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extLst>
                  <a:ext uri="{0D108BD9-81ED-4DB2-BD59-A6C34878D82A}">
                    <a16:rowId xmlns:a16="http://schemas.microsoft.com/office/drawing/2014/main" val="10012"/>
                  </a:ext>
                </a:extLst>
              </a:tr>
              <a:tr h="329184">
                <a:tc>
                  <a:txBody>
                    <a:bodyPr/>
                    <a:lstStyle/>
                    <a:p>
                      <a:pPr marL="0" indent="0">
                        <a:buNone/>
                      </a:pPr>
                      <a:r>
                        <a:rPr lang="en-US" sz="1200" b="1" dirty="0">
                          <a:solidFill>
                            <a:srgbClr val="E31836"/>
                          </a:solidFill>
                          <a:latin typeface="Calibri" pitchFamily="34" charset="0"/>
                          <a:ea typeface="Calibri" pitchFamily="34" charset="-122"/>
                          <a:cs typeface="Calibri" pitchFamily="34" charset="-120"/>
                        </a:rPr>
                        <a:t>G13</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200" dirty="0">
                          <a:solidFill>
                            <a:srgbClr val="222222"/>
                          </a:solidFill>
                          <a:latin typeface="Calibri" pitchFamily="34" charset="0"/>
                          <a:ea typeface="Calibri" pitchFamily="34" charset="-122"/>
                          <a:cs typeface="Calibri" pitchFamily="34" charset="-120"/>
                        </a:rPr>
                        <a:t>feasibility VH ∧ asset risk VH ∧ urgency VH</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200" dirty="0">
                          <a:solidFill>
                            <a:srgbClr val="222222"/>
                          </a:solidFill>
                          <a:latin typeface="Calibri" pitchFamily="34" charset="0"/>
                          <a:ea typeface="Calibri" pitchFamily="34" charset="-122"/>
                          <a:cs typeface="Calibri" pitchFamily="34" charset="-120"/>
                        </a:rPr>
                        <a:t>suppression 0.95; water drafting 0.8; retardant drop 0.7</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extLst>
                  <a:ext uri="{0D108BD9-81ED-4DB2-BD59-A6C34878D82A}">
                    <a16:rowId xmlns:a16="http://schemas.microsoft.com/office/drawing/2014/main" val="10013"/>
                  </a:ext>
                </a:extLst>
              </a:tr>
            </a:tbl>
          </a:graphicData>
        </a:graphic>
      </p:graphicFrame>
      <p:sp>
        <p:nvSpPr>
          <p:cNvPr id="7" name="Text 2"/>
          <p:cNvSpPr/>
          <p:nvPr/>
        </p:nvSpPr>
        <p:spPr>
          <a:xfrm>
            <a:off x="457200" y="6309360"/>
            <a:ext cx="11292840" cy="365760"/>
          </a:xfrm>
          <a:prstGeom prst="rect">
            <a:avLst/>
          </a:prstGeom>
          <a:noFill/>
          <a:ln/>
        </p:spPr>
        <p:txBody>
          <a:bodyPr wrap="square" lIns="0" tIns="0" rIns="0" bIns="0" rtlCol="0" anchor="t"/>
          <a:lstStyle/>
          <a:p>
            <a:pPr marL="0" indent="0">
              <a:lnSpc>
                <a:spcPct val="104000"/>
              </a:lnSpc>
              <a:buNone/>
            </a:pPr>
            <a:r>
              <a:rPr lang="en-US" sz="1200" i="1" dirty="0">
                <a:solidFill>
                  <a:srgbClr val="6E6E6E"/>
                </a:solidFill>
                <a:latin typeface="Calibri" pitchFamily="34" charset="0"/>
                <a:ea typeface="Calibri" pitchFamily="34" charset="-122"/>
                <a:cs typeface="Calibri" pitchFamily="34" charset="-120"/>
              </a:rPr>
              <a:t>VL/L/M/H/VH terms; "≥ X" = satisfied at level X or above; intensities on [0, 1], reproduced verbatim from the store. Every rule remains permanently marked machine-proposed in its provenance trail.</a:t>
            </a:r>
            <a:endParaRPr lang="en-US" sz="12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237744"/>
            <a:ext cx="10058400" cy="292608"/>
          </a:xfrm>
          <a:prstGeom prst="rect">
            <a:avLst/>
          </a:prstGeom>
          <a:noFill/>
          <a:ln/>
        </p:spPr>
        <p:txBody>
          <a:bodyPr wrap="square" lIns="0" tIns="0" rIns="0" bIns="0" rtlCol="0" anchor="ctr"/>
          <a:lstStyle/>
          <a:p>
            <a:pPr marL="0" indent="0">
              <a:buNone/>
            </a:pPr>
            <a:r>
              <a:rPr lang="en-US" sz="1300" b="1" kern="0" spc="200" dirty="0">
                <a:solidFill>
                  <a:srgbClr val="E31836"/>
                </a:solidFill>
                <a:latin typeface="Calibri" pitchFamily="34" charset="0"/>
                <a:ea typeface="Calibri" pitchFamily="34" charset="-122"/>
                <a:cs typeface="Calibri" pitchFamily="34" charset="-120"/>
              </a:rPr>
              <a:t>BACKUP · APPENDIX E</a:t>
            </a:r>
            <a:endParaRPr lang="en-US" sz="1300" dirty="0"/>
          </a:p>
        </p:txBody>
      </p:sp>
      <p:sp>
        <p:nvSpPr>
          <p:cNvPr id="3" name="Text 1"/>
          <p:cNvSpPr/>
          <p:nvPr/>
        </p:nvSpPr>
        <p:spPr>
          <a:xfrm>
            <a:off x="502920" y="493776"/>
            <a:ext cx="11247120" cy="621792"/>
          </a:xfrm>
          <a:prstGeom prst="rect">
            <a:avLst/>
          </a:prstGeom>
          <a:noFill/>
          <a:ln/>
        </p:spPr>
        <p:txBody>
          <a:bodyPr wrap="square" lIns="0" tIns="0" rIns="0" bIns="0" rtlCol="0" anchor="ctr"/>
          <a:lstStyle/>
          <a:p>
            <a:pPr marL="0" indent="0">
              <a:buNone/>
            </a:pPr>
            <a:r>
              <a:rPr lang="en-US" sz="2500" b="1" dirty="0">
                <a:solidFill>
                  <a:srgbClr val="000000"/>
                </a:solidFill>
                <a:latin typeface="Cambria" pitchFamily="34" charset="0"/>
                <a:ea typeface="Cambria" pitchFamily="34" charset="-122"/>
                <a:cs typeface="Cambria" pitchFamily="34" charset="-120"/>
              </a:rPr>
              <a:t>Generative Rules (G14–G20) and Admitted Vocabulary Objects</a:t>
            </a:r>
            <a:endParaRPr lang="en-US" sz="2500" dirty="0"/>
          </a:p>
        </p:txBody>
      </p:sp>
      <p:pic>
        <p:nvPicPr>
          <p:cNvPr id="4" name="Image 0" descr="/tmp/thx/deck/figs/metu_emblem.png"/>
          <p:cNvPicPr>
            <a:picLocks noChangeAspect="1"/>
          </p:cNvPicPr>
          <p:nvPr/>
        </p:nvPicPr>
        <p:blipFill>
          <a:blip r:embed="rId3"/>
          <a:stretch>
            <a:fillRect/>
          </a:stretch>
        </p:blipFill>
        <p:spPr>
          <a:xfrm>
            <a:off x="10716768" y="184607"/>
            <a:ext cx="475488" cy="398882"/>
          </a:xfrm>
          <a:prstGeom prst="rect">
            <a:avLst/>
          </a:prstGeom>
        </p:spPr>
      </p:pic>
      <p:pic>
        <p:nvPicPr>
          <p:cNvPr id="5" name="Image 1" descr="/tmp/thx/deck/figs/eee_logo.png"/>
          <p:cNvPicPr>
            <a:picLocks noChangeAspect="1"/>
          </p:cNvPicPr>
          <p:nvPr/>
        </p:nvPicPr>
        <p:blipFill>
          <a:blip r:embed="rId4"/>
          <a:stretch>
            <a:fillRect/>
          </a:stretch>
        </p:blipFill>
        <p:spPr>
          <a:xfrm>
            <a:off x="11265408" y="186217"/>
            <a:ext cx="475488" cy="395662"/>
          </a:xfrm>
          <a:prstGeom prst="rect">
            <a:avLst/>
          </a:prstGeom>
        </p:spPr>
      </p:pic>
      <p:graphicFrame>
        <p:nvGraphicFramePr>
          <p:cNvPr id="9" name="Table 0"/>
          <p:cNvGraphicFramePr>
            <a:graphicFrameLocks noGrp="1"/>
          </p:cNvGraphicFramePr>
          <p:nvPr/>
        </p:nvGraphicFramePr>
        <p:xfrm>
          <a:off x="457200" y="1325880"/>
          <a:ext cx="11292840" cy="914400"/>
        </p:xfrm>
        <a:graphic>
          <a:graphicData uri="http://schemas.openxmlformats.org/drawingml/2006/table">
            <a:tbl>
              <a:tblPr/>
              <a:tblGrid>
                <a:gridCol w="594360">
                  <a:extLst>
                    <a:ext uri="{9D8B030D-6E8A-4147-A177-3AD203B41FA5}">
                      <a16:colId xmlns:a16="http://schemas.microsoft.com/office/drawing/2014/main" val="20000"/>
                    </a:ext>
                  </a:extLst>
                </a:gridCol>
                <a:gridCol w="5120640">
                  <a:extLst>
                    <a:ext uri="{9D8B030D-6E8A-4147-A177-3AD203B41FA5}">
                      <a16:colId xmlns:a16="http://schemas.microsoft.com/office/drawing/2014/main" val="20001"/>
                    </a:ext>
                  </a:extLst>
                </a:gridCol>
                <a:gridCol w="5577840">
                  <a:extLst>
                    <a:ext uri="{9D8B030D-6E8A-4147-A177-3AD203B41FA5}">
                      <a16:colId xmlns:a16="http://schemas.microsoft.com/office/drawing/2014/main" val="20002"/>
                    </a:ext>
                  </a:extLst>
                </a:gridCol>
              </a:tblGrid>
              <a:tr h="347472">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ID</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solidFill>
                      <a:srgbClr val="000000"/>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IF</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solidFill>
                      <a:srgbClr val="000000"/>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THEN</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solidFill>
                      <a:srgbClr val="000000"/>
                    </a:solidFill>
                  </a:tcPr>
                </a:tc>
                <a:extLst>
                  <a:ext uri="{0D108BD9-81ED-4DB2-BD59-A6C34878D82A}">
                    <a16:rowId xmlns:a16="http://schemas.microsoft.com/office/drawing/2014/main" val="10000"/>
                  </a:ext>
                </a:extLst>
              </a:tr>
              <a:tr h="347472">
                <a:tc>
                  <a:txBody>
                    <a:bodyPr/>
                    <a:lstStyle/>
                    <a:p>
                      <a:pPr marL="0" indent="0">
                        <a:buNone/>
                      </a:pPr>
                      <a:r>
                        <a:rPr lang="en-US" sz="1200" b="1" dirty="0">
                          <a:solidFill>
                            <a:srgbClr val="E31836"/>
                          </a:solidFill>
                          <a:latin typeface="Calibri" pitchFamily="34" charset="0"/>
                          <a:ea typeface="Calibri" pitchFamily="34" charset="-122"/>
                          <a:cs typeface="Calibri" pitchFamily="34" charset="-120"/>
                        </a:rPr>
                        <a:t>G14</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200" dirty="0">
                          <a:solidFill>
                            <a:srgbClr val="222222"/>
                          </a:solidFill>
                          <a:latin typeface="Calibri" pitchFamily="34" charset="0"/>
                          <a:ea typeface="Calibri" pitchFamily="34" charset="-122"/>
                          <a:cs typeface="Calibri" pitchFamily="34" charset="-120"/>
                        </a:rPr>
                        <a:t>interface_exposure VH ∧ feasibility VH</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200" dirty="0">
                          <a:solidFill>
                            <a:srgbClr val="222222"/>
                          </a:solidFill>
                          <a:latin typeface="Calibri" pitchFamily="34" charset="0"/>
                          <a:ea typeface="Calibri" pitchFamily="34" charset="-122"/>
                          <a:cs typeface="Calibri" pitchFamily="34" charset="-120"/>
                        </a:rPr>
                        <a:t>asset prot. 0.90; containment 0.80; deployment 0.70</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extLst>
                  <a:ext uri="{0D108BD9-81ED-4DB2-BD59-A6C34878D82A}">
                    <a16:rowId xmlns:a16="http://schemas.microsoft.com/office/drawing/2014/main" val="10001"/>
                  </a:ext>
                </a:extLst>
              </a:tr>
              <a:tr h="347472">
                <a:tc>
                  <a:txBody>
                    <a:bodyPr/>
                    <a:lstStyle/>
                    <a:p>
                      <a:pPr marL="0" indent="0">
                        <a:buNone/>
                      </a:pPr>
                      <a:r>
                        <a:rPr lang="en-US" sz="1200" b="1" dirty="0">
                          <a:solidFill>
                            <a:srgbClr val="E31836"/>
                          </a:solidFill>
                          <a:latin typeface="Calibri" pitchFamily="34" charset="0"/>
                          <a:ea typeface="Calibri" pitchFamily="34" charset="-122"/>
                          <a:cs typeface="Calibri" pitchFamily="34" charset="-120"/>
                        </a:rPr>
                        <a:t>G15</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200" dirty="0">
                          <a:solidFill>
                            <a:srgbClr val="222222"/>
                          </a:solidFill>
                          <a:latin typeface="Calibri" pitchFamily="34" charset="0"/>
                          <a:ea typeface="Calibri" pitchFamily="34" charset="-122"/>
                          <a:cs typeface="Calibri" pitchFamily="34" charset="-120"/>
                        </a:rPr>
                        <a:t>fire threat H ∧ asset risk VH ∧ feasibility VH</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200" dirty="0">
                          <a:solidFill>
                            <a:srgbClr val="222222"/>
                          </a:solidFill>
                          <a:latin typeface="Calibri" pitchFamily="34" charset="0"/>
                          <a:ea typeface="Calibri" pitchFamily="34" charset="-122"/>
                          <a:cs typeface="Calibri" pitchFamily="34" charset="-120"/>
                        </a:rPr>
                        <a:t>suppression 0.9; retardant drop 0.8; asset prot. 0.7</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extLst>
                  <a:ext uri="{0D108BD9-81ED-4DB2-BD59-A6C34878D82A}">
                    <a16:rowId xmlns:a16="http://schemas.microsoft.com/office/drawing/2014/main" val="10002"/>
                  </a:ext>
                </a:extLst>
              </a:tr>
              <a:tr h="347472">
                <a:tc>
                  <a:txBody>
                    <a:bodyPr/>
                    <a:lstStyle/>
                    <a:p>
                      <a:pPr marL="0" indent="0">
                        <a:buNone/>
                      </a:pPr>
                      <a:r>
                        <a:rPr lang="en-US" sz="1200" b="1" dirty="0">
                          <a:solidFill>
                            <a:srgbClr val="E31836"/>
                          </a:solidFill>
                          <a:latin typeface="Calibri" pitchFamily="34" charset="0"/>
                          <a:ea typeface="Calibri" pitchFamily="34" charset="-122"/>
                          <a:cs typeface="Calibri" pitchFamily="34" charset="-120"/>
                        </a:rPr>
                        <a:t>G16</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200" dirty="0">
                          <a:solidFill>
                            <a:srgbClr val="222222"/>
                          </a:solidFill>
                          <a:latin typeface="Calibri" pitchFamily="34" charset="0"/>
                          <a:ea typeface="Calibri" pitchFamily="34" charset="-122"/>
                          <a:cs typeface="Calibri" pitchFamily="34" charset="-120"/>
                        </a:rPr>
                        <a:t>asset risk VH ∧ feasibility VH ∧ evac. pressure VL</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200" dirty="0">
                          <a:solidFill>
                            <a:srgbClr val="222222"/>
                          </a:solidFill>
                          <a:latin typeface="Calibri" pitchFamily="34" charset="0"/>
                          <a:ea typeface="Calibri" pitchFamily="34" charset="-122"/>
                          <a:cs typeface="Calibri" pitchFamily="34" charset="-120"/>
                        </a:rPr>
                        <a:t>containment 0.8; retardant drop 0.7; deployment 0.7</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extLst>
                  <a:ext uri="{0D108BD9-81ED-4DB2-BD59-A6C34878D82A}">
                    <a16:rowId xmlns:a16="http://schemas.microsoft.com/office/drawing/2014/main" val="10003"/>
                  </a:ext>
                </a:extLst>
              </a:tr>
              <a:tr h="347472">
                <a:tc>
                  <a:txBody>
                    <a:bodyPr/>
                    <a:lstStyle/>
                    <a:p>
                      <a:pPr marL="0" indent="0">
                        <a:buNone/>
                      </a:pPr>
                      <a:r>
                        <a:rPr lang="en-US" sz="1200" b="1" dirty="0">
                          <a:solidFill>
                            <a:srgbClr val="E31836"/>
                          </a:solidFill>
                          <a:latin typeface="Calibri" pitchFamily="34" charset="0"/>
                          <a:ea typeface="Calibri" pitchFamily="34" charset="-122"/>
                          <a:cs typeface="Calibri" pitchFamily="34" charset="-120"/>
                        </a:rPr>
                        <a:t>G17</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200" dirty="0">
                          <a:solidFill>
                            <a:srgbClr val="222222"/>
                          </a:solidFill>
                          <a:latin typeface="Calibri" pitchFamily="34" charset="0"/>
                          <a:ea typeface="Calibri" pitchFamily="34" charset="-122"/>
                          <a:cs typeface="Calibri" pitchFamily="34" charset="-120"/>
                        </a:rPr>
                        <a:t>fire threat H ∧ feasibility L</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200" dirty="0">
                          <a:solidFill>
                            <a:srgbClr val="222222"/>
                          </a:solidFill>
                          <a:latin typeface="Calibri" pitchFamily="34" charset="0"/>
                          <a:ea typeface="Calibri" pitchFamily="34" charset="-122"/>
                          <a:cs typeface="Calibri" pitchFamily="34" charset="-120"/>
                        </a:rPr>
                        <a:t>containment 0.9; retardant drop 0.8</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extLst>
                  <a:ext uri="{0D108BD9-81ED-4DB2-BD59-A6C34878D82A}">
                    <a16:rowId xmlns:a16="http://schemas.microsoft.com/office/drawing/2014/main" val="10004"/>
                  </a:ext>
                </a:extLst>
              </a:tr>
              <a:tr h="347472">
                <a:tc>
                  <a:txBody>
                    <a:bodyPr/>
                    <a:lstStyle/>
                    <a:p>
                      <a:pPr marL="0" indent="0">
                        <a:buNone/>
                      </a:pPr>
                      <a:r>
                        <a:rPr lang="en-US" sz="1200" b="1" dirty="0">
                          <a:solidFill>
                            <a:srgbClr val="E31836"/>
                          </a:solidFill>
                          <a:latin typeface="Calibri" pitchFamily="34" charset="0"/>
                          <a:ea typeface="Calibri" pitchFamily="34" charset="-122"/>
                          <a:cs typeface="Calibri" pitchFamily="34" charset="-120"/>
                        </a:rPr>
                        <a:t>G18</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200" dirty="0">
                          <a:solidFill>
                            <a:srgbClr val="222222"/>
                          </a:solidFill>
                          <a:latin typeface="Calibri" pitchFamily="34" charset="0"/>
                          <a:ea typeface="Calibri" pitchFamily="34" charset="-122"/>
                          <a:cs typeface="Calibri" pitchFamily="34" charset="-120"/>
                        </a:rPr>
                        <a:t>feasibility VH ∧ fire threat VL ∧ urgency VL</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200" dirty="0">
                          <a:solidFill>
                            <a:srgbClr val="222222"/>
                          </a:solidFill>
                          <a:latin typeface="Calibri" pitchFamily="34" charset="0"/>
                          <a:ea typeface="Calibri" pitchFamily="34" charset="-122"/>
                          <a:cs typeface="Calibri" pitchFamily="34" charset="-120"/>
                        </a:rPr>
                        <a:t>suppression 0.9; water drafting 0.8; containment 0.7</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extLst>
                  <a:ext uri="{0D108BD9-81ED-4DB2-BD59-A6C34878D82A}">
                    <a16:rowId xmlns:a16="http://schemas.microsoft.com/office/drawing/2014/main" val="10005"/>
                  </a:ext>
                </a:extLst>
              </a:tr>
              <a:tr h="347472">
                <a:tc>
                  <a:txBody>
                    <a:bodyPr/>
                    <a:lstStyle/>
                    <a:p>
                      <a:pPr marL="0" indent="0">
                        <a:buNone/>
                      </a:pPr>
                      <a:r>
                        <a:rPr lang="en-US" sz="1200" b="1" dirty="0">
                          <a:solidFill>
                            <a:srgbClr val="E31836"/>
                          </a:solidFill>
                          <a:latin typeface="Calibri" pitchFamily="34" charset="0"/>
                          <a:ea typeface="Calibri" pitchFamily="34" charset="-122"/>
                          <a:cs typeface="Calibri" pitchFamily="34" charset="-120"/>
                        </a:rPr>
                        <a:t>G19</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200" dirty="0">
                          <a:solidFill>
                            <a:srgbClr val="222222"/>
                          </a:solidFill>
                          <a:latin typeface="Calibri" pitchFamily="34" charset="0"/>
                          <a:ea typeface="Calibri" pitchFamily="34" charset="-122"/>
                          <a:cs typeface="Calibri" pitchFamily="34" charset="-120"/>
                        </a:rPr>
                        <a:t>urgency H ∧ feasibility L ∧ asset risk H</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200" dirty="0">
                          <a:solidFill>
                            <a:srgbClr val="222222"/>
                          </a:solidFill>
                          <a:latin typeface="Calibri" pitchFamily="34" charset="0"/>
                          <a:ea typeface="Calibri" pitchFamily="34" charset="-122"/>
                          <a:cs typeface="Calibri" pitchFamily="34" charset="-120"/>
                        </a:rPr>
                        <a:t>retardant drop 0.9; containment 0.8; water drafting 0.7</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extLst>
                  <a:ext uri="{0D108BD9-81ED-4DB2-BD59-A6C34878D82A}">
                    <a16:rowId xmlns:a16="http://schemas.microsoft.com/office/drawing/2014/main" val="10006"/>
                  </a:ext>
                </a:extLst>
              </a:tr>
              <a:tr h="347472">
                <a:tc>
                  <a:txBody>
                    <a:bodyPr/>
                    <a:lstStyle/>
                    <a:p>
                      <a:pPr marL="0" indent="0">
                        <a:buNone/>
                      </a:pPr>
                      <a:r>
                        <a:rPr lang="en-US" sz="1200" b="1" dirty="0">
                          <a:solidFill>
                            <a:srgbClr val="E31836"/>
                          </a:solidFill>
                          <a:latin typeface="Calibri" pitchFamily="34" charset="0"/>
                          <a:ea typeface="Calibri" pitchFamily="34" charset="-122"/>
                          <a:cs typeface="Calibri" pitchFamily="34" charset="-120"/>
                        </a:rPr>
                        <a:t>G20</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200" dirty="0">
                          <a:solidFill>
                            <a:srgbClr val="222222"/>
                          </a:solidFill>
                          <a:latin typeface="Calibri" pitchFamily="34" charset="0"/>
                          <a:ea typeface="Calibri" pitchFamily="34" charset="-122"/>
                          <a:cs typeface="Calibri" pitchFamily="34" charset="-120"/>
                        </a:rPr>
                        <a:t>asset risk H ∧ evac. pressure VH ∧ feasibility L</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200" dirty="0">
                          <a:solidFill>
                            <a:srgbClr val="222222"/>
                          </a:solidFill>
                          <a:latin typeface="Calibri" pitchFamily="34" charset="0"/>
                          <a:ea typeface="Calibri" pitchFamily="34" charset="-122"/>
                          <a:cs typeface="Calibri" pitchFamily="34" charset="-120"/>
                        </a:rPr>
                        <a:t>water drafting 0.9; suppression 0.8; retardant drop 0.7</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
        <p:nvSpPr>
          <p:cNvPr id="7" name="Text 2"/>
          <p:cNvSpPr/>
          <p:nvPr/>
        </p:nvSpPr>
        <p:spPr>
          <a:xfrm>
            <a:off x="457200" y="4206240"/>
            <a:ext cx="11292840" cy="292608"/>
          </a:xfrm>
          <a:prstGeom prst="rect">
            <a:avLst/>
          </a:prstGeom>
          <a:noFill/>
          <a:ln/>
        </p:spPr>
        <p:txBody>
          <a:bodyPr wrap="square" lIns="0" tIns="0" rIns="0" bIns="0" rtlCol="0" anchor="ctr"/>
          <a:lstStyle/>
          <a:p>
            <a:pPr marL="0" indent="0">
              <a:buNone/>
            </a:pPr>
            <a:r>
              <a:rPr lang="en-US" sz="1400" b="1" dirty="0">
                <a:solidFill>
                  <a:srgbClr val="E31836"/>
                </a:solidFill>
                <a:latin typeface="Calibri" pitchFamily="34" charset="0"/>
                <a:ea typeface="Calibri" pitchFamily="34" charset="-122"/>
                <a:cs typeface="Calibri" pitchFamily="34" charset="-120"/>
              </a:rPr>
              <a:t>Vocabulary objects with their recorded definitions (examples)</a:t>
            </a:r>
            <a:endParaRPr lang="en-US" sz="1400" dirty="0"/>
          </a:p>
        </p:txBody>
      </p:sp>
      <p:graphicFrame>
        <p:nvGraphicFramePr>
          <p:cNvPr id="17" name="Table 1"/>
          <p:cNvGraphicFramePr>
            <a:graphicFrameLocks noGrp="1"/>
          </p:cNvGraphicFramePr>
          <p:nvPr/>
        </p:nvGraphicFramePr>
        <p:xfrm>
          <a:off x="457200" y="4553712"/>
          <a:ext cx="11292840" cy="914400"/>
        </p:xfrm>
        <a:graphic>
          <a:graphicData uri="http://schemas.openxmlformats.org/drawingml/2006/table">
            <a:tbl>
              <a:tblPr/>
              <a:tblGrid>
                <a:gridCol w="1005840">
                  <a:extLst>
                    <a:ext uri="{9D8B030D-6E8A-4147-A177-3AD203B41FA5}">
                      <a16:colId xmlns:a16="http://schemas.microsoft.com/office/drawing/2014/main" val="20000"/>
                    </a:ext>
                  </a:extLst>
                </a:gridCol>
                <a:gridCol w="3291840">
                  <a:extLst>
                    <a:ext uri="{9D8B030D-6E8A-4147-A177-3AD203B41FA5}">
                      <a16:colId xmlns:a16="http://schemas.microsoft.com/office/drawing/2014/main" val="20001"/>
                    </a:ext>
                  </a:extLst>
                </a:gridCol>
                <a:gridCol w="6995160">
                  <a:extLst>
                    <a:ext uri="{9D8B030D-6E8A-4147-A177-3AD203B41FA5}">
                      <a16:colId xmlns:a16="http://schemas.microsoft.com/office/drawing/2014/main" val="20002"/>
                    </a:ext>
                  </a:extLst>
                </a:gridCol>
              </a:tblGrid>
              <a:tr h="301752">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Kind</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solidFill>
                      <a:srgbClr val="000000"/>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Name</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solidFill>
                      <a:srgbClr val="000000"/>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Recorded definition</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solidFill>
                      <a:srgbClr val="000000"/>
                    </a:solidFill>
                  </a:tcPr>
                </a:tc>
                <a:extLst>
                  <a:ext uri="{0D108BD9-81ED-4DB2-BD59-A6C34878D82A}">
                    <a16:rowId xmlns:a16="http://schemas.microsoft.com/office/drawing/2014/main" val="10000"/>
                  </a:ext>
                </a:extLst>
              </a:tr>
              <a:tr h="301752">
                <a:tc>
                  <a:txBody>
                    <a:bodyPr/>
                    <a:lstStyle/>
                    <a:p>
                      <a:pPr marL="0" indent="0">
                        <a:buNone/>
                      </a:pPr>
                      <a:r>
                        <a:rPr lang="en-US" sz="1200" b="1" dirty="0">
                          <a:solidFill>
                            <a:srgbClr val="222222"/>
                          </a:solidFill>
                          <a:latin typeface="Calibri" pitchFamily="34" charset="0"/>
                          <a:ea typeface="Calibri" pitchFamily="34" charset="-122"/>
                          <a:cs typeface="Calibri" pitchFamily="34" charset="-120"/>
                        </a:rPr>
                        <a:t>Concept</a:t>
                      </a:r>
                      <a:endParaRPr lang="en-US" sz="1200" dirty="0">
                        <a:latin typeface="Calibri" charset="0"/>
                        <a:ea typeface="Calibri" charset="0"/>
                        <a:cs typeface="Calibri" charset="0"/>
                      </a:endParaRPr>
                    </a:p>
                  </a:txBody>
                  <a:tcPr marL="27432" marR="27432" marT="27432" marB="27432"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200" b="1" dirty="0">
                          <a:solidFill>
                            <a:srgbClr val="E31836"/>
                          </a:solidFill>
                          <a:latin typeface="Calibri" pitchFamily="34" charset="0"/>
                          <a:ea typeface="Calibri" pitchFamily="34" charset="-122"/>
                          <a:cs typeface="Calibri" pitchFamily="34" charset="-120"/>
                        </a:rPr>
                        <a:t>capacity_starved_head_pressure</a:t>
                      </a:r>
                      <a:endParaRPr lang="en-US" sz="1200" dirty="0">
                        <a:latin typeface="Calibri" charset="0"/>
                        <a:ea typeface="Calibri" charset="0"/>
                        <a:cs typeface="Calibri" charset="0"/>
                      </a:endParaRPr>
                    </a:p>
                  </a:txBody>
                  <a:tcPr marL="27432" marR="27432" marT="27432" marB="27432"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200" dirty="0">
                          <a:solidFill>
                            <a:srgbClr val="222222"/>
                          </a:solidFill>
                          <a:latin typeface="Calibri" pitchFamily="34" charset="0"/>
                          <a:ea typeface="Calibri" pitchFamily="34" charset="-122"/>
                          <a:cs typeface="Calibri" pitchFamily="34" charset="-120"/>
                        </a:rPr>
                        <a:t>fire_threat 0.50, urgency 0.30, feasibility 0.20</a:t>
                      </a:r>
                      <a:endParaRPr lang="en-US" sz="1200" dirty="0">
                        <a:latin typeface="Calibri" charset="0"/>
                        <a:ea typeface="Calibri" charset="0"/>
                        <a:cs typeface="Calibri" charset="0"/>
                      </a:endParaRPr>
                    </a:p>
                  </a:txBody>
                  <a:tcPr marL="27432" marR="27432" marT="27432" marB="27432"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extLst>
                  <a:ext uri="{0D108BD9-81ED-4DB2-BD59-A6C34878D82A}">
                    <a16:rowId xmlns:a16="http://schemas.microsoft.com/office/drawing/2014/main" val="10001"/>
                  </a:ext>
                </a:extLst>
              </a:tr>
              <a:tr h="301752">
                <a:tc>
                  <a:txBody>
                    <a:bodyPr/>
                    <a:lstStyle/>
                    <a:p>
                      <a:pPr marL="0" indent="0">
                        <a:buNone/>
                      </a:pPr>
                      <a:r>
                        <a:rPr lang="en-US" sz="1200" b="1" dirty="0">
                          <a:solidFill>
                            <a:srgbClr val="222222"/>
                          </a:solidFill>
                          <a:latin typeface="Calibri" pitchFamily="34" charset="0"/>
                          <a:ea typeface="Calibri" pitchFamily="34" charset="-122"/>
                          <a:cs typeface="Calibri" pitchFamily="34" charset="-120"/>
                        </a:rPr>
                        <a:t>Concept</a:t>
                      </a:r>
                      <a:endParaRPr lang="en-US" sz="1200" dirty="0">
                        <a:latin typeface="Calibri" charset="0"/>
                        <a:ea typeface="Calibri" charset="0"/>
                        <a:cs typeface="Calibri" charset="0"/>
                      </a:endParaRPr>
                    </a:p>
                  </a:txBody>
                  <a:tcPr marL="27432" marR="27432" marT="27432" marB="27432"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200" b="1" dirty="0">
                          <a:solidFill>
                            <a:srgbClr val="E31836"/>
                          </a:solidFill>
                          <a:latin typeface="Calibri" pitchFamily="34" charset="0"/>
                          <a:ea typeface="Calibri" pitchFamily="34" charset="-122"/>
                          <a:cs typeface="Calibri" pitchFamily="34" charset="-120"/>
                        </a:rPr>
                        <a:t>head_run_pressure</a:t>
                      </a:r>
                      <a:endParaRPr lang="en-US" sz="1200" dirty="0">
                        <a:latin typeface="Calibri" charset="0"/>
                        <a:ea typeface="Calibri" charset="0"/>
                        <a:cs typeface="Calibri" charset="0"/>
                      </a:endParaRPr>
                    </a:p>
                  </a:txBody>
                  <a:tcPr marL="27432" marR="27432" marT="27432" marB="27432"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200" dirty="0">
                          <a:solidFill>
                            <a:srgbClr val="222222"/>
                          </a:solidFill>
                          <a:latin typeface="Calibri" pitchFamily="34" charset="0"/>
                          <a:ea typeface="Calibri" pitchFamily="34" charset="-122"/>
                          <a:cs typeface="Calibri" pitchFamily="34" charset="-120"/>
                        </a:rPr>
                        <a:t>fire_threat 0.40, urgency 0.30, evac. pressure 0.20, feasibility 0.10</a:t>
                      </a:r>
                      <a:endParaRPr lang="en-US" sz="1200" dirty="0">
                        <a:latin typeface="Calibri" charset="0"/>
                        <a:ea typeface="Calibri" charset="0"/>
                        <a:cs typeface="Calibri" charset="0"/>
                      </a:endParaRPr>
                    </a:p>
                  </a:txBody>
                  <a:tcPr marL="27432" marR="27432" marT="27432" marB="27432"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extLst>
                  <a:ext uri="{0D108BD9-81ED-4DB2-BD59-A6C34878D82A}">
                    <a16:rowId xmlns:a16="http://schemas.microsoft.com/office/drawing/2014/main" val="10002"/>
                  </a:ext>
                </a:extLst>
              </a:tr>
              <a:tr h="301752">
                <a:tc>
                  <a:txBody>
                    <a:bodyPr/>
                    <a:lstStyle/>
                    <a:p>
                      <a:pPr marL="0" indent="0">
                        <a:buNone/>
                      </a:pPr>
                      <a:r>
                        <a:rPr lang="en-US" sz="1200" b="1" dirty="0">
                          <a:solidFill>
                            <a:srgbClr val="222222"/>
                          </a:solidFill>
                          <a:latin typeface="Calibri" pitchFamily="34" charset="0"/>
                          <a:ea typeface="Calibri" pitchFamily="34" charset="-122"/>
                          <a:cs typeface="Calibri" pitchFamily="34" charset="-120"/>
                        </a:rPr>
                        <a:t>Concept</a:t>
                      </a:r>
                      <a:endParaRPr lang="en-US" sz="1200" dirty="0">
                        <a:latin typeface="Calibri" charset="0"/>
                        <a:ea typeface="Calibri" charset="0"/>
                        <a:cs typeface="Calibri" charset="0"/>
                      </a:endParaRPr>
                    </a:p>
                  </a:txBody>
                  <a:tcPr marL="27432" marR="27432" marT="27432" marB="27432"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200" b="1" dirty="0">
                          <a:solidFill>
                            <a:srgbClr val="E31836"/>
                          </a:solidFill>
                          <a:latin typeface="Calibri" pitchFamily="34" charset="0"/>
                          <a:ea typeface="Calibri" pitchFamily="34" charset="-122"/>
                          <a:cs typeface="Calibri" pitchFamily="34" charset="-120"/>
                        </a:rPr>
                        <a:t>village_interface_pressure</a:t>
                      </a:r>
                      <a:endParaRPr lang="en-US" sz="1200" dirty="0">
                        <a:latin typeface="Calibri" charset="0"/>
                        <a:ea typeface="Calibri" charset="0"/>
                        <a:cs typeface="Calibri" charset="0"/>
                      </a:endParaRPr>
                    </a:p>
                  </a:txBody>
                  <a:tcPr marL="27432" marR="27432" marT="27432" marB="27432"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200" dirty="0">
                          <a:solidFill>
                            <a:srgbClr val="222222"/>
                          </a:solidFill>
                          <a:latin typeface="Calibri" pitchFamily="34" charset="0"/>
                          <a:ea typeface="Calibri" pitchFamily="34" charset="-122"/>
                          <a:cs typeface="Calibri" pitchFamily="34" charset="-120"/>
                        </a:rPr>
                        <a:t>urgency 0.40, evac. pressure 0.30, fire_threat 0.30</a:t>
                      </a:r>
                      <a:endParaRPr lang="en-US" sz="1200" dirty="0">
                        <a:latin typeface="Calibri" charset="0"/>
                        <a:ea typeface="Calibri" charset="0"/>
                        <a:cs typeface="Calibri" charset="0"/>
                      </a:endParaRPr>
                    </a:p>
                  </a:txBody>
                  <a:tcPr marL="27432" marR="27432" marT="27432" marB="27432"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extLst>
                  <a:ext uri="{0D108BD9-81ED-4DB2-BD59-A6C34878D82A}">
                    <a16:rowId xmlns:a16="http://schemas.microsoft.com/office/drawing/2014/main" val="10003"/>
                  </a:ext>
                </a:extLst>
              </a:tr>
              <a:tr h="301752">
                <a:tc>
                  <a:txBody>
                    <a:bodyPr/>
                    <a:lstStyle/>
                    <a:p>
                      <a:pPr marL="0" indent="0">
                        <a:buNone/>
                      </a:pPr>
                      <a:r>
                        <a:rPr lang="en-US" sz="1200" b="1" dirty="0">
                          <a:solidFill>
                            <a:srgbClr val="222222"/>
                          </a:solidFill>
                          <a:latin typeface="Calibri" pitchFamily="34" charset="0"/>
                          <a:ea typeface="Calibri" pitchFamily="34" charset="-122"/>
                          <a:cs typeface="Calibri" pitchFamily="34" charset="-120"/>
                        </a:rPr>
                        <a:t>Macro</a:t>
                      </a:r>
                      <a:endParaRPr lang="en-US" sz="1200" dirty="0">
                        <a:latin typeface="Calibri" charset="0"/>
                        <a:ea typeface="Calibri" charset="0"/>
                        <a:cs typeface="Calibri" charset="0"/>
                      </a:endParaRPr>
                    </a:p>
                  </a:txBody>
                  <a:tcPr marL="27432" marR="27432" marT="27432" marB="27432"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200" b="1" dirty="0">
                          <a:solidFill>
                            <a:srgbClr val="E31836"/>
                          </a:solidFill>
                          <a:latin typeface="Calibri" pitchFamily="34" charset="0"/>
                          <a:ea typeface="Calibri" pitchFamily="34" charset="-122"/>
                          <a:cs typeface="Calibri" pitchFamily="34" charset="-120"/>
                        </a:rPr>
                        <a:t>waterborne_relay_and_shelter</a:t>
                      </a:r>
                      <a:endParaRPr lang="en-US" sz="1200" dirty="0">
                        <a:latin typeface="Calibri" charset="0"/>
                        <a:ea typeface="Calibri" charset="0"/>
                        <a:cs typeface="Calibri" charset="0"/>
                      </a:endParaRPr>
                    </a:p>
                  </a:txBody>
                  <a:tcPr marL="27432" marR="27432" marT="27432" marB="27432"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200" dirty="0">
                          <a:solidFill>
                            <a:srgbClr val="222222"/>
                          </a:solidFill>
                          <a:latin typeface="Calibri" pitchFamily="34" charset="0"/>
                          <a:ea typeface="Calibri" pitchFamily="34" charset="-122"/>
                          <a:cs typeface="Calibri" pitchFamily="34" charset="-120"/>
                        </a:rPr>
                        <a:t>water_drafting 1.00, evacuation 0.60, public_warning 0.50</a:t>
                      </a:r>
                      <a:endParaRPr lang="en-US" sz="1200" dirty="0">
                        <a:latin typeface="Calibri" charset="0"/>
                        <a:ea typeface="Calibri" charset="0"/>
                        <a:cs typeface="Calibri" charset="0"/>
                      </a:endParaRPr>
                    </a:p>
                  </a:txBody>
                  <a:tcPr marL="27432" marR="27432" marT="27432" marB="27432"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6" name="Text 3"/>
          <p:cNvSpPr/>
          <p:nvPr/>
        </p:nvSpPr>
        <p:spPr>
          <a:xfrm>
            <a:off x="457200" y="6355080"/>
            <a:ext cx="11292840" cy="320040"/>
          </a:xfrm>
          <a:prstGeom prst="rect">
            <a:avLst/>
          </a:prstGeom>
          <a:noFill/>
          <a:ln/>
        </p:spPr>
        <p:txBody>
          <a:bodyPr wrap="square" lIns="0" tIns="0" rIns="0" bIns="0" rtlCol="0" anchor="t"/>
          <a:lstStyle/>
          <a:p>
            <a:pPr marL="0" indent="0">
              <a:lnSpc>
                <a:spcPct val="104000"/>
              </a:lnSpc>
              <a:buNone/>
            </a:pPr>
            <a:r>
              <a:rPr lang="en-US" sz="1200" i="1" dirty="0">
                <a:solidFill>
                  <a:srgbClr val="6E6E6E"/>
                </a:solidFill>
                <a:latin typeface="Calibri" pitchFamily="34" charset="0"/>
                <a:ea typeface="Calibri" pitchFamily="34" charset="-122"/>
                <a:cs typeface="Calibri" pitchFamily="34" charset="-120"/>
              </a:rPr>
              <a:t>The seven admitted clause actuators are on the Discovered Tactics slide; a rule citing a name not listed here refers to an admitted object whose definition is recorded in the same lineage store.</a:t>
            </a:r>
            <a:endParaRPr lang="en-US" sz="12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237744"/>
            <a:ext cx="10058400" cy="292608"/>
          </a:xfrm>
          <a:prstGeom prst="rect">
            <a:avLst/>
          </a:prstGeom>
          <a:noFill/>
          <a:ln/>
        </p:spPr>
        <p:txBody>
          <a:bodyPr wrap="square" lIns="0" tIns="0" rIns="0" bIns="0" rtlCol="0" anchor="ctr"/>
          <a:lstStyle/>
          <a:p>
            <a:pPr marL="0" indent="0">
              <a:buNone/>
            </a:pPr>
            <a:r>
              <a:rPr lang="en-US" sz="1300" b="1" kern="0" spc="200" dirty="0">
                <a:solidFill>
                  <a:srgbClr val="E31836"/>
                </a:solidFill>
                <a:latin typeface="Calibri" pitchFamily="34" charset="0"/>
                <a:ea typeface="Calibri" pitchFamily="34" charset="-122"/>
                <a:cs typeface="Calibri" pitchFamily="34" charset="-120"/>
              </a:rPr>
              <a:t>BACKUP · APPENDIX F</a:t>
            </a:r>
            <a:endParaRPr lang="en-US" sz="1300" dirty="0"/>
          </a:p>
        </p:txBody>
      </p:sp>
      <p:sp>
        <p:nvSpPr>
          <p:cNvPr id="3" name="Text 1"/>
          <p:cNvSpPr/>
          <p:nvPr/>
        </p:nvSpPr>
        <p:spPr>
          <a:xfrm>
            <a:off x="502920" y="493776"/>
            <a:ext cx="11247120" cy="621792"/>
          </a:xfrm>
          <a:prstGeom prst="rect">
            <a:avLst/>
          </a:prstGeom>
          <a:noFill/>
          <a:ln/>
        </p:spPr>
        <p:txBody>
          <a:bodyPr wrap="square" lIns="0" tIns="0" rIns="0" bIns="0" rtlCol="0" anchor="ctr"/>
          <a:lstStyle/>
          <a:p>
            <a:pPr marL="0" indent="0">
              <a:buNone/>
            </a:pPr>
            <a:r>
              <a:rPr lang="en-US" sz="2500" b="1" dirty="0">
                <a:solidFill>
                  <a:srgbClr val="000000"/>
                </a:solidFill>
                <a:latin typeface="Cambria" pitchFamily="34" charset="0"/>
                <a:ea typeface="Cambria" pitchFamily="34" charset="-122"/>
                <a:cs typeface="Cambria" pitchFamily="34" charset="-120"/>
              </a:rPr>
              <a:t>The Proposer Contract : One Fixed, Auditable Interface</a:t>
            </a:r>
            <a:endParaRPr lang="en-US" sz="2500" dirty="0"/>
          </a:p>
        </p:txBody>
      </p:sp>
      <p:pic>
        <p:nvPicPr>
          <p:cNvPr id="4" name="Image 0" descr="/tmp/thx/deck/figs/metu_emblem.png"/>
          <p:cNvPicPr>
            <a:picLocks noChangeAspect="1"/>
          </p:cNvPicPr>
          <p:nvPr/>
        </p:nvPicPr>
        <p:blipFill>
          <a:blip r:embed="rId3"/>
          <a:stretch>
            <a:fillRect/>
          </a:stretch>
        </p:blipFill>
        <p:spPr>
          <a:xfrm>
            <a:off x="10716768" y="184607"/>
            <a:ext cx="475488" cy="398882"/>
          </a:xfrm>
          <a:prstGeom prst="rect">
            <a:avLst/>
          </a:prstGeom>
        </p:spPr>
      </p:pic>
      <p:pic>
        <p:nvPicPr>
          <p:cNvPr id="5" name="Image 1" descr="/tmp/thx/deck/figs/eee_logo.png"/>
          <p:cNvPicPr>
            <a:picLocks noChangeAspect="1"/>
          </p:cNvPicPr>
          <p:nvPr/>
        </p:nvPicPr>
        <p:blipFill>
          <a:blip r:embed="rId4"/>
          <a:stretch>
            <a:fillRect/>
          </a:stretch>
        </p:blipFill>
        <p:spPr>
          <a:xfrm>
            <a:off x="11265408" y="186217"/>
            <a:ext cx="475488" cy="395662"/>
          </a:xfrm>
          <a:prstGeom prst="rect">
            <a:avLst/>
          </a:prstGeom>
        </p:spPr>
      </p:pic>
      <p:sp>
        <p:nvSpPr>
          <p:cNvPr id="6" name="Shape 2"/>
          <p:cNvSpPr/>
          <p:nvPr/>
        </p:nvSpPr>
        <p:spPr>
          <a:xfrm>
            <a:off x="502920" y="1325880"/>
            <a:ext cx="11247120" cy="1051560"/>
          </a:xfrm>
          <a:prstGeom prst="roundRect">
            <a:avLst>
              <a:gd name="adj" fmla="val 4348"/>
            </a:avLst>
          </a:prstGeom>
          <a:solidFill>
            <a:srgbClr val="F2F2F2"/>
          </a:solidFill>
          <a:ln/>
        </p:spPr>
        <p:txBody>
          <a:bodyPr/>
          <a:lstStyle/>
          <a:p>
            <a:endParaRPr lang="tr-TR"/>
          </a:p>
        </p:txBody>
      </p:sp>
      <p:sp>
        <p:nvSpPr>
          <p:cNvPr id="7" name="Text 3"/>
          <p:cNvSpPr/>
          <p:nvPr/>
        </p:nvSpPr>
        <p:spPr>
          <a:xfrm>
            <a:off x="777240" y="1417320"/>
            <a:ext cx="10698480" cy="896112"/>
          </a:xfrm>
          <a:prstGeom prst="rect">
            <a:avLst/>
          </a:prstGeom>
          <a:noFill/>
          <a:ln/>
        </p:spPr>
        <p:txBody>
          <a:bodyPr wrap="square" lIns="0" tIns="0" rIns="0" bIns="0" rtlCol="0" anchor="t"/>
          <a:lstStyle/>
          <a:p>
            <a:pPr marL="0" indent="0">
              <a:lnSpc>
                <a:spcPct val="104000"/>
              </a:lnSpc>
              <a:buNone/>
            </a:pPr>
            <a:r>
              <a:rPr lang="en-US" sz="1250" b="1" dirty="0">
                <a:solidFill>
                  <a:srgbClr val="E31836"/>
                </a:solidFill>
                <a:latin typeface="Calibri" pitchFamily="34" charset="0"/>
                <a:ea typeface="Calibri" pitchFamily="34" charset="-122"/>
                <a:cs typeface="Calibri" pitchFamily="34" charset="-120"/>
              </a:rPr>
              <a:t>Input — </a:t>
            </a:r>
            <a:r>
              <a:rPr lang="en-US" sz="1200" dirty="0">
                <a:solidFill>
                  <a:srgbClr val="222222"/>
                </a:solidFill>
                <a:latin typeface="Calibri" pitchFamily="34" charset="0"/>
                <a:ea typeface="Calibri" pitchFamily="34" charset="-122"/>
                <a:cs typeface="Calibri" pitchFamily="34" charset="-120"/>
              </a:rPr>
              <a:t>A deterministic situation summary — concept activations, observation confidence, recent cost trajectory, rule-base statistics, residual-cost location — plus the complete current vocabulary and an actuator library annotated with map availability (a water tactic on a dry map cannot be ordered by construction).</a:t>
            </a:r>
            <a:endParaRPr lang="en-US" sz="1250" dirty="0"/>
          </a:p>
        </p:txBody>
      </p:sp>
      <p:sp>
        <p:nvSpPr>
          <p:cNvPr id="8" name="Shape 4"/>
          <p:cNvSpPr/>
          <p:nvPr/>
        </p:nvSpPr>
        <p:spPr>
          <a:xfrm>
            <a:off x="502920" y="2459736"/>
            <a:ext cx="11247120" cy="1051560"/>
          </a:xfrm>
          <a:prstGeom prst="roundRect">
            <a:avLst>
              <a:gd name="adj" fmla="val 4348"/>
            </a:avLst>
          </a:prstGeom>
          <a:solidFill>
            <a:srgbClr val="F2F2F2"/>
          </a:solidFill>
          <a:ln/>
        </p:spPr>
        <p:txBody>
          <a:bodyPr/>
          <a:lstStyle/>
          <a:p>
            <a:endParaRPr lang="tr-TR"/>
          </a:p>
        </p:txBody>
      </p:sp>
      <p:sp>
        <p:nvSpPr>
          <p:cNvPr id="9" name="Text 5"/>
          <p:cNvSpPr/>
          <p:nvPr/>
        </p:nvSpPr>
        <p:spPr>
          <a:xfrm>
            <a:off x="777240" y="2551176"/>
            <a:ext cx="10698480" cy="896112"/>
          </a:xfrm>
          <a:prstGeom prst="rect">
            <a:avLst/>
          </a:prstGeom>
          <a:noFill/>
          <a:ln/>
        </p:spPr>
        <p:txBody>
          <a:bodyPr wrap="square" lIns="0" tIns="0" rIns="0" bIns="0" rtlCol="0" anchor="t"/>
          <a:lstStyle/>
          <a:p>
            <a:pPr marL="0" indent="0">
              <a:lnSpc>
                <a:spcPct val="104000"/>
              </a:lnSpc>
              <a:buNone/>
            </a:pPr>
            <a:r>
              <a:rPr lang="en-US" sz="1250" b="1" dirty="0">
                <a:solidFill>
                  <a:srgbClr val="E31836"/>
                </a:solidFill>
                <a:latin typeface="Calibri" pitchFamily="34" charset="0"/>
                <a:ea typeface="Calibri" pitchFamily="34" charset="-122"/>
                <a:cs typeface="Calibri" pitchFamily="34" charset="-120"/>
              </a:rPr>
              <a:t>Output — </a:t>
            </a:r>
            <a:r>
              <a:rPr lang="en-US" sz="1200" dirty="0">
                <a:solidFill>
                  <a:srgbClr val="222222"/>
                </a:solidFill>
                <a:latin typeface="Calibri" pitchFamily="34" charset="0"/>
                <a:ea typeface="Calibri" pitchFamily="34" charset="-122"/>
                <a:cs typeface="Calibri" pitchFamily="34" charset="-120"/>
              </a:rPr>
              <a:t>Exactly one minified JSON object: one rule (≤ 3 antecedents, ≤ 3 consequents, intensities in [0, 1]) — optionally a package with exactly one new object (concept ≤ 4 inputs, macro ≤ 3 channels, or clause actuator over the seven verified effects × seven sectors) that the rule must use.</a:t>
            </a:r>
            <a:endParaRPr lang="en-US" sz="1250" dirty="0"/>
          </a:p>
        </p:txBody>
      </p:sp>
      <p:sp>
        <p:nvSpPr>
          <p:cNvPr id="10" name="Shape 6"/>
          <p:cNvSpPr/>
          <p:nvPr/>
        </p:nvSpPr>
        <p:spPr>
          <a:xfrm>
            <a:off x="502920" y="3593592"/>
            <a:ext cx="11247120" cy="1051560"/>
          </a:xfrm>
          <a:prstGeom prst="roundRect">
            <a:avLst>
              <a:gd name="adj" fmla="val 4348"/>
            </a:avLst>
          </a:prstGeom>
          <a:solidFill>
            <a:srgbClr val="F2F2F2"/>
          </a:solidFill>
          <a:ln/>
        </p:spPr>
        <p:txBody>
          <a:bodyPr/>
          <a:lstStyle/>
          <a:p>
            <a:endParaRPr lang="tr-TR"/>
          </a:p>
        </p:txBody>
      </p:sp>
      <p:sp>
        <p:nvSpPr>
          <p:cNvPr id="11" name="Text 7"/>
          <p:cNvSpPr/>
          <p:nvPr/>
        </p:nvSpPr>
        <p:spPr>
          <a:xfrm>
            <a:off x="777240" y="3685032"/>
            <a:ext cx="10698480" cy="896112"/>
          </a:xfrm>
          <a:prstGeom prst="rect">
            <a:avLst/>
          </a:prstGeom>
          <a:noFill/>
          <a:ln/>
        </p:spPr>
        <p:txBody>
          <a:bodyPr wrap="square" lIns="0" tIns="0" rIns="0" bIns="0" rtlCol="0" anchor="t"/>
          <a:lstStyle/>
          <a:p>
            <a:pPr marL="0" indent="0">
              <a:lnSpc>
                <a:spcPct val="104000"/>
              </a:lnSpc>
              <a:buNone/>
            </a:pPr>
            <a:r>
              <a:rPr lang="en-US" sz="1250" b="1" dirty="0">
                <a:solidFill>
                  <a:srgbClr val="E31836"/>
                </a:solidFill>
                <a:latin typeface="Calibri" pitchFamily="34" charset="0"/>
                <a:ea typeface="Calibri" pitchFamily="34" charset="-122"/>
                <a:cs typeface="Calibri" pitchFamily="34" charset="-120"/>
              </a:rPr>
              <a:t>Discipline — </a:t>
            </a:r>
            <a:r>
              <a:rPr lang="en-US" sz="1200" dirty="0">
                <a:solidFill>
                  <a:srgbClr val="222222"/>
                </a:solidFill>
                <a:latin typeface="Calibri" pitchFamily="34" charset="0"/>
                <a:ea typeface="Calibri" pitchFamily="34" charset="-122"/>
                <a:cs typeface="Calibri" pitchFamily="34" charset="-120"/>
              </a:rPr>
              <a:t>No tools, no free text, 90-second wall-clock budget: a slow call is a skipped stage in the log, never a stalled cycle. Notation slips (a number where a term belongs) are repaired to the nearest term, and every repair is stamped into the rule's provenance note.</a:t>
            </a:r>
            <a:endParaRPr lang="en-US" sz="1250" dirty="0"/>
          </a:p>
        </p:txBody>
      </p:sp>
      <p:sp>
        <p:nvSpPr>
          <p:cNvPr id="12" name="Shape 8"/>
          <p:cNvSpPr/>
          <p:nvPr/>
        </p:nvSpPr>
        <p:spPr>
          <a:xfrm>
            <a:off x="502920" y="4727448"/>
            <a:ext cx="11247120" cy="1051560"/>
          </a:xfrm>
          <a:prstGeom prst="roundRect">
            <a:avLst>
              <a:gd name="adj" fmla="val 4348"/>
            </a:avLst>
          </a:prstGeom>
          <a:solidFill>
            <a:srgbClr val="FDE8EB"/>
          </a:solidFill>
          <a:ln/>
        </p:spPr>
        <p:txBody>
          <a:bodyPr/>
          <a:lstStyle/>
          <a:p>
            <a:endParaRPr lang="tr-TR"/>
          </a:p>
        </p:txBody>
      </p:sp>
      <p:sp>
        <p:nvSpPr>
          <p:cNvPr id="13" name="Text 9"/>
          <p:cNvSpPr/>
          <p:nvPr/>
        </p:nvSpPr>
        <p:spPr>
          <a:xfrm>
            <a:off x="777240" y="4818888"/>
            <a:ext cx="10698480" cy="896112"/>
          </a:xfrm>
          <a:prstGeom prst="rect">
            <a:avLst/>
          </a:prstGeom>
          <a:noFill/>
          <a:ln/>
        </p:spPr>
        <p:txBody>
          <a:bodyPr wrap="square" lIns="0" tIns="0" rIns="0" bIns="0" rtlCol="0" anchor="t"/>
          <a:lstStyle/>
          <a:p>
            <a:pPr marL="0" indent="0">
              <a:lnSpc>
                <a:spcPct val="104000"/>
              </a:lnSpc>
              <a:buNone/>
            </a:pPr>
            <a:r>
              <a:rPr lang="en-US" sz="1250" b="1" dirty="0">
                <a:solidFill>
                  <a:srgbClr val="E31836"/>
                </a:solidFill>
                <a:latin typeface="Calibri" pitchFamily="34" charset="0"/>
                <a:ea typeface="Calibri" pitchFamily="34" charset="-122"/>
                <a:cs typeface="Calibri" pitchFamily="34" charset="-120"/>
              </a:rPr>
              <a:t>Authority — </a:t>
            </a:r>
            <a:r>
              <a:rPr lang="en-US" sz="1200" dirty="0">
                <a:solidFill>
                  <a:srgbClr val="222222"/>
                </a:solidFill>
                <a:latin typeface="Calibri" pitchFamily="34" charset="0"/>
                <a:ea typeface="Calibri" pitchFamily="34" charset="-122"/>
                <a:cs typeface="Calibri" pitchFamily="34" charset="-120"/>
              </a:rPr>
              <a:t>None. The physical basis is fixed — observation features, decision axes, seven verified effects — and every proposal passes gates G1–G5b before any order can be influenced by it. Model identifier and transport are pinned per campaign and recorded in every run log.</a:t>
            </a:r>
            <a:endParaRPr lang="en-US" sz="1250" dirty="0"/>
          </a:p>
        </p:txBody>
      </p:sp>
      <p:sp>
        <p:nvSpPr>
          <p:cNvPr id="14" name="Text 10"/>
          <p:cNvSpPr/>
          <p:nvPr/>
        </p:nvSpPr>
        <p:spPr>
          <a:xfrm>
            <a:off x="502920" y="5989320"/>
            <a:ext cx="11247120" cy="594360"/>
          </a:xfrm>
          <a:prstGeom prst="rect">
            <a:avLst/>
          </a:prstGeom>
          <a:noFill/>
          <a:ln/>
        </p:spPr>
        <p:txBody>
          <a:bodyPr wrap="square" lIns="0" tIns="0" rIns="0" bIns="0" rtlCol="0" anchor="t"/>
          <a:lstStyle/>
          <a:p>
            <a:pPr marL="0" indent="0">
              <a:lnSpc>
                <a:spcPct val="104000"/>
              </a:lnSpc>
              <a:buNone/>
            </a:pPr>
            <a:r>
              <a:rPr lang="en-US" sz="1200" b="1" dirty="0">
                <a:solidFill>
                  <a:srgbClr val="000000"/>
                </a:solidFill>
                <a:latin typeface="Calibri" pitchFamily="34" charset="0"/>
                <a:ea typeface="Calibri" pitchFamily="34" charset="-122"/>
                <a:cs typeface="Calibri" pitchFamily="34" charset="-120"/>
              </a:rPr>
              <a:t>System instruction (abstract): </a:t>
            </a:r>
            <a:r>
              <a:rPr lang="en-US" sz="1200" i="1" dirty="0">
                <a:solidFill>
                  <a:srgbClr val="222222"/>
                </a:solidFill>
                <a:latin typeface="Calibri" pitchFamily="34" charset="0"/>
                <a:ea typeface="Calibri" pitchFamily="34" charset="-122"/>
                <a:cs typeface="Calibri" pitchFamily="34" charset="-120"/>
              </a:rPr>
              <a:t>"Propose a single candidate rule that reduces residual decision cost. Use only the concepts, interventions, terms, and map-available actuators given to you. A new clause actuator must compose only the verified effects, be drawn from real wildfire practice, and be named honestly. Output one minified JSON object — nothing else."</a:t>
            </a:r>
            <a:endParaRPr lang="en-US" sz="12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237744"/>
            <a:ext cx="10058400" cy="292608"/>
          </a:xfrm>
          <a:prstGeom prst="rect">
            <a:avLst/>
          </a:prstGeom>
          <a:noFill/>
          <a:ln/>
        </p:spPr>
        <p:txBody>
          <a:bodyPr wrap="square" lIns="0" tIns="0" rIns="0" bIns="0" rtlCol="0" anchor="ctr"/>
          <a:lstStyle/>
          <a:p>
            <a:pPr marL="0" indent="0">
              <a:buNone/>
            </a:pPr>
            <a:r>
              <a:rPr lang="en-US" sz="1300" b="1" kern="0" spc="200" dirty="0">
                <a:solidFill>
                  <a:srgbClr val="E31836"/>
                </a:solidFill>
                <a:latin typeface="Calibri" pitchFamily="34" charset="0"/>
                <a:ea typeface="Calibri" pitchFamily="34" charset="-122"/>
                <a:cs typeface="Calibri" pitchFamily="34" charset="-120"/>
              </a:rPr>
              <a:t>BACKUP · APPENDIX F</a:t>
            </a:r>
            <a:endParaRPr lang="en-US" sz="1300" dirty="0"/>
          </a:p>
        </p:txBody>
      </p:sp>
      <p:sp>
        <p:nvSpPr>
          <p:cNvPr id="3" name="Text 1"/>
          <p:cNvSpPr/>
          <p:nvPr/>
        </p:nvSpPr>
        <p:spPr>
          <a:xfrm>
            <a:off x="502920" y="493776"/>
            <a:ext cx="11247120" cy="621792"/>
          </a:xfrm>
          <a:prstGeom prst="rect">
            <a:avLst/>
          </a:prstGeom>
          <a:noFill/>
          <a:ln/>
        </p:spPr>
        <p:txBody>
          <a:bodyPr wrap="square" lIns="0" tIns="0" rIns="0" bIns="0" rtlCol="0" anchor="ctr"/>
          <a:lstStyle/>
          <a:p>
            <a:pPr marL="0" indent="0">
              <a:buNone/>
            </a:pPr>
            <a:r>
              <a:rPr lang="en-US" sz="2500" b="1" dirty="0">
                <a:solidFill>
                  <a:srgbClr val="000000"/>
                </a:solidFill>
                <a:latin typeface="Cambria" pitchFamily="34" charset="0"/>
                <a:ea typeface="Cambria" pitchFamily="34" charset="-122"/>
                <a:cs typeface="Cambria" pitchFamily="34" charset="-120"/>
              </a:rPr>
              <a:t>Anatomy of the Standing Mission Brief (One Recorded Run)</a:t>
            </a:r>
            <a:endParaRPr lang="en-US" sz="2500" dirty="0"/>
          </a:p>
        </p:txBody>
      </p:sp>
      <p:pic>
        <p:nvPicPr>
          <p:cNvPr id="4" name="Image 0" descr="/tmp/thx/deck/figs/metu_emblem.png"/>
          <p:cNvPicPr>
            <a:picLocks noChangeAspect="1"/>
          </p:cNvPicPr>
          <p:nvPr/>
        </p:nvPicPr>
        <p:blipFill>
          <a:blip r:embed="rId3"/>
          <a:stretch>
            <a:fillRect/>
          </a:stretch>
        </p:blipFill>
        <p:spPr>
          <a:xfrm>
            <a:off x="10716768" y="184607"/>
            <a:ext cx="475488" cy="398882"/>
          </a:xfrm>
          <a:prstGeom prst="rect">
            <a:avLst/>
          </a:prstGeom>
        </p:spPr>
      </p:pic>
      <p:pic>
        <p:nvPicPr>
          <p:cNvPr id="5" name="Image 1" descr="/tmp/thx/deck/figs/eee_logo.png"/>
          <p:cNvPicPr>
            <a:picLocks noChangeAspect="1"/>
          </p:cNvPicPr>
          <p:nvPr/>
        </p:nvPicPr>
        <p:blipFill>
          <a:blip r:embed="rId4"/>
          <a:stretch>
            <a:fillRect/>
          </a:stretch>
        </p:blipFill>
        <p:spPr>
          <a:xfrm>
            <a:off x="11265408" y="186217"/>
            <a:ext cx="475488" cy="395662"/>
          </a:xfrm>
          <a:prstGeom prst="rect">
            <a:avLst/>
          </a:prstGeom>
        </p:spPr>
      </p:pic>
      <p:sp>
        <p:nvSpPr>
          <p:cNvPr id="6" name="Shape 2"/>
          <p:cNvSpPr/>
          <p:nvPr/>
        </p:nvSpPr>
        <p:spPr>
          <a:xfrm>
            <a:off x="502920" y="1325880"/>
            <a:ext cx="5486400" cy="1609344"/>
          </a:xfrm>
          <a:prstGeom prst="roundRect">
            <a:avLst>
              <a:gd name="adj" fmla="val 2841"/>
            </a:avLst>
          </a:prstGeom>
          <a:solidFill>
            <a:srgbClr val="F2F2F2"/>
          </a:solidFill>
          <a:ln/>
        </p:spPr>
        <p:txBody>
          <a:bodyPr/>
          <a:lstStyle/>
          <a:p>
            <a:endParaRPr lang="tr-TR"/>
          </a:p>
        </p:txBody>
      </p:sp>
      <p:sp>
        <p:nvSpPr>
          <p:cNvPr id="7" name="Text 3"/>
          <p:cNvSpPr/>
          <p:nvPr/>
        </p:nvSpPr>
        <p:spPr>
          <a:xfrm>
            <a:off x="704088" y="1426464"/>
            <a:ext cx="5074920" cy="1426464"/>
          </a:xfrm>
          <a:prstGeom prst="rect">
            <a:avLst/>
          </a:prstGeom>
          <a:noFill/>
          <a:ln/>
        </p:spPr>
        <p:txBody>
          <a:bodyPr wrap="square" lIns="0" tIns="0" rIns="0" bIns="0" rtlCol="0" anchor="t"/>
          <a:lstStyle/>
          <a:p>
            <a:pPr marL="0" indent="0">
              <a:lnSpc>
                <a:spcPct val="104000"/>
              </a:lnSpc>
              <a:buNone/>
            </a:pPr>
            <a:r>
              <a:rPr lang="en-US" sz="1200" b="1" dirty="0">
                <a:solidFill>
                  <a:srgbClr val="E31836"/>
                </a:solidFill>
                <a:latin typeface="Calibri" pitchFamily="34" charset="0"/>
                <a:ea typeface="Calibri" pitchFamily="34" charset="-122"/>
                <a:cs typeface="Calibri" pitchFamily="34" charset="-120"/>
              </a:rPr>
              <a:t>Map affordances — </a:t>
            </a:r>
            <a:r>
              <a:rPr lang="en-US" sz="1200" dirty="0">
                <a:solidFill>
                  <a:srgbClr val="222222"/>
                </a:solidFill>
                <a:latin typeface="Calibri" pitchFamily="34" charset="0"/>
                <a:ea typeface="Calibri" pitchFamily="34" charset="-122"/>
                <a:cs typeface="Calibri" pitchFamily="34" charset="-120"/>
              </a:rPr>
              <a:t>100 × 70 cells at 30 m; land cover shares; 206 water cells centred near (52,17) — "engines and aircraft can draft there, so sustained capacity near the water is real".</a:t>
            </a:r>
            <a:endParaRPr lang="en-US" sz="1200" dirty="0"/>
          </a:p>
        </p:txBody>
      </p:sp>
      <p:sp>
        <p:nvSpPr>
          <p:cNvPr id="8" name="Shape 4"/>
          <p:cNvSpPr/>
          <p:nvPr/>
        </p:nvSpPr>
        <p:spPr>
          <a:xfrm>
            <a:off x="6263640" y="1325880"/>
            <a:ext cx="5486400" cy="1609344"/>
          </a:xfrm>
          <a:prstGeom prst="roundRect">
            <a:avLst>
              <a:gd name="adj" fmla="val 2841"/>
            </a:avLst>
          </a:prstGeom>
          <a:solidFill>
            <a:srgbClr val="F2F2F2"/>
          </a:solidFill>
          <a:ln/>
        </p:spPr>
        <p:txBody>
          <a:bodyPr/>
          <a:lstStyle/>
          <a:p>
            <a:endParaRPr lang="tr-TR"/>
          </a:p>
        </p:txBody>
      </p:sp>
      <p:sp>
        <p:nvSpPr>
          <p:cNvPr id="9" name="Text 5"/>
          <p:cNvSpPr/>
          <p:nvPr/>
        </p:nvSpPr>
        <p:spPr>
          <a:xfrm>
            <a:off x="6464808" y="1426464"/>
            <a:ext cx="5074920" cy="1426464"/>
          </a:xfrm>
          <a:prstGeom prst="rect">
            <a:avLst/>
          </a:prstGeom>
          <a:noFill/>
          <a:ln/>
        </p:spPr>
        <p:txBody>
          <a:bodyPr wrap="square" lIns="0" tIns="0" rIns="0" bIns="0" rtlCol="0" anchor="t"/>
          <a:lstStyle/>
          <a:p>
            <a:pPr marL="0" indent="0">
              <a:lnSpc>
                <a:spcPct val="104000"/>
              </a:lnSpc>
              <a:buNone/>
            </a:pPr>
            <a:r>
              <a:rPr lang="en-US" sz="1200" b="1" dirty="0">
                <a:solidFill>
                  <a:srgbClr val="E31836"/>
                </a:solidFill>
                <a:latin typeface="Calibri" pitchFamily="34" charset="0"/>
                <a:ea typeface="Calibri" pitchFamily="34" charset="-122"/>
                <a:cs typeface="Calibri" pitchFamily="34" charset="-120"/>
              </a:rPr>
              <a:t>Assets by value and life — </a:t>
            </a:r>
            <a:r>
              <a:rPr lang="en-US" sz="1200" dirty="0">
                <a:solidFill>
                  <a:srgbClr val="222222"/>
                </a:solidFill>
                <a:latin typeface="Calibri" pitchFamily="34" charset="0"/>
                <a:ea typeface="Calibri" pitchFamily="34" charset="-122"/>
                <a:cs typeface="Calibri" pitchFamily="34" charset="-120"/>
              </a:rPr>
              <a:t>town of ~12 600 with hospital, power plant, water treatment (values 0.8–1.0); a village of ~3 150; one evacuation route — protection priorities: critical 0.40, population 0.25, building 0.20, evacuation 0.15.</a:t>
            </a:r>
            <a:endParaRPr lang="en-US" sz="1200" dirty="0"/>
          </a:p>
        </p:txBody>
      </p:sp>
      <p:sp>
        <p:nvSpPr>
          <p:cNvPr id="10" name="Shape 6"/>
          <p:cNvSpPr/>
          <p:nvPr/>
        </p:nvSpPr>
        <p:spPr>
          <a:xfrm>
            <a:off x="502920" y="3026664"/>
            <a:ext cx="5486400" cy="1609344"/>
          </a:xfrm>
          <a:prstGeom prst="roundRect">
            <a:avLst>
              <a:gd name="adj" fmla="val 2841"/>
            </a:avLst>
          </a:prstGeom>
          <a:solidFill>
            <a:srgbClr val="F2F2F2"/>
          </a:solidFill>
          <a:ln/>
        </p:spPr>
        <p:txBody>
          <a:bodyPr/>
          <a:lstStyle/>
          <a:p>
            <a:endParaRPr lang="tr-TR"/>
          </a:p>
        </p:txBody>
      </p:sp>
      <p:sp>
        <p:nvSpPr>
          <p:cNvPr id="11" name="Text 7"/>
          <p:cNvSpPr/>
          <p:nvPr/>
        </p:nvSpPr>
        <p:spPr>
          <a:xfrm>
            <a:off x="704088" y="3127248"/>
            <a:ext cx="5074920" cy="1426464"/>
          </a:xfrm>
          <a:prstGeom prst="rect">
            <a:avLst/>
          </a:prstGeom>
          <a:noFill/>
          <a:ln/>
        </p:spPr>
        <p:txBody>
          <a:bodyPr wrap="square" lIns="0" tIns="0" rIns="0" bIns="0" rtlCol="0" anchor="t"/>
          <a:lstStyle/>
          <a:p>
            <a:pPr marL="0" indent="0">
              <a:lnSpc>
                <a:spcPct val="104000"/>
              </a:lnSpc>
              <a:buNone/>
            </a:pPr>
            <a:r>
              <a:rPr lang="en-US" sz="1200" b="1" dirty="0">
                <a:solidFill>
                  <a:srgbClr val="E31836"/>
                </a:solidFill>
                <a:latin typeface="Calibri" pitchFamily="34" charset="0"/>
                <a:ea typeface="Calibri" pitchFamily="34" charset="-122"/>
                <a:cs typeface="Calibri" pitchFamily="34" charset="-120"/>
              </a:rPr>
              <a:t>The two weight sets — </a:t>
            </a:r>
            <a:r>
              <a:rPr lang="en-US" sz="1200" dirty="0">
                <a:solidFill>
                  <a:srgbClr val="222222"/>
                </a:solidFill>
                <a:latin typeface="Calibri" pitchFamily="34" charset="0"/>
                <a:ea typeface="Calibri" pitchFamily="34" charset="-122"/>
                <a:cs typeface="Calibri" pitchFamily="34" charset="-120"/>
              </a:rPr>
              <a:t>WHERE effort goes (protection priorities) vs WHAT counts as a bad outcome (loss weights of J: burn 0.29, asset 0.29, population 0.29, response 0.06, delay 0.06); trials are judged on the physical part.</a:t>
            </a:r>
            <a:endParaRPr lang="en-US" sz="1200" dirty="0"/>
          </a:p>
        </p:txBody>
      </p:sp>
      <p:sp>
        <p:nvSpPr>
          <p:cNvPr id="12" name="Shape 8"/>
          <p:cNvSpPr/>
          <p:nvPr/>
        </p:nvSpPr>
        <p:spPr>
          <a:xfrm>
            <a:off x="6263640" y="3026664"/>
            <a:ext cx="5486400" cy="1609344"/>
          </a:xfrm>
          <a:prstGeom prst="roundRect">
            <a:avLst>
              <a:gd name="adj" fmla="val 2841"/>
            </a:avLst>
          </a:prstGeom>
          <a:solidFill>
            <a:srgbClr val="F2F2F2"/>
          </a:solidFill>
          <a:ln/>
        </p:spPr>
        <p:txBody>
          <a:bodyPr/>
          <a:lstStyle/>
          <a:p>
            <a:endParaRPr lang="tr-TR"/>
          </a:p>
        </p:txBody>
      </p:sp>
      <p:sp>
        <p:nvSpPr>
          <p:cNvPr id="13" name="Text 9"/>
          <p:cNvSpPr/>
          <p:nvPr/>
        </p:nvSpPr>
        <p:spPr>
          <a:xfrm>
            <a:off x="6464808" y="3127248"/>
            <a:ext cx="5074920" cy="1426464"/>
          </a:xfrm>
          <a:prstGeom prst="rect">
            <a:avLst/>
          </a:prstGeom>
          <a:noFill/>
          <a:ln/>
        </p:spPr>
        <p:txBody>
          <a:bodyPr wrap="square" lIns="0" tIns="0" rIns="0" bIns="0" rtlCol="0" anchor="t"/>
          <a:lstStyle/>
          <a:p>
            <a:pPr marL="0" indent="0">
              <a:lnSpc>
                <a:spcPct val="104000"/>
              </a:lnSpc>
              <a:buNone/>
            </a:pPr>
            <a:r>
              <a:rPr lang="en-US" sz="1200" b="1" dirty="0">
                <a:solidFill>
                  <a:srgbClr val="E31836"/>
                </a:solidFill>
                <a:latin typeface="Calibri" pitchFamily="34" charset="0"/>
                <a:ea typeface="Calibri" pitchFamily="34" charset="-122"/>
                <a:cs typeface="Calibri" pitchFamily="34" charset="-120"/>
              </a:rPr>
              <a:t>Doctrine vs library — </a:t>
            </a:r>
            <a:r>
              <a:rPr lang="en-US" sz="1200" dirty="0">
                <a:solidFill>
                  <a:srgbClr val="222222"/>
                </a:solidFill>
                <a:latin typeface="Calibri" pitchFamily="34" charset="0"/>
                <a:ea typeface="Calibri" pitchFamily="34" charset="-122"/>
                <a:cs typeface="Calibri" pitchFamily="34" charset="-120"/>
              </a:rPr>
              <a:t>six seeded families — and the actuator library no seed rule orders (tactical_burn, water_drafting, retardant_drop): "discovering a use is your job", each with its real-fire caveat.</a:t>
            </a:r>
            <a:endParaRPr lang="en-US" sz="1200" dirty="0"/>
          </a:p>
        </p:txBody>
      </p:sp>
      <p:sp>
        <p:nvSpPr>
          <p:cNvPr id="14" name="Shape 10"/>
          <p:cNvSpPr/>
          <p:nvPr/>
        </p:nvSpPr>
        <p:spPr>
          <a:xfrm>
            <a:off x="502920" y="4727448"/>
            <a:ext cx="5486400" cy="1609344"/>
          </a:xfrm>
          <a:prstGeom prst="roundRect">
            <a:avLst>
              <a:gd name="adj" fmla="val 2841"/>
            </a:avLst>
          </a:prstGeom>
          <a:solidFill>
            <a:srgbClr val="F2F2F2"/>
          </a:solidFill>
          <a:ln/>
        </p:spPr>
        <p:txBody>
          <a:bodyPr/>
          <a:lstStyle/>
          <a:p>
            <a:endParaRPr lang="tr-TR"/>
          </a:p>
        </p:txBody>
      </p:sp>
      <p:sp>
        <p:nvSpPr>
          <p:cNvPr id="15" name="Text 11"/>
          <p:cNvSpPr/>
          <p:nvPr/>
        </p:nvSpPr>
        <p:spPr>
          <a:xfrm>
            <a:off x="704088" y="4828032"/>
            <a:ext cx="5074920" cy="1426464"/>
          </a:xfrm>
          <a:prstGeom prst="rect">
            <a:avLst/>
          </a:prstGeom>
          <a:noFill/>
          <a:ln/>
        </p:spPr>
        <p:txBody>
          <a:bodyPr wrap="square" lIns="0" tIns="0" rIns="0" bIns="0" rtlCol="0" anchor="t"/>
          <a:lstStyle/>
          <a:p>
            <a:pPr marL="0" indent="0">
              <a:lnSpc>
                <a:spcPct val="104000"/>
              </a:lnSpc>
              <a:buNone/>
            </a:pPr>
            <a:r>
              <a:rPr lang="en-US" sz="1200" b="1" dirty="0">
                <a:solidFill>
                  <a:srgbClr val="E31836"/>
                </a:solidFill>
                <a:latin typeface="Calibri" pitchFamily="34" charset="0"/>
                <a:ea typeface="Calibri" pitchFamily="34" charset="-122"/>
                <a:cs typeface="Calibri" pitchFamily="34" charset="-120"/>
              </a:rPr>
              <a:t>When to invent what — </a:t>
            </a:r>
            <a:r>
              <a:rPr lang="en-US" sz="1200" dirty="0">
                <a:solidFill>
                  <a:srgbClr val="222222"/>
                </a:solidFill>
                <a:latin typeface="Calibri" pitchFamily="34" charset="0"/>
                <a:ea typeface="Calibri" pitchFamily="34" charset="-122"/>
                <a:cs typeface="Calibri" pitchFamily="34" charset="-120"/>
              </a:rPr>
              <a:t>plain rule / new concept (recurring unnameable situation) / composite (two channels as one) / clause actuator (the tactic needs its own geometry) — "use only what THIS map supports".</a:t>
            </a:r>
            <a:endParaRPr lang="en-US" sz="1200" dirty="0"/>
          </a:p>
        </p:txBody>
      </p:sp>
      <p:sp>
        <p:nvSpPr>
          <p:cNvPr id="16" name="Shape 12"/>
          <p:cNvSpPr/>
          <p:nvPr/>
        </p:nvSpPr>
        <p:spPr>
          <a:xfrm>
            <a:off x="6263640" y="4727448"/>
            <a:ext cx="5486400" cy="1609344"/>
          </a:xfrm>
          <a:prstGeom prst="roundRect">
            <a:avLst>
              <a:gd name="adj" fmla="val 2841"/>
            </a:avLst>
          </a:prstGeom>
          <a:solidFill>
            <a:srgbClr val="F2F2F2"/>
          </a:solidFill>
          <a:ln/>
        </p:spPr>
        <p:txBody>
          <a:bodyPr/>
          <a:lstStyle/>
          <a:p>
            <a:endParaRPr lang="tr-TR"/>
          </a:p>
        </p:txBody>
      </p:sp>
      <p:sp>
        <p:nvSpPr>
          <p:cNvPr id="17" name="Text 13"/>
          <p:cNvSpPr/>
          <p:nvPr/>
        </p:nvSpPr>
        <p:spPr>
          <a:xfrm>
            <a:off x="6464808" y="4828032"/>
            <a:ext cx="5074920" cy="1426464"/>
          </a:xfrm>
          <a:prstGeom prst="rect">
            <a:avLst/>
          </a:prstGeom>
          <a:noFill/>
          <a:ln/>
        </p:spPr>
        <p:txBody>
          <a:bodyPr wrap="square" lIns="0" tIns="0" rIns="0" bIns="0" rtlCol="0" anchor="t"/>
          <a:lstStyle/>
          <a:p>
            <a:pPr marL="0" indent="0">
              <a:lnSpc>
                <a:spcPct val="104000"/>
              </a:lnSpc>
              <a:buNone/>
            </a:pPr>
            <a:r>
              <a:rPr lang="en-US" sz="1200" b="1" dirty="0">
                <a:solidFill>
                  <a:srgbClr val="E31836"/>
                </a:solidFill>
                <a:latin typeface="Calibri" pitchFamily="34" charset="0"/>
                <a:ea typeface="Calibri" pitchFamily="34" charset="-122"/>
                <a:cs typeface="Calibri" pitchFamily="34" charset="-120"/>
              </a:rPr>
              <a:t>Standing rules — </a:t>
            </a:r>
            <a:r>
              <a:rPr lang="en-US" sz="1200" dirty="0">
                <a:solidFill>
                  <a:srgbClr val="222222"/>
                </a:solidFill>
                <a:latin typeface="Calibri" pitchFamily="34" charset="0"/>
                <a:ea typeface="Calibri" pitchFamily="34" charset="-122"/>
                <a:cs typeface="Calibri" pitchFamily="34" charset="-120"/>
              </a:rPr>
              <a:t>every proposal must fire in the situation it is proposed for; orders must move a 45-minute forecast; a rejected proposal returns once with the failing gate named — fix exactly that.</a:t>
            </a:r>
            <a:endParaRPr lang="en-US" sz="1200" dirty="0"/>
          </a:p>
        </p:txBody>
      </p:sp>
      <p:sp>
        <p:nvSpPr>
          <p:cNvPr id="18" name="Text 14"/>
          <p:cNvSpPr/>
          <p:nvPr/>
        </p:nvSpPr>
        <p:spPr>
          <a:xfrm>
            <a:off x="502920" y="6446520"/>
            <a:ext cx="11247120" cy="320040"/>
          </a:xfrm>
          <a:prstGeom prst="rect">
            <a:avLst/>
          </a:prstGeom>
          <a:noFill/>
          <a:ln/>
        </p:spPr>
        <p:txBody>
          <a:bodyPr wrap="square" lIns="0" tIns="0" rIns="0" bIns="0" rtlCol="0" anchor="t"/>
          <a:lstStyle/>
          <a:p>
            <a:pPr marL="0" indent="0">
              <a:lnSpc>
                <a:spcPct val="104000"/>
              </a:lnSpc>
              <a:buNone/>
            </a:pPr>
            <a:r>
              <a:rPr lang="en-US" sz="1250" b="1" i="1" dirty="0">
                <a:solidFill>
                  <a:srgbClr val="E31836"/>
                </a:solidFill>
                <a:latin typeface="Calibri" pitchFamily="34" charset="0"/>
                <a:ea typeface="Calibri" pitchFamily="34" charset="-122"/>
                <a:cs typeface="Calibri" pitchFamily="34" charset="-120"/>
              </a:rPr>
              <a:t>Built once per incident, sent verbatim on every generative call of that run, and written to the run log for audit.</a:t>
            </a:r>
            <a:endParaRPr lang="en-US" sz="125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237744"/>
            <a:ext cx="10058400" cy="292608"/>
          </a:xfrm>
          <a:prstGeom prst="rect">
            <a:avLst/>
          </a:prstGeom>
          <a:noFill/>
          <a:ln/>
        </p:spPr>
        <p:txBody>
          <a:bodyPr wrap="square" lIns="0" tIns="0" rIns="0" bIns="0" rtlCol="0" anchor="ctr"/>
          <a:lstStyle/>
          <a:p>
            <a:pPr marL="0" indent="0">
              <a:buNone/>
            </a:pPr>
            <a:r>
              <a:rPr lang="en-US" sz="1300" b="1" kern="0" spc="200" dirty="0">
                <a:solidFill>
                  <a:srgbClr val="E31836"/>
                </a:solidFill>
                <a:latin typeface="Calibri" pitchFamily="34" charset="0"/>
                <a:ea typeface="Calibri" pitchFamily="34" charset="-122"/>
                <a:cs typeface="Calibri" pitchFamily="34" charset="-120"/>
              </a:rPr>
              <a:t>BACKUP · SCOPE OF THE SENSITIVITY EVIDENCE</a:t>
            </a:r>
            <a:endParaRPr lang="en-US" sz="1300" dirty="0"/>
          </a:p>
        </p:txBody>
      </p:sp>
      <p:sp>
        <p:nvSpPr>
          <p:cNvPr id="3" name="Text 1"/>
          <p:cNvSpPr/>
          <p:nvPr/>
        </p:nvSpPr>
        <p:spPr>
          <a:xfrm>
            <a:off x="502920" y="493776"/>
            <a:ext cx="11247120" cy="621792"/>
          </a:xfrm>
          <a:prstGeom prst="rect">
            <a:avLst/>
          </a:prstGeom>
          <a:noFill/>
          <a:ln/>
        </p:spPr>
        <p:txBody>
          <a:bodyPr wrap="square" lIns="0" tIns="0" rIns="0" bIns="0" rtlCol="0" anchor="ctr"/>
          <a:lstStyle/>
          <a:p>
            <a:pPr marL="0" indent="0">
              <a:buNone/>
            </a:pPr>
            <a:r>
              <a:rPr lang="en-US" sz="2500" b="1" dirty="0">
                <a:solidFill>
                  <a:srgbClr val="000000"/>
                </a:solidFill>
                <a:latin typeface="Cambria" pitchFamily="34" charset="0"/>
                <a:ea typeface="Cambria" pitchFamily="34" charset="-122"/>
                <a:cs typeface="Cambria" pitchFamily="34" charset="-120"/>
              </a:rPr>
              <a:t>What Is Swept, What Is Fixed by Design</a:t>
            </a:r>
            <a:endParaRPr lang="en-US" sz="2500" dirty="0"/>
          </a:p>
        </p:txBody>
      </p:sp>
      <p:pic>
        <p:nvPicPr>
          <p:cNvPr id="4" name="Image 0" descr="/tmp/thx/deck/figs/metu_emblem.png"/>
          <p:cNvPicPr>
            <a:picLocks noChangeAspect="1"/>
          </p:cNvPicPr>
          <p:nvPr/>
        </p:nvPicPr>
        <p:blipFill>
          <a:blip r:embed="rId3"/>
          <a:stretch>
            <a:fillRect/>
          </a:stretch>
        </p:blipFill>
        <p:spPr>
          <a:xfrm>
            <a:off x="10716768" y="184607"/>
            <a:ext cx="475488" cy="398882"/>
          </a:xfrm>
          <a:prstGeom prst="rect">
            <a:avLst/>
          </a:prstGeom>
        </p:spPr>
      </p:pic>
      <p:pic>
        <p:nvPicPr>
          <p:cNvPr id="5" name="Image 1" descr="/tmp/thx/deck/figs/eee_logo.png"/>
          <p:cNvPicPr>
            <a:picLocks noChangeAspect="1"/>
          </p:cNvPicPr>
          <p:nvPr/>
        </p:nvPicPr>
        <p:blipFill>
          <a:blip r:embed="rId4"/>
          <a:stretch>
            <a:fillRect/>
          </a:stretch>
        </p:blipFill>
        <p:spPr>
          <a:xfrm>
            <a:off x="11265408" y="186217"/>
            <a:ext cx="475488" cy="395662"/>
          </a:xfrm>
          <a:prstGeom prst="rect">
            <a:avLst/>
          </a:prstGeom>
        </p:spPr>
      </p:pic>
      <p:sp>
        <p:nvSpPr>
          <p:cNvPr id="6" name="Text 2"/>
          <p:cNvSpPr/>
          <p:nvPr/>
        </p:nvSpPr>
        <p:spPr>
          <a:xfrm>
            <a:off x="502920" y="1280160"/>
            <a:ext cx="5486400" cy="292608"/>
          </a:xfrm>
          <a:prstGeom prst="rect">
            <a:avLst/>
          </a:prstGeom>
          <a:noFill/>
          <a:ln/>
        </p:spPr>
        <p:txBody>
          <a:bodyPr wrap="square" lIns="0" tIns="0" rIns="0" bIns="0" rtlCol="0" anchor="ctr"/>
          <a:lstStyle/>
          <a:p>
            <a:pPr marL="0" indent="0">
              <a:buNone/>
            </a:pPr>
            <a:r>
              <a:rPr lang="en-US" sz="1400" b="1" dirty="0">
                <a:solidFill>
                  <a:srgbClr val="E31836"/>
                </a:solidFill>
                <a:latin typeface="Calibri" pitchFamily="34" charset="0"/>
                <a:ea typeface="Calibri" pitchFamily="34" charset="-122"/>
                <a:cs typeface="Calibri" pitchFamily="34" charset="-120"/>
              </a:rPr>
              <a:t>Swept — one bias at a time</a:t>
            </a:r>
            <a:endParaRPr lang="en-US" sz="1400" dirty="0"/>
          </a:p>
        </p:txBody>
      </p:sp>
      <mc:AlternateContent xmlns:mc="http://schemas.openxmlformats.org/markup-compatibility/2006" xmlns:a14="http://schemas.microsoft.com/office/drawing/2010/main">
        <mc:Choice Requires="a14">
          <p:sp>
            <p:nvSpPr>
              <p:cNvPr id="7" name="Text 3"/>
              <p:cNvSpPr/>
              <p:nvPr/>
            </p:nvSpPr>
            <p:spPr>
              <a:xfrm>
                <a:off x="502920" y="1627632"/>
                <a:ext cx="5486400" cy="2468880"/>
              </a:xfrm>
              <a:prstGeom prst="rect">
                <a:avLst/>
              </a:prstGeom>
              <a:noFill/>
              <a:ln/>
            </p:spPr>
            <p:txBody>
              <a:bodyPr wrap="square" lIns="0" tIns="0" rIns="0" bIns="0" rtlCol="0" anchor="t"/>
              <a:lstStyle/>
              <a:p>
                <a:pPr marL="152400" indent="-152400">
                  <a:lnSpc>
                    <a:spcPct val="104000"/>
                  </a:lnSpc>
                  <a:spcAft>
                    <a:spcPts val="600"/>
                  </a:spcAft>
                  <a:buSzPct val="100000"/>
                  <a:buChar char="•"/>
                </a:pPr>
                <a:r>
                  <a:rPr lang="en-US" sz="1200" dirty="0">
                    <a:solidFill>
                      <a:srgbClr val="222222"/>
                    </a:solidFill>
                    <a:latin typeface="Calibri" pitchFamily="34" charset="0"/>
                    <a:ea typeface="Calibri" pitchFamily="34" charset="-122"/>
                    <a:cs typeface="Calibri" pitchFamily="34" charset="-120"/>
                  </a:rPr>
                  <a:t>Fire load (1–12 ignitions) and resource level (0.10–1.00) — the situational axes that locate the operating point</a:t>
                </a:r>
                <a:endParaRPr lang="en-US" sz="1200" dirty="0"/>
              </a:p>
              <a:p>
                <a:pPr marL="152400" indent="-152400">
                  <a:lnSpc>
                    <a:spcPct val="104000"/>
                  </a:lnSpc>
                  <a:spcAft>
                    <a:spcPts val="600"/>
                  </a:spcAft>
                  <a:buSzPct val="100000"/>
                  <a:buChar char="•"/>
                </a:pPr>
                <a:r>
                  <a:rPr lang="en-US" sz="1200" dirty="0">
                    <a:solidFill>
                      <a:srgbClr val="222222"/>
                    </a:solidFill>
                    <a:latin typeface="Calibri" pitchFamily="34" charset="0"/>
                    <a:ea typeface="Calibri" pitchFamily="34" charset="-122"/>
                    <a:cs typeface="Calibri" pitchFamily="34" charset="-120"/>
                  </a:rPr>
                  <a:t>Local regions (1–16), attention threshold </a:t>
                </a:r>
                <a14:m>
                  <m:oMath xmlns:m="http://schemas.openxmlformats.org/officeDocument/2006/math">
                    <m:sSub>
                      <m:sSubPr>
                        <m:ctrlPr>
                          <a:rPr lang="en-US" sz="1200">
                            <a:latin typeface="Cambria Math"/>
                          </a:rPr>
                        </m:ctrlPr>
                      </m:sSubPr>
                      <m:e>
                        <m:r>
                          <a:rPr lang="en-US" sz="1200">
                            <a:latin typeface="Cambria Math"/>
                          </a:rPr>
                          <m:t>𝜏</m:t>
                        </m:r>
                      </m:e>
                      <m:sub>
                        <m:r>
                          <a:rPr lang="en-US" sz="1200">
                            <a:latin typeface="Cambria Math"/>
                          </a:rPr>
                          <m:t>𝑎𝑡𝑡</m:t>
                        </m:r>
                      </m:sub>
                    </m:sSub>
                  </m:oMath>
                </a14:m>
                <a:r>
                  <a:rPr lang="en-US" sz="1200" dirty="0">
                    <a:solidFill>
                      <a:srgbClr val="222222"/>
                    </a:solidFill>
                    <a:latin typeface="Calibri" pitchFamily="34" charset="0"/>
                    <a:ea typeface="Calibri" pitchFamily="34" charset="-122"/>
                    <a:cs typeface="Calibri" pitchFamily="34" charset="-120"/>
                  </a:rPr>
                  <a:t>, no-harm horizon (45–90 min)</a:t>
                </a:r>
                <a:endParaRPr lang="en-US" sz="1200" dirty="0"/>
              </a:p>
              <a:p>
                <a:pPr marL="152400" indent="-152400">
                  <a:lnSpc>
                    <a:spcPct val="104000"/>
                  </a:lnSpc>
                  <a:spcAft>
                    <a:spcPts val="600"/>
                  </a:spcAft>
                  <a:buSzPct val="100000"/>
                  <a:buChar char="•"/>
                </a:pPr>
                <a:r>
                  <a:rPr lang="en-US" sz="1200" dirty="0">
                    <a:solidFill>
                      <a:srgbClr val="222222"/>
                    </a:solidFill>
                    <a:latin typeface="Calibri" pitchFamily="34" charset="0"/>
                    <a:ea typeface="Calibri" pitchFamily="34" charset="-122"/>
                    <a:cs typeface="Calibri" pitchFamily="34" charset="-120"/>
                  </a:rPr>
                  <a:t>Satisficing bound </a:t>
                </a:r>
                <a14:m>
                  <m:oMath xmlns:m="http://schemas.openxmlformats.org/officeDocument/2006/math">
                    <m:sSub>
                      <m:sSubPr>
                        <m:ctrlPr>
                          <a:rPr lang="en-US" sz="1200">
                            <a:latin typeface="Cambria Math"/>
                          </a:rPr>
                        </m:ctrlPr>
                      </m:sSubPr>
                      <m:e>
                        <m:r>
                          <a:rPr lang="en-US" sz="1200">
                            <a:latin typeface="Cambria Math"/>
                          </a:rPr>
                          <m:t>𝐽</m:t>
                        </m:r>
                      </m:e>
                      <m:sub>
                        <m:r>
                          <a:rPr lang="en-US" sz="1200">
                            <a:latin typeface="Cambria Math"/>
                          </a:rPr>
                          <m:t>𝑇𝐻</m:t>
                        </m:r>
                      </m:sub>
                    </m:sSub>
                  </m:oMath>
                </a14:m>
                <a:r>
                  <a:rPr lang="en-US" sz="1200" dirty="0">
                    <a:solidFill>
                      <a:srgbClr val="222222"/>
                    </a:solidFill>
                    <a:latin typeface="Calibri" pitchFamily="34" charset="0"/>
                    <a:ea typeface="Calibri" pitchFamily="34" charset="-122"/>
                    <a:cs typeface="Calibri" pitchFamily="34" charset="-120"/>
                  </a:rPr>
                  <a:t> (0.15–0.60) and quality gate </a:t>
                </a:r>
                <a14:m>
                  <m:oMath xmlns:m="http://schemas.openxmlformats.org/officeDocument/2006/math">
                    <m:r>
                      <a:rPr lang="en-US" sz="1200">
                        <a:latin typeface="Cambria Math"/>
                      </a:rPr>
                      <m:t>𝜂</m:t>
                    </m:r>
                  </m:oMath>
                </a14:m>
                <a:r>
                  <a:rPr lang="en-US" sz="1200" dirty="0">
                    <a:solidFill>
                      <a:srgbClr val="222222"/>
                    </a:solidFill>
                    <a:latin typeface="Calibri" pitchFamily="34" charset="0"/>
                    <a:ea typeface="Calibri" pitchFamily="34" charset="-122"/>
                    <a:cs typeface="Calibri" pitchFamily="34" charset="-120"/>
                  </a:rPr>
                  <a:t> (0.30–0.90)</a:t>
                </a:r>
                <a:endParaRPr lang="en-US" sz="1200" dirty="0"/>
              </a:p>
              <a:p>
                <a:pPr marL="152400" indent="-152400">
                  <a:lnSpc>
                    <a:spcPct val="104000"/>
                  </a:lnSpc>
                  <a:spcAft>
                    <a:spcPts val="600"/>
                  </a:spcAft>
                  <a:buSzPct val="100000"/>
                  <a:buChar char="•"/>
                </a:pPr>
                <a:r>
                  <a:rPr lang="en-US" sz="1200" dirty="0">
                    <a:solidFill>
                      <a:srgbClr val="222222"/>
                    </a:solidFill>
                    <a:latin typeface="Calibri" pitchFamily="34" charset="0"/>
                    <a:ea typeface="Calibri" pitchFamily="34" charset="-122"/>
                    <a:cs typeface="Calibri" pitchFamily="34" charset="-120"/>
                  </a:rPr>
                  <a:t>Observation coverage (1–9 sensors), decision cycle (2–20 min)</a:t>
                </a:r>
                <a:endParaRPr lang="en-US" sz="1200" dirty="0"/>
              </a:p>
            </p:txBody>
          </p:sp>
        </mc:Choice>
        <mc:Fallback xmlns="">
          <p:sp>
            <p:nvSpPr>
              <p:cNvPr id="7" name="Text 3"/>
              <p:cNvSpPr>
                <a:spLocks noRot="1" noChangeAspect="1" noMove="1" noResize="1" noEditPoints="1" noAdjustHandles="1" noChangeArrowheads="1" noChangeShapeType="1" noTextEdit="1"/>
              </p:cNvSpPr>
              <p:nvPr/>
            </p:nvSpPr>
            <p:spPr>
              <a:xfrm>
                <a:off x="502920" y="1627632"/>
                <a:ext cx="5486400" cy="2468880"/>
              </a:xfrm>
              <a:prstGeom prst="rect">
                <a:avLst/>
              </a:prstGeom>
              <a:blipFill>
                <a:blip r:embed="rId5"/>
                <a:stretch>
                  <a:fillRect l="-1778" t="-2222"/>
                </a:stretch>
              </a:blipFill>
              <a:ln/>
            </p:spPr>
            <p:txBody>
              <a:bodyPr/>
              <a:lstStyle/>
              <a:p>
                <a:r>
                  <a:rPr lang="tr-TR">
                    <a:noFill/>
                  </a:rPr>
                  <a:t/>
                </a:r>
              </a:p>
            </p:txBody>
          </p:sp>
        </mc:Fallback>
      </mc:AlternateContent>
      <p:sp>
        <p:nvSpPr>
          <p:cNvPr id="8" name="Text 4"/>
          <p:cNvSpPr/>
          <p:nvPr/>
        </p:nvSpPr>
        <p:spPr>
          <a:xfrm>
            <a:off x="6446520" y="1280160"/>
            <a:ext cx="5303520" cy="292608"/>
          </a:xfrm>
          <a:prstGeom prst="rect">
            <a:avLst/>
          </a:prstGeom>
          <a:noFill/>
          <a:ln/>
        </p:spPr>
        <p:txBody>
          <a:bodyPr wrap="square" lIns="0" tIns="0" rIns="0" bIns="0" rtlCol="0" anchor="ctr"/>
          <a:lstStyle/>
          <a:p>
            <a:pPr marL="0" indent="0">
              <a:buNone/>
            </a:pPr>
            <a:r>
              <a:rPr lang="en-US" sz="1400" b="1" dirty="0">
                <a:solidFill>
                  <a:srgbClr val="E31836"/>
                </a:solidFill>
                <a:latin typeface="Calibri" pitchFamily="34" charset="0"/>
                <a:ea typeface="Calibri" pitchFamily="34" charset="-122"/>
                <a:cs typeface="Calibri" pitchFamily="34" charset="-120"/>
              </a:rPr>
              <a:t>Fixed and known for a run (by design)</a:t>
            </a:r>
            <a:endParaRPr lang="en-US" sz="1400" dirty="0"/>
          </a:p>
        </p:txBody>
      </p:sp>
      <p:sp>
        <p:nvSpPr>
          <p:cNvPr id="9" name="Text 5"/>
          <p:cNvSpPr/>
          <p:nvPr/>
        </p:nvSpPr>
        <p:spPr>
          <a:xfrm>
            <a:off x="6446520" y="1627632"/>
            <a:ext cx="5303520" cy="2286000"/>
          </a:xfrm>
          <a:prstGeom prst="rect">
            <a:avLst/>
          </a:prstGeom>
          <a:noFill/>
          <a:ln/>
        </p:spPr>
        <p:txBody>
          <a:bodyPr wrap="square" lIns="0" tIns="0" rIns="0" bIns="0" rtlCol="0" anchor="t"/>
          <a:lstStyle/>
          <a:p>
            <a:pPr marL="152400" indent="-152400">
              <a:lnSpc>
                <a:spcPct val="104000"/>
              </a:lnSpc>
              <a:spcAft>
                <a:spcPts val="600"/>
              </a:spcAft>
              <a:buSzPct val="100000"/>
              <a:buChar char="•"/>
            </a:pPr>
            <a:r>
              <a:rPr lang="en-US" sz="1200" dirty="0">
                <a:solidFill>
                  <a:srgbClr val="222222"/>
                </a:solidFill>
                <a:latin typeface="Calibri" pitchFamily="34" charset="0"/>
                <a:ea typeface="Calibri" pitchFamily="34" charset="-122"/>
                <a:cs typeface="Calibri" pitchFamily="34" charset="-120"/>
              </a:rPr>
              <a:t>Loss weights of J: burn / asset / population 0.29 each; response / delay 0.06 each (1.0-1.0-1.0-0.2-0.2 normalized)</a:t>
            </a:r>
            <a:endParaRPr lang="en-US" sz="1200" dirty="0"/>
          </a:p>
          <a:p>
            <a:pPr marL="152400" indent="-152400">
              <a:lnSpc>
                <a:spcPct val="104000"/>
              </a:lnSpc>
              <a:spcAft>
                <a:spcPts val="600"/>
              </a:spcAft>
              <a:buSzPct val="100000"/>
              <a:buChar char="•"/>
            </a:pPr>
            <a:r>
              <a:rPr lang="en-US" sz="1200" dirty="0">
                <a:solidFill>
                  <a:srgbClr val="222222"/>
                </a:solidFill>
                <a:latin typeface="Calibri" pitchFamily="34" charset="0"/>
                <a:ea typeface="Calibri" pitchFamily="34" charset="-122"/>
                <a:cs typeface="Calibri" pitchFamily="34" charset="-120"/>
              </a:rPr>
              <a:t>Protection priorities: critical 0.40, population 0.25, building 0.20, evacuation 0.15</a:t>
            </a:r>
            <a:endParaRPr lang="en-US" sz="1200" dirty="0"/>
          </a:p>
          <a:p>
            <a:pPr marL="152400" indent="-152400">
              <a:lnSpc>
                <a:spcPct val="104000"/>
              </a:lnSpc>
              <a:spcAft>
                <a:spcPts val="600"/>
              </a:spcAft>
              <a:buSzPct val="100000"/>
              <a:buChar char="•"/>
            </a:pPr>
            <a:r>
              <a:rPr lang="en-US" sz="1200" dirty="0">
                <a:solidFill>
                  <a:srgbClr val="222222"/>
                </a:solidFill>
                <a:latin typeface="Calibri" pitchFamily="34" charset="0"/>
                <a:ea typeface="Calibri" pitchFamily="34" charset="-122"/>
                <a:cs typeface="Calibri" pitchFamily="34" charset="-120"/>
              </a:rPr>
              <a:t>The spread parameters of Appendix A — frozen at literature-calibrated values before any experiment</a:t>
            </a:r>
            <a:endParaRPr lang="en-US" sz="1200" dirty="0"/>
          </a:p>
        </p:txBody>
      </p:sp>
      <p:sp>
        <p:nvSpPr>
          <p:cNvPr id="10" name="Shape 6"/>
          <p:cNvSpPr/>
          <p:nvPr/>
        </p:nvSpPr>
        <p:spPr>
          <a:xfrm>
            <a:off x="502920" y="4114800"/>
            <a:ext cx="11247120" cy="2377440"/>
          </a:xfrm>
          <a:prstGeom prst="roundRect">
            <a:avLst>
              <a:gd name="adj" fmla="val 1923"/>
            </a:avLst>
          </a:prstGeom>
          <a:solidFill>
            <a:srgbClr val="FDE8EB"/>
          </a:solidFill>
          <a:ln/>
        </p:spPr>
        <p:txBody>
          <a:bodyPr/>
          <a:lstStyle/>
          <a:p>
            <a:endParaRPr lang="tr-TR"/>
          </a:p>
        </p:txBody>
      </p:sp>
      <p:sp>
        <p:nvSpPr>
          <p:cNvPr id="11" name="Text 7"/>
          <p:cNvSpPr/>
          <p:nvPr/>
        </p:nvSpPr>
        <p:spPr>
          <a:xfrm>
            <a:off x="777240" y="4261104"/>
            <a:ext cx="10698480" cy="2103120"/>
          </a:xfrm>
          <a:prstGeom prst="rect">
            <a:avLst/>
          </a:prstGeom>
          <a:noFill/>
          <a:ln/>
        </p:spPr>
        <p:txBody>
          <a:bodyPr wrap="square" lIns="0" tIns="0" rIns="0" bIns="0" rtlCol="0" anchor="t"/>
          <a:lstStyle/>
          <a:p>
            <a:pPr marL="0" indent="0">
              <a:lnSpc>
                <a:spcPct val="104000"/>
              </a:lnSpc>
              <a:buNone/>
            </a:pPr>
            <a:r>
              <a:rPr lang="en-US" sz="1300" b="1" dirty="0">
                <a:solidFill>
                  <a:srgbClr val="000000"/>
                </a:solidFill>
                <a:latin typeface="Calibri" pitchFamily="34" charset="0"/>
                <a:ea typeface="Calibri" pitchFamily="34" charset="-122"/>
                <a:cs typeface="Calibri" pitchFamily="34" charset="-120"/>
              </a:rPr>
              <a:t>Why the priority and cost weights are not swept. </a:t>
            </a:r>
            <a:r>
              <a:rPr lang="en-US" sz="1250" dirty="0">
                <a:solidFill>
                  <a:srgbClr val="222222"/>
                </a:solidFill>
                <a:latin typeface="Calibri" pitchFamily="34" charset="0"/>
                <a:ea typeface="Calibri" pitchFamily="34" charset="-122"/>
                <a:cs typeface="Calibri" pitchFamily="34" charset="-120"/>
              </a:rPr>
              <a:t>They are doctrine, not loop parameters: the thesis states them as a fixed-and-known assumption of every run, and the sensitivity design biases the parameters of the decision loop around one operating point. A bias of the objective itself — different loss weights, different protection priorities, a mis-specified fuel map or wind field — changes what "good" means rather than how well the loop pursues it; the thesis notes such plant-side biases enter the evidence only through the degraded-observation scenario S5 and would require dedicated runs to separate. </a:t>
            </a:r>
            <a:r>
              <a:rPr lang="en-US" sz="1250" b="1" dirty="0">
                <a:solidFill>
                  <a:srgbClr val="E31836"/>
                </a:solidFill>
                <a:latin typeface="Calibri" pitchFamily="34" charset="0"/>
                <a:ea typeface="Calibri" pitchFamily="34" charset="-122"/>
                <a:cs typeface="Calibri" pitchFamily="34" charset="-120"/>
              </a:rPr>
              <a:t>If the jury asks "what if the priorities change": the honest answer is that the weights are configuration, every result is conditional on them, and a weight-sweep is exactly the kind of dedicated campaign the boundary statement of Chapter 5 anticipates.</a:t>
            </a:r>
            <a:endParaRPr lang="en-US" sz="13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237744"/>
            <a:ext cx="10058400" cy="292608"/>
          </a:xfrm>
          <a:prstGeom prst="rect">
            <a:avLst/>
          </a:prstGeom>
          <a:noFill/>
          <a:ln/>
        </p:spPr>
        <p:txBody>
          <a:bodyPr wrap="square" lIns="0" tIns="0" rIns="0" bIns="0" rtlCol="0" anchor="ctr"/>
          <a:lstStyle/>
          <a:p>
            <a:pPr marL="0" indent="0">
              <a:buNone/>
            </a:pPr>
            <a:r>
              <a:rPr lang="en-US" sz="1300" b="1" kern="0" spc="200" dirty="0">
                <a:solidFill>
                  <a:srgbClr val="E31836"/>
                </a:solidFill>
                <a:latin typeface="Calibri" pitchFamily="34" charset="0"/>
                <a:ea typeface="Calibri" pitchFamily="34" charset="-122"/>
                <a:cs typeface="Calibri" pitchFamily="34" charset="-120"/>
              </a:rPr>
              <a:t>BACKUP · ONE DECISION IN FULL</a:t>
            </a:r>
            <a:endParaRPr lang="en-US" sz="1300" dirty="0"/>
          </a:p>
        </p:txBody>
      </p:sp>
      <p:sp>
        <p:nvSpPr>
          <p:cNvPr id="3" name="Text 1"/>
          <p:cNvSpPr/>
          <p:nvPr/>
        </p:nvSpPr>
        <p:spPr>
          <a:xfrm>
            <a:off x="502920" y="493776"/>
            <a:ext cx="11247120" cy="621792"/>
          </a:xfrm>
          <a:prstGeom prst="rect">
            <a:avLst/>
          </a:prstGeom>
          <a:noFill/>
          <a:ln/>
        </p:spPr>
        <p:txBody>
          <a:bodyPr wrap="square" lIns="0" tIns="0" rIns="0" bIns="0" rtlCol="0" anchor="ctr"/>
          <a:lstStyle/>
          <a:p>
            <a:pPr marL="0" indent="0">
              <a:buNone/>
            </a:pPr>
            <a:r>
              <a:rPr lang="en-US" sz="2500" b="1" dirty="0">
                <a:solidFill>
                  <a:srgbClr val="000000"/>
                </a:solidFill>
                <a:latin typeface="Cambria" pitchFamily="34" charset="0"/>
                <a:ea typeface="Cambria" pitchFamily="34" charset="-122"/>
                <a:cs typeface="Cambria" pitchFamily="34" charset="-120"/>
              </a:rPr>
              <a:t>A Single Decision, Line by Line</a:t>
            </a:r>
            <a:endParaRPr lang="en-US" sz="2500" dirty="0"/>
          </a:p>
        </p:txBody>
      </p:sp>
      <p:pic>
        <p:nvPicPr>
          <p:cNvPr id="4" name="Image 0" descr="/tmp/thx/deck/figs/metu_emblem.png"/>
          <p:cNvPicPr>
            <a:picLocks noChangeAspect="1"/>
          </p:cNvPicPr>
          <p:nvPr/>
        </p:nvPicPr>
        <p:blipFill>
          <a:blip r:embed="rId3"/>
          <a:stretch>
            <a:fillRect/>
          </a:stretch>
        </p:blipFill>
        <p:spPr>
          <a:xfrm>
            <a:off x="10716768" y="184607"/>
            <a:ext cx="475488" cy="398882"/>
          </a:xfrm>
          <a:prstGeom prst="rect">
            <a:avLst/>
          </a:prstGeom>
        </p:spPr>
      </p:pic>
      <p:pic>
        <p:nvPicPr>
          <p:cNvPr id="5" name="Image 1" descr="/tmp/thx/deck/figs/eee_logo.png"/>
          <p:cNvPicPr>
            <a:picLocks noChangeAspect="1"/>
          </p:cNvPicPr>
          <p:nvPr/>
        </p:nvPicPr>
        <p:blipFill>
          <a:blip r:embed="rId4"/>
          <a:stretch>
            <a:fillRect/>
          </a:stretch>
        </p:blipFill>
        <p:spPr>
          <a:xfrm>
            <a:off x="11265408" y="186217"/>
            <a:ext cx="475488" cy="395662"/>
          </a:xfrm>
          <a:prstGeom prst="rect">
            <a:avLst/>
          </a:prstGeom>
        </p:spPr>
      </p:pic>
      <p:graphicFrame>
        <p:nvGraphicFramePr>
          <p:cNvPr id="13" name="Table 0"/>
          <p:cNvGraphicFramePr>
            <a:graphicFrameLocks noGrp="1"/>
          </p:cNvGraphicFramePr>
          <p:nvPr/>
        </p:nvGraphicFramePr>
        <p:xfrm>
          <a:off x="457200" y="1371600"/>
          <a:ext cx="11292840" cy="4526280"/>
        </p:xfrm>
        <a:graphic>
          <a:graphicData uri="http://schemas.openxmlformats.org/drawingml/2006/table">
            <a:tbl>
              <a:tblPr/>
              <a:tblGrid>
                <a:gridCol w="1737360">
                  <a:extLst>
                    <a:ext uri="{9D8B030D-6E8A-4147-A177-3AD203B41FA5}">
                      <a16:colId xmlns:a16="http://schemas.microsoft.com/office/drawing/2014/main" val="20000"/>
                    </a:ext>
                  </a:extLst>
                </a:gridCol>
                <a:gridCol w="9555480">
                  <a:extLst>
                    <a:ext uri="{9D8B030D-6E8A-4147-A177-3AD203B41FA5}">
                      <a16:colId xmlns:a16="http://schemas.microsoft.com/office/drawing/2014/main" val="20001"/>
                    </a:ext>
                  </a:extLst>
                </a:gridCol>
              </a:tblGrid>
              <a:tr h="502920">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Step</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solidFill>
                      <a:srgbClr val="000000"/>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What the record holds</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solidFill>
                      <a:srgbClr val="000000"/>
                    </a:solidFill>
                  </a:tcPr>
                </a:tc>
                <a:extLst>
                  <a:ext uri="{0D108BD9-81ED-4DB2-BD59-A6C34878D82A}">
                    <a16:rowId xmlns:a16="http://schemas.microsoft.com/office/drawing/2014/main" val="10000"/>
                  </a:ext>
                </a:extLst>
              </a:tr>
              <a:tr h="502920">
                <a:tc>
                  <a:txBody>
                    <a:bodyPr/>
                    <a:lstStyle/>
                    <a:p>
                      <a:pPr marL="0" indent="0">
                        <a:buNone/>
                      </a:pPr>
                      <a:r>
                        <a:rPr lang="en-US" sz="1200" b="1" dirty="0">
                          <a:solidFill>
                            <a:srgbClr val="E31836"/>
                          </a:solidFill>
                          <a:latin typeface="Calibri" pitchFamily="34" charset="0"/>
                          <a:ea typeface="Calibri" pitchFamily="34" charset="-122"/>
                          <a:cs typeface="Calibri" pitchFamily="34" charset="-120"/>
                        </a:rPr>
                        <a:t>Observation</a:t>
                      </a:r>
                      <a:endParaRPr lang="en-US" sz="120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200" dirty="0">
                          <a:solidFill>
                            <a:srgbClr val="222222"/>
                          </a:solidFill>
                          <a:latin typeface="Calibri" pitchFamily="34" charset="0"/>
                          <a:ea typeface="Calibri" pitchFamily="34" charset="-122"/>
                          <a:cs typeface="Calibri" pitchFamily="34" charset="-120"/>
                        </a:rPr>
                        <a:t>fire intensity 0.97 (conf. 0.97) · ignition proximity 1.00 (0.97) · asset exposure 1.00 (1.00) · fuel load 0.70 (0.12) · suppression availability 1.00 (1.00) — five of the ten features; the full vector is in the cycle record</a:t>
                      </a:r>
                      <a:endParaRPr lang="en-US" sz="120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extLst>
                  <a:ext uri="{0D108BD9-81ED-4DB2-BD59-A6C34878D82A}">
                    <a16:rowId xmlns:a16="http://schemas.microsoft.com/office/drawing/2014/main" val="10001"/>
                  </a:ext>
                </a:extLst>
              </a:tr>
              <a:tr h="502920">
                <a:tc>
                  <a:txBody>
                    <a:bodyPr/>
                    <a:lstStyle/>
                    <a:p>
                      <a:pPr marL="0" indent="0">
                        <a:buNone/>
                      </a:pPr>
                      <a:r>
                        <a:rPr lang="en-US" sz="1200" b="1" dirty="0">
                          <a:solidFill>
                            <a:srgbClr val="E31836"/>
                          </a:solidFill>
                          <a:latin typeface="Calibri" pitchFamily="34" charset="0"/>
                          <a:ea typeface="Calibri" pitchFamily="34" charset="-122"/>
                          <a:cs typeface="Calibri" pitchFamily="34" charset="-120"/>
                        </a:rPr>
                        <a:t>Concept gate</a:t>
                      </a:r>
                      <a:endParaRPr lang="en-US" sz="120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200" dirty="0">
                          <a:solidFill>
                            <a:srgbClr val="222222"/>
                          </a:solidFill>
                          <a:latin typeface="Calibri" pitchFamily="34" charset="0"/>
                          <a:ea typeface="Calibri" pitchFamily="34" charset="-122"/>
                          <a:cs typeface="Calibri" pitchFamily="34" charset="-120"/>
                        </a:rPr>
                        <a:t>fire threat 0.12 · asset exposure risk 0.97 · feasibility 1.00 · urgency 0.12 · evacuation pressure 0.97</a:t>
                      </a:r>
                      <a:endParaRPr lang="en-US" sz="120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extLst>
                  <a:ext uri="{0D108BD9-81ED-4DB2-BD59-A6C34878D82A}">
                    <a16:rowId xmlns:a16="http://schemas.microsoft.com/office/drawing/2014/main" val="10002"/>
                  </a:ext>
                </a:extLst>
              </a:tr>
              <a:tr h="502920">
                <a:tc>
                  <a:txBody>
                    <a:bodyPr/>
                    <a:lstStyle/>
                    <a:p>
                      <a:pPr marL="0" indent="0">
                        <a:buNone/>
                      </a:pPr>
                      <a:r>
                        <a:rPr lang="en-US" sz="1200" b="1" dirty="0">
                          <a:solidFill>
                            <a:srgbClr val="E31836"/>
                          </a:solidFill>
                          <a:latin typeface="Calibri" pitchFamily="34" charset="0"/>
                          <a:ea typeface="Calibri" pitchFamily="34" charset="-122"/>
                          <a:cs typeface="Calibri" pitchFamily="34" charset="-120"/>
                        </a:rPr>
                        <a:t>Effective activation</a:t>
                      </a:r>
                      <a:endParaRPr lang="en-US" sz="120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200" dirty="0">
                          <a:solidFill>
                            <a:srgbClr val="222222"/>
                          </a:solidFill>
                          <a:latin typeface="Calibri" pitchFamily="34" charset="0"/>
                          <a:ea typeface="Calibri" pitchFamily="34" charset="-122"/>
                          <a:cs typeface="Calibri" pitchFamily="34" charset="-120"/>
                        </a:rPr>
                        <a:t>fire threat 0.36 · asset risk 0.85 · feasibility 0.79 · urgency 0.38 · evac. pressure 0.62</a:t>
                      </a:r>
                      <a:endParaRPr lang="en-US" sz="120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extLst>
                  <a:ext uri="{0D108BD9-81ED-4DB2-BD59-A6C34878D82A}">
                    <a16:rowId xmlns:a16="http://schemas.microsoft.com/office/drawing/2014/main" val="10003"/>
                  </a:ext>
                </a:extLst>
              </a:tr>
              <a:tr h="502920">
                <a:tc>
                  <a:txBody>
                    <a:bodyPr/>
                    <a:lstStyle/>
                    <a:p>
                      <a:pPr marL="0" indent="0">
                        <a:buNone/>
                      </a:pPr>
                      <a:r>
                        <a:rPr lang="en-US" sz="1200" b="1" dirty="0">
                          <a:solidFill>
                            <a:srgbClr val="E31836"/>
                          </a:solidFill>
                          <a:latin typeface="Calibri" pitchFamily="34" charset="0"/>
                          <a:ea typeface="Calibri" pitchFamily="34" charset="-122"/>
                          <a:cs typeface="Calibri" pitchFamily="34" charset="-120"/>
                        </a:rPr>
                        <a:t>Rules fired</a:t>
                      </a:r>
                      <a:endParaRPr lang="en-US" sz="120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200" dirty="0">
                          <a:solidFill>
                            <a:srgbClr val="222222"/>
                          </a:solidFill>
                          <a:latin typeface="Calibri" pitchFamily="34" charset="0"/>
                          <a:ea typeface="Calibri" pitchFamily="34" charset="-122"/>
                          <a:cs typeface="Calibri" pitchFamily="34" charset="-120"/>
                        </a:rPr>
                        <a:t>G5 0.50 · R20 0.19 · G2 0.19 · G4 0.19 · G1 0.17 · G3 0.17 · G6 0.17 · G7 0.17 · G8 0.17 · G9 0.17 · R26 0.11 · R7 0.07</a:t>
                      </a:r>
                      <a:endParaRPr lang="en-US" sz="120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extLst>
                  <a:ext uri="{0D108BD9-81ED-4DB2-BD59-A6C34878D82A}">
                    <a16:rowId xmlns:a16="http://schemas.microsoft.com/office/drawing/2014/main" val="10004"/>
                  </a:ext>
                </a:extLst>
              </a:tr>
              <a:tr h="502920">
                <a:tc>
                  <a:txBody>
                    <a:bodyPr/>
                    <a:lstStyle/>
                    <a:p>
                      <a:pPr marL="0" indent="0">
                        <a:buNone/>
                      </a:pPr>
                      <a:r>
                        <a:rPr lang="en-US" sz="1200" b="1" dirty="0">
                          <a:solidFill>
                            <a:srgbClr val="E31836"/>
                          </a:solidFill>
                          <a:latin typeface="Calibri" pitchFamily="34" charset="0"/>
                          <a:ea typeface="Calibri" pitchFamily="34" charset="-122"/>
                          <a:cs typeface="Calibri" pitchFamily="34" charset="-120"/>
                        </a:rPr>
                        <a:t>Candidate orders</a:t>
                      </a:r>
                      <a:endParaRPr lang="en-US" sz="120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200" dirty="0">
                          <a:solidFill>
                            <a:srgbClr val="222222"/>
                          </a:solidFill>
                          <a:latin typeface="Calibri" pitchFamily="34" charset="0"/>
                          <a:ea typeface="Calibri" pitchFamily="34" charset="-122"/>
                          <a:cs typeface="Calibri" pitchFamily="34" charset="-120"/>
                        </a:rPr>
                        <a:t>water drafting 0.84 · containment 0.83 · retardant drop 0.82 · suppression 0.80 · asset prot. 0.75 · deployment 0.70 · evacuation 0.66</a:t>
                      </a:r>
                      <a:endParaRPr lang="en-US" sz="120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extLst>
                  <a:ext uri="{0D108BD9-81ED-4DB2-BD59-A6C34878D82A}">
                    <a16:rowId xmlns:a16="http://schemas.microsoft.com/office/drawing/2014/main" val="10005"/>
                  </a:ext>
                </a:extLst>
              </a:tr>
              <a:tr h="502920">
                <a:tc>
                  <a:txBody>
                    <a:bodyPr/>
                    <a:lstStyle/>
                    <a:p>
                      <a:pPr marL="0" indent="0">
                        <a:buNone/>
                      </a:pPr>
                      <a:r>
                        <a:rPr lang="en-US" sz="1200" b="1" dirty="0">
                          <a:solidFill>
                            <a:srgbClr val="E31836"/>
                          </a:solidFill>
                          <a:latin typeface="Calibri" pitchFamily="34" charset="0"/>
                          <a:ea typeface="Calibri" pitchFamily="34" charset="-122"/>
                          <a:cs typeface="Calibri" pitchFamily="34" charset="-120"/>
                        </a:rPr>
                        <a:t>Satisficing test</a:t>
                      </a:r>
                      <a:endParaRPr lang="en-US" sz="120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200" dirty="0">
                          <a:solidFill>
                            <a:srgbClr val="222222"/>
                          </a:solidFill>
                          <a:latin typeface="Calibri" pitchFamily="34" charset="0"/>
                          <a:ea typeface="Calibri" pitchFamily="34" charset="-122"/>
                          <a:cs typeface="Calibri" pitchFamily="34" charset="-120"/>
                        </a:rPr>
                        <a:t>forecast 0.0490 vs no-action 0.2568, bound 0.2500 → accepted</a:t>
                      </a:r>
                      <a:endParaRPr lang="en-US" sz="120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extLst>
                  <a:ext uri="{0D108BD9-81ED-4DB2-BD59-A6C34878D82A}">
                    <a16:rowId xmlns:a16="http://schemas.microsoft.com/office/drawing/2014/main" val="10006"/>
                  </a:ext>
                </a:extLst>
              </a:tr>
              <a:tr h="502920">
                <a:tc>
                  <a:txBody>
                    <a:bodyPr/>
                    <a:lstStyle/>
                    <a:p>
                      <a:pPr marL="0" indent="0">
                        <a:buNone/>
                      </a:pPr>
                      <a:r>
                        <a:rPr lang="en-US" sz="1200" b="1" dirty="0">
                          <a:solidFill>
                            <a:srgbClr val="E31836"/>
                          </a:solidFill>
                          <a:latin typeface="Calibri" pitchFamily="34" charset="0"/>
                          <a:ea typeface="Calibri" pitchFamily="34" charset="-122"/>
                          <a:cs typeface="Calibri" pitchFamily="34" charset="-120"/>
                        </a:rPr>
                        <a:t>Quality gate</a:t>
                      </a:r>
                      <a:endParaRPr lang="en-US" sz="120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200" dirty="0">
                          <a:solidFill>
                            <a:srgbClr val="222222"/>
                          </a:solidFill>
                          <a:latin typeface="Calibri" pitchFamily="34" charset="0"/>
                          <a:ea typeface="Calibri" pitchFamily="34" charset="-122"/>
                          <a:cs typeface="Calibri" pitchFamily="34" charset="-120"/>
                        </a:rPr>
                        <a:t>0.776 vs 0.60 → no derating</a:t>
                      </a:r>
                      <a:endParaRPr lang="en-US" sz="120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extLst>
                  <a:ext uri="{0D108BD9-81ED-4DB2-BD59-A6C34878D82A}">
                    <a16:rowId xmlns:a16="http://schemas.microsoft.com/office/drawing/2014/main" val="10007"/>
                  </a:ext>
                </a:extLst>
              </a:tr>
              <a:tr h="502920">
                <a:tc>
                  <a:txBody>
                    <a:bodyPr/>
                    <a:lstStyle/>
                    <a:p>
                      <a:pPr marL="0" indent="0">
                        <a:buNone/>
                      </a:pPr>
                      <a:r>
                        <a:rPr lang="en-US" sz="1200" b="1" dirty="0">
                          <a:solidFill>
                            <a:srgbClr val="E31836"/>
                          </a:solidFill>
                          <a:latin typeface="Calibri" pitchFamily="34" charset="0"/>
                          <a:ea typeface="Calibri" pitchFamily="34" charset="-122"/>
                          <a:cs typeface="Calibri" pitchFamily="34" charset="-120"/>
                        </a:rPr>
                        <a:t>Fielded order</a:t>
                      </a:r>
                      <a:endParaRPr lang="en-US" sz="120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200" dirty="0">
                          <a:solidFill>
                            <a:srgbClr val="222222"/>
                          </a:solidFill>
                          <a:latin typeface="Calibri" pitchFamily="34" charset="0"/>
                          <a:ea typeface="Calibri" pitchFamily="34" charset="-122"/>
                          <a:cs typeface="Calibri" pitchFamily="34" charset="-120"/>
                        </a:rPr>
                        <a:t>the candidate as written, at attention share 1.00 (region attended)</a:t>
                      </a:r>
                      <a:endParaRPr lang="en-US" sz="120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extLst>
                  <a:ext uri="{0D108BD9-81ED-4DB2-BD59-A6C34878D82A}">
                    <a16:rowId xmlns:a16="http://schemas.microsoft.com/office/drawing/2014/main" val="10008"/>
                  </a:ext>
                </a:extLst>
              </a:tr>
            </a:tbl>
          </a:graphicData>
        </a:graphic>
      </p:graphicFrame>
      <p:sp>
        <p:nvSpPr>
          <p:cNvPr id="7" name="Text 2"/>
          <p:cNvSpPr/>
          <p:nvPr/>
        </p:nvSpPr>
        <p:spPr>
          <a:xfrm>
            <a:off x="457200" y="6309360"/>
            <a:ext cx="11292840" cy="320040"/>
          </a:xfrm>
          <a:prstGeom prst="rect">
            <a:avLst/>
          </a:prstGeom>
          <a:noFill/>
          <a:ln/>
        </p:spPr>
        <p:txBody>
          <a:bodyPr wrap="square" lIns="0" tIns="0" rIns="0" bIns="0" rtlCol="0" anchor="t"/>
          <a:lstStyle/>
          <a:p>
            <a:pPr marL="0" indent="0">
              <a:lnSpc>
                <a:spcPct val="104000"/>
              </a:lnSpc>
              <a:buNone/>
            </a:pPr>
            <a:r>
              <a:rPr lang="en-US" sz="1250" i="1" dirty="0">
                <a:solidFill>
                  <a:srgbClr val="6E6E6E"/>
                </a:solidFill>
                <a:latin typeface="Calibri" pitchFamily="34" charset="0"/>
                <a:ea typeface="Calibri" pitchFamily="34" charset="-122"/>
                <a:cs typeface="Calibri" pitchFamily="34" charset="-120"/>
              </a:rPr>
              <a:t>Five minutes after ignition, the attended region of a recorded incident. Each line is produced by the line above it — the row order is the order the layer works in.</a:t>
            </a:r>
            <a:endParaRPr lang="en-US" sz="125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256032"/>
            <a:ext cx="9144000" cy="292608"/>
          </a:xfrm>
          <a:prstGeom prst="rect">
            <a:avLst/>
          </a:prstGeom>
          <a:noFill/>
          <a:ln/>
        </p:spPr>
        <p:txBody>
          <a:bodyPr wrap="square" lIns="0" tIns="0" rIns="0" bIns="0" rtlCol="0" anchor="ctr"/>
          <a:lstStyle/>
          <a:p>
            <a:pPr marL="0" indent="0">
              <a:buNone/>
            </a:pPr>
            <a:r>
              <a:rPr lang="en-US" sz="1300" b="1" kern="0" spc="200" dirty="0">
                <a:solidFill>
                  <a:srgbClr val="E31836"/>
                </a:solidFill>
                <a:latin typeface="Calibri" pitchFamily="34" charset="0"/>
                <a:ea typeface="Calibri" pitchFamily="34" charset="-122"/>
                <a:cs typeface="Calibri" pitchFamily="34" charset="-120"/>
              </a:rPr>
              <a:t>SIMULATION FRAMEWORK : SIMULATION CORE</a:t>
            </a:r>
            <a:endParaRPr lang="en-US" sz="1300" dirty="0"/>
          </a:p>
        </p:txBody>
      </p:sp>
      <p:sp>
        <p:nvSpPr>
          <p:cNvPr id="3" name="Text 1"/>
          <p:cNvSpPr/>
          <p:nvPr/>
        </p:nvSpPr>
        <p:spPr>
          <a:xfrm>
            <a:off x="502920" y="512064"/>
            <a:ext cx="11247120" cy="731520"/>
          </a:xfrm>
          <a:prstGeom prst="rect">
            <a:avLst/>
          </a:prstGeom>
          <a:noFill/>
          <a:ln/>
        </p:spPr>
        <p:txBody>
          <a:bodyPr wrap="square" lIns="0" tIns="0" rIns="0" bIns="0" rtlCol="0" anchor="ctr"/>
          <a:lstStyle/>
          <a:p>
            <a:r>
              <a:rPr lang="en-US" sz="2900" b="1" dirty="0">
                <a:solidFill>
                  <a:srgbClr val="000000"/>
                </a:solidFill>
                <a:latin typeface="Cambria" pitchFamily="34" charset="0"/>
                <a:ea typeface="Cambria" pitchFamily="34" charset="-122"/>
                <a:cs typeface="Cambria" pitchFamily="34" charset="-120"/>
              </a:rPr>
              <a:t>Inside the Spread Rate</a:t>
            </a:r>
            <a:endParaRPr lang="en-US" sz="2900" dirty="0"/>
          </a:p>
        </p:txBody>
      </p:sp>
      <p:pic>
        <p:nvPicPr>
          <p:cNvPr id="9" name="Image 4" descr="/tmp/thx/deck/figs/metu_emblem.png"/>
          <p:cNvPicPr>
            <a:picLocks noChangeAspect="1"/>
          </p:cNvPicPr>
          <p:nvPr/>
        </p:nvPicPr>
        <p:blipFill>
          <a:blip r:embed="rId3"/>
          <a:stretch>
            <a:fillRect/>
          </a:stretch>
        </p:blipFill>
        <p:spPr>
          <a:xfrm>
            <a:off x="10716768" y="184607"/>
            <a:ext cx="475488" cy="398882"/>
          </a:xfrm>
          <a:prstGeom prst="rect">
            <a:avLst/>
          </a:prstGeom>
        </p:spPr>
      </p:pic>
      <p:pic>
        <p:nvPicPr>
          <p:cNvPr id="10" name="Image 5" descr="/tmp/thx/deck/figs/eee_logo.png"/>
          <p:cNvPicPr>
            <a:picLocks noChangeAspect="1"/>
          </p:cNvPicPr>
          <p:nvPr/>
        </p:nvPicPr>
        <p:blipFill>
          <a:blip r:embed="rId4"/>
          <a:stretch>
            <a:fillRect/>
          </a:stretch>
        </p:blipFill>
        <p:spPr>
          <a:xfrm>
            <a:off x="11265408" y="186217"/>
            <a:ext cx="475488" cy="395662"/>
          </a:xfrm>
          <a:prstGeom prst="rect">
            <a:avLst/>
          </a:prstGeom>
        </p:spPr>
      </p:pic>
      <p:sp>
        <p:nvSpPr>
          <p:cNvPr id="202" name="LeftNote"/>
          <p:cNvSpPr/>
          <p:nvPr/>
        </p:nvSpPr>
        <p:spPr>
          <a:xfrm>
            <a:off x="502920" y="4892040"/>
            <a:ext cx="5394960" cy="1371600"/>
          </a:xfrm>
          <a:prstGeom prst="rect">
            <a:avLst/>
          </a:prstGeom>
          <a:noFill/>
          <a:ln/>
        </p:spPr>
        <p:txBody>
          <a:bodyPr wrap="square" lIns="0" tIns="0" rIns="0" bIns="0" rtlCol="0" anchor="t"/>
          <a:lstStyle/>
          <a:p>
            <a:pPr marL="0" indent="0" algn="l">
              <a:lnSpc>
                <a:spcPct val="100000"/>
              </a:lnSpc>
              <a:buNone/>
            </a:pPr>
            <a:r>
              <a:rPr lang="en-US" sz="1300" b="1" dirty="0">
                <a:solidFill>
                  <a:srgbClr val="C8102E"/>
                </a:solidFill>
                <a:latin typeface="Calibri" pitchFamily="34" charset="0"/>
                <a:ea typeface="Calibri" pitchFamily="34" charset="-122"/>
                <a:cs typeface="Calibri" pitchFamily="34" charset="-120"/>
              </a:rPr>
              <a:t>Base rate is set by the fuel type</a:t>
            </a:r>
            <a:endParaRPr lang="en-US" dirty="0"/>
          </a:p>
          <a:p>
            <a:pPr marL="171450" indent="-171450">
              <a:lnSpc>
                <a:spcPct val="100000"/>
              </a:lnSpc>
              <a:spcBef>
                <a:spcPts val="300"/>
              </a:spcBef>
              <a:buFont typeface="Arial" pitchFamily="34" charset="0"/>
              <a:buChar char="•"/>
            </a:pPr>
            <a:r>
              <a:rPr lang="en-US" sz="1200" b="0" dirty="0">
                <a:solidFill>
                  <a:srgbClr val="2B2B2B"/>
                </a:solidFill>
                <a:latin typeface="Calibri" pitchFamily="34" charset="0"/>
                <a:ea typeface="Calibri" pitchFamily="34" charset="-122"/>
                <a:cs typeface="Calibri" pitchFamily="34" charset="-120"/>
              </a:rPr>
              <a:t>grass 2.00, shrub 0.80, pine litter 0.80, hardwood 0.30 cells per step</a:t>
            </a:r>
            <a:endParaRPr lang="en-US" dirty="0"/>
          </a:p>
          <a:p>
            <a:pPr marL="171450" indent="-171450">
              <a:lnSpc>
                <a:spcPct val="100000"/>
              </a:lnSpc>
              <a:spcBef>
                <a:spcPts val="300"/>
              </a:spcBef>
              <a:buFont typeface="Arial" pitchFamily="34" charset="0"/>
              <a:buChar char="•"/>
            </a:pPr>
            <a:r>
              <a:rPr lang="en-US" sz="1200" b="0" dirty="0">
                <a:solidFill>
                  <a:srgbClr val="2B2B2B"/>
                </a:solidFill>
                <a:latin typeface="Calibri" pitchFamily="34" charset="0"/>
                <a:ea typeface="Calibri" pitchFamily="34" charset="-122"/>
                <a:cs typeface="Calibri" pitchFamily="34" charset="-120"/>
              </a:rPr>
              <a:t>one cell per step is 3 m/min at 90 m cells and 30 min steps</a:t>
            </a:r>
            <a:endParaRPr lang="en-US" dirty="0"/>
          </a:p>
        </p:txBody>
      </p:sp>
      <p:sp>
        <p:nvSpPr>
          <p:cNvPr id="203" name="RightNote"/>
          <p:cNvSpPr/>
          <p:nvPr/>
        </p:nvSpPr>
        <p:spPr>
          <a:xfrm>
            <a:off x="6355080" y="4892040"/>
            <a:ext cx="5394960" cy="1371600"/>
          </a:xfrm>
          <a:prstGeom prst="rect">
            <a:avLst/>
          </a:prstGeom>
          <a:noFill/>
          <a:ln/>
        </p:spPr>
        <p:txBody>
          <a:bodyPr wrap="square" lIns="0" tIns="0" rIns="0" bIns="0" rtlCol="0" anchor="t"/>
          <a:lstStyle/>
          <a:p>
            <a:pPr marL="0" indent="0" algn="l">
              <a:lnSpc>
                <a:spcPct val="100000"/>
              </a:lnSpc>
              <a:buNone/>
            </a:pPr>
            <a:r>
              <a:rPr lang="en-US" sz="1300" b="1" dirty="0">
                <a:solidFill>
                  <a:srgbClr val="C8102E"/>
                </a:solidFill>
                <a:latin typeface="Calibri" pitchFamily="34" charset="0"/>
                <a:ea typeface="Calibri" pitchFamily="34" charset="-122"/>
                <a:cs typeface="Calibri" pitchFamily="34" charset="-120"/>
              </a:rPr>
              <a:t>Every multiplier is bounded</a:t>
            </a:r>
            <a:endParaRPr lang="en-US" dirty="0"/>
          </a:p>
          <a:p>
            <a:pPr marL="171450" indent="-171450">
              <a:lnSpc>
                <a:spcPct val="100000"/>
              </a:lnSpc>
              <a:spcBef>
                <a:spcPts val="300"/>
              </a:spcBef>
              <a:buFont typeface="Arial" pitchFamily="34" charset="0"/>
              <a:buChar char="•"/>
            </a:pPr>
            <a:r>
              <a:rPr lang="en-US" sz="1200" b="0" dirty="0">
                <a:solidFill>
                  <a:srgbClr val="2B2B2B"/>
                </a:solidFill>
                <a:latin typeface="Calibri" pitchFamily="34" charset="0"/>
                <a:ea typeface="Calibri" pitchFamily="34" charset="-122"/>
                <a:cs typeface="Calibri" pitchFamily="34" charset="-120"/>
              </a:rPr>
              <a:t>wet fuel damps to zero, wind saturates, slope is capped at three</a:t>
            </a:r>
            <a:endParaRPr lang="en-US" dirty="0"/>
          </a:p>
          <a:p>
            <a:pPr marL="171450" indent="-171450">
              <a:lnSpc>
                <a:spcPct val="100000"/>
              </a:lnSpc>
              <a:spcBef>
                <a:spcPts val="300"/>
              </a:spcBef>
              <a:buFont typeface="Arial" pitchFamily="34" charset="0"/>
              <a:buChar char="•"/>
            </a:pPr>
            <a:r>
              <a:rPr lang="en-US" sz="1200" b="0" dirty="0">
                <a:solidFill>
                  <a:srgbClr val="2B2B2B"/>
                </a:solidFill>
                <a:latin typeface="Calibri" pitchFamily="34" charset="0"/>
                <a:ea typeface="Calibri" pitchFamily="34" charset="-122"/>
                <a:cs typeface="Calibri" pitchFamily="34" charset="-120"/>
              </a:rPr>
              <a:t>parameters calibrated per fuel type, not fitted to the fires we predict</a:t>
            </a:r>
            <a:endParaRPr lang="en-US" dirty="0"/>
          </a:p>
        </p:txBody>
      </p:sp>
      <p:pic>
        <p:nvPicPr>
          <p:cNvPr id="503" name="Figure 503"/>
          <p:cNvPicPr>
            <a:picLocks noChangeAspect="1"/>
          </p:cNvPicPr>
          <p:nvPr/>
        </p:nvPicPr>
        <p:blipFill>
          <a:blip r:embed="rId5"/>
          <a:stretch>
            <a:fillRect/>
          </a:stretch>
        </p:blipFill>
        <p:spPr>
          <a:xfrm>
            <a:off x="502920" y="1188720"/>
            <a:ext cx="11247120" cy="3014228"/>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256032"/>
            <a:ext cx="9144000" cy="292608"/>
          </a:xfrm>
          <a:prstGeom prst="rect">
            <a:avLst/>
          </a:prstGeom>
          <a:noFill/>
          <a:ln/>
        </p:spPr>
        <p:txBody>
          <a:bodyPr wrap="square" lIns="0" tIns="0" rIns="0" bIns="0" rtlCol="0" anchor="ctr"/>
          <a:lstStyle/>
          <a:p>
            <a:pPr marL="0" indent="0">
              <a:buNone/>
            </a:pPr>
            <a:r>
              <a:rPr lang="en-US" sz="1300" b="1" kern="0" spc="200" dirty="0">
                <a:solidFill>
                  <a:srgbClr val="E31836"/>
                </a:solidFill>
                <a:latin typeface="Calibri" pitchFamily="34" charset="0"/>
                <a:ea typeface="Calibri" pitchFamily="34" charset="-122"/>
                <a:cs typeface="Calibri" pitchFamily="34" charset="-120"/>
              </a:rPr>
              <a:t>SIMULATION FRAMEWORK : SIMULATION CORE</a:t>
            </a:r>
            <a:endParaRPr lang="en-US" sz="1300" dirty="0"/>
          </a:p>
        </p:txBody>
      </p:sp>
      <p:sp>
        <p:nvSpPr>
          <p:cNvPr id="3" name="Text 1"/>
          <p:cNvSpPr/>
          <p:nvPr/>
        </p:nvSpPr>
        <p:spPr>
          <a:xfrm>
            <a:off x="502920" y="512064"/>
            <a:ext cx="11247120" cy="731520"/>
          </a:xfrm>
          <a:prstGeom prst="rect">
            <a:avLst/>
          </a:prstGeom>
          <a:noFill/>
          <a:ln/>
        </p:spPr>
        <p:txBody>
          <a:bodyPr wrap="square" lIns="0" tIns="0" rIns="0" bIns="0" rtlCol="0" anchor="ctr"/>
          <a:lstStyle/>
          <a:p>
            <a:r>
              <a:rPr lang="en-US" sz="2900" b="1" dirty="0">
                <a:solidFill>
                  <a:srgbClr val="000000"/>
                </a:solidFill>
                <a:latin typeface="Cambria" pitchFamily="34" charset="0"/>
                <a:ea typeface="Cambria" pitchFamily="34" charset="-122"/>
                <a:cs typeface="Cambria" pitchFamily="34" charset="-120"/>
              </a:rPr>
              <a:t>How Suppression Reaches the Fire</a:t>
            </a:r>
            <a:endParaRPr lang="en-US" sz="2900" dirty="0"/>
          </a:p>
        </p:txBody>
      </p:sp>
      <p:pic>
        <p:nvPicPr>
          <p:cNvPr id="9" name="Image 4" descr="/tmp/thx/deck/figs/metu_emblem.png"/>
          <p:cNvPicPr>
            <a:picLocks noChangeAspect="1"/>
          </p:cNvPicPr>
          <p:nvPr/>
        </p:nvPicPr>
        <p:blipFill>
          <a:blip r:embed="rId3"/>
          <a:stretch>
            <a:fillRect/>
          </a:stretch>
        </p:blipFill>
        <p:spPr>
          <a:xfrm>
            <a:off x="10716768" y="184607"/>
            <a:ext cx="475488" cy="398882"/>
          </a:xfrm>
          <a:prstGeom prst="rect">
            <a:avLst/>
          </a:prstGeom>
        </p:spPr>
      </p:pic>
      <p:pic>
        <p:nvPicPr>
          <p:cNvPr id="10" name="Image 5" descr="/tmp/thx/deck/figs/eee_logo.png"/>
          <p:cNvPicPr>
            <a:picLocks noChangeAspect="1"/>
          </p:cNvPicPr>
          <p:nvPr/>
        </p:nvPicPr>
        <p:blipFill>
          <a:blip r:embed="rId4"/>
          <a:stretch>
            <a:fillRect/>
          </a:stretch>
        </p:blipFill>
        <p:spPr>
          <a:xfrm>
            <a:off x="11265408" y="186217"/>
            <a:ext cx="475488" cy="395662"/>
          </a:xfrm>
          <a:prstGeom prst="rect">
            <a:avLst/>
          </a:prstGeom>
        </p:spPr>
      </p:pic>
      <p:sp>
        <p:nvSpPr>
          <p:cNvPr id="204" name="Punchline"/>
          <p:cNvSpPr/>
          <p:nvPr/>
        </p:nvSpPr>
        <p:spPr>
          <a:xfrm>
            <a:off x="4892040" y="5074920"/>
            <a:ext cx="6766560" cy="914400"/>
          </a:xfrm>
          <a:prstGeom prst="rect">
            <a:avLst/>
          </a:prstGeom>
          <a:noFill/>
          <a:ln/>
        </p:spPr>
        <p:txBody>
          <a:bodyPr wrap="square" lIns="0" tIns="0" rIns="0" bIns="0" rtlCol="0" anchor="t"/>
          <a:lstStyle/>
          <a:p>
            <a:pPr marL="0" indent="0" algn="l">
              <a:lnSpc>
                <a:spcPct val="100000"/>
              </a:lnSpc>
              <a:buNone/>
            </a:pPr>
            <a:r>
              <a:rPr lang="en-US" sz="1300" b="1" dirty="0">
                <a:solidFill>
                  <a:srgbClr val="2B2B2B"/>
                </a:solidFill>
                <a:latin typeface="Calibri" pitchFamily="34" charset="0"/>
                <a:ea typeface="Calibri" pitchFamily="34" charset="-122"/>
                <a:cs typeface="Calibri" pitchFamily="34" charset="-120"/>
              </a:rPr>
              <a:t>the decision layer never touches the physics: it only lowers fuel, through gates that can each veto it</a:t>
            </a:r>
            <a:endParaRPr lang="en-US" dirty="0"/>
          </a:p>
        </p:txBody>
      </p:sp>
      <p:pic>
        <p:nvPicPr>
          <p:cNvPr id="504" name="Figure 504"/>
          <p:cNvPicPr>
            <a:picLocks noChangeAspect="1"/>
          </p:cNvPicPr>
          <p:nvPr/>
        </p:nvPicPr>
        <p:blipFill>
          <a:blip r:embed="rId5"/>
          <a:stretch>
            <a:fillRect/>
          </a:stretch>
        </p:blipFill>
        <p:spPr>
          <a:xfrm>
            <a:off x="502920" y="1298448"/>
            <a:ext cx="10241280" cy="2938802"/>
          </a:xfrm>
          <a:prstGeom prst="rect">
            <a:avLst/>
          </a:prstGeom>
        </p:spPr>
      </p:pic>
      <p:pic>
        <p:nvPicPr>
          <p:cNvPr id="505" name="Figure 505"/>
          <p:cNvPicPr>
            <a:picLocks noChangeAspect="1"/>
          </p:cNvPicPr>
          <p:nvPr/>
        </p:nvPicPr>
        <p:blipFill>
          <a:blip r:embed="rId6"/>
          <a:stretch>
            <a:fillRect/>
          </a:stretch>
        </p:blipFill>
        <p:spPr>
          <a:xfrm>
            <a:off x="502920" y="4315968"/>
            <a:ext cx="3977640" cy="2386584"/>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256032"/>
            <a:ext cx="9144000" cy="292608"/>
          </a:xfrm>
          <a:prstGeom prst="rect">
            <a:avLst/>
          </a:prstGeom>
          <a:noFill/>
          <a:ln/>
        </p:spPr>
        <p:txBody>
          <a:bodyPr wrap="square" lIns="0" tIns="0" rIns="0" bIns="0" rtlCol="0" anchor="ctr"/>
          <a:lstStyle/>
          <a:p>
            <a:pPr marL="0" indent="0">
              <a:buNone/>
            </a:pPr>
            <a:r>
              <a:rPr lang="en-US" sz="1300" b="1" kern="0" spc="200" dirty="0">
                <a:solidFill>
                  <a:srgbClr val="E31836"/>
                </a:solidFill>
                <a:latin typeface="Calibri" pitchFamily="34" charset="0"/>
                <a:ea typeface="Calibri" pitchFamily="34" charset="-122"/>
                <a:cs typeface="Calibri" pitchFamily="34" charset="-120"/>
              </a:rPr>
              <a:t>SIMULATION FRAMEWORK : SIMULATION CORE</a:t>
            </a:r>
            <a:endParaRPr lang="en-US" sz="1300" dirty="0"/>
          </a:p>
        </p:txBody>
      </p:sp>
      <p:sp>
        <p:nvSpPr>
          <p:cNvPr id="3" name="Text 1"/>
          <p:cNvSpPr/>
          <p:nvPr/>
        </p:nvSpPr>
        <p:spPr>
          <a:xfrm>
            <a:off x="502920" y="512064"/>
            <a:ext cx="11247120" cy="731520"/>
          </a:xfrm>
          <a:prstGeom prst="rect">
            <a:avLst/>
          </a:prstGeom>
          <a:noFill/>
          <a:ln/>
        </p:spPr>
        <p:txBody>
          <a:bodyPr wrap="square" lIns="0" tIns="0" rIns="0" bIns="0" rtlCol="0" anchor="ctr"/>
          <a:lstStyle/>
          <a:p>
            <a:r>
              <a:rPr lang="en-US" sz="2900" b="1" dirty="0">
                <a:solidFill>
                  <a:srgbClr val="000000"/>
                </a:solidFill>
                <a:latin typeface="Cambria" pitchFamily="34" charset="0"/>
                <a:ea typeface="Cambria" pitchFamily="34" charset="-122"/>
                <a:cs typeface="Cambria" pitchFamily="34" charset="-120"/>
              </a:rPr>
              <a:t>Intensity and the Clock</a:t>
            </a:r>
            <a:endParaRPr lang="en-US" sz="2900" dirty="0"/>
          </a:p>
        </p:txBody>
      </p:sp>
      <p:pic>
        <p:nvPicPr>
          <p:cNvPr id="9" name="Image 4" descr="/tmp/thx/deck/figs/metu_emblem.png"/>
          <p:cNvPicPr>
            <a:picLocks noChangeAspect="1"/>
          </p:cNvPicPr>
          <p:nvPr/>
        </p:nvPicPr>
        <p:blipFill>
          <a:blip r:embed="rId3"/>
          <a:stretch>
            <a:fillRect/>
          </a:stretch>
        </p:blipFill>
        <p:spPr>
          <a:xfrm>
            <a:off x="10716768" y="184607"/>
            <a:ext cx="475488" cy="398882"/>
          </a:xfrm>
          <a:prstGeom prst="rect">
            <a:avLst/>
          </a:prstGeom>
        </p:spPr>
      </p:pic>
      <p:pic>
        <p:nvPicPr>
          <p:cNvPr id="10" name="Image 5" descr="/tmp/thx/deck/figs/eee_logo.png"/>
          <p:cNvPicPr>
            <a:picLocks noChangeAspect="1"/>
          </p:cNvPicPr>
          <p:nvPr/>
        </p:nvPicPr>
        <p:blipFill>
          <a:blip r:embed="rId4"/>
          <a:stretch>
            <a:fillRect/>
          </a:stretch>
        </p:blipFill>
        <p:spPr>
          <a:xfrm>
            <a:off x="11265408" y="186217"/>
            <a:ext cx="475488" cy="395662"/>
          </a:xfrm>
          <a:prstGeom prst="rect">
            <a:avLst/>
          </a:prstGeom>
        </p:spPr>
      </p:pic>
      <p:sp>
        <p:nvSpPr>
          <p:cNvPr id="205" name="Note"/>
          <p:cNvSpPr/>
          <p:nvPr/>
        </p:nvSpPr>
        <p:spPr>
          <a:xfrm>
            <a:off x="502920" y="5349240"/>
            <a:ext cx="11247120" cy="1097280"/>
          </a:xfrm>
          <a:prstGeom prst="rect">
            <a:avLst/>
          </a:prstGeom>
          <a:noFill/>
          <a:ln/>
        </p:spPr>
        <p:txBody>
          <a:bodyPr wrap="square" lIns="0" tIns="0" rIns="0" bIns="0" rtlCol="0" anchor="t"/>
          <a:lstStyle/>
          <a:p>
            <a:pPr marL="0" indent="0" algn="l">
              <a:lnSpc>
                <a:spcPct val="100000"/>
              </a:lnSpc>
              <a:buNone/>
            </a:pPr>
            <a:r>
              <a:rPr lang="en-US" sz="1300" b="1" dirty="0">
                <a:solidFill>
                  <a:srgbClr val="C8102E"/>
                </a:solidFill>
                <a:latin typeface="Calibri" pitchFamily="34" charset="0"/>
                <a:ea typeface="Calibri" pitchFamily="34" charset="-122"/>
                <a:cs typeface="Calibri" pitchFamily="34" charset="-120"/>
              </a:rPr>
              <a:t>Intensity is an ordinal proxy, not flame physics</a:t>
            </a:r>
            <a:endParaRPr lang="en-US" dirty="0"/>
          </a:p>
          <a:p>
            <a:pPr marL="171450" indent="-171450">
              <a:lnSpc>
                <a:spcPct val="100000"/>
              </a:lnSpc>
              <a:spcBef>
                <a:spcPts val="300"/>
              </a:spcBef>
              <a:buFont typeface="Arial" pitchFamily="34" charset="0"/>
              <a:buChar char="•"/>
            </a:pPr>
            <a:r>
              <a:rPr lang="en-US" sz="1200" b="0" dirty="0">
                <a:solidFill>
                  <a:srgbClr val="2B2B2B"/>
                </a:solidFill>
                <a:latin typeface="Calibri" pitchFamily="34" charset="0"/>
                <a:ea typeface="Calibri" pitchFamily="34" charset="-122"/>
                <a:cs typeface="Calibri" pitchFamily="34" charset="-120"/>
              </a:rPr>
              <a:t>it ranks cells for priority and makes a fierce fire resist suppression</a:t>
            </a:r>
            <a:endParaRPr lang="en-US" dirty="0"/>
          </a:p>
          <a:p>
            <a:pPr marL="171450" indent="-171450">
              <a:lnSpc>
                <a:spcPct val="100000"/>
              </a:lnSpc>
              <a:spcBef>
                <a:spcPts val="300"/>
              </a:spcBef>
              <a:buFont typeface="Arial" pitchFamily="34" charset="0"/>
              <a:buChar char="•"/>
            </a:pPr>
            <a:r>
              <a:rPr lang="en-US" sz="1200" b="0" dirty="0">
                <a:solidFill>
                  <a:srgbClr val="2B2B2B"/>
                </a:solidFill>
                <a:latin typeface="Calibri" pitchFamily="34" charset="0"/>
                <a:ea typeface="Calibri" pitchFamily="34" charset="-122"/>
                <a:cs typeface="Calibri" pitchFamily="34" charset="-120"/>
              </a:rPr>
              <a:t>time since ignition feeds persistence, extinction and intensity, and costs nothing to keep</a:t>
            </a:r>
            <a:endParaRPr lang="en-US" dirty="0"/>
          </a:p>
        </p:txBody>
      </p:sp>
      <p:pic>
        <p:nvPicPr>
          <p:cNvPr id="506" name="Figure 506"/>
          <p:cNvPicPr>
            <a:picLocks noChangeAspect="1"/>
          </p:cNvPicPr>
          <p:nvPr/>
        </p:nvPicPr>
        <p:blipFill>
          <a:blip r:embed="rId5"/>
          <a:stretch>
            <a:fillRect/>
          </a:stretch>
        </p:blipFill>
        <p:spPr>
          <a:xfrm>
            <a:off x="502920" y="1325880"/>
            <a:ext cx="11247120" cy="3326682"/>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256032"/>
            <a:ext cx="9144000" cy="292608"/>
          </a:xfrm>
          <a:prstGeom prst="rect">
            <a:avLst/>
          </a:prstGeom>
          <a:noFill/>
          <a:ln/>
        </p:spPr>
        <p:txBody>
          <a:bodyPr wrap="square" lIns="0" tIns="0" rIns="0" bIns="0" rtlCol="0" anchor="ctr"/>
          <a:lstStyle/>
          <a:p>
            <a:pPr marL="0" indent="0">
              <a:buNone/>
            </a:pPr>
            <a:r>
              <a:rPr lang="en-US" sz="1300" b="1" kern="0" spc="200" dirty="0">
                <a:solidFill>
                  <a:srgbClr val="E31836"/>
                </a:solidFill>
                <a:latin typeface="Calibri" pitchFamily="34" charset="0"/>
                <a:ea typeface="Calibri" pitchFamily="34" charset="-122"/>
                <a:cs typeface="Calibri" pitchFamily="34" charset="-120"/>
              </a:rPr>
              <a:t>BACKUP</a:t>
            </a:r>
            <a:endParaRPr lang="en-US" sz="1300" dirty="0"/>
          </a:p>
        </p:txBody>
      </p:sp>
      <p:sp>
        <p:nvSpPr>
          <p:cNvPr id="3" name="Text 1"/>
          <p:cNvSpPr/>
          <p:nvPr/>
        </p:nvSpPr>
        <p:spPr>
          <a:xfrm>
            <a:off x="502920" y="512064"/>
            <a:ext cx="11247120" cy="731520"/>
          </a:xfrm>
          <a:prstGeom prst="rect">
            <a:avLst/>
          </a:prstGeom>
          <a:noFill/>
          <a:ln/>
        </p:spPr>
        <p:txBody>
          <a:bodyPr wrap="square" lIns="0" tIns="0" rIns="0" bIns="0" rtlCol="0" anchor="ctr"/>
          <a:lstStyle/>
          <a:p>
            <a:r>
              <a:rPr lang="en-US" sz="2900" b="1" dirty="0">
                <a:solidFill>
                  <a:srgbClr val="000000"/>
                </a:solidFill>
                <a:latin typeface="Cambria" pitchFamily="34" charset="0"/>
                <a:ea typeface="Cambria" pitchFamily="34" charset="-122"/>
                <a:cs typeface="Cambria" pitchFamily="34" charset="-120"/>
              </a:rPr>
              <a:t>Calibration of the Simulation Core</a:t>
            </a:r>
            <a:endParaRPr lang="en-US" sz="2900" dirty="0"/>
          </a:p>
        </p:txBody>
      </p:sp>
      <p:pic>
        <p:nvPicPr>
          <p:cNvPr id="9" name="Image 4" descr="/tmp/thx/deck/figs/metu_emblem.png"/>
          <p:cNvPicPr>
            <a:picLocks noChangeAspect="1"/>
          </p:cNvPicPr>
          <p:nvPr/>
        </p:nvPicPr>
        <p:blipFill>
          <a:blip r:embed="rId3"/>
          <a:stretch>
            <a:fillRect/>
          </a:stretch>
        </p:blipFill>
        <p:spPr>
          <a:xfrm>
            <a:off x="10716768" y="184607"/>
            <a:ext cx="475488" cy="398882"/>
          </a:xfrm>
          <a:prstGeom prst="rect">
            <a:avLst/>
          </a:prstGeom>
        </p:spPr>
      </p:pic>
      <p:pic>
        <p:nvPicPr>
          <p:cNvPr id="10" name="Image 5" descr="/tmp/thx/deck/figs/eee_logo.png"/>
          <p:cNvPicPr>
            <a:picLocks noChangeAspect="1"/>
          </p:cNvPicPr>
          <p:nvPr/>
        </p:nvPicPr>
        <p:blipFill>
          <a:blip r:embed="rId4"/>
          <a:stretch>
            <a:fillRect/>
          </a:stretch>
        </p:blipFill>
        <p:spPr>
          <a:xfrm>
            <a:off x="11265408" y="186217"/>
            <a:ext cx="475488" cy="395662"/>
          </a:xfrm>
          <a:prstGeom prst="rect">
            <a:avLst/>
          </a:prstGeom>
        </p:spPr>
      </p:pic>
      <p:sp>
        <p:nvSpPr>
          <p:cNvPr id="206" name="Sub"/>
          <p:cNvSpPr/>
          <p:nvPr/>
        </p:nvSpPr>
        <p:spPr>
          <a:xfrm>
            <a:off x="502920" y="960120"/>
            <a:ext cx="11247120" cy="365760"/>
          </a:xfrm>
          <a:prstGeom prst="rect">
            <a:avLst/>
          </a:prstGeom>
          <a:noFill/>
          <a:ln/>
        </p:spPr>
        <p:txBody>
          <a:bodyPr wrap="square" lIns="0" tIns="0" rIns="0" bIns="0" rtlCol="0" anchor="t"/>
          <a:lstStyle/>
          <a:p>
            <a:pPr marL="0" indent="0" algn="l">
              <a:lnSpc>
                <a:spcPct val="100000"/>
              </a:lnSpc>
              <a:buNone/>
            </a:pPr>
            <a:r>
              <a:rPr lang="en-US" sz="1250" b="0" i="1" dirty="0">
                <a:solidFill>
                  <a:srgbClr val="6E6E6E"/>
                </a:solidFill>
                <a:latin typeface="Calibri" pitchFamily="34" charset="0"/>
                <a:ea typeface="Calibri" pitchFamily="34" charset="-122"/>
                <a:cs typeface="Calibri" pitchFamily="34" charset="-120"/>
              </a:rPr>
              <a:t>parameter values behind the spread rate, the burn rate, the suppression map and the intensity proxy</a:t>
            </a:r>
            <a:endParaRPr lang="en-US" dirty="0"/>
          </a:p>
        </p:txBody>
      </p:sp>
      <p:pic>
        <p:nvPicPr>
          <p:cNvPr id="507" name="Figure 507"/>
          <p:cNvPicPr>
            <a:picLocks noChangeAspect="1"/>
          </p:cNvPicPr>
          <p:nvPr/>
        </p:nvPicPr>
        <p:blipFill>
          <a:blip r:embed="rId5"/>
          <a:stretch>
            <a:fillRect/>
          </a:stretch>
        </p:blipFill>
        <p:spPr>
          <a:xfrm>
            <a:off x="502920" y="1417320"/>
            <a:ext cx="11247120" cy="4665336"/>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256032"/>
            <a:ext cx="9144000" cy="292608"/>
          </a:xfrm>
          <a:prstGeom prst="rect">
            <a:avLst/>
          </a:prstGeom>
          <a:noFill/>
          <a:ln/>
        </p:spPr>
        <p:txBody>
          <a:bodyPr wrap="square" lIns="0" tIns="0" rIns="0" bIns="0" rtlCol="0" anchor="ctr"/>
          <a:lstStyle/>
          <a:p>
            <a:pPr marL="0" indent="0">
              <a:buNone/>
            </a:pPr>
            <a:r>
              <a:rPr lang="en-US" sz="1300" b="1" kern="0" spc="200" dirty="0">
                <a:solidFill>
                  <a:srgbClr val="E31836"/>
                </a:solidFill>
                <a:latin typeface="Calibri" pitchFamily="34" charset="0"/>
                <a:ea typeface="Calibri" pitchFamily="34" charset="-122"/>
                <a:cs typeface="Calibri" pitchFamily="34" charset="-120"/>
              </a:rPr>
              <a:t>DSS FRAMEWORK : LAYER 2 OF 4</a:t>
            </a:r>
            <a:endParaRPr lang="en-US" sz="1300" dirty="0"/>
          </a:p>
        </p:txBody>
      </p:sp>
      <p:sp>
        <p:nvSpPr>
          <p:cNvPr id="3" name="Text 1"/>
          <p:cNvSpPr/>
          <p:nvPr/>
        </p:nvSpPr>
        <p:spPr>
          <a:xfrm>
            <a:off x="502920" y="512064"/>
            <a:ext cx="11247120" cy="731520"/>
          </a:xfrm>
          <a:prstGeom prst="rect">
            <a:avLst/>
          </a:prstGeom>
          <a:noFill/>
          <a:ln/>
        </p:spPr>
        <p:txBody>
          <a:bodyPr wrap="square" lIns="0" tIns="0" rIns="0" bIns="0" rtlCol="0" anchor="ctr"/>
          <a:lstStyle/>
          <a:p>
            <a:pPr marL="0" indent="0">
              <a:buNone/>
            </a:pPr>
            <a:r>
              <a:rPr lang="en-US" sz="2900" b="1" dirty="0">
                <a:solidFill>
                  <a:srgbClr val="000000"/>
                </a:solidFill>
                <a:latin typeface="Cambria" pitchFamily="34" charset="0"/>
                <a:ea typeface="Cambria" pitchFamily="34" charset="-122"/>
                <a:cs typeface="Cambria" pitchFamily="34" charset="-120"/>
              </a:rPr>
              <a:t>Layer 2 : Perception</a:t>
            </a:r>
            <a:r>
              <a:rPr lang="tr-TR" sz="2900" b="1" dirty="0">
                <a:solidFill>
                  <a:srgbClr val="000000"/>
                </a:solidFill>
                <a:latin typeface="Cambria" pitchFamily="34" charset="0"/>
                <a:ea typeface="Cambria" pitchFamily="34" charset="-122"/>
                <a:cs typeface="Cambria" pitchFamily="34" charset="-120"/>
              </a:rPr>
              <a:t> - </a:t>
            </a:r>
            <a:r>
              <a:rPr lang="en-US" sz="2900" b="1" dirty="0">
                <a:solidFill>
                  <a:srgbClr val="000000"/>
                </a:solidFill>
                <a:latin typeface="Cambria" pitchFamily="34" charset="0"/>
                <a:ea typeface="Cambria" pitchFamily="34" charset="-122"/>
                <a:cs typeface="Cambria" pitchFamily="34" charset="-120"/>
              </a:rPr>
              <a:t>Features with Explicit Confidence</a:t>
            </a:r>
            <a:endParaRPr lang="en-US" sz="2900" dirty="0"/>
          </a:p>
        </p:txBody>
      </p:sp>
      <p:pic>
        <p:nvPicPr>
          <p:cNvPr id="10" name="Image 5" descr="/tmp/thx/deck/figs/metu_emblem.png"/>
          <p:cNvPicPr>
            <a:picLocks noChangeAspect="1"/>
          </p:cNvPicPr>
          <p:nvPr/>
        </p:nvPicPr>
        <p:blipFill>
          <a:blip r:embed="rId3"/>
          <a:stretch>
            <a:fillRect/>
          </a:stretch>
        </p:blipFill>
        <p:spPr>
          <a:xfrm>
            <a:off x="10716768" y="184607"/>
            <a:ext cx="475488" cy="398882"/>
          </a:xfrm>
          <a:prstGeom prst="rect">
            <a:avLst/>
          </a:prstGeom>
        </p:spPr>
      </p:pic>
      <p:pic>
        <p:nvPicPr>
          <p:cNvPr id="11" name="Image 6" descr="/tmp/thx/deck/figs/eee_logo.png"/>
          <p:cNvPicPr>
            <a:picLocks noChangeAspect="1"/>
          </p:cNvPicPr>
          <p:nvPr/>
        </p:nvPicPr>
        <p:blipFill>
          <a:blip r:embed="rId4"/>
          <a:stretch>
            <a:fillRect/>
          </a:stretch>
        </p:blipFill>
        <p:spPr>
          <a:xfrm>
            <a:off x="11265408" y="186217"/>
            <a:ext cx="475488" cy="395662"/>
          </a:xfrm>
          <a:prstGeom prst="rect">
            <a:avLst/>
          </a:prstGeom>
        </p:spPr>
      </p:pic>
      <mc:AlternateContent xmlns:mc="http://schemas.openxmlformats.org/markup-compatibility/2006" xmlns:a14="http://schemas.microsoft.com/office/drawing/2010/main">
        <mc:Choice Requires="a14">
          <p:graphicFrame>
            <p:nvGraphicFramePr>
              <p:cNvPr id="4" name="Table 3">
                <a:extLst>
                  <a:ext uri="{FF2B5EF4-FFF2-40B4-BE49-F238E27FC236}">
                    <a16:creationId xmlns:a16="http://schemas.microsoft.com/office/drawing/2014/main" id="{90C1E034-5F60-4C40-870E-41070058BAE4}"/>
                  </a:ext>
                </a:extLst>
              </p:cNvPr>
              <p:cNvGraphicFramePr>
                <a:graphicFrameLocks noGrp="1"/>
              </p:cNvGraphicFramePr>
              <p:nvPr/>
            </p:nvGraphicFramePr>
            <p:xfrm>
              <a:off x="138897" y="1075179"/>
              <a:ext cx="11880385" cy="6043872"/>
            </p:xfrm>
            <a:graphic>
              <a:graphicData uri="http://schemas.openxmlformats.org/drawingml/2006/table">
                <a:tbl>
                  <a:tblPr firstRow="1" firstCol="1" bandRow="1">
                    <a:tableStyleId>{93296810-A885-4BE3-A3E7-6D5BEEA58F35}</a:tableStyleId>
                  </a:tblPr>
                  <a:tblGrid>
                    <a:gridCol w="1692955">
                      <a:extLst>
                        <a:ext uri="{9D8B030D-6E8A-4147-A177-3AD203B41FA5}">
                          <a16:colId xmlns:a16="http://schemas.microsoft.com/office/drawing/2014/main" val="3627290206"/>
                        </a:ext>
                      </a:extLst>
                    </a:gridCol>
                    <a:gridCol w="2732489">
                      <a:extLst>
                        <a:ext uri="{9D8B030D-6E8A-4147-A177-3AD203B41FA5}">
                          <a16:colId xmlns:a16="http://schemas.microsoft.com/office/drawing/2014/main" val="760967356"/>
                        </a:ext>
                      </a:extLst>
                    </a:gridCol>
                    <a:gridCol w="7454941">
                      <a:extLst>
                        <a:ext uri="{9D8B030D-6E8A-4147-A177-3AD203B41FA5}">
                          <a16:colId xmlns:a16="http://schemas.microsoft.com/office/drawing/2014/main" val="1803707285"/>
                        </a:ext>
                      </a:extLst>
                    </a:gridCol>
                  </a:tblGrid>
                  <a:tr h="279457">
                    <a:tc>
                      <a:txBody>
                        <a:bodyPr/>
                        <a:lstStyle/>
                        <a:p>
                          <a:pPr algn="just">
                            <a:lnSpc>
                              <a:spcPct val="150000"/>
                            </a:lnSpc>
                          </a:pPr>
                          <a:r>
                            <a:rPr lang="en-US" sz="1400">
                              <a:effectLst/>
                            </a:rPr>
                            <a:t>Feature</a:t>
                          </a:r>
                          <a:endParaRPr lang="tr-TR" sz="1400">
                            <a:effectLst/>
                            <a:latin typeface="Times New Roman" panose="02020603050405020304" pitchFamily="18" charset="0"/>
                            <a:ea typeface="Calibri" panose="020F0502020204030204" pitchFamily="34" charset="0"/>
                            <a:cs typeface="Arial" panose="020B0604020202020204" pitchFamily="34" charset="0"/>
                          </a:endParaRPr>
                        </a:p>
                      </a:txBody>
                      <a:tcPr marL="17780" marR="17780" marT="0" marB="0"/>
                    </a:tc>
                    <a:tc>
                      <a:txBody>
                        <a:bodyPr/>
                        <a:lstStyle/>
                        <a:p>
                          <a:pPr algn="just">
                            <a:lnSpc>
                              <a:spcPct val="150000"/>
                            </a:lnSpc>
                          </a:pPr>
                          <a:r>
                            <a:rPr lang="en-US" sz="1400">
                              <a:effectLst/>
                            </a:rPr>
                            <a:t>Primary source</a:t>
                          </a:r>
                          <a:endParaRPr lang="tr-TR" sz="1400">
                            <a:effectLst/>
                            <a:latin typeface="Times New Roman" panose="02020603050405020304" pitchFamily="18" charset="0"/>
                            <a:ea typeface="Calibri" panose="020F0502020204030204" pitchFamily="34" charset="0"/>
                            <a:cs typeface="Arial" panose="020B0604020202020204" pitchFamily="34" charset="0"/>
                          </a:endParaRPr>
                        </a:p>
                      </a:txBody>
                      <a:tcPr marL="17780" marR="17780" marT="0" marB="0"/>
                    </a:tc>
                    <a:tc>
                      <a:txBody>
                        <a:bodyPr/>
                        <a:lstStyle/>
                        <a:p>
                          <a:pPr algn="just">
                            <a:lnSpc>
                              <a:spcPct val="150000"/>
                            </a:lnSpc>
                          </a:pPr>
                          <a:r>
                            <a:rPr lang="en-US" sz="1400" dirty="0">
                              <a:effectLst/>
                            </a:rPr>
                            <a:t>Rationale</a:t>
                          </a:r>
                          <a:endParaRPr lang="tr-TR" sz="1400" dirty="0">
                            <a:effectLst/>
                            <a:latin typeface="Times New Roman" panose="02020603050405020304" pitchFamily="18" charset="0"/>
                            <a:ea typeface="Calibri" panose="020F0502020204030204" pitchFamily="34" charset="0"/>
                            <a:cs typeface="Arial" panose="020B0604020202020204" pitchFamily="34" charset="0"/>
                          </a:endParaRPr>
                        </a:p>
                      </a:txBody>
                      <a:tcPr marL="17780" marR="17780" marT="0" marB="0"/>
                    </a:tc>
                    <a:extLst>
                      <a:ext uri="{0D108BD9-81ED-4DB2-BD59-A6C34878D82A}">
                        <a16:rowId xmlns:a16="http://schemas.microsoft.com/office/drawing/2014/main" val="2318556470"/>
                      </a:ext>
                    </a:extLst>
                  </a:tr>
                  <a:tr h="592380">
                    <a:tc>
                      <a:txBody>
                        <a:bodyPr/>
                        <a:lstStyle/>
                        <a:p>
                          <a:pPr algn="just">
                            <a:lnSpc>
                              <a:spcPct val="150000"/>
                            </a:lnSpc>
                          </a:pPr>
                          <a:r>
                            <a:rPr lang="en-US" sz="1400">
                              <a:effectLst/>
                            </a:rPr>
                            <a:t>Fire intensity </a:t>
                          </a:r>
                          <a14:m>
                            <m:oMath xmlns:m="http://schemas.openxmlformats.org/officeDocument/2006/math">
                              <m:sSub>
                                <m:sSubPr>
                                  <m:ctrlPr>
                                    <a:rPr lang="en-US" sz="1400">
                                      <a:effectLst/>
                                      <a:latin typeface="Cambria Math" panose="02040503050406030204" pitchFamily="18" charset="0"/>
                                    </a:rPr>
                                  </m:ctrlPr>
                                </m:sSubPr>
                                <m:e>
                                  <m:r>
                                    <a:rPr lang="en-US" sz="1400">
                                      <a:effectLst/>
                                      <a:latin typeface="Cambria Math" panose="02040503050406030204" pitchFamily="18" charset="0"/>
                                    </a:rPr>
                                    <m:t>𝒛</m:t>
                                  </m:r>
                                </m:e>
                                <m:sub>
                                  <m:r>
                                    <a:rPr lang="en-US" sz="1400">
                                      <a:effectLst/>
                                      <a:latin typeface="Cambria Math" panose="02040503050406030204" pitchFamily="18" charset="0"/>
                                    </a:rPr>
                                    <m:t>𝟏</m:t>
                                  </m:r>
                                </m:sub>
                              </m:sSub>
                            </m:oMath>
                          </a14:m>
                          <a:endParaRPr lang="tr-TR" sz="1400">
                            <a:effectLst/>
                            <a:latin typeface="Times New Roman" panose="02020603050405020304" pitchFamily="18" charset="0"/>
                            <a:ea typeface="Calibri" panose="020F0502020204030204" pitchFamily="34" charset="0"/>
                            <a:cs typeface="Arial" panose="020B0604020202020204" pitchFamily="34" charset="0"/>
                          </a:endParaRPr>
                        </a:p>
                      </a:txBody>
                      <a:tcPr marL="17780" marR="17780" marT="0" marB="0"/>
                    </a:tc>
                    <a:tc>
                      <a:txBody>
                        <a:bodyPr/>
                        <a:lstStyle/>
                        <a:p>
                          <a:pPr algn="just">
                            <a:lnSpc>
                              <a:spcPct val="150000"/>
                            </a:lnSpc>
                          </a:pPr>
                          <a:r>
                            <a:rPr lang="en-US" sz="1400">
                              <a:effectLst/>
                            </a:rPr>
                            <a:t>Fire state estimation from imagery and in-situ sensing</a:t>
                          </a:r>
                          <a:endParaRPr lang="tr-TR" sz="1400">
                            <a:effectLst/>
                            <a:latin typeface="Times New Roman" panose="02020603050405020304" pitchFamily="18" charset="0"/>
                            <a:ea typeface="Calibri" panose="020F0502020204030204" pitchFamily="34" charset="0"/>
                            <a:cs typeface="Arial" panose="020B0604020202020204" pitchFamily="34" charset="0"/>
                          </a:endParaRPr>
                        </a:p>
                      </a:txBody>
                      <a:tcPr marL="17780" marR="17780" marT="0" marB="0"/>
                    </a:tc>
                    <a:tc>
                      <a:txBody>
                        <a:bodyPr/>
                        <a:lstStyle/>
                        <a:p>
                          <a:pPr algn="just">
                            <a:lnSpc>
                              <a:spcPct val="150000"/>
                            </a:lnSpc>
                          </a:pPr>
                          <a:r>
                            <a:rPr lang="en-US" sz="1400" dirty="0">
                              <a:effectLst/>
                            </a:rPr>
                            <a:t>Fireline intensity in the tradition of Byram and the Rothermel model is the standard descriptor of how intensely a front is burning</a:t>
                          </a:r>
                          <a:endParaRPr lang="tr-TR" sz="1400" dirty="0">
                            <a:effectLst/>
                            <a:latin typeface="Times New Roman" panose="02020603050405020304" pitchFamily="18" charset="0"/>
                            <a:ea typeface="Calibri" panose="020F0502020204030204" pitchFamily="34" charset="0"/>
                            <a:cs typeface="Arial" panose="020B0604020202020204" pitchFamily="34" charset="0"/>
                          </a:endParaRPr>
                        </a:p>
                      </a:txBody>
                      <a:tcPr marL="17780" marR="17780" marT="0" marB="0"/>
                    </a:tc>
                    <a:extLst>
                      <a:ext uri="{0D108BD9-81ED-4DB2-BD59-A6C34878D82A}">
                        <a16:rowId xmlns:a16="http://schemas.microsoft.com/office/drawing/2014/main" val="245247736"/>
                      </a:ext>
                    </a:extLst>
                  </a:tr>
                  <a:tr h="592380">
                    <a:tc>
                      <a:txBody>
                        <a:bodyPr/>
                        <a:lstStyle/>
                        <a:p>
                          <a:pPr algn="just">
                            <a:lnSpc>
                              <a:spcPct val="150000"/>
                            </a:lnSpc>
                          </a:pPr>
                          <a:r>
                            <a:rPr lang="en-US" sz="1400">
                              <a:effectLst/>
                            </a:rPr>
                            <a:t>Spread potential </a:t>
                          </a:r>
                          <a14:m>
                            <m:oMath xmlns:m="http://schemas.openxmlformats.org/officeDocument/2006/math">
                              <m:sSub>
                                <m:sSubPr>
                                  <m:ctrlPr>
                                    <a:rPr lang="en-US" sz="1400">
                                      <a:effectLst/>
                                      <a:latin typeface="Cambria Math" panose="02040503050406030204" pitchFamily="18" charset="0"/>
                                    </a:rPr>
                                  </m:ctrlPr>
                                </m:sSubPr>
                                <m:e>
                                  <m:r>
                                    <a:rPr lang="en-US" sz="1400">
                                      <a:effectLst/>
                                      <a:latin typeface="Cambria Math" panose="02040503050406030204" pitchFamily="18" charset="0"/>
                                    </a:rPr>
                                    <m:t>𝒛</m:t>
                                  </m:r>
                                </m:e>
                                <m:sub>
                                  <m:r>
                                    <a:rPr lang="en-US" sz="1400">
                                      <a:effectLst/>
                                      <a:latin typeface="Cambria Math" panose="02040503050406030204" pitchFamily="18" charset="0"/>
                                    </a:rPr>
                                    <m:t>𝟐</m:t>
                                  </m:r>
                                </m:sub>
                              </m:sSub>
                            </m:oMath>
                          </a14:m>
                          <a:endParaRPr lang="tr-TR" sz="1400">
                            <a:effectLst/>
                            <a:latin typeface="Times New Roman" panose="02020603050405020304" pitchFamily="18" charset="0"/>
                            <a:ea typeface="Calibri" panose="020F0502020204030204" pitchFamily="34" charset="0"/>
                            <a:cs typeface="Arial" panose="020B0604020202020204" pitchFamily="34" charset="0"/>
                          </a:endParaRPr>
                        </a:p>
                      </a:txBody>
                      <a:tcPr marL="17780" marR="17780" marT="0" marB="0"/>
                    </a:tc>
                    <a:tc>
                      <a:txBody>
                        <a:bodyPr/>
                        <a:lstStyle/>
                        <a:p>
                          <a:pPr algn="just">
                            <a:lnSpc>
                              <a:spcPct val="150000"/>
                            </a:lnSpc>
                          </a:pPr>
                          <a:r>
                            <a:rPr lang="en-US" sz="1400">
                              <a:effectLst/>
                            </a:rPr>
                            <a:t>Fire state and weather</a:t>
                          </a:r>
                          <a:endParaRPr lang="tr-TR" sz="1400">
                            <a:effectLst/>
                            <a:latin typeface="Times New Roman" panose="02020603050405020304" pitchFamily="18" charset="0"/>
                            <a:ea typeface="Calibri" panose="020F0502020204030204" pitchFamily="34" charset="0"/>
                            <a:cs typeface="Arial" panose="020B0604020202020204" pitchFamily="34" charset="0"/>
                          </a:endParaRPr>
                        </a:p>
                      </a:txBody>
                      <a:tcPr marL="17780" marR="17780" marT="0" marB="0"/>
                    </a:tc>
                    <a:tc>
                      <a:txBody>
                        <a:bodyPr/>
                        <a:lstStyle/>
                        <a:p>
                          <a:pPr algn="just">
                            <a:lnSpc>
                              <a:spcPct val="150000"/>
                            </a:lnSpc>
                          </a:pPr>
                          <a:r>
                            <a:rPr lang="en-US" sz="1400">
                              <a:effectLst/>
                            </a:rPr>
                            <a:t>Rate of spread from fuel, wind, and slope in the Rothermel tradition remains the operational basis of spread assessment</a:t>
                          </a:r>
                          <a:endParaRPr lang="tr-TR" sz="1400">
                            <a:effectLst/>
                            <a:latin typeface="Times New Roman" panose="02020603050405020304" pitchFamily="18" charset="0"/>
                            <a:ea typeface="Calibri" panose="020F0502020204030204" pitchFamily="34" charset="0"/>
                            <a:cs typeface="Arial" panose="020B0604020202020204" pitchFamily="34" charset="0"/>
                          </a:endParaRPr>
                        </a:p>
                      </a:txBody>
                      <a:tcPr marL="17780" marR="17780" marT="0" marB="0"/>
                    </a:tc>
                    <a:extLst>
                      <a:ext uri="{0D108BD9-81ED-4DB2-BD59-A6C34878D82A}">
                        <a16:rowId xmlns:a16="http://schemas.microsoft.com/office/drawing/2014/main" val="1509444383"/>
                      </a:ext>
                    </a:extLst>
                  </a:tr>
                  <a:tr h="592380">
                    <a:tc>
                      <a:txBody>
                        <a:bodyPr/>
                        <a:lstStyle/>
                        <a:p>
                          <a:pPr algn="just">
                            <a:lnSpc>
                              <a:spcPct val="150000"/>
                            </a:lnSpc>
                          </a:pPr>
                          <a:r>
                            <a:rPr lang="en-US" sz="1400" dirty="0">
                              <a:effectLst/>
                            </a:rPr>
                            <a:t>Weather severity </a:t>
                          </a:r>
                          <a14:m>
                            <m:oMath xmlns:m="http://schemas.openxmlformats.org/officeDocument/2006/math">
                              <m:sSub>
                                <m:sSubPr>
                                  <m:ctrlPr>
                                    <a:rPr lang="en-US" sz="1400">
                                      <a:effectLst/>
                                      <a:latin typeface="Cambria Math" panose="02040503050406030204" pitchFamily="18" charset="0"/>
                                    </a:rPr>
                                  </m:ctrlPr>
                                </m:sSubPr>
                                <m:e>
                                  <m:r>
                                    <a:rPr lang="en-US" sz="1400">
                                      <a:effectLst/>
                                      <a:latin typeface="Cambria Math" panose="02040503050406030204" pitchFamily="18" charset="0"/>
                                    </a:rPr>
                                    <m:t>𝒛</m:t>
                                  </m:r>
                                </m:e>
                                <m:sub>
                                  <m:r>
                                    <a:rPr lang="en-US" sz="1400">
                                      <a:effectLst/>
                                      <a:latin typeface="Cambria Math" panose="02040503050406030204" pitchFamily="18" charset="0"/>
                                    </a:rPr>
                                    <m:t>𝟑</m:t>
                                  </m:r>
                                </m:sub>
                              </m:sSub>
                            </m:oMath>
                          </a14:m>
                          <a:endParaRPr lang="tr-TR" sz="1400" dirty="0">
                            <a:effectLst/>
                            <a:latin typeface="Times New Roman" panose="02020603050405020304" pitchFamily="18" charset="0"/>
                            <a:ea typeface="Calibri" panose="020F0502020204030204" pitchFamily="34" charset="0"/>
                            <a:cs typeface="Arial" panose="020B0604020202020204" pitchFamily="34" charset="0"/>
                          </a:endParaRPr>
                        </a:p>
                      </a:txBody>
                      <a:tcPr marL="17780" marR="17780" marT="0" marB="0"/>
                    </a:tc>
                    <a:tc>
                      <a:txBody>
                        <a:bodyPr/>
                        <a:lstStyle/>
                        <a:p>
                          <a:pPr algn="just">
                            <a:lnSpc>
                              <a:spcPct val="150000"/>
                            </a:lnSpc>
                          </a:pPr>
                          <a:r>
                            <a:rPr lang="en-US" sz="1400">
                              <a:effectLst/>
                            </a:rPr>
                            <a:t>Weather stations and forecasts</a:t>
                          </a:r>
                          <a:endParaRPr lang="tr-TR" sz="1400">
                            <a:effectLst/>
                            <a:latin typeface="Times New Roman" panose="02020603050405020304" pitchFamily="18" charset="0"/>
                            <a:ea typeface="Calibri" panose="020F0502020204030204" pitchFamily="34" charset="0"/>
                            <a:cs typeface="Arial" panose="020B0604020202020204" pitchFamily="34" charset="0"/>
                          </a:endParaRPr>
                        </a:p>
                      </a:txBody>
                      <a:tcPr marL="17780" marR="17780" marT="0" marB="0"/>
                    </a:tc>
                    <a:tc>
                      <a:txBody>
                        <a:bodyPr/>
                        <a:lstStyle/>
                        <a:p>
                          <a:pPr algn="just">
                            <a:lnSpc>
                              <a:spcPct val="150000"/>
                            </a:lnSpc>
                          </a:pPr>
                          <a:r>
                            <a:rPr lang="en-US" sz="1400">
                              <a:effectLst/>
                            </a:rPr>
                            <a:t>Fire-weather index systems condense a small set of weather observations into spread and intensity potential</a:t>
                          </a:r>
                          <a:endParaRPr lang="tr-TR" sz="1400">
                            <a:effectLst/>
                            <a:latin typeface="Times New Roman" panose="02020603050405020304" pitchFamily="18" charset="0"/>
                            <a:ea typeface="Calibri" panose="020F0502020204030204" pitchFamily="34" charset="0"/>
                            <a:cs typeface="Arial" panose="020B0604020202020204" pitchFamily="34" charset="0"/>
                          </a:endParaRPr>
                        </a:p>
                      </a:txBody>
                      <a:tcPr marL="17780" marR="17780" marT="0" marB="0"/>
                    </a:tc>
                    <a:extLst>
                      <a:ext uri="{0D108BD9-81ED-4DB2-BD59-A6C34878D82A}">
                        <a16:rowId xmlns:a16="http://schemas.microsoft.com/office/drawing/2014/main" val="1347831255"/>
                      </a:ext>
                    </a:extLst>
                  </a:tr>
                  <a:tr h="592380">
                    <a:tc>
                      <a:txBody>
                        <a:bodyPr/>
                        <a:lstStyle/>
                        <a:p>
                          <a:pPr algn="just">
                            <a:lnSpc>
                              <a:spcPct val="150000"/>
                            </a:lnSpc>
                          </a:pPr>
                          <a:r>
                            <a:rPr lang="en-US" sz="1400" dirty="0">
                              <a:effectLst/>
                            </a:rPr>
                            <a:t>Ignition proximity </a:t>
                          </a:r>
                          <a14:m>
                            <m:oMath xmlns:m="http://schemas.openxmlformats.org/officeDocument/2006/math">
                              <m:sSub>
                                <m:sSubPr>
                                  <m:ctrlPr>
                                    <a:rPr lang="en-US" sz="1400">
                                      <a:effectLst/>
                                      <a:latin typeface="Cambria Math" panose="02040503050406030204" pitchFamily="18" charset="0"/>
                                    </a:rPr>
                                  </m:ctrlPr>
                                </m:sSubPr>
                                <m:e>
                                  <m:r>
                                    <a:rPr lang="en-US" sz="1400">
                                      <a:effectLst/>
                                      <a:latin typeface="Cambria Math" panose="02040503050406030204" pitchFamily="18" charset="0"/>
                                    </a:rPr>
                                    <m:t>𝒛</m:t>
                                  </m:r>
                                </m:e>
                                <m:sub>
                                  <m:r>
                                    <a:rPr lang="en-US" sz="1400">
                                      <a:effectLst/>
                                      <a:latin typeface="Cambria Math" panose="02040503050406030204" pitchFamily="18" charset="0"/>
                                    </a:rPr>
                                    <m:t>𝟒</m:t>
                                  </m:r>
                                </m:sub>
                              </m:sSub>
                            </m:oMath>
                          </a14:m>
                          <a:endParaRPr lang="tr-TR" sz="1400" dirty="0">
                            <a:effectLst/>
                            <a:latin typeface="Times New Roman" panose="02020603050405020304" pitchFamily="18" charset="0"/>
                            <a:ea typeface="Calibri" panose="020F0502020204030204" pitchFamily="34" charset="0"/>
                            <a:cs typeface="Arial" panose="020B0604020202020204" pitchFamily="34" charset="0"/>
                          </a:endParaRPr>
                        </a:p>
                      </a:txBody>
                      <a:tcPr marL="17780" marR="17780" marT="0" marB="0"/>
                    </a:tc>
                    <a:tc>
                      <a:txBody>
                        <a:bodyPr/>
                        <a:lstStyle/>
                        <a:p>
                          <a:pPr algn="just">
                            <a:lnSpc>
                              <a:spcPct val="150000"/>
                            </a:lnSpc>
                          </a:pPr>
                          <a:r>
                            <a:rPr lang="en-US" sz="1400">
                              <a:effectLst/>
                            </a:rPr>
                            <a:t>GIS road and infrastructure layers</a:t>
                          </a:r>
                          <a:endParaRPr lang="tr-TR" sz="1400">
                            <a:effectLst/>
                            <a:latin typeface="Times New Roman" panose="02020603050405020304" pitchFamily="18" charset="0"/>
                            <a:ea typeface="Calibri" panose="020F0502020204030204" pitchFamily="34" charset="0"/>
                            <a:cs typeface="Arial" panose="020B0604020202020204" pitchFamily="34" charset="0"/>
                          </a:endParaRPr>
                        </a:p>
                      </a:txBody>
                      <a:tcPr marL="17780" marR="17780" marT="0" marB="0"/>
                    </a:tc>
                    <a:tc>
                      <a:txBody>
                        <a:bodyPr/>
                        <a:lstStyle/>
                        <a:p>
                          <a:pPr algn="just">
                            <a:lnSpc>
                              <a:spcPct val="150000"/>
                            </a:lnSpc>
                          </a:pPr>
                          <a:r>
                            <a:rPr lang="en-US" sz="1400">
                              <a:effectLst/>
                            </a:rPr>
                            <a:t>Human-caused ignitions cluster near roads and infrastructure, so distance to them drives ignition probability</a:t>
                          </a:r>
                          <a:endParaRPr lang="tr-TR" sz="1400">
                            <a:effectLst/>
                            <a:latin typeface="Times New Roman" panose="02020603050405020304" pitchFamily="18" charset="0"/>
                            <a:ea typeface="Calibri" panose="020F0502020204030204" pitchFamily="34" charset="0"/>
                            <a:cs typeface="Arial" panose="020B0604020202020204" pitchFamily="34" charset="0"/>
                          </a:endParaRPr>
                        </a:p>
                      </a:txBody>
                      <a:tcPr marL="17780" marR="17780" marT="0" marB="0"/>
                    </a:tc>
                    <a:extLst>
                      <a:ext uri="{0D108BD9-81ED-4DB2-BD59-A6C34878D82A}">
                        <a16:rowId xmlns:a16="http://schemas.microsoft.com/office/drawing/2014/main" val="3898950483"/>
                      </a:ext>
                    </a:extLst>
                  </a:tr>
                  <a:tr h="279457">
                    <a:tc>
                      <a:txBody>
                        <a:bodyPr/>
                        <a:lstStyle/>
                        <a:p>
                          <a:pPr algn="just">
                            <a:lnSpc>
                              <a:spcPct val="150000"/>
                            </a:lnSpc>
                          </a:pPr>
                          <a:r>
                            <a:rPr lang="en-US" sz="1400">
                              <a:effectLst/>
                            </a:rPr>
                            <a:t>Fuel load </a:t>
                          </a:r>
                          <a14:m>
                            <m:oMath xmlns:m="http://schemas.openxmlformats.org/officeDocument/2006/math">
                              <m:sSub>
                                <m:sSubPr>
                                  <m:ctrlPr>
                                    <a:rPr lang="en-US" sz="1400">
                                      <a:effectLst/>
                                      <a:latin typeface="Cambria Math" panose="02040503050406030204" pitchFamily="18" charset="0"/>
                                    </a:rPr>
                                  </m:ctrlPr>
                                </m:sSubPr>
                                <m:e>
                                  <m:r>
                                    <a:rPr lang="en-US" sz="1400">
                                      <a:effectLst/>
                                      <a:latin typeface="Cambria Math" panose="02040503050406030204" pitchFamily="18" charset="0"/>
                                    </a:rPr>
                                    <m:t>𝒛</m:t>
                                  </m:r>
                                </m:e>
                                <m:sub>
                                  <m:r>
                                    <a:rPr lang="en-US" sz="1400">
                                      <a:effectLst/>
                                      <a:latin typeface="Cambria Math" panose="02040503050406030204" pitchFamily="18" charset="0"/>
                                    </a:rPr>
                                    <m:t>𝟓</m:t>
                                  </m:r>
                                </m:sub>
                              </m:sSub>
                            </m:oMath>
                          </a14:m>
                          <a:endParaRPr lang="tr-TR" sz="1400">
                            <a:effectLst/>
                            <a:latin typeface="Times New Roman" panose="02020603050405020304" pitchFamily="18" charset="0"/>
                            <a:ea typeface="Calibri" panose="020F0502020204030204" pitchFamily="34" charset="0"/>
                            <a:cs typeface="Arial" panose="020B0604020202020204" pitchFamily="34" charset="0"/>
                          </a:endParaRPr>
                        </a:p>
                      </a:txBody>
                      <a:tcPr marL="17780" marR="17780" marT="0" marB="0"/>
                    </a:tc>
                    <a:tc>
                      <a:txBody>
                        <a:bodyPr/>
                        <a:lstStyle/>
                        <a:p>
                          <a:pPr algn="just">
                            <a:lnSpc>
                              <a:spcPct val="150000"/>
                            </a:lnSpc>
                          </a:pPr>
                          <a:r>
                            <a:rPr lang="en-US" sz="1400">
                              <a:effectLst/>
                            </a:rPr>
                            <a:t>Fuel model layers</a:t>
                          </a:r>
                          <a:endParaRPr lang="tr-TR" sz="1400">
                            <a:effectLst/>
                            <a:latin typeface="Times New Roman" panose="02020603050405020304" pitchFamily="18" charset="0"/>
                            <a:ea typeface="Calibri" panose="020F0502020204030204" pitchFamily="34" charset="0"/>
                            <a:cs typeface="Arial" panose="020B0604020202020204" pitchFamily="34" charset="0"/>
                          </a:endParaRPr>
                        </a:p>
                      </a:txBody>
                      <a:tcPr marL="17780" marR="17780" marT="0" marB="0"/>
                    </a:tc>
                    <a:tc>
                      <a:txBody>
                        <a:bodyPr/>
                        <a:lstStyle/>
                        <a:p>
                          <a:pPr algn="just">
                            <a:lnSpc>
                              <a:spcPct val="150000"/>
                            </a:lnSpc>
                          </a:pPr>
                          <a:r>
                            <a:rPr lang="en-US" sz="1400">
                              <a:effectLst/>
                            </a:rPr>
                            <a:t>Standard fuel models parameterize combustible load and drive every surface-fire prediction</a:t>
                          </a:r>
                          <a:endParaRPr lang="tr-TR" sz="1400">
                            <a:effectLst/>
                            <a:latin typeface="Times New Roman" panose="02020603050405020304" pitchFamily="18" charset="0"/>
                            <a:ea typeface="Calibri" panose="020F0502020204030204" pitchFamily="34" charset="0"/>
                            <a:cs typeface="Arial" panose="020B0604020202020204" pitchFamily="34" charset="0"/>
                          </a:endParaRPr>
                        </a:p>
                      </a:txBody>
                      <a:tcPr marL="17780" marR="17780" marT="0" marB="0"/>
                    </a:tc>
                    <a:extLst>
                      <a:ext uri="{0D108BD9-81ED-4DB2-BD59-A6C34878D82A}">
                        <a16:rowId xmlns:a16="http://schemas.microsoft.com/office/drawing/2014/main" val="3290824786"/>
                      </a:ext>
                    </a:extLst>
                  </a:tr>
                  <a:tr h="279457">
                    <a:tc>
                      <a:txBody>
                        <a:bodyPr/>
                        <a:lstStyle/>
                        <a:p>
                          <a:pPr algn="just">
                            <a:lnSpc>
                              <a:spcPct val="150000"/>
                            </a:lnSpc>
                          </a:pPr>
                          <a:r>
                            <a:rPr lang="en-US" sz="1400">
                              <a:effectLst/>
                            </a:rPr>
                            <a:t>Asset exposure </a:t>
                          </a:r>
                          <a14:m>
                            <m:oMath xmlns:m="http://schemas.openxmlformats.org/officeDocument/2006/math">
                              <m:sSub>
                                <m:sSubPr>
                                  <m:ctrlPr>
                                    <a:rPr lang="en-US" sz="1400">
                                      <a:effectLst/>
                                      <a:latin typeface="Cambria Math" panose="02040503050406030204" pitchFamily="18" charset="0"/>
                                    </a:rPr>
                                  </m:ctrlPr>
                                </m:sSubPr>
                                <m:e>
                                  <m:r>
                                    <a:rPr lang="en-US" sz="1400">
                                      <a:effectLst/>
                                      <a:latin typeface="Cambria Math" panose="02040503050406030204" pitchFamily="18" charset="0"/>
                                    </a:rPr>
                                    <m:t>𝒛</m:t>
                                  </m:r>
                                </m:e>
                                <m:sub>
                                  <m:r>
                                    <a:rPr lang="en-US" sz="1400">
                                      <a:effectLst/>
                                      <a:latin typeface="Cambria Math" panose="02040503050406030204" pitchFamily="18" charset="0"/>
                                    </a:rPr>
                                    <m:t>𝟔</m:t>
                                  </m:r>
                                </m:sub>
                              </m:sSub>
                            </m:oMath>
                          </a14:m>
                          <a:endParaRPr lang="tr-TR" sz="1400">
                            <a:effectLst/>
                            <a:latin typeface="Times New Roman" panose="02020603050405020304" pitchFamily="18" charset="0"/>
                            <a:ea typeface="Calibri" panose="020F0502020204030204" pitchFamily="34" charset="0"/>
                            <a:cs typeface="Arial" panose="020B0604020202020204" pitchFamily="34" charset="0"/>
                          </a:endParaRPr>
                        </a:p>
                      </a:txBody>
                      <a:tcPr marL="17780" marR="17780" marT="0" marB="0"/>
                    </a:tc>
                    <a:tc>
                      <a:txBody>
                        <a:bodyPr/>
                        <a:lstStyle/>
                        <a:p>
                          <a:pPr algn="just">
                            <a:lnSpc>
                              <a:spcPct val="150000"/>
                            </a:lnSpc>
                          </a:pPr>
                          <a:r>
                            <a:rPr lang="en-US" sz="1400">
                              <a:effectLst/>
                            </a:rPr>
                            <a:t>GIS asset and urban interface layers</a:t>
                          </a:r>
                          <a:endParaRPr lang="tr-TR" sz="1400">
                            <a:effectLst/>
                            <a:latin typeface="Times New Roman" panose="02020603050405020304" pitchFamily="18" charset="0"/>
                            <a:ea typeface="Calibri" panose="020F0502020204030204" pitchFamily="34" charset="0"/>
                            <a:cs typeface="Arial" panose="020B0604020202020204" pitchFamily="34" charset="0"/>
                          </a:endParaRPr>
                        </a:p>
                      </a:txBody>
                      <a:tcPr marL="17780" marR="17780" marT="0" marB="0"/>
                    </a:tc>
                    <a:tc>
                      <a:txBody>
                        <a:bodyPr/>
                        <a:lstStyle/>
                        <a:p>
                          <a:pPr algn="just">
                            <a:lnSpc>
                              <a:spcPct val="150000"/>
                            </a:lnSpc>
                          </a:pPr>
                          <a:r>
                            <a:rPr lang="en-US" sz="1400">
                              <a:effectLst/>
                            </a:rPr>
                            <a:t>Values-at-risk mapping quantifies what a fire threatens and supports risk-based response</a:t>
                          </a:r>
                          <a:endParaRPr lang="tr-TR" sz="1400">
                            <a:effectLst/>
                            <a:latin typeface="Times New Roman" panose="02020603050405020304" pitchFamily="18" charset="0"/>
                            <a:ea typeface="Calibri" panose="020F0502020204030204" pitchFamily="34" charset="0"/>
                            <a:cs typeface="Arial" panose="020B0604020202020204" pitchFamily="34" charset="0"/>
                          </a:endParaRPr>
                        </a:p>
                      </a:txBody>
                      <a:tcPr marL="17780" marR="17780" marT="0" marB="0"/>
                    </a:tc>
                    <a:extLst>
                      <a:ext uri="{0D108BD9-81ED-4DB2-BD59-A6C34878D82A}">
                        <a16:rowId xmlns:a16="http://schemas.microsoft.com/office/drawing/2014/main" val="2054649194"/>
                      </a:ext>
                    </a:extLst>
                  </a:tr>
                  <a:tr h="588406">
                    <a:tc>
                      <a:txBody>
                        <a:bodyPr/>
                        <a:lstStyle/>
                        <a:p>
                          <a:pPr algn="just">
                            <a:lnSpc>
                              <a:spcPct val="150000"/>
                            </a:lnSpc>
                          </a:pPr>
                          <a:r>
                            <a:rPr lang="en-US" sz="1400">
                              <a:effectLst/>
                            </a:rPr>
                            <a:t>Resource accessibility </a:t>
                          </a:r>
                          <a14:m>
                            <m:oMath xmlns:m="http://schemas.openxmlformats.org/officeDocument/2006/math">
                              <m:sSub>
                                <m:sSubPr>
                                  <m:ctrlPr>
                                    <a:rPr lang="en-US" sz="1400">
                                      <a:effectLst/>
                                      <a:latin typeface="Cambria Math" panose="02040503050406030204" pitchFamily="18" charset="0"/>
                                    </a:rPr>
                                  </m:ctrlPr>
                                </m:sSubPr>
                                <m:e>
                                  <m:r>
                                    <a:rPr lang="en-US" sz="1400">
                                      <a:effectLst/>
                                      <a:latin typeface="Cambria Math" panose="02040503050406030204" pitchFamily="18" charset="0"/>
                                    </a:rPr>
                                    <m:t>𝒛</m:t>
                                  </m:r>
                                </m:e>
                                <m:sub>
                                  <m:r>
                                    <a:rPr lang="en-US" sz="1400">
                                      <a:effectLst/>
                                      <a:latin typeface="Cambria Math" panose="02040503050406030204" pitchFamily="18" charset="0"/>
                                    </a:rPr>
                                    <m:t>𝟕</m:t>
                                  </m:r>
                                </m:sub>
                              </m:sSub>
                            </m:oMath>
                          </a14:m>
                          <a:endParaRPr lang="tr-TR" sz="1400">
                            <a:effectLst/>
                            <a:latin typeface="Times New Roman" panose="02020603050405020304" pitchFamily="18" charset="0"/>
                            <a:ea typeface="Calibri" panose="020F0502020204030204" pitchFamily="34" charset="0"/>
                            <a:cs typeface="Arial" panose="020B0604020202020204" pitchFamily="34" charset="0"/>
                          </a:endParaRPr>
                        </a:p>
                      </a:txBody>
                      <a:tcPr marL="17780" marR="17780" marT="0" marB="0"/>
                    </a:tc>
                    <a:tc>
                      <a:txBody>
                        <a:bodyPr/>
                        <a:lstStyle/>
                        <a:p>
                          <a:pPr algn="just">
                            <a:lnSpc>
                              <a:spcPct val="150000"/>
                            </a:lnSpc>
                          </a:pPr>
                          <a:r>
                            <a:rPr lang="en-US" sz="1400">
                              <a:effectLst/>
                            </a:rPr>
                            <a:t>Terrain, fuel, and access layers</a:t>
                          </a:r>
                          <a:endParaRPr lang="tr-TR" sz="1400">
                            <a:effectLst/>
                            <a:latin typeface="Times New Roman" panose="02020603050405020304" pitchFamily="18" charset="0"/>
                            <a:ea typeface="Calibri" panose="020F0502020204030204" pitchFamily="34" charset="0"/>
                            <a:cs typeface="Arial" panose="020B0604020202020204" pitchFamily="34" charset="0"/>
                          </a:endParaRPr>
                        </a:p>
                      </a:txBody>
                      <a:tcPr marL="17780" marR="17780" marT="0" marB="0"/>
                    </a:tc>
                    <a:tc>
                      <a:txBody>
                        <a:bodyPr/>
                        <a:lstStyle/>
                        <a:p>
                          <a:pPr algn="just">
                            <a:lnSpc>
                              <a:spcPct val="150000"/>
                            </a:lnSpc>
                          </a:pPr>
                          <a:r>
                            <a:rPr lang="en-US" sz="1400">
                              <a:effectLst/>
                            </a:rPr>
                            <a:t>Suppression difficulty combines the terrain, fuel, and access conditions of a site</a:t>
                          </a:r>
                          <a:endParaRPr lang="tr-TR" sz="1400">
                            <a:effectLst/>
                            <a:latin typeface="Times New Roman" panose="02020603050405020304" pitchFamily="18" charset="0"/>
                            <a:ea typeface="Calibri" panose="020F0502020204030204" pitchFamily="34" charset="0"/>
                            <a:cs typeface="Arial" panose="020B0604020202020204" pitchFamily="34" charset="0"/>
                          </a:endParaRPr>
                        </a:p>
                      </a:txBody>
                      <a:tcPr marL="17780" marR="17780" marT="0" marB="0"/>
                    </a:tc>
                    <a:extLst>
                      <a:ext uri="{0D108BD9-81ED-4DB2-BD59-A6C34878D82A}">
                        <a16:rowId xmlns:a16="http://schemas.microsoft.com/office/drawing/2014/main" val="1316389966"/>
                      </a:ext>
                    </a:extLst>
                  </a:tr>
                  <a:tr h="588406">
                    <a:tc>
                      <a:txBody>
                        <a:bodyPr/>
                        <a:lstStyle/>
                        <a:p>
                          <a:pPr algn="just">
                            <a:lnSpc>
                              <a:spcPct val="150000"/>
                            </a:lnSpc>
                          </a:pPr>
                          <a:r>
                            <a:rPr lang="en-US" sz="1400">
                              <a:effectLst/>
                            </a:rPr>
                            <a:t>Access and road status </a:t>
                          </a:r>
                          <a14:m>
                            <m:oMath xmlns:m="http://schemas.openxmlformats.org/officeDocument/2006/math">
                              <m:sSub>
                                <m:sSubPr>
                                  <m:ctrlPr>
                                    <a:rPr lang="en-US" sz="1400">
                                      <a:effectLst/>
                                      <a:latin typeface="Cambria Math" panose="02040503050406030204" pitchFamily="18" charset="0"/>
                                    </a:rPr>
                                  </m:ctrlPr>
                                </m:sSubPr>
                                <m:e>
                                  <m:r>
                                    <a:rPr lang="en-US" sz="1400">
                                      <a:effectLst/>
                                      <a:latin typeface="Cambria Math" panose="02040503050406030204" pitchFamily="18" charset="0"/>
                                    </a:rPr>
                                    <m:t>𝒛</m:t>
                                  </m:r>
                                </m:e>
                                <m:sub>
                                  <m:r>
                                    <a:rPr lang="en-US" sz="1400">
                                      <a:effectLst/>
                                      <a:latin typeface="Cambria Math" panose="02040503050406030204" pitchFamily="18" charset="0"/>
                                    </a:rPr>
                                    <m:t>𝟖</m:t>
                                  </m:r>
                                </m:sub>
                              </m:sSub>
                            </m:oMath>
                          </a14:m>
                          <a:endParaRPr lang="tr-TR" sz="1400">
                            <a:effectLst/>
                            <a:latin typeface="Times New Roman" panose="02020603050405020304" pitchFamily="18" charset="0"/>
                            <a:ea typeface="Calibri" panose="020F0502020204030204" pitchFamily="34" charset="0"/>
                            <a:cs typeface="Arial" panose="020B0604020202020204" pitchFamily="34" charset="0"/>
                          </a:endParaRPr>
                        </a:p>
                      </a:txBody>
                      <a:tcPr marL="17780" marR="17780" marT="0" marB="0"/>
                    </a:tc>
                    <a:tc>
                      <a:txBody>
                        <a:bodyPr/>
                        <a:lstStyle/>
                        <a:p>
                          <a:pPr algn="just">
                            <a:lnSpc>
                              <a:spcPct val="150000"/>
                            </a:lnSpc>
                          </a:pPr>
                          <a:r>
                            <a:rPr lang="en-US" sz="1400">
                              <a:effectLst/>
                            </a:rPr>
                            <a:t>GIS road status and field reports</a:t>
                          </a:r>
                          <a:endParaRPr lang="tr-TR" sz="1400">
                            <a:effectLst/>
                            <a:latin typeface="Times New Roman" panose="02020603050405020304" pitchFamily="18" charset="0"/>
                            <a:ea typeface="Calibri" panose="020F0502020204030204" pitchFamily="34" charset="0"/>
                            <a:cs typeface="Arial" panose="020B0604020202020204" pitchFamily="34" charset="0"/>
                          </a:endParaRPr>
                        </a:p>
                      </a:txBody>
                      <a:tcPr marL="17780" marR="17780" marT="0" marB="0"/>
                    </a:tc>
                    <a:tc>
                      <a:txBody>
                        <a:bodyPr/>
                        <a:lstStyle/>
                        <a:p>
                          <a:pPr algn="just">
                            <a:lnSpc>
                              <a:spcPct val="150000"/>
                            </a:lnSpc>
                          </a:pPr>
                          <a:r>
                            <a:rPr lang="en-US" sz="1400">
                              <a:effectLst/>
                            </a:rPr>
                            <a:t>Access governs both suppression logistics and evacuation egress</a:t>
                          </a:r>
                          <a:endParaRPr lang="tr-TR" sz="1400">
                            <a:effectLst/>
                            <a:latin typeface="Times New Roman" panose="02020603050405020304" pitchFamily="18" charset="0"/>
                            <a:ea typeface="Calibri" panose="020F0502020204030204" pitchFamily="34" charset="0"/>
                            <a:cs typeface="Arial" panose="020B0604020202020204" pitchFamily="34" charset="0"/>
                          </a:endParaRPr>
                        </a:p>
                      </a:txBody>
                      <a:tcPr marL="17780" marR="17780" marT="0" marB="0"/>
                    </a:tc>
                    <a:extLst>
                      <a:ext uri="{0D108BD9-81ED-4DB2-BD59-A6C34878D82A}">
                        <a16:rowId xmlns:a16="http://schemas.microsoft.com/office/drawing/2014/main" val="2809221389"/>
                      </a:ext>
                    </a:extLst>
                  </a:tr>
                  <a:tr h="592380">
                    <a:tc>
                      <a:txBody>
                        <a:bodyPr/>
                        <a:lstStyle/>
                        <a:p>
                          <a:pPr algn="just">
                            <a:lnSpc>
                              <a:spcPct val="150000"/>
                            </a:lnSpc>
                          </a:pPr>
                          <a:r>
                            <a:rPr lang="en-US" sz="1400">
                              <a:effectLst/>
                            </a:rPr>
                            <a:t>Suppression availability </a:t>
                          </a:r>
                          <a14:m>
                            <m:oMath xmlns:m="http://schemas.openxmlformats.org/officeDocument/2006/math">
                              <m:sSub>
                                <m:sSubPr>
                                  <m:ctrlPr>
                                    <a:rPr lang="en-US" sz="1400">
                                      <a:effectLst/>
                                      <a:latin typeface="Cambria Math" panose="02040503050406030204" pitchFamily="18" charset="0"/>
                                    </a:rPr>
                                  </m:ctrlPr>
                                </m:sSubPr>
                                <m:e>
                                  <m:r>
                                    <a:rPr lang="en-US" sz="1400">
                                      <a:effectLst/>
                                      <a:latin typeface="Cambria Math" panose="02040503050406030204" pitchFamily="18" charset="0"/>
                                    </a:rPr>
                                    <m:t>𝒛</m:t>
                                  </m:r>
                                </m:e>
                                <m:sub>
                                  <m:r>
                                    <a:rPr lang="en-US" sz="1400">
                                      <a:effectLst/>
                                      <a:latin typeface="Cambria Math" panose="02040503050406030204" pitchFamily="18" charset="0"/>
                                    </a:rPr>
                                    <m:t>𝟗</m:t>
                                  </m:r>
                                </m:sub>
                              </m:sSub>
                            </m:oMath>
                          </a14:m>
                          <a:endParaRPr lang="tr-TR" sz="1400">
                            <a:effectLst/>
                            <a:latin typeface="Times New Roman" panose="02020603050405020304" pitchFamily="18" charset="0"/>
                            <a:ea typeface="Calibri" panose="020F0502020204030204" pitchFamily="34" charset="0"/>
                            <a:cs typeface="Arial" panose="020B0604020202020204" pitchFamily="34" charset="0"/>
                          </a:endParaRPr>
                        </a:p>
                      </a:txBody>
                      <a:tcPr marL="17780" marR="17780" marT="0" marB="0"/>
                    </a:tc>
                    <a:tc>
                      <a:txBody>
                        <a:bodyPr/>
                        <a:lstStyle/>
                        <a:p>
                          <a:pPr algn="just">
                            <a:lnSpc>
                              <a:spcPct val="150000"/>
                            </a:lnSpc>
                          </a:pPr>
                          <a:r>
                            <a:rPr lang="en-US" sz="1400">
                              <a:effectLst/>
                            </a:rPr>
                            <a:t>Resource tracking</a:t>
                          </a:r>
                          <a:endParaRPr lang="tr-TR" sz="1400">
                            <a:effectLst/>
                            <a:latin typeface="Times New Roman" panose="02020603050405020304" pitchFamily="18" charset="0"/>
                            <a:ea typeface="Calibri" panose="020F0502020204030204" pitchFamily="34" charset="0"/>
                            <a:cs typeface="Arial" panose="020B0604020202020204" pitchFamily="34" charset="0"/>
                          </a:endParaRPr>
                        </a:p>
                      </a:txBody>
                      <a:tcPr marL="17780" marR="17780" marT="0" marB="0"/>
                    </a:tc>
                    <a:tc>
                      <a:txBody>
                        <a:bodyPr/>
                        <a:lstStyle/>
                        <a:p>
                          <a:pPr algn="just">
                            <a:lnSpc>
                              <a:spcPct val="150000"/>
                            </a:lnSpc>
                          </a:pPr>
                          <a:r>
                            <a:rPr lang="en-US" sz="1400">
                              <a:effectLst/>
                            </a:rPr>
                            <a:t>Fireline production rates and available capacity determine whether suppression can be mounted</a:t>
                          </a:r>
                          <a:endParaRPr lang="tr-TR" sz="1400">
                            <a:effectLst/>
                            <a:latin typeface="Times New Roman" panose="02020603050405020304" pitchFamily="18" charset="0"/>
                            <a:ea typeface="Calibri" panose="020F0502020204030204" pitchFamily="34" charset="0"/>
                            <a:cs typeface="Arial" panose="020B0604020202020204" pitchFamily="34" charset="0"/>
                          </a:endParaRPr>
                        </a:p>
                      </a:txBody>
                      <a:tcPr marL="17780" marR="17780" marT="0" marB="0"/>
                    </a:tc>
                    <a:extLst>
                      <a:ext uri="{0D108BD9-81ED-4DB2-BD59-A6C34878D82A}">
                        <a16:rowId xmlns:a16="http://schemas.microsoft.com/office/drawing/2014/main" val="1973674359"/>
                      </a:ext>
                    </a:extLst>
                  </a:tr>
                  <a:tr h="592380">
                    <a:tc>
                      <a:txBody>
                        <a:bodyPr/>
                        <a:lstStyle/>
                        <a:p>
                          <a:pPr algn="just">
                            <a:lnSpc>
                              <a:spcPct val="150000"/>
                            </a:lnSpc>
                          </a:pPr>
                          <a:r>
                            <a:rPr lang="en-US" sz="1400">
                              <a:effectLst/>
                            </a:rPr>
                            <a:t>Temporal urgency </a:t>
                          </a:r>
                          <a14:m>
                            <m:oMath xmlns:m="http://schemas.openxmlformats.org/officeDocument/2006/math">
                              <m:sSub>
                                <m:sSubPr>
                                  <m:ctrlPr>
                                    <a:rPr lang="en-US" sz="1400">
                                      <a:effectLst/>
                                      <a:latin typeface="Cambria Math" panose="02040503050406030204" pitchFamily="18" charset="0"/>
                                    </a:rPr>
                                  </m:ctrlPr>
                                </m:sSubPr>
                                <m:e>
                                  <m:r>
                                    <a:rPr lang="en-US" sz="1400">
                                      <a:effectLst/>
                                      <a:latin typeface="Cambria Math" panose="02040503050406030204" pitchFamily="18" charset="0"/>
                                    </a:rPr>
                                    <m:t>𝒛</m:t>
                                  </m:r>
                                </m:e>
                                <m:sub>
                                  <m:r>
                                    <a:rPr lang="en-US" sz="1400">
                                      <a:effectLst/>
                                      <a:latin typeface="Cambria Math" panose="02040503050406030204" pitchFamily="18" charset="0"/>
                                    </a:rPr>
                                    <m:t>𝟏𝟎</m:t>
                                  </m:r>
                                </m:sub>
                              </m:sSub>
                            </m:oMath>
                          </a14:m>
                          <a:endParaRPr lang="tr-TR" sz="1400">
                            <a:effectLst/>
                            <a:latin typeface="Times New Roman" panose="02020603050405020304" pitchFamily="18" charset="0"/>
                            <a:ea typeface="Calibri" panose="020F0502020204030204" pitchFamily="34" charset="0"/>
                            <a:cs typeface="Arial" panose="020B0604020202020204" pitchFamily="34" charset="0"/>
                          </a:endParaRPr>
                        </a:p>
                      </a:txBody>
                      <a:tcPr marL="17780" marR="17780" marT="0" marB="0"/>
                    </a:tc>
                    <a:tc>
                      <a:txBody>
                        <a:bodyPr/>
                        <a:lstStyle/>
                        <a:p>
                          <a:pPr algn="just">
                            <a:lnSpc>
                              <a:spcPct val="150000"/>
                            </a:lnSpc>
                          </a:pPr>
                          <a:r>
                            <a:rPr lang="en-US" sz="1400">
                              <a:effectLst/>
                            </a:rPr>
                            <a:t>Ignition timing and incident clock</a:t>
                          </a:r>
                          <a:endParaRPr lang="tr-TR" sz="1400">
                            <a:effectLst/>
                            <a:latin typeface="Times New Roman" panose="02020603050405020304" pitchFamily="18" charset="0"/>
                            <a:ea typeface="Calibri" panose="020F0502020204030204" pitchFamily="34" charset="0"/>
                            <a:cs typeface="Arial" panose="020B0604020202020204" pitchFamily="34" charset="0"/>
                          </a:endParaRPr>
                        </a:p>
                      </a:txBody>
                      <a:tcPr marL="17780" marR="17780" marT="0" marB="0"/>
                    </a:tc>
                    <a:tc>
                      <a:txBody>
                        <a:bodyPr/>
                        <a:lstStyle/>
                        <a:p>
                          <a:pPr algn="just">
                            <a:lnSpc>
                              <a:spcPct val="150000"/>
                            </a:lnSpc>
                          </a:pPr>
                          <a:r>
                            <a:rPr lang="en-US" sz="1400" dirty="0">
                              <a:effectLst/>
                            </a:rPr>
                            <a:t>Incident command is time-critical; recognition-primed decision research formalizes acting under urgency</a:t>
                          </a:r>
                          <a:endParaRPr lang="tr-TR" sz="1400" dirty="0">
                            <a:effectLst/>
                            <a:latin typeface="Times New Roman" panose="02020603050405020304" pitchFamily="18" charset="0"/>
                            <a:ea typeface="Calibri" panose="020F0502020204030204" pitchFamily="34" charset="0"/>
                            <a:cs typeface="Arial" panose="020B0604020202020204" pitchFamily="34" charset="0"/>
                          </a:endParaRPr>
                        </a:p>
                      </a:txBody>
                      <a:tcPr marL="17780" marR="17780" marT="0" marB="0"/>
                    </a:tc>
                    <a:extLst>
                      <a:ext uri="{0D108BD9-81ED-4DB2-BD59-A6C34878D82A}">
                        <a16:rowId xmlns:a16="http://schemas.microsoft.com/office/drawing/2014/main" val="3539770244"/>
                      </a:ext>
                    </a:extLst>
                  </a:tr>
                </a:tbl>
              </a:graphicData>
            </a:graphic>
          </p:graphicFrame>
        </mc:Choice>
        <mc:Fallback xmlns="">
          <p:graphicFrame>
            <p:nvGraphicFramePr>
              <p:cNvPr id="4" name="Table 3">
                <a:extLst>
                  <a:ext uri="{FF2B5EF4-FFF2-40B4-BE49-F238E27FC236}">
                    <a16:creationId xmlns:a16="http://schemas.microsoft.com/office/drawing/2014/main" id="{90C1E034-5F60-4C40-870E-41070058BAE4}"/>
                  </a:ext>
                </a:extLst>
              </p:cNvPr>
              <p:cNvGraphicFramePr>
                <a:graphicFrameLocks noGrp="1"/>
              </p:cNvGraphicFramePr>
              <p:nvPr>
                <p:extLst>
                  <p:ext uri="{D42A27DB-BD31-4B8C-83A1-F6EECF244321}">
                    <p14:modId xmlns:p14="http://schemas.microsoft.com/office/powerpoint/2010/main" val="2643848517"/>
                  </p:ext>
                </p:extLst>
              </p:nvPr>
            </p:nvGraphicFramePr>
            <p:xfrm>
              <a:off x="138897" y="1075179"/>
              <a:ext cx="11880385" cy="5700210"/>
            </p:xfrm>
            <a:graphic>
              <a:graphicData uri="http://schemas.openxmlformats.org/drawingml/2006/table">
                <a:tbl>
                  <a:tblPr firstRow="1" firstCol="1" bandRow="1">
                    <a:tableStyleId>{93296810-A885-4BE3-A3E7-6D5BEEA58F35}</a:tableStyleId>
                  </a:tblPr>
                  <a:tblGrid>
                    <a:gridCol w="1692955">
                      <a:extLst>
                        <a:ext uri="{9D8B030D-6E8A-4147-A177-3AD203B41FA5}">
                          <a16:colId xmlns:a16="http://schemas.microsoft.com/office/drawing/2014/main" val="3627290206"/>
                        </a:ext>
                      </a:extLst>
                    </a:gridCol>
                    <a:gridCol w="2732489">
                      <a:extLst>
                        <a:ext uri="{9D8B030D-6E8A-4147-A177-3AD203B41FA5}">
                          <a16:colId xmlns:a16="http://schemas.microsoft.com/office/drawing/2014/main" val="760967356"/>
                        </a:ext>
                      </a:extLst>
                    </a:gridCol>
                    <a:gridCol w="7454941">
                      <a:extLst>
                        <a:ext uri="{9D8B030D-6E8A-4147-A177-3AD203B41FA5}">
                          <a16:colId xmlns:a16="http://schemas.microsoft.com/office/drawing/2014/main" val="1803707285"/>
                        </a:ext>
                      </a:extLst>
                    </a:gridCol>
                  </a:tblGrid>
                  <a:tr h="285814">
                    <a:tc>
                      <a:txBody>
                        <a:bodyPr/>
                        <a:lstStyle/>
                        <a:p>
                          <a:pPr algn="just">
                            <a:lnSpc>
                              <a:spcPct val="150000"/>
                            </a:lnSpc>
                          </a:pPr>
                          <a:r>
                            <a:rPr lang="en-US" sz="1400">
                              <a:effectLst/>
                            </a:rPr>
                            <a:t>Feature</a:t>
                          </a:r>
                          <a:endParaRPr lang="tr-TR" sz="1400">
                            <a:effectLst/>
                            <a:latin typeface="Times New Roman" panose="02020603050405020304" pitchFamily="18" charset="0"/>
                            <a:ea typeface="Calibri" panose="020F0502020204030204" pitchFamily="34" charset="0"/>
                            <a:cs typeface="Arial" panose="020B0604020202020204" pitchFamily="34" charset="0"/>
                          </a:endParaRPr>
                        </a:p>
                      </a:txBody>
                      <a:tcPr marL="17780" marR="17780" marT="0" marB="0"/>
                    </a:tc>
                    <a:tc>
                      <a:txBody>
                        <a:bodyPr/>
                        <a:lstStyle/>
                        <a:p>
                          <a:pPr algn="just">
                            <a:lnSpc>
                              <a:spcPct val="150000"/>
                            </a:lnSpc>
                          </a:pPr>
                          <a:r>
                            <a:rPr lang="en-US" sz="1400">
                              <a:effectLst/>
                            </a:rPr>
                            <a:t>Primary source</a:t>
                          </a:r>
                          <a:endParaRPr lang="tr-TR" sz="1400">
                            <a:effectLst/>
                            <a:latin typeface="Times New Roman" panose="02020603050405020304" pitchFamily="18" charset="0"/>
                            <a:ea typeface="Calibri" panose="020F0502020204030204" pitchFamily="34" charset="0"/>
                            <a:cs typeface="Arial" panose="020B0604020202020204" pitchFamily="34" charset="0"/>
                          </a:endParaRPr>
                        </a:p>
                      </a:txBody>
                      <a:tcPr marL="17780" marR="17780" marT="0" marB="0"/>
                    </a:tc>
                    <a:tc>
                      <a:txBody>
                        <a:bodyPr/>
                        <a:lstStyle/>
                        <a:p>
                          <a:pPr algn="just">
                            <a:lnSpc>
                              <a:spcPct val="150000"/>
                            </a:lnSpc>
                          </a:pPr>
                          <a:r>
                            <a:rPr lang="en-US" sz="1400">
                              <a:effectLst/>
                            </a:rPr>
                            <a:t>Rationale</a:t>
                          </a:r>
                          <a:endParaRPr lang="tr-TR" sz="1400">
                            <a:effectLst/>
                            <a:latin typeface="Times New Roman" panose="02020603050405020304" pitchFamily="18" charset="0"/>
                            <a:ea typeface="Calibri" panose="020F0502020204030204" pitchFamily="34" charset="0"/>
                            <a:cs typeface="Arial" panose="020B0604020202020204" pitchFamily="34" charset="0"/>
                          </a:endParaRPr>
                        </a:p>
                      </a:txBody>
                      <a:tcPr marL="17780" marR="17780" marT="0" marB="0"/>
                    </a:tc>
                    <a:extLst>
                      <a:ext uri="{0D108BD9-81ED-4DB2-BD59-A6C34878D82A}">
                        <a16:rowId xmlns:a16="http://schemas.microsoft.com/office/drawing/2014/main" val="2318556470"/>
                      </a:ext>
                    </a:extLst>
                  </a:tr>
                  <a:tr h="605854">
                    <a:tc>
                      <a:txBody>
                        <a:bodyPr/>
                        <a:lstStyle/>
                        <a:p>
                          <a:endParaRPr lang="tr-TR"/>
                        </a:p>
                      </a:txBody>
                      <a:tcPr marL="17780" marR="17780" marT="0" marB="0">
                        <a:blipFill>
                          <a:blip r:embed="rId5"/>
                          <a:stretch>
                            <a:fillRect l="-360" t="-48485" r="-602878" b="-816162"/>
                          </a:stretch>
                        </a:blipFill>
                      </a:tcPr>
                    </a:tc>
                    <a:tc>
                      <a:txBody>
                        <a:bodyPr/>
                        <a:lstStyle/>
                        <a:p>
                          <a:pPr algn="just">
                            <a:lnSpc>
                              <a:spcPct val="150000"/>
                            </a:lnSpc>
                          </a:pPr>
                          <a:r>
                            <a:rPr lang="en-US" sz="1400">
                              <a:effectLst/>
                            </a:rPr>
                            <a:t>Fire state estimation from imagery and in-situ sensing</a:t>
                          </a:r>
                          <a:endParaRPr lang="tr-TR" sz="1400">
                            <a:effectLst/>
                            <a:latin typeface="Times New Roman" panose="02020603050405020304" pitchFamily="18" charset="0"/>
                            <a:ea typeface="Calibri" panose="020F0502020204030204" pitchFamily="34" charset="0"/>
                            <a:cs typeface="Arial" panose="020B0604020202020204" pitchFamily="34" charset="0"/>
                          </a:endParaRPr>
                        </a:p>
                      </a:txBody>
                      <a:tcPr marL="17780" marR="17780" marT="0" marB="0"/>
                    </a:tc>
                    <a:tc>
                      <a:txBody>
                        <a:bodyPr/>
                        <a:lstStyle/>
                        <a:p>
                          <a:pPr algn="just">
                            <a:lnSpc>
                              <a:spcPct val="150000"/>
                            </a:lnSpc>
                          </a:pPr>
                          <a:r>
                            <a:rPr lang="en-US" sz="1400">
                              <a:effectLst/>
                            </a:rPr>
                            <a:t>Fireline intensity in the tradition of Byram and the Rothermel model is the standard descriptor of how intensely a front is burning</a:t>
                          </a:r>
                          <a:endParaRPr lang="tr-TR" sz="1400">
                            <a:effectLst/>
                            <a:latin typeface="Times New Roman" panose="02020603050405020304" pitchFamily="18" charset="0"/>
                            <a:ea typeface="Calibri" panose="020F0502020204030204" pitchFamily="34" charset="0"/>
                            <a:cs typeface="Arial" panose="020B0604020202020204" pitchFamily="34" charset="0"/>
                          </a:endParaRPr>
                        </a:p>
                      </a:txBody>
                      <a:tcPr marL="17780" marR="17780" marT="0" marB="0"/>
                    </a:tc>
                    <a:extLst>
                      <a:ext uri="{0D108BD9-81ED-4DB2-BD59-A6C34878D82A}">
                        <a16:rowId xmlns:a16="http://schemas.microsoft.com/office/drawing/2014/main" val="245247736"/>
                      </a:ext>
                    </a:extLst>
                  </a:tr>
                  <a:tr h="605854">
                    <a:tc>
                      <a:txBody>
                        <a:bodyPr/>
                        <a:lstStyle/>
                        <a:p>
                          <a:endParaRPr lang="tr-TR"/>
                        </a:p>
                      </a:txBody>
                      <a:tcPr marL="17780" marR="17780" marT="0" marB="0">
                        <a:blipFill>
                          <a:blip r:embed="rId5"/>
                          <a:stretch>
                            <a:fillRect l="-360" t="-147000" r="-602878" b="-708000"/>
                          </a:stretch>
                        </a:blipFill>
                      </a:tcPr>
                    </a:tc>
                    <a:tc>
                      <a:txBody>
                        <a:bodyPr/>
                        <a:lstStyle/>
                        <a:p>
                          <a:pPr algn="just">
                            <a:lnSpc>
                              <a:spcPct val="150000"/>
                            </a:lnSpc>
                          </a:pPr>
                          <a:r>
                            <a:rPr lang="en-US" sz="1400">
                              <a:effectLst/>
                            </a:rPr>
                            <a:t>Fire state and weather</a:t>
                          </a:r>
                          <a:endParaRPr lang="tr-TR" sz="1400">
                            <a:effectLst/>
                            <a:latin typeface="Times New Roman" panose="02020603050405020304" pitchFamily="18" charset="0"/>
                            <a:ea typeface="Calibri" panose="020F0502020204030204" pitchFamily="34" charset="0"/>
                            <a:cs typeface="Arial" panose="020B0604020202020204" pitchFamily="34" charset="0"/>
                          </a:endParaRPr>
                        </a:p>
                      </a:txBody>
                      <a:tcPr marL="17780" marR="17780" marT="0" marB="0"/>
                    </a:tc>
                    <a:tc>
                      <a:txBody>
                        <a:bodyPr/>
                        <a:lstStyle/>
                        <a:p>
                          <a:pPr algn="just">
                            <a:lnSpc>
                              <a:spcPct val="150000"/>
                            </a:lnSpc>
                          </a:pPr>
                          <a:r>
                            <a:rPr lang="en-US" sz="1400">
                              <a:effectLst/>
                            </a:rPr>
                            <a:t>Rate of spread from fuel, wind, and slope in the Rothermel tradition remains the operational basis of spread assessment</a:t>
                          </a:r>
                          <a:endParaRPr lang="tr-TR" sz="1400">
                            <a:effectLst/>
                            <a:latin typeface="Times New Roman" panose="02020603050405020304" pitchFamily="18" charset="0"/>
                            <a:ea typeface="Calibri" panose="020F0502020204030204" pitchFamily="34" charset="0"/>
                            <a:cs typeface="Arial" panose="020B0604020202020204" pitchFamily="34" charset="0"/>
                          </a:endParaRPr>
                        </a:p>
                      </a:txBody>
                      <a:tcPr marL="17780" marR="17780" marT="0" marB="0"/>
                    </a:tc>
                    <a:extLst>
                      <a:ext uri="{0D108BD9-81ED-4DB2-BD59-A6C34878D82A}">
                        <a16:rowId xmlns:a16="http://schemas.microsoft.com/office/drawing/2014/main" val="1509444383"/>
                      </a:ext>
                    </a:extLst>
                  </a:tr>
                  <a:tr h="605854">
                    <a:tc>
                      <a:txBody>
                        <a:bodyPr/>
                        <a:lstStyle/>
                        <a:p>
                          <a:endParaRPr lang="tr-TR"/>
                        </a:p>
                      </a:txBody>
                      <a:tcPr marL="17780" marR="17780" marT="0" marB="0">
                        <a:blipFill>
                          <a:blip r:embed="rId5"/>
                          <a:stretch>
                            <a:fillRect l="-360" t="-249495" r="-602878" b="-615152"/>
                          </a:stretch>
                        </a:blipFill>
                      </a:tcPr>
                    </a:tc>
                    <a:tc>
                      <a:txBody>
                        <a:bodyPr/>
                        <a:lstStyle/>
                        <a:p>
                          <a:pPr algn="just">
                            <a:lnSpc>
                              <a:spcPct val="150000"/>
                            </a:lnSpc>
                          </a:pPr>
                          <a:r>
                            <a:rPr lang="en-US" sz="1400">
                              <a:effectLst/>
                            </a:rPr>
                            <a:t>Weather stations and forecasts</a:t>
                          </a:r>
                          <a:endParaRPr lang="tr-TR" sz="1400">
                            <a:effectLst/>
                            <a:latin typeface="Times New Roman" panose="02020603050405020304" pitchFamily="18" charset="0"/>
                            <a:ea typeface="Calibri" panose="020F0502020204030204" pitchFamily="34" charset="0"/>
                            <a:cs typeface="Arial" panose="020B0604020202020204" pitchFamily="34" charset="0"/>
                          </a:endParaRPr>
                        </a:p>
                      </a:txBody>
                      <a:tcPr marL="17780" marR="17780" marT="0" marB="0"/>
                    </a:tc>
                    <a:tc>
                      <a:txBody>
                        <a:bodyPr/>
                        <a:lstStyle/>
                        <a:p>
                          <a:pPr algn="just">
                            <a:lnSpc>
                              <a:spcPct val="150000"/>
                            </a:lnSpc>
                          </a:pPr>
                          <a:r>
                            <a:rPr lang="en-US" sz="1400">
                              <a:effectLst/>
                            </a:rPr>
                            <a:t>Fire-weather index systems condense a small set of weather observations into spread and intensity potential</a:t>
                          </a:r>
                          <a:endParaRPr lang="tr-TR" sz="1400">
                            <a:effectLst/>
                            <a:latin typeface="Times New Roman" panose="02020603050405020304" pitchFamily="18" charset="0"/>
                            <a:ea typeface="Calibri" panose="020F0502020204030204" pitchFamily="34" charset="0"/>
                            <a:cs typeface="Arial" panose="020B0604020202020204" pitchFamily="34" charset="0"/>
                          </a:endParaRPr>
                        </a:p>
                      </a:txBody>
                      <a:tcPr marL="17780" marR="17780" marT="0" marB="0"/>
                    </a:tc>
                    <a:extLst>
                      <a:ext uri="{0D108BD9-81ED-4DB2-BD59-A6C34878D82A}">
                        <a16:rowId xmlns:a16="http://schemas.microsoft.com/office/drawing/2014/main" val="1347831255"/>
                      </a:ext>
                    </a:extLst>
                  </a:tr>
                  <a:tr h="605854">
                    <a:tc>
                      <a:txBody>
                        <a:bodyPr/>
                        <a:lstStyle/>
                        <a:p>
                          <a:endParaRPr lang="tr-TR"/>
                        </a:p>
                      </a:txBody>
                      <a:tcPr marL="17780" marR="17780" marT="0" marB="0">
                        <a:blipFill>
                          <a:blip r:embed="rId5"/>
                          <a:stretch>
                            <a:fillRect l="-360" t="-346000" r="-602878" b="-509000"/>
                          </a:stretch>
                        </a:blipFill>
                      </a:tcPr>
                    </a:tc>
                    <a:tc>
                      <a:txBody>
                        <a:bodyPr/>
                        <a:lstStyle/>
                        <a:p>
                          <a:pPr algn="just">
                            <a:lnSpc>
                              <a:spcPct val="150000"/>
                            </a:lnSpc>
                          </a:pPr>
                          <a:r>
                            <a:rPr lang="en-US" sz="1400">
                              <a:effectLst/>
                            </a:rPr>
                            <a:t>GIS road and infrastructure layers</a:t>
                          </a:r>
                          <a:endParaRPr lang="tr-TR" sz="1400">
                            <a:effectLst/>
                            <a:latin typeface="Times New Roman" panose="02020603050405020304" pitchFamily="18" charset="0"/>
                            <a:ea typeface="Calibri" panose="020F0502020204030204" pitchFamily="34" charset="0"/>
                            <a:cs typeface="Arial" panose="020B0604020202020204" pitchFamily="34" charset="0"/>
                          </a:endParaRPr>
                        </a:p>
                      </a:txBody>
                      <a:tcPr marL="17780" marR="17780" marT="0" marB="0"/>
                    </a:tc>
                    <a:tc>
                      <a:txBody>
                        <a:bodyPr/>
                        <a:lstStyle/>
                        <a:p>
                          <a:pPr algn="just">
                            <a:lnSpc>
                              <a:spcPct val="150000"/>
                            </a:lnSpc>
                          </a:pPr>
                          <a:r>
                            <a:rPr lang="en-US" sz="1400">
                              <a:effectLst/>
                            </a:rPr>
                            <a:t>Human-caused ignitions cluster near roads and infrastructure, so distance to them drives ignition probability</a:t>
                          </a:r>
                          <a:endParaRPr lang="tr-TR" sz="1400">
                            <a:effectLst/>
                            <a:latin typeface="Times New Roman" panose="02020603050405020304" pitchFamily="18" charset="0"/>
                            <a:ea typeface="Calibri" panose="020F0502020204030204" pitchFamily="34" charset="0"/>
                            <a:cs typeface="Arial" panose="020B0604020202020204" pitchFamily="34" charset="0"/>
                          </a:endParaRPr>
                        </a:p>
                      </a:txBody>
                      <a:tcPr marL="17780" marR="17780" marT="0" marB="0"/>
                    </a:tc>
                    <a:extLst>
                      <a:ext uri="{0D108BD9-81ED-4DB2-BD59-A6C34878D82A}">
                        <a16:rowId xmlns:a16="http://schemas.microsoft.com/office/drawing/2014/main" val="3898950483"/>
                      </a:ext>
                    </a:extLst>
                  </a:tr>
                  <a:tr h="285814">
                    <a:tc>
                      <a:txBody>
                        <a:bodyPr/>
                        <a:lstStyle/>
                        <a:p>
                          <a:endParaRPr lang="tr-TR"/>
                        </a:p>
                      </a:txBody>
                      <a:tcPr marL="17780" marR="17780" marT="0" marB="0">
                        <a:blipFill>
                          <a:blip r:embed="rId5"/>
                          <a:stretch>
                            <a:fillRect l="-360" t="-948936" r="-602878" b="-982979"/>
                          </a:stretch>
                        </a:blipFill>
                      </a:tcPr>
                    </a:tc>
                    <a:tc>
                      <a:txBody>
                        <a:bodyPr/>
                        <a:lstStyle/>
                        <a:p>
                          <a:pPr algn="just">
                            <a:lnSpc>
                              <a:spcPct val="150000"/>
                            </a:lnSpc>
                          </a:pPr>
                          <a:r>
                            <a:rPr lang="en-US" sz="1400">
                              <a:effectLst/>
                            </a:rPr>
                            <a:t>Fuel model layers</a:t>
                          </a:r>
                          <a:endParaRPr lang="tr-TR" sz="1400">
                            <a:effectLst/>
                            <a:latin typeface="Times New Roman" panose="02020603050405020304" pitchFamily="18" charset="0"/>
                            <a:ea typeface="Calibri" panose="020F0502020204030204" pitchFamily="34" charset="0"/>
                            <a:cs typeface="Arial" panose="020B0604020202020204" pitchFamily="34" charset="0"/>
                          </a:endParaRPr>
                        </a:p>
                      </a:txBody>
                      <a:tcPr marL="17780" marR="17780" marT="0" marB="0"/>
                    </a:tc>
                    <a:tc>
                      <a:txBody>
                        <a:bodyPr/>
                        <a:lstStyle/>
                        <a:p>
                          <a:pPr algn="just">
                            <a:lnSpc>
                              <a:spcPct val="150000"/>
                            </a:lnSpc>
                          </a:pPr>
                          <a:r>
                            <a:rPr lang="en-US" sz="1400">
                              <a:effectLst/>
                            </a:rPr>
                            <a:t>Standard fuel models parameterize combustible load and drive every surface-fire prediction</a:t>
                          </a:r>
                          <a:endParaRPr lang="tr-TR" sz="1400">
                            <a:effectLst/>
                            <a:latin typeface="Times New Roman" panose="02020603050405020304" pitchFamily="18" charset="0"/>
                            <a:ea typeface="Calibri" panose="020F0502020204030204" pitchFamily="34" charset="0"/>
                            <a:cs typeface="Arial" panose="020B0604020202020204" pitchFamily="34" charset="0"/>
                          </a:endParaRPr>
                        </a:p>
                      </a:txBody>
                      <a:tcPr marL="17780" marR="17780" marT="0" marB="0"/>
                    </a:tc>
                    <a:extLst>
                      <a:ext uri="{0D108BD9-81ED-4DB2-BD59-A6C34878D82A}">
                        <a16:rowId xmlns:a16="http://schemas.microsoft.com/office/drawing/2014/main" val="3290824786"/>
                      </a:ext>
                    </a:extLst>
                  </a:tr>
                  <a:tr h="285814">
                    <a:tc>
                      <a:txBody>
                        <a:bodyPr/>
                        <a:lstStyle/>
                        <a:p>
                          <a:endParaRPr lang="tr-TR"/>
                        </a:p>
                      </a:txBody>
                      <a:tcPr marL="17780" marR="17780" marT="0" marB="0">
                        <a:blipFill>
                          <a:blip r:embed="rId5"/>
                          <a:stretch>
                            <a:fillRect l="-360" t="-1048936" r="-602878" b="-882979"/>
                          </a:stretch>
                        </a:blipFill>
                      </a:tcPr>
                    </a:tc>
                    <a:tc>
                      <a:txBody>
                        <a:bodyPr/>
                        <a:lstStyle/>
                        <a:p>
                          <a:pPr algn="just">
                            <a:lnSpc>
                              <a:spcPct val="150000"/>
                            </a:lnSpc>
                          </a:pPr>
                          <a:r>
                            <a:rPr lang="en-US" sz="1400">
                              <a:effectLst/>
                            </a:rPr>
                            <a:t>GIS asset and urban interface layers</a:t>
                          </a:r>
                          <a:endParaRPr lang="tr-TR" sz="1400">
                            <a:effectLst/>
                            <a:latin typeface="Times New Roman" panose="02020603050405020304" pitchFamily="18" charset="0"/>
                            <a:ea typeface="Calibri" panose="020F0502020204030204" pitchFamily="34" charset="0"/>
                            <a:cs typeface="Arial" panose="020B0604020202020204" pitchFamily="34" charset="0"/>
                          </a:endParaRPr>
                        </a:p>
                      </a:txBody>
                      <a:tcPr marL="17780" marR="17780" marT="0" marB="0"/>
                    </a:tc>
                    <a:tc>
                      <a:txBody>
                        <a:bodyPr/>
                        <a:lstStyle/>
                        <a:p>
                          <a:pPr algn="just">
                            <a:lnSpc>
                              <a:spcPct val="150000"/>
                            </a:lnSpc>
                          </a:pPr>
                          <a:r>
                            <a:rPr lang="en-US" sz="1400">
                              <a:effectLst/>
                            </a:rPr>
                            <a:t>Values-at-risk mapping quantifies what a fire threatens and supports risk-based response</a:t>
                          </a:r>
                          <a:endParaRPr lang="tr-TR" sz="1400">
                            <a:effectLst/>
                            <a:latin typeface="Times New Roman" panose="02020603050405020304" pitchFamily="18" charset="0"/>
                            <a:ea typeface="Calibri" panose="020F0502020204030204" pitchFamily="34" charset="0"/>
                            <a:cs typeface="Arial" panose="020B0604020202020204" pitchFamily="34" charset="0"/>
                          </a:endParaRPr>
                        </a:p>
                      </a:txBody>
                      <a:tcPr marL="17780" marR="17780" marT="0" marB="0"/>
                    </a:tc>
                    <a:extLst>
                      <a:ext uri="{0D108BD9-81ED-4DB2-BD59-A6C34878D82A}">
                        <a16:rowId xmlns:a16="http://schemas.microsoft.com/office/drawing/2014/main" val="2054649194"/>
                      </a:ext>
                    </a:extLst>
                  </a:tr>
                  <a:tr h="601790">
                    <a:tc>
                      <a:txBody>
                        <a:bodyPr/>
                        <a:lstStyle/>
                        <a:p>
                          <a:endParaRPr lang="tr-TR"/>
                        </a:p>
                      </a:txBody>
                      <a:tcPr marL="17780" marR="17780" marT="0" marB="0">
                        <a:blipFill>
                          <a:blip r:embed="rId5"/>
                          <a:stretch>
                            <a:fillRect l="-360" t="-545455" r="-602878" b="-319192"/>
                          </a:stretch>
                        </a:blipFill>
                      </a:tcPr>
                    </a:tc>
                    <a:tc>
                      <a:txBody>
                        <a:bodyPr/>
                        <a:lstStyle/>
                        <a:p>
                          <a:pPr algn="just">
                            <a:lnSpc>
                              <a:spcPct val="150000"/>
                            </a:lnSpc>
                          </a:pPr>
                          <a:r>
                            <a:rPr lang="en-US" sz="1400">
                              <a:effectLst/>
                            </a:rPr>
                            <a:t>Terrain, fuel, and access layers</a:t>
                          </a:r>
                          <a:endParaRPr lang="tr-TR" sz="1400">
                            <a:effectLst/>
                            <a:latin typeface="Times New Roman" panose="02020603050405020304" pitchFamily="18" charset="0"/>
                            <a:ea typeface="Calibri" panose="020F0502020204030204" pitchFamily="34" charset="0"/>
                            <a:cs typeface="Arial" panose="020B0604020202020204" pitchFamily="34" charset="0"/>
                          </a:endParaRPr>
                        </a:p>
                      </a:txBody>
                      <a:tcPr marL="17780" marR="17780" marT="0" marB="0"/>
                    </a:tc>
                    <a:tc>
                      <a:txBody>
                        <a:bodyPr/>
                        <a:lstStyle/>
                        <a:p>
                          <a:pPr algn="just">
                            <a:lnSpc>
                              <a:spcPct val="150000"/>
                            </a:lnSpc>
                          </a:pPr>
                          <a:r>
                            <a:rPr lang="en-US" sz="1400">
                              <a:effectLst/>
                            </a:rPr>
                            <a:t>Suppression difficulty combines the terrain, fuel, and access conditions of a site</a:t>
                          </a:r>
                          <a:endParaRPr lang="tr-TR" sz="1400">
                            <a:effectLst/>
                            <a:latin typeface="Times New Roman" panose="02020603050405020304" pitchFamily="18" charset="0"/>
                            <a:ea typeface="Calibri" panose="020F0502020204030204" pitchFamily="34" charset="0"/>
                            <a:cs typeface="Arial" panose="020B0604020202020204" pitchFamily="34" charset="0"/>
                          </a:endParaRPr>
                        </a:p>
                      </a:txBody>
                      <a:tcPr marL="17780" marR="17780" marT="0" marB="0"/>
                    </a:tc>
                    <a:extLst>
                      <a:ext uri="{0D108BD9-81ED-4DB2-BD59-A6C34878D82A}">
                        <a16:rowId xmlns:a16="http://schemas.microsoft.com/office/drawing/2014/main" val="1316389966"/>
                      </a:ext>
                    </a:extLst>
                  </a:tr>
                  <a:tr h="605854">
                    <a:tc>
                      <a:txBody>
                        <a:bodyPr/>
                        <a:lstStyle/>
                        <a:p>
                          <a:endParaRPr lang="tr-TR"/>
                        </a:p>
                      </a:txBody>
                      <a:tcPr marL="17780" marR="17780" marT="0" marB="0">
                        <a:blipFill>
                          <a:blip r:embed="rId5"/>
                          <a:stretch>
                            <a:fillRect l="-360" t="-645455" r="-602878" b="-219192"/>
                          </a:stretch>
                        </a:blipFill>
                      </a:tcPr>
                    </a:tc>
                    <a:tc>
                      <a:txBody>
                        <a:bodyPr/>
                        <a:lstStyle/>
                        <a:p>
                          <a:pPr algn="just">
                            <a:lnSpc>
                              <a:spcPct val="150000"/>
                            </a:lnSpc>
                          </a:pPr>
                          <a:r>
                            <a:rPr lang="en-US" sz="1400">
                              <a:effectLst/>
                            </a:rPr>
                            <a:t>GIS road status and field reports</a:t>
                          </a:r>
                          <a:endParaRPr lang="tr-TR" sz="1400">
                            <a:effectLst/>
                            <a:latin typeface="Times New Roman" panose="02020603050405020304" pitchFamily="18" charset="0"/>
                            <a:ea typeface="Calibri" panose="020F0502020204030204" pitchFamily="34" charset="0"/>
                            <a:cs typeface="Arial" panose="020B0604020202020204" pitchFamily="34" charset="0"/>
                          </a:endParaRPr>
                        </a:p>
                      </a:txBody>
                      <a:tcPr marL="17780" marR="17780" marT="0" marB="0"/>
                    </a:tc>
                    <a:tc>
                      <a:txBody>
                        <a:bodyPr/>
                        <a:lstStyle/>
                        <a:p>
                          <a:pPr algn="just">
                            <a:lnSpc>
                              <a:spcPct val="150000"/>
                            </a:lnSpc>
                          </a:pPr>
                          <a:r>
                            <a:rPr lang="en-US" sz="1400">
                              <a:effectLst/>
                            </a:rPr>
                            <a:t>Access governs both suppression logistics and evacuation egress</a:t>
                          </a:r>
                          <a:endParaRPr lang="tr-TR" sz="1400">
                            <a:effectLst/>
                            <a:latin typeface="Times New Roman" panose="02020603050405020304" pitchFamily="18" charset="0"/>
                            <a:ea typeface="Calibri" panose="020F0502020204030204" pitchFamily="34" charset="0"/>
                            <a:cs typeface="Arial" panose="020B0604020202020204" pitchFamily="34" charset="0"/>
                          </a:endParaRPr>
                        </a:p>
                      </a:txBody>
                      <a:tcPr marL="17780" marR="17780" marT="0" marB="0"/>
                    </a:tc>
                    <a:extLst>
                      <a:ext uri="{0D108BD9-81ED-4DB2-BD59-A6C34878D82A}">
                        <a16:rowId xmlns:a16="http://schemas.microsoft.com/office/drawing/2014/main" val="2809221389"/>
                      </a:ext>
                    </a:extLst>
                  </a:tr>
                  <a:tr h="605854">
                    <a:tc>
                      <a:txBody>
                        <a:bodyPr/>
                        <a:lstStyle/>
                        <a:p>
                          <a:endParaRPr lang="tr-TR"/>
                        </a:p>
                      </a:txBody>
                      <a:tcPr marL="17780" marR="17780" marT="0" marB="0">
                        <a:blipFill>
                          <a:blip r:embed="rId5"/>
                          <a:stretch>
                            <a:fillRect l="-360" t="-738000" r="-602878" b="-117000"/>
                          </a:stretch>
                        </a:blipFill>
                      </a:tcPr>
                    </a:tc>
                    <a:tc>
                      <a:txBody>
                        <a:bodyPr/>
                        <a:lstStyle/>
                        <a:p>
                          <a:pPr algn="just">
                            <a:lnSpc>
                              <a:spcPct val="150000"/>
                            </a:lnSpc>
                          </a:pPr>
                          <a:r>
                            <a:rPr lang="en-US" sz="1400">
                              <a:effectLst/>
                            </a:rPr>
                            <a:t>Resource tracking</a:t>
                          </a:r>
                          <a:endParaRPr lang="tr-TR" sz="1400">
                            <a:effectLst/>
                            <a:latin typeface="Times New Roman" panose="02020603050405020304" pitchFamily="18" charset="0"/>
                            <a:ea typeface="Calibri" panose="020F0502020204030204" pitchFamily="34" charset="0"/>
                            <a:cs typeface="Arial" panose="020B0604020202020204" pitchFamily="34" charset="0"/>
                          </a:endParaRPr>
                        </a:p>
                      </a:txBody>
                      <a:tcPr marL="17780" marR="17780" marT="0" marB="0"/>
                    </a:tc>
                    <a:tc>
                      <a:txBody>
                        <a:bodyPr/>
                        <a:lstStyle/>
                        <a:p>
                          <a:pPr algn="just">
                            <a:lnSpc>
                              <a:spcPct val="150000"/>
                            </a:lnSpc>
                          </a:pPr>
                          <a:r>
                            <a:rPr lang="en-US" sz="1400">
                              <a:effectLst/>
                            </a:rPr>
                            <a:t>Fireline production rates and available capacity determine whether suppression can be mounted</a:t>
                          </a:r>
                          <a:endParaRPr lang="tr-TR" sz="1400">
                            <a:effectLst/>
                            <a:latin typeface="Times New Roman" panose="02020603050405020304" pitchFamily="18" charset="0"/>
                            <a:ea typeface="Calibri" panose="020F0502020204030204" pitchFamily="34" charset="0"/>
                            <a:cs typeface="Arial" panose="020B0604020202020204" pitchFamily="34" charset="0"/>
                          </a:endParaRPr>
                        </a:p>
                      </a:txBody>
                      <a:tcPr marL="17780" marR="17780" marT="0" marB="0"/>
                    </a:tc>
                    <a:extLst>
                      <a:ext uri="{0D108BD9-81ED-4DB2-BD59-A6C34878D82A}">
                        <a16:rowId xmlns:a16="http://schemas.microsoft.com/office/drawing/2014/main" val="1973674359"/>
                      </a:ext>
                    </a:extLst>
                  </a:tr>
                  <a:tr h="605854">
                    <a:tc>
                      <a:txBody>
                        <a:bodyPr/>
                        <a:lstStyle/>
                        <a:p>
                          <a:endParaRPr lang="tr-TR"/>
                        </a:p>
                      </a:txBody>
                      <a:tcPr marL="17780" marR="17780" marT="0" marB="0">
                        <a:blipFill>
                          <a:blip r:embed="rId5"/>
                          <a:stretch>
                            <a:fillRect l="-360" t="-846465" r="-602878" b="-18182"/>
                          </a:stretch>
                        </a:blipFill>
                      </a:tcPr>
                    </a:tc>
                    <a:tc>
                      <a:txBody>
                        <a:bodyPr/>
                        <a:lstStyle/>
                        <a:p>
                          <a:pPr algn="just">
                            <a:lnSpc>
                              <a:spcPct val="150000"/>
                            </a:lnSpc>
                          </a:pPr>
                          <a:r>
                            <a:rPr lang="en-US" sz="1400">
                              <a:effectLst/>
                            </a:rPr>
                            <a:t>Ignition timing and incident clock</a:t>
                          </a:r>
                          <a:endParaRPr lang="tr-TR" sz="1400">
                            <a:effectLst/>
                            <a:latin typeface="Times New Roman" panose="02020603050405020304" pitchFamily="18" charset="0"/>
                            <a:ea typeface="Calibri" panose="020F0502020204030204" pitchFamily="34" charset="0"/>
                            <a:cs typeface="Arial" panose="020B0604020202020204" pitchFamily="34" charset="0"/>
                          </a:endParaRPr>
                        </a:p>
                      </a:txBody>
                      <a:tcPr marL="17780" marR="17780" marT="0" marB="0"/>
                    </a:tc>
                    <a:tc>
                      <a:txBody>
                        <a:bodyPr/>
                        <a:lstStyle/>
                        <a:p>
                          <a:pPr algn="just">
                            <a:lnSpc>
                              <a:spcPct val="150000"/>
                            </a:lnSpc>
                          </a:pPr>
                          <a:r>
                            <a:rPr lang="en-US" sz="1400" dirty="0">
                              <a:effectLst/>
                            </a:rPr>
                            <a:t>Incident command is time-critical; recognition-primed decision research formalizes acting under urgency</a:t>
                          </a:r>
                          <a:endParaRPr lang="tr-TR" sz="1400" dirty="0">
                            <a:effectLst/>
                            <a:latin typeface="Times New Roman" panose="02020603050405020304" pitchFamily="18" charset="0"/>
                            <a:ea typeface="Calibri" panose="020F0502020204030204" pitchFamily="34" charset="0"/>
                            <a:cs typeface="Arial" panose="020B0604020202020204" pitchFamily="34" charset="0"/>
                          </a:endParaRPr>
                        </a:p>
                      </a:txBody>
                      <a:tcPr marL="17780" marR="17780" marT="0" marB="0"/>
                    </a:tc>
                    <a:extLst>
                      <a:ext uri="{0D108BD9-81ED-4DB2-BD59-A6C34878D82A}">
                        <a16:rowId xmlns:a16="http://schemas.microsoft.com/office/drawing/2014/main" val="3539770244"/>
                      </a:ext>
                    </a:extLst>
                  </a:tr>
                </a:tbl>
              </a:graphicData>
            </a:graphic>
          </p:graphicFrame>
        </mc:Fallback>
      </mc:AlternateContent>
      <p:pic>
        <p:nvPicPr>
          <p:cNvPr id="15" name="Image 0" descr="/tmp/thx/deck/figs/Figure4_1.png">
            <a:extLst>
              <a:ext uri="{FF2B5EF4-FFF2-40B4-BE49-F238E27FC236}">
                <a16:creationId xmlns:a16="http://schemas.microsoft.com/office/drawing/2014/main" id="{E2D8BB16-7351-4E35-A1AD-ACAA2235E08A}"/>
              </a:ext>
            </a:extLst>
          </p:cNvPr>
          <p:cNvPicPr>
            <a:picLocks noChangeAspect="1"/>
          </p:cNvPicPr>
          <p:nvPr/>
        </p:nvPicPr>
        <p:blipFill>
          <a:blip r:embed="rId6"/>
          <a:stretch>
            <a:fillRect/>
          </a:stretch>
        </p:blipFill>
        <p:spPr>
          <a:xfrm>
            <a:off x="2231" y="8254"/>
            <a:ext cx="136665" cy="229622"/>
          </a:xfrm>
          <a:prstGeom prst="rect">
            <a:avLst/>
          </a:prstGeom>
        </p:spPr>
      </p:pic>
    </p:spTree>
    <p:extLst>
      <p:ext uri="{BB962C8B-B14F-4D97-AF65-F5344CB8AC3E}">
        <p14:creationId xmlns:p14="http://schemas.microsoft.com/office/powerpoint/2010/main" val="100120563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256032"/>
            <a:ext cx="9144000" cy="292608"/>
          </a:xfrm>
          <a:prstGeom prst="rect">
            <a:avLst/>
          </a:prstGeom>
          <a:noFill/>
          <a:ln/>
        </p:spPr>
        <p:txBody>
          <a:bodyPr wrap="square" lIns="0" tIns="0" rIns="0" bIns="0" rtlCol="0" anchor="ctr"/>
          <a:lstStyle/>
          <a:p>
            <a:pPr marL="0" indent="0">
              <a:buNone/>
            </a:pPr>
            <a:r>
              <a:rPr lang="en-US" sz="1300" b="1" kern="0" spc="200" dirty="0">
                <a:solidFill>
                  <a:srgbClr val="E31836"/>
                </a:solidFill>
                <a:latin typeface="Calibri" pitchFamily="34" charset="0"/>
                <a:ea typeface="Calibri" pitchFamily="34" charset="-122"/>
                <a:cs typeface="Calibri" pitchFamily="34" charset="-120"/>
              </a:rPr>
              <a:t>DSS FRAMEWORK : LAYER 2 OF 4</a:t>
            </a:r>
            <a:endParaRPr lang="en-US" sz="1300" dirty="0"/>
          </a:p>
        </p:txBody>
      </p:sp>
      <p:sp>
        <p:nvSpPr>
          <p:cNvPr id="3" name="Text 1"/>
          <p:cNvSpPr/>
          <p:nvPr/>
        </p:nvSpPr>
        <p:spPr>
          <a:xfrm>
            <a:off x="502920" y="512064"/>
            <a:ext cx="11247120" cy="731520"/>
          </a:xfrm>
          <a:prstGeom prst="rect">
            <a:avLst/>
          </a:prstGeom>
          <a:noFill/>
          <a:ln/>
        </p:spPr>
        <p:txBody>
          <a:bodyPr wrap="square" lIns="0" tIns="0" rIns="0" bIns="0" rtlCol="0" anchor="ctr"/>
          <a:lstStyle/>
          <a:p>
            <a:pPr marL="0" indent="0">
              <a:buNone/>
            </a:pPr>
            <a:r>
              <a:rPr lang="en-US" sz="2900" b="1" dirty="0">
                <a:solidFill>
                  <a:srgbClr val="000000"/>
                </a:solidFill>
                <a:latin typeface="Cambria" pitchFamily="34" charset="0"/>
                <a:ea typeface="Cambria" pitchFamily="34" charset="-122"/>
                <a:cs typeface="Cambria" pitchFamily="34" charset="-120"/>
              </a:rPr>
              <a:t>Layer 2 : Perception</a:t>
            </a:r>
            <a:r>
              <a:rPr lang="tr-TR" sz="2900" b="1" dirty="0">
                <a:solidFill>
                  <a:srgbClr val="000000"/>
                </a:solidFill>
                <a:latin typeface="Cambria" pitchFamily="34" charset="0"/>
                <a:ea typeface="Cambria" pitchFamily="34" charset="-122"/>
                <a:cs typeface="Cambria" pitchFamily="34" charset="-120"/>
              </a:rPr>
              <a:t> - </a:t>
            </a:r>
            <a:r>
              <a:rPr lang="en-US" sz="2900" b="1" dirty="0">
                <a:solidFill>
                  <a:srgbClr val="000000"/>
                </a:solidFill>
                <a:latin typeface="Cambria" pitchFamily="34" charset="0"/>
                <a:ea typeface="Cambria" pitchFamily="34" charset="-122"/>
                <a:cs typeface="Cambria" pitchFamily="34" charset="-120"/>
              </a:rPr>
              <a:t>Features with Explicit Confidence</a:t>
            </a:r>
            <a:endParaRPr lang="en-US" sz="2900" dirty="0"/>
          </a:p>
        </p:txBody>
      </p:sp>
      <p:pic>
        <p:nvPicPr>
          <p:cNvPr id="10" name="Image 5" descr="/tmp/thx/deck/figs/metu_emblem.png"/>
          <p:cNvPicPr>
            <a:picLocks noChangeAspect="1"/>
          </p:cNvPicPr>
          <p:nvPr/>
        </p:nvPicPr>
        <p:blipFill>
          <a:blip r:embed="rId3"/>
          <a:stretch>
            <a:fillRect/>
          </a:stretch>
        </p:blipFill>
        <p:spPr>
          <a:xfrm>
            <a:off x="10716768" y="184607"/>
            <a:ext cx="475488" cy="398882"/>
          </a:xfrm>
          <a:prstGeom prst="rect">
            <a:avLst/>
          </a:prstGeom>
        </p:spPr>
      </p:pic>
      <p:pic>
        <p:nvPicPr>
          <p:cNvPr id="11" name="Image 6" descr="/tmp/thx/deck/figs/eee_logo.png"/>
          <p:cNvPicPr>
            <a:picLocks noChangeAspect="1"/>
          </p:cNvPicPr>
          <p:nvPr/>
        </p:nvPicPr>
        <p:blipFill>
          <a:blip r:embed="rId4"/>
          <a:stretch>
            <a:fillRect/>
          </a:stretch>
        </p:blipFill>
        <p:spPr>
          <a:xfrm>
            <a:off x="11265408" y="186217"/>
            <a:ext cx="475488" cy="395662"/>
          </a:xfrm>
          <a:prstGeom prst="rect">
            <a:avLst/>
          </a:prstGeom>
        </p:spPr>
      </p:pic>
      <p:sp>
        <p:nvSpPr>
          <p:cNvPr id="7" name="Shape 2">
            <a:extLst>
              <a:ext uri="{FF2B5EF4-FFF2-40B4-BE49-F238E27FC236}">
                <a16:creationId xmlns:a16="http://schemas.microsoft.com/office/drawing/2014/main" id="{9A8F3B09-F2D2-4F6C-9C68-07E9863F599C}"/>
              </a:ext>
            </a:extLst>
          </p:cNvPr>
          <p:cNvSpPr/>
          <p:nvPr/>
        </p:nvSpPr>
        <p:spPr>
          <a:xfrm>
            <a:off x="502920" y="1234440"/>
            <a:ext cx="11201400" cy="1097280"/>
          </a:xfrm>
          <a:prstGeom prst="roundRect">
            <a:avLst>
              <a:gd name="adj" fmla="val 4902"/>
            </a:avLst>
          </a:prstGeom>
          <a:solidFill>
            <a:srgbClr val="F2F2F2"/>
          </a:solidFill>
          <a:ln/>
        </p:spPr>
        <p:txBody>
          <a:bodyPr/>
          <a:lstStyle/>
          <a:p>
            <a:endParaRPr lang="tr-TR"/>
          </a:p>
        </p:txBody>
      </p:sp>
      <mc:AlternateContent xmlns:mc="http://schemas.openxmlformats.org/markup-compatibility/2006" xmlns:a14="http://schemas.microsoft.com/office/drawing/2010/main">
        <mc:Choice Requires="a14">
          <p:sp>
            <p:nvSpPr>
              <p:cNvPr id="8" name="Text 3">
                <a:extLst>
                  <a:ext uri="{FF2B5EF4-FFF2-40B4-BE49-F238E27FC236}">
                    <a16:creationId xmlns:a16="http://schemas.microsoft.com/office/drawing/2014/main" id="{355717C5-69A4-4696-970C-9C7864312D2D}"/>
                  </a:ext>
                </a:extLst>
              </p:cNvPr>
              <p:cNvSpPr/>
              <p:nvPr/>
            </p:nvSpPr>
            <p:spPr>
              <a:xfrm>
                <a:off x="731520" y="1298448"/>
                <a:ext cx="10789920" cy="841248"/>
              </a:xfrm>
              <a:prstGeom prst="rect">
                <a:avLst/>
              </a:prstGeom>
              <a:noFill/>
              <a:ln/>
            </p:spPr>
            <p:txBody>
              <a:bodyPr wrap="square" lIns="0" tIns="0" rIns="0" bIns="0" rtlCol="0" anchor="ctr"/>
              <a:lstStyle/>
              <a:p>
                <a:pPr marL="0" indent="0">
                  <a:lnSpc>
                    <a:spcPct val="105000"/>
                  </a:lnSpc>
                  <a:buNone/>
                </a:pPr>
                <a:r>
                  <a:rPr lang="en-US" sz="1300" b="1" dirty="0">
                    <a:solidFill>
                      <a:srgbClr val="000000"/>
                    </a:solidFill>
                    <a:latin typeface="Calibri" pitchFamily="34" charset="0"/>
                    <a:ea typeface="Calibri" pitchFamily="34" charset="-122"/>
                    <a:cs typeface="Calibri" pitchFamily="34" charset="-120"/>
                  </a:rPr>
                  <a:t>fire intensity · spread potential · weather severity · ignition proximity · fuel load · asset exposure · resource accessibility · access / road status · suppression availability · temporal urgency</a:t>
                </a:r>
                <a:endParaRPr lang="en-US" sz="1300" dirty="0"/>
              </a:p>
              <a:p>
                <a:pPr marL="0" indent="0">
                  <a:lnSpc>
                    <a:spcPct val="105000"/>
                  </a:lnSpc>
                  <a:buNone/>
                </a:pPr>
                <a14:m>
                  <m:oMathPara xmlns:m="http://schemas.openxmlformats.org/officeDocument/2006/math">
                    <m:oMath>
                      <m:sSubSup>
                        <m:sSubSupPr>
                          <m:ctrlPr>
                            <a:rPr lang="en-US" sz="1400">
                              <a:latin typeface="Cambria Math"/>
                            </a:rPr>
                          </m:ctrlPr>
                        </m:sSubSupPr>
                        <m:e>
                          <m:r>
                            <a:rPr lang="en-US" sz="1400">
                              <a:latin typeface="Cambria Math"/>
                            </a:rPr>
                            <m:t>𝑧</m:t>
                          </m:r>
                        </m:e>
                        <m:sub>
                          <m:r>
                            <a:rPr lang="en-US" sz="1400">
                              <a:latin typeface="Cambria Math"/>
                            </a:rPr>
                            <m:t>𝑓</m:t>
                          </m:r>
                          <m:r>
                            <a:rPr lang="en-US" sz="1400">
                              <a:latin typeface="Cambria Math"/>
                            </a:rPr>
                            <m:t>,</m:t>
                          </m:r>
                          <m:r>
                            <a:rPr lang="en-US" sz="1400">
                              <a:latin typeface="Cambria Math"/>
                            </a:rPr>
                            <m:t>𝑘</m:t>
                          </m:r>
                        </m:sub>
                        <m:sup>
                          <m:r>
                            <a:rPr lang="en-US" sz="1400">
                              <a:latin typeface="Cambria Math"/>
                            </a:rPr>
                            <m:t>𝑖</m:t>
                          </m:r>
                        </m:sup>
                      </m:sSubSup>
                      <m:r>
                        <a:rPr lang="en-US" sz="1400">
                          <a:latin typeface="Cambria Math"/>
                        </a:rPr>
                        <m:t>=</m:t>
                      </m:r>
                      <m:sSub>
                        <m:sSubPr>
                          <m:ctrlPr>
                            <a:rPr lang="en-US" sz="1400">
                              <a:latin typeface="Cambria Math"/>
                            </a:rPr>
                          </m:ctrlPr>
                        </m:sSubPr>
                        <m:e>
                          <m:r>
                            <a:rPr lang="en-US" sz="1400">
                              <a:latin typeface="Cambria Math"/>
                            </a:rPr>
                            <m:t>𝜉</m:t>
                          </m:r>
                        </m:e>
                        <m:sub>
                          <m:r>
                            <a:rPr lang="en-US" sz="1400">
                              <a:latin typeface="Cambria Math"/>
                            </a:rPr>
                            <m:t>𝑓</m:t>
                          </m:r>
                        </m:sub>
                      </m:sSub>
                      <m:d>
                        <m:dPr>
                          <m:ctrlPr>
                            <a:rPr lang="en-US" sz="1400" i="1">
                              <a:latin typeface="Cambria Math" panose="02040503050406030204" pitchFamily="18" charset="0"/>
                            </a:rPr>
                          </m:ctrlPr>
                        </m:dPr>
                        <m:e>
                          <m:sSubSup>
                            <m:sSubSupPr>
                              <m:ctrlPr>
                                <a:rPr lang="en-US" sz="1400">
                                  <a:latin typeface="Cambria Math"/>
                                </a:rPr>
                              </m:ctrlPr>
                            </m:sSubSupPr>
                            <m:e>
                              <m:r>
                                <a:rPr lang="en-US" sz="1400">
                                  <a:latin typeface="Cambria Math"/>
                                </a:rPr>
                                <m:t>𝑂</m:t>
                              </m:r>
                            </m:e>
                            <m:sub>
                              <m:r>
                                <a:rPr lang="en-US" sz="1400">
                                  <a:latin typeface="Cambria Math"/>
                                </a:rPr>
                                <m:t>𝑘</m:t>
                              </m:r>
                            </m:sub>
                            <m:sup>
                              <m:r>
                                <a:rPr lang="en-US" sz="1400">
                                  <a:latin typeface="Cambria Math"/>
                                </a:rPr>
                                <m:t>𝑖</m:t>
                              </m:r>
                            </m:sup>
                          </m:sSubSup>
                        </m:e>
                      </m:d>
                      <m:r>
                        <a:rPr lang="en-US" sz="1400">
                          <a:latin typeface="Cambria Math"/>
                        </a:rPr>
                        <m:t>∈[0,1], </m:t>
                      </m:r>
                      <m:r>
                        <a:rPr lang="en-US" sz="1400">
                          <a:latin typeface="Cambria Math"/>
                        </a:rPr>
                        <m:t>𝑓</m:t>
                      </m:r>
                      <m:r>
                        <a:rPr lang="en-US" sz="1400">
                          <a:latin typeface="Cambria Math"/>
                        </a:rPr>
                        <m:t>=1,…,</m:t>
                      </m:r>
                      <m:sSub>
                        <m:sSubPr>
                          <m:ctrlPr>
                            <a:rPr lang="en-US" sz="1400">
                              <a:latin typeface="Cambria Math"/>
                            </a:rPr>
                          </m:ctrlPr>
                        </m:sSubPr>
                        <m:e>
                          <m:r>
                            <a:rPr lang="en-US" sz="1400">
                              <a:latin typeface="Cambria Math"/>
                            </a:rPr>
                            <m:t>𝑁</m:t>
                          </m:r>
                        </m:e>
                        <m:sub>
                          <m:r>
                            <a:rPr lang="en-US" sz="1400">
                              <a:latin typeface="Cambria Math"/>
                            </a:rPr>
                            <m:t>𝑓𝑒𝑎𝑡𝑢𝑟𝑒</m:t>
                          </m:r>
                        </m:sub>
                      </m:sSub>
                    </m:oMath>
                  </m:oMathPara>
                </a14:m>
                <a:endParaRPr lang="en-US" sz="1300" dirty="0"/>
              </a:p>
            </p:txBody>
          </p:sp>
        </mc:Choice>
        <mc:Fallback xmlns="">
          <p:sp>
            <p:nvSpPr>
              <p:cNvPr id="8" name="Text 3">
                <a:extLst>
                  <a:ext uri="{FF2B5EF4-FFF2-40B4-BE49-F238E27FC236}">
                    <a16:creationId xmlns:a16="http://schemas.microsoft.com/office/drawing/2014/main" id="{355717C5-69A4-4696-970C-9C7864312D2D}"/>
                  </a:ext>
                </a:extLst>
              </p:cNvPr>
              <p:cNvSpPr>
                <a:spLocks noRot="1" noChangeAspect="1" noMove="1" noResize="1" noEditPoints="1" noAdjustHandles="1" noChangeArrowheads="1" noChangeShapeType="1" noTextEdit="1"/>
              </p:cNvSpPr>
              <p:nvPr/>
            </p:nvSpPr>
            <p:spPr>
              <a:xfrm>
                <a:off x="731520" y="1298448"/>
                <a:ext cx="10789920" cy="841248"/>
              </a:xfrm>
              <a:prstGeom prst="rect">
                <a:avLst/>
              </a:prstGeom>
              <a:blipFill>
                <a:blip r:embed="rId5"/>
                <a:stretch>
                  <a:fillRect l="-904" b="-1449"/>
                </a:stretch>
              </a:blipFill>
              <a:ln/>
            </p:spPr>
            <p:txBody>
              <a:bodyPr/>
              <a:lstStyle/>
              <a:p>
                <a:r>
                  <a:rPr lang="tr-TR">
                    <a:noFill/>
                  </a:rPr>
                  <a:t/>
                </a:r>
              </a:p>
            </p:txBody>
          </p:sp>
        </mc:Fallback>
      </mc:AlternateContent>
      <p:sp>
        <p:nvSpPr>
          <p:cNvPr id="9" name="Text 4">
            <a:extLst>
              <a:ext uri="{FF2B5EF4-FFF2-40B4-BE49-F238E27FC236}">
                <a16:creationId xmlns:a16="http://schemas.microsoft.com/office/drawing/2014/main" id="{D8821519-89C5-43EE-B5E3-DC5C8F2F7EE5}"/>
              </a:ext>
            </a:extLst>
          </p:cNvPr>
          <p:cNvSpPr/>
          <p:nvPr/>
        </p:nvSpPr>
        <p:spPr>
          <a:xfrm>
            <a:off x="502920" y="2331720"/>
            <a:ext cx="11155680" cy="320040"/>
          </a:xfrm>
          <a:prstGeom prst="rect">
            <a:avLst/>
          </a:prstGeom>
          <a:noFill/>
          <a:ln/>
        </p:spPr>
        <p:txBody>
          <a:bodyPr wrap="square" lIns="0" tIns="0" rIns="0" bIns="0" rtlCol="0" anchor="ctr"/>
          <a:lstStyle/>
          <a:p>
            <a:pPr marL="0" indent="0">
              <a:buNone/>
            </a:pPr>
            <a:r>
              <a:rPr lang="en-US" sz="1400" b="1" dirty="0">
                <a:solidFill>
                  <a:srgbClr val="222222"/>
                </a:solidFill>
                <a:latin typeface="Calibri" pitchFamily="34" charset="0"/>
                <a:ea typeface="Calibri" pitchFamily="34" charset="-122"/>
                <a:cs typeface="Calibri" pitchFamily="34" charset="-120"/>
              </a:rPr>
              <a:t>A quantity is admitted to the feature set only if it satisfies all four conditions:</a:t>
            </a:r>
            <a:endParaRPr lang="en-US" sz="1400" dirty="0"/>
          </a:p>
        </p:txBody>
      </p:sp>
      <p:sp>
        <p:nvSpPr>
          <p:cNvPr id="12" name="Shape 5">
            <a:extLst>
              <a:ext uri="{FF2B5EF4-FFF2-40B4-BE49-F238E27FC236}">
                <a16:creationId xmlns:a16="http://schemas.microsoft.com/office/drawing/2014/main" id="{F5ADDF04-57F5-4DEF-A30D-7CAB01672E9A}"/>
              </a:ext>
            </a:extLst>
          </p:cNvPr>
          <p:cNvSpPr/>
          <p:nvPr/>
        </p:nvSpPr>
        <p:spPr>
          <a:xfrm>
            <a:off x="502920" y="2724912"/>
            <a:ext cx="5486400" cy="950976"/>
          </a:xfrm>
          <a:prstGeom prst="roundRect">
            <a:avLst>
              <a:gd name="adj" fmla="val 4808"/>
            </a:avLst>
          </a:prstGeom>
          <a:solidFill>
            <a:srgbClr val="F2F2F2"/>
          </a:solidFill>
          <a:ln/>
        </p:spPr>
        <p:txBody>
          <a:bodyPr/>
          <a:lstStyle/>
          <a:p>
            <a:endParaRPr lang="tr-TR"/>
          </a:p>
        </p:txBody>
      </p:sp>
      <p:sp>
        <p:nvSpPr>
          <p:cNvPr id="13" name="Text 6">
            <a:extLst>
              <a:ext uri="{FF2B5EF4-FFF2-40B4-BE49-F238E27FC236}">
                <a16:creationId xmlns:a16="http://schemas.microsoft.com/office/drawing/2014/main" id="{FEB6C8D5-537D-4A47-9FE3-2772CAF502C2}"/>
              </a:ext>
            </a:extLst>
          </p:cNvPr>
          <p:cNvSpPr/>
          <p:nvPr/>
        </p:nvSpPr>
        <p:spPr>
          <a:xfrm>
            <a:off x="704088" y="2788920"/>
            <a:ext cx="5120640" cy="841248"/>
          </a:xfrm>
          <a:prstGeom prst="rect">
            <a:avLst/>
          </a:prstGeom>
          <a:noFill/>
          <a:ln/>
        </p:spPr>
        <p:txBody>
          <a:bodyPr wrap="square" lIns="0" tIns="0" rIns="0" bIns="0" rtlCol="0" anchor="t"/>
          <a:lstStyle/>
          <a:p>
            <a:pPr marL="0" indent="0">
              <a:lnSpc>
                <a:spcPct val="102000"/>
              </a:lnSpc>
              <a:buNone/>
            </a:pPr>
            <a:r>
              <a:rPr lang="en-US" sz="1600" b="1" dirty="0">
                <a:solidFill>
                  <a:srgbClr val="E31836"/>
                </a:solidFill>
                <a:latin typeface="Calibri" pitchFamily="34" charset="0"/>
                <a:ea typeface="Calibri" pitchFamily="34" charset="-122"/>
                <a:cs typeface="Calibri" pitchFamily="34" charset="-120"/>
              </a:rPr>
              <a:t>1. Observability</a:t>
            </a:r>
            <a:r>
              <a:rPr lang="en-US" sz="1400" dirty="0">
                <a:solidFill>
                  <a:srgbClr val="222222"/>
                </a:solidFill>
                <a:latin typeface="Calibri" pitchFamily="34" charset="0"/>
                <a:ea typeface="Calibri" pitchFamily="34" charset="-122"/>
                <a:cs typeface="Calibri" pitchFamily="34" charset="-120"/>
              </a:rPr>
              <a:t>Computable from what sensors and reports actually deliver — never from hidden simulator state.</a:t>
            </a:r>
            <a:endParaRPr lang="en-US" sz="1600" dirty="0"/>
          </a:p>
        </p:txBody>
      </p:sp>
      <p:sp>
        <p:nvSpPr>
          <p:cNvPr id="14" name="Shape 7">
            <a:extLst>
              <a:ext uri="{FF2B5EF4-FFF2-40B4-BE49-F238E27FC236}">
                <a16:creationId xmlns:a16="http://schemas.microsoft.com/office/drawing/2014/main" id="{8DC0E5A2-5C77-4DDB-83CC-FB161B4811E1}"/>
              </a:ext>
            </a:extLst>
          </p:cNvPr>
          <p:cNvSpPr/>
          <p:nvPr/>
        </p:nvSpPr>
        <p:spPr>
          <a:xfrm>
            <a:off x="6217920" y="2724912"/>
            <a:ext cx="5486400" cy="950976"/>
          </a:xfrm>
          <a:prstGeom prst="roundRect">
            <a:avLst>
              <a:gd name="adj" fmla="val 4808"/>
            </a:avLst>
          </a:prstGeom>
          <a:solidFill>
            <a:srgbClr val="F2F2F2"/>
          </a:solidFill>
          <a:ln/>
        </p:spPr>
        <p:txBody>
          <a:bodyPr/>
          <a:lstStyle/>
          <a:p>
            <a:endParaRPr lang="tr-TR"/>
          </a:p>
        </p:txBody>
      </p:sp>
      <p:sp>
        <p:nvSpPr>
          <p:cNvPr id="15" name="Text 8">
            <a:extLst>
              <a:ext uri="{FF2B5EF4-FFF2-40B4-BE49-F238E27FC236}">
                <a16:creationId xmlns:a16="http://schemas.microsoft.com/office/drawing/2014/main" id="{FFCAB5AF-DD03-4F30-B56C-21715853261D}"/>
              </a:ext>
            </a:extLst>
          </p:cNvPr>
          <p:cNvSpPr/>
          <p:nvPr/>
        </p:nvSpPr>
        <p:spPr>
          <a:xfrm>
            <a:off x="6419088" y="2788920"/>
            <a:ext cx="5120640" cy="841248"/>
          </a:xfrm>
          <a:prstGeom prst="rect">
            <a:avLst/>
          </a:prstGeom>
          <a:noFill/>
          <a:ln/>
        </p:spPr>
        <p:txBody>
          <a:bodyPr wrap="square" lIns="0" tIns="0" rIns="0" bIns="0" rtlCol="0" anchor="t"/>
          <a:lstStyle/>
          <a:p>
            <a:pPr marL="0" indent="0">
              <a:lnSpc>
                <a:spcPct val="102000"/>
              </a:lnSpc>
              <a:buNone/>
            </a:pPr>
            <a:r>
              <a:rPr lang="en-US" sz="1600" b="1" dirty="0">
                <a:solidFill>
                  <a:srgbClr val="E31836"/>
                </a:solidFill>
                <a:latin typeface="Calibri" pitchFamily="34" charset="0"/>
                <a:ea typeface="Calibri" pitchFamily="34" charset="-122"/>
                <a:cs typeface="Calibri" pitchFamily="34" charset="-120"/>
              </a:rPr>
              <a:t>2. Boundedness</a:t>
            </a:r>
            <a:r>
              <a:rPr lang="en-US" sz="1400" dirty="0">
                <a:solidFill>
                  <a:srgbClr val="222222"/>
                </a:solidFill>
                <a:latin typeface="Calibri" pitchFamily="34" charset="0"/>
                <a:ea typeface="Calibri" pitchFamily="34" charset="-122"/>
                <a:cs typeface="Calibri" pitchFamily="34" charset="-120"/>
              </a:rPr>
              <a:t>Admits normalization to a fixed interval, so membership functions remain stable across scenarios.</a:t>
            </a:r>
            <a:endParaRPr lang="en-US" sz="1600" dirty="0"/>
          </a:p>
        </p:txBody>
      </p:sp>
      <p:sp>
        <p:nvSpPr>
          <p:cNvPr id="16" name="Shape 9">
            <a:extLst>
              <a:ext uri="{FF2B5EF4-FFF2-40B4-BE49-F238E27FC236}">
                <a16:creationId xmlns:a16="http://schemas.microsoft.com/office/drawing/2014/main" id="{D447FBF1-CF32-4BAB-B3D5-918FE552E4CE}"/>
              </a:ext>
            </a:extLst>
          </p:cNvPr>
          <p:cNvSpPr/>
          <p:nvPr/>
        </p:nvSpPr>
        <p:spPr>
          <a:xfrm>
            <a:off x="502920" y="3803904"/>
            <a:ext cx="5486400" cy="950976"/>
          </a:xfrm>
          <a:prstGeom prst="roundRect">
            <a:avLst>
              <a:gd name="adj" fmla="val 4808"/>
            </a:avLst>
          </a:prstGeom>
          <a:solidFill>
            <a:srgbClr val="F2F2F2"/>
          </a:solidFill>
          <a:ln/>
        </p:spPr>
        <p:txBody>
          <a:bodyPr/>
          <a:lstStyle/>
          <a:p>
            <a:endParaRPr lang="tr-TR"/>
          </a:p>
        </p:txBody>
      </p:sp>
      <p:sp>
        <p:nvSpPr>
          <p:cNvPr id="17" name="Text 10">
            <a:extLst>
              <a:ext uri="{FF2B5EF4-FFF2-40B4-BE49-F238E27FC236}">
                <a16:creationId xmlns:a16="http://schemas.microsoft.com/office/drawing/2014/main" id="{C48D936C-08C8-4628-8FD8-CA78FA836391}"/>
              </a:ext>
            </a:extLst>
          </p:cNvPr>
          <p:cNvSpPr/>
          <p:nvPr/>
        </p:nvSpPr>
        <p:spPr>
          <a:xfrm>
            <a:off x="704088" y="3867912"/>
            <a:ext cx="5120640" cy="841248"/>
          </a:xfrm>
          <a:prstGeom prst="rect">
            <a:avLst/>
          </a:prstGeom>
          <a:noFill/>
          <a:ln/>
        </p:spPr>
        <p:txBody>
          <a:bodyPr wrap="square" lIns="0" tIns="0" rIns="0" bIns="0" rtlCol="0" anchor="t"/>
          <a:lstStyle/>
          <a:p>
            <a:pPr marL="0" indent="0">
              <a:lnSpc>
                <a:spcPct val="102000"/>
              </a:lnSpc>
              <a:buNone/>
            </a:pPr>
            <a:r>
              <a:rPr lang="en-US" sz="1600" b="1" dirty="0">
                <a:solidFill>
                  <a:srgbClr val="E31836"/>
                </a:solidFill>
                <a:latin typeface="Calibri" pitchFamily="34" charset="0"/>
                <a:ea typeface="Calibri" pitchFamily="34" charset="-122"/>
                <a:cs typeface="Calibri" pitchFamily="34" charset="-120"/>
              </a:rPr>
              <a:t>3. Operational meaning</a:t>
            </a:r>
            <a:r>
              <a:rPr lang="en-US" sz="1400" dirty="0">
                <a:solidFill>
                  <a:srgbClr val="222222"/>
                </a:solidFill>
                <a:latin typeface="Calibri" pitchFamily="34" charset="0"/>
                <a:ea typeface="Calibri" pitchFamily="34" charset="-122"/>
                <a:cs typeface="Calibri" pitchFamily="34" charset="-120"/>
              </a:rPr>
              <a:t>An expert can read it and phrase rules over it without translation.</a:t>
            </a:r>
            <a:endParaRPr lang="en-US" sz="1600" dirty="0"/>
          </a:p>
        </p:txBody>
      </p:sp>
      <p:sp>
        <p:nvSpPr>
          <p:cNvPr id="18" name="Shape 11">
            <a:extLst>
              <a:ext uri="{FF2B5EF4-FFF2-40B4-BE49-F238E27FC236}">
                <a16:creationId xmlns:a16="http://schemas.microsoft.com/office/drawing/2014/main" id="{F889E1EC-D26E-4FF2-9B9F-6CDF4C9A8498}"/>
              </a:ext>
            </a:extLst>
          </p:cNvPr>
          <p:cNvSpPr/>
          <p:nvPr/>
        </p:nvSpPr>
        <p:spPr>
          <a:xfrm>
            <a:off x="6217920" y="3803904"/>
            <a:ext cx="5486400" cy="950976"/>
          </a:xfrm>
          <a:prstGeom prst="roundRect">
            <a:avLst>
              <a:gd name="adj" fmla="val 4808"/>
            </a:avLst>
          </a:prstGeom>
          <a:solidFill>
            <a:srgbClr val="F2F2F2"/>
          </a:solidFill>
          <a:ln/>
        </p:spPr>
        <p:txBody>
          <a:bodyPr/>
          <a:lstStyle/>
          <a:p>
            <a:endParaRPr lang="tr-TR"/>
          </a:p>
        </p:txBody>
      </p:sp>
      <p:sp>
        <p:nvSpPr>
          <p:cNvPr id="19" name="Text 12">
            <a:extLst>
              <a:ext uri="{FF2B5EF4-FFF2-40B4-BE49-F238E27FC236}">
                <a16:creationId xmlns:a16="http://schemas.microsoft.com/office/drawing/2014/main" id="{8F5C1560-826A-4CCF-8A74-65C394F6C1D1}"/>
              </a:ext>
            </a:extLst>
          </p:cNvPr>
          <p:cNvSpPr/>
          <p:nvPr/>
        </p:nvSpPr>
        <p:spPr>
          <a:xfrm>
            <a:off x="6419088" y="3867912"/>
            <a:ext cx="5120640" cy="841248"/>
          </a:xfrm>
          <a:prstGeom prst="rect">
            <a:avLst/>
          </a:prstGeom>
          <a:noFill/>
          <a:ln/>
        </p:spPr>
        <p:txBody>
          <a:bodyPr wrap="square" lIns="0" tIns="0" rIns="0" bIns="0" rtlCol="0" anchor="t"/>
          <a:lstStyle/>
          <a:p>
            <a:pPr marL="0" indent="0">
              <a:lnSpc>
                <a:spcPct val="102000"/>
              </a:lnSpc>
              <a:buNone/>
            </a:pPr>
            <a:r>
              <a:rPr lang="en-US" sz="1600" b="1" dirty="0">
                <a:solidFill>
                  <a:srgbClr val="E31836"/>
                </a:solidFill>
                <a:latin typeface="Calibri" pitchFamily="34" charset="0"/>
                <a:ea typeface="Calibri" pitchFamily="34" charset="-122"/>
                <a:cs typeface="Calibri" pitchFamily="34" charset="-120"/>
              </a:rPr>
              <a:t>4. Non-redundancy</a:t>
            </a:r>
            <a:r>
              <a:rPr lang="en-US" sz="1400" dirty="0">
                <a:solidFill>
                  <a:srgbClr val="222222"/>
                </a:solidFill>
                <a:latin typeface="Calibri" pitchFamily="34" charset="0"/>
                <a:ea typeface="Calibri" pitchFamily="34" charset="-122"/>
                <a:cs typeface="Calibri" pitchFamily="34" charset="-120"/>
              </a:rPr>
              <a:t>Contributes discriminative information the remaining features do not already carry.</a:t>
            </a:r>
            <a:endParaRPr lang="en-US" sz="1600" dirty="0"/>
          </a:p>
        </p:txBody>
      </p:sp>
      <p:sp>
        <p:nvSpPr>
          <p:cNvPr id="20" name="Shape 13">
            <a:extLst>
              <a:ext uri="{FF2B5EF4-FFF2-40B4-BE49-F238E27FC236}">
                <a16:creationId xmlns:a16="http://schemas.microsoft.com/office/drawing/2014/main" id="{0492C28F-A8A9-4D81-A41C-A2E7F5CC81DB}"/>
              </a:ext>
            </a:extLst>
          </p:cNvPr>
          <p:cNvSpPr/>
          <p:nvPr/>
        </p:nvSpPr>
        <p:spPr>
          <a:xfrm>
            <a:off x="502920" y="4983480"/>
            <a:ext cx="11201400" cy="1776134"/>
          </a:xfrm>
          <a:prstGeom prst="roundRect">
            <a:avLst>
              <a:gd name="adj" fmla="val 3226"/>
            </a:avLst>
          </a:prstGeom>
          <a:solidFill>
            <a:srgbClr val="FDE8EB"/>
          </a:solidFill>
          <a:ln/>
        </p:spPr>
        <p:txBody>
          <a:bodyPr/>
          <a:lstStyle/>
          <a:p>
            <a:endParaRPr lang="tr-TR"/>
          </a:p>
        </p:txBody>
      </p:sp>
      <p:sp>
        <p:nvSpPr>
          <p:cNvPr id="21" name="Text 14">
            <a:extLst>
              <a:ext uri="{FF2B5EF4-FFF2-40B4-BE49-F238E27FC236}">
                <a16:creationId xmlns:a16="http://schemas.microsoft.com/office/drawing/2014/main" id="{675DE529-4225-4C2D-BE9B-0FC1B5D2D304}"/>
              </a:ext>
            </a:extLst>
          </p:cNvPr>
          <p:cNvSpPr/>
          <p:nvPr/>
        </p:nvSpPr>
        <p:spPr>
          <a:xfrm>
            <a:off x="777240" y="5074919"/>
            <a:ext cx="10698480" cy="1684695"/>
          </a:xfrm>
          <a:prstGeom prst="rect">
            <a:avLst/>
          </a:prstGeom>
          <a:noFill/>
          <a:ln/>
        </p:spPr>
        <p:txBody>
          <a:bodyPr wrap="square" lIns="0" tIns="0" rIns="0" bIns="0" rtlCol="0" anchor="t"/>
          <a:lstStyle/>
          <a:p>
            <a:pPr>
              <a:lnSpc>
                <a:spcPct val="106000"/>
              </a:lnSpc>
            </a:pPr>
            <a:r>
              <a:rPr lang="en-US" b="1" dirty="0">
                <a:solidFill>
                  <a:srgbClr val="000000"/>
                </a:solidFill>
                <a:latin typeface="Calibri" pitchFamily="34" charset="0"/>
                <a:ea typeface="Calibri" pitchFamily="34" charset="-122"/>
                <a:cs typeface="Calibri" pitchFamily="34" charset="-120"/>
              </a:rPr>
              <a:t>Why </a:t>
            </a:r>
            <a:r>
              <a:rPr lang="tr-TR" b="1" dirty="0">
                <a:solidFill>
                  <a:srgbClr val="000000"/>
                </a:solidFill>
                <a:latin typeface="Calibri" pitchFamily="34" charset="0"/>
                <a:ea typeface="Calibri" pitchFamily="34" charset="-122"/>
                <a:cs typeface="Calibri" pitchFamily="34" charset="-120"/>
              </a:rPr>
              <a:t>10 </a:t>
            </a:r>
            <a:r>
              <a:rPr lang="tr-TR" b="1" dirty="0" err="1">
                <a:solidFill>
                  <a:srgbClr val="000000"/>
                </a:solidFill>
                <a:latin typeface="Calibri" pitchFamily="34" charset="0"/>
                <a:ea typeface="Calibri" pitchFamily="34" charset="-122"/>
                <a:cs typeface="Calibri" pitchFamily="34" charset="-120"/>
              </a:rPr>
              <a:t>feature</a:t>
            </a:r>
            <a:r>
              <a:rPr lang="tr-TR" b="1" dirty="0">
                <a:solidFill>
                  <a:srgbClr val="000000"/>
                </a:solidFill>
                <a:latin typeface="Calibri" pitchFamily="34" charset="0"/>
                <a:ea typeface="Calibri" pitchFamily="34" charset="-122"/>
                <a:cs typeface="Calibri" pitchFamily="34" charset="-120"/>
              </a:rPr>
              <a:t> set</a:t>
            </a:r>
            <a:r>
              <a:rPr lang="en-US" b="1" dirty="0">
                <a:solidFill>
                  <a:srgbClr val="000000"/>
                </a:solidFill>
                <a:latin typeface="Calibri" pitchFamily="34" charset="0"/>
                <a:ea typeface="Calibri" pitchFamily="34" charset="-122"/>
                <a:cs typeface="Calibri" pitchFamily="34" charset="-120"/>
              </a:rPr>
              <a:t> is sufficient</a:t>
            </a:r>
            <a:r>
              <a:rPr lang="tr-TR" b="1" dirty="0">
                <a:solidFill>
                  <a:srgbClr val="000000"/>
                </a:solidFill>
                <a:latin typeface="Calibri" pitchFamily="34" charset="0"/>
                <a:ea typeface="Calibri" pitchFamily="34" charset="-122"/>
                <a:cs typeface="Calibri" pitchFamily="34" charset="-120"/>
              </a:rPr>
              <a:t>?</a:t>
            </a:r>
          </a:p>
          <a:p>
            <a:pPr marL="285750" indent="-285750">
              <a:lnSpc>
                <a:spcPct val="106000"/>
              </a:lnSpc>
              <a:buFont typeface="Arial" panose="020B0604020202020204" pitchFamily="34" charset="0"/>
              <a:buChar char="•"/>
            </a:pPr>
            <a:r>
              <a:rPr lang="en-US" sz="1600" dirty="0">
                <a:solidFill>
                  <a:srgbClr val="222222"/>
                </a:solidFill>
                <a:latin typeface="Calibri" pitchFamily="34" charset="0"/>
                <a:ea typeface="Calibri" pitchFamily="34" charset="-122"/>
                <a:cs typeface="Calibri" pitchFamily="34" charset="-120"/>
              </a:rPr>
              <a:t>Coverage</a:t>
            </a:r>
            <a:r>
              <a:rPr lang="tr-TR" sz="1600" dirty="0">
                <a:solidFill>
                  <a:srgbClr val="222222"/>
                </a:solidFill>
                <a:latin typeface="Calibri" pitchFamily="34" charset="0"/>
                <a:ea typeface="Calibri" pitchFamily="34" charset="-122"/>
                <a:cs typeface="Calibri" pitchFamily="34" charset="-120"/>
              </a:rPr>
              <a:t>: E</a:t>
            </a:r>
            <a:r>
              <a:rPr lang="en-US" sz="1600" dirty="0">
                <a:solidFill>
                  <a:srgbClr val="222222"/>
                </a:solidFill>
                <a:latin typeface="Calibri" pitchFamily="34" charset="0"/>
                <a:ea typeface="Calibri" pitchFamily="34" charset="-122"/>
                <a:cs typeface="Calibri" pitchFamily="34" charset="-120"/>
              </a:rPr>
              <a:t>very operational question has a supporting feature</a:t>
            </a:r>
            <a:endParaRPr lang="tr-TR" sz="1600" dirty="0">
              <a:solidFill>
                <a:srgbClr val="222222"/>
              </a:solidFill>
              <a:latin typeface="Calibri" pitchFamily="34" charset="0"/>
              <a:ea typeface="Calibri" pitchFamily="34" charset="-122"/>
              <a:cs typeface="Calibri" pitchFamily="34" charset="-120"/>
            </a:endParaRPr>
          </a:p>
          <a:p>
            <a:pPr marL="285750" indent="-285750">
              <a:lnSpc>
                <a:spcPct val="106000"/>
              </a:lnSpc>
              <a:buFont typeface="Arial" panose="020B0604020202020204" pitchFamily="34" charset="0"/>
              <a:buChar char="•"/>
            </a:pPr>
            <a:r>
              <a:rPr lang="en-US" sz="1600" dirty="0">
                <a:solidFill>
                  <a:srgbClr val="222222"/>
                </a:solidFill>
                <a:latin typeface="Calibri" pitchFamily="34" charset="0"/>
                <a:ea typeface="Calibri" pitchFamily="34" charset="-122"/>
                <a:cs typeface="Calibri" pitchFamily="34" charset="-120"/>
              </a:rPr>
              <a:t>Grounding</a:t>
            </a:r>
            <a:r>
              <a:rPr lang="tr-TR" sz="1600" dirty="0">
                <a:solidFill>
                  <a:srgbClr val="222222"/>
                </a:solidFill>
                <a:latin typeface="Calibri" pitchFamily="34" charset="0"/>
                <a:ea typeface="Calibri" pitchFamily="34" charset="-122"/>
                <a:cs typeface="Calibri" pitchFamily="34" charset="-120"/>
              </a:rPr>
              <a:t>: E</a:t>
            </a:r>
            <a:r>
              <a:rPr lang="en-US" sz="1600" dirty="0">
                <a:solidFill>
                  <a:srgbClr val="222222"/>
                </a:solidFill>
                <a:latin typeface="Calibri" pitchFamily="34" charset="0"/>
                <a:ea typeface="Calibri" pitchFamily="34" charset="-122"/>
                <a:cs typeface="Calibri" pitchFamily="34" charset="-120"/>
              </a:rPr>
              <a:t>ach feature rests on cited wildfire science</a:t>
            </a:r>
            <a:endParaRPr lang="tr-TR" sz="1600" dirty="0">
              <a:solidFill>
                <a:srgbClr val="222222"/>
              </a:solidFill>
              <a:latin typeface="Calibri" pitchFamily="34" charset="0"/>
              <a:ea typeface="Calibri" pitchFamily="34" charset="-122"/>
              <a:cs typeface="Calibri" pitchFamily="34" charset="-120"/>
            </a:endParaRPr>
          </a:p>
          <a:p>
            <a:pPr marL="285750" indent="-285750">
              <a:lnSpc>
                <a:spcPct val="106000"/>
              </a:lnSpc>
              <a:buFont typeface="Arial" panose="020B0604020202020204" pitchFamily="34" charset="0"/>
              <a:buChar char="•"/>
            </a:pPr>
            <a:r>
              <a:rPr lang="en-US" sz="1600" dirty="0">
                <a:solidFill>
                  <a:srgbClr val="222222"/>
                </a:solidFill>
                <a:latin typeface="Calibri" pitchFamily="34" charset="0"/>
                <a:ea typeface="Calibri" pitchFamily="34" charset="-122"/>
                <a:cs typeface="Calibri" pitchFamily="34" charset="-120"/>
              </a:rPr>
              <a:t>Non-duplication</a:t>
            </a:r>
            <a:r>
              <a:rPr lang="tr-TR" sz="1600" dirty="0">
                <a:solidFill>
                  <a:srgbClr val="222222"/>
                </a:solidFill>
                <a:latin typeface="Calibri" pitchFamily="34" charset="0"/>
                <a:ea typeface="Calibri" pitchFamily="34" charset="-122"/>
                <a:cs typeface="Calibri" pitchFamily="34" charset="-120"/>
              </a:rPr>
              <a:t>:</a:t>
            </a:r>
            <a:r>
              <a:rPr lang="en-US" sz="1600" dirty="0">
                <a:solidFill>
                  <a:srgbClr val="222222"/>
                </a:solidFill>
                <a:latin typeface="Calibri" pitchFamily="34" charset="0"/>
                <a:ea typeface="Calibri" pitchFamily="34" charset="-122"/>
                <a:cs typeface="Calibri" pitchFamily="34" charset="-120"/>
              </a:rPr>
              <a:t> </a:t>
            </a:r>
            <a:r>
              <a:rPr lang="tr-TR" sz="1600" dirty="0">
                <a:solidFill>
                  <a:srgbClr val="222222"/>
                </a:solidFill>
                <a:latin typeface="Calibri" pitchFamily="34" charset="0"/>
                <a:ea typeface="Calibri" pitchFamily="34" charset="-122"/>
                <a:cs typeface="Calibri" pitchFamily="34" charset="-120"/>
              </a:rPr>
              <a:t>N</a:t>
            </a:r>
            <a:r>
              <a:rPr lang="en-US" sz="1600" dirty="0">
                <a:solidFill>
                  <a:srgbClr val="222222"/>
                </a:solidFill>
                <a:latin typeface="Calibri" pitchFamily="34" charset="0"/>
                <a:ea typeface="Calibri" pitchFamily="34" charset="-122"/>
                <a:cs typeface="Calibri" pitchFamily="34" charset="-120"/>
              </a:rPr>
              <a:t>o feature repeats information carried by another. </a:t>
            </a:r>
            <a:endParaRPr lang="tr-TR" sz="1600" dirty="0">
              <a:solidFill>
                <a:srgbClr val="222222"/>
              </a:solidFill>
              <a:latin typeface="Calibri" pitchFamily="34" charset="0"/>
              <a:ea typeface="Calibri" pitchFamily="34" charset="-122"/>
              <a:cs typeface="Calibri" pitchFamily="34" charset="-120"/>
            </a:endParaRPr>
          </a:p>
        </p:txBody>
      </p:sp>
      <p:pic>
        <p:nvPicPr>
          <p:cNvPr id="24" name="Image 0" descr="/tmp/thx/deck/figs/Figure4_1.png">
            <a:extLst>
              <a:ext uri="{FF2B5EF4-FFF2-40B4-BE49-F238E27FC236}">
                <a16:creationId xmlns:a16="http://schemas.microsoft.com/office/drawing/2014/main" id="{0DA6E29E-38A2-46C6-ABE5-64B754FC135E}"/>
              </a:ext>
            </a:extLst>
          </p:cNvPr>
          <p:cNvPicPr>
            <a:picLocks noChangeAspect="1"/>
          </p:cNvPicPr>
          <p:nvPr/>
        </p:nvPicPr>
        <p:blipFill>
          <a:blip r:embed="rId6"/>
          <a:stretch>
            <a:fillRect/>
          </a:stretch>
        </p:blipFill>
        <p:spPr>
          <a:xfrm>
            <a:off x="2231" y="8254"/>
            <a:ext cx="136665" cy="229622"/>
          </a:xfrm>
          <a:prstGeom prst="rect">
            <a:avLst/>
          </a:prstGeom>
        </p:spPr>
      </p:pic>
    </p:spTree>
    <p:extLst>
      <p:ext uri="{BB962C8B-B14F-4D97-AF65-F5344CB8AC3E}">
        <p14:creationId xmlns:p14="http://schemas.microsoft.com/office/powerpoint/2010/main" val="42028874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237744"/>
            <a:ext cx="9144000" cy="292608"/>
          </a:xfrm>
          <a:prstGeom prst="rect">
            <a:avLst/>
          </a:prstGeom>
          <a:noFill/>
          <a:ln/>
        </p:spPr>
        <p:txBody>
          <a:bodyPr wrap="square" lIns="0" tIns="0" rIns="0" bIns="0" rtlCol="0" anchor="ctr"/>
          <a:lstStyle/>
          <a:p>
            <a:pPr marL="0" indent="0">
              <a:buNone/>
            </a:pPr>
            <a:r>
              <a:rPr lang="en-US" sz="1300" b="1" kern="0" spc="200" dirty="0">
                <a:solidFill>
                  <a:srgbClr val="E31836"/>
                </a:solidFill>
                <a:latin typeface="Calibri" pitchFamily="34" charset="0"/>
                <a:ea typeface="Calibri" pitchFamily="34" charset="-122"/>
                <a:cs typeface="Calibri" pitchFamily="34" charset="-120"/>
              </a:rPr>
              <a:t>DSS FRAMEWORK : LAYER 3 OF 4</a:t>
            </a:r>
            <a:endParaRPr lang="en-US" sz="1300" dirty="0"/>
          </a:p>
        </p:txBody>
      </p:sp>
      <p:sp>
        <p:nvSpPr>
          <p:cNvPr id="3" name="Text 1"/>
          <p:cNvSpPr/>
          <p:nvPr/>
        </p:nvSpPr>
        <p:spPr>
          <a:xfrm>
            <a:off x="502920" y="493776"/>
            <a:ext cx="11247120" cy="685800"/>
          </a:xfrm>
          <a:prstGeom prst="rect">
            <a:avLst/>
          </a:prstGeom>
          <a:noFill/>
          <a:ln/>
        </p:spPr>
        <p:txBody>
          <a:bodyPr wrap="square" lIns="0" tIns="0" rIns="0" bIns="0" rtlCol="0" anchor="ctr"/>
          <a:lstStyle/>
          <a:p>
            <a:pPr marL="0" indent="0">
              <a:buNone/>
            </a:pPr>
            <a:r>
              <a:rPr lang="en-US" sz="2400" b="1" dirty="0">
                <a:solidFill>
                  <a:srgbClr val="000000"/>
                </a:solidFill>
                <a:latin typeface="Cambria" pitchFamily="34" charset="0"/>
                <a:ea typeface="Cambria" pitchFamily="34" charset="-122"/>
                <a:cs typeface="Cambria" pitchFamily="34" charset="-120"/>
              </a:rPr>
              <a:t>Layer 3 : Concept Space</a:t>
            </a:r>
            <a:r>
              <a:rPr lang="tr-TR" sz="2400" b="1" dirty="0">
                <a:solidFill>
                  <a:srgbClr val="000000"/>
                </a:solidFill>
                <a:latin typeface="Cambria" pitchFamily="34" charset="0"/>
                <a:ea typeface="Cambria" pitchFamily="34" charset="-122"/>
                <a:cs typeface="Cambria" pitchFamily="34" charset="-120"/>
              </a:rPr>
              <a:t> – </a:t>
            </a:r>
            <a:r>
              <a:rPr lang="en-US" sz="2400" b="1" dirty="0">
                <a:solidFill>
                  <a:srgbClr val="000000"/>
                </a:solidFill>
                <a:latin typeface="Cambria" pitchFamily="34" charset="0"/>
                <a:ea typeface="Cambria" pitchFamily="34" charset="-122"/>
                <a:cs typeface="Cambria" pitchFamily="34" charset="-120"/>
              </a:rPr>
              <a:t>Mamdani or Takagi–Sugeno</a:t>
            </a:r>
            <a:endParaRPr lang="en-US" sz="2400" dirty="0"/>
          </a:p>
        </p:txBody>
      </p:sp>
      <p:pic>
        <p:nvPicPr>
          <p:cNvPr id="4" name="Image 0" descr="/tmp/thx/deck/figs/metu_emblem.png"/>
          <p:cNvPicPr>
            <a:picLocks noChangeAspect="1"/>
          </p:cNvPicPr>
          <p:nvPr/>
        </p:nvPicPr>
        <p:blipFill>
          <a:blip r:embed="rId3"/>
          <a:stretch>
            <a:fillRect/>
          </a:stretch>
        </p:blipFill>
        <p:spPr>
          <a:xfrm>
            <a:off x="10716768" y="184607"/>
            <a:ext cx="475488" cy="398882"/>
          </a:xfrm>
          <a:prstGeom prst="rect">
            <a:avLst/>
          </a:prstGeom>
        </p:spPr>
      </p:pic>
      <p:pic>
        <p:nvPicPr>
          <p:cNvPr id="5" name="Image 1" descr="/tmp/thx/deck/figs/eee_logo.png"/>
          <p:cNvPicPr>
            <a:picLocks noChangeAspect="1"/>
          </p:cNvPicPr>
          <p:nvPr/>
        </p:nvPicPr>
        <p:blipFill>
          <a:blip r:embed="rId4"/>
          <a:stretch>
            <a:fillRect/>
          </a:stretch>
        </p:blipFill>
        <p:spPr>
          <a:xfrm>
            <a:off x="11265408" y="186217"/>
            <a:ext cx="475488" cy="395662"/>
          </a:xfrm>
          <a:prstGeom prst="rect">
            <a:avLst/>
          </a:prstGeom>
        </p:spPr>
      </p:pic>
      <p:sp>
        <p:nvSpPr>
          <p:cNvPr id="14" name="Text 4">
            <a:extLst>
              <a:ext uri="{FF2B5EF4-FFF2-40B4-BE49-F238E27FC236}">
                <a16:creationId xmlns:a16="http://schemas.microsoft.com/office/drawing/2014/main" id="{66A960F1-0707-493A-A361-E666F81B8B91}"/>
              </a:ext>
            </a:extLst>
          </p:cNvPr>
          <p:cNvSpPr/>
          <p:nvPr/>
        </p:nvSpPr>
        <p:spPr>
          <a:xfrm>
            <a:off x="502920" y="1078992"/>
            <a:ext cx="11247120" cy="292608"/>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nSpc>
                <a:spcPct val="102000"/>
              </a:lnSpc>
              <a:spcAft>
                <a:spcPts val="0"/>
              </a:spcAft>
              <a:buNone/>
            </a:pPr>
            <a:r>
              <a:rPr lang="en-US" sz="1400" b="1" i="0" dirty="0">
                <a:solidFill>
                  <a:srgbClr val="222222"/>
                </a:solidFill>
                <a:latin typeface="Calibri" pitchFamily="34" charset="0"/>
                <a:ea typeface="Calibri" pitchFamily="34" charset="-122"/>
                <a:cs typeface="Calibri" pitchFamily="34" charset="-120"/>
              </a:rPr>
              <a:t>Both are fuzzy, and the conditions are identical — only the consequent differs: a word, or a number.</a:t>
            </a:r>
            <a:endParaRPr lang="en-US" sz="1400" dirty="0"/>
          </a:p>
        </p:txBody>
      </p:sp>
      <p:sp>
        <p:nvSpPr>
          <p:cNvPr id="25" name="Shape 15">
            <a:extLst>
              <a:ext uri="{FF2B5EF4-FFF2-40B4-BE49-F238E27FC236}">
                <a16:creationId xmlns:a16="http://schemas.microsoft.com/office/drawing/2014/main" id="{4803B180-7FD4-4A46-8571-95CAE7E0DD20}"/>
              </a:ext>
            </a:extLst>
          </p:cNvPr>
          <p:cNvSpPr/>
          <p:nvPr/>
        </p:nvSpPr>
        <p:spPr>
          <a:xfrm>
            <a:off x="475488" y="5882266"/>
            <a:ext cx="11228832" cy="548640"/>
          </a:xfrm>
          <a:prstGeom prst="roundRect">
            <a:avLst>
              <a:gd name="adj" fmla="val 2564"/>
            </a:avLst>
          </a:prstGeom>
          <a:solidFill>
            <a:srgbClr val="F2F2F2"/>
          </a:solidFill>
          <a:ln/>
        </p:spPr>
        <p:txBody>
          <a:bodyPr/>
          <a:lstStyle/>
          <a:p>
            <a:endParaRPr lang="tr-TR"/>
          </a:p>
        </p:txBody>
      </p:sp>
      <p:sp>
        <p:nvSpPr>
          <p:cNvPr id="26" name="Text 16">
            <a:extLst>
              <a:ext uri="{FF2B5EF4-FFF2-40B4-BE49-F238E27FC236}">
                <a16:creationId xmlns:a16="http://schemas.microsoft.com/office/drawing/2014/main" id="{ED24557F-324B-4FC8-984D-7769AA977E8E}"/>
              </a:ext>
            </a:extLst>
          </p:cNvPr>
          <p:cNvSpPr/>
          <p:nvPr/>
        </p:nvSpPr>
        <p:spPr>
          <a:xfrm>
            <a:off x="749808" y="6019426"/>
            <a:ext cx="10698480" cy="292608"/>
          </a:xfrm>
          <a:prstGeom prst="rect">
            <a:avLst/>
          </a:prstGeom>
          <a:noFill/>
          <a:ln/>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ct val="102000"/>
              </a:lnSpc>
              <a:spcAft>
                <a:spcPts val="0"/>
              </a:spcAft>
              <a:buNone/>
            </a:pPr>
            <a:r>
              <a:rPr lang="en-US" sz="1300" b="1" i="0" dirty="0">
                <a:solidFill>
                  <a:srgbClr val="222222"/>
                </a:solidFill>
                <a:latin typeface="Calibri" pitchFamily="34" charset="0"/>
                <a:ea typeface="Calibri" pitchFamily="34" charset="-122"/>
                <a:cs typeface="Calibri" pitchFamily="34" charset="-120"/>
              </a:rPr>
              <a:t>Both return about the same number. The difference is what survives the computation.</a:t>
            </a:r>
            <a:endParaRPr lang="en-US" sz="1300" dirty="0"/>
          </a:p>
        </p:txBody>
      </p:sp>
      <p:pic>
        <p:nvPicPr>
          <p:cNvPr id="880" name="Figure Inference"/>
          <p:cNvPicPr>
            <a:picLocks noChangeAspect="1"/>
          </p:cNvPicPr>
          <p:nvPr/>
        </p:nvPicPr>
        <p:blipFill>
          <a:blip r:embed="rId5"/>
          <a:stretch>
            <a:fillRect/>
          </a:stretch>
        </p:blipFill>
        <p:spPr>
          <a:xfrm>
            <a:off x="975208" y="1389888"/>
            <a:ext cx="10241280" cy="4291210"/>
          </a:xfrm>
          <a:prstGeom prst="rect">
            <a:avLst/>
          </a:prstGeom>
        </p:spPr>
      </p:pic>
    </p:spTree>
    <p:extLst>
      <p:ext uri="{BB962C8B-B14F-4D97-AF65-F5344CB8AC3E}">
        <p14:creationId xmlns:p14="http://schemas.microsoft.com/office/powerpoint/2010/main" val="193274615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237744"/>
            <a:ext cx="9144000" cy="292608"/>
          </a:xfrm>
          <a:prstGeom prst="rect">
            <a:avLst/>
          </a:prstGeom>
          <a:noFill/>
          <a:ln/>
        </p:spPr>
        <p:txBody>
          <a:bodyPr wrap="square" lIns="0" tIns="0" rIns="0" bIns="0" rtlCol="0" anchor="ctr"/>
          <a:lstStyle/>
          <a:p>
            <a:pPr marL="0" indent="0">
              <a:buNone/>
            </a:pPr>
            <a:r>
              <a:rPr lang="en-US" sz="1300" b="1" kern="0" spc="200" dirty="0">
                <a:solidFill>
                  <a:srgbClr val="E31836"/>
                </a:solidFill>
                <a:latin typeface="Calibri" pitchFamily="34" charset="0"/>
                <a:ea typeface="Calibri" pitchFamily="34" charset="-122"/>
                <a:cs typeface="Calibri" pitchFamily="34" charset="-120"/>
              </a:rPr>
              <a:t>DSS FRAMEWORK : LAYER 3 OF 4</a:t>
            </a:r>
            <a:endParaRPr lang="en-US" sz="1300" dirty="0"/>
          </a:p>
        </p:txBody>
      </p:sp>
      <p:sp>
        <p:nvSpPr>
          <p:cNvPr id="3" name="Text 1"/>
          <p:cNvSpPr/>
          <p:nvPr/>
        </p:nvSpPr>
        <p:spPr>
          <a:xfrm>
            <a:off x="502920" y="493776"/>
            <a:ext cx="11247120" cy="685800"/>
          </a:xfrm>
          <a:prstGeom prst="rect">
            <a:avLst/>
          </a:prstGeom>
          <a:noFill/>
          <a:ln/>
        </p:spPr>
        <p:txBody>
          <a:bodyPr wrap="square" lIns="0" tIns="0" rIns="0" bIns="0" rtlCol="0" anchor="ctr"/>
          <a:lstStyle/>
          <a:p>
            <a:pPr marL="0" indent="0">
              <a:buNone/>
            </a:pPr>
            <a:r>
              <a:rPr lang="en-US" sz="2400" b="1" dirty="0">
                <a:solidFill>
                  <a:srgbClr val="000000"/>
                </a:solidFill>
                <a:latin typeface="Cambria" pitchFamily="34" charset="0"/>
                <a:ea typeface="Cambria" pitchFamily="34" charset="-122"/>
                <a:cs typeface="Cambria" pitchFamily="34" charset="-120"/>
              </a:rPr>
              <a:t>Layer 3 : Concept Space</a:t>
            </a:r>
            <a:r>
              <a:rPr lang="tr-TR" sz="2400" b="1" dirty="0">
                <a:solidFill>
                  <a:srgbClr val="000000"/>
                </a:solidFill>
                <a:latin typeface="Cambria" pitchFamily="34" charset="0"/>
                <a:ea typeface="Cambria" pitchFamily="34" charset="-122"/>
                <a:cs typeface="Cambria" pitchFamily="34" charset="-120"/>
              </a:rPr>
              <a:t> – </a:t>
            </a:r>
            <a:r>
              <a:rPr lang="en-US" sz="2400" b="1" dirty="0">
                <a:solidFill>
                  <a:srgbClr val="000000"/>
                </a:solidFill>
                <a:latin typeface="Cambria" pitchFamily="34" charset="0"/>
                <a:ea typeface="Cambria" pitchFamily="34" charset="-122"/>
                <a:cs typeface="Cambria" pitchFamily="34" charset="-120"/>
              </a:rPr>
              <a:t>Why Zero-Order Takagi–Sugeno</a:t>
            </a:r>
            <a:endParaRPr lang="en-US" sz="2400" dirty="0"/>
          </a:p>
        </p:txBody>
      </p:sp>
      <p:pic>
        <p:nvPicPr>
          <p:cNvPr id="4" name="Image 0" descr="/tmp/thx/deck/figs/metu_emblem.png"/>
          <p:cNvPicPr>
            <a:picLocks noChangeAspect="1"/>
          </p:cNvPicPr>
          <p:nvPr/>
        </p:nvPicPr>
        <p:blipFill>
          <a:blip r:embed="rId3"/>
          <a:stretch>
            <a:fillRect/>
          </a:stretch>
        </p:blipFill>
        <p:spPr>
          <a:xfrm>
            <a:off x="10716768" y="184607"/>
            <a:ext cx="475488" cy="398882"/>
          </a:xfrm>
          <a:prstGeom prst="rect">
            <a:avLst/>
          </a:prstGeom>
        </p:spPr>
      </p:pic>
      <p:pic>
        <p:nvPicPr>
          <p:cNvPr id="5" name="Image 1" descr="/tmp/thx/deck/figs/eee_logo.png"/>
          <p:cNvPicPr>
            <a:picLocks noChangeAspect="1"/>
          </p:cNvPicPr>
          <p:nvPr/>
        </p:nvPicPr>
        <p:blipFill>
          <a:blip r:embed="rId4"/>
          <a:stretch>
            <a:fillRect/>
          </a:stretch>
        </p:blipFill>
        <p:spPr>
          <a:xfrm>
            <a:off x="11265408" y="186217"/>
            <a:ext cx="475488" cy="395662"/>
          </a:xfrm>
          <a:prstGeom prst="rect">
            <a:avLst/>
          </a:prstGeom>
        </p:spPr>
      </p:pic>
      <p:sp>
        <p:nvSpPr>
          <p:cNvPr id="14" name="Text 4">
            <a:extLst>
              <a:ext uri="{FF2B5EF4-FFF2-40B4-BE49-F238E27FC236}">
                <a16:creationId xmlns:a16="http://schemas.microsoft.com/office/drawing/2014/main" id="{66A960F1-0707-493A-A361-E666F81B8B91}"/>
              </a:ext>
            </a:extLst>
          </p:cNvPr>
          <p:cNvSpPr/>
          <p:nvPr/>
        </p:nvSpPr>
        <p:spPr>
          <a:xfrm>
            <a:off x="502920" y="1078992"/>
            <a:ext cx="11247120" cy="292608"/>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nSpc>
                <a:spcPct val="102000"/>
              </a:lnSpc>
              <a:spcAft>
                <a:spcPts val="0"/>
              </a:spcAft>
              <a:buNone/>
            </a:pPr>
            <a:r>
              <a:rPr lang="en-US" sz="1400" b="1" i="0" dirty="0">
                <a:solidFill>
                  <a:srgbClr val="222222"/>
                </a:solidFill>
                <a:latin typeface="Calibri" pitchFamily="34" charset="0"/>
                <a:ea typeface="Calibri" pitchFamily="34" charset="-122"/>
                <a:cs typeface="Calibri" pitchFamily="34" charset="-120"/>
              </a:rPr>
              <a:t>Three things the framework demands of the inference — and only one family gives all three.</a:t>
            </a:r>
            <a:endParaRPr lang="en-US" sz="1400" dirty="0"/>
          </a:p>
        </p:txBody>
      </p:sp>
      <p:sp>
        <p:nvSpPr>
          <p:cNvPr id="25" name="Shape 15">
            <a:extLst>
              <a:ext uri="{FF2B5EF4-FFF2-40B4-BE49-F238E27FC236}">
                <a16:creationId xmlns:a16="http://schemas.microsoft.com/office/drawing/2014/main" id="{4803B180-7FD4-4A46-8571-95CAE7E0DD20}"/>
              </a:ext>
            </a:extLst>
          </p:cNvPr>
          <p:cNvSpPr/>
          <p:nvPr/>
        </p:nvSpPr>
        <p:spPr>
          <a:xfrm>
            <a:off x="475488" y="5313859"/>
            <a:ext cx="11228832" cy="548640"/>
          </a:xfrm>
          <a:prstGeom prst="roundRect">
            <a:avLst>
              <a:gd name="adj" fmla="val 2564"/>
            </a:avLst>
          </a:prstGeom>
          <a:solidFill>
            <a:srgbClr val="F2F2F2"/>
          </a:solidFill>
          <a:ln/>
        </p:spPr>
        <p:txBody>
          <a:bodyPr/>
          <a:lstStyle/>
          <a:p>
            <a:endParaRPr lang="tr-TR"/>
          </a:p>
        </p:txBody>
      </p:sp>
      <p:sp>
        <p:nvSpPr>
          <p:cNvPr id="26" name="Text 16">
            <a:extLst>
              <a:ext uri="{FF2B5EF4-FFF2-40B4-BE49-F238E27FC236}">
                <a16:creationId xmlns:a16="http://schemas.microsoft.com/office/drawing/2014/main" id="{ED24557F-324B-4FC8-984D-7769AA977E8E}"/>
              </a:ext>
            </a:extLst>
          </p:cNvPr>
          <p:cNvSpPr/>
          <p:nvPr/>
        </p:nvSpPr>
        <p:spPr>
          <a:xfrm>
            <a:off x="749808" y="5451019"/>
            <a:ext cx="10698480" cy="292608"/>
          </a:xfrm>
          <a:prstGeom prst="rect">
            <a:avLst/>
          </a:prstGeom>
          <a:noFill/>
          <a:ln/>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ct val="102000"/>
              </a:lnSpc>
              <a:spcAft>
                <a:spcPts val="0"/>
              </a:spcAft>
              <a:buNone/>
            </a:pPr>
            <a:r>
              <a:rPr lang="en-US" sz="1300" b="1" i="0" dirty="0">
                <a:solidFill>
                  <a:srgbClr val="222222"/>
                </a:solidFill>
                <a:latin typeface="Calibri" pitchFamily="34" charset="0"/>
                <a:ea typeface="Calibri" pitchFamily="34" charset="-122"/>
                <a:cs typeface="Calibri" pitchFamily="34" charset="-120"/>
              </a:rPr>
              <a:t>The choice follows from the framework, not from taste.</a:t>
            </a:r>
            <a:endParaRPr lang="en-US" sz="1300" dirty="0"/>
          </a:p>
        </p:txBody>
      </p:sp>
      <p:pic>
        <p:nvPicPr>
          <p:cNvPr id="881" name="Figure Inference"/>
          <p:cNvPicPr>
            <a:picLocks noChangeAspect="1"/>
          </p:cNvPicPr>
          <p:nvPr/>
        </p:nvPicPr>
        <p:blipFill>
          <a:blip r:embed="rId5"/>
          <a:stretch>
            <a:fillRect/>
          </a:stretch>
        </p:blipFill>
        <p:spPr>
          <a:xfrm>
            <a:off x="655168" y="1389888"/>
            <a:ext cx="10881360" cy="3722803"/>
          </a:xfrm>
          <a:prstGeom prst="rect">
            <a:avLst/>
          </a:prstGeom>
        </p:spPr>
      </p:pic>
    </p:spTree>
    <p:extLst>
      <p:ext uri="{BB962C8B-B14F-4D97-AF65-F5344CB8AC3E}">
        <p14:creationId xmlns:p14="http://schemas.microsoft.com/office/powerpoint/2010/main" val="150818280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237744"/>
            <a:ext cx="9144000" cy="292608"/>
          </a:xfrm>
          <a:prstGeom prst="rect">
            <a:avLst/>
          </a:prstGeom>
          <a:noFill/>
          <a:ln/>
        </p:spPr>
        <p:txBody>
          <a:bodyPr wrap="square" lIns="0" tIns="0" rIns="0" bIns="0" rtlCol="0" anchor="ctr"/>
          <a:lstStyle/>
          <a:p>
            <a:pPr marL="0" indent="0">
              <a:buNone/>
            </a:pPr>
            <a:r>
              <a:rPr lang="en-US" sz="1300" b="1" kern="0" spc="200" dirty="0">
                <a:solidFill>
                  <a:srgbClr val="E31836"/>
                </a:solidFill>
                <a:latin typeface="Calibri" pitchFamily="34" charset="0"/>
                <a:ea typeface="Calibri" pitchFamily="34" charset="-122"/>
                <a:cs typeface="Calibri" pitchFamily="34" charset="-120"/>
              </a:rPr>
              <a:t>DSS FRAMEWORK : LAYER 3 OF 4</a:t>
            </a:r>
            <a:endParaRPr lang="en-US" sz="1300" dirty="0"/>
          </a:p>
        </p:txBody>
      </p:sp>
      <p:sp>
        <p:nvSpPr>
          <p:cNvPr id="3" name="Text 1"/>
          <p:cNvSpPr/>
          <p:nvPr/>
        </p:nvSpPr>
        <p:spPr>
          <a:xfrm>
            <a:off x="502920" y="493776"/>
            <a:ext cx="11247120" cy="685800"/>
          </a:xfrm>
          <a:prstGeom prst="rect">
            <a:avLst/>
          </a:prstGeom>
          <a:noFill/>
          <a:ln/>
        </p:spPr>
        <p:txBody>
          <a:bodyPr wrap="square" lIns="0" tIns="0" rIns="0" bIns="0" rtlCol="0" anchor="ctr"/>
          <a:lstStyle/>
          <a:p>
            <a:pPr marL="0" indent="0">
              <a:buNone/>
            </a:pPr>
            <a:r>
              <a:rPr lang="en-US" sz="2400" b="1" dirty="0">
                <a:solidFill>
                  <a:srgbClr val="000000"/>
                </a:solidFill>
                <a:latin typeface="Cambria" pitchFamily="34" charset="0"/>
                <a:ea typeface="Cambria" pitchFamily="34" charset="-122"/>
                <a:cs typeface="Cambria" pitchFamily="34" charset="-120"/>
              </a:rPr>
              <a:t>Layer 3 : Concept Space</a:t>
            </a:r>
            <a:r>
              <a:rPr lang="tr-TR" sz="2400" b="1" dirty="0">
                <a:solidFill>
                  <a:srgbClr val="000000"/>
                </a:solidFill>
                <a:latin typeface="Cambria" pitchFamily="34" charset="0"/>
                <a:ea typeface="Cambria" pitchFamily="34" charset="-122"/>
                <a:cs typeface="Cambria" pitchFamily="34" charset="-120"/>
              </a:rPr>
              <a:t> – </a:t>
            </a:r>
            <a:r>
              <a:rPr lang="en-US" sz="2400" b="1" dirty="0">
                <a:solidFill>
                  <a:srgbClr val="000000"/>
                </a:solidFill>
                <a:latin typeface="Cambria" pitchFamily="34" charset="0"/>
                <a:ea typeface="Cambria" pitchFamily="34" charset="-122"/>
                <a:cs typeface="Cambria" pitchFamily="34" charset="-120"/>
              </a:rPr>
              <a:t>What Is Not Given Up</a:t>
            </a:r>
            <a:endParaRPr lang="en-US" sz="2400" dirty="0"/>
          </a:p>
        </p:txBody>
      </p:sp>
      <p:pic>
        <p:nvPicPr>
          <p:cNvPr id="4" name="Image 0" descr="/tmp/thx/deck/figs/metu_emblem.png"/>
          <p:cNvPicPr>
            <a:picLocks noChangeAspect="1"/>
          </p:cNvPicPr>
          <p:nvPr/>
        </p:nvPicPr>
        <p:blipFill>
          <a:blip r:embed="rId3"/>
          <a:stretch>
            <a:fillRect/>
          </a:stretch>
        </p:blipFill>
        <p:spPr>
          <a:xfrm>
            <a:off x="10716768" y="184607"/>
            <a:ext cx="475488" cy="398882"/>
          </a:xfrm>
          <a:prstGeom prst="rect">
            <a:avLst/>
          </a:prstGeom>
        </p:spPr>
      </p:pic>
      <p:pic>
        <p:nvPicPr>
          <p:cNvPr id="5" name="Image 1" descr="/tmp/thx/deck/figs/eee_logo.png"/>
          <p:cNvPicPr>
            <a:picLocks noChangeAspect="1"/>
          </p:cNvPicPr>
          <p:nvPr/>
        </p:nvPicPr>
        <p:blipFill>
          <a:blip r:embed="rId4"/>
          <a:stretch>
            <a:fillRect/>
          </a:stretch>
        </p:blipFill>
        <p:spPr>
          <a:xfrm>
            <a:off x="11265408" y="186217"/>
            <a:ext cx="475488" cy="395662"/>
          </a:xfrm>
          <a:prstGeom prst="rect">
            <a:avLst/>
          </a:prstGeom>
        </p:spPr>
      </p:pic>
      <p:sp>
        <p:nvSpPr>
          <p:cNvPr id="14" name="Text 4">
            <a:extLst>
              <a:ext uri="{FF2B5EF4-FFF2-40B4-BE49-F238E27FC236}">
                <a16:creationId xmlns:a16="http://schemas.microsoft.com/office/drawing/2014/main" id="{66A960F1-0707-493A-A361-E666F81B8B91}"/>
              </a:ext>
            </a:extLst>
          </p:cNvPr>
          <p:cNvSpPr/>
          <p:nvPr/>
        </p:nvSpPr>
        <p:spPr>
          <a:xfrm>
            <a:off x="502920" y="1078992"/>
            <a:ext cx="11247120" cy="292608"/>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nSpc>
                <a:spcPct val="102000"/>
              </a:lnSpc>
              <a:spcAft>
                <a:spcPts val="0"/>
              </a:spcAft>
              <a:buNone/>
            </a:pPr>
            <a:r>
              <a:rPr lang="en-US" sz="1400" b="1" i="0" dirty="0">
                <a:solidFill>
                  <a:srgbClr val="222222"/>
                </a:solidFill>
                <a:latin typeface="Calibri" pitchFamily="34" charset="0"/>
                <a:ea typeface="Calibri" pitchFamily="34" charset="-122"/>
                <a:cs typeface="Calibri" pitchFamily="34" charset="-120"/>
              </a:rPr>
              <a:t>The conditions stay in words. Only the order is a number.</a:t>
            </a:r>
            <a:endParaRPr lang="en-US" sz="1400" dirty="0"/>
          </a:p>
        </p:txBody>
      </p:sp>
      <p:sp>
        <p:nvSpPr>
          <p:cNvPr id="25" name="Shape 15">
            <a:extLst>
              <a:ext uri="{FF2B5EF4-FFF2-40B4-BE49-F238E27FC236}">
                <a16:creationId xmlns:a16="http://schemas.microsoft.com/office/drawing/2014/main" id="{4803B180-7FD4-4A46-8571-95CAE7E0DD20}"/>
              </a:ext>
            </a:extLst>
          </p:cNvPr>
          <p:cNvSpPr/>
          <p:nvPr/>
        </p:nvSpPr>
        <p:spPr>
          <a:xfrm>
            <a:off x="475488" y="5698011"/>
            <a:ext cx="11228832" cy="548640"/>
          </a:xfrm>
          <a:prstGeom prst="roundRect">
            <a:avLst>
              <a:gd name="adj" fmla="val 2564"/>
            </a:avLst>
          </a:prstGeom>
          <a:solidFill>
            <a:srgbClr val="F2F2F2"/>
          </a:solidFill>
          <a:ln/>
        </p:spPr>
        <p:txBody>
          <a:bodyPr/>
          <a:lstStyle/>
          <a:p>
            <a:endParaRPr lang="tr-TR"/>
          </a:p>
        </p:txBody>
      </p:sp>
      <p:sp>
        <p:nvSpPr>
          <p:cNvPr id="26" name="Text 16">
            <a:extLst>
              <a:ext uri="{FF2B5EF4-FFF2-40B4-BE49-F238E27FC236}">
                <a16:creationId xmlns:a16="http://schemas.microsoft.com/office/drawing/2014/main" id="{ED24557F-324B-4FC8-984D-7769AA977E8E}"/>
              </a:ext>
            </a:extLst>
          </p:cNvPr>
          <p:cNvSpPr/>
          <p:nvPr/>
        </p:nvSpPr>
        <p:spPr>
          <a:xfrm>
            <a:off x="749808" y="5835171"/>
            <a:ext cx="10698480" cy="292608"/>
          </a:xfrm>
          <a:prstGeom prst="rect">
            <a:avLst/>
          </a:prstGeom>
          <a:noFill/>
          <a:ln/>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ct val="102000"/>
              </a:lnSpc>
              <a:spcAft>
                <a:spcPts val="0"/>
              </a:spcAft>
              <a:buNone/>
            </a:pPr>
            <a:r>
              <a:rPr lang="en-US" sz="1300" b="1" i="0" dirty="0">
                <a:solidFill>
                  <a:srgbClr val="222222"/>
                </a:solidFill>
                <a:latin typeface="Calibri" pitchFamily="34" charset="0"/>
                <a:ea typeface="Calibri" pitchFamily="34" charset="-122"/>
                <a:cs typeface="Calibri" pitchFamily="34" charset="-120"/>
              </a:rPr>
              <a:t>Mamdani’s strength is kept exactly where it matters — on the condition side.</a:t>
            </a:r>
            <a:endParaRPr lang="en-US" sz="1300" dirty="0"/>
          </a:p>
        </p:txBody>
      </p:sp>
      <p:pic>
        <p:nvPicPr>
          <p:cNvPr id="882" name="Figure Inference"/>
          <p:cNvPicPr>
            <a:picLocks noChangeAspect="1"/>
          </p:cNvPicPr>
          <p:nvPr/>
        </p:nvPicPr>
        <p:blipFill>
          <a:blip r:embed="rId5"/>
          <a:stretch>
            <a:fillRect/>
          </a:stretch>
        </p:blipFill>
        <p:spPr>
          <a:xfrm>
            <a:off x="655168" y="1389888"/>
            <a:ext cx="10881360" cy="4106955"/>
          </a:xfrm>
          <a:prstGeom prst="rect">
            <a:avLst/>
          </a:prstGeom>
        </p:spPr>
      </p:pic>
    </p:spTree>
    <p:extLst>
      <p:ext uri="{BB962C8B-B14F-4D97-AF65-F5344CB8AC3E}">
        <p14:creationId xmlns:p14="http://schemas.microsoft.com/office/powerpoint/2010/main" val="279753101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237744"/>
            <a:ext cx="10058400" cy="292608"/>
          </a:xfrm>
          <a:prstGeom prst="rect">
            <a:avLst/>
          </a:prstGeom>
          <a:noFill/>
          <a:ln/>
        </p:spPr>
        <p:txBody>
          <a:bodyPr wrap="square" lIns="0" tIns="0" rIns="0" bIns="0" rtlCol="0" anchor="ctr"/>
          <a:lstStyle/>
          <a:p>
            <a:pPr marL="0" indent="0">
              <a:buNone/>
            </a:pPr>
            <a:r>
              <a:rPr lang="en-US" sz="1300" b="1" kern="0" spc="200" dirty="0">
                <a:solidFill>
                  <a:srgbClr val="E31836"/>
                </a:solidFill>
                <a:latin typeface="Calibri" pitchFamily="34" charset="0"/>
                <a:ea typeface="Calibri" pitchFamily="34" charset="-122"/>
                <a:cs typeface="Calibri" pitchFamily="34" charset="-120"/>
              </a:rPr>
              <a:t>DSS FRAMEWORK : LAYER 4 OF 4</a:t>
            </a:r>
            <a:endParaRPr lang="en-US" sz="1300" dirty="0"/>
          </a:p>
        </p:txBody>
      </p:sp>
      <p:sp>
        <p:nvSpPr>
          <p:cNvPr id="3" name="Text 1"/>
          <p:cNvSpPr/>
          <p:nvPr/>
        </p:nvSpPr>
        <p:spPr>
          <a:xfrm>
            <a:off x="502920" y="493776"/>
            <a:ext cx="11247120" cy="621792"/>
          </a:xfrm>
          <a:prstGeom prst="rect">
            <a:avLst/>
          </a:prstGeom>
          <a:noFill/>
          <a:ln/>
        </p:spPr>
        <p:txBody>
          <a:bodyPr wrap="square" lIns="0" tIns="0" rIns="0" bIns="0" rtlCol="0" anchor="ctr"/>
          <a:lstStyle/>
          <a:p>
            <a:pPr marL="0" indent="0">
              <a:buNone/>
            </a:pPr>
            <a:r>
              <a:rPr lang="en-US" sz="2500" b="1" dirty="0">
                <a:solidFill>
                  <a:srgbClr val="000000"/>
                </a:solidFill>
                <a:latin typeface="Cambria" pitchFamily="34" charset="0"/>
                <a:ea typeface="Cambria" pitchFamily="34" charset="-122"/>
                <a:cs typeface="Cambria" pitchFamily="34" charset="-120"/>
              </a:rPr>
              <a:t>Stage ③ in the Record : Admitted and Refused</a:t>
            </a:r>
            <a:endParaRPr lang="en-US" sz="2500" dirty="0"/>
          </a:p>
        </p:txBody>
      </p:sp>
      <p:pic>
        <p:nvPicPr>
          <p:cNvPr id="4" name="Image 0" descr="/tmp/thx/deck/figs/metu_emblem.png"/>
          <p:cNvPicPr>
            <a:picLocks noChangeAspect="1"/>
          </p:cNvPicPr>
          <p:nvPr/>
        </p:nvPicPr>
        <p:blipFill>
          <a:blip r:embed="rId3"/>
          <a:stretch>
            <a:fillRect/>
          </a:stretch>
        </p:blipFill>
        <p:spPr>
          <a:xfrm>
            <a:off x="10716768" y="184607"/>
            <a:ext cx="475488" cy="398882"/>
          </a:xfrm>
          <a:prstGeom prst="rect">
            <a:avLst/>
          </a:prstGeom>
        </p:spPr>
      </p:pic>
      <p:pic>
        <p:nvPicPr>
          <p:cNvPr id="5" name="Image 1" descr="/tmp/thx/deck/figs/eee_logo.png"/>
          <p:cNvPicPr>
            <a:picLocks noChangeAspect="1"/>
          </p:cNvPicPr>
          <p:nvPr/>
        </p:nvPicPr>
        <p:blipFill>
          <a:blip r:embed="rId4"/>
          <a:stretch>
            <a:fillRect/>
          </a:stretch>
        </p:blipFill>
        <p:spPr>
          <a:xfrm>
            <a:off x="11265408" y="186217"/>
            <a:ext cx="475488" cy="395662"/>
          </a:xfrm>
          <a:prstGeom prst="rect">
            <a:avLst/>
          </a:prstGeom>
        </p:spPr>
      </p:pic>
      <p:sp>
        <p:nvSpPr>
          <p:cNvPr id="8501" name="Head adm"/>
          <p:cNvSpPr/>
          <p:nvPr/>
        </p:nvSpPr>
        <p:spPr>
          <a:xfrm>
            <a:off x="457200" y="1188720"/>
            <a:ext cx="5532120" cy="274320"/>
          </a:xfrm>
          <a:prstGeom prst="rect">
            <a:avLst/>
          </a:prstGeom>
          <a:noFill/>
          <a:ln/>
        </p:spPr>
        <p:txBody>
          <a:bodyPr wrap="square" lIns="0" tIns="0" rIns="0" bIns="0" rtlCol="0" anchor="t"/>
          <a:lstStyle/>
          <a:p>
            <a:pPr marL="0" indent="0">
              <a:lnSpc>
                <a:spcPct val="102000"/>
              </a:lnSpc>
              <a:spcAft>
                <a:spcPts val="0"/>
              </a:spcAft>
              <a:buNone/>
            </a:pPr>
            <a:r>
              <a:rPr lang="en-US" sz="1200" b="1" i="0" dirty="0">
                <a:solidFill>
                  <a:srgbClr val="2E7D32"/>
                </a:solidFill>
                <a:latin typeface="Calibri" pitchFamily="34" charset="0"/>
                <a:ea typeface="Calibri" pitchFamily="34" charset="-122"/>
                <a:cs typeface="Calibri" pitchFamily="34" charset="-120"/>
              </a:rPr>
              <a:t>ADMITTED, AND WHY IT WAS KEPT</a:t>
            </a:r>
            <a:endParaRPr lang="en-US" sz="1200" dirty="0"/>
          </a:p>
        </p:txBody>
      </p:sp>
      <p:sp>
        <p:nvSpPr>
          <p:cNvPr id="8502" name="Box adm"/>
          <p:cNvSpPr/>
          <p:nvPr/>
        </p:nvSpPr>
        <p:spPr>
          <a:xfrm>
            <a:off x="457200" y="1517904"/>
            <a:ext cx="5532120" cy="4617720"/>
          </a:xfrm>
          <a:prstGeom prst="roundRect">
            <a:avLst>
              <a:gd name="adj" fmla="val 4000"/>
            </a:avLst>
          </a:prstGeom>
          <a:solidFill>
            <a:srgbClr val="F1F7F1"/>
          </a:solidFill>
          <a:ln>
            <a:noFill/>
          </a:ln>
        </p:spPr>
        <p:txBody>
          <a:bodyPr/>
          <a:lstStyle/>
          <a:p>
            <a:endParaRPr lang="en-US"/>
          </a:p>
        </p:txBody>
      </p:sp>
      <p:sp>
        <p:nvSpPr>
          <p:cNvPr id="8504" name="Head ref"/>
          <p:cNvSpPr/>
          <p:nvPr/>
        </p:nvSpPr>
        <p:spPr>
          <a:xfrm>
            <a:off x="6217920" y="1188720"/>
            <a:ext cx="5532120" cy="274320"/>
          </a:xfrm>
          <a:prstGeom prst="rect">
            <a:avLst/>
          </a:prstGeom>
          <a:noFill/>
          <a:ln/>
        </p:spPr>
        <p:txBody>
          <a:bodyPr wrap="square" lIns="0" tIns="0" rIns="0" bIns="0" rtlCol="0" anchor="t"/>
          <a:lstStyle/>
          <a:p>
            <a:pPr marL="0" indent="0">
              <a:lnSpc>
                <a:spcPct val="102000"/>
              </a:lnSpc>
              <a:spcAft>
                <a:spcPts val="0"/>
              </a:spcAft>
              <a:buNone/>
            </a:pPr>
            <a:r>
              <a:rPr lang="en-US" sz="1200" b="1" i="0" dirty="0">
                <a:solidFill>
                  <a:srgbClr val="E31836"/>
                </a:solidFill>
                <a:latin typeface="Calibri" pitchFamily="34" charset="0"/>
                <a:ea typeface="Calibri" pitchFamily="34" charset="-122"/>
                <a:cs typeface="Calibri" pitchFamily="34" charset="-120"/>
              </a:rPr>
              <a:t>REFUSED, WITH THE FAILING GATE NAMED</a:t>
            </a:r>
            <a:endParaRPr lang="en-US" sz="1200" dirty="0"/>
          </a:p>
        </p:txBody>
      </p:sp>
      <p:sp>
        <p:nvSpPr>
          <p:cNvPr id="8505" name="Box ref"/>
          <p:cNvSpPr/>
          <p:nvPr/>
        </p:nvSpPr>
        <p:spPr>
          <a:xfrm>
            <a:off x="6217920" y="1517904"/>
            <a:ext cx="5532120" cy="4617720"/>
          </a:xfrm>
          <a:prstGeom prst="roundRect">
            <a:avLst>
              <a:gd name="adj" fmla="val 4000"/>
            </a:avLst>
          </a:prstGeom>
          <a:solidFill>
            <a:srgbClr val="FBF1F1"/>
          </a:solidFill>
          <a:ln>
            <a:noFill/>
          </a:ln>
        </p:spPr>
        <p:txBody>
          <a:bodyPr/>
          <a:lstStyle/>
          <a:p>
            <a:endParaRPr lang="en-US"/>
          </a:p>
        </p:txBody>
      </p:sp>
      <p:sp>
        <p:nvSpPr>
          <p:cNvPr id="8507" name="Record line"/>
          <p:cNvSpPr/>
          <p:nvPr/>
        </p:nvSpPr>
        <p:spPr>
          <a:xfrm>
            <a:off x="457200" y="6327648"/>
            <a:ext cx="11292840" cy="411480"/>
          </a:xfrm>
          <a:prstGeom prst="rect">
            <a:avLst/>
          </a:prstGeom>
          <a:noFill/>
          <a:ln/>
        </p:spPr>
        <p:txBody>
          <a:bodyPr wrap="square" lIns="0" tIns="0" rIns="0" bIns="0" rtlCol="0" anchor="t"/>
          <a:lstStyle/>
          <a:p>
            <a:pPr marL="0" indent="0">
              <a:lnSpc>
                <a:spcPct val="102000"/>
              </a:lnSpc>
              <a:spcAft>
                <a:spcPts val="0"/>
              </a:spcAft>
              <a:buNone/>
            </a:pPr>
            <a:r>
              <a:rPr lang="en-US" sz="1150" b="1" i="0" dirty="0">
                <a:solidFill>
                  <a:srgbClr val="222222"/>
                </a:solidFill>
                <a:latin typeface="Calibri" pitchFamily="34" charset="0"/>
                <a:ea typeface="Calibri" pitchFamily="34" charset="-122"/>
                <a:cs typeface="Calibri" pitchFamily="34" charset="-120"/>
              </a:rPr>
              <a:t>The record: 232 invocations, 47 admissions (36 rules, 11 packages). The dedicated actuator campaign: 35 proposals, 19 admissions, with the refusals at G3 (6), G4 (1), G5 (9).</a:t>
            </a:r>
            <a:endParaRPr lang="en-US" sz="1150" dirty="0"/>
          </a:p>
        </p:txBody>
      </p:sp>
      <p:sp>
        <p:nvSpPr>
          <p:cNvPr id="6" name="Adm text"/>
          <p:cNvSpPr/>
          <p:nvPr/>
        </p:nvSpPr>
        <p:spPr>
          <a:xfrm>
            <a:off x="658368" y="1700784"/>
            <a:ext cx="5138928" cy="4297680"/>
          </a:xfrm>
          <a:prstGeom prst="rect">
            <a:avLst/>
          </a:prstGeom>
          <a:noFill/>
          <a:ln/>
        </p:spPr>
        <p:txBody>
          <a:bodyPr wrap="square" lIns="0" tIns="0" rIns="0" bIns="0" rtlCol="0" anchor="t"/>
          <a:lstStyle/>
          <a:p>
            <a:pPr marL="152400" indent="-152400">
              <a:lnSpc>
                <a:spcPct val="102000"/>
              </a:lnSpc>
              <a:spcAft>
                <a:spcPts val="280"/>
              </a:spcAft>
              <a:buSzPct val="100000"/>
              <a:buChar char="•"/>
            </a:pPr>
            <a:r>
              <a:rPr lang="en-US" sz="1080" b="1" i="0" dirty="0">
                <a:solidFill>
                  <a:srgbClr val="2E7D32"/>
                </a:solidFill>
                <a:latin typeface="Calibri" pitchFamily="34" charset="0"/>
                <a:ea typeface="Calibri" pitchFamily="34" charset="-122"/>
                <a:cs typeface="Calibri" pitchFamily="34" charset="-120"/>
              </a:rPr>
              <a:t>Rule G6 : </a:t>
            </a:r>
            <a:r>
              <a:rPr lang="en-US" sz="1080" b="0" i="0" dirty="0">
                <a:solidFill>
                  <a:srgbClr val="222222"/>
                </a:solidFill>
                <a:latin typeface="Calibri" pitchFamily="34" charset="0"/>
                <a:ea typeface="Calibri" pitchFamily="34" charset="-122"/>
                <a:cs typeface="Calibri" pitchFamily="34" charset="-120"/>
              </a:rPr>
              <a:t>IF fire threat ≥ HIGH AND feasibility VERY HIGH THEN head_knockdown 0.95, resource deployment 0.8. A generated rule ordering a generated macro.</a:t>
            </a:r>
            <a:endParaRPr lang="en-US" sz="1080" dirty="0"/>
          </a:p>
          <a:p>
            <a:pPr marL="152400" indent="-152400">
              <a:lnSpc>
                <a:spcPct val="102000"/>
              </a:lnSpc>
              <a:spcAft>
                <a:spcPts val="280"/>
              </a:spcAft>
              <a:buSzPct val="100000"/>
              <a:buChar char="•"/>
            </a:pPr>
            <a:r>
              <a:rPr lang="en-US" sz="1080" b="1" i="0" dirty="0">
                <a:solidFill>
                  <a:srgbClr val="2E7D32"/>
                </a:solidFill>
                <a:latin typeface="Calibri" pitchFamily="34" charset="0"/>
                <a:ea typeface="Calibri" pitchFamily="34" charset="-122"/>
                <a:cs typeface="Calibri" pitchFamily="34" charset="-120"/>
              </a:rPr>
              <a:t>Macro head_knockdown : </a:t>
            </a:r>
            <a:r>
              <a:rPr lang="en-US" sz="1080" b="0" i="0" dirty="0">
                <a:solidFill>
                  <a:srgbClr val="222222"/>
                </a:solidFill>
                <a:latin typeface="Calibri" pitchFamily="34" charset="0"/>
                <a:ea typeface="Calibri" pitchFamily="34" charset="-122"/>
                <a:cs typeface="Calibri" pitchFamily="34" charset="-120"/>
              </a:rPr>
              <a:t>drafting 1.0 + suppression 0.9 + retardant 0.6. Three channels the seed doctrine never ordered, acting as one.</a:t>
            </a:r>
            <a:endParaRPr lang="en-US" sz="1080" dirty="0"/>
          </a:p>
          <a:p>
            <a:pPr marL="152400" indent="-152400">
              <a:lnSpc>
                <a:spcPct val="102000"/>
              </a:lnSpc>
              <a:spcAft>
                <a:spcPts val="280"/>
              </a:spcAft>
              <a:buSzPct val="100000"/>
              <a:buChar char="•"/>
            </a:pPr>
            <a:r>
              <a:rPr lang="en-US" sz="1080" b="1" i="0" dirty="0">
                <a:solidFill>
                  <a:srgbClr val="2E7D32"/>
                </a:solidFill>
                <a:latin typeface="Calibri" pitchFamily="34" charset="0"/>
                <a:ea typeface="Calibri" pitchFamily="34" charset="-122"/>
                <a:cs typeface="Calibri" pitchFamily="34" charset="-120"/>
              </a:rPr>
              <a:t>Concept interface_exposure : </a:t>
            </a:r>
            <a:r>
              <a:rPr lang="en-US" sz="1080" b="0" i="0" dirty="0">
                <a:solidFill>
                  <a:srgbClr val="222222"/>
                </a:solidFill>
                <a:latin typeface="Calibri" pitchFamily="34" charset="0"/>
                <a:ea typeface="Calibri" pitchFamily="34" charset="-122"/>
                <a:cs typeface="Calibri" pitchFamily="34" charset="-120"/>
              </a:rPr>
              <a:t>0.5 asset exposure risk + 0.5 evacuation pressure. Rule G14 fires on it to protect the urban interface.</a:t>
            </a:r>
            <a:endParaRPr lang="en-US" sz="1080" dirty="0"/>
          </a:p>
          <a:p>
            <a:pPr marL="152400" indent="-152400">
              <a:lnSpc>
                <a:spcPct val="102000"/>
              </a:lnSpc>
              <a:spcAft>
                <a:spcPts val="0"/>
              </a:spcAft>
              <a:buSzPct val="100000"/>
              <a:buChar char="•"/>
            </a:pPr>
            <a:r>
              <a:rPr lang="en-US" sz="1080" b="1" i="0" dirty="0">
                <a:solidFill>
                  <a:srgbClr val="2E7D32"/>
                </a:solidFill>
                <a:latin typeface="Calibri" pitchFamily="34" charset="0"/>
                <a:ea typeface="Calibri" pitchFamily="34" charset="-122"/>
                <a:cs typeface="Calibri" pitchFamily="34" charset="-120"/>
              </a:rPr>
              <a:t>Actuator lakeside_capacity_bridge : </a:t>
            </a:r>
            <a:r>
              <a:rPr lang="en-US" sz="1080" b="0" i="0" dirty="0">
                <a:solidFill>
                  <a:srgbClr val="222222"/>
                </a:solidFill>
                <a:latin typeface="Calibri" pitchFamily="34" charset="0"/>
                <a:ea typeface="Calibri" pitchFamily="34" charset="-122"/>
                <a:cs typeface="Calibri" pitchFamily="34" charset="-120"/>
              </a:rPr>
              <a:t>draft at the fire, draft at the head, evacuate behind. Written at minute 48, ordered again at minute 114 by a later, separately admitted rule.</a:t>
            </a:r>
            <a:endParaRPr lang="en-US" sz="1080" dirty="0"/>
          </a:p>
        </p:txBody>
      </p:sp>
      <p:sp>
        <p:nvSpPr>
          <p:cNvPr id="7" name="Ref text"/>
          <p:cNvSpPr/>
          <p:nvPr/>
        </p:nvSpPr>
        <p:spPr>
          <a:xfrm>
            <a:off x="6419088" y="1700784"/>
            <a:ext cx="5138928" cy="4297680"/>
          </a:xfrm>
          <a:prstGeom prst="rect">
            <a:avLst/>
          </a:prstGeom>
          <a:noFill/>
          <a:ln/>
        </p:spPr>
        <p:txBody>
          <a:bodyPr wrap="square" lIns="0" tIns="0" rIns="0" bIns="0" rtlCol="0" anchor="t"/>
          <a:lstStyle/>
          <a:p>
            <a:pPr marL="152400" indent="-152400">
              <a:lnSpc>
                <a:spcPct val="102000"/>
              </a:lnSpc>
              <a:spcAft>
                <a:spcPts val="280"/>
              </a:spcAft>
              <a:buSzPct val="100000"/>
              <a:buChar char="•"/>
            </a:pPr>
            <a:r>
              <a:rPr lang="en-US" sz="1080" b="1" i="0" dirty="0">
                <a:solidFill>
                  <a:srgbClr val="E31836"/>
                </a:solidFill>
                <a:latin typeface="Calibri" pitchFamily="34" charset="0"/>
                <a:ea typeface="Calibri" pitchFamily="34" charset="-122"/>
                <a:cs typeface="Calibri" pitchFamily="34" charset="-120"/>
              </a:rPr>
              <a:t>G2b : </a:t>
            </a:r>
            <a:r>
              <a:rPr lang="en-US" sz="1080" b="0" i="0" dirty="0">
                <a:solidFill>
                  <a:srgbClr val="222222"/>
                </a:solidFill>
                <a:latin typeface="Calibri" pitchFamily="34" charset="0"/>
                <a:ea typeface="Calibri" pitchFamily="34" charset="-122"/>
                <a:cs typeface="Calibri" pitchFamily="34" charset="-120"/>
              </a:rPr>
              <a:t>proposed concept weights (0.60, 0.40) against an existing (0.62, 0.38): cosine near 1.0, a near duplicate.</a:t>
            </a:r>
            <a:endParaRPr lang="en-US" sz="1080" dirty="0"/>
          </a:p>
          <a:p>
            <a:pPr marL="152400" indent="-152400">
              <a:lnSpc>
                <a:spcPct val="102000"/>
              </a:lnSpc>
              <a:spcAft>
                <a:spcPts val="280"/>
              </a:spcAft>
              <a:buSzPct val="100000"/>
              <a:buChar char="•"/>
            </a:pPr>
            <a:r>
              <a:rPr lang="en-US" sz="1080" b="1" i="0" dirty="0">
                <a:solidFill>
                  <a:srgbClr val="E31836"/>
                </a:solidFill>
                <a:latin typeface="Calibri" pitchFamily="34" charset="0"/>
                <a:ea typeface="Calibri" pitchFamily="34" charset="-122"/>
                <a:cs typeface="Calibri" pitchFamily="34" charset="-120"/>
              </a:rPr>
              <a:t>G2c : </a:t>
            </a:r>
            <a:r>
              <a:rPr lang="en-US" sz="1080" b="0" i="0" dirty="0">
                <a:solidFill>
                  <a:srgbClr val="222222"/>
                </a:solidFill>
                <a:latin typeface="Calibri" pitchFamily="34" charset="0"/>
                <a:ea typeface="Calibri" pitchFamily="34" charset="-122"/>
                <a:cs typeface="Calibri" pitchFamily="34" charset="-120"/>
              </a:rPr>
              <a:t>a rule requiring spread potential HIGH while the reading is 0.15, inside LOW: it cannot fire now.</a:t>
            </a:r>
            <a:endParaRPr lang="en-US" sz="1080" dirty="0"/>
          </a:p>
          <a:p>
            <a:pPr marL="152400" indent="-152400">
              <a:lnSpc>
                <a:spcPct val="102000"/>
              </a:lnSpc>
              <a:spcAft>
                <a:spcPts val="280"/>
              </a:spcAft>
              <a:buSzPct val="100000"/>
              <a:buChar char="•"/>
            </a:pPr>
            <a:r>
              <a:rPr lang="en-US" sz="1080" b="1" i="0" dirty="0">
                <a:solidFill>
                  <a:srgbClr val="E31836"/>
                </a:solidFill>
                <a:latin typeface="Calibri" pitchFamily="34" charset="0"/>
                <a:ea typeface="Calibri" pitchFamily="34" charset="-122"/>
                <a:cs typeface="Calibri" pitchFamily="34" charset="-120"/>
              </a:rPr>
              <a:t>G2d : </a:t>
            </a:r>
            <a:r>
              <a:rPr lang="en-US" sz="1080" b="0" i="0" dirty="0">
                <a:solidFill>
                  <a:srgbClr val="222222"/>
                </a:solidFill>
                <a:latin typeface="Calibri" pitchFamily="34" charset="0"/>
                <a:ea typeface="Calibri" pitchFamily="34" charset="-122"/>
                <a:cs typeface="Calibri" pitchFamily="34" charset="-120"/>
              </a:rPr>
              <a:t>suppression 0.30 on top of a fully claimed budget: it would only re-divide committed capacity.</a:t>
            </a:r>
            <a:endParaRPr lang="en-US" sz="1080" dirty="0"/>
          </a:p>
          <a:p>
            <a:pPr marL="152400" indent="-152400">
              <a:lnSpc>
                <a:spcPct val="102000"/>
              </a:lnSpc>
              <a:spcAft>
                <a:spcPts val="280"/>
              </a:spcAft>
              <a:buSzPct val="100000"/>
              <a:buChar char="•"/>
            </a:pPr>
            <a:r>
              <a:rPr lang="en-US" sz="1080" b="1" i="0" dirty="0">
                <a:solidFill>
                  <a:srgbClr val="E31836"/>
                </a:solidFill>
                <a:latin typeface="Calibri" pitchFamily="34" charset="0"/>
                <a:ea typeface="Calibri" pitchFamily="34" charset="-122"/>
                <a:cs typeface="Calibri" pitchFamily="34" charset="-120"/>
              </a:rPr>
              <a:t>G3 : </a:t>
            </a:r>
            <a:r>
              <a:rPr lang="en-US" sz="1080" b="0" i="0" dirty="0">
                <a:solidFill>
                  <a:srgbClr val="222222"/>
                </a:solidFill>
                <a:latin typeface="Calibri" pitchFamily="34" charset="0"/>
                <a:ea typeface="Calibri" pitchFamily="34" charset="-122"/>
                <a:cs typeface="Calibri" pitchFamily="34" charset="-120"/>
              </a:rPr>
              <a:t>heavy deployment on a contained cell: the forecast physical cost does not fall.</a:t>
            </a:r>
            <a:endParaRPr lang="en-US" sz="1080" dirty="0"/>
          </a:p>
          <a:p>
            <a:pPr marL="152400" indent="-152400">
              <a:lnSpc>
                <a:spcPct val="102000"/>
              </a:lnSpc>
              <a:spcAft>
                <a:spcPts val="0"/>
              </a:spcAft>
              <a:buSzPct val="100000"/>
              <a:buChar char="•"/>
            </a:pPr>
            <a:r>
              <a:rPr lang="en-US" sz="1080" b="1" i="0" dirty="0">
                <a:solidFill>
                  <a:srgbClr val="E31836"/>
                </a:solidFill>
                <a:latin typeface="Calibri" pitchFamily="34" charset="0"/>
                <a:ea typeface="Calibri" pitchFamily="34" charset="-122"/>
                <a:cs typeface="Calibri" pitchFamily="34" charset="-120"/>
              </a:rPr>
              <a:t>G5 : </a:t>
            </a:r>
            <a:r>
              <a:rPr lang="en-US" sz="1080" b="0" i="0" dirty="0">
                <a:solidFill>
                  <a:srgbClr val="222222"/>
                </a:solidFill>
                <a:latin typeface="Calibri" pitchFamily="34" charset="0"/>
                <a:ea typeface="Calibri" pitchFamily="34" charset="-122"/>
                <a:cs typeface="Calibri" pitchFamily="34" charset="-120"/>
              </a:rPr>
              <a:t>seven actuators whose gain failed the margin on both futures: six changed nothing the forecast records, one raised the cost.</a:t>
            </a:r>
            <a:endParaRPr lang="en-US" sz="108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237744"/>
            <a:ext cx="10058400" cy="292608"/>
          </a:xfrm>
          <a:prstGeom prst="rect">
            <a:avLst/>
          </a:prstGeom>
          <a:noFill/>
          <a:ln/>
        </p:spPr>
        <p:txBody>
          <a:bodyPr wrap="square" lIns="0" tIns="0" rIns="0" bIns="0" rtlCol="0" anchor="ctr"/>
          <a:lstStyle/>
          <a:p>
            <a:pPr marL="0" indent="0">
              <a:buNone/>
            </a:pPr>
            <a:r>
              <a:rPr lang="en-US" sz="1300" b="1" kern="0" spc="200" dirty="0">
                <a:solidFill>
                  <a:srgbClr val="E31836"/>
                </a:solidFill>
                <a:latin typeface="Calibri" pitchFamily="34" charset="0"/>
                <a:ea typeface="Calibri" pitchFamily="34" charset="-122"/>
                <a:cs typeface="Calibri" pitchFamily="34" charset="-120"/>
              </a:rPr>
              <a:t>DSS FRAMEWORK : LAYER 4 OF 4</a:t>
            </a:r>
            <a:endParaRPr lang="en-US" sz="1300" dirty="0"/>
          </a:p>
        </p:txBody>
      </p:sp>
      <p:sp>
        <p:nvSpPr>
          <p:cNvPr id="3" name="Text 1"/>
          <p:cNvSpPr/>
          <p:nvPr/>
        </p:nvSpPr>
        <p:spPr>
          <a:xfrm>
            <a:off x="502920" y="493776"/>
            <a:ext cx="11247120" cy="621792"/>
          </a:xfrm>
          <a:prstGeom prst="rect">
            <a:avLst/>
          </a:prstGeom>
          <a:noFill/>
          <a:ln/>
        </p:spPr>
        <p:txBody>
          <a:bodyPr wrap="square" lIns="0" tIns="0" rIns="0" bIns="0" rtlCol="0" anchor="ctr"/>
          <a:lstStyle/>
          <a:p>
            <a:pPr marL="0" indent="0">
              <a:buNone/>
            </a:pPr>
            <a:r>
              <a:rPr lang="en-US" sz="2500" b="1" dirty="0">
                <a:solidFill>
                  <a:srgbClr val="000000"/>
                </a:solidFill>
                <a:latin typeface="Cambria" pitchFamily="34" charset="0"/>
                <a:ea typeface="Cambria" pitchFamily="34" charset="-122"/>
                <a:cs typeface="Cambria" pitchFamily="34" charset="-120"/>
              </a:rPr>
              <a:t>Gate by Gate : the preemptive_asset_coating Package</a:t>
            </a:r>
            <a:endParaRPr lang="en-US" sz="2500" dirty="0"/>
          </a:p>
        </p:txBody>
      </p:sp>
      <p:pic>
        <p:nvPicPr>
          <p:cNvPr id="4" name="Image 0" descr="/tmp/thx/deck/figs/metu_emblem.png"/>
          <p:cNvPicPr>
            <a:picLocks noChangeAspect="1"/>
          </p:cNvPicPr>
          <p:nvPr/>
        </p:nvPicPr>
        <p:blipFill>
          <a:blip r:embed="rId3"/>
          <a:stretch>
            <a:fillRect/>
          </a:stretch>
        </p:blipFill>
        <p:spPr>
          <a:xfrm>
            <a:off x="10716768" y="184607"/>
            <a:ext cx="475488" cy="398882"/>
          </a:xfrm>
          <a:prstGeom prst="rect">
            <a:avLst/>
          </a:prstGeom>
        </p:spPr>
      </p:pic>
      <p:pic>
        <p:nvPicPr>
          <p:cNvPr id="5" name="Image 1" descr="/tmp/thx/deck/figs/eee_logo.png"/>
          <p:cNvPicPr>
            <a:picLocks noChangeAspect="1"/>
          </p:cNvPicPr>
          <p:nvPr/>
        </p:nvPicPr>
        <p:blipFill>
          <a:blip r:embed="rId4"/>
          <a:stretch>
            <a:fillRect/>
          </a:stretch>
        </p:blipFill>
        <p:spPr>
          <a:xfrm>
            <a:off x="11265408" y="186217"/>
            <a:ext cx="475488" cy="395662"/>
          </a:xfrm>
          <a:prstGeom prst="rect">
            <a:avLst/>
          </a:prstGeom>
        </p:spPr>
      </p:pic>
      <p:sp>
        <p:nvSpPr>
          <p:cNvPr id="8503" name="Lead"/>
          <p:cNvSpPr/>
          <p:nvPr/>
        </p:nvSpPr>
        <p:spPr>
          <a:xfrm>
            <a:off x="502920" y="1133856"/>
            <a:ext cx="11247120" cy="320040"/>
          </a:xfrm>
          <a:prstGeom prst="rect">
            <a:avLst/>
          </a:prstGeom>
          <a:noFill/>
          <a:ln/>
        </p:spPr>
        <p:txBody>
          <a:bodyPr wrap="square" lIns="0" tIns="0" rIns="0" bIns="0" rtlCol="0" anchor="t"/>
          <a:lstStyle/>
          <a:p>
            <a:pPr marL="0" indent="0">
              <a:lnSpc>
                <a:spcPct val="102000"/>
              </a:lnSpc>
              <a:spcAft>
                <a:spcPts val="0"/>
              </a:spcAft>
              <a:buNone/>
            </a:pPr>
            <a:r>
              <a:rPr lang="en-US" sz="1200" b="1" i="0" dirty="0">
                <a:solidFill>
                  <a:srgbClr val="222222"/>
                </a:solidFill>
                <a:latin typeface="Calibri" pitchFamily="34" charset="0"/>
                <a:ea typeface="Calibri" pitchFamily="34" charset="-122"/>
                <a:cs typeface="Calibri" pitchFamily="34" charset="-120"/>
              </a:rPr>
              <a:t>One admitted package, read gate by gate: coat the assets and the populated cells before the front arrives.</a:t>
            </a:r>
            <a:endParaRPr lang="en-US" sz="1200" dirty="0"/>
          </a:p>
        </p:txBody>
      </p:sp>
      <p:sp>
        <p:nvSpPr>
          <p:cNvPr id="8504" name="Head free"/>
          <p:cNvSpPr/>
          <p:nvPr/>
        </p:nvSpPr>
        <p:spPr>
          <a:xfrm>
            <a:off x="457200" y="1627632"/>
            <a:ext cx="5532120" cy="274320"/>
          </a:xfrm>
          <a:prstGeom prst="rect">
            <a:avLst/>
          </a:prstGeom>
          <a:noFill/>
          <a:ln/>
        </p:spPr>
        <p:txBody>
          <a:bodyPr wrap="square" lIns="0" tIns="0" rIns="0" bIns="0" rtlCol="0" anchor="t"/>
          <a:lstStyle/>
          <a:p>
            <a:pPr marL="0" indent="0">
              <a:lnSpc>
                <a:spcPct val="102000"/>
              </a:lnSpc>
              <a:spcAft>
                <a:spcPts val="0"/>
              </a:spcAft>
              <a:buNone/>
            </a:pPr>
            <a:r>
              <a:rPr lang="en-US" sz="1150" b="1" i="0" dirty="0">
                <a:solidFill>
                  <a:srgbClr val="E31836"/>
                </a:solidFill>
                <a:latin typeface="Calibri" pitchFamily="34" charset="0"/>
                <a:ea typeface="Calibri" pitchFamily="34" charset="-122"/>
                <a:cs typeface="Calibri" pitchFamily="34" charset="-120"/>
              </a:rPr>
              <a:t>CHECKED FREE, NO SIMULATION</a:t>
            </a:r>
            <a:endParaRPr lang="en-US" sz="1150" dirty="0"/>
          </a:p>
        </p:txBody>
      </p:sp>
      <p:sp>
        <p:nvSpPr>
          <p:cNvPr id="8505" name="Box free"/>
          <p:cNvSpPr/>
          <p:nvPr/>
        </p:nvSpPr>
        <p:spPr>
          <a:xfrm>
            <a:off x="457200" y="1956816"/>
            <a:ext cx="5532120" cy="3703320"/>
          </a:xfrm>
          <a:prstGeom prst="roundRect">
            <a:avLst>
              <a:gd name="adj" fmla="val 4000"/>
            </a:avLst>
          </a:prstGeom>
          <a:solidFill>
            <a:srgbClr val="F2F2F2"/>
          </a:solidFill>
          <a:ln>
            <a:noFill/>
          </a:ln>
        </p:spPr>
        <p:txBody>
          <a:bodyPr/>
          <a:lstStyle/>
          <a:p>
            <a:endParaRPr lang="en-US"/>
          </a:p>
        </p:txBody>
      </p:sp>
      <p:sp>
        <p:nvSpPr>
          <p:cNvPr id="8506" name="Free text"/>
          <p:cNvSpPr/>
          <p:nvPr/>
        </p:nvSpPr>
        <p:spPr>
          <a:xfrm>
            <a:off x="658368" y="2139696"/>
            <a:ext cx="5138928" cy="3383280"/>
          </a:xfrm>
          <a:prstGeom prst="rect">
            <a:avLst/>
          </a:prstGeom>
          <a:noFill/>
          <a:ln/>
        </p:spPr>
        <p:txBody>
          <a:bodyPr wrap="square" lIns="0" tIns="0" rIns="0" bIns="0" rtlCol="0" anchor="t"/>
          <a:lstStyle/>
          <a:p>
            <a:pPr marL="152400" indent="-152400">
              <a:lnSpc>
                <a:spcPct val="102000"/>
              </a:lnSpc>
              <a:spcAft>
                <a:spcPts val="280"/>
              </a:spcAft>
              <a:buSzPct val="100000"/>
              <a:buChar char="•"/>
            </a:pPr>
            <a:r>
              <a:rPr lang="en-US" sz="1080" b="1" i="0" dirty="0">
                <a:solidFill>
                  <a:srgbClr val="E31836"/>
                </a:solidFill>
                <a:latin typeface="Calibri" pitchFamily="34" charset="0"/>
                <a:ea typeface="Calibri" pitchFamily="34" charset="-122"/>
                <a:cs typeface="Calibri" pitchFamily="34" charset="-120"/>
              </a:rPr>
              <a:t>G1, format : </a:t>
            </a:r>
            <a:r>
              <a:rPr lang="en-US" sz="1080" b="0" i="0" dirty="0">
                <a:solidFill>
                  <a:srgbClr val="222222"/>
                </a:solidFill>
                <a:latin typeface="Calibri" pitchFamily="34" charset="0"/>
                <a:ea typeface="Calibri" pitchFamily="34" charset="-122"/>
                <a:cs typeface="Calibri" pitchFamily="34" charset="-120"/>
              </a:rPr>
              <a:t>the reply parses; one well formed JSON object.</a:t>
            </a:r>
            <a:endParaRPr lang="en-US" sz="1080" dirty="0"/>
          </a:p>
          <a:p>
            <a:pPr marL="152400" indent="-152400">
              <a:lnSpc>
                <a:spcPct val="102000"/>
              </a:lnSpc>
              <a:spcAft>
                <a:spcPts val="280"/>
              </a:spcAft>
              <a:buSzPct val="100000"/>
              <a:buChar char="•"/>
            </a:pPr>
            <a:r>
              <a:rPr lang="en-US" sz="1080" b="1" i="0" dirty="0">
                <a:solidFill>
                  <a:srgbClr val="E31836"/>
                </a:solidFill>
                <a:latin typeface="Calibri" pitchFamily="34" charset="0"/>
                <a:ea typeface="Calibri" pitchFamily="34" charset="-122"/>
                <a:cs typeface="Calibri" pitchFamily="34" charset="-120"/>
              </a:rPr>
              <a:t>G2, constraints : </a:t>
            </a:r>
            <a:r>
              <a:rPr lang="en-US" sz="1080" b="0" i="0" dirty="0">
                <a:solidFill>
                  <a:srgbClr val="222222"/>
                </a:solidFill>
                <a:latin typeface="Calibri" pitchFamily="34" charset="0"/>
                <a:ea typeface="Calibri" pitchFamily="34" charset="-122"/>
                <a:cs typeface="Calibri" pitchFamily="34" charset="-120"/>
              </a:rPr>
              <a:t>names from the fixed lists, amount in [0, 1], the antecedent cell unoccupied.</a:t>
            </a:r>
            <a:endParaRPr lang="en-US" sz="1080" dirty="0"/>
          </a:p>
          <a:p>
            <a:pPr marL="152400" indent="-152400">
              <a:lnSpc>
                <a:spcPct val="102000"/>
              </a:lnSpc>
              <a:spcAft>
                <a:spcPts val="280"/>
              </a:spcAft>
              <a:buSzPct val="100000"/>
              <a:buChar char="•"/>
            </a:pPr>
            <a:r>
              <a:rPr lang="en-US" sz="1080" b="1" i="0" dirty="0">
                <a:solidFill>
                  <a:srgbClr val="E31836"/>
                </a:solidFill>
                <a:latin typeface="Calibri" pitchFamily="34" charset="0"/>
                <a:ea typeface="Calibri" pitchFamily="34" charset="-122"/>
                <a:cs typeface="Calibri" pitchFamily="34" charset="-120"/>
              </a:rPr>
              <a:t>G2b, novelty : </a:t>
            </a:r>
            <a:r>
              <a:rPr lang="en-US" sz="1080" b="0" i="0" dirty="0">
                <a:solidFill>
                  <a:srgbClr val="6E6E6E"/>
                </a:solidFill>
                <a:latin typeface="Calibri" pitchFamily="34" charset="0"/>
                <a:ea typeface="Calibri" pitchFamily="34" charset="-122"/>
                <a:cs typeface="Calibri" pitchFamily="34" charset="-120"/>
              </a:rPr>
              <a:t>applies only to a new concept; not applicable to an actuator.</a:t>
            </a:r>
            <a:endParaRPr lang="en-US" sz="1080" dirty="0"/>
          </a:p>
          <a:p>
            <a:pPr marL="152400" indent="-152400">
              <a:lnSpc>
                <a:spcPct val="102000"/>
              </a:lnSpc>
              <a:spcAft>
                <a:spcPts val="280"/>
              </a:spcAft>
              <a:buSzPct val="100000"/>
              <a:buChar char="•"/>
            </a:pPr>
            <a:r>
              <a:rPr lang="en-US" sz="1080" b="1" i="0" dirty="0">
                <a:solidFill>
                  <a:srgbClr val="E31836"/>
                </a:solidFill>
                <a:latin typeface="Calibri" pitchFamily="34" charset="0"/>
                <a:ea typeface="Calibri" pitchFamily="34" charset="-122"/>
                <a:cs typeface="Calibri" pitchFamily="34" charset="-120"/>
              </a:rPr>
              <a:t>G2c, relevance : </a:t>
            </a:r>
            <a:r>
              <a:rPr lang="en-US" sz="1080" b="0" i="0" dirty="0">
                <a:solidFill>
                  <a:srgbClr val="222222"/>
                </a:solidFill>
                <a:latin typeface="Calibri" pitchFamily="34" charset="0"/>
                <a:ea typeface="Calibri" pitchFamily="34" charset="-122"/>
                <a:cs typeface="Calibri" pitchFamily="34" charset="-120"/>
              </a:rPr>
              <a:t>asset exposure risk VH is active exactly where residual cost sits.</a:t>
            </a:r>
            <a:endParaRPr lang="en-US" sz="1080" dirty="0"/>
          </a:p>
          <a:p>
            <a:pPr marL="152400" indent="-152400">
              <a:lnSpc>
                <a:spcPct val="102000"/>
              </a:lnSpc>
              <a:spcAft>
                <a:spcPts val="0"/>
              </a:spcAft>
              <a:buSzPct val="100000"/>
              <a:buChar char="•"/>
            </a:pPr>
            <a:r>
              <a:rPr lang="en-US" sz="1080" b="1" i="0" dirty="0">
                <a:solidFill>
                  <a:srgbClr val="E31836"/>
                </a:solidFill>
                <a:latin typeface="Calibri" pitchFamily="34" charset="0"/>
                <a:ea typeface="Calibri" pitchFamily="34" charset="-122"/>
                <a:cs typeface="Calibri" pitchFamily="34" charset="-120"/>
              </a:rPr>
              <a:t>G2d, economy : </a:t>
            </a:r>
            <a:r>
              <a:rPr lang="en-US" sz="1080" b="0" i="0" dirty="0">
                <a:solidFill>
                  <a:srgbClr val="222222"/>
                </a:solidFill>
                <a:latin typeface="Calibri" pitchFamily="34" charset="0"/>
                <a:ea typeface="Calibri" pitchFamily="34" charset="-122"/>
                <a:cs typeface="Calibri" pitchFamily="34" charset="-120"/>
              </a:rPr>
              <a:t>the coating fits inside the funded allocation.</a:t>
            </a:r>
            <a:endParaRPr lang="en-US" sz="1080" dirty="0"/>
          </a:p>
        </p:txBody>
      </p:sp>
      <p:sp>
        <p:nvSpPr>
          <p:cNvPr id="8507" name="Head paid"/>
          <p:cNvSpPr/>
          <p:nvPr/>
        </p:nvSpPr>
        <p:spPr>
          <a:xfrm>
            <a:off x="6217920" y="1627632"/>
            <a:ext cx="5532120" cy="274320"/>
          </a:xfrm>
          <a:prstGeom prst="rect">
            <a:avLst/>
          </a:prstGeom>
          <a:noFill/>
          <a:ln/>
        </p:spPr>
        <p:txBody>
          <a:bodyPr wrap="square" lIns="0" tIns="0" rIns="0" bIns="0" rtlCol="0" anchor="t"/>
          <a:lstStyle/>
          <a:p>
            <a:pPr marL="0" indent="0">
              <a:lnSpc>
                <a:spcPct val="102000"/>
              </a:lnSpc>
              <a:spcAft>
                <a:spcPts val="0"/>
              </a:spcAft>
              <a:buNone/>
            </a:pPr>
            <a:r>
              <a:rPr lang="en-US" sz="1150" b="1" i="0" dirty="0">
                <a:solidFill>
                  <a:srgbClr val="E31836"/>
                </a:solidFill>
                <a:latin typeface="Calibri" pitchFamily="34" charset="0"/>
                <a:ea typeface="Calibri" pitchFamily="34" charset="-122"/>
                <a:cs typeface="Calibri" pitchFamily="34" charset="-120"/>
              </a:rPr>
              <a:t>PAID WITH THE TWO ROLLOUTS</a:t>
            </a:r>
            <a:endParaRPr lang="en-US" sz="1150" dirty="0"/>
          </a:p>
        </p:txBody>
      </p:sp>
      <p:sp>
        <p:nvSpPr>
          <p:cNvPr id="8508" name="Box paid"/>
          <p:cNvSpPr/>
          <p:nvPr/>
        </p:nvSpPr>
        <p:spPr>
          <a:xfrm>
            <a:off x="6217920" y="1956816"/>
            <a:ext cx="5532120" cy="3703320"/>
          </a:xfrm>
          <a:prstGeom prst="roundRect">
            <a:avLst>
              <a:gd name="adj" fmla="val 4000"/>
            </a:avLst>
          </a:prstGeom>
          <a:solidFill>
            <a:srgbClr val="F2F2F2"/>
          </a:solidFill>
          <a:ln>
            <a:noFill/>
          </a:ln>
        </p:spPr>
        <p:txBody>
          <a:bodyPr/>
          <a:lstStyle/>
          <a:p>
            <a:endParaRPr lang="en-US"/>
          </a:p>
        </p:txBody>
      </p:sp>
      <p:sp>
        <p:nvSpPr>
          <p:cNvPr id="8509" name="Paid text"/>
          <p:cNvSpPr/>
          <p:nvPr/>
        </p:nvSpPr>
        <p:spPr>
          <a:xfrm>
            <a:off x="6419088" y="2139696"/>
            <a:ext cx="5138928" cy="3383280"/>
          </a:xfrm>
          <a:prstGeom prst="rect">
            <a:avLst/>
          </a:prstGeom>
          <a:noFill/>
          <a:ln/>
        </p:spPr>
        <p:txBody>
          <a:bodyPr wrap="square" lIns="0" tIns="0" rIns="0" bIns="0" rtlCol="0" anchor="t"/>
          <a:lstStyle/>
          <a:p>
            <a:pPr marL="152400" indent="-152400">
              <a:lnSpc>
                <a:spcPct val="102000"/>
              </a:lnSpc>
              <a:spcAft>
                <a:spcPts val="280"/>
              </a:spcAft>
              <a:buSzPct val="100000"/>
              <a:buChar char="•"/>
            </a:pPr>
            <a:r>
              <a:rPr lang="en-US" sz="1080" b="1" i="0" dirty="0">
                <a:solidFill>
                  <a:srgbClr val="E31836"/>
                </a:solidFill>
                <a:latin typeface="Calibri" pitchFamily="34" charset="0"/>
                <a:ea typeface="Calibri" pitchFamily="34" charset="-122"/>
                <a:cs typeface="Calibri" pitchFamily="34" charset="-120"/>
              </a:rPr>
              <a:t>G3, future a : </a:t>
            </a:r>
            <a:r>
              <a:rPr lang="en-US" sz="1080" b="0" i="0" dirty="0">
                <a:solidFill>
                  <a:srgbClr val="222222"/>
                </a:solidFill>
                <a:latin typeface="Calibri" pitchFamily="34" charset="0"/>
                <a:ea typeface="Calibri" pitchFamily="34" charset="-122"/>
                <a:cs typeface="Calibri" pitchFamily="34" charset="-120"/>
              </a:rPr>
              <a:t>the coated band holds the head fire off the assets; the forecast physical cost falls.</a:t>
            </a:r>
            <a:endParaRPr lang="en-US" sz="1080" dirty="0"/>
          </a:p>
          <a:p>
            <a:pPr marL="152400" indent="-152400">
              <a:lnSpc>
                <a:spcPct val="102000"/>
              </a:lnSpc>
              <a:spcAft>
                <a:spcPts val="280"/>
              </a:spcAft>
              <a:buSzPct val="100000"/>
              <a:buChar char="•"/>
            </a:pPr>
            <a:r>
              <a:rPr lang="en-US" sz="1080" b="1" i="0" dirty="0">
                <a:solidFill>
                  <a:srgbClr val="E31836"/>
                </a:solidFill>
                <a:latin typeface="Calibri" pitchFamily="34" charset="0"/>
                <a:ea typeface="Calibri" pitchFamily="34" charset="-122"/>
                <a:cs typeface="Calibri" pitchFamily="34" charset="-120"/>
              </a:rPr>
              <a:t>G4, future b : </a:t>
            </a:r>
            <a:r>
              <a:rPr lang="en-US" sz="1080" b="0" i="0" dirty="0">
                <a:solidFill>
                  <a:srgbClr val="222222"/>
                </a:solidFill>
                <a:latin typeface="Calibri" pitchFamily="34" charset="0"/>
                <a:ea typeface="Calibri" pitchFamily="34" charset="-122"/>
                <a:cs typeface="Calibri" pitchFamily="34" charset="-120"/>
              </a:rPr>
              <a:t>the same strict check on an independent seed; the gain is not an artifact of one future.</a:t>
            </a:r>
            <a:endParaRPr lang="en-US" sz="1080" dirty="0"/>
          </a:p>
          <a:p>
            <a:pPr marL="152400" indent="-152400">
              <a:lnSpc>
                <a:spcPct val="102000"/>
              </a:lnSpc>
              <a:spcAft>
                <a:spcPts val="280"/>
              </a:spcAft>
              <a:buSzPct val="100000"/>
              <a:buChar char="•"/>
            </a:pPr>
            <a:r>
              <a:rPr lang="en-US" sz="1080" b="1" i="0" dirty="0">
                <a:solidFill>
                  <a:srgbClr val="E31836"/>
                </a:solidFill>
                <a:latin typeface="Calibri" pitchFamily="34" charset="0"/>
                <a:ea typeface="Calibri" pitchFamily="34" charset="-122"/>
                <a:cs typeface="Calibri" pitchFamily="34" charset="-120"/>
              </a:rPr>
              <a:t>G5, payoff : </a:t>
            </a:r>
            <a:r>
              <a:rPr lang="en-US" sz="1080" b="0" i="0" dirty="0">
                <a:solidFill>
                  <a:srgbClr val="222222"/>
                </a:solidFill>
                <a:latin typeface="Calibri" pitchFamily="34" charset="0"/>
                <a:ea typeface="Calibri" pitchFamily="34" charset="-122"/>
                <a:cs typeface="Calibri" pitchFamily="34" charset="-120"/>
              </a:rPr>
              <a:t>both futures beat the margin δv = 0.0001; the growth pays.</a:t>
            </a:r>
            <a:endParaRPr lang="en-US" sz="1080" dirty="0"/>
          </a:p>
          <a:p>
            <a:pPr marL="152400" indent="-152400">
              <a:lnSpc>
                <a:spcPct val="102000"/>
              </a:lnSpc>
              <a:spcAft>
                <a:spcPts val="0"/>
              </a:spcAft>
              <a:buSzPct val="100000"/>
              <a:buChar char="•"/>
            </a:pPr>
            <a:r>
              <a:rPr lang="en-US" sz="1080" b="1" i="0" dirty="0">
                <a:solidFill>
                  <a:srgbClr val="E31836"/>
                </a:solidFill>
                <a:latin typeface="Calibri" pitchFamily="34" charset="0"/>
                <a:ea typeface="Calibri" pitchFamily="34" charset="-122"/>
                <a:cs typeface="Calibri" pitchFamily="34" charset="-120"/>
              </a:rPr>
              <a:t>G5b, attribution : </a:t>
            </a:r>
            <a:r>
              <a:rPr lang="en-US" sz="1080" b="0" i="0" dirty="0">
                <a:solidFill>
                  <a:srgbClr val="222222"/>
                </a:solidFill>
                <a:latin typeface="Calibri" pitchFamily="34" charset="0"/>
                <a:ea typeface="Calibri" pitchFamily="34" charset="-122"/>
                <a:cs typeface="Calibri" pitchFamily="34" charset="-120"/>
              </a:rPr>
              <a:t>with the actuator struck out, the cost rises on both; the payoff belongs to the actuator itself.</a:t>
            </a:r>
            <a:endParaRPr lang="en-US" sz="1080" dirty="0"/>
          </a:p>
        </p:txBody>
      </p:sp>
      <p:sp>
        <p:nvSpPr>
          <p:cNvPr id="8510" name="Verdict line"/>
          <p:cNvSpPr/>
          <p:nvPr/>
        </p:nvSpPr>
        <p:spPr>
          <a:xfrm>
            <a:off x="457200" y="5833872"/>
            <a:ext cx="11292840" cy="310896"/>
          </a:xfrm>
          <a:prstGeom prst="rect">
            <a:avLst/>
          </a:prstGeom>
          <a:noFill/>
          <a:ln/>
        </p:spPr>
        <p:txBody>
          <a:bodyPr wrap="square" lIns="0" tIns="0" rIns="0" bIns="0" rtlCol="0" anchor="t"/>
          <a:lstStyle/>
          <a:p>
            <a:pPr marL="0" indent="0">
              <a:lnSpc>
                <a:spcPct val="102000"/>
              </a:lnSpc>
              <a:spcAft>
                <a:spcPts val="0"/>
              </a:spcAft>
              <a:buNone/>
            </a:pPr>
            <a:r>
              <a:rPr lang="en-US" sz="1200" b="1" i="0" dirty="0">
                <a:solidFill>
                  <a:srgbClr val="2E7D32"/>
                </a:solidFill>
                <a:latin typeface="Calibri" pitchFamily="34" charset="0"/>
                <a:ea typeface="Calibri" pitchFamily="34" charset="-122"/>
                <a:cs typeface="Calibri" pitchFamily="34" charset="-120"/>
              </a:rPr>
              <a:t>ADMITTED : the actuator enters the vocabulary with full provenance.</a:t>
            </a:r>
            <a:endParaRPr lang="en-US" sz="1200" dirty="0"/>
          </a:p>
        </p:txBody>
      </p:sp>
      <p:sp>
        <p:nvSpPr>
          <p:cNvPr id="8511" name="Refusal bullets"/>
          <p:cNvSpPr/>
          <p:nvPr/>
        </p:nvSpPr>
        <p:spPr>
          <a:xfrm>
            <a:off x="457200" y="6236208"/>
            <a:ext cx="11292840" cy="640080"/>
          </a:xfrm>
          <a:prstGeom prst="rect">
            <a:avLst/>
          </a:prstGeom>
          <a:noFill/>
          <a:ln/>
        </p:spPr>
        <p:txBody>
          <a:bodyPr wrap="square" lIns="0" tIns="0" rIns="0" bIns="0" rtlCol="0" anchor="t"/>
          <a:lstStyle/>
          <a:p>
            <a:pPr marL="152400" indent="-152400">
              <a:lnSpc>
                <a:spcPct val="102000"/>
              </a:lnSpc>
              <a:spcAft>
                <a:spcPts val="170"/>
              </a:spcAft>
              <a:buSzPct val="100000"/>
              <a:buChar char="•"/>
            </a:pPr>
            <a:r>
              <a:rPr lang="en-US" sz="1080" b="0" i="0" dirty="0">
                <a:solidFill>
                  <a:srgbClr val="222222"/>
                </a:solidFill>
                <a:latin typeface="Calibri" pitchFamily="34" charset="0"/>
                <a:ea typeface="Calibri" pitchFamily="34" charset="-122"/>
                <a:cs typeface="Calibri" pitchFamily="34" charset="-120"/>
              </a:rPr>
              <a:t>a refusal at a free gate is returned to the proposer once, with the failing gate named</a:t>
            </a:r>
            <a:endParaRPr lang="en-US" sz="1080" dirty="0"/>
          </a:p>
          <a:p>
            <a:pPr marL="152400" indent="-152400">
              <a:lnSpc>
                <a:spcPct val="102000"/>
              </a:lnSpc>
              <a:spcAft>
                <a:spcPts val="0"/>
              </a:spcAft>
              <a:buSzPct val="100000"/>
              <a:buChar char="•"/>
            </a:pPr>
            <a:r>
              <a:rPr lang="en-US" sz="1080" b="0" i="0" dirty="0">
                <a:solidFill>
                  <a:srgbClr val="222222"/>
                </a:solidFill>
                <a:latin typeface="Calibri" pitchFamily="34" charset="0"/>
                <a:ea typeface="Calibri" pitchFamily="34" charset="-122"/>
                <a:cs typeface="Calibri" pitchFamily="34" charset="-120"/>
              </a:rPr>
              <a:t>a refusal that has already spent a rollout (G3 to G5b) ends the stage for this cycle</a:t>
            </a:r>
            <a:endParaRPr lang="en-US" sz="108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29</TotalTime>
  <Words>7681</Words>
  <Application>Microsoft Office PowerPoint</Application>
  <PresentationFormat>Widescreen</PresentationFormat>
  <Paragraphs>534</Paragraphs>
  <Slides>24</Slides>
  <Notes>23</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24</vt:i4>
      </vt:variant>
    </vt:vector>
  </HeadingPairs>
  <TitlesOfParts>
    <vt:vector size="32" baseType="lpstr">
      <vt:lpstr>Aptos</vt:lpstr>
      <vt:lpstr>Aptos Display</vt:lpstr>
      <vt:lpstr>Arial</vt:lpstr>
      <vt:lpstr>Calibri</vt:lpstr>
      <vt:lpstr>Cambria</vt:lpstr>
      <vt:lpstr>Cambria Math</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Çağlar Akman</dc:creator>
  <cp:lastModifiedBy>Çağlar Akman</cp:lastModifiedBy>
  <cp:revision>3</cp:revision>
  <dcterms:created xsi:type="dcterms:W3CDTF">2026-08-30T14:18:10Z</dcterms:created>
  <dcterms:modified xsi:type="dcterms:W3CDTF">2026-08-30T19:41:07Z</dcterms:modified>
</cp:coreProperties>
</file>