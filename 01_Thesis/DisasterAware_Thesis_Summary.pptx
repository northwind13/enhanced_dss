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wildfire response is a decision problem under incomplete observation, not a prediction problem. The deck follows the thesis chapter by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The point is not that fires are worse, it is that the decision load grows faster than the response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sub-claim maps to one gap and is settled by a different part of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answers G1, C2 answers G2, C3 answers G3. Chapter 6 returns to each and states whether it was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establishes why a distributed concept layer is the right shape for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3125 is the number that motivates the whole open-decision-space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is the third contribution's precondition.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 is standard and deliberately so: the contribution is the decision layer, not a new spread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numbering is used throughout Chapters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H2 machinery: explanation is structural, not retrofitted.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one number for the incident; quality is a verdict per region. That is why both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 stage proposes reaches the field without passing the gate chain. That is the answer to the obvious objection about a generative model in a safety-critical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coordinator performs no inference of its own. That is what keeps the architecture scalable, claim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the physics first, independently, then measure the decisions on top of it. A decision result on an unvalidated simulator would say nothing about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methodological objection before it is raised: a sweep run outside the band measures the operating point, not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Suppression is aimed at the fire the network reports, so a map the network cannot see is a map the system cannot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is the central empirical claim: the concept base beats no action, the evolving stages beat the static base, and the open decision space beats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3125 rules for the closed catalogue: the base reached 46 active rules, and each one is traceable to an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H3 evidence: the whole pipeline is operable, not just each part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Degradation only appears once a region holds too few cells to carry a meaningful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what would falsify each claim, and what the next chapter of 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in the meeting; the advisor will have their own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822960" y="182880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DisasterAware</a:t>
            </a:r>
            <a:endParaRPr lang="en-US" sz="5400" dirty="0"/>
          </a:p>
        </p:txBody>
      </p:sp>
      <p:sp>
        <p:nvSpPr>
          <p:cNvPr id="3" name="Text 1"/>
          <p:cNvSpPr/>
          <p:nvPr/>
        </p:nvSpPr>
        <p:spPr>
          <a:xfrm>
            <a:off x="822960" y="2788920"/>
            <a:ext cx="9692640" cy="822960"/>
          </a:xfrm>
          <a:prstGeom prst="rect">
            <a:avLst/>
          </a:prstGeom>
          <a:noFill/>
          <a:ln/>
        </p:spPr>
        <p:txBody>
          <a:bodyPr wrap="square" lIns="0" tIns="0" rIns="0" bIns="0" rtlCol="0" anchor="ctr"/>
          <a:lstStyle/>
          <a:p>
            <a:pPr indent="0" marL="0">
              <a:buNone/>
            </a:pPr>
            <a:r>
              <a:rPr lang="en-US" sz="2100" dirty="0">
                <a:solidFill>
                  <a:srgbClr val="E7E8D1"/>
                </a:solidFill>
                <a:latin typeface="Calibri" pitchFamily="34" charset="0"/>
                <a:ea typeface="Calibri" pitchFamily="34" charset="-122"/>
                <a:cs typeface="Calibri" pitchFamily="34" charset="-120"/>
              </a:rPr>
              <a:t>A Distributed, Concept-Driven Fuzzy Decision Support Framework for Wildfire Response</a:t>
            </a:r>
            <a:endParaRPr lang="en-US" sz="2100" dirty="0"/>
          </a:p>
        </p:txBody>
      </p:sp>
      <p:sp>
        <p:nvSpPr>
          <p:cNvPr id="4" name="Shape 2"/>
          <p:cNvSpPr/>
          <p:nvPr/>
        </p:nvSpPr>
        <p:spPr>
          <a:xfrm>
            <a:off x="822960" y="3794760"/>
            <a:ext cx="1371600" cy="41148"/>
          </a:xfrm>
          <a:prstGeom prst="rect">
            <a:avLst/>
          </a:prstGeom>
          <a:solidFill>
            <a:srgbClr val="B85042"/>
          </a:solidFill>
          <a:ln/>
        </p:spPr>
      </p:sp>
      <p:sp>
        <p:nvSpPr>
          <p:cNvPr id="5" name="Text 3"/>
          <p:cNvSpPr/>
          <p:nvPr/>
        </p:nvSpPr>
        <p:spPr>
          <a:xfrm>
            <a:off x="822960" y="4069080"/>
            <a:ext cx="8229600" cy="365760"/>
          </a:xfrm>
          <a:prstGeom prst="rect">
            <a:avLst/>
          </a:prstGeom>
          <a:noFill/>
          <a:ln/>
        </p:spPr>
        <p:txBody>
          <a:bodyPr wrap="square" lIns="0" tIns="0" rIns="0" bIns="0" rtlCol="0" anchor="ctr"/>
          <a:lstStyle/>
          <a:p>
            <a:pPr indent="0" marL="0">
              <a:buNone/>
            </a:pPr>
            <a:r>
              <a:rPr lang="en-US" sz="1400" dirty="0">
                <a:solidFill>
                  <a:srgbClr val="A7BEAE"/>
                </a:solidFill>
                <a:latin typeface="Calibri" pitchFamily="34" charset="0"/>
                <a:ea typeface="Calibri" pitchFamily="34" charset="-122"/>
                <a:cs typeface="Calibri" pitchFamily="34" charset="-120"/>
              </a:rPr>
              <a:t>PhD Thesis  ·  Summary for the Advisor</a:t>
            </a:r>
            <a:endParaRPr lang="en-US" sz="1400" dirty="0"/>
          </a:p>
        </p:txBody>
      </p:sp>
      <p:sp>
        <p:nvSpPr>
          <p:cNvPr id="6" name="Text 4"/>
          <p:cNvSpPr/>
          <p:nvPr/>
        </p:nvSpPr>
        <p:spPr>
          <a:xfrm>
            <a:off x="822960" y="4526280"/>
            <a:ext cx="9144000" cy="365760"/>
          </a:xfrm>
          <a:prstGeom prst="rect">
            <a:avLst/>
          </a:prstGeom>
          <a:noFill/>
          <a:ln/>
        </p:spPr>
        <p:txBody>
          <a:bodyPr wrap="square" lIns="0" tIns="0" rIns="0" bIns="0" rtlCol="0" anchor="ctr"/>
          <a:lstStyle/>
          <a:p>
            <a:pPr indent="0" marL="0">
              <a:buNone/>
            </a:pPr>
            <a:r>
              <a:rPr lang="en-US" sz="1200" i="1" dirty="0">
                <a:solidFill>
                  <a:srgbClr val="7A7A7A"/>
                </a:solidFill>
                <a:latin typeface="Calibri" pitchFamily="34" charset="0"/>
                <a:ea typeface="Calibri" pitchFamily="34" charset="-122"/>
                <a:cs typeface="Calibri" pitchFamily="34" charset="-120"/>
              </a:rPr>
              <a:t>Six chapters  ·  the problem, the framework, the decision layer, the evidence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1  ·  INTRODUCTION</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The problem is getting larger, not smaller</a:t>
            </a:r>
            <a:endParaRPr lang="en-US" sz="3400" dirty="0"/>
          </a:p>
        </p:txBody>
      </p:sp>
      <p:sp>
        <p:nvSpPr>
          <p:cNvPr id="4" name="Text 2"/>
          <p:cNvSpPr/>
          <p:nvPr/>
        </p:nvSpPr>
        <p:spPr>
          <a:xfrm>
            <a:off x="548640" y="1554480"/>
            <a:ext cx="548640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Reported natural disasters have risen steadily for a century, and wildfire is among the fastest growing classes.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Response demands rapid decisions over a large, fast-changing area under incomplete and delayed observation.</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Centralised fixed-rule systems scale poorly: every region competes for one inference engine and one rule base.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A closed menu of predefined alternatives cannot adapt while the fire evolves.</a:t>
            </a:r>
            <a:endParaRPr lang="en-US" sz="1500" dirty="0"/>
          </a:p>
        </p:txBody>
      </p:sp>
      <p:pic>
        <p:nvPicPr>
          <p:cNvPr id="5" name="Image 0" descr="/sessions/great-magical-hawking/mnt/outputs/deck/thesis_figs/fig1_01.png">    </p:cNvPr>
          <p:cNvPicPr>
            <a:picLocks noChangeAspect="1"/>
          </p:cNvPicPr>
          <p:nvPr/>
        </p:nvPicPr>
        <p:blipFill>
          <a:blip r:embed="rId1"/>
          <a:srcRect l="0" r="0" t="0" b="0"/>
          <a:stretch/>
        </p:blipFill>
        <p:spPr>
          <a:xfrm>
            <a:off x="6309360" y="1417320"/>
            <a:ext cx="5349240" cy="4480560"/>
          </a:xfrm>
          <a:prstGeom prst="rect">
            <a:avLst/>
          </a:prstGeom>
        </p:spPr>
      </p:pic>
      <p:sp>
        <p:nvSpPr>
          <p:cNvPr id="6"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1.1  Reported natural disasters, 1900-2022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1  ·  QUESTION AND HYPOTHESIS</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One question, three testable claims</a:t>
            </a:r>
            <a:endParaRPr lang="en-US" sz="3400" dirty="0"/>
          </a:p>
        </p:txBody>
      </p:sp>
      <p:sp>
        <p:nvSpPr>
          <p:cNvPr id="4" name="Text 2"/>
          <p:cNvSpPr/>
          <p:nvPr/>
        </p:nvSpPr>
        <p:spPr>
          <a:xfrm>
            <a:off x="548640" y="1554480"/>
            <a:ext cx="548640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RQ: how can a wildfire DSS generate adaptive guidance over an OPEN decision space, expose the reasoning and the sensitivity behind it, and run end to end against a strictly separated simulation core?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H1  Scalability and adaptability: distributed concept-abstracted agents, lower rule-base complexity, faster response.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H2  Interpretability: traceability and confidence gating are structural, so no post-hoc SHAP or LIME is needed.</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H3  Operational feasibility: satisficing acceptance and cost-aware constraints across incompletely observed, resource-limited fires.</a:t>
            </a:r>
            <a:endParaRPr lang="en-US" sz="1500" dirty="0"/>
          </a:p>
        </p:txBody>
      </p:sp>
      <p:pic>
        <p:nvPicPr>
          <p:cNvPr id="5" name="Image 0" descr="/sessions/great-magical-hawking/mnt/outputs/deck/thesis_figs/fig1_02.png">    </p:cNvPr>
          <p:cNvPicPr>
            <a:picLocks noChangeAspect="1"/>
          </p:cNvPicPr>
          <p:nvPr/>
        </p:nvPicPr>
        <p:blipFill>
          <a:blip r:embed="rId1"/>
          <a:srcRect l="0" r="0" t="0" b="0"/>
          <a:stretch/>
        </p:blipFill>
        <p:spPr>
          <a:xfrm>
            <a:off x="6309360" y="1417320"/>
            <a:ext cx="5349240" cy="4480560"/>
          </a:xfrm>
          <a:prstGeom prst="rect">
            <a:avLst/>
          </a:prstGeom>
        </p:spPr>
      </p:pic>
      <p:sp>
        <p:nvSpPr>
          <p:cNvPr id="6"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1.2  Gaps, question, hypothesis and contributions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1  ·  CONTRIBUTIONS</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Three contributions, one per gap</a:t>
            </a:r>
            <a:endParaRPr lang="en-US" sz="3400" dirty="0"/>
          </a:p>
        </p:txBody>
      </p:sp>
      <p:sp>
        <p:nvSpPr>
          <p:cNvPr id="4" name="Shape 2"/>
          <p:cNvSpPr/>
          <p:nvPr/>
        </p:nvSpPr>
        <p:spPr>
          <a:xfrm>
            <a:off x="548640" y="1572768"/>
            <a:ext cx="11064240" cy="1371600"/>
          </a:xfrm>
          <a:prstGeom prst="roundRect">
            <a:avLst>
              <a:gd name="adj" fmla="val 6000"/>
            </a:avLst>
          </a:prstGeom>
          <a:solidFill>
            <a:srgbClr val="E7E8D1"/>
          </a:solidFill>
          <a:ln/>
        </p:spPr>
      </p:sp>
      <p:sp>
        <p:nvSpPr>
          <p:cNvPr id="5" name="Shape 3"/>
          <p:cNvSpPr/>
          <p:nvPr/>
        </p:nvSpPr>
        <p:spPr>
          <a:xfrm>
            <a:off x="841248" y="1956816"/>
            <a:ext cx="603504" cy="603504"/>
          </a:xfrm>
          <a:prstGeom prst="ellipse">
            <a:avLst/>
          </a:prstGeom>
          <a:solidFill>
            <a:srgbClr val="B85042"/>
          </a:solidFill>
          <a:ln/>
        </p:spPr>
      </p:sp>
      <p:sp>
        <p:nvSpPr>
          <p:cNvPr id="6" name="Text 4"/>
          <p:cNvSpPr/>
          <p:nvPr/>
        </p:nvSpPr>
        <p:spPr>
          <a:xfrm>
            <a:off x="841248" y="2057400"/>
            <a:ext cx="603504"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C1</a:t>
            </a:r>
            <a:endParaRPr lang="en-US" sz="1500" dirty="0"/>
          </a:p>
        </p:txBody>
      </p:sp>
      <p:sp>
        <p:nvSpPr>
          <p:cNvPr id="7" name="Text 5"/>
          <p:cNvSpPr/>
          <p:nvPr/>
        </p:nvSpPr>
        <p:spPr>
          <a:xfrm>
            <a:off x="1664208" y="1773936"/>
            <a:ext cx="9601200" cy="384048"/>
          </a:xfrm>
          <a:prstGeom prst="rect">
            <a:avLst/>
          </a:prstGeom>
          <a:noFill/>
          <a:ln/>
        </p:spPr>
        <p:txBody>
          <a:bodyPr wrap="square" lIns="0" tIns="0" rIns="0" bIns="0" rtlCol="0" anchor="ctr"/>
          <a:lstStyle/>
          <a:p>
            <a:pPr indent="0" marL="0">
              <a:buNone/>
            </a:pPr>
            <a:r>
              <a:rPr lang="en-US" sz="1800" b="1" dirty="0">
                <a:solidFill>
                  <a:srgbClr val="2B2118"/>
                </a:solidFill>
                <a:latin typeface="Cambria" pitchFamily="34" charset="0"/>
                <a:ea typeface="Cambria" pitchFamily="34" charset="-122"/>
                <a:cs typeface="Cambria" pitchFamily="34" charset="-120"/>
              </a:rPr>
              <a:t>Open decision space</a:t>
            </a:r>
            <a:endParaRPr lang="en-US" sz="1800" dirty="0"/>
          </a:p>
        </p:txBody>
      </p:sp>
      <p:sp>
        <p:nvSpPr>
          <p:cNvPr id="8" name="Text 6"/>
          <p:cNvSpPr/>
          <p:nvPr/>
        </p:nvSpPr>
        <p:spPr>
          <a:xfrm>
            <a:off x="1664208" y="2176272"/>
            <a:ext cx="9601200" cy="658368"/>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Five concepts replace a fixed menu. The rule field is reshaped online by an evolving TS base and a gated generative stage.</a:t>
            </a:r>
            <a:endParaRPr lang="en-US" sz="1300" dirty="0"/>
          </a:p>
        </p:txBody>
      </p:sp>
      <p:sp>
        <p:nvSpPr>
          <p:cNvPr id="9" name="Shape 7"/>
          <p:cNvSpPr/>
          <p:nvPr/>
        </p:nvSpPr>
        <p:spPr>
          <a:xfrm>
            <a:off x="548640" y="3145536"/>
            <a:ext cx="11064240" cy="1371600"/>
          </a:xfrm>
          <a:prstGeom prst="roundRect">
            <a:avLst>
              <a:gd name="adj" fmla="val 6000"/>
            </a:avLst>
          </a:prstGeom>
          <a:solidFill>
            <a:srgbClr val="E7E8D1"/>
          </a:solidFill>
          <a:ln/>
        </p:spPr>
      </p:sp>
      <p:sp>
        <p:nvSpPr>
          <p:cNvPr id="10" name="Shape 8"/>
          <p:cNvSpPr/>
          <p:nvPr/>
        </p:nvSpPr>
        <p:spPr>
          <a:xfrm>
            <a:off x="841248" y="3529584"/>
            <a:ext cx="603504" cy="603504"/>
          </a:xfrm>
          <a:prstGeom prst="ellipse">
            <a:avLst/>
          </a:prstGeom>
          <a:solidFill>
            <a:srgbClr val="B85042"/>
          </a:solidFill>
          <a:ln/>
        </p:spPr>
      </p:sp>
      <p:sp>
        <p:nvSpPr>
          <p:cNvPr id="11" name="Text 9"/>
          <p:cNvSpPr/>
          <p:nvPr/>
        </p:nvSpPr>
        <p:spPr>
          <a:xfrm>
            <a:off x="841248" y="3630168"/>
            <a:ext cx="603504"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C2</a:t>
            </a:r>
            <a:endParaRPr lang="en-US" sz="1500" dirty="0"/>
          </a:p>
        </p:txBody>
      </p:sp>
      <p:sp>
        <p:nvSpPr>
          <p:cNvPr id="12" name="Text 10"/>
          <p:cNvSpPr/>
          <p:nvPr/>
        </p:nvSpPr>
        <p:spPr>
          <a:xfrm>
            <a:off x="1664208" y="3346704"/>
            <a:ext cx="9601200" cy="384048"/>
          </a:xfrm>
          <a:prstGeom prst="rect">
            <a:avLst/>
          </a:prstGeom>
          <a:noFill/>
          <a:ln/>
        </p:spPr>
        <p:txBody>
          <a:bodyPr wrap="square" lIns="0" tIns="0" rIns="0" bIns="0" rtlCol="0" anchor="ctr"/>
          <a:lstStyle/>
          <a:p>
            <a:pPr indent="0" marL="0">
              <a:buNone/>
            </a:pPr>
            <a:r>
              <a:rPr lang="en-US" sz="1800" b="1" dirty="0">
                <a:solidFill>
                  <a:srgbClr val="2B2118"/>
                </a:solidFill>
                <a:latin typeface="Cambria" pitchFamily="34" charset="0"/>
                <a:ea typeface="Cambria" pitchFamily="34" charset="-122"/>
                <a:cs typeface="Cambria" pitchFamily="34" charset="-120"/>
              </a:rPr>
              <a:t>Traceability and gated uncertainty</a:t>
            </a:r>
            <a:endParaRPr lang="en-US" sz="1800" dirty="0"/>
          </a:p>
        </p:txBody>
      </p:sp>
      <p:sp>
        <p:nvSpPr>
          <p:cNvPr id="13" name="Text 11"/>
          <p:cNvSpPr/>
          <p:nvPr/>
        </p:nvSpPr>
        <p:spPr>
          <a:xfrm>
            <a:off x="1664208" y="3749040"/>
            <a:ext cx="9601200" cy="658368"/>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Epistemic uncertainty is carried without priors, by blending each activation with a persistence estimate in proportion to confidence.</a:t>
            </a:r>
            <a:endParaRPr lang="en-US" sz="1300" dirty="0"/>
          </a:p>
        </p:txBody>
      </p:sp>
      <p:sp>
        <p:nvSpPr>
          <p:cNvPr id="14" name="Shape 12"/>
          <p:cNvSpPr/>
          <p:nvPr/>
        </p:nvSpPr>
        <p:spPr>
          <a:xfrm>
            <a:off x="548640" y="4718304"/>
            <a:ext cx="11064240" cy="1371600"/>
          </a:xfrm>
          <a:prstGeom prst="roundRect">
            <a:avLst>
              <a:gd name="adj" fmla="val 6000"/>
            </a:avLst>
          </a:prstGeom>
          <a:solidFill>
            <a:srgbClr val="E7E8D1"/>
          </a:solidFill>
          <a:ln/>
        </p:spPr>
      </p:sp>
      <p:sp>
        <p:nvSpPr>
          <p:cNvPr id="15" name="Shape 13"/>
          <p:cNvSpPr/>
          <p:nvPr/>
        </p:nvSpPr>
        <p:spPr>
          <a:xfrm>
            <a:off x="841248" y="5102352"/>
            <a:ext cx="603504" cy="603504"/>
          </a:xfrm>
          <a:prstGeom prst="ellipse">
            <a:avLst/>
          </a:prstGeom>
          <a:solidFill>
            <a:srgbClr val="B85042"/>
          </a:solidFill>
          <a:ln/>
        </p:spPr>
      </p:sp>
      <p:sp>
        <p:nvSpPr>
          <p:cNvPr id="16" name="Text 14"/>
          <p:cNvSpPr/>
          <p:nvPr/>
        </p:nvSpPr>
        <p:spPr>
          <a:xfrm>
            <a:off x="841248" y="5202936"/>
            <a:ext cx="603504"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C3</a:t>
            </a:r>
            <a:endParaRPr lang="en-US" sz="1500" dirty="0"/>
          </a:p>
        </p:txBody>
      </p:sp>
      <p:sp>
        <p:nvSpPr>
          <p:cNvPr id="17" name="Text 15"/>
          <p:cNvSpPr/>
          <p:nvPr/>
        </p:nvSpPr>
        <p:spPr>
          <a:xfrm>
            <a:off x="1664208" y="4919472"/>
            <a:ext cx="9601200" cy="384048"/>
          </a:xfrm>
          <a:prstGeom prst="rect">
            <a:avLst/>
          </a:prstGeom>
          <a:noFill/>
          <a:ln/>
        </p:spPr>
        <p:txBody>
          <a:bodyPr wrap="square" lIns="0" tIns="0" rIns="0" bIns="0" rtlCol="0" anchor="ctr"/>
          <a:lstStyle/>
          <a:p>
            <a:pPr indent="0" marL="0">
              <a:buNone/>
            </a:pPr>
            <a:r>
              <a:rPr lang="en-US" sz="1800" b="1" dirty="0">
                <a:solidFill>
                  <a:srgbClr val="2B2118"/>
                </a:solidFill>
                <a:latin typeface="Cambria" pitchFamily="34" charset="0"/>
                <a:ea typeface="Cambria" pitchFamily="34" charset="-122"/>
                <a:cs typeface="Cambria" pitchFamily="34" charset="-120"/>
              </a:rPr>
              <a:t>End-to-end over separated cores</a:t>
            </a:r>
            <a:endParaRPr lang="en-US" sz="1800" dirty="0"/>
          </a:p>
        </p:txBody>
      </p:sp>
      <p:sp>
        <p:nvSpPr>
          <p:cNvPr id="18" name="Text 16"/>
          <p:cNvSpPr/>
          <p:nvPr/>
        </p:nvSpPr>
        <p:spPr>
          <a:xfrm>
            <a:off x="1664208" y="5321808"/>
            <a:ext cx="9601200" cy="658368"/>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simulation core is validated independently first; the decision core then runs on that validated ground.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2  ·  BACKGROUND</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Fire behaviour and the decision layer are coupled</a:t>
            </a:r>
            <a:endParaRPr lang="en-US" sz="3400" dirty="0"/>
          </a:p>
        </p:txBody>
      </p:sp>
      <p:sp>
        <p:nvSpPr>
          <p:cNvPr id="4" name="Text 2"/>
          <p:cNvSpPr/>
          <p:nvPr/>
        </p:nvSpPr>
        <p:spPr>
          <a:xfrm>
            <a:off x="548640" y="1554480"/>
            <a:ext cx="512064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The grid state drives fire behaviour; the decision layer changes the grid state. Neither can be studied alone.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Centralised architectures put all inference in one place; distributed ones abstract each region to a few scalars.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That abstraction is what keeps the coordination channel narrow and auditable.</a:t>
            </a:r>
            <a:endParaRPr lang="en-US" sz="1500" dirty="0"/>
          </a:p>
        </p:txBody>
      </p:sp>
      <p:pic>
        <p:nvPicPr>
          <p:cNvPr id="5" name="Image 0" descr="/sessions/great-magical-hawking/mnt/outputs/deck/thesis_figs/fig2_01.png">    </p:cNvPr>
          <p:cNvPicPr>
            <a:picLocks noChangeAspect="1"/>
          </p:cNvPicPr>
          <p:nvPr/>
        </p:nvPicPr>
        <p:blipFill>
          <a:blip r:embed="rId1"/>
          <a:srcRect l="0" r="0" t="0" b="0"/>
          <a:stretch/>
        </p:blipFill>
        <p:spPr>
          <a:xfrm>
            <a:off x="5943600" y="1417320"/>
            <a:ext cx="5715000" cy="2148840"/>
          </a:xfrm>
          <a:prstGeom prst="rect">
            <a:avLst/>
          </a:prstGeom>
        </p:spPr>
      </p:pic>
      <p:pic>
        <p:nvPicPr>
          <p:cNvPr id="6" name="Image 1" descr="/sessions/great-magical-hawking/mnt/outputs/deck/thesis_figs/fig2_02.png">    </p:cNvPr>
          <p:cNvPicPr>
            <a:picLocks noChangeAspect="1"/>
          </p:cNvPicPr>
          <p:nvPr/>
        </p:nvPicPr>
        <p:blipFill>
          <a:blip r:embed="rId2"/>
          <a:srcRect l="0" r="0" t="0" b="0"/>
          <a:stretch/>
        </p:blipFill>
        <p:spPr>
          <a:xfrm>
            <a:off x="5943600" y="3703320"/>
            <a:ext cx="5715000" cy="2194560"/>
          </a:xfrm>
          <a:prstGeom prst="rect">
            <a:avLst/>
          </a:prstGeom>
        </p:spPr>
      </p:pic>
      <p:sp>
        <p:nvSpPr>
          <p:cNvPr id="7"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Figures 2.1 and 2.2  Coupling, and centralised vs distributed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2  ·  REASONING FOUNDATION</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Why fuzzy, and why it must evolve</a:t>
            </a:r>
            <a:endParaRPr lang="en-US" sz="3400" dirty="0"/>
          </a:p>
        </p:txBody>
      </p:sp>
      <p:sp>
        <p:nvSpPr>
          <p:cNvPr id="4" name="Text 2"/>
          <p:cNvSpPr/>
          <p:nvPr/>
        </p:nvSpPr>
        <p:spPr>
          <a:xfrm>
            <a:off x="548640" y="1554480"/>
            <a:ext cx="539496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Five trapezoidal terms per variable give operational language: a threat is high, not 0.72.</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Zero-order Takagi-Sugeno keeps the consequents numeric, so a rule can be tuned by moving one number.</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A closed catalogue over five concepts with five terms each needs 3 125 rules, which no expert can author or audit.</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So the base starts sparse and grows only where the field demands it.</a:t>
            </a:r>
            <a:endParaRPr lang="en-US" sz="1500" dirty="0"/>
          </a:p>
        </p:txBody>
      </p:sp>
      <p:pic>
        <p:nvPicPr>
          <p:cNvPr id="5" name="Image 0" descr="/sessions/great-magical-hawking/mnt/outputs/deck/thesis_figs/fig2_03.png">    </p:cNvPr>
          <p:cNvPicPr>
            <a:picLocks noChangeAspect="1"/>
          </p:cNvPicPr>
          <p:nvPr/>
        </p:nvPicPr>
        <p:blipFill>
          <a:blip r:embed="rId1"/>
          <a:srcRect l="0" r="0" t="0" b="0"/>
          <a:stretch/>
        </p:blipFill>
        <p:spPr>
          <a:xfrm>
            <a:off x="6126480" y="1417320"/>
            <a:ext cx="5532120" cy="2103120"/>
          </a:xfrm>
          <a:prstGeom prst="rect">
            <a:avLst/>
          </a:prstGeom>
        </p:spPr>
      </p:pic>
      <p:pic>
        <p:nvPicPr>
          <p:cNvPr id="6" name="Image 1" descr="/sessions/great-magical-hawking/mnt/outputs/deck/thesis_figs/fig2_05.png">    </p:cNvPr>
          <p:cNvPicPr>
            <a:picLocks noChangeAspect="1"/>
          </p:cNvPicPr>
          <p:nvPr/>
        </p:nvPicPr>
        <p:blipFill>
          <a:blip r:embed="rId2"/>
          <a:srcRect l="0" r="0" t="0" b="0"/>
          <a:stretch/>
        </p:blipFill>
        <p:spPr>
          <a:xfrm>
            <a:off x="6126480" y="3657600"/>
            <a:ext cx="5532120" cy="2240280"/>
          </a:xfrm>
          <a:prstGeom prst="rect">
            <a:avLst/>
          </a:prstGeom>
        </p:spPr>
      </p:pic>
      <p:sp>
        <p:nvSpPr>
          <p:cNvPr id="7"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Figures 2.3 and 2.5  Membership partition, staged adaptation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3  ·  SIMULATION FRAMEWORK</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A simulation core the decision layer cannot touch</a:t>
            </a:r>
            <a:endParaRPr lang="en-US" sz="3400" dirty="0"/>
          </a:p>
        </p:txBody>
      </p:sp>
      <p:sp>
        <p:nvSpPr>
          <p:cNvPr id="4" name="Text 2"/>
          <p:cNvSpPr/>
          <p:nvPr/>
        </p:nvSpPr>
        <p:spPr>
          <a:xfrm>
            <a:off x="548640" y="1554480"/>
            <a:ext cx="521208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Strict separation: the DSS reads the simulator and returns a resource allocation. It never writes the physics.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That separation is what makes the validation of Chapter 5 meaningful.</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Cellular grid with per-cell fuel, moisture, terrain and value; wind-dependent directional propagation between neighbours.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Every intervention becomes a change in the resource field, exactly as a human-issued order would.</a:t>
            </a:r>
            <a:endParaRPr lang="en-US" sz="1500" dirty="0"/>
          </a:p>
        </p:txBody>
      </p:sp>
      <p:pic>
        <p:nvPicPr>
          <p:cNvPr id="5" name="Image 0" descr="/sessions/great-magical-hawking/mnt/outputs/deck/thesis_figs/fig3_01.png">    </p:cNvPr>
          <p:cNvPicPr>
            <a:picLocks noChangeAspect="1"/>
          </p:cNvPicPr>
          <p:nvPr/>
        </p:nvPicPr>
        <p:blipFill>
          <a:blip r:embed="rId1"/>
          <a:srcRect l="0" r="0" t="0" b="0"/>
          <a:stretch/>
        </p:blipFill>
        <p:spPr>
          <a:xfrm>
            <a:off x="5989320" y="1463040"/>
            <a:ext cx="5669280" cy="4389120"/>
          </a:xfrm>
          <a:prstGeom prst="rect">
            <a:avLst/>
          </a:prstGeom>
        </p:spPr>
      </p:pic>
      <p:sp>
        <p:nvSpPr>
          <p:cNvPr id="6"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3.1  DisasterAware system block diagram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3  ·  THE PHYSICS</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Grid state, transitions, and wind-driven spread</a:t>
            </a:r>
            <a:endParaRPr lang="en-US" sz="3400" dirty="0"/>
          </a:p>
        </p:txBody>
      </p:sp>
      <p:pic>
        <p:nvPicPr>
          <p:cNvPr id="4" name="Image 0" descr="/sessions/great-magical-hawking/mnt/outputs/deck/thesis_figs/fig3_02.png">    </p:cNvPr>
          <p:cNvPicPr>
            <a:picLocks noChangeAspect="1"/>
          </p:cNvPicPr>
          <p:nvPr/>
        </p:nvPicPr>
        <p:blipFill>
          <a:blip r:embed="rId1"/>
          <a:srcRect l="0" r="0" t="0" b="0"/>
          <a:stretch/>
        </p:blipFill>
        <p:spPr>
          <a:xfrm>
            <a:off x="548640" y="1463040"/>
            <a:ext cx="3657600" cy="3017520"/>
          </a:xfrm>
          <a:prstGeom prst="rect">
            <a:avLst/>
          </a:prstGeom>
        </p:spPr>
      </p:pic>
      <p:pic>
        <p:nvPicPr>
          <p:cNvPr id="5" name="Image 1" descr="/sessions/great-magical-hawking/mnt/outputs/deck/thesis_figs/fig3_03.png">    </p:cNvPr>
          <p:cNvPicPr>
            <a:picLocks noChangeAspect="1"/>
          </p:cNvPicPr>
          <p:nvPr/>
        </p:nvPicPr>
        <p:blipFill>
          <a:blip r:embed="rId2"/>
          <a:srcRect l="0" r="0" t="0" b="0"/>
          <a:stretch/>
        </p:blipFill>
        <p:spPr>
          <a:xfrm>
            <a:off x="4343400" y="1463040"/>
            <a:ext cx="3657600" cy="3017520"/>
          </a:xfrm>
          <a:prstGeom prst="rect">
            <a:avLst/>
          </a:prstGeom>
        </p:spPr>
      </p:pic>
      <p:pic>
        <p:nvPicPr>
          <p:cNvPr id="6" name="Image 2" descr="/sessions/great-magical-hawking/mnt/outputs/deck/thesis_figs/fig3_04.png">    </p:cNvPr>
          <p:cNvPicPr>
            <a:picLocks noChangeAspect="1"/>
          </p:cNvPicPr>
          <p:nvPr/>
        </p:nvPicPr>
        <p:blipFill>
          <a:blip r:embed="rId3"/>
          <a:srcRect l="0" r="0" t="0" b="0"/>
          <a:stretch/>
        </p:blipFill>
        <p:spPr>
          <a:xfrm>
            <a:off x="8138160" y="1463040"/>
            <a:ext cx="3520440" cy="3017520"/>
          </a:xfrm>
          <a:prstGeom prst="rect">
            <a:avLst/>
          </a:prstGeom>
        </p:spPr>
      </p:pic>
      <p:sp>
        <p:nvSpPr>
          <p:cNvPr id="7" name="Text 2"/>
          <p:cNvSpPr/>
          <p:nvPr/>
        </p:nvSpPr>
        <p:spPr>
          <a:xfrm>
            <a:off x="548640" y="4572000"/>
            <a:ext cx="3657600" cy="32004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3.2  Grid and cell state</a:t>
            </a:r>
            <a:endParaRPr lang="en-US" sz="1000" dirty="0"/>
          </a:p>
        </p:txBody>
      </p:sp>
      <p:sp>
        <p:nvSpPr>
          <p:cNvPr id="8" name="Text 3"/>
          <p:cNvSpPr/>
          <p:nvPr/>
        </p:nvSpPr>
        <p:spPr>
          <a:xfrm>
            <a:off x="4343400" y="4572000"/>
            <a:ext cx="3657600" cy="32004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3.3  State transitions</a:t>
            </a:r>
            <a:endParaRPr lang="en-US" sz="1000" dirty="0"/>
          </a:p>
        </p:txBody>
      </p:sp>
      <p:sp>
        <p:nvSpPr>
          <p:cNvPr id="9" name="Text 4"/>
          <p:cNvSpPr/>
          <p:nvPr/>
        </p:nvSpPr>
        <p:spPr>
          <a:xfrm>
            <a:off x="8138160" y="4572000"/>
            <a:ext cx="3520440" cy="32004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3.4  Directional propagation</a:t>
            </a:r>
            <a:endParaRPr lang="en-US" sz="1000" dirty="0"/>
          </a:p>
        </p:txBody>
      </p:sp>
      <p:sp>
        <p:nvSpPr>
          <p:cNvPr id="10" name="Text 5"/>
          <p:cNvSpPr/>
          <p:nvPr/>
        </p:nvSpPr>
        <p:spPr>
          <a:xfrm>
            <a:off x="548640" y="5074920"/>
            <a:ext cx="11109960" cy="822960"/>
          </a:xfrm>
          <a:prstGeom prst="rect">
            <a:avLst/>
          </a:prstGeom>
          <a:noFill/>
          <a:ln/>
        </p:spPr>
        <p:txBody>
          <a:bodyPr wrap="square" lIns="0" tIns="0" rIns="0" bIns="0" rtlCol="0" anchor="ctr"/>
          <a:lstStyle/>
          <a:p>
            <a:pPr indent="0" marL="0">
              <a:buNone/>
            </a:pPr>
            <a:r>
              <a:rPr lang="en-US" sz="1400" dirty="0">
                <a:solidFill>
                  <a:srgbClr val="3A3A3A"/>
                </a:solidFill>
                <a:latin typeface="Calibri" pitchFamily="34" charset="0"/>
                <a:ea typeface="Calibri" pitchFamily="34" charset="-122"/>
                <a:cs typeface="Calibri" pitchFamily="34" charset="-120"/>
              </a:rPr>
              <a:t>Each cell carries its own fuel, moisture, slope and value. Spread into a target cell is weighted by the wind and the slope along that direction, so the front shape follows the terrain rather than a circle.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4  ·  DECISION FRAMEWORK</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Four layers from raw sensing to fielded orders</a:t>
            </a:r>
            <a:endParaRPr lang="en-US" sz="3400" dirty="0"/>
          </a:p>
        </p:txBody>
      </p:sp>
      <p:sp>
        <p:nvSpPr>
          <p:cNvPr id="4" name="Shape 2"/>
          <p:cNvSpPr/>
          <p:nvPr/>
        </p:nvSpPr>
        <p:spPr>
          <a:xfrm>
            <a:off x="566928" y="1719072"/>
            <a:ext cx="548640" cy="548640"/>
          </a:xfrm>
          <a:prstGeom prst="ellipse">
            <a:avLst/>
          </a:prstGeom>
          <a:solidFill>
            <a:srgbClr val="A7BEAE"/>
          </a:solidFill>
          <a:ln/>
        </p:spPr>
      </p:sp>
      <p:sp>
        <p:nvSpPr>
          <p:cNvPr id="5" name="Text 3"/>
          <p:cNvSpPr/>
          <p:nvPr/>
        </p:nvSpPr>
        <p:spPr>
          <a:xfrm>
            <a:off x="566928" y="1819656"/>
            <a:ext cx="548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98448" y="1627632"/>
            <a:ext cx="4480560" cy="365760"/>
          </a:xfrm>
          <a:prstGeom prst="rect">
            <a:avLst/>
          </a:prstGeom>
          <a:noFill/>
          <a:ln/>
        </p:spPr>
        <p:txBody>
          <a:bodyPr wrap="square" lIns="0" tIns="0" rIns="0" bIns="0"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Input space</a:t>
            </a:r>
            <a:endParaRPr lang="en-US" sz="1600" dirty="0"/>
          </a:p>
        </p:txBody>
      </p:sp>
      <p:sp>
        <p:nvSpPr>
          <p:cNvPr id="7" name="Text 5"/>
          <p:cNvSpPr/>
          <p:nvPr/>
        </p:nvSpPr>
        <p:spPr>
          <a:xfrm>
            <a:off x="1298448" y="1993392"/>
            <a:ext cx="4480560" cy="566928"/>
          </a:xfrm>
          <a:prstGeom prst="rect">
            <a:avLst/>
          </a:prstGeom>
          <a:noFill/>
          <a:ln/>
        </p:spPr>
        <p:txBody>
          <a:bodyPr wrap="square" lIns="0" tIns="0" rIns="0" bIns="0" rtlCol="0" anchor="ctr"/>
          <a:lstStyle/>
          <a:p>
            <a:pPr indent="0" marL="0">
              <a:buNone/>
            </a:pPr>
            <a:r>
              <a:rPr lang="en-US" sz="1200" dirty="0">
                <a:solidFill>
                  <a:srgbClr val="7A7A7A"/>
                </a:solidFill>
                <a:latin typeface="Calibri" pitchFamily="34" charset="0"/>
                <a:ea typeface="Calibri" pitchFamily="34" charset="-122"/>
                <a:cs typeface="Calibri" pitchFamily="34" charset="-120"/>
              </a:rPr>
              <a:t>heterogeneous sensing, each reading with its own latency and quality</a:t>
            </a:r>
            <a:endParaRPr lang="en-US" sz="1200" dirty="0"/>
          </a:p>
        </p:txBody>
      </p:sp>
      <p:sp>
        <p:nvSpPr>
          <p:cNvPr id="8" name="Shape 6"/>
          <p:cNvSpPr/>
          <p:nvPr/>
        </p:nvSpPr>
        <p:spPr>
          <a:xfrm>
            <a:off x="566928" y="2816352"/>
            <a:ext cx="548640" cy="548640"/>
          </a:xfrm>
          <a:prstGeom prst="ellipse">
            <a:avLst/>
          </a:prstGeom>
          <a:solidFill>
            <a:srgbClr val="A7BEAE"/>
          </a:solidFill>
          <a:ln/>
        </p:spPr>
      </p:sp>
      <p:sp>
        <p:nvSpPr>
          <p:cNvPr id="9" name="Text 7"/>
          <p:cNvSpPr/>
          <p:nvPr/>
        </p:nvSpPr>
        <p:spPr>
          <a:xfrm>
            <a:off x="566928" y="2916936"/>
            <a:ext cx="548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298448" y="2724912"/>
            <a:ext cx="4480560" cy="365760"/>
          </a:xfrm>
          <a:prstGeom prst="rect">
            <a:avLst/>
          </a:prstGeom>
          <a:noFill/>
          <a:ln/>
        </p:spPr>
        <p:txBody>
          <a:bodyPr wrap="square" lIns="0" tIns="0" rIns="0" bIns="0"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Observation and confidence</a:t>
            </a:r>
            <a:endParaRPr lang="en-US" sz="1600" dirty="0"/>
          </a:p>
        </p:txBody>
      </p:sp>
      <p:sp>
        <p:nvSpPr>
          <p:cNvPr id="11" name="Text 9"/>
          <p:cNvSpPr/>
          <p:nvPr/>
        </p:nvSpPr>
        <p:spPr>
          <a:xfrm>
            <a:off x="1298448" y="3090672"/>
            <a:ext cx="4480560" cy="566928"/>
          </a:xfrm>
          <a:prstGeom prst="rect">
            <a:avLst/>
          </a:prstGeom>
          <a:noFill/>
          <a:ln/>
        </p:spPr>
        <p:txBody>
          <a:bodyPr wrap="square" lIns="0" tIns="0" rIns="0" bIns="0" rtlCol="0" anchor="ctr"/>
          <a:lstStyle/>
          <a:p>
            <a:pPr indent="0" marL="0">
              <a:buNone/>
            </a:pPr>
            <a:r>
              <a:rPr lang="en-US" sz="1200" dirty="0">
                <a:solidFill>
                  <a:srgbClr val="7A7A7A"/>
                </a:solidFill>
                <a:latin typeface="Calibri" pitchFamily="34" charset="0"/>
                <a:ea typeface="Calibri" pitchFamily="34" charset="-122"/>
                <a:cs typeface="Calibri" pitchFamily="34" charset="-120"/>
              </a:rPr>
              <a:t>ten features, each carrying a confidence factor</a:t>
            </a:r>
            <a:endParaRPr lang="en-US" sz="1200" dirty="0"/>
          </a:p>
        </p:txBody>
      </p:sp>
      <p:sp>
        <p:nvSpPr>
          <p:cNvPr id="12" name="Shape 10"/>
          <p:cNvSpPr/>
          <p:nvPr/>
        </p:nvSpPr>
        <p:spPr>
          <a:xfrm>
            <a:off x="566928" y="3913632"/>
            <a:ext cx="548640" cy="548640"/>
          </a:xfrm>
          <a:prstGeom prst="ellipse">
            <a:avLst/>
          </a:prstGeom>
          <a:solidFill>
            <a:srgbClr val="A7BEAE"/>
          </a:solidFill>
          <a:ln/>
        </p:spPr>
      </p:sp>
      <p:sp>
        <p:nvSpPr>
          <p:cNvPr id="13" name="Text 11"/>
          <p:cNvSpPr/>
          <p:nvPr/>
        </p:nvSpPr>
        <p:spPr>
          <a:xfrm>
            <a:off x="566928" y="4014216"/>
            <a:ext cx="548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298448" y="3822192"/>
            <a:ext cx="4480560" cy="365760"/>
          </a:xfrm>
          <a:prstGeom prst="rect">
            <a:avLst/>
          </a:prstGeom>
          <a:noFill/>
          <a:ln/>
        </p:spPr>
        <p:txBody>
          <a:bodyPr wrap="square" lIns="0" tIns="0" rIns="0" bIns="0"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Concept space</a:t>
            </a:r>
            <a:endParaRPr lang="en-US" sz="1600" dirty="0"/>
          </a:p>
        </p:txBody>
      </p:sp>
      <p:sp>
        <p:nvSpPr>
          <p:cNvPr id="15" name="Text 13"/>
          <p:cNvSpPr/>
          <p:nvPr/>
        </p:nvSpPr>
        <p:spPr>
          <a:xfrm>
            <a:off x="1298448" y="4187952"/>
            <a:ext cx="4480560" cy="566928"/>
          </a:xfrm>
          <a:prstGeom prst="rect">
            <a:avLst/>
          </a:prstGeom>
          <a:noFill/>
          <a:ln/>
        </p:spPr>
        <p:txBody>
          <a:bodyPr wrap="square" lIns="0" tIns="0" rIns="0" bIns="0" rtlCol="0" anchor="ctr"/>
          <a:lstStyle/>
          <a:p>
            <a:pPr indent="0" marL="0">
              <a:buNone/>
            </a:pPr>
            <a:r>
              <a:rPr lang="en-US" sz="1200" dirty="0">
                <a:solidFill>
                  <a:srgbClr val="7A7A7A"/>
                </a:solidFill>
                <a:latin typeface="Calibri" pitchFamily="34" charset="0"/>
                <a:ea typeface="Calibri" pitchFamily="34" charset="-122"/>
                <a:cs typeface="Calibri" pitchFamily="34" charset="-120"/>
              </a:rPr>
              <a:t>five decision concepts in operational language</a:t>
            </a:r>
            <a:endParaRPr lang="en-US" sz="1200" dirty="0"/>
          </a:p>
        </p:txBody>
      </p:sp>
      <p:sp>
        <p:nvSpPr>
          <p:cNvPr id="16" name="Shape 14"/>
          <p:cNvSpPr/>
          <p:nvPr/>
        </p:nvSpPr>
        <p:spPr>
          <a:xfrm>
            <a:off x="566928" y="5010912"/>
            <a:ext cx="548640" cy="548640"/>
          </a:xfrm>
          <a:prstGeom prst="ellipse">
            <a:avLst/>
          </a:prstGeom>
          <a:solidFill>
            <a:srgbClr val="B85042"/>
          </a:solidFill>
          <a:ln/>
        </p:spPr>
      </p:sp>
      <p:sp>
        <p:nvSpPr>
          <p:cNvPr id="17" name="Text 15"/>
          <p:cNvSpPr/>
          <p:nvPr/>
        </p:nvSpPr>
        <p:spPr>
          <a:xfrm>
            <a:off x="566928" y="5111496"/>
            <a:ext cx="548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298448" y="4919472"/>
            <a:ext cx="4480560" cy="365760"/>
          </a:xfrm>
          <a:prstGeom prst="rect">
            <a:avLst/>
          </a:prstGeom>
          <a:noFill/>
          <a:ln/>
        </p:spPr>
        <p:txBody>
          <a:bodyPr wrap="square" lIns="0" tIns="0" rIns="0" bIns="0"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Decision and coordination</a:t>
            </a:r>
            <a:endParaRPr lang="en-US" sz="1600" dirty="0"/>
          </a:p>
        </p:txBody>
      </p:sp>
      <p:sp>
        <p:nvSpPr>
          <p:cNvPr id="19" name="Text 17"/>
          <p:cNvSpPr/>
          <p:nvPr/>
        </p:nvSpPr>
        <p:spPr>
          <a:xfrm>
            <a:off x="1298448" y="5285232"/>
            <a:ext cx="4480560" cy="566928"/>
          </a:xfrm>
          <a:prstGeom prst="rect">
            <a:avLst/>
          </a:prstGeom>
          <a:noFill/>
          <a:ln/>
        </p:spPr>
        <p:txBody>
          <a:bodyPr wrap="square" lIns="0" tIns="0" rIns="0" bIns="0" rtlCol="0" anchor="ctr"/>
          <a:lstStyle/>
          <a:p>
            <a:pPr indent="0" marL="0">
              <a:buNone/>
            </a:pPr>
            <a:r>
              <a:rPr lang="en-US" sz="1200" dirty="0">
                <a:solidFill>
                  <a:srgbClr val="7A7A7A"/>
                </a:solidFill>
                <a:latin typeface="Calibri" pitchFamily="34" charset="0"/>
                <a:ea typeface="Calibri" pitchFamily="34" charset="-122"/>
                <a:cs typeface="Calibri" pitchFamily="34" charset="-120"/>
              </a:rPr>
              <a:t>rules fire, the candidate is priced and gated, the coordinator rations the pool</a:t>
            </a:r>
            <a:endParaRPr lang="en-US" sz="1200" dirty="0"/>
          </a:p>
        </p:txBody>
      </p:sp>
      <p:pic>
        <p:nvPicPr>
          <p:cNvPr id="20" name="Image 0" descr="/sessions/great-magical-hawking/mnt/outputs/deck/thesis_figs/fig4_01.png">    </p:cNvPr>
          <p:cNvPicPr>
            <a:picLocks noChangeAspect="1"/>
          </p:cNvPicPr>
          <p:nvPr/>
        </p:nvPicPr>
        <p:blipFill>
          <a:blip r:embed="rId1"/>
          <a:srcRect l="0" r="0" t="0" b="0"/>
          <a:stretch/>
        </p:blipFill>
        <p:spPr>
          <a:xfrm>
            <a:off x="6126480" y="1463040"/>
            <a:ext cx="5532120" cy="4389120"/>
          </a:xfrm>
          <a:prstGeom prst="rect">
            <a:avLst/>
          </a:prstGeom>
        </p:spPr>
      </p:pic>
      <p:sp>
        <p:nvSpPr>
          <p:cNvPr id="21" name="Text 18"/>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4.1  DisasterAware block diagram, DSS focused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4  ·  LAYERS 2 AND 3</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Concepts carry the meaning, confidence carries the doubt</a:t>
            </a:r>
            <a:endParaRPr lang="en-US" sz="3400" dirty="0"/>
          </a:p>
        </p:txBody>
      </p:sp>
      <p:sp>
        <p:nvSpPr>
          <p:cNvPr id="4" name="Text 2"/>
          <p:cNvSpPr/>
          <p:nvPr/>
        </p:nvSpPr>
        <p:spPr>
          <a:xfrm>
            <a:off x="548640" y="1554480"/>
            <a:ext cx="512064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Ten features feed five decision concepts through a fixed hierarchy, so a rule speaks about threat and exposure, not about pixels.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Each activation is blended with a persistence estimate in proportion to the confidence of the observation behind it.</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A degraded channel therefore weakens its own influence instead of silently asserting a stale value.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No prior distribution is assumed anywhere in this path.</a:t>
            </a:r>
            <a:endParaRPr lang="en-US" sz="1500" dirty="0"/>
          </a:p>
        </p:txBody>
      </p:sp>
      <p:pic>
        <p:nvPicPr>
          <p:cNvPr id="5" name="Image 0" descr="/sessions/great-magical-hawking/mnt/outputs/deck/thesis_figs/fig4_02.png">    </p:cNvPr>
          <p:cNvPicPr>
            <a:picLocks noChangeAspect="1"/>
          </p:cNvPicPr>
          <p:nvPr/>
        </p:nvPicPr>
        <p:blipFill>
          <a:blip r:embed="rId1"/>
          <a:srcRect l="0" r="0" t="0" b="0"/>
          <a:stretch/>
        </p:blipFill>
        <p:spPr>
          <a:xfrm>
            <a:off x="5897880" y="1417320"/>
            <a:ext cx="5760720" cy="2148840"/>
          </a:xfrm>
          <a:prstGeom prst="rect">
            <a:avLst/>
          </a:prstGeom>
        </p:spPr>
      </p:pic>
      <p:pic>
        <p:nvPicPr>
          <p:cNvPr id="6" name="Image 1" descr="/sessions/great-magical-hawking/mnt/outputs/deck/thesis_figs/fig4_04.png">    </p:cNvPr>
          <p:cNvPicPr>
            <a:picLocks noChangeAspect="1"/>
          </p:cNvPicPr>
          <p:nvPr/>
        </p:nvPicPr>
        <p:blipFill>
          <a:blip r:embed="rId2"/>
          <a:srcRect l="0" r="0" t="0" b="0"/>
          <a:stretch/>
        </p:blipFill>
        <p:spPr>
          <a:xfrm>
            <a:off x="5897880" y="3703320"/>
            <a:ext cx="5760720" cy="2194560"/>
          </a:xfrm>
          <a:prstGeom prst="rect">
            <a:avLst/>
          </a:prstGeom>
        </p:spPr>
      </p:pic>
      <p:sp>
        <p:nvSpPr>
          <p:cNvPr id="7"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Figures 4.2 and 4.4  Hierarchy, and confidence gating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4  ·  LAYER 4</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Every candidate must clear two different tests</a:t>
            </a:r>
            <a:endParaRPr lang="en-US" sz="3400" dirty="0"/>
          </a:p>
        </p:txBody>
      </p:sp>
      <p:sp>
        <p:nvSpPr>
          <p:cNvPr id="4" name="Shape 2"/>
          <p:cNvSpPr/>
          <p:nvPr/>
        </p:nvSpPr>
        <p:spPr>
          <a:xfrm>
            <a:off x="548640" y="1572768"/>
            <a:ext cx="5394960" cy="1920240"/>
          </a:xfrm>
          <a:prstGeom prst="roundRect">
            <a:avLst>
              <a:gd name="adj" fmla="val 4286"/>
            </a:avLst>
          </a:prstGeom>
          <a:solidFill>
            <a:srgbClr val="E7E8D1"/>
          </a:solidFill>
          <a:ln/>
        </p:spPr>
      </p:sp>
      <p:sp>
        <p:nvSpPr>
          <p:cNvPr id="5" name="Text 3"/>
          <p:cNvSpPr/>
          <p:nvPr/>
        </p:nvSpPr>
        <p:spPr>
          <a:xfrm>
            <a:off x="822960" y="1755648"/>
            <a:ext cx="4846320" cy="365760"/>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Cost  ·  is it worth doing?</a:t>
            </a:r>
            <a:endParaRPr lang="en-US" sz="1700" dirty="0"/>
          </a:p>
        </p:txBody>
      </p:sp>
      <p:sp>
        <p:nvSpPr>
          <p:cNvPr id="6" name="Text 4"/>
          <p:cNvSpPr/>
          <p:nvPr/>
        </p:nvSpPr>
        <p:spPr>
          <a:xfrm>
            <a:off x="822960" y="2194560"/>
            <a:ext cx="4846320" cy="114300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candidate is held on a shadow forecast and priced against doing nothing. Acceptance is satisficing: it must beat a fixed ceiling or beat no action by a margin.</a:t>
            </a:r>
            <a:endParaRPr lang="en-US" sz="1300" dirty="0"/>
          </a:p>
        </p:txBody>
      </p:sp>
      <p:sp>
        <p:nvSpPr>
          <p:cNvPr id="7" name="Shape 5"/>
          <p:cNvSpPr/>
          <p:nvPr/>
        </p:nvSpPr>
        <p:spPr>
          <a:xfrm>
            <a:off x="548640" y="3703320"/>
            <a:ext cx="5394960" cy="2148840"/>
          </a:xfrm>
          <a:prstGeom prst="roundRect">
            <a:avLst>
              <a:gd name="adj" fmla="val 3830"/>
            </a:avLst>
          </a:prstGeom>
          <a:solidFill>
            <a:srgbClr val="E7E8D1"/>
          </a:solidFill>
          <a:ln/>
        </p:spPr>
      </p:sp>
      <p:sp>
        <p:nvSpPr>
          <p:cNvPr id="8" name="Text 6"/>
          <p:cNvSpPr/>
          <p:nvPr/>
        </p:nvSpPr>
        <p:spPr>
          <a:xfrm>
            <a:off x="822960" y="3886200"/>
            <a:ext cx="4846320" cy="365760"/>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Quality  ·  does it answer the demand?</a:t>
            </a:r>
            <a:endParaRPr lang="en-US" sz="1700" dirty="0"/>
          </a:p>
        </p:txBody>
      </p:sp>
      <p:sp>
        <p:nvSpPr>
          <p:cNvPr id="9" name="Text 7"/>
          <p:cNvSpPr/>
          <p:nvPr/>
        </p:nvSpPr>
        <p:spPr>
          <a:xfrm>
            <a:off x="822960" y="4325112"/>
            <a:ext cx="4846320" cy="137160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Each concept is compared with the intensity ordered from the family that answers it. Ordering more than was asked for counts as much as ordering less. Below the gate the fail-safe attenuates the offensive orders; evacuation is never reduced.</a:t>
            </a:r>
            <a:endParaRPr lang="en-US" sz="1300" dirty="0"/>
          </a:p>
        </p:txBody>
      </p:sp>
      <p:pic>
        <p:nvPicPr>
          <p:cNvPr id="10" name="Image 0" descr="/sessions/great-magical-hawking/mnt/outputs/deck/thesis_figs/fig4_05.png">    </p:cNvPr>
          <p:cNvPicPr>
            <a:picLocks noChangeAspect="1"/>
          </p:cNvPicPr>
          <p:nvPr/>
        </p:nvPicPr>
        <p:blipFill>
          <a:blip r:embed="rId1"/>
          <a:srcRect l="0" r="0" t="0" b="0"/>
          <a:stretch/>
        </p:blipFill>
        <p:spPr>
          <a:xfrm>
            <a:off x="6126480" y="1572768"/>
            <a:ext cx="5532120" cy="4251960"/>
          </a:xfrm>
          <a:prstGeom prst="rect">
            <a:avLst/>
          </a:prstGeom>
        </p:spPr>
      </p:pic>
      <p:sp>
        <p:nvSpPr>
          <p:cNvPr id="11" name="Text 8"/>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4.5  Layer 4 decision and adaptation flow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4  ·  OPEN DECISION SPACE</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Three stages of increasing invasiveness</a:t>
            </a:r>
            <a:endParaRPr lang="en-US" sz="3400" dirty="0"/>
          </a:p>
        </p:txBody>
      </p:sp>
      <p:sp>
        <p:nvSpPr>
          <p:cNvPr id="4" name="Text 2"/>
          <p:cNvSpPr/>
          <p:nvPr/>
        </p:nvSpPr>
        <p:spPr>
          <a:xfrm>
            <a:off x="548640" y="1463040"/>
            <a:ext cx="11109960" cy="548640"/>
          </a:xfrm>
          <a:prstGeom prst="rect">
            <a:avLst/>
          </a:prstGeom>
          <a:noFill/>
          <a:ln/>
        </p:spPr>
        <p:txBody>
          <a:bodyPr wrap="square" lIns="0" tIns="0" rIns="0" bIns="0" rtlCol="0" anchor="ctr"/>
          <a:lstStyle/>
          <a:p>
            <a:pPr indent="0" marL="0">
              <a:buNone/>
            </a:pPr>
            <a:r>
              <a:rPr lang="en-US" sz="1400" dirty="0">
                <a:solidFill>
                  <a:srgbClr val="3A3A3A"/>
                </a:solidFill>
                <a:latin typeface="Calibri" pitchFamily="34" charset="0"/>
                <a:ea typeface="Calibri" pitchFamily="34" charset="-122"/>
                <a:cs typeface="Calibri" pitchFamily="34" charset="-120"/>
              </a:rPr>
              <a:t>A stage engages only when the standing decision demonstrably falls short, and every trial it produces is judged by the same forecast test the standing decision just passed.</a:t>
            </a:r>
            <a:endParaRPr lang="en-US" sz="1400" dirty="0"/>
          </a:p>
        </p:txBody>
      </p:sp>
      <p:pic>
        <p:nvPicPr>
          <p:cNvPr id="5" name="Image 0" descr="/sessions/great-magical-hawking/mnt/outputs/deck/thesis_figs/fig4_06.png">    </p:cNvPr>
          <p:cNvPicPr>
            <a:picLocks noChangeAspect="1"/>
          </p:cNvPicPr>
          <p:nvPr/>
        </p:nvPicPr>
        <p:blipFill>
          <a:blip r:embed="rId1"/>
          <a:srcRect l="0" r="0" t="0" b="0"/>
          <a:stretch/>
        </p:blipFill>
        <p:spPr>
          <a:xfrm>
            <a:off x="548640" y="2148840"/>
            <a:ext cx="3520440" cy="2423160"/>
          </a:xfrm>
          <a:prstGeom prst="rect">
            <a:avLst/>
          </a:prstGeom>
        </p:spPr>
      </p:pic>
      <p:sp>
        <p:nvSpPr>
          <p:cNvPr id="6" name="Text 3"/>
          <p:cNvSpPr/>
          <p:nvPr/>
        </p:nvSpPr>
        <p:spPr>
          <a:xfrm>
            <a:off x="548640" y="4663440"/>
            <a:ext cx="3520440" cy="365760"/>
          </a:xfrm>
          <a:prstGeom prst="rect">
            <a:avLst/>
          </a:prstGeom>
          <a:noFill/>
          <a:ln/>
        </p:spPr>
        <p:txBody>
          <a:bodyPr wrap="square" lIns="0" tIns="0" rIns="0" bIns="0" rtlCol="0" anchor="ctr"/>
          <a:lstStyle/>
          <a:p>
            <a:pPr algn="ctr" indent="0" marL="0">
              <a:buNone/>
            </a:pPr>
            <a:r>
              <a:rPr lang="en-US" sz="1600" b="1" dirty="0">
                <a:solidFill>
                  <a:srgbClr val="B85042"/>
                </a:solidFill>
                <a:latin typeface="Cambria" pitchFamily="34" charset="0"/>
                <a:ea typeface="Cambria" pitchFamily="34" charset="-122"/>
                <a:cs typeface="Cambria" pitchFamily="34" charset="-120"/>
              </a:rPr>
              <a:t>1  Tuning</a:t>
            </a:r>
            <a:endParaRPr lang="en-US" sz="1600" dirty="0"/>
          </a:p>
        </p:txBody>
      </p:sp>
      <p:sp>
        <p:nvSpPr>
          <p:cNvPr id="7" name="Text 4"/>
          <p:cNvSpPr/>
          <p:nvPr/>
        </p:nvSpPr>
        <p:spPr>
          <a:xfrm>
            <a:off x="548640" y="5029200"/>
            <a:ext cx="3520440" cy="411480"/>
          </a:xfrm>
          <a:prstGeom prst="rect">
            <a:avLst/>
          </a:prstGeom>
          <a:noFill/>
          <a:ln/>
        </p:spPr>
        <p:txBody>
          <a:bodyPr wrap="square" lIns="0" tIns="0" rIns="0" bIns="0" rtlCol="0" anchor="ctr"/>
          <a:lstStyle/>
          <a:p>
            <a:pPr algn="ctr" indent="0" marL="0">
              <a:buNone/>
            </a:pPr>
            <a:r>
              <a:rPr lang="en-US" sz="1200" dirty="0">
                <a:solidFill>
                  <a:srgbClr val="7A7A7A"/>
                </a:solidFill>
                <a:latin typeface="Calibri" pitchFamily="34" charset="0"/>
                <a:ea typeface="Calibri" pitchFamily="34" charset="-122"/>
                <a:cs typeface="Calibri" pitchFamily="34" charset="-120"/>
              </a:rPr>
              <a:t>consequents step, boundaries shift</a:t>
            </a:r>
            <a:endParaRPr lang="en-US" sz="1200" dirty="0"/>
          </a:p>
        </p:txBody>
      </p:sp>
      <p:pic>
        <p:nvPicPr>
          <p:cNvPr id="8" name="Image 1" descr="/sessions/great-magical-hawking/mnt/outputs/deck/thesis_figs/fig4_07.png">    </p:cNvPr>
          <p:cNvPicPr>
            <a:picLocks noChangeAspect="1"/>
          </p:cNvPicPr>
          <p:nvPr/>
        </p:nvPicPr>
        <p:blipFill>
          <a:blip r:embed="rId2"/>
          <a:srcRect l="0" r="0" t="0" b="0"/>
          <a:stretch/>
        </p:blipFill>
        <p:spPr>
          <a:xfrm>
            <a:off x="4315968" y="2148840"/>
            <a:ext cx="3520440" cy="2423160"/>
          </a:xfrm>
          <a:prstGeom prst="rect">
            <a:avLst/>
          </a:prstGeom>
        </p:spPr>
      </p:pic>
      <p:sp>
        <p:nvSpPr>
          <p:cNvPr id="9" name="Text 5"/>
          <p:cNvSpPr/>
          <p:nvPr/>
        </p:nvSpPr>
        <p:spPr>
          <a:xfrm>
            <a:off x="4315968" y="4663440"/>
            <a:ext cx="3520440" cy="365760"/>
          </a:xfrm>
          <a:prstGeom prst="rect">
            <a:avLst/>
          </a:prstGeom>
          <a:noFill/>
          <a:ln/>
        </p:spPr>
        <p:txBody>
          <a:bodyPr wrap="square" lIns="0" tIns="0" rIns="0" bIns="0" rtlCol="0" anchor="ctr"/>
          <a:lstStyle/>
          <a:p>
            <a:pPr algn="ctr" indent="0" marL="0">
              <a:buNone/>
            </a:pPr>
            <a:r>
              <a:rPr lang="en-US" sz="1600" b="1" dirty="0">
                <a:solidFill>
                  <a:srgbClr val="B85042"/>
                </a:solidFill>
                <a:latin typeface="Cambria" pitchFamily="34" charset="0"/>
                <a:ea typeface="Cambria" pitchFamily="34" charset="-122"/>
                <a:cs typeface="Cambria" pitchFamily="34" charset="-120"/>
              </a:rPr>
              <a:t>2  Resolution</a:t>
            </a:r>
            <a:endParaRPr lang="en-US" sz="1600" dirty="0"/>
          </a:p>
        </p:txBody>
      </p:sp>
      <p:sp>
        <p:nvSpPr>
          <p:cNvPr id="10" name="Text 6"/>
          <p:cNvSpPr/>
          <p:nvPr/>
        </p:nvSpPr>
        <p:spPr>
          <a:xfrm>
            <a:off x="4315968" y="5029200"/>
            <a:ext cx="3520440" cy="411480"/>
          </a:xfrm>
          <a:prstGeom prst="rect">
            <a:avLst/>
          </a:prstGeom>
          <a:noFill/>
          <a:ln/>
        </p:spPr>
        <p:txBody>
          <a:bodyPr wrap="square" lIns="0" tIns="0" rIns="0" bIns="0" rtlCol="0" anchor="ctr"/>
          <a:lstStyle/>
          <a:p>
            <a:pPr algn="ctr" indent="0" marL="0">
              <a:buNone/>
            </a:pPr>
            <a:r>
              <a:rPr lang="en-US" sz="1200" dirty="0">
                <a:solidFill>
                  <a:srgbClr val="7A7A7A"/>
                </a:solidFill>
                <a:latin typeface="Calibri" pitchFamily="34" charset="0"/>
                <a:ea typeface="Calibri" pitchFamily="34" charset="-122"/>
                <a:cs typeface="Calibri" pitchFamily="34" charset="-120"/>
              </a:rPr>
              <a:t>rules instantiated, terms inserted</a:t>
            </a:r>
            <a:endParaRPr lang="en-US" sz="1200" dirty="0"/>
          </a:p>
        </p:txBody>
      </p:sp>
      <p:pic>
        <p:nvPicPr>
          <p:cNvPr id="11" name="Image 2" descr="/sessions/great-magical-hawking/mnt/outputs/deck/thesis_figs/fig4_08.png">    </p:cNvPr>
          <p:cNvPicPr>
            <a:picLocks noChangeAspect="1"/>
          </p:cNvPicPr>
          <p:nvPr/>
        </p:nvPicPr>
        <p:blipFill>
          <a:blip r:embed="rId3"/>
          <a:srcRect l="0" r="0" t="0" b="0"/>
          <a:stretch/>
        </p:blipFill>
        <p:spPr>
          <a:xfrm>
            <a:off x="8083296" y="2148840"/>
            <a:ext cx="3520440" cy="2423160"/>
          </a:xfrm>
          <a:prstGeom prst="rect">
            <a:avLst/>
          </a:prstGeom>
        </p:spPr>
      </p:pic>
      <p:sp>
        <p:nvSpPr>
          <p:cNvPr id="12" name="Text 7"/>
          <p:cNvSpPr/>
          <p:nvPr/>
        </p:nvSpPr>
        <p:spPr>
          <a:xfrm>
            <a:off x="8083296" y="4663440"/>
            <a:ext cx="3520440" cy="365760"/>
          </a:xfrm>
          <a:prstGeom prst="rect">
            <a:avLst/>
          </a:prstGeom>
          <a:noFill/>
          <a:ln/>
        </p:spPr>
        <p:txBody>
          <a:bodyPr wrap="square" lIns="0" tIns="0" rIns="0" bIns="0" rtlCol="0" anchor="ctr"/>
          <a:lstStyle/>
          <a:p>
            <a:pPr algn="ctr" indent="0" marL="0">
              <a:buNone/>
            </a:pPr>
            <a:r>
              <a:rPr lang="en-US" sz="1600" b="1" dirty="0">
                <a:solidFill>
                  <a:srgbClr val="B85042"/>
                </a:solidFill>
                <a:latin typeface="Cambria" pitchFamily="34" charset="0"/>
                <a:ea typeface="Cambria" pitchFamily="34" charset="-122"/>
                <a:cs typeface="Cambria" pitchFamily="34" charset="-120"/>
              </a:rPr>
              <a:t>3  Generation</a:t>
            </a:r>
            <a:endParaRPr lang="en-US" sz="1600" dirty="0"/>
          </a:p>
        </p:txBody>
      </p:sp>
      <p:sp>
        <p:nvSpPr>
          <p:cNvPr id="13" name="Text 8"/>
          <p:cNvSpPr/>
          <p:nvPr/>
        </p:nvSpPr>
        <p:spPr>
          <a:xfrm>
            <a:off x="8083296" y="5029200"/>
            <a:ext cx="3520440" cy="411480"/>
          </a:xfrm>
          <a:prstGeom prst="rect">
            <a:avLst/>
          </a:prstGeom>
          <a:noFill/>
          <a:ln/>
        </p:spPr>
        <p:txBody>
          <a:bodyPr wrap="square" lIns="0" tIns="0" rIns="0" bIns="0" rtlCol="0" anchor="ctr"/>
          <a:lstStyle/>
          <a:p>
            <a:pPr algn="ctr" indent="0" marL="0">
              <a:buNone/>
            </a:pPr>
            <a:r>
              <a:rPr lang="en-US" sz="1200" dirty="0">
                <a:solidFill>
                  <a:srgbClr val="7A7A7A"/>
                </a:solidFill>
                <a:latin typeface="Calibri" pitchFamily="34" charset="0"/>
                <a:ea typeface="Calibri" pitchFamily="34" charset="-122"/>
                <a:cs typeface="Calibri" pitchFamily="34" charset="-120"/>
              </a:rPr>
              <a:t>new rules and vocabulary, behind gates</a:t>
            </a:r>
            <a:endParaRPr lang="en-US" sz="1200" dirty="0"/>
          </a:p>
        </p:txBody>
      </p:sp>
      <p:sp>
        <p:nvSpPr>
          <p:cNvPr id="14" name="Text 9"/>
          <p:cNvSpPr/>
          <p:nvPr/>
        </p:nvSpPr>
        <p:spPr>
          <a:xfrm>
            <a:off x="548640" y="5623560"/>
            <a:ext cx="11109960" cy="32004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Figures 4.6, 4.7 and 4.8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4  ·  COORDINATION</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Local decisions, global rationing, no global inference</a:t>
            </a:r>
            <a:endParaRPr lang="en-US" sz="3400" dirty="0"/>
          </a:p>
        </p:txBody>
      </p:sp>
      <p:sp>
        <p:nvSpPr>
          <p:cNvPr id="4" name="Text 2"/>
          <p:cNvSpPr/>
          <p:nvPr/>
        </p:nvSpPr>
        <p:spPr>
          <a:xfrm>
            <a:off x="548640" y="1554480"/>
            <a:ext cx="521208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Each local agent sends up three scalars: its priority, its request, and a short confidence summary. Nothing else leaves the region.</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The coordinator ranks the regions and attends those whose priority reaches a fraction of the leader; the rest are monitored, not silenced.</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The share scales the offensive orders and tightens the quality gate of a low-priority region.</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A no-harm fail-safe withholds any composed order that the forecast says would make things worse.</a:t>
            </a:r>
            <a:endParaRPr lang="en-US" sz="1500" dirty="0"/>
          </a:p>
        </p:txBody>
      </p:sp>
      <p:pic>
        <p:nvPicPr>
          <p:cNvPr id="5" name="Image 0" descr="/sessions/great-magical-hawking/mnt/outputs/deck/thesis_figs/fig4_11.png">    </p:cNvPr>
          <p:cNvPicPr>
            <a:picLocks noChangeAspect="1"/>
          </p:cNvPicPr>
          <p:nvPr/>
        </p:nvPicPr>
        <p:blipFill>
          <a:blip r:embed="rId1"/>
          <a:srcRect l="0" r="0" t="0" b="0"/>
          <a:stretch/>
        </p:blipFill>
        <p:spPr>
          <a:xfrm>
            <a:off x="5989320" y="1417320"/>
            <a:ext cx="5669280" cy="2148840"/>
          </a:xfrm>
          <a:prstGeom prst="rect">
            <a:avLst/>
          </a:prstGeom>
        </p:spPr>
      </p:pic>
      <p:pic>
        <p:nvPicPr>
          <p:cNvPr id="6" name="Image 1" descr="/sessions/great-magical-hawking/mnt/outputs/deck/thesis_figs/fig4_12.png">    </p:cNvPr>
          <p:cNvPicPr>
            <a:picLocks noChangeAspect="1"/>
          </p:cNvPicPr>
          <p:nvPr/>
        </p:nvPicPr>
        <p:blipFill>
          <a:blip r:embed="rId2"/>
          <a:srcRect l="0" r="0" t="0" b="0"/>
          <a:stretch/>
        </p:blipFill>
        <p:spPr>
          <a:xfrm>
            <a:off x="5989320" y="3703320"/>
            <a:ext cx="5669280" cy="2194560"/>
          </a:xfrm>
          <a:prstGeom prst="rect">
            <a:avLst/>
          </a:prstGeom>
        </p:spPr>
      </p:pic>
      <p:sp>
        <p:nvSpPr>
          <p:cNvPr id="7"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Figures 4.11 and 4.12  Global coordination, worked example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VALIDATION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simulator is validated before it is trusted</a:t>
            </a:r>
            <a:endParaRPr lang="en-US" sz="3200" dirty="0"/>
          </a:p>
        </p:txBody>
      </p:sp>
      <p:sp>
        <p:nvSpPr>
          <p:cNvPr id="4" name="Text 2"/>
          <p:cNvSpPr/>
          <p:nvPr/>
        </p:nvSpPr>
        <p:spPr>
          <a:xfrm>
            <a:off x="548640" y="1325880"/>
            <a:ext cx="11064240" cy="566928"/>
          </a:xfrm>
          <a:prstGeom prst="rect">
            <a:avLst/>
          </a:prstGeom>
          <a:noFill/>
          <a:ln/>
        </p:spPr>
        <p:txBody>
          <a:bodyPr wrap="square" lIns="0" tIns="0" rIns="0" bIns="0" rtlCol="0" anchor="ctr"/>
          <a:lstStyle/>
          <a:p>
            <a:pPr indent="0" marL="0">
              <a:buNone/>
            </a:pPr>
            <a:r>
              <a:rPr lang="en-US" sz="1400" dirty="0">
                <a:solidFill>
                  <a:srgbClr val="E7E8D1"/>
                </a:solidFill>
                <a:latin typeface="Calibri" pitchFamily="34" charset="0"/>
                <a:ea typeface="Calibri" pitchFamily="34" charset="-122"/>
                <a:cs typeface="Calibri" pitchFamily="34" charset="-120"/>
              </a:rPr>
              <a:t>Four blind hindcasts of documented wildfires, driven by real terrain, fuel and weather, with no tuning on the fire being predicted, scored against the satellite record.</a:t>
            </a:r>
            <a:endParaRPr lang="en-US" sz="1400" dirty="0"/>
          </a:p>
        </p:txBody>
      </p:sp>
      <p:pic>
        <p:nvPicPr>
          <p:cNvPr id="5" name="Image 0" descr="/sessions/great-magical-hawking/mnt/outputs/deck/thesis_figs/extra26.jpeg">    </p:cNvPr>
          <p:cNvPicPr>
            <a:picLocks noChangeAspect="1"/>
          </p:cNvPicPr>
          <p:nvPr/>
        </p:nvPicPr>
        <p:blipFill>
          <a:blip r:embed="rId1"/>
          <a:srcRect l="0" r="0" t="0" b="0"/>
          <a:stretch/>
        </p:blipFill>
        <p:spPr>
          <a:xfrm>
            <a:off x="548640" y="2011680"/>
            <a:ext cx="2606040" cy="2011680"/>
          </a:xfrm>
          <a:prstGeom prst="rect">
            <a:avLst/>
          </a:prstGeom>
        </p:spPr>
      </p:pic>
      <p:pic>
        <p:nvPicPr>
          <p:cNvPr id="6" name="Image 1" descr="/sessions/great-magical-hawking/mnt/outputs/deck/thesis_figs/extra27.png">    </p:cNvPr>
          <p:cNvPicPr>
            <a:picLocks noChangeAspect="1"/>
          </p:cNvPicPr>
          <p:nvPr/>
        </p:nvPicPr>
        <p:blipFill>
          <a:blip r:embed="rId2"/>
          <a:srcRect l="0" r="0" t="0" b="0"/>
          <a:stretch/>
        </p:blipFill>
        <p:spPr>
          <a:xfrm>
            <a:off x="3401568" y="2011680"/>
            <a:ext cx="2606040" cy="2011680"/>
          </a:xfrm>
          <a:prstGeom prst="rect">
            <a:avLst/>
          </a:prstGeom>
        </p:spPr>
      </p:pic>
      <p:pic>
        <p:nvPicPr>
          <p:cNvPr id="7" name="Image 2" descr="/sessions/great-magical-hawking/mnt/outputs/deck/thesis_figs/extra28.png">    </p:cNvPr>
          <p:cNvPicPr>
            <a:picLocks noChangeAspect="1"/>
          </p:cNvPicPr>
          <p:nvPr/>
        </p:nvPicPr>
        <p:blipFill>
          <a:blip r:embed="rId3"/>
          <a:srcRect l="0" r="0" t="0" b="0"/>
          <a:stretch/>
        </p:blipFill>
        <p:spPr>
          <a:xfrm>
            <a:off x="6254496" y="2011680"/>
            <a:ext cx="2606040" cy="2011680"/>
          </a:xfrm>
          <a:prstGeom prst="rect">
            <a:avLst/>
          </a:prstGeom>
        </p:spPr>
      </p:pic>
      <p:pic>
        <p:nvPicPr>
          <p:cNvPr id="8" name="Image 3" descr="/sessions/great-magical-hawking/mnt/outputs/deck/thesis_figs/extra29.png">    </p:cNvPr>
          <p:cNvPicPr>
            <a:picLocks noChangeAspect="1"/>
          </p:cNvPicPr>
          <p:nvPr/>
        </p:nvPicPr>
        <p:blipFill>
          <a:blip r:embed="rId4"/>
          <a:srcRect l="0" r="0" t="0" b="0"/>
          <a:stretch/>
        </p:blipFill>
        <p:spPr>
          <a:xfrm>
            <a:off x="9107424" y="2011680"/>
            <a:ext cx="2606040" cy="2011680"/>
          </a:xfrm>
          <a:prstGeom prst="rect">
            <a:avLst/>
          </a:prstGeom>
        </p:spPr>
      </p:pic>
      <p:sp>
        <p:nvSpPr>
          <p:cNvPr id="9" name="Text 3"/>
          <p:cNvSpPr/>
          <p:nvPr/>
        </p:nvSpPr>
        <p:spPr>
          <a:xfrm>
            <a:off x="548640" y="4114800"/>
            <a:ext cx="11064240" cy="32004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5.1  Agreement maps.  green: correctly predicted burn   red: simulated only   blue: observed only   yellow: ignition</a:t>
            </a:r>
            <a:endParaRPr lang="en-US" sz="1000" dirty="0"/>
          </a:p>
        </p:txBody>
      </p:sp>
      <p:sp>
        <p:nvSpPr>
          <p:cNvPr id="10" name="Shape 4"/>
          <p:cNvSpPr/>
          <p:nvPr/>
        </p:nvSpPr>
        <p:spPr>
          <a:xfrm>
            <a:off x="548640" y="4617720"/>
            <a:ext cx="2926080" cy="1234440"/>
          </a:xfrm>
          <a:prstGeom prst="roundRect">
            <a:avLst>
              <a:gd name="adj" fmla="val 6667"/>
            </a:avLst>
          </a:prstGeom>
          <a:solidFill>
            <a:srgbClr val="3A2E23"/>
          </a:solidFill>
          <a:ln/>
        </p:spPr>
      </p:sp>
      <p:sp>
        <p:nvSpPr>
          <p:cNvPr id="11" name="Text 5"/>
          <p:cNvSpPr/>
          <p:nvPr/>
        </p:nvSpPr>
        <p:spPr>
          <a:xfrm>
            <a:off x="548640" y="4718304"/>
            <a:ext cx="2926080" cy="621792"/>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86-94%</a:t>
            </a:r>
            <a:endParaRPr lang="en-US" sz="3000" dirty="0"/>
          </a:p>
        </p:txBody>
      </p:sp>
      <p:sp>
        <p:nvSpPr>
          <p:cNvPr id="12" name="Text 6"/>
          <p:cNvSpPr/>
          <p:nvPr/>
        </p:nvSpPr>
        <p:spPr>
          <a:xfrm>
            <a:off x="685800" y="5358384"/>
            <a:ext cx="2651760" cy="365760"/>
          </a:xfrm>
          <a:prstGeom prst="rect">
            <a:avLst/>
          </a:prstGeom>
          <a:noFill/>
          <a:ln/>
        </p:spPr>
        <p:txBody>
          <a:bodyPr wrap="square" lIns="0" tIns="0" rIns="0" bIns="0" rtlCol="0" anchor="ctr"/>
          <a:lstStyle/>
          <a:p>
            <a:pPr algn="ctr" indent="0" marL="0">
              <a:buNone/>
            </a:pPr>
            <a:r>
              <a:rPr lang="en-US" sz="1100" dirty="0">
                <a:solidFill>
                  <a:srgbClr val="E7E8D1"/>
                </a:solidFill>
                <a:latin typeface="Calibri" pitchFamily="34" charset="0"/>
                <a:ea typeface="Calibri" pitchFamily="34" charset="-122"/>
                <a:cs typeface="Calibri" pitchFamily="34" charset="-120"/>
              </a:rPr>
              <a:t>spatial agreement</a:t>
            </a:r>
            <a:endParaRPr lang="en-US" sz="1100" dirty="0"/>
          </a:p>
        </p:txBody>
      </p:sp>
      <p:sp>
        <p:nvSpPr>
          <p:cNvPr id="13" name="Shape 7"/>
          <p:cNvSpPr/>
          <p:nvPr/>
        </p:nvSpPr>
        <p:spPr>
          <a:xfrm>
            <a:off x="3703320" y="4617720"/>
            <a:ext cx="2926080" cy="1234440"/>
          </a:xfrm>
          <a:prstGeom prst="roundRect">
            <a:avLst>
              <a:gd name="adj" fmla="val 6667"/>
            </a:avLst>
          </a:prstGeom>
          <a:solidFill>
            <a:srgbClr val="3A2E23"/>
          </a:solidFill>
          <a:ln/>
        </p:spPr>
      </p:sp>
      <p:sp>
        <p:nvSpPr>
          <p:cNvPr id="14" name="Text 8"/>
          <p:cNvSpPr/>
          <p:nvPr/>
        </p:nvSpPr>
        <p:spPr>
          <a:xfrm>
            <a:off x="3703320" y="4718304"/>
            <a:ext cx="2926080" cy="621792"/>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4</a:t>
            </a:r>
            <a:endParaRPr lang="en-US" sz="3000" dirty="0"/>
          </a:p>
        </p:txBody>
      </p:sp>
      <p:sp>
        <p:nvSpPr>
          <p:cNvPr id="15" name="Text 9"/>
          <p:cNvSpPr/>
          <p:nvPr/>
        </p:nvSpPr>
        <p:spPr>
          <a:xfrm>
            <a:off x="3840480" y="5358384"/>
            <a:ext cx="2651760" cy="365760"/>
          </a:xfrm>
          <a:prstGeom prst="rect">
            <a:avLst/>
          </a:prstGeom>
          <a:noFill/>
          <a:ln/>
        </p:spPr>
        <p:txBody>
          <a:bodyPr wrap="square" lIns="0" tIns="0" rIns="0" bIns="0" rtlCol="0" anchor="ctr"/>
          <a:lstStyle/>
          <a:p>
            <a:pPr algn="ctr" indent="0" marL="0">
              <a:buNone/>
            </a:pPr>
            <a:r>
              <a:rPr lang="en-US" sz="1100" dirty="0">
                <a:solidFill>
                  <a:srgbClr val="E7E8D1"/>
                </a:solidFill>
                <a:latin typeface="Calibri" pitchFamily="34" charset="0"/>
                <a:ea typeface="Calibri" pitchFamily="34" charset="-122"/>
                <a:cs typeface="Calibri" pitchFamily="34" charset="-120"/>
              </a:rPr>
              <a:t>independent fires</a:t>
            </a:r>
            <a:endParaRPr lang="en-US" sz="1100" dirty="0"/>
          </a:p>
        </p:txBody>
      </p:sp>
      <p:sp>
        <p:nvSpPr>
          <p:cNvPr id="16" name="Shape 10"/>
          <p:cNvSpPr/>
          <p:nvPr/>
        </p:nvSpPr>
        <p:spPr>
          <a:xfrm>
            <a:off x="6858000" y="4617720"/>
            <a:ext cx="2926080" cy="1234440"/>
          </a:xfrm>
          <a:prstGeom prst="roundRect">
            <a:avLst>
              <a:gd name="adj" fmla="val 6667"/>
            </a:avLst>
          </a:prstGeom>
          <a:solidFill>
            <a:srgbClr val="3A2E23"/>
          </a:solidFill>
          <a:ln/>
        </p:spPr>
      </p:sp>
      <p:sp>
        <p:nvSpPr>
          <p:cNvPr id="17" name="Text 11"/>
          <p:cNvSpPr/>
          <p:nvPr/>
        </p:nvSpPr>
        <p:spPr>
          <a:xfrm>
            <a:off x="6858000" y="4718304"/>
            <a:ext cx="2926080" cy="621792"/>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0</a:t>
            </a:r>
            <a:endParaRPr lang="en-US" sz="3000" dirty="0"/>
          </a:p>
        </p:txBody>
      </p:sp>
      <p:sp>
        <p:nvSpPr>
          <p:cNvPr id="18" name="Text 12"/>
          <p:cNvSpPr/>
          <p:nvPr/>
        </p:nvSpPr>
        <p:spPr>
          <a:xfrm>
            <a:off x="6995160" y="5358384"/>
            <a:ext cx="2651760" cy="365760"/>
          </a:xfrm>
          <a:prstGeom prst="rect">
            <a:avLst/>
          </a:prstGeom>
          <a:noFill/>
          <a:ln/>
        </p:spPr>
        <p:txBody>
          <a:bodyPr wrap="square" lIns="0" tIns="0" rIns="0" bIns="0" rtlCol="0" anchor="ctr"/>
          <a:lstStyle/>
          <a:p>
            <a:pPr algn="ctr" indent="0" marL="0">
              <a:buNone/>
            </a:pPr>
            <a:r>
              <a:rPr lang="en-US" sz="1100" dirty="0">
                <a:solidFill>
                  <a:srgbClr val="E7E8D1"/>
                </a:solidFill>
                <a:latin typeface="Calibri" pitchFamily="34" charset="0"/>
                <a:ea typeface="Calibri" pitchFamily="34" charset="-122"/>
                <a:cs typeface="Calibri" pitchFamily="34" charset="-120"/>
              </a:rPr>
              <a:t>parameters tuned on the fire</a:t>
            </a:r>
            <a:endParaRPr lang="en-US" sz="1100" dirty="0"/>
          </a:p>
        </p:txBody>
      </p:sp>
      <p:sp>
        <p:nvSpPr>
          <p:cNvPr id="19" name="Text 13"/>
          <p:cNvSpPr/>
          <p:nvPr/>
        </p:nvSpPr>
        <p:spPr>
          <a:xfrm>
            <a:off x="548640" y="6053328"/>
            <a:ext cx="11064240" cy="365760"/>
          </a:xfrm>
          <a:prstGeom prst="rect">
            <a:avLst/>
          </a:prstGeom>
          <a:noFill/>
          <a:ln/>
        </p:spPr>
        <p:txBody>
          <a:bodyPr wrap="square" lIns="0" tIns="0" rIns="0" bIns="0" rtlCol="0" anchor="ctr"/>
          <a:lstStyle/>
          <a:p>
            <a:pPr indent="0" marL="0">
              <a:buNone/>
            </a:pPr>
            <a:r>
              <a:rPr lang="en-US" sz="1300" i="1" dirty="0">
                <a:solidFill>
                  <a:srgbClr val="A7BEAE"/>
                </a:solidFill>
                <a:latin typeface="Calibri" pitchFamily="34" charset="0"/>
                <a:ea typeface="Calibri" pitchFamily="34" charset="-122"/>
                <a:cs typeface="Calibri" pitchFamily="34" charset="-120"/>
              </a:rPr>
              <a:t>Only on that validated ground does the decision layer get measured.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OPERATING ENVELOPE</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Where the decision layer can be seen at all</a:t>
            </a:r>
            <a:endParaRPr lang="en-US" sz="3400" dirty="0"/>
          </a:p>
        </p:txBody>
      </p:sp>
      <p:sp>
        <p:nvSpPr>
          <p:cNvPr id="4" name="Text 2"/>
          <p:cNvSpPr/>
          <p:nvPr/>
        </p:nvSpPr>
        <p:spPr>
          <a:xfrm>
            <a:off x="548640" y="1554480"/>
            <a:ext cx="539496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The cost is read as a share of the free burn of the SAME world, so every cell is normalised by its own worst case.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At a tenth of the pool with more than one ignition the fire is lost whatever else is set: 77 to 83 per cent of the free burn.</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With a full pool and up to four ignitions it stays at 14 to 32 per cent: the fire is won whatever else is set.</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Only a narrow band in between can show a parameter at all. The sweeps are run at its midpoint: four ignitions, a quarter of the pool.</a:t>
            </a:r>
            <a:endParaRPr lang="en-US" sz="1500" dirty="0"/>
          </a:p>
        </p:txBody>
      </p:sp>
      <p:pic>
        <p:nvPicPr>
          <p:cNvPr id="5" name="Image 0" descr="/sessions/great-magical-hawking/mnt/outputs/deck/thesis_figs/fig5_02.png">    </p:cNvPr>
          <p:cNvPicPr>
            <a:picLocks noChangeAspect="1"/>
          </p:cNvPicPr>
          <p:nvPr/>
        </p:nvPicPr>
        <p:blipFill>
          <a:blip r:embed="rId1"/>
          <a:srcRect l="0" r="0" t="0" b="0"/>
          <a:stretch/>
        </p:blipFill>
        <p:spPr>
          <a:xfrm>
            <a:off x="6126480" y="1463040"/>
            <a:ext cx="5532120" cy="4389120"/>
          </a:xfrm>
          <a:prstGeom prst="rect">
            <a:avLst/>
          </a:prstGeom>
        </p:spPr>
      </p:pic>
      <p:sp>
        <p:nvSpPr>
          <p:cNvPr id="6"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5.2  Physical cost over fire load and resource level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WHAT GOVERNS THE OUTCOME</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Observation decides light fires, resources decide heavy ones</a:t>
            </a:r>
            <a:endParaRPr lang="en-US" sz="3400" dirty="0"/>
          </a:p>
        </p:txBody>
      </p:sp>
      <p:pic>
        <p:nvPicPr>
          <p:cNvPr id="4" name="Image 0" descr="/sessions/great-magical-hawking/mnt/outputs/deck/thesis_figs/fig5_03.png">    </p:cNvPr>
          <p:cNvPicPr>
            <a:picLocks noChangeAspect="1"/>
          </p:cNvPicPr>
          <p:nvPr/>
        </p:nvPicPr>
        <p:blipFill>
          <a:blip r:embed="rId1"/>
          <a:srcRect l="0" r="0" t="0" b="0"/>
          <a:stretch/>
        </p:blipFill>
        <p:spPr>
          <a:xfrm>
            <a:off x="548640" y="1508760"/>
            <a:ext cx="5394960" cy="2103120"/>
          </a:xfrm>
          <a:prstGeom prst="rect">
            <a:avLst/>
          </a:prstGeom>
        </p:spPr>
      </p:pic>
      <p:pic>
        <p:nvPicPr>
          <p:cNvPr id="5" name="Image 1" descr="/sessions/great-magical-hawking/mnt/outputs/deck/thesis_figs/fig5_06.png">    </p:cNvPr>
          <p:cNvPicPr>
            <a:picLocks noChangeAspect="1"/>
          </p:cNvPicPr>
          <p:nvPr/>
        </p:nvPicPr>
        <p:blipFill>
          <a:blip r:embed="rId2"/>
          <a:srcRect l="0" r="0" t="0" b="0"/>
          <a:stretch/>
        </p:blipFill>
        <p:spPr>
          <a:xfrm>
            <a:off x="6217920" y="1508760"/>
            <a:ext cx="5394960" cy="2103120"/>
          </a:xfrm>
          <a:prstGeom prst="rect">
            <a:avLst/>
          </a:prstGeom>
        </p:spPr>
      </p:pic>
      <p:sp>
        <p:nvSpPr>
          <p:cNvPr id="6" name="Text 2"/>
          <p:cNvSpPr/>
          <p:nvPr/>
        </p:nvSpPr>
        <p:spPr>
          <a:xfrm>
            <a:off x="548640" y="3675888"/>
            <a:ext cx="5394960" cy="292608"/>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5.3  quarter pool</a:t>
            </a:r>
            <a:endParaRPr lang="en-US" sz="1000" dirty="0"/>
          </a:p>
        </p:txBody>
      </p:sp>
      <p:sp>
        <p:nvSpPr>
          <p:cNvPr id="7" name="Text 3"/>
          <p:cNvSpPr/>
          <p:nvPr/>
        </p:nvSpPr>
        <p:spPr>
          <a:xfrm>
            <a:off x="6217920" y="3675888"/>
            <a:ext cx="5394960" cy="292608"/>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5.6  full pool</a:t>
            </a:r>
            <a:endParaRPr lang="en-US" sz="1000" dirty="0"/>
          </a:p>
        </p:txBody>
      </p:sp>
      <p:sp>
        <p:nvSpPr>
          <p:cNvPr id="8" name="Text 4"/>
          <p:cNvSpPr/>
          <p:nvPr/>
        </p:nvSpPr>
        <p:spPr>
          <a:xfrm>
            <a:off x="548640" y="4114800"/>
            <a:ext cx="11109960" cy="1737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A3A3A"/>
                </a:solidFill>
                <a:latin typeface="Calibri" pitchFamily="34" charset="0"/>
                <a:ea typeface="Calibri" pitchFamily="34" charset="-122"/>
                <a:cs typeface="Calibri" pitchFamily="34" charset="-120"/>
              </a:rPr>
              <a:t>At a single ignition the cost falls from about 70 per cent of the free burn with one sensor to about 20 per cent with full coverage.</a:t>
            </a:r>
            <a:endParaRPr lang="en-US" sz="1400" dirty="0"/>
          </a:p>
          <a:p>
            <a:pPr marL="342900" indent="-342900">
              <a:spcAft>
                <a:spcPts val="1000"/>
              </a:spcAft>
              <a:buSzPct val="100000"/>
              <a:buChar char="•"/>
            </a:pPr>
            <a:r>
              <a:rPr lang="en-US" sz="1400" dirty="0">
                <a:solidFill>
                  <a:srgbClr val="3A3A3A"/>
                </a:solidFill>
                <a:latin typeface="Calibri" pitchFamily="34" charset="0"/>
                <a:ea typeface="Calibri" pitchFamily="34" charset="-122"/>
                <a:cs typeface="Calibri" pitchFamily="34" charset="-120"/>
              </a:rPr>
              <a:t>Coverage saturates early: five and nine sensors give the same result, and so do two and three.</a:t>
            </a:r>
            <a:endParaRPr lang="en-US" sz="1400" dirty="0"/>
          </a:p>
          <a:p>
            <a:pPr marL="342900" indent="-342900">
              <a:spcAft>
                <a:spcPts val="1000"/>
              </a:spcAft>
              <a:buSzPct val="100000"/>
              <a:buChar char="•"/>
            </a:pPr>
            <a:r>
              <a:rPr lang="en-US" sz="1400" dirty="0">
                <a:solidFill>
                  <a:srgbClr val="3A3A3A"/>
                </a:solidFill>
                <a:latin typeface="Calibri" pitchFamily="34" charset="0"/>
                <a:ea typeface="Calibri" pitchFamily="34" charset="-122"/>
                <a:cs typeface="Calibri" pitchFamily="34" charset="-120"/>
              </a:rPr>
              <a:t>At twelve ignitions with full coverage, the cost falls from 86 per cent at the quarter pool to about 46 per cent at the full pool.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THE IMPROVEMENT LADDER</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Each rung has to buy a visible gain over the one below</a:t>
            </a:r>
            <a:endParaRPr lang="en-US" sz="3400" dirty="0"/>
          </a:p>
        </p:txBody>
      </p:sp>
      <p:sp>
        <p:nvSpPr>
          <p:cNvPr id="4" name="Shape 2"/>
          <p:cNvSpPr/>
          <p:nvPr/>
        </p:nvSpPr>
        <p:spPr>
          <a:xfrm>
            <a:off x="548640" y="1572768"/>
            <a:ext cx="2514600" cy="1417320"/>
          </a:xfrm>
          <a:prstGeom prst="roundRect">
            <a:avLst>
              <a:gd name="adj" fmla="val 5806"/>
            </a:avLst>
          </a:prstGeom>
          <a:solidFill>
            <a:srgbClr val="E7E8D1"/>
          </a:solidFill>
          <a:ln/>
          <a:effectLst>
            <a:outerShdw sx="100000" sy="100000" kx="0" ky="0" algn="bl" rotWithShape="0" blurRad="101600" dist="25400" dir="5400000">
              <a:srgbClr val="9A8C7A">
                <a:alpha val="28000"/>
              </a:srgbClr>
            </a:outerShdw>
          </a:effectLst>
        </p:spPr>
      </p:sp>
      <p:sp>
        <p:nvSpPr>
          <p:cNvPr id="5" name="Text 3"/>
          <p:cNvSpPr/>
          <p:nvPr/>
        </p:nvSpPr>
        <p:spPr>
          <a:xfrm>
            <a:off x="548640" y="1691640"/>
            <a:ext cx="2514600" cy="713232"/>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220 ha</a:t>
            </a:r>
            <a:endParaRPr lang="en-US" sz="3400" dirty="0"/>
          </a:p>
        </p:txBody>
      </p:sp>
      <p:sp>
        <p:nvSpPr>
          <p:cNvPr id="6" name="Text 4"/>
          <p:cNvSpPr/>
          <p:nvPr/>
        </p:nvSpPr>
        <p:spPr>
          <a:xfrm>
            <a:off x="658368" y="2414016"/>
            <a:ext cx="2295144" cy="457200"/>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free burn</a:t>
            </a:r>
            <a:endParaRPr lang="en-US" sz="1100" dirty="0"/>
          </a:p>
          <a:p>
            <a:pPr algn="ctr" indent="0" marL="0">
              <a:buNone/>
            </a:pPr>
            <a:r>
              <a:rPr lang="en-US" sz="1100" dirty="0">
                <a:solidFill>
                  <a:srgbClr val="3A3A3A"/>
                </a:solidFill>
                <a:latin typeface="Calibri" pitchFamily="34" charset="0"/>
                <a:ea typeface="Calibri" pitchFamily="34" charset="-122"/>
                <a:cs typeface="Calibri" pitchFamily="34" charset="-120"/>
              </a:rPr>
              <a:t>no decision layer</a:t>
            </a:r>
            <a:endParaRPr lang="en-US" sz="1100" dirty="0"/>
          </a:p>
        </p:txBody>
      </p:sp>
      <p:sp>
        <p:nvSpPr>
          <p:cNvPr id="7" name="Shape 5"/>
          <p:cNvSpPr/>
          <p:nvPr/>
        </p:nvSpPr>
        <p:spPr>
          <a:xfrm>
            <a:off x="3246120" y="1572768"/>
            <a:ext cx="2514600" cy="1417320"/>
          </a:xfrm>
          <a:prstGeom prst="roundRect">
            <a:avLst>
              <a:gd name="adj" fmla="val 5806"/>
            </a:avLst>
          </a:prstGeom>
          <a:solidFill>
            <a:srgbClr val="E7E8D1"/>
          </a:solidFill>
          <a:ln/>
          <a:effectLst>
            <a:outerShdw sx="100000" sy="100000" kx="0" ky="0" algn="bl" rotWithShape="0" blurRad="101600" dist="25400" dir="5400000">
              <a:srgbClr val="9A8C7A">
                <a:alpha val="28000"/>
              </a:srgbClr>
            </a:outerShdw>
          </a:effectLst>
        </p:spPr>
      </p:sp>
      <p:sp>
        <p:nvSpPr>
          <p:cNvPr id="8" name="Text 6"/>
          <p:cNvSpPr/>
          <p:nvPr/>
        </p:nvSpPr>
        <p:spPr>
          <a:xfrm>
            <a:off x="3246120" y="1691640"/>
            <a:ext cx="2514600" cy="713232"/>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84 ha</a:t>
            </a:r>
            <a:endParaRPr lang="en-US" sz="3400" dirty="0"/>
          </a:p>
        </p:txBody>
      </p:sp>
      <p:sp>
        <p:nvSpPr>
          <p:cNvPr id="9" name="Text 7"/>
          <p:cNvSpPr/>
          <p:nvPr/>
        </p:nvSpPr>
        <p:spPr>
          <a:xfrm>
            <a:off x="3355848" y="2414016"/>
            <a:ext cx="2295144" cy="457200"/>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five static rules</a:t>
            </a:r>
            <a:endParaRPr lang="en-US" sz="1100" dirty="0"/>
          </a:p>
          <a:p>
            <a:pPr algn="ctr" indent="0" marL="0">
              <a:buNone/>
            </a:pPr>
            <a:r>
              <a:rPr lang="en-US" sz="1100" dirty="0">
                <a:solidFill>
                  <a:srgbClr val="3A3A3A"/>
                </a:solidFill>
                <a:latin typeface="Calibri" pitchFamily="34" charset="0"/>
                <a:ea typeface="Calibri" pitchFamily="34" charset="-122"/>
                <a:cs typeface="Calibri" pitchFamily="34" charset="-120"/>
              </a:rPr>
              <a:t>62% reduction</a:t>
            </a:r>
            <a:endParaRPr lang="en-US" sz="1100" dirty="0"/>
          </a:p>
        </p:txBody>
      </p:sp>
      <p:sp>
        <p:nvSpPr>
          <p:cNvPr id="10" name="Shape 8"/>
          <p:cNvSpPr/>
          <p:nvPr/>
        </p:nvSpPr>
        <p:spPr>
          <a:xfrm>
            <a:off x="5943600" y="1572768"/>
            <a:ext cx="2514600" cy="1417320"/>
          </a:xfrm>
          <a:prstGeom prst="roundRect">
            <a:avLst>
              <a:gd name="adj" fmla="val 5806"/>
            </a:avLst>
          </a:prstGeom>
          <a:solidFill>
            <a:srgbClr val="E7E8D1"/>
          </a:solidFill>
          <a:ln/>
          <a:effectLst>
            <a:outerShdw sx="100000" sy="100000" kx="0" ky="0" algn="bl" rotWithShape="0" blurRad="101600" dist="25400" dir="5400000">
              <a:srgbClr val="9A8C7A">
                <a:alpha val="28000"/>
              </a:srgbClr>
            </a:outerShdw>
          </a:effectLst>
        </p:spPr>
      </p:sp>
      <p:sp>
        <p:nvSpPr>
          <p:cNvPr id="11" name="Text 9"/>
          <p:cNvSpPr/>
          <p:nvPr/>
        </p:nvSpPr>
        <p:spPr>
          <a:xfrm>
            <a:off x="5943600" y="1691640"/>
            <a:ext cx="2514600" cy="713232"/>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78 ha</a:t>
            </a:r>
            <a:endParaRPr lang="en-US" sz="3400" dirty="0"/>
          </a:p>
        </p:txBody>
      </p:sp>
      <p:sp>
        <p:nvSpPr>
          <p:cNvPr id="12" name="Text 10"/>
          <p:cNvSpPr/>
          <p:nvPr/>
        </p:nvSpPr>
        <p:spPr>
          <a:xfrm>
            <a:off x="6053328" y="2414016"/>
            <a:ext cx="2295144" cy="457200"/>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 evolving stages</a:t>
            </a:r>
            <a:endParaRPr lang="en-US" sz="1100" dirty="0"/>
          </a:p>
          <a:p>
            <a:pPr algn="ctr" indent="0" marL="0">
              <a:buNone/>
            </a:pPr>
            <a:r>
              <a:rPr lang="en-US" sz="1100" dirty="0">
                <a:solidFill>
                  <a:srgbClr val="3A3A3A"/>
                </a:solidFill>
                <a:latin typeface="Calibri" pitchFamily="34" charset="0"/>
                <a:ea typeface="Calibri" pitchFamily="34" charset="-122"/>
                <a:cs typeface="Calibri" pitchFamily="34" charset="-120"/>
              </a:rPr>
              <a:t>lower in 4 of 5 scenarios</a:t>
            </a:r>
            <a:endParaRPr lang="en-US" sz="1100" dirty="0"/>
          </a:p>
        </p:txBody>
      </p:sp>
      <p:sp>
        <p:nvSpPr>
          <p:cNvPr id="13" name="Shape 11"/>
          <p:cNvSpPr/>
          <p:nvPr/>
        </p:nvSpPr>
        <p:spPr>
          <a:xfrm>
            <a:off x="8641080" y="1572768"/>
            <a:ext cx="2514600" cy="1417320"/>
          </a:xfrm>
          <a:prstGeom prst="roundRect">
            <a:avLst>
              <a:gd name="adj" fmla="val 5806"/>
            </a:avLst>
          </a:prstGeom>
          <a:solidFill>
            <a:srgbClr val="E7E8D1"/>
          </a:solidFill>
          <a:ln/>
          <a:effectLst>
            <a:outerShdw sx="100000" sy="100000" kx="0" ky="0" algn="bl" rotWithShape="0" blurRad="101600" dist="25400" dir="5400000">
              <a:srgbClr val="9A8C7A">
                <a:alpha val="28000"/>
              </a:srgbClr>
            </a:outerShdw>
          </a:effectLst>
        </p:spPr>
      </p:sp>
      <p:sp>
        <p:nvSpPr>
          <p:cNvPr id="14" name="Text 12"/>
          <p:cNvSpPr/>
          <p:nvPr/>
        </p:nvSpPr>
        <p:spPr>
          <a:xfrm>
            <a:off x="8641080" y="1691640"/>
            <a:ext cx="2514600" cy="713232"/>
          </a:xfrm>
          <a:prstGeom prst="rect">
            <a:avLst/>
          </a:prstGeom>
          <a:noFill/>
          <a:ln/>
        </p:spPr>
        <p:txBody>
          <a:bodyPr wrap="square" lIns="0" tIns="0" rIns="0" bIns="0" rtlCol="0" anchor="ctr"/>
          <a:lstStyle/>
          <a:p>
            <a:pPr algn="ctr" indent="0" marL="0">
              <a:buNone/>
            </a:pPr>
            <a:r>
              <a:rPr lang="en-US" sz="3400" b="1" dirty="0">
                <a:solidFill>
                  <a:srgbClr val="B85042"/>
                </a:solidFill>
                <a:latin typeface="Cambria" pitchFamily="34" charset="0"/>
                <a:ea typeface="Cambria" pitchFamily="34" charset="-122"/>
                <a:cs typeface="Cambria" pitchFamily="34" charset="-120"/>
              </a:rPr>
              <a:t>39 ha</a:t>
            </a:r>
            <a:endParaRPr lang="en-US" sz="3400" dirty="0"/>
          </a:p>
        </p:txBody>
      </p:sp>
      <p:sp>
        <p:nvSpPr>
          <p:cNvPr id="15" name="Text 13"/>
          <p:cNvSpPr/>
          <p:nvPr/>
        </p:nvSpPr>
        <p:spPr>
          <a:xfrm>
            <a:off x="8750808" y="2414016"/>
            <a:ext cx="2295144" cy="457200"/>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 generative stage</a:t>
            </a:r>
            <a:endParaRPr lang="en-US" sz="1100" dirty="0"/>
          </a:p>
          <a:p>
            <a:pPr algn="ctr" indent="0" marL="0">
              <a:buNone/>
            </a:pPr>
            <a:r>
              <a:rPr lang="en-US" sz="1100" dirty="0">
                <a:solidFill>
                  <a:srgbClr val="3A3A3A"/>
                </a:solidFill>
                <a:latin typeface="Calibri" pitchFamily="34" charset="0"/>
                <a:ea typeface="Calibri" pitchFamily="34" charset="-122"/>
                <a:cs typeface="Calibri" pitchFamily="34" charset="-120"/>
              </a:rPr>
              <a:t>82% reduction</a:t>
            </a:r>
            <a:endParaRPr lang="en-US" sz="1100" dirty="0"/>
          </a:p>
        </p:txBody>
      </p:sp>
      <p:sp>
        <p:nvSpPr>
          <p:cNvPr id="16" name="Text 14"/>
          <p:cNvSpPr/>
          <p:nvPr/>
        </p:nvSpPr>
        <p:spPr>
          <a:xfrm>
            <a:off x="548640" y="3200400"/>
            <a:ext cx="11109960" cy="731520"/>
          </a:xfrm>
          <a:prstGeom prst="rect">
            <a:avLst/>
          </a:prstGeom>
          <a:noFill/>
          <a:ln/>
        </p:spPr>
        <p:txBody>
          <a:bodyPr wrap="square" lIns="0" tIns="0" rIns="0" bIns="0" rtlCol="0" anchor="ctr"/>
          <a:lstStyle/>
          <a:p>
            <a:pPr indent="0" marL="0">
              <a:buNone/>
            </a:pPr>
            <a:r>
              <a:rPr lang="en-US" sz="1400" dirty="0">
                <a:solidFill>
                  <a:srgbClr val="3A3A3A"/>
                </a:solidFill>
                <a:latin typeface="Calibri" pitchFamily="34" charset="0"/>
                <a:ea typeface="Calibri" pitchFamily="34" charset="-122"/>
                <a:cs typeface="Calibri" pitchFamily="34" charset="-120"/>
              </a:rPr>
              <a:t>Mean total decision cost falls 0.446 → 0.185 → 0.169 → 0.112, and the affected population from 609 to 511 to about 300. The lowest cost belongs to the open decision space even after its own response effort is charged.</a:t>
            </a:r>
            <a:endParaRPr lang="en-US" sz="1400" dirty="0"/>
          </a:p>
        </p:txBody>
      </p:sp>
      <p:pic>
        <p:nvPicPr>
          <p:cNvPr id="17" name="Image 0" descr="/sessions/great-magical-hawking/mnt/outputs/deck/thesis_figs/fig5_16.png">    </p:cNvPr>
          <p:cNvPicPr>
            <a:picLocks noChangeAspect="1"/>
          </p:cNvPicPr>
          <p:nvPr/>
        </p:nvPicPr>
        <p:blipFill>
          <a:blip r:embed="rId1"/>
          <a:srcRect l="0" r="0" t="0" b="0"/>
          <a:stretch/>
        </p:blipFill>
        <p:spPr>
          <a:xfrm>
            <a:off x="548640" y="4023360"/>
            <a:ext cx="5394960" cy="1874520"/>
          </a:xfrm>
          <a:prstGeom prst="rect">
            <a:avLst/>
          </a:prstGeom>
        </p:spPr>
      </p:pic>
      <p:pic>
        <p:nvPicPr>
          <p:cNvPr id="18" name="Image 1" descr="/sessions/great-magical-hawking/mnt/outputs/deck/thesis_figs/fig5_18.png">    </p:cNvPr>
          <p:cNvPicPr>
            <a:picLocks noChangeAspect="1"/>
          </p:cNvPicPr>
          <p:nvPr/>
        </p:nvPicPr>
        <p:blipFill>
          <a:blip r:embed="rId2"/>
          <a:srcRect l="0" r="0" t="0" b="0"/>
          <a:stretch/>
        </p:blipFill>
        <p:spPr>
          <a:xfrm>
            <a:off x="6217920" y="4023360"/>
            <a:ext cx="5394960" cy="1874520"/>
          </a:xfrm>
          <a:prstGeom prst="rect">
            <a:avLst/>
          </a:prstGeom>
        </p:spPr>
      </p:pic>
      <p:sp>
        <p:nvSpPr>
          <p:cNvPr id="19" name="Text 15"/>
          <p:cNvSpPr/>
          <p:nvPr/>
        </p:nvSpPr>
        <p:spPr>
          <a:xfrm>
            <a:off x="548640" y="5989320"/>
            <a:ext cx="11109960" cy="292608"/>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Figures 5.16 and 5.18  Average physical outcome and total cost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WHAT THE SYSTEM LEARNED</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The base grew only where the field demanded it</a:t>
            </a:r>
            <a:endParaRPr lang="en-US" sz="3400" dirty="0"/>
          </a:p>
        </p:txBody>
      </p:sp>
      <p:sp>
        <p:nvSpPr>
          <p:cNvPr id="4" name="Text 2"/>
          <p:cNvSpPr/>
          <p:nvPr/>
        </p:nvSpPr>
        <p:spPr>
          <a:xfrm>
            <a:off x="548640" y="1554480"/>
            <a:ext cx="521208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41 rules instantiated on situations the seed base did not answer.</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7 macro interventions composed from the base channels, and 1 new intermediate concept admitted into Layer 3.</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Over roughly two hundred logged incidents, every addition carrying the deficit that triggered it.</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Every rejected proposal is logged with the gate that refused it, which is what makes the funnel readable.</a:t>
            </a:r>
            <a:endParaRPr lang="en-US" sz="1500" dirty="0"/>
          </a:p>
        </p:txBody>
      </p:sp>
      <p:pic>
        <p:nvPicPr>
          <p:cNvPr id="5" name="Image 0" descr="/sessions/great-magical-hawking/mnt/outputs/deck/thesis_figs/fig5_19.png">    </p:cNvPr>
          <p:cNvPicPr>
            <a:picLocks noChangeAspect="1"/>
          </p:cNvPicPr>
          <p:nvPr/>
        </p:nvPicPr>
        <p:blipFill>
          <a:blip r:embed="rId1"/>
          <a:srcRect l="0" r="0" t="0" b="0"/>
          <a:stretch/>
        </p:blipFill>
        <p:spPr>
          <a:xfrm>
            <a:off x="5989320" y="1417320"/>
            <a:ext cx="5669280" cy="2148840"/>
          </a:xfrm>
          <a:prstGeom prst="rect">
            <a:avLst/>
          </a:prstGeom>
        </p:spPr>
      </p:pic>
      <p:pic>
        <p:nvPicPr>
          <p:cNvPr id="6" name="Image 1" descr="/sessions/great-magical-hawking/mnt/outputs/deck/thesis_figs/fig5_21.png">    </p:cNvPr>
          <p:cNvPicPr>
            <a:picLocks noChangeAspect="1"/>
          </p:cNvPicPr>
          <p:nvPr/>
        </p:nvPicPr>
        <p:blipFill>
          <a:blip r:embed="rId2"/>
          <a:srcRect l="0" r="0" t="0" b="0"/>
          <a:stretch/>
        </p:blipFill>
        <p:spPr>
          <a:xfrm>
            <a:off x="5989320" y="3703320"/>
            <a:ext cx="5669280" cy="2194560"/>
          </a:xfrm>
          <a:prstGeom prst="rect">
            <a:avLst/>
          </a:prstGeom>
        </p:spPr>
      </p:pic>
      <p:sp>
        <p:nvSpPr>
          <p:cNvPr id="7"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Figures 5.19 and 5.21  Adaptation funnel, macro compositions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END TO END</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One incident, ignition to containment</a:t>
            </a:r>
            <a:endParaRPr lang="en-US" sz="3400" dirty="0"/>
          </a:p>
        </p:txBody>
      </p:sp>
      <p:pic>
        <p:nvPicPr>
          <p:cNvPr id="4" name="Image 0" descr="/sessions/great-magical-hawking/mnt/outputs/deck/thesis_figs/fig5_22.png">    </p:cNvPr>
          <p:cNvPicPr>
            <a:picLocks noChangeAspect="1"/>
          </p:cNvPicPr>
          <p:nvPr/>
        </p:nvPicPr>
        <p:blipFill>
          <a:blip r:embed="rId1"/>
          <a:srcRect l="0" r="0" t="0" b="0"/>
          <a:stretch/>
        </p:blipFill>
        <p:spPr>
          <a:xfrm>
            <a:off x="548640" y="1481328"/>
            <a:ext cx="7406640" cy="4343400"/>
          </a:xfrm>
          <a:prstGeom prst="rect">
            <a:avLst/>
          </a:prstGeom>
        </p:spPr>
      </p:pic>
      <p:sp>
        <p:nvSpPr>
          <p:cNvPr id="5" name="Text 2"/>
          <p:cNvSpPr/>
          <p:nvPr/>
        </p:nvSpPr>
        <p:spPr>
          <a:xfrm>
            <a:off x="8183880" y="1600200"/>
            <a:ext cx="3474720" cy="39319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A3A3A"/>
                </a:solidFill>
                <a:latin typeface="Calibri" pitchFamily="34" charset="0"/>
                <a:ea typeface="Calibri" pitchFamily="34" charset="-122"/>
                <a:cs typeface="Calibri" pitchFamily="34" charset="-120"/>
              </a:rPr>
              <a:t>Observation, reasoning, coordination and adaptation run in the loop, not as separate studies.</a:t>
            </a:r>
            <a:endParaRPr lang="en-US" sz="1300" dirty="0"/>
          </a:p>
          <a:p>
            <a:pPr marL="342900" indent="-342900">
              <a:spcAft>
                <a:spcPts val="1000"/>
              </a:spcAft>
              <a:buSzPct val="100000"/>
              <a:buChar char="•"/>
            </a:pPr>
            <a:r>
              <a:rPr lang="en-US" sz="1300" dirty="0">
                <a:solidFill>
                  <a:srgbClr val="3A3A3A"/>
                </a:solidFill>
                <a:latin typeface="Calibri" pitchFamily="34" charset="0"/>
                <a:ea typeface="Calibri" pitchFamily="34" charset="-122"/>
                <a:cs typeface="Calibri" pitchFamily="34" charset="-120"/>
              </a:rPr>
              <a:t>Every fielded order traces to the concepts that demanded it, the rules that fired, and the confidence behind each feature.</a:t>
            </a:r>
            <a:endParaRPr lang="en-US" sz="1300" dirty="0"/>
          </a:p>
          <a:p>
            <a:pPr marL="342900" indent="-342900">
              <a:spcAft>
                <a:spcPts val="1000"/>
              </a:spcAft>
              <a:buSzPct val="100000"/>
              <a:buChar char="•"/>
            </a:pPr>
            <a:r>
              <a:rPr lang="en-US" sz="1300" dirty="0">
                <a:solidFill>
                  <a:srgbClr val="3A3A3A"/>
                </a:solidFill>
                <a:latin typeface="Calibri" pitchFamily="34" charset="0"/>
                <a:ea typeface="Calibri" pitchFamily="34" charset="-122"/>
                <a:cs typeface="Calibri" pitchFamily="34" charset="-120"/>
              </a:rPr>
              <a:t>No post-hoc attribution is used anywhere.</a:t>
            </a:r>
            <a:endParaRPr lang="en-US" sz="1300" dirty="0"/>
          </a:p>
        </p:txBody>
      </p:sp>
      <p:sp>
        <p:nvSpPr>
          <p:cNvPr id="6" name="Text 3"/>
          <p:cNvSpPr/>
          <p:nvPr/>
        </p:nvSpPr>
        <p:spPr>
          <a:xfrm>
            <a:off x="548640" y="5943600"/>
            <a:ext cx="7406640" cy="292608"/>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Figure 5.22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5  ·  SCALING</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The distributed decomposition does not cost performance</a:t>
            </a:r>
            <a:endParaRPr lang="en-US" sz="3400" dirty="0"/>
          </a:p>
        </p:txBody>
      </p:sp>
      <p:sp>
        <p:nvSpPr>
          <p:cNvPr id="4" name="Text 2"/>
          <p:cNvSpPr/>
          <p:nvPr/>
        </p:nvSpPr>
        <p:spPr>
          <a:xfrm>
            <a:off x="548640" y="1554480"/>
            <a:ext cx="521208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The decision cost is near flat in the number of local agents.</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Rule-base complexity stays small because each agent reasons over five concepts, not over the whole grid.</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Coordination adds no inference: three scalars per region per cycle.</a:t>
            </a:r>
            <a:endParaRPr lang="en-US" sz="1500" dirty="0"/>
          </a:p>
          <a:p>
            <a:pPr marL="342900" indent="-342900">
              <a:spcAft>
                <a:spcPts val="1000"/>
              </a:spcAft>
              <a:buSzPct val="100000"/>
              <a:buChar char="•"/>
            </a:pPr>
            <a:r>
              <a:rPr lang="en-US" sz="1500" dirty="0">
                <a:solidFill>
                  <a:srgbClr val="3A3A3A"/>
                </a:solidFill>
                <a:latin typeface="Calibri" pitchFamily="34" charset="0"/>
                <a:ea typeface="Calibri" pitchFamily="34" charset="-122"/>
                <a:cs typeface="Calibri" pitchFamily="34" charset="-120"/>
              </a:rPr>
              <a:t>This is the measured support for H1.</a:t>
            </a:r>
            <a:endParaRPr lang="en-US" sz="1500" dirty="0"/>
          </a:p>
        </p:txBody>
      </p:sp>
      <p:pic>
        <p:nvPicPr>
          <p:cNvPr id="5" name="Image 0" descr="/sessions/great-magical-hawking/mnt/outputs/deck/thesis_figs/fig5_23.png">    </p:cNvPr>
          <p:cNvPicPr>
            <a:picLocks noChangeAspect="1"/>
          </p:cNvPicPr>
          <p:nvPr/>
        </p:nvPicPr>
        <p:blipFill>
          <a:blip r:embed="rId1"/>
          <a:srcRect l="0" r="0" t="0" b="0"/>
          <a:stretch/>
        </p:blipFill>
        <p:spPr>
          <a:xfrm>
            <a:off x="5989320" y="1463040"/>
            <a:ext cx="5669280" cy="4389120"/>
          </a:xfrm>
          <a:prstGeom prst="rect">
            <a:avLst/>
          </a:prstGeom>
        </p:spPr>
      </p:pic>
      <p:sp>
        <p:nvSpPr>
          <p:cNvPr id="6" name="Text 3"/>
          <p:cNvSpPr/>
          <p:nvPr/>
        </p:nvSpPr>
        <p:spPr>
          <a:xfrm>
            <a:off x="6309360" y="6053328"/>
            <a:ext cx="5394960" cy="384048"/>
          </a:xfrm>
          <a:prstGeom prst="rect">
            <a:avLst/>
          </a:prstGeom>
          <a:noFill/>
          <a:ln/>
        </p:spPr>
        <p:txBody>
          <a:bodyPr wrap="square" lIns="0" tIns="0" rIns="0" bIns="0" rtlCol="0" anchor="ctr"/>
          <a:lstStyle/>
          <a:p>
            <a:pPr algn="r" indent="0" marL="0">
              <a:buNone/>
            </a:pPr>
            <a:r>
              <a:rPr lang="en-US" sz="1000" i="1" dirty="0">
                <a:solidFill>
                  <a:srgbClr val="7A7A7A"/>
                </a:solidFill>
                <a:latin typeface="Calibri" pitchFamily="34" charset="0"/>
                <a:ea typeface="Calibri" pitchFamily="34" charset="-122"/>
                <a:cs typeface="Calibri" pitchFamily="34" charset="-120"/>
              </a:rPr>
              <a:t>Figure 5.23  Decision cost against the number of local agents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6  ·  CONCLUSION</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three contributions are delivered</a:t>
            </a:r>
            <a:endParaRPr lang="en-US" sz="3400" dirty="0"/>
          </a:p>
        </p:txBody>
      </p:sp>
      <p:sp>
        <p:nvSpPr>
          <p:cNvPr id="4" name="Shape 2"/>
          <p:cNvSpPr/>
          <p:nvPr/>
        </p:nvSpPr>
        <p:spPr>
          <a:xfrm>
            <a:off x="548640" y="1600200"/>
            <a:ext cx="11064240" cy="1261872"/>
          </a:xfrm>
          <a:prstGeom prst="roundRect">
            <a:avLst>
              <a:gd name="adj" fmla="val 6522"/>
            </a:avLst>
          </a:prstGeom>
          <a:solidFill>
            <a:srgbClr val="3A2E23"/>
          </a:solidFill>
          <a:ln/>
        </p:spPr>
      </p:sp>
      <p:sp>
        <p:nvSpPr>
          <p:cNvPr id="5" name="Text 3"/>
          <p:cNvSpPr/>
          <p:nvPr/>
        </p:nvSpPr>
        <p:spPr>
          <a:xfrm>
            <a:off x="868680" y="1984248"/>
            <a:ext cx="731520"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C1</a:t>
            </a:r>
            <a:endParaRPr lang="en-US" sz="2000" dirty="0"/>
          </a:p>
        </p:txBody>
      </p:sp>
      <p:sp>
        <p:nvSpPr>
          <p:cNvPr id="6" name="Text 4"/>
          <p:cNvSpPr/>
          <p:nvPr/>
        </p:nvSpPr>
        <p:spPr>
          <a:xfrm>
            <a:off x="1691640" y="1764792"/>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Open decision space</a:t>
            </a:r>
            <a:endParaRPr lang="en-US" sz="1700" dirty="0"/>
          </a:p>
        </p:txBody>
      </p:sp>
      <p:sp>
        <p:nvSpPr>
          <p:cNvPr id="7" name="Text 5"/>
          <p:cNvSpPr/>
          <p:nvPr/>
        </p:nvSpPr>
        <p:spPr>
          <a:xfrm>
            <a:off x="1691640" y="2148840"/>
            <a:ext cx="9509760" cy="59436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5 seed rules grew to a field the expert never had to author. A closed catalogue would have needed 3 125.</a:t>
            </a:r>
            <a:endParaRPr lang="en-US" sz="1300" dirty="0"/>
          </a:p>
        </p:txBody>
      </p:sp>
      <p:sp>
        <p:nvSpPr>
          <p:cNvPr id="8" name="Shape 6"/>
          <p:cNvSpPr/>
          <p:nvPr/>
        </p:nvSpPr>
        <p:spPr>
          <a:xfrm>
            <a:off x="548640" y="3063240"/>
            <a:ext cx="11064240" cy="1261872"/>
          </a:xfrm>
          <a:prstGeom prst="roundRect">
            <a:avLst>
              <a:gd name="adj" fmla="val 6522"/>
            </a:avLst>
          </a:prstGeom>
          <a:solidFill>
            <a:srgbClr val="3A2E23"/>
          </a:solidFill>
          <a:ln/>
        </p:spPr>
      </p:sp>
      <p:sp>
        <p:nvSpPr>
          <p:cNvPr id="9" name="Text 7"/>
          <p:cNvSpPr/>
          <p:nvPr/>
        </p:nvSpPr>
        <p:spPr>
          <a:xfrm>
            <a:off x="868680" y="3447288"/>
            <a:ext cx="731520"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C2</a:t>
            </a:r>
            <a:endParaRPr lang="en-US" sz="2000" dirty="0"/>
          </a:p>
        </p:txBody>
      </p:sp>
      <p:sp>
        <p:nvSpPr>
          <p:cNvPr id="10" name="Text 8"/>
          <p:cNvSpPr/>
          <p:nvPr/>
        </p:nvSpPr>
        <p:spPr>
          <a:xfrm>
            <a:off x="1691640" y="3227832"/>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Traceability and uncertainty</a:t>
            </a:r>
            <a:endParaRPr lang="en-US" sz="1700" dirty="0"/>
          </a:p>
        </p:txBody>
      </p:sp>
      <p:sp>
        <p:nvSpPr>
          <p:cNvPr id="11" name="Text 9"/>
          <p:cNvSpPr/>
          <p:nvPr/>
        </p:nvSpPr>
        <p:spPr>
          <a:xfrm>
            <a:off x="1691640" y="3611880"/>
            <a:ext cx="9509760" cy="59436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Every order traces to concepts, rules and confidences. Every edit and every rejection is logged with its reason.</a:t>
            </a:r>
            <a:endParaRPr lang="en-US" sz="1300" dirty="0"/>
          </a:p>
        </p:txBody>
      </p:sp>
      <p:sp>
        <p:nvSpPr>
          <p:cNvPr id="12" name="Shape 10"/>
          <p:cNvSpPr/>
          <p:nvPr/>
        </p:nvSpPr>
        <p:spPr>
          <a:xfrm>
            <a:off x="548640" y="4526280"/>
            <a:ext cx="11064240" cy="1261872"/>
          </a:xfrm>
          <a:prstGeom prst="roundRect">
            <a:avLst>
              <a:gd name="adj" fmla="val 6522"/>
            </a:avLst>
          </a:prstGeom>
          <a:solidFill>
            <a:srgbClr val="3A2E23"/>
          </a:solidFill>
          <a:ln/>
        </p:spPr>
      </p:sp>
      <p:sp>
        <p:nvSpPr>
          <p:cNvPr id="13" name="Text 11"/>
          <p:cNvSpPr/>
          <p:nvPr/>
        </p:nvSpPr>
        <p:spPr>
          <a:xfrm>
            <a:off x="868680" y="4910328"/>
            <a:ext cx="731520"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C3</a:t>
            </a:r>
            <a:endParaRPr lang="en-US" sz="2000" dirty="0"/>
          </a:p>
        </p:txBody>
      </p:sp>
      <p:sp>
        <p:nvSpPr>
          <p:cNvPr id="14" name="Text 12"/>
          <p:cNvSpPr/>
          <p:nvPr/>
        </p:nvSpPr>
        <p:spPr>
          <a:xfrm>
            <a:off x="1691640" y="4690872"/>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End-to-end over separated cores</a:t>
            </a:r>
            <a:endParaRPr lang="en-US" sz="1700" dirty="0"/>
          </a:p>
        </p:txBody>
      </p:sp>
      <p:sp>
        <p:nvSpPr>
          <p:cNvPr id="15" name="Text 13"/>
          <p:cNvSpPr/>
          <p:nvPr/>
        </p:nvSpPr>
        <p:spPr>
          <a:xfrm>
            <a:off x="1691640" y="5074920"/>
            <a:ext cx="9509760" cy="59436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Physics validated independently at 86 to 94 per cent, then the decision core run on that ground.</a:t>
            </a:r>
            <a:endParaRPr lang="en-US" sz="1300" dirty="0"/>
          </a:p>
        </p:txBody>
      </p:sp>
      <p:sp>
        <p:nvSpPr>
          <p:cNvPr id="16" name="Text 14"/>
          <p:cNvSpPr/>
          <p:nvPr/>
        </p:nvSpPr>
        <p:spPr>
          <a:xfrm>
            <a:off x="548640" y="6035040"/>
            <a:ext cx="11064240" cy="457200"/>
          </a:xfrm>
          <a:prstGeom prst="rect">
            <a:avLst/>
          </a:prstGeom>
          <a:noFill/>
          <a:ln/>
        </p:spPr>
        <p:txBody>
          <a:bodyPr wrap="square" lIns="0" tIns="0" rIns="0" bIns="0" rtlCol="0" anchor="ctr"/>
          <a:lstStyle/>
          <a:p>
            <a:pPr indent="0" marL="0">
              <a:buNone/>
            </a:pPr>
            <a:r>
              <a:rPr lang="en-US" sz="1300" i="1" dirty="0">
                <a:solidFill>
                  <a:srgbClr val="A7BEAE"/>
                </a:solidFill>
                <a:latin typeface="Calibri" pitchFamily="34" charset="0"/>
                <a:ea typeface="Calibri" pitchFamily="34" charset="-122"/>
                <a:cs typeface="Calibri" pitchFamily="34" charset="-120"/>
              </a:rPr>
              <a:t>H1, H2 and H3 are supported by the ladder, the traceability record and the end-to-end run respectively.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ctr"/>
          <a:lstStyle/>
          <a:p>
            <a:pPr indent="0" marL="0">
              <a:buNone/>
            </a:pPr>
            <a:r>
              <a:rPr lang="en-US" sz="1200" b="1" spc="150" kern="0" dirty="0">
                <a:solidFill>
                  <a:srgbClr val="B85042"/>
                </a:solidFill>
                <a:latin typeface="Calibri" pitchFamily="34" charset="0"/>
                <a:ea typeface="Calibri" pitchFamily="34" charset="-122"/>
                <a:cs typeface="Calibri" pitchFamily="34" charset="-120"/>
              </a:rPr>
              <a:t>CHAPTER 6  ·  FUTURE WORK</a:t>
            </a:r>
            <a:endParaRPr lang="en-US" sz="1200" dirty="0"/>
          </a:p>
        </p:txBody>
      </p:sp>
      <p:sp>
        <p:nvSpPr>
          <p:cNvPr id="3" name="Text 1"/>
          <p:cNvSpPr/>
          <p:nvPr/>
        </p:nvSpPr>
        <p:spPr>
          <a:xfrm>
            <a:off x="548640" y="566928"/>
            <a:ext cx="11064240" cy="777240"/>
          </a:xfrm>
          <a:prstGeom prst="rect">
            <a:avLst/>
          </a:prstGeom>
          <a:noFill/>
          <a:ln/>
        </p:spPr>
        <p:txBody>
          <a:bodyPr wrap="square" lIns="0" tIns="0" rIns="0" bIns="0" rtlCol="0" anchor="ctr"/>
          <a:lstStyle/>
          <a:p>
            <a:pPr indent="0" marL="0">
              <a:buNone/>
            </a:pPr>
            <a:r>
              <a:rPr lang="en-US" sz="3400" b="1" dirty="0">
                <a:solidFill>
                  <a:srgbClr val="2B2118"/>
                </a:solidFill>
                <a:latin typeface="Cambria" pitchFamily="34" charset="0"/>
                <a:ea typeface="Cambria" pitchFamily="34" charset="-122"/>
                <a:cs typeface="Cambria" pitchFamily="34" charset="-120"/>
              </a:rPr>
              <a:t>What the framework opens next</a:t>
            </a:r>
            <a:endParaRPr lang="en-US" sz="3400" dirty="0"/>
          </a:p>
        </p:txBody>
      </p:sp>
      <p:sp>
        <p:nvSpPr>
          <p:cNvPr id="4" name="Shape 2"/>
          <p:cNvSpPr/>
          <p:nvPr/>
        </p:nvSpPr>
        <p:spPr>
          <a:xfrm>
            <a:off x="548640" y="1600200"/>
            <a:ext cx="5394960" cy="1874520"/>
          </a:xfrm>
          <a:prstGeom prst="roundRect">
            <a:avLst>
              <a:gd name="adj" fmla="val 4390"/>
            </a:avLst>
          </a:prstGeom>
          <a:solidFill>
            <a:srgbClr val="E7E8D1"/>
          </a:solidFill>
          <a:ln/>
        </p:spPr>
      </p:sp>
      <p:sp>
        <p:nvSpPr>
          <p:cNvPr id="5" name="Shape 3"/>
          <p:cNvSpPr/>
          <p:nvPr/>
        </p:nvSpPr>
        <p:spPr>
          <a:xfrm>
            <a:off x="868680" y="1920240"/>
            <a:ext cx="502920" cy="502920"/>
          </a:xfrm>
          <a:prstGeom prst="ellipse">
            <a:avLst/>
          </a:prstGeom>
          <a:solidFill>
            <a:srgbClr val="B85042"/>
          </a:solidFill>
          <a:ln/>
        </p:spPr>
      </p:sp>
      <p:sp>
        <p:nvSpPr>
          <p:cNvPr id="6" name="Text 4"/>
          <p:cNvSpPr/>
          <p:nvPr/>
        </p:nvSpPr>
        <p:spPr>
          <a:xfrm>
            <a:off x="868680" y="2002536"/>
            <a:ext cx="5029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554480" y="1901952"/>
            <a:ext cx="4114800" cy="384048"/>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Live data</a:t>
            </a:r>
            <a:endParaRPr lang="en-US" sz="1700" dirty="0"/>
          </a:p>
        </p:txBody>
      </p:sp>
      <p:sp>
        <p:nvSpPr>
          <p:cNvPr id="8" name="Text 6"/>
          <p:cNvSpPr/>
          <p:nvPr/>
        </p:nvSpPr>
        <p:spPr>
          <a:xfrm>
            <a:off x="1554480" y="2331720"/>
            <a:ext cx="4114800" cy="96012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Replace hindcast inputs with a live feed and measure the decision layer under real latency.</a:t>
            </a:r>
            <a:endParaRPr lang="en-US" sz="1300" dirty="0"/>
          </a:p>
        </p:txBody>
      </p:sp>
      <p:sp>
        <p:nvSpPr>
          <p:cNvPr id="9" name="Shape 7"/>
          <p:cNvSpPr/>
          <p:nvPr/>
        </p:nvSpPr>
        <p:spPr>
          <a:xfrm>
            <a:off x="6217920" y="1600200"/>
            <a:ext cx="5394960" cy="1874520"/>
          </a:xfrm>
          <a:prstGeom prst="roundRect">
            <a:avLst>
              <a:gd name="adj" fmla="val 4390"/>
            </a:avLst>
          </a:prstGeom>
          <a:solidFill>
            <a:srgbClr val="E7E8D1"/>
          </a:solidFill>
          <a:ln/>
        </p:spPr>
      </p:sp>
      <p:sp>
        <p:nvSpPr>
          <p:cNvPr id="10" name="Shape 8"/>
          <p:cNvSpPr/>
          <p:nvPr/>
        </p:nvSpPr>
        <p:spPr>
          <a:xfrm>
            <a:off x="6537960" y="1920240"/>
            <a:ext cx="502920" cy="502920"/>
          </a:xfrm>
          <a:prstGeom prst="ellipse">
            <a:avLst/>
          </a:prstGeom>
          <a:solidFill>
            <a:srgbClr val="B85042"/>
          </a:solidFill>
          <a:ln/>
        </p:spPr>
      </p:sp>
      <p:sp>
        <p:nvSpPr>
          <p:cNvPr id="11" name="Text 9"/>
          <p:cNvSpPr/>
          <p:nvPr/>
        </p:nvSpPr>
        <p:spPr>
          <a:xfrm>
            <a:off x="6537960" y="2002536"/>
            <a:ext cx="5029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7223760" y="1901952"/>
            <a:ext cx="4114800" cy="384048"/>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Wider actuators</a:t>
            </a:r>
            <a:endParaRPr lang="en-US" sz="1700" dirty="0"/>
          </a:p>
        </p:txBody>
      </p:sp>
      <p:sp>
        <p:nvSpPr>
          <p:cNvPr id="13" name="Text 11"/>
          <p:cNvSpPr/>
          <p:nvPr/>
        </p:nvSpPr>
        <p:spPr>
          <a:xfrm>
            <a:off x="7223760" y="2331720"/>
            <a:ext cx="4114800" cy="96012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discoverable actuator library can grow beyond drafting, retardant and tactical burn.</a:t>
            </a:r>
            <a:endParaRPr lang="en-US" sz="1300" dirty="0"/>
          </a:p>
        </p:txBody>
      </p:sp>
      <p:sp>
        <p:nvSpPr>
          <p:cNvPr id="14" name="Shape 12"/>
          <p:cNvSpPr/>
          <p:nvPr/>
        </p:nvSpPr>
        <p:spPr>
          <a:xfrm>
            <a:off x="548640" y="3749040"/>
            <a:ext cx="5394960" cy="1874520"/>
          </a:xfrm>
          <a:prstGeom prst="roundRect">
            <a:avLst>
              <a:gd name="adj" fmla="val 4390"/>
            </a:avLst>
          </a:prstGeom>
          <a:solidFill>
            <a:srgbClr val="E7E8D1"/>
          </a:solidFill>
          <a:ln/>
        </p:spPr>
      </p:sp>
      <p:sp>
        <p:nvSpPr>
          <p:cNvPr id="15" name="Shape 13"/>
          <p:cNvSpPr/>
          <p:nvPr/>
        </p:nvSpPr>
        <p:spPr>
          <a:xfrm>
            <a:off x="868680" y="4069080"/>
            <a:ext cx="502920" cy="502920"/>
          </a:xfrm>
          <a:prstGeom prst="ellipse">
            <a:avLst/>
          </a:prstGeom>
          <a:solidFill>
            <a:srgbClr val="B85042"/>
          </a:solidFill>
          <a:ln/>
        </p:spPr>
      </p:sp>
      <p:sp>
        <p:nvSpPr>
          <p:cNvPr id="16" name="Text 14"/>
          <p:cNvSpPr/>
          <p:nvPr/>
        </p:nvSpPr>
        <p:spPr>
          <a:xfrm>
            <a:off x="868680" y="4151376"/>
            <a:ext cx="5029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554480" y="4050792"/>
            <a:ext cx="4114800" cy="384048"/>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Operator study</a:t>
            </a:r>
            <a:endParaRPr lang="en-US" sz="1700" dirty="0"/>
          </a:p>
        </p:txBody>
      </p:sp>
      <p:sp>
        <p:nvSpPr>
          <p:cNvPr id="18" name="Text 16"/>
          <p:cNvSpPr/>
          <p:nvPr/>
        </p:nvSpPr>
        <p:spPr>
          <a:xfrm>
            <a:off x="1554480" y="4480560"/>
            <a:ext cx="4114800" cy="96012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traceability record is built for a human reader; it has not yet been tested with one.</a:t>
            </a:r>
            <a:endParaRPr lang="en-US" sz="1300" dirty="0"/>
          </a:p>
        </p:txBody>
      </p:sp>
      <p:sp>
        <p:nvSpPr>
          <p:cNvPr id="19" name="Shape 17"/>
          <p:cNvSpPr/>
          <p:nvPr/>
        </p:nvSpPr>
        <p:spPr>
          <a:xfrm>
            <a:off x="6217920" y="3749040"/>
            <a:ext cx="5394960" cy="1874520"/>
          </a:xfrm>
          <a:prstGeom prst="roundRect">
            <a:avLst>
              <a:gd name="adj" fmla="val 4390"/>
            </a:avLst>
          </a:prstGeom>
          <a:solidFill>
            <a:srgbClr val="E7E8D1"/>
          </a:solidFill>
          <a:ln/>
        </p:spPr>
      </p:sp>
      <p:sp>
        <p:nvSpPr>
          <p:cNvPr id="20" name="Shape 18"/>
          <p:cNvSpPr/>
          <p:nvPr/>
        </p:nvSpPr>
        <p:spPr>
          <a:xfrm>
            <a:off x="6537960" y="4069080"/>
            <a:ext cx="502920" cy="502920"/>
          </a:xfrm>
          <a:prstGeom prst="ellipse">
            <a:avLst/>
          </a:prstGeom>
          <a:solidFill>
            <a:srgbClr val="B85042"/>
          </a:solidFill>
          <a:ln/>
        </p:spPr>
      </p:sp>
      <p:sp>
        <p:nvSpPr>
          <p:cNvPr id="21" name="Text 19"/>
          <p:cNvSpPr/>
          <p:nvPr/>
        </p:nvSpPr>
        <p:spPr>
          <a:xfrm>
            <a:off x="6537960" y="4151376"/>
            <a:ext cx="5029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7223760" y="4050792"/>
            <a:ext cx="4114800" cy="384048"/>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Other hazards</a:t>
            </a:r>
            <a:endParaRPr lang="en-US" sz="1700" dirty="0"/>
          </a:p>
        </p:txBody>
      </p:sp>
      <p:sp>
        <p:nvSpPr>
          <p:cNvPr id="23" name="Text 21"/>
          <p:cNvSpPr/>
          <p:nvPr/>
        </p:nvSpPr>
        <p:spPr>
          <a:xfrm>
            <a:off x="7223760" y="4480560"/>
            <a:ext cx="4114800" cy="96012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concept layer is domain-shaped, not fire-specific: flood and earthquake response share the structure.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2026-08-02T22:32:55Z</dcterms:created>
  <dcterms:modified xsi:type="dcterms:W3CDTF">2026-08-02T22:32:55Z</dcterms:modified>
</cp:coreProperties>
</file>