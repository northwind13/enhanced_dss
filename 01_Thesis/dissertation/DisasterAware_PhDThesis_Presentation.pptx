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438912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603504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62672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62672" y="438912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62672" y="603504"/>
            <a:ext cx="150876" cy="150876"/>
          </a:xfrm>
          <a:prstGeom prst="rect">
            <a:avLst/>
          </a:prstGeom>
          <a:solidFill>
            <a:srgbClr val="E85A2B"/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62672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62672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7264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7264" y="438912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27264" y="603504"/>
            <a:ext cx="150876" cy="150876"/>
          </a:xfrm>
          <a:prstGeom prst="rect">
            <a:avLst/>
          </a:prstGeom>
          <a:solidFill>
            <a:srgbClr val="E85A2B"/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7264" y="768096"/>
            <a:ext cx="150876" cy="150876"/>
          </a:xfrm>
          <a:prstGeom prst="rect">
            <a:avLst/>
          </a:prstGeom>
          <a:solidFill>
            <a:srgbClr val="E85A2B"/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27264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91856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438912"/>
            <a:ext cx="150876" cy="150876"/>
          </a:xfrm>
          <a:prstGeom prst="rect">
            <a:avLst/>
          </a:prstGeom>
          <a:solidFill>
            <a:srgbClr val="E85A2B"/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91856" y="603504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91856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91856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91856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56448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6448" y="438912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56448" y="603504"/>
            <a:ext cx="150876" cy="150876"/>
          </a:xfrm>
          <a:prstGeom prst="rect">
            <a:avLst/>
          </a:prstGeom>
          <a:solidFill>
            <a:srgbClr val="E85A2B"/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6448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56448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438912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21040" y="603504"/>
            <a:ext cx="150876" cy="150876"/>
          </a:xfrm>
          <a:prstGeom prst="rect">
            <a:avLst/>
          </a:prstGeom>
          <a:solidFill>
            <a:srgbClr val="F5A623">
              <a:alpha val="45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1040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85632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85632" y="438912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85632" y="603504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5632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85632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85632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50224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650224" y="438912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50224" y="603504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50224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50224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650224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14816" y="27432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814816" y="438912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14816" y="603504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14816" y="768096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14816" y="932688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814816" y="1097280"/>
            <a:ext cx="150876" cy="150876"/>
          </a:xfrm>
          <a:prstGeom prst="rect">
            <a:avLst/>
          </a:prstGeom>
          <a:solidFill>
            <a:srgbClr val="152336">
              <a:alpha val="30000"/>
            </a:srgbClr>
          </a:solidFill>
          <a:ln w="3810">
            <a:solidFill>
              <a:srgbClr val="5A6B82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" y="1691640"/>
            <a:ext cx="502920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2588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DOCTORAL DISSERTATION DEFENSE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5800" y="19659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Decision Support System for</a:t>
            </a:r>
            <a:endParaRPr lang="en-US" sz="3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Disaster Response and Management</a:t>
            </a:r>
            <a:endParaRPr lang="en-US" sz="3200" dirty="0"/>
          </a:p>
        </p:txBody>
      </p:sp>
      <p:sp>
        <p:nvSpPr>
          <p:cNvPr id="59" name="Text 57"/>
          <p:cNvSpPr/>
          <p:nvPr/>
        </p:nvSpPr>
        <p:spPr>
          <a:xfrm>
            <a:off x="68580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8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</a:t>
            </a:r>
            <a:endParaRPr lang="en-US" sz="2800" dirty="0"/>
          </a:p>
        </p:txBody>
      </p:sp>
      <p:sp>
        <p:nvSpPr>
          <p:cNvPr id="60" name="Text 58"/>
          <p:cNvSpPr/>
          <p:nvPr/>
        </p:nvSpPr>
        <p:spPr>
          <a:xfrm>
            <a:off x="685800" y="39776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Çağlar Akman</a:t>
            </a:r>
            <a:endParaRPr lang="en-US" sz="9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900" b="1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Mehmet Kemal Leblebicioğlu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0" y="3977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300"/>
              </a:spcAft>
              <a:buNone/>
            </a:pPr>
            <a:r>
              <a:rPr lang="en-US" sz="900" b="1" spc="4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</a:t>
            </a:r>
            <a:endParaRPr lang="en-US" sz="9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and Electronic Engineering</a:t>
            </a:r>
            <a:endParaRPr lang="en-US" sz="900" dirty="0"/>
          </a:p>
          <a:p>
            <a:pPr algn="r"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School of Natural and Applied Sciences</a:t>
            </a:r>
            <a:endParaRPr lang="en-US" sz="9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East Technical University  ·  Ankara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502920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2588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6616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444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Gaps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DSS landscape · G1–G8 architectural gaps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231136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04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66160" y="2340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Hypotheses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RQ · main hypothesis · H1 · H2 · H3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072384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1455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182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2–3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3444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&amp; Background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DSS problem · fuzzy reasoning · distributed DSS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913632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9867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56616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34440" y="3968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 Simulation Framework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domain · hybrid fire model · external data layers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1463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3524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03520" y="1444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303520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· fuzzy design · 4 concepts · 9× rule reduction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231136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304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35240" y="2340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03520" y="2286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03520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DSS · coordination · explainability &amp; governance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072384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14553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635240" y="31821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3127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0352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 · centralized baseline · H1/H2/H3 evaluation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913632"/>
            <a:ext cx="3703320" cy="0"/>
          </a:xfrm>
          <a:prstGeom prst="line">
            <a:avLst/>
          </a:prstGeom>
          <a:noFill/>
          <a:ln w="6350">
            <a:solidFill>
              <a:srgbClr val="5A6B82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98678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635240" y="40233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39684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035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8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C1–C8 ↔ G1–G8 closure · directions forward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" y="4864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2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  ·  PhD Defense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  · 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Gaps, Research Question &amp; Hypotheses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6128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Wildfires </a:t>
            </a:r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among the most consequential 21st-century hazards — yet existing DSS architectures remain </a:t>
            </a:r>
            <a:pPr algn="l" indent="0" marL="0">
              <a:buNone/>
            </a:pPr>
            <a:r>
              <a:rPr lang="en-US" sz="12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mismatched </a:t>
            </a:r>
            <a:pPr algn="l" indent="0" marL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dynamic, partially observable, resource-constrained wildfire response.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ARCHITECTURAL GAPS IN EXISTING WILDFIRE DSS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space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7612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467612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68196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68196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23744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23744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24328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79876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79876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0460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80460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36008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Sim–decision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92140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92140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92724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92724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48272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48272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48856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04404" y="2039112"/>
            <a:ext cx="99669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804404" y="2039112"/>
            <a:ext cx="45720" cy="68580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4988" y="209397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G8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904988" y="23134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310896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5A2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48640" y="31546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</a:t>
            </a:r>
            <a:pPr algn="ctr"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distributed, explainable DSS</a:t>
            </a:r>
            <a:pPr algn="ctr"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 </a:t>
            </a:r>
            <a:pPr algn="ctr"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and operationally feasible</a:t>
            </a:r>
            <a:pPr algn="ctr"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intervention guidance under </a:t>
            </a:r>
            <a:pPr algn="ctr" indent="0" marL="0">
              <a:buNone/>
            </a:pPr>
            <a:r>
              <a:rPr lang="en-US" sz="13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observability</a:t>
            </a:r>
            <a:pPr algn="ctr" indent="0" marL="0">
              <a:buNone/>
            </a:pPr>
            <a:r>
              <a:rPr lang="en-US" sz="13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dynamic wildfire environments?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11480" y="37673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HYPOTHESIS  ·  three testable sub-claims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4023360"/>
            <a:ext cx="2663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11480" y="4023360"/>
            <a:ext cx="2663952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4133088"/>
            <a:ext cx="248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pPr indent="0" marL="0">
              <a:buNone/>
            </a:pPr>
            <a:r>
              <a:rPr lang="en-US" sz="100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ADAPTABILITY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39496" y="4434840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agents yield faster spatial response and better resource allocation than centralized DSS.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" y="4846320"/>
            <a:ext cx="248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G1 · G2 · G7 · G8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40024" y="4023360"/>
            <a:ext cx="2663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40024" y="4023360"/>
            <a:ext cx="2663952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8040" y="4133088"/>
            <a:ext cx="248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pPr indent="0" marL="0">
              <a:buNone/>
            </a:pPr>
            <a:r>
              <a:rPr lang="en-US" sz="100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INTERPRETABILITY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368040" y="4434840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Concept-driven fuzzy reasoning enables traceable, inspectable decisions at cell level.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68040" y="4846320"/>
            <a:ext cx="248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G3 · G4 · G5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68568" y="4023360"/>
            <a:ext cx="266395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068568" y="4023360"/>
            <a:ext cx="2663952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6584" y="4133088"/>
            <a:ext cx="2481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pPr indent="0" marL="0">
              <a:buNone/>
            </a:pPr>
            <a:r>
              <a:rPr lang="en-US" sz="100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FEASIBILITY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196584" y="4434840"/>
            <a:ext cx="2481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fuzzy evaluation keeps interventions operationally executable under dynamic constraints.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96584" y="4846320"/>
            <a:ext cx="248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G3 · G6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 · 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Architectural Contributions of DisasterAware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contribution targets a specific gap identified in Chapter 1.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88720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Open decision space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Concept-driven fuzzy reasoning generates intervention guidance dynamically — no predefined alternatives.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23744" y="1188720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23744" y="1188720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60904" y="1325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Distributed architecture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60904" y="1737360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DSS with region-local fuzzy reasoners + global coordination layer.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60904" y="26791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36008" y="1188720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1188720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325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Epistemic uncertainty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3168" y="1737360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inference encodes partial observability via graded membership — no prior distributions required.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26791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8272" y="1188720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48272" y="1188720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1325880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Explainable reasoning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85432" y="1737360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Rule-level traceability + AI governance layer (audit log, operator override).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85432" y="267919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081528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081528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21868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Sim / decision separation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363016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Core and DSS Core are architecturally independent; DSS never writes to system state.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5720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23744" y="3081528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23744" y="3081528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60904" y="321868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C6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Operational constraints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660904" y="363016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fuzzy evaluation integrates resource availability, travel time, and access.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60904" y="45720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36008" y="3081528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3081528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21868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C7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Spatio-temporal reasoning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773168" y="363016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field Ψₖ and ignition time τₖ feed spatially-directional, time-sensitive features.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45720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48272" y="3081528"/>
            <a:ext cx="1984248" cy="1764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748272" y="3081528"/>
            <a:ext cx="1984248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85432" y="3218688"/>
            <a:ext cx="175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C8</a:t>
            </a:r>
            <a:pPr indent="0" marL="0">
              <a:buNone/>
            </a:pPr>
            <a:r>
              <a:rPr lang="en-US" sz="11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Hierarchical coordination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85432" y="3630168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→ coordination → governance levels mirror operational, tactical, and strategic decision layers.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885432" y="457200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i="1" spc="2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G8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↔  CONTRIBUTION MAPPING  · 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Structural Closure of the Eight Gaps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ARCHITECTURAL MAPPING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88720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07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decision space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12848" y="118872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1188720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97480" y="1188720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7208" y="12070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decision 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1563624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563624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architecture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156362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97480" y="1563624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97480" y="1563624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15819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architecture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1938528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1938528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1956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uncertainty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12848" y="19385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697480" y="1938528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1938528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19568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C3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uncertainty encoding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2313432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313432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G4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12848" y="231343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97480" y="2313432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2313432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07208" y="23317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C4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reasoning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" y="2688336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2688336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G5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Sim–decision coupling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12848" y="26883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697480" y="2688336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97480" y="2688336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07208" y="270662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C5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/ DSS separation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3063240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1208" y="3081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G6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constraints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212848" y="306324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697480" y="3063240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697480" y="3063240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07208" y="3081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C6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evaluation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" y="3438144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3438144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G7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integration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212848" y="34381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697480" y="3438144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697480" y="3438144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07208" y="3456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C7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fuzzy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11480" y="3813048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13048"/>
            <a:ext cx="45720" cy="2926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208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G8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coordination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212848" y="381304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697480" y="3813048"/>
            <a:ext cx="17830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97480" y="3813048"/>
            <a:ext cx="45720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07208" y="38313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C8  </a:t>
            </a:r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architecture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715000" y="914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↔ CONTRIBUTIONS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715000" y="1188720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715000" y="1188720"/>
            <a:ext cx="3017520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52160" y="12984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Adaptability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852160" y="159105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C2 · C7 · C8</a:t>
            </a:r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covering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· G2 · G7 · G8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715000" y="2212848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5715000" y="2212848"/>
            <a:ext cx="3017520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232257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Interpretability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852160" y="261518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C4 · C5</a:t>
            </a:r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covering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G4 · G5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715000" y="3236976"/>
            <a:ext cx="30175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5715000" y="3236976"/>
            <a:ext cx="3017520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2160" y="334670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pPr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Feasibility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852160" y="36393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C6</a:t>
            </a:r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covering </a:t>
            </a:r>
            <a:pPr algn="l" indent="0" marL="0">
              <a:buNone/>
            </a:pPr>
            <a:r>
              <a:rPr lang="en-US" sz="1000" b="1" spc="1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· G6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715000" y="4306824"/>
            <a:ext cx="3017520" cy="457200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0" y="432511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gap G1–G8 is closed by ≥1 contribution and evaluated by ≥1 hypothesis.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  · 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DSS as a Distributed, Partially Observable Decision Process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9875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EVOLUTION  (physical dynamics)</a:t>
            </a:r>
            <a:endParaRPr lang="en-US" sz="900" dirty="0"/>
          </a:p>
        </p:txBody>
      </p:sp>
      <p:pic>
        <p:nvPicPr>
          <p:cNvPr id="6" name="Image 0" descr="/home/claude/slides/equations/eq_state_transi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25296"/>
            <a:ext cx="3840480" cy="347472"/>
          </a:xfrm>
          <a:prstGeom prst="rect">
            <a:avLst/>
          </a:prstGeom>
        </p:spPr>
      </p:pic>
      <p:pic>
        <p:nvPicPr>
          <p:cNvPr id="7" name="Image 1" descr="/home/claude/slides/equations/eq_observ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627632"/>
            <a:ext cx="3840480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2103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GENERATION</a:t>
            </a:r>
            <a:endParaRPr lang="en-US" sz="900" dirty="0"/>
          </a:p>
        </p:txBody>
      </p:sp>
      <p:pic>
        <p:nvPicPr>
          <p:cNvPr id="9" name="Image 2" descr="/home/claude/slides/equations/eq_local_decis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2340864"/>
            <a:ext cx="3840480" cy="347472"/>
          </a:xfrm>
          <a:prstGeom prst="rect">
            <a:avLst/>
          </a:prstGeom>
        </p:spPr>
      </p:pic>
      <p:pic>
        <p:nvPicPr>
          <p:cNvPr id="10" name="Image 3" descr="/home/claude/slides/equations/eq_global_coor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" y="2743200"/>
            <a:ext cx="3840480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1480" y="3218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&amp;  QUALITY</a:t>
            </a:r>
            <a:endParaRPr lang="en-US" sz="900" dirty="0"/>
          </a:p>
        </p:txBody>
      </p:sp>
      <p:pic>
        <p:nvPicPr>
          <p:cNvPr id="12" name="Image 4" descr="/home/claude/slides/equations/eq_feasibilit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48640" y="3456432"/>
            <a:ext cx="3840480" cy="347472"/>
          </a:xfrm>
          <a:prstGeom prst="rect">
            <a:avLst/>
          </a:prstGeom>
        </p:spPr>
      </p:pic>
      <p:pic>
        <p:nvPicPr>
          <p:cNvPr id="13" name="Image 5" descr="/home/claude/slides/equations/eq_quality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" y="3858768"/>
            <a:ext cx="3840480" cy="34747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709160" y="868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STRUCTURE  (Figure 2.1)</a:t>
            </a:r>
            <a:endParaRPr lang="en-US" sz="900" dirty="0"/>
          </a:p>
        </p:txBody>
      </p:sp>
      <p:pic>
        <p:nvPicPr>
          <p:cNvPr id="15" name="Image 6" descr="/home/claude/slides/thesis_img/formal_problem_loo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143000"/>
            <a:ext cx="4023360" cy="1888015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4709160" y="3076735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Observation → Distributed local DSS → Global coordination → Feasibility / quality check → Feedback into external inputs.</a:t>
            </a:r>
            <a:endParaRPr lang="en-US" sz="950" dirty="0"/>
          </a:p>
        </p:txBody>
      </p:sp>
      <p:sp>
        <p:nvSpPr>
          <p:cNvPr id="17" name="Shape 8"/>
          <p:cNvSpPr/>
          <p:nvPr/>
        </p:nvSpPr>
        <p:spPr>
          <a:xfrm>
            <a:off x="411480" y="4526280"/>
            <a:ext cx="832104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E85A2B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411480" y="4526280"/>
            <a:ext cx="64008" cy="5029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9" name="Text 10"/>
          <p:cNvSpPr/>
          <p:nvPr/>
        </p:nvSpPr>
        <p:spPr>
          <a:xfrm>
            <a:off x="621792" y="4562856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 2.1  </a:t>
            </a:r>
            <a:pPr algn="l"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computationally intractable under exact optimization — single-step action space ≥ 5</a:t>
            </a:r>
            <a:pPr algn="l" indent="0" marL="0">
              <a:buNone/>
            </a:pPr>
            <a:r>
              <a:rPr lang="en-US" sz="800" baseline="30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7500</a:t>
            </a:r>
            <a:pPr algn="l"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state is continuous · ε</a:t>
            </a:r>
            <a:pPr algn="l" indent="0" marL="0">
              <a:buNone/>
            </a:pPr>
            <a:r>
              <a:rPr lang="en-US" sz="800" baseline="-40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buNone/>
            </a:pPr>
            <a:r>
              <a:rPr lang="en-US" sz="10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lacks known distribution.  </a:t>
            </a:r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Hence satisficing </a:t>
            </a:r>
            <a:pPr algn="l" indent="0" marL="0">
              <a:buNone/>
            </a:pPr>
            <a:r>
              <a:rPr lang="en-US" sz="105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DSS,k</a:t>
            </a:r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 η</a:t>
            </a:r>
            <a:pPr algn="l" indent="0" marL="0">
              <a:buNone/>
            </a:pPr>
            <a:r>
              <a:rPr lang="en-US" sz="800" b="1" baseline="-400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global optimization.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FRAMEWORK  ·  05a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 — Physics, Decision, Interaction Separated</a:t>
            </a:r>
            <a:endParaRPr lang="en-US" sz="1800" dirty="0"/>
          </a:p>
        </p:txBody>
      </p:sp>
      <p:pic>
        <p:nvPicPr>
          <p:cNvPr id="5" name="Image 0" descr="/home/claude/slides/thesis_img/simulation_framework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86968"/>
            <a:ext cx="5212080" cy="44395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344847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 ·  Simulation Framework block diagram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760720" y="886968"/>
            <a:ext cx="2971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886968"/>
            <a:ext cx="64008" cy="93268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9601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17920" y="98755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Sources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01000" y="10149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97880" y="13075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 · topography · fuel · ignition · DSS output. Boundary conditions — never written by DSS core.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1874520"/>
            <a:ext cx="2971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1874520"/>
            <a:ext cx="64008" cy="93268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97880" y="19476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217920" y="19751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Core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001000" y="200253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897880" y="229514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physics engine. Grid State Manager + Hybrid Fire Spread Model update Sₖ → Sₖ₊₁.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60720" y="2862072"/>
            <a:ext cx="2971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760720" y="2862072"/>
            <a:ext cx="64008" cy="93268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29352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17920" y="29626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Core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01000" y="29900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897880" y="32826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𝒪ₖ from Sₖ; produces intervention U_DSS,k. Separate from physics (Contribution C5).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760720" y="3849624"/>
            <a:ext cx="29718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760720" y="3849624"/>
            <a:ext cx="64008" cy="93268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9227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217920" y="39502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Dashboard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01000" y="397764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spc="1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897880" y="4270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operator interface. Scenario control via ΘUI — inputs only, no state overwrite.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FRAMEWORK  ·  05b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Fire Spread Model  —  Deterministic + Stochastic Dynamics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state  </a:t>
            </a:r>
            <a:pPr algn="l" indent="0" marL="0">
              <a:buNone/>
            </a:pPr>
            <a:r>
              <a:rPr lang="en-US" sz="105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sₖ(x,y)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evolves through four coupled updates. </a:t>
            </a:r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realism </a:t>
            </a:r>
            <a:pPr algn="l"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three mechanisms: persistence · propagation from neighbours · external ignition.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078224" cy="15407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71600"/>
            <a:ext cx="4078224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463040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BURNING STATUS</a:t>
            </a:r>
            <a:pPr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persistence · propagation · ignition</a:t>
            </a:r>
            <a:endParaRPr lang="en-US" sz="1050" dirty="0"/>
          </a:p>
        </p:txBody>
      </p:sp>
      <p:pic>
        <p:nvPicPr>
          <p:cNvPr id="9" name="Image 0" descr="/home/claude/slides/equations/eq_burning_upda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1737360"/>
            <a:ext cx="3749040" cy="365760"/>
          </a:xfrm>
          <a:prstGeom prst="rect">
            <a:avLst/>
          </a:prstGeom>
        </p:spPr>
      </p:pic>
      <p:pic>
        <p:nvPicPr>
          <p:cNvPr id="10" name="Image 1" descr="/home/claude/slides/equations/eq_propag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" y="2148840"/>
            <a:ext cx="3749040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" y="2491740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ignites if cumulative neighbour influence Ψₖ exceeds Θ_ign, or if externally triggered.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654296" y="1371600"/>
            <a:ext cx="4078224" cy="15407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54296" y="1371600"/>
            <a:ext cx="4078224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82312" y="1463040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MASS</a:t>
            </a:r>
            <a:pPr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combustion + suppression</a:t>
            </a:r>
            <a:endParaRPr lang="en-US" sz="1050" dirty="0"/>
          </a:p>
        </p:txBody>
      </p:sp>
      <p:pic>
        <p:nvPicPr>
          <p:cNvPr id="15" name="Image 2" descr="/home/claude/slides/equations/eq_fuel_upda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18888" y="1737360"/>
            <a:ext cx="3749040" cy="365760"/>
          </a:xfrm>
          <a:prstGeom prst="rect">
            <a:avLst/>
          </a:prstGeom>
        </p:spPr>
      </p:pic>
      <p:pic>
        <p:nvPicPr>
          <p:cNvPr id="16" name="Image 3" descr="/home/claude/slides/equations/eq_suppressi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818888" y="2148840"/>
            <a:ext cx="3749040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82312" y="2491740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depletion: combustion B·F_burn and DSS-driven suppression F_red (through f_supp).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11480" y="3076956"/>
            <a:ext cx="4078224" cy="15407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11480" y="3076956"/>
            <a:ext cx="4078224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39496" y="3168396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INTENSITY</a:t>
            </a:r>
            <a:pPr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bounded combustion proxy</a:t>
            </a:r>
            <a:endParaRPr lang="en-US" sz="1050" dirty="0"/>
          </a:p>
        </p:txBody>
      </p:sp>
      <p:pic>
        <p:nvPicPr>
          <p:cNvPr id="21" name="Image 4" descr="/home/claude/slides/equations/eq_intensity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76072" y="3442716"/>
            <a:ext cx="374904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" y="4197096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strength indicator; modulates suppression resistance and DSS features — does NOT drive propagation directly.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654296" y="3076956"/>
            <a:ext cx="4078224" cy="15407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654296" y="3076956"/>
            <a:ext cx="4078224" cy="4572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782312" y="3168396"/>
            <a:ext cx="3849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 TIME</a:t>
            </a:r>
            <a:pPr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temporal memory τₖ</a:t>
            </a:r>
            <a:endParaRPr lang="en-US" sz="1050" dirty="0"/>
          </a:p>
        </p:txBody>
      </p:sp>
      <p:pic>
        <p:nvPicPr>
          <p:cNvPr id="26" name="Image 5" descr="/home/claude/slides/equations/eq_ignition_time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18888" y="3442716"/>
            <a:ext cx="374904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782312" y="4197096"/>
            <a:ext cx="3849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time since combustion began; feeds feature z₆ (urgency) and explainability, not fire physics.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is deterministic; </a:t>
            </a:r>
            <a:pPr algn="l" indent="0" marL="0">
              <a:buNone/>
            </a:pPr>
            <a:r>
              <a:rPr lang="en-US" sz="9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stochasticity enters only through exogenous inputs </a:t>
            </a:r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wind gusts).  All DSS-driven influence is mediated by </a:t>
            </a:r>
            <a:pPr algn="l" indent="0" marL="0">
              <a:buNone/>
            </a:pPr>
            <a:r>
              <a:rPr lang="en-US" sz="9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F_red</a:t>
            </a:r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(suppression) — the DSS never writes state variables directly.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FRAMEWORK  ·  05c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Layers  &amp;  Spatio-Temporal State Representation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STRUCTURE  (Eq. 31 · Eq. for F_DSS)</a:t>
            </a:r>
            <a:endParaRPr lang="en-US" sz="900" dirty="0"/>
          </a:p>
        </p:txBody>
      </p:sp>
      <p:pic>
        <p:nvPicPr>
          <p:cNvPr id="6" name="Image 0" descr="/home/claude/slides/equations/eq_external_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43000"/>
            <a:ext cx="4754880" cy="329184"/>
          </a:xfrm>
          <a:prstGeom prst="rect">
            <a:avLst/>
          </a:prstGeom>
        </p:spPr>
      </p:pic>
      <p:pic>
        <p:nvPicPr>
          <p:cNvPr id="7" name="Image 1" descr="/home/claude/slides/equations/eq_dss_contex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490472"/>
            <a:ext cx="292608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1920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FORCING LAYERS  +  TWO DECISION CONTEXTS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11480" y="217627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2176272"/>
            <a:ext cx="41148" cy="7498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U_Meteo,k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Meteorology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2920" y="2596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speed, direction, gust · humidity · temperature · precipitation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1719072" y="217627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719072" y="2176272"/>
            <a:ext cx="41148" cy="7498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10512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U_Geo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10512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Topography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810512" y="2596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· slope · aspect · accessibility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3026664" y="217627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26664" y="2176272"/>
            <a:ext cx="41148" cy="7498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18104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U_Fuel,k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118104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118104" y="2596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class · combustible mass · moisture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4334256" y="217627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334256" y="2176272"/>
            <a:ext cx="41148" cy="7498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25696" y="2231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U_Ign,k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4425696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Ignition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425696" y="2596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spatio-temporal injection field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411480" y="299923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11480" y="2999232"/>
            <a:ext cx="41148" cy="749808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U_DSS,k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02920" y="3236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actions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02920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capacity · availability · effectiveness · travel time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1719072" y="299923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719072" y="2999232"/>
            <a:ext cx="4114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1810512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U_Val,k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1810512" y="3236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values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1810512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V_prio · critical facility index V_crit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3026664" y="2999232"/>
            <a:ext cx="1234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3026664" y="2999232"/>
            <a:ext cx="41148" cy="7498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118104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U_Res,k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3118104" y="3236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3118104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resource state used for decision evaluation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5623560" y="9144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 sₖ(x,y)</a:t>
            </a:r>
            <a:endParaRPr lang="en-US" sz="900" dirty="0"/>
          </a:p>
        </p:txBody>
      </p:sp>
      <p:pic>
        <p:nvPicPr>
          <p:cNvPr id="45" name="Image 2" descr="/home/claude/slides/equations/eq_state_vect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23560" y="1143000"/>
            <a:ext cx="3108960" cy="310896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5623560" y="155448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51576" y="15910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Bₖ</a:t>
            </a:r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burning status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7680960" y="15910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{0,1}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5623560" y="201168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751576" y="20482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F_load,k</a:t>
            </a:r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available fuel mass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7680960" y="20482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[0,1]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5623560" y="246888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751576" y="25054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Iₖ</a:t>
            </a:r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intensity proxy</a:t>
            </a:r>
            <a:endParaRPr lang="en-US" sz="1200" dirty="0"/>
          </a:p>
        </p:txBody>
      </p:sp>
      <p:sp>
        <p:nvSpPr>
          <p:cNvPr id="54" name="Text 49"/>
          <p:cNvSpPr/>
          <p:nvPr/>
        </p:nvSpPr>
        <p:spPr>
          <a:xfrm>
            <a:off x="7680960" y="25054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∈ [0,1]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5623560" y="2926080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5751576" y="296265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τₖ</a:t>
            </a:r>
            <a:pPr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time since ignition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7680960" y="29626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discrete-time memory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623560" y="33832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 Ω ⊂ ℝ²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6720840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6720840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6720840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6720840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720840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6830568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6830568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830568" y="3822192"/>
            <a:ext cx="98755" cy="98755"/>
          </a:xfrm>
          <a:prstGeom prst="rect">
            <a:avLst/>
          </a:prstGeom>
          <a:solidFill>
            <a:srgbClr val="E85A2B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830568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>
            <a:off x="6830568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940296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940296" y="3712464"/>
            <a:ext cx="98755" cy="98755"/>
          </a:xfrm>
          <a:prstGeom prst="rect">
            <a:avLst/>
          </a:prstGeom>
          <a:solidFill>
            <a:srgbClr val="E85A2B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6940296" y="3822192"/>
            <a:ext cx="98755" cy="98755"/>
          </a:xfrm>
          <a:prstGeom prst="rect">
            <a:avLst/>
          </a:prstGeom>
          <a:solidFill>
            <a:srgbClr val="E85A2B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940296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6940296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4" name="Shape 69"/>
          <p:cNvSpPr/>
          <p:nvPr/>
        </p:nvSpPr>
        <p:spPr>
          <a:xfrm>
            <a:off x="7050024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7050024" y="3712464"/>
            <a:ext cx="98755" cy="98755"/>
          </a:xfrm>
          <a:prstGeom prst="rect">
            <a:avLst/>
          </a:prstGeom>
          <a:solidFill>
            <a:srgbClr val="E85A2B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7050024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7" name="Shape 72"/>
          <p:cNvSpPr/>
          <p:nvPr/>
        </p:nvSpPr>
        <p:spPr>
          <a:xfrm>
            <a:off x="7050024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7050024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7159752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159752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7159752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7159752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3" name="Shape 78"/>
          <p:cNvSpPr/>
          <p:nvPr/>
        </p:nvSpPr>
        <p:spPr>
          <a:xfrm>
            <a:off x="7159752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7269480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7269480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6" name="Shape 81"/>
          <p:cNvSpPr/>
          <p:nvPr/>
        </p:nvSpPr>
        <p:spPr>
          <a:xfrm>
            <a:off x="7269480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7269480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7269480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89" name="Shape 84"/>
          <p:cNvSpPr/>
          <p:nvPr/>
        </p:nvSpPr>
        <p:spPr>
          <a:xfrm>
            <a:off x="7379208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0" name="Shape 85"/>
          <p:cNvSpPr/>
          <p:nvPr/>
        </p:nvSpPr>
        <p:spPr>
          <a:xfrm>
            <a:off x="7379208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1" name="Shape 86"/>
          <p:cNvSpPr/>
          <p:nvPr/>
        </p:nvSpPr>
        <p:spPr>
          <a:xfrm>
            <a:off x="7379208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2" name="Shape 87"/>
          <p:cNvSpPr/>
          <p:nvPr/>
        </p:nvSpPr>
        <p:spPr>
          <a:xfrm>
            <a:off x="7379208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3" name="Shape 88"/>
          <p:cNvSpPr/>
          <p:nvPr/>
        </p:nvSpPr>
        <p:spPr>
          <a:xfrm>
            <a:off x="7379208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4" name="Shape 89"/>
          <p:cNvSpPr/>
          <p:nvPr/>
        </p:nvSpPr>
        <p:spPr>
          <a:xfrm>
            <a:off x="7488936" y="3602736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5" name="Shape 90"/>
          <p:cNvSpPr/>
          <p:nvPr/>
        </p:nvSpPr>
        <p:spPr>
          <a:xfrm>
            <a:off x="7488936" y="3712464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6" name="Shape 91"/>
          <p:cNvSpPr/>
          <p:nvPr/>
        </p:nvSpPr>
        <p:spPr>
          <a:xfrm>
            <a:off x="7488936" y="3822192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7" name="Shape 92"/>
          <p:cNvSpPr/>
          <p:nvPr/>
        </p:nvSpPr>
        <p:spPr>
          <a:xfrm>
            <a:off x="7488936" y="3931920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  <p:sp>
        <p:nvSpPr>
          <p:cNvPr id="98" name="Shape 93"/>
          <p:cNvSpPr/>
          <p:nvPr/>
        </p:nvSpPr>
        <p:spPr>
          <a:xfrm>
            <a:off x="7488936" y="4041648"/>
            <a:ext cx="98755" cy="98755"/>
          </a:xfrm>
          <a:prstGeom prst="rect">
            <a:avLst/>
          </a:prstGeom>
          <a:solidFill>
            <a:srgbClr val="FFFFFF"/>
          </a:solidFill>
          <a:ln w="5080">
            <a:solidFill>
              <a:srgbClr val="5A6B82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BACKGROUND  · 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Fuzzy Reasoning for Wildfire DSS?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INFERENCE SYSTEM (FIS)</a:t>
            </a:r>
            <a:endParaRPr lang="en-US" sz="900" dirty="0"/>
          </a:p>
        </p:txBody>
      </p:sp>
      <p:pic>
        <p:nvPicPr>
          <p:cNvPr id="6" name="Image 0" descr="/home/claude/slides/thesis_img/fis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3749040" cy="1490672"/>
          </a:xfrm>
          <a:prstGeom prst="rect">
            <a:avLst/>
          </a:prstGeom>
        </p:spPr>
      </p:pic>
      <p:pic>
        <p:nvPicPr>
          <p:cNvPr id="7" name="Image 1" descr="/home/claude/slides/thesis_img/crisp_vs_fuzz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25112"/>
            <a:ext cx="3749040" cy="14147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41764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 thresholds are brittle near boundaries — fuzzy membership is smooth and robust to observation noise.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389120" y="86868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ASSESSMENT  (Table 5.2)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389120" y="1097280"/>
            <a:ext cx="4343400" cy="283464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80560" y="111556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583680" y="111556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86600" y="111556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D–S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653528" y="111556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183880" y="111556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389120" y="1380744"/>
            <a:ext cx="43434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80560" y="139903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distribution required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6583680" y="139903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086600" y="1399032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53528" y="139903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183880" y="139903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480560" y="168249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epistemic uncertainty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6583680" y="168249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086600" y="168249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653528" y="168249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8183880" y="168249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4389120" y="1947672"/>
            <a:ext cx="43434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80560" y="19659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Rule-level traceability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6583680" y="196596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7086600" y="1965960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653528" y="1965960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8183880" y="196596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4480560" y="224942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 interpretability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6583680" y="224942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086600" y="2249424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7653528" y="2249424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8183880" y="2249424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4389120" y="2514600"/>
            <a:ext cx="43434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480560" y="2532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feasibility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6583680" y="253288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7086600" y="2532888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7653528" y="2532888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8183880" y="253288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4480560" y="28163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data required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6583680" y="281635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7086600" y="2816352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200" dirty="0"/>
          </a:p>
        </p:txBody>
      </p:sp>
      <p:sp>
        <p:nvSpPr>
          <p:cNvPr id="47" name="Text 43"/>
          <p:cNvSpPr/>
          <p:nvPr/>
        </p:nvSpPr>
        <p:spPr>
          <a:xfrm>
            <a:off x="7653528" y="2816352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48" name="Text 44"/>
          <p:cNvSpPr/>
          <p:nvPr/>
        </p:nvSpPr>
        <p:spPr>
          <a:xfrm>
            <a:off x="8183880" y="2816352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49" name="Shape 45"/>
          <p:cNvSpPr/>
          <p:nvPr/>
        </p:nvSpPr>
        <p:spPr>
          <a:xfrm>
            <a:off x="4389120" y="3081528"/>
            <a:ext cx="434340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480560" y="309981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override at rule level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6583680" y="30998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7086600" y="3099816"/>
            <a:ext cx="5669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3" name="Text 49"/>
          <p:cNvSpPr/>
          <p:nvPr/>
        </p:nvSpPr>
        <p:spPr>
          <a:xfrm>
            <a:off x="7653528" y="3099816"/>
            <a:ext cx="5303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200" dirty="0"/>
          </a:p>
        </p:txBody>
      </p:sp>
      <p:sp>
        <p:nvSpPr>
          <p:cNvPr id="54" name="Text 50"/>
          <p:cNvSpPr/>
          <p:nvPr/>
        </p:nvSpPr>
        <p:spPr>
          <a:xfrm>
            <a:off x="8183880" y="30998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55" name="Text 51"/>
          <p:cNvSpPr/>
          <p:nvPr/>
        </p:nvSpPr>
        <p:spPr>
          <a:xfrm>
            <a:off x="4389120" y="341985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supports   </a:t>
            </a:r>
            <a:pPr algn="l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partial   </a:t>
            </a:r>
            <a:pPr algn="l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pPr algn="l" indent="0" marL="0">
              <a:buNone/>
            </a:pPr>
            <a:r>
              <a:rPr lang="en-US" sz="9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supported</a:t>
            </a:r>
            <a:endParaRPr lang="en-US" sz="1000" dirty="0"/>
          </a:p>
        </p:txBody>
      </p:sp>
      <p:sp>
        <p:nvSpPr>
          <p:cNvPr id="56" name="Shape 52"/>
          <p:cNvSpPr/>
          <p:nvPr/>
        </p:nvSpPr>
        <p:spPr>
          <a:xfrm>
            <a:off x="411480" y="4572000"/>
            <a:ext cx="8321040" cy="457200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411480" y="4572000"/>
            <a:ext cx="73152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94360" y="46451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logic is the only paradigm satisfying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DisasterAware requirements — directly closing G3, G4 and enabling rule-level operator override.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  ·  07a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Operational Questions to a 6-Feature Input Space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OPERATIONAL QUESTIONS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86868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161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How severe is the fire threat?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Combustion intensity + spread potential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7739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</a:t>
            </a:r>
            <a:pPr algn="l" indent="0" marL="0">
              <a:buNone/>
            </a:pPr>
            <a:r>
              <a:rPr lang="en-US" sz="9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I_k, Ψ_k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084832"/>
            <a:ext cx="64008" cy="86868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5798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Can we effectively intervene?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45059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time, access, availability, fuel resistance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71576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</a:t>
            </a:r>
            <a:pPr algn="l" indent="0" marL="0">
              <a:buNone/>
            </a:pPr>
            <a:r>
              <a:rPr lang="en-US" sz="9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R_time, R_avail, G_access, F_load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026664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26664"/>
            <a:ext cx="64008" cy="86868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9981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is the asset exposure?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924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Priority-weighted proximity to active fire front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</a:t>
            </a:r>
            <a:pPr algn="l" indent="0" marL="0">
              <a:buNone/>
            </a:pPr>
            <a:r>
              <a:rPr lang="en-US" sz="9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V_prio, Ψ_k, B_k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968496"/>
            <a:ext cx="3931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968496"/>
            <a:ext cx="64008" cy="868680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pPr indent="0" marL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How urgent is the action?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33425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fire progression + composite threat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459943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</a:t>
            </a:r>
            <a:pPr algn="l" indent="0" marL="0">
              <a:buNone/>
            </a:pPr>
            <a:r>
              <a:rPr lang="en-US" sz="9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τ_k, c1·c2·c3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9144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DERIVED FEATURES  z₁…z₆ ∈ [0,1]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14300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16128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z₁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116128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intensity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116128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I_k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116128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655064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673352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167335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load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37960" y="167335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F_load,k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46720" y="1673352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Q1·Q2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67128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185416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z₃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12080" y="218541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potential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37960" y="218541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min(1, Ψ_k / Ψ_ref)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46720" y="2185416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Q1·Q3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79192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2697480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z₄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12080" y="269748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exposure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37960" y="26974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V_prio · B_k^δ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269748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191256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209544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z₅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12080" y="320954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accessibility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537960" y="32095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R_avail · exp(-β_t·R_time) · G_access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0" y="3209544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703320"/>
            <a:ext cx="4069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721608"/>
            <a:ext cx="411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z₆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12080" y="37216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urgency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537960" y="372160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1 − exp(−λ·τ_k/τ_ref)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046720" y="3721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bounded in [0,1] via physically meaningful normalizations — a uniform fuzzy variable design applies to every feature (Section 5.2.1).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  ·  07b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Fuzzification  &amp;  Four Situational Concepts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FUNCTION TEMPLATE  (uniform design, Nμ = 3)</a:t>
            </a:r>
            <a:endParaRPr lang="en-US" sz="900" dirty="0"/>
          </a:p>
        </p:txBody>
      </p:sp>
      <p:pic>
        <p:nvPicPr>
          <p:cNvPr id="6" name="Image 0" descr="/home/claude/slides/thesis_img/membership_function_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52144"/>
            <a:ext cx="3931920" cy="1929303"/>
          </a:xfrm>
          <a:prstGeom prst="rect">
            <a:avLst/>
          </a:prstGeom>
        </p:spPr>
      </p:pic>
      <p:pic>
        <p:nvPicPr>
          <p:cNvPr id="7" name="Image 1" descr="/home/claude/slides/equations/eq_partition_un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3191175"/>
            <a:ext cx="3566160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" y="3630087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of unity: </a:t>
            </a:r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value is resolved into Low/Medium/High with membership summing to 1 — ensures deterministic aggregation at the concept layer.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91440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CONSTRUCTION  (Section 5.2.3)</a:t>
            </a:r>
            <a:endParaRPr lang="en-US" sz="900" dirty="0"/>
          </a:p>
        </p:txBody>
      </p:sp>
      <p:pic>
        <p:nvPicPr>
          <p:cNvPr id="10" name="Image 2" descr="/home/claude/slides/thesis_img/concept_construction_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52144"/>
            <a:ext cx="4069080" cy="26050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63440" y="37754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5.x  ·  Features → situational concepts (first-order c₁·c₂·c₃; second-order c₄)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c₄ is a second-order concept </a:t>
            </a:r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re-fuzzifies c₁,c₂,c₃ together with temporal urgency z₆, closing the threat → feasibility → exposure → urgency reasoning chain.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65760"/>
            <a:ext cx="320040" cy="36576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SPECIFICATION  ·  07c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Base Complexity  —  A Proven 9× Reduction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direct-FIS design would require </a:t>
            </a:r>
            <a:pPr algn="l" indent="0" marL="0">
              <a:buNone/>
            </a:pPr>
            <a:r>
              <a:rPr lang="en-US" sz="1100" b="1" i="1" dirty="0">
                <a:solidFill>
                  <a:srgbClr val="1A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Nμ^Nfeat</a:t>
            </a:r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rules per intervention. Concept abstraction reduces the inference space from 6 features to 4 concepts (Proposition 5.3).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23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17320"/>
            <a:ext cx="4023360" cy="54864"/>
          </a:xfrm>
          <a:prstGeom prst="rect">
            <a:avLst/>
          </a:prstGeom>
          <a:solidFill>
            <a:srgbClr val="5A6B82"/>
          </a:solidFill>
          <a:ln w="12700">
            <a:solidFill>
              <a:srgbClr val="5A6B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 FIS  (BASELINE)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C2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729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94360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 intervention   ·   3⁶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rule base:  2,187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417320"/>
            <a:ext cx="4023360" cy="1691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85A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417320"/>
            <a:ext cx="4023360" cy="54864"/>
          </a:xfrm>
          <a:prstGeom prst="rect">
            <a:avLst/>
          </a:prstGeom>
          <a:solidFill>
            <a:srgbClr val="E85A2B"/>
          </a:solidFill>
          <a:ln w="12700">
            <a:solidFill>
              <a:srgbClr val="E85A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CONCEPT-MEDIATED  (DISASTERAWARE)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4892040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per intervention   ·   3⁴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rule base:  351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0" y="19476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206240" y="24048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DERIVATION</a:t>
            </a:r>
            <a:endParaRPr lang="en-US" sz="900" dirty="0"/>
          </a:p>
        </p:txBody>
      </p:sp>
      <p:pic>
        <p:nvPicPr>
          <p:cNvPr id="21" name="Image 0" descr="/home/claude/slides/equations/eq_rules_dir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3593592"/>
            <a:ext cx="7680960" cy="292608"/>
          </a:xfrm>
          <a:prstGeom prst="rect">
            <a:avLst/>
          </a:prstGeom>
        </p:spPr>
      </p:pic>
      <p:pic>
        <p:nvPicPr>
          <p:cNvPr id="22" name="Image 1" descr="/home/claude/slides/equations/eq_rules_concep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3931920"/>
            <a:ext cx="7680960" cy="29260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11480" y="4389120"/>
            <a:ext cx="8321040" cy="502920"/>
          </a:xfrm>
          <a:prstGeom prst="rect">
            <a:avLst/>
          </a:prstGeom>
          <a:solidFill>
            <a:srgbClr val="0F1A2B"/>
          </a:solidFill>
          <a:ln w="12700">
            <a:solidFill>
              <a:srgbClr val="0F1A2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11480" y="4389120"/>
            <a:ext cx="73152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94360" y="44622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abstraction makes the rule base manageable, validatable, and distributed — without sacrificing expressiveness. Each of 81 rules is hand-inspectable by domain experts.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DisasterAware — PhD Defense</dc:title>
  <dc:subject>PptxGenJS Presentation</dc:subject>
  <dc:creator>Çağlar Akman</dc:creator>
  <cp:lastModifiedBy>Çağlar Akman</cp:lastModifiedBy>
  <cp:revision>1</cp:revision>
  <dcterms:created xsi:type="dcterms:W3CDTF">2026-04-17T12:37:17Z</dcterms:created>
  <dcterms:modified xsi:type="dcterms:W3CDTF">2026-04-17T12:37:17Z</dcterms:modified>
</cp:coreProperties>
</file>