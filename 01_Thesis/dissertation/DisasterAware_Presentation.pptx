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D4621A">
              <a:alpha val="60000"/>
            </a:srgbClr>
          </a:solidFill>
          <a:ln w="12700">
            <a:solidFill>
              <a:srgbClr val="D4621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E87722">
              <a:alpha val="12000"/>
            </a:srgbClr>
          </a:solidFill>
          <a:ln w="12700">
            <a:solidFill>
              <a:srgbClr val="E8772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822960"/>
            <a:ext cx="2834640" cy="2834640"/>
          </a:xfrm>
          <a:prstGeom prst="ellipse">
            <a:avLst/>
          </a:prstGeom>
          <a:solidFill>
            <a:srgbClr val="E87722">
              <a:alpha val="22000"/>
            </a:srgbClr>
          </a:solidFill>
          <a:ln w="12700">
            <a:solidFill>
              <a:srgbClr val="E87722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0A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 Support System for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0A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Disaster Response and Management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8321040" cy="274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Akman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Candidate · Electrical &amp; Electronic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Kemal Leblebicioğlu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8321040" cy="640080"/>
          </a:xfrm>
          <a:prstGeom prst="rect">
            <a:avLst/>
          </a:prstGeom>
          <a:solidFill>
            <a:srgbClr val="1A3558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 ·  Decision Support Systems  ·  Wildfire Management  ·  Multi-Agent Architecture  ·  Epistemic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wildfire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two decades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914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destructive natural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type globally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914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burned annually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Mediterranean region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32004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38658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Wildfire Environments — Fire behavior evolves dynamically through meteorological drivers, terrain, fuel characteristics, and human interventions — forming a highly nonlinear spatio-temporal system.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32004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72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035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Conventional Approaches — Reactive, centralized DSS frameworks assume complete state information — an assumption that almost never holds in dynamic wildfire operations.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721608"/>
            <a:ext cx="32004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685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Decision Burden — Disaster events have increased significantly over the last century. Decision-makers must coordinate scarce resources under uncertainty, time pressure, and partial observability.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32004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3342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vs. Performance Tension — Modern AI models offer accuracy but lack transparency. High-risk domains require explainable, human-centered decision support — not black-box optimization.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Existing Wildfire DSS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1430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1161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Decision Spaces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alternatives limit adaptability under unforeseen conditions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82296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82296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11430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35224" y="1161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Architectures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Single-engine DSS reduces local responsiveness and scalability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82296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82296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1430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9784" y="1161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representation of incomplete or conflicting observations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82296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82296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1430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24344" y="1161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0372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AI/ML models reduce operator trust and accountability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292608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" y="324612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" y="3264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Simulation–Decision Coupling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reduces traceability and independent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2316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23160" y="292608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96312" y="324612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9631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35224" y="3264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1460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 and travel time poorly integrated in decision logic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688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292608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90872" y="324612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9784" y="3264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Reasoning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70916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risk and temporal evolution treated as separate processes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1228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12280" y="2926080"/>
            <a:ext cx="201168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85432" y="324612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8543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24344" y="3264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Coordination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03720" y="3703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global decision levels rarely integrated systematically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85800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1143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distributed, explainable decision-support architecture generate adaptive intervention recommendations under partial observability in dynamic wildfire environments?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Hypothesis (H)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468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DisasterAware's concept-driven fuzzy reasoning architecture, implemented as a spatially distributed multi-agent system, outperforms centralized baselines along three measurable dimensions: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90672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Adaptability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419856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regional decision-making yields faster and more spatially consistent responses than a centralized unit.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090672"/>
            <a:ext cx="274320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Interpretability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419856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four-dimensional concept vector and traceable fuzzy rules provide decision-level transparency not achievable in black-box alternatives.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090672"/>
            <a:ext cx="2743200" cy="2926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Operational Feasibility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419856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fuzzy evaluation integrates resource availability and travel-time constraints within a wider range of scenarios.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→ G1, G2, G7, G8  ·  H2 → G3, G4, G5  ·  H3 → G3, G6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235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System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Sₖ(x,y)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83080" y="1618488"/>
            <a:ext cx="64008" cy="137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737360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F3C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847088"/>
            <a:ext cx="3474720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01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 Oₖ(x,y)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83080" y="2596896"/>
            <a:ext cx="64008" cy="137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715768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F3C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825496"/>
            <a:ext cx="3474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Decision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 π_DSS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783080" y="3575304"/>
            <a:ext cx="64008" cy="137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69417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F3C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803904"/>
            <a:ext cx="3474720" cy="749808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858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U_DSS,ₖ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877824"/>
            <a:ext cx="1463040" cy="1463040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0058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ε_k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841248"/>
            <a:ext cx="27432" cy="4023360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841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Problem Statement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60520" y="1225296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12435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51960" y="1472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Sₖ₊₁(x,y) = Φ( Sₖ(x,y), ℱ_in,k 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1883664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901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Model: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51960" y="2130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Oₖ(x,y) = h( Sₖ(x,y), εₖ 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2542032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Mapping: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51960" y="2788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U_DSS,k(x,y) = π_DSS( Oₖ(x,y), ℱ_DSS,k 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60520" y="3200400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3218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Constraint: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51960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U_DSS,k(x,y) ∈ 𝒰_DSS( Oₖ(x,y), ℱ_DSS,k 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3858768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3877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Objective: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51960" y="4105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J_DSS,k ≥ ηₖ  (satisfaction threshold)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60520" y="4572000"/>
            <a:ext cx="4663440" cy="27432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does NOT directly modify state — interventions enter via external input layer ℱ_in,k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DisasterAware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846320" cy="603504"/>
          </a:xfrm>
          <a:prstGeom prst="rect">
            <a:avLst/>
          </a:prstGeom>
          <a:solidFill>
            <a:srgbClr val="8C9BAA"/>
          </a:solidFill>
          <a:ln w="12700">
            <a:solidFill>
              <a:srgbClr val="8C9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3210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 · Terrain · Fuel · Ignition · DSS Inputs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40817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490472"/>
            <a:ext cx="4846320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51790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1764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State Manager · Hybrid Spread Model · State Transition Φ(·)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209397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176272"/>
            <a:ext cx="484632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20370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" y="2450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Layer → Concept Mapping → Local DSS → Global Coordination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68880" y="277977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62072"/>
            <a:ext cx="4846320" cy="603504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88950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AI Governance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3136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· Auditability · Operator Override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346557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547872"/>
            <a:ext cx="4846320" cy="603504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57530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" y="3822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Scenario Control · Human-in-the-Loop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804672"/>
            <a:ext cx="27432" cy="3383280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804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Processing Pipeline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1170432"/>
            <a:ext cx="2926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1704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79008" y="1170432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1887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0" y="142646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Oₖⁱ(x,y) = hⁱ( Sₖ(x,y), εₖⁱ 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1847088"/>
            <a:ext cx="292608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184708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79008" y="1847088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8653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(6D)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21031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fₖ = [Iₖ, Ψₖ, Fload,k, Raval,k, Rtime,k, Vprio]ᵀ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0" y="2523744"/>
            <a:ext cx="2926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523744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79008" y="2523744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542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Abstraction (4D)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52160" y="277977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[c₁, c₂, c₃, c₄]  ∈ [0,1]⁴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3200400"/>
            <a:ext cx="292608" cy="54864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3200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779008" y="3200400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218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Decision Rules → 3 Actions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52160" y="345643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u⁽ⁱ'ᵐ⁾ ∈ [0,1],  m ∈ {Suppress, Contain, Monitor}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0" y="3877056"/>
            <a:ext cx="292608" cy="54864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3877056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779008" y="3877056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38953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Aggregation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52160" y="41330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U_DSS,k(x,y) = 𝒜_DSS( {Uⁱ_DSS,k} 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0" y="4626864"/>
            <a:ext cx="3447288" cy="2468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4636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A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 c₁ Fire Threat · c₂ Suppression Feasibility · c₃ Asset Exposure · c₄ Intervention Urgency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DisasterAware Solve the Problem?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8240" y="91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BAA"/>
                </a:solidFill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Architectural Contribution Mapping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61288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612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6128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612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116128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16128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Decision Space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16128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16128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 space via concept-driven fuzzy reasoning — no predefined alternatives required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87068"/>
            <a:ext cx="502920" cy="438912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6870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68706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870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168706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168706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Architecture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68706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68706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distributed DSS: N local fuzzy agents + global coordination layer 𝒜_DSS(·)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212848"/>
            <a:ext cx="502920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2128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221284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2128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221284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221284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21284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21284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membership functions replace crisp thresholds — graded belief under incomplete observation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738628"/>
            <a:ext cx="5029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73862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73862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73862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80160" y="273862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273862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37560" y="273862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73862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fuzzy rules per concept + AI governance overlay for auditability and override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264408"/>
            <a:ext cx="502920" cy="438912"/>
          </a:xfrm>
          <a:prstGeom prst="rect">
            <a:avLst/>
          </a:prstGeom>
          <a:solidFill>
            <a:srgbClr val="8C9BAA"/>
          </a:solidFill>
          <a:ln w="12700">
            <a:solidFill>
              <a:srgbClr val="8C9B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2644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326440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B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2644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80160" y="326440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25880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Simulation–Decision Coupling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37560" y="326440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326440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separation: Simulation Core ↔ DSS Core — DSS observes, never overwrites state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3790188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7901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79018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37901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80160" y="379018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25880" y="379018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37560" y="379018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79018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fuzzy evaluation integrates Rtime, Ravail, Reff, Gaccess directly into rules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315968"/>
            <a:ext cx="502920" cy="438912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43159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G7+G8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315968"/>
            <a:ext cx="548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43159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C7+C8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280160" y="4315968"/>
            <a:ext cx="2057400" cy="438912"/>
          </a:xfrm>
          <a:prstGeom prst="rect">
            <a:avLst/>
          </a:prstGeom>
          <a:solidFill>
            <a:srgbClr val="D9E1EB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25880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/ Hierarchy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37560" y="431596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4315968"/>
            <a:ext cx="548640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fuzzy reasoning + multi-level architecture combining local &amp; global decisions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METU — DisasterAware PhD Thesis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E87722">
              <a:alpha val="10000"/>
            </a:srgbClr>
          </a:solidFill>
          <a:ln w="12700">
            <a:solidFill>
              <a:srgbClr val="E8772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0A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8046720" cy="274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 — Enhanced Decision Support System for Wildfire Disaster Response and Management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Akman  ·  PhD Candidate  ·  Electrical &amp; Electronic Engineering  ·  METU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Kemal Leblebicioğlu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DisasterAware - PhD Thesis Presentation</dc:title>
  <dc:subject>PptxGenJS Presentation</dc:subject>
  <dc:creator>PptxGenJS</dc:creator>
  <cp:lastModifiedBy>PptxGenJS</cp:lastModifiedBy>
  <cp:revision>1</cp:revision>
  <dcterms:created xsi:type="dcterms:W3CDTF">2026-04-05T22:43:14Z</dcterms:created>
  <dcterms:modified xsi:type="dcterms:W3CDTF">2026-04-05T22:43:14Z</dcterms:modified>
</cp:coreProperties>
</file>