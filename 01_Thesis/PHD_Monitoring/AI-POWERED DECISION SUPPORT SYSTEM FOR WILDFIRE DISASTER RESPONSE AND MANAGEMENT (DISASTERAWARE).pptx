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4"/>
  </p:notesMasterIdLst>
  <p:sldIdLst>
    <p:sldId id="257" r:id="rId2"/>
    <p:sldId id="258" r:id="rId3"/>
    <p:sldId id="259" r:id="rId4"/>
    <p:sldId id="304" r:id="rId5"/>
    <p:sldId id="305" r:id="rId6"/>
    <p:sldId id="306" r:id="rId7"/>
    <p:sldId id="307" r:id="rId8"/>
    <p:sldId id="308" r:id="rId9"/>
    <p:sldId id="309" r:id="rId10"/>
    <p:sldId id="310" r:id="rId11"/>
    <p:sldId id="311" r:id="rId12"/>
    <p:sldId id="312" r:id="rId13"/>
    <p:sldId id="314" r:id="rId14"/>
    <p:sldId id="315" r:id="rId15"/>
    <p:sldId id="316" r:id="rId16"/>
    <p:sldId id="317" r:id="rId17"/>
    <p:sldId id="319" r:id="rId18"/>
    <p:sldId id="320" r:id="rId19"/>
    <p:sldId id="321" r:id="rId20"/>
    <p:sldId id="272" r:id="rId21"/>
    <p:sldId id="275" r:id="rId22"/>
    <p:sldId id="27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192DE17-1C83-45D5-91F6-3A9BF1D051A7}">
          <p14:sldIdLst>
            <p14:sldId id="257"/>
            <p14:sldId id="258"/>
          </p14:sldIdLst>
        </p14:section>
        <p14:section name="Motivation &amp; Problem Definition and Challenges" id="{D79CC88D-B07D-48E7-8513-673F77983E72}">
          <p14:sldIdLst>
            <p14:sldId id="259"/>
          </p14:sldIdLst>
        </p14:section>
        <p14:section name="Thesis Project Plan" id="{CA321DFA-9496-48B4-9E2E-E36493F1E41A}">
          <p14:sldIdLst>
            <p14:sldId id="304"/>
          </p14:sldIdLst>
        </p14:section>
        <p14:section name="Methods" id="{20666F0C-49E6-44BF-B1E3-BDDAF65748CF}">
          <p14:sldIdLst>
            <p14:sldId id="305"/>
            <p14:sldId id="306"/>
            <p14:sldId id="307"/>
            <p14:sldId id="308"/>
            <p14:sldId id="309"/>
            <p14:sldId id="310"/>
            <p14:sldId id="311"/>
            <p14:sldId id="312"/>
            <p14:sldId id="314"/>
            <p14:sldId id="315"/>
            <p14:sldId id="316"/>
            <p14:sldId id="317"/>
            <p14:sldId id="319"/>
            <p14:sldId id="320"/>
            <p14:sldId id="321"/>
          </p14:sldIdLst>
        </p14:section>
        <p14:section name="Work Plan" id="{84EE6D51-0E6A-4457-9919-29E3CAB1F623}">
          <p14:sldIdLst>
            <p14:sldId id="272"/>
          </p14:sldIdLst>
        </p14:section>
        <p14:section name="References" id="{3CDB1909-A41F-4081-9D98-2ED061E228BA}">
          <p14:sldIdLst>
            <p14:sldId id="275"/>
          </p14:sldIdLst>
        </p14:section>
        <p14:section name="Thanks" id="{03AE8EF3-468E-4787-96A3-BCCD45918759}">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105" autoAdjust="0"/>
    <p:restoredTop sz="96340" autoAdjust="0"/>
  </p:normalViewPr>
  <p:slideViewPr>
    <p:cSldViewPr snapToGrid="0">
      <p:cViewPr>
        <p:scale>
          <a:sx n="50" d="100"/>
          <a:sy n="50" d="100"/>
        </p:scale>
        <p:origin x="168" y="14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60FA1F-D694-41E2-B357-03DF440CAC7D}" type="doc">
      <dgm:prSet loTypeId="urn:microsoft.com/office/officeart/2005/8/layout/vList2" loCatId="list" qsTypeId="urn:microsoft.com/office/officeart/2005/8/quickstyle/simple5" qsCatId="simple" csTypeId="urn:microsoft.com/office/officeart/2005/8/colors/accent0_1" csCatId="mainScheme" phldr="1"/>
      <dgm:spPr/>
      <dgm:t>
        <a:bodyPr/>
        <a:lstStyle/>
        <a:p>
          <a:endParaRPr lang="en-US"/>
        </a:p>
      </dgm:t>
    </dgm:pt>
    <dgm:pt modelId="{2D42FB50-B85A-40D2-B1D4-B26284BECFC9}">
      <dgm:prSet phldrT="[Text]"/>
      <dgm:spPr/>
      <dgm:t>
        <a:bodyPr/>
        <a:lstStyle/>
        <a:p>
          <a:r>
            <a:rPr lang="en-US" dirty="0"/>
            <a:t>Problem Definition &amp; Challenges</a:t>
          </a:r>
        </a:p>
      </dgm:t>
    </dgm:pt>
    <dgm:pt modelId="{61B4537E-AD15-4546-B241-2EB5E6609E8B}" type="parTrans" cxnId="{DA4BB88E-53FD-4071-91B0-72710EE2A001}">
      <dgm:prSet/>
      <dgm:spPr/>
      <dgm:t>
        <a:bodyPr/>
        <a:lstStyle/>
        <a:p>
          <a:endParaRPr lang="en-US"/>
        </a:p>
      </dgm:t>
    </dgm:pt>
    <dgm:pt modelId="{2C332BA5-AC3C-4335-BD03-AF5304A45702}" type="sibTrans" cxnId="{DA4BB88E-53FD-4071-91B0-72710EE2A001}">
      <dgm:prSet/>
      <dgm:spPr/>
      <dgm:t>
        <a:bodyPr/>
        <a:lstStyle/>
        <a:p>
          <a:endParaRPr lang="en-US"/>
        </a:p>
      </dgm:t>
    </dgm:pt>
    <dgm:pt modelId="{691BBA77-3826-4D61-8CB0-154A200DB070}">
      <dgm:prSet phldrT="[Text]"/>
      <dgm:spPr/>
      <dgm:t>
        <a:bodyPr/>
        <a:lstStyle/>
        <a:p>
          <a:r>
            <a:rPr lang="en-US" dirty="0"/>
            <a:t>Work Done (Demo Videos)</a:t>
          </a:r>
        </a:p>
      </dgm:t>
    </dgm:pt>
    <dgm:pt modelId="{C4031ACF-92A7-4310-85E0-66764802DF01}" type="parTrans" cxnId="{DA1D7D22-F404-4CDD-B524-96447D610665}">
      <dgm:prSet/>
      <dgm:spPr/>
    </dgm:pt>
    <dgm:pt modelId="{B1FC19B2-E81D-4AC1-96F8-CC153D5899F1}" type="sibTrans" cxnId="{DA1D7D22-F404-4CDD-B524-96447D610665}">
      <dgm:prSet/>
      <dgm:spPr/>
    </dgm:pt>
    <dgm:pt modelId="{D6D226E1-1ACF-4C23-93D7-058E15A11203}">
      <dgm:prSet phldrT="[Text]"/>
      <dgm:spPr/>
      <dgm:t>
        <a:bodyPr/>
        <a:lstStyle/>
        <a:p>
          <a:r>
            <a:rPr lang="en-US" dirty="0"/>
            <a:t>Work Done</a:t>
          </a:r>
        </a:p>
      </dgm:t>
    </dgm:pt>
    <dgm:pt modelId="{37B57B18-8E13-4C15-A6E7-A435DBBC3286}" type="parTrans" cxnId="{BEA2BB09-ED25-4B28-8065-2D56E7D1C537}">
      <dgm:prSet/>
      <dgm:spPr/>
    </dgm:pt>
    <dgm:pt modelId="{C18677E2-018D-420E-8B92-6B1B39D12B06}" type="sibTrans" cxnId="{BEA2BB09-ED25-4B28-8065-2D56E7D1C537}">
      <dgm:prSet/>
      <dgm:spPr/>
    </dgm:pt>
    <dgm:pt modelId="{4BBD34EE-B0F6-4280-A1F0-186F76356C36}">
      <dgm:prSet phldrT="[Text]"/>
      <dgm:spPr/>
      <dgm:t>
        <a:bodyPr/>
        <a:lstStyle/>
        <a:p>
          <a:r>
            <a:rPr lang="en-US"/>
            <a:t>Work Plan and Future Work</a:t>
          </a:r>
          <a:endParaRPr lang="en-US" dirty="0"/>
        </a:p>
      </dgm:t>
    </dgm:pt>
    <dgm:pt modelId="{DCB39C68-C632-4D50-BCBF-856ACE97E540}" type="parTrans" cxnId="{A570D6E4-80AF-4546-A697-338850F9D6FE}">
      <dgm:prSet/>
      <dgm:spPr/>
    </dgm:pt>
    <dgm:pt modelId="{8EB177C5-3EC1-4084-AD1A-1D4822679937}" type="sibTrans" cxnId="{A570D6E4-80AF-4546-A697-338850F9D6FE}">
      <dgm:prSet/>
      <dgm:spPr/>
    </dgm:pt>
    <dgm:pt modelId="{F65F3285-2DB9-4ECC-8902-B8A8287CC238}" type="pres">
      <dgm:prSet presAssocID="{7160FA1F-D694-41E2-B357-03DF440CAC7D}" presName="linear" presStyleCnt="0">
        <dgm:presLayoutVars>
          <dgm:animLvl val="lvl"/>
          <dgm:resizeHandles val="exact"/>
        </dgm:presLayoutVars>
      </dgm:prSet>
      <dgm:spPr/>
    </dgm:pt>
    <dgm:pt modelId="{867F8C7C-6D31-4C64-9FD7-DD4D774F6AAA}" type="pres">
      <dgm:prSet presAssocID="{2D42FB50-B85A-40D2-B1D4-B26284BECFC9}" presName="parentText" presStyleLbl="node1" presStyleIdx="0" presStyleCnt="4">
        <dgm:presLayoutVars>
          <dgm:chMax val="0"/>
          <dgm:bulletEnabled val="1"/>
        </dgm:presLayoutVars>
      </dgm:prSet>
      <dgm:spPr/>
    </dgm:pt>
    <dgm:pt modelId="{EF8B4AA2-A595-487A-B574-71D898D0C2C1}" type="pres">
      <dgm:prSet presAssocID="{2C332BA5-AC3C-4335-BD03-AF5304A45702}" presName="spacer" presStyleCnt="0"/>
      <dgm:spPr/>
    </dgm:pt>
    <dgm:pt modelId="{C730A033-B346-42EE-8A84-E7078ED4052B}" type="pres">
      <dgm:prSet presAssocID="{D6D226E1-1ACF-4C23-93D7-058E15A11203}" presName="parentText" presStyleLbl="node1" presStyleIdx="1" presStyleCnt="4">
        <dgm:presLayoutVars>
          <dgm:chMax val="0"/>
          <dgm:bulletEnabled val="1"/>
        </dgm:presLayoutVars>
      </dgm:prSet>
      <dgm:spPr/>
    </dgm:pt>
    <dgm:pt modelId="{B67A1C4D-3139-4796-A964-FB39FE575AF2}" type="pres">
      <dgm:prSet presAssocID="{C18677E2-018D-420E-8B92-6B1B39D12B06}" presName="spacer" presStyleCnt="0"/>
      <dgm:spPr/>
    </dgm:pt>
    <dgm:pt modelId="{C0CD1377-45B7-4717-BAB1-269C97A5DDAC}" type="pres">
      <dgm:prSet presAssocID="{691BBA77-3826-4D61-8CB0-154A200DB070}" presName="parentText" presStyleLbl="node1" presStyleIdx="2" presStyleCnt="4">
        <dgm:presLayoutVars>
          <dgm:chMax val="0"/>
          <dgm:bulletEnabled val="1"/>
        </dgm:presLayoutVars>
      </dgm:prSet>
      <dgm:spPr/>
    </dgm:pt>
    <dgm:pt modelId="{C1ADEF38-6BFA-467C-AA85-6A6DEB9AC653}" type="pres">
      <dgm:prSet presAssocID="{B1FC19B2-E81D-4AC1-96F8-CC153D5899F1}" presName="spacer" presStyleCnt="0"/>
      <dgm:spPr/>
    </dgm:pt>
    <dgm:pt modelId="{60E853F7-EF35-421A-B12C-4B56855F32FE}" type="pres">
      <dgm:prSet presAssocID="{4BBD34EE-B0F6-4280-A1F0-186F76356C36}" presName="parentText" presStyleLbl="node1" presStyleIdx="3" presStyleCnt="4">
        <dgm:presLayoutVars>
          <dgm:chMax val="0"/>
          <dgm:bulletEnabled val="1"/>
        </dgm:presLayoutVars>
      </dgm:prSet>
      <dgm:spPr/>
    </dgm:pt>
  </dgm:ptLst>
  <dgm:cxnLst>
    <dgm:cxn modelId="{BEA2BB09-ED25-4B28-8065-2D56E7D1C537}" srcId="{7160FA1F-D694-41E2-B357-03DF440CAC7D}" destId="{D6D226E1-1ACF-4C23-93D7-058E15A11203}" srcOrd="1" destOrd="0" parTransId="{37B57B18-8E13-4C15-A6E7-A435DBBC3286}" sibTransId="{C18677E2-018D-420E-8B92-6B1B39D12B06}"/>
    <dgm:cxn modelId="{DA1D7D22-F404-4CDD-B524-96447D610665}" srcId="{7160FA1F-D694-41E2-B357-03DF440CAC7D}" destId="{691BBA77-3826-4D61-8CB0-154A200DB070}" srcOrd="2" destOrd="0" parTransId="{C4031ACF-92A7-4310-85E0-66764802DF01}" sibTransId="{B1FC19B2-E81D-4AC1-96F8-CC153D5899F1}"/>
    <dgm:cxn modelId="{EBA8ED29-3863-4A5F-8F53-F2D80C584CB7}" type="presOf" srcId="{4BBD34EE-B0F6-4280-A1F0-186F76356C36}" destId="{60E853F7-EF35-421A-B12C-4B56855F32FE}" srcOrd="0" destOrd="0" presId="urn:microsoft.com/office/officeart/2005/8/layout/vList2"/>
    <dgm:cxn modelId="{73A6524B-2CBE-49D6-965F-3D8EA86AD176}" type="presOf" srcId="{691BBA77-3826-4D61-8CB0-154A200DB070}" destId="{C0CD1377-45B7-4717-BAB1-269C97A5DDAC}" srcOrd="0" destOrd="0" presId="urn:microsoft.com/office/officeart/2005/8/layout/vList2"/>
    <dgm:cxn modelId="{17915354-9709-407F-8516-F99BFABEEABE}" type="presOf" srcId="{7160FA1F-D694-41E2-B357-03DF440CAC7D}" destId="{F65F3285-2DB9-4ECC-8902-B8A8287CC238}" srcOrd="0" destOrd="0" presId="urn:microsoft.com/office/officeart/2005/8/layout/vList2"/>
    <dgm:cxn modelId="{DA4BB88E-53FD-4071-91B0-72710EE2A001}" srcId="{7160FA1F-D694-41E2-B357-03DF440CAC7D}" destId="{2D42FB50-B85A-40D2-B1D4-B26284BECFC9}" srcOrd="0" destOrd="0" parTransId="{61B4537E-AD15-4546-B241-2EB5E6609E8B}" sibTransId="{2C332BA5-AC3C-4335-BD03-AF5304A45702}"/>
    <dgm:cxn modelId="{4FFF27A3-7761-49F6-B8DF-FB62EE25BCEB}" type="presOf" srcId="{D6D226E1-1ACF-4C23-93D7-058E15A11203}" destId="{C730A033-B346-42EE-8A84-E7078ED4052B}" srcOrd="0" destOrd="0" presId="urn:microsoft.com/office/officeart/2005/8/layout/vList2"/>
    <dgm:cxn modelId="{97AE7ECB-E83F-49E2-8A13-4CEF6540DA16}" type="presOf" srcId="{2D42FB50-B85A-40D2-B1D4-B26284BECFC9}" destId="{867F8C7C-6D31-4C64-9FD7-DD4D774F6AAA}" srcOrd="0" destOrd="0" presId="urn:microsoft.com/office/officeart/2005/8/layout/vList2"/>
    <dgm:cxn modelId="{A570D6E4-80AF-4546-A697-338850F9D6FE}" srcId="{7160FA1F-D694-41E2-B357-03DF440CAC7D}" destId="{4BBD34EE-B0F6-4280-A1F0-186F76356C36}" srcOrd="3" destOrd="0" parTransId="{DCB39C68-C632-4D50-BCBF-856ACE97E540}" sibTransId="{8EB177C5-3EC1-4084-AD1A-1D4822679937}"/>
    <dgm:cxn modelId="{59138ADB-6885-4AC6-B1E0-497E92717EDC}" type="presParOf" srcId="{F65F3285-2DB9-4ECC-8902-B8A8287CC238}" destId="{867F8C7C-6D31-4C64-9FD7-DD4D774F6AAA}" srcOrd="0" destOrd="0" presId="urn:microsoft.com/office/officeart/2005/8/layout/vList2"/>
    <dgm:cxn modelId="{B3B404FB-BCE2-4EC2-80C1-737C63AA0011}" type="presParOf" srcId="{F65F3285-2DB9-4ECC-8902-B8A8287CC238}" destId="{EF8B4AA2-A595-487A-B574-71D898D0C2C1}" srcOrd="1" destOrd="0" presId="urn:microsoft.com/office/officeart/2005/8/layout/vList2"/>
    <dgm:cxn modelId="{656C89CF-779F-4C37-A3A9-66A8DC05DB5F}" type="presParOf" srcId="{F65F3285-2DB9-4ECC-8902-B8A8287CC238}" destId="{C730A033-B346-42EE-8A84-E7078ED4052B}" srcOrd="2" destOrd="0" presId="urn:microsoft.com/office/officeart/2005/8/layout/vList2"/>
    <dgm:cxn modelId="{4289EFD7-65CF-45B2-8011-D6740FF070FC}" type="presParOf" srcId="{F65F3285-2DB9-4ECC-8902-B8A8287CC238}" destId="{B67A1C4D-3139-4796-A964-FB39FE575AF2}" srcOrd="3" destOrd="0" presId="urn:microsoft.com/office/officeart/2005/8/layout/vList2"/>
    <dgm:cxn modelId="{C0CE51D1-2A4D-43E2-AA09-9B9F595569A3}" type="presParOf" srcId="{F65F3285-2DB9-4ECC-8902-B8A8287CC238}" destId="{C0CD1377-45B7-4717-BAB1-269C97A5DDAC}" srcOrd="4" destOrd="0" presId="urn:microsoft.com/office/officeart/2005/8/layout/vList2"/>
    <dgm:cxn modelId="{FD96F5CF-6230-489D-AA8D-B5BABF24BCD0}" type="presParOf" srcId="{F65F3285-2DB9-4ECC-8902-B8A8287CC238}" destId="{C1ADEF38-6BFA-467C-AA85-6A6DEB9AC653}" srcOrd="5" destOrd="0" presId="urn:microsoft.com/office/officeart/2005/8/layout/vList2"/>
    <dgm:cxn modelId="{9028B780-4E01-4DC3-A887-224C03C88515}" type="presParOf" srcId="{F65F3285-2DB9-4ECC-8902-B8A8287CC238}" destId="{60E853F7-EF35-421A-B12C-4B56855F32F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D5BB8A-036E-4C31-9491-6CE8C5045D13}" type="doc">
      <dgm:prSet loTypeId="urn:microsoft.com/office/officeart/2005/8/layout/vList2" loCatId="list" qsTypeId="urn:microsoft.com/office/officeart/2005/8/quickstyle/3d3" qsCatId="3D" csTypeId="urn:microsoft.com/office/officeart/2005/8/colors/accent0_1" csCatId="mainScheme" phldr="1"/>
      <dgm:spPr/>
      <dgm:t>
        <a:bodyPr/>
        <a:lstStyle/>
        <a:p>
          <a:endParaRPr lang="en-US"/>
        </a:p>
      </dgm:t>
    </dgm:pt>
    <dgm:pt modelId="{E417071B-66CD-4623-9575-C42222CE94F2}">
      <dgm:prSet phldrT="[Text]" custT="1"/>
      <dgm:spPr/>
      <dgm:t>
        <a:bodyPr/>
        <a:lstStyle/>
        <a:p>
          <a:r>
            <a:rPr lang="en-US" sz="1800" b="1" dirty="0"/>
            <a:t>Develop a real-time adaptive decision support system that continuously modifies its logic and structure based on live field data (e.g., during disasters). Unlike static decision trees, it evolves dynamically to reflect changing conditions.</a:t>
          </a:r>
        </a:p>
      </dgm:t>
    </dgm:pt>
    <dgm:pt modelId="{DC463A00-EB6D-4262-B3F9-A68068DAB224}" type="parTrans" cxnId="{6F441419-86DD-4E4A-83F8-73AF6014E657}">
      <dgm:prSet/>
      <dgm:spPr/>
      <dgm:t>
        <a:bodyPr/>
        <a:lstStyle/>
        <a:p>
          <a:endParaRPr lang="en-US" sz="2000"/>
        </a:p>
      </dgm:t>
    </dgm:pt>
    <dgm:pt modelId="{C483DB83-5712-4270-BEA9-E7A2D0E2F177}" type="sibTrans" cxnId="{6F441419-86DD-4E4A-83F8-73AF6014E657}">
      <dgm:prSet/>
      <dgm:spPr/>
      <dgm:t>
        <a:bodyPr/>
        <a:lstStyle/>
        <a:p>
          <a:endParaRPr lang="en-US" sz="2000"/>
        </a:p>
      </dgm:t>
    </dgm:pt>
    <dgm:pt modelId="{E81A9C69-07A1-40A8-B909-AF6CCA417204}" type="pres">
      <dgm:prSet presAssocID="{FBD5BB8A-036E-4C31-9491-6CE8C5045D13}" presName="linear" presStyleCnt="0">
        <dgm:presLayoutVars>
          <dgm:animLvl val="lvl"/>
          <dgm:resizeHandles val="exact"/>
        </dgm:presLayoutVars>
      </dgm:prSet>
      <dgm:spPr/>
    </dgm:pt>
    <dgm:pt modelId="{A3DEBD1F-DC8C-4352-8F3F-2FE831080C34}" type="pres">
      <dgm:prSet presAssocID="{E417071B-66CD-4623-9575-C42222CE94F2}" presName="parentText" presStyleLbl="node1" presStyleIdx="0" presStyleCnt="1">
        <dgm:presLayoutVars>
          <dgm:chMax val="0"/>
          <dgm:bulletEnabled val="1"/>
        </dgm:presLayoutVars>
      </dgm:prSet>
      <dgm:spPr/>
    </dgm:pt>
  </dgm:ptLst>
  <dgm:cxnLst>
    <dgm:cxn modelId="{0AC7C403-F3E3-4AA6-8D34-7E43422E7691}" type="presOf" srcId="{E417071B-66CD-4623-9575-C42222CE94F2}" destId="{A3DEBD1F-DC8C-4352-8F3F-2FE831080C34}" srcOrd="0" destOrd="0" presId="urn:microsoft.com/office/officeart/2005/8/layout/vList2"/>
    <dgm:cxn modelId="{6F441419-86DD-4E4A-83F8-73AF6014E657}" srcId="{FBD5BB8A-036E-4C31-9491-6CE8C5045D13}" destId="{E417071B-66CD-4623-9575-C42222CE94F2}" srcOrd="0" destOrd="0" parTransId="{DC463A00-EB6D-4262-B3F9-A68068DAB224}" sibTransId="{C483DB83-5712-4270-BEA9-E7A2D0E2F177}"/>
    <dgm:cxn modelId="{CF63255B-2D62-4159-B0A0-BE4393FC652C}" type="presOf" srcId="{FBD5BB8A-036E-4C31-9491-6CE8C5045D13}" destId="{E81A9C69-07A1-40A8-B909-AF6CCA417204}" srcOrd="0" destOrd="0" presId="urn:microsoft.com/office/officeart/2005/8/layout/vList2"/>
    <dgm:cxn modelId="{7580E3B6-E6C8-4B98-BD96-FAC0387D9762}" type="presParOf" srcId="{E81A9C69-07A1-40A8-B909-AF6CCA417204}" destId="{A3DEBD1F-DC8C-4352-8F3F-2FE831080C34}"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D5BB8A-036E-4C31-9491-6CE8C5045D13}"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E417071B-66CD-4623-9575-C42222CE94F2}">
      <dgm:prSet phldrT="[Text]"/>
      <dgm:spPr/>
      <dgm:t>
        <a:bodyPr/>
        <a:lstStyle/>
        <a:p>
          <a:r>
            <a:rPr lang="en-US" b="1" dirty="0">
              <a:solidFill>
                <a:srgbClr val="C00000"/>
              </a:solidFill>
            </a:rPr>
            <a:t>Environmental Adaptation</a:t>
          </a:r>
          <a:endParaRPr lang="en-US" dirty="0">
            <a:solidFill>
              <a:srgbClr val="C00000"/>
            </a:solidFill>
          </a:endParaRPr>
        </a:p>
      </dgm:t>
    </dgm:pt>
    <dgm:pt modelId="{DC463A00-EB6D-4262-B3F9-A68068DAB224}" type="parTrans" cxnId="{6F441419-86DD-4E4A-83F8-73AF6014E657}">
      <dgm:prSet/>
      <dgm:spPr/>
      <dgm:t>
        <a:bodyPr/>
        <a:lstStyle/>
        <a:p>
          <a:endParaRPr lang="en-US"/>
        </a:p>
      </dgm:t>
    </dgm:pt>
    <dgm:pt modelId="{C483DB83-5712-4270-BEA9-E7A2D0E2F177}" type="sibTrans" cxnId="{6F441419-86DD-4E4A-83F8-73AF6014E657}">
      <dgm:prSet/>
      <dgm:spPr/>
      <dgm:t>
        <a:bodyPr/>
        <a:lstStyle/>
        <a:p>
          <a:endParaRPr lang="en-US"/>
        </a:p>
      </dgm:t>
    </dgm:pt>
    <dgm:pt modelId="{B57D82FE-BD58-4D88-ADBC-102EDC32A155}">
      <dgm:prSet/>
      <dgm:spPr/>
      <dgm:t>
        <a:bodyPr/>
        <a:lstStyle/>
        <a:p>
          <a:r>
            <a:rPr lang="en-US" b="1" dirty="0">
              <a:solidFill>
                <a:srgbClr val="C00000"/>
              </a:solidFill>
            </a:rPr>
            <a:t>Decision Trajectory Intervention</a:t>
          </a:r>
          <a:endParaRPr lang="en-US" dirty="0">
            <a:solidFill>
              <a:srgbClr val="C00000"/>
            </a:solidFill>
          </a:endParaRPr>
        </a:p>
      </dgm:t>
    </dgm:pt>
    <dgm:pt modelId="{446AC8B0-E770-4FBA-B30B-2458BF8D482F}" type="parTrans" cxnId="{9542EE16-B0EB-4784-B0BF-1A681A6C4CA4}">
      <dgm:prSet/>
      <dgm:spPr/>
      <dgm:t>
        <a:bodyPr/>
        <a:lstStyle/>
        <a:p>
          <a:endParaRPr lang="en-US"/>
        </a:p>
      </dgm:t>
    </dgm:pt>
    <dgm:pt modelId="{729EBAD4-4915-4491-BB30-C0179DBCA76E}" type="sibTrans" cxnId="{9542EE16-B0EB-4784-B0BF-1A681A6C4CA4}">
      <dgm:prSet/>
      <dgm:spPr/>
      <dgm:t>
        <a:bodyPr/>
        <a:lstStyle/>
        <a:p>
          <a:endParaRPr lang="en-US"/>
        </a:p>
      </dgm:t>
    </dgm:pt>
    <dgm:pt modelId="{E7383171-312A-49A8-AD9D-CB9397460017}">
      <dgm:prSet/>
      <dgm:spPr/>
      <dgm:t>
        <a:bodyPr/>
        <a:lstStyle/>
        <a:p>
          <a:r>
            <a:rPr lang="en-US" b="1" dirty="0">
              <a:solidFill>
                <a:srgbClr val="C00000"/>
              </a:solidFill>
            </a:rPr>
            <a:t>Dynamic Tree Modification</a:t>
          </a:r>
          <a:endParaRPr lang="en-US" dirty="0">
            <a:solidFill>
              <a:srgbClr val="C00000"/>
            </a:solidFill>
          </a:endParaRPr>
        </a:p>
      </dgm:t>
    </dgm:pt>
    <dgm:pt modelId="{9C5F950C-EDBB-4A58-8B34-9EC77988EBC3}" type="parTrans" cxnId="{FB9448E7-FA08-4CBB-BADF-C6D513297048}">
      <dgm:prSet/>
      <dgm:spPr/>
      <dgm:t>
        <a:bodyPr/>
        <a:lstStyle/>
        <a:p>
          <a:endParaRPr lang="en-US"/>
        </a:p>
      </dgm:t>
    </dgm:pt>
    <dgm:pt modelId="{DF570F77-A56F-4444-888A-7E57222C1BEE}" type="sibTrans" cxnId="{FB9448E7-FA08-4CBB-BADF-C6D513297048}">
      <dgm:prSet/>
      <dgm:spPr/>
      <dgm:t>
        <a:bodyPr/>
        <a:lstStyle/>
        <a:p>
          <a:endParaRPr lang="en-US"/>
        </a:p>
      </dgm:t>
    </dgm:pt>
    <dgm:pt modelId="{660C10AA-7EC4-4AF8-A62C-9B48E529D88B}">
      <dgm:prSet/>
      <dgm:spPr/>
      <dgm:t>
        <a:bodyPr/>
        <a:lstStyle/>
        <a:p>
          <a:r>
            <a:rPr lang="en-US" b="1" dirty="0">
              <a:solidFill>
                <a:srgbClr val="C00000"/>
              </a:solidFill>
            </a:rPr>
            <a:t>Learning from Feedback</a:t>
          </a:r>
          <a:endParaRPr lang="en-US" dirty="0">
            <a:solidFill>
              <a:srgbClr val="C00000"/>
            </a:solidFill>
          </a:endParaRPr>
        </a:p>
      </dgm:t>
    </dgm:pt>
    <dgm:pt modelId="{768908FB-802D-40BA-B6C1-6050D40352C5}" type="parTrans" cxnId="{7EE64F48-9DB6-44FF-87D0-B1BFD3A4B9A0}">
      <dgm:prSet/>
      <dgm:spPr/>
      <dgm:t>
        <a:bodyPr/>
        <a:lstStyle/>
        <a:p>
          <a:endParaRPr lang="en-US"/>
        </a:p>
      </dgm:t>
    </dgm:pt>
    <dgm:pt modelId="{7B1D873F-5489-4D7D-9656-E902005769FC}" type="sibTrans" cxnId="{7EE64F48-9DB6-44FF-87D0-B1BFD3A4B9A0}">
      <dgm:prSet/>
      <dgm:spPr/>
      <dgm:t>
        <a:bodyPr/>
        <a:lstStyle/>
        <a:p>
          <a:endParaRPr lang="en-US"/>
        </a:p>
      </dgm:t>
    </dgm:pt>
    <dgm:pt modelId="{290EE98E-84F1-4D05-B696-79497DAA0103}">
      <dgm:prSet phldrT="[Text]"/>
      <dgm:spPr/>
      <dgm:t>
        <a:bodyPr/>
        <a:lstStyle/>
        <a:p>
          <a:r>
            <a:rPr lang="en-US" dirty="0"/>
            <a:t> Adjusts decision logic based on real-time sensor or event data (e.g., wind, fire).</a:t>
          </a:r>
          <a:endParaRPr lang="en-US" dirty="0">
            <a:solidFill>
              <a:srgbClr val="C00000"/>
            </a:solidFill>
          </a:endParaRPr>
        </a:p>
      </dgm:t>
    </dgm:pt>
    <dgm:pt modelId="{E63DBA4B-7A7E-474E-A51E-3FE8509F4A90}" type="parTrans" cxnId="{DC755C83-67E3-43F9-8F4D-905440756B1D}">
      <dgm:prSet/>
      <dgm:spPr/>
      <dgm:t>
        <a:bodyPr/>
        <a:lstStyle/>
        <a:p>
          <a:endParaRPr lang="en-US"/>
        </a:p>
      </dgm:t>
    </dgm:pt>
    <dgm:pt modelId="{B62467CC-D60E-4EEF-87B4-B4D1EC71D806}" type="sibTrans" cxnId="{DC755C83-67E3-43F9-8F4D-905440756B1D}">
      <dgm:prSet/>
      <dgm:spPr/>
      <dgm:t>
        <a:bodyPr/>
        <a:lstStyle/>
        <a:p>
          <a:endParaRPr lang="en-US"/>
        </a:p>
      </dgm:t>
    </dgm:pt>
    <dgm:pt modelId="{4682BD6B-579A-4038-AC5F-6F59327D4EEE}">
      <dgm:prSet/>
      <dgm:spPr/>
      <dgm:t>
        <a:bodyPr/>
        <a:lstStyle/>
        <a:p>
          <a:r>
            <a:rPr lang="en-US" dirty="0"/>
            <a:t> Can insert, delete, or revise decisions in an ongoing decision sequence (trajectory).</a:t>
          </a:r>
        </a:p>
      </dgm:t>
    </dgm:pt>
    <dgm:pt modelId="{2E6BFCDA-95EC-49D2-AC56-72A91C9E8A4A}" type="parTrans" cxnId="{28F94B6C-709A-4B62-A90D-39D0D4722EE6}">
      <dgm:prSet/>
      <dgm:spPr/>
      <dgm:t>
        <a:bodyPr/>
        <a:lstStyle/>
        <a:p>
          <a:endParaRPr lang="en-US"/>
        </a:p>
      </dgm:t>
    </dgm:pt>
    <dgm:pt modelId="{93A3BF80-6A40-44F7-9864-E0C015BBD3ED}" type="sibTrans" cxnId="{28F94B6C-709A-4B62-A90D-39D0D4722EE6}">
      <dgm:prSet/>
      <dgm:spPr/>
      <dgm:t>
        <a:bodyPr/>
        <a:lstStyle/>
        <a:p>
          <a:endParaRPr lang="en-US"/>
        </a:p>
      </dgm:t>
    </dgm:pt>
    <dgm:pt modelId="{BBB6D24F-2EDE-4E3B-B333-32E41887AC7D}">
      <dgm:prSet/>
      <dgm:spPr/>
      <dgm:t>
        <a:bodyPr/>
        <a:lstStyle/>
        <a:p>
          <a:r>
            <a:rPr lang="en-US" dirty="0"/>
            <a:t>Adds/removes/reconfigures decision nodes and branches on the fly—no downtime.</a:t>
          </a:r>
        </a:p>
      </dgm:t>
    </dgm:pt>
    <dgm:pt modelId="{C5201744-9FAC-4EEE-A3AB-57B78B5640E9}" type="parTrans" cxnId="{AA8800A4-8EBD-4C83-91D6-51C0C35D9DF1}">
      <dgm:prSet/>
      <dgm:spPr/>
      <dgm:t>
        <a:bodyPr/>
        <a:lstStyle/>
        <a:p>
          <a:endParaRPr lang="en-US"/>
        </a:p>
      </dgm:t>
    </dgm:pt>
    <dgm:pt modelId="{110F308C-7B04-4C0A-BC54-3EA3723A4C9B}" type="sibTrans" cxnId="{AA8800A4-8EBD-4C83-91D6-51C0C35D9DF1}">
      <dgm:prSet/>
      <dgm:spPr/>
      <dgm:t>
        <a:bodyPr/>
        <a:lstStyle/>
        <a:p>
          <a:endParaRPr lang="en-US"/>
        </a:p>
      </dgm:t>
    </dgm:pt>
    <dgm:pt modelId="{5957377C-4448-4051-AB49-C78A145A043A}">
      <dgm:prSet/>
      <dgm:spPr/>
      <dgm:t>
        <a:bodyPr/>
        <a:lstStyle/>
        <a:p>
          <a:r>
            <a:rPr lang="en-US" dirty="0"/>
            <a:t> Continuously learns from past outcomes via reinforcement learning to improve decisions over time.</a:t>
          </a:r>
        </a:p>
      </dgm:t>
    </dgm:pt>
    <dgm:pt modelId="{F611AEBC-4AE6-40BE-8A59-6254D2B793CF}" type="parTrans" cxnId="{25E89599-7076-4FFE-8380-F687FF7A6717}">
      <dgm:prSet/>
      <dgm:spPr/>
      <dgm:t>
        <a:bodyPr/>
        <a:lstStyle/>
        <a:p>
          <a:endParaRPr lang="en-US"/>
        </a:p>
      </dgm:t>
    </dgm:pt>
    <dgm:pt modelId="{DADD6D17-98F5-41A9-975E-BA9145C3F22E}" type="sibTrans" cxnId="{25E89599-7076-4FFE-8380-F687FF7A6717}">
      <dgm:prSet/>
      <dgm:spPr/>
      <dgm:t>
        <a:bodyPr/>
        <a:lstStyle/>
        <a:p>
          <a:endParaRPr lang="en-US"/>
        </a:p>
      </dgm:t>
    </dgm:pt>
    <dgm:pt modelId="{E81A9C69-07A1-40A8-B909-AF6CCA417204}" type="pres">
      <dgm:prSet presAssocID="{FBD5BB8A-036E-4C31-9491-6CE8C5045D13}" presName="linear" presStyleCnt="0">
        <dgm:presLayoutVars>
          <dgm:animLvl val="lvl"/>
          <dgm:resizeHandles val="exact"/>
        </dgm:presLayoutVars>
      </dgm:prSet>
      <dgm:spPr/>
    </dgm:pt>
    <dgm:pt modelId="{A3DEBD1F-DC8C-4352-8F3F-2FE831080C34}" type="pres">
      <dgm:prSet presAssocID="{E417071B-66CD-4623-9575-C42222CE94F2}" presName="parentText" presStyleLbl="node1" presStyleIdx="0" presStyleCnt="4">
        <dgm:presLayoutVars>
          <dgm:chMax val="0"/>
          <dgm:bulletEnabled val="1"/>
        </dgm:presLayoutVars>
      </dgm:prSet>
      <dgm:spPr/>
    </dgm:pt>
    <dgm:pt modelId="{65305729-D217-4B4D-89D5-84A206E6B7DD}" type="pres">
      <dgm:prSet presAssocID="{E417071B-66CD-4623-9575-C42222CE94F2}" presName="childText" presStyleLbl="revTx" presStyleIdx="0" presStyleCnt="4">
        <dgm:presLayoutVars>
          <dgm:bulletEnabled val="1"/>
        </dgm:presLayoutVars>
      </dgm:prSet>
      <dgm:spPr/>
    </dgm:pt>
    <dgm:pt modelId="{4E4232F3-87A9-4023-8555-172F7FA4E30B}" type="pres">
      <dgm:prSet presAssocID="{B57D82FE-BD58-4D88-ADBC-102EDC32A155}" presName="parentText" presStyleLbl="node1" presStyleIdx="1" presStyleCnt="4">
        <dgm:presLayoutVars>
          <dgm:chMax val="0"/>
          <dgm:bulletEnabled val="1"/>
        </dgm:presLayoutVars>
      </dgm:prSet>
      <dgm:spPr/>
    </dgm:pt>
    <dgm:pt modelId="{918F7E44-181B-4B73-944F-F3EFFB820832}" type="pres">
      <dgm:prSet presAssocID="{B57D82FE-BD58-4D88-ADBC-102EDC32A155}" presName="childText" presStyleLbl="revTx" presStyleIdx="1" presStyleCnt="4">
        <dgm:presLayoutVars>
          <dgm:bulletEnabled val="1"/>
        </dgm:presLayoutVars>
      </dgm:prSet>
      <dgm:spPr/>
    </dgm:pt>
    <dgm:pt modelId="{125CA997-B212-4C6D-8512-C0655A496C32}" type="pres">
      <dgm:prSet presAssocID="{E7383171-312A-49A8-AD9D-CB9397460017}" presName="parentText" presStyleLbl="node1" presStyleIdx="2" presStyleCnt="4">
        <dgm:presLayoutVars>
          <dgm:chMax val="0"/>
          <dgm:bulletEnabled val="1"/>
        </dgm:presLayoutVars>
      </dgm:prSet>
      <dgm:spPr/>
    </dgm:pt>
    <dgm:pt modelId="{66660AEC-45AE-4A4C-914F-302A3F369819}" type="pres">
      <dgm:prSet presAssocID="{E7383171-312A-49A8-AD9D-CB9397460017}" presName="childText" presStyleLbl="revTx" presStyleIdx="2" presStyleCnt="4">
        <dgm:presLayoutVars>
          <dgm:bulletEnabled val="1"/>
        </dgm:presLayoutVars>
      </dgm:prSet>
      <dgm:spPr/>
    </dgm:pt>
    <dgm:pt modelId="{37F4CB09-C3FA-489A-802F-C86E4EF29D2E}" type="pres">
      <dgm:prSet presAssocID="{660C10AA-7EC4-4AF8-A62C-9B48E529D88B}" presName="parentText" presStyleLbl="node1" presStyleIdx="3" presStyleCnt="4">
        <dgm:presLayoutVars>
          <dgm:chMax val="0"/>
          <dgm:bulletEnabled val="1"/>
        </dgm:presLayoutVars>
      </dgm:prSet>
      <dgm:spPr/>
    </dgm:pt>
    <dgm:pt modelId="{B48C7E6D-FC06-4FA6-B6C4-3CEEAD873B92}" type="pres">
      <dgm:prSet presAssocID="{660C10AA-7EC4-4AF8-A62C-9B48E529D88B}" presName="childText" presStyleLbl="revTx" presStyleIdx="3" presStyleCnt="4">
        <dgm:presLayoutVars>
          <dgm:bulletEnabled val="1"/>
        </dgm:presLayoutVars>
      </dgm:prSet>
      <dgm:spPr/>
    </dgm:pt>
  </dgm:ptLst>
  <dgm:cxnLst>
    <dgm:cxn modelId="{0AC7C403-F3E3-4AA6-8D34-7E43422E7691}" type="presOf" srcId="{E417071B-66CD-4623-9575-C42222CE94F2}" destId="{A3DEBD1F-DC8C-4352-8F3F-2FE831080C34}" srcOrd="0" destOrd="0" presId="urn:microsoft.com/office/officeart/2005/8/layout/vList2"/>
    <dgm:cxn modelId="{9542EE16-B0EB-4784-B0BF-1A681A6C4CA4}" srcId="{FBD5BB8A-036E-4C31-9491-6CE8C5045D13}" destId="{B57D82FE-BD58-4D88-ADBC-102EDC32A155}" srcOrd="1" destOrd="0" parTransId="{446AC8B0-E770-4FBA-B30B-2458BF8D482F}" sibTransId="{729EBAD4-4915-4491-BB30-C0179DBCA76E}"/>
    <dgm:cxn modelId="{6F441419-86DD-4E4A-83F8-73AF6014E657}" srcId="{FBD5BB8A-036E-4C31-9491-6CE8C5045D13}" destId="{E417071B-66CD-4623-9575-C42222CE94F2}" srcOrd="0" destOrd="0" parTransId="{DC463A00-EB6D-4262-B3F9-A68068DAB224}" sibTransId="{C483DB83-5712-4270-BEA9-E7A2D0E2F177}"/>
    <dgm:cxn modelId="{E5C0F622-4268-4F95-822A-26DA0CBA51E9}" type="presOf" srcId="{5957377C-4448-4051-AB49-C78A145A043A}" destId="{B48C7E6D-FC06-4FA6-B6C4-3CEEAD873B92}" srcOrd="0" destOrd="0" presId="urn:microsoft.com/office/officeart/2005/8/layout/vList2"/>
    <dgm:cxn modelId="{CF63255B-2D62-4159-B0A0-BE4393FC652C}" type="presOf" srcId="{FBD5BB8A-036E-4C31-9491-6CE8C5045D13}" destId="{E81A9C69-07A1-40A8-B909-AF6CCA417204}" srcOrd="0" destOrd="0" presId="urn:microsoft.com/office/officeart/2005/8/layout/vList2"/>
    <dgm:cxn modelId="{39CA625C-B160-4A44-9CBE-B10AECB7DFDD}" type="presOf" srcId="{B57D82FE-BD58-4D88-ADBC-102EDC32A155}" destId="{4E4232F3-87A9-4023-8555-172F7FA4E30B}" srcOrd="0" destOrd="0" presId="urn:microsoft.com/office/officeart/2005/8/layout/vList2"/>
    <dgm:cxn modelId="{7EE64F48-9DB6-44FF-87D0-B1BFD3A4B9A0}" srcId="{FBD5BB8A-036E-4C31-9491-6CE8C5045D13}" destId="{660C10AA-7EC4-4AF8-A62C-9B48E529D88B}" srcOrd="3" destOrd="0" parTransId="{768908FB-802D-40BA-B6C1-6050D40352C5}" sibTransId="{7B1D873F-5489-4D7D-9656-E902005769FC}"/>
    <dgm:cxn modelId="{28F94B6C-709A-4B62-A90D-39D0D4722EE6}" srcId="{B57D82FE-BD58-4D88-ADBC-102EDC32A155}" destId="{4682BD6B-579A-4038-AC5F-6F59327D4EEE}" srcOrd="0" destOrd="0" parTransId="{2E6BFCDA-95EC-49D2-AC56-72A91C9E8A4A}" sibTransId="{93A3BF80-6A40-44F7-9864-E0C015BBD3ED}"/>
    <dgm:cxn modelId="{AE02F170-81F1-496D-9EC4-81E64E917C46}" type="presOf" srcId="{4682BD6B-579A-4038-AC5F-6F59327D4EEE}" destId="{918F7E44-181B-4B73-944F-F3EFFB820832}" srcOrd="0" destOrd="0" presId="urn:microsoft.com/office/officeart/2005/8/layout/vList2"/>
    <dgm:cxn modelId="{DC755C83-67E3-43F9-8F4D-905440756B1D}" srcId="{E417071B-66CD-4623-9575-C42222CE94F2}" destId="{290EE98E-84F1-4D05-B696-79497DAA0103}" srcOrd="0" destOrd="0" parTransId="{E63DBA4B-7A7E-474E-A51E-3FE8509F4A90}" sibTransId="{B62467CC-D60E-4EEF-87B4-B4D1EC71D806}"/>
    <dgm:cxn modelId="{6F481596-75FD-4ADC-8FC0-54F565AF377E}" type="presOf" srcId="{E7383171-312A-49A8-AD9D-CB9397460017}" destId="{125CA997-B212-4C6D-8512-C0655A496C32}" srcOrd="0" destOrd="0" presId="urn:microsoft.com/office/officeart/2005/8/layout/vList2"/>
    <dgm:cxn modelId="{E81C5198-C426-4531-B841-A06CCDCD3898}" type="presOf" srcId="{290EE98E-84F1-4D05-B696-79497DAA0103}" destId="{65305729-D217-4B4D-89D5-84A206E6B7DD}" srcOrd="0" destOrd="0" presId="urn:microsoft.com/office/officeart/2005/8/layout/vList2"/>
    <dgm:cxn modelId="{25E89599-7076-4FFE-8380-F687FF7A6717}" srcId="{660C10AA-7EC4-4AF8-A62C-9B48E529D88B}" destId="{5957377C-4448-4051-AB49-C78A145A043A}" srcOrd="0" destOrd="0" parTransId="{F611AEBC-4AE6-40BE-8A59-6254D2B793CF}" sibTransId="{DADD6D17-98F5-41A9-975E-BA9145C3F22E}"/>
    <dgm:cxn modelId="{C35CCC9D-DCDA-4533-BB52-B1CDD45B4085}" type="presOf" srcId="{BBB6D24F-2EDE-4E3B-B333-32E41887AC7D}" destId="{66660AEC-45AE-4A4C-914F-302A3F369819}" srcOrd="0" destOrd="0" presId="urn:microsoft.com/office/officeart/2005/8/layout/vList2"/>
    <dgm:cxn modelId="{AA8800A4-8EBD-4C83-91D6-51C0C35D9DF1}" srcId="{E7383171-312A-49A8-AD9D-CB9397460017}" destId="{BBB6D24F-2EDE-4E3B-B333-32E41887AC7D}" srcOrd="0" destOrd="0" parTransId="{C5201744-9FAC-4EEE-A3AB-57B78B5640E9}" sibTransId="{110F308C-7B04-4C0A-BC54-3EA3723A4C9B}"/>
    <dgm:cxn modelId="{EE1FD6AF-E7EB-4351-9918-3901742CF1C7}" type="presOf" srcId="{660C10AA-7EC4-4AF8-A62C-9B48E529D88B}" destId="{37F4CB09-C3FA-489A-802F-C86E4EF29D2E}" srcOrd="0" destOrd="0" presId="urn:microsoft.com/office/officeart/2005/8/layout/vList2"/>
    <dgm:cxn modelId="{FB9448E7-FA08-4CBB-BADF-C6D513297048}" srcId="{FBD5BB8A-036E-4C31-9491-6CE8C5045D13}" destId="{E7383171-312A-49A8-AD9D-CB9397460017}" srcOrd="2" destOrd="0" parTransId="{9C5F950C-EDBB-4A58-8B34-9EC77988EBC3}" sibTransId="{DF570F77-A56F-4444-888A-7E57222C1BEE}"/>
    <dgm:cxn modelId="{7580E3B6-E6C8-4B98-BD96-FAC0387D9762}" type="presParOf" srcId="{E81A9C69-07A1-40A8-B909-AF6CCA417204}" destId="{A3DEBD1F-DC8C-4352-8F3F-2FE831080C34}" srcOrd="0" destOrd="0" presId="urn:microsoft.com/office/officeart/2005/8/layout/vList2"/>
    <dgm:cxn modelId="{51EB29AD-BE81-4A69-83F6-056B87A6B3CF}" type="presParOf" srcId="{E81A9C69-07A1-40A8-B909-AF6CCA417204}" destId="{65305729-D217-4B4D-89D5-84A206E6B7DD}" srcOrd="1" destOrd="0" presId="urn:microsoft.com/office/officeart/2005/8/layout/vList2"/>
    <dgm:cxn modelId="{412FC498-264D-4E20-8BB9-350F03DF29F6}" type="presParOf" srcId="{E81A9C69-07A1-40A8-B909-AF6CCA417204}" destId="{4E4232F3-87A9-4023-8555-172F7FA4E30B}" srcOrd="2" destOrd="0" presId="urn:microsoft.com/office/officeart/2005/8/layout/vList2"/>
    <dgm:cxn modelId="{F990D5C1-0BB7-46EE-A82C-BB149CC7F844}" type="presParOf" srcId="{E81A9C69-07A1-40A8-B909-AF6CCA417204}" destId="{918F7E44-181B-4B73-944F-F3EFFB820832}" srcOrd="3" destOrd="0" presId="urn:microsoft.com/office/officeart/2005/8/layout/vList2"/>
    <dgm:cxn modelId="{D4581C6F-EE76-4C85-955F-65D39F2522DC}" type="presParOf" srcId="{E81A9C69-07A1-40A8-B909-AF6CCA417204}" destId="{125CA997-B212-4C6D-8512-C0655A496C32}" srcOrd="4" destOrd="0" presId="urn:microsoft.com/office/officeart/2005/8/layout/vList2"/>
    <dgm:cxn modelId="{9B8C3DF5-A091-434C-940B-D591E2446AFE}" type="presParOf" srcId="{E81A9C69-07A1-40A8-B909-AF6CCA417204}" destId="{66660AEC-45AE-4A4C-914F-302A3F369819}" srcOrd="5" destOrd="0" presId="urn:microsoft.com/office/officeart/2005/8/layout/vList2"/>
    <dgm:cxn modelId="{9759B6F8-8D0A-40E4-A6EA-CC920B8E6A56}" type="presParOf" srcId="{E81A9C69-07A1-40A8-B909-AF6CCA417204}" destId="{37F4CB09-C3FA-489A-802F-C86E4EF29D2E}" srcOrd="6" destOrd="0" presId="urn:microsoft.com/office/officeart/2005/8/layout/vList2"/>
    <dgm:cxn modelId="{32490549-24B6-4569-9DD9-38496731BAF9}" type="presParOf" srcId="{E81A9C69-07A1-40A8-B909-AF6CCA417204}" destId="{B48C7E6D-FC06-4FA6-B6C4-3CEEAD873B92}" srcOrd="7"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7F8C7C-6D31-4C64-9FD7-DD4D774F6AAA}">
      <dsp:nvSpPr>
        <dsp:cNvPr id="0" name=""/>
        <dsp:cNvSpPr/>
      </dsp:nvSpPr>
      <dsp:spPr>
        <a:xfrm>
          <a:off x="0" y="162928"/>
          <a:ext cx="9272016" cy="1223235"/>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kern="1200" dirty="0"/>
            <a:t>Problem Definition &amp; Challenges</a:t>
          </a:r>
        </a:p>
      </dsp:txBody>
      <dsp:txXfrm>
        <a:off x="59713" y="222641"/>
        <a:ext cx="9152590" cy="1103809"/>
      </dsp:txXfrm>
    </dsp:sp>
    <dsp:sp modelId="{C730A033-B346-42EE-8A84-E7078ED4052B}">
      <dsp:nvSpPr>
        <dsp:cNvPr id="0" name=""/>
        <dsp:cNvSpPr/>
      </dsp:nvSpPr>
      <dsp:spPr>
        <a:xfrm>
          <a:off x="0" y="1533043"/>
          <a:ext cx="9272016" cy="1223235"/>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kern="1200" dirty="0"/>
            <a:t>Work Done</a:t>
          </a:r>
        </a:p>
      </dsp:txBody>
      <dsp:txXfrm>
        <a:off x="59713" y="1592756"/>
        <a:ext cx="9152590" cy="1103809"/>
      </dsp:txXfrm>
    </dsp:sp>
    <dsp:sp modelId="{C0CD1377-45B7-4717-BAB1-269C97A5DDAC}">
      <dsp:nvSpPr>
        <dsp:cNvPr id="0" name=""/>
        <dsp:cNvSpPr/>
      </dsp:nvSpPr>
      <dsp:spPr>
        <a:xfrm>
          <a:off x="0" y="2903158"/>
          <a:ext cx="9272016" cy="1223235"/>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kern="1200" dirty="0"/>
            <a:t>Work Done (Demo Videos)</a:t>
          </a:r>
        </a:p>
      </dsp:txBody>
      <dsp:txXfrm>
        <a:off x="59713" y="2962871"/>
        <a:ext cx="9152590" cy="1103809"/>
      </dsp:txXfrm>
    </dsp:sp>
    <dsp:sp modelId="{60E853F7-EF35-421A-B12C-4B56855F32FE}">
      <dsp:nvSpPr>
        <dsp:cNvPr id="0" name=""/>
        <dsp:cNvSpPr/>
      </dsp:nvSpPr>
      <dsp:spPr>
        <a:xfrm>
          <a:off x="0" y="4273273"/>
          <a:ext cx="9272016" cy="1223235"/>
        </a:xfrm>
        <a:prstGeom prst="roundRect">
          <a:avLst/>
        </a:prstGeom>
        <a:gradFill rotWithShape="0">
          <a:gsLst>
            <a:gs pos="0">
              <a:schemeClr val="lt1">
                <a:hueOff val="0"/>
                <a:satOff val="0"/>
                <a:lumOff val="0"/>
                <a:alphaOff val="0"/>
                <a:shade val="85000"/>
                <a:satMod val="130000"/>
              </a:schemeClr>
            </a:gs>
            <a:gs pos="34000">
              <a:schemeClr val="lt1">
                <a:hueOff val="0"/>
                <a:satOff val="0"/>
                <a:lumOff val="0"/>
                <a:alphaOff val="0"/>
                <a:shade val="87000"/>
                <a:satMod val="125000"/>
              </a:schemeClr>
            </a:gs>
            <a:gs pos="70000">
              <a:schemeClr val="lt1">
                <a:hueOff val="0"/>
                <a:satOff val="0"/>
                <a:lumOff val="0"/>
                <a:alphaOff val="0"/>
                <a:tint val="100000"/>
                <a:shade val="90000"/>
                <a:satMod val="130000"/>
              </a:schemeClr>
            </a:gs>
            <a:gs pos="100000">
              <a:schemeClr val="l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kern="1200"/>
            <a:t>Work Plan and Future Work</a:t>
          </a:r>
          <a:endParaRPr lang="en-US" sz="5100" kern="1200" dirty="0"/>
        </a:p>
      </dsp:txBody>
      <dsp:txXfrm>
        <a:off x="59713" y="4332986"/>
        <a:ext cx="9152590" cy="11038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EBD1F-DC8C-4352-8F3F-2FE831080C34}">
      <dsp:nvSpPr>
        <dsp:cNvPr id="0" name=""/>
        <dsp:cNvSpPr/>
      </dsp:nvSpPr>
      <dsp:spPr>
        <a:xfrm>
          <a:off x="0" y="203492"/>
          <a:ext cx="9880036" cy="1216800"/>
        </a:xfrm>
        <a:prstGeom prst="roundRect">
          <a:avLst/>
        </a:prstGeom>
        <a:solidFill>
          <a:schemeClr val="l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Develop a real-time adaptive decision support system that continuously modifies its logic and structure based on live field data (e.g., during disasters). Unlike static decision trees, it evolves dynamically to reflect changing conditions.</a:t>
          </a:r>
        </a:p>
      </dsp:txBody>
      <dsp:txXfrm>
        <a:off x="59399" y="262891"/>
        <a:ext cx="9761238" cy="10980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EBD1F-DC8C-4352-8F3F-2FE831080C34}">
      <dsp:nvSpPr>
        <dsp:cNvPr id="0" name=""/>
        <dsp:cNvSpPr/>
      </dsp:nvSpPr>
      <dsp:spPr>
        <a:xfrm>
          <a:off x="0" y="12404"/>
          <a:ext cx="9880036" cy="551655"/>
        </a:xfrm>
        <a:prstGeom prst="roundRect">
          <a:avLst/>
        </a:prstGeom>
        <a:solidFill>
          <a:schemeClr val="lt1">
            <a:hueOff val="0"/>
            <a:satOff val="0"/>
            <a:lumOff val="0"/>
            <a:alphaOff val="0"/>
          </a:schemeClr>
        </a:solid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rgbClr val="C00000"/>
              </a:solidFill>
            </a:rPr>
            <a:t>Environmental Adaptation</a:t>
          </a:r>
          <a:endParaRPr lang="en-US" sz="2300" kern="1200" dirty="0">
            <a:solidFill>
              <a:srgbClr val="C00000"/>
            </a:solidFill>
          </a:endParaRPr>
        </a:p>
      </dsp:txBody>
      <dsp:txXfrm>
        <a:off x="26930" y="39334"/>
        <a:ext cx="9826176" cy="497795"/>
      </dsp:txXfrm>
    </dsp:sp>
    <dsp:sp modelId="{65305729-D217-4B4D-89D5-84A206E6B7DD}">
      <dsp:nvSpPr>
        <dsp:cNvPr id="0" name=""/>
        <dsp:cNvSpPr/>
      </dsp:nvSpPr>
      <dsp:spPr>
        <a:xfrm>
          <a:off x="0" y="564059"/>
          <a:ext cx="9880036"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369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 Adjusts decision logic based on real-time sensor or event data (e.g., wind, fire).</a:t>
          </a:r>
          <a:endParaRPr lang="en-US" sz="1800" kern="1200" dirty="0">
            <a:solidFill>
              <a:srgbClr val="C00000"/>
            </a:solidFill>
          </a:endParaRPr>
        </a:p>
      </dsp:txBody>
      <dsp:txXfrm>
        <a:off x="0" y="564059"/>
        <a:ext cx="9880036" cy="380880"/>
      </dsp:txXfrm>
    </dsp:sp>
    <dsp:sp modelId="{4E4232F3-87A9-4023-8555-172F7FA4E30B}">
      <dsp:nvSpPr>
        <dsp:cNvPr id="0" name=""/>
        <dsp:cNvSpPr/>
      </dsp:nvSpPr>
      <dsp:spPr>
        <a:xfrm>
          <a:off x="0" y="944939"/>
          <a:ext cx="9880036" cy="551655"/>
        </a:xfrm>
        <a:prstGeom prst="roundRect">
          <a:avLst/>
        </a:prstGeom>
        <a:solidFill>
          <a:schemeClr val="lt1">
            <a:hueOff val="0"/>
            <a:satOff val="0"/>
            <a:lumOff val="0"/>
            <a:alphaOff val="0"/>
          </a:schemeClr>
        </a:solid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rgbClr val="C00000"/>
              </a:solidFill>
            </a:rPr>
            <a:t>Decision Trajectory Intervention</a:t>
          </a:r>
          <a:endParaRPr lang="en-US" sz="2300" kern="1200" dirty="0">
            <a:solidFill>
              <a:srgbClr val="C00000"/>
            </a:solidFill>
          </a:endParaRPr>
        </a:p>
      </dsp:txBody>
      <dsp:txXfrm>
        <a:off x="26930" y="971869"/>
        <a:ext cx="9826176" cy="497795"/>
      </dsp:txXfrm>
    </dsp:sp>
    <dsp:sp modelId="{918F7E44-181B-4B73-944F-F3EFFB820832}">
      <dsp:nvSpPr>
        <dsp:cNvPr id="0" name=""/>
        <dsp:cNvSpPr/>
      </dsp:nvSpPr>
      <dsp:spPr>
        <a:xfrm>
          <a:off x="0" y="1496595"/>
          <a:ext cx="9880036"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369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 Can insert, delete, or revise decisions in an ongoing decision sequence (trajectory).</a:t>
          </a:r>
        </a:p>
      </dsp:txBody>
      <dsp:txXfrm>
        <a:off x="0" y="1496595"/>
        <a:ext cx="9880036" cy="380880"/>
      </dsp:txXfrm>
    </dsp:sp>
    <dsp:sp modelId="{125CA997-B212-4C6D-8512-C0655A496C32}">
      <dsp:nvSpPr>
        <dsp:cNvPr id="0" name=""/>
        <dsp:cNvSpPr/>
      </dsp:nvSpPr>
      <dsp:spPr>
        <a:xfrm>
          <a:off x="0" y="1877475"/>
          <a:ext cx="9880036" cy="551655"/>
        </a:xfrm>
        <a:prstGeom prst="roundRect">
          <a:avLst/>
        </a:prstGeom>
        <a:solidFill>
          <a:schemeClr val="lt1">
            <a:hueOff val="0"/>
            <a:satOff val="0"/>
            <a:lumOff val="0"/>
            <a:alphaOff val="0"/>
          </a:schemeClr>
        </a:solid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rgbClr val="C00000"/>
              </a:solidFill>
            </a:rPr>
            <a:t>Dynamic Tree Modification</a:t>
          </a:r>
          <a:endParaRPr lang="en-US" sz="2300" kern="1200" dirty="0">
            <a:solidFill>
              <a:srgbClr val="C00000"/>
            </a:solidFill>
          </a:endParaRPr>
        </a:p>
      </dsp:txBody>
      <dsp:txXfrm>
        <a:off x="26930" y="1904405"/>
        <a:ext cx="9826176" cy="497795"/>
      </dsp:txXfrm>
    </dsp:sp>
    <dsp:sp modelId="{66660AEC-45AE-4A4C-914F-302A3F369819}">
      <dsp:nvSpPr>
        <dsp:cNvPr id="0" name=""/>
        <dsp:cNvSpPr/>
      </dsp:nvSpPr>
      <dsp:spPr>
        <a:xfrm>
          <a:off x="0" y="2429129"/>
          <a:ext cx="9880036"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369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Adds/removes/reconfigures decision nodes and branches on the fly—no downtime.</a:t>
          </a:r>
        </a:p>
      </dsp:txBody>
      <dsp:txXfrm>
        <a:off x="0" y="2429129"/>
        <a:ext cx="9880036" cy="380880"/>
      </dsp:txXfrm>
    </dsp:sp>
    <dsp:sp modelId="{37F4CB09-C3FA-489A-802F-C86E4EF29D2E}">
      <dsp:nvSpPr>
        <dsp:cNvPr id="0" name=""/>
        <dsp:cNvSpPr/>
      </dsp:nvSpPr>
      <dsp:spPr>
        <a:xfrm>
          <a:off x="0" y="2810010"/>
          <a:ext cx="9880036" cy="551655"/>
        </a:xfrm>
        <a:prstGeom prst="roundRect">
          <a:avLst/>
        </a:prstGeom>
        <a:solidFill>
          <a:schemeClr val="lt1">
            <a:hueOff val="0"/>
            <a:satOff val="0"/>
            <a:lumOff val="0"/>
            <a:alphaOff val="0"/>
          </a:schemeClr>
        </a:solid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rgbClr val="C00000"/>
              </a:solidFill>
            </a:rPr>
            <a:t>Learning from Feedback</a:t>
          </a:r>
          <a:endParaRPr lang="en-US" sz="2300" kern="1200" dirty="0">
            <a:solidFill>
              <a:srgbClr val="C00000"/>
            </a:solidFill>
          </a:endParaRPr>
        </a:p>
      </dsp:txBody>
      <dsp:txXfrm>
        <a:off x="26930" y="2836940"/>
        <a:ext cx="9826176" cy="497795"/>
      </dsp:txXfrm>
    </dsp:sp>
    <dsp:sp modelId="{B48C7E6D-FC06-4FA6-B6C4-3CEEAD873B92}">
      <dsp:nvSpPr>
        <dsp:cNvPr id="0" name=""/>
        <dsp:cNvSpPr/>
      </dsp:nvSpPr>
      <dsp:spPr>
        <a:xfrm>
          <a:off x="0" y="3361665"/>
          <a:ext cx="9880036"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369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 Continuously learns from past outcomes via reinforcement learning to improve decisions over time.</a:t>
          </a:r>
        </a:p>
      </dsp:txBody>
      <dsp:txXfrm>
        <a:off x="0" y="3361665"/>
        <a:ext cx="9880036" cy="5713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51B97-670C-446B-81C8-07F9B8368A46}" type="datetimeFigureOut">
              <a:rPr lang="en-US" smtClean="0"/>
              <a:t>6/19/2025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41EFDB-8B37-4382-A304-0CB339525488}" type="slidenum">
              <a:rPr lang="en-US" smtClean="0"/>
              <a:t>‹#›</a:t>
            </a:fld>
            <a:endParaRPr lang="en-US"/>
          </a:p>
        </p:txBody>
      </p:sp>
    </p:spTree>
    <p:extLst>
      <p:ext uri="{BB962C8B-B14F-4D97-AF65-F5344CB8AC3E}">
        <p14:creationId xmlns:p14="http://schemas.microsoft.com/office/powerpoint/2010/main" val="590507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prominent gaps of the existing EWS [2] and capabilities of FRs [3] are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“capacity of remote monitoring, coverage and sustainability of observation”, (ii) “localization of FR’s and incidents”, (iii) “rapid detection of incidents and response capability”, and (iv) “simulation exercises for preparedness”.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7741EFDB-8B37-4382-A304-0CB339525488}" type="slidenum">
              <a:rPr lang="en-US" smtClean="0"/>
              <a:t>3</a:t>
            </a:fld>
            <a:endParaRPr lang="en-US"/>
          </a:p>
        </p:txBody>
      </p:sp>
    </p:spTree>
    <p:extLst>
      <p:ext uri="{BB962C8B-B14F-4D97-AF65-F5344CB8AC3E}">
        <p14:creationId xmlns:p14="http://schemas.microsoft.com/office/powerpoint/2010/main" val="3451765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prominent gaps of the existing EWS [2] and capabilities of FRs [3] are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“capacity of remote monitoring, coverage and sustainability of observation”, (ii) “localization of FR’s and incidents”, (iii) “rapid detection of incidents and response capability”, and (iv) “simulation exercises for preparedness”.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7741EFDB-8B37-4382-A304-0CB339525488}" type="slidenum">
              <a:rPr lang="en-US" smtClean="0"/>
              <a:t>4</a:t>
            </a:fld>
            <a:endParaRPr lang="en-US"/>
          </a:p>
        </p:txBody>
      </p:sp>
    </p:spTree>
    <p:extLst>
      <p:ext uri="{BB962C8B-B14F-4D97-AF65-F5344CB8AC3E}">
        <p14:creationId xmlns:p14="http://schemas.microsoft.com/office/powerpoint/2010/main" val="4193582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cap="small" spc="-50" baseline="0">
                <a:solidFill>
                  <a:schemeClr val="tx1">
                    <a:lumMod val="85000"/>
                    <a:lumOff val="15000"/>
                  </a:schemeClr>
                </a:solidFill>
                <a:latin typeface="+mn-lt"/>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i="0" cap="none" spc="200" baseline="0">
                <a:solidFill>
                  <a:schemeClr val="tx2"/>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6" name="Slide Number Placeholder 5"/>
          <p:cNvSpPr>
            <a:spLocks noGrp="1"/>
          </p:cNvSpPr>
          <p:nvPr>
            <p:ph type="sldNum" sz="quarter" idx="12"/>
          </p:nvPr>
        </p:nvSpPr>
        <p:spPr/>
        <p:txBody>
          <a:bodyPr/>
          <a:lstStyle/>
          <a:p>
            <a:fld id="{0F4FBE90-EB1A-4CD8-B134-C7A82858680F}" type="slidenum">
              <a:rPr lang="en-US" smtClean="0"/>
              <a:t>‹#›</a:t>
            </a:fld>
            <a:endParaRPr lang="en-US"/>
          </a:p>
        </p:txBody>
      </p:sp>
      <p:cxnSp>
        <p:nvCxnSpPr>
          <p:cNvPr id="9" name="Straight Connector 8"/>
          <p:cNvCxnSpPr>
            <a:cxnSpLocks/>
          </p:cNvCxnSpPr>
          <p:nvPr/>
        </p:nvCxnSpPr>
        <p:spPr>
          <a:xfrm>
            <a:off x="0" y="4325112"/>
            <a:ext cx="121920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83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0"/>
            <a:ext cx="10058400" cy="6858000"/>
          </a:xfrm>
        </p:spPr>
        <p:txBody>
          <a:bodyPr anchor="ctr">
            <a:normAutofit/>
          </a:bodyPr>
          <a:lstStyle>
            <a:lvl1pPr algn="ctr">
              <a:lnSpc>
                <a:spcPct val="85000"/>
              </a:lnSpc>
              <a:defRPr sz="8000" cap="none" spc="-50" baseline="0">
                <a:solidFill>
                  <a:schemeClr val="tx1">
                    <a:lumMod val="85000"/>
                    <a:lumOff val="15000"/>
                  </a:schemeClr>
                </a:solidFill>
                <a:latin typeface="+mn-lt"/>
              </a:defRPr>
            </a:lvl1pPr>
          </a:lstStyle>
          <a:p>
            <a:r>
              <a:rPr lang="en-US" dirty="0"/>
              <a:t>Click to edit Master title style</a:t>
            </a:r>
          </a:p>
        </p:txBody>
      </p:sp>
      <p:sp>
        <p:nvSpPr>
          <p:cNvPr id="6" name="Slide Number Placeholder 5"/>
          <p:cNvSpPr>
            <a:spLocks noGrp="1"/>
          </p:cNvSpPr>
          <p:nvPr>
            <p:ph type="sldNum" sz="quarter" idx="12"/>
          </p:nvPr>
        </p:nvSpPr>
        <p:spPr/>
        <p:txBody>
          <a:bodyPr/>
          <a:lstStyle/>
          <a:p>
            <a:fld id="{0F4FBE90-EB1A-4CD8-B134-C7A82858680F}" type="slidenum">
              <a:rPr lang="en-US" smtClean="0"/>
              <a:t>‹#›</a:t>
            </a:fld>
            <a:endParaRPr lang="en-US"/>
          </a:p>
        </p:txBody>
      </p:sp>
    </p:spTree>
    <p:extLst>
      <p:ext uri="{BB962C8B-B14F-4D97-AF65-F5344CB8AC3E}">
        <p14:creationId xmlns:p14="http://schemas.microsoft.com/office/powerpoint/2010/main" val="1228171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1"/>
            <a:ext cx="12192001" cy="548658"/>
          </a:xfrm>
        </p:spPr>
        <p:txBody>
          <a:bodyPr>
            <a:noAutofit/>
          </a:bodyPr>
          <a:lstStyle>
            <a:lvl1pPr marL="0">
              <a:defRPr sz="3200" b="1">
                <a:solidFill>
                  <a:srgbClr val="C00000"/>
                </a:solidFill>
                <a:effectLst>
                  <a:outerShdw blurRad="38100" dist="38100" dir="2700000" algn="tl">
                    <a:srgbClr val="000000">
                      <a:alpha val="43137"/>
                    </a:srgbClr>
                  </a:outerShdw>
                </a:effectLst>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0" y="648700"/>
            <a:ext cx="12192000" cy="5660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0F4FBE90-EB1A-4CD8-B134-C7A82858680F}" type="slidenum">
              <a:rPr lang="en-US" smtClean="0"/>
              <a:t>‹#›</a:t>
            </a:fld>
            <a:endParaRPr lang="en-US"/>
          </a:p>
        </p:txBody>
      </p:sp>
      <p:cxnSp>
        <p:nvCxnSpPr>
          <p:cNvPr id="9" name="Straight Connector 8">
            <a:extLst>
              <a:ext uri="{FF2B5EF4-FFF2-40B4-BE49-F238E27FC236}">
                <a16:creationId xmlns:a16="http://schemas.microsoft.com/office/drawing/2014/main" id="{13A40DE9-1148-94E0-1F93-10FAC60CF6E5}"/>
              </a:ext>
            </a:extLst>
          </p:cNvPr>
          <p:cNvCxnSpPr>
            <a:cxnSpLocks/>
          </p:cNvCxnSpPr>
          <p:nvPr userDrawn="1"/>
        </p:nvCxnSpPr>
        <p:spPr>
          <a:xfrm>
            <a:off x="0" y="548659"/>
            <a:ext cx="121920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4573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 y="6400800"/>
            <a:ext cx="12192000" cy="457200"/>
          </a:xfrm>
          <a:prstGeom prst="rect">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1744497" y="9542838"/>
            <a:ext cx="45719" cy="45719"/>
          </a:xfrm>
          <a:prstGeom prst="rect">
            <a:avLst/>
          </a:prstGeom>
        </p:spPr>
        <p:txBody>
          <a:bodyPr vert="horz" lIns="91440" tIns="45720" rIns="91440" bIns="45720" rtlCol="0" anchor="ctr"/>
          <a:lstStyle>
            <a:lvl1pPr algn="r">
              <a:defRPr sz="1050">
                <a:solidFill>
                  <a:schemeClr val="tx1"/>
                </a:solidFill>
              </a:defRPr>
            </a:lvl1pPr>
          </a:lstStyle>
          <a:p>
            <a:fld id="{0F4FBE90-EB1A-4CD8-B134-C7A82858680F}" type="slidenum">
              <a:rPr lang="en-US" smtClean="0"/>
              <a:pPr/>
              <a:t>‹#›</a:t>
            </a:fld>
            <a:endParaRPr lang="en-US"/>
          </a:p>
        </p:txBody>
      </p:sp>
      <p:pic>
        <p:nvPicPr>
          <p:cNvPr id="1028" name="Picture 4">
            <a:extLst>
              <a:ext uri="{FF2B5EF4-FFF2-40B4-BE49-F238E27FC236}">
                <a16:creationId xmlns:a16="http://schemas.microsoft.com/office/drawing/2014/main" id="{E480FE93-8C75-145A-377B-39C5A6738EC1}"/>
              </a:ext>
            </a:extLst>
          </p:cNvPr>
          <p:cNvPicPr>
            <a:picLocks noChangeAspect="1" noChangeArrowheads="1"/>
          </p:cNvPicPr>
          <p:nvPr userDrawn="1"/>
        </p:nvPicPr>
        <p:blipFill rotWithShape="1">
          <a:blip r:embed="rId5" cstate="hqprint">
            <a:extLst>
              <a:ext uri="{28A0092B-C50C-407E-A947-70E740481C1C}">
                <a14:useLocalDpi xmlns:a14="http://schemas.microsoft.com/office/drawing/2010/main" val="0"/>
              </a:ext>
            </a:extLst>
          </a:blip>
          <a:srcRect l="23313" t="30045" r="23402" b="32862"/>
          <a:stretch/>
        </p:blipFill>
        <p:spPr bwMode="auto">
          <a:xfrm>
            <a:off x="-1" y="6367315"/>
            <a:ext cx="1159245" cy="49068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21B03C3-7EE2-563A-290A-BA5D7A804468}"/>
              </a:ext>
            </a:extLst>
          </p:cNvPr>
          <p:cNvSpPr txBox="1"/>
          <p:nvPr userDrawn="1"/>
        </p:nvSpPr>
        <p:spPr>
          <a:xfrm>
            <a:off x="5221224" y="6412602"/>
            <a:ext cx="1810512" cy="400110"/>
          </a:xfrm>
          <a:prstGeom prst="rect">
            <a:avLst/>
          </a:prstGeom>
          <a:noFill/>
        </p:spPr>
        <p:txBody>
          <a:bodyPr wrap="square">
            <a:spAutoFit/>
          </a:bodyPr>
          <a:lstStyle/>
          <a:p>
            <a:r>
              <a:rPr lang="en-US" sz="2000" dirty="0" err="1">
                <a:solidFill>
                  <a:srgbClr val="C00000"/>
                </a:solidFill>
              </a:rPr>
              <a:t>Disaster</a:t>
            </a:r>
            <a:r>
              <a:rPr lang="en-US" sz="2000" dirty="0" err="1">
                <a:solidFill>
                  <a:schemeClr val="tx1">
                    <a:lumMod val="75000"/>
                    <a:lumOff val="25000"/>
                  </a:schemeClr>
                </a:solidFill>
              </a:rPr>
              <a:t>AWARE</a:t>
            </a:r>
            <a:endParaRPr lang="en-US" dirty="0">
              <a:solidFill>
                <a:schemeClr val="tx1">
                  <a:lumMod val="75000"/>
                  <a:lumOff val="25000"/>
                </a:schemeClr>
              </a:solidFill>
            </a:endParaRPr>
          </a:p>
        </p:txBody>
      </p:sp>
      <p:pic>
        <p:nvPicPr>
          <p:cNvPr id="12" name="Picture 2" descr="Formlar ve Görseller | ODTÜ ELEKTRİK - ELEKTRONİK MÜHENDİSLİĞİ">
            <a:extLst>
              <a:ext uri="{FF2B5EF4-FFF2-40B4-BE49-F238E27FC236}">
                <a16:creationId xmlns:a16="http://schemas.microsoft.com/office/drawing/2014/main" id="{69130ABF-05ED-0A79-6429-1B433124D101}"/>
              </a:ext>
            </a:extLst>
          </p:cNvPr>
          <p:cNvPicPr>
            <a:picLocks noChangeAspect="1" noChangeArrowheads="1"/>
          </p:cNvPicPr>
          <p:nvPr userDrawn="1"/>
        </p:nvPicPr>
        <p:blipFill>
          <a:blip r:embed="rId6" cstate="hq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00783" y="6411501"/>
            <a:ext cx="633984" cy="444279"/>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5">
            <a:extLst>
              <a:ext uri="{FF2B5EF4-FFF2-40B4-BE49-F238E27FC236}">
                <a16:creationId xmlns:a16="http://schemas.microsoft.com/office/drawing/2014/main" id="{A5A56C65-3110-43B7-A7F7-08E71E3267C0}"/>
              </a:ext>
            </a:extLst>
          </p:cNvPr>
          <p:cNvSpPr txBox="1">
            <a:spLocks/>
          </p:cNvSpPr>
          <p:nvPr userDrawn="1"/>
        </p:nvSpPr>
        <p:spPr>
          <a:xfrm>
            <a:off x="11374851" y="6411501"/>
            <a:ext cx="817148"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8CA2D8A-46E1-48C2-98FF-A4B66179A683}" type="slidenum">
              <a:rPr lang="en-US" smtClean="0"/>
              <a:pPr/>
              <a:t>‹#›</a:t>
            </a:fld>
            <a:endParaRPr lang="en-US" dirty="0"/>
          </a:p>
        </p:txBody>
      </p:sp>
    </p:spTree>
    <p:extLst>
      <p:ext uri="{BB962C8B-B14F-4D97-AF65-F5344CB8AC3E}">
        <p14:creationId xmlns:p14="http://schemas.microsoft.com/office/powerpoint/2010/main" val="1667517782"/>
      </p:ext>
    </p:extLst>
  </p:cSld>
  <p:clrMap bg1="lt1" tx1="dk1" bg2="lt2" tx2="dk2" accent1="accent1" accent2="accent2" accent3="accent3" accent4="accent4" accent5="accent5" accent6="accent6" hlink="hlink" folHlink="folHlink"/>
  <p:sldLayoutIdLst>
    <p:sldLayoutId id="2147483697" r:id="rId1"/>
    <p:sldLayoutId id="2147483699" r:id="rId2"/>
    <p:sldLayoutId id="2147483698" r:id="rId3"/>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microsoft.com/office/2007/relationships/diagramDrawing" Target="../diagrams/drawing3.xml"/><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diagramColors" Target="../diagrams/colors3.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2.xml"/><Relationship Id="rId11" Type="http://schemas.openxmlformats.org/officeDocument/2006/relationships/diagramQuickStyle" Target="../diagrams/quickStyle3.xml"/><Relationship Id="rId5" Type="http://schemas.openxmlformats.org/officeDocument/2006/relationships/diagramQuickStyle" Target="../diagrams/quickStyle2.xml"/><Relationship Id="rId10" Type="http://schemas.openxmlformats.org/officeDocument/2006/relationships/diagramLayout" Target="../diagrams/layout3.xml"/><Relationship Id="rId4" Type="http://schemas.openxmlformats.org/officeDocument/2006/relationships/diagramLayout" Target="../diagrams/layout2.xml"/><Relationship Id="rId9" Type="http://schemas.openxmlformats.org/officeDocument/2006/relationships/diagramData" Target="../diagrams/data3.xml"/><Relationship Id="rId1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48B8D7-B02C-F5FA-51F2-152A092DB42C}"/>
              </a:ext>
            </a:extLst>
          </p:cNvPr>
          <p:cNvPicPr>
            <a:picLocks noChangeAspect="1"/>
          </p:cNvPicPr>
          <p:nvPr/>
        </p:nvPicPr>
        <p:blipFill>
          <a:blip r:embed="rId2"/>
          <a:stretch>
            <a:fillRect/>
          </a:stretch>
        </p:blipFill>
        <p:spPr>
          <a:xfrm>
            <a:off x="7253208" y="195514"/>
            <a:ext cx="4095830" cy="4087822"/>
          </a:xfrm>
          <a:prstGeom prst="rect">
            <a:avLst/>
          </a:prstGeom>
          <a:ln>
            <a:noFill/>
          </a:ln>
          <a:effectLst>
            <a:softEdge rad="112500"/>
          </a:effectLst>
        </p:spPr>
      </p:pic>
      <p:sp>
        <p:nvSpPr>
          <p:cNvPr id="7" name="TextBox 6">
            <a:extLst>
              <a:ext uri="{FF2B5EF4-FFF2-40B4-BE49-F238E27FC236}">
                <a16:creationId xmlns:a16="http://schemas.microsoft.com/office/drawing/2014/main" id="{BF5B60B9-E92A-5C53-023B-3E14B380D3AC}"/>
              </a:ext>
            </a:extLst>
          </p:cNvPr>
          <p:cNvSpPr txBox="1"/>
          <p:nvPr/>
        </p:nvSpPr>
        <p:spPr>
          <a:xfrm>
            <a:off x="1" y="2978463"/>
            <a:ext cx="7158038" cy="1261884"/>
          </a:xfrm>
          <a:prstGeom prst="rect">
            <a:avLst/>
          </a:prstGeom>
          <a:noFill/>
        </p:spPr>
        <p:txBody>
          <a:bodyPr wrap="square">
            <a:spAutoFit/>
          </a:bodyPr>
          <a:lstStyle/>
          <a:p>
            <a:pPr algn="ctr"/>
            <a:r>
              <a:rPr lang="en-US" sz="2400" dirty="0">
                <a:effectLst/>
                <a:latin typeface="Times New Roman" panose="02020603050405020304" pitchFamily="18" charset="0"/>
                <a:ea typeface="MS Mincho" panose="02020609040205080304" pitchFamily="49" charset="-128"/>
              </a:rPr>
              <a:t>AI Enhanced Decision Support Using Swarm Robotics in Disaster Management</a:t>
            </a:r>
          </a:p>
          <a:p>
            <a:pPr algn="ctr"/>
            <a:r>
              <a:rPr lang="en-US" sz="2800" b="1" i="1" dirty="0">
                <a:solidFill>
                  <a:srgbClr val="C00000"/>
                </a:solidFill>
                <a:effectLst/>
                <a:latin typeface="Times New Roman" panose="02020603050405020304" pitchFamily="18" charset="0"/>
                <a:ea typeface="MS Mincho" panose="02020609040205080304" pitchFamily="49" charset="-128"/>
              </a:rPr>
              <a:t>Disaster</a:t>
            </a:r>
            <a:r>
              <a:rPr lang="en-US" sz="2800" b="1" i="1" dirty="0">
                <a:effectLst/>
                <a:latin typeface="Times New Roman" panose="02020603050405020304" pitchFamily="18" charset="0"/>
                <a:ea typeface="MS Mincho" panose="02020609040205080304" pitchFamily="49" charset="-128"/>
              </a:rPr>
              <a:t>Aware</a:t>
            </a:r>
            <a:endParaRPr lang="en-US" sz="2400" b="1" i="1" dirty="0"/>
          </a:p>
        </p:txBody>
      </p:sp>
      <p:sp>
        <p:nvSpPr>
          <p:cNvPr id="11" name="TextBox 10">
            <a:extLst>
              <a:ext uri="{FF2B5EF4-FFF2-40B4-BE49-F238E27FC236}">
                <a16:creationId xmlns:a16="http://schemas.microsoft.com/office/drawing/2014/main" id="{088FAC8C-EBC9-954C-D3FD-81FEE2268DD9}"/>
              </a:ext>
            </a:extLst>
          </p:cNvPr>
          <p:cNvSpPr txBox="1"/>
          <p:nvPr/>
        </p:nvSpPr>
        <p:spPr>
          <a:xfrm>
            <a:off x="6095999" y="4480347"/>
            <a:ext cx="5062451" cy="369332"/>
          </a:xfrm>
          <a:prstGeom prst="rect">
            <a:avLst/>
          </a:prstGeom>
          <a:noFill/>
        </p:spPr>
        <p:txBody>
          <a:bodyPr wrap="square">
            <a:spAutoFit/>
          </a:bodyPr>
          <a:lstStyle/>
          <a:p>
            <a:pPr algn="r"/>
            <a:r>
              <a:rPr lang="en-US" sz="1800" cap="none" dirty="0">
                <a:solidFill>
                  <a:schemeClr val="tx1">
                    <a:lumMod val="75000"/>
                    <a:lumOff val="25000"/>
                  </a:schemeClr>
                </a:solidFill>
                <a:effectLst/>
                <a:latin typeface="Times New Roman" panose="02020603050405020304" pitchFamily="18" charset="0"/>
                <a:ea typeface="SimSun" panose="02010600030101010101" pitchFamily="2" charset="-122"/>
              </a:rPr>
              <a:t>Çağlar AKMAN</a:t>
            </a:r>
            <a:r>
              <a:rPr lang="en-US" sz="1800" i="1" cap="none" dirty="0">
                <a:solidFill>
                  <a:schemeClr val="tx1">
                    <a:lumMod val="75000"/>
                    <a:lumOff val="25000"/>
                  </a:schemeClr>
                </a:solidFill>
                <a:effectLst/>
                <a:latin typeface="Times New Roman" panose="02020603050405020304" pitchFamily="18" charset="0"/>
                <a:ea typeface="SimSun" panose="02010600030101010101" pitchFamily="2" charset="-122"/>
              </a:rPr>
              <a:t> </a:t>
            </a:r>
            <a:endParaRPr lang="en-US" dirty="0">
              <a:solidFill>
                <a:schemeClr val="tx1">
                  <a:lumMod val="75000"/>
                  <a:lumOff val="25000"/>
                </a:schemeClr>
              </a:solidFill>
            </a:endParaRPr>
          </a:p>
        </p:txBody>
      </p:sp>
      <p:pic>
        <p:nvPicPr>
          <p:cNvPr id="20" name="Picture 4">
            <a:extLst>
              <a:ext uri="{FF2B5EF4-FFF2-40B4-BE49-F238E27FC236}">
                <a16:creationId xmlns:a16="http://schemas.microsoft.com/office/drawing/2014/main" id="{62D99A8B-59E8-4E01-7ABD-3E56FCBEBF17}"/>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l="23313" t="30045" r="23402" b="32862"/>
          <a:stretch/>
        </p:blipFill>
        <p:spPr bwMode="auto">
          <a:xfrm>
            <a:off x="2857762" y="6150811"/>
            <a:ext cx="1110032" cy="469854"/>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63AC6683-D185-08FF-C6C0-E0A7AEDA034D}"/>
              </a:ext>
            </a:extLst>
          </p:cNvPr>
          <p:cNvSpPr txBox="1"/>
          <p:nvPr/>
        </p:nvSpPr>
        <p:spPr>
          <a:xfrm>
            <a:off x="3601077" y="5623881"/>
            <a:ext cx="5062451" cy="369332"/>
          </a:xfrm>
          <a:prstGeom prst="rect">
            <a:avLst/>
          </a:prstGeom>
          <a:noFill/>
        </p:spPr>
        <p:txBody>
          <a:bodyPr wrap="square">
            <a:spAutoFit/>
          </a:bodyPr>
          <a:lstStyle/>
          <a:p>
            <a:r>
              <a:rPr lang="en-US" sz="1800" i="1" cap="none" dirty="0">
                <a:solidFill>
                  <a:schemeClr val="tx1">
                    <a:lumMod val="75000"/>
                    <a:lumOff val="25000"/>
                  </a:schemeClr>
                </a:solidFill>
                <a:effectLst/>
                <a:latin typeface="Times New Roman" panose="02020603050405020304" pitchFamily="18" charset="0"/>
                <a:ea typeface="SimSun" panose="02010600030101010101" pitchFamily="2" charset="-122"/>
              </a:rPr>
              <a:t>Electrical and Electronics Engineering Department</a:t>
            </a:r>
            <a:endParaRPr lang="en-US" dirty="0"/>
          </a:p>
        </p:txBody>
      </p:sp>
      <p:sp>
        <p:nvSpPr>
          <p:cNvPr id="24" name="TextBox 23">
            <a:extLst>
              <a:ext uri="{FF2B5EF4-FFF2-40B4-BE49-F238E27FC236}">
                <a16:creationId xmlns:a16="http://schemas.microsoft.com/office/drawing/2014/main" id="{637FCB71-F2BF-0BC8-AC43-16833431D8B3}"/>
              </a:ext>
            </a:extLst>
          </p:cNvPr>
          <p:cNvSpPr txBox="1"/>
          <p:nvPr/>
        </p:nvSpPr>
        <p:spPr>
          <a:xfrm>
            <a:off x="4391514" y="6190224"/>
            <a:ext cx="3481578" cy="369332"/>
          </a:xfrm>
          <a:prstGeom prst="rect">
            <a:avLst/>
          </a:prstGeom>
          <a:noFill/>
        </p:spPr>
        <p:txBody>
          <a:bodyPr wrap="square">
            <a:spAutoFit/>
          </a:bodyPr>
          <a:lstStyle/>
          <a:p>
            <a:r>
              <a:rPr lang="en-US" sz="1800" i="1" cap="none" dirty="0">
                <a:solidFill>
                  <a:schemeClr val="tx1">
                    <a:lumMod val="75000"/>
                    <a:lumOff val="25000"/>
                  </a:schemeClr>
                </a:solidFill>
                <a:effectLst/>
                <a:latin typeface="Times New Roman" panose="02020603050405020304" pitchFamily="18" charset="0"/>
                <a:ea typeface="SimSun" panose="02010600030101010101" pitchFamily="2" charset="-122"/>
              </a:rPr>
              <a:t>Middle East Technical University</a:t>
            </a:r>
            <a:endParaRPr lang="en-US" dirty="0"/>
          </a:p>
        </p:txBody>
      </p:sp>
      <p:sp>
        <p:nvSpPr>
          <p:cNvPr id="26" name="TextBox 25">
            <a:extLst>
              <a:ext uri="{FF2B5EF4-FFF2-40B4-BE49-F238E27FC236}">
                <a16:creationId xmlns:a16="http://schemas.microsoft.com/office/drawing/2014/main" id="{9886FA6A-EA9C-EA73-3348-F9A33E08481C}"/>
              </a:ext>
            </a:extLst>
          </p:cNvPr>
          <p:cNvSpPr txBox="1"/>
          <p:nvPr/>
        </p:nvSpPr>
        <p:spPr>
          <a:xfrm>
            <a:off x="5063974" y="4862024"/>
            <a:ext cx="6094476" cy="369332"/>
          </a:xfrm>
          <a:prstGeom prst="rect">
            <a:avLst/>
          </a:prstGeom>
          <a:noFill/>
        </p:spPr>
        <p:txBody>
          <a:bodyPr wrap="square">
            <a:spAutoFit/>
          </a:bodyPr>
          <a:lstStyle/>
          <a:p>
            <a:pPr algn="r"/>
            <a:r>
              <a:rPr lang="en-US" i="1" dirty="0"/>
              <a:t>Supervisor: Prof. Dr. Kemal Leblebicioğlu</a:t>
            </a:r>
          </a:p>
        </p:txBody>
      </p:sp>
      <p:pic>
        <p:nvPicPr>
          <p:cNvPr id="2050" name="Picture 2" descr="Formlar ve Görseller | ODTÜ ELEKTRİK - ELEKTRONİK MÜHENDİSLİĞİ">
            <a:extLst>
              <a:ext uri="{FF2B5EF4-FFF2-40B4-BE49-F238E27FC236}">
                <a16:creationId xmlns:a16="http://schemas.microsoft.com/office/drawing/2014/main" id="{A8BE5B32-FA28-AF4D-439A-DCBEE1125C50}"/>
              </a:ext>
            </a:extLst>
          </p:cNvPr>
          <p:cNvPicPr>
            <a:picLocks noChangeAspect="1" noChangeArrowheads="1"/>
          </p:cNvPicPr>
          <p:nvPr/>
        </p:nvPicPr>
        <p:blipFill>
          <a:blip r:embed="rId4" cstate="hq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43620" y="5538037"/>
            <a:ext cx="681818" cy="54102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669F2FBA-0707-DD50-EB88-3A25CEE0AB6D}"/>
              </a:ext>
            </a:extLst>
          </p:cNvPr>
          <p:cNvPicPr>
            <a:picLocks noChangeAspect="1"/>
          </p:cNvPicPr>
          <p:nvPr/>
        </p:nvPicPr>
        <p:blipFill rotWithShape="1">
          <a:blip r:embed="rId5">
            <a:clrChange>
              <a:clrFrom>
                <a:srgbClr val="FFFFFF"/>
              </a:clrFrom>
              <a:clrTo>
                <a:srgbClr val="FFFFFF">
                  <a:alpha val="0"/>
                </a:srgbClr>
              </a:clrTo>
            </a:clrChange>
            <a:duotone>
              <a:prstClr val="black"/>
              <a:schemeClr val="bg2">
                <a:lumMod val="90000"/>
                <a:tint val="45000"/>
                <a:satMod val="400000"/>
              </a:schemeClr>
            </a:duotone>
          </a:blip>
          <a:srcRect t="8302"/>
          <a:stretch/>
        </p:blipFill>
        <p:spPr>
          <a:xfrm>
            <a:off x="1526206" y="382428"/>
            <a:ext cx="4569793" cy="2535940"/>
          </a:xfrm>
          <a:prstGeom prst="rect">
            <a:avLst/>
          </a:prstGeom>
        </p:spPr>
      </p:pic>
    </p:spTree>
    <p:extLst>
      <p:ext uri="{BB962C8B-B14F-4D97-AF65-F5344CB8AC3E}">
        <p14:creationId xmlns:p14="http://schemas.microsoft.com/office/powerpoint/2010/main" val="2281360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6B3BA-5690-7DDC-389B-74D5EAA12FBA}"/>
              </a:ext>
            </a:extLst>
          </p:cNvPr>
          <p:cNvSpPr>
            <a:spLocks noGrp="1"/>
          </p:cNvSpPr>
          <p:nvPr>
            <p:ph type="title"/>
          </p:nvPr>
        </p:nvSpPr>
        <p:spPr/>
        <p:txBody>
          <a:bodyPr/>
          <a:lstStyle/>
          <a:p>
            <a:r>
              <a:rPr lang="en-US" dirty="0"/>
              <a:t>Outline</a:t>
            </a:r>
          </a:p>
        </p:txBody>
      </p:sp>
      <p:graphicFrame>
        <p:nvGraphicFramePr>
          <p:cNvPr id="4" name="Content Placeholder 3">
            <a:extLst>
              <a:ext uri="{FF2B5EF4-FFF2-40B4-BE49-F238E27FC236}">
                <a16:creationId xmlns:a16="http://schemas.microsoft.com/office/drawing/2014/main" id="{BD6F3BB0-B608-0DDF-3C65-71FB99DF3F10}"/>
              </a:ext>
            </a:extLst>
          </p:cNvPr>
          <p:cNvGraphicFramePr>
            <a:graphicFrameLocks noGrp="1"/>
          </p:cNvGraphicFramePr>
          <p:nvPr>
            <p:ph idx="1"/>
            <p:extLst>
              <p:ext uri="{D42A27DB-BD31-4B8C-83A1-F6EECF244321}">
                <p14:modId xmlns:p14="http://schemas.microsoft.com/office/powerpoint/2010/main" val="60650378"/>
              </p:ext>
            </p:extLst>
          </p:nvPr>
        </p:nvGraphicFramePr>
        <p:xfrm>
          <a:off x="1600200" y="599281"/>
          <a:ext cx="9272016" cy="565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EB3E2A69-F186-721C-3696-BB303DBDCFE2}"/>
              </a:ext>
            </a:extLst>
          </p:cNvPr>
          <p:cNvSpPr>
            <a:spLocks noGrp="1"/>
          </p:cNvSpPr>
          <p:nvPr>
            <p:ph type="sldNum" sz="quarter" idx="12"/>
          </p:nvPr>
        </p:nvSpPr>
        <p:spPr/>
        <p:txBody>
          <a:bodyPr/>
          <a:lstStyle/>
          <a:p>
            <a:fld id="{0F4FBE90-EB1A-4CD8-B134-C7A82858680F}" type="slidenum">
              <a:rPr lang="en-US" smtClean="0"/>
              <a:t>2</a:t>
            </a:fld>
            <a:endParaRPr lang="en-US"/>
          </a:p>
        </p:txBody>
      </p:sp>
    </p:spTree>
    <p:extLst>
      <p:ext uri="{BB962C8B-B14F-4D97-AF65-F5344CB8AC3E}">
        <p14:creationId xmlns:p14="http://schemas.microsoft.com/office/powerpoint/2010/main" val="671187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42FFE-B99F-ED15-0C92-F1DB9BC4230E}"/>
              </a:ext>
            </a:extLst>
          </p:cNvPr>
          <p:cNvSpPr>
            <a:spLocks noGrp="1"/>
          </p:cNvSpPr>
          <p:nvPr>
            <p:ph type="title"/>
          </p:nvPr>
        </p:nvSpPr>
        <p:spPr/>
        <p:txBody>
          <a:bodyPr/>
          <a:lstStyle/>
          <a:p>
            <a:r>
              <a:rPr lang="en-US" dirty="0"/>
              <a:t>Problem Definition and Research Topics</a:t>
            </a:r>
          </a:p>
        </p:txBody>
      </p:sp>
      <p:graphicFrame>
        <p:nvGraphicFramePr>
          <p:cNvPr id="6" name="Diagram 5">
            <a:extLst>
              <a:ext uri="{FF2B5EF4-FFF2-40B4-BE49-F238E27FC236}">
                <a16:creationId xmlns:a16="http://schemas.microsoft.com/office/drawing/2014/main" id="{127FBF6D-3E87-C43F-C8D3-2371D0401EB4}"/>
              </a:ext>
            </a:extLst>
          </p:cNvPr>
          <p:cNvGraphicFramePr/>
          <p:nvPr>
            <p:extLst>
              <p:ext uri="{D42A27DB-BD31-4B8C-83A1-F6EECF244321}">
                <p14:modId xmlns:p14="http://schemas.microsoft.com/office/powerpoint/2010/main" val="4208045865"/>
              </p:ext>
            </p:extLst>
          </p:nvPr>
        </p:nvGraphicFramePr>
        <p:xfrm>
          <a:off x="1770942" y="703437"/>
          <a:ext cx="9880036" cy="16237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68311A51-196C-D457-752A-099D900D8986}"/>
              </a:ext>
            </a:extLst>
          </p:cNvPr>
          <p:cNvSpPr txBox="1"/>
          <p:nvPr/>
        </p:nvSpPr>
        <p:spPr>
          <a:xfrm>
            <a:off x="1770942" y="532658"/>
            <a:ext cx="9655813" cy="369332"/>
          </a:xfrm>
          <a:prstGeom prst="rect">
            <a:avLst/>
          </a:prstGeom>
          <a:noFill/>
        </p:spPr>
        <p:txBody>
          <a:bodyPr wrap="square" rtlCol="0">
            <a:spAutoFit/>
          </a:bodyPr>
          <a:lstStyle/>
          <a:p>
            <a:r>
              <a:rPr lang="tr-TR" b="1" dirty="0" err="1"/>
              <a:t>Objective</a:t>
            </a:r>
            <a:endParaRPr lang="en-US" b="1" dirty="0"/>
          </a:p>
        </p:txBody>
      </p:sp>
      <p:pic>
        <p:nvPicPr>
          <p:cNvPr id="4102" name="Picture 6" descr="Challenges - Free business and finance icons">
            <a:extLst>
              <a:ext uri="{FF2B5EF4-FFF2-40B4-BE49-F238E27FC236}">
                <a16:creationId xmlns:a16="http://schemas.microsoft.com/office/drawing/2014/main" id="{91AA7131-A3FE-62EE-A921-D817F9067786}"/>
              </a:ext>
            </a:extLst>
          </p:cNvPr>
          <p:cNvPicPr>
            <a:picLocks noChangeAspect="1" noChangeArrowheads="1"/>
          </p:cNvPicPr>
          <p:nvPr/>
        </p:nvPicPr>
        <p:blipFill>
          <a:blip r:embed="rId8"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4271" y="2379952"/>
            <a:ext cx="1049048" cy="104904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E0FE5A44-5F1D-72DA-2562-43A2D54C6346}"/>
              </a:ext>
            </a:extLst>
          </p:cNvPr>
          <p:cNvCxnSpPr>
            <a:cxnSpLocks/>
          </p:cNvCxnSpPr>
          <p:nvPr/>
        </p:nvCxnSpPr>
        <p:spPr>
          <a:xfrm>
            <a:off x="0" y="2246935"/>
            <a:ext cx="12192001" cy="26754"/>
          </a:xfrm>
          <a:prstGeom prst="line">
            <a:avLst/>
          </a:prstGeom>
          <a:ln w="3175"/>
        </p:spPr>
        <p:style>
          <a:lnRef idx="1">
            <a:schemeClr val="dk1"/>
          </a:lnRef>
          <a:fillRef idx="0">
            <a:schemeClr val="dk1"/>
          </a:fillRef>
          <a:effectRef idx="0">
            <a:schemeClr val="dk1"/>
          </a:effectRef>
          <a:fontRef idx="minor">
            <a:schemeClr val="tx1"/>
          </a:fontRef>
        </p:style>
      </p:cxnSp>
      <p:graphicFrame>
        <p:nvGraphicFramePr>
          <p:cNvPr id="17" name="Diagram 16">
            <a:extLst>
              <a:ext uri="{FF2B5EF4-FFF2-40B4-BE49-F238E27FC236}">
                <a16:creationId xmlns:a16="http://schemas.microsoft.com/office/drawing/2014/main" id="{E010E6E9-85D5-0597-406D-2C6737F643AB}"/>
              </a:ext>
            </a:extLst>
          </p:cNvPr>
          <p:cNvGraphicFramePr/>
          <p:nvPr>
            <p:extLst>
              <p:ext uri="{D42A27DB-BD31-4B8C-83A1-F6EECF244321}">
                <p14:modId xmlns:p14="http://schemas.microsoft.com/office/powerpoint/2010/main" val="2148313489"/>
              </p:ext>
            </p:extLst>
          </p:nvPr>
        </p:nvGraphicFramePr>
        <p:xfrm>
          <a:off x="1770942" y="2379952"/>
          <a:ext cx="9880036" cy="394539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9" name="Slide Number Placeholder 18">
            <a:extLst>
              <a:ext uri="{FF2B5EF4-FFF2-40B4-BE49-F238E27FC236}">
                <a16:creationId xmlns:a16="http://schemas.microsoft.com/office/drawing/2014/main" id="{F098D1F8-CEA8-F448-E660-21B05BAFB4C4}"/>
              </a:ext>
            </a:extLst>
          </p:cNvPr>
          <p:cNvSpPr>
            <a:spLocks noGrp="1"/>
          </p:cNvSpPr>
          <p:nvPr>
            <p:ph type="sldNum" sz="quarter" idx="12"/>
          </p:nvPr>
        </p:nvSpPr>
        <p:spPr/>
        <p:txBody>
          <a:bodyPr/>
          <a:lstStyle/>
          <a:p>
            <a:fld id="{0F4FBE90-EB1A-4CD8-B134-C7A82858680F}" type="slidenum">
              <a:rPr lang="en-US" smtClean="0"/>
              <a:t>3</a:t>
            </a:fld>
            <a:endParaRPr lang="en-US"/>
          </a:p>
        </p:txBody>
      </p:sp>
      <p:pic>
        <p:nvPicPr>
          <p:cNvPr id="18" name="Picture 4" descr="Puzzle piece - Free entertainment icons">
            <a:extLst>
              <a:ext uri="{FF2B5EF4-FFF2-40B4-BE49-F238E27FC236}">
                <a16:creationId xmlns:a16="http://schemas.microsoft.com/office/drawing/2014/main" id="{FAE9F20D-F4AF-4ABC-9195-2A62A8926003}"/>
              </a:ext>
            </a:extLst>
          </p:cNvPr>
          <p:cNvPicPr>
            <a:picLocks noChangeAspect="1" noChangeArrowheads="1"/>
          </p:cNvPicPr>
          <p:nvPr/>
        </p:nvPicPr>
        <p:blipFill>
          <a:blip r:embed="rId14"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60946" y="606499"/>
            <a:ext cx="1049048" cy="1049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913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42FFE-B99F-ED15-0C92-F1DB9BC4230E}"/>
              </a:ext>
            </a:extLst>
          </p:cNvPr>
          <p:cNvSpPr>
            <a:spLocks noGrp="1"/>
          </p:cNvSpPr>
          <p:nvPr>
            <p:ph type="title"/>
          </p:nvPr>
        </p:nvSpPr>
        <p:spPr/>
        <p:txBody>
          <a:bodyPr/>
          <a:lstStyle/>
          <a:p>
            <a:r>
              <a:rPr lang="en-US" dirty="0"/>
              <a:t>Problem Definition and Research Topics</a:t>
            </a:r>
          </a:p>
        </p:txBody>
      </p:sp>
      <p:sp>
        <p:nvSpPr>
          <p:cNvPr id="19" name="Slide Number Placeholder 18">
            <a:extLst>
              <a:ext uri="{FF2B5EF4-FFF2-40B4-BE49-F238E27FC236}">
                <a16:creationId xmlns:a16="http://schemas.microsoft.com/office/drawing/2014/main" id="{F098D1F8-CEA8-F448-E660-21B05BAFB4C4}"/>
              </a:ext>
            </a:extLst>
          </p:cNvPr>
          <p:cNvSpPr>
            <a:spLocks noGrp="1"/>
          </p:cNvSpPr>
          <p:nvPr>
            <p:ph type="sldNum" sz="quarter" idx="12"/>
          </p:nvPr>
        </p:nvSpPr>
        <p:spPr/>
        <p:txBody>
          <a:bodyPr/>
          <a:lstStyle/>
          <a:p>
            <a:fld id="{0F4FBE90-EB1A-4CD8-B134-C7A82858680F}" type="slidenum">
              <a:rPr lang="en-US" smtClean="0"/>
              <a:t>4</a:t>
            </a:fld>
            <a:endParaRPr lang="en-US"/>
          </a:p>
        </p:txBody>
      </p:sp>
      <p:graphicFrame>
        <p:nvGraphicFramePr>
          <p:cNvPr id="18" name="Table 17">
            <a:extLst>
              <a:ext uri="{FF2B5EF4-FFF2-40B4-BE49-F238E27FC236}">
                <a16:creationId xmlns:a16="http://schemas.microsoft.com/office/drawing/2014/main" id="{805C421A-19CD-E111-983A-5D7BBADA8C7D}"/>
              </a:ext>
            </a:extLst>
          </p:cNvPr>
          <p:cNvGraphicFramePr>
            <a:graphicFrameLocks noGrp="1"/>
          </p:cNvGraphicFramePr>
          <p:nvPr>
            <p:extLst>
              <p:ext uri="{D42A27DB-BD31-4B8C-83A1-F6EECF244321}">
                <p14:modId xmlns:p14="http://schemas.microsoft.com/office/powerpoint/2010/main" val="1486671126"/>
              </p:ext>
            </p:extLst>
          </p:nvPr>
        </p:nvGraphicFramePr>
        <p:xfrm>
          <a:off x="768847" y="1027614"/>
          <a:ext cx="10058397" cy="3879750"/>
        </p:xfrm>
        <a:graphic>
          <a:graphicData uri="http://schemas.openxmlformats.org/drawingml/2006/table">
            <a:tbl>
              <a:tblPr firstRow="1" firstCol="1" bandRow="1"/>
              <a:tblGrid>
                <a:gridCol w="879104">
                  <a:extLst>
                    <a:ext uri="{9D8B030D-6E8A-4147-A177-3AD203B41FA5}">
                      <a16:colId xmlns:a16="http://schemas.microsoft.com/office/drawing/2014/main" val="186863364"/>
                    </a:ext>
                  </a:extLst>
                </a:gridCol>
                <a:gridCol w="3489128">
                  <a:extLst>
                    <a:ext uri="{9D8B030D-6E8A-4147-A177-3AD203B41FA5}">
                      <a16:colId xmlns:a16="http://schemas.microsoft.com/office/drawing/2014/main" val="1732359699"/>
                    </a:ext>
                  </a:extLst>
                </a:gridCol>
                <a:gridCol w="1138033">
                  <a:extLst>
                    <a:ext uri="{9D8B030D-6E8A-4147-A177-3AD203B41FA5}">
                      <a16:colId xmlns:a16="http://schemas.microsoft.com/office/drawing/2014/main" val="3286813899"/>
                    </a:ext>
                  </a:extLst>
                </a:gridCol>
                <a:gridCol w="1138033">
                  <a:extLst>
                    <a:ext uri="{9D8B030D-6E8A-4147-A177-3AD203B41FA5}">
                      <a16:colId xmlns:a16="http://schemas.microsoft.com/office/drawing/2014/main" val="2679705891"/>
                    </a:ext>
                  </a:extLst>
                </a:gridCol>
                <a:gridCol w="1138033">
                  <a:extLst>
                    <a:ext uri="{9D8B030D-6E8A-4147-A177-3AD203B41FA5}">
                      <a16:colId xmlns:a16="http://schemas.microsoft.com/office/drawing/2014/main" val="1578559537"/>
                    </a:ext>
                  </a:extLst>
                </a:gridCol>
                <a:gridCol w="1138033">
                  <a:extLst>
                    <a:ext uri="{9D8B030D-6E8A-4147-A177-3AD203B41FA5}">
                      <a16:colId xmlns:a16="http://schemas.microsoft.com/office/drawing/2014/main" val="1434639789"/>
                    </a:ext>
                  </a:extLst>
                </a:gridCol>
                <a:gridCol w="1138033">
                  <a:extLst>
                    <a:ext uri="{9D8B030D-6E8A-4147-A177-3AD203B41FA5}">
                      <a16:colId xmlns:a16="http://schemas.microsoft.com/office/drawing/2014/main" val="2663740564"/>
                    </a:ext>
                  </a:extLst>
                </a:gridCol>
              </a:tblGrid>
              <a:tr h="378918">
                <a:tc rowSpan="2" gridSpan="2">
                  <a:txBody>
                    <a:bodyPr/>
                    <a:lstStyle/>
                    <a:p>
                      <a:pPr algn="l">
                        <a:lnSpc>
                          <a:spcPct val="150000"/>
                        </a:lnSpc>
                      </a:pPr>
                      <a:r>
                        <a:rPr lang="en-GB"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b">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hMerge="1">
                  <a:txBody>
                    <a:bodyPr/>
                    <a:lstStyle/>
                    <a:p>
                      <a:endParaRPr lang="tr-TR"/>
                    </a:p>
                  </a:txBody>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1</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2</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3</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pPr>
                      <a:r>
                        <a:rPr lang="en-GB" sz="1000" b="1">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4</a:t>
                      </a:r>
                      <a:endParaRPr lang="tr-TR" sz="120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pPr>
                      <a:r>
                        <a:rPr lang="en-GB" sz="1000" b="1">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5</a:t>
                      </a:r>
                      <a:endParaRPr lang="tr-TR" sz="120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106352248"/>
                  </a:ext>
                </a:extLst>
              </a:tr>
              <a:tr h="378918">
                <a:tc gridSpan="2" vMerge="1">
                  <a:txBody>
                    <a:bodyPr/>
                    <a:lstStyle/>
                    <a:p>
                      <a:endParaRPr lang="tr-TR"/>
                    </a:p>
                  </a:txBody>
                  <a:tcPr/>
                </a:tc>
                <a:tc hMerge="1" vMerge="1">
                  <a:txBody>
                    <a:bodyPr/>
                    <a:lstStyle/>
                    <a:p>
                      <a:endParaRPr lang="tr-TR"/>
                    </a:p>
                  </a:txBody>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Spring</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Fall</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Spring</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Fall</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pPr>
                      <a:r>
                        <a:rPr lang="en-GB" sz="1000" b="1" dirty="0">
                          <a:solidFill>
                            <a:srgbClr val="000000"/>
                          </a:solidFill>
                          <a:effectLst/>
                          <a:highlight>
                            <a:srgbClr val="F2F2F2"/>
                          </a:highlight>
                          <a:latin typeface="Calibri" panose="020F0502020204030204" pitchFamily="34" charset="0"/>
                          <a:ea typeface="Times New Roman" panose="02020603050405020304" pitchFamily="18" charset="0"/>
                          <a:cs typeface="Calibri" panose="020F0502020204030204" pitchFamily="34" charset="0"/>
                        </a:rPr>
                        <a:t>Spring</a:t>
                      </a:r>
                      <a:endParaRPr lang="tr-TR" sz="1200" dirty="0">
                        <a:effectLst/>
                        <a:highlight>
                          <a:srgbClr val="F2F2F2"/>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30155986"/>
                  </a:ext>
                </a:extLst>
              </a:tr>
              <a:tr h="520319">
                <a:tc>
                  <a:txBody>
                    <a:bodyPr/>
                    <a:lstStyle/>
                    <a:p>
                      <a:pPr algn="l">
                        <a:lnSpc>
                          <a:spcPct val="150000"/>
                        </a:lnSpc>
                      </a:pPr>
                      <a:r>
                        <a:rPr lang="en-GB"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T1</a:t>
                      </a:r>
                      <a:endParaRPr lang="tr-TR" sz="18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200" b="1" kern="1200" dirty="0">
                          <a:solidFill>
                            <a:srgbClr val="00B050"/>
                          </a:solidFill>
                          <a:effectLst/>
                          <a:latin typeface="Calibri" panose="020F0502020204030204" pitchFamily="34" charset="0"/>
                          <a:ea typeface="Times New Roman" panose="02020603050405020304" pitchFamily="18" charset="0"/>
                          <a:cs typeface="Calibri" panose="020F0502020204030204" pitchFamily="34" charset="0"/>
                        </a:rPr>
                        <a:t>Literature Search</a:t>
                      </a:r>
                      <a:endParaRPr lang="tr-TR" sz="1200" b="1" kern="1200" dirty="0">
                        <a:solidFill>
                          <a:srgbClr val="00B05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000" dirty="0">
                          <a:solidFill>
                            <a:srgbClr val="000000"/>
                          </a:solidFill>
                          <a:effectLst/>
                          <a:highlight>
                            <a:srgbClr val="FBE4D5"/>
                          </a:highligh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highlight>
                          <a:srgbClr val="FBE4D5"/>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r>
                        <a:rPr lang="en-GB"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6473248"/>
                  </a:ext>
                </a:extLst>
              </a:tr>
              <a:tr h="52031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Calibri" panose="020F0502020204030204" pitchFamily="34" charset="0"/>
                          <a:ea typeface="Times New Roman" panose="02020603050405020304" pitchFamily="18" charset="0"/>
                          <a:cs typeface="Calibri" panose="020F0502020204030204" pitchFamily="34" charset="0"/>
                        </a:rPr>
                        <a:t>T2</a:t>
                      </a:r>
                      <a:endParaRPr kumimoji="0" lang="tr-TR" sz="1800" b="0" i="0" u="none" strike="noStrike" kern="1200" cap="none" spc="0" normalizeH="0" baseline="0" noProof="0" dirty="0">
                        <a:ln>
                          <a:noFill/>
                        </a:ln>
                        <a:solidFill>
                          <a:srgbClr val="000000"/>
                        </a:solidFill>
                        <a:effectLst/>
                        <a:uLnTx/>
                        <a:uFillTx/>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200" b="1" kern="1200" dirty="0">
                          <a:solidFill>
                            <a:srgbClr val="00B050"/>
                          </a:solidFill>
                          <a:effectLst/>
                          <a:latin typeface="Calibri" panose="020F0502020204030204" pitchFamily="34" charset="0"/>
                          <a:ea typeface="Times New Roman" panose="02020603050405020304" pitchFamily="18" charset="0"/>
                          <a:cs typeface="Calibri" panose="020F0502020204030204" pitchFamily="34" charset="0"/>
                        </a:rPr>
                        <a:t>Decision Tree – Data categorization</a:t>
                      </a:r>
                      <a:endParaRPr lang="tr-TR" sz="1200" b="1" kern="1200" dirty="0">
                        <a:solidFill>
                          <a:srgbClr val="00B05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000" dirty="0">
                          <a:solidFill>
                            <a:srgbClr val="000000"/>
                          </a:solidFill>
                          <a:effectLst/>
                          <a:highlight>
                            <a:srgbClr val="FBE4D5"/>
                          </a:highligh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highlight>
                          <a:srgbClr val="FBE4D5"/>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r>
                        <a:rPr lang="en-GB" sz="1000" dirty="0">
                          <a:solidFill>
                            <a:srgbClr val="000000"/>
                          </a:solidFill>
                          <a:effectLst/>
                          <a:highlight>
                            <a:srgbClr val="FBE4D5"/>
                          </a:highligh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highlight>
                          <a:srgbClr val="FBE4D5"/>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5561007"/>
                  </a:ext>
                </a:extLst>
              </a:tr>
              <a:tr h="52031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GB"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T3</a:t>
                      </a:r>
                      <a:endParaRPr lang="tr-TR"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AI – Enhanced Simulation Environment</a:t>
                      </a:r>
                      <a:endParaRPr lang="tr-TR"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GB" sz="1000" dirty="0">
                          <a:solidFill>
                            <a:srgbClr val="000000"/>
                          </a:solidFill>
                          <a:effectLst/>
                          <a:highlight>
                            <a:srgbClr val="FBE4D5"/>
                          </a:highligh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highlight>
                          <a:srgbClr val="FBE4D5"/>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r>
                        <a:rPr lang="en-GB" sz="1000" dirty="0">
                          <a:solidFill>
                            <a:srgbClr val="000000"/>
                          </a:solidFill>
                          <a:effectLst/>
                          <a:highlight>
                            <a:srgbClr val="FBE4D5"/>
                          </a:highligh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highlight>
                          <a:srgbClr val="FBE4D5"/>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l">
                        <a:lnSpc>
                          <a:spcPct val="150000"/>
                        </a:lnSpc>
                      </a:pPr>
                      <a:r>
                        <a:rPr lang="en-GB" sz="1000" dirty="0">
                          <a:solidFill>
                            <a:srgbClr val="000000"/>
                          </a:solidFill>
                          <a:effectLst/>
                          <a:highlight>
                            <a:srgbClr val="FBE4D5"/>
                          </a:highligh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highlight>
                          <a:srgbClr val="FBE4D5"/>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l">
                        <a:lnSpc>
                          <a:spcPct val="150000"/>
                        </a:lnSpc>
                      </a:pPr>
                      <a:r>
                        <a:rPr lang="en-GB"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5784618"/>
                  </a:ext>
                </a:extLst>
              </a:tr>
              <a:tr h="52031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T4</a:t>
                      </a:r>
                      <a:endParaRPr lang="tr-TR"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US"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AI – Enhanced Algorithm Development</a:t>
                      </a:r>
                      <a:br>
                        <a:rPr lang="en-US"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br>
                      <a:r>
                        <a:rPr lang="en-US"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(Fuzzy, Generative AI, Reinforcement Learning) </a:t>
                      </a:r>
                      <a:endParaRPr lang="tr-TR"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25986845"/>
                  </a:ext>
                </a:extLst>
              </a:tr>
              <a:tr h="52031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GB"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T5</a:t>
                      </a:r>
                      <a:endParaRPr lang="tr-TR"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US"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Simulation and Tests</a:t>
                      </a:r>
                      <a:endParaRPr lang="tr-TR"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23555662"/>
                  </a:ext>
                </a:extLst>
              </a:tr>
              <a:tr h="52031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GB"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T6</a:t>
                      </a:r>
                      <a:endParaRPr lang="tr-TR" sz="1200" b="1" kern="1200" noProof="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r>
                        <a:rPr lang="en-US"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Article</a:t>
                      </a:r>
                      <a:endParaRPr lang="tr-TR" sz="1200" b="1" kern="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lnSpc>
                          <a:spcPct val="150000"/>
                        </a:lnSpc>
                      </a:pPr>
                      <a:endParaRPr lang="tr-TR" sz="1200" dirty="0">
                        <a:effectLst/>
                        <a:highlight>
                          <a:srgbClr val="C00000"/>
                        </a:highligh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03905128"/>
                  </a:ext>
                </a:extLst>
              </a:tr>
            </a:tbl>
          </a:graphicData>
        </a:graphic>
      </p:graphicFrame>
    </p:spTree>
    <p:extLst>
      <p:ext uri="{BB962C8B-B14F-4D97-AF65-F5344CB8AC3E}">
        <p14:creationId xmlns:p14="http://schemas.microsoft.com/office/powerpoint/2010/main" val="497587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407AC-8683-2227-845F-AD6506FD03CB}"/>
              </a:ext>
            </a:extLst>
          </p:cNvPr>
          <p:cNvSpPr>
            <a:spLocks noGrp="1"/>
          </p:cNvSpPr>
          <p:nvPr>
            <p:ph type="title"/>
          </p:nvPr>
        </p:nvSpPr>
        <p:spPr/>
        <p:txBody>
          <a:bodyPr/>
          <a:lstStyle/>
          <a:p>
            <a:r>
              <a:rPr lang="en-US" dirty="0"/>
              <a:t>1. Literature Research &amp; Contributions</a:t>
            </a:r>
            <a:endParaRPr lang="tr-TR" dirty="0"/>
          </a:p>
        </p:txBody>
      </p:sp>
      <p:graphicFrame>
        <p:nvGraphicFramePr>
          <p:cNvPr id="5" name="Content Placeholder 4">
            <a:extLst>
              <a:ext uri="{FF2B5EF4-FFF2-40B4-BE49-F238E27FC236}">
                <a16:creationId xmlns:a16="http://schemas.microsoft.com/office/drawing/2014/main" id="{4FCF423A-C9D6-80BD-DD1D-21C928CED2ED}"/>
              </a:ext>
            </a:extLst>
          </p:cNvPr>
          <p:cNvGraphicFramePr>
            <a:graphicFrameLocks noGrp="1"/>
          </p:cNvGraphicFramePr>
          <p:nvPr>
            <p:ph idx="1"/>
            <p:extLst>
              <p:ext uri="{D42A27DB-BD31-4B8C-83A1-F6EECF244321}">
                <p14:modId xmlns:p14="http://schemas.microsoft.com/office/powerpoint/2010/main" val="357711775"/>
              </p:ext>
            </p:extLst>
          </p:nvPr>
        </p:nvGraphicFramePr>
        <p:xfrm>
          <a:off x="252020" y="733410"/>
          <a:ext cx="11687960" cy="5391179"/>
        </p:xfrm>
        <a:graphic>
          <a:graphicData uri="http://schemas.openxmlformats.org/drawingml/2006/table">
            <a:tbl>
              <a:tblPr firstRow="1" firstCol="1" bandRow="1">
                <a:tableStyleId>{9D7B26C5-4107-4FEC-AEDC-1716B250A1EF}</a:tableStyleId>
              </a:tblPr>
              <a:tblGrid>
                <a:gridCol w="3898903">
                  <a:extLst>
                    <a:ext uri="{9D8B030D-6E8A-4147-A177-3AD203B41FA5}">
                      <a16:colId xmlns:a16="http://schemas.microsoft.com/office/drawing/2014/main" val="190144245"/>
                    </a:ext>
                  </a:extLst>
                </a:gridCol>
                <a:gridCol w="7789057">
                  <a:extLst>
                    <a:ext uri="{9D8B030D-6E8A-4147-A177-3AD203B41FA5}">
                      <a16:colId xmlns:a16="http://schemas.microsoft.com/office/drawing/2014/main" val="2163984783"/>
                    </a:ext>
                  </a:extLst>
                </a:gridCol>
              </a:tblGrid>
              <a:tr h="228155">
                <a:tc>
                  <a:txBody>
                    <a:bodyPr/>
                    <a:lstStyle/>
                    <a:p>
                      <a:pPr algn="ctr">
                        <a:lnSpc>
                          <a:spcPct val="107000"/>
                        </a:lnSpc>
                        <a:spcBef>
                          <a:spcPts val="200"/>
                        </a:spcBef>
                        <a:spcAft>
                          <a:spcPts val="200"/>
                        </a:spcAft>
                        <a:buNone/>
                      </a:pPr>
                      <a:r>
                        <a:rPr lang="en-GB" sz="1100">
                          <a:effectLst/>
                        </a:rPr>
                        <a:t>Contribution</a:t>
                      </a:r>
                      <a:endParaRPr lang="tr-TR"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Bef>
                          <a:spcPts val="200"/>
                        </a:spcBef>
                        <a:spcAft>
                          <a:spcPts val="200"/>
                        </a:spcAft>
                        <a:buNone/>
                      </a:pPr>
                      <a:r>
                        <a:rPr lang="en-GB" sz="1100">
                          <a:effectLst/>
                        </a:rPr>
                        <a:t>Description</a:t>
                      </a:r>
                      <a:endParaRPr lang="tr-TR"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14036935"/>
                  </a:ext>
                </a:extLst>
              </a:tr>
              <a:tr h="572373">
                <a:tc>
                  <a:txBody>
                    <a:bodyPr/>
                    <a:lstStyle/>
                    <a:p>
                      <a:pPr algn="l">
                        <a:lnSpc>
                          <a:spcPct val="107000"/>
                        </a:lnSpc>
                        <a:spcBef>
                          <a:spcPts val="600"/>
                        </a:spcBef>
                        <a:spcAft>
                          <a:spcPts val="600"/>
                        </a:spcAft>
                        <a:buNone/>
                      </a:pPr>
                      <a:r>
                        <a:rPr lang="en-GB" sz="1100" dirty="0">
                          <a:solidFill>
                            <a:srgbClr val="C00000"/>
                          </a:solidFill>
                          <a:effectLst/>
                        </a:rPr>
                        <a:t>Development of a Hybrid RL–LLM Architecture</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a:effectLst/>
                        </a:rPr>
                        <a:t>Integrates Reinforcement Learning for policy optimization and Large Language Models for interpretable explanations in real-time disaster decision-making.</a:t>
                      </a:r>
                      <a:endParaRPr lang="tr-TR"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04287389"/>
                  </a:ext>
                </a:extLst>
              </a:tr>
              <a:tr h="601182">
                <a:tc>
                  <a:txBody>
                    <a:bodyPr/>
                    <a:lstStyle/>
                    <a:p>
                      <a:pPr algn="l">
                        <a:lnSpc>
                          <a:spcPct val="107000"/>
                        </a:lnSpc>
                        <a:spcBef>
                          <a:spcPts val="600"/>
                        </a:spcBef>
                        <a:spcAft>
                          <a:spcPts val="600"/>
                        </a:spcAft>
                        <a:buNone/>
                      </a:pPr>
                      <a:r>
                        <a:rPr lang="en-US" sz="1100" dirty="0">
                          <a:solidFill>
                            <a:srgbClr val="C00000"/>
                          </a:solidFill>
                        </a:rPr>
                        <a:t>Integration of Fuzzy Logic for Human-Centric Uncertainty Reasoning</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tr-TR" sz="1100" dirty="0" err="1"/>
                        <a:t>Embeds</a:t>
                      </a:r>
                      <a:r>
                        <a:rPr lang="tr-TR" sz="1100" dirty="0"/>
                        <a:t> </a:t>
                      </a:r>
                      <a:r>
                        <a:rPr lang="tr-TR" sz="1100" dirty="0" err="1"/>
                        <a:t>fuzzy</a:t>
                      </a:r>
                      <a:r>
                        <a:rPr lang="tr-TR" sz="1100" dirty="0"/>
                        <a:t> </a:t>
                      </a:r>
                      <a:r>
                        <a:rPr lang="tr-TR" sz="1100" dirty="0" err="1"/>
                        <a:t>logic</a:t>
                      </a:r>
                      <a:r>
                        <a:rPr lang="tr-TR" sz="1100" dirty="0"/>
                        <a:t> </a:t>
                      </a:r>
                      <a:r>
                        <a:rPr lang="tr-TR" sz="1100" dirty="0" err="1"/>
                        <a:t>into</a:t>
                      </a:r>
                      <a:r>
                        <a:rPr lang="tr-TR" sz="1100" dirty="0"/>
                        <a:t> </a:t>
                      </a:r>
                      <a:r>
                        <a:rPr lang="tr-TR" sz="1100" dirty="0" err="1"/>
                        <a:t>decision</a:t>
                      </a:r>
                      <a:r>
                        <a:rPr lang="tr-TR" sz="1100" dirty="0"/>
                        <a:t> </a:t>
                      </a:r>
                      <a:r>
                        <a:rPr lang="tr-TR" sz="1100" dirty="0" err="1"/>
                        <a:t>nodes</a:t>
                      </a:r>
                      <a:r>
                        <a:rPr lang="tr-TR" sz="1100" dirty="0"/>
                        <a:t> </a:t>
                      </a:r>
                      <a:r>
                        <a:rPr lang="tr-TR" sz="1100" dirty="0" err="1"/>
                        <a:t>to</a:t>
                      </a:r>
                      <a:r>
                        <a:rPr lang="tr-TR" sz="1100" dirty="0"/>
                        <a:t> </a:t>
                      </a:r>
                      <a:r>
                        <a:rPr lang="tr-TR" sz="1100" dirty="0" err="1"/>
                        <a:t>handle</a:t>
                      </a:r>
                      <a:r>
                        <a:rPr lang="tr-TR" sz="1100" dirty="0"/>
                        <a:t> </a:t>
                      </a:r>
                      <a:r>
                        <a:rPr lang="tr-TR" sz="1100" dirty="0" err="1"/>
                        <a:t>vague</a:t>
                      </a:r>
                      <a:r>
                        <a:rPr lang="tr-TR" sz="1100" dirty="0"/>
                        <a:t>, </a:t>
                      </a:r>
                      <a:r>
                        <a:rPr lang="tr-TR" sz="1100" dirty="0" err="1"/>
                        <a:t>imprecise</a:t>
                      </a:r>
                      <a:r>
                        <a:rPr lang="tr-TR" sz="1100" dirty="0"/>
                        <a:t>, </a:t>
                      </a:r>
                      <a:r>
                        <a:rPr lang="tr-TR" sz="1100" dirty="0" err="1"/>
                        <a:t>or</a:t>
                      </a:r>
                      <a:r>
                        <a:rPr lang="tr-TR" sz="1100" dirty="0"/>
                        <a:t> </a:t>
                      </a:r>
                      <a:r>
                        <a:rPr lang="tr-TR" sz="1100" dirty="0" err="1"/>
                        <a:t>linguistically</a:t>
                      </a:r>
                      <a:r>
                        <a:rPr lang="tr-TR" sz="1100" dirty="0"/>
                        <a:t> </a:t>
                      </a:r>
                      <a:r>
                        <a:rPr lang="tr-TR" sz="1100" dirty="0" err="1"/>
                        <a:t>expressed</a:t>
                      </a:r>
                      <a:r>
                        <a:rPr lang="tr-TR" sz="1100" dirty="0"/>
                        <a:t> </a:t>
                      </a:r>
                      <a:r>
                        <a:rPr lang="tr-TR" sz="1100" dirty="0" err="1"/>
                        <a:t>inputs</a:t>
                      </a:r>
                      <a:r>
                        <a:rPr lang="tr-TR" sz="1100" dirty="0"/>
                        <a:t> (</a:t>
                      </a:r>
                      <a:r>
                        <a:rPr lang="tr-TR" sz="1100" dirty="0" err="1"/>
                        <a:t>e.g</a:t>
                      </a:r>
                      <a:r>
                        <a:rPr lang="tr-TR" sz="1100" dirty="0"/>
                        <a:t>., “</a:t>
                      </a:r>
                      <a:r>
                        <a:rPr lang="tr-TR" sz="1100" dirty="0" err="1"/>
                        <a:t>high</a:t>
                      </a:r>
                      <a:r>
                        <a:rPr lang="tr-TR" sz="1100" dirty="0"/>
                        <a:t> risk,” “</a:t>
                      </a:r>
                      <a:r>
                        <a:rPr lang="tr-TR" sz="1100" dirty="0" err="1"/>
                        <a:t>low</a:t>
                      </a:r>
                      <a:r>
                        <a:rPr lang="tr-TR" sz="1100" dirty="0"/>
                        <a:t> </a:t>
                      </a:r>
                      <a:r>
                        <a:rPr lang="tr-TR" sz="1100" dirty="0" err="1"/>
                        <a:t>visibility</a:t>
                      </a:r>
                      <a:r>
                        <a:rPr lang="tr-TR" sz="1100" dirty="0"/>
                        <a:t>”) </a:t>
                      </a:r>
                      <a:r>
                        <a:rPr lang="tr-TR" sz="1100" dirty="0" err="1"/>
                        <a:t>and</a:t>
                      </a:r>
                      <a:r>
                        <a:rPr lang="tr-TR" sz="1100" dirty="0"/>
                        <a:t> </a:t>
                      </a:r>
                      <a:r>
                        <a:rPr lang="tr-TR" sz="1100" dirty="0" err="1"/>
                        <a:t>enables</a:t>
                      </a:r>
                      <a:r>
                        <a:rPr lang="tr-TR" sz="1100" dirty="0"/>
                        <a:t> </a:t>
                      </a:r>
                      <a:r>
                        <a:rPr lang="tr-TR" sz="1100" dirty="0" err="1"/>
                        <a:t>the</a:t>
                      </a:r>
                      <a:r>
                        <a:rPr lang="tr-TR" sz="1100" dirty="0"/>
                        <a:t> </a:t>
                      </a:r>
                      <a:r>
                        <a:rPr lang="tr-TR" sz="1100" dirty="0" err="1"/>
                        <a:t>system</a:t>
                      </a:r>
                      <a:r>
                        <a:rPr lang="tr-TR" sz="1100" dirty="0"/>
                        <a:t> </a:t>
                      </a:r>
                      <a:r>
                        <a:rPr lang="tr-TR" sz="1100" dirty="0" err="1"/>
                        <a:t>to</a:t>
                      </a:r>
                      <a:r>
                        <a:rPr lang="tr-TR" sz="1100" dirty="0"/>
                        <a:t> </a:t>
                      </a:r>
                      <a:r>
                        <a:rPr lang="tr-TR" sz="1100" dirty="0" err="1"/>
                        <a:t>operate</a:t>
                      </a:r>
                      <a:r>
                        <a:rPr lang="tr-TR" sz="1100" dirty="0"/>
                        <a:t> </a:t>
                      </a:r>
                      <a:r>
                        <a:rPr lang="tr-TR" sz="1100" dirty="0" err="1"/>
                        <a:t>effectively</a:t>
                      </a:r>
                      <a:r>
                        <a:rPr lang="tr-TR" sz="1100" dirty="0"/>
                        <a:t> </a:t>
                      </a:r>
                      <a:r>
                        <a:rPr lang="tr-TR" sz="1100" dirty="0" err="1"/>
                        <a:t>under</a:t>
                      </a:r>
                      <a:r>
                        <a:rPr lang="tr-TR" sz="1100" dirty="0"/>
                        <a:t> </a:t>
                      </a:r>
                      <a:r>
                        <a:rPr lang="tr-TR" sz="1100" dirty="0" err="1"/>
                        <a:t>partial</a:t>
                      </a:r>
                      <a:r>
                        <a:rPr lang="tr-TR" sz="1100" dirty="0"/>
                        <a:t> </a:t>
                      </a:r>
                      <a:r>
                        <a:rPr lang="tr-TR" sz="1100" dirty="0" err="1"/>
                        <a:t>observability</a:t>
                      </a:r>
                      <a:r>
                        <a:rPr lang="tr-TR" sz="1100" dirty="0"/>
                        <a:t>. </a:t>
                      </a:r>
                      <a:r>
                        <a:rPr lang="tr-TR" sz="1100" dirty="0" err="1"/>
                        <a:t>Reinforcement</a:t>
                      </a:r>
                      <a:r>
                        <a:rPr lang="tr-TR" sz="1100" dirty="0"/>
                        <a:t> Learning </a:t>
                      </a:r>
                      <a:r>
                        <a:rPr lang="tr-TR" sz="1100" dirty="0" err="1"/>
                        <a:t>tunes</a:t>
                      </a:r>
                      <a:r>
                        <a:rPr lang="tr-TR" sz="1100" dirty="0"/>
                        <a:t> </a:t>
                      </a:r>
                      <a:r>
                        <a:rPr lang="tr-TR" sz="1100" dirty="0" err="1"/>
                        <a:t>membership</a:t>
                      </a:r>
                      <a:r>
                        <a:rPr lang="tr-TR" sz="1100" dirty="0"/>
                        <a:t> </a:t>
                      </a:r>
                      <a:r>
                        <a:rPr lang="tr-TR" sz="1100" dirty="0" err="1"/>
                        <a:t>functions</a:t>
                      </a:r>
                      <a:r>
                        <a:rPr lang="tr-TR" sz="1100" dirty="0"/>
                        <a:t>, </a:t>
                      </a:r>
                      <a:r>
                        <a:rPr lang="tr-TR" sz="1100" dirty="0" err="1"/>
                        <a:t>while</a:t>
                      </a:r>
                      <a:r>
                        <a:rPr lang="tr-TR" sz="1100" dirty="0"/>
                        <a:t> </a:t>
                      </a:r>
                      <a:r>
                        <a:rPr lang="tr-TR" sz="1100" dirty="0" err="1"/>
                        <a:t>LLMs</a:t>
                      </a:r>
                      <a:r>
                        <a:rPr lang="tr-TR" sz="1100" dirty="0"/>
                        <a:t> </a:t>
                      </a:r>
                      <a:r>
                        <a:rPr lang="tr-TR" sz="1100" dirty="0" err="1"/>
                        <a:t>convert</a:t>
                      </a:r>
                      <a:r>
                        <a:rPr lang="tr-TR" sz="1100" dirty="0"/>
                        <a:t> </a:t>
                      </a:r>
                      <a:r>
                        <a:rPr lang="tr-TR" sz="1100" dirty="0" err="1"/>
                        <a:t>fuzzy</a:t>
                      </a:r>
                      <a:r>
                        <a:rPr lang="tr-TR" sz="1100" dirty="0"/>
                        <a:t> </a:t>
                      </a:r>
                      <a:r>
                        <a:rPr lang="tr-TR" sz="1100" dirty="0" err="1"/>
                        <a:t>inferences</a:t>
                      </a:r>
                      <a:r>
                        <a:rPr lang="tr-TR" sz="1100" dirty="0"/>
                        <a:t> </a:t>
                      </a:r>
                      <a:r>
                        <a:rPr lang="tr-TR" sz="1100" dirty="0" err="1"/>
                        <a:t>into</a:t>
                      </a:r>
                      <a:r>
                        <a:rPr lang="tr-TR" sz="1100" dirty="0"/>
                        <a:t> </a:t>
                      </a:r>
                      <a:r>
                        <a:rPr lang="tr-TR" sz="1100" dirty="0" err="1"/>
                        <a:t>interpretable</a:t>
                      </a:r>
                      <a:r>
                        <a:rPr lang="tr-TR" sz="1100" dirty="0"/>
                        <a:t> </a:t>
                      </a:r>
                      <a:r>
                        <a:rPr lang="tr-TR" sz="1100" dirty="0" err="1"/>
                        <a:t>explanations</a:t>
                      </a:r>
                      <a:r>
                        <a:rPr lang="tr-TR" sz="1100" dirty="0"/>
                        <a:t>.</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27948271"/>
                  </a:ext>
                </a:extLst>
              </a:tr>
              <a:tr h="378725">
                <a:tc>
                  <a:txBody>
                    <a:bodyPr/>
                    <a:lstStyle/>
                    <a:p>
                      <a:pPr algn="l">
                        <a:lnSpc>
                          <a:spcPct val="107000"/>
                        </a:lnSpc>
                        <a:spcBef>
                          <a:spcPts val="600"/>
                        </a:spcBef>
                        <a:spcAft>
                          <a:spcPts val="600"/>
                        </a:spcAft>
                        <a:buNone/>
                      </a:pPr>
                      <a:r>
                        <a:rPr lang="en-GB" sz="1100" dirty="0">
                          <a:solidFill>
                            <a:srgbClr val="C00000"/>
                          </a:solidFill>
                          <a:effectLst/>
                        </a:rPr>
                        <a:t>Real-Time Structural Adaptation of Decision Graphs</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Implements dynamic decision graph topology updates using GNNs and RL, enabling adaptation to evolving wildfire scenarios.</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60670056"/>
                  </a:ext>
                </a:extLst>
              </a:tr>
              <a:tr h="572373">
                <a:tc>
                  <a:txBody>
                    <a:bodyPr/>
                    <a:lstStyle/>
                    <a:p>
                      <a:pPr algn="l">
                        <a:lnSpc>
                          <a:spcPct val="107000"/>
                        </a:lnSpc>
                        <a:spcBef>
                          <a:spcPts val="600"/>
                        </a:spcBef>
                        <a:spcAft>
                          <a:spcPts val="600"/>
                        </a:spcAft>
                        <a:buNone/>
                      </a:pPr>
                      <a:r>
                        <a:rPr lang="en-GB" sz="1100" dirty="0">
                          <a:solidFill>
                            <a:srgbClr val="C00000"/>
                          </a:solidFill>
                          <a:effectLst/>
                        </a:rPr>
                        <a:t>Formalization of Explainable, Mathematically-Constrained Decision Nodes</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Defines decision nodes with explicit cost-time-resource constraints and uses LLMs to produce human-readable justifications.</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75662192"/>
                  </a:ext>
                </a:extLst>
              </a:tr>
              <a:tr h="572373">
                <a:tc>
                  <a:txBody>
                    <a:bodyPr/>
                    <a:lstStyle/>
                    <a:p>
                      <a:pPr algn="l">
                        <a:lnSpc>
                          <a:spcPct val="107000"/>
                        </a:lnSpc>
                        <a:spcBef>
                          <a:spcPts val="600"/>
                        </a:spcBef>
                        <a:spcAft>
                          <a:spcPts val="600"/>
                        </a:spcAft>
                        <a:buNone/>
                      </a:pPr>
                      <a:r>
                        <a:rPr lang="en-GB" sz="1100" dirty="0">
                          <a:solidFill>
                            <a:srgbClr val="C00000"/>
                          </a:solidFill>
                          <a:effectLst/>
                        </a:rPr>
                        <a:t>Conceptualization of an Adaptable Decision Graph Framework</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Proposes a non-static decision graph structure that learns optimal decision sequences using RL and supports modular reuse.</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46469790"/>
                  </a:ext>
                </a:extLst>
              </a:tr>
              <a:tr h="378725">
                <a:tc>
                  <a:txBody>
                    <a:bodyPr/>
                    <a:lstStyle/>
                    <a:p>
                      <a:pPr algn="l">
                        <a:lnSpc>
                          <a:spcPct val="107000"/>
                        </a:lnSpc>
                        <a:spcBef>
                          <a:spcPts val="600"/>
                        </a:spcBef>
                        <a:spcAft>
                          <a:spcPts val="600"/>
                        </a:spcAft>
                        <a:buNone/>
                      </a:pPr>
                      <a:r>
                        <a:rPr lang="en-GB" sz="1100" dirty="0">
                          <a:solidFill>
                            <a:srgbClr val="C00000"/>
                          </a:solidFill>
                          <a:effectLst/>
                        </a:rPr>
                        <a:t>Integration of Multi-Phase Wildfire Management</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Extends DSS capabilities to all disaster phases with phase-aware policies learned by RL and phase summaries generated by LLMs.</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02894063"/>
                  </a:ext>
                </a:extLst>
              </a:tr>
              <a:tr h="378725">
                <a:tc>
                  <a:txBody>
                    <a:bodyPr/>
                    <a:lstStyle/>
                    <a:p>
                      <a:pPr algn="l">
                        <a:lnSpc>
                          <a:spcPct val="107000"/>
                        </a:lnSpc>
                        <a:spcBef>
                          <a:spcPts val="600"/>
                        </a:spcBef>
                        <a:spcAft>
                          <a:spcPts val="600"/>
                        </a:spcAft>
                        <a:buNone/>
                      </a:pPr>
                      <a:r>
                        <a:rPr lang="en-GB" sz="1100" dirty="0">
                          <a:solidFill>
                            <a:srgbClr val="C00000"/>
                          </a:solidFill>
                          <a:effectLst/>
                        </a:rPr>
                        <a:t>Scalable and Transferable Modular AI-DSS Architecture</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Designs AI components for reuse across different disaster types with modular data pipelines and inference models.</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62798581"/>
                  </a:ext>
                </a:extLst>
              </a:tr>
              <a:tr h="378725">
                <a:tc>
                  <a:txBody>
                    <a:bodyPr/>
                    <a:lstStyle/>
                    <a:p>
                      <a:pPr algn="l">
                        <a:lnSpc>
                          <a:spcPct val="107000"/>
                        </a:lnSpc>
                        <a:spcBef>
                          <a:spcPts val="600"/>
                        </a:spcBef>
                        <a:spcAft>
                          <a:spcPts val="600"/>
                        </a:spcAft>
                        <a:buNone/>
                      </a:pPr>
                      <a:r>
                        <a:rPr lang="en-GB" sz="1100" dirty="0">
                          <a:solidFill>
                            <a:srgbClr val="C00000"/>
                          </a:solidFill>
                          <a:effectLst/>
                        </a:rPr>
                        <a:t>Contribution to Explainable AI in Safety-Critical Environments</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Aligns symbolic mathematical models with LLMs to deliver accountable, transparent decisions under operational pressure.</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24865973"/>
                  </a:ext>
                </a:extLst>
              </a:tr>
              <a:tr h="378725">
                <a:tc>
                  <a:txBody>
                    <a:bodyPr/>
                    <a:lstStyle/>
                    <a:p>
                      <a:pPr algn="l">
                        <a:lnSpc>
                          <a:spcPct val="107000"/>
                        </a:lnSpc>
                        <a:spcBef>
                          <a:spcPts val="600"/>
                        </a:spcBef>
                        <a:spcAft>
                          <a:spcPts val="600"/>
                        </a:spcAft>
                        <a:buNone/>
                      </a:pPr>
                      <a:r>
                        <a:rPr lang="en-GB" sz="1100" dirty="0">
                          <a:solidFill>
                            <a:srgbClr val="C00000"/>
                          </a:solidFill>
                          <a:effectLst/>
                        </a:rPr>
                        <a:t>High-Fidelity Simulation Environment for Evaluation</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Provides a simulated wildfire environment for RL policy training, LLM response testing, and reproducibility.</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83831651"/>
                  </a:ext>
                </a:extLst>
              </a:tr>
              <a:tr h="378725">
                <a:tc>
                  <a:txBody>
                    <a:bodyPr/>
                    <a:lstStyle/>
                    <a:p>
                      <a:pPr algn="l">
                        <a:lnSpc>
                          <a:spcPct val="107000"/>
                        </a:lnSpc>
                        <a:spcBef>
                          <a:spcPts val="600"/>
                        </a:spcBef>
                        <a:spcAft>
                          <a:spcPts val="600"/>
                        </a:spcAft>
                        <a:buNone/>
                      </a:pPr>
                      <a:r>
                        <a:rPr lang="en-GB" sz="1100" dirty="0">
                          <a:solidFill>
                            <a:srgbClr val="C00000"/>
                          </a:solidFill>
                          <a:effectLst/>
                        </a:rPr>
                        <a:t>Introduction of a Decision Scoring Framework</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Introduces a scoring metric to rank actions; used by RL as reward shaping and by LLMs for justification.</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62441477"/>
                  </a:ext>
                </a:extLst>
              </a:tr>
              <a:tr h="572373">
                <a:tc>
                  <a:txBody>
                    <a:bodyPr/>
                    <a:lstStyle/>
                    <a:p>
                      <a:pPr algn="l">
                        <a:lnSpc>
                          <a:spcPct val="107000"/>
                        </a:lnSpc>
                        <a:spcBef>
                          <a:spcPts val="600"/>
                        </a:spcBef>
                        <a:spcAft>
                          <a:spcPts val="600"/>
                        </a:spcAft>
                        <a:buNone/>
                      </a:pPr>
                      <a:r>
                        <a:rPr lang="en-GB" sz="1100" dirty="0">
                          <a:solidFill>
                            <a:srgbClr val="C00000"/>
                          </a:solidFill>
                          <a:effectLst/>
                        </a:rPr>
                        <a:t>Open-Source Simulation Toolkit and Dataset Contribution</a:t>
                      </a:r>
                      <a:endParaRPr lang="tr-TR"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Bef>
                          <a:spcPts val="600"/>
                        </a:spcBef>
                        <a:spcAft>
                          <a:spcPts val="600"/>
                        </a:spcAft>
                        <a:buNone/>
                      </a:pPr>
                      <a:r>
                        <a:rPr lang="en-GB" sz="1100" dirty="0">
                          <a:effectLst/>
                        </a:rPr>
                        <a:t>Releases scenario generators and benchmark datasets to encourage research and extension of the hybrid system.</a:t>
                      </a:r>
                      <a:endParaRPr lang="tr-TR"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15000611"/>
                  </a:ext>
                </a:extLst>
              </a:tr>
            </a:tbl>
          </a:graphicData>
        </a:graphic>
      </p:graphicFrame>
      <p:sp>
        <p:nvSpPr>
          <p:cNvPr id="4" name="Slide Number Placeholder 3">
            <a:extLst>
              <a:ext uri="{FF2B5EF4-FFF2-40B4-BE49-F238E27FC236}">
                <a16:creationId xmlns:a16="http://schemas.microsoft.com/office/drawing/2014/main" id="{BDA20629-2FD7-8EC6-5E2F-C6CD02695C54}"/>
              </a:ext>
            </a:extLst>
          </p:cNvPr>
          <p:cNvSpPr>
            <a:spLocks noGrp="1"/>
          </p:cNvSpPr>
          <p:nvPr>
            <p:ph type="sldNum" sz="quarter" idx="12"/>
          </p:nvPr>
        </p:nvSpPr>
        <p:spPr/>
        <p:txBody>
          <a:bodyPr/>
          <a:lstStyle/>
          <a:p>
            <a:fld id="{0F4FBE90-EB1A-4CD8-B134-C7A82858680F}" type="slidenum">
              <a:rPr lang="en-US" smtClean="0"/>
              <a:t>5</a:t>
            </a:fld>
            <a:endParaRPr lang="en-US"/>
          </a:p>
        </p:txBody>
      </p:sp>
    </p:spTree>
    <p:extLst>
      <p:ext uri="{BB962C8B-B14F-4D97-AF65-F5344CB8AC3E}">
        <p14:creationId xmlns:p14="http://schemas.microsoft.com/office/powerpoint/2010/main" val="330739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E3A9-1DA9-F35A-5C1B-F62C4945B156}"/>
              </a:ext>
            </a:extLst>
          </p:cNvPr>
          <p:cNvSpPr>
            <a:spLocks noGrp="1"/>
          </p:cNvSpPr>
          <p:nvPr>
            <p:ph type="title"/>
          </p:nvPr>
        </p:nvSpPr>
        <p:spPr/>
        <p:txBody>
          <a:bodyPr/>
          <a:lstStyle/>
          <a:p>
            <a:r>
              <a:rPr lang="en-US" dirty="0"/>
              <a:t>System Architecture</a:t>
            </a:r>
            <a:endParaRPr lang="tr-TR" dirty="0"/>
          </a:p>
        </p:txBody>
      </p:sp>
      <p:sp>
        <p:nvSpPr>
          <p:cNvPr id="4" name="Slide Number Placeholder 3">
            <a:extLst>
              <a:ext uri="{FF2B5EF4-FFF2-40B4-BE49-F238E27FC236}">
                <a16:creationId xmlns:a16="http://schemas.microsoft.com/office/drawing/2014/main" id="{434EDD4A-5184-6ED5-C333-1E316113F1B0}"/>
              </a:ext>
            </a:extLst>
          </p:cNvPr>
          <p:cNvSpPr>
            <a:spLocks noGrp="1"/>
          </p:cNvSpPr>
          <p:nvPr>
            <p:ph type="sldNum" sz="quarter" idx="12"/>
          </p:nvPr>
        </p:nvSpPr>
        <p:spPr/>
        <p:txBody>
          <a:bodyPr/>
          <a:lstStyle/>
          <a:p>
            <a:fld id="{0F4FBE90-EB1A-4CD8-B134-C7A82858680F}" type="slidenum">
              <a:rPr lang="en-US" smtClean="0"/>
              <a:t>6</a:t>
            </a:fld>
            <a:endParaRPr lang="en-US"/>
          </a:p>
        </p:txBody>
      </p:sp>
      <p:pic>
        <p:nvPicPr>
          <p:cNvPr id="5" name="Content Placeholder 4">
            <a:extLst>
              <a:ext uri="{FF2B5EF4-FFF2-40B4-BE49-F238E27FC236}">
                <a16:creationId xmlns:a16="http://schemas.microsoft.com/office/drawing/2014/main" id="{23BAFEBC-DC71-965E-10B2-DBF89A935D8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85453" y="763102"/>
            <a:ext cx="2761577" cy="5331796"/>
          </a:xfrm>
          <a:prstGeom prst="rect">
            <a:avLst/>
          </a:prstGeom>
          <a:noFill/>
          <a:ln>
            <a:noFill/>
          </a:ln>
        </p:spPr>
      </p:pic>
      <p:graphicFrame>
        <p:nvGraphicFramePr>
          <p:cNvPr id="3" name="Table 2">
            <a:extLst>
              <a:ext uri="{FF2B5EF4-FFF2-40B4-BE49-F238E27FC236}">
                <a16:creationId xmlns:a16="http://schemas.microsoft.com/office/drawing/2014/main" id="{77A78914-75C3-BAEE-6CBA-82F297E1ECF0}"/>
              </a:ext>
            </a:extLst>
          </p:cNvPr>
          <p:cNvGraphicFramePr>
            <a:graphicFrameLocks noGrp="1"/>
          </p:cNvGraphicFramePr>
          <p:nvPr>
            <p:extLst>
              <p:ext uri="{D42A27DB-BD31-4B8C-83A1-F6EECF244321}">
                <p14:modId xmlns:p14="http://schemas.microsoft.com/office/powerpoint/2010/main" val="2268448166"/>
              </p:ext>
            </p:extLst>
          </p:nvPr>
        </p:nvGraphicFramePr>
        <p:xfrm>
          <a:off x="4210051" y="1860993"/>
          <a:ext cx="7797981" cy="2528300"/>
        </p:xfrm>
        <a:graphic>
          <a:graphicData uri="http://schemas.openxmlformats.org/drawingml/2006/table">
            <a:tbl>
              <a:tblPr firstRow="1" firstCol="1" bandRow="1">
                <a:tableStyleId>{9DCAF9ED-07DC-4A11-8D7F-57B35C25682E}</a:tableStyleId>
              </a:tblPr>
              <a:tblGrid>
                <a:gridCol w="2599327">
                  <a:extLst>
                    <a:ext uri="{9D8B030D-6E8A-4147-A177-3AD203B41FA5}">
                      <a16:colId xmlns:a16="http://schemas.microsoft.com/office/drawing/2014/main" val="777000099"/>
                    </a:ext>
                  </a:extLst>
                </a:gridCol>
                <a:gridCol w="2599327">
                  <a:extLst>
                    <a:ext uri="{9D8B030D-6E8A-4147-A177-3AD203B41FA5}">
                      <a16:colId xmlns:a16="http://schemas.microsoft.com/office/drawing/2014/main" val="241083847"/>
                    </a:ext>
                  </a:extLst>
                </a:gridCol>
                <a:gridCol w="2599327">
                  <a:extLst>
                    <a:ext uri="{9D8B030D-6E8A-4147-A177-3AD203B41FA5}">
                      <a16:colId xmlns:a16="http://schemas.microsoft.com/office/drawing/2014/main" val="2311150888"/>
                    </a:ext>
                  </a:extLst>
                </a:gridCol>
              </a:tblGrid>
              <a:tr h="298812">
                <a:tc>
                  <a:txBody>
                    <a:bodyPr/>
                    <a:lstStyle/>
                    <a:p>
                      <a:pPr algn="ctr">
                        <a:lnSpc>
                          <a:spcPct val="107000"/>
                        </a:lnSpc>
                        <a:spcAft>
                          <a:spcPts val="800"/>
                        </a:spcAft>
                        <a:buNone/>
                      </a:pPr>
                      <a:r>
                        <a:rPr lang="en-US" sz="1600">
                          <a:effectLst/>
                        </a:rPr>
                        <a:t>Layer</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US" sz="1600">
                          <a:effectLst/>
                        </a:rPr>
                        <a:t>Feedback Sources</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US" sz="1600">
                          <a:effectLst/>
                        </a:rPr>
                        <a:t>What Gets Updated?</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4796859"/>
                  </a:ext>
                </a:extLst>
              </a:tr>
              <a:tr h="298812">
                <a:tc>
                  <a:txBody>
                    <a:bodyPr/>
                    <a:lstStyle/>
                    <a:p>
                      <a:pPr algn="l">
                        <a:lnSpc>
                          <a:spcPct val="107000"/>
                        </a:lnSpc>
                        <a:spcAft>
                          <a:spcPts val="800"/>
                        </a:spcAft>
                        <a:buNone/>
                      </a:pPr>
                      <a:r>
                        <a:rPr lang="en-US" sz="1600" dirty="0">
                          <a:effectLst/>
                        </a:rPr>
                        <a:t>Fuzzy Decision Layer</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a:effectLst/>
                        </a:rPr>
                        <a:t>Action results, environment</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a:effectLst/>
                        </a:rPr>
                        <a:t>Membership functions, fuzzy rules</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630733"/>
                  </a:ext>
                </a:extLst>
              </a:tr>
              <a:tr h="298812">
                <a:tc>
                  <a:txBody>
                    <a:bodyPr/>
                    <a:lstStyle/>
                    <a:p>
                      <a:pPr algn="l">
                        <a:lnSpc>
                          <a:spcPct val="107000"/>
                        </a:lnSpc>
                        <a:spcAft>
                          <a:spcPts val="800"/>
                        </a:spcAft>
                        <a:buNone/>
                      </a:pPr>
                      <a:r>
                        <a:rPr lang="en-US" sz="1600" dirty="0">
                          <a:effectLst/>
                        </a:rPr>
                        <a:t>Decision Trajectory </a:t>
                      </a:r>
                      <a:r>
                        <a:rPr lang="en-US" sz="1600" dirty="0" err="1">
                          <a:effectLst/>
                        </a:rPr>
                        <a:t>Mgr</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a:effectLst/>
                        </a:rPr>
                        <a:t>Trajectory success/failure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a:effectLst/>
                        </a:rPr>
                        <a:t>Q-values, sequence policy</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6807626"/>
                  </a:ext>
                </a:extLst>
              </a:tr>
              <a:tr h="298812">
                <a:tc>
                  <a:txBody>
                    <a:bodyPr/>
                    <a:lstStyle/>
                    <a:p>
                      <a:pPr algn="l">
                        <a:lnSpc>
                          <a:spcPct val="107000"/>
                        </a:lnSpc>
                        <a:spcAft>
                          <a:spcPts val="800"/>
                        </a:spcAft>
                        <a:buNone/>
                      </a:pPr>
                      <a:r>
                        <a:rPr lang="en-US" sz="1600">
                          <a:effectLst/>
                        </a:rPr>
                        <a:t>Dynamic Tree Editor</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dirty="0">
                          <a:effectLst/>
                        </a:rPr>
                        <a:t>Branch effectiveness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a:effectLst/>
                        </a:rPr>
                        <a:t>Tree structure, edge weights</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97576621"/>
                  </a:ext>
                </a:extLst>
              </a:tr>
              <a:tr h="298812">
                <a:tc>
                  <a:txBody>
                    <a:bodyPr/>
                    <a:lstStyle/>
                    <a:p>
                      <a:pPr algn="l">
                        <a:lnSpc>
                          <a:spcPct val="107000"/>
                        </a:lnSpc>
                        <a:spcAft>
                          <a:spcPts val="800"/>
                        </a:spcAft>
                        <a:buNone/>
                      </a:pPr>
                      <a:r>
                        <a:rPr lang="en-US" sz="1600">
                          <a:effectLst/>
                        </a:rPr>
                        <a:t>Execution Engine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dirty="0">
                          <a:effectLst/>
                        </a:rPr>
                        <a:t>Operator approval/rejection</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dirty="0">
                          <a:effectLst/>
                        </a:rPr>
                        <a:t>Action priorities, explanations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834456"/>
                  </a:ext>
                </a:extLst>
              </a:tr>
              <a:tr h="611418">
                <a:tc>
                  <a:txBody>
                    <a:bodyPr/>
                    <a:lstStyle/>
                    <a:p>
                      <a:pPr algn="l">
                        <a:lnSpc>
                          <a:spcPct val="107000"/>
                        </a:lnSpc>
                        <a:spcAft>
                          <a:spcPts val="800"/>
                        </a:spcAft>
                        <a:buNone/>
                      </a:pPr>
                      <a:r>
                        <a:rPr lang="en-US" sz="1600">
                          <a:effectLst/>
                        </a:rPr>
                        <a:t>Adaptive Response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a:effectLst/>
                        </a:rPr>
                        <a:t>Outcome scores, real-world state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l">
                        <a:lnSpc>
                          <a:spcPct val="107000"/>
                        </a:lnSpc>
                        <a:spcAft>
                          <a:spcPts val="800"/>
                        </a:spcAft>
                        <a:buNone/>
                      </a:pPr>
                      <a:r>
                        <a:rPr lang="en-US" sz="1600" dirty="0">
                          <a:effectLst/>
                        </a:rPr>
                        <a:t>RL policy weights, LLM prompt refinements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22143743"/>
                  </a:ext>
                </a:extLst>
              </a:tr>
            </a:tbl>
          </a:graphicData>
        </a:graphic>
      </p:graphicFrame>
    </p:spTree>
    <p:extLst>
      <p:ext uri="{BB962C8B-B14F-4D97-AF65-F5344CB8AC3E}">
        <p14:creationId xmlns:p14="http://schemas.microsoft.com/office/powerpoint/2010/main" val="2085936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CF1E-FFF6-0079-9A4B-3CDAC4D5A223}"/>
              </a:ext>
            </a:extLst>
          </p:cNvPr>
          <p:cNvSpPr>
            <a:spLocks noGrp="1"/>
          </p:cNvSpPr>
          <p:nvPr>
            <p:ph type="title"/>
          </p:nvPr>
        </p:nvSpPr>
        <p:spPr/>
        <p:txBody>
          <a:bodyPr/>
          <a:lstStyle/>
          <a:p>
            <a:r>
              <a:rPr lang="en-US" dirty="0"/>
              <a:t>Data Field</a:t>
            </a:r>
            <a:endParaRPr lang="tr-TR" dirty="0"/>
          </a:p>
        </p:txBody>
      </p:sp>
      <p:graphicFrame>
        <p:nvGraphicFramePr>
          <p:cNvPr id="5" name="Content Placeholder 4">
            <a:extLst>
              <a:ext uri="{FF2B5EF4-FFF2-40B4-BE49-F238E27FC236}">
                <a16:creationId xmlns:a16="http://schemas.microsoft.com/office/drawing/2014/main" id="{FD0ADF08-1C7B-370F-4466-C7BC6D234B42}"/>
              </a:ext>
            </a:extLst>
          </p:cNvPr>
          <p:cNvGraphicFramePr>
            <a:graphicFrameLocks noGrp="1"/>
          </p:cNvGraphicFramePr>
          <p:nvPr>
            <p:ph idx="1"/>
            <p:extLst>
              <p:ext uri="{D42A27DB-BD31-4B8C-83A1-F6EECF244321}">
                <p14:modId xmlns:p14="http://schemas.microsoft.com/office/powerpoint/2010/main" val="3809830995"/>
              </p:ext>
            </p:extLst>
          </p:nvPr>
        </p:nvGraphicFramePr>
        <p:xfrm>
          <a:off x="1" y="548659"/>
          <a:ext cx="5694215" cy="5779754"/>
        </p:xfrm>
        <a:graphic>
          <a:graphicData uri="http://schemas.openxmlformats.org/drawingml/2006/table">
            <a:tbl>
              <a:tblPr firstRow="1" firstCol="1" bandRow="1">
                <a:tableStyleId>{21E4AEA4-8DFA-4A89-87EB-49C32662AFE0}</a:tableStyleId>
              </a:tblPr>
              <a:tblGrid>
                <a:gridCol w="565078">
                  <a:extLst>
                    <a:ext uri="{9D8B030D-6E8A-4147-A177-3AD203B41FA5}">
                      <a16:colId xmlns:a16="http://schemas.microsoft.com/office/drawing/2014/main" val="1945043816"/>
                    </a:ext>
                  </a:extLst>
                </a:gridCol>
                <a:gridCol w="1397285">
                  <a:extLst>
                    <a:ext uri="{9D8B030D-6E8A-4147-A177-3AD203B41FA5}">
                      <a16:colId xmlns:a16="http://schemas.microsoft.com/office/drawing/2014/main" val="2777548380"/>
                    </a:ext>
                  </a:extLst>
                </a:gridCol>
                <a:gridCol w="1705510">
                  <a:extLst>
                    <a:ext uri="{9D8B030D-6E8A-4147-A177-3AD203B41FA5}">
                      <a16:colId xmlns:a16="http://schemas.microsoft.com/office/drawing/2014/main" val="2823810313"/>
                    </a:ext>
                  </a:extLst>
                </a:gridCol>
                <a:gridCol w="2026342">
                  <a:extLst>
                    <a:ext uri="{9D8B030D-6E8A-4147-A177-3AD203B41FA5}">
                      <a16:colId xmlns:a16="http://schemas.microsoft.com/office/drawing/2014/main" val="1114618140"/>
                    </a:ext>
                  </a:extLst>
                </a:gridCol>
              </a:tblGrid>
              <a:tr h="194714">
                <a:tc>
                  <a:txBody>
                    <a:bodyPr/>
                    <a:lstStyle/>
                    <a:p>
                      <a:pPr algn="ctr">
                        <a:lnSpc>
                          <a:spcPct val="107000"/>
                        </a:lnSpc>
                        <a:spcAft>
                          <a:spcPts val="800"/>
                        </a:spcAft>
                        <a:buNone/>
                      </a:pPr>
                      <a:r>
                        <a:rPr lang="en-GB" sz="1200">
                          <a:effectLst/>
                        </a:rPr>
                        <a:t>Cat.</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gn="ctr">
                        <a:lnSpc>
                          <a:spcPct val="107000"/>
                        </a:lnSpc>
                        <a:spcAft>
                          <a:spcPts val="800"/>
                        </a:spcAft>
                        <a:buNone/>
                      </a:pPr>
                      <a:r>
                        <a:rPr lang="en-GB" sz="1200">
                          <a:effectLst/>
                        </a:rPr>
                        <a:t>Data Type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gn="ctr">
                        <a:lnSpc>
                          <a:spcPct val="107000"/>
                        </a:lnSpc>
                        <a:spcAft>
                          <a:spcPts val="800"/>
                        </a:spcAft>
                        <a:buNone/>
                      </a:pPr>
                      <a:r>
                        <a:rPr lang="en-GB" sz="1200">
                          <a:effectLst/>
                        </a:rPr>
                        <a:t>Possible Values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gn="ctr">
                        <a:lnSpc>
                          <a:spcPct val="107000"/>
                        </a:lnSpc>
                        <a:spcAft>
                          <a:spcPts val="800"/>
                        </a:spcAft>
                        <a:buNone/>
                      </a:pPr>
                      <a:r>
                        <a:rPr lang="en-GB" sz="1200" dirty="0">
                          <a:effectLst/>
                        </a:rPr>
                        <a:t>Constraints</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4227593374"/>
                  </a:ext>
                </a:extLst>
              </a:tr>
              <a:tr h="206270">
                <a:tc rowSpan="8">
                  <a:txBody>
                    <a:bodyPr/>
                    <a:lstStyle/>
                    <a:p>
                      <a:pPr algn="ctr">
                        <a:lnSpc>
                          <a:spcPct val="107000"/>
                        </a:lnSpc>
                        <a:spcAft>
                          <a:spcPts val="800"/>
                        </a:spcAft>
                        <a:buNone/>
                      </a:pPr>
                      <a:r>
                        <a:rPr lang="en-GB" sz="1200">
                          <a:effectLst/>
                        </a:rPr>
                        <a:t>Fire Condition</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Fire location</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Latitude, Longitude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Must be valid GPS coordinates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770188950"/>
                  </a:ext>
                </a:extLst>
              </a:tr>
              <a:tr h="206270">
                <a:tc vMerge="1">
                  <a:txBody>
                    <a:bodyPr/>
                    <a:lstStyle/>
                    <a:p>
                      <a:endParaRPr lang="tr-TR"/>
                    </a:p>
                  </a:txBody>
                  <a:tcPr/>
                </a:tc>
                <a:tc>
                  <a:txBody>
                    <a:bodyPr/>
                    <a:lstStyle/>
                    <a:p>
                      <a:pPr>
                        <a:lnSpc>
                          <a:spcPct val="107000"/>
                        </a:lnSpc>
                        <a:spcAft>
                          <a:spcPts val="800"/>
                        </a:spcAft>
                        <a:buNone/>
                      </a:pPr>
                      <a:r>
                        <a:rPr lang="en-GB" sz="1200" dirty="0">
                          <a:effectLst/>
                        </a:rPr>
                        <a:t>Fire spread rate</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e.g., 0.5 m/s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Non-negative float</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588758801"/>
                  </a:ext>
                </a:extLst>
              </a:tr>
              <a:tr h="414790">
                <a:tc vMerge="1">
                  <a:txBody>
                    <a:bodyPr/>
                    <a:lstStyle/>
                    <a:p>
                      <a:endParaRPr lang="tr-TR"/>
                    </a:p>
                  </a:txBody>
                  <a:tcPr/>
                </a:tc>
                <a:tc>
                  <a:txBody>
                    <a:bodyPr/>
                    <a:lstStyle/>
                    <a:p>
                      <a:pPr>
                        <a:lnSpc>
                          <a:spcPct val="107000"/>
                        </a:lnSpc>
                        <a:spcAft>
                          <a:spcPts val="800"/>
                        </a:spcAft>
                        <a:buNone/>
                      </a:pPr>
                      <a:r>
                        <a:rPr lang="en-GB" sz="1200" dirty="0">
                          <a:effectLst/>
                        </a:rPr>
                        <a:t>Fire perimeter</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Polygon shape, area in hectares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Closed polygon, area &gt; 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2967186491"/>
                  </a:ext>
                </a:extLst>
              </a:tr>
              <a:tr h="414790">
                <a:tc vMerge="1">
                  <a:txBody>
                    <a:bodyPr/>
                    <a:lstStyle/>
                    <a:p>
                      <a:endParaRPr lang="tr-TR"/>
                    </a:p>
                  </a:txBody>
                  <a:tcPr/>
                </a:tc>
                <a:tc>
                  <a:txBody>
                    <a:bodyPr/>
                    <a:lstStyle/>
                    <a:p>
                      <a:pPr>
                        <a:lnSpc>
                          <a:spcPct val="107000"/>
                        </a:lnSpc>
                        <a:spcAft>
                          <a:spcPts val="800"/>
                        </a:spcAft>
                        <a:buNone/>
                      </a:pPr>
                      <a:r>
                        <a:rPr lang="en-GB" sz="1200" dirty="0">
                          <a:effectLst/>
                        </a:rPr>
                        <a:t>Fire intensity</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Low, Medium, High or kW/m</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Categorical or continuous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004283732"/>
                  </a:ext>
                </a:extLst>
              </a:tr>
              <a:tr h="206270">
                <a:tc vMerge="1">
                  <a:txBody>
                    <a:bodyPr/>
                    <a:lstStyle/>
                    <a:p>
                      <a:endParaRPr lang="tr-TR"/>
                    </a:p>
                  </a:txBody>
                  <a:tcPr/>
                </a:tc>
                <a:tc>
                  <a:txBody>
                    <a:bodyPr/>
                    <a:lstStyle/>
                    <a:p>
                      <a:pPr>
                        <a:lnSpc>
                          <a:spcPct val="107000"/>
                        </a:lnSpc>
                        <a:spcAft>
                          <a:spcPts val="800"/>
                        </a:spcAft>
                        <a:buNone/>
                      </a:pPr>
                      <a:r>
                        <a:rPr lang="en-GB" sz="1200">
                          <a:effectLst/>
                        </a:rPr>
                        <a:t>Burned area</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e.g., 25.4 ha</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Non-negative float</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724110563"/>
                  </a:ext>
                </a:extLst>
              </a:tr>
              <a:tr h="414790">
                <a:tc vMerge="1">
                  <a:txBody>
                    <a:bodyPr/>
                    <a:lstStyle/>
                    <a:p>
                      <a:endParaRPr lang="tr-TR"/>
                    </a:p>
                  </a:txBody>
                  <a:tcPr/>
                </a:tc>
                <a:tc>
                  <a:txBody>
                    <a:bodyPr/>
                    <a:lstStyle/>
                    <a:p>
                      <a:pPr>
                        <a:lnSpc>
                          <a:spcPct val="107000"/>
                        </a:lnSpc>
                        <a:spcAft>
                          <a:spcPts val="800"/>
                        </a:spcAft>
                        <a:buNone/>
                      </a:pPr>
                      <a:r>
                        <a:rPr lang="en-GB" sz="1200">
                          <a:effectLst/>
                        </a:rPr>
                        <a:t>Fire type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Surface, Crown, Ground</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One of defined categories</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587515097"/>
                  </a:ext>
                </a:extLst>
              </a:tr>
              <a:tr h="414790">
                <a:tc vMerge="1">
                  <a:txBody>
                    <a:bodyPr/>
                    <a:lstStyle/>
                    <a:p>
                      <a:endParaRPr lang="tr-TR"/>
                    </a:p>
                  </a:txBody>
                  <a:tcPr/>
                </a:tc>
                <a:tc>
                  <a:txBody>
                    <a:bodyPr/>
                    <a:lstStyle/>
                    <a:p>
                      <a:pPr>
                        <a:lnSpc>
                          <a:spcPct val="107000"/>
                        </a:lnSpc>
                        <a:spcAft>
                          <a:spcPts val="800"/>
                        </a:spcAft>
                        <a:buNone/>
                      </a:pPr>
                      <a:r>
                        <a:rPr lang="en-GB" sz="1200" dirty="0">
                          <a:effectLst/>
                        </a:rPr>
                        <a:t>Smoke plume direction</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Azimuth degrees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0°–360°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827679004"/>
                  </a:ext>
                </a:extLst>
              </a:tr>
              <a:tr h="414790">
                <a:tc vMerge="1">
                  <a:txBody>
                    <a:bodyPr/>
                    <a:lstStyle/>
                    <a:p>
                      <a:endParaRPr lang="tr-TR"/>
                    </a:p>
                  </a:txBody>
                  <a:tcPr/>
                </a:tc>
                <a:tc>
                  <a:txBody>
                    <a:bodyPr/>
                    <a:lstStyle/>
                    <a:p>
                      <a:pPr>
                        <a:lnSpc>
                          <a:spcPct val="107000"/>
                        </a:lnSpc>
                        <a:spcAft>
                          <a:spcPts val="800"/>
                        </a:spcAft>
                        <a:buNone/>
                      </a:pPr>
                      <a:r>
                        <a:rPr lang="en-GB" sz="1200">
                          <a:effectLst/>
                        </a:rPr>
                        <a:t>Reignition likelihood</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0.0–1.0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Float, probability</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2343112080"/>
                  </a:ext>
                </a:extLst>
              </a:tr>
              <a:tr h="206270">
                <a:tc rowSpan="8">
                  <a:txBody>
                    <a:bodyPr/>
                    <a:lstStyle/>
                    <a:p>
                      <a:pPr algn="ctr">
                        <a:lnSpc>
                          <a:spcPct val="107000"/>
                        </a:lnSpc>
                        <a:spcAft>
                          <a:spcPts val="800"/>
                        </a:spcAft>
                        <a:buNone/>
                      </a:pPr>
                      <a:r>
                        <a:rPr lang="en-GB" sz="1200">
                          <a:effectLst/>
                        </a:rPr>
                        <a:t>Meteorological</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Wind speed</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e.g., 15 km/h</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Non-negative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635413221"/>
                  </a:ext>
                </a:extLst>
              </a:tr>
              <a:tr h="206270">
                <a:tc vMerge="1">
                  <a:txBody>
                    <a:bodyPr/>
                    <a:lstStyle/>
                    <a:p>
                      <a:endParaRPr lang="tr-TR"/>
                    </a:p>
                  </a:txBody>
                  <a:tcPr/>
                </a:tc>
                <a:tc>
                  <a:txBody>
                    <a:bodyPr/>
                    <a:lstStyle/>
                    <a:p>
                      <a:pPr>
                        <a:lnSpc>
                          <a:spcPct val="107000"/>
                        </a:lnSpc>
                        <a:spcAft>
                          <a:spcPts val="800"/>
                        </a:spcAft>
                        <a:buNone/>
                      </a:pPr>
                      <a:r>
                        <a:rPr lang="en-GB" sz="1200">
                          <a:effectLst/>
                        </a:rPr>
                        <a:t>Wind direction</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Degrees (0–360°)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Circular range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771346539"/>
                  </a:ext>
                </a:extLst>
              </a:tr>
              <a:tr h="206270">
                <a:tc vMerge="1">
                  <a:txBody>
                    <a:bodyPr/>
                    <a:lstStyle/>
                    <a:p>
                      <a:endParaRPr lang="tr-TR"/>
                    </a:p>
                  </a:txBody>
                  <a:tcPr/>
                </a:tc>
                <a:tc>
                  <a:txBody>
                    <a:bodyPr/>
                    <a:lstStyle/>
                    <a:p>
                      <a:pPr>
                        <a:lnSpc>
                          <a:spcPct val="107000"/>
                        </a:lnSpc>
                        <a:spcAft>
                          <a:spcPts val="800"/>
                        </a:spcAft>
                        <a:buNone/>
                      </a:pPr>
                      <a:r>
                        <a:rPr lang="en-GB" sz="1200">
                          <a:effectLst/>
                        </a:rPr>
                        <a:t>Air temperature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e.g., 28°C</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-50°C to +60°C</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3499787104"/>
                  </a:ext>
                </a:extLst>
              </a:tr>
              <a:tr h="206270">
                <a:tc vMerge="1">
                  <a:txBody>
                    <a:bodyPr/>
                    <a:lstStyle/>
                    <a:p>
                      <a:endParaRPr lang="tr-TR"/>
                    </a:p>
                  </a:txBody>
                  <a:tcPr/>
                </a:tc>
                <a:tc>
                  <a:txBody>
                    <a:bodyPr/>
                    <a:lstStyle/>
                    <a:p>
                      <a:pPr>
                        <a:lnSpc>
                          <a:spcPct val="107000"/>
                        </a:lnSpc>
                        <a:spcAft>
                          <a:spcPts val="800"/>
                        </a:spcAft>
                        <a:buNone/>
                      </a:pPr>
                      <a:r>
                        <a:rPr lang="en-GB" sz="1200">
                          <a:effectLst/>
                        </a:rPr>
                        <a:t>Humidity</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0%–100%</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Percentage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3792919700"/>
                  </a:ext>
                </a:extLst>
              </a:tr>
              <a:tr h="414790">
                <a:tc vMerge="1">
                  <a:txBody>
                    <a:bodyPr/>
                    <a:lstStyle/>
                    <a:p>
                      <a:endParaRPr lang="tr-TR"/>
                    </a:p>
                  </a:txBody>
                  <a:tcPr/>
                </a:tc>
                <a:tc>
                  <a:txBody>
                    <a:bodyPr/>
                    <a:lstStyle/>
                    <a:p>
                      <a:pPr>
                        <a:lnSpc>
                          <a:spcPct val="107000"/>
                        </a:lnSpc>
                        <a:spcAft>
                          <a:spcPts val="800"/>
                        </a:spcAft>
                        <a:buNone/>
                      </a:pPr>
                      <a:r>
                        <a:rPr lang="en-GB" sz="1200">
                          <a:effectLst/>
                        </a:rPr>
                        <a:t>Atmospheric pressure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hPa</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300–1100 hPa</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4002884364"/>
                  </a:ext>
                </a:extLst>
              </a:tr>
              <a:tr h="206270">
                <a:tc vMerge="1">
                  <a:txBody>
                    <a:bodyPr/>
                    <a:lstStyle/>
                    <a:p>
                      <a:endParaRPr lang="tr-TR"/>
                    </a:p>
                  </a:txBody>
                  <a:tcPr/>
                </a:tc>
                <a:tc>
                  <a:txBody>
                    <a:bodyPr/>
                    <a:lstStyle/>
                    <a:p>
                      <a:pPr>
                        <a:lnSpc>
                          <a:spcPct val="107000"/>
                        </a:lnSpc>
                        <a:spcAft>
                          <a:spcPts val="800"/>
                        </a:spcAft>
                        <a:buNone/>
                      </a:pPr>
                      <a:r>
                        <a:rPr lang="en-GB" sz="1200">
                          <a:effectLst/>
                        </a:rPr>
                        <a:t>Precipitation rate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e.g., 5 mm/h</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 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4242447311"/>
                  </a:ext>
                </a:extLst>
              </a:tr>
              <a:tr h="206270">
                <a:tc vMerge="1">
                  <a:txBody>
                    <a:bodyPr/>
                    <a:lstStyle/>
                    <a:p>
                      <a:endParaRPr lang="tr-TR"/>
                    </a:p>
                  </a:txBody>
                  <a:tcPr/>
                </a:tc>
                <a:tc>
                  <a:txBody>
                    <a:bodyPr/>
                    <a:lstStyle/>
                    <a:p>
                      <a:pPr>
                        <a:lnSpc>
                          <a:spcPct val="107000"/>
                        </a:lnSpc>
                        <a:spcAft>
                          <a:spcPts val="800"/>
                        </a:spcAft>
                        <a:buNone/>
                      </a:pPr>
                      <a:r>
                        <a:rPr lang="en-GB" sz="1200">
                          <a:effectLst/>
                        </a:rPr>
                        <a:t>Solar radiation</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e.g., 600 W/m²</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 0</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2125797855"/>
                  </a:ext>
                </a:extLst>
              </a:tr>
              <a:tr h="206270">
                <a:tc vMerge="1">
                  <a:txBody>
                    <a:bodyPr/>
                    <a:lstStyle/>
                    <a:p>
                      <a:endParaRPr lang="tr-TR"/>
                    </a:p>
                  </a:txBody>
                  <a:tcPr/>
                </a:tc>
                <a:tc>
                  <a:txBody>
                    <a:bodyPr/>
                    <a:lstStyle/>
                    <a:p>
                      <a:pPr>
                        <a:lnSpc>
                          <a:spcPct val="107000"/>
                        </a:lnSpc>
                        <a:spcAft>
                          <a:spcPts val="800"/>
                        </a:spcAft>
                        <a:buNone/>
                      </a:pPr>
                      <a:r>
                        <a:rPr lang="en-GB" sz="1200">
                          <a:effectLst/>
                        </a:rPr>
                        <a:t>Visibility index</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0–10 scale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Integer</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306956755"/>
                  </a:ext>
                </a:extLst>
              </a:tr>
              <a:tr h="206270">
                <a:tc rowSpan="2">
                  <a:txBody>
                    <a:bodyPr/>
                    <a:lstStyle/>
                    <a:p>
                      <a:pPr algn="ctr">
                        <a:lnSpc>
                          <a:spcPct val="107000"/>
                        </a:lnSpc>
                        <a:spcAft>
                          <a:spcPts val="800"/>
                        </a:spcAft>
                        <a:buNone/>
                      </a:pPr>
                      <a:r>
                        <a:rPr lang="en-GB" sz="1200" dirty="0">
                          <a:effectLst/>
                        </a:rPr>
                        <a:t>Time</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Timestamp</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ISO 8601</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Valid datetime</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621506208"/>
                  </a:ext>
                </a:extLst>
              </a:tr>
              <a:tr h="206270">
                <a:tc vMerge="1">
                  <a:txBody>
                    <a:bodyPr/>
                    <a:lstStyle/>
                    <a:p>
                      <a:pPr algn="ctr">
                        <a:lnSpc>
                          <a:spcPct val="107000"/>
                        </a:lnSpc>
                        <a:spcAft>
                          <a:spcPts val="800"/>
                        </a:spcAft>
                        <a:buNone/>
                      </a:pPr>
                      <a:endParaRPr lang="tr-TR" sz="9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Update frequency</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Seconds</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Positive integer</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3757815579"/>
                  </a:ext>
                </a:extLst>
              </a:tr>
              <a:tr h="206270">
                <a:tc rowSpan="2">
                  <a:txBody>
                    <a:bodyPr/>
                    <a:lstStyle/>
                    <a:p>
                      <a:pPr algn="ctr">
                        <a:lnSpc>
                          <a:spcPct val="107000"/>
                        </a:lnSpc>
                        <a:spcAft>
                          <a:spcPts val="800"/>
                        </a:spcAft>
                        <a:buNone/>
                      </a:pPr>
                      <a:r>
                        <a:rPr lang="en-GB" sz="1200" dirty="0">
                          <a:effectLst/>
                        </a:rPr>
                        <a:t>Infra.</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Urban proximity</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Distance in meters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 0</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2808194086"/>
                  </a:ext>
                </a:extLst>
              </a:tr>
              <a:tr h="414790">
                <a:tc vMerge="1">
                  <a:txBody>
                    <a:bodyPr/>
                    <a:lstStyle/>
                    <a:p>
                      <a:endParaRPr lang="tr-TR"/>
                    </a:p>
                  </a:txBody>
                  <a:tcPr/>
                </a:tc>
                <a:tc>
                  <a:txBody>
                    <a:bodyPr/>
                    <a:lstStyle/>
                    <a:p>
                      <a:pPr>
                        <a:lnSpc>
                          <a:spcPct val="107000"/>
                        </a:lnSpc>
                        <a:spcAft>
                          <a:spcPts val="800"/>
                        </a:spcAft>
                        <a:buNone/>
                      </a:pPr>
                      <a:r>
                        <a:rPr lang="en-GB" sz="1200" dirty="0">
                          <a:effectLst/>
                        </a:rPr>
                        <a:t>Evacuation status</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Pending, In-progress, Complete</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Enum</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838413321"/>
                  </a:ext>
                </a:extLst>
              </a:tr>
            </a:tbl>
          </a:graphicData>
        </a:graphic>
      </p:graphicFrame>
      <p:sp>
        <p:nvSpPr>
          <p:cNvPr id="4" name="Slide Number Placeholder 3">
            <a:extLst>
              <a:ext uri="{FF2B5EF4-FFF2-40B4-BE49-F238E27FC236}">
                <a16:creationId xmlns:a16="http://schemas.microsoft.com/office/drawing/2014/main" id="{899E0F47-2018-2FAA-20EE-B1DFA9B27AB3}"/>
              </a:ext>
            </a:extLst>
          </p:cNvPr>
          <p:cNvSpPr>
            <a:spLocks noGrp="1"/>
          </p:cNvSpPr>
          <p:nvPr>
            <p:ph type="sldNum" sz="quarter" idx="12"/>
          </p:nvPr>
        </p:nvSpPr>
        <p:spPr/>
        <p:txBody>
          <a:bodyPr/>
          <a:lstStyle/>
          <a:p>
            <a:fld id="{0F4FBE90-EB1A-4CD8-B134-C7A82858680F}" type="slidenum">
              <a:rPr lang="en-US" smtClean="0"/>
              <a:t>7</a:t>
            </a:fld>
            <a:endParaRPr lang="en-US"/>
          </a:p>
        </p:txBody>
      </p:sp>
      <p:graphicFrame>
        <p:nvGraphicFramePr>
          <p:cNvPr id="6" name="Content Placeholder 4">
            <a:extLst>
              <a:ext uri="{FF2B5EF4-FFF2-40B4-BE49-F238E27FC236}">
                <a16:creationId xmlns:a16="http://schemas.microsoft.com/office/drawing/2014/main" id="{B65C24AA-7AB4-3FFA-B72E-85F56E6B2CEE}"/>
              </a:ext>
            </a:extLst>
          </p:cNvPr>
          <p:cNvGraphicFramePr>
            <a:graphicFrameLocks/>
          </p:cNvGraphicFramePr>
          <p:nvPr>
            <p:extLst>
              <p:ext uri="{D42A27DB-BD31-4B8C-83A1-F6EECF244321}">
                <p14:modId xmlns:p14="http://schemas.microsoft.com/office/powerpoint/2010/main" val="1346750123"/>
              </p:ext>
            </p:extLst>
          </p:nvPr>
        </p:nvGraphicFramePr>
        <p:xfrm>
          <a:off x="6270660" y="548659"/>
          <a:ext cx="5694215" cy="5779754"/>
        </p:xfrm>
        <a:graphic>
          <a:graphicData uri="http://schemas.openxmlformats.org/drawingml/2006/table">
            <a:tbl>
              <a:tblPr firstRow="1" firstCol="1" bandRow="1">
                <a:tableStyleId>{21E4AEA4-8DFA-4A89-87EB-49C32662AFE0}</a:tableStyleId>
              </a:tblPr>
              <a:tblGrid>
                <a:gridCol w="479461">
                  <a:extLst>
                    <a:ext uri="{9D8B030D-6E8A-4147-A177-3AD203B41FA5}">
                      <a16:colId xmlns:a16="http://schemas.microsoft.com/office/drawing/2014/main" val="1945043816"/>
                    </a:ext>
                  </a:extLst>
                </a:gridCol>
                <a:gridCol w="1733559">
                  <a:extLst>
                    <a:ext uri="{9D8B030D-6E8A-4147-A177-3AD203B41FA5}">
                      <a16:colId xmlns:a16="http://schemas.microsoft.com/office/drawing/2014/main" val="2777548380"/>
                    </a:ext>
                  </a:extLst>
                </a:gridCol>
                <a:gridCol w="1340749">
                  <a:extLst>
                    <a:ext uri="{9D8B030D-6E8A-4147-A177-3AD203B41FA5}">
                      <a16:colId xmlns:a16="http://schemas.microsoft.com/office/drawing/2014/main" val="2823810313"/>
                    </a:ext>
                  </a:extLst>
                </a:gridCol>
                <a:gridCol w="2140446">
                  <a:extLst>
                    <a:ext uri="{9D8B030D-6E8A-4147-A177-3AD203B41FA5}">
                      <a16:colId xmlns:a16="http://schemas.microsoft.com/office/drawing/2014/main" val="1114618140"/>
                    </a:ext>
                  </a:extLst>
                </a:gridCol>
              </a:tblGrid>
              <a:tr h="238024">
                <a:tc>
                  <a:txBody>
                    <a:bodyPr/>
                    <a:lstStyle/>
                    <a:p>
                      <a:pPr algn="ctr">
                        <a:lnSpc>
                          <a:spcPct val="107000"/>
                        </a:lnSpc>
                        <a:spcAft>
                          <a:spcPts val="800"/>
                        </a:spcAft>
                        <a:buNone/>
                      </a:pPr>
                      <a:r>
                        <a:rPr lang="en-GB" sz="1200" dirty="0">
                          <a:effectLst/>
                        </a:rPr>
                        <a:t>Cat.</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gn="ctr">
                        <a:lnSpc>
                          <a:spcPct val="107000"/>
                        </a:lnSpc>
                        <a:spcAft>
                          <a:spcPts val="800"/>
                        </a:spcAft>
                        <a:buNone/>
                      </a:pPr>
                      <a:r>
                        <a:rPr lang="en-GB" sz="1200" dirty="0">
                          <a:effectLst/>
                        </a:rPr>
                        <a:t>Data Type</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gn="ctr">
                        <a:lnSpc>
                          <a:spcPct val="107000"/>
                        </a:lnSpc>
                        <a:spcAft>
                          <a:spcPts val="800"/>
                        </a:spcAft>
                        <a:buNone/>
                      </a:pPr>
                      <a:r>
                        <a:rPr lang="en-GB" sz="1200">
                          <a:effectLst/>
                        </a:rPr>
                        <a:t>Possible Values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gn="ctr">
                        <a:lnSpc>
                          <a:spcPct val="107000"/>
                        </a:lnSpc>
                        <a:spcAft>
                          <a:spcPts val="800"/>
                        </a:spcAft>
                        <a:buNone/>
                      </a:pPr>
                      <a:r>
                        <a:rPr lang="en-GB" sz="1200">
                          <a:effectLst/>
                        </a:rPr>
                        <a:t>Constraints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4227593374"/>
                  </a:ext>
                </a:extLst>
              </a:tr>
              <a:tr h="264862">
                <a:tc rowSpan="8">
                  <a:txBody>
                    <a:bodyPr/>
                    <a:lstStyle/>
                    <a:p>
                      <a:pPr algn="ctr">
                        <a:lnSpc>
                          <a:spcPct val="107000"/>
                        </a:lnSpc>
                        <a:spcAft>
                          <a:spcPts val="800"/>
                        </a:spcAft>
                        <a:buNone/>
                      </a:pPr>
                      <a:r>
                        <a:rPr lang="en-GB" sz="1200" dirty="0">
                          <a:effectLst/>
                        </a:rPr>
                        <a:t>Terrain &amp; Vegetation</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vert="vert270"/>
                </a:tc>
                <a:tc>
                  <a:txBody>
                    <a:bodyPr/>
                    <a:lstStyle/>
                    <a:p>
                      <a:pPr>
                        <a:lnSpc>
                          <a:spcPct val="107000"/>
                        </a:lnSpc>
                        <a:spcAft>
                          <a:spcPts val="800"/>
                        </a:spcAft>
                        <a:buNone/>
                      </a:pPr>
                      <a:r>
                        <a:rPr lang="en-GB" sz="1200">
                          <a:effectLst/>
                        </a:rPr>
                        <a:t>Slope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e.g., 27°</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0°–90°</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01372531"/>
                  </a:ext>
                </a:extLst>
              </a:tr>
              <a:tr h="264862">
                <a:tc vMerge="1">
                  <a:txBody>
                    <a:bodyPr/>
                    <a:lstStyle/>
                    <a:p>
                      <a:endParaRPr lang="tr-TR"/>
                    </a:p>
                  </a:txBody>
                  <a:tcPr/>
                </a:tc>
                <a:tc>
                  <a:txBody>
                    <a:bodyPr/>
                    <a:lstStyle/>
                    <a:p>
                      <a:pPr>
                        <a:lnSpc>
                          <a:spcPct val="107000"/>
                        </a:lnSpc>
                        <a:spcAft>
                          <a:spcPts val="800"/>
                        </a:spcAft>
                        <a:buNone/>
                      </a:pPr>
                      <a:r>
                        <a:rPr lang="en-GB" sz="1200" dirty="0">
                          <a:effectLst/>
                        </a:rPr>
                        <a:t>Aspect</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0°–360°</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Circular angle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4246929189"/>
                  </a:ext>
                </a:extLst>
              </a:tr>
              <a:tr h="532610">
                <a:tc vMerge="1">
                  <a:txBody>
                    <a:bodyPr/>
                    <a:lstStyle/>
                    <a:p>
                      <a:endParaRPr lang="tr-TR"/>
                    </a:p>
                  </a:txBody>
                  <a:tcPr/>
                </a:tc>
                <a:tc>
                  <a:txBody>
                    <a:bodyPr/>
                    <a:lstStyle/>
                    <a:p>
                      <a:pPr>
                        <a:lnSpc>
                          <a:spcPct val="107000"/>
                        </a:lnSpc>
                        <a:spcAft>
                          <a:spcPts val="800"/>
                        </a:spcAft>
                        <a:buNone/>
                      </a:pPr>
                      <a:r>
                        <a:rPr lang="en-GB" sz="1200">
                          <a:effectLst/>
                        </a:rPr>
                        <a:t>Elevation</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Meters above sea level</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 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934269787"/>
                  </a:ext>
                </a:extLst>
              </a:tr>
              <a:tr h="264862">
                <a:tc vMerge="1">
                  <a:txBody>
                    <a:bodyPr/>
                    <a:lstStyle/>
                    <a:p>
                      <a:endParaRPr lang="tr-TR"/>
                    </a:p>
                  </a:txBody>
                  <a:tcPr/>
                </a:tc>
                <a:tc>
                  <a:txBody>
                    <a:bodyPr/>
                    <a:lstStyle/>
                    <a:p>
                      <a:pPr>
                        <a:lnSpc>
                          <a:spcPct val="107000"/>
                        </a:lnSpc>
                        <a:spcAft>
                          <a:spcPts val="800"/>
                        </a:spcAft>
                        <a:buNone/>
                      </a:pPr>
                      <a:r>
                        <a:rPr lang="en-GB" sz="1200">
                          <a:effectLst/>
                        </a:rPr>
                        <a:t>Vegetation type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Pine, Grassland, Shrub</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Predefined set</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481899311"/>
                  </a:ext>
                </a:extLst>
              </a:tr>
              <a:tr h="532610">
                <a:tc vMerge="1">
                  <a:txBody>
                    <a:bodyPr/>
                    <a:lstStyle/>
                    <a:p>
                      <a:endParaRPr lang="tr-TR"/>
                    </a:p>
                  </a:txBody>
                  <a:tcPr/>
                </a:tc>
                <a:tc>
                  <a:txBody>
                    <a:bodyPr/>
                    <a:lstStyle/>
                    <a:p>
                      <a:pPr>
                        <a:lnSpc>
                          <a:spcPct val="107000"/>
                        </a:lnSpc>
                        <a:spcAft>
                          <a:spcPts val="800"/>
                        </a:spcAft>
                        <a:buNone/>
                      </a:pPr>
                      <a:r>
                        <a:rPr lang="en-GB" sz="1200">
                          <a:effectLst/>
                        </a:rPr>
                        <a:t>Fuel moisture content</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e.g., 12%</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0–100%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150076044"/>
                  </a:ext>
                </a:extLst>
              </a:tr>
              <a:tr h="264862">
                <a:tc vMerge="1">
                  <a:txBody>
                    <a:bodyPr/>
                    <a:lstStyle/>
                    <a:p>
                      <a:endParaRPr lang="tr-TR"/>
                    </a:p>
                  </a:txBody>
                  <a:tcPr/>
                </a:tc>
                <a:tc>
                  <a:txBody>
                    <a:bodyPr/>
                    <a:lstStyle/>
                    <a:p>
                      <a:pPr>
                        <a:lnSpc>
                          <a:spcPct val="107000"/>
                        </a:lnSpc>
                        <a:spcAft>
                          <a:spcPts val="800"/>
                        </a:spcAft>
                        <a:buNone/>
                      </a:pPr>
                      <a:r>
                        <a:rPr lang="en-GB" sz="1200">
                          <a:effectLst/>
                        </a:rPr>
                        <a:t>Fuel load</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e.g., 2.5 kg/m²</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 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616791940"/>
                  </a:ext>
                </a:extLst>
              </a:tr>
              <a:tr h="264862">
                <a:tc vMerge="1">
                  <a:txBody>
                    <a:bodyPr/>
                    <a:lstStyle/>
                    <a:p>
                      <a:endParaRPr lang="tr-TR"/>
                    </a:p>
                  </a:txBody>
                  <a:tcPr/>
                </a:tc>
                <a:tc>
                  <a:txBody>
                    <a:bodyPr/>
                    <a:lstStyle/>
                    <a:p>
                      <a:pPr>
                        <a:lnSpc>
                          <a:spcPct val="107000"/>
                        </a:lnSpc>
                        <a:spcAft>
                          <a:spcPts val="800"/>
                        </a:spcAft>
                        <a:buNone/>
                      </a:pPr>
                      <a:r>
                        <a:rPr lang="en-GB" sz="1200">
                          <a:effectLst/>
                        </a:rPr>
                        <a:t>NDVI</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-1 to +1</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Float</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3456684321"/>
                  </a:ext>
                </a:extLst>
              </a:tr>
              <a:tr h="264862">
                <a:tc vMerge="1">
                  <a:txBody>
                    <a:bodyPr/>
                    <a:lstStyle/>
                    <a:p>
                      <a:endParaRPr lang="tr-TR"/>
                    </a:p>
                  </a:txBody>
                  <a:tcPr/>
                </a:tc>
                <a:tc>
                  <a:txBody>
                    <a:bodyPr/>
                    <a:lstStyle/>
                    <a:p>
                      <a:pPr>
                        <a:lnSpc>
                          <a:spcPct val="107000"/>
                        </a:lnSpc>
                        <a:spcAft>
                          <a:spcPts val="800"/>
                        </a:spcAft>
                        <a:buNone/>
                      </a:pPr>
                      <a:r>
                        <a:rPr lang="en-GB" sz="1200">
                          <a:effectLst/>
                        </a:rPr>
                        <a:t>Flammability index</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Low, Moderate, High</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Categorical</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982031805"/>
                  </a:ext>
                </a:extLst>
              </a:tr>
              <a:tr h="264862">
                <a:tc rowSpan="5">
                  <a:txBody>
                    <a:bodyPr/>
                    <a:lstStyle/>
                    <a:p>
                      <a:pPr algn="ctr">
                        <a:lnSpc>
                          <a:spcPct val="107000"/>
                        </a:lnSpc>
                        <a:spcAft>
                          <a:spcPts val="800"/>
                        </a:spcAft>
                        <a:buNone/>
                      </a:pPr>
                      <a:r>
                        <a:rPr lang="en-GB" sz="1200" dirty="0">
                          <a:effectLst/>
                        </a:rPr>
                        <a:t>Operational</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vert="vert270"/>
                </a:tc>
                <a:tc>
                  <a:txBody>
                    <a:bodyPr/>
                    <a:lstStyle/>
                    <a:p>
                      <a:pPr>
                        <a:lnSpc>
                          <a:spcPct val="107000"/>
                        </a:lnSpc>
                        <a:spcAft>
                          <a:spcPts val="800"/>
                        </a:spcAft>
                        <a:buNone/>
                      </a:pPr>
                      <a:r>
                        <a:rPr lang="en-GB" sz="1200">
                          <a:effectLst/>
                        </a:rPr>
                        <a:t>Personnel count</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Integer</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 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948325310"/>
                  </a:ext>
                </a:extLst>
              </a:tr>
              <a:tr h="264862">
                <a:tc vMerge="1">
                  <a:txBody>
                    <a:bodyPr/>
                    <a:lstStyle/>
                    <a:p>
                      <a:endParaRPr lang="tr-TR"/>
                    </a:p>
                  </a:txBody>
                  <a:tcPr/>
                </a:tc>
                <a:tc>
                  <a:txBody>
                    <a:bodyPr/>
                    <a:lstStyle/>
                    <a:p>
                      <a:pPr>
                        <a:lnSpc>
                          <a:spcPct val="107000"/>
                        </a:lnSpc>
                        <a:spcAft>
                          <a:spcPts val="800"/>
                        </a:spcAft>
                        <a:buNone/>
                      </a:pPr>
                      <a:r>
                        <a:rPr lang="en-GB" sz="1200">
                          <a:effectLst/>
                        </a:rPr>
                        <a:t>Vehicle positions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GPS coordinates</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Valid format</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871643037"/>
                  </a:ext>
                </a:extLst>
              </a:tr>
              <a:tr h="264862">
                <a:tc vMerge="1">
                  <a:txBody>
                    <a:bodyPr/>
                    <a:lstStyle/>
                    <a:p>
                      <a:endParaRPr lang="tr-TR"/>
                    </a:p>
                  </a:txBody>
                  <a:tcPr/>
                </a:tc>
                <a:tc>
                  <a:txBody>
                    <a:bodyPr/>
                    <a:lstStyle/>
                    <a:p>
                      <a:pPr>
                        <a:lnSpc>
                          <a:spcPct val="107000"/>
                        </a:lnSpc>
                        <a:spcAft>
                          <a:spcPts val="800"/>
                        </a:spcAft>
                        <a:buNone/>
                      </a:pPr>
                      <a:r>
                        <a:rPr lang="en-GB" sz="1200">
                          <a:effectLst/>
                        </a:rPr>
                        <a:t>Aircraft tank capacity</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Liters</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 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2138868008"/>
                  </a:ext>
                </a:extLst>
              </a:tr>
              <a:tr h="532610">
                <a:tc vMerge="1">
                  <a:txBody>
                    <a:bodyPr/>
                    <a:lstStyle/>
                    <a:p>
                      <a:endParaRPr lang="tr-TR"/>
                    </a:p>
                  </a:txBody>
                  <a:tcPr/>
                </a:tc>
                <a:tc>
                  <a:txBody>
                    <a:bodyPr/>
                    <a:lstStyle/>
                    <a:p>
                      <a:pPr>
                        <a:lnSpc>
                          <a:spcPct val="107000"/>
                        </a:lnSpc>
                        <a:spcAft>
                          <a:spcPts val="800"/>
                        </a:spcAft>
                        <a:buNone/>
                      </a:pPr>
                      <a:r>
                        <a:rPr lang="en-GB" sz="1200">
                          <a:effectLst/>
                        </a:rPr>
                        <a:t>Water source availability</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Liters</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 0</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205348085"/>
                  </a:ext>
                </a:extLst>
              </a:tr>
              <a:tr h="264862">
                <a:tc vMerge="1">
                  <a:txBody>
                    <a:bodyPr/>
                    <a:lstStyle/>
                    <a:p>
                      <a:endParaRPr lang="tr-TR"/>
                    </a:p>
                  </a:txBody>
                  <a:tcPr/>
                </a:tc>
                <a:tc>
                  <a:txBody>
                    <a:bodyPr/>
                    <a:lstStyle/>
                    <a:p>
                      <a:pPr>
                        <a:lnSpc>
                          <a:spcPct val="107000"/>
                        </a:lnSpc>
                        <a:spcAft>
                          <a:spcPts val="800"/>
                        </a:spcAft>
                        <a:buNone/>
                      </a:pPr>
                      <a:r>
                        <a:rPr lang="en-GB" sz="1200">
                          <a:effectLst/>
                        </a:rPr>
                        <a:t>Equipment status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Operational, Damaged</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Enum</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3857400513"/>
                  </a:ext>
                </a:extLst>
              </a:tr>
              <a:tr h="264862">
                <a:tc rowSpan="4">
                  <a:txBody>
                    <a:bodyPr/>
                    <a:lstStyle/>
                    <a:p>
                      <a:pPr algn="ctr">
                        <a:lnSpc>
                          <a:spcPct val="107000"/>
                        </a:lnSpc>
                        <a:spcAft>
                          <a:spcPts val="800"/>
                        </a:spcAft>
                        <a:buNone/>
                      </a:pPr>
                      <a:r>
                        <a:rPr lang="en-GB" sz="1200" dirty="0">
                          <a:effectLst/>
                        </a:rPr>
                        <a:t>Sensory</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vert="vert270"/>
                </a:tc>
                <a:tc>
                  <a:txBody>
                    <a:bodyPr/>
                    <a:lstStyle/>
                    <a:p>
                      <a:pPr>
                        <a:lnSpc>
                          <a:spcPct val="107000"/>
                        </a:lnSpc>
                        <a:spcAft>
                          <a:spcPts val="800"/>
                        </a:spcAft>
                        <a:buNone/>
                      </a:pPr>
                      <a:r>
                        <a:rPr lang="en-GB" sz="1200">
                          <a:effectLst/>
                        </a:rPr>
                        <a:t>Drone battery level</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Percentage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0–100%</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230171678"/>
                  </a:ext>
                </a:extLst>
              </a:tr>
              <a:tr h="264862">
                <a:tc vMerge="1">
                  <a:txBody>
                    <a:bodyPr/>
                    <a:lstStyle/>
                    <a:p>
                      <a:endParaRPr lang="tr-TR"/>
                    </a:p>
                  </a:txBody>
                  <a:tcPr/>
                </a:tc>
                <a:tc>
                  <a:txBody>
                    <a:bodyPr/>
                    <a:lstStyle/>
                    <a:p>
                      <a:pPr>
                        <a:lnSpc>
                          <a:spcPct val="107000"/>
                        </a:lnSpc>
                        <a:spcAft>
                          <a:spcPts val="800"/>
                        </a:spcAft>
                        <a:buNone/>
                      </a:pPr>
                      <a:r>
                        <a:rPr lang="en-GB" sz="1200">
                          <a:effectLst/>
                        </a:rPr>
                        <a:t>Sensor temperature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°C</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-40°C to +85°C</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2759347000"/>
                  </a:ext>
                </a:extLst>
              </a:tr>
              <a:tr h="264862">
                <a:tc vMerge="1">
                  <a:txBody>
                    <a:bodyPr/>
                    <a:lstStyle/>
                    <a:p>
                      <a:endParaRPr lang="tr-TR"/>
                    </a:p>
                  </a:txBody>
                  <a:tcPr/>
                </a:tc>
                <a:tc>
                  <a:txBody>
                    <a:bodyPr/>
                    <a:lstStyle/>
                    <a:p>
                      <a:pPr>
                        <a:lnSpc>
                          <a:spcPct val="107000"/>
                        </a:lnSpc>
                        <a:spcAft>
                          <a:spcPts val="800"/>
                        </a:spcAft>
                        <a:buNone/>
                      </a:pPr>
                      <a:r>
                        <a:rPr lang="en-GB" sz="1200">
                          <a:effectLst/>
                        </a:rPr>
                        <a:t>Link quality</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dBm or %, RSSI</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Defined range</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1243997821"/>
                  </a:ext>
                </a:extLst>
              </a:tr>
              <a:tr h="264862">
                <a:tc vMerge="1">
                  <a:txBody>
                    <a:bodyPr/>
                    <a:lstStyle/>
                    <a:p>
                      <a:endParaRPr lang="tr-TR"/>
                    </a:p>
                  </a:txBody>
                  <a:tcPr/>
                </a:tc>
                <a:tc>
                  <a:txBody>
                    <a:bodyPr/>
                    <a:lstStyle/>
                    <a:p>
                      <a:pPr>
                        <a:lnSpc>
                          <a:spcPct val="107000"/>
                        </a:lnSpc>
                        <a:spcAft>
                          <a:spcPts val="800"/>
                        </a:spcAft>
                        <a:buNone/>
                      </a:pPr>
                      <a:r>
                        <a:rPr lang="en-GB" sz="1200">
                          <a:effectLst/>
                        </a:rPr>
                        <a:t>Sensor uptime</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a:effectLst/>
                        </a:rPr>
                        <a:t>Time (hh:mm:ss)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tc>
                  <a:txBody>
                    <a:bodyPr/>
                    <a:lstStyle/>
                    <a:p>
                      <a:pPr>
                        <a:lnSpc>
                          <a:spcPct val="107000"/>
                        </a:lnSpc>
                        <a:spcAft>
                          <a:spcPts val="800"/>
                        </a:spcAft>
                        <a:buNone/>
                      </a:pPr>
                      <a:r>
                        <a:rPr lang="en-GB" sz="1200" dirty="0">
                          <a:effectLst/>
                        </a:rPr>
                        <a:t>≥ 0</a:t>
                      </a:r>
                      <a:endParaRPr lang="tr-TR" sz="1200" dirty="0">
                        <a:effectLst/>
                        <a:latin typeface="Calibri" panose="020F0502020204030204" pitchFamily="34" charset="0"/>
                        <a:ea typeface="Calibri" panose="020F0502020204030204" pitchFamily="34" charset="0"/>
                        <a:cs typeface="Arial" panose="020B0604020202020204" pitchFamily="34" charset="0"/>
                      </a:endParaRPr>
                    </a:p>
                  </a:txBody>
                  <a:tcPr marL="15892" marR="15892" marT="0" marB="0"/>
                </a:tc>
                <a:extLst>
                  <a:ext uri="{0D108BD9-81ED-4DB2-BD59-A6C34878D82A}">
                    <a16:rowId xmlns:a16="http://schemas.microsoft.com/office/drawing/2014/main" val="951386066"/>
                  </a:ext>
                </a:extLst>
              </a:tr>
            </a:tbl>
          </a:graphicData>
        </a:graphic>
      </p:graphicFrame>
    </p:spTree>
    <p:extLst>
      <p:ext uri="{BB962C8B-B14F-4D97-AF65-F5344CB8AC3E}">
        <p14:creationId xmlns:p14="http://schemas.microsoft.com/office/powerpoint/2010/main" val="160266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0B3C7-5C24-D85D-2F10-13A1BC6F4107}"/>
              </a:ext>
            </a:extLst>
          </p:cNvPr>
          <p:cNvSpPr>
            <a:spLocks noGrp="1"/>
          </p:cNvSpPr>
          <p:nvPr>
            <p:ph type="title"/>
          </p:nvPr>
        </p:nvSpPr>
        <p:spPr/>
        <p:txBody>
          <a:bodyPr/>
          <a:lstStyle/>
          <a:p>
            <a:r>
              <a:rPr lang="en-US" dirty="0"/>
              <a:t>Fuzzy Decision Layer </a:t>
            </a:r>
            <a:endParaRPr lang="tr-TR" dirty="0"/>
          </a:p>
        </p:txBody>
      </p:sp>
      <p:sp>
        <p:nvSpPr>
          <p:cNvPr id="4" name="Slide Number Placeholder 3">
            <a:extLst>
              <a:ext uri="{FF2B5EF4-FFF2-40B4-BE49-F238E27FC236}">
                <a16:creationId xmlns:a16="http://schemas.microsoft.com/office/drawing/2014/main" id="{95F68B9F-B5BB-5403-E434-CAA3B19CF177}"/>
              </a:ext>
            </a:extLst>
          </p:cNvPr>
          <p:cNvSpPr>
            <a:spLocks noGrp="1"/>
          </p:cNvSpPr>
          <p:nvPr>
            <p:ph type="sldNum" sz="quarter" idx="12"/>
          </p:nvPr>
        </p:nvSpPr>
        <p:spPr/>
        <p:txBody>
          <a:bodyPr/>
          <a:lstStyle/>
          <a:p>
            <a:fld id="{0F4FBE90-EB1A-4CD8-B134-C7A82858680F}" type="slidenum">
              <a:rPr lang="en-US" smtClean="0"/>
              <a:t>8</a:t>
            </a:fld>
            <a:endParaRPr lang="en-US"/>
          </a:p>
        </p:txBody>
      </p:sp>
      <p:pic>
        <p:nvPicPr>
          <p:cNvPr id="5" name="Picture 4">
            <a:extLst>
              <a:ext uri="{FF2B5EF4-FFF2-40B4-BE49-F238E27FC236}">
                <a16:creationId xmlns:a16="http://schemas.microsoft.com/office/drawing/2014/main" id="{AA4F648C-5958-8F66-1AAA-576483CD404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564" y="648700"/>
            <a:ext cx="2476500" cy="4572000"/>
          </a:xfrm>
          <a:prstGeom prst="rect">
            <a:avLst/>
          </a:prstGeom>
          <a:noFill/>
          <a:ln>
            <a:noFill/>
          </a:ln>
        </p:spPr>
      </p:pic>
      <p:graphicFrame>
        <p:nvGraphicFramePr>
          <p:cNvPr id="6" name="Table 5">
            <a:extLst>
              <a:ext uri="{FF2B5EF4-FFF2-40B4-BE49-F238E27FC236}">
                <a16:creationId xmlns:a16="http://schemas.microsoft.com/office/drawing/2014/main" id="{C8792D3D-81A8-E773-E8C9-2CA7DD9E38AA}"/>
              </a:ext>
            </a:extLst>
          </p:cNvPr>
          <p:cNvGraphicFramePr>
            <a:graphicFrameLocks noGrp="1"/>
          </p:cNvGraphicFramePr>
          <p:nvPr>
            <p:extLst>
              <p:ext uri="{D42A27DB-BD31-4B8C-83A1-F6EECF244321}">
                <p14:modId xmlns:p14="http://schemas.microsoft.com/office/powerpoint/2010/main" val="2191056374"/>
              </p:ext>
            </p:extLst>
          </p:nvPr>
        </p:nvGraphicFramePr>
        <p:xfrm>
          <a:off x="3772654" y="688349"/>
          <a:ext cx="5966460" cy="1659892"/>
        </p:xfrm>
        <a:graphic>
          <a:graphicData uri="http://schemas.openxmlformats.org/drawingml/2006/table">
            <a:tbl>
              <a:tblPr firstRow="1" bandRow="1">
                <a:tableStyleId>{21E4AEA4-8DFA-4A89-87EB-49C32662AFE0}</a:tableStyleId>
              </a:tblPr>
              <a:tblGrid>
                <a:gridCol w="2983230">
                  <a:extLst>
                    <a:ext uri="{9D8B030D-6E8A-4147-A177-3AD203B41FA5}">
                      <a16:colId xmlns:a16="http://schemas.microsoft.com/office/drawing/2014/main" val="2381009448"/>
                    </a:ext>
                  </a:extLst>
                </a:gridCol>
                <a:gridCol w="2983230">
                  <a:extLst>
                    <a:ext uri="{9D8B030D-6E8A-4147-A177-3AD203B41FA5}">
                      <a16:colId xmlns:a16="http://schemas.microsoft.com/office/drawing/2014/main" val="37247334"/>
                    </a:ext>
                  </a:extLst>
                </a:gridCol>
              </a:tblGrid>
              <a:tr h="0">
                <a:tc>
                  <a:txBody>
                    <a:bodyPr/>
                    <a:lstStyle/>
                    <a:p>
                      <a:pPr algn="just">
                        <a:lnSpc>
                          <a:spcPct val="115000"/>
                        </a:lnSpc>
                        <a:buNone/>
                      </a:pPr>
                      <a:r>
                        <a:rPr lang="en-GB" sz="1400" dirty="0">
                          <a:effectLst/>
                        </a:rPr>
                        <a:t>Advantages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en-GB" sz="1400" dirty="0">
                          <a:effectLst/>
                        </a:rPr>
                        <a:t>Disadvantages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70450842"/>
                  </a:ext>
                </a:extLst>
              </a:tr>
              <a:tr h="0">
                <a:tc>
                  <a:txBody>
                    <a:bodyPr/>
                    <a:lstStyle/>
                    <a:p>
                      <a:pPr algn="just">
                        <a:lnSpc>
                          <a:spcPct val="115000"/>
                        </a:lnSpc>
                        <a:buNone/>
                      </a:pPr>
                      <a:r>
                        <a:rPr lang="en-GB" sz="1400">
                          <a:effectLst/>
                        </a:rPr>
                        <a:t>Handles uncertainty and imprecision gracefully.</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en-GB" sz="1400" b="1" dirty="0">
                          <a:effectLst/>
                        </a:rPr>
                        <a:t>Rule design and membership tuning require expertise.</a:t>
                      </a:r>
                      <a:endParaRPr lang="tr-TR"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11129542"/>
                  </a:ext>
                </a:extLst>
              </a:tr>
              <a:tr h="0">
                <a:tc>
                  <a:txBody>
                    <a:bodyPr/>
                    <a:lstStyle/>
                    <a:p>
                      <a:pPr algn="just">
                        <a:lnSpc>
                          <a:spcPct val="115000"/>
                        </a:lnSpc>
                        <a:buNone/>
                      </a:pPr>
                      <a:r>
                        <a:rPr lang="en-GB" sz="1400">
                          <a:effectLst/>
                        </a:rPr>
                        <a:t>Mimics human reasoning and linguistic variables.</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en-GB" sz="1400" b="1" dirty="0">
                          <a:effectLst/>
                        </a:rPr>
                        <a:t>Not inherently adaptive unless combined with learning (e.g. RL).</a:t>
                      </a:r>
                      <a:endParaRPr lang="tr-TR"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44379618"/>
                  </a:ext>
                </a:extLst>
              </a:tr>
              <a:tr h="0">
                <a:tc>
                  <a:txBody>
                    <a:bodyPr/>
                    <a:lstStyle/>
                    <a:p>
                      <a:pPr algn="just">
                        <a:lnSpc>
                          <a:spcPct val="115000"/>
                        </a:lnSpc>
                        <a:buNone/>
                      </a:pPr>
                      <a:r>
                        <a:rPr lang="en-GB" sz="1400">
                          <a:effectLst/>
                        </a:rPr>
                        <a:t>Allows partial rule activation and layered inference.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en-GB" sz="1400" b="1" dirty="0">
                          <a:effectLst/>
                        </a:rPr>
                        <a:t> </a:t>
                      </a:r>
                      <a:endParaRPr lang="tr-TR"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42108851"/>
                  </a:ext>
                </a:extLst>
              </a:tr>
            </a:tbl>
          </a:graphicData>
        </a:graphic>
      </p:graphicFrame>
      <p:graphicFrame>
        <p:nvGraphicFramePr>
          <p:cNvPr id="7" name="Table 6">
            <a:extLst>
              <a:ext uri="{FF2B5EF4-FFF2-40B4-BE49-F238E27FC236}">
                <a16:creationId xmlns:a16="http://schemas.microsoft.com/office/drawing/2014/main" id="{83C9E9EF-5FB2-559C-44DD-04E61A9E6736}"/>
              </a:ext>
            </a:extLst>
          </p:cNvPr>
          <p:cNvGraphicFramePr>
            <a:graphicFrameLocks noGrp="1"/>
          </p:cNvGraphicFramePr>
          <p:nvPr>
            <p:extLst>
              <p:ext uri="{D42A27DB-BD31-4B8C-83A1-F6EECF244321}">
                <p14:modId xmlns:p14="http://schemas.microsoft.com/office/powerpoint/2010/main" val="3686853688"/>
              </p:ext>
            </p:extLst>
          </p:nvPr>
        </p:nvGraphicFramePr>
        <p:xfrm>
          <a:off x="2116578" y="4130739"/>
          <a:ext cx="8967987" cy="1567688"/>
        </p:xfrm>
        <a:graphic>
          <a:graphicData uri="http://schemas.openxmlformats.org/drawingml/2006/table">
            <a:tbl>
              <a:tblPr firstRow="1" firstCol="1" bandRow="1">
                <a:tableStyleId>{21E4AEA4-8DFA-4A89-87EB-49C32662AFE0}</a:tableStyleId>
              </a:tblPr>
              <a:tblGrid>
                <a:gridCol w="2948188">
                  <a:extLst>
                    <a:ext uri="{9D8B030D-6E8A-4147-A177-3AD203B41FA5}">
                      <a16:colId xmlns:a16="http://schemas.microsoft.com/office/drawing/2014/main" val="2774104515"/>
                    </a:ext>
                  </a:extLst>
                </a:gridCol>
                <a:gridCol w="3182327">
                  <a:extLst>
                    <a:ext uri="{9D8B030D-6E8A-4147-A177-3AD203B41FA5}">
                      <a16:colId xmlns:a16="http://schemas.microsoft.com/office/drawing/2014/main" val="669211556"/>
                    </a:ext>
                  </a:extLst>
                </a:gridCol>
                <a:gridCol w="2837472">
                  <a:extLst>
                    <a:ext uri="{9D8B030D-6E8A-4147-A177-3AD203B41FA5}">
                      <a16:colId xmlns:a16="http://schemas.microsoft.com/office/drawing/2014/main" val="924839351"/>
                    </a:ext>
                  </a:extLst>
                </a:gridCol>
              </a:tblGrid>
              <a:tr h="190500">
                <a:tc>
                  <a:txBody>
                    <a:bodyPr/>
                    <a:lstStyle/>
                    <a:p>
                      <a:pPr algn="ctr">
                        <a:lnSpc>
                          <a:spcPct val="107000"/>
                        </a:lnSpc>
                        <a:spcAft>
                          <a:spcPts val="800"/>
                        </a:spcAft>
                        <a:buNone/>
                      </a:pPr>
                      <a:r>
                        <a:rPr lang="en-GB" sz="1400" dirty="0">
                          <a:effectLst/>
                        </a:rPr>
                        <a:t>Fuzzy Logic Disadvantage</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GB" sz="1400" dirty="0">
                          <a:effectLst/>
                        </a:rPr>
                        <a:t>LLM Solution</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GB" sz="1400">
                          <a:effectLst/>
                        </a:rPr>
                        <a:t>RL Solution</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06594301"/>
                  </a:ext>
                </a:extLst>
              </a:tr>
              <a:tr h="530225">
                <a:tc>
                  <a:txBody>
                    <a:bodyPr/>
                    <a:lstStyle/>
                    <a:p>
                      <a:pPr>
                        <a:lnSpc>
                          <a:spcPct val="107000"/>
                        </a:lnSpc>
                        <a:spcAft>
                          <a:spcPts val="800"/>
                        </a:spcAft>
                        <a:buNone/>
                      </a:pPr>
                      <a:r>
                        <a:rPr lang="en-GB" sz="1400">
                          <a:effectLst/>
                        </a:rPr>
                        <a:t>1. Rule design and membership tuning require expertise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GB" sz="1400" i="1" dirty="0">
                          <a:effectLst/>
                        </a:rPr>
                        <a:t>- Generates fuzzy rules from language</a:t>
                      </a:r>
                      <a:br>
                        <a:rPr lang="en-GB" sz="1400" i="1" dirty="0">
                          <a:effectLst/>
                        </a:rPr>
                      </a:br>
                      <a:r>
                        <a:rPr lang="en-GB" sz="1400" i="1" dirty="0">
                          <a:effectLst/>
                        </a:rPr>
                        <a:t>- Suggests linguistic terms</a:t>
                      </a:r>
                      <a:br>
                        <a:rPr lang="en-GB" sz="1400" i="1" dirty="0">
                          <a:effectLst/>
                        </a:rPr>
                      </a:br>
                      <a:r>
                        <a:rPr lang="en-GB" sz="1400" i="1" dirty="0">
                          <a:effectLst/>
                        </a:rPr>
                        <a:t>- Fills in rule gaps</a:t>
                      </a:r>
                      <a:endParaRPr lang="tr-TR" sz="14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GB" sz="1400" i="1">
                          <a:effectLst/>
                        </a:rPr>
                        <a:t>- Optimizes membership thresholds and shapes</a:t>
                      </a:r>
                      <a:br>
                        <a:rPr lang="en-GB" sz="1400" i="1">
                          <a:effectLst/>
                        </a:rPr>
                      </a:br>
                      <a:r>
                        <a:rPr lang="en-GB" sz="1400" i="1">
                          <a:effectLst/>
                        </a:rPr>
                        <a:t>- Learns rule effectiveness</a:t>
                      </a:r>
                      <a:endParaRPr lang="tr-TR" sz="1400" i="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26576678"/>
                  </a:ext>
                </a:extLst>
              </a:tr>
              <a:tr h="350838">
                <a:tc>
                  <a:txBody>
                    <a:bodyPr/>
                    <a:lstStyle/>
                    <a:p>
                      <a:pPr>
                        <a:lnSpc>
                          <a:spcPct val="107000"/>
                        </a:lnSpc>
                        <a:spcAft>
                          <a:spcPts val="800"/>
                        </a:spcAft>
                        <a:buNone/>
                      </a:pPr>
                      <a:r>
                        <a:rPr lang="en-GB" sz="1400">
                          <a:effectLst/>
                        </a:rPr>
                        <a:t>2. Not inherently adaptive unless combined with learning</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GB" sz="1400" i="1">
                          <a:effectLst/>
                        </a:rPr>
                        <a:t>- Explains adaptive behavior in human terms</a:t>
                      </a:r>
                      <a:br>
                        <a:rPr lang="en-GB" sz="1400" i="1">
                          <a:effectLst/>
                        </a:rPr>
                      </a:br>
                      <a:r>
                        <a:rPr lang="en-GB" sz="1400" i="1">
                          <a:effectLst/>
                        </a:rPr>
                        <a:t>- Suggests rules in new scenarios</a:t>
                      </a:r>
                      <a:endParaRPr lang="tr-TR" sz="1400" i="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GB" sz="1400" i="1" dirty="0">
                          <a:effectLst/>
                        </a:rPr>
                        <a:t>- Adapts decisions based on environment</a:t>
                      </a:r>
                      <a:br>
                        <a:rPr lang="en-GB" sz="1400" i="1" dirty="0">
                          <a:effectLst/>
                        </a:rPr>
                      </a:br>
                      <a:r>
                        <a:rPr lang="en-GB" sz="1400" i="1" dirty="0">
                          <a:effectLst/>
                        </a:rPr>
                        <a:t>- Improves through reward feedback</a:t>
                      </a:r>
                      <a:endParaRPr lang="tr-TR" sz="14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92959316"/>
                  </a:ext>
                </a:extLst>
              </a:tr>
            </a:tbl>
          </a:graphicData>
        </a:graphic>
      </p:graphicFrame>
      <p:sp>
        <p:nvSpPr>
          <p:cNvPr id="17" name="Arrow: Up-Down 16">
            <a:extLst>
              <a:ext uri="{FF2B5EF4-FFF2-40B4-BE49-F238E27FC236}">
                <a16:creationId xmlns:a16="http://schemas.microsoft.com/office/drawing/2014/main" id="{E03CE137-7F81-6855-2805-274B31FD9004}"/>
              </a:ext>
            </a:extLst>
          </p:cNvPr>
          <p:cNvSpPr/>
          <p:nvPr/>
        </p:nvSpPr>
        <p:spPr>
          <a:xfrm rot="2700335">
            <a:off x="6832695" y="2046320"/>
            <a:ext cx="636308" cy="2347090"/>
          </a:xfrm>
          <a:prstGeom prst="up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tr-TR"/>
          </a:p>
        </p:txBody>
      </p:sp>
      <p:sp>
        <p:nvSpPr>
          <p:cNvPr id="3" name="Arrow: Up-Down 2">
            <a:extLst>
              <a:ext uri="{FF2B5EF4-FFF2-40B4-BE49-F238E27FC236}">
                <a16:creationId xmlns:a16="http://schemas.microsoft.com/office/drawing/2014/main" id="{A94360A5-E1C4-6360-1CF0-F4F0749B0F93}"/>
              </a:ext>
            </a:extLst>
          </p:cNvPr>
          <p:cNvSpPr/>
          <p:nvPr/>
        </p:nvSpPr>
        <p:spPr>
          <a:xfrm rot="18883230">
            <a:off x="8849358" y="2065078"/>
            <a:ext cx="636308" cy="2347090"/>
          </a:xfrm>
          <a:prstGeom prst="up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4137310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183CC-7D9F-8180-42F1-B104937DB480}"/>
              </a:ext>
            </a:extLst>
          </p:cNvPr>
          <p:cNvSpPr>
            <a:spLocks noGrp="1"/>
          </p:cNvSpPr>
          <p:nvPr>
            <p:ph type="title"/>
          </p:nvPr>
        </p:nvSpPr>
        <p:spPr/>
        <p:txBody>
          <a:bodyPr/>
          <a:lstStyle/>
          <a:p>
            <a:r>
              <a:rPr lang="en-US" dirty="0"/>
              <a:t>Fuzzy Decision Layer : Example (Single Decision)</a:t>
            </a:r>
            <a:endParaRPr lang="tr-TR" dirty="0"/>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1DA96A3E-6401-D3BF-C713-5224BD2AABA7}"/>
                  </a:ext>
                </a:extLst>
              </p:cNvPr>
              <p:cNvGraphicFramePr>
                <a:graphicFrameLocks noGrp="1"/>
              </p:cNvGraphicFramePr>
              <p:nvPr>
                <p:ph idx="1"/>
                <p:extLst>
                  <p:ext uri="{D42A27DB-BD31-4B8C-83A1-F6EECF244321}">
                    <p14:modId xmlns:p14="http://schemas.microsoft.com/office/powerpoint/2010/main" val="3492805093"/>
                  </p:ext>
                </p:extLst>
              </p:nvPr>
            </p:nvGraphicFramePr>
            <p:xfrm>
              <a:off x="269238" y="564979"/>
              <a:ext cx="5674362" cy="5693814"/>
            </p:xfrm>
            <a:graphic>
              <a:graphicData uri="http://schemas.openxmlformats.org/drawingml/2006/table">
                <a:tbl>
                  <a:tblPr firstCol="1" bandRow="1">
                    <a:tableStyleId>{21E4AEA4-8DFA-4A89-87EB-49C32662AFE0}</a:tableStyleId>
                  </a:tblPr>
                  <a:tblGrid>
                    <a:gridCol w="731942">
                      <a:extLst>
                        <a:ext uri="{9D8B030D-6E8A-4147-A177-3AD203B41FA5}">
                          <a16:colId xmlns:a16="http://schemas.microsoft.com/office/drawing/2014/main" val="3891280207"/>
                        </a:ext>
                      </a:extLst>
                    </a:gridCol>
                    <a:gridCol w="4942420">
                      <a:extLst>
                        <a:ext uri="{9D8B030D-6E8A-4147-A177-3AD203B41FA5}">
                          <a16:colId xmlns:a16="http://schemas.microsoft.com/office/drawing/2014/main" val="2884359370"/>
                        </a:ext>
                      </a:extLst>
                    </a:gridCol>
                  </a:tblGrid>
                  <a:tr h="2114000">
                    <a:tc>
                      <a:txBody>
                        <a:bodyPr/>
                        <a:lstStyle/>
                        <a:p>
                          <a:pPr algn="ctr">
                            <a:lnSpc>
                              <a:spcPct val="115000"/>
                            </a:lnSpc>
                            <a:buNone/>
                          </a:pPr>
                          <a:r>
                            <a:rPr lang="en-US" sz="1400" dirty="0">
                              <a:effectLst/>
                            </a:rPr>
                            <a:t>Input Variables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vert="vert270"/>
                    </a:tc>
                    <a:tc>
                      <a:txBody>
                        <a:bodyPr/>
                        <a:lstStyle/>
                        <a:p>
                          <a:pPr algn="just">
                            <a:lnSpc>
                              <a:spcPct val="115000"/>
                            </a:lnSpc>
                            <a:buNone/>
                          </a:pPr>
                          <a:r>
                            <a:rPr lang="en-US" sz="1400">
                              <a:effectLst/>
                            </a:rPr>
                            <a:t>The variables in this example are:</a:t>
                          </a:r>
                          <a:endParaRPr lang="tr-TR" sz="1400">
                            <a:effectLst/>
                          </a:endParaRPr>
                        </a:p>
                        <a:p>
                          <a:pPr algn="just">
                            <a:lnSpc>
                              <a:spcPct val="115000"/>
                            </a:lnSpc>
                            <a:buNone/>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𝑊𝑖𝑛𝑑</m:t>
                                </m:r>
                                <m:r>
                                  <a:rPr lang="en-US" sz="1400">
                                    <a:effectLst/>
                                    <a:latin typeface="Cambria Math" panose="02040503050406030204" pitchFamily="18" charset="0"/>
                                  </a:rPr>
                                  <m:t> </m:t>
                                </m:r>
                                <m:r>
                                  <a:rPr lang="en-US" sz="1400">
                                    <a:effectLst/>
                                    <a:latin typeface="Cambria Math" panose="02040503050406030204" pitchFamily="18" charset="0"/>
                                  </a:rPr>
                                  <m:t>𝑆𝑝𝑒𝑒𝑑</m:t>
                                </m:r>
                                <m:r>
                                  <a:rPr lang="en-US" sz="1400">
                                    <a:effectLst/>
                                    <a:latin typeface="Cambria Math" panose="02040503050406030204" pitchFamily="18" charset="0"/>
                                  </a:rPr>
                                  <m:t> </m:t>
                                </m:r>
                                <m:d>
                                  <m:dPr>
                                    <m:ctrlPr>
                                      <a:rPr lang="tr-TR" sz="1400" i="1">
                                        <a:effectLst/>
                                        <a:latin typeface="Cambria Math" panose="02040503050406030204" pitchFamily="18" charset="0"/>
                                      </a:rPr>
                                    </m:ctrlPr>
                                  </m:dPr>
                                  <m:e>
                                    <m:f>
                                      <m:fPr>
                                        <m:ctrlPr>
                                          <a:rPr lang="tr-TR" sz="1400" i="1">
                                            <a:effectLst/>
                                            <a:latin typeface="Cambria Math" panose="02040503050406030204" pitchFamily="18" charset="0"/>
                                          </a:rPr>
                                        </m:ctrlPr>
                                      </m:fPr>
                                      <m:num>
                                        <m:r>
                                          <a:rPr lang="en-US" sz="1400">
                                            <a:effectLst/>
                                            <a:latin typeface="Cambria Math" panose="02040503050406030204" pitchFamily="18" charset="0"/>
                                          </a:rPr>
                                          <m:t>𝑘𝑚</m:t>
                                        </m:r>
                                      </m:num>
                                      <m:den>
                                        <m:r>
                                          <a:rPr lang="en-US" sz="1400">
                                            <a:effectLst/>
                                            <a:latin typeface="Cambria Math" panose="02040503050406030204" pitchFamily="18" charset="0"/>
                                          </a:rPr>
                                          <m:t>h</m:t>
                                        </m:r>
                                      </m:den>
                                    </m:f>
                                  </m:e>
                                </m:d>
                              </m:oMath>
                            </m:oMathPara>
                          </a14:m>
                          <a:endParaRPr lang="tr-TR" sz="1400">
                            <a:effectLst/>
                          </a:endParaRPr>
                        </a:p>
                        <a:p>
                          <a:pPr algn="just">
                            <a:lnSpc>
                              <a:spcPct val="115000"/>
                            </a:lnSpc>
                            <a:buNone/>
                          </a:pPr>
                          <a:r>
                            <a:rPr lang="en-US" sz="1400">
                              <a:effectLst/>
                            </a:rPr>
                            <a:t> </a:t>
                          </a:r>
                          <a:endParaRPr lang="tr-TR" sz="1400">
                            <a:effectLst/>
                          </a:endParaRPr>
                        </a:p>
                        <a:p>
                          <a:pPr algn="just">
                            <a:lnSpc>
                              <a:spcPct val="115000"/>
                            </a:lnSpc>
                            <a:buNone/>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𝐹𝑖𝑟𝑒</m:t>
                                </m:r>
                                <m:r>
                                  <a:rPr lang="en-US" sz="1400">
                                    <a:effectLst/>
                                    <a:latin typeface="Cambria Math" panose="02040503050406030204" pitchFamily="18" charset="0"/>
                                  </a:rPr>
                                  <m:t> </m:t>
                                </m:r>
                                <m:r>
                                  <a:rPr lang="en-US" sz="1400">
                                    <a:effectLst/>
                                    <a:latin typeface="Cambria Math" panose="02040503050406030204" pitchFamily="18" charset="0"/>
                                  </a:rPr>
                                  <m:t>𝐼𝑛𝑡𝑒𝑛𝑠𝑖𝑡𝑦</m:t>
                                </m:r>
                                <m:r>
                                  <a:rPr lang="en-US" sz="1400">
                                    <a:effectLst/>
                                    <a:latin typeface="Cambria Math" panose="02040503050406030204" pitchFamily="18" charset="0"/>
                                  </a:rPr>
                                  <m:t> </m:t>
                                </m:r>
                                <m:d>
                                  <m:dPr>
                                    <m:ctrlPr>
                                      <a:rPr lang="tr-TR" sz="1400" i="1">
                                        <a:effectLst/>
                                        <a:latin typeface="Cambria Math" panose="02040503050406030204" pitchFamily="18" charset="0"/>
                                      </a:rPr>
                                    </m:ctrlPr>
                                  </m:dPr>
                                  <m:e>
                                    <m:f>
                                      <m:fPr>
                                        <m:ctrlPr>
                                          <a:rPr lang="tr-TR" sz="1400" i="1">
                                            <a:effectLst/>
                                            <a:latin typeface="Cambria Math" panose="02040503050406030204" pitchFamily="18" charset="0"/>
                                          </a:rPr>
                                        </m:ctrlPr>
                                      </m:fPr>
                                      <m:num>
                                        <m:r>
                                          <a:rPr lang="en-US" sz="1400">
                                            <a:effectLst/>
                                            <a:latin typeface="Cambria Math" panose="02040503050406030204" pitchFamily="18" charset="0"/>
                                          </a:rPr>
                                          <m:t>𝑘𝑊</m:t>
                                        </m:r>
                                      </m:num>
                                      <m:den>
                                        <m:r>
                                          <a:rPr lang="en-US" sz="1400">
                                            <a:effectLst/>
                                            <a:latin typeface="Cambria Math" panose="02040503050406030204" pitchFamily="18" charset="0"/>
                                          </a:rPr>
                                          <m:t>𝑚</m:t>
                                        </m:r>
                                      </m:den>
                                    </m:f>
                                  </m:e>
                                </m:d>
                              </m:oMath>
                            </m:oMathPara>
                          </a14:m>
                          <a:endParaRPr lang="tr-TR" sz="1400">
                            <a:effectLst/>
                          </a:endParaRPr>
                        </a:p>
                        <a:p>
                          <a:pPr algn="just">
                            <a:lnSpc>
                              <a:spcPct val="115000"/>
                            </a:lnSpc>
                            <a:buNone/>
                          </a:pPr>
                          <a:r>
                            <a:rPr lang="en-US" sz="1400">
                              <a:effectLst/>
                            </a:rPr>
                            <a:t> </a:t>
                          </a:r>
                          <a:endParaRPr lang="tr-TR" sz="1400">
                            <a:effectLst/>
                          </a:endParaRPr>
                        </a:p>
                        <a:p>
                          <a:pPr algn="just">
                            <a:lnSpc>
                              <a:spcPct val="115000"/>
                            </a:lnSpc>
                            <a:buNone/>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𝑀𝑜𝑖𝑠𝑡𝑢𝑟𝑒</m:t>
                                </m:r>
                                <m:r>
                                  <a:rPr lang="en-US" sz="1400">
                                    <a:effectLst/>
                                    <a:latin typeface="Cambria Math" panose="02040503050406030204" pitchFamily="18" charset="0"/>
                                  </a:rPr>
                                  <m:t> (%)</m:t>
                                </m:r>
                              </m:oMath>
                            </m:oMathPara>
                          </a14:m>
                          <a:endParaRPr lang="tr-TR" sz="1400">
                            <a:effectLst/>
                          </a:endParaRPr>
                        </a:p>
                        <a:p>
                          <a:pPr algn="just">
                            <a:lnSpc>
                              <a:spcPct val="115000"/>
                            </a:lnSpc>
                            <a:buNone/>
                          </a:pPr>
                          <a:r>
                            <a:rPr lang="en-US" sz="1400">
                              <a:effectLst/>
                            </a:rPr>
                            <a:t> </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12149753"/>
                      </a:ext>
                    </a:extLst>
                  </a:tr>
                  <a:tr h="3378921">
                    <a:tc>
                      <a:txBody>
                        <a:bodyPr/>
                        <a:lstStyle/>
                        <a:p>
                          <a:pPr algn="ctr">
                            <a:lnSpc>
                              <a:spcPct val="115000"/>
                            </a:lnSpc>
                            <a:buNone/>
                          </a:pPr>
                          <a:r>
                            <a:rPr lang="en-US" sz="1400" dirty="0">
                              <a:effectLst/>
                            </a:rPr>
                            <a:t>Member Functions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vert="vert270"/>
                    </a:tc>
                    <a:tc>
                      <a:txBody>
                        <a:bodyPr/>
                        <a:lstStyle/>
                        <a:p>
                          <a:pPr>
                            <a:lnSpc>
                              <a:spcPct val="107000"/>
                            </a:lnSpc>
                            <a:spcAft>
                              <a:spcPts val="800"/>
                            </a:spcAft>
                            <a:buNone/>
                          </a:pPr>
                          <a:r>
                            <a:rPr lang="en-US" sz="1400" dirty="0">
                              <a:effectLst/>
                            </a:rPr>
                            <a:t>Each fuzzy set is represented by a Gaussian function defined as:</a:t>
                          </a:r>
                          <a:endParaRPr lang="tr-TR" sz="1400" dirty="0">
                            <a:effectLst/>
                          </a:endParaRPr>
                        </a:p>
                        <a:p>
                          <a:pPr>
                            <a:lnSpc>
                              <a:spcPct val="107000"/>
                            </a:lnSpc>
                            <a:spcAft>
                              <a:spcPts val="800"/>
                            </a:spcAft>
                            <a:buNone/>
                          </a:pPr>
                          <a:r>
                            <a:rPr lang="en-US" sz="1400" dirty="0">
                              <a:effectLst/>
                            </a:rPr>
                            <a:t> </a:t>
                          </a:r>
                          <a:endParaRPr lang="tr-TR" sz="1400" dirty="0">
                            <a:effectLst/>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𝜇</m:t>
                                </m:r>
                                <m:d>
                                  <m:dPr>
                                    <m:ctrlPr>
                                      <a:rPr lang="tr-TR" sz="1400" i="1">
                                        <a:effectLst/>
                                        <a:latin typeface="Cambria Math" panose="02040503050406030204" pitchFamily="18" charset="0"/>
                                      </a:rPr>
                                    </m:ctrlPr>
                                  </m:dPr>
                                  <m:e>
                                    <m:r>
                                      <a:rPr lang="en-US" sz="1400">
                                        <a:effectLst/>
                                        <a:latin typeface="Cambria Math" panose="02040503050406030204" pitchFamily="18" charset="0"/>
                                      </a:rPr>
                                      <m:t>𝑥</m:t>
                                    </m:r>
                                  </m:e>
                                </m:d>
                                <m:r>
                                  <a:rPr lang="en-US" sz="1400">
                                    <a:effectLst/>
                                    <a:latin typeface="Cambria Math" panose="02040503050406030204" pitchFamily="18" charset="0"/>
                                  </a:rPr>
                                  <m:t>=</m:t>
                                </m:r>
                                <m:func>
                                  <m:funcPr>
                                    <m:ctrlPr>
                                      <a:rPr lang="tr-TR" sz="1400" i="1">
                                        <a:effectLst/>
                                        <a:latin typeface="Cambria Math" panose="02040503050406030204" pitchFamily="18" charset="0"/>
                                      </a:rPr>
                                    </m:ctrlPr>
                                  </m:funcPr>
                                  <m:fName>
                                    <m:r>
                                      <m:rPr>
                                        <m:sty m:val="p"/>
                                      </m:rPr>
                                      <a:rPr lang="en-US" sz="1400">
                                        <a:effectLst/>
                                        <a:latin typeface="Cambria Math" panose="02040503050406030204" pitchFamily="18" charset="0"/>
                                      </a:rPr>
                                      <m:t>exp</m:t>
                                    </m:r>
                                  </m:fName>
                                  <m:e>
                                    <m:d>
                                      <m:dPr>
                                        <m:ctrlPr>
                                          <a:rPr lang="tr-TR" sz="1400" i="1">
                                            <a:effectLst/>
                                            <a:latin typeface="Cambria Math" panose="02040503050406030204" pitchFamily="18" charset="0"/>
                                          </a:rPr>
                                        </m:ctrlPr>
                                      </m:dPr>
                                      <m:e>
                                        <m:r>
                                          <a:rPr lang="en-US" sz="1400">
                                            <a:effectLst/>
                                            <a:latin typeface="Cambria Math" panose="02040503050406030204" pitchFamily="18" charset="0"/>
                                          </a:rPr>
                                          <m:t>−0.5 ∗ </m:t>
                                        </m:r>
                                        <m:sSup>
                                          <m:sSupPr>
                                            <m:ctrlPr>
                                              <a:rPr lang="tr-TR" sz="1400" i="1">
                                                <a:effectLst/>
                                                <a:latin typeface="Cambria Math" panose="02040503050406030204" pitchFamily="18" charset="0"/>
                                              </a:rPr>
                                            </m:ctrlPr>
                                          </m:sSupPr>
                                          <m:e>
                                            <m:d>
                                              <m:dPr>
                                                <m:ctrlPr>
                                                  <a:rPr lang="tr-TR" sz="1400" i="1">
                                                    <a:effectLst/>
                                                    <a:latin typeface="Cambria Math" panose="02040503050406030204" pitchFamily="18" charset="0"/>
                                                  </a:rPr>
                                                </m:ctrlPr>
                                              </m:dPr>
                                              <m:e>
                                                <m:f>
                                                  <m:fPr>
                                                    <m:ctrlPr>
                                                      <a:rPr lang="tr-TR" sz="1400" i="1">
                                                        <a:effectLst/>
                                                        <a:latin typeface="Cambria Math" panose="02040503050406030204" pitchFamily="18" charset="0"/>
                                                      </a:rPr>
                                                    </m:ctrlPr>
                                                  </m:fPr>
                                                  <m:num>
                                                    <m:r>
                                                      <a:rPr lang="en-US" sz="1400">
                                                        <a:effectLst/>
                                                        <a:latin typeface="Cambria Math" panose="02040503050406030204" pitchFamily="18" charset="0"/>
                                                      </a:rPr>
                                                      <m:t>𝑥</m:t>
                                                    </m:r>
                                                    <m:r>
                                                      <a:rPr lang="en-US" sz="1400">
                                                        <a:effectLst/>
                                                        <a:latin typeface="Cambria Math" panose="02040503050406030204" pitchFamily="18" charset="0"/>
                                                      </a:rPr>
                                                      <m:t> − </m:t>
                                                    </m:r>
                                                    <m:r>
                                                      <a:rPr lang="en-US" sz="1400">
                                                        <a:effectLst/>
                                                        <a:latin typeface="Cambria Math" panose="02040503050406030204" pitchFamily="18" charset="0"/>
                                                      </a:rPr>
                                                      <m:t>𝑐</m:t>
                                                    </m:r>
                                                  </m:num>
                                                  <m:den>
                                                    <m:r>
                                                      <a:rPr lang="en-US" sz="1400">
                                                        <a:effectLst/>
                                                        <a:latin typeface="Cambria Math" panose="02040503050406030204" pitchFamily="18" charset="0"/>
                                                      </a:rPr>
                                                      <m:t>𝜎</m:t>
                                                    </m:r>
                                                  </m:den>
                                                </m:f>
                                              </m:e>
                                            </m:d>
                                          </m:e>
                                          <m:sup>
                                            <m:r>
                                              <a:rPr lang="en-US" sz="1400">
                                                <a:effectLst/>
                                                <a:latin typeface="Cambria Math" panose="02040503050406030204" pitchFamily="18" charset="0"/>
                                              </a:rPr>
                                              <m:t>2</m:t>
                                            </m:r>
                                          </m:sup>
                                        </m:sSup>
                                      </m:e>
                                    </m:d>
                                  </m:e>
                                </m:func>
                              </m:oMath>
                            </m:oMathPara>
                          </a14:m>
                          <a:endParaRPr lang="tr-TR" sz="1400" dirty="0">
                            <a:effectLst/>
                          </a:endParaRPr>
                        </a:p>
                        <a:p>
                          <a:pPr>
                            <a:lnSpc>
                              <a:spcPct val="107000"/>
                            </a:lnSpc>
                            <a:spcAft>
                              <a:spcPts val="800"/>
                            </a:spcAft>
                            <a:buNone/>
                          </a:pPr>
                          <a:r>
                            <a:rPr lang="en-US" sz="1400" dirty="0">
                              <a:effectLst/>
                            </a:rPr>
                            <a:t> </a:t>
                          </a:r>
                          <a:endParaRPr lang="tr-TR" sz="1400" dirty="0">
                            <a:effectLst/>
                          </a:endParaRPr>
                        </a:p>
                        <a:p>
                          <a:pPr>
                            <a:lnSpc>
                              <a:spcPct val="107000"/>
                            </a:lnSpc>
                            <a:spcAft>
                              <a:spcPts val="800"/>
                            </a:spcAft>
                            <a:buNone/>
                          </a:pPr>
                          <a:r>
                            <a:rPr lang="en-US" sz="1400" dirty="0">
                              <a:effectLst/>
                            </a:rPr>
                            <a:t>Where:</a:t>
                          </a:r>
                          <a:endParaRPr lang="tr-TR" sz="1400" dirty="0">
                            <a:effectLst/>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𝑐</m:t>
                                </m:r>
                                <m:r>
                                  <a:rPr lang="en-US" sz="1400">
                                    <a:effectLst/>
                                    <a:latin typeface="Cambria Math" panose="02040503050406030204" pitchFamily="18" charset="0"/>
                                  </a:rPr>
                                  <m:t> </m:t>
                                </m:r>
                                <m:r>
                                  <a:rPr lang="en-US" sz="1400">
                                    <a:effectLst/>
                                    <a:latin typeface="Cambria Math" panose="02040503050406030204" pitchFamily="18" charset="0"/>
                                  </a:rPr>
                                  <m:t>𝑖𝑠</m:t>
                                </m:r>
                                <m:r>
                                  <a:rPr lang="en-US" sz="1400">
                                    <a:effectLst/>
                                    <a:latin typeface="Cambria Math" panose="02040503050406030204" pitchFamily="18" charset="0"/>
                                  </a:rPr>
                                  <m:t> </m:t>
                                </m:r>
                                <m:r>
                                  <a:rPr lang="en-US" sz="1400">
                                    <a:effectLst/>
                                    <a:latin typeface="Cambria Math" panose="02040503050406030204" pitchFamily="18" charset="0"/>
                                  </a:rPr>
                                  <m:t>𝑡h𝑒</m:t>
                                </m:r>
                                <m:r>
                                  <a:rPr lang="en-US" sz="1400">
                                    <a:effectLst/>
                                    <a:latin typeface="Cambria Math" panose="02040503050406030204" pitchFamily="18" charset="0"/>
                                  </a:rPr>
                                  <m:t> </m:t>
                                </m:r>
                                <m:r>
                                  <a:rPr lang="en-US" sz="1400">
                                    <a:effectLst/>
                                    <a:latin typeface="Cambria Math" panose="02040503050406030204" pitchFamily="18" charset="0"/>
                                  </a:rPr>
                                  <m:t>𝑐𝑒𝑛𝑡𝑒𝑟</m:t>
                                </m:r>
                                <m:r>
                                  <a:rPr lang="en-US" sz="1400">
                                    <a:effectLst/>
                                    <a:latin typeface="Cambria Math" panose="02040503050406030204" pitchFamily="18" charset="0"/>
                                  </a:rPr>
                                  <m:t> </m:t>
                                </m:r>
                                <m:d>
                                  <m:dPr>
                                    <m:ctrlPr>
                                      <a:rPr lang="tr-TR" sz="1400" i="1">
                                        <a:effectLst/>
                                        <a:latin typeface="Cambria Math" panose="02040503050406030204" pitchFamily="18" charset="0"/>
                                      </a:rPr>
                                    </m:ctrlPr>
                                  </m:dPr>
                                  <m:e>
                                    <m:r>
                                      <a:rPr lang="en-US" sz="1400">
                                        <a:effectLst/>
                                        <a:latin typeface="Cambria Math" panose="02040503050406030204" pitchFamily="18" charset="0"/>
                                      </a:rPr>
                                      <m:t>𝑚𝑒𝑎𝑛</m:t>
                                    </m:r>
                                  </m:e>
                                </m:d>
                                <m:r>
                                  <a:rPr lang="en-US" sz="1400">
                                    <a:effectLst/>
                                    <a:latin typeface="Cambria Math" panose="02040503050406030204" pitchFamily="18" charset="0"/>
                                  </a:rPr>
                                  <m:t>𝑜𝑓</m:t>
                                </m:r>
                                <m:r>
                                  <a:rPr lang="en-US" sz="1400">
                                    <a:effectLst/>
                                    <a:latin typeface="Cambria Math" panose="02040503050406030204" pitchFamily="18" charset="0"/>
                                  </a:rPr>
                                  <m:t> </m:t>
                                </m:r>
                                <m:r>
                                  <a:rPr lang="en-US" sz="1400">
                                    <a:effectLst/>
                                    <a:latin typeface="Cambria Math" panose="02040503050406030204" pitchFamily="18" charset="0"/>
                                  </a:rPr>
                                  <m:t>𝑡h𝑒</m:t>
                                </m:r>
                                <m:r>
                                  <a:rPr lang="en-US" sz="1400">
                                    <a:effectLst/>
                                    <a:latin typeface="Cambria Math" panose="02040503050406030204" pitchFamily="18" charset="0"/>
                                  </a:rPr>
                                  <m:t> </m:t>
                                </m:r>
                                <m:r>
                                  <a:rPr lang="en-US" sz="1400">
                                    <a:effectLst/>
                                    <a:latin typeface="Cambria Math" panose="02040503050406030204" pitchFamily="18" charset="0"/>
                                  </a:rPr>
                                  <m:t>𝑓𝑢𝑧𝑧𝑦</m:t>
                                </m:r>
                                <m:r>
                                  <a:rPr lang="en-US" sz="1400">
                                    <a:effectLst/>
                                    <a:latin typeface="Cambria Math" panose="02040503050406030204" pitchFamily="18" charset="0"/>
                                  </a:rPr>
                                  <m:t> </m:t>
                                </m:r>
                                <m:r>
                                  <a:rPr lang="en-US" sz="1400">
                                    <a:effectLst/>
                                    <a:latin typeface="Cambria Math" panose="02040503050406030204" pitchFamily="18" charset="0"/>
                                  </a:rPr>
                                  <m:t>𝑠𝑒𝑡</m:t>
                                </m:r>
                              </m:oMath>
                            </m:oMathPara>
                          </a14:m>
                          <a:endParaRPr lang="tr-TR" sz="1400" dirty="0">
                            <a:effectLst/>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𝜎</m:t>
                                </m:r>
                                <m:r>
                                  <a:rPr lang="en-US" sz="1400">
                                    <a:effectLst/>
                                    <a:latin typeface="Cambria Math" panose="02040503050406030204" pitchFamily="18" charset="0"/>
                                  </a:rPr>
                                  <m:t> </m:t>
                                </m:r>
                                <m:r>
                                  <a:rPr lang="en-US" sz="1400">
                                    <a:effectLst/>
                                    <a:latin typeface="Cambria Math" panose="02040503050406030204" pitchFamily="18" charset="0"/>
                                  </a:rPr>
                                  <m:t>𝑖𝑠</m:t>
                                </m:r>
                                <m:r>
                                  <a:rPr lang="en-US" sz="1400">
                                    <a:effectLst/>
                                    <a:latin typeface="Cambria Math" panose="02040503050406030204" pitchFamily="18" charset="0"/>
                                  </a:rPr>
                                  <m:t> </m:t>
                                </m:r>
                                <m:r>
                                  <a:rPr lang="en-US" sz="1400">
                                    <a:effectLst/>
                                    <a:latin typeface="Cambria Math" panose="02040503050406030204" pitchFamily="18" charset="0"/>
                                  </a:rPr>
                                  <m:t>𝑡h𝑒</m:t>
                                </m:r>
                                <m:r>
                                  <a:rPr lang="en-US" sz="1400">
                                    <a:effectLst/>
                                    <a:latin typeface="Cambria Math" panose="02040503050406030204" pitchFamily="18" charset="0"/>
                                  </a:rPr>
                                  <m:t> </m:t>
                                </m:r>
                                <m:r>
                                  <a:rPr lang="en-US" sz="1400">
                                    <a:effectLst/>
                                    <a:latin typeface="Cambria Math" panose="02040503050406030204" pitchFamily="18" charset="0"/>
                                  </a:rPr>
                                  <m:t>𝑠𝑡𝑎𝑛𝑑𝑎𝑟𝑑</m:t>
                                </m:r>
                                <m:r>
                                  <a:rPr lang="en-US" sz="1400">
                                    <a:effectLst/>
                                    <a:latin typeface="Cambria Math" panose="02040503050406030204" pitchFamily="18" charset="0"/>
                                  </a:rPr>
                                  <m:t> </m:t>
                                </m:r>
                                <m:r>
                                  <a:rPr lang="en-US" sz="1400">
                                    <a:effectLst/>
                                    <a:latin typeface="Cambria Math" panose="02040503050406030204" pitchFamily="18" charset="0"/>
                                  </a:rPr>
                                  <m:t>𝑑𝑒𝑣𝑖𝑎𝑡𝑖𝑜𝑛</m:t>
                                </m:r>
                                <m:r>
                                  <a:rPr lang="en-US" sz="1400">
                                    <a:effectLst/>
                                    <a:latin typeface="Cambria Math" panose="02040503050406030204" pitchFamily="18" charset="0"/>
                                  </a:rPr>
                                  <m:t> </m:t>
                                </m:r>
                                <m:r>
                                  <a:rPr lang="en-US" sz="1400">
                                    <a:effectLst/>
                                    <a:latin typeface="Cambria Math" panose="02040503050406030204" pitchFamily="18" charset="0"/>
                                  </a:rPr>
                                  <m:t>𝑐𝑜𝑛𝑡𝑟𝑜𝑙𝑙𝑖𝑛𝑔</m:t>
                                </m:r>
                                <m:r>
                                  <a:rPr lang="en-US" sz="1400">
                                    <a:effectLst/>
                                    <a:latin typeface="Cambria Math" panose="02040503050406030204" pitchFamily="18" charset="0"/>
                                  </a:rPr>
                                  <m:t> </m:t>
                                </m:r>
                                <m:r>
                                  <a:rPr lang="en-US" sz="1400">
                                    <a:effectLst/>
                                    <a:latin typeface="Cambria Math" panose="02040503050406030204" pitchFamily="18" charset="0"/>
                                  </a:rPr>
                                  <m:t>𝑡h𝑒</m:t>
                                </m:r>
                                <m:r>
                                  <a:rPr lang="en-US" sz="1400">
                                    <a:effectLst/>
                                    <a:latin typeface="Cambria Math" panose="02040503050406030204" pitchFamily="18" charset="0"/>
                                  </a:rPr>
                                  <m:t> </m:t>
                                </m:r>
                                <m:r>
                                  <a:rPr lang="en-US" sz="1400">
                                    <a:effectLst/>
                                    <a:latin typeface="Cambria Math" panose="02040503050406030204" pitchFamily="18" charset="0"/>
                                  </a:rPr>
                                  <m:t>𝑤𝑖𝑑𝑡h</m:t>
                                </m:r>
                              </m:oMath>
                            </m:oMathPara>
                          </a14:m>
                          <a:endParaRPr lang="tr-TR" sz="1400" dirty="0">
                            <a:effectLst/>
                          </a:endParaRPr>
                        </a:p>
                        <a:p>
                          <a:pPr>
                            <a:lnSpc>
                              <a:spcPct val="107000"/>
                            </a:lnSpc>
                            <a:spcAft>
                              <a:spcPts val="800"/>
                            </a:spcAft>
                            <a:buNone/>
                          </a:pPr>
                          <a:r>
                            <a:rPr lang="en-US" sz="1400" dirty="0">
                              <a:effectLst/>
                            </a:rPr>
                            <a:t> </a:t>
                          </a:r>
                          <a:endParaRPr lang="tr-TR" sz="1400" dirty="0">
                            <a:effectLst/>
                          </a:endParaRPr>
                        </a:p>
                        <a:p>
                          <a:pPr>
                            <a:lnSpc>
                              <a:spcPct val="107000"/>
                            </a:lnSpc>
                            <a:spcAft>
                              <a:spcPts val="800"/>
                            </a:spcAft>
                            <a:buNone/>
                          </a:pPr>
                          <a:r>
                            <a:rPr lang="en-US" sz="1400" dirty="0">
                              <a:effectLst/>
                            </a:rPr>
                            <a:t>The figure below illustrates how wind speed values are classified into fuzzy categories using Gaussian curves. </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72780261"/>
                      </a:ext>
                    </a:extLst>
                  </a:tr>
                </a:tbl>
              </a:graphicData>
            </a:graphic>
          </p:graphicFrame>
        </mc:Choice>
        <mc:Fallback xmlns="">
          <p:graphicFrame>
            <p:nvGraphicFramePr>
              <p:cNvPr id="5" name="Content Placeholder 4">
                <a:extLst>
                  <a:ext uri="{FF2B5EF4-FFF2-40B4-BE49-F238E27FC236}">
                    <a16:creationId xmlns:a16="http://schemas.microsoft.com/office/drawing/2014/main" id="{1DA96A3E-6401-D3BF-C713-5224BD2AABA7}"/>
                  </a:ext>
                </a:extLst>
              </p:cNvPr>
              <p:cNvGraphicFramePr>
                <a:graphicFrameLocks noGrp="1"/>
              </p:cNvGraphicFramePr>
              <p:nvPr>
                <p:ph idx="1"/>
                <p:extLst>
                  <p:ext uri="{D42A27DB-BD31-4B8C-83A1-F6EECF244321}">
                    <p14:modId xmlns:p14="http://schemas.microsoft.com/office/powerpoint/2010/main" val="3492805093"/>
                  </p:ext>
                </p:extLst>
              </p:nvPr>
            </p:nvGraphicFramePr>
            <p:xfrm>
              <a:off x="269238" y="564979"/>
              <a:ext cx="5674362" cy="5693814"/>
            </p:xfrm>
            <a:graphic>
              <a:graphicData uri="http://schemas.openxmlformats.org/drawingml/2006/table">
                <a:tbl>
                  <a:tblPr firstCol="1" bandRow="1">
                    <a:tableStyleId>{21E4AEA4-8DFA-4A89-87EB-49C32662AFE0}</a:tableStyleId>
                  </a:tblPr>
                  <a:tblGrid>
                    <a:gridCol w="731942">
                      <a:extLst>
                        <a:ext uri="{9D8B030D-6E8A-4147-A177-3AD203B41FA5}">
                          <a16:colId xmlns:a16="http://schemas.microsoft.com/office/drawing/2014/main" val="3891280207"/>
                        </a:ext>
                      </a:extLst>
                    </a:gridCol>
                    <a:gridCol w="4942420">
                      <a:extLst>
                        <a:ext uri="{9D8B030D-6E8A-4147-A177-3AD203B41FA5}">
                          <a16:colId xmlns:a16="http://schemas.microsoft.com/office/drawing/2014/main" val="2884359370"/>
                        </a:ext>
                      </a:extLst>
                    </a:gridCol>
                  </a:tblGrid>
                  <a:tr h="2314893">
                    <a:tc>
                      <a:txBody>
                        <a:bodyPr/>
                        <a:lstStyle/>
                        <a:p>
                          <a:pPr algn="ctr">
                            <a:lnSpc>
                              <a:spcPct val="115000"/>
                            </a:lnSpc>
                            <a:buNone/>
                          </a:pPr>
                          <a:r>
                            <a:rPr lang="en-US" sz="1400" dirty="0">
                              <a:effectLst/>
                            </a:rPr>
                            <a:t>Input Variables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vert="vert270"/>
                    </a:tc>
                    <a:tc>
                      <a:txBody>
                        <a:bodyPr/>
                        <a:lstStyle/>
                        <a:p>
                          <a:endParaRPr lang="tr-TR"/>
                        </a:p>
                      </a:txBody>
                      <a:tcPr marL="68580" marR="68580" marT="0" marB="0">
                        <a:blipFill>
                          <a:blip r:embed="rId3"/>
                          <a:stretch>
                            <a:fillRect l="-14920" t="-1579" r="-370" b="-150263"/>
                          </a:stretch>
                        </a:blipFill>
                      </a:tcPr>
                    </a:tc>
                    <a:extLst>
                      <a:ext uri="{0D108BD9-81ED-4DB2-BD59-A6C34878D82A}">
                        <a16:rowId xmlns:a16="http://schemas.microsoft.com/office/drawing/2014/main" val="3612149753"/>
                      </a:ext>
                    </a:extLst>
                  </a:tr>
                  <a:tr h="3378921">
                    <a:tc>
                      <a:txBody>
                        <a:bodyPr/>
                        <a:lstStyle/>
                        <a:p>
                          <a:pPr algn="ctr">
                            <a:lnSpc>
                              <a:spcPct val="115000"/>
                            </a:lnSpc>
                            <a:buNone/>
                          </a:pPr>
                          <a:r>
                            <a:rPr lang="en-US" sz="1400" dirty="0">
                              <a:effectLst/>
                            </a:rPr>
                            <a:t>Member Functions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vert="vert270"/>
                    </a:tc>
                    <a:tc>
                      <a:txBody>
                        <a:bodyPr/>
                        <a:lstStyle/>
                        <a:p>
                          <a:endParaRPr lang="tr-TR"/>
                        </a:p>
                      </a:txBody>
                      <a:tcPr marL="68580" marR="68580" marT="0" marB="0">
                        <a:blipFill>
                          <a:blip r:embed="rId3"/>
                          <a:stretch>
                            <a:fillRect l="-14920" t="-69550" r="-370" b="-2883"/>
                          </a:stretch>
                        </a:blipFill>
                      </a:tcPr>
                    </a:tc>
                    <a:extLst>
                      <a:ext uri="{0D108BD9-81ED-4DB2-BD59-A6C34878D82A}">
                        <a16:rowId xmlns:a16="http://schemas.microsoft.com/office/drawing/2014/main" val="672780261"/>
                      </a:ext>
                    </a:extLst>
                  </a:tr>
                </a:tbl>
              </a:graphicData>
            </a:graphic>
          </p:graphicFrame>
        </mc:Fallback>
      </mc:AlternateContent>
      <p:sp>
        <p:nvSpPr>
          <p:cNvPr id="4" name="Slide Number Placeholder 3">
            <a:extLst>
              <a:ext uri="{FF2B5EF4-FFF2-40B4-BE49-F238E27FC236}">
                <a16:creationId xmlns:a16="http://schemas.microsoft.com/office/drawing/2014/main" id="{28A300E1-CF8E-EC2D-9090-09D2A9443F8D}"/>
              </a:ext>
            </a:extLst>
          </p:cNvPr>
          <p:cNvSpPr>
            <a:spLocks noGrp="1"/>
          </p:cNvSpPr>
          <p:nvPr>
            <p:ph type="sldNum" sz="quarter" idx="12"/>
          </p:nvPr>
        </p:nvSpPr>
        <p:spPr/>
        <p:txBody>
          <a:bodyPr/>
          <a:lstStyle/>
          <a:p>
            <a:fld id="{0F4FBE90-EB1A-4CD8-B134-C7A82858680F}" type="slidenum">
              <a:rPr lang="en-US" smtClean="0"/>
              <a:t>9</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88BA5D-4565-B58C-CFA4-0BB432DC2992}"/>
                  </a:ext>
                </a:extLst>
              </p:cNvPr>
              <p:cNvSpPr txBox="1"/>
              <p:nvPr/>
            </p:nvSpPr>
            <p:spPr>
              <a:xfrm>
                <a:off x="6712754" y="1362075"/>
                <a:ext cx="5077462" cy="2293513"/>
              </a:xfrm>
              <a:prstGeom prst="rect">
                <a:avLst/>
              </a:prstGeom>
              <a:solidFill>
                <a:schemeClr val="accent1">
                  <a:lumMod val="20000"/>
                  <a:lumOff val="80000"/>
                </a:schemeClr>
              </a:solidFill>
            </p:spPr>
            <p:txBody>
              <a:bodyPr wrap="square">
                <a:spAutoFit/>
              </a:bodyPr>
              <a:lstStyle/>
              <a:p>
                <a:pPr>
                  <a:lnSpc>
                    <a:spcPct val="107000"/>
                  </a:lnSpc>
                  <a:spcAft>
                    <a:spcPts val="800"/>
                  </a:spcAft>
                  <a:buNone/>
                </a:pPr>
                <a:r>
                  <a:rPr lang="en-US" sz="1600" dirty="0">
                    <a:effectLst/>
                    <a:latin typeface="Calibri" panose="020F0502020204030204" pitchFamily="34" charset="0"/>
                    <a:ea typeface="Calibri" panose="020F0502020204030204" pitchFamily="34" charset="0"/>
                    <a:cs typeface="Arial" panose="020B0604020202020204" pitchFamily="34" charset="0"/>
                  </a:rPr>
                  <a:t>Assume these sensor readings:</a:t>
                </a:r>
                <a:endParaRPr lang="tr-TR" sz="16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600" dirty="0">
                    <a:effectLst/>
                    <a:latin typeface="Calibri" panose="020F0502020204030204" pitchFamily="34" charset="0"/>
                    <a:ea typeface="Calibri" panose="020F0502020204030204" pitchFamily="34" charset="0"/>
                    <a:cs typeface="Arial" panose="020B0604020202020204" pitchFamily="34" charset="0"/>
                  </a:rPr>
                  <a:t> </a:t>
                </a:r>
                <a:endParaRPr lang="tr-TR" sz="16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Calibri" panose="020F0502020204030204" pitchFamily="34" charset="0"/>
                          <a:cs typeface="Arial" panose="020B0604020202020204" pitchFamily="34" charset="0"/>
                        </a:rPr>
                        <m:t>𝑊𝑖𝑛𝑑</m:t>
                      </m:r>
                      <m:r>
                        <a:rPr lang="en-US" sz="1600" i="1">
                          <a:effectLst/>
                          <a:latin typeface="Cambria Math" panose="02040503050406030204" pitchFamily="18" charset="0"/>
                          <a:ea typeface="Calibri" panose="020F0502020204030204" pitchFamily="34" charset="0"/>
                          <a:cs typeface="Arial" panose="020B0604020202020204" pitchFamily="34" charset="0"/>
                        </a:rPr>
                        <m:t> </m:t>
                      </m:r>
                      <m:r>
                        <a:rPr lang="en-US" sz="1600" i="1">
                          <a:effectLst/>
                          <a:latin typeface="Cambria Math" panose="02040503050406030204" pitchFamily="18" charset="0"/>
                          <a:ea typeface="Calibri" panose="020F0502020204030204" pitchFamily="34" charset="0"/>
                          <a:cs typeface="Arial" panose="020B0604020202020204" pitchFamily="34" charset="0"/>
                        </a:rPr>
                        <m:t>𝑆𝑝𝑒𝑒𝑑</m:t>
                      </m:r>
                      <m:r>
                        <a:rPr lang="en-US" sz="1600" i="1">
                          <a:effectLst/>
                          <a:latin typeface="Cambria Math" panose="02040503050406030204" pitchFamily="18" charset="0"/>
                          <a:ea typeface="Calibri" panose="020F0502020204030204" pitchFamily="34" charset="0"/>
                          <a:cs typeface="Arial" panose="020B0604020202020204" pitchFamily="34" charset="0"/>
                        </a:rPr>
                        <m:t> = 45</m:t>
                      </m:r>
                      <m:f>
                        <m:fPr>
                          <m:ctrlPr>
                            <a:rPr lang="tr-TR" sz="1600" i="1">
                              <a:effectLst/>
                              <a:latin typeface="Cambria Math" panose="02040503050406030204" pitchFamily="18" charset="0"/>
                              <a:ea typeface="Calibri" panose="020F0502020204030204" pitchFamily="34" charset="0"/>
                              <a:cs typeface="Arial" panose="020B0604020202020204" pitchFamily="34" charset="0"/>
                            </a:rPr>
                          </m:ctrlPr>
                        </m:fPr>
                        <m:num>
                          <m:r>
                            <a:rPr lang="en-US" sz="1600" i="1">
                              <a:effectLst/>
                              <a:latin typeface="Cambria Math" panose="02040503050406030204" pitchFamily="18" charset="0"/>
                              <a:ea typeface="Calibri" panose="020F0502020204030204" pitchFamily="34" charset="0"/>
                              <a:cs typeface="Arial" panose="020B0604020202020204" pitchFamily="34" charset="0"/>
                            </a:rPr>
                            <m:t>𝑘𝑚</m:t>
                          </m:r>
                        </m:num>
                        <m:den>
                          <m:r>
                            <a:rPr lang="en-US" sz="1600" i="1">
                              <a:effectLst/>
                              <a:latin typeface="Cambria Math" panose="02040503050406030204" pitchFamily="18" charset="0"/>
                              <a:ea typeface="Calibri" panose="020F0502020204030204" pitchFamily="34" charset="0"/>
                              <a:cs typeface="Arial" panose="020B0604020202020204" pitchFamily="34" charset="0"/>
                            </a:rPr>
                            <m:t>h</m:t>
                          </m:r>
                        </m:den>
                      </m:f>
                      <m:r>
                        <a:rPr lang="en-US" sz="1600" i="1">
                          <a:effectLst/>
                          <a:latin typeface="Cambria Math" panose="02040503050406030204" pitchFamily="18" charset="0"/>
                          <a:ea typeface="Calibri" panose="020F0502020204030204" pitchFamily="34" charset="0"/>
                          <a:cs typeface="Arial" panose="020B0604020202020204" pitchFamily="34" charset="0"/>
                        </a:rPr>
                        <m:t>,  </m:t>
                      </m:r>
                      <m:r>
                        <a:rPr lang="en-US" sz="1600" i="1">
                          <a:effectLst/>
                          <a:latin typeface="Cambria Math" panose="02040503050406030204" pitchFamily="18" charset="0"/>
                          <a:ea typeface="Calibri" panose="020F0502020204030204" pitchFamily="34" charset="0"/>
                          <a:cs typeface="Arial" panose="020B0604020202020204" pitchFamily="34" charset="0"/>
                        </a:rPr>
                        <m:t>𝑐</m:t>
                      </m:r>
                      <m:r>
                        <a:rPr lang="en-US" sz="1600" i="1">
                          <a:effectLst/>
                          <a:latin typeface="Cambria Math" panose="02040503050406030204" pitchFamily="18" charset="0"/>
                          <a:ea typeface="Calibri" panose="020F0502020204030204" pitchFamily="34" charset="0"/>
                          <a:cs typeface="Arial" panose="020B0604020202020204" pitchFamily="34" charset="0"/>
                        </a:rPr>
                        <m:t>=50,  </m:t>
                      </m:r>
                      <m:r>
                        <a:rPr lang="en-US" sz="1600" i="1">
                          <a:effectLst/>
                          <a:latin typeface="Cambria Math" panose="02040503050406030204" pitchFamily="18" charset="0"/>
                          <a:ea typeface="Calibri" panose="020F0502020204030204" pitchFamily="34" charset="0"/>
                          <a:cs typeface="Arial" panose="020B0604020202020204" pitchFamily="34" charset="0"/>
                        </a:rPr>
                        <m:t>𝜎</m:t>
                      </m:r>
                      <m:r>
                        <a:rPr lang="en-US" sz="1600" i="1">
                          <a:effectLst/>
                          <a:latin typeface="Cambria Math" panose="02040503050406030204" pitchFamily="18" charset="0"/>
                          <a:ea typeface="Calibri" panose="020F0502020204030204" pitchFamily="34" charset="0"/>
                          <a:cs typeface="Arial" panose="020B0604020202020204" pitchFamily="34" charset="0"/>
                        </a:rPr>
                        <m:t>=10</m:t>
                      </m:r>
                    </m:oMath>
                  </m:oMathPara>
                </a14:m>
                <a:endParaRPr lang="tr-TR" sz="16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Calibri" panose="020F0502020204030204" pitchFamily="34" charset="0"/>
                          <a:cs typeface="Arial" panose="020B0604020202020204" pitchFamily="34" charset="0"/>
                        </a:rPr>
                        <m:t>𝐹𝑖𝑟𝑒</m:t>
                      </m:r>
                      <m:r>
                        <a:rPr lang="en-US" sz="1600" i="1">
                          <a:effectLst/>
                          <a:latin typeface="Cambria Math" panose="02040503050406030204" pitchFamily="18" charset="0"/>
                          <a:ea typeface="Calibri" panose="020F0502020204030204" pitchFamily="34" charset="0"/>
                          <a:cs typeface="Arial" panose="020B0604020202020204" pitchFamily="34" charset="0"/>
                        </a:rPr>
                        <m:t> </m:t>
                      </m:r>
                      <m:r>
                        <a:rPr lang="en-US" sz="1600" i="1">
                          <a:effectLst/>
                          <a:latin typeface="Cambria Math" panose="02040503050406030204" pitchFamily="18" charset="0"/>
                          <a:ea typeface="Calibri" panose="020F0502020204030204" pitchFamily="34" charset="0"/>
                          <a:cs typeface="Arial" panose="020B0604020202020204" pitchFamily="34" charset="0"/>
                        </a:rPr>
                        <m:t>𝐼𝑛𝑡𝑒𝑛𝑠𝑖𝑡𝑦</m:t>
                      </m:r>
                      <m:r>
                        <a:rPr lang="en-US" sz="1600" i="1">
                          <a:effectLst/>
                          <a:latin typeface="Cambria Math" panose="02040503050406030204" pitchFamily="18" charset="0"/>
                          <a:ea typeface="Calibri" panose="020F0502020204030204" pitchFamily="34" charset="0"/>
                          <a:cs typeface="Arial" panose="020B0604020202020204" pitchFamily="34" charset="0"/>
                        </a:rPr>
                        <m:t> = 850</m:t>
                      </m:r>
                      <m:f>
                        <m:fPr>
                          <m:ctrlPr>
                            <a:rPr lang="tr-TR" sz="1600" i="1">
                              <a:effectLst/>
                              <a:latin typeface="Cambria Math" panose="02040503050406030204" pitchFamily="18" charset="0"/>
                              <a:ea typeface="Calibri" panose="020F0502020204030204" pitchFamily="34" charset="0"/>
                              <a:cs typeface="Arial" panose="020B0604020202020204" pitchFamily="34" charset="0"/>
                            </a:rPr>
                          </m:ctrlPr>
                        </m:fPr>
                        <m:num>
                          <m:r>
                            <a:rPr lang="en-US" sz="1600" i="1">
                              <a:effectLst/>
                              <a:latin typeface="Cambria Math" panose="02040503050406030204" pitchFamily="18" charset="0"/>
                              <a:ea typeface="Calibri" panose="020F0502020204030204" pitchFamily="34" charset="0"/>
                              <a:cs typeface="Arial" panose="020B0604020202020204" pitchFamily="34" charset="0"/>
                            </a:rPr>
                            <m:t>𝑘𝑊</m:t>
                          </m:r>
                        </m:num>
                        <m:den>
                          <m:r>
                            <a:rPr lang="en-US" sz="1600" i="1">
                              <a:effectLst/>
                              <a:latin typeface="Cambria Math" panose="02040503050406030204" pitchFamily="18" charset="0"/>
                              <a:ea typeface="Calibri" panose="020F0502020204030204" pitchFamily="34" charset="0"/>
                              <a:cs typeface="Arial" panose="020B0604020202020204" pitchFamily="34" charset="0"/>
                            </a:rPr>
                            <m:t>𝑚</m:t>
                          </m:r>
                        </m:den>
                      </m:f>
                      <m:r>
                        <a:rPr lang="en-US" sz="1600" i="1">
                          <a:effectLst/>
                          <a:latin typeface="Cambria Math" panose="02040503050406030204" pitchFamily="18" charset="0"/>
                          <a:ea typeface="Calibri" panose="020F0502020204030204" pitchFamily="34" charset="0"/>
                          <a:cs typeface="Arial" panose="020B0604020202020204" pitchFamily="34" charset="0"/>
                        </a:rPr>
                        <m:t>,  </m:t>
                      </m:r>
                      <m:r>
                        <a:rPr lang="en-US" sz="1600" i="1">
                          <a:effectLst/>
                          <a:latin typeface="Cambria Math" panose="02040503050406030204" pitchFamily="18" charset="0"/>
                          <a:ea typeface="Calibri" panose="020F0502020204030204" pitchFamily="34" charset="0"/>
                          <a:cs typeface="Arial" panose="020B0604020202020204" pitchFamily="34" charset="0"/>
                        </a:rPr>
                        <m:t>𝑐</m:t>
                      </m:r>
                      <m:r>
                        <a:rPr lang="en-US" sz="1600" i="1">
                          <a:effectLst/>
                          <a:latin typeface="Cambria Math" panose="02040503050406030204" pitchFamily="18" charset="0"/>
                          <a:ea typeface="Calibri" panose="020F0502020204030204" pitchFamily="34" charset="0"/>
                          <a:cs typeface="Arial" panose="020B0604020202020204" pitchFamily="34" charset="0"/>
                        </a:rPr>
                        <m:t>=800,  </m:t>
                      </m:r>
                      <m:r>
                        <a:rPr lang="en-US" sz="1600" i="1">
                          <a:effectLst/>
                          <a:latin typeface="Cambria Math" panose="02040503050406030204" pitchFamily="18" charset="0"/>
                          <a:ea typeface="Calibri" panose="020F0502020204030204" pitchFamily="34" charset="0"/>
                          <a:cs typeface="Arial" panose="020B0604020202020204" pitchFamily="34" charset="0"/>
                        </a:rPr>
                        <m:t>𝜎</m:t>
                      </m:r>
                      <m:r>
                        <a:rPr lang="en-US" sz="1600" i="1">
                          <a:effectLst/>
                          <a:latin typeface="Cambria Math" panose="02040503050406030204" pitchFamily="18" charset="0"/>
                          <a:ea typeface="Calibri" panose="020F0502020204030204" pitchFamily="34" charset="0"/>
                          <a:cs typeface="Arial" panose="020B0604020202020204" pitchFamily="34" charset="0"/>
                        </a:rPr>
                        <m:t>=100</m:t>
                      </m:r>
                    </m:oMath>
                  </m:oMathPara>
                </a14:m>
                <a:endParaRPr lang="tr-TR" sz="16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Calibri" panose="020F0502020204030204" pitchFamily="34" charset="0"/>
                          <a:cs typeface="Arial" panose="020B0604020202020204" pitchFamily="34" charset="0"/>
                        </a:rPr>
                        <m:t>𝐹𝑢𝑒𝑙</m:t>
                      </m:r>
                      <m:r>
                        <a:rPr lang="en-US" sz="1600" i="1">
                          <a:effectLst/>
                          <a:latin typeface="Cambria Math" panose="02040503050406030204" pitchFamily="18" charset="0"/>
                          <a:ea typeface="Calibri" panose="020F0502020204030204" pitchFamily="34" charset="0"/>
                          <a:cs typeface="Arial" panose="020B0604020202020204" pitchFamily="34" charset="0"/>
                        </a:rPr>
                        <m:t> </m:t>
                      </m:r>
                      <m:r>
                        <a:rPr lang="en-US" sz="1600" i="1">
                          <a:effectLst/>
                          <a:latin typeface="Cambria Math" panose="02040503050406030204" pitchFamily="18" charset="0"/>
                          <a:ea typeface="Calibri" panose="020F0502020204030204" pitchFamily="34" charset="0"/>
                          <a:cs typeface="Arial" panose="020B0604020202020204" pitchFamily="34" charset="0"/>
                        </a:rPr>
                        <m:t>𝑀𝑜𝑖𝑠𝑡𝑢𝑟𝑒</m:t>
                      </m:r>
                      <m:r>
                        <a:rPr lang="en-US" sz="1600" i="1">
                          <a:effectLst/>
                          <a:latin typeface="Cambria Math" panose="02040503050406030204" pitchFamily="18" charset="0"/>
                          <a:ea typeface="Calibri" panose="020F0502020204030204" pitchFamily="34" charset="0"/>
                          <a:cs typeface="Arial" panose="020B0604020202020204" pitchFamily="34" charset="0"/>
                        </a:rPr>
                        <m:t> </m:t>
                      </m:r>
                      <m:r>
                        <a:rPr lang="en-US" sz="1600" i="1">
                          <a:effectLst/>
                          <a:latin typeface="Cambria Math" panose="02040503050406030204" pitchFamily="18" charset="0"/>
                          <a:ea typeface="Calibri" panose="020F0502020204030204" pitchFamily="34" charset="0"/>
                          <a:cs typeface="Arial" panose="020B0604020202020204" pitchFamily="34" charset="0"/>
                        </a:rPr>
                        <m:t>𝐶𝑜𝑛𝑡𝑒𝑛𝑡</m:t>
                      </m:r>
                      <m:r>
                        <a:rPr lang="en-US" sz="1600" i="1">
                          <a:effectLst/>
                          <a:latin typeface="Cambria Math" panose="02040503050406030204" pitchFamily="18" charset="0"/>
                          <a:ea typeface="Calibri" panose="020F0502020204030204" pitchFamily="34" charset="0"/>
                          <a:cs typeface="Arial" panose="020B0604020202020204" pitchFamily="34" charset="0"/>
                        </a:rPr>
                        <m:t> = 8%,  </m:t>
                      </m:r>
                      <m:r>
                        <a:rPr lang="en-US" sz="1600" i="1">
                          <a:effectLst/>
                          <a:latin typeface="Cambria Math" panose="02040503050406030204" pitchFamily="18" charset="0"/>
                          <a:ea typeface="Calibri" panose="020F0502020204030204" pitchFamily="34" charset="0"/>
                          <a:cs typeface="Arial" panose="020B0604020202020204" pitchFamily="34" charset="0"/>
                        </a:rPr>
                        <m:t>𝑐</m:t>
                      </m:r>
                      <m:r>
                        <a:rPr lang="en-US" sz="1600" i="1">
                          <a:effectLst/>
                          <a:latin typeface="Cambria Math" panose="02040503050406030204" pitchFamily="18" charset="0"/>
                          <a:ea typeface="Calibri" panose="020F0502020204030204" pitchFamily="34" charset="0"/>
                          <a:cs typeface="Arial" panose="020B0604020202020204" pitchFamily="34" charset="0"/>
                        </a:rPr>
                        <m:t>=5,  </m:t>
                      </m:r>
                      <m:r>
                        <a:rPr lang="en-US" sz="1600" i="1">
                          <a:effectLst/>
                          <a:latin typeface="Cambria Math" panose="02040503050406030204" pitchFamily="18" charset="0"/>
                          <a:ea typeface="Calibri" panose="020F0502020204030204" pitchFamily="34" charset="0"/>
                          <a:cs typeface="Arial" panose="020B0604020202020204" pitchFamily="34" charset="0"/>
                        </a:rPr>
                        <m:t>𝜎</m:t>
                      </m:r>
                      <m:r>
                        <a:rPr lang="en-US" sz="1600" i="1">
                          <a:effectLst/>
                          <a:latin typeface="Cambria Math" panose="02040503050406030204" pitchFamily="18" charset="0"/>
                          <a:ea typeface="Calibri" panose="020F0502020204030204" pitchFamily="34" charset="0"/>
                          <a:cs typeface="Arial" panose="020B0604020202020204" pitchFamily="34" charset="0"/>
                        </a:rPr>
                        <m:t>=5</m:t>
                      </m:r>
                    </m:oMath>
                  </m:oMathPara>
                </a14:m>
                <a:endParaRPr lang="tr-TR" sz="16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8588BA5D-4565-B58C-CFA4-0BB432DC2992}"/>
                  </a:ext>
                </a:extLst>
              </p:cNvPr>
              <p:cNvSpPr txBox="1">
                <a:spLocks noRot="1" noChangeAspect="1" noMove="1" noResize="1" noEditPoints="1" noAdjustHandles="1" noChangeArrowheads="1" noChangeShapeType="1" noTextEdit="1"/>
              </p:cNvSpPr>
              <p:nvPr/>
            </p:nvSpPr>
            <p:spPr>
              <a:xfrm>
                <a:off x="6712754" y="1362075"/>
                <a:ext cx="5077462" cy="2293513"/>
              </a:xfrm>
              <a:prstGeom prst="rect">
                <a:avLst/>
              </a:prstGeom>
              <a:blipFill>
                <a:blip r:embed="rId4"/>
                <a:stretch>
                  <a:fillRect l="-600" t="-531"/>
                </a:stretch>
              </a:blipFill>
            </p:spPr>
            <p:txBody>
              <a:bodyPr/>
              <a:lstStyle/>
              <a:p>
                <a:r>
                  <a:rPr lang="tr-TR">
                    <a:noFill/>
                  </a:rPr>
                  <a:t> </a:t>
                </a:r>
              </a:p>
            </p:txBody>
          </p:sp>
        </mc:Fallback>
      </mc:AlternateContent>
    </p:spTree>
    <p:extLst>
      <p:ext uri="{BB962C8B-B14F-4D97-AF65-F5344CB8AC3E}">
        <p14:creationId xmlns:p14="http://schemas.microsoft.com/office/powerpoint/2010/main" val="1193588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B249-7B6D-6DBF-B321-D3F49040AF63}"/>
              </a:ext>
            </a:extLst>
          </p:cNvPr>
          <p:cNvSpPr>
            <a:spLocks noGrp="1"/>
          </p:cNvSpPr>
          <p:nvPr>
            <p:ph type="title"/>
          </p:nvPr>
        </p:nvSpPr>
        <p:spPr/>
        <p:txBody>
          <a:bodyPr/>
          <a:lstStyle/>
          <a:p>
            <a:r>
              <a:rPr lang="en-US" dirty="0"/>
              <a:t>Fuzzy Decision Layer : Example (Single Decision)</a:t>
            </a:r>
            <a:endParaRPr lang="tr-TR" dirty="0"/>
          </a:p>
        </p:txBody>
      </p:sp>
      <p:sp>
        <p:nvSpPr>
          <p:cNvPr id="4" name="Slide Number Placeholder 3">
            <a:extLst>
              <a:ext uri="{FF2B5EF4-FFF2-40B4-BE49-F238E27FC236}">
                <a16:creationId xmlns:a16="http://schemas.microsoft.com/office/drawing/2014/main" id="{CF800F6B-4369-F823-761A-E614EBEB6568}"/>
              </a:ext>
            </a:extLst>
          </p:cNvPr>
          <p:cNvSpPr>
            <a:spLocks noGrp="1"/>
          </p:cNvSpPr>
          <p:nvPr>
            <p:ph type="sldNum" sz="quarter" idx="12"/>
          </p:nvPr>
        </p:nvSpPr>
        <p:spPr/>
        <p:txBody>
          <a:bodyPr/>
          <a:lstStyle/>
          <a:p>
            <a:fld id="{0F4FBE90-EB1A-4CD8-B134-C7A82858680F}" type="slidenum">
              <a:rPr lang="en-US" smtClean="0"/>
              <a:t>10</a:t>
            </a:fld>
            <a:endParaRPr lang="en-US"/>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56B1C2C6-4ED8-EBB7-696A-60A6B5EE5F56}"/>
                  </a:ext>
                </a:extLst>
              </p:cNvPr>
              <p:cNvSpPr txBox="1"/>
              <p:nvPr/>
            </p:nvSpPr>
            <p:spPr>
              <a:xfrm>
                <a:off x="3372761" y="2575627"/>
                <a:ext cx="4629787" cy="7801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en-US" sz="1400" i="1">
                              <a:latin typeface="Cambria Math" panose="02040503050406030204" pitchFamily="18" charset="0"/>
                            </a:rPr>
                            <m:t>𝜇</m:t>
                          </m:r>
                        </m:e>
                        <m:sub>
                          <m:r>
                            <a:rPr lang="en-US" sz="1400" i="1">
                              <a:latin typeface="Cambria Math" panose="02040503050406030204" pitchFamily="18" charset="0"/>
                            </a:rPr>
                            <m:t>𝑀𝑜𝑖𝑠</m:t>
                          </m:r>
                          <m:d>
                            <m:dPr>
                              <m:ctrlPr>
                                <a:rPr lang="tr-TR" sz="1400" i="1">
                                  <a:latin typeface="Cambria Math" panose="02040503050406030204" pitchFamily="18" charset="0"/>
                                </a:rPr>
                              </m:ctrlPr>
                            </m:dPr>
                            <m:e>
                              <m:r>
                                <a:rPr lang="en-US" sz="1400" i="1">
                                  <a:latin typeface="Cambria Math" panose="02040503050406030204" pitchFamily="18" charset="0"/>
                                </a:rPr>
                                <m:t>5</m:t>
                              </m:r>
                            </m:e>
                          </m:d>
                        </m:sub>
                      </m:sSub>
                      <m:r>
                        <a:rPr lang="en-US" sz="1400" i="1">
                          <a:latin typeface="Cambria Math" panose="02040503050406030204" pitchFamily="18" charset="0"/>
                        </a:rPr>
                        <m:t>=</m:t>
                      </m:r>
                      <m:d>
                        <m:dPr>
                          <m:begChr m:val="{"/>
                          <m:endChr m:val=""/>
                          <m:ctrlPr>
                            <a:rPr lang="tr-TR" sz="1400" i="1">
                              <a:latin typeface="Cambria Math" panose="02040503050406030204" pitchFamily="18" charset="0"/>
                            </a:rPr>
                          </m:ctrlPr>
                        </m:dPr>
                        <m:e>
                          <m:m>
                            <m:mPr>
                              <m:mcs>
                                <m:mc>
                                  <m:mcPr>
                                    <m:count m:val="2"/>
                                    <m:mcJc m:val="center"/>
                                  </m:mcPr>
                                </m:mc>
                              </m:mcs>
                              <m:ctrlPr>
                                <a:rPr lang="tr-TR" sz="1400" i="1">
                                  <a:latin typeface="Cambria Math" panose="02040503050406030204" pitchFamily="18" charset="0"/>
                                </a:rPr>
                              </m:ctrlPr>
                            </m:mPr>
                            <m:mr>
                              <m:e>
                                <m:r>
                                  <a:rPr lang="en-US" sz="1400" i="1">
                                    <a:latin typeface="Cambria Math" panose="02040503050406030204" pitchFamily="18" charset="0"/>
                                  </a:rPr>
                                  <m:t>0.</m:t>
                                </m:r>
                                <m:r>
                                  <a:rPr lang="en-US" sz="1400" b="0" i="1" smtClean="0">
                                    <a:latin typeface="Cambria Math" panose="02040503050406030204" pitchFamily="18" charset="0"/>
                                  </a:rPr>
                                  <m:t>986</m:t>
                                </m:r>
                              </m:e>
                              <m:e>
                                <m:r>
                                  <a:rPr lang="en-US" sz="1400" i="1">
                                    <a:latin typeface="Cambria Math" panose="02040503050406030204" pitchFamily="18" charset="0"/>
                                  </a:rPr>
                                  <m:t>𝐷𝑟𝑦</m:t>
                                </m:r>
                                <m:r>
                                  <a:rPr lang="en-US" sz="1400" b="0" i="1" smtClean="0">
                                    <a:latin typeface="Cambria Math" panose="02040503050406030204" pitchFamily="18" charset="0"/>
                                  </a:rPr>
                                  <m:t>,</m:t>
                                </m:r>
                                <m:r>
                                  <a:rPr lang="en-US" sz="1400" i="1">
                                    <a:latin typeface="Cambria Math" panose="02040503050406030204" pitchFamily="18" charset="0"/>
                                  </a:rPr>
                                  <m:t>𝑐</m:t>
                                </m:r>
                                <m:r>
                                  <a:rPr lang="en-US" sz="1400" i="1">
                                    <a:latin typeface="Cambria Math" panose="02040503050406030204" pitchFamily="18" charset="0"/>
                                  </a:rPr>
                                  <m:t>=5 , </m:t>
                                </m:r>
                                <m:r>
                                  <a:rPr lang="en-US" sz="1400" i="1">
                                    <a:latin typeface="Cambria Math" panose="02040503050406030204" pitchFamily="18" charset="0"/>
                                  </a:rPr>
                                  <m:t>𝜎</m:t>
                                </m:r>
                                <m:r>
                                  <a:rPr lang="en-US" sz="1400" i="1">
                                    <a:latin typeface="Cambria Math" panose="02040503050406030204" pitchFamily="18" charset="0"/>
                                  </a:rPr>
                                  <m:t>=6</m:t>
                                </m:r>
                              </m:e>
                            </m:mr>
                            <m:mr>
                              <m:e>
                                <m:r>
                                  <a:rPr lang="en-US" sz="1400" i="1">
                                    <a:latin typeface="Cambria Math" panose="02040503050406030204" pitchFamily="18" charset="0"/>
                                  </a:rPr>
                                  <m:t>0.</m:t>
                                </m:r>
                                <m:r>
                                  <a:rPr lang="en-US" sz="1400" b="0" i="1" smtClean="0">
                                    <a:latin typeface="Cambria Math" panose="02040503050406030204" pitchFamily="18" charset="0"/>
                                  </a:rPr>
                                  <m:t>801</m:t>
                                </m:r>
                              </m:e>
                              <m:e>
                                <m:r>
                                  <a:rPr lang="en-US" sz="1400" i="1">
                                    <a:latin typeface="Cambria Math" panose="02040503050406030204" pitchFamily="18" charset="0"/>
                                  </a:rPr>
                                  <m:t>𝑀𝑜𝑑𝑒𝑟𝑎𝑡𝑒</m:t>
                                </m:r>
                                <m:r>
                                  <a:rPr lang="en-US" sz="1400" b="0" i="1" smtClean="0">
                                    <a:latin typeface="Cambria Math" panose="02040503050406030204" pitchFamily="18" charset="0"/>
                                  </a:rPr>
                                  <m:t>, </m:t>
                                </m:r>
                                <m:r>
                                  <a:rPr lang="en-US" sz="1400" i="1">
                                    <a:latin typeface="Cambria Math" panose="02040503050406030204" pitchFamily="18" charset="0"/>
                                  </a:rPr>
                                  <m:t>𝑐</m:t>
                                </m:r>
                                <m:r>
                                  <a:rPr lang="en-US" sz="1400" i="1">
                                    <a:latin typeface="Cambria Math" panose="02040503050406030204" pitchFamily="18" charset="0"/>
                                  </a:rPr>
                                  <m:t>=10 ,</m:t>
                                </m:r>
                                <m:r>
                                  <a:rPr lang="en-US" sz="1400" i="1">
                                    <a:latin typeface="Cambria Math" panose="02040503050406030204" pitchFamily="18" charset="0"/>
                                  </a:rPr>
                                  <m:t> </m:t>
                                </m:r>
                                <m:r>
                                  <a:rPr lang="en-US" sz="1400" i="1">
                                    <a:latin typeface="Cambria Math" panose="02040503050406030204" pitchFamily="18" charset="0"/>
                                  </a:rPr>
                                  <m:t>𝜎</m:t>
                                </m:r>
                                <m:r>
                                  <a:rPr lang="en-US" sz="1400" i="1">
                                    <a:latin typeface="Cambria Math" panose="02040503050406030204" pitchFamily="18" charset="0"/>
                                  </a:rPr>
                                  <m:t>=6</m:t>
                                </m:r>
                              </m:e>
                            </m:mr>
                            <m:mr>
                              <m:e>
                                <m:r>
                                  <a:rPr lang="en-US" sz="1400" i="1">
                                    <a:latin typeface="Cambria Math" panose="02040503050406030204" pitchFamily="18" charset="0"/>
                                  </a:rPr>
                                  <m:t>0.</m:t>
                                </m:r>
                                <m:r>
                                  <a:rPr lang="en-US" sz="1400" b="0" i="1" smtClean="0">
                                    <a:latin typeface="Cambria Math" panose="02040503050406030204" pitchFamily="18" charset="0"/>
                                  </a:rPr>
                                  <m:t>294</m:t>
                                </m:r>
                              </m:e>
                              <m:e>
                                <m:r>
                                  <a:rPr lang="en-US" sz="1400" i="1">
                                    <a:latin typeface="Cambria Math" panose="02040503050406030204" pitchFamily="18" charset="0"/>
                                  </a:rPr>
                                  <m:t>𝑊𝑒𝑡</m:t>
                                </m:r>
                                <m:r>
                                  <a:rPr lang="en-US" sz="1400" b="0" i="1" smtClean="0">
                                    <a:latin typeface="Cambria Math" panose="02040503050406030204" pitchFamily="18" charset="0"/>
                                  </a:rPr>
                                  <m:t>,</m:t>
                                </m:r>
                                <m:r>
                                  <a:rPr lang="en-US" sz="1400" i="1">
                                    <a:latin typeface="Cambria Math" panose="02040503050406030204" pitchFamily="18" charset="0"/>
                                  </a:rPr>
                                  <m:t>𝑐</m:t>
                                </m:r>
                                <m:r>
                                  <a:rPr lang="en-US" sz="1400" i="1">
                                    <a:latin typeface="Cambria Math" panose="02040503050406030204" pitchFamily="18" charset="0"/>
                                  </a:rPr>
                                  <m:t>=15 ,</m:t>
                                </m:r>
                                <m:r>
                                  <a:rPr lang="en-US" sz="1400" i="1">
                                    <a:latin typeface="Cambria Math" panose="02040503050406030204" pitchFamily="18" charset="0"/>
                                  </a:rPr>
                                  <m:t> </m:t>
                                </m:r>
                                <m:r>
                                  <a:rPr lang="en-US" sz="1400" i="1">
                                    <a:latin typeface="Cambria Math" panose="02040503050406030204" pitchFamily="18" charset="0"/>
                                  </a:rPr>
                                  <m:t>𝜎</m:t>
                                </m:r>
                                <m:r>
                                  <a:rPr lang="en-US" sz="1400" i="1">
                                    <a:latin typeface="Cambria Math" panose="02040503050406030204" pitchFamily="18" charset="0"/>
                                  </a:rPr>
                                  <m:t>=6</m:t>
                                </m:r>
                              </m:e>
                            </m:mr>
                          </m:m>
                        </m:e>
                      </m:d>
                    </m:oMath>
                  </m:oMathPara>
                </a14:m>
                <a:endParaRPr lang="tr-TR" sz="1400" dirty="0"/>
              </a:p>
            </p:txBody>
          </p:sp>
        </mc:Choice>
        <mc:Fallback>
          <p:sp>
            <p:nvSpPr>
              <p:cNvPr id="11" name="TextBox 10">
                <a:extLst>
                  <a:ext uri="{FF2B5EF4-FFF2-40B4-BE49-F238E27FC236}">
                    <a16:creationId xmlns:a16="http://schemas.microsoft.com/office/drawing/2014/main" id="{56B1C2C6-4ED8-EBB7-696A-60A6B5EE5F56}"/>
                  </a:ext>
                </a:extLst>
              </p:cNvPr>
              <p:cNvSpPr txBox="1">
                <a:spLocks noRot="1" noChangeAspect="1" noMove="1" noResize="1" noEditPoints="1" noAdjustHandles="1" noChangeArrowheads="1" noChangeShapeType="1" noTextEdit="1"/>
              </p:cNvSpPr>
              <p:nvPr/>
            </p:nvSpPr>
            <p:spPr>
              <a:xfrm>
                <a:off x="3372761" y="2575627"/>
                <a:ext cx="4629787" cy="780150"/>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569FC36D-AC5D-C7C7-CAE9-9F61E5291997}"/>
                  </a:ext>
                </a:extLst>
              </p:cNvPr>
              <p:cNvSpPr txBox="1"/>
              <p:nvPr/>
            </p:nvSpPr>
            <p:spPr>
              <a:xfrm>
                <a:off x="7867614" y="2575627"/>
                <a:ext cx="4109355" cy="780150"/>
              </a:xfrm>
              <a:prstGeom prst="rect">
                <a:avLst/>
              </a:prstGeom>
              <a:noFill/>
            </p:spPr>
            <p:txBody>
              <a:bodyPr wrap="square">
                <a:spAutoFit/>
              </a:bodyPr>
              <a:lstStyle/>
              <a:p>
                <a:pPr/>
                <a14:m>
                  <m:oMath xmlns:m="http://schemas.openxmlformats.org/officeDocument/2006/math">
                    <m:sSub>
                      <m:sSubPr>
                        <m:ctrlPr>
                          <a:rPr lang="tr-TR" sz="1400" i="1" smtClean="0">
                            <a:solidFill>
                              <a:srgbClr val="836967"/>
                            </a:solidFill>
                            <a:latin typeface="Cambria Math" panose="02040503050406030204" pitchFamily="18" charset="0"/>
                          </a:rPr>
                        </m:ctrlPr>
                      </m:sSubPr>
                      <m:e>
                        <m:r>
                          <a:rPr lang="tr-TR" sz="1400" i="1">
                            <a:latin typeface="Cambria Math" panose="02040503050406030204" pitchFamily="18" charset="0"/>
                          </a:rPr>
                          <m:t>𝜇</m:t>
                        </m:r>
                      </m:e>
                      <m:sub>
                        <m:r>
                          <a:rPr lang="tr-TR" sz="1400" i="1">
                            <a:latin typeface="Cambria Math" panose="02040503050406030204" pitchFamily="18" charset="0"/>
                          </a:rPr>
                          <m:t>𝐹𝑖𝑟𝑒</m:t>
                        </m:r>
                        <m:d>
                          <m:dPr>
                            <m:ctrlPr>
                              <a:rPr lang="tr-TR" sz="1400" i="1">
                                <a:solidFill>
                                  <a:srgbClr val="836967"/>
                                </a:solidFill>
                                <a:latin typeface="Cambria Math" panose="02040503050406030204" pitchFamily="18" charset="0"/>
                              </a:rPr>
                            </m:ctrlPr>
                          </m:dPr>
                          <m:e>
                            <m:r>
                              <a:rPr lang="tr-TR" sz="1400" i="0">
                                <a:latin typeface="Cambria Math" panose="02040503050406030204" pitchFamily="18" charset="0"/>
                              </a:rPr>
                              <m:t>8</m:t>
                            </m:r>
                            <m:r>
                              <a:rPr lang="en-US" sz="1400" b="0" i="0" smtClean="0">
                                <a:latin typeface="Cambria Math" panose="02040503050406030204" pitchFamily="18" charset="0"/>
                              </a:rPr>
                              <m:t>2</m:t>
                            </m:r>
                            <m:r>
                              <a:rPr lang="tr-TR" sz="1400" i="0">
                                <a:latin typeface="Cambria Math" panose="02040503050406030204" pitchFamily="18" charset="0"/>
                              </a:rPr>
                              <m:t>0</m:t>
                            </m:r>
                          </m:e>
                        </m:d>
                      </m:sub>
                    </m:sSub>
                    <m:r>
                      <a:rPr lang="tr-TR" sz="1400" i="0">
                        <a:latin typeface="Cambria Math" panose="02040503050406030204" pitchFamily="18" charset="0"/>
                      </a:rPr>
                      <m:t>=</m:t>
                    </m:r>
                    <m:d>
                      <m:dPr>
                        <m:begChr m:val="{"/>
                        <m:endChr m:val=""/>
                        <m:ctrlPr>
                          <a:rPr lang="tr-TR" sz="1400" i="1">
                            <a:solidFill>
                              <a:srgbClr val="836967"/>
                            </a:solidFill>
                            <a:latin typeface="Cambria Math" panose="02040503050406030204" pitchFamily="18" charset="0"/>
                          </a:rPr>
                        </m:ctrlPr>
                      </m:dPr>
                      <m:e>
                        <m:m>
                          <m:mPr>
                            <m:plcHide m:val="on"/>
                            <m:mcs>
                              <m:mc>
                                <m:mcPr>
                                  <m:count m:val="2"/>
                                  <m:mcJc m:val="center"/>
                                </m:mcPr>
                              </m:mc>
                            </m:mcs>
                            <m:ctrlPr>
                              <a:rPr lang="tr-TR" sz="1400" i="1">
                                <a:solidFill>
                                  <a:srgbClr val="836967"/>
                                </a:solidFill>
                                <a:latin typeface="Cambria Math" panose="02040503050406030204" pitchFamily="18" charset="0"/>
                              </a:rPr>
                            </m:ctrlPr>
                          </m:mPr>
                          <m:mr>
                            <m:e>
                              <m:r>
                                <a:rPr lang="tr-TR" sz="1400" i="0">
                                  <a:latin typeface="Cambria Math" panose="02040503050406030204" pitchFamily="18" charset="0"/>
                                </a:rPr>
                                <m:t>0.</m:t>
                              </m:r>
                              <m:r>
                                <a:rPr lang="en-US" sz="1400" b="0" i="1" smtClean="0">
                                  <a:latin typeface="Cambria Math" panose="02040503050406030204" pitchFamily="18" charset="0"/>
                                </a:rPr>
                                <m:t>279</m:t>
                              </m:r>
                            </m:e>
                            <m:e>
                              <m:r>
                                <a:rPr lang="tr-TR" sz="1400" i="1">
                                  <a:latin typeface="Cambria Math" panose="02040503050406030204" pitchFamily="18" charset="0"/>
                                </a:rPr>
                                <m:t>𝐿𝑜𝑤</m:t>
                              </m:r>
                              <m:r>
                                <a:rPr lang="en-US" sz="1400" i="1">
                                  <a:latin typeface="Cambria Math" panose="02040503050406030204" pitchFamily="18" charset="0"/>
                                </a:rPr>
                                <m:t>, </m:t>
                              </m:r>
                              <m:r>
                                <a:rPr lang="en-US" sz="1400" i="1">
                                  <a:latin typeface="Cambria Math" panose="02040503050406030204" pitchFamily="18" charset="0"/>
                                </a:rPr>
                                <m:t>𝑐</m:t>
                              </m:r>
                              <m:r>
                                <a:rPr lang="en-US" sz="1400" i="1">
                                  <a:latin typeface="Cambria Math" panose="02040503050406030204" pitchFamily="18" charset="0"/>
                                </a:rPr>
                                <m:t>=600 , </m:t>
                              </m:r>
                              <m:r>
                                <a:rPr lang="en-US" sz="1400" i="1">
                                  <a:latin typeface="Cambria Math" panose="02040503050406030204" pitchFamily="18" charset="0"/>
                                </a:rPr>
                                <m:t>𝜎</m:t>
                              </m:r>
                              <m:r>
                                <a:rPr lang="en-US" sz="1400" i="1">
                                  <a:latin typeface="Cambria Math" panose="02040503050406030204" pitchFamily="18" charset="0"/>
                                </a:rPr>
                                <m:t>=120</m:t>
                              </m:r>
                            </m:e>
                          </m:mr>
                          <m:mr>
                            <m:e>
                              <m:r>
                                <a:rPr lang="tr-TR" sz="1400" i="0">
                                  <a:latin typeface="Cambria Math" panose="02040503050406030204" pitchFamily="18" charset="0"/>
                                </a:rPr>
                                <m:t>0.</m:t>
                              </m:r>
                              <m:r>
                                <a:rPr lang="en-US" sz="1400" b="0" i="0" smtClean="0">
                                  <a:latin typeface="Cambria Math" panose="02040503050406030204" pitchFamily="18" charset="0"/>
                                </a:rPr>
                                <m:t>9</m:t>
                              </m:r>
                              <m:r>
                                <a:rPr lang="tr-TR" sz="1400" i="0">
                                  <a:latin typeface="Cambria Math" panose="02040503050406030204" pitchFamily="18" charset="0"/>
                                </a:rPr>
                                <m:t>82</m:t>
                              </m:r>
                            </m:e>
                            <m:e>
                              <m:r>
                                <a:rPr lang="tr-TR" sz="1400" i="1">
                                  <a:latin typeface="Cambria Math" panose="02040503050406030204" pitchFamily="18" charset="0"/>
                                </a:rPr>
                                <m:t>𝑀𝑒𝑑𝑖𝑢𝑚</m:t>
                              </m:r>
                              <m:r>
                                <a:rPr lang="en-US" sz="1400" i="1">
                                  <a:latin typeface="Cambria Math" panose="02040503050406030204" pitchFamily="18" charset="0"/>
                                </a:rPr>
                                <m:t>, </m:t>
                              </m:r>
                              <m:r>
                                <a:rPr lang="en-US" sz="1400" i="1">
                                  <a:latin typeface="Cambria Math" panose="02040503050406030204" pitchFamily="18" charset="0"/>
                                </a:rPr>
                                <m:t>𝑐</m:t>
                              </m:r>
                              <m:r>
                                <a:rPr lang="en-US" sz="1400" i="1">
                                  <a:latin typeface="Cambria Math" panose="02040503050406030204" pitchFamily="18" charset="0"/>
                                </a:rPr>
                                <m:t>=800 , </m:t>
                              </m:r>
                              <m:r>
                                <a:rPr lang="en-US" sz="1400" i="1">
                                  <a:latin typeface="Cambria Math" panose="02040503050406030204" pitchFamily="18" charset="0"/>
                                </a:rPr>
                                <m:t>𝜎</m:t>
                              </m:r>
                              <m:r>
                                <a:rPr lang="en-US" sz="1400" i="1">
                                  <a:latin typeface="Cambria Math" panose="02040503050406030204" pitchFamily="18" charset="0"/>
                                </a:rPr>
                                <m:t>=12</m:t>
                              </m:r>
                            </m:e>
                          </m:mr>
                          <m:mr>
                            <m:e>
                              <m:r>
                                <a:rPr lang="tr-TR" sz="1400" i="0">
                                  <a:latin typeface="Cambria Math" panose="02040503050406030204" pitchFamily="18" charset="0"/>
                                </a:rPr>
                                <m:t>0.</m:t>
                              </m:r>
                              <m:r>
                                <a:rPr lang="en-US" sz="1400" b="0" i="0" smtClean="0">
                                  <a:latin typeface="Cambria Math" panose="02040503050406030204" pitchFamily="18" charset="0"/>
                                </a:rPr>
                                <m:t>736</m:t>
                              </m:r>
                            </m:e>
                            <m:e>
                              <m:r>
                                <a:rPr lang="tr-TR" sz="1400" i="1">
                                  <a:latin typeface="Cambria Math" panose="02040503050406030204" pitchFamily="18" charset="0"/>
                                </a:rPr>
                                <m:t>𝐻𝑖𝑔h</m:t>
                              </m:r>
                              <m:r>
                                <a:rPr lang="en-US" sz="1400" i="1">
                                  <a:latin typeface="Cambria Math" panose="02040503050406030204" pitchFamily="18" charset="0"/>
                                </a:rPr>
                                <m:t>, </m:t>
                              </m:r>
                              <m:r>
                                <a:rPr lang="en-US" sz="1400" i="1">
                                  <a:latin typeface="Cambria Math" panose="02040503050406030204" pitchFamily="18" charset="0"/>
                                </a:rPr>
                                <m:t>𝑐</m:t>
                              </m:r>
                              <m:r>
                                <a:rPr lang="en-US" sz="1400" i="1">
                                  <a:latin typeface="Cambria Math" panose="02040503050406030204" pitchFamily="18" charset="0"/>
                                </a:rPr>
                                <m:t>=1000 , </m:t>
                              </m:r>
                              <m:r>
                                <a:rPr lang="en-US" sz="1400" i="1">
                                  <a:latin typeface="Cambria Math" panose="02040503050406030204" pitchFamily="18" charset="0"/>
                                </a:rPr>
                                <m:t>𝜎</m:t>
                              </m:r>
                              <m:r>
                                <a:rPr lang="en-US" sz="1400" i="1">
                                  <a:latin typeface="Cambria Math" panose="02040503050406030204" pitchFamily="18" charset="0"/>
                                </a:rPr>
                                <m:t>=120</m:t>
                              </m:r>
                            </m:e>
                          </m:mr>
                        </m:m>
                      </m:e>
                    </m:d>
                  </m:oMath>
                </a14:m>
                <a:r>
                  <a:rPr lang="en-US" sz="1400" dirty="0"/>
                  <a:t>0</a:t>
                </a:r>
                <a:endParaRPr lang="tr-TR" sz="1400" dirty="0"/>
              </a:p>
            </p:txBody>
          </p:sp>
        </mc:Choice>
        <mc:Fallback>
          <p:sp>
            <p:nvSpPr>
              <p:cNvPr id="15" name="TextBox 14">
                <a:extLst>
                  <a:ext uri="{FF2B5EF4-FFF2-40B4-BE49-F238E27FC236}">
                    <a16:creationId xmlns:a16="http://schemas.microsoft.com/office/drawing/2014/main" id="{569FC36D-AC5D-C7C7-CAE9-9F61E5291997}"/>
                  </a:ext>
                </a:extLst>
              </p:cNvPr>
              <p:cNvSpPr txBox="1">
                <a:spLocks noRot="1" noChangeAspect="1" noMove="1" noResize="1" noEditPoints="1" noAdjustHandles="1" noChangeArrowheads="1" noChangeShapeType="1" noTextEdit="1"/>
              </p:cNvSpPr>
              <p:nvPr/>
            </p:nvSpPr>
            <p:spPr>
              <a:xfrm>
                <a:off x="7867614" y="2575627"/>
                <a:ext cx="4109355" cy="780150"/>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7CECD391-746F-C649-B8A4-E8FC72F95A37}"/>
                  </a:ext>
                </a:extLst>
              </p:cNvPr>
              <p:cNvSpPr txBox="1"/>
              <p:nvPr/>
            </p:nvSpPr>
            <p:spPr>
              <a:xfrm>
                <a:off x="-2" y="2575627"/>
                <a:ext cx="4030066" cy="7801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sz="1400" i="1" smtClean="0">
                              <a:solidFill>
                                <a:srgbClr val="836967"/>
                              </a:solidFill>
                              <a:latin typeface="Cambria Math" panose="02040503050406030204" pitchFamily="18" charset="0"/>
                            </a:rPr>
                          </m:ctrlPr>
                        </m:sSubPr>
                        <m:e>
                          <m:r>
                            <a:rPr lang="tr-TR" sz="1400" i="1">
                              <a:latin typeface="Cambria Math" panose="02040503050406030204" pitchFamily="18" charset="0"/>
                            </a:rPr>
                            <m:t>𝜇</m:t>
                          </m:r>
                        </m:e>
                        <m:sub>
                          <m:r>
                            <a:rPr lang="tr-TR" sz="1400" i="1">
                              <a:latin typeface="Cambria Math" panose="02040503050406030204" pitchFamily="18" charset="0"/>
                            </a:rPr>
                            <m:t>𝑊𝑖𝑛𝑑</m:t>
                          </m:r>
                          <m:d>
                            <m:dPr>
                              <m:ctrlPr>
                                <a:rPr lang="tr-TR" sz="1400" i="1">
                                  <a:solidFill>
                                    <a:srgbClr val="836967"/>
                                  </a:solidFill>
                                  <a:latin typeface="Cambria Math" panose="02040503050406030204" pitchFamily="18" charset="0"/>
                                </a:rPr>
                              </m:ctrlPr>
                            </m:dPr>
                            <m:e>
                              <m:r>
                                <a:rPr lang="tr-TR" sz="1400" i="0">
                                  <a:latin typeface="Cambria Math" panose="02040503050406030204" pitchFamily="18" charset="0"/>
                                </a:rPr>
                                <m:t>4</m:t>
                              </m:r>
                              <m:r>
                                <a:rPr lang="en-US" sz="1400" b="0" i="1" smtClean="0">
                                  <a:latin typeface="Cambria Math" panose="02040503050406030204" pitchFamily="18" charset="0"/>
                                </a:rPr>
                                <m:t>8</m:t>
                              </m:r>
                            </m:e>
                          </m:d>
                        </m:sub>
                      </m:sSub>
                      <m:r>
                        <a:rPr lang="tr-TR" sz="1400" i="0">
                          <a:latin typeface="Cambria Math" panose="02040503050406030204" pitchFamily="18" charset="0"/>
                        </a:rPr>
                        <m:t>=</m:t>
                      </m:r>
                      <m:d>
                        <m:dPr>
                          <m:begChr m:val="{"/>
                          <m:endChr m:val=""/>
                          <m:ctrlPr>
                            <a:rPr lang="tr-TR" sz="1400" i="1">
                              <a:solidFill>
                                <a:srgbClr val="836967"/>
                              </a:solidFill>
                              <a:latin typeface="Cambria Math" panose="02040503050406030204" pitchFamily="18" charset="0"/>
                            </a:rPr>
                          </m:ctrlPr>
                        </m:dPr>
                        <m:e>
                          <m:m>
                            <m:mPr>
                              <m:plcHide m:val="on"/>
                              <m:mcs>
                                <m:mc>
                                  <m:mcPr>
                                    <m:count m:val="2"/>
                                    <m:mcJc m:val="center"/>
                                  </m:mcPr>
                                </m:mc>
                              </m:mcs>
                              <m:ctrlPr>
                                <a:rPr lang="tr-TR" sz="1400" i="1">
                                  <a:solidFill>
                                    <a:srgbClr val="836967"/>
                                  </a:solidFill>
                                  <a:latin typeface="Cambria Math" panose="02040503050406030204" pitchFamily="18" charset="0"/>
                                </a:rPr>
                              </m:ctrlPr>
                            </m:mPr>
                            <m:mr>
                              <m:e>
                                <m:r>
                                  <a:rPr lang="en-US" sz="1400" b="0" i="0" smtClean="0">
                                    <a:latin typeface="Cambria Math" panose="02040503050406030204" pitchFamily="18" charset="0"/>
                                  </a:rPr>
                                  <m:t>0.289</m:t>
                                </m:r>
                              </m:e>
                              <m:e>
                                <m:r>
                                  <a:rPr lang="tr-TR" sz="1400" i="1">
                                    <a:latin typeface="Cambria Math" panose="02040503050406030204" pitchFamily="18" charset="0"/>
                                  </a:rPr>
                                  <m:t>𝐿𝑜𝑤</m:t>
                                </m:r>
                                <m:r>
                                  <a:rPr lang="en-US" sz="1400" b="0" i="1" smtClean="0">
                                    <a:latin typeface="Cambria Math" panose="02040503050406030204" pitchFamily="18" charset="0"/>
                                  </a:rPr>
                                  <m:t>, </m:t>
                                </m:r>
                                <m:r>
                                  <a:rPr lang="en-US" sz="1400" b="0" i="1" smtClean="0">
                                    <a:latin typeface="Cambria Math" panose="02040503050406030204" pitchFamily="18" charset="0"/>
                                  </a:rPr>
                                  <m:t>𝑐</m:t>
                                </m:r>
                                <m:r>
                                  <a:rPr lang="en-US" sz="1400" b="0" i="1" smtClean="0">
                                    <a:latin typeface="Cambria Math" panose="02040503050406030204" pitchFamily="18" charset="0"/>
                                  </a:rPr>
                                  <m:t>=30 , </m:t>
                                </m:r>
                                <m:r>
                                  <a:rPr lang="en-US" sz="1400" b="0" i="1" smtClean="0">
                                    <a:latin typeface="Cambria Math" panose="02040503050406030204" pitchFamily="18" charset="0"/>
                                  </a:rPr>
                                  <m:t>𝜎</m:t>
                                </m:r>
                                <m:r>
                                  <a:rPr lang="en-US" sz="1400" b="0" i="1" smtClean="0">
                                    <a:latin typeface="Cambria Math" panose="02040503050406030204" pitchFamily="18" charset="0"/>
                                  </a:rPr>
                                  <m:t>=12</m:t>
                                </m:r>
                              </m:e>
                            </m:mr>
                            <m:mr>
                              <m:e>
                                <m:r>
                                  <a:rPr lang="en-US" sz="1400" b="0" i="0" smtClean="0">
                                    <a:latin typeface="Cambria Math" panose="02040503050406030204" pitchFamily="18" charset="0"/>
                                  </a:rPr>
                                  <m:t>0.972</m:t>
                                </m:r>
                              </m:e>
                              <m:e>
                                <m:r>
                                  <a:rPr lang="tr-TR" sz="1400" i="1">
                                    <a:latin typeface="Cambria Math" panose="02040503050406030204" pitchFamily="18" charset="0"/>
                                  </a:rPr>
                                  <m:t>𝑀𝑒𝑑</m:t>
                                </m:r>
                                <m:r>
                                  <a:rPr lang="en-US" sz="1400" i="1">
                                    <a:latin typeface="Cambria Math" panose="02040503050406030204" pitchFamily="18" charset="0"/>
                                  </a:rPr>
                                  <m:t>, </m:t>
                                </m:r>
                                <m:r>
                                  <a:rPr lang="en-US" sz="1400" i="1">
                                    <a:latin typeface="Cambria Math" panose="02040503050406030204" pitchFamily="18" charset="0"/>
                                  </a:rPr>
                                  <m:t>𝑐</m:t>
                                </m:r>
                                <m:r>
                                  <a:rPr lang="en-US" sz="1400" i="1">
                                    <a:latin typeface="Cambria Math" panose="02040503050406030204" pitchFamily="18" charset="0"/>
                                  </a:rPr>
                                  <m:t>=50 , </m:t>
                                </m:r>
                                <m:r>
                                  <a:rPr lang="en-US" sz="1400" i="1">
                                    <a:latin typeface="Cambria Math" panose="02040503050406030204" pitchFamily="18" charset="0"/>
                                  </a:rPr>
                                  <m:t>𝜎</m:t>
                                </m:r>
                                <m:r>
                                  <a:rPr lang="en-US" sz="1400" i="1">
                                    <a:latin typeface="Cambria Math" panose="02040503050406030204" pitchFamily="18" charset="0"/>
                                  </a:rPr>
                                  <m:t>=12</m:t>
                                </m:r>
                              </m:e>
                            </m:mr>
                            <m:mr>
                              <m:e>
                                <m:r>
                                  <a:rPr lang="tr-TR" sz="1400" i="0">
                                    <a:latin typeface="Cambria Math" panose="02040503050406030204" pitchFamily="18" charset="0"/>
                                  </a:rPr>
                                  <m:t>0.2</m:t>
                                </m:r>
                                <m:r>
                                  <a:rPr lang="en-US" sz="1400" b="0" i="1" smtClean="0">
                                    <a:latin typeface="Cambria Math" panose="02040503050406030204" pitchFamily="18" charset="0"/>
                                  </a:rPr>
                                  <m:t>23</m:t>
                                </m:r>
                              </m:e>
                              <m:e>
                                <m:r>
                                  <a:rPr lang="tr-TR" sz="1400" i="1">
                                    <a:latin typeface="Cambria Math" panose="02040503050406030204" pitchFamily="18" charset="0"/>
                                  </a:rPr>
                                  <m:t>𝐻𝑖𝑔h</m:t>
                                </m:r>
                                <m:r>
                                  <a:rPr lang="en-US" sz="1400" i="1">
                                    <a:latin typeface="Cambria Math" panose="02040503050406030204" pitchFamily="18" charset="0"/>
                                  </a:rPr>
                                  <m:t>, </m:t>
                                </m:r>
                                <m:r>
                                  <a:rPr lang="en-US" sz="1400" i="1">
                                    <a:latin typeface="Cambria Math" panose="02040503050406030204" pitchFamily="18" charset="0"/>
                                  </a:rPr>
                                  <m:t>𝑐</m:t>
                                </m:r>
                                <m:r>
                                  <a:rPr lang="en-US" sz="1400" i="1">
                                    <a:latin typeface="Cambria Math" panose="02040503050406030204" pitchFamily="18" charset="0"/>
                                  </a:rPr>
                                  <m:t>=70 , </m:t>
                                </m:r>
                                <m:r>
                                  <a:rPr lang="en-US" sz="1400" i="1">
                                    <a:latin typeface="Cambria Math" panose="02040503050406030204" pitchFamily="18" charset="0"/>
                                  </a:rPr>
                                  <m:t>𝜎</m:t>
                                </m:r>
                                <m:r>
                                  <a:rPr lang="en-US" sz="1400" i="1">
                                    <a:latin typeface="Cambria Math" panose="02040503050406030204" pitchFamily="18" charset="0"/>
                                  </a:rPr>
                                  <m:t>=12</m:t>
                                </m:r>
                              </m:e>
                            </m:mr>
                          </m:m>
                        </m:e>
                      </m:d>
                    </m:oMath>
                  </m:oMathPara>
                </a14:m>
                <a:endParaRPr lang="tr-TR" sz="1400" dirty="0"/>
              </a:p>
            </p:txBody>
          </p:sp>
        </mc:Choice>
        <mc:Fallback>
          <p:sp>
            <p:nvSpPr>
              <p:cNvPr id="17" name="TextBox 16">
                <a:extLst>
                  <a:ext uri="{FF2B5EF4-FFF2-40B4-BE49-F238E27FC236}">
                    <a16:creationId xmlns:a16="http://schemas.microsoft.com/office/drawing/2014/main" id="{7CECD391-746F-C649-B8A4-E8FC72F95A37}"/>
                  </a:ext>
                </a:extLst>
              </p:cNvPr>
              <p:cNvSpPr txBox="1">
                <a:spLocks noRot="1" noChangeAspect="1" noMove="1" noResize="1" noEditPoints="1" noAdjustHandles="1" noChangeArrowheads="1" noChangeShapeType="1" noTextEdit="1"/>
              </p:cNvSpPr>
              <p:nvPr/>
            </p:nvSpPr>
            <p:spPr>
              <a:xfrm>
                <a:off x="-2" y="2575627"/>
                <a:ext cx="4030066" cy="780150"/>
              </a:xfrm>
              <a:prstGeom prst="rect">
                <a:avLst/>
              </a:prstGeom>
              <a:blipFill>
                <a:blip r:embed="rId4"/>
                <a:stretch>
                  <a:fillRect/>
                </a:stretch>
              </a:blipFill>
            </p:spPr>
            <p:txBody>
              <a:bodyPr/>
              <a:lstStyle/>
              <a:p>
                <a:r>
                  <a:rPr lang="tr-TR">
                    <a:noFill/>
                  </a:rPr>
                  <a:t> </a:t>
                </a:r>
              </a:p>
            </p:txBody>
          </p:sp>
        </mc:Fallback>
      </mc:AlternateContent>
      <p:pic>
        <p:nvPicPr>
          <p:cNvPr id="1027" name="Picture 3" descr="Output image">
            <a:extLst>
              <a:ext uri="{FF2B5EF4-FFF2-40B4-BE49-F238E27FC236}">
                <a16:creationId xmlns:a16="http://schemas.microsoft.com/office/drawing/2014/main" id="{DC843EC9-190C-12C7-0327-8FAF025475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031" y="798595"/>
            <a:ext cx="3600000" cy="1777032"/>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Output image">
            <a:extLst>
              <a:ext uri="{FF2B5EF4-FFF2-40B4-BE49-F238E27FC236}">
                <a16:creationId xmlns:a16="http://schemas.microsoft.com/office/drawing/2014/main" id="{12795BCA-99F1-0537-4724-77BC6F590C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0216" y="798595"/>
            <a:ext cx="3600000" cy="1777031"/>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Output image">
            <a:extLst>
              <a:ext uri="{FF2B5EF4-FFF2-40B4-BE49-F238E27FC236}">
                <a16:creationId xmlns:a16="http://schemas.microsoft.com/office/drawing/2014/main" id="{DCD5B337-9D64-2E36-7CDC-6F0ACBA078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06313" y="798595"/>
            <a:ext cx="3600000" cy="17770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7DE06746-9A3B-87D1-446A-F7967C6FBD82}"/>
                  </a:ext>
                </a:extLst>
              </p:cNvPr>
              <p:cNvGraphicFramePr>
                <a:graphicFrameLocks noGrp="1"/>
              </p:cNvGraphicFramePr>
              <p:nvPr>
                <p:extLst>
                  <p:ext uri="{D42A27DB-BD31-4B8C-83A1-F6EECF244321}">
                    <p14:modId xmlns:p14="http://schemas.microsoft.com/office/powerpoint/2010/main" val="3899045014"/>
                  </p:ext>
                </p:extLst>
              </p:nvPr>
            </p:nvGraphicFramePr>
            <p:xfrm>
              <a:off x="420110" y="3742925"/>
              <a:ext cx="4030068" cy="2316480"/>
            </p:xfrm>
            <a:graphic>
              <a:graphicData uri="http://schemas.openxmlformats.org/drawingml/2006/table">
                <a:tbl>
                  <a:tblPr firstRow="1" firstCol="1" bandRow="1">
                    <a:tableStyleId>{0E3FDE45-AF77-4B5C-9715-49D594BDF05E}</a:tableStyleId>
                  </a:tblPr>
                  <a:tblGrid>
                    <a:gridCol w="671678">
                      <a:extLst>
                        <a:ext uri="{9D8B030D-6E8A-4147-A177-3AD203B41FA5}">
                          <a16:colId xmlns:a16="http://schemas.microsoft.com/office/drawing/2014/main" val="2700611098"/>
                        </a:ext>
                      </a:extLst>
                    </a:gridCol>
                    <a:gridCol w="671678">
                      <a:extLst>
                        <a:ext uri="{9D8B030D-6E8A-4147-A177-3AD203B41FA5}">
                          <a16:colId xmlns:a16="http://schemas.microsoft.com/office/drawing/2014/main" val="3066668910"/>
                        </a:ext>
                      </a:extLst>
                    </a:gridCol>
                    <a:gridCol w="671678">
                      <a:extLst>
                        <a:ext uri="{9D8B030D-6E8A-4147-A177-3AD203B41FA5}">
                          <a16:colId xmlns:a16="http://schemas.microsoft.com/office/drawing/2014/main" val="2013842095"/>
                        </a:ext>
                      </a:extLst>
                    </a:gridCol>
                    <a:gridCol w="671678">
                      <a:extLst>
                        <a:ext uri="{9D8B030D-6E8A-4147-A177-3AD203B41FA5}">
                          <a16:colId xmlns:a16="http://schemas.microsoft.com/office/drawing/2014/main" val="157212711"/>
                        </a:ext>
                      </a:extLst>
                    </a:gridCol>
                    <a:gridCol w="671678">
                      <a:extLst>
                        <a:ext uri="{9D8B030D-6E8A-4147-A177-3AD203B41FA5}">
                          <a16:colId xmlns:a16="http://schemas.microsoft.com/office/drawing/2014/main" val="4084423964"/>
                        </a:ext>
                      </a:extLst>
                    </a:gridCol>
                    <a:gridCol w="671678">
                      <a:extLst>
                        <a:ext uri="{9D8B030D-6E8A-4147-A177-3AD203B41FA5}">
                          <a16:colId xmlns:a16="http://schemas.microsoft.com/office/drawing/2014/main" val="3946229585"/>
                        </a:ext>
                      </a:extLst>
                    </a:gridCol>
                  </a:tblGrid>
                  <a:tr h="734676">
                    <a:tc>
                      <a:txBody>
                        <a:bodyPr/>
                        <a:lstStyle/>
                        <a:p>
                          <a:r>
                            <a:rPr lang="tr-TR" sz="1600"/>
                            <a:t>Rule</a:t>
                          </a:r>
                        </a:p>
                      </a:txBody>
                      <a:tcPr anchor="ctr"/>
                    </a:tc>
                    <a:tc>
                      <a:txBody>
                        <a:bodyPr/>
                        <a:lstStyle/>
                        <a:p>
                          <a:r>
                            <a:rPr lang="tr-TR" sz="1600"/>
                            <a:t>Wind</a:t>
                          </a:r>
                        </a:p>
                      </a:txBody>
                      <a:tcPr anchor="ctr"/>
                    </a:tc>
                    <a:tc>
                      <a:txBody>
                        <a:bodyPr/>
                        <a:lstStyle/>
                        <a:p>
                          <a:r>
                            <a:rPr lang="en-US" sz="1600" dirty="0"/>
                            <a:t>Fire</a:t>
                          </a:r>
                          <a:endParaRPr lang="tr-TR" sz="1600" dirty="0"/>
                        </a:p>
                      </a:txBody>
                      <a:tcPr anchor="ctr"/>
                    </a:tc>
                    <a:tc>
                      <a:txBody>
                        <a:bodyPr/>
                        <a:lstStyle/>
                        <a:p>
                          <a:r>
                            <a:rPr lang="tr-TR" sz="1600" dirty="0" err="1"/>
                            <a:t>Moist</a:t>
                          </a:r>
                          <a:endParaRPr lang="tr-TR" sz="1600" dirty="0"/>
                        </a:p>
                      </a:txBody>
                      <a:tcPr anchor="ctr"/>
                    </a:tc>
                    <a:tc>
                      <a:txBody>
                        <a:bodyPr/>
                        <a:lstStyle/>
                        <a:p>
                          <a:r>
                            <a:rPr lang="tr-TR" sz="1600"/>
                            <a:t>THEN</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𝜇</m:t>
                                    </m:r>
                                  </m:e>
                                  <m:sub>
                                    <m:r>
                                      <a:rPr lang="en-US" sz="1600" b="0" i="1" smtClean="0">
                                        <a:latin typeface="Cambria Math" panose="02040503050406030204" pitchFamily="18" charset="0"/>
                                      </a:rPr>
                                      <m:t>𝑅𝑢𝑙𝑒</m:t>
                                    </m:r>
                                  </m:sub>
                                </m:sSub>
                              </m:oMath>
                            </m:oMathPara>
                          </a14:m>
                          <a:endParaRPr lang="en-US" sz="1600" dirty="0"/>
                        </a:p>
                        <a:p>
                          <a:pPr/>
                          <a:r>
                            <a:rPr lang="en-US" sz="1600" dirty="0"/>
                            <a:t> (min)</a:t>
                          </a:r>
                          <a:endParaRPr lang="tr-TR" sz="1600" dirty="0"/>
                        </a:p>
                      </a:txBody>
                      <a:tcPr anchor="ctr"/>
                    </a:tc>
                    <a:extLst>
                      <a:ext uri="{0D108BD9-81ED-4DB2-BD59-A6C34878D82A}">
                        <a16:rowId xmlns:a16="http://schemas.microsoft.com/office/drawing/2014/main" val="3955784251"/>
                      </a:ext>
                    </a:extLst>
                  </a:tr>
                  <a:tr h="516994">
                    <a:tc>
                      <a:txBody>
                        <a:bodyPr/>
                        <a:lstStyle/>
                        <a:p>
                          <a:r>
                            <a:rPr lang="tr-TR" sz="1600" dirty="0"/>
                            <a:t>1</a:t>
                          </a:r>
                        </a:p>
                      </a:txBody>
                      <a:tcPr anchor="ctr"/>
                    </a:tc>
                    <a:tc>
                      <a:txBody>
                        <a:bodyPr/>
                        <a:lstStyle/>
                        <a:p>
                          <a:r>
                            <a:rPr lang="tr-TR" sz="1600"/>
                            <a:t>Med</a:t>
                          </a:r>
                        </a:p>
                      </a:txBody>
                      <a:tcPr anchor="ctr"/>
                    </a:tc>
                    <a:tc>
                      <a:txBody>
                        <a:bodyPr/>
                        <a:lstStyle/>
                        <a:p>
                          <a:r>
                            <a:rPr lang="tr-TR" sz="1600"/>
                            <a:t>Med</a:t>
                          </a:r>
                        </a:p>
                      </a:txBody>
                      <a:tcPr anchor="ctr"/>
                    </a:tc>
                    <a:tc>
                      <a:txBody>
                        <a:bodyPr/>
                        <a:lstStyle/>
                        <a:p>
                          <a:r>
                            <a:rPr lang="tr-TR" sz="1600"/>
                            <a:t>Dry</a:t>
                          </a:r>
                        </a:p>
                      </a:txBody>
                      <a:tcPr anchor="ctr"/>
                    </a:tc>
                    <a:tc>
                      <a:txBody>
                        <a:bodyPr/>
                        <a:lstStyle/>
                        <a:p>
                          <a:r>
                            <a:rPr lang="tr-TR" sz="1600"/>
                            <a:t>Very High</a:t>
                          </a:r>
                        </a:p>
                      </a:txBody>
                      <a:tcPr anchor="ctr"/>
                    </a:tc>
                    <a:tc>
                      <a:txBody>
                        <a:bodyPr/>
                        <a:lstStyle/>
                        <a:p>
                          <a:r>
                            <a:rPr lang="tr-TR" sz="1600"/>
                            <a:t>0.972</a:t>
                          </a:r>
                        </a:p>
                      </a:txBody>
                      <a:tcPr anchor="ctr"/>
                    </a:tc>
                    <a:extLst>
                      <a:ext uri="{0D108BD9-81ED-4DB2-BD59-A6C34878D82A}">
                        <a16:rowId xmlns:a16="http://schemas.microsoft.com/office/drawing/2014/main" val="3508356608"/>
                      </a:ext>
                    </a:extLst>
                  </a:tr>
                  <a:tr h="299312">
                    <a:tc>
                      <a:txBody>
                        <a:bodyPr/>
                        <a:lstStyle/>
                        <a:p>
                          <a:r>
                            <a:rPr lang="tr-TR" sz="1600"/>
                            <a:t>2</a:t>
                          </a:r>
                        </a:p>
                      </a:txBody>
                      <a:tcPr anchor="ctr"/>
                    </a:tc>
                    <a:tc>
                      <a:txBody>
                        <a:bodyPr/>
                        <a:lstStyle/>
                        <a:p>
                          <a:r>
                            <a:rPr lang="tr-TR" sz="1600"/>
                            <a:t>Med</a:t>
                          </a:r>
                        </a:p>
                      </a:txBody>
                      <a:tcPr anchor="ctr"/>
                    </a:tc>
                    <a:tc>
                      <a:txBody>
                        <a:bodyPr/>
                        <a:lstStyle/>
                        <a:p>
                          <a:r>
                            <a:rPr lang="tr-TR" sz="1600"/>
                            <a:t>High</a:t>
                          </a:r>
                        </a:p>
                      </a:txBody>
                      <a:tcPr anchor="ctr"/>
                    </a:tc>
                    <a:tc>
                      <a:txBody>
                        <a:bodyPr/>
                        <a:lstStyle/>
                        <a:p>
                          <a:r>
                            <a:rPr lang="tr-TR" sz="1600"/>
                            <a:t>Mod</a:t>
                          </a:r>
                        </a:p>
                      </a:txBody>
                      <a:tcPr anchor="ctr"/>
                    </a:tc>
                    <a:tc>
                      <a:txBody>
                        <a:bodyPr/>
                        <a:lstStyle/>
                        <a:p>
                          <a:r>
                            <a:rPr lang="tr-TR" sz="1600"/>
                            <a:t>High</a:t>
                          </a:r>
                        </a:p>
                      </a:txBody>
                      <a:tcPr anchor="ctr"/>
                    </a:tc>
                    <a:tc>
                      <a:txBody>
                        <a:bodyPr/>
                        <a:lstStyle/>
                        <a:p>
                          <a:r>
                            <a:rPr lang="tr-TR" sz="1600"/>
                            <a:t>0.736</a:t>
                          </a:r>
                        </a:p>
                      </a:txBody>
                      <a:tcPr anchor="ctr"/>
                    </a:tc>
                    <a:extLst>
                      <a:ext uri="{0D108BD9-81ED-4DB2-BD59-A6C34878D82A}">
                        <a16:rowId xmlns:a16="http://schemas.microsoft.com/office/drawing/2014/main" val="2104678980"/>
                      </a:ext>
                    </a:extLst>
                  </a:tr>
                  <a:tr h="516994">
                    <a:tc>
                      <a:txBody>
                        <a:bodyPr/>
                        <a:lstStyle/>
                        <a:p>
                          <a:r>
                            <a:rPr lang="tr-TR" sz="1600"/>
                            <a:t>3</a:t>
                          </a:r>
                        </a:p>
                      </a:txBody>
                      <a:tcPr anchor="ctr"/>
                    </a:tc>
                    <a:tc>
                      <a:txBody>
                        <a:bodyPr/>
                        <a:lstStyle/>
                        <a:p>
                          <a:r>
                            <a:rPr lang="tr-TR" sz="1600"/>
                            <a:t>Low</a:t>
                          </a:r>
                        </a:p>
                      </a:txBody>
                      <a:tcPr anchor="ctr"/>
                    </a:tc>
                    <a:tc>
                      <a:txBody>
                        <a:bodyPr/>
                        <a:lstStyle/>
                        <a:p>
                          <a:r>
                            <a:rPr lang="tr-TR" sz="1600"/>
                            <a:t>Med</a:t>
                          </a:r>
                        </a:p>
                      </a:txBody>
                      <a:tcPr anchor="ctr"/>
                    </a:tc>
                    <a:tc>
                      <a:txBody>
                        <a:bodyPr/>
                        <a:lstStyle/>
                        <a:p>
                          <a:r>
                            <a:rPr lang="tr-TR" sz="1600"/>
                            <a:t>Wet</a:t>
                          </a:r>
                        </a:p>
                      </a:txBody>
                      <a:tcPr anchor="ctr"/>
                    </a:tc>
                    <a:tc>
                      <a:txBody>
                        <a:bodyPr/>
                        <a:lstStyle/>
                        <a:p>
                          <a:r>
                            <a:rPr lang="tr-TR" sz="1600"/>
                            <a:t>Moderate</a:t>
                          </a:r>
                        </a:p>
                      </a:txBody>
                      <a:tcPr anchor="ctr"/>
                    </a:tc>
                    <a:tc>
                      <a:txBody>
                        <a:bodyPr/>
                        <a:lstStyle/>
                        <a:p>
                          <a:r>
                            <a:rPr lang="tr-TR" sz="1600" dirty="0"/>
                            <a:t>0.279</a:t>
                          </a:r>
                        </a:p>
                      </a:txBody>
                      <a:tcPr anchor="ctr"/>
                    </a:tc>
                    <a:extLst>
                      <a:ext uri="{0D108BD9-81ED-4DB2-BD59-A6C34878D82A}">
                        <a16:rowId xmlns:a16="http://schemas.microsoft.com/office/drawing/2014/main" val="1206387261"/>
                      </a:ext>
                    </a:extLst>
                  </a:tr>
                </a:tbl>
              </a:graphicData>
            </a:graphic>
          </p:graphicFrame>
        </mc:Choice>
        <mc:Fallback>
          <p:graphicFrame>
            <p:nvGraphicFramePr>
              <p:cNvPr id="5" name="Table 4">
                <a:extLst>
                  <a:ext uri="{FF2B5EF4-FFF2-40B4-BE49-F238E27FC236}">
                    <a16:creationId xmlns:a16="http://schemas.microsoft.com/office/drawing/2014/main" id="{7DE06746-9A3B-87D1-446A-F7967C6FBD82}"/>
                  </a:ext>
                </a:extLst>
              </p:cNvPr>
              <p:cNvGraphicFramePr>
                <a:graphicFrameLocks noGrp="1"/>
              </p:cNvGraphicFramePr>
              <p:nvPr>
                <p:extLst>
                  <p:ext uri="{D42A27DB-BD31-4B8C-83A1-F6EECF244321}">
                    <p14:modId xmlns:p14="http://schemas.microsoft.com/office/powerpoint/2010/main" val="3899045014"/>
                  </p:ext>
                </p:extLst>
              </p:nvPr>
            </p:nvGraphicFramePr>
            <p:xfrm>
              <a:off x="420110" y="3742925"/>
              <a:ext cx="4030068" cy="2316480"/>
            </p:xfrm>
            <a:graphic>
              <a:graphicData uri="http://schemas.openxmlformats.org/drawingml/2006/table">
                <a:tbl>
                  <a:tblPr firstRow="1" firstCol="1" bandRow="1">
                    <a:tableStyleId>{0E3FDE45-AF77-4B5C-9715-49D594BDF05E}</a:tableStyleId>
                  </a:tblPr>
                  <a:tblGrid>
                    <a:gridCol w="671678">
                      <a:extLst>
                        <a:ext uri="{9D8B030D-6E8A-4147-A177-3AD203B41FA5}">
                          <a16:colId xmlns:a16="http://schemas.microsoft.com/office/drawing/2014/main" val="2700611098"/>
                        </a:ext>
                      </a:extLst>
                    </a:gridCol>
                    <a:gridCol w="671678">
                      <a:extLst>
                        <a:ext uri="{9D8B030D-6E8A-4147-A177-3AD203B41FA5}">
                          <a16:colId xmlns:a16="http://schemas.microsoft.com/office/drawing/2014/main" val="3066668910"/>
                        </a:ext>
                      </a:extLst>
                    </a:gridCol>
                    <a:gridCol w="671678">
                      <a:extLst>
                        <a:ext uri="{9D8B030D-6E8A-4147-A177-3AD203B41FA5}">
                          <a16:colId xmlns:a16="http://schemas.microsoft.com/office/drawing/2014/main" val="2013842095"/>
                        </a:ext>
                      </a:extLst>
                    </a:gridCol>
                    <a:gridCol w="671678">
                      <a:extLst>
                        <a:ext uri="{9D8B030D-6E8A-4147-A177-3AD203B41FA5}">
                          <a16:colId xmlns:a16="http://schemas.microsoft.com/office/drawing/2014/main" val="157212711"/>
                        </a:ext>
                      </a:extLst>
                    </a:gridCol>
                    <a:gridCol w="671678">
                      <a:extLst>
                        <a:ext uri="{9D8B030D-6E8A-4147-A177-3AD203B41FA5}">
                          <a16:colId xmlns:a16="http://schemas.microsoft.com/office/drawing/2014/main" val="4084423964"/>
                        </a:ext>
                      </a:extLst>
                    </a:gridCol>
                    <a:gridCol w="671678">
                      <a:extLst>
                        <a:ext uri="{9D8B030D-6E8A-4147-A177-3AD203B41FA5}">
                          <a16:colId xmlns:a16="http://schemas.microsoft.com/office/drawing/2014/main" val="3946229585"/>
                        </a:ext>
                      </a:extLst>
                    </a:gridCol>
                  </a:tblGrid>
                  <a:tr h="822960">
                    <a:tc>
                      <a:txBody>
                        <a:bodyPr/>
                        <a:lstStyle/>
                        <a:p>
                          <a:r>
                            <a:rPr lang="tr-TR" sz="1600"/>
                            <a:t>Rule</a:t>
                          </a:r>
                        </a:p>
                      </a:txBody>
                      <a:tcPr anchor="ctr"/>
                    </a:tc>
                    <a:tc>
                      <a:txBody>
                        <a:bodyPr/>
                        <a:lstStyle/>
                        <a:p>
                          <a:r>
                            <a:rPr lang="tr-TR" sz="1600"/>
                            <a:t>Wind</a:t>
                          </a:r>
                        </a:p>
                      </a:txBody>
                      <a:tcPr anchor="ctr"/>
                    </a:tc>
                    <a:tc>
                      <a:txBody>
                        <a:bodyPr/>
                        <a:lstStyle/>
                        <a:p>
                          <a:r>
                            <a:rPr lang="en-US" sz="1600" dirty="0"/>
                            <a:t>Fire</a:t>
                          </a:r>
                          <a:endParaRPr lang="tr-TR" sz="1600" dirty="0"/>
                        </a:p>
                      </a:txBody>
                      <a:tcPr anchor="ctr"/>
                    </a:tc>
                    <a:tc>
                      <a:txBody>
                        <a:bodyPr/>
                        <a:lstStyle/>
                        <a:p>
                          <a:r>
                            <a:rPr lang="tr-TR" sz="1600" dirty="0" err="1"/>
                            <a:t>Moist</a:t>
                          </a:r>
                          <a:endParaRPr lang="tr-TR" sz="1600" dirty="0"/>
                        </a:p>
                      </a:txBody>
                      <a:tcPr anchor="ctr"/>
                    </a:tc>
                    <a:tc>
                      <a:txBody>
                        <a:bodyPr/>
                        <a:lstStyle/>
                        <a:p>
                          <a:r>
                            <a:rPr lang="tr-TR" sz="1600"/>
                            <a:t>THEN</a:t>
                          </a:r>
                        </a:p>
                      </a:txBody>
                      <a:tcPr anchor="ctr"/>
                    </a:tc>
                    <a:tc>
                      <a:txBody>
                        <a:bodyPr/>
                        <a:lstStyle/>
                        <a:p>
                          <a:endParaRPr lang="tr-TR"/>
                        </a:p>
                      </a:txBody>
                      <a:tcPr anchor="ctr">
                        <a:blipFill>
                          <a:blip r:embed="rId8"/>
                          <a:stretch>
                            <a:fillRect l="-502727" t="-741" r="-909" b="-191852"/>
                          </a:stretch>
                        </a:blipFill>
                      </a:tcPr>
                    </a:tc>
                    <a:extLst>
                      <a:ext uri="{0D108BD9-81ED-4DB2-BD59-A6C34878D82A}">
                        <a16:rowId xmlns:a16="http://schemas.microsoft.com/office/drawing/2014/main" val="3955784251"/>
                      </a:ext>
                    </a:extLst>
                  </a:tr>
                  <a:tr h="579120">
                    <a:tc>
                      <a:txBody>
                        <a:bodyPr/>
                        <a:lstStyle/>
                        <a:p>
                          <a:r>
                            <a:rPr lang="tr-TR" sz="1600" dirty="0"/>
                            <a:t>1</a:t>
                          </a:r>
                        </a:p>
                      </a:txBody>
                      <a:tcPr anchor="ctr"/>
                    </a:tc>
                    <a:tc>
                      <a:txBody>
                        <a:bodyPr/>
                        <a:lstStyle/>
                        <a:p>
                          <a:r>
                            <a:rPr lang="tr-TR" sz="1600"/>
                            <a:t>Med</a:t>
                          </a:r>
                        </a:p>
                      </a:txBody>
                      <a:tcPr anchor="ctr"/>
                    </a:tc>
                    <a:tc>
                      <a:txBody>
                        <a:bodyPr/>
                        <a:lstStyle/>
                        <a:p>
                          <a:r>
                            <a:rPr lang="tr-TR" sz="1600"/>
                            <a:t>Med</a:t>
                          </a:r>
                        </a:p>
                      </a:txBody>
                      <a:tcPr anchor="ctr"/>
                    </a:tc>
                    <a:tc>
                      <a:txBody>
                        <a:bodyPr/>
                        <a:lstStyle/>
                        <a:p>
                          <a:r>
                            <a:rPr lang="tr-TR" sz="1600"/>
                            <a:t>Dry</a:t>
                          </a:r>
                        </a:p>
                      </a:txBody>
                      <a:tcPr anchor="ctr"/>
                    </a:tc>
                    <a:tc>
                      <a:txBody>
                        <a:bodyPr/>
                        <a:lstStyle/>
                        <a:p>
                          <a:r>
                            <a:rPr lang="tr-TR" sz="1600"/>
                            <a:t>Very High</a:t>
                          </a:r>
                        </a:p>
                      </a:txBody>
                      <a:tcPr anchor="ctr"/>
                    </a:tc>
                    <a:tc>
                      <a:txBody>
                        <a:bodyPr/>
                        <a:lstStyle/>
                        <a:p>
                          <a:r>
                            <a:rPr lang="tr-TR" sz="1600"/>
                            <a:t>0.972</a:t>
                          </a:r>
                        </a:p>
                      </a:txBody>
                      <a:tcPr anchor="ctr"/>
                    </a:tc>
                    <a:extLst>
                      <a:ext uri="{0D108BD9-81ED-4DB2-BD59-A6C34878D82A}">
                        <a16:rowId xmlns:a16="http://schemas.microsoft.com/office/drawing/2014/main" val="3508356608"/>
                      </a:ext>
                    </a:extLst>
                  </a:tr>
                  <a:tr h="335280">
                    <a:tc>
                      <a:txBody>
                        <a:bodyPr/>
                        <a:lstStyle/>
                        <a:p>
                          <a:r>
                            <a:rPr lang="tr-TR" sz="1600"/>
                            <a:t>2</a:t>
                          </a:r>
                        </a:p>
                      </a:txBody>
                      <a:tcPr anchor="ctr"/>
                    </a:tc>
                    <a:tc>
                      <a:txBody>
                        <a:bodyPr/>
                        <a:lstStyle/>
                        <a:p>
                          <a:r>
                            <a:rPr lang="tr-TR" sz="1600"/>
                            <a:t>Med</a:t>
                          </a:r>
                        </a:p>
                      </a:txBody>
                      <a:tcPr anchor="ctr"/>
                    </a:tc>
                    <a:tc>
                      <a:txBody>
                        <a:bodyPr/>
                        <a:lstStyle/>
                        <a:p>
                          <a:r>
                            <a:rPr lang="tr-TR" sz="1600"/>
                            <a:t>High</a:t>
                          </a:r>
                        </a:p>
                      </a:txBody>
                      <a:tcPr anchor="ctr"/>
                    </a:tc>
                    <a:tc>
                      <a:txBody>
                        <a:bodyPr/>
                        <a:lstStyle/>
                        <a:p>
                          <a:r>
                            <a:rPr lang="tr-TR" sz="1600"/>
                            <a:t>Mod</a:t>
                          </a:r>
                        </a:p>
                      </a:txBody>
                      <a:tcPr anchor="ctr"/>
                    </a:tc>
                    <a:tc>
                      <a:txBody>
                        <a:bodyPr/>
                        <a:lstStyle/>
                        <a:p>
                          <a:r>
                            <a:rPr lang="tr-TR" sz="1600"/>
                            <a:t>High</a:t>
                          </a:r>
                        </a:p>
                      </a:txBody>
                      <a:tcPr anchor="ctr"/>
                    </a:tc>
                    <a:tc>
                      <a:txBody>
                        <a:bodyPr/>
                        <a:lstStyle/>
                        <a:p>
                          <a:r>
                            <a:rPr lang="tr-TR" sz="1600"/>
                            <a:t>0.736</a:t>
                          </a:r>
                        </a:p>
                      </a:txBody>
                      <a:tcPr anchor="ctr"/>
                    </a:tc>
                    <a:extLst>
                      <a:ext uri="{0D108BD9-81ED-4DB2-BD59-A6C34878D82A}">
                        <a16:rowId xmlns:a16="http://schemas.microsoft.com/office/drawing/2014/main" val="2104678980"/>
                      </a:ext>
                    </a:extLst>
                  </a:tr>
                  <a:tr h="579120">
                    <a:tc>
                      <a:txBody>
                        <a:bodyPr/>
                        <a:lstStyle/>
                        <a:p>
                          <a:r>
                            <a:rPr lang="tr-TR" sz="1600"/>
                            <a:t>3</a:t>
                          </a:r>
                        </a:p>
                      </a:txBody>
                      <a:tcPr anchor="ctr"/>
                    </a:tc>
                    <a:tc>
                      <a:txBody>
                        <a:bodyPr/>
                        <a:lstStyle/>
                        <a:p>
                          <a:r>
                            <a:rPr lang="tr-TR" sz="1600"/>
                            <a:t>Low</a:t>
                          </a:r>
                        </a:p>
                      </a:txBody>
                      <a:tcPr anchor="ctr"/>
                    </a:tc>
                    <a:tc>
                      <a:txBody>
                        <a:bodyPr/>
                        <a:lstStyle/>
                        <a:p>
                          <a:r>
                            <a:rPr lang="tr-TR" sz="1600"/>
                            <a:t>Med</a:t>
                          </a:r>
                        </a:p>
                      </a:txBody>
                      <a:tcPr anchor="ctr"/>
                    </a:tc>
                    <a:tc>
                      <a:txBody>
                        <a:bodyPr/>
                        <a:lstStyle/>
                        <a:p>
                          <a:r>
                            <a:rPr lang="tr-TR" sz="1600"/>
                            <a:t>Wet</a:t>
                          </a:r>
                        </a:p>
                      </a:txBody>
                      <a:tcPr anchor="ctr"/>
                    </a:tc>
                    <a:tc>
                      <a:txBody>
                        <a:bodyPr/>
                        <a:lstStyle/>
                        <a:p>
                          <a:r>
                            <a:rPr lang="tr-TR" sz="1600"/>
                            <a:t>Moderate</a:t>
                          </a:r>
                        </a:p>
                      </a:txBody>
                      <a:tcPr anchor="ctr"/>
                    </a:tc>
                    <a:tc>
                      <a:txBody>
                        <a:bodyPr/>
                        <a:lstStyle/>
                        <a:p>
                          <a:r>
                            <a:rPr lang="tr-TR" sz="1600" dirty="0"/>
                            <a:t>0.279</a:t>
                          </a:r>
                        </a:p>
                      </a:txBody>
                      <a:tcPr anchor="ctr"/>
                    </a:tc>
                    <a:extLst>
                      <a:ext uri="{0D108BD9-81ED-4DB2-BD59-A6C34878D82A}">
                        <a16:rowId xmlns:a16="http://schemas.microsoft.com/office/drawing/2014/main" val="1206387261"/>
                      </a:ext>
                    </a:extLst>
                  </a:tr>
                </a:tbl>
              </a:graphicData>
            </a:graphic>
          </p:graphicFrame>
        </mc:Fallback>
      </mc:AlternateContent>
      <p:graphicFrame>
        <p:nvGraphicFramePr>
          <p:cNvPr id="10" name="Table 9">
            <a:extLst>
              <a:ext uri="{FF2B5EF4-FFF2-40B4-BE49-F238E27FC236}">
                <a16:creationId xmlns:a16="http://schemas.microsoft.com/office/drawing/2014/main" id="{A8F92E17-95EF-30BA-FC26-DBAD585C32DE}"/>
              </a:ext>
            </a:extLst>
          </p:cNvPr>
          <p:cNvGraphicFramePr>
            <a:graphicFrameLocks noGrp="1"/>
          </p:cNvGraphicFramePr>
          <p:nvPr>
            <p:extLst>
              <p:ext uri="{D42A27DB-BD31-4B8C-83A1-F6EECF244321}">
                <p14:modId xmlns:p14="http://schemas.microsoft.com/office/powerpoint/2010/main" val="544317804"/>
              </p:ext>
            </p:extLst>
          </p:nvPr>
        </p:nvGraphicFramePr>
        <p:xfrm>
          <a:off x="5259632" y="3733914"/>
          <a:ext cx="3322470" cy="1737360"/>
        </p:xfrm>
        <a:graphic>
          <a:graphicData uri="http://schemas.openxmlformats.org/drawingml/2006/table">
            <a:tbl>
              <a:tblPr firstRow="1" firstCol="1" bandRow="1">
                <a:tableStyleId>{0E3FDE45-AF77-4B5C-9715-49D594BDF05E}</a:tableStyleId>
              </a:tblPr>
              <a:tblGrid>
                <a:gridCol w="1246928">
                  <a:extLst>
                    <a:ext uri="{9D8B030D-6E8A-4147-A177-3AD203B41FA5}">
                      <a16:colId xmlns:a16="http://schemas.microsoft.com/office/drawing/2014/main" val="2849703592"/>
                    </a:ext>
                  </a:extLst>
                </a:gridCol>
                <a:gridCol w="968052">
                  <a:extLst>
                    <a:ext uri="{9D8B030D-6E8A-4147-A177-3AD203B41FA5}">
                      <a16:colId xmlns:a16="http://schemas.microsoft.com/office/drawing/2014/main" val="1684635362"/>
                    </a:ext>
                  </a:extLst>
                </a:gridCol>
                <a:gridCol w="1107490">
                  <a:extLst>
                    <a:ext uri="{9D8B030D-6E8A-4147-A177-3AD203B41FA5}">
                      <a16:colId xmlns:a16="http://schemas.microsoft.com/office/drawing/2014/main" val="1324277497"/>
                    </a:ext>
                  </a:extLst>
                </a:gridCol>
              </a:tblGrid>
              <a:tr h="0">
                <a:tc>
                  <a:txBody>
                    <a:bodyPr/>
                    <a:lstStyle/>
                    <a:p>
                      <a:r>
                        <a:rPr lang="tr-TR"/>
                        <a:t>Priority Level</a:t>
                      </a:r>
                    </a:p>
                  </a:txBody>
                  <a:tcPr anchor="ctr"/>
                </a:tc>
                <a:tc>
                  <a:txBody>
                    <a:bodyPr/>
                    <a:lstStyle/>
                    <a:p>
                      <a:r>
                        <a:rPr lang="tr-TR"/>
                        <a:t>c</a:t>
                      </a:r>
                    </a:p>
                  </a:txBody>
                  <a:tcPr anchor="ctr"/>
                </a:tc>
                <a:tc>
                  <a:txBody>
                    <a:bodyPr/>
                    <a:lstStyle/>
                    <a:p>
                      <a:r>
                        <a:rPr lang="el-GR"/>
                        <a:t>μ (</a:t>
                      </a:r>
                      <a:r>
                        <a:rPr lang="tr-TR"/>
                        <a:t>Weight)</a:t>
                      </a:r>
                    </a:p>
                  </a:txBody>
                  <a:tcPr anchor="ctr"/>
                </a:tc>
                <a:extLst>
                  <a:ext uri="{0D108BD9-81ED-4DB2-BD59-A6C34878D82A}">
                    <a16:rowId xmlns:a16="http://schemas.microsoft.com/office/drawing/2014/main" val="184466174"/>
                  </a:ext>
                </a:extLst>
              </a:tr>
              <a:tr h="0">
                <a:tc>
                  <a:txBody>
                    <a:bodyPr/>
                    <a:lstStyle/>
                    <a:p>
                      <a:r>
                        <a:rPr lang="tr-TR"/>
                        <a:t>Very High</a:t>
                      </a:r>
                    </a:p>
                  </a:txBody>
                  <a:tcPr anchor="ctr"/>
                </a:tc>
                <a:tc>
                  <a:txBody>
                    <a:bodyPr/>
                    <a:lstStyle/>
                    <a:p>
                      <a:r>
                        <a:rPr lang="tr-TR"/>
                        <a:t>0.9</a:t>
                      </a:r>
                    </a:p>
                  </a:txBody>
                  <a:tcPr anchor="ctr"/>
                </a:tc>
                <a:tc>
                  <a:txBody>
                    <a:bodyPr/>
                    <a:lstStyle/>
                    <a:p>
                      <a:r>
                        <a:rPr lang="tr-TR"/>
                        <a:t>0.972</a:t>
                      </a:r>
                    </a:p>
                  </a:txBody>
                  <a:tcPr anchor="ctr"/>
                </a:tc>
                <a:extLst>
                  <a:ext uri="{0D108BD9-81ED-4DB2-BD59-A6C34878D82A}">
                    <a16:rowId xmlns:a16="http://schemas.microsoft.com/office/drawing/2014/main" val="2612928006"/>
                  </a:ext>
                </a:extLst>
              </a:tr>
              <a:tr h="0">
                <a:tc>
                  <a:txBody>
                    <a:bodyPr/>
                    <a:lstStyle/>
                    <a:p>
                      <a:r>
                        <a:rPr lang="tr-TR"/>
                        <a:t>High</a:t>
                      </a:r>
                    </a:p>
                  </a:txBody>
                  <a:tcPr anchor="ctr"/>
                </a:tc>
                <a:tc>
                  <a:txBody>
                    <a:bodyPr/>
                    <a:lstStyle/>
                    <a:p>
                      <a:r>
                        <a:rPr lang="tr-TR"/>
                        <a:t>0.7</a:t>
                      </a:r>
                    </a:p>
                  </a:txBody>
                  <a:tcPr anchor="ctr"/>
                </a:tc>
                <a:tc>
                  <a:txBody>
                    <a:bodyPr/>
                    <a:lstStyle/>
                    <a:p>
                      <a:r>
                        <a:rPr lang="tr-TR"/>
                        <a:t>0.736</a:t>
                      </a:r>
                    </a:p>
                  </a:txBody>
                  <a:tcPr anchor="ctr"/>
                </a:tc>
                <a:extLst>
                  <a:ext uri="{0D108BD9-81ED-4DB2-BD59-A6C34878D82A}">
                    <a16:rowId xmlns:a16="http://schemas.microsoft.com/office/drawing/2014/main" val="3562335539"/>
                  </a:ext>
                </a:extLst>
              </a:tr>
              <a:tr h="0">
                <a:tc>
                  <a:txBody>
                    <a:bodyPr/>
                    <a:lstStyle/>
                    <a:p>
                      <a:r>
                        <a:rPr lang="tr-TR"/>
                        <a:t>Moderate</a:t>
                      </a:r>
                    </a:p>
                  </a:txBody>
                  <a:tcPr anchor="ctr"/>
                </a:tc>
                <a:tc>
                  <a:txBody>
                    <a:bodyPr/>
                    <a:lstStyle/>
                    <a:p>
                      <a:r>
                        <a:rPr lang="tr-TR"/>
                        <a:t>0.5</a:t>
                      </a:r>
                    </a:p>
                  </a:txBody>
                  <a:tcPr anchor="ctr"/>
                </a:tc>
                <a:tc>
                  <a:txBody>
                    <a:bodyPr/>
                    <a:lstStyle/>
                    <a:p>
                      <a:r>
                        <a:rPr lang="tr-TR" dirty="0"/>
                        <a:t>0.279</a:t>
                      </a:r>
                    </a:p>
                  </a:txBody>
                  <a:tcPr anchor="ctr"/>
                </a:tc>
                <a:extLst>
                  <a:ext uri="{0D108BD9-81ED-4DB2-BD59-A6C34878D82A}">
                    <a16:rowId xmlns:a16="http://schemas.microsoft.com/office/drawing/2014/main" val="2147647159"/>
                  </a:ext>
                </a:extLst>
              </a:tr>
            </a:tbl>
          </a:graphicData>
        </a:graphic>
      </p:graphicFrame>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0782ECF-2C0C-41FD-9FE0-3C07C4BC82B9}"/>
                  </a:ext>
                </a:extLst>
              </p:cNvPr>
              <p:cNvSpPr txBox="1"/>
              <p:nvPr/>
            </p:nvSpPr>
            <p:spPr>
              <a:xfrm>
                <a:off x="5172766" y="5705013"/>
                <a:ext cx="5067093" cy="435312"/>
              </a:xfrm>
              <a:prstGeom prst="rect">
                <a:avLst/>
              </a:prstGeom>
              <a:noFill/>
            </p:spPr>
            <p:txBody>
              <a:bodyPr wrap="none" lIns="0" tIns="0" rIns="0" bIns="0" rtlCol="0">
                <a:spAutoFit/>
              </a:bodyPr>
              <a:lstStyle/>
              <a:p>
                <a14:m>
                  <m:oMath xmlns:m="http://schemas.openxmlformats.org/officeDocument/2006/math">
                    <m:r>
                      <m:rPr>
                        <m:nor/>
                      </m:rPr>
                      <a:rPr lang="tr-TR" smtClean="0"/>
                      <m:t>Crisp</m:t>
                    </m:r>
                    <m:r>
                      <m:rPr>
                        <m:nor/>
                      </m:rPr>
                      <a:rPr lang="tr-TR" smtClean="0"/>
                      <m:t> </m:t>
                    </m:r>
                    <m:r>
                      <m:rPr>
                        <m:nor/>
                      </m:rPr>
                      <a:rPr lang="tr-TR" smtClean="0"/>
                      <m:t>Output</m:t>
                    </m:r>
                    <m:r>
                      <m:rPr>
                        <m:nor/>
                      </m:rPr>
                      <a:rPr lang="en-US" b="0" i="0" smtClean="0"/>
                      <m:t>= </m:t>
                    </m:r>
                    <m:f>
                      <m:fPr>
                        <m:ctrlPr>
                          <a:rPr lang="en-US" b="0" i="1" smtClean="0">
                            <a:latin typeface="Cambria Math" panose="02040503050406030204" pitchFamily="18" charset="0"/>
                          </a:rPr>
                        </m:ctrlPr>
                      </m:fPr>
                      <m:num>
                        <m:r>
                          <m:rPr>
                            <m:nor/>
                          </m:rPr>
                          <a:rPr lang="tr-TR"/>
                          <m:t>0.9⋅0.972+0.7⋅0.736+0.5⋅0.279</m:t>
                        </m:r>
                      </m:num>
                      <m:den>
                        <m:r>
                          <m:rPr>
                            <m:nor/>
                          </m:rPr>
                          <a:rPr lang="tr-TR"/>
                          <m:t>0.972+0.736+0.279</m:t>
                        </m:r>
                      </m:den>
                    </m:f>
                    <m:r>
                      <a:rPr lang="en-US" b="0" i="1" smtClean="0">
                        <a:latin typeface="Cambria Math" panose="02040503050406030204" pitchFamily="18" charset="0"/>
                      </a:rPr>
                      <m:t>=0.76</m:t>
                    </m:r>
                  </m:oMath>
                </a14:m>
                <a:r>
                  <a:rPr lang="en-US" dirty="0"/>
                  <a:t> </a:t>
                </a:r>
                <a:endParaRPr lang="tr-TR" dirty="0"/>
              </a:p>
            </p:txBody>
          </p:sp>
        </mc:Choice>
        <mc:Fallback>
          <p:sp>
            <p:nvSpPr>
              <p:cNvPr id="14" name="TextBox 13">
                <a:extLst>
                  <a:ext uri="{FF2B5EF4-FFF2-40B4-BE49-F238E27FC236}">
                    <a16:creationId xmlns:a16="http://schemas.microsoft.com/office/drawing/2014/main" id="{D0782ECF-2C0C-41FD-9FE0-3C07C4BC82B9}"/>
                  </a:ext>
                </a:extLst>
              </p:cNvPr>
              <p:cNvSpPr txBox="1">
                <a:spLocks noRot="1" noChangeAspect="1" noMove="1" noResize="1" noEditPoints="1" noAdjustHandles="1" noChangeArrowheads="1" noChangeShapeType="1" noTextEdit="1"/>
              </p:cNvSpPr>
              <p:nvPr/>
            </p:nvSpPr>
            <p:spPr>
              <a:xfrm>
                <a:off x="5172766" y="5705013"/>
                <a:ext cx="5067093" cy="435312"/>
              </a:xfrm>
              <a:prstGeom prst="rect">
                <a:avLst/>
              </a:prstGeom>
              <a:blipFill>
                <a:blip r:embed="rId9"/>
                <a:stretch>
                  <a:fillRect b="-1408"/>
                </a:stretch>
              </a:blipFill>
            </p:spPr>
            <p:txBody>
              <a:bodyPr/>
              <a:lstStyle/>
              <a:p>
                <a:r>
                  <a:rPr lang="tr-TR">
                    <a:noFill/>
                  </a:rPr>
                  <a:t> </a:t>
                </a:r>
              </a:p>
            </p:txBody>
          </p:sp>
        </mc:Fallback>
      </mc:AlternateContent>
    </p:spTree>
    <p:extLst>
      <p:ext uri="{BB962C8B-B14F-4D97-AF65-F5344CB8AC3E}">
        <p14:creationId xmlns:p14="http://schemas.microsoft.com/office/powerpoint/2010/main" val="3392946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780E-0E19-E894-E8BB-D846BCD4B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CB2B7-E4A6-08CD-EBEF-0BD5EEF59EED}"/>
              </a:ext>
            </a:extLst>
          </p:cNvPr>
          <p:cNvSpPr>
            <a:spLocks noGrp="1"/>
          </p:cNvSpPr>
          <p:nvPr>
            <p:ph type="title"/>
          </p:nvPr>
        </p:nvSpPr>
        <p:spPr/>
        <p:txBody>
          <a:bodyPr/>
          <a:lstStyle/>
          <a:p>
            <a:r>
              <a:rPr lang="en-US" dirty="0"/>
              <a:t>Fuzzy Decision Layer : Example (Single Decision)</a:t>
            </a:r>
            <a:endParaRPr lang="tr-TR" dirty="0"/>
          </a:p>
        </p:txBody>
      </p:sp>
      <p:sp>
        <p:nvSpPr>
          <p:cNvPr id="4" name="Slide Number Placeholder 3">
            <a:extLst>
              <a:ext uri="{FF2B5EF4-FFF2-40B4-BE49-F238E27FC236}">
                <a16:creationId xmlns:a16="http://schemas.microsoft.com/office/drawing/2014/main" id="{C2DA4CB4-86D7-4EAF-B359-4E2DA03E5E3E}"/>
              </a:ext>
            </a:extLst>
          </p:cNvPr>
          <p:cNvSpPr>
            <a:spLocks noGrp="1"/>
          </p:cNvSpPr>
          <p:nvPr>
            <p:ph type="sldNum" sz="quarter" idx="12"/>
          </p:nvPr>
        </p:nvSpPr>
        <p:spPr/>
        <p:txBody>
          <a:bodyPr/>
          <a:lstStyle/>
          <a:p>
            <a:fld id="{0F4FBE90-EB1A-4CD8-B134-C7A82858680F}" type="slidenum">
              <a:rPr lang="en-US" smtClean="0"/>
              <a:t>11</a:t>
            </a:fld>
            <a:endParaRPr lang="en-US"/>
          </a:p>
        </p:txBody>
      </p:sp>
      <p:graphicFrame>
        <p:nvGraphicFramePr>
          <p:cNvPr id="3" name="Table 2">
            <a:extLst>
              <a:ext uri="{FF2B5EF4-FFF2-40B4-BE49-F238E27FC236}">
                <a16:creationId xmlns:a16="http://schemas.microsoft.com/office/drawing/2014/main" id="{5129D70C-E9F8-E7E8-AEC9-5FBB59A4E8BC}"/>
              </a:ext>
            </a:extLst>
          </p:cNvPr>
          <p:cNvGraphicFramePr>
            <a:graphicFrameLocks noGrp="1"/>
          </p:cNvGraphicFramePr>
          <p:nvPr>
            <p:extLst>
              <p:ext uri="{D42A27DB-BD31-4B8C-83A1-F6EECF244321}">
                <p14:modId xmlns:p14="http://schemas.microsoft.com/office/powerpoint/2010/main" val="2341304798"/>
              </p:ext>
            </p:extLst>
          </p:nvPr>
        </p:nvGraphicFramePr>
        <p:xfrm>
          <a:off x="100012" y="907256"/>
          <a:ext cx="4840287" cy="4845846"/>
        </p:xfrm>
        <a:graphic>
          <a:graphicData uri="http://schemas.openxmlformats.org/drawingml/2006/table">
            <a:tbl>
              <a:tblPr firstRow="1" bandRow="1">
                <a:tableStyleId>{21E4AEA4-8DFA-4A89-87EB-49C32662AFE0}</a:tableStyleId>
              </a:tblPr>
              <a:tblGrid>
                <a:gridCol w="1231781">
                  <a:extLst>
                    <a:ext uri="{9D8B030D-6E8A-4147-A177-3AD203B41FA5}">
                      <a16:colId xmlns:a16="http://schemas.microsoft.com/office/drawing/2014/main" val="1062511003"/>
                    </a:ext>
                  </a:extLst>
                </a:gridCol>
                <a:gridCol w="842628">
                  <a:extLst>
                    <a:ext uri="{9D8B030D-6E8A-4147-A177-3AD203B41FA5}">
                      <a16:colId xmlns:a16="http://schemas.microsoft.com/office/drawing/2014/main" val="2631560261"/>
                    </a:ext>
                  </a:extLst>
                </a:gridCol>
                <a:gridCol w="1141729">
                  <a:extLst>
                    <a:ext uri="{9D8B030D-6E8A-4147-A177-3AD203B41FA5}">
                      <a16:colId xmlns:a16="http://schemas.microsoft.com/office/drawing/2014/main" val="3811087177"/>
                    </a:ext>
                  </a:extLst>
                </a:gridCol>
                <a:gridCol w="1624149">
                  <a:extLst>
                    <a:ext uri="{9D8B030D-6E8A-4147-A177-3AD203B41FA5}">
                      <a16:colId xmlns:a16="http://schemas.microsoft.com/office/drawing/2014/main" val="129697913"/>
                    </a:ext>
                  </a:extLst>
                </a:gridCol>
              </a:tblGrid>
              <a:tr h="227249">
                <a:tc gridSpan="3">
                  <a:txBody>
                    <a:bodyPr/>
                    <a:lstStyle/>
                    <a:p>
                      <a:pPr algn="ctr">
                        <a:lnSpc>
                          <a:spcPct val="107000"/>
                        </a:lnSpc>
                        <a:spcAft>
                          <a:spcPts val="800"/>
                        </a:spcAft>
                        <a:buNone/>
                      </a:pPr>
                      <a:r>
                        <a:rPr lang="en-US" sz="1400" dirty="0">
                          <a:effectLst/>
                        </a:rPr>
                        <a:t>IF</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2"/>
                    </a:solidFill>
                  </a:tcPr>
                </a:tc>
                <a:tc hMerge="1">
                  <a:txBody>
                    <a:bodyPr/>
                    <a:lstStyle/>
                    <a:p>
                      <a:endParaRPr lang="tr-TR"/>
                    </a:p>
                  </a:txBody>
                  <a:tcPr/>
                </a:tc>
                <a:tc hMerge="1">
                  <a:txBody>
                    <a:bodyPr/>
                    <a:lstStyle/>
                    <a:p>
                      <a:endParaRPr lang="tr-TR"/>
                    </a:p>
                  </a:txBody>
                  <a:tcPr/>
                </a:tc>
                <a:tc>
                  <a:txBody>
                    <a:bodyPr/>
                    <a:lstStyle/>
                    <a:p>
                      <a:pPr algn="ctr">
                        <a:lnSpc>
                          <a:spcPct val="107000"/>
                        </a:lnSpc>
                        <a:spcAft>
                          <a:spcPts val="800"/>
                        </a:spcAft>
                        <a:buNone/>
                      </a:pPr>
                      <a:r>
                        <a:rPr lang="en-US" sz="1400">
                          <a:effectLst/>
                        </a:rPr>
                        <a:t>THEN</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62952696"/>
                  </a:ext>
                </a:extLst>
              </a:tr>
              <a:tr h="702779">
                <a:tc>
                  <a:txBody>
                    <a:bodyPr/>
                    <a:lstStyle/>
                    <a:p>
                      <a:pPr algn="ctr">
                        <a:lnSpc>
                          <a:spcPct val="107000"/>
                        </a:lnSpc>
                        <a:spcAft>
                          <a:spcPts val="800"/>
                        </a:spcAft>
                        <a:buNone/>
                      </a:pPr>
                      <a:r>
                        <a:rPr lang="en-US" sz="1400" b="1" dirty="0">
                          <a:solidFill>
                            <a:schemeClr val="bg1"/>
                          </a:solidFill>
                          <a:effectLst/>
                        </a:rPr>
                        <a:t>Wind Speed</a:t>
                      </a:r>
                      <a:endParaRPr lang="tr-TR" sz="14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2"/>
                    </a:solidFill>
                  </a:tcPr>
                </a:tc>
                <a:tc>
                  <a:txBody>
                    <a:bodyPr/>
                    <a:lstStyle/>
                    <a:p>
                      <a:pPr algn="ctr">
                        <a:lnSpc>
                          <a:spcPct val="107000"/>
                        </a:lnSpc>
                        <a:spcAft>
                          <a:spcPts val="800"/>
                        </a:spcAft>
                        <a:buNone/>
                      </a:pPr>
                      <a:r>
                        <a:rPr lang="en-US" sz="1400" b="1" dirty="0">
                          <a:solidFill>
                            <a:schemeClr val="bg1"/>
                          </a:solidFill>
                          <a:effectLst/>
                        </a:rPr>
                        <a:t>Fire Intensity</a:t>
                      </a:r>
                      <a:endParaRPr lang="tr-TR" sz="14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2"/>
                    </a:solidFill>
                  </a:tcPr>
                </a:tc>
                <a:tc>
                  <a:txBody>
                    <a:bodyPr/>
                    <a:lstStyle/>
                    <a:p>
                      <a:pPr algn="ctr">
                        <a:lnSpc>
                          <a:spcPct val="107000"/>
                        </a:lnSpc>
                        <a:spcAft>
                          <a:spcPts val="800"/>
                        </a:spcAft>
                        <a:buNone/>
                      </a:pPr>
                      <a:r>
                        <a:rPr lang="en-US" sz="1400" b="1" dirty="0">
                          <a:solidFill>
                            <a:schemeClr val="bg1"/>
                          </a:solidFill>
                          <a:effectLst/>
                        </a:rPr>
                        <a:t>Fuel Moisture</a:t>
                      </a:r>
                      <a:endParaRPr lang="tr-TR" sz="14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2"/>
                    </a:solidFill>
                  </a:tcPr>
                </a:tc>
                <a:tc>
                  <a:txBody>
                    <a:bodyPr/>
                    <a:lstStyle/>
                    <a:p>
                      <a:pPr algn="ctr">
                        <a:lnSpc>
                          <a:spcPct val="107000"/>
                        </a:lnSpc>
                        <a:spcAft>
                          <a:spcPts val="800"/>
                        </a:spcAft>
                        <a:buNone/>
                      </a:pPr>
                      <a:r>
                        <a:rPr lang="en-US" sz="1400" b="1" dirty="0">
                          <a:solidFill>
                            <a:schemeClr val="bg1"/>
                          </a:solidFill>
                          <a:effectLst/>
                        </a:rPr>
                        <a:t>Suppression Priority</a:t>
                      </a:r>
                      <a:endParaRPr lang="tr-TR" sz="14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2"/>
                    </a:solidFill>
                  </a:tcPr>
                </a:tc>
                <a:extLst>
                  <a:ext uri="{0D108BD9-81ED-4DB2-BD59-A6C34878D82A}">
                    <a16:rowId xmlns:a16="http://schemas.microsoft.com/office/drawing/2014/main" val="938748088"/>
                  </a:ext>
                </a:extLst>
              </a:tr>
              <a:tr h="227249">
                <a:tc>
                  <a:txBody>
                    <a:bodyPr/>
                    <a:lstStyle/>
                    <a:p>
                      <a:pPr algn="ctr">
                        <a:lnSpc>
                          <a:spcPct val="107000"/>
                        </a:lnSpc>
                        <a:spcAft>
                          <a:spcPts val="8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Dry</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Very 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828107115"/>
                  </a:ext>
                </a:extLst>
              </a:tr>
              <a:tr h="227249">
                <a:tc>
                  <a:txBody>
                    <a:bodyPr/>
                    <a:lstStyle/>
                    <a:p>
                      <a:pPr algn="ctr">
                        <a:lnSpc>
                          <a:spcPct val="107000"/>
                        </a:lnSpc>
                        <a:spcAft>
                          <a:spcPts val="800"/>
                        </a:spcAft>
                        <a:buNone/>
                      </a:pPr>
                      <a:r>
                        <a:rPr lang="en-US" sz="1400">
                          <a:effectLst/>
                        </a:rPr>
                        <a:t>Medium</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Dry</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Very 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23579066"/>
                  </a:ext>
                </a:extLst>
              </a:tr>
              <a:tr h="465015">
                <a:tc>
                  <a:txBody>
                    <a:bodyPr/>
                    <a:lstStyle/>
                    <a:p>
                      <a:pPr algn="ctr">
                        <a:lnSpc>
                          <a:spcPct val="107000"/>
                        </a:lnSpc>
                        <a:spcAft>
                          <a:spcPts val="8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Medium</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Dry</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Very 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27125013"/>
                  </a:ext>
                </a:extLst>
              </a:tr>
              <a:tr h="465015">
                <a:tc>
                  <a:txBody>
                    <a:bodyPr/>
                    <a:lstStyle/>
                    <a:p>
                      <a:pPr algn="ctr">
                        <a:lnSpc>
                          <a:spcPct val="107000"/>
                        </a:lnSpc>
                        <a:spcAft>
                          <a:spcPts val="800"/>
                        </a:spcAft>
                        <a:buNone/>
                      </a:pPr>
                      <a:r>
                        <a:rPr lang="en-US" sz="1400" b="1" dirty="0">
                          <a:effectLst/>
                        </a:rPr>
                        <a:t>Medium</a:t>
                      </a:r>
                      <a:endParaRPr lang="tr-TR"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b="1" dirty="0">
                          <a:effectLst/>
                        </a:rPr>
                        <a:t>Medium</a:t>
                      </a:r>
                      <a:endParaRPr lang="tr-TR"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b="1" dirty="0">
                          <a:effectLst/>
                        </a:rPr>
                        <a:t>Dry</a:t>
                      </a:r>
                      <a:endParaRPr lang="tr-TR"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b="1" dirty="0">
                          <a:effectLst/>
                        </a:rPr>
                        <a:t>High</a:t>
                      </a:r>
                      <a:endParaRPr lang="tr-TR"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2786523"/>
                  </a:ext>
                </a:extLst>
              </a:tr>
              <a:tr h="227249">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Dry</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6854181"/>
                  </a:ext>
                </a:extLst>
              </a:tr>
              <a:tr h="465015">
                <a:tc>
                  <a:txBody>
                    <a:bodyPr/>
                    <a:lstStyle/>
                    <a:p>
                      <a:pPr algn="ctr">
                        <a:lnSpc>
                          <a:spcPct val="107000"/>
                        </a:lnSpc>
                        <a:spcAft>
                          <a:spcPts val="800"/>
                        </a:spcAft>
                        <a:buNone/>
                      </a:pPr>
                      <a:r>
                        <a:rPr lang="en-US" sz="1400">
                          <a:effectLst/>
                        </a:rPr>
                        <a:t>Medium</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Medium</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Moderate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14461022"/>
                  </a:ext>
                </a:extLst>
              </a:tr>
              <a:tr h="465015">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dirty="0">
                          <a:effectLst/>
                        </a:rPr>
                        <a:t>Medium</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Moderate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Moderate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344905508"/>
                  </a:ext>
                </a:extLst>
              </a:tr>
              <a:tr h="227249">
                <a:tc>
                  <a:txBody>
                    <a:bodyPr/>
                    <a:lstStyle/>
                    <a:p>
                      <a:pPr algn="ctr">
                        <a:lnSpc>
                          <a:spcPct val="107000"/>
                        </a:lnSpc>
                        <a:spcAft>
                          <a:spcPts val="800"/>
                        </a:spcAft>
                        <a:buNone/>
                      </a:pPr>
                      <a:r>
                        <a:rPr lang="en-US" sz="1400">
                          <a:effectLst/>
                        </a:rPr>
                        <a:t>Medium</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Moderate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Moderate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236748903"/>
                  </a:ext>
                </a:extLst>
              </a:tr>
              <a:tr h="465015">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Medium</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Wet</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Moderate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4002556"/>
                  </a:ext>
                </a:extLst>
              </a:tr>
              <a:tr h="227249">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Wet</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25906320"/>
                  </a:ext>
                </a:extLst>
              </a:tr>
              <a:tr h="227249">
                <a:tc>
                  <a:txBody>
                    <a:bodyPr/>
                    <a:lstStyle/>
                    <a:p>
                      <a:pPr algn="ctr">
                        <a:lnSpc>
                          <a:spcPct val="107000"/>
                        </a:lnSpc>
                        <a:spcAft>
                          <a:spcPts val="800"/>
                        </a:spcAft>
                        <a:buNone/>
                      </a:pPr>
                      <a:r>
                        <a:rPr lang="en-US" sz="1400">
                          <a:effectLst/>
                        </a:rPr>
                        <a:t>Medium</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Wet</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478249777"/>
                  </a:ext>
                </a:extLst>
              </a:tr>
              <a:tr h="227249">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a:effectLst/>
                        </a:rPr>
                        <a:t>Dry</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buNone/>
                      </a:pPr>
                      <a:r>
                        <a:rPr lang="en-US" sz="1400" dirty="0">
                          <a:effectLst/>
                        </a:rPr>
                        <a:t>Moderate</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2823826"/>
                  </a:ext>
                </a:extLst>
              </a:tr>
            </a:tbl>
          </a:graphicData>
        </a:graphic>
      </p:graphicFrame>
      <p:sp>
        <p:nvSpPr>
          <p:cNvPr id="5" name="TextBox 4">
            <a:extLst>
              <a:ext uri="{FF2B5EF4-FFF2-40B4-BE49-F238E27FC236}">
                <a16:creationId xmlns:a16="http://schemas.microsoft.com/office/drawing/2014/main" id="{17FC04CE-3F7B-D34B-3366-714F69F4590C}"/>
              </a:ext>
            </a:extLst>
          </p:cNvPr>
          <p:cNvSpPr txBox="1"/>
          <p:nvPr/>
        </p:nvSpPr>
        <p:spPr>
          <a:xfrm>
            <a:off x="1841500" y="543292"/>
            <a:ext cx="965329" cy="369332"/>
          </a:xfrm>
          <a:prstGeom prst="rect">
            <a:avLst/>
          </a:prstGeom>
          <a:noFill/>
        </p:spPr>
        <p:txBody>
          <a:bodyPr wrap="none" rtlCol="0">
            <a:spAutoFit/>
          </a:bodyPr>
          <a:lstStyle/>
          <a:p>
            <a:r>
              <a:rPr lang="en-US" b="1" dirty="0"/>
              <a:t>Rule Set</a:t>
            </a:r>
            <a:endParaRPr lang="tr-TR" b="1" dirty="0"/>
          </a:p>
        </p:txBody>
      </p:sp>
      <p:graphicFrame>
        <p:nvGraphicFramePr>
          <p:cNvPr id="6" name="Table 5">
            <a:extLst>
              <a:ext uri="{FF2B5EF4-FFF2-40B4-BE49-F238E27FC236}">
                <a16:creationId xmlns:a16="http://schemas.microsoft.com/office/drawing/2014/main" id="{FCCC6535-4F71-1650-DD21-694807715AD2}"/>
              </a:ext>
            </a:extLst>
          </p:cNvPr>
          <p:cNvGraphicFramePr>
            <a:graphicFrameLocks noGrp="1"/>
          </p:cNvGraphicFramePr>
          <p:nvPr>
            <p:extLst>
              <p:ext uri="{D42A27DB-BD31-4B8C-83A1-F6EECF244321}">
                <p14:modId xmlns:p14="http://schemas.microsoft.com/office/powerpoint/2010/main" val="2040667620"/>
              </p:ext>
            </p:extLst>
          </p:nvPr>
        </p:nvGraphicFramePr>
        <p:xfrm>
          <a:off x="5639581" y="3194826"/>
          <a:ext cx="1867094" cy="1319213"/>
        </p:xfrm>
        <a:graphic>
          <a:graphicData uri="http://schemas.openxmlformats.org/drawingml/2006/table">
            <a:tbl>
              <a:tblPr firstRow="1" bandRow="1">
                <a:tableStyleId>{21E4AEA4-8DFA-4A89-87EB-49C32662AFE0}</a:tableStyleId>
              </a:tblPr>
              <a:tblGrid>
                <a:gridCol w="933547">
                  <a:extLst>
                    <a:ext uri="{9D8B030D-6E8A-4147-A177-3AD203B41FA5}">
                      <a16:colId xmlns:a16="http://schemas.microsoft.com/office/drawing/2014/main" val="4294234701"/>
                    </a:ext>
                  </a:extLst>
                </a:gridCol>
                <a:gridCol w="933547">
                  <a:extLst>
                    <a:ext uri="{9D8B030D-6E8A-4147-A177-3AD203B41FA5}">
                      <a16:colId xmlns:a16="http://schemas.microsoft.com/office/drawing/2014/main" val="4291560982"/>
                    </a:ext>
                  </a:extLst>
                </a:gridCol>
              </a:tblGrid>
              <a:tr h="0">
                <a:tc>
                  <a:txBody>
                    <a:bodyPr/>
                    <a:lstStyle/>
                    <a:p>
                      <a:pPr algn="just">
                        <a:lnSpc>
                          <a:spcPct val="107000"/>
                        </a:lnSpc>
                        <a:spcBef>
                          <a:spcPts val="600"/>
                        </a:spcBef>
                        <a:spcAft>
                          <a:spcPts val="600"/>
                        </a:spcAft>
                        <a:buNone/>
                      </a:pPr>
                      <a:r>
                        <a:rPr lang="en-US" sz="1400" dirty="0">
                          <a:effectLst/>
                        </a:rPr>
                        <a:t>Output Fuzzy Set</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US" sz="1400" dirty="0">
                          <a:effectLst/>
                        </a:rPr>
                        <a:t>Center (c)</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3403068"/>
                  </a:ext>
                </a:extLst>
              </a:tr>
              <a:tr h="0">
                <a:tc>
                  <a:txBody>
                    <a:bodyPr/>
                    <a:lstStyle/>
                    <a:p>
                      <a:pPr algn="just">
                        <a:lnSpc>
                          <a:spcPct val="107000"/>
                        </a:lnSpc>
                        <a:spcBef>
                          <a:spcPts val="600"/>
                        </a:spcBef>
                        <a:spcAft>
                          <a:spcPts val="600"/>
                        </a:spcAft>
                        <a:buNone/>
                      </a:pPr>
                      <a:r>
                        <a:rPr lang="en-US" sz="1400">
                          <a:effectLst/>
                        </a:rPr>
                        <a:t>Low</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US" sz="1400" dirty="0">
                          <a:effectLst/>
                        </a:rPr>
                        <a:t>0.3</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94610766"/>
                  </a:ext>
                </a:extLst>
              </a:tr>
              <a:tr h="0">
                <a:tc>
                  <a:txBody>
                    <a:bodyPr/>
                    <a:lstStyle/>
                    <a:p>
                      <a:pPr algn="just">
                        <a:lnSpc>
                          <a:spcPct val="107000"/>
                        </a:lnSpc>
                        <a:spcBef>
                          <a:spcPts val="600"/>
                        </a:spcBef>
                        <a:spcAft>
                          <a:spcPts val="600"/>
                        </a:spcAft>
                        <a:buNone/>
                      </a:pPr>
                      <a:r>
                        <a:rPr lang="en-US" sz="1400">
                          <a:effectLst/>
                        </a:rPr>
                        <a:t>Moderate</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US" sz="1400" dirty="0">
                          <a:effectLst/>
                        </a:rPr>
                        <a:t>0.5</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18725158"/>
                  </a:ext>
                </a:extLst>
              </a:tr>
              <a:tr h="0">
                <a:tc>
                  <a:txBody>
                    <a:bodyPr/>
                    <a:lstStyle/>
                    <a:p>
                      <a:pPr algn="just">
                        <a:lnSpc>
                          <a:spcPct val="107000"/>
                        </a:lnSpc>
                        <a:spcBef>
                          <a:spcPts val="600"/>
                        </a:spcBef>
                        <a:spcAft>
                          <a:spcPts val="600"/>
                        </a:spcAft>
                        <a:buNone/>
                      </a:pPr>
                      <a:r>
                        <a:rPr lang="en-US" sz="1400">
                          <a:effectLst/>
                        </a:rPr>
                        <a:t>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US" sz="1400">
                          <a:effectLst/>
                        </a:rPr>
                        <a:t>0.7</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79695619"/>
                  </a:ext>
                </a:extLst>
              </a:tr>
              <a:tr h="0">
                <a:tc>
                  <a:txBody>
                    <a:bodyPr/>
                    <a:lstStyle/>
                    <a:p>
                      <a:pPr algn="just">
                        <a:lnSpc>
                          <a:spcPct val="107000"/>
                        </a:lnSpc>
                        <a:spcBef>
                          <a:spcPts val="600"/>
                        </a:spcBef>
                        <a:spcAft>
                          <a:spcPts val="600"/>
                        </a:spcAft>
                        <a:buNone/>
                      </a:pPr>
                      <a:r>
                        <a:rPr lang="en-US" sz="1400">
                          <a:effectLst/>
                        </a:rPr>
                        <a:t>Very High</a:t>
                      </a:r>
                      <a:endParaRPr lang="tr-TR"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US" sz="1400" dirty="0">
                          <a:effectLst/>
                        </a:rPr>
                        <a:t>0.9</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88404682"/>
                  </a:ext>
                </a:extLst>
              </a:tr>
            </a:tbl>
          </a:graphicData>
        </a:graphic>
      </p:graphicFrame>
      <p:sp>
        <p:nvSpPr>
          <p:cNvPr id="10" name="TextBox 9">
            <a:extLst>
              <a:ext uri="{FF2B5EF4-FFF2-40B4-BE49-F238E27FC236}">
                <a16:creationId xmlns:a16="http://schemas.microsoft.com/office/drawing/2014/main" id="{D34D0400-D978-6A78-8A17-3088467A3033}"/>
              </a:ext>
            </a:extLst>
          </p:cNvPr>
          <p:cNvSpPr txBox="1"/>
          <p:nvPr/>
        </p:nvSpPr>
        <p:spPr>
          <a:xfrm>
            <a:off x="5879906" y="2825496"/>
            <a:ext cx="1537087" cy="369332"/>
          </a:xfrm>
          <a:prstGeom prst="rect">
            <a:avLst/>
          </a:prstGeom>
          <a:noFill/>
        </p:spPr>
        <p:txBody>
          <a:bodyPr wrap="none" rtlCol="0">
            <a:spAutoFit/>
          </a:bodyPr>
          <a:lstStyle/>
          <a:p>
            <a:r>
              <a:rPr lang="en-US" b="1" dirty="0"/>
              <a:t>Output Scores</a:t>
            </a:r>
            <a:endParaRPr lang="tr-TR" b="1" dirty="0"/>
          </a:p>
        </p:txBody>
      </p:sp>
      <p:sp>
        <p:nvSpPr>
          <p:cNvPr id="13" name="Right Brace 12">
            <a:extLst>
              <a:ext uri="{FF2B5EF4-FFF2-40B4-BE49-F238E27FC236}">
                <a16:creationId xmlns:a16="http://schemas.microsoft.com/office/drawing/2014/main" id="{4BF77B94-6A52-B1E2-4235-C336F5E8CEB0}"/>
              </a:ext>
            </a:extLst>
          </p:cNvPr>
          <p:cNvSpPr/>
          <p:nvPr/>
        </p:nvSpPr>
        <p:spPr>
          <a:xfrm>
            <a:off x="4940299" y="1841500"/>
            <a:ext cx="609601" cy="391160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14" name="Right Brace 13">
            <a:extLst>
              <a:ext uri="{FF2B5EF4-FFF2-40B4-BE49-F238E27FC236}">
                <a16:creationId xmlns:a16="http://schemas.microsoft.com/office/drawing/2014/main" id="{C669BAAE-E9FF-F8B8-A03B-46904354647F}"/>
              </a:ext>
            </a:extLst>
          </p:cNvPr>
          <p:cNvSpPr/>
          <p:nvPr/>
        </p:nvSpPr>
        <p:spPr>
          <a:xfrm>
            <a:off x="7596356" y="3194828"/>
            <a:ext cx="609601" cy="131921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graphicFrame>
        <p:nvGraphicFramePr>
          <p:cNvPr id="16" name="Table 15">
            <a:extLst>
              <a:ext uri="{FF2B5EF4-FFF2-40B4-BE49-F238E27FC236}">
                <a16:creationId xmlns:a16="http://schemas.microsoft.com/office/drawing/2014/main" id="{4003CF53-4728-C585-482C-D7358FD33826}"/>
              </a:ext>
            </a:extLst>
          </p:cNvPr>
          <p:cNvGraphicFramePr>
            <a:graphicFrameLocks noGrp="1"/>
          </p:cNvGraphicFramePr>
          <p:nvPr>
            <p:extLst>
              <p:ext uri="{D42A27DB-BD31-4B8C-83A1-F6EECF244321}">
                <p14:modId xmlns:p14="http://schemas.microsoft.com/office/powerpoint/2010/main" val="114413722"/>
              </p:ext>
            </p:extLst>
          </p:nvPr>
        </p:nvGraphicFramePr>
        <p:xfrm>
          <a:off x="8360436" y="2902441"/>
          <a:ext cx="3640114" cy="1903985"/>
        </p:xfrm>
        <a:graphic>
          <a:graphicData uri="http://schemas.openxmlformats.org/drawingml/2006/table">
            <a:tbl>
              <a:tblPr firstRow="1" bandRow="1">
                <a:tableStyleId>{21E4AEA4-8DFA-4A89-87EB-49C32662AFE0}</a:tableStyleId>
              </a:tblPr>
              <a:tblGrid>
                <a:gridCol w="1126464">
                  <a:extLst>
                    <a:ext uri="{9D8B030D-6E8A-4147-A177-3AD203B41FA5}">
                      <a16:colId xmlns:a16="http://schemas.microsoft.com/office/drawing/2014/main" val="2993405277"/>
                    </a:ext>
                  </a:extLst>
                </a:gridCol>
                <a:gridCol w="2513650">
                  <a:extLst>
                    <a:ext uri="{9D8B030D-6E8A-4147-A177-3AD203B41FA5}">
                      <a16:colId xmlns:a16="http://schemas.microsoft.com/office/drawing/2014/main" val="594273482"/>
                    </a:ext>
                  </a:extLst>
                </a:gridCol>
              </a:tblGrid>
              <a:tr h="268897">
                <a:tc>
                  <a:txBody>
                    <a:bodyPr/>
                    <a:lstStyle/>
                    <a:p>
                      <a:pPr algn="ctr">
                        <a:lnSpc>
                          <a:spcPct val="107000"/>
                        </a:lnSpc>
                        <a:spcAft>
                          <a:spcPts val="800"/>
                        </a:spcAft>
                        <a:buNone/>
                      </a:pPr>
                      <a:r>
                        <a:rPr lang="en-US" sz="1200">
                          <a:effectLst/>
                        </a:rPr>
                        <a:t>Scores</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US" sz="1200">
                          <a:effectLst/>
                        </a:rPr>
                        <a:t> (Decision)</a:t>
                      </a:r>
                      <a:endParaRPr lang="tr-TR"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66884159"/>
                  </a:ext>
                </a:extLst>
              </a:tr>
              <a:tr h="547088">
                <a:tc>
                  <a:txBody>
                    <a:bodyPr/>
                    <a:lstStyle/>
                    <a:p>
                      <a:pPr algn="ctr">
                        <a:lnSpc>
                          <a:spcPct val="107000"/>
                        </a:lnSpc>
                        <a:spcAft>
                          <a:spcPts val="800"/>
                        </a:spcAft>
                        <a:buNone/>
                      </a:pPr>
                      <a:r>
                        <a:rPr lang="en-US" sz="1400" dirty="0">
                          <a:effectLst/>
                        </a:rPr>
                        <a:t>0.8 – 1.0</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Aft>
                          <a:spcPts val="800"/>
                        </a:spcAft>
                        <a:buNone/>
                      </a:pPr>
                      <a:r>
                        <a:rPr lang="en-US" sz="1400" dirty="0">
                          <a:effectLst/>
                        </a:rPr>
                        <a:t>🚨 Immediate Evacuation</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93959550"/>
                  </a:ext>
                </a:extLst>
              </a:tr>
              <a:tr h="268897">
                <a:tc>
                  <a:txBody>
                    <a:bodyPr/>
                    <a:lstStyle/>
                    <a:p>
                      <a:pPr algn="ctr">
                        <a:lnSpc>
                          <a:spcPct val="107000"/>
                        </a:lnSpc>
                        <a:spcAft>
                          <a:spcPts val="800"/>
                        </a:spcAft>
                        <a:buNone/>
                      </a:pPr>
                      <a:r>
                        <a:rPr lang="en-US" sz="1400" dirty="0">
                          <a:effectLst/>
                        </a:rPr>
                        <a:t>0.6 – 0.8</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Aft>
                          <a:spcPts val="800"/>
                        </a:spcAft>
                        <a:buNone/>
                      </a:pPr>
                      <a:r>
                        <a:rPr lang="en-US" sz="1400" dirty="0">
                          <a:effectLst/>
                        </a:rPr>
                        <a:t>✅ Dispatch Aerial Units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08455310"/>
                  </a:ext>
                </a:extLst>
              </a:tr>
              <a:tr h="550206">
                <a:tc>
                  <a:txBody>
                    <a:bodyPr/>
                    <a:lstStyle/>
                    <a:p>
                      <a:pPr algn="ctr">
                        <a:lnSpc>
                          <a:spcPct val="107000"/>
                        </a:lnSpc>
                        <a:spcAft>
                          <a:spcPts val="800"/>
                        </a:spcAft>
                        <a:buNone/>
                      </a:pPr>
                      <a:r>
                        <a:rPr lang="en-US" sz="1400" dirty="0">
                          <a:effectLst/>
                        </a:rPr>
                        <a:t>0.4 – 0.6</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Aft>
                          <a:spcPts val="800"/>
                        </a:spcAft>
                        <a:buNone/>
                      </a:pPr>
                      <a:r>
                        <a:rPr lang="en-US" sz="1400" dirty="0">
                          <a:effectLst/>
                        </a:rPr>
                        <a:t>⚠️ Prepare Ground Resources</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556009967"/>
                  </a:ext>
                </a:extLst>
              </a:tr>
              <a:tr h="268897">
                <a:tc>
                  <a:txBody>
                    <a:bodyPr/>
                    <a:lstStyle/>
                    <a:p>
                      <a:pPr algn="ctr">
                        <a:lnSpc>
                          <a:spcPct val="107000"/>
                        </a:lnSpc>
                        <a:spcAft>
                          <a:spcPts val="800"/>
                        </a:spcAft>
                        <a:buNone/>
                      </a:pPr>
                      <a:r>
                        <a:rPr lang="en-US" sz="1400" dirty="0">
                          <a:effectLst/>
                        </a:rPr>
                        <a:t>0.0 – 0.4</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Aft>
                          <a:spcPts val="800"/>
                        </a:spcAft>
                        <a:buNone/>
                      </a:pPr>
                      <a:r>
                        <a:rPr lang="en-US" sz="1400" dirty="0">
                          <a:effectLst/>
                        </a:rPr>
                        <a:t>🟢 Monitor and Wait</a:t>
                      </a:r>
                      <a:endParaRPr lang="tr-TR"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6108688"/>
                  </a:ext>
                </a:extLst>
              </a:tr>
            </a:tbl>
          </a:graphicData>
        </a:graphic>
      </p:graphicFrame>
      <p:sp>
        <p:nvSpPr>
          <p:cNvPr id="19" name="TextBox 18">
            <a:extLst>
              <a:ext uri="{FF2B5EF4-FFF2-40B4-BE49-F238E27FC236}">
                <a16:creationId xmlns:a16="http://schemas.microsoft.com/office/drawing/2014/main" id="{30AF877D-D500-11CE-4305-70DCB5BE1EE0}"/>
              </a:ext>
            </a:extLst>
          </p:cNvPr>
          <p:cNvSpPr txBox="1"/>
          <p:nvPr/>
        </p:nvSpPr>
        <p:spPr>
          <a:xfrm>
            <a:off x="9194606" y="2362867"/>
            <a:ext cx="1348446" cy="369332"/>
          </a:xfrm>
          <a:prstGeom prst="rect">
            <a:avLst/>
          </a:prstGeom>
          <a:noFill/>
        </p:spPr>
        <p:txBody>
          <a:bodyPr wrap="none" rtlCol="0">
            <a:spAutoFit/>
          </a:bodyPr>
          <a:lstStyle/>
          <a:p>
            <a:r>
              <a:rPr lang="en-US" b="1" dirty="0"/>
              <a:t>Decision Set</a:t>
            </a:r>
            <a:endParaRPr lang="tr-TR" b="1" dirty="0"/>
          </a:p>
        </p:txBody>
      </p:sp>
    </p:spTree>
    <p:extLst>
      <p:ext uri="{BB962C8B-B14F-4D97-AF65-F5344CB8AC3E}">
        <p14:creationId xmlns:p14="http://schemas.microsoft.com/office/powerpoint/2010/main" val="2765215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FE61E-2590-A135-1C6E-2038BD453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0457C-7E98-4894-DC0A-3FB057F6E602}"/>
              </a:ext>
            </a:extLst>
          </p:cNvPr>
          <p:cNvSpPr>
            <a:spLocks noGrp="1"/>
          </p:cNvSpPr>
          <p:nvPr>
            <p:ph type="title"/>
          </p:nvPr>
        </p:nvSpPr>
        <p:spPr/>
        <p:txBody>
          <a:bodyPr/>
          <a:lstStyle/>
          <a:p>
            <a:r>
              <a:rPr lang="en-US" dirty="0"/>
              <a:t>Fuzzy Decision Layer : Example (Multiple Decisions)</a:t>
            </a:r>
            <a:endParaRPr lang="tr-TR" dirty="0"/>
          </a:p>
        </p:txBody>
      </p:sp>
      <p:sp>
        <p:nvSpPr>
          <p:cNvPr id="4" name="Slide Number Placeholder 3">
            <a:extLst>
              <a:ext uri="{FF2B5EF4-FFF2-40B4-BE49-F238E27FC236}">
                <a16:creationId xmlns:a16="http://schemas.microsoft.com/office/drawing/2014/main" id="{2F3312FF-F9D0-4B81-C9EB-1FD349319BC0}"/>
              </a:ext>
            </a:extLst>
          </p:cNvPr>
          <p:cNvSpPr>
            <a:spLocks noGrp="1"/>
          </p:cNvSpPr>
          <p:nvPr>
            <p:ph type="sldNum" sz="quarter" idx="12"/>
          </p:nvPr>
        </p:nvSpPr>
        <p:spPr/>
        <p:txBody>
          <a:bodyPr/>
          <a:lstStyle/>
          <a:p>
            <a:fld id="{0F4FBE90-EB1A-4CD8-B134-C7A82858680F}" type="slidenum">
              <a:rPr lang="en-US" smtClean="0"/>
              <a:t>12</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742F605-5D6C-8F60-7EA4-AAC155F1D015}"/>
                  </a:ext>
                </a:extLst>
              </p:cNvPr>
              <p:cNvSpPr txBox="1"/>
              <p:nvPr/>
            </p:nvSpPr>
            <p:spPr>
              <a:xfrm>
                <a:off x="222250" y="690924"/>
                <a:ext cx="11567966" cy="3158557"/>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n-GB" sz="1800" b="1" dirty="0">
                    <a:effectLst/>
                    <a:latin typeface="Calibri" panose="020F0502020204030204" pitchFamily="34" charset="0"/>
                    <a:ea typeface="Calibri" panose="020F0502020204030204" pitchFamily="34" charset="0"/>
                    <a:cs typeface="Arial" panose="020B0604020202020204" pitchFamily="34" charset="0"/>
                  </a:rPr>
                  <a:t>Sequential Actions:</a:t>
                </a:r>
                <a:r>
                  <a:rPr lang="en-GB" sz="1800" dirty="0">
                    <a:effectLst/>
                    <a:latin typeface="Calibri" panose="020F0502020204030204" pitchFamily="34" charset="0"/>
                    <a:ea typeface="Calibri" panose="020F0502020204030204" pitchFamily="34" charset="0"/>
                    <a:cs typeface="Arial" panose="020B0604020202020204" pitchFamily="34" charset="0"/>
                  </a:rPr>
                  <a:t> Multiple actions can be queued in order of priority (e.g., dispatch aerial units first, then prepare ground teams).</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r>
                  <a:rPr lang="en-GB" sz="1800" dirty="0">
                    <a:effectLst/>
                    <a:latin typeface="Calibri" panose="020F0502020204030204" pitchFamily="34" charset="0"/>
                    <a:ea typeface="Calibri" panose="020F0502020204030204" pitchFamily="34" charset="0"/>
                    <a:cs typeface="Arial" panose="020B0604020202020204" pitchFamily="34" charset="0"/>
                  </a:rPr>
                  <a:t> </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r>
                  <a:rPr lang="en-US" sz="1800" dirty="0">
                    <a:effectLst/>
                    <a:latin typeface="Calibri" panose="020F0502020204030204" pitchFamily="34" charset="0"/>
                    <a:ea typeface="Calibri" panose="020F0502020204030204" pitchFamily="34" charset="0"/>
                    <a:cs typeface="Arial" panose="020B0604020202020204" pitchFamily="34" charset="0"/>
                  </a:rPr>
                  <a:t>In this strategy, actions are executed in order of descending membership values (activation degrees).</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𝐿𝑒𝑡</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ᵢ </m:t>
                      </m:r>
                      <m:r>
                        <a:rPr lang="en-US" sz="1800" i="1">
                          <a:effectLst/>
                          <a:latin typeface="Cambria Math" panose="02040503050406030204" pitchFamily="18" charset="0"/>
                          <a:ea typeface="Calibri" panose="020F0502020204030204" pitchFamily="34" charset="0"/>
                          <a:cs typeface="Arial" panose="020B0604020202020204" pitchFamily="34" charset="0"/>
                        </a:rPr>
                        <m:t>𝑏𝑒</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𝑡h𝑒</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𝑚𝑒𝑚𝑏𝑒𝑟𝑠h𝑖𝑝</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𝑑𝑒𝑔𝑟𝑒𝑒</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𝑜𝑓</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𝑎𝑐𝑡𝑖𝑜𝑛</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𝐴</m:t>
                      </m:r>
                      <m:r>
                        <a:rPr lang="en-US" sz="1800" i="1">
                          <a:effectLst/>
                          <a:latin typeface="Cambria Math" panose="02040503050406030204" pitchFamily="18" charset="0"/>
                          <a:ea typeface="Calibri" panose="020F0502020204030204" pitchFamily="34" charset="0"/>
                          <a:cs typeface="Arial" panose="020B0604020202020204" pitchFamily="34" charset="0"/>
                        </a:rPr>
                        <m:t>ᵢ.</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𝑃𝑟𝑖𝑜𝑟𝑖𝑡𝑦</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𝐴</m:t>
                      </m:r>
                      <m:r>
                        <a:rPr lang="en-US" sz="1800" i="1">
                          <a:effectLst/>
                          <a:latin typeface="Cambria Math" panose="02040503050406030204" pitchFamily="18" charset="0"/>
                          <a:ea typeface="Calibri" panose="020F0502020204030204" pitchFamily="34" charset="0"/>
                          <a:cs typeface="Arial" panose="020B0604020202020204" pitchFamily="34" charset="0"/>
                        </a:rPr>
                        <m:t>ᵢ) = </m:t>
                      </m:r>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ᵢ</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𝐸𝑥𝑒𝑐𝑢𝑡𝑖𝑜𝑛</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𝑂𝑟𝑑𝑒𝑟</m:t>
                      </m:r>
                      <m:r>
                        <a:rPr lang="en-US" sz="1800" i="1">
                          <a:effectLst/>
                          <a:latin typeface="Cambria Math" panose="02040503050406030204" pitchFamily="18" charset="0"/>
                          <a:ea typeface="Calibri" panose="020F0502020204030204" pitchFamily="34" charset="0"/>
                          <a:cs typeface="Arial" panose="020B0604020202020204" pitchFamily="34" charset="0"/>
                        </a:rPr>
                        <m:t> = </m:t>
                      </m:r>
                      <m:r>
                        <a:rPr lang="en-US" sz="1800" i="1">
                          <a:effectLst/>
                          <a:latin typeface="Cambria Math" panose="02040503050406030204" pitchFamily="18" charset="0"/>
                          <a:ea typeface="Calibri" panose="020F0502020204030204" pitchFamily="34" charset="0"/>
                          <a:cs typeface="Arial" panose="020B0604020202020204" pitchFamily="34" charset="0"/>
                        </a:rPr>
                        <m:t>𝑆𝑜𝑟𝑡</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𝐴</m:t>
                      </m:r>
                      <m:r>
                        <a:rPr lang="en-US" sz="1800" i="1">
                          <a:effectLst/>
                          <a:latin typeface="Cambria Math" panose="02040503050406030204" pitchFamily="18" charset="0"/>
                          <a:ea typeface="Calibri" panose="020F0502020204030204" pitchFamily="34" charset="0"/>
                          <a:cs typeface="Arial" panose="020B0604020202020204" pitchFamily="34" charset="0"/>
                        </a:rPr>
                        <m:t>₁, </m:t>
                      </m:r>
                      <m:r>
                        <a:rPr lang="en-US" sz="1800" i="1">
                          <a:effectLst/>
                          <a:latin typeface="Cambria Math" panose="02040503050406030204" pitchFamily="18" charset="0"/>
                          <a:ea typeface="Calibri" panose="020F0502020204030204" pitchFamily="34" charset="0"/>
                          <a:cs typeface="Arial" panose="020B0604020202020204" pitchFamily="34" charset="0"/>
                        </a:rPr>
                        <m:t>𝐴</m:t>
                      </m:r>
                      <m:r>
                        <a:rPr lang="en-US" sz="1800" i="1">
                          <a:effectLst/>
                          <a:latin typeface="Cambria Math" panose="02040503050406030204" pitchFamily="18" charset="0"/>
                          <a:ea typeface="Calibri" panose="020F0502020204030204" pitchFamily="34" charset="0"/>
                          <a:cs typeface="Arial" panose="020B0604020202020204" pitchFamily="34" charset="0"/>
                        </a:rPr>
                        <m:t>₂, ..., </m:t>
                      </m:r>
                      <m:r>
                        <a:rPr lang="en-US" sz="1800" i="1">
                          <a:effectLst/>
                          <a:latin typeface="Cambria Math" panose="02040503050406030204" pitchFamily="18" charset="0"/>
                          <a:ea typeface="Calibri" panose="020F0502020204030204" pitchFamily="34" charset="0"/>
                          <a:cs typeface="Arial" panose="020B0604020202020204" pitchFamily="34" charset="0"/>
                        </a:rPr>
                        <m:t>𝐴</m:t>
                      </m:r>
                      <m:r>
                        <a:rPr lang="en-US" sz="1800" i="1">
                          <a:effectLst/>
                          <a:latin typeface="Cambria Math" panose="02040503050406030204" pitchFamily="18" charset="0"/>
                          <a:ea typeface="Calibri" panose="020F0502020204030204" pitchFamily="34" charset="0"/>
                          <a:cs typeface="Arial" panose="020B0604020202020204" pitchFamily="34" charset="0"/>
                        </a:rPr>
                        <m:t>ₙ | </m:t>
                      </m:r>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ᵢ ↓)</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𝐸𝑥𝑎𝑚𝑝𝑙𝑒</m:t>
                      </m:r>
                      <m:r>
                        <a:rPr lang="en-US" sz="1800" i="1">
                          <a:effectLst/>
                          <a:latin typeface="Cambria Math" panose="02040503050406030204" pitchFamily="18" charset="0"/>
                          <a:ea typeface="Calibri" panose="020F0502020204030204" pitchFamily="34" charset="0"/>
                          <a:cs typeface="Arial" panose="020B0604020202020204" pitchFamily="34" charset="0"/>
                        </a:rPr>
                        <m:t>:</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𝐷𝑖𝑠𝑝𝑎𝑡𝑐h</m:t>
                      </m:r>
                      <m:r>
                        <a:rPr lang="en-US" sz="1800" i="1">
                          <a:effectLst/>
                          <a:latin typeface="Cambria Math" panose="02040503050406030204" pitchFamily="18" charset="0"/>
                          <a:ea typeface="Calibri" panose="020F0502020204030204" pitchFamily="34" charset="0"/>
                          <a:cs typeface="Arial" panose="020B0604020202020204" pitchFamily="34" charset="0"/>
                        </a:rPr>
                        <m:t>) = 0.85, </m:t>
                      </m:r>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𝐺𝑟𝑜𝑢𝑛𝑑𝑃𝑟𝑒𝑝</m:t>
                      </m:r>
                      <m:r>
                        <a:rPr lang="en-US" sz="1800" i="1">
                          <a:effectLst/>
                          <a:latin typeface="Cambria Math" panose="02040503050406030204" pitchFamily="18" charset="0"/>
                          <a:ea typeface="Calibri" panose="020F0502020204030204" pitchFamily="34" charset="0"/>
                          <a:cs typeface="Arial" panose="020B0604020202020204" pitchFamily="34" charset="0"/>
                        </a:rPr>
                        <m:t>) = 0.6, </m:t>
                      </m:r>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𝑀𝑜𝑛𝑖𝑡𝑜𝑟</m:t>
                      </m:r>
                      <m:r>
                        <a:rPr lang="en-US" sz="1800" i="1">
                          <a:effectLst/>
                          <a:latin typeface="Cambria Math" panose="02040503050406030204" pitchFamily="18" charset="0"/>
                          <a:ea typeface="Calibri" panose="020F0502020204030204" pitchFamily="34" charset="0"/>
                          <a:cs typeface="Arial" panose="020B0604020202020204" pitchFamily="34" charset="0"/>
                        </a:rPr>
                        <m:t>) = 0.2</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𝐸𝑥𝑒𝑐𝑢𝑡𝑒</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𝑖𝑛</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𝑜𝑟𝑑𝑒𝑟</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𝐷𝑖𝑠𝑝𝑎𝑡𝑐h</m:t>
                      </m:r>
                      <m:r>
                        <a:rPr lang="en-US" sz="1800" i="1">
                          <a:effectLst/>
                          <a:latin typeface="Cambria Math" panose="02040503050406030204" pitchFamily="18" charset="0"/>
                          <a:ea typeface="Calibri" panose="020F0502020204030204" pitchFamily="34" charset="0"/>
                          <a:cs typeface="Arial" panose="020B0604020202020204" pitchFamily="34" charset="0"/>
                        </a:rPr>
                        <m:t> → </m:t>
                      </m:r>
                      <m:r>
                        <a:rPr lang="en-US" sz="1800" i="1">
                          <a:effectLst/>
                          <a:latin typeface="Cambria Math" panose="02040503050406030204" pitchFamily="18" charset="0"/>
                          <a:ea typeface="Calibri" panose="020F0502020204030204" pitchFamily="34" charset="0"/>
                          <a:cs typeface="Arial" panose="020B0604020202020204" pitchFamily="34" charset="0"/>
                        </a:rPr>
                        <m:t>𝐺𝑟𝑜𝑢𝑛𝑑𝑃𝑟𝑒𝑝</m:t>
                      </m:r>
                      <m:r>
                        <a:rPr lang="en-US" sz="1800" i="1">
                          <a:effectLst/>
                          <a:latin typeface="Cambria Math" panose="02040503050406030204" pitchFamily="18" charset="0"/>
                          <a:ea typeface="Calibri" panose="020F0502020204030204" pitchFamily="34" charset="0"/>
                          <a:cs typeface="Arial" panose="020B0604020202020204" pitchFamily="34" charset="0"/>
                        </a:rPr>
                        <m:t> → </m:t>
                      </m:r>
                      <m:r>
                        <a:rPr lang="en-US" sz="1800" i="1">
                          <a:effectLst/>
                          <a:latin typeface="Cambria Math" panose="02040503050406030204" pitchFamily="18" charset="0"/>
                          <a:ea typeface="Calibri" panose="020F0502020204030204" pitchFamily="34" charset="0"/>
                          <a:cs typeface="Arial" panose="020B0604020202020204" pitchFamily="34" charset="0"/>
                        </a:rPr>
                        <m:t>𝑀𝑜𝑛𝑖𝑡𝑜𝑟</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E742F605-5D6C-8F60-7EA4-AAC155F1D015}"/>
                  </a:ext>
                </a:extLst>
              </p:cNvPr>
              <p:cNvSpPr txBox="1">
                <a:spLocks noRot="1" noChangeAspect="1" noMove="1" noResize="1" noEditPoints="1" noAdjustHandles="1" noChangeArrowheads="1" noChangeShapeType="1" noTextEdit="1"/>
              </p:cNvSpPr>
              <p:nvPr/>
            </p:nvSpPr>
            <p:spPr>
              <a:xfrm>
                <a:off x="222250" y="690924"/>
                <a:ext cx="11567966" cy="3158557"/>
              </a:xfrm>
              <a:prstGeom prst="rect">
                <a:avLst/>
              </a:prstGeom>
              <a:blipFill>
                <a:blip r:embed="rId2"/>
                <a:stretch>
                  <a:fillRect l="-421" t="-1158"/>
                </a:stretch>
              </a:blipFill>
            </p:spPr>
            <p:txBody>
              <a:bodyPr/>
              <a:lstStyle/>
              <a:p>
                <a:r>
                  <a:rPr lang="tr-TR">
                    <a:noFill/>
                  </a:rPr>
                  <a:t> </a:t>
                </a:r>
              </a:p>
            </p:txBody>
          </p:sp>
        </mc:Fallback>
      </mc:AlternateContent>
    </p:spTree>
    <p:extLst>
      <p:ext uri="{BB962C8B-B14F-4D97-AF65-F5344CB8AC3E}">
        <p14:creationId xmlns:p14="http://schemas.microsoft.com/office/powerpoint/2010/main" val="763477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814C9-C1ED-D9A6-E001-AD969D42D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7709A-5B50-167D-076E-0934A68015D1}"/>
              </a:ext>
            </a:extLst>
          </p:cNvPr>
          <p:cNvSpPr>
            <a:spLocks noGrp="1"/>
          </p:cNvSpPr>
          <p:nvPr>
            <p:ph type="title"/>
          </p:nvPr>
        </p:nvSpPr>
        <p:spPr/>
        <p:txBody>
          <a:bodyPr/>
          <a:lstStyle/>
          <a:p>
            <a:r>
              <a:rPr lang="en-US" dirty="0"/>
              <a:t>Fuzzy Decision Layer : Example (Multiple Decisions)</a:t>
            </a:r>
            <a:endParaRPr lang="tr-TR" dirty="0"/>
          </a:p>
        </p:txBody>
      </p:sp>
      <p:sp>
        <p:nvSpPr>
          <p:cNvPr id="4" name="Slide Number Placeholder 3">
            <a:extLst>
              <a:ext uri="{FF2B5EF4-FFF2-40B4-BE49-F238E27FC236}">
                <a16:creationId xmlns:a16="http://schemas.microsoft.com/office/drawing/2014/main" id="{56D776F6-E4DE-0A00-37EF-BE2339F4EE8D}"/>
              </a:ext>
            </a:extLst>
          </p:cNvPr>
          <p:cNvSpPr>
            <a:spLocks noGrp="1"/>
          </p:cNvSpPr>
          <p:nvPr>
            <p:ph type="sldNum" sz="quarter" idx="12"/>
          </p:nvPr>
        </p:nvSpPr>
        <p:spPr/>
        <p:txBody>
          <a:bodyPr/>
          <a:lstStyle/>
          <a:p>
            <a:fld id="{0F4FBE90-EB1A-4CD8-B134-C7A82858680F}" type="slidenum">
              <a:rPr lang="en-US" smtClean="0"/>
              <a:t>13</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AD7029A-0C6D-2299-18FD-4E904D8A58AF}"/>
                  </a:ext>
                </a:extLst>
              </p:cNvPr>
              <p:cNvSpPr txBox="1"/>
              <p:nvPr/>
            </p:nvSpPr>
            <p:spPr>
              <a:xfrm>
                <a:off x="184149" y="780575"/>
                <a:ext cx="11560347" cy="4462825"/>
              </a:xfrm>
              <a:prstGeom prst="rect">
                <a:avLst/>
              </a:prstGeom>
              <a:noFill/>
            </p:spPr>
            <p:txBody>
              <a:bodyPr wrap="square">
                <a:spAutoFit/>
              </a:bodyPr>
              <a:lstStyle/>
              <a:p>
                <a:pPr marL="342900" lvl="0" indent="-342900">
                  <a:lnSpc>
                    <a:spcPct val="107000"/>
                  </a:lnSpc>
                  <a:spcAft>
                    <a:spcPts val="800"/>
                  </a:spcAft>
                  <a:buFont typeface="Symbol" panose="05050102010706020507" pitchFamily="18" charset="2"/>
                  <a:buChar char=""/>
                </a:pPr>
                <a:r>
                  <a:rPr lang="en-GB" sz="1800" b="1" dirty="0">
                    <a:effectLst/>
                    <a:latin typeface="Calibri" panose="020F0502020204030204" pitchFamily="34" charset="0"/>
                    <a:ea typeface="Calibri" panose="020F0502020204030204" pitchFamily="34" charset="0"/>
                    <a:cs typeface="Arial" panose="020B0604020202020204" pitchFamily="34" charset="0"/>
                  </a:rPr>
                  <a:t>Weighted Execution:</a:t>
                </a:r>
                <a:r>
                  <a:rPr lang="en-GB" sz="1800" dirty="0">
                    <a:effectLst/>
                    <a:latin typeface="Calibri" panose="020F0502020204030204" pitchFamily="34" charset="0"/>
                    <a:ea typeface="Calibri" panose="020F0502020204030204" pitchFamily="34" charset="0"/>
                    <a:cs typeface="Arial" panose="020B0604020202020204" pitchFamily="34" charset="0"/>
                  </a:rPr>
                  <a:t> Each action is assigned a weight proportional to its membership degree (e.g., 70% aerial, 30% ground).</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The actions receive resources proportional to their membership degrees. This is useful for allocating limited resources.</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800" i="1">
                          <a:effectLst/>
                          <a:latin typeface="Cambria Math" panose="02040503050406030204" pitchFamily="18" charset="0"/>
                          <a:ea typeface="Calibri" panose="020F0502020204030204" pitchFamily="34" charset="0"/>
                          <a:cs typeface="Arial" panose="020B0604020202020204" pitchFamily="34" charset="0"/>
                        </a:rPr>
                        <m:t>𝐴</m:t>
                      </m:r>
                      <m:r>
                        <a:rPr lang="en-GB" sz="1800" i="1">
                          <a:effectLst/>
                          <a:latin typeface="Cambria Math" panose="02040503050406030204" pitchFamily="18" charset="0"/>
                          <a:ea typeface="Calibri" panose="020F0502020204030204" pitchFamily="34" charset="0"/>
                          <a:cs typeface="Arial" panose="020B0604020202020204" pitchFamily="34" charset="0"/>
                        </a:rPr>
                        <m:t>=</m:t>
                      </m:r>
                      <m:d>
                        <m:dPr>
                          <m:begChr m:val="{"/>
                          <m:endChr m:val="}"/>
                          <m:ctrlPr>
                            <a:rPr lang="tr-TR" sz="1800" i="1">
                              <a:effectLst/>
                              <a:latin typeface="Cambria Math" panose="02040503050406030204" pitchFamily="18" charset="0"/>
                              <a:ea typeface="Calibri" panose="020F0502020204030204" pitchFamily="34" charset="0"/>
                              <a:cs typeface="Arial" panose="020B0604020202020204" pitchFamily="34" charset="0"/>
                            </a:rPr>
                          </m:ctrlPr>
                        </m:dPr>
                        <m:e>
                          <m:r>
                            <a:rPr lang="en-GB" sz="1800" i="1">
                              <a:effectLst/>
                              <a:latin typeface="Cambria Math" panose="02040503050406030204" pitchFamily="18" charset="0"/>
                              <a:ea typeface="Calibri" panose="020F0502020204030204" pitchFamily="34" charset="0"/>
                              <a:cs typeface="Arial" panose="020B0604020202020204" pitchFamily="34" charset="0"/>
                            </a:rPr>
                            <m:t>𝑎</m:t>
                          </m:r>
                          <m:r>
                            <a:rPr lang="en-GB" sz="1800" i="1">
                              <a:effectLst/>
                              <a:latin typeface="Cambria Math" panose="02040503050406030204" pitchFamily="18" charset="0"/>
                              <a:ea typeface="Calibri" panose="020F0502020204030204" pitchFamily="34" charset="0"/>
                              <a:cs typeface="Arial" panose="020B0604020202020204" pitchFamily="34" charset="0"/>
                            </a:rPr>
                            <m:t>1,</m:t>
                          </m:r>
                          <m:r>
                            <a:rPr lang="en-GB" sz="1800" i="1">
                              <a:effectLst/>
                              <a:latin typeface="Cambria Math" panose="02040503050406030204" pitchFamily="18" charset="0"/>
                              <a:ea typeface="Calibri" panose="020F0502020204030204" pitchFamily="34" charset="0"/>
                              <a:cs typeface="Arial" panose="020B0604020202020204" pitchFamily="34" charset="0"/>
                            </a:rPr>
                            <m:t>𝑎</m:t>
                          </m:r>
                          <m:r>
                            <a:rPr lang="en-GB" sz="1800" i="1">
                              <a:effectLst/>
                              <a:latin typeface="Cambria Math" panose="02040503050406030204" pitchFamily="18" charset="0"/>
                              <a:ea typeface="Calibri" panose="020F0502020204030204" pitchFamily="34" charset="0"/>
                              <a:cs typeface="Arial" panose="020B0604020202020204" pitchFamily="34" charset="0"/>
                            </a:rPr>
                            <m:t>2,…,</m:t>
                          </m:r>
                          <m:r>
                            <a:rPr lang="en-GB" sz="1800" i="1">
                              <a:effectLst/>
                              <a:latin typeface="Cambria Math" panose="02040503050406030204" pitchFamily="18" charset="0"/>
                              <a:ea typeface="Calibri" panose="020F0502020204030204" pitchFamily="34" charset="0"/>
                              <a:cs typeface="Arial" panose="020B0604020202020204" pitchFamily="34" charset="0"/>
                            </a:rPr>
                            <m:t>𝑎𝑛</m:t>
                          </m:r>
                        </m:e>
                      </m:d>
                      <m:r>
                        <a:rPr lang="en-GB" sz="1800" i="1">
                          <a:effectLst/>
                          <a:latin typeface="Cambria Math" panose="02040503050406030204" pitchFamily="18" charset="0"/>
                          <a:ea typeface="Calibri" panose="020F0502020204030204" pitchFamily="34" charset="0"/>
                          <a:cs typeface="Arial" panose="020B0604020202020204" pitchFamily="34" charset="0"/>
                        </a:rPr>
                        <m:t>:</m:t>
                      </m:r>
                      <m:r>
                        <a:rPr lang="en-GB" sz="1800" i="1">
                          <a:effectLst/>
                          <a:latin typeface="Cambria Math" panose="02040503050406030204" pitchFamily="18" charset="0"/>
                          <a:ea typeface="Calibri" panose="020F0502020204030204" pitchFamily="34" charset="0"/>
                          <a:cs typeface="Arial" panose="020B0604020202020204" pitchFamily="34" charset="0"/>
                        </a:rPr>
                        <m:t>𝑠𝑒𝑡</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𝑜𝑓</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𝑎𝑐𝑡𝑖𝑜𝑛𝑠</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800" i="1">
                          <a:effectLst/>
                          <a:latin typeface="Cambria Math" panose="02040503050406030204" pitchFamily="18" charset="0"/>
                          <a:ea typeface="Calibri" panose="020F0502020204030204" pitchFamily="34" charset="0"/>
                          <a:cs typeface="Arial" panose="020B0604020202020204" pitchFamily="34" charset="0"/>
                        </a:rPr>
                        <m:t>𝜇</m:t>
                      </m:r>
                      <m:r>
                        <a:rPr lang="en-GB" sz="1800" i="1">
                          <a:effectLst/>
                          <a:latin typeface="Cambria Math" panose="02040503050406030204" pitchFamily="18" charset="0"/>
                          <a:ea typeface="Calibri" panose="020F0502020204030204" pitchFamily="34" charset="0"/>
                          <a:cs typeface="Arial" panose="020B0604020202020204" pitchFamily="34" charset="0"/>
                        </a:rPr>
                        <m:t>𝑖</m:t>
                      </m:r>
                      <m:r>
                        <a:rPr lang="en-GB" sz="1800" i="1">
                          <a:effectLst/>
                          <a:latin typeface="Cambria Math" panose="02040503050406030204" pitchFamily="18" charset="0"/>
                          <a:ea typeface="Calibri" panose="020F0502020204030204" pitchFamily="34" charset="0"/>
                          <a:cs typeface="Arial" panose="020B0604020202020204" pitchFamily="34" charset="0"/>
                        </a:rPr>
                        <m:t>:</m:t>
                      </m:r>
                      <m:r>
                        <a:rPr lang="en-GB" sz="1800" i="1">
                          <a:effectLst/>
                          <a:latin typeface="Cambria Math" panose="02040503050406030204" pitchFamily="18" charset="0"/>
                          <a:ea typeface="Calibri" panose="020F0502020204030204" pitchFamily="34" charset="0"/>
                          <a:cs typeface="Arial" panose="020B0604020202020204" pitchFamily="34" charset="0"/>
                        </a:rPr>
                        <m:t>𝑓𝑢𝑧𝑧𝑦</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𝑚𝑒𝑚𝑏𝑒𝑟𝑠h𝑖𝑝</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𝑜𝑓</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𝑎𝑐𝑡𝑖𝑜𝑛</m:t>
                      </m:r>
                      <m:r>
                        <a:rPr lang="en-GB" sz="1800" i="1">
                          <a:effectLst/>
                          <a:latin typeface="Cambria Math" panose="02040503050406030204" pitchFamily="18" charset="0"/>
                          <a:ea typeface="Calibri" panose="020F0502020204030204" pitchFamily="34" charset="0"/>
                          <a:cs typeface="Arial" panose="020B0604020202020204" pitchFamily="34" charset="0"/>
                        </a:rPr>
                        <m:t> </m:t>
                      </m:r>
                      <m:sSub>
                        <m:sSubPr>
                          <m:ctrlPr>
                            <a:rPr lang="tr-TR" sz="1800" i="1">
                              <a:effectLst/>
                              <a:latin typeface="Cambria Math" panose="02040503050406030204" pitchFamily="18" charset="0"/>
                              <a:ea typeface="Calibri" panose="020F0502020204030204" pitchFamily="34" charset="0"/>
                              <a:cs typeface="Arial" panose="020B0604020202020204" pitchFamily="34" charset="0"/>
                            </a:rPr>
                          </m:ctrlPr>
                        </m:sSubPr>
                        <m:e>
                          <m:r>
                            <a:rPr lang="en-GB" sz="1800" i="1">
                              <a:effectLst/>
                              <a:latin typeface="Cambria Math" panose="02040503050406030204" pitchFamily="18" charset="0"/>
                              <a:ea typeface="Calibri" panose="020F0502020204030204" pitchFamily="34" charset="0"/>
                              <a:cs typeface="Arial" panose="020B0604020202020204" pitchFamily="34" charset="0"/>
                            </a:rPr>
                            <m:t>𝑎</m:t>
                          </m:r>
                        </m:e>
                        <m:sub>
                          <m:r>
                            <a:rPr lang="en-GB" sz="1800" i="1">
                              <a:effectLst/>
                              <a:latin typeface="Cambria Math" panose="02040503050406030204" pitchFamily="18" charset="0"/>
                              <a:ea typeface="Calibri" panose="020F0502020204030204" pitchFamily="34" charset="0"/>
                              <a:cs typeface="Arial" panose="020B0604020202020204" pitchFamily="34" charset="0"/>
                            </a:rPr>
                            <m:t>𝑖</m:t>
                          </m:r>
                        </m:sub>
                      </m:sSub>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800" i="1">
                          <a:effectLst/>
                          <a:latin typeface="Cambria Math" panose="02040503050406030204" pitchFamily="18" charset="0"/>
                          <a:ea typeface="Calibri" panose="020F0502020204030204" pitchFamily="34" charset="0"/>
                          <a:cs typeface="Arial" panose="020B0604020202020204" pitchFamily="34" charset="0"/>
                        </a:rPr>
                        <m:t>𝑇h𝑒𝑛</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𝑒𝑎𝑐h</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𝑎𝑐𝑡𝑖𝑜𝑛</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𝑔𝑒𝑡𝑠</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𝑎𝑛</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𝑒𝑥𝑒𝑐𝑢𝑡𝑖𝑜𝑛</m:t>
                      </m:r>
                      <m:r>
                        <a:rPr lang="en-GB" sz="1800" i="1">
                          <a:effectLst/>
                          <a:latin typeface="Cambria Math" panose="02040503050406030204" pitchFamily="18" charset="0"/>
                          <a:ea typeface="Calibri" panose="020F0502020204030204" pitchFamily="34" charset="0"/>
                          <a:cs typeface="Arial" panose="020B0604020202020204" pitchFamily="34" charset="0"/>
                        </a:rPr>
                        <m:t> </m:t>
                      </m:r>
                      <m:r>
                        <a:rPr lang="en-GB" sz="1800" i="1">
                          <a:effectLst/>
                          <a:latin typeface="Cambria Math" panose="02040503050406030204" pitchFamily="18" charset="0"/>
                          <a:ea typeface="Calibri" panose="020F0502020204030204" pitchFamily="34" charset="0"/>
                          <a:cs typeface="Arial" panose="020B0604020202020204" pitchFamily="34" charset="0"/>
                        </a:rPr>
                        <m:t>𝑠h𝑎𝑟𝑒</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buNone/>
                </a:pPr>
                <a14:m>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𝑤</m:t>
                    </m:r>
                    <m:r>
                      <a:rPr lang="en-US" sz="1800" i="1">
                        <a:effectLst/>
                        <a:latin typeface="Cambria Math" panose="02040503050406030204" pitchFamily="18" charset="0"/>
                        <a:ea typeface="Calibri" panose="020F0502020204030204" pitchFamily="34" charset="0"/>
                        <a:cs typeface="Arial" panose="020B0604020202020204" pitchFamily="34" charset="0"/>
                      </a:rPr>
                      <m:t>ᵢ =</m:t>
                    </m:r>
                    <m:f>
                      <m:fPr>
                        <m:ctrlPr>
                          <a:rPr lang="tr-TR" sz="1800" i="1">
                            <a:effectLst/>
                            <a:latin typeface="Cambria Math" panose="02040503050406030204" pitchFamily="18" charset="0"/>
                            <a:ea typeface="Calibri" panose="020F0502020204030204" pitchFamily="34" charset="0"/>
                            <a:cs typeface="Arial" panose="020B0604020202020204" pitchFamily="34" charset="0"/>
                          </a:rPr>
                        </m:ctrlPr>
                      </m:fPr>
                      <m:num>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ᵢ</m:t>
                        </m:r>
                      </m:num>
                      <m:den>
                        <m:nary>
                          <m:naryPr>
                            <m:chr m:val="∑"/>
                            <m:limLoc m:val="undOvr"/>
                            <m:ctrlPr>
                              <a:rPr lang="tr-TR" sz="1800" i="1">
                                <a:effectLst/>
                                <a:latin typeface="Cambria Math" panose="02040503050406030204" pitchFamily="18" charset="0"/>
                                <a:ea typeface="Calibri" panose="020F0502020204030204" pitchFamily="34" charset="0"/>
                                <a:cs typeface="Arial" panose="020B0604020202020204" pitchFamily="34" charset="0"/>
                              </a:rPr>
                            </m:ctrlPr>
                          </m:naryPr>
                          <m:sub>
                            <m:r>
                              <a:rPr lang="en-US" sz="1800" i="1">
                                <a:effectLst/>
                                <a:latin typeface="Cambria Math" panose="02040503050406030204" pitchFamily="18" charset="0"/>
                                <a:ea typeface="Calibri" panose="020F0502020204030204" pitchFamily="34" charset="0"/>
                                <a:cs typeface="Arial" panose="020B0604020202020204" pitchFamily="34" charset="0"/>
                              </a:rPr>
                              <m:t>𝑗</m:t>
                            </m:r>
                            <m:r>
                              <a:rPr lang="en-US" sz="1800" i="1">
                                <a:effectLst/>
                                <a:latin typeface="Cambria Math" panose="02040503050406030204" pitchFamily="18" charset="0"/>
                                <a:ea typeface="Calibri" panose="020F0502020204030204" pitchFamily="34" charset="0"/>
                                <a:cs typeface="Arial" panose="020B0604020202020204" pitchFamily="34" charset="0"/>
                              </a:rPr>
                              <m:t>=1</m:t>
                            </m:r>
                          </m:sub>
                          <m:sup>
                            <m:r>
                              <a:rPr lang="en-US" sz="1800" i="1">
                                <a:effectLst/>
                                <a:latin typeface="Cambria Math" panose="02040503050406030204" pitchFamily="18" charset="0"/>
                                <a:ea typeface="Calibri" panose="020F0502020204030204" pitchFamily="34" charset="0"/>
                                <a:cs typeface="Arial" panose="020B0604020202020204" pitchFamily="34" charset="0"/>
                              </a:rPr>
                              <m:t>𝑛</m:t>
                            </m:r>
                          </m:sup>
                          <m:e>
                            <m:sSub>
                              <m:sSubPr>
                                <m:ctrlPr>
                                  <a:rPr lang="tr-TR" sz="1800" i="1">
                                    <a:effectLst/>
                                    <a:latin typeface="Cambria Math" panose="02040503050406030204" pitchFamily="18" charset="0"/>
                                    <a:ea typeface="Calibri" panose="020F0502020204030204" pitchFamily="34" charset="0"/>
                                    <a:cs typeface="Arial" panose="020B0604020202020204" pitchFamily="34" charset="0"/>
                                  </a:rPr>
                                </m:ctrlPr>
                              </m:sSubPr>
                              <m:e>
                                <m:r>
                                  <a:rPr lang="en-US" sz="1800" i="1">
                                    <a:effectLst/>
                                    <a:latin typeface="Cambria Math" panose="02040503050406030204" pitchFamily="18" charset="0"/>
                                    <a:ea typeface="Calibri" panose="020F0502020204030204" pitchFamily="34" charset="0"/>
                                    <a:cs typeface="Arial" panose="020B0604020202020204" pitchFamily="34" charset="0"/>
                                  </a:rPr>
                                  <m:t>𝜇</m:t>
                                </m:r>
                              </m:e>
                              <m:sub>
                                <m:r>
                                  <a:rPr lang="en-US" sz="1800" i="1">
                                    <a:effectLst/>
                                    <a:latin typeface="Cambria Math" panose="02040503050406030204" pitchFamily="18" charset="0"/>
                                    <a:ea typeface="Calibri" panose="020F0502020204030204" pitchFamily="34" charset="0"/>
                                    <a:cs typeface="Arial" panose="020B0604020202020204" pitchFamily="34" charset="0"/>
                                  </a:rPr>
                                  <m:t>𝑗</m:t>
                                </m:r>
                              </m:sub>
                            </m:sSub>
                          </m:e>
                        </m:nary>
                      </m:den>
                    </m:f>
                    <m:r>
                      <a:rPr lang="en-US" sz="1800" i="1">
                        <a:effectLst/>
                        <a:latin typeface="Cambria Math" panose="02040503050406030204" pitchFamily="18" charset="0"/>
                        <a:ea typeface="Times New Roman" panose="02020603050405020304" pitchFamily="18" charset="0"/>
                        <a:cs typeface="Arial" panose="020B0604020202020204" pitchFamily="34" charset="0"/>
                      </a:rPr>
                      <m:t> </m:t>
                    </m:r>
                  </m:oMath>
                </a14:m>
                <a:r>
                  <a:rPr lang="en-US" sz="1800" dirty="0">
                    <a:effectLst/>
                    <a:latin typeface="Calibri" panose="020F0502020204030204" pitchFamily="34" charset="0"/>
                    <a:ea typeface="Times New Roman" panose="02020603050405020304" pitchFamily="18" charset="0"/>
                    <a:cs typeface="Arial" panose="020B0604020202020204" pitchFamily="34" charset="0"/>
                  </a:rPr>
                  <a:t> , </a:t>
                </a:r>
                <a14:m>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𝑅𝑒𝑠𝑜𝑢𝑟𝑐𝑒</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𝐴𝑙𝑙𝑜𝑐𝑎𝑡𝑖𝑜𝑛</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𝐴</m:t>
                    </m:r>
                    <m:r>
                      <a:rPr lang="en-US" sz="1800" i="1">
                        <a:effectLst/>
                        <a:latin typeface="Cambria Math" panose="02040503050406030204" pitchFamily="18" charset="0"/>
                        <a:ea typeface="Calibri" panose="020F0502020204030204" pitchFamily="34" charset="0"/>
                        <a:cs typeface="Arial" panose="020B0604020202020204" pitchFamily="34" charset="0"/>
                      </a:rPr>
                      <m:t>ᵢ) = </m:t>
                    </m:r>
                    <m:r>
                      <a:rPr lang="en-US" sz="1800" i="1">
                        <a:effectLst/>
                        <a:latin typeface="Cambria Math" panose="02040503050406030204" pitchFamily="18" charset="0"/>
                        <a:ea typeface="Calibri" panose="020F0502020204030204" pitchFamily="34" charset="0"/>
                        <a:cs typeface="Arial" panose="020B0604020202020204" pitchFamily="34" charset="0"/>
                      </a:rPr>
                      <m:t>𝑅</m:t>
                    </m:r>
                    <m:r>
                      <a:rPr lang="en-US" sz="1800" i="1">
                        <a:effectLst/>
                        <a:latin typeface="Cambria Math" panose="02040503050406030204" pitchFamily="18" charset="0"/>
                        <a:ea typeface="Calibri" panose="020F0502020204030204" pitchFamily="34" charset="0"/>
                        <a:cs typeface="Arial" panose="020B0604020202020204" pitchFamily="34" charset="0"/>
                      </a:rPr>
                      <m:t> × </m:t>
                    </m:r>
                    <m:r>
                      <a:rPr lang="en-US" sz="1800" i="1">
                        <a:effectLst/>
                        <a:latin typeface="Cambria Math" panose="02040503050406030204" pitchFamily="18" charset="0"/>
                        <a:ea typeface="Calibri" panose="020F0502020204030204" pitchFamily="34" charset="0"/>
                        <a:cs typeface="Arial" panose="020B0604020202020204" pitchFamily="34" charset="0"/>
                      </a:rPr>
                      <m:t>𝑤</m:t>
                    </m:r>
                    <m:r>
                      <a:rPr lang="en-US" sz="1800" i="1">
                        <a:effectLst/>
                        <a:latin typeface="Cambria Math" panose="02040503050406030204" pitchFamily="18" charset="0"/>
                        <a:ea typeface="Calibri" panose="020F0502020204030204" pitchFamily="34" charset="0"/>
                        <a:cs typeface="Arial" panose="020B0604020202020204" pitchFamily="34" charset="0"/>
                      </a:rPr>
                      <m:t>ᵢ</m:t>
                    </m:r>
                  </m:oMath>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𝐸𝑥𝑎𝑚𝑝𝑙𝑒</m:t>
                      </m:r>
                      <m:r>
                        <a:rPr lang="en-US" sz="1800" i="1">
                          <a:effectLst/>
                          <a:latin typeface="Cambria Math" panose="02040503050406030204" pitchFamily="18" charset="0"/>
                          <a:ea typeface="Calibri" panose="020F0502020204030204" pitchFamily="34" charset="0"/>
                          <a:cs typeface="Arial" panose="020B0604020202020204" pitchFamily="34" charset="0"/>
                        </a:rPr>
                        <m:t>:</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𝐴𝑒𝑟𝑖𝑎𝑙</m:t>
                      </m:r>
                      <m:r>
                        <a:rPr lang="en-US" sz="1800" i="1">
                          <a:effectLst/>
                          <a:latin typeface="Cambria Math" panose="02040503050406030204" pitchFamily="18" charset="0"/>
                          <a:ea typeface="Calibri" panose="020F0502020204030204" pitchFamily="34" charset="0"/>
                          <a:cs typeface="Arial" panose="020B0604020202020204" pitchFamily="34" charset="0"/>
                        </a:rPr>
                        <m:t>) = 0.7, </m:t>
                      </m:r>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𝐺𝑟𝑜𝑢𝑛𝑑</m:t>
                      </m:r>
                      <m:r>
                        <a:rPr lang="en-US" sz="1800" i="1">
                          <a:effectLst/>
                          <a:latin typeface="Cambria Math" panose="02040503050406030204" pitchFamily="18" charset="0"/>
                          <a:ea typeface="Calibri" panose="020F0502020204030204" pitchFamily="34" charset="0"/>
                          <a:cs typeface="Arial" panose="020B0604020202020204" pitchFamily="34" charset="0"/>
                        </a:rPr>
                        <m:t>) = 0.3, </m:t>
                      </m:r>
                      <m:r>
                        <a:rPr lang="en-US" sz="1800" i="1">
                          <a:effectLst/>
                          <a:latin typeface="Cambria Math" panose="02040503050406030204" pitchFamily="18" charset="0"/>
                          <a:ea typeface="Calibri" panose="020F0502020204030204" pitchFamily="34" charset="0"/>
                          <a:cs typeface="Arial" panose="020B0604020202020204" pitchFamily="34" charset="0"/>
                        </a:rPr>
                        <m:t>𝑅</m:t>
                      </m:r>
                      <m:r>
                        <a:rPr lang="en-US" sz="1800" i="1">
                          <a:effectLst/>
                          <a:latin typeface="Cambria Math" panose="02040503050406030204" pitchFamily="18" charset="0"/>
                          <a:ea typeface="Calibri" panose="020F0502020204030204" pitchFamily="34" charset="0"/>
                          <a:cs typeface="Arial" panose="020B0604020202020204" pitchFamily="34" charset="0"/>
                        </a:rPr>
                        <m:t> = 10 </m:t>
                      </m:r>
                      <m:r>
                        <a:rPr lang="en-US" sz="1800" i="1">
                          <a:effectLst/>
                          <a:latin typeface="Cambria Math" panose="02040503050406030204" pitchFamily="18" charset="0"/>
                          <a:ea typeface="Calibri" panose="020F0502020204030204" pitchFamily="34" charset="0"/>
                          <a:cs typeface="Arial" panose="020B0604020202020204" pitchFamily="34" charset="0"/>
                        </a:rPr>
                        <m:t>𝑢𝑛𝑖𝑡𝑠</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𝐴𝑒𝑟𝑖𝑎𝑙</m:t>
                      </m:r>
                      <m:r>
                        <a:rPr lang="en-US" sz="1800" i="1">
                          <a:effectLst/>
                          <a:latin typeface="Cambria Math" panose="02040503050406030204" pitchFamily="18" charset="0"/>
                          <a:ea typeface="Calibri" panose="020F0502020204030204" pitchFamily="34" charset="0"/>
                          <a:cs typeface="Arial" panose="020B0604020202020204" pitchFamily="34" charset="0"/>
                        </a:rPr>
                        <m:t> = 7 </m:t>
                      </m:r>
                      <m:r>
                        <a:rPr lang="en-US" sz="1800" i="1">
                          <a:effectLst/>
                          <a:latin typeface="Cambria Math" panose="02040503050406030204" pitchFamily="18" charset="0"/>
                          <a:ea typeface="Calibri" panose="020F0502020204030204" pitchFamily="34" charset="0"/>
                          <a:cs typeface="Arial" panose="020B0604020202020204" pitchFamily="34" charset="0"/>
                        </a:rPr>
                        <m:t>𝑢𝑛𝑖𝑡𝑠</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𝐺𝑟𝑜𝑢𝑛𝑑</m:t>
                      </m:r>
                      <m:r>
                        <a:rPr lang="en-US" sz="1800" i="1">
                          <a:effectLst/>
                          <a:latin typeface="Cambria Math" panose="02040503050406030204" pitchFamily="18" charset="0"/>
                          <a:ea typeface="Calibri" panose="020F0502020204030204" pitchFamily="34" charset="0"/>
                          <a:cs typeface="Arial" panose="020B0604020202020204" pitchFamily="34" charset="0"/>
                        </a:rPr>
                        <m:t> = 3 </m:t>
                      </m:r>
                      <m:r>
                        <a:rPr lang="en-US" sz="1800" i="1">
                          <a:effectLst/>
                          <a:latin typeface="Cambria Math" panose="02040503050406030204" pitchFamily="18" charset="0"/>
                          <a:ea typeface="Calibri" panose="020F0502020204030204" pitchFamily="34" charset="0"/>
                          <a:cs typeface="Arial" panose="020B0604020202020204" pitchFamily="34" charset="0"/>
                        </a:rPr>
                        <m:t>𝑢𝑛𝑖𝑡𝑠</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EAD7029A-0C6D-2299-18FD-4E904D8A58AF}"/>
                  </a:ext>
                </a:extLst>
              </p:cNvPr>
              <p:cNvSpPr txBox="1">
                <a:spLocks noRot="1" noChangeAspect="1" noMove="1" noResize="1" noEditPoints="1" noAdjustHandles="1" noChangeArrowheads="1" noChangeShapeType="1" noTextEdit="1"/>
              </p:cNvSpPr>
              <p:nvPr/>
            </p:nvSpPr>
            <p:spPr>
              <a:xfrm>
                <a:off x="184149" y="780575"/>
                <a:ext cx="11560347" cy="4462825"/>
              </a:xfrm>
              <a:prstGeom prst="rect">
                <a:avLst/>
              </a:prstGeom>
              <a:blipFill>
                <a:blip r:embed="rId2"/>
                <a:stretch>
                  <a:fillRect l="-422" t="-820"/>
                </a:stretch>
              </a:blipFill>
            </p:spPr>
            <p:txBody>
              <a:bodyPr/>
              <a:lstStyle/>
              <a:p>
                <a:r>
                  <a:rPr lang="tr-TR">
                    <a:noFill/>
                  </a:rPr>
                  <a:t> </a:t>
                </a:r>
              </a:p>
            </p:txBody>
          </p:sp>
        </mc:Fallback>
      </mc:AlternateContent>
    </p:spTree>
    <p:extLst>
      <p:ext uri="{BB962C8B-B14F-4D97-AF65-F5344CB8AC3E}">
        <p14:creationId xmlns:p14="http://schemas.microsoft.com/office/powerpoint/2010/main" val="544297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A902F-D249-C49B-5F96-C7199222BFFC}"/>
              </a:ext>
            </a:extLst>
          </p:cNvPr>
          <p:cNvSpPr>
            <a:spLocks noGrp="1"/>
          </p:cNvSpPr>
          <p:nvPr>
            <p:ph type="title"/>
          </p:nvPr>
        </p:nvSpPr>
        <p:spPr/>
        <p:txBody>
          <a:bodyPr/>
          <a:lstStyle/>
          <a:p>
            <a:r>
              <a:rPr lang="en-US" dirty="0"/>
              <a:t>Fuzzy Decision Layer : Example (Multiple Decisions)</a:t>
            </a:r>
            <a:endParaRPr lang="tr-TR" dirty="0"/>
          </a:p>
        </p:txBody>
      </p:sp>
      <p:sp>
        <p:nvSpPr>
          <p:cNvPr id="4" name="Slide Number Placeholder 3">
            <a:extLst>
              <a:ext uri="{FF2B5EF4-FFF2-40B4-BE49-F238E27FC236}">
                <a16:creationId xmlns:a16="http://schemas.microsoft.com/office/drawing/2014/main" id="{8A186900-5309-7BA1-BC5D-13870022B21F}"/>
              </a:ext>
            </a:extLst>
          </p:cNvPr>
          <p:cNvSpPr>
            <a:spLocks noGrp="1"/>
          </p:cNvSpPr>
          <p:nvPr>
            <p:ph type="sldNum" sz="quarter" idx="12"/>
          </p:nvPr>
        </p:nvSpPr>
        <p:spPr/>
        <p:txBody>
          <a:bodyPr/>
          <a:lstStyle/>
          <a:p>
            <a:fld id="{0F4FBE90-EB1A-4CD8-B134-C7A82858680F}" type="slidenum">
              <a:rPr lang="en-US" smtClean="0"/>
              <a:t>14</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4CEFFD9-EF5D-3D2A-BA1E-EB46070DF8A6}"/>
                  </a:ext>
                </a:extLst>
              </p:cNvPr>
              <p:cNvSpPr txBox="1"/>
              <p:nvPr/>
            </p:nvSpPr>
            <p:spPr>
              <a:xfrm>
                <a:off x="184150" y="1283027"/>
                <a:ext cx="11842750" cy="3283335"/>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n-GB" sz="1800" b="1" dirty="0">
                    <a:effectLst/>
                    <a:latin typeface="Calibri" panose="020F0502020204030204" pitchFamily="34" charset="0"/>
                    <a:ea typeface="Calibri" panose="020F0502020204030204" pitchFamily="34" charset="0"/>
                    <a:cs typeface="Arial" panose="020B0604020202020204" pitchFamily="34" charset="0"/>
                  </a:rPr>
                  <a:t>Parallel Planning:</a:t>
                </a:r>
                <a:r>
                  <a:rPr lang="en-GB" sz="1800" dirty="0">
                    <a:effectLst/>
                    <a:latin typeface="Calibri" panose="020F0502020204030204" pitchFamily="34" charset="0"/>
                    <a:ea typeface="Calibri" panose="020F0502020204030204" pitchFamily="34" charset="0"/>
                    <a:cs typeface="Arial" panose="020B0604020202020204" pitchFamily="34" charset="0"/>
                  </a:rPr>
                  <a:t> High-priority and moderate-priority actions may be initiated simultaneously by different units.</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buNone/>
                </a:pPr>
                <a:r>
                  <a:rPr lang="en-GB" sz="1800" dirty="0">
                    <a:effectLst/>
                    <a:latin typeface="Calibri" panose="020F0502020204030204" pitchFamily="34" charset="0"/>
                    <a:ea typeface="Calibri" panose="020F0502020204030204" pitchFamily="34" charset="0"/>
                    <a:cs typeface="Arial" panose="020B0604020202020204" pitchFamily="34" charset="0"/>
                  </a:rPr>
                  <a:t> </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228600" indent="228600" algn="just">
                  <a:lnSpc>
                    <a:spcPct val="115000"/>
                  </a:lnSpc>
                  <a:buNone/>
                </a:pPr>
                <a:r>
                  <a:rPr lang="en-US" sz="1800" dirty="0">
                    <a:effectLst/>
                    <a:latin typeface="Calibri" panose="020F0502020204030204" pitchFamily="34" charset="0"/>
                    <a:ea typeface="Calibri" panose="020F0502020204030204" pitchFamily="34" charset="0"/>
                    <a:cs typeface="Arial" panose="020B0604020202020204" pitchFamily="34" charset="0"/>
                  </a:rPr>
                  <a:t>All actions with activation degree greater than or equal to a threshold τ are executed simultaneously.</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𝑃𝑎𝑟𝑎𝑙𝑙𝑒𝑙𝐴𝑐𝑡𝑖𝑜𝑛𝑠</m:t>
                      </m:r>
                      <m:r>
                        <a:rPr lang="en-US" sz="1800" i="1">
                          <a:effectLst/>
                          <a:latin typeface="Cambria Math" panose="02040503050406030204" pitchFamily="18" charset="0"/>
                          <a:ea typeface="Calibri" panose="020F0502020204030204" pitchFamily="34" charset="0"/>
                          <a:cs typeface="Arial" panose="020B0604020202020204" pitchFamily="34" charset="0"/>
                        </a:rPr>
                        <m:t> = { </m:t>
                      </m:r>
                      <m:sSub>
                        <m:sSubPr>
                          <m:ctrlPr>
                            <a:rPr lang="tr-TR" sz="1800" i="1">
                              <a:effectLst/>
                              <a:latin typeface="Cambria Math" panose="02040503050406030204" pitchFamily="18" charset="0"/>
                              <a:ea typeface="Calibri" panose="020F0502020204030204" pitchFamily="34" charset="0"/>
                              <a:cs typeface="Arial" panose="020B0604020202020204" pitchFamily="34" charset="0"/>
                            </a:rPr>
                          </m:ctrlPr>
                        </m:sSubPr>
                        <m:e>
                          <m:r>
                            <a:rPr lang="en-US" sz="1800" i="1">
                              <a:effectLst/>
                              <a:latin typeface="Cambria Math" panose="02040503050406030204" pitchFamily="18" charset="0"/>
                              <a:ea typeface="Calibri" panose="020F0502020204030204" pitchFamily="34" charset="0"/>
                              <a:cs typeface="Arial" panose="020B0604020202020204" pitchFamily="34" charset="0"/>
                            </a:rPr>
                            <m:t>𝑎</m:t>
                          </m:r>
                        </m:e>
                        <m:sub>
                          <m:r>
                            <a:rPr lang="en-US" sz="1800" i="1">
                              <a:effectLst/>
                              <a:latin typeface="Cambria Math" panose="02040503050406030204" pitchFamily="18" charset="0"/>
                              <a:ea typeface="Calibri" panose="020F0502020204030204" pitchFamily="34" charset="0"/>
                              <a:cs typeface="Arial" panose="020B0604020202020204" pitchFamily="34" charset="0"/>
                            </a:rPr>
                            <m:t>𝑖</m:t>
                          </m:r>
                        </m:sub>
                      </m:sSub>
                      <m:r>
                        <a:rPr lang="en-US" sz="1800" i="1">
                          <a:effectLst/>
                          <a:latin typeface="Cambria Math" panose="02040503050406030204" pitchFamily="18" charset="0"/>
                          <a:ea typeface="Calibri" panose="020F0502020204030204" pitchFamily="34" charset="0"/>
                          <a:cs typeface="Arial" panose="020B0604020202020204" pitchFamily="34" charset="0"/>
                        </a:rPr>
                        <m:t>∈</m:t>
                      </m:r>
                      <m:r>
                        <a:rPr lang="en-US" sz="1800" i="1">
                          <a:effectLst/>
                          <a:latin typeface="Cambria Math" panose="02040503050406030204" pitchFamily="18" charset="0"/>
                          <a:ea typeface="Calibri" panose="020F0502020204030204" pitchFamily="34" charset="0"/>
                          <a:cs typeface="Arial" panose="020B0604020202020204" pitchFamily="34" charset="0"/>
                        </a:rPr>
                        <m:t>𝐴</m:t>
                      </m:r>
                      <m:r>
                        <a:rPr lang="en-US" sz="1800" i="1">
                          <a:effectLst/>
                          <a:latin typeface="Cambria Math" panose="02040503050406030204" pitchFamily="18" charset="0"/>
                          <a:ea typeface="Calibri" panose="020F0502020204030204" pitchFamily="34" charset="0"/>
                          <a:cs typeface="Arial" panose="020B0604020202020204" pitchFamily="34" charset="0"/>
                        </a:rPr>
                        <m:t> | </m:t>
                      </m:r>
                      <m:r>
                        <a:rPr lang="en-US" sz="1800" i="1">
                          <a:effectLst/>
                          <a:latin typeface="Cambria Math" panose="02040503050406030204" pitchFamily="18" charset="0"/>
                          <a:ea typeface="Calibri" panose="020F0502020204030204" pitchFamily="34" charset="0"/>
                          <a:cs typeface="Arial" panose="020B0604020202020204" pitchFamily="34" charset="0"/>
                        </a:rPr>
                        <m:t>𝜇</m:t>
                      </m:r>
                      <m:r>
                        <a:rPr lang="en-US" sz="1800" i="1">
                          <a:effectLst/>
                          <a:latin typeface="Cambria Math" panose="02040503050406030204" pitchFamily="18" charset="0"/>
                          <a:ea typeface="Calibri" panose="020F0502020204030204" pitchFamily="34" charset="0"/>
                          <a:cs typeface="Arial" panose="020B0604020202020204" pitchFamily="34" charset="0"/>
                        </a:rPr>
                        <m:t>ᵢ ≥ </m:t>
                      </m:r>
                      <m:r>
                        <a:rPr lang="en-US" sz="1800" i="1">
                          <a:effectLst/>
                          <a:latin typeface="Cambria Math" panose="02040503050406030204" pitchFamily="18" charset="0"/>
                          <a:ea typeface="Calibri" panose="020F0502020204030204" pitchFamily="34" charset="0"/>
                          <a:cs typeface="Arial" panose="020B0604020202020204" pitchFamily="34" charset="0"/>
                        </a:rPr>
                        <m:t>𝜏</m:t>
                      </m:r>
                      <m:r>
                        <a:rPr lang="en-US" sz="1800" i="1">
                          <a:effectLst/>
                          <a:latin typeface="Cambria Math" panose="02040503050406030204" pitchFamily="18" charset="0"/>
                          <a:ea typeface="Calibri" panose="020F0502020204030204" pitchFamily="34" charset="0"/>
                          <a:cs typeface="Arial" panose="020B0604020202020204" pitchFamily="34" charset="0"/>
                        </a:rPr>
                        <m:t> }</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r>
                  <a:rPr lang="en-US" sz="1800" dirty="0">
                    <a:effectLst/>
                    <a:latin typeface="Calibri" panose="020F0502020204030204" pitchFamily="34" charset="0"/>
                    <a:ea typeface="Calibri" panose="020F0502020204030204" pitchFamily="34" charset="0"/>
                    <a:cs typeface="Arial" panose="020B0604020202020204" pitchFamily="34" charset="0"/>
                  </a:rPr>
                  <a:t>Example:</a:t>
                </a:r>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𝜇</m:t>
                      </m:r>
                      <m:d>
                        <m:dPr>
                          <m:ctrlPr>
                            <a:rPr lang="tr-TR" sz="1800" i="1">
                              <a:effectLst/>
                              <a:latin typeface="Cambria Math" panose="02040503050406030204" pitchFamily="18" charset="0"/>
                              <a:ea typeface="Calibri" panose="020F0502020204030204" pitchFamily="34" charset="0"/>
                              <a:cs typeface="Arial" panose="020B0604020202020204" pitchFamily="34" charset="0"/>
                            </a:rPr>
                          </m:ctrlPr>
                        </m:dPr>
                        <m:e>
                          <m:r>
                            <a:rPr lang="en-US" sz="1800" i="1">
                              <a:effectLst/>
                              <a:latin typeface="Cambria Math" panose="02040503050406030204" pitchFamily="18" charset="0"/>
                              <a:ea typeface="Calibri" panose="020F0502020204030204" pitchFamily="34" charset="0"/>
                              <a:cs typeface="Arial" panose="020B0604020202020204" pitchFamily="34" charset="0"/>
                            </a:rPr>
                            <m:t>𝐷𝑖𝑠𝑝𝑎𝑡𝑐h</m:t>
                          </m:r>
                        </m:e>
                      </m:d>
                      <m:r>
                        <a:rPr lang="en-US" sz="1800" i="1">
                          <a:effectLst/>
                          <a:latin typeface="Cambria Math" panose="02040503050406030204" pitchFamily="18" charset="0"/>
                          <a:ea typeface="Calibri" panose="020F0502020204030204" pitchFamily="34" charset="0"/>
                          <a:cs typeface="Arial" panose="020B0604020202020204" pitchFamily="34" charset="0"/>
                        </a:rPr>
                        <m:t>= 0.85, </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𝜇</m:t>
                      </m:r>
                      <m:d>
                        <m:dPr>
                          <m:ctrlPr>
                            <a:rPr lang="tr-TR" sz="1800" i="1">
                              <a:effectLst/>
                              <a:latin typeface="Cambria Math" panose="02040503050406030204" pitchFamily="18" charset="0"/>
                              <a:ea typeface="Calibri" panose="020F0502020204030204" pitchFamily="34" charset="0"/>
                              <a:cs typeface="Arial" panose="020B0604020202020204" pitchFamily="34" charset="0"/>
                            </a:rPr>
                          </m:ctrlPr>
                        </m:dPr>
                        <m:e>
                          <m:r>
                            <a:rPr lang="en-US" sz="1800" i="1">
                              <a:effectLst/>
                              <a:latin typeface="Cambria Math" panose="02040503050406030204" pitchFamily="18" charset="0"/>
                              <a:ea typeface="Calibri" panose="020F0502020204030204" pitchFamily="34" charset="0"/>
                              <a:cs typeface="Arial" panose="020B0604020202020204" pitchFamily="34" charset="0"/>
                            </a:rPr>
                            <m:t>𝐺𝑟𝑜𝑢𝑛𝑑</m:t>
                          </m:r>
                        </m:e>
                      </m:d>
                      <m:r>
                        <a:rPr lang="en-US" sz="1800" i="1">
                          <a:effectLst/>
                          <a:latin typeface="Cambria Math" panose="02040503050406030204" pitchFamily="18" charset="0"/>
                          <a:ea typeface="Calibri" panose="020F0502020204030204" pitchFamily="34" charset="0"/>
                          <a:cs typeface="Arial" panose="020B0604020202020204" pitchFamily="34" charset="0"/>
                        </a:rPr>
                        <m:t>= 0.65,</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𝜇</m:t>
                      </m:r>
                      <m:d>
                        <m:dPr>
                          <m:ctrlPr>
                            <a:rPr lang="tr-TR" sz="1800" i="1">
                              <a:effectLst/>
                              <a:latin typeface="Cambria Math" panose="02040503050406030204" pitchFamily="18" charset="0"/>
                              <a:ea typeface="Calibri" panose="020F0502020204030204" pitchFamily="34" charset="0"/>
                              <a:cs typeface="Arial" panose="020B0604020202020204" pitchFamily="34" charset="0"/>
                            </a:rPr>
                          </m:ctrlPr>
                        </m:dPr>
                        <m:e>
                          <m:r>
                            <a:rPr lang="en-US" sz="1800" i="1">
                              <a:effectLst/>
                              <a:latin typeface="Cambria Math" panose="02040503050406030204" pitchFamily="18" charset="0"/>
                              <a:ea typeface="Calibri" panose="020F0502020204030204" pitchFamily="34" charset="0"/>
                              <a:cs typeface="Arial" panose="020B0604020202020204" pitchFamily="34" charset="0"/>
                            </a:rPr>
                            <m:t>𝐸𝑣𝑎𝑐𝑢𝑎𝑡𝑖𝑜𝑛</m:t>
                          </m:r>
                        </m:e>
                      </m:d>
                      <m:r>
                        <a:rPr lang="en-US" sz="1800" i="1">
                          <a:effectLst/>
                          <a:latin typeface="Cambria Math" panose="02040503050406030204" pitchFamily="18" charset="0"/>
                          <a:ea typeface="Calibri" panose="020F0502020204030204" pitchFamily="34" charset="0"/>
                          <a:cs typeface="Arial" panose="020B0604020202020204" pitchFamily="34" charset="0"/>
                        </a:rPr>
                        <m:t>= 0.4, </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𝜏</m:t>
                      </m:r>
                      <m:r>
                        <a:rPr lang="en-US" sz="1800" i="1">
                          <a:effectLst/>
                          <a:latin typeface="Cambria Math" panose="02040503050406030204" pitchFamily="18" charset="0"/>
                          <a:ea typeface="Calibri" panose="020F0502020204030204" pitchFamily="34" charset="0"/>
                          <a:cs typeface="Arial" panose="020B0604020202020204" pitchFamily="34" charset="0"/>
                        </a:rPr>
                        <m:t> = 0.6</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𝐸𝑥𝑒𝑐𝑢𝑡𝑒</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𝑖𝑛</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𝑝𝑎𝑟𝑎𝑙𝑙𝑒𝑙</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𝐷𝑖𝑠𝑝𝑎𝑡𝑐h</m:t>
                      </m:r>
                      <m:r>
                        <a:rPr lang="en-US" sz="1800" i="1">
                          <a:effectLst/>
                          <a:latin typeface="Cambria Math" panose="02040503050406030204" pitchFamily="18" charset="0"/>
                          <a:ea typeface="Calibri" panose="020F0502020204030204" pitchFamily="34" charset="0"/>
                          <a:cs typeface="Arial" panose="020B0604020202020204" pitchFamily="34" charset="0"/>
                        </a:rPr>
                        <m:t>, </m:t>
                      </m:r>
                      <m:r>
                        <a:rPr lang="en-US" sz="1800" i="1">
                          <a:effectLst/>
                          <a:latin typeface="Cambria Math" panose="02040503050406030204" pitchFamily="18" charset="0"/>
                          <a:ea typeface="Calibri" panose="020F0502020204030204" pitchFamily="34" charset="0"/>
                          <a:cs typeface="Arial" panose="020B0604020202020204" pitchFamily="34" charset="0"/>
                        </a:rPr>
                        <m:t>𝐺𝑟𝑜𝑢𝑛𝑑</m:t>
                      </m:r>
                    </m:oMath>
                  </m:oMathPara>
                </a14:m>
                <a:endParaRPr lang="tr-TR" sz="18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24CEFFD9-EF5D-3D2A-BA1E-EB46070DF8A6}"/>
                  </a:ext>
                </a:extLst>
              </p:cNvPr>
              <p:cNvSpPr txBox="1">
                <a:spLocks noRot="1" noChangeAspect="1" noMove="1" noResize="1" noEditPoints="1" noAdjustHandles="1" noChangeArrowheads="1" noChangeShapeType="1" noTextEdit="1"/>
              </p:cNvSpPr>
              <p:nvPr/>
            </p:nvSpPr>
            <p:spPr>
              <a:xfrm>
                <a:off x="184150" y="1283027"/>
                <a:ext cx="11842750" cy="3283335"/>
              </a:xfrm>
              <a:prstGeom prst="rect">
                <a:avLst/>
              </a:prstGeom>
              <a:blipFill>
                <a:blip r:embed="rId2"/>
                <a:stretch>
                  <a:fillRect l="-412" t="-1113"/>
                </a:stretch>
              </a:blipFill>
            </p:spPr>
            <p:txBody>
              <a:bodyPr/>
              <a:lstStyle/>
              <a:p>
                <a:r>
                  <a:rPr lang="tr-TR">
                    <a:noFill/>
                  </a:rPr>
                  <a:t> </a:t>
                </a:r>
              </a:p>
            </p:txBody>
          </p:sp>
        </mc:Fallback>
      </mc:AlternateContent>
    </p:spTree>
    <p:extLst>
      <p:ext uri="{BB962C8B-B14F-4D97-AF65-F5344CB8AC3E}">
        <p14:creationId xmlns:p14="http://schemas.microsoft.com/office/powerpoint/2010/main" val="358129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F5D5-CA8D-A3A8-69AD-29E2A888BBD3}"/>
              </a:ext>
            </a:extLst>
          </p:cNvPr>
          <p:cNvSpPr>
            <a:spLocks noGrp="1"/>
          </p:cNvSpPr>
          <p:nvPr>
            <p:ph type="title"/>
          </p:nvPr>
        </p:nvSpPr>
        <p:spPr/>
        <p:txBody>
          <a:bodyPr/>
          <a:lstStyle/>
          <a:p>
            <a:r>
              <a:rPr lang="en-US" dirty="0"/>
              <a:t>Fuzzy Decision Layer : RL &amp; LLM  &amp; Feedback Integration</a:t>
            </a:r>
            <a:endParaRPr lang="tr-TR" dirty="0"/>
          </a:p>
        </p:txBody>
      </p:sp>
      <p:sp>
        <p:nvSpPr>
          <p:cNvPr id="4" name="Slide Number Placeholder 3">
            <a:extLst>
              <a:ext uri="{FF2B5EF4-FFF2-40B4-BE49-F238E27FC236}">
                <a16:creationId xmlns:a16="http://schemas.microsoft.com/office/drawing/2014/main" id="{8231C160-4BEA-C3FA-C081-DC2D52E33A5F}"/>
              </a:ext>
            </a:extLst>
          </p:cNvPr>
          <p:cNvSpPr>
            <a:spLocks noGrp="1"/>
          </p:cNvSpPr>
          <p:nvPr>
            <p:ph type="sldNum" sz="quarter" idx="12"/>
          </p:nvPr>
        </p:nvSpPr>
        <p:spPr/>
        <p:txBody>
          <a:bodyPr/>
          <a:lstStyle/>
          <a:p>
            <a:fld id="{0F4FBE90-EB1A-4CD8-B134-C7A82858680F}" type="slidenum">
              <a:rPr lang="en-US" smtClean="0"/>
              <a:t>15</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93A6720-B490-B268-C901-215D0D8A03E1}"/>
                  </a:ext>
                </a:extLst>
              </p:cNvPr>
              <p:cNvSpPr txBox="1"/>
              <p:nvPr/>
            </p:nvSpPr>
            <p:spPr>
              <a:xfrm>
                <a:off x="123289" y="622999"/>
                <a:ext cx="12146281" cy="5541773"/>
              </a:xfrm>
              <a:prstGeom prst="rect">
                <a:avLst/>
              </a:prstGeom>
              <a:noFill/>
            </p:spPr>
            <p:txBody>
              <a:bodyPr wrap="square">
                <a:spAutoFit/>
              </a:bodyPr>
              <a:lstStyle/>
              <a:p>
                <a:pPr>
                  <a:lnSpc>
                    <a:spcPct val="107000"/>
                  </a:lnSpc>
                  <a:spcAft>
                    <a:spcPts val="800"/>
                  </a:spcAft>
                  <a:buNone/>
                </a:pPr>
                <a:r>
                  <a:rPr lang="en-US" sz="1600" dirty="0">
                    <a:effectLst/>
                    <a:ea typeface="Times New Roman" panose="02020603050405020304" pitchFamily="18" charset="0"/>
                    <a:cs typeface="Calibri" panose="020F0502020204030204" pitchFamily="34" charset="0"/>
                  </a:rPr>
                  <a:t>The Fuzzy Decision Layer is responsible for interpreting real-time field data by mapping numerical sensor inputs to linguistic variables (e.g., wind speed = HIGH). It handles uncertainty using membership functions.</a:t>
                </a:r>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US" sz="1600" dirty="0">
                    <a:effectLst/>
                    <a:ea typeface="Times New Roman" panose="02020603050405020304" pitchFamily="18" charset="0"/>
                    <a:cs typeface="Calibri" panose="020F0502020204030204" pitchFamily="34" charset="0"/>
                  </a:rPr>
                  <a:t>Mathematical Basis:</a:t>
                </a:r>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600" i="1">
                              <a:effectLst/>
                              <a:latin typeface="Cambria Math" panose="02040503050406030204" pitchFamily="18" charset="0"/>
                              <a:ea typeface="Times New Roman" panose="02020603050405020304" pitchFamily="18" charset="0"/>
                              <a:cs typeface="Calibri" panose="020F0502020204030204" pitchFamily="34" charset="0"/>
                            </a:rPr>
                            <m:t>𝜇</m:t>
                          </m:r>
                        </m:e>
                        <m:sub>
                          <m:r>
                            <a:rPr lang="en-US" sz="1600" i="1">
                              <a:effectLst/>
                              <a:latin typeface="Cambria Math" panose="02040503050406030204" pitchFamily="18" charset="0"/>
                              <a:ea typeface="Times New Roman" panose="02020603050405020304" pitchFamily="18" charset="0"/>
                              <a:cs typeface="Calibri" panose="020F0502020204030204" pitchFamily="34" charset="0"/>
                            </a:rPr>
                            <m:t>𝐻𝐼𝐺𝐻</m:t>
                          </m:r>
                          <m:d>
                            <m:d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n-US" sz="1600" i="1">
                                  <a:effectLst/>
                                  <a:latin typeface="Cambria Math" panose="02040503050406030204" pitchFamily="18" charset="0"/>
                                  <a:ea typeface="Times New Roman" panose="02020603050405020304" pitchFamily="18" charset="0"/>
                                  <a:cs typeface="Calibri" panose="020F0502020204030204" pitchFamily="34" charset="0"/>
                                </a:rPr>
                                <m:t>𝑥</m:t>
                              </m:r>
                            </m:e>
                          </m:d>
                        </m:sub>
                      </m:sSub>
                      <m:r>
                        <a:rPr lang="en-US" sz="1600" i="1">
                          <a:effectLst/>
                          <a:latin typeface="Cambria Math" panose="02040503050406030204" pitchFamily="18" charset="0"/>
                          <a:ea typeface="Times New Roman" panose="02020603050405020304" pitchFamily="18" charset="0"/>
                          <a:cs typeface="Calibri" panose="020F0502020204030204" pitchFamily="34" charset="0"/>
                        </a:rPr>
                        <m:t>= </m:t>
                      </m:r>
                      <m:f>
                        <m:f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fPr>
                        <m:num>
                          <m:r>
                            <a:rPr lang="en-US" sz="1600" i="1">
                              <a:effectLst/>
                              <a:latin typeface="Cambria Math" panose="02040503050406030204" pitchFamily="18" charset="0"/>
                              <a:ea typeface="Times New Roman" panose="02020603050405020304" pitchFamily="18" charset="0"/>
                              <a:cs typeface="Calibri" panose="020F0502020204030204" pitchFamily="34" charset="0"/>
                            </a:rPr>
                            <m:t>1</m:t>
                          </m:r>
                        </m:num>
                        <m:den>
                          <m:d>
                            <m:d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n-US" sz="1600" i="1">
                                  <a:effectLst/>
                                  <a:latin typeface="Cambria Math" panose="02040503050406030204" pitchFamily="18" charset="0"/>
                                  <a:ea typeface="Times New Roman" panose="02020603050405020304" pitchFamily="18" charset="0"/>
                                  <a:cs typeface="Calibri" panose="020F0502020204030204" pitchFamily="34" charset="0"/>
                                </a:rPr>
                                <m:t>1 + </m:t>
                              </m:r>
                              <m:sSup>
                                <m:sSup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n-US" sz="1600" i="1">
                                      <a:effectLst/>
                                      <a:latin typeface="Cambria Math" panose="02040503050406030204" pitchFamily="18" charset="0"/>
                                      <a:ea typeface="Times New Roman" panose="02020603050405020304" pitchFamily="18" charset="0"/>
                                      <a:cs typeface="Calibri" panose="020F0502020204030204" pitchFamily="34" charset="0"/>
                                    </a:rPr>
                                    <m:t>𝑒</m:t>
                                  </m:r>
                                </m:e>
                                <m:sup>
                                  <m:r>
                                    <a:rPr lang="en-US" sz="1600" i="1">
                                      <a:effectLst/>
                                      <a:latin typeface="Cambria Math" panose="02040503050406030204" pitchFamily="18" charset="0"/>
                                      <a:ea typeface="Times New Roman" panose="02020603050405020304" pitchFamily="18" charset="0"/>
                                      <a:cs typeface="Calibri" panose="020F0502020204030204" pitchFamily="34" charset="0"/>
                                    </a:rPr>
                                    <m:t>−</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𝑎</m:t>
                                  </m:r>
                                  <m:d>
                                    <m:d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n-US" sz="1600" i="1">
                                          <a:effectLst/>
                                          <a:latin typeface="Cambria Math" panose="02040503050406030204" pitchFamily="18" charset="0"/>
                                          <a:ea typeface="Times New Roman" panose="02020603050405020304" pitchFamily="18" charset="0"/>
                                          <a:cs typeface="Calibri" panose="020F0502020204030204" pitchFamily="34" charset="0"/>
                                        </a:rPr>
                                        <m:t>𝑥</m:t>
                                      </m:r>
                                      <m:r>
                                        <a:rPr lang="en-US" sz="1600" i="1">
                                          <a:effectLst/>
                                          <a:latin typeface="Cambria Math" panose="02040503050406030204" pitchFamily="18" charset="0"/>
                                          <a:ea typeface="Times New Roman" panose="02020603050405020304" pitchFamily="18" charset="0"/>
                                          <a:cs typeface="Calibri" panose="020F0502020204030204" pitchFamily="34" charset="0"/>
                                        </a:rPr>
                                        <m:t> − </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𝑐</m:t>
                                      </m:r>
                                    </m:e>
                                  </m:d>
                                </m:sup>
                              </m:sSup>
                            </m:e>
                          </m:d>
                        </m:den>
                      </m:f>
                    </m:oMath>
                  </m:oMathPara>
                </a14:m>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GB" sz="1600" b="1" dirty="0">
                    <a:effectLst/>
                    <a:ea typeface="Calibri" panose="020F0502020204030204" pitchFamily="34" charset="0"/>
                    <a:cs typeface="Segoe UI Emoji" panose="020B0502040204020203" pitchFamily="34" charset="0"/>
                  </a:rPr>
                  <a:t>🔁</a:t>
                </a:r>
                <a:r>
                  <a:rPr lang="en-GB" sz="1600" b="1" dirty="0">
                    <a:effectLst/>
                    <a:ea typeface="Calibri" panose="020F0502020204030204" pitchFamily="34" charset="0"/>
                    <a:cs typeface="Arial" panose="020B0604020202020204" pitchFamily="34" charset="0"/>
                  </a:rPr>
                  <a:t> RL Integration</a:t>
                </a:r>
                <a:r>
                  <a:rPr lang="en-US" sz="1600" b="1" dirty="0">
                    <a:effectLst/>
                    <a:ea typeface="Times New Roman" panose="02020603050405020304" pitchFamily="18" charset="0"/>
                    <a:cs typeface="Calibri" panose="020F0502020204030204" pitchFamily="34" charset="0"/>
                  </a:rPr>
                  <a:t>:</a:t>
                </a:r>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US" sz="1600" dirty="0">
                    <a:effectLst/>
                    <a:ea typeface="Times New Roman" panose="02020603050405020304" pitchFamily="18" charset="0"/>
                    <a:cs typeface="Calibri" panose="020F0502020204030204" pitchFamily="34" charset="0"/>
                  </a:rPr>
                  <a:t>Optimizes membership weights using:</a:t>
                </a:r>
                <a:endParaRPr lang="tr-TR" sz="1600" dirty="0">
                  <a:effectLst/>
                  <a:ea typeface="Calibri" panose="020F0502020204030204" pitchFamily="34" charset="0"/>
                  <a:cs typeface="Arial" panose="020B0604020202020204" pitchFamily="34" charset="0"/>
                </a:endParaRPr>
              </a:p>
              <a:p>
                <a:pPr algn="ctr">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n-US" sz="1600" i="1">
                              <a:effectLst/>
                              <a:latin typeface="Cambria Math" panose="02040503050406030204" pitchFamily="18" charset="0"/>
                              <a:ea typeface="Times New Roman" panose="02020603050405020304" pitchFamily="18" charset="0"/>
                              <a:cs typeface="Calibri" panose="020F0502020204030204" pitchFamily="34" charset="0"/>
                            </a:rPr>
                            <m:t>𝜇</m:t>
                          </m:r>
                        </m:e>
                        <m:sub>
                          <m:r>
                            <a:rPr lang="en-US" sz="1600" i="1">
                              <a:effectLst/>
                              <a:latin typeface="Cambria Math" panose="02040503050406030204" pitchFamily="18" charset="0"/>
                              <a:ea typeface="Times New Roman" panose="02020603050405020304" pitchFamily="18" charset="0"/>
                              <a:cs typeface="Calibri" panose="020F0502020204030204" pitchFamily="34" charset="0"/>
                            </a:rPr>
                            <m:t>𝑖</m:t>
                          </m:r>
                        </m:sub>
                        <m:sup>
                          <m:r>
                            <a:rPr lang="en-US" sz="1600" i="1">
                              <a:effectLst/>
                              <a:latin typeface="Cambria Math" panose="02040503050406030204" pitchFamily="18" charset="0"/>
                              <a:ea typeface="Times New Roman" panose="02020603050405020304" pitchFamily="18" charset="0"/>
                              <a:cs typeface="Calibri" panose="020F0502020204030204" pitchFamily="34" charset="0"/>
                            </a:rPr>
                            <m:t>′</m:t>
                          </m:r>
                        </m:sup>
                      </m:sSubSup>
                      <m:r>
                        <a:rPr lang="en-US" sz="1600" i="1">
                          <a:effectLst/>
                          <a:latin typeface="Cambria Math" panose="02040503050406030204" pitchFamily="18" charset="0"/>
                          <a:ea typeface="Times New Roman" panose="02020603050405020304" pitchFamily="18" charset="0"/>
                          <a:cs typeface="Calibri" panose="020F0502020204030204" pitchFamily="34" charset="0"/>
                        </a:rPr>
                        <m:t>(</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𝑥</m:t>
                      </m:r>
                      <m:r>
                        <a:rPr lang="en-US" sz="1600" i="1">
                          <a:effectLst/>
                          <a:latin typeface="Cambria Math" panose="02040503050406030204" pitchFamily="18" charset="0"/>
                          <a:ea typeface="Times New Roman" panose="02020603050405020304" pitchFamily="18" charset="0"/>
                          <a:cs typeface="Calibri" panose="020F0502020204030204" pitchFamily="34" charset="0"/>
                        </a:rPr>
                        <m:t>) = </m:t>
                      </m:r>
                      <m:r>
                        <a:rPr lang="en-US" sz="1600" i="1">
                          <a:effectLst/>
                          <a:latin typeface="Cambria Math" panose="02040503050406030204" pitchFamily="18" charset="0"/>
                          <a:ea typeface="Times New Roman" panose="02020603050405020304" pitchFamily="18" charset="0"/>
                          <a:cs typeface="Calibri" panose="020F0502020204030204" pitchFamily="34" charset="0"/>
                        </a:rPr>
                        <m:t>𝜇</m:t>
                      </m:r>
                      <m:r>
                        <a:rPr lang="en-US" sz="1600" i="1">
                          <a:effectLst/>
                          <a:latin typeface="Cambria Math" panose="02040503050406030204" pitchFamily="18" charset="0"/>
                          <a:ea typeface="Times New Roman" panose="02020603050405020304" pitchFamily="18" charset="0"/>
                          <a:cs typeface="Calibri" panose="020F0502020204030204" pitchFamily="34" charset="0"/>
                        </a:rPr>
                        <m:t>_</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𝑖</m:t>
                      </m:r>
                      <m:r>
                        <a:rPr lang="en-US" sz="1600" i="1">
                          <a:effectLst/>
                          <a:latin typeface="Cambria Math" panose="02040503050406030204" pitchFamily="18" charset="0"/>
                          <a:ea typeface="Times New Roman" panose="02020603050405020304" pitchFamily="18" charset="0"/>
                          <a:cs typeface="Calibri" panose="020F0502020204030204" pitchFamily="34" charset="0"/>
                        </a:rPr>
                        <m:t>(</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𝑥</m:t>
                      </m:r>
                      <m:r>
                        <a:rPr lang="en-US" sz="1600" i="1">
                          <a:effectLst/>
                          <a:latin typeface="Cambria Math" panose="02040503050406030204" pitchFamily="18" charset="0"/>
                          <a:ea typeface="Times New Roman" panose="02020603050405020304" pitchFamily="18" charset="0"/>
                          <a:cs typeface="Calibri" panose="020F0502020204030204" pitchFamily="34" charset="0"/>
                        </a:rPr>
                        <m:t>) ∗ </m:t>
                      </m:r>
                      <m:sSub>
                        <m:sSub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600" i="1">
                              <a:effectLst/>
                              <a:latin typeface="Cambria Math" panose="02040503050406030204" pitchFamily="18" charset="0"/>
                              <a:ea typeface="Times New Roman" panose="02020603050405020304" pitchFamily="18" charset="0"/>
                              <a:cs typeface="Calibri" panose="020F0502020204030204" pitchFamily="34" charset="0"/>
                            </a:rPr>
                            <m:t>𝑤</m:t>
                          </m:r>
                        </m:e>
                        <m:sub>
                          <m:r>
                            <a:rPr lang="en-US" sz="1600" i="1">
                              <a:effectLst/>
                              <a:latin typeface="Cambria Math" panose="02040503050406030204" pitchFamily="18" charset="0"/>
                              <a:ea typeface="Times New Roman" panose="02020603050405020304" pitchFamily="18" charset="0"/>
                              <a:cs typeface="Calibri" panose="020F0502020204030204" pitchFamily="34" charset="0"/>
                            </a:rPr>
                            <m:t>𝑖</m:t>
                          </m:r>
                        </m:sub>
                      </m:sSub>
                      <m:r>
                        <a:rPr lang="en-US" sz="1600" i="1">
                          <a:effectLst/>
                          <a:latin typeface="Cambria Math" panose="02040503050406030204" pitchFamily="18" charset="0"/>
                          <a:ea typeface="Times New Roman" panose="02020603050405020304" pitchFamily="18" charset="0"/>
                          <a:cs typeface="Calibri" panose="020F0502020204030204" pitchFamily="34" charset="0"/>
                        </a:rPr>
                        <m:t>, </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𝑤h𝑒𝑟𝑒</m:t>
                      </m:r>
                      <m:r>
                        <a:rPr lang="en-US" sz="16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600" i="1">
                              <a:effectLst/>
                              <a:latin typeface="Cambria Math" panose="02040503050406030204" pitchFamily="18" charset="0"/>
                              <a:ea typeface="Times New Roman" panose="02020603050405020304" pitchFamily="18" charset="0"/>
                              <a:cs typeface="Calibri" panose="020F0502020204030204" pitchFamily="34" charset="0"/>
                            </a:rPr>
                            <m:t>𝑤</m:t>
                          </m:r>
                        </m:e>
                        <m:sub>
                          <m:r>
                            <a:rPr lang="en-US" sz="1600" i="1">
                              <a:effectLst/>
                              <a:latin typeface="Cambria Math" panose="02040503050406030204" pitchFamily="18" charset="0"/>
                              <a:ea typeface="Times New Roman" panose="02020603050405020304" pitchFamily="18" charset="0"/>
                              <a:cs typeface="Calibri" panose="020F0502020204030204" pitchFamily="34" charset="0"/>
                            </a:rPr>
                            <m:t>𝑖</m:t>
                          </m:r>
                        </m:sub>
                      </m:sSub>
                      <m:r>
                        <a:rPr lang="en-US" sz="1600" i="1">
                          <a:effectLst/>
                          <a:latin typeface="Cambria Math" panose="02040503050406030204" pitchFamily="18" charset="0"/>
                          <a:ea typeface="Times New Roman" panose="02020603050405020304" pitchFamily="18" charset="0"/>
                          <a:cs typeface="Calibri" panose="020F0502020204030204" pitchFamily="34" charset="0"/>
                        </a:rPr>
                        <m:t> ~ </m:t>
                      </m:r>
                      <m:sSub>
                        <m:sSubPr>
                          <m:ctrlPr>
                            <a:rPr lang="tr-TR" sz="16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600" i="1">
                              <a:effectLst/>
                              <a:latin typeface="Cambria Math" panose="02040503050406030204" pitchFamily="18" charset="0"/>
                              <a:ea typeface="Times New Roman" panose="02020603050405020304" pitchFamily="18" charset="0"/>
                              <a:cs typeface="Calibri" panose="020F0502020204030204" pitchFamily="34" charset="0"/>
                            </a:rPr>
                            <m:t>𝜋</m:t>
                          </m:r>
                        </m:e>
                        <m:sub>
                          <m:r>
                            <a:rPr lang="en-US" sz="1600" i="1">
                              <a:effectLst/>
                              <a:latin typeface="Cambria Math" panose="02040503050406030204" pitchFamily="18" charset="0"/>
                              <a:ea typeface="Times New Roman" panose="02020603050405020304" pitchFamily="18" charset="0"/>
                              <a:cs typeface="Calibri" panose="020F0502020204030204" pitchFamily="34" charset="0"/>
                            </a:rPr>
                            <m:t>𝜃</m:t>
                          </m:r>
                        </m:sub>
                      </m:sSub>
                      <m:r>
                        <a:rPr lang="en-US" sz="1600" i="1">
                          <a:effectLst/>
                          <a:latin typeface="Cambria Math" panose="02040503050406030204" pitchFamily="18" charset="0"/>
                          <a:ea typeface="Times New Roman" panose="02020603050405020304" pitchFamily="18" charset="0"/>
                          <a:cs typeface="Calibri" panose="020F0502020204030204" pitchFamily="34" charset="0"/>
                        </a:rPr>
                        <m:t> (</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𝑅𝐿</m:t>
                      </m:r>
                      <m:r>
                        <a:rPr lang="en-US" sz="1600" i="1">
                          <a:effectLst/>
                          <a:latin typeface="Cambria Math" panose="02040503050406030204" pitchFamily="18" charset="0"/>
                          <a:ea typeface="Times New Roman" panose="02020603050405020304" pitchFamily="18" charset="0"/>
                          <a:cs typeface="Calibri" panose="020F0502020204030204" pitchFamily="34" charset="0"/>
                        </a:rPr>
                        <m:t> </m:t>
                      </m:r>
                      <m:r>
                        <a:rPr lang="en-US" sz="1600" i="1">
                          <a:effectLst/>
                          <a:latin typeface="Cambria Math" panose="02040503050406030204" pitchFamily="18" charset="0"/>
                          <a:ea typeface="Times New Roman" panose="02020603050405020304" pitchFamily="18" charset="0"/>
                          <a:cs typeface="Calibri" panose="020F0502020204030204" pitchFamily="34" charset="0"/>
                        </a:rPr>
                        <m:t>𝑝𝑜𝑙𝑖𝑐𝑦</m:t>
                      </m:r>
                      <m:r>
                        <a:rPr lang="en-US" sz="1600" i="1">
                          <a:effectLst/>
                          <a:latin typeface="Cambria Math" panose="02040503050406030204" pitchFamily="18" charset="0"/>
                          <a:ea typeface="Times New Roman" panose="02020603050405020304" pitchFamily="18" charset="0"/>
                          <a:cs typeface="Calibri" panose="020F0502020204030204" pitchFamily="34" charset="0"/>
                        </a:rPr>
                        <m:t>).</m:t>
                      </m:r>
                    </m:oMath>
                  </m:oMathPara>
                </a14:m>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GB" sz="1600" b="1" dirty="0">
                    <a:effectLst/>
                    <a:ea typeface="Calibri" panose="020F0502020204030204" pitchFamily="34" charset="0"/>
                    <a:cs typeface="Segoe UI Emoji" panose="020B0502040204020203" pitchFamily="34" charset="0"/>
                  </a:rPr>
                  <a:t>🤖</a:t>
                </a:r>
                <a:r>
                  <a:rPr lang="en-GB" sz="1600" b="1" dirty="0">
                    <a:effectLst/>
                    <a:ea typeface="Calibri" panose="020F0502020204030204" pitchFamily="34" charset="0"/>
                    <a:cs typeface="Arial" panose="020B0604020202020204" pitchFamily="34" charset="0"/>
                  </a:rPr>
                  <a:t> LLM Integration</a:t>
                </a:r>
                <a:r>
                  <a:rPr lang="en-US" sz="1600" b="1" dirty="0">
                    <a:effectLst/>
                    <a:ea typeface="Times New Roman" panose="02020603050405020304" pitchFamily="18" charset="0"/>
                    <a:cs typeface="Calibri" panose="020F0502020204030204" pitchFamily="34" charset="0"/>
                  </a:rPr>
                  <a:t>: </a:t>
                </a:r>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US" sz="1600" dirty="0">
                    <a:effectLst/>
                    <a:ea typeface="Times New Roman" panose="02020603050405020304" pitchFamily="18" charset="0"/>
                    <a:cs typeface="Calibri" panose="020F0502020204030204" pitchFamily="34" charset="0"/>
                  </a:rPr>
                  <a:t>Generates or updates fuzzy rules based on linguistic interpretation (e.g., “If wind is high and humidity is low, then fire risk is extreme”). </a:t>
                </a:r>
              </a:p>
              <a:p>
                <a:pPr>
                  <a:lnSpc>
                    <a:spcPct val="107000"/>
                  </a:lnSpc>
                  <a:spcAft>
                    <a:spcPts val="800"/>
                  </a:spcAft>
                  <a:buNone/>
                </a:pPr>
                <a:r>
                  <a:rPr lang="en-US" sz="1600" dirty="0">
                    <a:effectLst/>
                    <a:ea typeface="Times New Roman" panose="02020603050405020304" pitchFamily="18" charset="0"/>
                    <a:cs typeface="Calibri" panose="020F0502020204030204" pitchFamily="34" charset="0"/>
                  </a:rPr>
                  <a:t>LLM (e.g., GPT-like) suggests new fuzzy rules based on context or prior experience:</a:t>
                </a:r>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US" sz="1600" dirty="0">
                    <a:effectLst/>
                    <a:ea typeface="Times New Roman" panose="02020603050405020304" pitchFamily="18" charset="0"/>
                    <a:cs typeface="Calibri" panose="020F0502020204030204" pitchFamily="34" charset="0"/>
                  </a:rPr>
                  <a:t>Input: "Wind is strong and humidity is low"</a:t>
                </a:r>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US" sz="1600" dirty="0">
                    <a:effectLst/>
                    <a:ea typeface="Times New Roman" panose="02020603050405020304" pitchFamily="18" charset="0"/>
                    <a:cs typeface="Calibri" panose="020F0502020204030204" pitchFamily="34" charset="0"/>
                  </a:rPr>
                  <a:t>Output: "Then fire spread risk is very high"</a:t>
                </a:r>
                <a:endParaRPr lang="tr-TR" sz="1600" dirty="0">
                  <a:effectLst/>
                  <a:ea typeface="Calibri" panose="020F0502020204030204" pitchFamily="34" charset="0"/>
                  <a:cs typeface="Arial" panose="020B0604020202020204" pitchFamily="34" charset="0"/>
                </a:endParaRPr>
              </a:p>
              <a:p>
                <a:pPr>
                  <a:lnSpc>
                    <a:spcPct val="107000"/>
                  </a:lnSpc>
                  <a:spcAft>
                    <a:spcPts val="800"/>
                  </a:spcAft>
                  <a:buNone/>
                </a:pPr>
                <a:r>
                  <a:rPr lang="en-GB" sz="1600" dirty="0">
                    <a:effectLst/>
                    <a:ea typeface="Calibri" panose="020F0502020204030204" pitchFamily="34" charset="0"/>
                    <a:cs typeface="Segoe UI Emoji" panose="020B0502040204020203" pitchFamily="34" charset="0"/>
                  </a:rPr>
                  <a:t>🔁</a:t>
                </a:r>
                <a:r>
                  <a:rPr lang="en-US" sz="1600" b="1" dirty="0">
                    <a:effectLst/>
                    <a:ea typeface="Times New Roman" panose="02020603050405020304" pitchFamily="18" charset="0"/>
                    <a:cs typeface="Calibri" panose="020F0502020204030204" pitchFamily="34" charset="0"/>
                  </a:rPr>
                  <a:t> Feedback: </a:t>
                </a:r>
                <a:endParaRPr lang="tr-TR" sz="1600" dirty="0">
                  <a:effectLst/>
                  <a:ea typeface="Calibri" panose="020F0502020204030204" pitchFamily="34" charset="0"/>
                  <a:cs typeface="Arial" panose="020B0604020202020204" pitchFamily="34" charset="0"/>
                </a:endParaRPr>
              </a:p>
              <a:p>
                <a:pPr marL="342900" lvl="0" indent="-342900">
                  <a:buFont typeface="Symbol" panose="05050102010706020507" pitchFamily="18" charset="2"/>
                  <a:buChar char=""/>
                </a:pPr>
                <a:r>
                  <a:rPr lang="en-US" sz="1600" dirty="0">
                    <a:effectLst/>
                    <a:ea typeface="Times New Roman" panose="02020603050405020304" pitchFamily="18" charset="0"/>
                  </a:rPr>
                  <a:t>RL uses real-world outcomes (success/failure of decisions triggered by FDL) to update weights.</a:t>
                </a:r>
                <a:endParaRPr lang="tr-TR" sz="1600" dirty="0">
                  <a:effectLst/>
                  <a:ea typeface="Times New Roman" panose="02020603050405020304" pitchFamily="18" charset="0"/>
                </a:endParaRPr>
              </a:p>
              <a:p>
                <a:pPr marL="342900" lvl="0" indent="-342900">
                  <a:buFont typeface="Symbol" panose="05050102010706020507" pitchFamily="18" charset="2"/>
                  <a:buChar char=""/>
                </a:pPr>
                <a:r>
                  <a:rPr lang="en-US" sz="1600" dirty="0">
                    <a:effectLst/>
                    <a:ea typeface="Times New Roman" panose="02020603050405020304" pitchFamily="18" charset="0"/>
                  </a:rPr>
                  <a:t>LLM receives prompts from trajectory failures to regenerate refined rules.</a:t>
                </a:r>
                <a:endParaRPr lang="tr-TR" sz="1600" dirty="0">
                  <a:effectLst/>
                  <a:ea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893A6720-B490-B268-C901-215D0D8A03E1}"/>
                  </a:ext>
                </a:extLst>
              </p:cNvPr>
              <p:cNvSpPr txBox="1">
                <a:spLocks noRot="1" noChangeAspect="1" noMove="1" noResize="1" noEditPoints="1" noAdjustHandles="1" noChangeArrowheads="1" noChangeShapeType="1" noTextEdit="1"/>
              </p:cNvSpPr>
              <p:nvPr/>
            </p:nvSpPr>
            <p:spPr>
              <a:xfrm>
                <a:off x="123289" y="622999"/>
                <a:ext cx="12146281" cy="5541773"/>
              </a:xfrm>
              <a:prstGeom prst="rect">
                <a:avLst/>
              </a:prstGeom>
              <a:blipFill>
                <a:blip r:embed="rId2"/>
                <a:stretch>
                  <a:fillRect l="-251" t="-220" b="-660"/>
                </a:stretch>
              </a:blipFill>
            </p:spPr>
            <p:txBody>
              <a:bodyPr/>
              <a:lstStyle/>
              <a:p>
                <a:r>
                  <a:rPr lang="tr-TR">
                    <a:noFill/>
                  </a:rPr>
                  <a:t> </a:t>
                </a:r>
              </a:p>
            </p:txBody>
          </p:sp>
        </mc:Fallback>
      </mc:AlternateContent>
    </p:spTree>
    <p:extLst>
      <p:ext uri="{BB962C8B-B14F-4D97-AF65-F5344CB8AC3E}">
        <p14:creationId xmlns:p14="http://schemas.microsoft.com/office/powerpoint/2010/main" val="970699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715A5-64C5-3A02-A373-D35C8F27DCEA}"/>
              </a:ext>
            </a:extLst>
          </p:cNvPr>
          <p:cNvSpPr>
            <a:spLocks noGrp="1"/>
          </p:cNvSpPr>
          <p:nvPr>
            <p:ph type="title"/>
          </p:nvPr>
        </p:nvSpPr>
        <p:spPr/>
        <p:txBody>
          <a:bodyPr/>
          <a:lstStyle/>
          <a:p>
            <a:r>
              <a:rPr lang="en-GB" dirty="0">
                <a:effectLst/>
              </a:rPr>
              <a:t>Decision Trajectory Manager (DTM)</a:t>
            </a:r>
            <a:endParaRPr lang="tr-T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85680-14FC-DF42-46D6-77FAFFD8FE5A}"/>
                  </a:ext>
                </a:extLst>
              </p:cNvPr>
              <p:cNvSpPr>
                <a:spLocks noGrp="1"/>
              </p:cNvSpPr>
              <p:nvPr>
                <p:ph idx="1"/>
              </p:nvPr>
            </p:nvSpPr>
            <p:spPr>
              <a:xfrm>
                <a:off x="2522218" y="648700"/>
                <a:ext cx="9669781" cy="5660639"/>
              </a:xfrm>
            </p:spPr>
            <p:txBody>
              <a:bodyPr>
                <a:normAutofit/>
              </a:bodyPr>
              <a:lstStyle/>
              <a:p>
                <a:r>
                  <a:rPr lang="en-US" sz="1600" b="1" dirty="0"/>
                  <a:t>Coordinator of Temporally Coherent Decision Sequences</a:t>
                </a:r>
              </a:p>
              <a:p>
                <a:r>
                  <a:rPr lang="en-US" sz="1600" b="1" dirty="0"/>
                  <a:t>🔹 Core Role: </a:t>
                </a:r>
                <a:r>
                  <a:rPr lang="en-US" sz="1600" dirty="0"/>
                  <a:t>DTM composes and executes action trajectories generated by the FDL, ensuring each decision fits its optimal time window and operational feasibility. It produces adaptive, reliable, and explainable decision trajectories under dynamic conditions.</a:t>
                </a:r>
              </a:p>
              <a:p>
                <a:br>
                  <a:rPr lang="en-US" sz="1600" dirty="0"/>
                </a:br>
                <a:r>
                  <a:rPr lang="en-US" sz="1600" dirty="0"/>
                  <a:t>📈 </a:t>
                </a:r>
                <a:r>
                  <a:rPr lang="en-US" sz="1600" b="1" dirty="0"/>
                  <a:t>Trajectory &amp; RL Integration:</a:t>
                </a:r>
                <a:br>
                  <a:rPr lang="en-US" sz="1600" b="1" dirty="0"/>
                </a:br>
                <a14:m>
                  <m:oMath xmlns:m="http://schemas.openxmlformats.org/officeDocument/2006/math">
                    <m:r>
                      <a:rPr lang="en-GB" sz="1600" i="1">
                        <a:latin typeface="Cambria Math" panose="02040503050406030204" pitchFamily="18" charset="0"/>
                      </a:rPr>
                      <m:t>𝜏</m:t>
                    </m:r>
                    <m:r>
                      <a:rPr lang="en-GB" sz="1600" i="1">
                        <a:latin typeface="Cambria Math" panose="02040503050406030204" pitchFamily="18" charset="0"/>
                      </a:rPr>
                      <m:t>=</m:t>
                    </m:r>
                    <m:d>
                      <m:dPr>
                        <m:begChr m:val="["/>
                        <m:endChr m:val="]"/>
                        <m:ctrlPr>
                          <a:rPr lang="tr-TR" sz="1600" i="1">
                            <a:latin typeface="Cambria Math" panose="02040503050406030204" pitchFamily="18" charset="0"/>
                          </a:rPr>
                        </m:ctrlPr>
                      </m:dPr>
                      <m:e>
                        <m:sSub>
                          <m:sSubPr>
                            <m:ctrlPr>
                              <a:rPr lang="tr-TR" sz="1600" i="1">
                                <a:latin typeface="Cambria Math" panose="02040503050406030204" pitchFamily="18" charset="0"/>
                              </a:rPr>
                            </m:ctrlPr>
                          </m:sSubPr>
                          <m:e>
                            <m:r>
                              <a:rPr lang="en-GB" sz="1600" i="1">
                                <a:latin typeface="Cambria Math" panose="02040503050406030204" pitchFamily="18" charset="0"/>
                              </a:rPr>
                              <m:t>𝑎</m:t>
                            </m:r>
                          </m:e>
                          <m:sub>
                            <m:r>
                              <a:rPr lang="en-GB" sz="1600" i="1">
                                <a:latin typeface="Cambria Math" panose="02040503050406030204" pitchFamily="18" charset="0"/>
                              </a:rPr>
                              <m:t>0</m:t>
                            </m:r>
                          </m:sub>
                        </m:sSub>
                        <m:r>
                          <a:rPr lang="en-GB" sz="1600" i="1">
                            <a:latin typeface="Cambria Math" panose="02040503050406030204" pitchFamily="18" charset="0"/>
                          </a:rPr>
                          <m:t>, </m:t>
                        </m:r>
                        <m:sSub>
                          <m:sSubPr>
                            <m:ctrlPr>
                              <a:rPr lang="tr-TR" sz="1600" i="1">
                                <a:latin typeface="Cambria Math" panose="02040503050406030204" pitchFamily="18" charset="0"/>
                              </a:rPr>
                            </m:ctrlPr>
                          </m:sSubPr>
                          <m:e>
                            <m:r>
                              <a:rPr lang="en-GB" sz="1600" i="1">
                                <a:latin typeface="Cambria Math" panose="02040503050406030204" pitchFamily="18" charset="0"/>
                              </a:rPr>
                              <m:t>𝑎</m:t>
                            </m:r>
                          </m:e>
                          <m:sub>
                            <m:r>
                              <a:rPr lang="en-GB" sz="1600" i="1">
                                <a:latin typeface="Cambria Math" panose="02040503050406030204" pitchFamily="18" charset="0"/>
                              </a:rPr>
                              <m:t>1</m:t>
                            </m:r>
                          </m:sub>
                        </m:sSub>
                        <m:r>
                          <a:rPr lang="en-GB" sz="1600" i="1">
                            <a:latin typeface="Cambria Math" panose="02040503050406030204" pitchFamily="18" charset="0"/>
                          </a:rPr>
                          <m:t>,…,</m:t>
                        </m:r>
                        <m:sSub>
                          <m:sSubPr>
                            <m:ctrlPr>
                              <a:rPr lang="tr-TR" sz="1600" i="1">
                                <a:latin typeface="Cambria Math" panose="02040503050406030204" pitchFamily="18" charset="0"/>
                              </a:rPr>
                            </m:ctrlPr>
                          </m:sSubPr>
                          <m:e>
                            <m:r>
                              <a:rPr lang="en-GB" sz="1600" i="1">
                                <a:latin typeface="Cambria Math" panose="02040503050406030204" pitchFamily="18" charset="0"/>
                              </a:rPr>
                              <m:t>𝑎</m:t>
                            </m:r>
                          </m:e>
                          <m:sub>
                            <m:r>
                              <a:rPr lang="en-GB" sz="1600" i="1">
                                <a:latin typeface="Cambria Math" panose="02040503050406030204" pitchFamily="18" charset="0"/>
                              </a:rPr>
                              <m:t>𝑇</m:t>
                            </m:r>
                          </m:sub>
                        </m:sSub>
                      </m:e>
                    </m:d>
                  </m:oMath>
                </a14:m>
                <a:r>
                  <a:rPr lang="en-GB" sz="1600" dirty="0"/>
                  <a:t> subject to transition dynamics and constraints</a:t>
                </a:r>
                <a:endParaRPr lang="tr-TR" sz="1600" dirty="0"/>
              </a:p>
              <a:p>
                <a:pPr marL="0" indent="0">
                  <a:buNone/>
                </a:pPr>
                <a14:m>
                  <m:oMathPara xmlns:m="http://schemas.openxmlformats.org/officeDocument/2006/math">
                    <m:oMathParaPr>
                      <m:jc m:val="centerGroup"/>
                    </m:oMathParaPr>
                    <m:oMath xmlns:m="http://schemas.openxmlformats.org/officeDocument/2006/math">
                      <m:r>
                        <a:rPr lang="en-GB" sz="1600" i="1">
                          <a:latin typeface="Cambria Math" panose="02040503050406030204" pitchFamily="18" charset="0"/>
                        </a:rPr>
                        <m:t>𝑄</m:t>
                      </m:r>
                      <m:r>
                        <a:rPr lang="en-GB" sz="1600">
                          <a:latin typeface="Cambria Math" panose="02040503050406030204" pitchFamily="18" charset="0"/>
                        </a:rPr>
                        <m:t>(</m:t>
                      </m:r>
                      <m:sSub>
                        <m:sSubPr>
                          <m:ctrlPr>
                            <a:rPr lang="tr-TR" sz="1600" i="1">
                              <a:latin typeface="Cambria Math" panose="02040503050406030204" pitchFamily="18" charset="0"/>
                            </a:rPr>
                          </m:ctrlPr>
                        </m:sSubPr>
                        <m:e>
                          <m:r>
                            <a:rPr lang="en-GB" sz="1600" i="1">
                              <a:latin typeface="Cambria Math" panose="02040503050406030204" pitchFamily="18" charset="0"/>
                            </a:rPr>
                            <m:t>𝑠</m:t>
                          </m:r>
                        </m:e>
                        <m:sub>
                          <m:r>
                            <a:rPr lang="en-GB" sz="1600" i="1">
                              <a:latin typeface="Cambria Math" panose="02040503050406030204" pitchFamily="18" charset="0"/>
                            </a:rPr>
                            <m:t>𝑡</m:t>
                          </m:r>
                        </m:sub>
                      </m:sSub>
                      <m:r>
                        <a:rPr lang="en-GB" sz="1600">
                          <a:latin typeface="Cambria Math" panose="02040503050406030204" pitchFamily="18" charset="0"/>
                        </a:rPr>
                        <m:t>, </m:t>
                      </m:r>
                      <m:sSub>
                        <m:sSubPr>
                          <m:ctrlPr>
                            <a:rPr lang="tr-TR" sz="1600" i="1">
                              <a:latin typeface="Cambria Math" panose="02040503050406030204" pitchFamily="18" charset="0"/>
                            </a:rPr>
                          </m:ctrlPr>
                        </m:sSubPr>
                        <m:e>
                          <m:r>
                            <a:rPr lang="en-GB" sz="1600" i="1">
                              <a:latin typeface="Cambria Math" panose="02040503050406030204" pitchFamily="18" charset="0"/>
                            </a:rPr>
                            <m:t>𝑎</m:t>
                          </m:r>
                        </m:e>
                        <m:sub>
                          <m:r>
                            <a:rPr lang="en-GB" sz="1600" i="1">
                              <a:latin typeface="Cambria Math" panose="02040503050406030204" pitchFamily="18" charset="0"/>
                            </a:rPr>
                            <m:t>𝑡</m:t>
                          </m:r>
                        </m:sub>
                      </m:sSub>
                      <m:r>
                        <a:rPr lang="en-GB" sz="1600">
                          <a:latin typeface="Cambria Math" panose="02040503050406030204" pitchFamily="18" charset="0"/>
                        </a:rPr>
                        <m:t>) = </m:t>
                      </m:r>
                      <m:sSub>
                        <m:sSubPr>
                          <m:ctrlPr>
                            <a:rPr lang="tr-TR" sz="1600" i="1">
                              <a:latin typeface="Cambria Math" panose="02040503050406030204" pitchFamily="18" charset="0"/>
                            </a:rPr>
                          </m:ctrlPr>
                        </m:sSubPr>
                        <m:e>
                          <m:r>
                            <a:rPr lang="en-GB" sz="1600" i="1">
                              <a:latin typeface="Cambria Math" panose="02040503050406030204" pitchFamily="18" charset="0"/>
                            </a:rPr>
                            <m:t>𝑟</m:t>
                          </m:r>
                        </m:e>
                        <m:sub>
                          <m:r>
                            <a:rPr lang="en-GB" sz="1600" i="1">
                              <a:latin typeface="Cambria Math" panose="02040503050406030204" pitchFamily="18" charset="0"/>
                            </a:rPr>
                            <m:t>𝑡</m:t>
                          </m:r>
                        </m:sub>
                      </m:sSub>
                      <m:r>
                        <a:rPr lang="en-GB" sz="1600">
                          <a:latin typeface="Cambria Math" panose="02040503050406030204" pitchFamily="18" charset="0"/>
                        </a:rPr>
                        <m:t> + </m:t>
                      </m:r>
                      <m:r>
                        <a:rPr lang="en-GB" sz="1600" i="1">
                          <a:latin typeface="Cambria Math" panose="02040503050406030204" pitchFamily="18" charset="0"/>
                        </a:rPr>
                        <m:t>𝛾</m:t>
                      </m:r>
                      <m:r>
                        <a:rPr lang="en-GB" sz="1600">
                          <a:latin typeface="Cambria Math" panose="02040503050406030204" pitchFamily="18" charset="0"/>
                        </a:rPr>
                        <m:t> </m:t>
                      </m:r>
                      <m:r>
                        <a:rPr lang="en-GB" sz="1600" i="1">
                          <a:latin typeface="Cambria Math" panose="02040503050406030204" pitchFamily="18" charset="0"/>
                        </a:rPr>
                        <m:t>𝑚𝑎</m:t>
                      </m:r>
                      <m:sSub>
                        <m:sSubPr>
                          <m:ctrlPr>
                            <a:rPr lang="tr-TR" sz="1600" i="1">
                              <a:latin typeface="Cambria Math" panose="02040503050406030204" pitchFamily="18" charset="0"/>
                            </a:rPr>
                          </m:ctrlPr>
                        </m:sSubPr>
                        <m:e>
                          <m:r>
                            <a:rPr lang="en-GB" sz="1600" i="1">
                              <a:latin typeface="Cambria Math" panose="02040503050406030204" pitchFamily="18" charset="0"/>
                            </a:rPr>
                            <m:t>𝑥</m:t>
                          </m:r>
                        </m:e>
                        <m:sub>
                          <m:r>
                            <a:rPr lang="en-GB" sz="1600" i="1">
                              <a:latin typeface="Cambria Math" panose="02040503050406030204" pitchFamily="18" charset="0"/>
                            </a:rPr>
                            <m:t>𝑎</m:t>
                          </m:r>
                        </m:sub>
                      </m:sSub>
                      <m:r>
                        <a:rPr lang="en-GB" sz="1600">
                          <a:latin typeface="Cambria Math" panose="02040503050406030204" pitchFamily="18" charset="0"/>
                        </a:rPr>
                        <m:t> </m:t>
                      </m:r>
                      <m:r>
                        <a:rPr lang="en-GB" sz="1600" i="1">
                          <a:latin typeface="Cambria Math" panose="02040503050406030204" pitchFamily="18" charset="0"/>
                        </a:rPr>
                        <m:t>𝑄</m:t>
                      </m:r>
                      <m:r>
                        <a:rPr lang="en-GB" sz="1600">
                          <a:latin typeface="Cambria Math" panose="02040503050406030204" pitchFamily="18" charset="0"/>
                        </a:rPr>
                        <m:t>(</m:t>
                      </m:r>
                      <m:sSub>
                        <m:sSubPr>
                          <m:ctrlPr>
                            <a:rPr lang="tr-TR" sz="1600" i="1">
                              <a:latin typeface="Cambria Math" panose="02040503050406030204" pitchFamily="18" charset="0"/>
                            </a:rPr>
                          </m:ctrlPr>
                        </m:sSubPr>
                        <m:e>
                          <m:r>
                            <a:rPr lang="en-GB" sz="1600" i="1">
                              <a:latin typeface="Cambria Math" panose="02040503050406030204" pitchFamily="18" charset="0"/>
                            </a:rPr>
                            <m:t>𝑠</m:t>
                          </m:r>
                        </m:e>
                        <m:sub>
                          <m:d>
                            <m:dPr>
                              <m:begChr m:val="{"/>
                              <m:endChr m:val="}"/>
                              <m:ctrlPr>
                                <a:rPr lang="tr-TR" sz="1600" i="1">
                                  <a:latin typeface="Cambria Math" panose="02040503050406030204" pitchFamily="18" charset="0"/>
                                </a:rPr>
                              </m:ctrlPr>
                            </m:dPr>
                            <m:e>
                              <m:r>
                                <a:rPr lang="en-GB" sz="1600" i="1">
                                  <a:latin typeface="Cambria Math" panose="02040503050406030204" pitchFamily="18" charset="0"/>
                                </a:rPr>
                                <m:t>𝑡</m:t>
                              </m:r>
                              <m:r>
                                <a:rPr lang="en-GB" sz="1600">
                                  <a:latin typeface="Cambria Math" panose="02040503050406030204" pitchFamily="18" charset="0"/>
                                </a:rPr>
                                <m:t>+1</m:t>
                              </m:r>
                            </m:e>
                          </m:d>
                        </m:sub>
                      </m:sSub>
                      <m:r>
                        <a:rPr lang="en-GB" sz="1600">
                          <a:latin typeface="Cambria Math" panose="02040503050406030204" pitchFamily="18" charset="0"/>
                        </a:rPr>
                        <m:t>, </m:t>
                      </m:r>
                      <m:r>
                        <a:rPr lang="en-GB" sz="1600" i="1">
                          <a:latin typeface="Cambria Math" panose="02040503050406030204" pitchFamily="18" charset="0"/>
                        </a:rPr>
                        <m:t>𝑎</m:t>
                      </m:r>
                      <m:r>
                        <a:rPr lang="en-GB" sz="1600">
                          <a:latin typeface="Cambria Math" panose="02040503050406030204" pitchFamily="18" charset="0"/>
                        </a:rPr>
                        <m:t>)</m:t>
                      </m:r>
                    </m:oMath>
                  </m:oMathPara>
                </a14:m>
                <a:br>
                  <a:rPr lang="en-US" sz="1600" dirty="0"/>
                </a:br>
                <a:r>
                  <a:rPr lang="en-US" sz="1600" dirty="0"/>
                  <a:t>→ DTM uses RL to refine trajectories based on real-time feedback and observed rewards.</a:t>
                </a:r>
                <a:br>
                  <a:rPr lang="en-US" sz="1600" dirty="0"/>
                </a:br>
                <a:br>
                  <a:rPr lang="en-US" sz="1600" dirty="0"/>
                </a:br>
                <a:r>
                  <a:rPr lang="en-US" sz="1600" dirty="0"/>
                  <a:t>🤖 </a:t>
                </a:r>
                <a:r>
                  <a:rPr lang="en-US" sz="1600" b="1" dirty="0"/>
                  <a:t>LLM Integration:</a:t>
                </a:r>
                <a:br>
                  <a:rPr lang="en-US" sz="1600" dirty="0"/>
                </a:br>
                <a:r>
                  <a:rPr lang="en-US" sz="1600" dirty="0"/>
                  <a:t>• Enhances DTM by providing alternative plans when RL outputs are low-confidence.</a:t>
                </a:r>
                <a:br>
                  <a:rPr lang="en-US" sz="1600" dirty="0"/>
                </a:br>
                <a:r>
                  <a:rPr lang="en-US" sz="1600" dirty="0"/>
                  <a:t>• Generates counterfactuals based on changing conditions.</a:t>
                </a:r>
              </a:p>
              <a:p>
                <a:pPr marL="0" indent="0">
                  <a:buNone/>
                </a:pPr>
                <a:r>
                  <a:rPr lang="en-US" sz="1600" dirty="0"/>
                  <a:t>Example: “Evacuation is delayed due to increased fire intensity and blocked roads.”</a:t>
                </a:r>
                <a:br>
                  <a:rPr lang="en-US" sz="1600" dirty="0"/>
                </a:br>
                <a:br>
                  <a:rPr lang="en-US" sz="1600" dirty="0"/>
                </a:br>
                <a:r>
                  <a:rPr lang="en-US" sz="1600" dirty="0"/>
                  <a:t>🔁 </a:t>
                </a:r>
                <a:r>
                  <a:rPr lang="en-US" sz="1600" b="1" dirty="0"/>
                  <a:t>Feedback Loops:</a:t>
                </a:r>
                <a:br>
                  <a:rPr lang="en-US" sz="1600" dirty="0"/>
                </a:br>
                <a:r>
                  <a:rPr lang="en-US" sz="1600" dirty="0"/>
                  <a:t>• RL: Q-value updates from actual outcomes</a:t>
                </a:r>
                <a:br>
                  <a:rPr lang="en-US" sz="1600" dirty="0"/>
                </a:br>
                <a:r>
                  <a:rPr lang="en-US" sz="1600" dirty="0"/>
                  <a:t>• LLM: Narrative prompt tuning from incident reports</a:t>
                </a:r>
                <a:br>
                  <a:rPr lang="en-US" sz="1600" dirty="0"/>
                </a:br>
                <a:r>
                  <a:rPr lang="en-US" sz="1600" dirty="0"/>
                  <a:t>• FDL: Rule adjustments upon repeated misalignment</a:t>
                </a:r>
                <a:endParaRPr lang="tr-TR" sz="1600" dirty="0"/>
              </a:p>
            </p:txBody>
          </p:sp>
        </mc:Choice>
        <mc:Fallback xmlns="">
          <p:sp>
            <p:nvSpPr>
              <p:cNvPr id="3" name="Content Placeholder 2">
                <a:extLst>
                  <a:ext uri="{FF2B5EF4-FFF2-40B4-BE49-F238E27FC236}">
                    <a16:creationId xmlns:a16="http://schemas.microsoft.com/office/drawing/2014/main" id="{DEE85680-14FC-DF42-46D6-77FAFFD8FE5A}"/>
                  </a:ext>
                </a:extLst>
              </p:cNvPr>
              <p:cNvSpPr>
                <a:spLocks noGrp="1" noRot="1" noChangeAspect="1" noMove="1" noResize="1" noEditPoints="1" noAdjustHandles="1" noChangeArrowheads="1" noChangeShapeType="1" noTextEdit="1"/>
              </p:cNvSpPr>
              <p:nvPr>
                <p:ph idx="1"/>
              </p:nvPr>
            </p:nvSpPr>
            <p:spPr>
              <a:xfrm>
                <a:off x="2522218" y="648700"/>
                <a:ext cx="9669781" cy="5660639"/>
              </a:xfrm>
              <a:blipFill>
                <a:blip r:embed="rId2"/>
                <a:stretch>
                  <a:fillRect l="-1324" t="-753" r="-1198"/>
                </a:stretch>
              </a:blipFill>
            </p:spPr>
            <p:txBody>
              <a:bodyPr/>
              <a:lstStyle/>
              <a:p>
                <a:r>
                  <a:rPr lang="tr-TR">
                    <a:noFill/>
                  </a:rPr>
                  <a:t> </a:t>
                </a:r>
              </a:p>
            </p:txBody>
          </p:sp>
        </mc:Fallback>
      </mc:AlternateContent>
      <p:sp>
        <p:nvSpPr>
          <p:cNvPr id="4" name="Slide Number Placeholder 3">
            <a:extLst>
              <a:ext uri="{FF2B5EF4-FFF2-40B4-BE49-F238E27FC236}">
                <a16:creationId xmlns:a16="http://schemas.microsoft.com/office/drawing/2014/main" id="{5C96777A-0F04-1755-5986-562DC33F34DB}"/>
              </a:ext>
            </a:extLst>
          </p:cNvPr>
          <p:cNvSpPr>
            <a:spLocks noGrp="1"/>
          </p:cNvSpPr>
          <p:nvPr>
            <p:ph type="sldNum" sz="quarter" idx="12"/>
          </p:nvPr>
        </p:nvSpPr>
        <p:spPr/>
        <p:txBody>
          <a:bodyPr/>
          <a:lstStyle/>
          <a:p>
            <a:fld id="{0F4FBE90-EB1A-4CD8-B134-C7A82858680F}" type="slidenum">
              <a:rPr lang="en-US" smtClean="0"/>
              <a:t>16</a:t>
            </a:fld>
            <a:endParaRPr lang="en-US"/>
          </a:p>
        </p:txBody>
      </p:sp>
      <p:pic>
        <p:nvPicPr>
          <p:cNvPr id="5" name="Picture 4">
            <a:extLst>
              <a:ext uri="{FF2B5EF4-FFF2-40B4-BE49-F238E27FC236}">
                <a16:creationId xmlns:a16="http://schemas.microsoft.com/office/drawing/2014/main" id="{785479C9-CE74-2374-BE8D-4F9D93974D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5309"/>
            <a:ext cx="2476500" cy="4572000"/>
          </a:xfrm>
          <a:prstGeom prst="rect">
            <a:avLst/>
          </a:prstGeom>
          <a:noFill/>
          <a:ln>
            <a:noFill/>
          </a:ln>
        </p:spPr>
      </p:pic>
    </p:spTree>
    <p:extLst>
      <p:ext uri="{BB962C8B-B14F-4D97-AF65-F5344CB8AC3E}">
        <p14:creationId xmlns:p14="http://schemas.microsoft.com/office/powerpoint/2010/main" val="1855483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4B580-5ED6-AEDB-F29E-95632DEAD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D1F77-B613-81BA-130B-56467F885B5E}"/>
              </a:ext>
            </a:extLst>
          </p:cNvPr>
          <p:cNvSpPr>
            <a:spLocks noGrp="1"/>
          </p:cNvSpPr>
          <p:nvPr>
            <p:ph type="title"/>
          </p:nvPr>
        </p:nvSpPr>
        <p:spPr/>
        <p:txBody>
          <a:bodyPr/>
          <a:lstStyle/>
          <a:p>
            <a:r>
              <a:rPr lang="en-GB" dirty="0">
                <a:effectLst/>
              </a:rPr>
              <a:t>Dynamic Tree Editor (DTE)</a:t>
            </a:r>
            <a:endParaRPr lang="tr-T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CF1BCA-C404-A3C6-84CB-86D359481787}"/>
                  </a:ext>
                </a:extLst>
              </p:cNvPr>
              <p:cNvSpPr>
                <a:spLocks noGrp="1"/>
              </p:cNvSpPr>
              <p:nvPr>
                <p:ph idx="1"/>
              </p:nvPr>
            </p:nvSpPr>
            <p:spPr>
              <a:xfrm>
                <a:off x="2522218" y="648700"/>
                <a:ext cx="9669781" cy="5660639"/>
              </a:xfrm>
            </p:spPr>
            <p:txBody>
              <a:bodyPr>
                <a:normAutofit fontScale="77500" lnSpcReduction="20000"/>
              </a:bodyPr>
              <a:lstStyle/>
              <a:p>
                <a:r>
                  <a:rPr lang="en-US" b="1" noProof="0" dirty="0"/>
                  <a:t>Real-Time Adaptive Decision Tree Architecture</a:t>
                </a:r>
                <a:br>
                  <a:rPr lang="en-US" noProof="0" dirty="0"/>
                </a:br>
                <a:endParaRPr lang="en-US" noProof="0" dirty="0"/>
              </a:p>
              <a:p>
                <a:r>
                  <a:rPr lang="en-US" noProof="0" dirty="0"/>
                  <a:t>🔹 </a:t>
                </a:r>
                <a:r>
                  <a:rPr lang="en-US" b="1" noProof="0" dirty="0"/>
                  <a:t>Core Role: </a:t>
                </a:r>
                <a:r>
                  <a:rPr lang="en-US" noProof="0" dirty="0"/>
                  <a:t>Dynamically restructures the decision graph (</a:t>
                </a:r>
                <a14:m>
                  <m:oMath xmlns:m="http://schemas.openxmlformats.org/officeDocument/2006/math">
                    <m:r>
                      <a:rPr lang="en-GB" i="1">
                        <a:latin typeface="Cambria Math" panose="02040503050406030204" pitchFamily="18" charset="0"/>
                      </a:rPr>
                      <m:t>𝑇𝑟𝑒𝑒</m:t>
                    </m:r>
                    <m:r>
                      <a:rPr lang="en-GB" i="1">
                        <a:latin typeface="Cambria Math" panose="02040503050406030204" pitchFamily="18" charset="0"/>
                      </a:rPr>
                      <m:t>:  </m:t>
                    </m:r>
                    <m:r>
                      <a:rPr lang="en-GB" i="1">
                        <a:latin typeface="Cambria Math" panose="02040503050406030204" pitchFamily="18" charset="0"/>
                      </a:rPr>
                      <m:t>𝑇</m:t>
                    </m:r>
                    <m:r>
                      <a:rPr lang="en-GB" i="1">
                        <a:latin typeface="Cambria Math" panose="02040503050406030204" pitchFamily="18" charset="0"/>
                      </a:rPr>
                      <m:t> = </m:t>
                    </m:r>
                    <m:d>
                      <m:dPr>
                        <m:ctrlPr>
                          <a:rPr lang="tr-TR" i="1">
                            <a:latin typeface="Cambria Math" panose="02040503050406030204" pitchFamily="18" charset="0"/>
                          </a:rPr>
                        </m:ctrlPr>
                      </m:dPr>
                      <m:e>
                        <m:r>
                          <a:rPr lang="en-GB" i="1">
                            <a:latin typeface="Cambria Math" panose="02040503050406030204" pitchFamily="18" charset="0"/>
                          </a:rPr>
                          <m:t>𝑁</m:t>
                        </m:r>
                        <m:r>
                          <a:rPr lang="en-GB" i="1">
                            <a:latin typeface="Cambria Math" panose="02040503050406030204" pitchFamily="18" charset="0"/>
                          </a:rPr>
                          <m:t>, </m:t>
                        </m:r>
                        <m:r>
                          <a:rPr lang="en-GB" i="1">
                            <a:latin typeface="Cambria Math" panose="02040503050406030204" pitchFamily="18" charset="0"/>
                          </a:rPr>
                          <m:t>𝐸</m:t>
                        </m:r>
                      </m:e>
                    </m:d>
                    <m:r>
                      <a:rPr lang="en-GB" i="1">
                        <a:latin typeface="Cambria Math" panose="02040503050406030204" pitchFamily="18" charset="0"/>
                      </a:rPr>
                      <m:t>, </m:t>
                    </m:r>
                    <m:r>
                      <a:rPr lang="en-GB" i="1">
                        <a:latin typeface="Cambria Math" panose="02040503050406030204" pitchFamily="18" charset="0"/>
                      </a:rPr>
                      <m:t>𝑤h𝑒𝑟𝑒</m:t>
                    </m:r>
                    <m:r>
                      <a:rPr lang="en-GB" i="1">
                        <a:latin typeface="Cambria Math" panose="02040503050406030204" pitchFamily="18" charset="0"/>
                      </a:rPr>
                      <m:t> </m:t>
                    </m:r>
                    <m:r>
                      <a:rPr lang="en-GB" i="1">
                        <a:latin typeface="Cambria Math" panose="02040503050406030204" pitchFamily="18" charset="0"/>
                      </a:rPr>
                      <m:t>𝑁</m:t>
                    </m:r>
                    <m:r>
                      <a:rPr lang="en-GB" i="1">
                        <a:latin typeface="Cambria Math" panose="02040503050406030204" pitchFamily="18" charset="0"/>
                      </a:rPr>
                      <m:t> = </m:t>
                    </m:r>
                    <m:r>
                      <a:rPr lang="en-GB" i="1">
                        <a:latin typeface="Cambria Math" panose="02040503050406030204" pitchFamily="18" charset="0"/>
                      </a:rPr>
                      <m:t>𝑛𝑜𝑑𝑒𝑠</m:t>
                    </m:r>
                    <m:r>
                      <a:rPr lang="en-GB" i="1">
                        <a:latin typeface="Cambria Math" panose="02040503050406030204" pitchFamily="18" charset="0"/>
                      </a:rPr>
                      <m:t>, </m:t>
                    </m:r>
                    <m:r>
                      <a:rPr lang="en-GB" i="1">
                        <a:latin typeface="Cambria Math" panose="02040503050406030204" pitchFamily="18" charset="0"/>
                      </a:rPr>
                      <m:t>𝐸</m:t>
                    </m:r>
                    <m:r>
                      <a:rPr lang="en-GB" i="1">
                        <a:latin typeface="Cambria Math" panose="02040503050406030204" pitchFamily="18" charset="0"/>
                      </a:rPr>
                      <m:t> = </m:t>
                    </m:r>
                    <m:r>
                      <a:rPr lang="en-GB" i="1">
                        <a:latin typeface="Cambria Math" panose="02040503050406030204" pitchFamily="18" charset="0"/>
                      </a:rPr>
                      <m:t>𝑒𝑑𝑔𝑒𝑠</m:t>
                    </m:r>
                  </m:oMath>
                </a14:m>
                <a:r>
                  <a:rPr lang="en-US" noProof="0" dirty="0"/>
                  <a:t>) in response to real-time data and feedback. It enables fluid, self-organizing decision paths for mission-critical adaptability.</a:t>
                </a:r>
                <a:br>
                  <a:rPr lang="en-US" noProof="0" dirty="0"/>
                </a:br>
                <a:br>
                  <a:rPr lang="en-US" noProof="0" dirty="0"/>
                </a:br>
                <a:r>
                  <a:rPr lang="en-US" noProof="0" dirty="0"/>
                  <a:t>MCTS or UCB-based Tree Policy:</a:t>
                </a:r>
              </a:p>
              <a:p>
                <a:pPr>
                  <a:lnSpc>
                    <a:spcPct val="120000"/>
                  </a:lnSpc>
                </a:pPr>
                <a14:m>
                  <m:oMath xmlns:m="http://schemas.openxmlformats.org/officeDocument/2006/math">
                    <m:sSup>
                      <m:sSupPr>
                        <m:ctrlPr>
                          <a:rPr lang="en-US" b="1" i="1" noProof="0" smtClean="0">
                            <a:latin typeface="Cambria Math" panose="02040503050406030204" pitchFamily="18" charset="0"/>
                          </a:rPr>
                        </m:ctrlPr>
                      </m:sSupPr>
                      <m:e>
                        <m:r>
                          <a:rPr lang="en-US" b="1" i="1" noProof="0" smtClean="0">
                            <a:latin typeface="Cambria Math" panose="02040503050406030204" pitchFamily="18" charset="0"/>
                          </a:rPr>
                          <m:t>𝝅</m:t>
                        </m:r>
                      </m:e>
                      <m:sup>
                        <m:r>
                          <a:rPr lang="en-US" b="1" i="1" noProof="0" smtClean="0">
                            <a:latin typeface="Cambria Math" panose="02040503050406030204" pitchFamily="18" charset="0"/>
                          </a:rPr>
                          <m:t>∗</m:t>
                        </m:r>
                      </m:sup>
                    </m:sSup>
                    <m:r>
                      <a:rPr lang="en-US" b="1" noProof="0" smtClean="0">
                        <a:latin typeface="Cambria Math" panose="02040503050406030204" pitchFamily="18" charset="0"/>
                      </a:rPr>
                      <m:t>(</m:t>
                    </m:r>
                    <m:r>
                      <a:rPr lang="en-US" b="1" i="1" noProof="0" smtClean="0">
                        <a:latin typeface="Cambria Math" panose="02040503050406030204" pitchFamily="18" charset="0"/>
                      </a:rPr>
                      <m:t>𝒔</m:t>
                    </m:r>
                    <m:r>
                      <a:rPr lang="en-US" b="1" noProof="0" smtClean="0">
                        <a:latin typeface="Cambria Math" panose="02040503050406030204" pitchFamily="18" charset="0"/>
                      </a:rPr>
                      <m:t>) </m:t>
                    </m:r>
                    <m:r>
                      <a:rPr lang="en-US" noProof="0" smtClean="0">
                        <a:latin typeface="Cambria Math" panose="02040503050406030204" pitchFamily="18" charset="0"/>
                      </a:rPr>
                      <m:t>= </m:t>
                    </m:r>
                    <m:func>
                      <m:funcPr>
                        <m:ctrlPr>
                          <a:rPr lang="en-US" i="1" noProof="0" smtClean="0">
                            <a:latin typeface="Cambria Math" panose="02040503050406030204" pitchFamily="18" charset="0"/>
                          </a:rPr>
                        </m:ctrlPr>
                      </m:funcPr>
                      <m:fName>
                        <m:limLow>
                          <m:limLowPr>
                            <m:ctrlPr>
                              <a:rPr lang="en-US" i="1" noProof="0" smtClean="0">
                                <a:latin typeface="Cambria Math" panose="02040503050406030204" pitchFamily="18" charset="0"/>
                              </a:rPr>
                            </m:ctrlPr>
                          </m:limLowPr>
                          <m:e>
                            <m:r>
                              <m:rPr>
                                <m:sty m:val="p"/>
                              </m:rPr>
                              <a:rPr lang="en-US" noProof="0" smtClean="0">
                                <a:latin typeface="Cambria Math" panose="02040503050406030204" pitchFamily="18" charset="0"/>
                              </a:rPr>
                              <m:t>max</m:t>
                            </m:r>
                          </m:e>
                          <m:lim>
                            <m:r>
                              <a:rPr lang="en-US" i="1" noProof="0" smtClean="0">
                                <a:latin typeface="Cambria Math" panose="02040503050406030204" pitchFamily="18" charset="0"/>
                              </a:rPr>
                              <m:t>𝜋</m:t>
                            </m:r>
                          </m:lim>
                        </m:limLow>
                      </m:fName>
                      <m:e>
                        <m:r>
                          <a:rPr lang="en-US" i="1" noProof="0" smtClean="0">
                            <a:latin typeface="Cambria Math" panose="02040503050406030204" pitchFamily="18" charset="0"/>
                          </a:rPr>
                          <m:t>𝐸</m:t>
                        </m:r>
                        <m:r>
                          <a:rPr lang="en-US" noProof="0" smtClean="0">
                            <a:latin typeface="Cambria Math" panose="02040503050406030204" pitchFamily="18" charset="0"/>
                          </a:rPr>
                          <m:t>[</m:t>
                        </m:r>
                        <m:nary>
                          <m:naryPr>
                            <m:chr m:val="∑"/>
                            <m:limLoc m:val="undOvr"/>
                            <m:ctrlPr>
                              <a:rPr lang="en-US" i="1" noProof="0" smtClean="0">
                                <a:latin typeface="Cambria Math" panose="02040503050406030204" pitchFamily="18" charset="0"/>
                              </a:rPr>
                            </m:ctrlPr>
                          </m:naryPr>
                          <m:sub>
                            <m:r>
                              <a:rPr lang="en-US" i="1" noProof="0" smtClean="0">
                                <a:latin typeface="Cambria Math" panose="02040503050406030204" pitchFamily="18" charset="0"/>
                              </a:rPr>
                              <m:t>𝑡</m:t>
                            </m:r>
                            <m:r>
                              <a:rPr lang="en-US" i="1" noProof="0" smtClean="0">
                                <a:latin typeface="Cambria Math" panose="02040503050406030204" pitchFamily="18" charset="0"/>
                              </a:rPr>
                              <m:t>=0</m:t>
                            </m:r>
                          </m:sub>
                          <m:sup>
                            <m:r>
                              <a:rPr lang="en-US" i="1" noProof="0" smtClean="0">
                                <a:latin typeface="Cambria Math" panose="02040503050406030204" pitchFamily="18" charset="0"/>
                              </a:rPr>
                              <m:t>𝑇</m:t>
                            </m:r>
                          </m:sup>
                          <m:e>
                            <m:sSup>
                              <m:sSupPr>
                                <m:ctrlPr>
                                  <a:rPr lang="en-US" i="1" noProof="0" smtClean="0">
                                    <a:latin typeface="Cambria Math" panose="02040503050406030204" pitchFamily="18" charset="0"/>
                                  </a:rPr>
                                </m:ctrlPr>
                              </m:sSupPr>
                              <m:e>
                                <m:r>
                                  <a:rPr lang="en-US" i="1" noProof="0" smtClean="0">
                                    <a:latin typeface="Cambria Math" panose="02040503050406030204" pitchFamily="18" charset="0"/>
                                  </a:rPr>
                                  <m:t>𝛾</m:t>
                                </m:r>
                              </m:e>
                              <m:sup>
                                <m:r>
                                  <a:rPr lang="en-US" i="1" noProof="0" smtClean="0">
                                    <a:latin typeface="Cambria Math" panose="02040503050406030204" pitchFamily="18" charset="0"/>
                                  </a:rPr>
                                  <m:t>𝑡</m:t>
                                </m:r>
                              </m:sup>
                            </m:sSup>
                            <m:r>
                              <a:rPr lang="en-US" noProof="0" smtClean="0">
                                <a:latin typeface="Cambria Math" panose="02040503050406030204" pitchFamily="18" charset="0"/>
                              </a:rPr>
                              <m:t> </m:t>
                            </m:r>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𝑟</m:t>
                                </m:r>
                              </m:e>
                              <m:sub>
                                <m:r>
                                  <a:rPr lang="en-US" i="1" noProof="0" smtClean="0">
                                    <a:latin typeface="Cambria Math" panose="02040503050406030204" pitchFamily="18" charset="0"/>
                                  </a:rPr>
                                  <m:t>𝑡</m:t>
                                </m:r>
                              </m:sub>
                            </m:sSub>
                          </m:e>
                        </m:nary>
                        <m:r>
                          <a:rPr lang="en-US" noProof="0" smtClean="0">
                            <a:latin typeface="Cambria Math" panose="02040503050406030204" pitchFamily="18" charset="0"/>
                          </a:rPr>
                          <m:t>]</m:t>
                        </m:r>
                      </m:e>
                    </m:func>
                    <m:r>
                      <a:rPr lang="en-US" noProof="0" smtClean="0">
                        <a:latin typeface="Cambria Math" panose="02040503050406030204" pitchFamily="18" charset="0"/>
                      </a:rPr>
                      <m:t> , </m:t>
                    </m:r>
                    <m:r>
                      <a:rPr lang="en-US" i="1" noProof="0" smtClean="0">
                        <a:latin typeface="Cambria Math" panose="02040503050406030204" pitchFamily="18" charset="0"/>
                      </a:rPr>
                      <m:t>𝑜𝑝𝑡𝑖𝑚𝑖𝑧𝑒𝑑</m:t>
                    </m:r>
                    <m:r>
                      <a:rPr lang="en-US" noProof="0" smtClean="0">
                        <a:latin typeface="Cambria Math" panose="02040503050406030204" pitchFamily="18" charset="0"/>
                      </a:rPr>
                      <m:t> </m:t>
                    </m:r>
                    <m:r>
                      <a:rPr lang="en-US" i="1" noProof="0" smtClean="0">
                        <a:latin typeface="Cambria Math" panose="02040503050406030204" pitchFamily="18" charset="0"/>
                      </a:rPr>
                      <m:t>𝑏𝑦</m:t>
                    </m:r>
                    <m:r>
                      <a:rPr lang="en-US" noProof="0" smtClean="0">
                        <a:latin typeface="Cambria Math" panose="02040503050406030204" pitchFamily="18" charset="0"/>
                      </a:rPr>
                      <m:t> </m:t>
                    </m:r>
                    <m:r>
                      <a:rPr lang="en-US" i="1" noProof="0" smtClean="0">
                        <a:latin typeface="Cambria Math" panose="02040503050406030204" pitchFamily="18" charset="0"/>
                      </a:rPr>
                      <m:t>𝑅𝐿</m:t>
                    </m:r>
                    <m:r>
                      <a:rPr lang="en-US" noProof="0" smtClean="0">
                        <a:latin typeface="Cambria Math" panose="02040503050406030204" pitchFamily="18" charset="0"/>
                      </a:rPr>
                      <m:t> </m:t>
                    </m:r>
                    <m:r>
                      <a:rPr lang="en-US" i="1" noProof="0" smtClean="0">
                        <a:latin typeface="Cambria Math" panose="02040503050406030204" pitchFamily="18" charset="0"/>
                      </a:rPr>
                      <m:t>𝑎𝑙𝑔𝑜𝑟𝑖𝑡h𝑚𝑠</m:t>
                    </m:r>
                    <m:r>
                      <a:rPr lang="en-US" noProof="0" smtClean="0">
                        <a:latin typeface="Cambria Math" panose="02040503050406030204" pitchFamily="18" charset="0"/>
                      </a:rPr>
                      <m:t> </m:t>
                    </m:r>
                    <m:r>
                      <a:rPr lang="en-US" i="1" noProof="0" smtClean="0">
                        <a:latin typeface="Cambria Math" panose="02040503050406030204" pitchFamily="18" charset="0"/>
                      </a:rPr>
                      <m:t>𝑙𝑖𝑘𝑒</m:t>
                    </m:r>
                    <m:r>
                      <a:rPr lang="en-US" noProof="0" smtClean="0">
                        <a:latin typeface="Cambria Math" panose="02040503050406030204" pitchFamily="18" charset="0"/>
                      </a:rPr>
                      <m:t> </m:t>
                    </m:r>
                    <m:r>
                      <a:rPr lang="en-US" i="1" noProof="0" smtClean="0">
                        <a:latin typeface="Cambria Math" panose="02040503050406030204" pitchFamily="18" charset="0"/>
                      </a:rPr>
                      <m:t>𝑃𝑃𝑂</m:t>
                    </m:r>
                    <m:r>
                      <a:rPr lang="en-US" noProof="0" smtClean="0">
                        <a:latin typeface="Cambria Math" panose="02040503050406030204" pitchFamily="18" charset="0"/>
                      </a:rPr>
                      <m:t>, </m:t>
                    </m:r>
                    <m:r>
                      <a:rPr lang="en-US" i="1" noProof="0" smtClean="0">
                        <a:latin typeface="Cambria Math" panose="02040503050406030204" pitchFamily="18" charset="0"/>
                      </a:rPr>
                      <m:t>𝐴</m:t>
                    </m:r>
                    <m:r>
                      <a:rPr lang="en-US" noProof="0" smtClean="0">
                        <a:latin typeface="Cambria Math" panose="02040503050406030204" pitchFamily="18" charset="0"/>
                      </a:rPr>
                      <m:t>3</m:t>
                    </m:r>
                    <m:r>
                      <a:rPr lang="en-US" i="1" noProof="0" smtClean="0">
                        <a:latin typeface="Cambria Math" panose="02040503050406030204" pitchFamily="18" charset="0"/>
                      </a:rPr>
                      <m:t>𝐶</m:t>
                    </m:r>
                  </m:oMath>
                </a14:m>
                <a:br>
                  <a:rPr lang="en-US" noProof="0" dirty="0"/>
                </a:br>
                <a:br>
                  <a:rPr lang="en-US" b="1" noProof="0" dirty="0"/>
                </a:br>
                <a:r>
                  <a:rPr lang="en-US" b="1" noProof="0" dirty="0"/>
                  <a:t>🔁 RL Integration:</a:t>
                </a:r>
                <a:br>
                  <a:rPr lang="en-US" noProof="0" dirty="0"/>
                </a:br>
                <a:r>
                  <a:rPr lang="en-US" noProof="0" dirty="0"/>
                  <a:t>• Refines tree topology using cumulative reward updates.</a:t>
                </a:r>
                <a:br>
                  <a:rPr lang="en-US" noProof="0" dirty="0"/>
                </a:br>
                <a:r>
                  <a:rPr lang="en-US" noProof="0" dirty="0"/>
                  <a:t>• Prioritizes high-reward subtrees; prunes underperformers.</a:t>
                </a:r>
                <a:br>
                  <a:rPr lang="en-US" noProof="0" dirty="0"/>
                </a:br>
                <a:r>
                  <a:rPr lang="en-US" b="1" noProof="0" dirty="0"/>
                  <a:t>🤖 LLM Integration:</a:t>
                </a:r>
                <a:br>
                  <a:rPr lang="en-US" noProof="0" dirty="0"/>
                </a:br>
                <a:r>
                  <a:rPr lang="en-US" noProof="0" dirty="0"/>
                  <a:t>• Proposes new nodes/branches in unseen scenarios using language prompts.</a:t>
                </a:r>
                <a:br>
                  <a:rPr lang="en-US" noProof="0" dirty="0"/>
                </a:br>
                <a:r>
                  <a:rPr lang="en-US" noProof="0" dirty="0"/>
                  <a:t>• Adds semantic edge labels (e.g., 'humidity &lt; 30%').</a:t>
                </a:r>
                <a:br>
                  <a:rPr lang="en-US" noProof="0" dirty="0"/>
                </a:br>
                <a:r>
                  <a:rPr lang="en-US" b="1" noProof="0" dirty="0"/>
                  <a:t>🔁 Feedback Loop:</a:t>
                </a:r>
                <a:br>
                  <a:rPr lang="en-US" noProof="0" dirty="0"/>
                </a:br>
                <a:r>
                  <a:rPr lang="en-US" noProof="0" dirty="0"/>
                  <a:t>• Edge weight adjustment via success/failure ratios.</a:t>
                </a:r>
                <a:br>
                  <a:rPr lang="en-US" noProof="0" dirty="0"/>
                </a:br>
                <a:r>
                  <a:rPr lang="en-US" noProof="0" dirty="0"/>
                  <a:t>• Branch review flagging on high error rates.</a:t>
                </a:r>
                <a:br>
                  <a:rPr lang="en-US" noProof="0" dirty="0"/>
                </a:br>
                <a:r>
                  <a:rPr lang="en-US" noProof="0" dirty="0"/>
                  <a:t>• Policy gradient-based reward shaping.</a:t>
                </a:r>
                <a:br>
                  <a:rPr lang="en-US" noProof="0" dirty="0"/>
                </a:br>
                <a:r>
                  <a:rPr lang="en-US" noProof="0" dirty="0"/>
                  <a:t>• Pruning to reduce decision latency and improve relevance.</a:t>
                </a:r>
              </a:p>
            </p:txBody>
          </p:sp>
        </mc:Choice>
        <mc:Fallback xmlns="">
          <p:sp>
            <p:nvSpPr>
              <p:cNvPr id="3" name="Content Placeholder 2">
                <a:extLst>
                  <a:ext uri="{FF2B5EF4-FFF2-40B4-BE49-F238E27FC236}">
                    <a16:creationId xmlns:a16="http://schemas.microsoft.com/office/drawing/2014/main" id="{F8CF1BCA-C404-A3C6-84CB-86D359481787}"/>
                  </a:ext>
                </a:extLst>
              </p:cNvPr>
              <p:cNvSpPr>
                <a:spLocks noGrp="1" noRot="1" noChangeAspect="1" noMove="1" noResize="1" noEditPoints="1" noAdjustHandles="1" noChangeArrowheads="1" noChangeShapeType="1" noTextEdit="1"/>
              </p:cNvSpPr>
              <p:nvPr>
                <p:ph idx="1"/>
              </p:nvPr>
            </p:nvSpPr>
            <p:spPr>
              <a:xfrm>
                <a:off x="2522218" y="648700"/>
                <a:ext cx="9669781" cy="5660639"/>
              </a:xfrm>
              <a:blipFill>
                <a:blip r:embed="rId2"/>
                <a:stretch>
                  <a:fillRect l="-1324" t="-1399" r="-631"/>
                </a:stretch>
              </a:blipFill>
            </p:spPr>
            <p:txBody>
              <a:bodyPr/>
              <a:lstStyle/>
              <a:p>
                <a:r>
                  <a:rPr lang="tr-TR">
                    <a:noFill/>
                  </a:rPr>
                  <a:t> </a:t>
                </a:r>
              </a:p>
            </p:txBody>
          </p:sp>
        </mc:Fallback>
      </mc:AlternateContent>
      <p:sp>
        <p:nvSpPr>
          <p:cNvPr id="4" name="Slide Number Placeholder 3">
            <a:extLst>
              <a:ext uri="{FF2B5EF4-FFF2-40B4-BE49-F238E27FC236}">
                <a16:creationId xmlns:a16="http://schemas.microsoft.com/office/drawing/2014/main" id="{820F5420-5A17-AC00-9409-C9593C738274}"/>
              </a:ext>
            </a:extLst>
          </p:cNvPr>
          <p:cNvSpPr>
            <a:spLocks noGrp="1"/>
          </p:cNvSpPr>
          <p:nvPr>
            <p:ph type="sldNum" sz="quarter" idx="12"/>
          </p:nvPr>
        </p:nvSpPr>
        <p:spPr/>
        <p:txBody>
          <a:bodyPr/>
          <a:lstStyle/>
          <a:p>
            <a:fld id="{0F4FBE90-EB1A-4CD8-B134-C7A82858680F}" type="slidenum">
              <a:rPr lang="en-US" smtClean="0"/>
              <a:t>17</a:t>
            </a:fld>
            <a:endParaRPr lang="en-US"/>
          </a:p>
        </p:txBody>
      </p:sp>
      <p:pic>
        <p:nvPicPr>
          <p:cNvPr id="5" name="Picture 4">
            <a:extLst>
              <a:ext uri="{FF2B5EF4-FFF2-40B4-BE49-F238E27FC236}">
                <a16:creationId xmlns:a16="http://schemas.microsoft.com/office/drawing/2014/main" id="{E4AB6E17-37F9-0CEB-AB2C-E5A3CC3EEC8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5309"/>
            <a:ext cx="2476500" cy="4572000"/>
          </a:xfrm>
          <a:prstGeom prst="rect">
            <a:avLst/>
          </a:prstGeom>
          <a:noFill/>
          <a:ln>
            <a:noFill/>
          </a:ln>
        </p:spPr>
      </p:pic>
    </p:spTree>
    <p:extLst>
      <p:ext uri="{BB962C8B-B14F-4D97-AF65-F5344CB8AC3E}">
        <p14:creationId xmlns:p14="http://schemas.microsoft.com/office/powerpoint/2010/main" val="286679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E9BEC-FC04-3DF5-2517-BAD1F363D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67538-0714-9CD2-9439-B725DF433407}"/>
              </a:ext>
            </a:extLst>
          </p:cNvPr>
          <p:cNvSpPr>
            <a:spLocks noGrp="1"/>
          </p:cNvSpPr>
          <p:nvPr>
            <p:ph type="title"/>
          </p:nvPr>
        </p:nvSpPr>
        <p:spPr/>
        <p:txBody>
          <a:bodyPr/>
          <a:lstStyle/>
          <a:p>
            <a:r>
              <a:rPr lang="en-US" dirty="0"/>
              <a:t>Decision Execution Engine (DEE)</a:t>
            </a:r>
            <a:endParaRPr lang="tr-T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3D72B4-6D46-7B08-3639-E1D2302B77A3}"/>
                  </a:ext>
                </a:extLst>
              </p:cNvPr>
              <p:cNvSpPr>
                <a:spLocks noGrp="1"/>
              </p:cNvSpPr>
              <p:nvPr>
                <p:ph idx="1"/>
              </p:nvPr>
            </p:nvSpPr>
            <p:spPr>
              <a:xfrm>
                <a:off x="2522218" y="648700"/>
                <a:ext cx="9669781" cy="5660639"/>
              </a:xfrm>
            </p:spPr>
            <p:txBody>
              <a:bodyPr>
                <a:normAutofit/>
              </a:bodyPr>
              <a:lstStyle/>
              <a:p>
                <a:endParaRPr lang="en-US" dirty="0"/>
              </a:p>
              <a:p>
                <a:r>
                  <a:rPr lang="en-US" b="1" dirty="0"/>
                  <a:t>Interface Between Decisions and Real-World Actions</a:t>
                </a:r>
                <a:br>
                  <a:rPr lang="en-US" dirty="0"/>
                </a:br>
                <a:br>
                  <a:rPr lang="en-US" dirty="0"/>
                </a:br>
                <a:r>
                  <a:rPr lang="en-US" dirty="0"/>
                  <a:t>🔹 </a:t>
                </a:r>
                <a:r>
                  <a:rPr lang="en-US" sz="1800" b="1" dirty="0"/>
                  <a:t>Core Role: </a:t>
                </a:r>
                <a:r>
                  <a:rPr lang="en-US" sz="1800" dirty="0"/>
                  <a:t>Executes actions suggested by DTM/FDL via human operators or autonomous systems.</a:t>
                </a:r>
                <a:br>
                  <a:rPr lang="en-US" sz="1800" dirty="0"/>
                </a:br>
                <a:r>
                  <a:rPr lang="en-US" sz="1800" dirty="0"/>
                  <a:t>Ensures transparency through logging of outcomes.</a:t>
                </a:r>
                <a:br>
                  <a:rPr lang="en-US" dirty="0"/>
                </a:br>
                <a:br>
                  <a:rPr lang="en-US" dirty="0"/>
                </a:br>
                <a14:m>
                  <m:oMath xmlns:m="http://schemas.openxmlformats.org/officeDocument/2006/math">
                    <m:r>
                      <a:rPr lang="en-US" i="1">
                        <a:latin typeface="Cambria Math" panose="02040503050406030204" pitchFamily="18" charset="0"/>
                      </a:rPr>
                      <m:t>𝐿𝑒𝑡</m:t>
                    </m:r>
                    <m:r>
                      <a:rPr lang="en-US" i="1">
                        <a:latin typeface="Cambria Math" panose="02040503050406030204" pitchFamily="18" charset="0"/>
                      </a:rPr>
                      <m:t> </m:t>
                    </m:r>
                    <m:r>
                      <a:rPr lang="en-US" i="1">
                        <a:latin typeface="Cambria Math" panose="02040503050406030204" pitchFamily="18" charset="0"/>
                      </a:rPr>
                      <m:t>𝜀</m:t>
                    </m:r>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e>
                    </m:d>
                    <m:r>
                      <a:rPr lang="en-US" i="1">
                        <a:latin typeface="Cambria Math" panose="02040503050406030204" pitchFamily="18" charset="0"/>
                      </a:rPr>
                      <m:t> </m:t>
                    </m:r>
                    <m:r>
                      <a:rPr lang="en-US" i="1">
                        <a:latin typeface="Cambria Math" panose="02040503050406030204" pitchFamily="18" charset="0"/>
                      </a:rPr>
                      <m:t>𝑏𝑒</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𝑒𝑥𝑒𝑐𝑢𝑡𝑖𝑜𝑛</m:t>
                    </m:r>
                    <m:r>
                      <a:rPr lang="en-US" i="1">
                        <a:latin typeface="Cambria Math" panose="02040503050406030204" pitchFamily="18" charset="0"/>
                      </a:rPr>
                      <m:t> </m:t>
                    </m:r>
                    <m:r>
                      <a:rPr lang="en-US" i="1">
                        <a:latin typeface="Cambria Math" panose="02040503050406030204" pitchFamily="18" charset="0"/>
                      </a:rPr>
                      <m:t>𝑓𝑢𝑛𝑐𝑡𝑖𝑜𝑛</m:t>
                    </m:r>
                    <m:r>
                      <a:rPr lang="en-US" i="1">
                        <a:latin typeface="Cambria Math" panose="02040503050406030204" pitchFamily="18" charset="0"/>
                      </a:rPr>
                      <m:t>:</m:t>
                    </m:r>
                  </m:oMath>
                </a14:m>
                <a:endParaRPr lang="tr-TR" dirty="0"/>
              </a:p>
              <a:p>
                <a14:m>
                  <m:oMath xmlns:m="http://schemas.openxmlformats.org/officeDocument/2006/math">
                    <m:r>
                      <a:rPr lang="en-US" i="1">
                        <a:latin typeface="Cambria Math" panose="02040503050406030204" pitchFamily="18" charset="0"/>
                      </a:rPr>
                      <m:t>𝜀</m:t>
                    </m:r>
                    <m:d>
                      <m:dPr>
                        <m:ctrlPr>
                          <a:rPr lang="tr-TR" i="1">
                            <a:latin typeface="Cambria Math" panose="02040503050406030204" pitchFamily="18" charset="0"/>
                          </a:rPr>
                        </m:ctrlPr>
                      </m:dPr>
                      <m:e>
                        <m:sSub>
                          <m:sSubPr>
                            <m:ctrlPr>
                              <a:rPr lang="tr-TR"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e>
                    </m:d>
                    <m:r>
                      <a:rPr lang="en-US" i="1">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2"/>
                                  <m:mcJc m:val="center"/>
                                </m:mcPr>
                              </m:mc>
                            </m:mcs>
                            <m:ctrlPr>
                              <a:rPr lang="tr-TR" i="1">
                                <a:latin typeface="Cambria Math" panose="02040503050406030204" pitchFamily="18" charset="0"/>
                              </a:rPr>
                            </m:ctrlPr>
                          </m:mPr>
                          <m:mr>
                            <m:e>
                              <m:r>
                                <a:rPr lang="en-US" i="1">
                                  <a:latin typeface="Cambria Math" panose="02040503050406030204" pitchFamily="18" charset="0"/>
                                </a:rPr>
                                <m:t>𝐸𝑥𝑒𝑐𝑢𝑡𝑒𝑑</m:t>
                              </m:r>
                            </m:e>
                            <m:e>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𝑓𝑒𝑎𝑠𝑖𝑏𝑙𝑒</m:t>
                              </m:r>
                              <m:r>
                                <a:rPr lang="en-US" i="1">
                                  <a:latin typeface="Cambria Math" panose="02040503050406030204" pitchFamily="18" charset="0"/>
                                </a:rPr>
                                <m:t> </m:t>
                              </m:r>
                              <m:r>
                                <a:rPr lang="en-US" i="1">
                                  <a:latin typeface="Cambria Math" panose="02040503050406030204" pitchFamily="18" charset="0"/>
                                </a:rPr>
                                <m:t>𝑎𝑛𝑑</m:t>
                              </m:r>
                              <m:r>
                                <a:rPr lang="en-US" i="1">
                                  <a:latin typeface="Cambria Math" panose="02040503050406030204" pitchFamily="18" charset="0"/>
                                </a:rPr>
                                <m:t> </m:t>
                              </m:r>
                              <m:r>
                                <a:rPr lang="en-US" i="1">
                                  <a:latin typeface="Cambria Math" panose="02040503050406030204" pitchFamily="18" charset="0"/>
                                </a:rPr>
                                <m:t>𝑎𝑝𝑝𝑟𝑜𝑣𝑒𝑑</m:t>
                              </m:r>
                            </m:e>
                          </m:mr>
                          <m:mr>
                            <m:e>
                              <m:r>
                                <a:rPr lang="en-US" i="1">
                                  <a:latin typeface="Cambria Math" panose="02040503050406030204" pitchFamily="18" charset="0"/>
                                </a:rPr>
                                <m:t>𝑅𝑒𝑗𝑒𝑐𝑡𝑒𝑑</m:t>
                              </m:r>
                            </m:e>
                            <m:e>
                              <m:r>
                                <a:rPr lang="en-US" i="1">
                                  <a:latin typeface="Cambria Math" panose="02040503050406030204" pitchFamily="18" charset="0"/>
                                </a:rPr>
                                <m:t>𝑜𝑡h𝑒𝑟𝑤𝑖𝑠𝑒</m:t>
                              </m:r>
                            </m:e>
                          </m:mr>
                        </m:m>
                      </m:e>
                    </m:d>
                    <m:r>
                      <a:rPr lang="en-US" i="1">
                        <a:latin typeface="Cambria Math" panose="02040503050406030204" pitchFamily="18" charset="0"/>
                      </a:rPr>
                      <m:t> </m:t>
                    </m:r>
                  </m:oMath>
                </a14:m>
                <a:endParaRPr lang="tr-TR" dirty="0"/>
              </a:p>
              <a:p>
                <a:pPr>
                  <a:defRPr sz="1400">
                    <a:solidFill>
                      <a:srgbClr val="000000"/>
                    </a:solidFill>
                    <a:latin typeface="Calibri"/>
                  </a:defRPr>
                </a:pPr>
                <a:br>
                  <a:rPr lang="en-US" dirty="0"/>
                </a:br>
                <a:br>
                  <a:rPr lang="en-US" sz="1800" dirty="0"/>
                </a:br>
                <a:r>
                  <a:rPr lang="en-US" sz="1800" dirty="0"/>
                  <a:t>🤖 LLM Integration:</a:t>
                </a:r>
                <a:br>
                  <a:rPr lang="en-US" sz="1800" dirty="0"/>
                </a:br>
                <a:r>
                  <a:rPr lang="en-US" sz="1800" dirty="0"/>
                  <a:t>• Provides natural language explanations for operator decisions.</a:t>
                </a:r>
                <a:br>
                  <a:rPr lang="en-US" sz="1800" dirty="0"/>
                </a:br>
                <a:r>
                  <a:rPr lang="en-US" sz="1800" dirty="0"/>
                  <a:t>Example: “Sending drones first ensures situational awareness under poor visibility.”</a:t>
                </a:r>
                <a:br>
                  <a:rPr lang="en-US" sz="1800" dirty="0"/>
                </a:br>
                <a:br>
                  <a:rPr lang="en-US" sz="1800" dirty="0"/>
                </a:br>
                <a:r>
                  <a:rPr lang="en-US" sz="1800" dirty="0"/>
                  <a:t>🔁 Feedback Mechanisms:</a:t>
                </a:r>
                <a:br>
                  <a:rPr lang="en-US" sz="1800" dirty="0"/>
                </a:br>
                <a:r>
                  <a:rPr lang="en-US" sz="1800" dirty="0"/>
                  <a:t>• Rejected actions trigger DTM and RL policy adjustments.</a:t>
                </a:r>
                <a:br>
                  <a:rPr lang="en-US" sz="1800" dirty="0"/>
                </a:br>
                <a:r>
                  <a:rPr lang="en-US" sz="1800" dirty="0"/>
                  <a:t>• Successful executions reinforce decision models.</a:t>
                </a:r>
                <a:endParaRPr lang="en-US" noProof="0" dirty="0"/>
              </a:p>
            </p:txBody>
          </p:sp>
        </mc:Choice>
        <mc:Fallback xmlns="">
          <p:sp>
            <p:nvSpPr>
              <p:cNvPr id="3" name="Content Placeholder 2">
                <a:extLst>
                  <a:ext uri="{FF2B5EF4-FFF2-40B4-BE49-F238E27FC236}">
                    <a16:creationId xmlns:a16="http://schemas.microsoft.com/office/drawing/2014/main" id="{5A3D72B4-6D46-7B08-3639-E1D2302B77A3}"/>
                  </a:ext>
                </a:extLst>
              </p:cNvPr>
              <p:cNvSpPr>
                <a:spLocks noGrp="1" noRot="1" noChangeAspect="1" noMove="1" noResize="1" noEditPoints="1" noAdjustHandles="1" noChangeArrowheads="1" noChangeShapeType="1" noTextEdit="1"/>
              </p:cNvSpPr>
              <p:nvPr>
                <p:ph idx="1"/>
              </p:nvPr>
            </p:nvSpPr>
            <p:spPr>
              <a:xfrm>
                <a:off x="2522218" y="648700"/>
                <a:ext cx="9669781" cy="5660639"/>
              </a:xfrm>
              <a:blipFill>
                <a:blip r:embed="rId2"/>
                <a:stretch>
                  <a:fillRect l="-694" r="-315"/>
                </a:stretch>
              </a:blipFill>
            </p:spPr>
            <p:txBody>
              <a:bodyPr/>
              <a:lstStyle/>
              <a:p>
                <a:r>
                  <a:rPr lang="tr-TR">
                    <a:noFill/>
                  </a:rPr>
                  <a:t> </a:t>
                </a:r>
              </a:p>
            </p:txBody>
          </p:sp>
        </mc:Fallback>
      </mc:AlternateContent>
      <p:sp>
        <p:nvSpPr>
          <p:cNvPr id="4" name="Slide Number Placeholder 3">
            <a:extLst>
              <a:ext uri="{FF2B5EF4-FFF2-40B4-BE49-F238E27FC236}">
                <a16:creationId xmlns:a16="http://schemas.microsoft.com/office/drawing/2014/main" id="{D76F6768-25B5-E234-E910-95626C6F3272}"/>
              </a:ext>
            </a:extLst>
          </p:cNvPr>
          <p:cNvSpPr>
            <a:spLocks noGrp="1"/>
          </p:cNvSpPr>
          <p:nvPr>
            <p:ph type="sldNum" sz="quarter" idx="12"/>
          </p:nvPr>
        </p:nvSpPr>
        <p:spPr/>
        <p:txBody>
          <a:bodyPr/>
          <a:lstStyle/>
          <a:p>
            <a:fld id="{0F4FBE90-EB1A-4CD8-B134-C7A82858680F}" type="slidenum">
              <a:rPr lang="en-US" smtClean="0"/>
              <a:t>18</a:t>
            </a:fld>
            <a:endParaRPr lang="en-US"/>
          </a:p>
        </p:txBody>
      </p:sp>
      <p:pic>
        <p:nvPicPr>
          <p:cNvPr id="5" name="Picture 4">
            <a:extLst>
              <a:ext uri="{FF2B5EF4-FFF2-40B4-BE49-F238E27FC236}">
                <a16:creationId xmlns:a16="http://schemas.microsoft.com/office/drawing/2014/main" id="{EDBFAEF6-5946-4F71-D37B-5F6D370C850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5309"/>
            <a:ext cx="2476500" cy="4572000"/>
          </a:xfrm>
          <a:prstGeom prst="rect">
            <a:avLst/>
          </a:prstGeom>
          <a:noFill/>
          <a:ln>
            <a:noFill/>
          </a:ln>
        </p:spPr>
      </p:pic>
    </p:spTree>
    <p:extLst>
      <p:ext uri="{BB962C8B-B14F-4D97-AF65-F5344CB8AC3E}">
        <p14:creationId xmlns:p14="http://schemas.microsoft.com/office/powerpoint/2010/main" val="1276078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63FB2-EDF2-F988-CAED-75F9AA932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151EC-4F0A-7FB0-3192-9A50975C79F0}"/>
              </a:ext>
            </a:extLst>
          </p:cNvPr>
          <p:cNvSpPr>
            <a:spLocks noGrp="1"/>
          </p:cNvSpPr>
          <p:nvPr>
            <p:ph type="title"/>
          </p:nvPr>
        </p:nvSpPr>
        <p:spPr/>
        <p:txBody>
          <a:bodyPr/>
          <a:lstStyle/>
          <a:p>
            <a:r>
              <a:rPr lang="en-GB" dirty="0">
                <a:effectLst/>
              </a:rPr>
              <a:t>Adaptive Response Actions (ARA)</a:t>
            </a:r>
            <a:endParaRPr lang="tr-T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0D3CA5-DB1E-0810-967E-51CBDA519403}"/>
                  </a:ext>
                </a:extLst>
              </p:cNvPr>
              <p:cNvSpPr>
                <a:spLocks noGrp="1"/>
              </p:cNvSpPr>
              <p:nvPr>
                <p:ph idx="1"/>
              </p:nvPr>
            </p:nvSpPr>
            <p:spPr>
              <a:xfrm>
                <a:off x="2522218" y="648700"/>
                <a:ext cx="9669781" cy="5660639"/>
              </a:xfrm>
            </p:spPr>
            <p:txBody>
              <a:bodyPr>
                <a:normAutofit/>
              </a:bodyPr>
              <a:lstStyle/>
              <a:p>
                <a:r>
                  <a:rPr lang="tr-TR" sz="1300" b="1" dirty="0" err="1"/>
                  <a:t>Dynamic</a:t>
                </a:r>
                <a:r>
                  <a:rPr lang="tr-TR" sz="1300" b="1" dirty="0"/>
                  <a:t> Action </a:t>
                </a:r>
                <a:r>
                  <a:rPr lang="tr-TR" sz="1300" b="1" dirty="0" err="1"/>
                  <a:t>Plans</a:t>
                </a:r>
                <a:r>
                  <a:rPr lang="tr-TR" sz="1300" b="1" dirty="0"/>
                  <a:t> </a:t>
                </a:r>
                <a:r>
                  <a:rPr lang="tr-TR" sz="1300" b="1" dirty="0" err="1"/>
                  <a:t>Driven</a:t>
                </a:r>
                <a:r>
                  <a:rPr lang="tr-TR" sz="1300" b="1" dirty="0"/>
                  <a:t> </a:t>
                </a:r>
                <a:r>
                  <a:rPr lang="tr-TR" sz="1300" b="1" dirty="0" err="1"/>
                  <a:t>by</a:t>
                </a:r>
                <a:r>
                  <a:rPr lang="tr-TR" sz="1300" b="1" dirty="0"/>
                  <a:t> Real-Time Feedback</a:t>
                </a:r>
                <a:br>
                  <a:rPr lang="tr-TR" sz="1300" dirty="0"/>
                </a:br>
                <a:br>
                  <a:rPr lang="tr-TR" sz="1300" dirty="0"/>
                </a:br>
                <a:r>
                  <a:rPr lang="en-US" sz="1300" dirty="0"/>
                  <a:t>🔹 </a:t>
                </a:r>
                <a:r>
                  <a:rPr lang="en-US" sz="1300" b="1" dirty="0"/>
                  <a:t>Core Role: </a:t>
                </a:r>
                <a:r>
                  <a:rPr lang="tr-TR" sz="1300" dirty="0"/>
                  <a:t>Final </a:t>
                </a:r>
                <a:r>
                  <a:rPr lang="tr-TR" sz="1300" dirty="0" err="1"/>
                  <a:t>executable</a:t>
                </a:r>
                <a:r>
                  <a:rPr lang="tr-TR" sz="1300" dirty="0"/>
                  <a:t> </a:t>
                </a:r>
                <a:r>
                  <a:rPr lang="tr-TR" sz="1300" dirty="0" err="1"/>
                  <a:t>plans</a:t>
                </a:r>
                <a:r>
                  <a:rPr lang="tr-TR" sz="1300" dirty="0"/>
                  <a:t> </a:t>
                </a:r>
                <a:r>
                  <a:rPr lang="tr-TR" sz="1300" dirty="0" err="1"/>
                  <a:t>that</a:t>
                </a:r>
                <a:r>
                  <a:rPr lang="tr-TR" sz="1300" dirty="0"/>
                  <a:t> </a:t>
                </a:r>
                <a:r>
                  <a:rPr lang="tr-TR" sz="1300" dirty="0" err="1"/>
                  <a:t>automatically</a:t>
                </a:r>
                <a:r>
                  <a:rPr lang="tr-TR" sz="1300" dirty="0"/>
                  <a:t> </a:t>
                </a:r>
                <a:r>
                  <a:rPr lang="tr-TR" sz="1300" dirty="0" err="1"/>
                  <a:t>adapt</a:t>
                </a:r>
                <a:r>
                  <a:rPr lang="tr-TR" sz="1300" dirty="0"/>
                  <a:t> </a:t>
                </a:r>
                <a:r>
                  <a:rPr lang="tr-TR" sz="1300" dirty="0" err="1"/>
                  <a:t>to</a:t>
                </a:r>
                <a:r>
                  <a:rPr lang="tr-TR" sz="1300" dirty="0"/>
                  <a:t> </a:t>
                </a:r>
                <a:r>
                  <a:rPr lang="tr-TR" sz="1300" dirty="0" err="1"/>
                  <a:t>evolving</a:t>
                </a:r>
                <a:r>
                  <a:rPr lang="tr-TR" sz="1300" dirty="0"/>
                  <a:t> </a:t>
                </a:r>
                <a:r>
                  <a:rPr lang="tr-TR" sz="1300" dirty="0" err="1"/>
                  <a:t>field</a:t>
                </a:r>
                <a:r>
                  <a:rPr lang="tr-TR" sz="1300" dirty="0"/>
                  <a:t> </a:t>
                </a:r>
                <a:r>
                  <a:rPr lang="tr-TR" sz="1300" dirty="0" err="1"/>
                  <a:t>conditions</a:t>
                </a:r>
                <a:r>
                  <a:rPr lang="tr-TR" sz="1300" dirty="0"/>
                  <a:t>.</a:t>
                </a:r>
                <a:br>
                  <a:rPr lang="tr-TR" sz="1300" dirty="0"/>
                </a:br>
                <a:br>
                  <a:rPr lang="tr-TR" sz="1300" dirty="0"/>
                </a:br>
                <a14:m>
                  <m:oMath xmlns:m="http://schemas.openxmlformats.org/officeDocument/2006/math">
                    <m:sSup>
                      <m:sSupPr>
                        <m:ctrlPr>
                          <a:rPr lang="tr-TR" sz="1300" i="1">
                            <a:latin typeface="Cambria Math" panose="02040503050406030204" pitchFamily="18" charset="0"/>
                          </a:rPr>
                        </m:ctrlPr>
                      </m:sSupPr>
                      <m:e>
                        <m:r>
                          <a:rPr lang="en-GB" sz="1300" i="1">
                            <a:latin typeface="Cambria Math" panose="02040503050406030204" pitchFamily="18" charset="0"/>
                          </a:rPr>
                          <m:t>𝜋</m:t>
                        </m:r>
                      </m:e>
                      <m:sup>
                        <m:r>
                          <a:rPr lang="en-GB" sz="1300" i="1">
                            <a:latin typeface="Cambria Math" panose="02040503050406030204" pitchFamily="18" charset="0"/>
                          </a:rPr>
                          <m:t>∗</m:t>
                        </m:r>
                      </m:sup>
                    </m:sSup>
                    <m:r>
                      <a:rPr lang="en-GB" sz="1300" i="1">
                        <a:latin typeface="Cambria Math" panose="02040503050406030204" pitchFamily="18" charset="0"/>
                      </a:rPr>
                      <m:t>(</m:t>
                    </m:r>
                    <m:r>
                      <a:rPr lang="en-GB" sz="1300" i="1">
                        <a:latin typeface="Cambria Math" panose="02040503050406030204" pitchFamily="18" charset="0"/>
                      </a:rPr>
                      <m:t>𝑠</m:t>
                    </m:r>
                    <m:r>
                      <a:rPr lang="en-GB" sz="1300" i="1">
                        <a:latin typeface="Cambria Math" panose="02040503050406030204" pitchFamily="18" charset="0"/>
                      </a:rPr>
                      <m:t>) = </m:t>
                    </m:r>
                    <m:r>
                      <a:rPr lang="en-GB" sz="1300" i="1">
                        <a:latin typeface="Cambria Math" panose="02040503050406030204" pitchFamily="18" charset="0"/>
                      </a:rPr>
                      <m:t>𝑎𝑟𝑔𝑚𝑎</m:t>
                    </m:r>
                    <m:sSub>
                      <m:sSubPr>
                        <m:ctrlPr>
                          <a:rPr lang="tr-TR" sz="1300" i="1">
                            <a:latin typeface="Cambria Math" panose="02040503050406030204" pitchFamily="18" charset="0"/>
                          </a:rPr>
                        </m:ctrlPr>
                      </m:sSubPr>
                      <m:e>
                        <m:r>
                          <a:rPr lang="en-GB" sz="1300" i="1">
                            <a:latin typeface="Cambria Math" panose="02040503050406030204" pitchFamily="18" charset="0"/>
                          </a:rPr>
                          <m:t>𝑥</m:t>
                        </m:r>
                      </m:e>
                      <m:sub>
                        <m:r>
                          <a:rPr lang="en-GB" sz="1300" i="1">
                            <a:latin typeface="Cambria Math" panose="02040503050406030204" pitchFamily="18" charset="0"/>
                          </a:rPr>
                          <m:t>𝜋</m:t>
                        </m:r>
                      </m:sub>
                    </m:sSub>
                    <m:r>
                      <a:rPr lang="en-GB" sz="1300" i="1">
                        <a:latin typeface="Cambria Math" panose="02040503050406030204" pitchFamily="18" charset="0"/>
                      </a:rPr>
                      <m:t> </m:t>
                    </m:r>
                    <m:r>
                      <a:rPr lang="en-GB" sz="1300" i="1">
                        <a:latin typeface="Cambria Math" panose="02040503050406030204" pitchFamily="18" charset="0"/>
                      </a:rPr>
                      <m:t>𝐸</m:t>
                    </m:r>
                    <m:r>
                      <a:rPr lang="en-GB" sz="1300" i="1">
                        <a:latin typeface="Cambria Math" panose="02040503050406030204" pitchFamily="18" charset="0"/>
                      </a:rPr>
                      <m:t> [</m:t>
                    </m:r>
                    <m:sSup>
                      <m:sSupPr>
                        <m:ctrlPr>
                          <a:rPr lang="tr-TR" sz="1300" i="1">
                            <a:latin typeface="Cambria Math" panose="02040503050406030204" pitchFamily="18" charset="0"/>
                          </a:rPr>
                        </m:ctrlPr>
                      </m:sSupPr>
                      <m:e>
                        <m:r>
                          <a:rPr lang="en-GB" sz="1300" i="1">
                            <a:latin typeface="Cambria Math" panose="02040503050406030204" pitchFamily="18" charset="0"/>
                          </a:rPr>
                          <m:t>𝛾</m:t>
                        </m:r>
                      </m:e>
                      <m:sup>
                        <m:r>
                          <a:rPr lang="en-GB" sz="1300" i="1">
                            <a:latin typeface="Cambria Math" panose="02040503050406030204" pitchFamily="18" charset="0"/>
                          </a:rPr>
                          <m:t>𝑡</m:t>
                        </m:r>
                      </m:sup>
                    </m:sSup>
                    <m:r>
                      <a:rPr lang="en-GB" sz="1300" i="1">
                        <a:latin typeface="Cambria Math" panose="02040503050406030204" pitchFamily="18" charset="0"/>
                      </a:rPr>
                      <m:t> ∗ </m:t>
                    </m:r>
                    <m:sSub>
                      <m:sSubPr>
                        <m:ctrlPr>
                          <a:rPr lang="tr-TR" sz="1300" i="1">
                            <a:latin typeface="Cambria Math" panose="02040503050406030204" pitchFamily="18" charset="0"/>
                          </a:rPr>
                        </m:ctrlPr>
                      </m:sSubPr>
                      <m:e>
                        <m:r>
                          <a:rPr lang="en-GB" sz="1300" i="1">
                            <a:latin typeface="Cambria Math" panose="02040503050406030204" pitchFamily="18" charset="0"/>
                          </a:rPr>
                          <m:t>𝑟</m:t>
                        </m:r>
                      </m:e>
                      <m:sub>
                        <m:r>
                          <a:rPr lang="en-GB" sz="1300" i="1">
                            <a:latin typeface="Cambria Math" panose="02040503050406030204" pitchFamily="18" charset="0"/>
                          </a:rPr>
                          <m:t>𝑡</m:t>
                        </m:r>
                      </m:sub>
                    </m:sSub>
                    <m:r>
                      <a:rPr lang="en-GB" sz="1300" i="1">
                        <a:latin typeface="Cambria Math" panose="02040503050406030204" pitchFamily="18" charset="0"/>
                      </a:rPr>
                      <m:t> ]</m:t>
                    </m:r>
                  </m:oMath>
                </a14:m>
                <a:endParaRPr lang="tr-TR" sz="1300" dirty="0"/>
              </a:p>
              <a:p>
                <a:r>
                  <a:rPr lang="en-GB" sz="1300" dirty="0"/>
                  <a:t>Where:</a:t>
                </a:r>
                <a:br>
                  <a:rPr lang="en-GB" sz="1300" dirty="0"/>
                </a:br>
                <a:r>
                  <a:rPr lang="en-GB" sz="1300" dirty="0"/>
                  <a:t>- π*(s): Optimal policy given state s</a:t>
                </a:r>
                <a:br>
                  <a:rPr lang="en-GB" sz="1300" dirty="0"/>
                </a:br>
                <a:r>
                  <a:rPr lang="en-GB" sz="1300" dirty="0"/>
                  <a:t>- γ: Discount factor (0 &lt; γ &lt; 1)</a:t>
                </a:r>
                <a:br>
                  <a:rPr lang="en-GB" sz="1300" dirty="0"/>
                </a:br>
                <a:r>
                  <a:rPr lang="en-GB" sz="1300" dirty="0"/>
                  <a:t>- </a:t>
                </a:r>
                <a:r>
                  <a:rPr lang="en-GB" sz="1300" dirty="0" err="1"/>
                  <a:t>r_t</a:t>
                </a:r>
                <a:r>
                  <a:rPr lang="en-GB" sz="1300" dirty="0"/>
                  <a:t>: Reward at time step t</a:t>
                </a:r>
                <a:br>
                  <a:rPr lang="en-GB" sz="1300" dirty="0"/>
                </a:br>
                <a:r>
                  <a:rPr lang="en-GB" sz="1300" dirty="0"/>
                  <a:t>- E[·]: Expectation over stochastic transitions and outcomes</a:t>
                </a:r>
                <a:endParaRPr lang="tr-TR" sz="1300" dirty="0"/>
              </a:p>
              <a:p>
                <a:r>
                  <a:rPr lang="en-GB" sz="1300" dirty="0"/>
                  <a:t>Response Execution Dynamics</a:t>
                </a:r>
                <a:endParaRPr lang="tr-TR" sz="1300" dirty="0"/>
              </a:p>
              <a:p>
                <a:r>
                  <a:rPr lang="en-GB" sz="1300" dirty="0"/>
                  <a:t>Given a state </a:t>
                </a:r>
                <a14:m>
                  <m:oMath xmlns:m="http://schemas.openxmlformats.org/officeDocument/2006/math">
                    <m:sSub>
                      <m:sSubPr>
                        <m:ctrlPr>
                          <a:rPr lang="tr-TR" sz="1300" i="1">
                            <a:latin typeface="Cambria Math" panose="02040503050406030204" pitchFamily="18" charset="0"/>
                          </a:rPr>
                        </m:ctrlPr>
                      </m:sSubPr>
                      <m:e>
                        <m:r>
                          <a:rPr lang="en-GB" sz="1300" i="1">
                            <a:latin typeface="Cambria Math" panose="02040503050406030204" pitchFamily="18" charset="0"/>
                          </a:rPr>
                          <m:t>𝑠</m:t>
                        </m:r>
                      </m:e>
                      <m:sub>
                        <m:r>
                          <a:rPr lang="en-GB" sz="1300" i="1">
                            <a:latin typeface="Cambria Math" panose="02040503050406030204" pitchFamily="18" charset="0"/>
                          </a:rPr>
                          <m:t>𝑡</m:t>
                        </m:r>
                      </m:sub>
                    </m:sSub>
                  </m:oMath>
                </a14:m>
                <a:r>
                  <a:rPr lang="en-GB" sz="1300" dirty="0"/>
                  <a:t> , the action </a:t>
                </a:r>
                <a14:m>
                  <m:oMath xmlns:m="http://schemas.openxmlformats.org/officeDocument/2006/math">
                    <m:sSub>
                      <m:sSubPr>
                        <m:ctrlPr>
                          <a:rPr lang="tr-TR" sz="1300" i="1">
                            <a:latin typeface="Cambria Math" panose="02040503050406030204" pitchFamily="18" charset="0"/>
                          </a:rPr>
                        </m:ctrlPr>
                      </m:sSubPr>
                      <m:e>
                        <m:r>
                          <a:rPr lang="en-GB" sz="1300" i="1">
                            <a:latin typeface="Cambria Math" panose="02040503050406030204" pitchFamily="18" charset="0"/>
                          </a:rPr>
                          <m:t>𝑎</m:t>
                        </m:r>
                      </m:e>
                      <m:sub>
                        <m:r>
                          <a:rPr lang="en-GB" sz="1300" i="1">
                            <a:latin typeface="Cambria Math" panose="02040503050406030204" pitchFamily="18" charset="0"/>
                          </a:rPr>
                          <m:t>𝑡</m:t>
                        </m:r>
                      </m:sub>
                    </m:sSub>
                  </m:oMath>
                </a14:m>
                <a:r>
                  <a:rPr lang="en-GB" sz="1300" dirty="0"/>
                  <a:t>  is selected using the learned policy π. The system then transitions to the next state </a:t>
                </a:r>
                <a14:m>
                  <m:oMath xmlns:m="http://schemas.openxmlformats.org/officeDocument/2006/math">
                    <m:sSub>
                      <m:sSubPr>
                        <m:ctrlPr>
                          <a:rPr lang="tr-TR" sz="1300" i="1">
                            <a:latin typeface="Cambria Math" panose="02040503050406030204" pitchFamily="18" charset="0"/>
                          </a:rPr>
                        </m:ctrlPr>
                      </m:sSubPr>
                      <m:e>
                        <m:r>
                          <a:rPr lang="en-GB" sz="1300" i="1">
                            <a:latin typeface="Cambria Math" panose="02040503050406030204" pitchFamily="18" charset="0"/>
                          </a:rPr>
                          <m:t>𝑠</m:t>
                        </m:r>
                      </m:e>
                      <m:sub>
                        <m:d>
                          <m:dPr>
                            <m:begChr m:val="{"/>
                            <m:endChr m:val="}"/>
                            <m:ctrlPr>
                              <a:rPr lang="tr-TR" sz="1300" i="1">
                                <a:latin typeface="Cambria Math" panose="02040503050406030204" pitchFamily="18" charset="0"/>
                              </a:rPr>
                            </m:ctrlPr>
                          </m:dPr>
                          <m:e>
                            <m:r>
                              <a:rPr lang="en-GB" sz="1300" i="1">
                                <a:latin typeface="Cambria Math" panose="02040503050406030204" pitchFamily="18" charset="0"/>
                              </a:rPr>
                              <m:t>𝑡</m:t>
                            </m:r>
                            <m:r>
                              <a:rPr lang="en-GB" sz="1300" i="1">
                                <a:latin typeface="Cambria Math" panose="02040503050406030204" pitchFamily="18" charset="0"/>
                              </a:rPr>
                              <m:t>+1</m:t>
                            </m:r>
                          </m:e>
                        </m:d>
                      </m:sub>
                    </m:sSub>
                  </m:oMath>
                </a14:m>
                <a:r>
                  <a:rPr lang="en-GB" sz="1300" dirty="0"/>
                  <a:t> following the probabilistic transition function P:</a:t>
                </a:r>
                <a:endParaRPr lang="tr-TR" sz="1300" dirty="0"/>
              </a:p>
              <a:p>
                <a14:m>
                  <m:oMath xmlns:m="http://schemas.openxmlformats.org/officeDocument/2006/math">
                    <m:r>
                      <a:rPr lang="en-GB" sz="1300" i="1">
                        <a:latin typeface="Cambria Math" panose="02040503050406030204" pitchFamily="18" charset="0"/>
                      </a:rPr>
                      <m:t>𝑎</m:t>
                    </m:r>
                    <m:r>
                      <a:rPr lang="en-GB" sz="1300" i="1">
                        <a:latin typeface="Cambria Math" panose="02040503050406030204" pitchFamily="18" charset="0"/>
                      </a:rPr>
                      <m:t>_</m:t>
                    </m:r>
                    <m:r>
                      <a:rPr lang="en-GB" sz="1300" i="1">
                        <a:latin typeface="Cambria Math" panose="02040503050406030204" pitchFamily="18" charset="0"/>
                      </a:rPr>
                      <m:t>𝑡</m:t>
                    </m:r>
                    <m:r>
                      <a:rPr lang="en-GB" sz="1300" i="1">
                        <a:latin typeface="Cambria Math" panose="02040503050406030204" pitchFamily="18" charset="0"/>
                      </a:rPr>
                      <m:t> = </m:t>
                    </m:r>
                    <m:r>
                      <a:rPr lang="en-GB" sz="1300" i="1">
                        <a:latin typeface="Cambria Math" panose="02040503050406030204" pitchFamily="18" charset="0"/>
                      </a:rPr>
                      <m:t>𝜋</m:t>
                    </m:r>
                    <m:r>
                      <a:rPr lang="en-GB" sz="1300" i="1">
                        <a:latin typeface="Cambria Math" panose="02040503050406030204" pitchFamily="18" charset="0"/>
                      </a:rPr>
                      <m:t>(</m:t>
                    </m:r>
                    <m:sSub>
                      <m:sSubPr>
                        <m:ctrlPr>
                          <a:rPr lang="tr-TR" sz="1300" i="1">
                            <a:latin typeface="Cambria Math" panose="02040503050406030204" pitchFamily="18" charset="0"/>
                          </a:rPr>
                        </m:ctrlPr>
                      </m:sSubPr>
                      <m:e>
                        <m:r>
                          <a:rPr lang="en-GB" sz="1300" i="1">
                            <a:latin typeface="Cambria Math" panose="02040503050406030204" pitchFamily="18" charset="0"/>
                          </a:rPr>
                          <m:t>𝑠</m:t>
                        </m:r>
                      </m:e>
                      <m:sub>
                        <m:r>
                          <a:rPr lang="en-GB" sz="1300" i="1">
                            <a:latin typeface="Cambria Math" panose="02040503050406030204" pitchFamily="18" charset="0"/>
                          </a:rPr>
                          <m:t>𝑡</m:t>
                        </m:r>
                      </m:sub>
                    </m:sSub>
                    <m:r>
                      <a:rPr lang="en-GB" sz="1300" i="1">
                        <a:latin typeface="Cambria Math" panose="02040503050406030204" pitchFamily="18" charset="0"/>
                      </a:rPr>
                      <m:t>),   </m:t>
                    </m:r>
                    <m:sSub>
                      <m:sSubPr>
                        <m:ctrlPr>
                          <a:rPr lang="tr-TR" sz="1300" i="1">
                            <a:latin typeface="Cambria Math" panose="02040503050406030204" pitchFamily="18" charset="0"/>
                          </a:rPr>
                        </m:ctrlPr>
                      </m:sSubPr>
                      <m:e>
                        <m:r>
                          <a:rPr lang="en-GB" sz="1300" i="1">
                            <a:latin typeface="Cambria Math" panose="02040503050406030204" pitchFamily="18" charset="0"/>
                          </a:rPr>
                          <m:t>𝑠</m:t>
                        </m:r>
                      </m:e>
                      <m:sub>
                        <m:d>
                          <m:dPr>
                            <m:begChr m:val="{"/>
                            <m:endChr m:val="}"/>
                            <m:ctrlPr>
                              <a:rPr lang="tr-TR" sz="1300" i="1">
                                <a:latin typeface="Cambria Math" panose="02040503050406030204" pitchFamily="18" charset="0"/>
                              </a:rPr>
                            </m:ctrlPr>
                          </m:dPr>
                          <m:e>
                            <m:r>
                              <a:rPr lang="en-GB" sz="1300" i="1">
                                <a:latin typeface="Cambria Math" panose="02040503050406030204" pitchFamily="18" charset="0"/>
                              </a:rPr>
                              <m:t>𝑡</m:t>
                            </m:r>
                            <m:r>
                              <a:rPr lang="en-GB" sz="1300" i="1">
                                <a:latin typeface="Cambria Math" panose="02040503050406030204" pitchFamily="18" charset="0"/>
                              </a:rPr>
                              <m:t>+1</m:t>
                            </m:r>
                          </m:e>
                        </m:d>
                      </m:sub>
                    </m:sSub>
                    <m:r>
                      <a:rPr lang="en-GB" sz="1300" i="1">
                        <a:latin typeface="Cambria Math" panose="02040503050406030204" pitchFamily="18" charset="0"/>
                      </a:rPr>
                      <m:t> ~ </m:t>
                    </m:r>
                    <m:r>
                      <a:rPr lang="en-GB" sz="1300" i="1">
                        <a:latin typeface="Cambria Math" panose="02040503050406030204" pitchFamily="18" charset="0"/>
                      </a:rPr>
                      <m:t>𝑃</m:t>
                    </m:r>
                    <m:d>
                      <m:dPr>
                        <m:endChr m:val="|"/>
                        <m:ctrlPr>
                          <a:rPr lang="tr-TR" sz="1300" i="1">
                            <a:latin typeface="Cambria Math" panose="02040503050406030204" pitchFamily="18" charset="0"/>
                          </a:rPr>
                        </m:ctrlPr>
                      </m:dPr>
                      <m:e>
                        <m:sSub>
                          <m:sSubPr>
                            <m:ctrlPr>
                              <a:rPr lang="tr-TR" sz="1300" i="1">
                                <a:latin typeface="Cambria Math" panose="02040503050406030204" pitchFamily="18" charset="0"/>
                              </a:rPr>
                            </m:ctrlPr>
                          </m:sSubPr>
                          <m:e>
                            <m:r>
                              <a:rPr lang="en-GB" sz="1300" i="1">
                                <a:latin typeface="Cambria Math" panose="02040503050406030204" pitchFamily="18" charset="0"/>
                              </a:rPr>
                              <m:t>𝑠</m:t>
                            </m:r>
                          </m:e>
                          <m:sub>
                            <m:d>
                              <m:dPr>
                                <m:begChr m:val="{"/>
                                <m:endChr m:val="}"/>
                                <m:ctrlPr>
                                  <a:rPr lang="tr-TR" sz="1300" i="1">
                                    <a:latin typeface="Cambria Math" panose="02040503050406030204" pitchFamily="18" charset="0"/>
                                  </a:rPr>
                                </m:ctrlPr>
                              </m:dPr>
                              <m:e>
                                <m:r>
                                  <a:rPr lang="en-GB" sz="1300" i="1">
                                    <a:latin typeface="Cambria Math" panose="02040503050406030204" pitchFamily="18" charset="0"/>
                                  </a:rPr>
                                  <m:t>𝑡</m:t>
                                </m:r>
                                <m:r>
                                  <a:rPr lang="en-GB" sz="1300" i="1">
                                    <a:latin typeface="Cambria Math" panose="02040503050406030204" pitchFamily="18" charset="0"/>
                                  </a:rPr>
                                  <m:t>+1</m:t>
                                </m:r>
                              </m:e>
                            </m:d>
                          </m:sub>
                        </m:sSub>
                        <m:r>
                          <a:rPr lang="en-GB" sz="1300" i="1">
                            <a:latin typeface="Cambria Math" panose="02040503050406030204" pitchFamily="18" charset="0"/>
                          </a:rPr>
                          <m:t> </m:t>
                        </m:r>
                      </m:e>
                    </m:d>
                    <m:sSub>
                      <m:sSubPr>
                        <m:ctrlPr>
                          <a:rPr lang="tr-TR" sz="1300" i="1">
                            <a:latin typeface="Cambria Math" panose="02040503050406030204" pitchFamily="18" charset="0"/>
                          </a:rPr>
                        </m:ctrlPr>
                      </m:sSubPr>
                      <m:e>
                        <m:r>
                          <a:rPr lang="en-GB" sz="1300" i="1">
                            <a:latin typeface="Cambria Math" panose="02040503050406030204" pitchFamily="18" charset="0"/>
                          </a:rPr>
                          <m:t>𝑠</m:t>
                        </m:r>
                      </m:e>
                      <m:sub>
                        <m:r>
                          <a:rPr lang="en-GB" sz="1300" i="1">
                            <a:latin typeface="Cambria Math" panose="02040503050406030204" pitchFamily="18" charset="0"/>
                          </a:rPr>
                          <m:t>𝑡</m:t>
                        </m:r>
                      </m:sub>
                    </m:sSub>
                    <m:r>
                      <a:rPr lang="en-GB" sz="1300" i="1">
                        <a:latin typeface="Cambria Math" panose="02040503050406030204" pitchFamily="18" charset="0"/>
                      </a:rPr>
                      <m:t>, </m:t>
                    </m:r>
                    <m:sSub>
                      <m:sSubPr>
                        <m:ctrlPr>
                          <a:rPr lang="tr-TR" sz="1300" i="1">
                            <a:latin typeface="Cambria Math" panose="02040503050406030204" pitchFamily="18" charset="0"/>
                          </a:rPr>
                        </m:ctrlPr>
                      </m:sSubPr>
                      <m:e>
                        <m:r>
                          <a:rPr lang="en-GB" sz="1300" i="1">
                            <a:latin typeface="Cambria Math" panose="02040503050406030204" pitchFamily="18" charset="0"/>
                          </a:rPr>
                          <m:t>𝑎</m:t>
                        </m:r>
                      </m:e>
                      <m:sub>
                        <m:r>
                          <a:rPr lang="en-GB" sz="1300" i="1">
                            <a:latin typeface="Cambria Math" panose="02040503050406030204" pitchFamily="18" charset="0"/>
                          </a:rPr>
                          <m:t>𝑡</m:t>
                        </m:r>
                      </m:sub>
                    </m:sSub>
                    <m:r>
                      <a:rPr lang="en-GB" sz="1300" i="1">
                        <a:latin typeface="Cambria Math" panose="02040503050406030204" pitchFamily="18" charset="0"/>
                      </a:rPr>
                      <m:t>)</m:t>
                    </m:r>
                  </m:oMath>
                </a14:m>
                <a:endParaRPr lang="tr-TR" sz="1300" dirty="0"/>
              </a:p>
              <a:p>
                <a:pPr marL="0" indent="0">
                  <a:buNone/>
                  <a:defRPr sz="1400">
                    <a:solidFill>
                      <a:srgbClr val="000000"/>
                    </a:solidFill>
                    <a:latin typeface="Calibri"/>
                  </a:defRPr>
                </a:pPr>
                <a:r>
                  <a:rPr lang="tr-TR" sz="1300" dirty="0"/>
                  <a:t>🔁 RL Integration:</a:t>
                </a:r>
                <a:br>
                  <a:rPr lang="tr-TR" sz="1300" dirty="0"/>
                </a:br>
                <a:r>
                  <a:rPr lang="tr-TR" sz="1300" dirty="0"/>
                  <a:t>• </a:t>
                </a:r>
                <a:r>
                  <a:rPr lang="tr-TR" sz="1300" dirty="0" err="1"/>
                  <a:t>Uses</a:t>
                </a:r>
                <a:r>
                  <a:rPr lang="tr-TR" sz="1300" dirty="0"/>
                  <a:t> </a:t>
                </a:r>
                <a:r>
                  <a:rPr lang="tr-TR" sz="1300" dirty="0" err="1"/>
                  <a:t>feedback</a:t>
                </a:r>
                <a:r>
                  <a:rPr lang="tr-TR" sz="1300" dirty="0"/>
                  <a:t> (</a:t>
                </a:r>
                <a:r>
                  <a:rPr lang="tr-TR" sz="1300" dirty="0" err="1"/>
                  <a:t>rewards</a:t>
                </a:r>
                <a:r>
                  <a:rPr lang="tr-TR" sz="1300" dirty="0"/>
                  <a:t>/</a:t>
                </a:r>
                <a:r>
                  <a:rPr lang="tr-TR" sz="1300" dirty="0" err="1"/>
                  <a:t>penalties</a:t>
                </a:r>
                <a:r>
                  <a:rPr lang="tr-TR" sz="1300" dirty="0"/>
                  <a:t>) </a:t>
                </a:r>
                <a:r>
                  <a:rPr lang="tr-TR" sz="1300" dirty="0" err="1"/>
                  <a:t>to</a:t>
                </a:r>
                <a:r>
                  <a:rPr lang="tr-TR" sz="1300" dirty="0"/>
                  <a:t> </a:t>
                </a:r>
                <a:r>
                  <a:rPr lang="tr-TR" sz="1300" dirty="0" err="1"/>
                  <a:t>refine</a:t>
                </a:r>
                <a:r>
                  <a:rPr lang="tr-TR" sz="1300" dirty="0"/>
                  <a:t> </a:t>
                </a:r>
                <a:r>
                  <a:rPr lang="tr-TR" sz="1300" dirty="0" err="1"/>
                  <a:t>actions</a:t>
                </a:r>
                <a:r>
                  <a:rPr lang="tr-TR" sz="1300" dirty="0"/>
                  <a:t>.</a:t>
                </a:r>
                <a:br>
                  <a:rPr lang="tr-TR" sz="1300" dirty="0"/>
                </a:br>
                <a:r>
                  <a:rPr lang="tr-TR" sz="1300" dirty="0"/>
                  <a:t>• RL </a:t>
                </a:r>
                <a:r>
                  <a:rPr lang="tr-TR" sz="1300" dirty="0" err="1"/>
                  <a:t>algorithms</a:t>
                </a:r>
                <a:r>
                  <a:rPr lang="tr-TR" sz="1300" dirty="0"/>
                  <a:t>: PPO, A2C, DQN (</a:t>
                </a:r>
                <a:r>
                  <a:rPr lang="tr-TR" sz="1300" dirty="0" err="1"/>
                  <a:t>discrete</a:t>
                </a:r>
                <a:r>
                  <a:rPr lang="tr-TR" sz="1300" dirty="0"/>
                  <a:t>/</a:t>
                </a:r>
                <a:r>
                  <a:rPr lang="tr-TR" sz="1300" dirty="0" err="1"/>
                  <a:t>continuous</a:t>
                </a:r>
                <a:r>
                  <a:rPr lang="tr-TR" sz="1300" dirty="0"/>
                  <a:t>).</a:t>
                </a:r>
                <a:br>
                  <a:rPr lang="tr-TR" sz="1300" dirty="0"/>
                </a:br>
                <a:br>
                  <a:rPr lang="tr-TR" sz="1300" dirty="0"/>
                </a:br>
                <a:r>
                  <a:rPr lang="tr-TR" sz="1300" dirty="0"/>
                  <a:t>🤖 LLM Integration:</a:t>
                </a:r>
                <a:br>
                  <a:rPr lang="tr-TR" sz="1300" dirty="0"/>
                </a:br>
                <a:r>
                  <a:rPr lang="tr-TR" sz="1300" dirty="0"/>
                  <a:t>• </a:t>
                </a:r>
                <a:r>
                  <a:rPr lang="tr-TR" sz="1300" dirty="0" err="1"/>
                  <a:t>Converts</a:t>
                </a:r>
                <a:r>
                  <a:rPr lang="tr-TR" sz="1300" dirty="0"/>
                  <a:t> </a:t>
                </a:r>
                <a:r>
                  <a:rPr lang="tr-TR" sz="1300" dirty="0" err="1"/>
                  <a:t>technical</a:t>
                </a:r>
                <a:r>
                  <a:rPr lang="tr-TR" sz="1300" dirty="0"/>
                  <a:t> </a:t>
                </a:r>
                <a:r>
                  <a:rPr lang="tr-TR" sz="1300" dirty="0" err="1"/>
                  <a:t>plans</a:t>
                </a:r>
                <a:r>
                  <a:rPr lang="tr-TR" sz="1300" dirty="0"/>
                  <a:t> </a:t>
                </a:r>
                <a:r>
                  <a:rPr lang="tr-TR" sz="1300" dirty="0" err="1"/>
                  <a:t>into</a:t>
                </a:r>
                <a:r>
                  <a:rPr lang="tr-TR" sz="1300" dirty="0"/>
                  <a:t> </a:t>
                </a:r>
                <a:r>
                  <a:rPr lang="tr-TR" sz="1300" dirty="0" err="1"/>
                  <a:t>natural</a:t>
                </a:r>
                <a:r>
                  <a:rPr lang="tr-TR" sz="1300" dirty="0"/>
                  <a:t> </a:t>
                </a:r>
                <a:r>
                  <a:rPr lang="tr-TR" sz="1300" dirty="0" err="1"/>
                  <a:t>language</a:t>
                </a:r>
                <a:r>
                  <a:rPr lang="tr-TR" sz="1300" dirty="0"/>
                  <a:t>.</a:t>
                </a:r>
                <a:br>
                  <a:rPr lang="tr-TR" sz="1300" dirty="0"/>
                </a:br>
                <a:r>
                  <a:rPr lang="tr-TR" sz="1300" dirty="0"/>
                  <a:t>• </a:t>
                </a:r>
                <a:r>
                  <a:rPr lang="tr-TR" sz="1300" dirty="0" err="1"/>
                  <a:t>Suggests</a:t>
                </a:r>
                <a:r>
                  <a:rPr lang="tr-TR" sz="1300" dirty="0"/>
                  <a:t> </a:t>
                </a:r>
                <a:r>
                  <a:rPr lang="tr-TR" sz="1300" dirty="0" err="1"/>
                  <a:t>overrides</a:t>
                </a:r>
                <a:r>
                  <a:rPr lang="tr-TR" sz="1300" dirty="0"/>
                  <a:t> in </a:t>
                </a:r>
                <a:r>
                  <a:rPr lang="tr-TR" sz="1300" dirty="0" err="1"/>
                  <a:t>emergent</a:t>
                </a:r>
                <a:r>
                  <a:rPr lang="tr-TR" sz="1300" dirty="0"/>
                  <a:t> </a:t>
                </a:r>
                <a:r>
                  <a:rPr lang="tr-TR" sz="1300" dirty="0" err="1"/>
                  <a:t>conditions</a:t>
                </a:r>
                <a:r>
                  <a:rPr lang="tr-TR" sz="1300" dirty="0"/>
                  <a:t>.</a:t>
                </a:r>
                <a:br>
                  <a:rPr lang="tr-TR" sz="1300" dirty="0"/>
                </a:br>
                <a:r>
                  <a:rPr lang="tr-TR" sz="1300" dirty="0" err="1"/>
                  <a:t>Example</a:t>
                </a:r>
                <a:r>
                  <a:rPr lang="tr-TR" sz="1300" dirty="0"/>
                  <a:t>:</a:t>
                </a:r>
                <a:br>
                  <a:rPr lang="tr-TR" sz="1300" dirty="0"/>
                </a:br>
                <a:r>
                  <a:rPr lang="tr-TR" sz="1300" dirty="0" err="1"/>
                  <a:t>Input</a:t>
                </a:r>
                <a:r>
                  <a:rPr lang="tr-TR" sz="1300" dirty="0"/>
                  <a:t>: '</a:t>
                </a:r>
                <a:r>
                  <a:rPr lang="tr-TR" sz="1300" dirty="0" err="1"/>
                  <a:t>Wind</a:t>
                </a:r>
                <a:r>
                  <a:rPr lang="tr-TR" sz="1300" dirty="0"/>
                  <a:t> </a:t>
                </a:r>
                <a:r>
                  <a:rPr lang="tr-TR" sz="1300" dirty="0" err="1"/>
                  <a:t>speed</a:t>
                </a:r>
                <a:r>
                  <a:rPr lang="tr-TR" sz="1300" dirty="0"/>
                  <a:t> has </a:t>
                </a:r>
                <a:r>
                  <a:rPr lang="tr-TR" sz="1300" dirty="0" err="1"/>
                  <a:t>unexpectedly</a:t>
                </a:r>
                <a:r>
                  <a:rPr lang="tr-TR" sz="1300" dirty="0"/>
                  <a:t> </a:t>
                </a:r>
                <a:r>
                  <a:rPr lang="tr-TR" sz="1300" dirty="0" err="1"/>
                  <a:t>doubled</a:t>
                </a:r>
                <a:r>
                  <a:rPr lang="tr-TR" sz="1300" dirty="0"/>
                  <a:t>.'</a:t>
                </a:r>
                <a:br>
                  <a:rPr lang="tr-TR" sz="1300" dirty="0"/>
                </a:br>
                <a:r>
                  <a:rPr lang="tr-TR" sz="1300" dirty="0" err="1"/>
                  <a:t>Output</a:t>
                </a:r>
                <a:r>
                  <a:rPr lang="tr-TR" sz="1300" dirty="0"/>
                  <a:t>: '</a:t>
                </a:r>
                <a:r>
                  <a:rPr lang="tr-TR" sz="1300" dirty="0" err="1"/>
                  <a:t>Consider</a:t>
                </a:r>
                <a:r>
                  <a:rPr lang="tr-TR" sz="1300" dirty="0"/>
                  <a:t> </a:t>
                </a:r>
                <a:r>
                  <a:rPr lang="tr-TR" sz="1300" dirty="0" err="1"/>
                  <a:t>halting</a:t>
                </a:r>
                <a:r>
                  <a:rPr lang="tr-TR" sz="1300" dirty="0"/>
                  <a:t> </a:t>
                </a:r>
                <a:r>
                  <a:rPr lang="tr-TR" sz="1300" dirty="0" err="1"/>
                  <a:t>evacuation</a:t>
                </a:r>
                <a:r>
                  <a:rPr lang="tr-TR" sz="1300" dirty="0"/>
                  <a:t> in </a:t>
                </a:r>
                <a:r>
                  <a:rPr lang="tr-TR" sz="1300" dirty="0" err="1"/>
                  <a:t>Zone</a:t>
                </a:r>
                <a:r>
                  <a:rPr lang="tr-TR" sz="1300" dirty="0"/>
                  <a:t> B </a:t>
                </a:r>
                <a:r>
                  <a:rPr lang="tr-TR" sz="1300" dirty="0" err="1"/>
                  <a:t>and</a:t>
                </a:r>
                <a:r>
                  <a:rPr lang="tr-TR" sz="1300" dirty="0"/>
                  <a:t> </a:t>
                </a:r>
                <a:r>
                  <a:rPr lang="tr-TR" sz="1300" dirty="0" err="1"/>
                  <a:t>diverting</a:t>
                </a:r>
                <a:r>
                  <a:rPr lang="tr-TR" sz="1300" dirty="0"/>
                  <a:t> </a:t>
                </a:r>
                <a:r>
                  <a:rPr lang="tr-TR" sz="1300" dirty="0" err="1"/>
                  <a:t>drones</a:t>
                </a:r>
                <a:r>
                  <a:rPr lang="tr-TR" sz="1300" dirty="0"/>
                  <a:t> </a:t>
                </a:r>
                <a:r>
                  <a:rPr lang="tr-TR" sz="1300" dirty="0" err="1"/>
                  <a:t>to</a:t>
                </a:r>
                <a:r>
                  <a:rPr lang="tr-TR" sz="1300" dirty="0"/>
                  <a:t> </a:t>
                </a:r>
                <a:r>
                  <a:rPr lang="tr-TR" sz="1300" dirty="0" err="1"/>
                  <a:t>Zone</a:t>
                </a:r>
                <a:r>
                  <a:rPr lang="tr-TR" sz="1300" dirty="0"/>
                  <a:t> D.'</a:t>
                </a:r>
              </a:p>
              <a:p>
                <a:endParaRPr lang="en-US" noProof="0" dirty="0"/>
              </a:p>
            </p:txBody>
          </p:sp>
        </mc:Choice>
        <mc:Fallback xmlns="">
          <p:sp>
            <p:nvSpPr>
              <p:cNvPr id="3" name="Content Placeholder 2">
                <a:extLst>
                  <a:ext uri="{FF2B5EF4-FFF2-40B4-BE49-F238E27FC236}">
                    <a16:creationId xmlns:a16="http://schemas.microsoft.com/office/drawing/2014/main" id="{200D3CA5-DB1E-0810-967E-51CBDA519403}"/>
                  </a:ext>
                </a:extLst>
              </p:cNvPr>
              <p:cNvSpPr>
                <a:spLocks noGrp="1" noRot="1" noChangeAspect="1" noMove="1" noResize="1" noEditPoints="1" noAdjustHandles="1" noChangeArrowheads="1" noChangeShapeType="1" noTextEdit="1"/>
              </p:cNvSpPr>
              <p:nvPr>
                <p:ph idx="1"/>
              </p:nvPr>
            </p:nvSpPr>
            <p:spPr>
              <a:xfrm>
                <a:off x="2522218" y="648700"/>
                <a:ext cx="9669781" cy="5660639"/>
              </a:xfrm>
              <a:blipFill>
                <a:blip r:embed="rId2"/>
                <a:stretch>
                  <a:fillRect l="-1072" t="-431"/>
                </a:stretch>
              </a:blipFill>
            </p:spPr>
            <p:txBody>
              <a:bodyPr/>
              <a:lstStyle/>
              <a:p>
                <a:r>
                  <a:rPr lang="tr-TR">
                    <a:noFill/>
                  </a:rPr>
                  <a:t> </a:t>
                </a:r>
              </a:p>
            </p:txBody>
          </p:sp>
        </mc:Fallback>
      </mc:AlternateContent>
      <p:sp>
        <p:nvSpPr>
          <p:cNvPr id="4" name="Slide Number Placeholder 3">
            <a:extLst>
              <a:ext uri="{FF2B5EF4-FFF2-40B4-BE49-F238E27FC236}">
                <a16:creationId xmlns:a16="http://schemas.microsoft.com/office/drawing/2014/main" id="{887DEA5F-0309-FD7B-9DC2-5118F5AEDCE0}"/>
              </a:ext>
            </a:extLst>
          </p:cNvPr>
          <p:cNvSpPr>
            <a:spLocks noGrp="1"/>
          </p:cNvSpPr>
          <p:nvPr>
            <p:ph type="sldNum" sz="quarter" idx="12"/>
          </p:nvPr>
        </p:nvSpPr>
        <p:spPr/>
        <p:txBody>
          <a:bodyPr/>
          <a:lstStyle/>
          <a:p>
            <a:fld id="{0F4FBE90-EB1A-4CD8-B134-C7A82858680F}" type="slidenum">
              <a:rPr lang="en-US" smtClean="0"/>
              <a:t>19</a:t>
            </a:fld>
            <a:endParaRPr lang="en-US"/>
          </a:p>
        </p:txBody>
      </p:sp>
      <p:pic>
        <p:nvPicPr>
          <p:cNvPr id="5" name="Picture 4">
            <a:extLst>
              <a:ext uri="{FF2B5EF4-FFF2-40B4-BE49-F238E27FC236}">
                <a16:creationId xmlns:a16="http://schemas.microsoft.com/office/drawing/2014/main" id="{953A1D31-D730-A630-94CF-757EC851C9F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15309"/>
            <a:ext cx="2476500" cy="4572000"/>
          </a:xfrm>
          <a:prstGeom prst="rect">
            <a:avLst/>
          </a:prstGeom>
          <a:noFill/>
          <a:ln>
            <a:noFill/>
          </a:ln>
        </p:spPr>
      </p:pic>
    </p:spTree>
    <p:extLst>
      <p:ext uri="{BB962C8B-B14F-4D97-AF65-F5344CB8AC3E}">
        <p14:creationId xmlns:p14="http://schemas.microsoft.com/office/powerpoint/2010/main" val="2972368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7EC4-5C14-563A-AC47-B5A4FE88888B}"/>
              </a:ext>
            </a:extLst>
          </p:cNvPr>
          <p:cNvSpPr>
            <a:spLocks noGrp="1"/>
          </p:cNvSpPr>
          <p:nvPr>
            <p:ph type="title"/>
          </p:nvPr>
        </p:nvSpPr>
        <p:spPr/>
        <p:txBody>
          <a:bodyPr/>
          <a:lstStyle/>
          <a:p>
            <a:r>
              <a:rPr lang="en-US" dirty="0"/>
              <a:t>Work Plan and Future Work</a:t>
            </a:r>
          </a:p>
        </p:txBody>
      </p:sp>
      <p:sp>
        <p:nvSpPr>
          <p:cNvPr id="4" name="Slide Number Placeholder 3">
            <a:extLst>
              <a:ext uri="{FF2B5EF4-FFF2-40B4-BE49-F238E27FC236}">
                <a16:creationId xmlns:a16="http://schemas.microsoft.com/office/drawing/2014/main" id="{3C2F3B83-0A21-484F-8087-CBE4B7F0B2F8}"/>
              </a:ext>
            </a:extLst>
          </p:cNvPr>
          <p:cNvSpPr>
            <a:spLocks noGrp="1"/>
          </p:cNvSpPr>
          <p:nvPr>
            <p:ph type="sldNum" sz="quarter" idx="12"/>
          </p:nvPr>
        </p:nvSpPr>
        <p:spPr/>
        <p:txBody>
          <a:bodyPr/>
          <a:lstStyle/>
          <a:p>
            <a:fld id="{0F4FBE90-EB1A-4CD8-B134-C7A82858680F}" type="slidenum">
              <a:rPr lang="en-US" smtClean="0"/>
              <a:t>20</a:t>
            </a:fld>
            <a:endParaRPr lang="en-US"/>
          </a:p>
        </p:txBody>
      </p:sp>
      <p:graphicFrame>
        <p:nvGraphicFramePr>
          <p:cNvPr id="5" name="Table 4">
            <a:extLst>
              <a:ext uri="{FF2B5EF4-FFF2-40B4-BE49-F238E27FC236}">
                <a16:creationId xmlns:a16="http://schemas.microsoft.com/office/drawing/2014/main" id="{D6816ABD-1707-E1D2-82BF-A9652A51440E}"/>
              </a:ext>
            </a:extLst>
          </p:cNvPr>
          <p:cNvGraphicFramePr>
            <a:graphicFrameLocks noGrp="1"/>
          </p:cNvGraphicFramePr>
          <p:nvPr>
            <p:extLst>
              <p:ext uri="{D42A27DB-BD31-4B8C-83A1-F6EECF244321}">
                <p14:modId xmlns:p14="http://schemas.microsoft.com/office/powerpoint/2010/main" val="1155042285"/>
              </p:ext>
            </p:extLst>
          </p:nvPr>
        </p:nvGraphicFramePr>
        <p:xfrm>
          <a:off x="735013" y="610613"/>
          <a:ext cx="10058400" cy="5636773"/>
        </p:xfrm>
        <a:graphic>
          <a:graphicData uri="http://schemas.openxmlformats.org/drawingml/2006/table">
            <a:tbl>
              <a:tblPr firstRow="1" firstCol="1" bandRow="1">
                <a:tableStyleId>{21E4AEA4-8DFA-4A89-87EB-49C32662AFE0}</a:tableStyleId>
              </a:tblPr>
              <a:tblGrid>
                <a:gridCol w="5029200">
                  <a:extLst>
                    <a:ext uri="{9D8B030D-6E8A-4147-A177-3AD203B41FA5}">
                      <a16:colId xmlns:a16="http://schemas.microsoft.com/office/drawing/2014/main" val="1955058302"/>
                    </a:ext>
                  </a:extLst>
                </a:gridCol>
                <a:gridCol w="5029200">
                  <a:extLst>
                    <a:ext uri="{9D8B030D-6E8A-4147-A177-3AD203B41FA5}">
                      <a16:colId xmlns:a16="http://schemas.microsoft.com/office/drawing/2014/main" val="2875001557"/>
                    </a:ext>
                  </a:extLst>
                </a:gridCol>
              </a:tblGrid>
              <a:tr h="0">
                <a:tc>
                  <a:txBody>
                    <a:bodyPr/>
                    <a:lstStyle/>
                    <a:p>
                      <a:pPr>
                        <a:lnSpc>
                          <a:spcPct val="107000"/>
                        </a:lnSpc>
                        <a:spcAft>
                          <a:spcPts val="800"/>
                        </a:spcAft>
                        <a:buNone/>
                      </a:pPr>
                      <a:r>
                        <a:rPr lang="tr-TR" sz="1800">
                          <a:effectLst/>
                        </a:rPr>
                        <a:t>Task Area</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Description</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343790521"/>
                  </a:ext>
                </a:extLst>
              </a:tr>
              <a:tr h="0">
                <a:tc>
                  <a:txBody>
                    <a:bodyPr/>
                    <a:lstStyle/>
                    <a:p>
                      <a:pPr>
                        <a:lnSpc>
                          <a:spcPct val="107000"/>
                        </a:lnSpc>
                        <a:spcAft>
                          <a:spcPts val="800"/>
                        </a:spcAft>
                        <a:buNone/>
                      </a:pPr>
                      <a:r>
                        <a:rPr lang="tr-TR" sz="1800">
                          <a:effectLst/>
                        </a:rPr>
                        <a:t>1. Synthetic Data Generation</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Synthetic sensors (e.g., drone, thermal) to the data ingestion layer.</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18164977"/>
                  </a:ext>
                </a:extLst>
              </a:tr>
              <a:tr h="0">
                <a:tc>
                  <a:txBody>
                    <a:bodyPr/>
                    <a:lstStyle/>
                    <a:p>
                      <a:pPr>
                        <a:lnSpc>
                          <a:spcPct val="107000"/>
                        </a:lnSpc>
                        <a:spcAft>
                          <a:spcPts val="800"/>
                        </a:spcAft>
                        <a:buNone/>
                      </a:pPr>
                      <a:r>
                        <a:rPr lang="tr-TR" sz="1800">
                          <a:effectLst/>
                        </a:rPr>
                        <a:t>2. Online RL Engine</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Implement feedback-driven RL with real-time trajectory adjustment.</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413634632"/>
                  </a:ext>
                </a:extLst>
              </a:tr>
              <a:tr h="0">
                <a:tc>
                  <a:txBody>
                    <a:bodyPr/>
                    <a:lstStyle/>
                    <a:p>
                      <a:pPr>
                        <a:lnSpc>
                          <a:spcPct val="107000"/>
                        </a:lnSpc>
                        <a:spcAft>
                          <a:spcPts val="800"/>
                        </a:spcAft>
                        <a:buNone/>
                      </a:pPr>
                      <a:r>
                        <a:rPr lang="tr-TR" sz="1800">
                          <a:effectLst/>
                        </a:rPr>
                        <a:t>3. Dynamic GNN for Decision Graph</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Integrate GNN to evolve and optimize decision tree topology.</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2737757"/>
                  </a:ext>
                </a:extLst>
              </a:tr>
              <a:tr h="0">
                <a:tc>
                  <a:txBody>
                    <a:bodyPr/>
                    <a:lstStyle/>
                    <a:p>
                      <a:pPr>
                        <a:lnSpc>
                          <a:spcPct val="107000"/>
                        </a:lnSpc>
                        <a:spcAft>
                          <a:spcPts val="800"/>
                        </a:spcAft>
                        <a:buNone/>
                      </a:pPr>
                      <a:r>
                        <a:rPr lang="tr-TR" sz="1800">
                          <a:effectLst/>
                        </a:rPr>
                        <a:t>4. Cross-Layer Feedback Bus</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Establish unified interfaces between layers (e.g., LLM ↔ RL, FDL ↔ DTM).</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974471457"/>
                  </a:ext>
                </a:extLst>
              </a:tr>
              <a:tr h="0">
                <a:tc>
                  <a:txBody>
                    <a:bodyPr/>
                    <a:lstStyle/>
                    <a:p>
                      <a:pPr>
                        <a:lnSpc>
                          <a:spcPct val="107000"/>
                        </a:lnSpc>
                        <a:spcAft>
                          <a:spcPts val="800"/>
                        </a:spcAft>
                        <a:buNone/>
                      </a:pPr>
                      <a:r>
                        <a:rPr lang="tr-TR" sz="1800">
                          <a:effectLst/>
                        </a:rPr>
                        <a:t>5. LLM Explanation Module</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Finalize prompt templates and integrate narrative-based justifications.</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675427371"/>
                  </a:ext>
                </a:extLst>
              </a:tr>
              <a:tr h="0">
                <a:tc>
                  <a:txBody>
                    <a:bodyPr/>
                    <a:lstStyle/>
                    <a:p>
                      <a:pPr>
                        <a:lnSpc>
                          <a:spcPct val="107000"/>
                        </a:lnSpc>
                        <a:spcAft>
                          <a:spcPts val="800"/>
                        </a:spcAft>
                        <a:buNone/>
                      </a:pPr>
                      <a:r>
                        <a:rPr lang="tr-TR" sz="1800">
                          <a:effectLst/>
                        </a:rPr>
                        <a:t>6. Operator-in-the-Loop UI</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Design user interface for human validation and feedback.</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572169116"/>
                  </a:ext>
                </a:extLst>
              </a:tr>
              <a:tr h="0">
                <a:tc>
                  <a:txBody>
                    <a:bodyPr/>
                    <a:lstStyle/>
                    <a:p>
                      <a:pPr>
                        <a:lnSpc>
                          <a:spcPct val="107000"/>
                        </a:lnSpc>
                        <a:spcAft>
                          <a:spcPts val="800"/>
                        </a:spcAft>
                        <a:buNone/>
                      </a:pPr>
                      <a:r>
                        <a:rPr lang="tr-TR" sz="1800">
                          <a:effectLst/>
                        </a:rPr>
                        <a:t>7. Simulation &amp; Scenario Platform</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Build high-fidelity wildfire simulations with fire/weather/topography data.</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899262607"/>
                  </a:ext>
                </a:extLst>
              </a:tr>
              <a:tr h="0">
                <a:tc>
                  <a:txBody>
                    <a:bodyPr/>
                    <a:lstStyle/>
                    <a:p>
                      <a:pPr>
                        <a:lnSpc>
                          <a:spcPct val="107000"/>
                        </a:lnSpc>
                        <a:spcAft>
                          <a:spcPts val="800"/>
                        </a:spcAft>
                        <a:buNone/>
                      </a:pPr>
                      <a:r>
                        <a:rPr lang="tr-TR" sz="1800">
                          <a:effectLst/>
                        </a:rPr>
                        <a:t>8. Decision Scoring Framework</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a:effectLst/>
                        </a:rPr>
                        <a:t>Develop multi-criteria scoring: reward, cost, confidence.</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43120487"/>
                  </a:ext>
                </a:extLst>
              </a:tr>
              <a:tr h="0">
                <a:tc>
                  <a:txBody>
                    <a:bodyPr/>
                    <a:lstStyle/>
                    <a:p>
                      <a:pPr>
                        <a:lnSpc>
                          <a:spcPct val="107000"/>
                        </a:lnSpc>
                        <a:spcAft>
                          <a:spcPts val="800"/>
                        </a:spcAft>
                        <a:buNone/>
                      </a:pPr>
                      <a:r>
                        <a:rPr lang="tr-TR" sz="1800">
                          <a:effectLst/>
                        </a:rPr>
                        <a:t>9. Open-Source Toolkit Packaging</a:t>
                      </a:r>
                      <a:endParaRPr lang="tr-T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nSpc>
                          <a:spcPct val="107000"/>
                        </a:lnSpc>
                        <a:spcAft>
                          <a:spcPts val="800"/>
                        </a:spcAft>
                        <a:buNone/>
                      </a:pPr>
                      <a:r>
                        <a:rPr lang="tr-TR" sz="1800" dirty="0" err="1">
                          <a:effectLst/>
                        </a:rPr>
                        <a:t>Document</a:t>
                      </a:r>
                      <a:r>
                        <a:rPr lang="tr-TR" sz="1800" dirty="0">
                          <a:effectLst/>
                        </a:rPr>
                        <a:t> </a:t>
                      </a:r>
                      <a:r>
                        <a:rPr lang="tr-TR" sz="1800" dirty="0" err="1">
                          <a:effectLst/>
                        </a:rPr>
                        <a:t>codebase</a:t>
                      </a:r>
                      <a:r>
                        <a:rPr lang="tr-TR" sz="1800" dirty="0">
                          <a:effectLst/>
                        </a:rPr>
                        <a:t> </a:t>
                      </a:r>
                      <a:r>
                        <a:rPr lang="tr-TR" sz="1800" dirty="0" err="1">
                          <a:effectLst/>
                        </a:rPr>
                        <a:t>and</a:t>
                      </a:r>
                      <a:r>
                        <a:rPr lang="tr-TR" sz="1800" dirty="0">
                          <a:effectLst/>
                        </a:rPr>
                        <a:t> </a:t>
                      </a:r>
                      <a:r>
                        <a:rPr lang="tr-TR" sz="1800" dirty="0" err="1">
                          <a:effectLst/>
                        </a:rPr>
                        <a:t>release</a:t>
                      </a:r>
                      <a:r>
                        <a:rPr lang="tr-TR" sz="1800" dirty="0">
                          <a:effectLst/>
                        </a:rPr>
                        <a:t> </a:t>
                      </a:r>
                      <a:r>
                        <a:rPr lang="tr-TR" sz="1800" dirty="0" err="1">
                          <a:effectLst/>
                        </a:rPr>
                        <a:t>toolkit</a:t>
                      </a:r>
                      <a:r>
                        <a:rPr lang="tr-TR" sz="1800" dirty="0">
                          <a:effectLst/>
                        </a:rPr>
                        <a:t> </a:t>
                      </a:r>
                      <a:r>
                        <a:rPr lang="tr-TR" sz="1800" dirty="0" err="1">
                          <a:effectLst/>
                        </a:rPr>
                        <a:t>with</a:t>
                      </a:r>
                      <a:r>
                        <a:rPr lang="tr-TR" sz="1800" dirty="0">
                          <a:effectLst/>
                        </a:rPr>
                        <a:t> </a:t>
                      </a:r>
                      <a:r>
                        <a:rPr lang="tr-TR" sz="1800" dirty="0" err="1">
                          <a:effectLst/>
                        </a:rPr>
                        <a:t>sample</a:t>
                      </a:r>
                      <a:r>
                        <a:rPr lang="tr-TR" sz="1800" dirty="0">
                          <a:effectLst/>
                        </a:rPr>
                        <a:t> data </a:t>
                      </a:r>
                      <a:r>
                        <a:rPr lang="tr-TR" sz="1800" dirty="0" err="1">
                          <a:effectLst/>
                        </a:rPr>
                        <a:t>and</a:t>
                      </a:r>
                      <a:r>
                        <a:rPr lang="tr-TR" sz="1800" dirty="0">
                          <a:effectLst/>
                        </a:rPr>
                        <a:t> </a:t>
                      </a:r>
                      <a:r>
                        <a:rPr lang="tr-TR" sz="1800" dirty="0" err="1">
                          <a:effectLst/>
                        </a:rPr>
                        <a:t>APIs</a:t>
                      </a:r>
                      <a:r>
                        <a:rPr lang="tr-TR" sz="1800" dirty="0">
                          <a:effectLst/>
                        </a:rPr>
                        <a:t>.</a:t>
                      </a:r>
                      <a:endParaRPr lang="tr-TR" sz="18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292094279"/>
                  </a:ext>
                </a:extLst>
              </a:tr>
            </a:tbl>
          </a:graphicData>
        </a:graphic>
      </p:graphicFrame>
    </p:spTree>
    <p:extLst>
      <p:ext uri="{BB962C8B-B14F-4D97-AF65-F5344CB8AC3E}">
        <p14:creationId xmlns:p14="http://schemas.microsoft.com/office/powerpoint/2010/main" val="166619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References</a:t>
            </a:r>
            <a:endParaRPr lang="en-GB" dirty="0"/>
          </a:p>
        </p:txBody>
      </p:sp>
      <p:sp>
        <p:nvSpPr>
          <p:cNvPr id="4" name="Slide Number Placeholder 3"/>
          <p:cNvSpPr>
            <a:spLocks noGrp="1"/>
          </p:cNvSpPr>
          <p:nvPr>
            <p:ph type="sldNum" sz="quarter" idx="12"/>
          </p:nvPr>
        </p:nvSpPr>
        <p:spPr/>
        <p:txBody>
          <a:bodyPr/>
          <a:lstStyle/>
          <a:p>
            <a:fld id="{0F4FBE90-EB1A-4CD8-B134-C7A82858680F}" type="slidenum">
              <a:rPr lang="en-US" smtClean="0"/>
              <a:t>21</a:t>
            </a:fld>
            <a:endParaRPr lang="en-US"/>
          </a:p>
        </p:txBody>
      </p:sp>
      <p:graphicFrame>
        <p:nvGraphicFramePr>
          <p:cNvPr id="8" name="Table 7">
            <a:extLst>
              <a:ext uri="{FF2B5EF4-FFF2-40B4-BE49-F238E27FC236}">
                <a16:creationId xmlns:a16="http://schemas.microsoft.com/office/drawing/2014/main" id="{60986652-B2EC-6BA3-4A92-A24EA9A96BC0}"/>
              </a:ext>
            </a:extLst>
          </p:cNvPr>
          <p:cNvGraphicFramePr>
            <a:graphicFrameLocks noGrp="1"/>
          </p:cNvGraphicFramePr>
          <p:nvPr>
            <p:extLst>
              <p:ext uri="{D42A27DB-BD31-4B8C-83A1-F6EECF244321}">
                <p14:modId xmlns:p14="http://schemas.microsoft.com/office/powerpoint/2010/main" val="2465902610"/>
              </p:ext>
            </p:extLst>
          </p:nvPr>
        </p:nvGraphicFramePr>
        <p:xfrm>
          <a:off x="244305" y="548659"/>
          <a:ext cx="11703385" cy="5826879"/>
        </p:xfrm>
        <a:graphic>
          <a:graphicData uri="http://schemas.openxmlformats.org/drawingml/2006/table">
            <a:tbl>
              <a:tblPr firstCol="1" bandRow="1">
                <a:tableStyleId>{9D7B26C5-4107-4FEC-AEDC-1716B250A1EF}</a:tableStyleId>
              </a:tblPr>
              <a:tblGrid>
                <a:gridCol w="202355">
                  <a:extLst>
                    <a:ext uri="{9D8B030D-6E8A-4147-A177-3AD203B41FA5}">
                      <a16:colId xmlns:a16="http://schemas.microsoft.com/office/drawing/2014/main" val="2763587197"/>
                    </a:ext>
                  </a:extLst>
                </a:gridCol>
                <a:gridCol w="11501030">
                  <a:extLst>
                    <a:ext uri="{9D8B030D-6E8A-4147-A177-3AD203B41FA5}">
                      <a16:colId xmlns:a16="http://schemas.microsoft.com/office/drawing/2014/main" val="3972581776"/>
                    </a:ext>
                  </a:extLst>
                </a:gridCol>
              </a:tblGrid>
              <a:tr h="189839">
                <a:tc>
                  <a:txBody>
                    <a:bodyPr/>
                    <a:lstStyle/>
                    <a:p>
                      <a:pPr algn="just">
                        <a:lnSpc>
                          <a:spcPct val="150000"/>
                        </a:lnSpc>
                      </a:pPr>
                      <a:r>
                        <a:rPr lang="en-GB" sz="900">
                          <a:effectLst/>
                        </a:rPr>
                        <a:t>[1]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CRED, “2021 Disasters in numbers,” Centre for Research on the Epidemiology of Disasters, Brussels, 2022.</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1488478274"/>
                  </a:ext>
                </a:extLst>
              </a:tr>
              <a:tr h="189839">
                <a:tc>
                  <a:txBody>
                    <a:bodyPr/>
                    <a:lstStyle/>
                    <a:p>
                      <a:pPr algn="just">
                        <a:lnSpc>
                          <a:spcPct val="150000"/>
                        </a:lnSpc>
                      </a:pPr>
                      <a:r>
                        <a:rPr lang="en-US" sz="900">
                          <a:effectLst/>
                        </a:rPr>
                        <a:t>[2]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US" sz="900" dirty="0">
                          <a:effectLst/>
                        </a:rPr>
                        <a:t>B. Golding, Towards the “Perfect” Weather Warning: Bridging Disciplinary Gaps through Partnership and Communication, Springer Nature, 2022. </a:t>
                      </a:r>
                      <a:endParaRPr lang="tr-TR" sz="900" dirty="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2580629940"/>
                  </a:ext>
                </a:extLst>
              </a:tr>
              <a:tr h="189839">
                <a:tc>
                  <a:txBody>
                    <a:bodyPr/>
                    <a:lstStyle/>
                    <a:p>
                      <a:pPr algn="just">
                        <a:lnSpc>
                          <a:spcPct val="150000"/>
                        </a:lnSpc>
                      </a:pPr>
                      <a:r>
                        <a:rPr lang="en-US" sz="900">
                          <a:effectLst/>
                        </a:rPr>
                        <a:t>[3]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US" sz="900">
                          <a:effectLst/>
                        </a:rPr>
                        <a:t>IFAFRI, "The International Forum to Advance First Responder Innovation," IFAFRI, 2019.</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287234568"/>
                  </a:ext>
                </a:extLst>
              </a:tr>
              <a:tr h="189839">
                <a:tc>
                  <a:txBody>
                    <a:bodyPr/>
                    <a:lstStyle/>
                    <a:p>
                      <a:pPr algn="just">
                        <a:lnSpc>
                          <a:spcPct val="150000"/>
                        </a:lnSpc>
                      </a:pPr>
                      <a:r>
                        <a:rPr lang="en-US" sz="900">
                          <a:effectLst/>
                        </a:rPr>
                        <a:t>[4]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US" sz="900">
                          <a:effectLst/>
                        </a:rPr>
                        <a:t>E. Yanmaz, S. Yahyanejad, B. Rinner, H. Hellwagner and C. Bettstetter, "Drone networks: Communications, coordination, and sensing," Ad Hoc Networks, vol. 68, pp. 1-15, 2018.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1496395669"/>
                  </a:ext>
                </a:extLst>
              </a:tr>
              <a:tr h="189839">
                <a:tc>
                  <a:txBody>
                    <a:bodyPr/>
                    <a:lstStyle/>
                    <a:p>
                      <a:pPr algn="just">
                        <a:lnSpc>
                          <a:spcPct val="150000"/>
                        </a:lnSpc>
                      </a:pPr>
                      <a:r>
                        <a:rPr lang="en-GB" sz="900">
                          <a:effectLst/>
                        </a:rPr>
                        <a:t>[5]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B. Shucker and J. K. Bennett, “Scalable control of distributed robotic macrosensor,” Distributed Autonomous Robotic Systems, vol. 6, pp. 379-388, 2007.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2934596926"/>
                  </a:ext>
                </a:extLst>
              </a:tr>
              <a:tr h="189839">
                <a:tc>
                  <a:txBody>
                    <a:bodyPr/>
                    <a:lstStyle/>
                    <a:p>
                      <a:pPr algn="just">
                        <a:lnSpc>
                          <a:spcPct val="150000"/>
                        </a:lnSpc>
                      </a:pPr>
                      <a:r>
                        <a:rPr lang="en-GB" sz="900">
                          <a:effectLst/>
                        </a:rPr>
                        <a:t>[6]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B. Shucker and J. K. Bennett, “Virtual spring mesh algorithms for control of distributed robotic macrosensors. Technical Report CU-CS-996-05,” University of Colorado at Boulder, 2005.</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3955787854"/>
                  </a:ext>
                </a:extLst>
              </a:tr>
              <a:tr h="189839">
                <a:tc>
                  <a:txBody>
                    <a:bodyPr/>
                    <a:lstStyle/>
                    <a:p>
                      <a:pPr algn="just">
                        <a:lnSpc>
                          <a:spcPct val="150000"/>
                        </a:lnSpc>
                      </a:pPr>
                      <a:r>
                        <a:rPr lang="en-US" sz="900">
                          <a:effectLst/>
                        </a:rPr>
                        <a:t>[7]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US" sz="900">
                          <a:effectLst/>
                        </a:rPr>
                        <a:t>B. Shucker and J. K. Bennett, "Target tracking with distributed robotic macrosensors," in MILCOM 2005-2005 IEEE Military Communications Conference, 2005.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3961231243"/>
                  </a:ext>
                </a:extLst>
              </a:tr>
              <a:tr h="189839">
                <a:tc>
                  <a:txBody>
                    <a:bodyPr/>
                    <a:lstStyle/>
                    <a:p>
                      <a:pPr algn="just">
                        <a:lnSpc>
                          <a:spcPct val="150000"/>
                        </a:lnSpc>
                      </a:pPr>
                      <a:r>
                        <a:rPr lang="en-GB" sz="900">
                          <a:effectLst/>
                        </a:rPr>
                        <a:t>[8]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K. Derr and M. Manic, “Extended virtual spring mesh (EVSM): The distributed self-organizing mobile ad hoc network for area exploration,” IEEE Transactions on Industrial Electronics, vol. 58, no. 12, pp. 5424-5437, 2011.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3726793159"/>
                  </a:ext>
                </a:extLst>
              </a:tr>
              <a:tr h="189839">
                <a:tc>
                  <a:txBody>
                    <a:bodyPr/>
                    <a:lstStyle/>
                    <a:p>
                      <a:pPr algn="just">
                        <a:lnSpc>
                          <a:spcPct val="150000"/>
                        </a:lnSpc>
                      </a:pPr>
                      <a:r>
                        <a:rPr lang="en-GB" sz="900">
                          <a:effectLst/>
                        </a:rPr>
                        <a:t>[9]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A. Trotta, L. Montecchiari, M. Di Felice and L. Bononi, “A GPS-free flocking model for aerial mesh deployments in disaster-recovery scenarios,” IEEE Access, vol. 8, pp. 91558-91573, 2020.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772437223"/>
                  </a:ext>
                </a:extLst>
              </a:tr>
              <a:tr h="248017">
                <a:tc>
                  <a:txBody>
                    <a:bodyPr/>
                    <a:lstStyle/>
                    <a:p>
                      <a:pPr algn="just">
                        <a:lnSpc>
                          <a:spcPct val="150000"/>
                        </a:lnSpc>
                      </a:pPr>
                      <a:r>
                        <a:rPr lang="en-GB" sz="900">
                          <a:effectLst/>
                        </a:rPr>
                        <a:t>[10]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A. Zanella, “Best practice in RSS measurements and ranging,” IEEE Communications Surveys &amp; Tutorials, vol. 18, no. 4, pp. 2662-2686, 2016.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4062303681"/>
                  </a:ext>
                </a:extLst>
              </a:tr>
              <a:tr h="248017">
                <a:tc>
                  <a:txBody>
                    <a:bodyPr/>
                    <a:lstStyle/>
                    <a:p>
                      <a:pPr algn="just">
                        <a:lnSpc>
                          <a:spcPct val="150000"/>
                        </a:lnSpc>
                      </a:pPr>
                      <a:r>
                        <a:rPr lang="en-GB" sz="900">
                          <a:effectLst/>
                        </a:rPr>
                        <a:t>[11]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dirty="0">
                          <a:effectLst/>
                        </a:rPr>
                        <a:t>H. </a:t>
                      </a:r>
                      <a:r>
                        <a:rPr lang="en-GB" sz="900" dirty="0" err="1">
                          <a:effectLst/>
                        </a:rPr>
                        <a:t>Obeidat</a:t>
                      </a:r>
                      <a:r>
                        <a:rPr lang="en-GB" sz="900" dirty="0">
                          <a:effectLst/>
                        </a:rPr>
                        <a:t>, W. </a:t>
                      </a:r>
                      <a:r>
                        <a:rPr lang="en-GB" sz="900" dirty="0" err="1">
                          <a:effectLst/>
                        </a:rPr>
                        <a:t>Shuaieb</a:t>
                      </a:r>
                      <a:r>
                        <a:rPr lang="en-GB" sz="900" dirty="0">
                          <a:effectLst/>
                        </a:rPr>
                        <a:t>, O. </a:t>
                      </a:r>
                      <a:r>
                        <a:rPr lang="en-GB" sz="900" dirty="0" err="1">
                          <a:effectLst/>
                        </a:rPr>
                        <a:t>Obeidat</a:t>
                      </a:r>
                      <a:r>
                        <a:rPr lang="en-GB" sz="900" dirty="0">
                          <a:effectLst/>
                        </a:rPr>
                        <a:t> and R. Abd-</a:t>
                      </a:r>
                      <a:r>
                        <a:rPr lang="en-GB" sz="900" dirty="0" err="1">
                          <a:effectLst/>
                        </a:rPr>
                        <a:t>Alhameed</a:t>
                      </a:r>
                      <a:r>
                        <a:rPr lang="en-GB" sz="900" dirty="0">
                          <a:effectLst/>
                        </a:rPr>
                        <a:t>, “A review of indoor localization techniques and wireless technologies,” Wireless Personal Communications, vol. 119, pp. 289-327, 2021. </a:t>
                      </a:r>
                      <a:endParaRPr lang="tr-TR" sz="900" dirty="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403820344"/>
                  </a:ext>
                </a:extLst>
              </a:tr>
              <a:tr h="248017">
                <a:tc>
                  <a:txBody>
                    <a:bodyPr/>
                    <a:lstStyle/>
                    <a:p>
                      <a:pPr algn="just">
                        <a:lnSpc>
                          <a:spcPct val="150000"/>
                        </a:lnSpc>
                      </a:pPr>
                      <a:r>
                        <a:rPr lang="en-GB" sz="900">
                          <a:effectLst/>
                        </a:rPr>
                        <a:t>[12]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dirty="0">
                          <a:effectLst/>
                        </a:rPr>
                        <a:t>L. E. C. Infrastructure and M. L. P. Layer, “IEEE standard for low-rate wireless networks,” IEEE, 2015.</a:t>
                      </a:r>
                      <a:endParaRPr lang="tr-TR" sz="900" dirty="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403991468"/>
                  </a:ext>
                </a:extLst>
              </a:tr>
              <a:tr h="248017">
                <a:tc>
                  <a:txBody>
                    <a:bodyPr/>
                    <a:lstStyle/>
                    <a:p>
                      <a:pPr algn="just">
                        <a:lnSpc>
                          <a:spcPct val="150000"/>
                        </a:lnSpc>
                      </a:pPr>
                      <a:r>
                        <a:rPr lang="en-US" sz="900">
                          <a:effectLst/>
                        </a:rPr>
                        <a:t>[13]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US" sz="900" dirty="0">
                          <a:effectLst/>
                        </a:rPr>
                        <a:t>A. Waqar, I. Ahmad, D. Habibi and Q. V. Phung, "Analysis of GPS and UWB positioning system for athlete tracking," Measurement: Sensors, vol. 14, no. 100036, 2021. </a:t>
                      </a:r>
                      <a:endParaRPr lang="tr-TR" sz="900" dirty="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1779333390"/>
                  </a:ext>
                </a:extLst>
              </a:tr>
              <a:tr h="248017">
                <a:tc>
                  <a:txBody>
                    <a:bodyPr/>
                    <a:lstStyle/>
                    <a:p>
                      <a:pPr algn="just">
                        <a:lnSpc>
                          <a:spcPct val="150000"/>
                        </a:lnSpc>
                      </a:pPr>
                      <a:r>
                        <a:rPr lang="en-GB" sz="900">
                          <a:effectLst/>
                        </a:rPr>
                        <a:t>[14]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L. E. Miller, “Why UWB? A review of ultrawideband technology.,” DARPA, Maryland, 2003.</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1954083367"/>
                  </a:ext>
                </a:extLst>
              </a:tr>
              <a:tr h="248017">
                <a:tc>
                  <a:txBody>
                    <a:bodyPr/>
                    <a:lstStyle/>
                    <a:p>
                      <a:pPr algn="just">
                        <a:lnSpc>
                          <a:spcPct val="150000"/>
                        </a:lnSpc>
                      </a:pPr>
                      <a:r>
                        <a:rPr lang="en-GB" sz="900">
                          <a:effectLst/>
                        </a:rPr>
                        <a:t>[15]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QORVO, “Decawave Product Brief: MDEK1001,” QORVO, 2017.</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3352021836"/>
                  </a:ext>
                </a:extLst>
              </a:tr>
              <a:tr h="248017">
                <a:tc>
                  <a:txBody>
                    <a:bodyPr/>
                    <a:lstStyle/>
                    <a:p>
                      <a:pPr algn="just">
                        <a:lnSpc>
                          <a:spcPct val="150000"/>
                        </a:lnSpc>
                      </a:pPr>
                      <a:r>
                        <a:rPr lang="en-GB" sz="900">
                          <a:effectLst/>
                        </a:rPr>
                        <a:t>[16]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NXP, “Trimension SR150 Ultra-Wideband Transceiver,” NXP, 2021.</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3216320686"/>
                  </a:ext>
                </a:extLst>
              </a:tr>
              <a:tr h="248017">
                <a:tc>
                  <a:txBody>
                    <a:bodyPr/>
                    <a:lstStyle/>
                    <a:p>
                      <a:pPr algn="just">
                        <a:lnSpc>
                          <a:spcPct val="150000"/>
                        </a:lnSpc>
                      </a:pPr>
                      <a:r>
                        <a:rPr lang="en-GB" sz="900">
                          <a:effectLst/>
                        </a:rPr>
                        <a:t>[17]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W. Jin, J. Yang, Y. Fang and W. Feng, “Research on application and deployment of UAV in emergency response,” in 2020 IEEE 10th International Conference on Electronics Information and Emergency Communication (ICEIEC), IEEE, 2020.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1492735471"/>
                  </a:ext>
                </a:extLst>
              </a:tr>
              <a:tr h="248017">
                <a:tc>
                  <a:txBody>
                    <a:bodyPr/>
                    <a:lstStyle/>
                    <a:p>
                      <a:pPr algn="just">
                        <a:lnSpc>
                          <a:spcPct val="150000"/>
                        </a:lnSpc>
                      </a:pPr>
                      <a:r>
                        <a:rPr lang="en-GB" sz="900">
                          <a:effectLst/>
                        </a:rPr>
                        <a:t>[18]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J. Schwarzrock, I. Zacarias, A. L. Bazzan, R. Q. de Araujo Fernandes, L. H. Moreira and E. P. de Freitas, “Solving task allocation problem in multi Unmanned Aerial Vehicles,” Engineering Applications of Artificial Intelligence, vol. 72, pp. 10-20, 2018.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4122701002"/>
                  </a:ext>
                </a:extLst>
              </a:tr>
              <a:tr h="248017">
                <a:tc>
                  <a:txBody>
                    <a:bodyPr/>
                    <a:lstStyle/>
                    <a:p>
                      <a:pPr algn="just">
                        <a:lnSpc>
                          <a:spcPct val="150000"/>
                        </a:lnSpc>
                      </a:pPr>
                      <a:r>
                        <a:rPr lang="en-GB" sz="900">
                          <a:effectLst/>
                        </a:rPr>
                        <a:t>[19]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M. Zhu, X. Du, X. Zhang, H. Luo and G. Wang, “Multi-UAV Rapid-Assessment Task-Assignment Problem in a Post-Earthquake Scenario,” IEEE access, vol. 7, pp. 74542-74557, 2019.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112644480"/>
                  </a:ext>
                </a:extLst>
              </a:tr>
              <a:tr h="398073">
                <a:tc>
                  <a:txBody>
                    <a:bodyPr/>
                    <a:lstStyle/>
                    <a:p>
                      <a:pPr algn="just">
                        <a:lnSpc>
                          <a:spcPct val="150000"/>
                        </a:lnSpc>
                      </a:pPr>
                      <a:r>
                        <a:rPr lang="en-GB" sz="900">
                          <a:effectLst/>
                        </a:rPr>
                        <a:t>[20]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H. Liang, G. Kou, Y. Dong, F. Chiclana and E. Herrera-Viedma, “Consensus Reaching With Minimum Cost of Informed Individuals and Time Constraints in Large-Scale Group Decision-Making,” IEEE Transactions on Fuzzy Systems, vol. 30, no. 11, pp. 4994-5004, 2022.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2348813523"/>
                  </a:ext>
                </a:extLst>
              </a:tr>
              <a:tr h="248017">
                <a:tc>
                  <a:txBody>
                    <a:bodyPr/>
                    <a:lstStyle/>
                    <a:p>
                      <a:pPr algn="just">
                        <a:lnSpc>
                          <a:spcPct val="150000"/>
                        </a:lnSpc>
                      </a:pPr>
                      <a:r>
                        <a:rPr lang="en-GB" sz="900">
                          <a:effectLst/>
                        </a:rPr>
                        <a:t>[21]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F. Liu, Y. Wu and W. Pedrycz, “A Modified Consensus Model in Group Decision Making With an Allocation of Information Granularity,” IEEE Transactions on Fuzzy Systems, vol. 26, no. 5, pp. 3182-3187, 2018.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1125695291"/>
                  </a:ext>
                </a:extLst>
              </a:tr>
              <a:tr h="248017">
                <a:tc>
                  <a:txBody>
                    <a:bodyPr/>
                    <a:lstStyle/>
                    <a:p>
                      <a:pPr algn="just">
                        <a:lnSpc>
                          <a:spcPct val="150000"/>
                        </a:lnSpc>
                      </a:pPr>
                      <a:r>
                        <a:rPr lang="en-GB" sz="900">
                          <a:effectLst/>
                        </a:rPr>
                        <a:t>[22]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M. Wang, D. Liang and D. Li, “A Two-Stage Method for Improving the Decision Quality of Consensus-Driven Three-Way Group Decision-Making,” IEEE Transactions on Systems, Man, and Cybernetics: Systems, 2022.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3930279125"/>
                  </a:ext>
                </a:extLst>
              </a:tr>
              <a:tr h="248017">
                <a:tc>
                  <a:txBody>
                    <a:bodyPr/>
                    <a:lstStyle/>
                    <a:p>
                      <a:pPr algn="just">
                        <a:lnSpc>
                          <a:spcPct val="150000"/>
                        </a:lnSpc>
                      </a:pPr>
                      <a:r>
                        <a:rPr lang="en-GB" sz="900">
                          <a:effectLst/>
                        </a:rPr>
                        <a:t>[23]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a:effectLst/>
                        </a:rPr>
                        <a:t>Y. Rizk, M. Awad and E. W. Tunstel, “Decision Making in Multiagent Systems: A Survey,” IEEE Transactions on Cognitive and Developmental Systems, vol. 10, no. 3, pp. 514-529, 2018.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728804804"/>
                  </a:ext>
                </a:extLst>
              </a:tr>
              <a:tr h="248017">
                <a:tc>
                  <a:txBody>
                    <a:bodyPr/>
                    <a:lstStyle/>
                    <a:p>
                      <a:pPr algn="just">
                        <a:lnSpc>
                          <a:spcPct val="150000"/>
                        </a:lnSpc>
                      </a:pPr>
                      <a:r>
                        <a:rPr lang="en-GB" sz="900">
                          <a:effectLst/>
                        </a:rPr>
                        <a:t>[24]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dirty="0" err="1">
                          <a:effectLst/>
                        </a:rPr>
                        <a:t>Holybro</a:t>
                      </a:r>
                      <a:r>
                        <a:rPr lang="en-GB" sz="900" dirty="0">
                          <a:effectLst/>
                        </a:rPr>
                        <a:t>, “</a:t>
                      </a:r>
                      <a:r>
                        <a:rPr lang="en-GB" sz="900" dirty="0" err="1">
                          <a:effectLst/>
                        </a:rPr>
                        <a:t>Px</a:t>
                      </a:r>
                      <a:r>
                        <a:rPr lang="en-GB" sz="900" dirty="0">
                          <a:effectLst/>
                        </a:rPr>
                        <a:t> Guide,” </a:t>
                      </a:r>
                      <a:r>
                        <a:rPr lang="en-GB" sz="900" dirty="0" err="1">
                          <a:effectLst/>
                        </a:rPr>
                        <a:t>Holybro</a:t>
                      </a:r>
                      <a:r>
                        <a:rPr lang="en-GB" sz="900" dirty="0">
                          <a:effectLst/>
                        </a:rPr>
                        <a:t>, [Online]. Available: https://docs.px4.io/main/en/assembly/quick_start_pixhawk6x.html. [Accessed 05 2024].</a:t>
                      </a:r>
                      <a:endParaRPr lang="tr-TR" sz="900" dirty="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2091407688"/>
                  </a:ext>
                </a:extLst>
              </a:tr>
              <a:tr h="248017">
                <a:tc>
                  <a:txBody>
                    <a:bodyPr/>
                    <a:lstStyle/>
                    <a:p>
                      <a:pPr algn="just">
                        <a:lnSpc>
                          <a:spcPct val="150000"/>
                        </a:lnSpc>
                      </a:pPr>
                      <a:r>
                        <a:rPr lang="en-GB" sz="900">
                          <a:effectLst/>
                        </a:rPr>
                        <a:t>[25] </a:t>
                      </a:r>
                      <a:endParaRPr lang="tr-TR" sz="90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tc>
                  <a:txBody>
                    <a:bodyPr/>
                    <a:lstStyle/>
                    <a:p>
                      <a:pPr algn="just">
                        <a:lnSpc>
                          <a:spcPct val="150000"/>
                        </a:lnSpc>
                      </a:pPr>
                      <a:r>
                        <a:rPr lang="en-GB" sz="900" dirty="0">
                          <a:effectLst/>
                        </a:rPr>
                        <a:t>J. Butcher, Runge-</a:t>
                      </a:r>
                      <a:r>
                        <a:rPr lang="en-GB" sz="900" dirty="0" err="1">
                          <a:effectLst/>
                        </a:rPr>
                        <a:t>kutta</a:t>
                      </a:r>
                      <a:r>
                        <a:rPr lang="en-GB" sz="900" dirty="0">
                          <a:effectLst/>
                        </a:rPr>
                        <a:t> methods, </a:t>
                      </a:r>
                      <a:r>
                        <a:rPr lang="en-GB" sz="900" dirty="0" err="1">
                          <a:effectLst/>
                        </a:rPr>
                        <a:t>Scholarpedia</a:t>
                      </a:r>
                      <a:r>
                        <a:rPr lang="en-GB" sz="900" dirty="0">
                          <a:effectLst/>
                        </a:rPr>
                        <a:t>, 2007. </a:t>
                      </a:r>
                      <a:endParaRPr lang="tr-TR" sz="900" dirty="0">
                        <a:effectLst/>
                        <a:latin typeface="Calibri" panose="020F0502020204030204" pitchFamily="34" charset="0"/>
                        <a:ea typeface="Times New Roman" panose="02020603050405020304" pitchFamily="18" charset="0"/>
                        <a:cs typeface="Calibri" panose="020F0502020204030204" pitchFamily="34" charset="0"/>
                      </a:endParaRPr>
                    </a:p>
                  </a:txBody>
                  <a:tcPr marL="1549" marR="1549" marT="1549" marB="1549"/>
                </a:tc>
                <a:extLst>
                  <a:ext uri="{0D108BD9-81ED-4DB2-BD59-A6C34878D82A}">
                    <a16:rowId xmlns:a16="http://schemas.microsoft.com/office/drawing/2014/main" val="3886729797"/>
                  </a:ext>
                </a:extLst>
              </a:tr>
            </a:tbl>
          </a:graphicData>
        </a:graphic>
      </p:graphicFrame>
    </p:spTree>
    <p:extLst>
      <p:ext uri="{BB962C8B-B14F-4D97-AF65-F5344CB8AC3E}">
        <p14:creationId xmlns:p14="http://schemas.microsoft.com/office/powerpoint/2010/main" val="3581184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94D017-C399-C4FF-8AF8-55A35290D1BE}"/>
              </a:ext>
            </a:extLst>
          </p:cNvPr>
          <p:cNvSpPr>
            <a:spLocks noGrp="1"/>
          </p:cNvSpPr>
          <p:nvPr>
            <p:ph type="ctrTitle"/>
          </p:nvPr>
        </p:nvSpPr>
        <p:spPr/>
        <p:txBody>
          <a:bodyPr anchor="ctr"/>
          <a:lstStyle/>
          <a:p>
            <a:pPr algn="ctr"/>
            <a:r>
              <a:rPr lang="en-US" cap="none" dirty="0"/>
              <a:t>Thank you,</a:t>
            </a:r>
          </a:p>
        </p:txBody>
      </p:sp>
      <p:sp>
        <p:nvSpPr>
          <p:cNvPr id="4" name="Slide Number Placeholder 3">
            <a:extLst>
              <a:ext uri="{FF2B5EF4-FFF2-40B4-BE49-F238E27FC236}">
                <a16:creationId xmlns:a16="http://schemas.microsoft.com/office/drawing/2014/main" id="{C2333CB6-C49F-6F55-53C4-FBB1040BC9F5}"/>
              </a:ext>
            </a:extLst>
          </p:cNvPr>
          <p:cNvSpPr>
            <a:spLocks noGrp="1"/>
          </p:cNvSpPr>
          <p:nvPr>
            <p:ph type="sldNum" sz="quarter" idx="12"/>
          </p:nvPr>
        </p:nvSpPr>
        <p:spPr/>
        <p:txBody>
          <a:bodyPr/>
          <a:lstStyle/>
          <a:p>
            <a:fld id="{0F4FBE90-EB1A-4CD8-B134-C7A82858680F}" type="slidenum">
              <a:rPr lang="en-US" smtClean="0"/>
              <a:t>22</a:t>
            </a:fld>
            <a:endParaRPr lang="en-US"/>
          </a:p>
        </p:txBody>
      </p:sp>
    </p:spTree>
    <p:extLst>
      <p:ext uri="{BB962C8B-B14F-4D97-AF65-F5344CB8AC3E}">
        <p14:creationId xmlns:p14="http://schemas.microsoft.com/office/powerpoint/2010/main" val="41690850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2724</TotalTime>
  <Words>3947</Words>
  <Application>Microsoft Office PowerPoint</Application>
  <PresentationFormat>Widescreen</PresentationFormat>
  <Paragraphs>560</Paragraphs>
  <Slides>22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Cambria Math</vt:lpstr>
      <vt:lpstr>Symbol</vt:lpstr>
      <vt:lpstr>Times New Roman</vt:lpstr>
      <vt:lpstr>Retrospect</vt:lpstr>
      <vt:lpstr>PowerPoint Presentation</vt:lpstr>
      <vt:lpstr>Outline</vt:lpstr>
      <vt:lpstr>Problem Definition and Research Topics</vt:lpstr>
      <vt:lpstr>Problem Definition and Research Topics</vt:lpstr>
      <vt:lpstr>1. Literature Research &amp; Contributions</vt:lpstr>
      <vt:lpstr>System Architecture</vt:lpstr>
      <vt:lpstr>Data Field</vt:lpstr>
      <vt:lpstr>Fuzzy Decision Layer </vt:lpstr>
      <vt:lpstr>Fuzzy Decision Layer : Example (Single Decision)</vt:lpstr>
      <vt:lpstr>Fuzzy Decision Layer : Example (Single Decision)</vt:lpstr>
      <vt:lpstr>Fuzzy Decision Layer : Example (Single Decision)</vt:lpstr>
      <vt:lpstr>Fuzzy Decision Layer : Example (Multiple Decisions)</vt:lpstr>
      <vt:lpstr>Fuzzy Decision Layer : Example (Multiple Decisions)</vt:lpstr>
      <vt:lpstr>Fuzzy Decision Layer : Example (Multiple Decisions)</vt:lpstr>
      <vt:lpstr>Fuzzy Decision Layer : RL &amp; LLM  &amp; Feedback Integration</vt:lpstr>
      <vt:lpstr>Decision Trajectory Manager (DTM)</vt:lpstr>
      <vt:lpstr>Dynamic Tree Editor (DTE)</vt:lpstr>
      <vt:lpstr>Decision Execution Engine (DEE)</vt:lpstr>
      <vt:lpstr>Adaptive Response Actions (ARA)</vt:lpstr>
      <vt:lpstr>Work Plan and 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Enhanced Decision Support Using Swarm Robotics in Disaster Management – DisasterAware Middle East Technical University, Electical and Electronics Engineering Department</dc:title>
  <dc:creator>caglar akman</dc:creator>
  <cp:lastModifiedBy>Çağlar Akman</cp:lastModifiedBy>
  <cp:revision>58</cp:revision>
  <dcterms:created xsi:type="dcterms:W3CDTF">2023-05-21T15:52:50Z</dcterms:created>
  <dcterms:modified xsi:type="dcterms:W3CDTF">2025-06-19T22:30:24Z</dcterms:modified>
</cp:coreProperties>
</file>