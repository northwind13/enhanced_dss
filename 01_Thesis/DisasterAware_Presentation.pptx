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00.xml" ContentType="application/vnd.openxmlformats-officedocument.presentationml.slide+xml"/>
  <Override PartName="/ppt/notesSlides/notesSlide401.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bookmarkIdSeed="4">
  <p:sldMasterIdLst>
    <p:sldMasterId id="2147483648" r:id="rId1"/>
  </p:sldMasterIdLst>
  <p:notesMasterIdLst>
    <p:notesMasterId r:id="rId90"/>
  </p:notesMasterIdLst>
  <p:sldIdLst>
    <p:sldId id="256" r:id="rId2"/>
    <p:sldId id="257" r:id="rId3"/>
    <p:sldId id="343" r:id="rId4"/>
    <p:sldId id="437" r:id="rId5"/>
    <p:sldId id="442" r:id="rId6"/>
    <p:sldId id="439" r:id="rId7"/>
    <p:sldId id="440" r:id="rId8"/>
    <p:sldId id="443" r:id="rId9"/>
    <p:sldId id="441" r:id="rId10"/>
    <p:sldId id="259" r:id="rId11"/>
    <p:sldId id="260" r:id="rId12"/>
    <p:sldId id="445" r:id="rId13"/>
    <p:sldId id="310" r:id="rId14"/>
    <p:sldId id="312" r:id="rId15"/>
    <p:sldId id="317" r:id="rId16"/>
    <p:sldId id="318" r:id="rId17"/>
    <p:sldId id="319" r:id="rId18"/>
    <p:sldId id="320" r:id="rId19"/>
    <p:sldId id="446" r:id="rId20"/>
    <p:sldId id="329" r:id="rId21"/>
    <p:sldId id="327" r:id="rId22"/>
    <p:sldId id="333" r:id="rId23"/>
    <p:sldId id="262" r:id="rId24"/>
    <p:sldId id="452" r:id="rId25"/>
    <p:sldId id="335" r:id="rId26"/>
    <p:sldId id="338" r:id="rId27"/>
    <p:sldId id="311" r:id="rId28"/>
    <p:sldId id="340" r:id="rId29"/>
    <p:sldId id="341" r:id="rId30"/>
    <p:sldId id="267" r:id="rId31"/>
    <p:sldId id="268" r:id="rId32"/>
    <p:sldId id="2700" r:id="rId901"/>
    <p:sldId id="269" r:id="rId33"/>
    <p:sldId id="360" r:id="rId34"/>
    <p:sldId id="270" r:id="rId35"/>
    <p:sldId id="453" r:id="rId36"/>
    <p:sldId id="350" r:id="rId37"/>
    <p:sldId id="347" r:id="rId38"/>
    <p:sldId id="351" r:id="rId39"/>
    <p:sldId id="264" r:id="rId40"/>
    <p:sldId id="272" r:id="rId41"/>
    <p:sldId id="357" r:id="rId42"/>
    <p:sldId id="361" r:id="rId43"/>
    <p:sldId id="273" r:id="rId44"/>
    <p:sldId id="456" r:id="rId45"/>
    <p:sldId id="455" r:id="rId46"/>
    <p:sldId id="463" r:id="rId47"/>
    <p:sldId id="459" r:id="rId48"/>
    <p:sldId id="390" r:id="rId49"/>
    <p:sldId id="391" r:id="rId50"/>
    <p:sldId id="392" r:id="rId51"/>
    <p:sldId id="406" r:id="rId52"/>
    <p:sldId id="393" r:id="rId53"/>
    <p:sldId id="464" r:id="rId54"/>
    <p:sldId id="395" r:id="rId55"/>
    <p:sldId id="396" r:id="rId56"/>
    <p:sldId id="397" r:id="rId57"/>
    <p:sldId id="467" r:id="rId58"/>
    <p:sldId id="402" r:id="rId59"/>
    <p:sldId id="2600" r:id="rId60"/>
    <p:sldId id="468" r:id="rId61"/>
    <p:sldId id="403" r:id="rId62"/>
    <p:sldId id="2601" r:id="rId63"/>
    <p:sldId id="2602" r:id="rId64"/>
    <p:sldId id="2603" r:id="rId65"/>
    <p:sldId id="2604" r:id="rId66"/>
    <p:sldId id="283" r:id="rId67"/>
    <p:sldId id="407" r:id="rId68"/>
    <p:sldId id="408" r:id="rId69"/>
    <p:sldId id="2605" r:id="rId70"/>
    <p:sldId id="411" r:id="rId71"/>
    <p:sldId id="263" r:id="rId72"/>
    <p:sldId id="412" r:id="rId73"/>
    <p:sldId id="265" r:id="rId74"/>
    <p:sldId id="413" r:id="rId75"/>
    <p:sldId id="414" r:id="rId76"/>
    <p:sldId id="417" r:id="rId77"/>
    <p:sldId id="418" r:id="rId78"/>
    <p:sldId id="419" r:id="rId79"/>
    <p:sldId id="420" r:id="rId80"/>
    <p:sldId id="2606" r:id="rId81"/>
    <p:sldId id="421" r:id="rId82"/>
    <p:sldId id="422" r:id="rId83"/>
    <p:sldId id="279" r:id="rId84"/>
    <p:sldId id="423" r:id="rId85"/>
    <p:sldId id="282" r:id="rId86"/>
    <p:sldId id="424" r:id="rId87"/>
    <p:sldId id="284" r:id="rId88"/>
    <p:sldId id="298" r:id="rId8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863DE9D-30E2-480B-BF39-0A6E9CFB1129}">
          <p14:sldIdLst>
            <p14:sldId id="256"/>
            <p14:sldId id="257"/>
          </p14:sldIdLst>
        </p14:section>
        <p14:section name="P0_Intro" id="{02D1D83B-EE8A-4111-A042-81028A454229}">
          <p14:sldIdLst>
            <p14:sldId id="343"/>
            <p14:sldId id="437"/>
            <p14:sldId id="442"/>
            <p14:sldId id="439"/>
            <p14:sldId id="440"/>
            <p14:sldId id="443"/>
            <p14:sldId id="441"/>
            <p14:sldId id="259"/>
          </p14:sldIdLst>
        </p14:section>
        <p14:section name="P1_Sim Core" id="{113E917D-4C26-47E8-8BB7-9FF40FC063AC}">
          <p14:sldIdLst>
            <p14:sldId id="260"/>
            <p14:sldId id="445"/>
            <p14:sldId id="310"/>
            <p14:sldId id="312"/>
            <p14:sldId id="317"/>
            <p14:sldId id="318"/>
            <p14:sldId id="319"/>
            <p14:sldId id="320"/>
            <p14:sldId id="446"/>
            <p14:sldId id="329"/>
            <p14:sldId id="327"/>
            <p14:sldId id="333"/>
            <p14:sldId id="262"/>
          </p14:sldIdLst>
        </p14:section>
        <p14:section name="P1_DSS Core" id="{29E88F0C-0302-4CA9-A84B-2500402F3493}">
          <p14:sldIdLst>
            <p14:sldId id="452"/>
            <p14:sldId id="335"/>
            <p14:sldId id="338"/>
            <p14:sldId id="311"/>
            <p14:sldId id="340"/>
            <p14:sldId id="341"/>
          </p14:sldIdLst>
        </p14:section>
        <p14:section name="DSS Framework" id="{5C40EE8D-38D0-4B91-B440-D3AEB790E3BB}">
          <p14:sldIdLst>
            <p14:sldId id="267"/>
            <p14:sldId id="268"/>
            <p14:sldId id="269"/>
            <p14:sldId id="360"/>
            <p14:sldId id="270"/>
            <p14:sldId id="453"/>
            <p14:sldId id="350"/>
            <p14:sldId id="347"/>
            <p14:sldId id="351"/>
            <p14:sldId id="264"/>
            <p14:sldId id="272"/>
            <p14:sldId id="357"/>
            <p14:sldId id="361"/>
            <p14:sldId id="273"/>
            <p14:sldId id="456"/>
            <p14:sldId id="455"/>
            <p14:sldId id="463"/>
            <p14:sldId id="459"/>
            <p14:sldId id="390"/>
            <p14:sldId id="391"/>
            <p14:sldId id="392"/>
            <p14:sldId id="406"/>
            <p14:sldId id="393"/>
            <p14:sldId id="464"/>
            <p14:sldId id="395"/>
            <p14:sldId id="396"/>
            <p14:sldId id="397"/>
            <p14:sldId id="467"/>
            <p14:sldId id="402"/>
            <p14:sldId id="2600"/>
            <p14:sldId id="468"/>
            <p14:sldId id="403"/>
            <p14:sldId id="2601"/>
            <p14:sldId id="2602"/>
            <p14:sldId id="2603"/>
            <p14:sldId id="2604"/>
            <p14:sldId id="283"/>
            <p14:sldId id="407"/>
            <p14:sldId id="408"/>
            <p14:sldId id="2605"/>
            <p14:sldId id="411"/>
            <p14:sldId id="263"/>
            <p14:sldId id="412"/>
            <p14:sldId id="265"/>
            <p14:sldId id="413"/>
            <p14:sldId id="414"/>
            <p14:sldId id="417"/>
            <p14:sldId id="418"/>
            <p14:sldId id="419"/>
            <p14:sldId id="420"/>
            <p14:sldId id="2606"/>
            <p14:sldId id="421"/>
            <p14:sldId id="422"/>
            <p14:sldId id="279"/>
          </p14:sldIdLst>
        </p14:section>
        <p14:section name="Conlusion" id="{CA4FBB32-262A-42DC-8590-E36286395F70}">
          <p14:sldIdLst>
            <p14:sldId id="423"/>
            <p14:sldId id="282"/>
            <p14:sldId id="424"/>
            <p14:sldId id="284"/>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183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8711" autoAdjust="0"/>
  </p:normalViewPr>
  <p:slideViewPr>
    <p:cSldViewPr snapToGrid="0" snapToObjects="1">
      <p:cViewPr varScale="1">
        <p:scale>
          <a:sx n="108" d="100"/>
          <a:sy n="108" d="100"/>
        </p:scale>
        <p:origin x="994" y="86"/>
      </p:cViewPr>
      <p:guideLst/>
    </p:cSldViewPr>
  </p:slid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notesMaster" Target="notesMasters/notes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901" Type="http://schemas.openxmlformats.org/officeDocument/2006/relationships/slide" Target="slides/slide400.xml"/></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0NoLn">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NoLn">
    <dgm:fillClrLst meth="repeat">
      <a:schemeClr val="lt1"/>
    </dgm:fillClrLst>
    <dgm:linClrLst meth="repeat">
      <a:schemeClr val="dk1">
        <a:shade val="80000"/>
      </a:schemeClr>
    </dgm:linClrLst>
    <dgm:effectClrLst/>
    <dgm:txLinClrLst/>
    <dgm:txFillClrLst meth="repeat">
      <a:schemeClr val="dk1"/>
    </dgm:txFillClrLst>
    <dgm:txEffectClrLst/>
  </dgm:styleLbl>
  <dgm:styleLbl name="ltNode1NoLn">
    <dgm:fillClrLst meth="repeat">
      <a:schemeClr val="lt1">
        <a:tint val="75000"/>
      </a:schemeClr>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2NoLn">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NoLn">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NoLn">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meth="repeat">
      <a:schemeClr val="dk1"/>
    </dgm:txFillClrLst>
    <dgm:txEffectClrLst/>
  </dgm:styleLbl>
</dgm:colorsDef>
</file>

<file path=ppt/diagrams/data1.xml><?xml version="1.0" encoding="utf-8"?>
<dgm:dataModel xmlns:dgm="http://schemas.openxmlformats.org/drawingml/2006/diagram" xmlns:a="http://schemas.openxmlformats.org/drawingml/2006/main">
  <dgm:ptLst>
    <dgm:pt modelId="{588AEF6E-98DF-483E-932A-3CB5C9AE6CA2}" type="doc">
      <dgm:prSet loTypeId="urn:microsoft.com/office/officeart/2008/layout/LinedList" loCatId="list" qsTypeId="urn:microsoft.com/office/officeart/2005/8/quickstyle/simple1" qsCatId="simple" csTypeId="urn:microsoft.com/office/officeart/2005/8/colors/accent0_1" csCatId="mainScheme" phldr="1"/>
      <dgm:spPr/>
      <dgm:t>
        <a:bodyPr/>
        <a:lstStyle/>
        <a:p>
          <a:endParaRPr lang="tr-TR"/>
        </a:p>
      </dgm:t>
    </dgm:pt>
    <dgm:pt modelId="{28B353A4-0D62-403C-8102-3BB77C2693F9}">
      <dgm:prSet phldrT="[Text]"/>
      <dgm:spPr/>
      <dgm:t>
        <a:bodyPr/>
        <a:lstStyle/>
        <a:p>
          <a:r>
            <a:rPr lang="en-US" b="1"/>
            <a:t>Why did not FARSITE, Prometheus, or WRF-Fire</a:t>
          </a:r>
          <a:r>
            <a:rPr lang="tr-TR" b="1"/>
            <a:t> be used</a:t>
          </a:r>
          <a:r>
            <a:rPr lang="en-US" b="1"/>
            <a:t>? </a:t>
          </a:r>
          <a:endParaRPr lang="tr-TR"/>
        </a:p>
      </dgm:t>
    </dgm:pt>
    <dgm:pt modelId="{6CE3260D-010E-4E88-914F-C9EE2879885D}" type="parTrans" cxnId="{749E34B2-9BA1-461B-A9B5-421FF11D4BBA}">
      <dgm:prSet/>
      <dgm:spPr/>
      <dgm:t>
        <a:bodyPr/>
        <a:lstStyle/>
        <a:p>
          <a:endParaRPr lang="tr-TR"/>
        </a:p>
      </dgm:t>
    </dgm:pt>
    <dgm:pt modelId="{3A9FA300-4726-4436-9988-4D87D8CCBE30}" type="sibTrans" cxnId="{749E34B2-9BA1-461B-A9B5-421FF11D4BBA}">
      <dgm:prSet/>
      <dgm:spPr/>
      <dgm:t>
        <a:bodyPr/>
        <a:lstStyle/>
        <a:p>
          <a:endParaRPr lang="tr-TR"/>
        </a:p>
      </dgm:t>
    </dgm:pt>
    <dgm:pt modelId="{338C0332-9409-4C41-AA10-B8ED09B9669B}">
      <dgm:prSet/>
      <dgm:spPr/>
      <dgm:t>
        <a:bodyPr/>
        <a:lstStyle/>
        <a:p>
          <a:r>
            <a:rPr lang="en-US" i="1" dirty="0"/>
            <a:t>evidence about the decision layer, not fire realism</a:t>
          </a:r>
          <a:endParaRPr lang="en-US" dirty="0"/>
        </a:p>
      </dgm:t>
    </dgm:pt>
    <dgm:pt modelId="{31FCC22C-8DC4-4D9C-B589-BF61F38718B6}" type="parTrans" cxnId="{9A91DB3F-C3DB-4FCB-9A00-83CAE8FE5CEA}">
      <dgm:prSet/>
      <dgm:spPr/>
      <dgm:t>
        <a:bodyPr/>
        <a:lstStyle/>
        <a:p>
          <a:endParaRPr lang="tr-TR"/>
        </a:p>
      </dgm:t>
    </dgm:pt>
    <dgm:pt modelId="{264EE48C-7022-422B-BF5C-E851728772C6}" type="sibTrans" cxnId="{9A91DB3F-C3DB-4FCB-9A00-83CAE8FE5CEA}">
      <dgm:prSet/>
      <dgm:spPr/>
      <dgm:t>
        <a:bodyPr/>
        <a:lstStyle/>
        <a:p>
          <a:endParaRPr lang="tr-TR"/>
        </a:p>
      </dgm:t>
    </dgm:pt>
    <dgm:pt modelId="{CEFABD33-057B-47FC-9C11-5B8F6763652D}">
      <dgm:prSet/>
      <dgm:spPr/>
      <dgm:t>
        <a:bodyPr/>
        <a:lstStyle/>
        <a:p>
          <a:r>
            <a:rPr lang="en-US" i="1"/>
            <a:t>same seed, same fire: exact repeats for fair comparisons</a:t>
          </a:r>
          <a:endParaRPr lang="en-US" i="1" dirty="0"/>
        </a:p>
      </dgm:t>
    </dgm:pt>
    <dgm:pt modelId="{028E5770-BA62-4DF1-AF0D-65BA8D8D3588}" type="parTrans" cxnId="{81E77596-E857-43A7-A33B-7FC7219B3E63}">
      <dgm:prSet/>
      <dgm:spPr/>
      <dgm:t>
        <a:bodyPr/>
        <a:lstStyle/>
        <a:p>
          <a:endParaRPr lang="tr-TR"/>
        </a:p>
      </dgm:t>
    </dgm:pt>
    <dgm:pt modelId="{ACC430B5-5B5D-4CE9-A6DB-7DD184141BB5}" type="sibTrans" cxnId="{81E77596-E857-43A7-A33B-7FC7219B3E63}">
      <dgm:prSet/>
      <dgm:spPr/>
      <dgm:t>
        <a:bodyPr/>
        <a:lstStyle/>
        <a:p>
          <a:endParaRPr lang="tr-TR"/>
        </a:p>
      </dgm:t>
    </dgm:pt>
    <dgm:pt modelId="{489BA0A3-8268-4F05-A3B1-7D96BE5A2C45}">
      <dgm:prSet/>
      <dgm:spPr/>
      <dgm:t>
        <a:bodyPr/>
        <a:lstStyle/>
        <a:p>
          <a:r>
            <a:rPr lang="en-US" i="1" dirty="0"/>
            <a:t>fast enough for thousands of what-if runs</a:t>
          </a:r>
        </a:p>
      </dgm:t>
    </dgm:pt>
    <dgm:pt modelId="{0C2F1337-1C45-499F-A1C6-6AE338109F32}" type="parTrans" cxnId="{000077D5-42E0-4A27-873E-1D6EF40EA35A}">
      <dgm:prSet/>
      <dgm:spPr/>
      <dgm:t>
        <a:bodyPr/>
        <a:lstStyle/>
        <a:p>
          <a:endParaRPr lang="tr-TR"/>
        </a:p>
      </dgm:t>
    </dgm:pt>
    <dgm:pt modelId="{6CE55725-73C3-4899-B374-8BC2A9F029E1}" type="sibTrans" cxnId="{000077D5-42E0-4A27-873E-1D6EF40EA35A}">
      <dgm:prSet/>
      <dgm:spPr/>
      <dgm:t>
        <a:bodyPr/>
        <a:lstStyle/>
        <a:p>
          <a:endParaRPr lang="tr-TR"/>
        </a:p>
      </dgm:t>
    </dgm:pt>
    <dgm:pt modelId="{EDA7D782-E7FD-430D-9F01-EB00F1260AE7}">
      <dgm:prSet/>
      <dgm:spPr/>
      <dgm:t>
        <a:bodyPr/>
        <a:lstStyle/>
        <a:p>
          <a:r>
            <a:rPr lang="en-US" i="1" dirty="0"/>
            <a:t>interventions only through a fixed, checkable interface</a:t>
          </a:r>
        </a:p>
      </dgm:t>
    </dgm:pt>
    <dgm:pt modelId="{B2388E44-74DC-4E8E-B606-2D293CAFADE0}" type="parTrans" cxnId="{C7732B07-793E-4131-85E7-911ADC304CAE}">
      <dgm:prSet/>
      <dgm:spPr/>
      <dgm:t>
        <a:bodyPr/>
        <a:lstStyle/>
        <a:p>
          <a:endParaRPr lang="tr-TR"/>
        </a:p>
      </dgm:t>
    </dgm:pt>
    <dgm:pt modelId="{C01C41DC-6727-493F-95DE-5A854AC51EF9}" type="sibTrans" cxnId="{C7732B07-793E-4131-85E7-911ADC304CAE}">
      <dgm:prSet/>
      <dgm:spPr/>
      <dgm:t>
        <a:bodyPr/>
        <a:lstStyle/>
        <a:p>
          <a:endParaRPr lang="tr-TR"/>
        </a:p>
      </dgm:t>
    </dgm:pt>
    <dgm:pt modelId="{C0D467FA-EE7B-4CBC-9166-7D07BE6AC8F0}">
      <dgm:prSet/>
      <dgm:spPr/>
      <dgm:t>
        <a:bodyPr/>
        <a:lstStyle/>
        <a:p>
          <a:r>
            <a:rPr lang="en-US" i="1"/>
            <a:t>fidelity validated: 86–94% agreement and POD 85–97%</a:t>
          </a:r>
          <a:endParaRPr lang="en-US" i="1" dirty="0"/>
        </a:p>
      </dgm:t>
    </dgm:pt>
    <dgm:pt modelId="{570F08C9-9BFB-46FC-AA36-14B0611881D0}" type="parTrans" cxnId="{23A2248D-8AA4-42A3-B59D-C1FBAAA6B891}">
      <dgm:prSet/>
      <dgm:spPr/>
      <dgm:t>
        <a:bodyPr/>
        <a:lstStyle/>
        <a:p>
          <a:endParaRPr lang="tr-TR"/>
        </a:p>
      </dgm:t>
    </dgm:pt>
    <dgm:pt modelId="{AC525587-9ED7-4692-A348-1358A8CDE95E}" type="sibTrans" cxnId="{23A2248D-8AA4-42A3-B59D-C1FBAAA6B891}">
      <dgm:prSet/>
      <dgm:spPr/>
      <dgm:t>
        <a:bodyPr/>
        <a:lstStyle/>
        <a:p>
          <a:endParaRPr lang="tr-TR"/>
        </a:p>
      </dgm:t>
    </dgm:pt>
    <dgm:pt modelId="{688F4445-F8C0-4B6C-9353-715512747F92}">
      <dgm:prSet/>
      <dgm:spPr/>
      <dgm:t>
        <a:bodyPr/>
        <a:lstStyle/>
        <a:p>
          <a:r>
            <a:rPr lang="en-US" i="1"/>
            <a:t>a higher-fidelity core can be integrated, the DSS stays untouched</a:t>
          </a:r>
          <a:endParaRPr lang="en-US" i="1" dirty="0"/>
        </a:p>
      </dgm:t>
    </dgm:pt>
    <dgm:pt modelId="{63D24A72-BEDE-40AC-8FDA-D2B54C4528A7}" type="parTrans" cxnId="{2F6EFC0E-F488-4C0C-B3D9-B5CE63130C3D}">
      <dgm:prSet/>
      <dgm:spPr/>
      <dgm:t>
        <a:bodyPr/>
        <a:lstStyle/>
        <a:p>
          <a:endParaRPr lang="tr-TR"/>
        </a:p>
      </dgm:t>
    </dgm:pt>
    <dgm:pt modelId="{F2A45977-DE03-47E3-B722-D6583E298633}" type="sibTrans" cxnId="{2F6EFC0E-F488-4C0C-B3D9-B5CE63130C3D}">
      <dgm:prSet/>
      <dgm:spPr/>
      <dgm:t>
        <a:bodyPr/>
        <a:lstStyle/>
        <a:p>
          <a:endParaRPr lang="tr-TR"/>
        </a:p>
      </dgm:t>
    </dgm:pt>
    <dgm:pt modelId="{0F96125B-6202-4A64-B6EF-D0E503D05149}" type="pres">
      <dgm:prSet presAssocID="{588AEF6E-98DF-483E-932A-3CB5C9AE6CA2}" presName="vert0" presStyleCnt="0">
        <dgm:presLayoutVars>
          <dgm:dir/>
          <dgm:animOne val="branch"/>
          <dgm:animLvl val="lvl"/>
        </dgm:presLayoutVars>
      </dgm:prSet>
      <dgm:spPr/>
    </dgm:pt>
    <dgm:pt modelId="{1398B239-6770-495E-AF2D-7EC137F6DEB5}" type="pres">
      <dgm:prSet presAssocID="{28B353A4-0D62-403C-8102-3BB77C2693F9}" presName="thickLine" presStyleLbl="alignNode1" presStyleIdx="0" presStyleCnt="1"/>
      <dgm:spPr/>
    </dgm:pt>
    <dgm:pt modelId="{04E330B0-CF7A-4710-A44F-AEBB0A37427F}" type="pres">
      <dgm:prSet presAssocID="{28B353A4-0D62-403C-8102-3BB77C2693F9}" presName="horz1" presStyleCnt="0"/>
      <dgm:spPr/>
    </dgm:pt>
    <dgm:pt modelId="{5648599F-F304-432C-B508-CCBA3FDA565D}" type="pres">
      <dgm:prSet presAssocID="{28B353A4-0D62-403C-8102-3BB77C2693F9}" presName="tx1" presStyleLbl="revTx" presStyleIdx="0" presStyleCnt="7"/>
      <dgm:spPr/>
    </dgm:pt>
    <dgm:pt modelId="{A62D08A6-56A0-4CCE-B944-BC1C32081C08}" type="pres">
      <dgm:prSet presAssocID="{28B353A4-0D62-403C-8102-3BB77C2693F9}" presName="vert1" presStyleCnt="0"/>
      <dgm:spPr/>
    </dgm:pt>
    <dgm:pt modelId="{DE38E265-B202-4C77-8AE0-E4BAF7530E23}" type="pres">
      <dgm:prSet presAssocID="{338C0332-9409-4C41-AA10-B8ED09B9669B}" presName="vertSpace2a" presStyleCnt="0"/>
      <dgm:spPr/>
    </dgm:pt>
    <dgm:pt modelId="{61FA1B45-084D-4E97-A41C-A08775267E82}" type="pres">
      <dgm:prSet presAssocID="{338C0332-9409-4C41-AA10-B8ED09B9669B}" presName="horz2" presStyleCnt="0"/>
      <dgm:spPr/>
    </dgm:pt>
    <dgm:pt modelId="{09BCD03B-65DB-474B-9890-8E00C7689261}" type="pres">
      <dgm:prSet presAssocID="{338C0332-9409-4C41-AA10-B8ED09B9669B}" presName="horzSpace2" presStyleCnt="0"/>
      <dgm:spPr/>
    </dgm:pt>
    <dgm:pt modelId="{EC0F4E7C-6F92-4C05-B836-D0177AE73345}" type="pres">
      <dgm:prSet presAssocID="{338C0332-9409-4C41-AA10-B8ED09B9669B}" presName="tx2" presStyleLbl="revTx" presStyleIdx="1" presStyleCnt="7"/>
      <dgm:spPr/>
    </dgm:pt>
    <dgm:pt modelId="{9763F955-C3B0-426F-958A-3AC69A5496D4}" type="pres">
      <dgm:prSet presAssocID="{338C0332-9409-4C41-AA10-B8ED09B9669B}" presName="vert2" presStyleCnt="0"/>
      <dgm:spPr/>
    </dgm:pt>
    <dgm:pt modelId="{42E1552C-47A3-4389-9076-2E89E03D7055}" type="pres">
      <dgm:prSet presAssocID="{338C0332-9409-4C41-AA10-B8ED09B9669B}" presName="thinLine2b" presStyleLbl="callout" presStyleIdx="0" presStyleCnt="6"/>
      <dgm:spPr/>
    </dgm:pt>
    <dgm:pt modelId="{BD45A1B1-7EF0-40FA-A179-85CD390BDBA0}" type="pres">
      <dgm:prSet presAssocID="{338C0332-9409-4C41-AA10-B8ED09B9669B}" presName="vertSpace2b" presStyleCnt="0"/>
      <dgm:spPr/>
    </dgm:pt>
    <dgm:pt modelId="{0DC61A59-F5F8-45C0-B310-DD238CBCACDC}" type="pres">
      <dgm:prSet presAssocID="{CEFABD33-057B-47FC-9C11-5B8F6763652D}" presName="horz2" presStyleCnt="0"/>
      <dgm:spPr/>
    </dgm:pt>
    <dgm:pt modelId="{B0BDFEFB-6D49-4718-A284-B2A367C877E0}" type="pres">
      <dgm:prSet presAssocID="{CEFABD33-057B-47FC-9C11-5B8F6763652D}" presName="horzSpace2" presStyleCnt="0"/>
      <dgm:spPr/>
    </dgm:pt>
    <dgm:pt modelId="{612F87CD-5855-4D75-8520-0D11A364EDF7}" type="pres">
      <dgm:prSet presAssocID="{CEFABD33-057B-47FC-9C11-5B8F6763652D}" presName="tx2" presStyleLbl="revTx" presStyleIdx="2" presStyleCnt="7"/>
      <dgm:spPr/>
    </dgm:pt>
    <dgm:pt modelId="{CD1FF444-8C5E-40C0-9FA6-75EC4AB3D77A}" type="pres">
      <dgm:prSet presAssocID="{CEFABD33-057B-47FC-9C11-5B8F6763652D}" presName="vert2" presStyleCnt="0"/>
      <dgm:spPr/>
    </dgm:pt>
    <dgm:pt modelId="{482EE71B-1FB0-40BB-806D-EA9A3843B313}" type="pres">
      <dgm:prSet presAssocID="{CEFABD33-057B-47FC-9C11-5B8F6763652D}" presName="thinLine2b" presStyleLbl="callout" presStyleIdx="1" presStyleCnt="6"/>
      <dgm:spPr/>
    </dgm:pt>
    <dgm:pt modelId="{55142970-DD23-4B60-93AD-79ECDB93E349}" type="pres">
      <dgm:prSet presAssocID="{CEFABD33-057B-47FC-9C11-5B8F6763652D}" presName="vertSpace2b" presStyleCnt="0"/>
      <dgm:spPr/>
    </dgm:pt>
    <dgm:pt modelId="{0A9A95F1-F523-4058-B460-8BA6B31050EE}" type="pres">
      <dgm:prSet presAssocID="{489BA0A3-8268-4F05-A3B1-7D96BE5A2C45}" presName="horz2" presStyleCnt="0"/>
      <dgm:spPr/>
    </dgm:pt>
    <dgm:pt modelId="{E319AB3A-F40D-43B0-95A7-B2D5FCB5A02D}" type="pres">
      <dgm:prSet presAssocID="{489BA0A3-8268-4F05-A3B1-7D96BE5A2C45}" presName="horzSpace2" presStyleCnt="0"/>
      <dgm:spPr/>
    </dgm:pt>
    <dgm:pt modelId="{3FE0D26C-D06A-4410-A451-AC92FCED232C}" type="pres">
      <dgm:prSet presAssocID="{489BA0A3-8268-4F05-A3B1-7D96BE5A2C45}" presName="tx2" presStyleLbl="revTx" presStyleIdx="3" presStyleCnt="7"/>
      <dgm:spPr/>
    </dgm:pt>
    <dgm:pt modelId="{CAA2EC53-D289-4E64-B1C8-3D808C4F9CBD}" type="pres">
      <dgm:prSet presAssocID="{489BA0A3-8268-4F05-A3B1-7D96BE5A2C45}" presName="vert2" presStyleCnt="0"/>
      <dgm:spPr/>
    </dgm:pt>
    <dgm:pt modelId="{25C03B55-95D9-4FE0-9AF1-DB785606863C}" type="pres">
      <dgm:prSet presAssocID="{489BA0A3-8268-4F05-A3B1-7D96BE5A2C45}" presName="thinLine2b" presStyleLbl="callout" presStyleIdx="2" presStyleCnt="6"/>
      <dgm:spPr/>
    </dgm:pt>
    <dgm:pt modelId="{61E01C45-088A-4AA5-98AC-60784D298FC0}" type="pres">
      <dgm:prSet presAssocID="{489BA0A3-8268-4F05-A3B1-7D96BE5A2C45}" presName="vertSpace2b" presStyleCnt="0"/>
      <dgm:spPr/>
    </dgm:pt>
    <dgm:pt modelId="{F7BA0808-ACD9-4D0D-89C1-6BBEA925100A}" type="pres">
      <dgm:prSet presAssocID="{EDA7D782-E7FD-430D-9F01-EB00F1260AE7}" presName="horz2" presStyleCnt="0"/>
      <dgm:spPr/>
    </dgm:pt>
    <dgm:pt modelId="{0A0A34ED-5B71-4ECC-9B4F-E07644820D91}" type="pres">
      <dgm:prSet presAssocID="{EDA7D782-E7FD-430D-9F01-EB00F1260AE7}" presName="horzSpace2" presStyleCnt="0"/>
      <dgm:spPr/>
    </dgm:pt>
    <dgm:pt modelId="{91C4D8EB-8E88-4223-937C-A23B1049348D}" type="pres">
      <dgm:prSet presAssocID="{EDA7D782-E7FD-430D-9F01-EB00F1260AE7}" presName="tx2" presStyleLbl="revTx" presStyleIdx="4" presStyleCnt="7"/>
      <dgm:spPr/>
    </dgm:pt>
    <dgm:pt modelId="{17C2F185-3520-411F-85F2-D85DEBFA2E6B}" type="pres">
      <dgm:prSet presAssocID="{EDA7D782-E7FD-430D-9F01-EB00F1260AE7}" presName="vert2" presStyleCnt="0"/>
      <dgm:spPr/>
    </dgm:pt>
    <dgm:pt modelId="{DFD95A49-6E13-4479-9899-65D7813A8C3E}" type="pres">
      <dgm:prSet presAssocID="{EDA7D782-E7FD-430D-9F01-EB00F1260AE7}" presName="thinLine2b" presStyleLbl="callout" presStyleIdx="3" presStyleCnt="6"/>
      <dgm:spPr/>
    </dgm:pt>
    <dgm:pt modelId="{BAA19669-F1CA-4C58-A4E4-ACB1C8A11DF3}" type="pres">
      <dgm:prSet presAssocID="{EDA7D782-E7FD-430D-9F01-EB00F1260AE7}" presName="vertSpace2b" presStyleCnt="0"/>
      <dgm:spPr/>
    </dgm:pt>
    <dgm:pt modelId="{E89AC8A5-238E-4533-8733-6DF4EA774438}" type="pres">
      <dgm:prSet presAssocID="{C0D467FA-EE7B-4CBC-9166-7D07BE6AC8F0}" presName="horz2" presStyleCnt="0"/>
      <dgm:spPr/>
    </dgm:pt>
    <dgm:pt modelId="{35B946F5-D053-4025-BE6C-5F99F8DE3484}" type="pres">
      <dgm:prSet presAssocID="{C0D467FA-EE7B-4CBC-9166-7D07BE6AC8F0}" presName="horzSpace2" presStyleCnt="0"/>
      <dgm:spPr/>
    </dgm:pt>
    <dgm:pt modelId="{53B81751-C420-4874-95E8-3EA2CED960AF}" type="pres">
      <dgm:prSet presAssocID="{C0D467FA-EE7B-4CBC-9166-7D07BE6AC8F0}" presName="tx2" presStyleLbl="revTx" presStyleIdx="5" presStyleCnt="7"/>
      <dgm:spPr/>
    </dgm:pt>
    <dgm:pt modelId="{1E706854-79EF-4141-9697-81ACBC3AF1F7}" type="pres">
      <dgm:prSet presAssocID="{C0D467FA-EE7B-4CBC-9166-7D07BE6AC8F0}" presName="vert2" presStyleCnt="0"/>
      <dgm:spPr/>
    </dgm:pt>
    <dgm:pt modelId="{ED6E751F-71E9-411A-8CF3-18BA032F921A}" type="pres">
      <dgm:prSet presAssocID="{C0D467FA-EE7B-4CBC-9166-7D07BE6AC8F0}" presName="thinLine2b" presStyleLbl="callout" presStyleIdx="4" presStyleCnt="6"/>
      <dgm:spPr/>
    </dgm:pt>
    <dgm:pt modelId="{0E792B22-581A-4707-871A-ABCC9710DFB9}" type="pres">
      <dgm:prSet presAssocID="{C0D467FA-EE7B-4CBC-9166-7D07BE6AC8F0}" presName="vertSpace2b" presStyleCnt="0"/>
      <dgm:spPr/>
    </dgm:pt>
    <dgm:pt modelId="{C2EC6B52-6077-4BB0-A295-EC9C1AAD624D}" type="pres">
      <dgm:prSet presAssocID="{688F4445-F8C0-4B6C-9353-715512747F92}" presName="horz2" presStyleCnt="0"/>
      <dgm:spPr/>
    </dgm:pt>
    <dgm:pt modelId="{7EA465C4-0B9D-44C8-AE26-A2FBF04CE80E}" type="pres">
      <dgm:prSet presAssocID="{688F4445-F8C0-4B6C-9353-715512747F92}" presName="horzSpace2" presStyleCnt="0"/>
      <dgm:spPr/>
    </dgm:pt>
    <dgm:pt modelId="{05D4B853-BC4A-4447-88CC-DE4F018B5529}" type="pres">
      <dgm:prSet presAssocID="{688F4445-F8C0-4B6C-9353-715512747F92}" presName="tx2" presStyleLbl="revTx" presStyleIdx="6" presStyleCnt="7"/>
      <dgm:spPr/>
    </dgm:pt>
    <dgm:pt modelId="{E56F4B75-3CBD-4142-8312-5443918EA08C}" type="pres">
      <dgm:prSet presAssocID="{688F4445-F8C0-4B6C-9353-715512747F92}" presName="vert2" presStyleCnt="0"/>
      <dgm:spPr/>
    </dgm:pt>
    <dgm:pt modelId="{B5DDAB02-999F-4111-A359-6C8D6D7BB1EF}" type="pres">
      <dgm:prSet presAssocID="{688F4445-F8C0-4B6C-9353-715512747F92}" presName="thinLine2b" presStyleLbl="callout" presStyleIdx="5" presStyleCnt="6"/>
      <dgm:spPr/>
    </dgm:pt>
    <dgm:pt modelId="{B4A246F9-EC99-415E-8468-62D2913CD64C}" type="pres">
      <dgm:prSet presAssocID="{688F4445-F8C0-4B6C-9353-715512747F92}" presName="vertSpace2b" presStyleCnt="0"/>
      <dgm:spPr/>
    </dgm:pt>
  </dgm:ptLst>
  <dgm:cxnLst>
    <dgm:cxn modelId="{950A9403-06A7-4A30-A9A3-0081ADCA301E}" type="presOf" srcId="{338C0332-9409-4C41-AA10-B8ED09B9669B}" destId="{EC0F4E7C-6F92-4C05-B836-D0177AE73345}" srcOrd="0" destOrd="0" presId="urn:microsoft.com/office/officeart/2008/layout/LinedList"/>
    <dgm:cxn modelId="{C7732B07-793E-4131-85E7-911ADC304CAE}" srcId="{28B353A4-0D62-403C-8102-3BB77C2693F9}" destId="{EDA7D782-E7FD-430D-9F01-EB00F1260AE7}" srcOrd="3" destOrd="0" parTransId="{B2388E44-74DC-4E8E-B606-2D293CAFADE0}" sibTransId="{C01C41DC-6727-493F-95DE-5A854AC51EF9}"/>
    <dgm:cxn modelId="{2F6EFC0E-F488-4C0C-B3D9-B5CE63130C3D}" srcId="{28B353A4-0D62-403C-8102-3BB77C2693F9}" destId="{688F4445-F8C0-4B6C-9353-715512747F92}" srcOrd="5" destOrd="0" parTransId="{63D24A72-BEDE-40AC-8FDA-D2B54C4528A7}" sibTransId="{F2A45977-DE03-47E3-B722-D6583E298633}"/>
    <dgm:cxn modelId="{524F8D3F-EFD7-4F8A-AC89-C4005FA772D6}" type="presOf" srcId="{28B353A4-0D62-403C-8102-3BB77C2693F9}" destId="{5648599F-F304-432C-B508-CCBA3FDA565D}" srcOrd="0" destOrd="0" presId="urn:microsoft.com/office/officeart/2008/layout/LinedList"/>
    <dgm:cxn modelId="{9A91DB3F-C3DB-4FCB-9A00-83CAE8FE5CEA}" srcId="{28B353A4-0D62-403C-8102-3BB77C2693F9}" destId="{338C0332-9409-4C41-AA10-B8ED09B9669B}" srcOrd="0" destOrd="0" parTransId="{31FCC22C-8DC4-4D9C-B589-BF61F38718B6}" sibTransId="{264EE48C-7022-422B-BF5C-E851728772C6}"/>
    <dgm:cxn modelId="{AB139086-FAC0-40E7-8FFC-D5B5807394A6}" type="presOf" srcId="{C0D467FA-EE7B-4CBC-9166-7D07BE6AC8F0}" destId="{53B81751-C420-4874-95E8-3EA2CED960AF}" srcOrd="0" destOrd="0" presId="urn:microsoft.com/office/officeart/2008/layout/LinedList"/>
    <dgm:cxn modelId="{23A2248D-8AA4-42A3-B59D-C1FBAAA6B891}" srcId="{28B353A4-0D62-403C-8102-3BB77C2693F9}" destId="{C0D467FA-EE7B-4CBC-9166-7D07BE6AC8F0}" srcOrd="4" destOrd="0" parTransId="{570F08C9-9BFB-46FC-AA36-14B0611881D0}" sibTransId="{AC525587-9ED7-4692-A348-1358A8CDE95E}"/>
    <dgm:cxn modelId="{504CE093-7468-4589-93CC-0E637C08F7A7}" type="presOf" srcId="{688F4445-F8C0-4B6C-9353-715512747F92}" destId="{05D4B853-BC4A-4447-88CC-DE4F018B5529}" srcOrd="0" destOrd="0" presId="urn:microsoft.com/office/officeart/2008/layout/LinedList"/>
    <dgm:cxn modelId="{81E77596-E857-43A7-A33B-7FC7219B3E63}" srcId="{28B353A4-0D62-403C-8102-3BB77C2693F9}" destId="{CEFABD33-057B-47FC-9C11-5B8F6763652D}" srcOrd="1" destOrd="0" parTransId="{028E5770-BA62-4DF1-AF0D-65BA8D8D3588}" sibTransId="{ACC430B5-5B5D-4CE9-A6DB-7DD184141BB5}"/>
    <dgm:cxn modelId="{E25795A7-B4E9-4563-9FB3-D61B6E916628}" type="presOf" srcId="{CEFABD33-057B-47FC-9C11-5B8F6763652D}" destId="{612F87CD-5855-4D75-8520-0D11A364EDF7}" srcOrd="0" destOrd="0" presId="urn:microsoft.com/office/officeart/2008/layout/LinedList"/>
    <dgm:cxn modelId="{E03345AF-55A6-4B85-80C4-2512F47FE28B}" type="presOf" srcId="{489BA0A3-8268-4F05-A3B1-7D96BE5A2C45}" destId="{3FE0D26C-D06A-4410-A451-AC92FCED232C}" srcOrd="0" destOrd="0" presId="urn:microsoft.com/office/officeart/2008/layout/LinedList"/>
    <dgm:cxn modelId="{749E34B2-9BA1-461B-A9B5-421FF11D4BBA}" srcId="{588AEF6E-98DF-483E-932A-3CB5C9AE6CA2}" destId="{28B353A4-0D62-403C-8102-3BB77C2693F9}" srcOrd="0" destOrd="0" parTransId="{6CE3260D-010E-4E88-914F-C9EE2879885D}" sibTransId="{3A9FA300-4726-4436-9988-4D87D8CCBE30}"/>
    <dgm:cxn modelId="{000077D5-42E0-4A27-873E-1D6EF40EA35A}" srcId="{28B353A4-0D62-403C-8102-3BB77C2693F9}" destId="{489BA0A3-8268-4F05-A3B1-7D96BE5A2C45}" srcOrd="2" destOrd="0" parTransId="{0C2F1337-1C45-499F-A1C6-6AE338109F32}" sibTransId="{6CE55725-73C3-4899-B374-8BC2A9F029E1}"/>
    <dgm:cxn modelId="{CDCCCADD-E93C-4271-975D-2964F72FCADB}" type="presOf" srcId="{EDA7D782-E7FD-430D-9F01-EB00F1260AE7}" destId="{91C4D8EB-8E88-4223-937C-A23B1049348D}" srcOrd="0" destOrd="0" presId="urn:microsoft.com/office/officeart/2008/layout/LinedList"/>
    <dgm:cxn modelId="{0A27D8E7-9321-4634-AC9B-C98C76F29591}" type="presOf" srcId="{588AEF6E-98DF-483E-932A-3CB5C9AE6CA2}" destId="{0F96125B-6202-4A64-B6EF-D0E503D05149}" srcOrd="0" destOrd="0" presId="urn:microsoft.com/office/officeart/2008/layout/LinedList"/>
    <dgm:cxn modelId="{D552D866-4423-443A-B385-185438507955}" type="presParOf" srcId="{0F96125B-6202-4A64-B6EF-D0E503D05149}" destId="{1398B239-6770-495E-AF2D-7EC137F6DEB5}" srcOrd="0" destOrd="0" presId="urn:microsoft.com/office/officeart/2008/layout/LinedList"/>
    <dgm:cxn modelId="{7CAF0056-EAAD-4A99-B4EB-82E7F621359B}" type="presParOf" srcId="{0F96125B-6202-4A64-B6EF-D0E503D05149}" destId="{04E330B0-CF7A-4710-A44F-AEBB0A37427F}" srcOrd="1" destOrd="0" presId="urn:microsoft.com/office/officeart/2008/layout/LinedList"/>
    <dgm:cxn modelId="{CDDB2079-DCB5-4900-8191-8494637E5E9E}" type="presParOf" srcId="{04E330B0-CF7A-4710-A44F-AEBB0A37427F}" destId="{5648599F-F304-432C-B508-CCBA3FDA565D}" srcOrd="0" destOrd="0" presId="urn:microsoft.com/office/officeart/2008/layout/LinedList"/>
    <dgm:cxn modelId="{BB0565CE-CB58-423D-82A2-F0ADF8D25465}" type="presParOf" srcId="{04E330B0-CF7A-4710-A44F-AEBB0A37427F}" destId="{A62D08A6-56A0-4CCE-B944-BC1C32081C08}" srcOrd="1" destOrd="0" presId="urn:microsoft.com/office/officeart/2008/layout/LinedList"/>
    <dgm:cxn modelId="{9D5F8905-F4F7-4F28-B0DE-00F2A13CDE0C}" type="presParOf" srcId="{A62D08A6-56A0-4CCE-B944-BC1C32081C08}" destId="{DE38E265-B202-4C77-8AE0-E4BAF7530E23}" srcOrd="0" destOrd="0" presId="urn:microsoft.com/office/officeart/2008/layout/LinedList"/>
    <dgm:cxn modelId="{3CB83AB7-D8BD-4CE0-8679-B34259EEBDFA}" type="presParOf" srcId="{A62D08A6-56A0-4CCE-B944-BC1C32081C08}" destId="{61FA1B45-084D-4E97-A41C-A08775267E82}" srcOrd="1" destOrd="0" presId="urn:microsoft.com/office/officeart/2008/layout/LinedList"/>
    <dgm:cxn modelId="{D0B6AD7C-7D84-4177-836B-84DB5091ACA8}" type="presParOf" srcId="{61FA1B45-084D-4E97-A41C-A08775267E82}" destId="{09BCD03B-65DB-474B-9890-8E00C7689261}" srcOrd="0" destOrd="0" presId="urn:microsoft.com/office/officeart/2008/layout/LinedList"/>
    <dgm:cxn modelId="{D70B6377-43F0-48FF-85E5-C7D1972C4768}" type="presParOf" srcId="{61FA1B45-084D-4E97-A41C-A08775267E82}" destId="{EC0F4E7C-6F92-4C05-B836-D0177AE73345}" srcOrd="1" destOrd="0" presId="urn:microsoft.com/office/officeart/2008/layout/LinedList"/>
    <dgm:cxn modelId="{C016D519-6BCC-465F-8876-859CB5C0960D}" type="presParOf" srcId="{61FA1B45-084D-4E97-A41C-A08775267E82}" destId="{9763F955-C3B0-426F-958A-3AC69A5496D4}" srcOrd="2" destOrd="0" presId="urn:microsoft.com/office/officeart/2008/layout/LinedList"/>
    <dgm:cxn modelId="{2D3794A2-2A38-4AE8-A896-5C20A0A3C2BB}" type="presParOf" srcId="{A62D08A6-56A0-4CCE-B944-BC1C32081C08}" destId="{42E1552C-47A3-4389-9076-2E89E03D7055}" srcOrd="2" destOrd="0" presId="urn:microsoft.com/office/officeart/2008/layout/LinedList"/>
    <dgm:cxn modelId="{47261B4F-D443-4D00-8F45-D315B269EBD2}" type="presParOf" srcId="{A62D08A6-56A0-4CCE-B944-BC1C32081C08}" destId="{BD45A1B1-7EF0-40FA-A179-85CD390BDBA0}" srcOrd="3" destOrd="0" presId="urn:microsoft.com/office/officeart/2008/layout/LinedList"/>
    <dgm:cxn modelId="{66334017-AA13-4620-97AD-C80B4D2DAAF1}" type="presParOf" srcId="{A62D08A6-56A0-4CCE-B944-BC1C32081C08}" destId="{0DC61A59-F5F8-45C0-B310-DD238CBCACDC}" srcOrd="4" destOrd="0" presId="urn:microsoft.com/office/officeart/2008/layout/LinedList"/>
    <dgm:cxn modelId="{2A29FFF6-1675-4BCE-879F-B09274827AFA}" type="presParOf" srcId="{0DC61A59-F5F8-45C0-B310-DD238CBCACDC}" destId="{B0BDFEFB-6D49-4718-A284-B2A367C877E0}" srcOrd="0" destOrd="0" presId="urn:microsoft.com/office/officeart/2008/layout/LinedList"/>
    <dgm:cxn modelId="{4FFC3744-0A28-4411-A23E-EC4CD46421E4}" type="presParOf" srcId="{0DC61A59-F5F8-45C0-B310-DD238CBCACDC}" destId="{612F87CD-5855-4D75-8520-0D11A364EDF7}" srcOrd="1" destOrd="0" presId="urn:microsoft.com/office/officeart/2008/layout/LinedList"/>
    <dgm:cxn modelId="{5A50B5AC-7C2E-43B6-A03E-FC4776D9463B}" type="presParOf" srcId="{0DC61A59-F5F8-45C0-B310-DD238CBCACDC}" destId="{CD1FF444-8C5E-40C0-9FA6-75EC4AB3D77A}" srcOrd="2" destOrd="0" presId="urn:microsoft.com/office/officeart/2008/layout/LinedList"/>
    <dgm:cxn modelId="{4F6EB93F-0CD5-498D-81EE-56203C431ADD}" type="presParOf" srcId="{A62D08A6-56A0-4CCE-B944-BC1C32081C08}" destId="{482EE71B-1FB0-40BB-806D-EA9A3843B313}" srcOrd="5" destOrd="0" presId="urn:microsoft.com/office/officeart/2008/layout/LinedList"/>
    <dgm:cxn modelId="{341D4DCF-BF65-43DD-8814-D8C5542040E9}" type="presParOf" srcId="{A62D08A6-56A0-4CCE-B944-BC1C32081C08}" destId="{55142970-DD23-4B60-93AD-79ECDB93E349}" srcOrd="6" destOrd="0" presId="urn:microsoft.com/office/officeart/2008/layout/LinedList"/>
    <dgm:cxn modelId="{332E8180-A950-4D37-9F32-8C34143A5CB4}" type="presParOf" srcId="{A62D08A6-56A0-4CCE-B944-BC1C32081C08}" destId="{0A9A95F1-F523-4058-B460-8BA6B31050EE}" srcOrd="7" destOrd="0" presId="urn:microsoft.com/office/officeart/2008/layout/LinedList"/>
    <dgm:cxn modelId="{2EC4F1BF-F8FD-4811-9ECE-E3890E42DA12}" type="presParOf" srcId="{0A9A95F1-F523-4058-B460-8BA6B31050EE}" destId="{E319AB3A-F40D-43B0-95A7-B2D5FCB5A02D}" srcOrd="0" destOrd="0" presId="urn:microsoft.com/office/officeart/2008/layout/LinedList"/>
    <dgm:cxn modelId="{4A540448-B401-4A12-BC4C-0316C9EFE29C}" type="presParOf" srcId="{0A9A95F1-F523-4058-B460-8BA6B31050EE}" destId="{3FE0D26C-D06A-4410-A451-AC92FCED232C}" srcOrd="1" destOrd="0" presId="urn:microsoft.com/office/officeart/2008/layout/LinedList"/>
    <dgm:cxn modelId="{462D0D26-08A2-470B-98E8-27161B0F8C95}" type="presParOf" srcId="{0A9A95F1-F523-4058-B460-8BA6B31050EE}" destId="{CAA2EC53-D289-4E64-B1C8-3D808C4F9CBD}" srcOrd="2" destOrd="0" presId="urn:microsoft.com/office/officeart/2008/layout/LinedList"/>
    <dgm:cxn modelId="{2EC48C65-3519-42B8-BB2C-9D9CBC1527A9}" type="presParOf" srcId="{A62D08A6-56A0-4CCE-B944-BC1C32081C08}" destId="{25C03B55-95D9-4FE0-9AF1-DB785606863C}" srcOrd="8" destOrd="0" presId="urn:microsoft.com/office/officeart/2008/layout/LinedList"/>
    <dgm:cxn modelId="{31A45E0E-E72D-4F53-A08B-CCAA9C234E88}" type="presParOf" srcId="{A62D08A6-56A0-4CCE-B944-BC1C32081C08}" destId="{61E01C45-088A-4AA5-98AC-60784D298FC0}" srcOrd="9" destOrd="0" presId="urn:microsoft.com/office/officeart/2008/layout/LinedList"/>
    <dgm:cxn modelId="{DFD8A21F-D27D-4AC6-8B27-6596611D104D}" type="presParOf" srcId="{A62D08A6-56A0-4CCE-B944-BC1C32081C08}" destId="{F7BA0808-ACD9-4D0D-89C1-6BBEA925100A}" srcOrd="10" destOrd="0" presId="urn:microsoft.com/office/officeart/2008/layout/LinedList"/>
    <dgm:cxn modelId="{15C30620-6ECC-4C1D-87F2-00C5958D9E13}" type="presParOf" srcId="{F7BA0808-ACD9-4D0D-89C1-6BBEA925100A}" destId="{0A0A34ED-5B71-4ECC-9B4F-E07644820D91}" srcOrd="0" destOrd="0" presId="urn:microsoft.com/office/officeart/2008/layout/LinedList"/>
    <dgm:cxn modelId="{447D5351-CCBB-4E78-85B7-D03CC818AF1F}" type="presParOf" srcId="{F7BA0808-ACD9-4D0D-89C1-6BBEA925100A}" destId="{91C4D8EB-8E88-4223-937C-A23B1049348D}" srcOrd="1" destOrd="0" presId="urn:microsoft.com/office/officeart/2008/layout/LinedList"/>
    <dgm:cxn modelId="{FD7C7B25-BB76-4D24-9404-ACD6831D2800}" type="presParOf" srcId="{F7BA0808-ACD9-4D0D-89C1-6BBEA925100A}" destId="{17C2F185-3520-411F-85F2-D85DEBFA2E6B}" srcOrd="2" destOrd="0" presId="urn:microsoft.com/office/officeart/2008/layout/LinedList"/>
    <dgm:cxn modelId="{88CE3F55-829C-4519-9C4C-7087C952AB2B}" type="presParOf" srcId="{A62D08A6-56A0-4CCE-B944-BC1C32081C08}" destId="{DFD95A49-6E13-4479-9899-65D7813A8C3E}" srcOrd="11" destOrd="0" presId="urn:microsoft.com/office/officeart/2008/layout/LinedList"/>
    <dgm:cxn modelId="{A3D9784E-6387-43F1-B27A-945F62FBCC40}" type="presParOf" srcId="{A62D08A6-56A0-4CCE-B944-BC1C32081C08}" destId="{BAA19669-F1CA-4C58-A4E4-ACB1C8A11DF3}" srcOrd="12" destOrd="0" presId="urn:microsoft.com/office/officeart/2008/layout/LinedList"/>
    <dgm:cxn modelId="{8E390A68-1F75-4BEA-A9B5-7828053547EB}" type="presParOf" srcId="{A62D08A6-56A0-4CCE-B944-BC1C32081C08}" destId="{E89AC8A5-238E-4533-8733-6DF4EA774438}" srcOrd="13" destOrd="0" presId="urn:microsoft.com/office/officeart/2008/layout/LinedList"/>
    <dgm:cxn modelId="{5001D169-E525-423A-B54F-708B2A8729A7}" type="presParOf" srcId="{E89AC8A5-238E-4533-8733-6DF4EA774438}" destId="{35B946F5-D053-4025-BE6C-5F99F8DE3484}" srcOrd="0" destOrd="0" presId="urn:microsoft.com/office/officeart/2008/layout/LinedList"/>
    <dgm:cxn modelId="{24B68B6A-ED43-4A3E-BCCA-B43BB0FBE65F}" type="presParOf" srcId="{E89AC8A5-238E-4533-8733-6DF4EA774438}" destId="{53B81751-C420-4874-95E8-3EA2CED960AF}" srcOrd="1" destOrd="0" presId="urn:microsoft.com/office/officeart/2008/layout/LinedList"/>
    <dgm:cxn modelId="{736AD037-0D77-4C37-B0DD-A74B5954DC78}" type="presParOf" srcId="{E89AC8A5-238E-4533-8733-6DF4EA774438}" destId="{1E706854-79EF-4141-9697-81ACBC3AF1F7}" srcOrd="2" destOrd="0" presId="urn:microsoft.com/office/officeart/2008/layout/LinedList"/>
    <dgm:cxn modelId="{99ED5BEA-50C6-48E0-9FAF-465DAF44B354}" type="presParOf" srcId="{A62D08A6-56A0-4CCE-B944-BC1C32081C08}" destId="{ED6E751F-71E9-411A-8CF3-18BA032F921A}" srcOrd="14" destOrd="0" presId="urn:microsoft.com/office/officeart/2008/layout/LinedList"/>
    <dgm:cxn modelId="{9CF38677-2FDC-4B5B-B197-7815334DF222}" type="presParOf" srcId="{A62D08A6-56A0-4CCE-B944-BC1C32081C08}" destId="{0E792B22-581A-4707-871A-ABCC9710DFB9}" srcOrd="15" destOrd="0" presId="urn:microsoft.com/office/officeart/2008/layout/LinedList"/>
    <dgm:cxn modelId="{1E310A14-4783-48D3-ABEB-4FAE298E63DA}" type="presParOf" srcId="{A62D08A6-56A0-4CCE-B944-BC1C32081C08}" destId="{C2EC6B52-6077-4BB0-A295-EC9C1AAD624D}" srcOrd="16" destOrd="0" presId="urn:microsoft.com/office/officeart/2008/layout/LinedList"/>
    <dgm:cxn modelId="{F6D0B72B-4E95-42C6-942D-D2351D78EC05}" type="presParOf" srcId="{C2EC6B52-6077-4BB0-A295-EC9C1AAD624D}" destId="{7EA465C4-0B9D-44C8-AE26-A2FBF04CE80E}" srcOrd="0" destOrd="0" presId="urn:microsoft.com/office/officeart/2008/layout/LinedList"/>
    <dgm:cxn modelId="{BC7FF36B-B0CE-4275-AE90-DB078EAE70CA}" type="presParOf" srcId="{C2EC6B52-6077-4BB0-A295-EC9C1AAD624D}" destId="{05D4B853-BC4A-4447-88CC-DE4F018B5529}" srcOrd="1" destOrd="0" presId="urn:microsoft.com/office/officeart/2008/layout/LinedList"/>
    <dgm:cxn modelId="{15C339AD-FB3C-4779-A643-5406AE1A956B}" type="presParOf" srcId="{C2EC6B52-6077-4BB0-A295-EC9C1AAD624D}" destId="{E56F4B75-3CBD-4142-8312-5443918EA08C}" srcOrd="2" destOrd="0" presId="urn:microsoft.com/office/officeart/2008/layout/LinedList"/>
    <dgm:cxn modelId="{59789C76-EAA3-436A-B4BA-3DCBF0E8D3BF}" type="presParOf" srcId="{A62D08A6-56A0-4CCE-B944-BC1C32081C08}" destId="{B5DDAB02-999F-4111-A359-6C8D6D7BB1EF}" srcOrd="17" destOrd="0" presId="urn:microsoft.com/office/officeart/2008/layout/LinedList"/>
    <dgm:cxn modelId="{5F618F15-05FE-4249-92E4-CF0046CD9B60}" type="presParOf" srcId="{A62D08A6-56A0-4CCE-B944-BC1C32081C08}" destId="{B4A246F9-EC99-415E-8468-62D2913CD64C}" srcOrd="18" destOrd="0" presId="urn:microsoft.com/office/officeart/2008/layout/LinedList"/>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398B239-6770-495E-AF2D-7EC137F6DEB5}">
      <dsp:nvSpPr>
        <dsp:cNvPr id="0" name=""/>
        <dsp:cNvSpPr/>
      </dsp:nvSpPr>
      <dsp:spPr>
        <a:xfrm>
          <a:off x="0" y="0"/>
          <a:ext cx="6242393" cy="0"/>
        </a:xfrm>
        <a:prstGeom prst="line">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648599F-F304-432C-B508-CCBA3FDA565D}">
      <dsp:nvSpPr>
        <dsp:cNvPr id="0" name=""/>
        <dsp:cNvSpPr/>
      </dsp:nvSpPr>
      <dsp:spPr>
        <a:xfrm>
          <a:off x="0" y="0"/>
          <a:ext cx="1248478" cy="50604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b="1" kern="1200"/>
            <a:t>Why did not FARSITE, Prometheus, or WRF-Fire</a:t>
          </a:r>
          <a:r>
            <a:rPr lang="tr-TR" sz="1600" b="1" kern="1200"/>
            <a:t> be used</a:t>
          </a:r>
          <a:r>
            <a:rPr lang="en-US" sz="1600" b="1" kern="1200"/>
            <a:t>? </a:t>
          </a:r>
          <a:endParaRPr lang="tr-TR" sz="1600" kern="1200"/>
        </a:p>
      </dsp:txBody>
      <dsp:txXfrm>
        <a:off x="0" y="0"/>
        <a:ext cx="1248478" cy="5060405"/>
      </dsp:txXfrm>
    </dsp:sp>
    <dsp:sp modelId="{EC0F4E7C-6F92-4C05-B836-D0177AE73345}">
      <dsp:nvSpPr>
        <dsp:cNvPr id="0" name=""/>
        <dsp:cNvSpPr/>
      </dsp:nvSpPr>
      <dsp:spPr>
        <a:xfrm>
          <a:off x="1342114" y="39843"/>
          <a:ext cx="4900278" cy="796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i="1" kern="1200" dirty="0"/>
            <a:t>evidence about the decision layer, not fire realism</a:t>
          </a:r>
          <a:endParaRPr lang="en-US" sz="2200" kern="1200" dirty="0"/>
        </a:p>
      </dsp:txBody>
      <dsp:txXfrm>
        <a:off x="1342114" y="39843"/>
        <a:ext cx="4900278" cy="796865"/>
      </dsp:txXfrm>
    </dsp:sp>
    <dsp:sp modelId="{42E1552C-47A3-4389-9076-2E89E03D7055}">
      <dsp:nvSpPr>
        <dsp:cNvPr id="0" name=""/>
        <dsp:cNvSpPr/>
      </dsp:nvSpPr>
      <dsp:spPr>
        <a:xfrm>
          <a:off x="1248478" y="836708"/>
          <a:ext cx="4993914" cy="0"/>
        </a:xfrm>
        <a:prstGeom prst="line">
          <a:avLst/>
        </a:prstGeom>
        <a:solidFill>
          <a:schemeClr val="dk1">
            <a:hueOff val="0"/>
            <a:satOff val="0"/>
            <a:lumOff val="0"/>
            <a:alphaOff val="0"/>
          </a:schemeClr>
        </a:solidFill>
        <a:ln w="12700" cap="flat" cmpd="sng" algn="ctr">
          <a:solidFill>
            <a:schemeClr val="dk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12F87CD-5855-4D75-8520-0D11A364EDF7}">
      <dsp:nvSpPr>
        <dsp:cNvPr id="0" name=""/>
        <dsp:cNvSpPr/>
      </dsp:nvSpPr>
      <dsp:spPr>
        <a:xfrm>
          <a:off x="1342114" y="876552"/>
          <a:ext cx="4900278" cy="796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i="1" kern="1200"/>
            <a:t>same seed, same fire: exact repeats for fair comparisons</a:t>
          </a:r>
          <a:endParaRPr lang="en-US" sz="2200" i="1" kern="1200" dirty="0"/>
        </a:p>
      </dsp:txBody>
      <dsp:txXfrm>
        <a:off x="1342114" y="876552"/>
        <a:ext cx="4900278" cy="796865"/>
      </dsp:txXfrm>
    </dsp:sp>
    <dsp:sp modelId="{482EE71B-1FB0-40BB-806D-EA9A3843B313}">
      <dsp:nvSpPr>
        <dsp:cNvPr id="0" name=""/>
        <dsp:cNvSpPr/>
      </dsp:nvSpPr>
      <dsp:spPr>
        <a:xfrm>
          <a:off x="1248478" y="1673417"/>
          <a:ext cx="4993914" cy="0"/>
        </a:xfrm>
        <a:prstGeom prst="line">
          <a:avLst/>
        </a:prstGeom>
        <a:solidFill>
          <a:schemeClr val="dk1">
            <a:hueOff val="0"/>
            <a:satOff val="0"/>
            <a:lumOff val="0"/>
            <a:alphaOff val="0"/>
          </a:schemeClr>
        </a:solidFill>
        <a:ln w="12700" cap="flat" cmpd="sng" algn="ctr">
          <a:solidFill>
            <a:schemeClr val="dk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FE0D26C-D06A-4410-A451-AC92FCED232C}">
      <dsp:nvSpPr>
        <dsp:cNvPr id="0" name=""/>
        <dsp:cNvSpPr/>
      </dsp:nvSpPr>
      <dsp:spPr>
        <a:xfrm>
          <a:off x="1342114" y="1713260"/>
          <a:ext cx="4900278" cy="796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i="1" kern="1200" dirty="0"/>
            <a:t>fast enough for thousands of what-if runs</a:t>
          </a:r>
        </a:p>
      </dsp:txBody>
      <dsp:txXfrm>
        <a:off x="1342114" y="1713260"/>
        <a:ext cx="4900278" cy="796865"/>
      </dsp:txXfrm>
    </dsp:sp>
    <dsp:sp modelId="{25C03B55-95D9-4FE0-9AF1-DB785606863C}">
      <dsp:nvSpPr>
        <dsp:cNvPr id="0" name=""/>
        <dsp:cNvSpPr/>
      </dsp:nvSpPr>
      <dsp:spPr>
        <a:xfrm>
          <a:off x="1248478" y="2510126"/>
          <a:ext cx="4993914" cy="0"/>
        </a:xfrm>
        <a:prstGeom prst="line">
          <a:avLst/>
        </a:prstGeom>
        <a:solidFill>
          <a:schemeClr val="dk1">
            <a:hueOff val="0"/>
            <a:satOff val="0"/>
            <a:lumOff val="0"/>
            <a:alphaOff val="0"/>
          </a:schemeClr>
        </a:solidFill>
        <a:ln w="12700" cap="flat" cmpd="sng" algn="ctr">
          <a:solidFill>
            <a:schemeClr val="dk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1C4D8EB-8E88-4223-937C-A23B1049348D}">
      <dsp:nvSpPr>
        <dsp:cNvPr id="0" name=""/>
        <dsp:cNvSpPr/>
      </dsp:nvSpPr>
      <dsp:spPr>
        <a:xfrm>
          <a:off x="1342114" y="2549969"/>
          <a:ext cx="4900278" cy="796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i="1" kern="1200" dirty="0"/>
            <a:t>interventions only through a fixed, checkable interface</a:t>
          </a:r>
        </a:p>
      </dsp:txBody>
      <dsp:txXfrm>
        <a:off x="1342114" y="2549969"/>
        <a:ext cx="4900278" cy="796865"/>
      </dsp:txXfrm>
    </dsp:sp>
    <dsp:sp modelId="{DFD95A49-6E13-4479-9899-65D7813A8C3E}">
      <dsp:nvSpPr>
        <dsp:cNvPr id="0" name=""/>
        <dsp:cNvSpPr/>
      </dsp:nvSpPr>
      <dsp:spPr>
        <a:xfrm>
          <a:off x="1248478" y="3346835"/>
          <a:ext cx="4993914" cy="0"/>
        </a:xfrm>
        <a:prstGeom prst="line">
          <a:avLst/>
        </a:prstGeom>
        <a:solidFill>
          <a:schemeClr val="dk1">
            <a:hueOff val="0"/>
            <a:satOff val="0"/>
            <a:lumOff val="0"/>
            <a:alphaOff val="0"/>
          </a:schemeClr>
        </a:solidFill>
        <a:ln w="12700" cap="flat" cmpd="sng" algn="ctr">
          <a:solidFill>
            <a:schemeClr val="dk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3B81751-C420-4874-95E8-3EA2CED960AF}">
      <dsp:nvSpPr>
        <dsp:cNvPr id="0" name=""/>
        <dsp:cNvSpPr/>
      </dsp:nvSpPr>
      <dsp:spPr>
        <a:xfrm>
          <a:off x="1342114" y="3386678"/>
          <a:ext cx="4900278" cy="796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i="1" kern="1200"/>
            <a:t>fidelity validated: 86–94% agreement and POD 85–97%</a:t>
          </a:r>
          <a:endParaRPr lang="en-US" sz="2200" i="1" kern="1200" dirty="0"/>
        </a:p>
      </dsp:txBody>
      <dsp:txXfrm>
        <a:off x="1342114" y="3386678"/>
        <a:ext cx="4900278" cy="796865"/>
      </dsp:txXfrm>
    </dsp:sp>
    <dsp:sp modelId="{ED6E751F-71E9-411A-8CF3-18BA032F921A}">
      <dsp:nvSpPr>
        <dsp:cNvPr id="0" name=""/>
        <dsp:cNvSpPr/>
      </dsp:nvSpPr>
      <dsp:spPr>
        <a:xfrm>
          <a:off x="1248478" y="4183544"/>
          <a:ext cx="4993914" cy="0"/>
        </a:xfrm>
        <a:prstGeom prst="line">
          <a:avLst/>
        </a:prstGeom>
        <a:solidFill>
          <a:schemeClr val="dk1">
            <a:hueOff val="0"/>
            <a:satOff val="0"/>
            <a:lumOff val="0"/>
            <a:alphaOff val="0"/>
          </a:schemeClr>
        </a:solidFill>
        <a:ln w="12700" cap="flat" cmpd="sng" algn="ctr">
          <a:solidFill>
            <a:schemeClr val="dk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5D4B853-BC4A-4447-88CC-DE4F018B5529}">
      <dsp:nvSpPr>
        <dsp:cNvPr id="0" name=""/>
        <dsp:cNvSpPr/>
      </dsp:nvSpPr>
      <dsp:spPr>
        <a:xfrm>
          <a:off x="1342114" y="4223387"/>
          <a:ext cx="4900278" cy="796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i="1" kern="1200"/>
            <a:t>a higher-fidelity core can be integrated, the DSS stays untouched</a:t>
          </a:r>
          <a:endParaRPr lang="en-US" sz="2200" i="1" kern="1200" dirty="0"/>
        </a:p>
      </dsp:txBody>
      <dsp:txXfrm>
        <a:off x="1342114" y="4223387"/>
        <a:ext cx="4900278" cy="796865"/>
      </dsp:txXfrm>
    </dsp:sp>
    <dsp:sp modelId="{B5DDAB02-999F-4111-A359-6C8D6D7BB1EF}">
      <dsp:nvSpPr>
        <dsp:cNvPr id="0" name=""/>
        <dsp:cNvSpPr/>
      </dsp:nvSpPr>
      <dsp:spPr>
        <a:xfrm>
          <a:off x="1248478" y="5020252"/>
          <a:ext cx="4993914" cy="0"/>
        </a:xfrm>
        <a:prstGeom prst="line">
          <a:avLst/>
        </a:prstGeom>
        <a:solidFill>
          <a:schemeClr val="dk1">
            <a:hueOff val="0"/>
            <a:satOff val="0"/>
            <a:lumOff val="0"/>
            <a:alphaOff val="0"/>
          </a:schemeClr>
        </a:solidFill>
        <a:ln w="12700" cap="flat" cmpd="sng" algn="ctr">
          <a:solidFill>
            <a:schemeClr val="dk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5544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401.xml.rels><?xml version="1.0" encoding="UTF-8" standalone="yes"?>
<Relationships xmlns="http://schemas.openxmlformats.org/package/2006/relationships"><Relationship Id="rId2" Type="http://schemas.openxmlformats.org/officeDocument/2006/relationships/slide" Target="../slides/slide4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Good morning. This thesis is DisasterAware: an AI supported decision system for wildfire response.</a:t>
            </a:r>
          </a:p>
          <a:p>
            <a:r>
              <a:rPr lang="en-US" sz="1400"/>
              <a:t>- One sentence: it keeps the decision space OPEN, and every decision VERIFIED and TRACEABLE.</a:t>
            </a:r>
          </a:p>
          <a:p>
            <a:r>
              <a:rPr lang="en-US" sz="1400"/>
              <a:t/>
            </a:r>
          </a:p>
          <a:p>
            <a:r>
              <a:rPr lang="en-US" sz="1400"/>
              <a:t>SÖYLE: Günaydın. Bu tez DisasterAware: orman yangını müdahalesi için yapay zeka destekli bir karar destek sistemi.</a:t>
            </a:r>
          </a:p>
          <a:p>
            <a:r>
              <a:rPr lang="en-US" sz="1400"/>
              <a:t>- Tek cümle: karar uzayını AÇIK tutar; her karar DOĞRULANIR ve İZLENEBİLİR.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Five parts, following the thesis argument.</a:t>
            </a:r>
          </a:p>
          <a:p>
            <a:r>
              <a:rPr lang="en-US" sz="1400"/>
              <a:t>- Problem and gaps / simulation ground / the four-layer DSS / the open decision space (the contribution) / evidence and conclusion.</a:t>
            </a:r>
          </a:p>
          <a:p>
            <a:r>
              <a:rPr lang="en-US" sz="1400"/>
              <a:t/>
            </a:r>
          </a:p>
          <a:p>
            <a:r>
              <a:rPr lang="en-US" sz="1400"/>
              <a:t>SÖYLE: Tez argümanını izleyen beş bölüm.</a:t>
            </a:r>
          </a:p>
          <a:p>
            <a:r>
              <a:rPr lang="en-US" sz="1400"/>
              <a:t>- Problem ve boşluklar / simülasyon zemini / dört katmanlı DSS / açık karar uzayı (ana katkı) / kanıt ve sonuç.</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One breath: why this problem. Move on.</a:t>
            </a:r>
          </a:p>
          <a:p>
            <a:r>
              <a:rPr lang="en-US" sz="1400"/>
              <a:t/>
            </a:r>
          </a:p>
          <a:p>
            <a:r>
              <a:rPr lang="en-US" sz="1400"/>
              <a:t>SÖYLE: Tek nefes: bu problem neden. Geç.</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6449913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DECA6-C81C-E58F-AAE5-FE48E26343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4EB24C-3365-6CA2-83D4-7C50BFC4B4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692E38-163F-9AE1-A688-FEFAFE003448}"/>
              </a:ext>
            </a:extLst>
          </p:cNvPr>
          <p:cNvSpPr>
            <a:spLocks noGrp="1"/>
          </p:cNvSpPr>
          <p:nvPr>
            <p:ph type="body" idx="1"/>
          </p:nvPr>
        </p:nvSpPr>
        <p:spPr/>
        <p:txBody>
          <a:bodyPr/>
          <a:lstStyle/>
          <a:p>
            <a:r>
              <a:rPr lang="en-US" sz="1400" b="1"/>
              <a:t>SAY: Decision support is everywhere; disaster response is where it lags the most.</a:t>
            </a:r>
          </a:p>
          <a:p>
            <a:r>
              <a:rPr lang="en-US" sz="1400"/>
              <a:t/>
            </a:r>
          </a:p>
          <a:p>
            <a:r>
              <a:rPr lang="en-US" sz="1400"/>
              <a:t>SÖYLE: Karar desteği her yerde; en çok geride kaldığı yer afet müdahalesi.</a:t>
            </a:r>
          </a:p>
          <a:p>
            <a:endParaRPr dirty="0"/>
          </a:p>
        </p:txBody>
      </p:sp>
      <p:sp>
        <p:nvSpPr>
          <p:cNvPr id="4" name="Slide Number Placeholder 3">
            <a:extLst>
              <a:ext uri="{FF2B5EF4-FFF2-40B4-BE49-F238E27FC236}">
                <a16:creationId xmlns:a16="http://schemas.microsoft.com/office/drawing/2014/main" id="{9137B970-3BCD-6C92-FD56-1A9B87BE7B0B}"/>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2313807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0D60F2-1D89-2A2F-A6B1-2B6E6342AE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A8943A-E419-5F06-6A79-53138EB067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79C231-7CDF-911A-8CFF-48FE9A3F54F8}"/>
              </a:ext>
            </a:extLst>
          </p:cNvPr>
          <p:cNvSpPr>
            <a:spLocks noGrp="1"/>
          </p:cNvSpPr>
          <p:nvPr>
            <p:ph type="body" idx="1"/>
          </p:nvPr>
        </p:nvSpPr>
        <p:spPr/>
        <p:txBody>
          <a:bodyPr/>
          <a:lstStyle/>
          <a:p>
            <a:r>
              <a:rPr lang="en-US" sz="1400" b="1"/>
              <a:t>SAY: Reported disasters 1970 to 2024 keep rising; weather and climate driven events dominate.</a:t>
            </a:r>
          </a:p>
          <a:p>
            <a:r>
              <a:rPr lang="en-US" sz="1400"/>
              <a:t>- Wildfire is the fastest moving of them.</a:t>
            </a:r>
          </a:p>
          <a:p>
            <a:r>
              <a:rPr lang="en-US" sz="1400"/>
              <a:t/>
            </a:r>
          </a:p>
          <a:p>
            <a:r>
              <a:rPr lang="en-US" sz="1400"/>
              <a:t>SÖYLE: 1970-2024 arası rapor edilen afetler artıyor; hava ve iklim kaynaklılar baskın.</a:t>
            </a:r>
          </a:p>
          <a:p>
            <a:r>
              <a:rPr lang="en-US" sz="1400"/>
              <a:t>- Orman yangını içlerinde en hızlı gelişenidir.</a:t>
            </a:r>
          </a:p>
          <a:p>
            <a:endParaRPr dirty="0"/>
          </a:p>
        </p:txBody>
      </p:sp>
      <p:sp>
        <p:nvSpPr>
          <p:cNvPr id="4" name="Slide Number Placeholder 3">
            <a:extLst>
              <a:ext uri="{FF2B5EF4-FFF2-40B4-BE49-F238E27FC236}">
                <a16:creationId xmlns:a16="http://schemas.microsoft.com/office/drawing/2014/main" id="{690FD102-2E89-825B-B70F-72D55F88A32B}"/>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9209399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CCFC6-5CF2-D8F0-7DD9-4789783DE8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D152EC-E964-1EC2-7B50-5EB2A4256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E7E1E7-38FC-D659-2608-DC514E936F57}"/>
              </a:ext>
            </a:extLst>
          </p:cNvPr>
          <p:cNvSpPr>
            <a:spLocks noGrp="1"/>
          </p:cNvSpPr>
          <p:nvPr>
            <p:ph type="body" idx="1"/>
          </p:nvPr>
        </p:nvSpPr>
        <p:spPr/>
        <p:txBody>
          <a:bodyPr/>
          <a:lstStyle/>
          <a:p>
            <a:r>
              <a:rPr lang="en-US" sz="1400" b="1"/>
              <a:t>SAY: A wildfire decision has minutes, not hours.</a:t>
            </a:r>
          </a:p>
          <a:p>
            <a:r>
              <a:rPr lang="en-US" sz="1400"/>
              <a:t/>
            </a:r>
          </a:p>
          <a:p>
            <a:r>
              <a:rPr lang="en-US" sz="1400"/>
              <a:t>SÖYLE: Bir yangın kararı için saatler değil dakikalar vardır.</a:t>
            </a:r>
          </a:p>
          <a:p>
            <a:endParaRPr dirty="0"/>
          </a:p>
        </p:txBody>
      </p:sp>
      <p:sp>
        <p:nvSpPr>
          <p:cNvPr id="4" name="Slide Number Placeholder 3">
            <a:extLst>
              <a:ext uri="{FF2B5EF4-FFF2-40B4-BE49-F238E27FC236}">
                <a16:creationId xmlns:a16="http://schemas.microsoft.com/office/drawing/2014/main" id="{9E0A7B6A-7084-5959-CD7B-5E0F7453E525}"/>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8899871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8AA7D-77C0-8FCC-B99D-42A9B24093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86B11C-0224-20A5-89A1-DEACD148B0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9D0D2-BBB5-DD89-148B-2A38299993F5}"/>
              </a:ext>
            </a:extLst>
          </p:cNvPr>
          <p:cNvSpPr>
            <a:spLocks noGrp="1"/>
          </p:cNvSpPr>
          <p:nvPr>
            <p:ph type="body" idx="1"/>
          </p:nvPr>
        </p:nvSpPr>
        <p:spPr/>
        <p:txBody>
          <a:bodyPr/>
          <a:lstStyle/>
          <a:p>
            <a:r>
              <a:rPr lang="en-US" sz="1400" b="1"/>
              <a:t>SAY: Read the sentence: a fixed menu cannot answer an evolving fire.</a:t>
            </a:r>
          </a:p>
          <a:p>
            <a:r>
              <a:rPr lang="en-US" sz="1400"/>
              <a:t/>
            </a:r>
          </a:p>
          <a:p>
            <a:r>
              <a:rPr lang="en-US" sz="1400"/>
              <a:t>SÖYLE: Cümleyi oku: sabit bir menü, evrilen bir yangina cevap veremez.</a:t>
            </a:r>
          </a:p>
          <a:p>
            <a:endParaRPr dirty="0"/>
          </a:p>
        </p:txBody>
      </p:sp>
      <p:sp>
        <p:nvSpPr>
          <p:cNvPr id="4" name="Slide Number Placeholder 3">
            <a:extLst>
              <a:ext uri="{FF2B5EF4-FFF2-40B4-BE49-F238E27FC236}">
                <a16:creationId xmlns:a16="http://schemas.microsoft.com/office/drawing/2014/main" id="{03417A3F-6303-ECD9-E829-D146F579D8E1}"/>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7401227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D879D-3650-746C-3D81-E672C2F028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0BB6D7-0873-1CF9-B287-765806EC91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50B8ED-DFFA-A786-1922-ABC497D7E647}"/>
              </a:ext>
            </a:extLst>
          </p:cNvPr>
          <p:cNvSpPr>
            <a:spLocks noGrp="1"/>
          </p:cNvSpPr>
          <p:nvPr>
            <p:ph type="body" idx="1"/>
          </p:nvPr>
        </p:nvSpPr>
        <p:spPr/>
        <p:txBody>
          <a:bodyPr/>
          <a:lstStyle/>
          <a:p>
            <a:r>
              <a:rPr lang="en-US" sz="1400" b="1"/>
              <a:t>SAY: Three operational facts, one gap.</a:t>
            </a:r>
          </a:p>
          <a:p>
            <a:r>
              <a:rPr lang="en-US" sz="1400"/>
              <a:t>- Fire shifts faster than a fixed plan follows.</a:t>
            </a:r>
          </a:p>
          <a:p>
            <a:r>
              <a:rPr lang="en-US" sz="1400"/>
              <a:t>- Observations arrive incomplete, delayed, with varying confidence.</a:t>
            </a:r>
          </a:p>
          <a:p>
            <a:r>
              <a:rPr lang="en-US" sz="1400"/>
              <a:t>- A commander needs a defensible order within the cycle.</a:t>
            </a:r>
          </a:p>
          <a:p>
            <a:r>
              <a:rPr lang="en-US" sz="1400"/>
              <a:t>- Existing DSS confirm decisions; they do not generate or adapt them.</a:t>
            </a:r>
          </a:p>
          <a:p>
            <a:r>
              <a:rPr lang="en-US" sz="1400"/>
              <a:t/>
            </a:r>
          </a:p>
          <a:p>
            <a:r>
              <a:rPr lang="en-US" sz="1400"/>
              <a:t>SÖYLE: Üç operasyonel gerçek, tek boşluk.</a:t>
            </a:r>
          </a:p>
          <a:p>
            <a:r>
              <a:rPr lang="en-US" sz="1400"/>
              <a:t>- Yangın, sabit planın izleyebileceğinden hızlı değişir.</a:t>
            </a:r>
          </a:p>
          <a:p>
            <a:r>
              <a:rPr lang="en-US" sz="1400"/>
              <a:t>- Gözlemler eksik, gecikmeli, değişken güvenle gelir.</a:t>
            </a:r>
          </a:p>
          <a:p>
            <a:r>
              <a:rPr lang="en-US" sz="1400"/>
              <a:t>- Komutan, çevrim içinde savunulabilir bir emir ister.</a:t>
            </a:r>
          </a:p>
          <a:p>
            <a:r>
              <a:rPr lang="en-US" sz="1400"/>
              <a:t>- Mevcut DSS'ler kararı onaylar; üretmez ve uyarlamaz.</a:t>
            </a:r>
          </a:p>
          <a:p>
            <a:endParaRPr dirty="0"/>
          </a:p>
        </p:txBody>
      </p:sp>
      <p:sp>
        <p:nvSpPr>
          <p:cNvPr id="4" name="Slide Number Placeholder 3">
            <a:extLst>
              <a:ext uri="{FF2B5EF4-FFF2-40B4-BE49-F238E27FC236}">
                <a16:creationId xmlns:a16="http://schemas.microsoft.com/office/drawing/2014/main" id="{E835746C-20D7-DD61-3B91-38E0B1C27A10}"/>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6384686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1948A-1763-35F7-8A06-46D43EACD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18DCD2-0706-32EB-CB5D-43545FE592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959685-0D20-5BCE-383B-227B83A06CDB}"/>
              </a:ext>
            </a:extLst>
          </p:cNvPr>
          <p:cNvSpPr>
            <a:spLocks noGrp="1"/>
          </p:cNvSpPr>
          <p:nvPr>
            <p:ph type="body" idx="1"/>
          </p:nvPr>
        </p:nvSpPr>
        <p:spPr/>
        <p:txBody>
          <a:bodyPr/>
          <a:lstStyle/>
          <a:p>
            <a:r>
              <a:rPr lang="en-US" sz="1400" b="1"/>
              <a:t>SAY: The research question, verbatim: can a DSS keep its decision space open, its reasoning traceable, and its tempo operational, at the same time?</a:t>
            </a:r>
          </a:p>
          <a:p>
            <a:r>
              <a:rPr lang="en-US" sz="1400"/>
              <a:t/>
            </a:r>
          </a:p>
          <a:p>
            <a:r>
              <a:rPr lang="en-US" sz="1400"/>
              <a:t>SÖYLE: Araştırma sorusu aynen: bir DSS aynı anda karar uzayını açık, akıl yürütmesini izlenebilir, temposunu operasyonel tutabilir mi?</a:t>
            </a:r>
          </a:p>
          <a:p>
            <a:endParaRPr dirty="0"/>
          </a:p>
        </p:txBody>
      </p:sp>
      <p:sp>
        <p:nvSpPr>
          <p:cNvPr id="4" name="Slide Number Placeholder 3">
            <a:extLst>
              <a:ext uri="{FF2B5EF4-FFF2-40B4-BE49-F238E27FC236}">
                <a16:creationId xmlns:a16="http://schemas.microsoft.com/office/drawing/2014/main" id="{B76184C4-99B6-08E9-233B-6B87E27CDECA}"/>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4513721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Three gaps, three hypotheses, three contributions: one line each.</a:t>
            </a:r>
          </a:p>
          <a:p>
            <a:r>
              <a:rPr lang="en-US" sz="1400"/>
              <a:t>- G1 closed spaces -&gt; H1 open and timely -&gt; C1 open concept-driven decision space.</a:t>
            </a:r>
          </a:p>
          <a:p>
            <a:r>
              <a:rPr lang="en-US" sz="1400"/>
              <a:t>- G2 uncertainty not represented -&gt; H2 traceable by construction -&gt; C2 confidence + built-in explanation.</a:t>
            </a:r>
          </a:p>
          <a:p>
            <a:r>
              <a:rPr lang="en-US" sz="1400"/>
              <a:t>- G3 no verification before execution -&gt; H3 gated end to end -&gt; C3 separated, validated cores.</a:t>
            </a:r>
          </a:p>
          <a:p>
            <a:r>
              <a:rPr lang="en-US" sz="1400"/>
              <a:t/>
            </a:r>
          </a:p>
          <a:p>
            <a:r>
              <a:rPr lang="en-US" sz="1400"/>
              <a:t>SÖYLE: Üç boşluk, üç hipotez, üç katkı: her biri tek satır.</a:t>
            </a:r>
          </a:p>
          <a:p>
            <a:r>
              <a:rPr lang="en-US" sz="1400"/>
              <a:t>- G1 kapalı uzaylar -&gt; H1 açık ve zamanında -&gt; C1 açık, kavram güdümlü karar uzayı.</a:t>
            </a:r>
          </a:p>
          <a:p>
            <a:r>
              <a:rPr lang="en-US" sz="1400"/>
              <a:t>- G2 temsil edilmeyen belirsizlik -&gt; H2 yapısal izlenebilirlik -&gt; C2 güven + yerleşik açıklama.</a:t>
            </a:r>
          </a:p>
          <a:p>
            <a:r>
              <a:rPr lang="en-US" sz="1400"/>
              <a:t>- G3 doğrulamasız icra -&gt; H3 uçtan uca kapılı -&gt; C3 ayrık, doğrulanmış çekirdekler.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Part 1: first the ground truth machine, the fire spread core.</a:t>
            </a:r>
          </a:p>
          <a:p>
            <a:r>
              <a:rPr lang="en-US" sz="1400"/>
              <a:t/>
            </a:r>
          </a:p>
          <a:p>
            <a:r>
              <a:rPr lang="en-US" sz="1400"/>
              <a:t>SÖYLE: Bolum 1: önce zemin gerçeği üreten makine, yangın yayılım çekirdeği.</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Two cores, one arrow each way: simulation owns the physics; the DSS only observes and orders.</a:t>
            </a:r>
          </a:p>
          <a:p>
            <a:r>
              <a:rPr lang="en-US" sz="1400"/>
              <a:t/>
            </a:r>
          </a:p>
          <a:p>
            <a:r>
              <a:rPr lang="en-US" sz="1400"/>
              <a:t>SÖYLE: İki çekirdek, her yönde tek ok: fizik simülasyonda; DSS yalnız gözler ve emir verir.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6858256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input field is the only door into the physics.</a:t>
            </a:r>
          </a:p>
          <a:p>
            <a:r>
              <a:rPr lang="en-US" sz="1400"/>
              <a:t>- Meteorology, topography, fuel, ignitions, and the fielded decision.</a:t>
            </a:r>
          </a:p>
          <a:p>
            <a:r>
              <a:rPr lang="en-US" sz="1400"/>
              <a:t>- The decision is the ONLY channel through which the DSS touches the world.</a:t>
            </a:r>
          </a:p>
          <a:p>
            <a:r>
              <a:rPr lang="en-US" sz="1400"/>
              <a:t/>
            </a:r>
          </a:p>
          <a:p>
            <a:r>
              <a:rPr lang="en-US" sz="1400"/>
              <a:t>SÖYLE: Girdi alanı fiziğe açılan tek kapıdır.</a:t>
            </a:r>
          </a:p>
          <a:p>
            <a:r>
              <a:rPr lang="en-US" sz="1400"/>
              <a:t>- Meteoroloji, topografya, yakıt, tutuşturmalar ve sahaya inen karar.</a:t>
            </a:r>
          </a:p>
          <a:p>
            <a:r>
              <a:rPr lang="en-US" sz="1400"/>
              <a:t>- Karar, DSS'in dünyaya dokunduğu TEK kanaldır.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weather block: temperature, humidity, wind, precipitation.</a:t>
            </a:r>
          </a:p>
          <a:p>
            <a:r>
              <a:rPr lang="en-US" sz="1400"/>
              <a:t>- Wind is the primary driver of spread rate and direction.</a:t>
            </a:r>
          </a:p>
          <a:p>
            <a:r>
              <a:rPr lang="en-US" sz="1400"/>
              <a:t/>
            </a:r>
          </a:p>
          <a:p>
            <a:r>
              <a:rPr lang="en-US" sz="1400"/>
              <a:t>SÖYLE: Hava bloğu: sıcaklık, nem, rüzgâr, yağış.</a:t>
            </a:r>
          </a:p>
          <a:p>
            <a:r>
              <a:rPr lang="en-US" sz="1400"/>
              <a:t>- Yayılım hızının ve yönünün birincil sürücüsü rüzgârdır.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5378140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terrain block: elevation, slope, aspect, access.</a:t>
            </a:r>
          </a:p>
          <a:p>
            <a:r>
              <a:rPr lang="en-US" sz="1400"/>
              <a:t>- Slope raises uphill spread; access governs responder timing.</a:t>
            </a:r>
          </a:p>
          <a:p>
            <a:r>
              <a:rPr lang="en-US" sz="1400"/>
              <a:t/>
            </a:r>
          </a:p>
          <a:p>
            <a:r>
              <a:rPr lang="en-US" sz="1400"/>
              <a:t>SÖYLE: Arazi bloğu: yükseklik, eğim, bakı, erişim.</a:t>
            </a:r>
          </a:p>
          <a:p>
            <a:r>
              <a:rPr lang="en-US" sz="1400"/>
              <a:t>- Eğim yokuş yukarı yayılımı artırır; erişim ekiplerin zamanlamasını belirler.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9348758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fuel block: type, load, moisture set burn rate, intensity, and ignition probability.</a:t>
            </a:r>
          </a:p>
          <a:p>
            <a:r>
              <a:rPr lang="en-US" sz="1400"/>
              <a:t/>
            </a:r>
          </a:p>
          <a:p>
            <a:r>
              <a:rPr lang="en-US" sz="1400"/>
              <a:t>SÖYLE: Yakıt bloğu: tür, yük ve nem; yanma hızını, şiddeti, tutuşma olasılığını belirler.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6505413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Ignition is a binary injection; scenario control and hindcasts use this channel.</a:t>
            </a:r>
          </a:p>
          <a:p>
            <a:r>
              <a:rPr lang="en-US" sz="1400"/>
              <a:t/>
            </a:r>
          </a:p>
          <a:p>
            <a:r>
              <a:rPr lang="en-US" sz="1400"/>
              <a:t>SÖYLE: Tutuşturma ikili bir enjeksiyondur; senaryo kontrolü ve hindcast'ler bu kanali kullanır.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5766197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400" b="1"/>
                  <a:t>SAY: The response side: suppression capacity, travel time, efficiency, availability, per cell.</a:t>
                </a:r>
              </a:p>
              <a:p>
                <a:r>
                  <a:rPr lang="en-US" sz="1400"/>
                  <a:t/>
                </a:r>
              </a:p>
              <a:p>
                <a:r>
                  <a:rPr lang="en-US" sz="1400"/>
                  <a:t>SÖYLE: Müdahale tarafı: hücre başına kapasite, ulaşım süresi, verim, kullanılabilirlik.</a:t>
                </a:r>
              </a:p>
              <a:p>
                <a:endParaRPr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222222"/>
                    </a:solidFill>
                    <a:latin typeface="Calibri" pitchFamily="34" charset="0"/>
                    <a:ea typeface="Calibri" pitchFamily="34" charset="-122"/>
                    <a:cs typeface="Calibri" pitchFamily="34" charset="-120"/>
                  </a:rPr>
                  <a:t>The fifth member of the input set is the fielded decision </a:t>
                </a:r>
                <a:r>
                  <a:rPr lang="en-US" sz="1200" i="0">
                    <a:latin typeface="Cambria Math"/>
                  </a:rPr>
                  <a:t>𝑈</a:t>
                </a:r>
                <a:r>
                  <a:rPr lang="en-US" sz="1200" i="0">
                    <a:latin typeface="Cambria Math" panose="02040503050406030204" pitchFamily="18" charset="0"/>
                  </a:rPr>
                  <a:t>_(</a:t>
                </a:r>
                <a:r>
                  <a:rPr lang="en-US" sz="1200" i="0">
                    <a:latin typeface="Cambria Math"/>
                  </a:rPr>
                  <a:t>𝐷𝑆𝑆,𝑘</a:t>
                </a:r>
                <a:r>
                  <a:rPr lang="en-US" sz="1200" i="0">
                    <a:latin typeface="Cambria Math" panose="02040503050406030204" pitchFamily="18" charset="0"/>
                  </a:rPr>
                  <a:t>)</a:t>
                </a:r>
                <a:r>
                  <a:rPr lang="en-US" sz="1200" i="0">
                    <a:latin typeface="Cambria Math"/>
                  </a:rPr>
                  <a:t> (𝑥,𝑦)</a:t>
                </a:r>
                <a:r>
                  <a:rPr lang="en-US" sz="1200" b="1" dirty="0">
                    <a:solidFill>
                      <a:srgbClr val="222222"/>
                    </a:solidFill>
                    <a:latin typeface="Calibri" pitchFamily="34" charset="0"/>
                    <a:ea typeface="Calibri" pitchFamily="34" charset="-122"/>
                    <a:cs typeface="Calibri" pitchFamily="34" charset="-120"/>
                  </a:rPr>
                  <a:t> — defined on the decisional-layer slide.</a:t>
                </a:r>
                <a:endParaRPr lang="en-US" sz="1200" dirty="0"/>
              </a:p>
              <a:p>
                <a:endParaRPr lang="en-US" dirty="0"/>
              </a:p>
            </p:txBody>
          </p:sp>
        </mc:Fallback>
      </mc:AlternateContent>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26954001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B1D46-928A-1C90-CE62-3CD7A3E96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96C0A6-F02A-4E54-0CD4-AF197B5F48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5B53A8-6F95-9C9D-86C6-1C80A667F9F1}"/>
              </a:ext>
            </a:extLst>
          </p:cNvPr>
          <p:cNvSpPr>
            <a:spLocks noGrp="1"/>
          </p:cNvSpPr>
          <p:nvPr>
            <p:ph type="body" idx="1"/>
          </p:nvPr>
        </p:nvSpPr>
        <p:spPr/>
        <p:txBody>
          <a:bodyPr/>
          <a:lstStyle/>
          <a:p>
            <a:r>
              <a:rPr lang="en-US" sz="1400" b="1"/>
              <a:t>SAY: Same picture, field complete. Move on.</a:t>
            </a:r>
          </a:p>
          <a:p>
            <a:r>
              <a:rPr lang="en-US" sz="1400"/>
              <a:t/>
            </a:r>
          </a:p>
          <a:p>
            <a:r>
              <a:rPr lang="en-US" sz="1400"/>
              <a:t>SÖYLE: Ayni resim, alan tamamlandı. Geç.</a:t>
            </a:r>
          </a:p>
          <a:p>
            <a:endParaRPr dirty="0"/>
          </a:p>
        </p:txBody>
      </p:sp>
      <p:sp>
        <p:nvSpPr>
          <p:cNvPr id="4" name="Slide Number Placeholder 3">
            <a:extLst>
              <a:ext uri="{FF2B5EF4-FFF2-40B4-BE49-F238E27FC236}">
                <a16:creationId xmlns:a16="http://schemas.microsoft.com/office/drawing/2014/main" id="{22F54712-A080-98C6-8EFE-F877C1E666D1}"/>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4732888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Why cellular, not vector front? Three reasons.</a:t>
            </a:r>
          </a:p>
          <a:p>
            <a:r>
              <a:rPr lang="en-US" sz="1400"/>
              <a:t>- Interventions act on cells through defined effects.</a:t>
            </a:r>
          </a:p>
          <a:p>
            <a:r>
              <a:rPr lang="en-US" sz="1400"/>
              <a:t>- Exact replay: same seed, same run.</a:t>
            </a:r>
          </a:p>
          <a:p>
            <a:r>
              <a:rPr lang="en-US" sz="1400"/>
              <a:t>- Confidence attaches per cell.</a:t>
            </a:r>
          </a:p>
          <a:p>
            <a:r>
              <a:rPr lang="en-US" sz="1400"/>
              <a:t/>
            </a:r>
          </a:p>
          <a:p>
            <a:r>
              <a:rPr lang="en-US" sz="1400"/>
              <a:t>SÖYLE: Neden hücresel, neden vektör cephe değil? Üç neden.</a:t>
            </a:r>
          </a:p>
          <a:p>
            <a:r>
              <a:rPr lang="en-US" sz="1400"/>
              <a:t>- Müdahaleler hücrelere, tanımlı etkilerle iner.</a:t>
            </a:r>
          </a:p>
          <a:p>
            <a:r>
              <a:rPr lang="en-US" sz="1400"/>
              <a:t>- Birebir tekrar: aynı tohum, aynı koşu.</a:t>
            </a:r>
          </a:p>
          <a:p>
            <a:r>
              <a:rPr lang="en-US" sz="1400"/>
              <a:t>- Güven hücre başına bağlanır.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91867948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Four state variables per cell: burning, fuel mass, intensity, time since ignition.</a:t>
            </a:r>
          </a:p>
          <a:p>
            <a:r>
              <a:rPr lang="en-US" sz="1400"/>
              <a:t>- One operator, four evolutions, once per step.</a:t>
            </a:r>
          </a:p>
          <a:p>
            <a:r>
              <a:rPr lang="en-US" sz="1400"/>
              <a:t/>
            </a:r>
          </a:p>
          <a:p>
            <a:r>
              <a:rPr lang="en-US" sz="1400"/>
              <a:t>SÖYLE: Hücre başına dört durum: yanma, yakıt kütlesi, şiddet, tutuşmadan beri geçen süre.</a:t>
            </a:r>
          </a:p>
          <a:p>
            <a:r>
              <a:rPr lang="en-US" sz="1400"/>
              <a:t>- Tek operatör, dört evrim, adımda bir.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5985534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A cell burns next step if it keeps burning, fire arrives, or ignition is injected.</a:t>
            </a:r>
          </a:p>
          <a:p>
            <a:r>
              <a:rPr lang="en-US" sz="1400"/>
              <a:t>- Persistence and extinction deterministic; propagation stochastic and wind anisotropic.</a:t>
            </a:r>
          </a:p>
          <a:p>
            <a:r>
              <a:rPr lang="en-US" sz="1400"/>
              <a:t/>
            </a:r>
          </a:p>
          <a:p>
            <a:r>
              <a:rPr lang="en-US" sz="1400"/>
              <a:t>SÖYLE: Hücre; yanmayı sürdürürse, ateş ulaşırsa ya da enjeksiyon olursa bir sonraki adımda yanar.</a:t>
            </a:r>
          </a:p>
          <a:p>
            <a:r>
              <a:rPr lang="en-US" sz="1400"/>
              <a:t>- Söndürme ve sürme deterministik; yayılım stokastik ve rüzgâra bağlı yönlü.</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3403131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Fuel only falls, never rises.</a:t>
            </a:r>
          </a:p>
          <a:p>
            <a:r>
              <a:rPr lang="en-US" sz="1400"/>
              <a:t>- Suppression acts only through fuel reduction, scaled by capacity, availability, travel time, access.</a:t>
            </a:r>
          </a:p>
          <a:p>
            <a:r>
              <a:rPr lang="en-US" sz="1400"/>
              <a:t/>
            </a:r>
          </a:p>
          <a:p>
            <a:r>
              <a:rPr lang="en-US" sz="1400"/>
              <a:t>SÖYLE: Yakıt yalnız azalır, asla artmaz.</a:t>
            </a:r>
          </a:p>
          <a:p>
            <a:r>
              <a:rPr lang="en-US" sz="1400"/>
              <a:t>- Bastırma yalnız yakıt azaltarak etki eder; kapasite, kullanılabilirlik, ulaşım, erisimle ölçeklenir.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6E595-3558-57C8-BBBB-9C9460627B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FB98EE-18DF-F334-8747-545F680861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4A01FE-A9B1-A02E-16BE-2898D1C2043E}"/>
              </a:ext>
            </a:extLst>
          </p:cNvPr>
          <p:cNvSpPr>
            <a:spLocks noGrp="1"/>
          </p:cNvSpPr>
          <p:nvPr>
            <p:ph type="body" idx="1"/>
          </p:nvPr>
        </p:nvSpPr>
        <p:spPr/>
        <p:txBody>
          <a:bodyPr/>
          <a:lstStyle/>
          <a:p>
            <a:r>
              <a:rPr lang="en-US" sz="1400" b="1"/>
              <a:t>SAY: Now the DSS side of the same simulation framework.</a:t>
            </a:r>
          </a:p>
          <a:p>
            <a:r>
              <a:rPr lang="en-US" sz="1400"/>
              <a:t/>
            </a:r>
          </a:p>
          <a:p>
            <a:r>
              <a:rPr lang="en-US" sz="1400"/>
              <a:t>SÖYLE: Şimdi aynı çerçevenin DSS tarafı.</a:t>
            </a:r>
          </a:p>
          <a:p>
            <a:endParaRPr dirty="0"/>
          </a:p>
        </p:txBody>
      </p:sp>
      <p:sp>
        <p:nvSpPr>
          <p:cNvPr id="4" name="Slide Number Placeholder 3">
            <a:extLst>
              <a:ext uri="{FF2B5EF4-FFF2-40B4-BE49-F238E27FC236}">
                <a16:creationId xmlns:a16="http://schemas.microsoft.com/office/drawing/2014/main" id="{E09918B0-967B-14CF-4D48-420200E0E330}"/>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7596254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400" b="1"/>
                  <a:t>SAY: Decisional context the physics never sees: value at risk.</a:t>
                </a:r>
              </a:p>
              <a:p>
                <a:r>
                  <a:rPr lang="en-US" sz="1400"/>
                  <a:t>- Buildings, critical facilities, population mark what matters.</a:t>
                </a:r>
              </a:p>
              <a:p>
                <a:r>
                  <a:rPr lang="en-US" sz="1400"/>
                  <a:t/>
                </a:r>
              </a:p>
              <a:p>
                <a:r>
                  <a:rPr lang="en-US" sz="1400"/>
                  <a:t>SÖYLE: Fiziğin hiç görmediği karar bağlamı: risk altındaki değer.</a:t>
                </a:r>
              </a:p>
              <a:p>
                <a:r>
                  <a:rPr lang="en-US" sz="1400"/>
                  <a:t>- Binalar, kritik tesisler, nüfus neyin önemli olduğunu işaretler.</a:t>
                </a:r>
              </a:p>
              <a:p>
                <a:endParaRPr dirty="0"/>
              </a:p>
            </p:txBody>
          </p:sp>
        </mc:Choice>
        <mc:Fallback xmlns="">
          <p:sp>
            <p:nvSpPr>
              <p:cNvPr id="3" name="Notes Placeholder 2"/>
              <p:cNvSpPr>
                <a:spLocks noGrp="1"/>
              </p:cNvSpPr>
              <p:nvPr>
                <p:ph type="body" idx="1"/>
              </p:nvPr>
            </p:nvSpPr>
            <p:spPr/>
            <p:txBody>
              <a:bodyPr/>
              <a:lstStyle/>
              <a:p>
                <a:pPr marL="152400" indent="-152400">
                  <a:lnSpc>
                    <a:spcPct val="105000"/>
                  </a:lnSpc>
                  <a:spcAft>
                    <a:spcPts val="700"/>
                  </a:spcAft>
                  <a:buSzPct val="100000"/>
                  <a:buChar char="•"/>
                </a:pPr>
                <a:r>
                  <a:rPr lang="en-US" sz="1200" dirty="0">
                    <a:solidFill>
                      <a:srgbClr val="222222"/>
                    </a:solidFill>
                    <a:latin typeface="Calibri" pitchFamily="34" charset="0"/>
                    <a:ea typeface="Calibri" pitchFamily="34" charset="-122"/>
                    <a:cs typeface="Calibri" pitchFamily="34" charset="-120"/>
                  </a:rPr>
                  <a:t>Protection priority score: ranks every cell by its overall protection importance (normalized weighted sum)</a:t>
                </a:r>
                <a:endParaRPr lang="en-US" sz="1200" dirty="0"/>
              </a:p>
              <a:p>
                <a:pPr marL="152400" indent="-152400">
                  <a:lnSpc>
                    <a:spcPct val="105000"/>
                  </a:lnSpc>
                  <a:spcAft>
                    <a:spcPts val="700"/>
                  </a:spcAft>
                  <a:buSzPct val="100000"/>
                  <a:buChar char="•"/>
                </a:pPr>
                <a:r>
                  <a:rPr lang="en-US" sz="1200" dirty="0">
                    <a:solidFill>
                      <a:srgbClr val="222222"/>
                    </a:solidFill>
                    <a:latin typeface="Calibri" pitchFamily="34" charset="0"/>
                    <a:ea typeface="Calibri" pitchFamily="34" charset="-122"/>
                    <a:cs typeface="Calibri" pitchFamily="34" charset="-120"/>
                  </a:rPr>
                  <a:t>Buildings (wildland–urban zones) · critical facilities (hospitals, power, water) · population density (min-max normalized) · evacuation-route proximity (inverted, normalized)</a:t>
                </a:r>
                <a:endParaRPr lang="en-US" sz="1200" dirty="0"/>
              </a:p>
              <a:p>
                <a:pPr marL="152400" indent="-152400">
                  <a:lnSpc>
                    <a:spcPct val="105000"/>
                  </a:lnSpc>
                  <a:spcAft>
                    <a:spcPts val="700"/>
                  </a:spcAft>
                  <a:buSzPct val="100000"/>
                  <a:buChar char="•"/>
                </a:pPr>
                <a:r>
                  <a:rPr lang="en-US" sz="1200" b="1" dirty="0">
                    <a:solidFill>
                      <a:srgbClr val="222222"/>
                    </a:solidFill>
                    <a:latin typeface="Calibri" pitchFamily="34" charset="0"/>
                    <a:ea typeface="Calibri" pitchFamily="34" charset="-122"/>
                    <a:cs typeface="Calibri" pitchFamily="34" charset="-120"/>
                  </a:rPr>
                  <a:t>Weights sum to one; critical facilities carry the highest weight (cascading consequences), population second</a:t>
                </a:r>
                <a:endParaRPr lang="en-US" sz="1200" dirty="0"/>
              </a:p>
              <a:p>
                <a:endParaRPr lang="tr-TR" dirty="0"/>
              </a:p>
              <a:p>
                <a:r>
                  <a:rPr lang="en-US" sz="1800" dirty="0">
                    <a:effectLst/>
                    <a:latin typeface="Times New Roman" panose="02020603050405020304" pitchFamily="18" charset="0"/>
                    <a:ea typeface="Calibri" panose="020F0502020204030204" pitchFamily="34" charset="0"/>
                    <a:cs typeface="Arial" panose="020B0604020202020204" pitchFamily="34" charset="0"/>
                  </a:rPr>
                  <a:t> Critical facilities (</a:t>
                </a:r>
                <a:r>
                  <a:rPr lang="en-US" sz="1800" i="0">
                    <a:effectLst/>
                    <a:latin typeface="Cambria Math" panose="02040503050406030204" pitchFamily="18" charset="0"/>
                    <a:ea typeface="Calibri" panose="020F0502020204030204" pitchFamily="34" charset="0"/>
                    <a:cs typeface="Arial" panose="020B0604020202020204" pitchFamily="34" charset="0"/>
                  </a:rPr>
                  <a:t>𝑤</a:t>
                </a:r>
                <a:r>
                  <a:rPr lang="tr-TR" sz="1800" i="0">
                    <a:effectLst/>
                    <a:latin typeface="Cambria Math" panose="02040503050406030204" pitchFamily="18" charset="0"/>
                    <a:ea typeface="Calibri" panose="020F0502020204030204" pitchFamily="34" charset="0"/>
                    <a:cs typeface="Arial" panose="020B0604020202020204" pitchFamily="34" charset="0"/>
                  </a:rPr>
                  <a:t>_</a:t>
                </a:r>
                <a:r>
                  <a:rPr lang="en-US" sz="1800" i="0">
                    <a:effectLst/>
                    <a:latin typeface="Cambria Math" panose="02040503050406030204" pitchFamily="18" charset="0"/>
                    <a:ea typeface="Calibri" panose="020F0502020204030204" pitchFamily="34" charset="0"/>
                    <a:cs typeface="Arial" panose="020B0604020202020204" pitchFamily="34" charset="0"/>
                  </a:rPr>
                  <a:t>𝑐𝑟𝑖𝑡  = 0.40</a:t>
                </a:r>
                <a:r>
                  <a:rPr lang="en-US" sz="1800" dirty="0">
                    <a:effectLst/>
                    <a:latin typeface="Times New Roman" panose="02020603050405020304" pitchFamily="18" charset="0"/>
                    <a:ea typeface="Calibri" panose="020F0502020204030204" pitchFamily="34" charset="0"/>
                    <a:cs typeface="Arial" panose="020B0604020202020204" pitchFamily="34" charset="0"/>
                  </a:rPr>
                  <a:t>) receive the highest weight because their loss has cascading consequences (e.g., hospitals, power infrastructure, water supply). Population density (</a:t>
                </a:r>
                <a:r>
                  <a:rPr lang="en-US" sz="1800" i="0">
                    <a:effectLst/>
                    <a:latin typeface="Cambria Math" panose="02040503050406030204" pitchFamily="18" charset="0"/>
                    <a:ea typeface="Calibri" panose="020F0502020204030204" pitchFamily="34" charset="0"/>
                    <a:cs typeface="Arial" panose="020B0604020202020204" pitchFamily="34" charset="0"/>
                  </a:rPr>
                  <a:t>𝑤</a:t>
                </a:r>
                <a:r>
                  <a:rPr lang="tr-TR" sz="1800" i="0">
                    <a:effectLst/>
                    <a:latin typeface="Cambria Math" panose="02040503050406030204" pitchFamily="18" charset="0"/>
                    <a:ea typeface="Calibri" panose="020F0502020204030204" pitchFamily="34" charset="0"/>
                    <a:cs typeface="Arial" panose="020B0604020202020204" pitchFamily="34" charset="0"/>
                  </a:rPr>
                  <a:t>_</a:t>
                </a:r>
                <a:r>
                  <a:rPr lang="en-US" sz="1800" i="0">
                    <a:effectLst/>
                    <a:latin typeface="Cambria Math" panose="02040503050406030204" pitchFamily="18" charset="0"/>
                    <a:ea typeface="Calibri" panose="020F0502020204030204" pitchFamily="34" charset="0"/>
                    <a:cs typeface="Arial" panose="020B0604020202020204" pitchFamily="34" charset="0"/>
                  </a:rPr>
                  <a:t>𝑝𝑜𝑝  = 0.25</a:t>
                </a:r>
                <a:r>
                  <a:rPr lang="en-US" sz="1800" dirty="0">
                    <a:effectLst/>
                    <a:latin typeface="Times New Roman" panose="02020603050405020304" pitchFamily="18" charset="0"/>
                    <a:ea typeface="Calibri" panose="020F0502020204030204" pitchFamily="34" charset="0"/>
                    <a:cs typeface="Arial" panose="020B0604020202020204" pitchFamily="34" charset="0"/>
                  </a:rPr>
                  <a:t>) ranks second because human life exposure scales with density. Building footprint (</a:t>
                </a:r>
                <a:r>
                  <a:rPr lang="en-US" sz="1800" i="0">
                    <a:effectLst/>
                    <a:latin typeface="Cambria Math" panose="02040503050406030204" pitchFamily="18" charset="0"/>
                    <a:ea typeface="Calibri" panose="020F0502020204030204" pitchFamily="34" charset="0"/>
                    <a:cs typeface="Arial" panose="020B0604020202020204" pitchFamily="34" charset="0"/>
                  </a:rPr>
                  <a:t>𝑤</a:t>
                </a:r>
                <a:r>
                  <a:rPr lang="tr-TR" sz="1800" i="0">
                    <a:effectLst/>
                    <a:latin typeface="Cambria Math" panose="02040503050406030204" pitchFamily="18" charset="0"/>
                    <a:ea typeface="Calibri" panose="020F0502020204030204" pitchFamily="34" charset="0"/>
                    <a:cs typeface="Arial" panose="020B0604020202020204" pitchFamily="34" charset="0"/>
                  </a:rPr>
                  <a:t>_</a:t>
                </a:r>
                <a:r>
                  <a:rPr lang="en-US" sz="1800" i="0">
                    <a:effectLst/>
                    <a:latin typeface="Cambria Math" panose="02040503050406030204" pitchFamily="18" charset="0"/>
                    <a:ea typeface="Calibri" panose="020F0502020204030204" pitchFamily="34" charset="0"/>
                    <a:cs typeface="Arial" panose="020B0604020202020204" pitchFamily="34" charset="0"/>
                  </a:rPr>
                  <a:t>𝑏𝑙𝑑  = 0.20</a:t>
                </a:r>
                <a:r>
                  <a:rPr lang="en-US" sz="1800" dirty="0">
                    <a:effectLst/>
                    <a:latin typeface="Times New Roman" panose="02020603050405020304" pitchFamily="18" charset="0"/>
                    <a:ea typeface="Calibri" panose="020F0502020204030204" pitchFamily="34" charset="0"/>
                    <a:cs typeface="Arial" panose="020B0604020202020204" pitchFamily="34" charset="0"/>
                  </a:rPr>
                  <a:t>) captures structural asset density. Evacuation accessibility (</a:t>
                </a:r>
                <a:r>
                  <a:rPr lang="en-US" sz="1800" i="0">
                    <a:effectLst/>
                    <a:latin typeface="Cambria Math" panose="02040503050406030204" pitchFamily="18" charset="0"/>
                    <a:ea typeface="Calibri" panose="020F0502020204030204" pitchFamily="34" charset="0"/>
                    <a:cs typeface="Arial" panose="020B0604020202020204" pitchFamily="34" charset="0"/>
                  </a:rPr>
                  <a:t>𝑤</a:t>
                </a:r>
                <a:r>
                  <a:rPr lang="tr-TR" sz="1800" i="0">
                    <a:effectLst/>
                    <a:latin typeface="Cambria Math" panose="02040503050406030204" pitchFamily="18" charset="0"/>
                    <a:ea typeface="Calibri" panose="020F0502020204030204" pitchFamily="34" charset="0"/>
                    <a:cs typeface="Arial" panose="020B0604020202020204" pitchFamily="34" charset="0"/>
                  </a:rPr>
                  <a:t>_</a:t>
                </a:r>
                <a:r>
                  <a:rPr lang="en-US" sz="1800" i="0">
                    <a:effectLst/>
                    <a:latin typeface="Cambria Math" panose="02040503050406030204" pitchFamily="18" charset="0"/>
                    <a:ea typeface="Calibri" panose="020F0502020204030204" pitchFamily="34" charset="0"/>
                    <a:cs typeface="Arial" panose="020B0604020202020204" pitchFamily="34" charset="0"/>
                  </a:rPr>
                  <a:t>𝑒𝑣𝑎𝑐  = 0.15</a:t>
                </a:r>
                <a:r>
                  <a:rPr lang="en-US" sz="1800" dirty="0">
                    <a:effectLst/>
                    <a:latin typeface="Times New Roman" panose="02020603050405020304" pitchFamily="18" charset="0"/>
                    <a:ea typeface="Calibri" panose="020F0502020204030204" pitchFamily="34" charset="0"/>
                    <a:cs typeface="Arial" panose="020B0604020202020204" pitchFamily="34" charset="0"/>
                  </a:rPr>
                  <a:t>) receives the lowest weight because it represents a logistical constraint rather than a direct measure of asset value; however, it remains non-zero because locations with poor evacuation access require protective intervention earlier in the decision timeline</a:t>
                </a:r>
                <a:endParaRPr lang="en-US" dirty="0"/>
              </a:p>
            </p:txBody>
          </p:sp>
        </mc:Fallback>
      </mc:AlternateContent>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781167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And the resource pool as the DSS sees it: capacity, travel, efficiency, availability.</a:t>
            </a:r>
          </a:p>
          <a:p>
            <a:r>
              <a:rPr lang="en-US" sz="1400"/>
              <a:t/>
            </a:r>
          </a:p>
          <a:p>
            <a:r>
              <a:rPr lang="en-US" sz="1400"/>
              <a:t>SÖYLE: Ve DSS'in gördüğü kaynak havuzu: kapasite, ulaşım, verim, kullanılabilirlik.</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89699169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DSS never reads the true state.</a:t>
            </a:r>
          </a:p>
          <a:p>
            <a:r>
              <a:rPr lang="en-US" sz="1400"/>
              <a:t>- It sees an observation with a bounded error; confidence bounds how far the error can reach.</a:t>
            </a:r>
          </a:p>
          <a:p>
            <a:r>
              <a:rPr lang="en-US" sz="1400"/>
              <a:t/>
            </a:r>
          </a:p>
          <a:p>
            <a:r>
              <a:rPr lang="en-US" sz="1400"/>
              <a:t>SÖYLE: DSS gerçek durumu asla okumaz.</a:t>
            </a:r>
          </a:p>
          <a:p>
            <a:r>
              <a:rPr lang="en-US" sz="1400"/>
              <a:t>- Sınırlı hatalı bir gözlem görür; hata sınırını güven belirler.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One closed loop per cycle: observe, decide, return one typed decision field.</a:t>
            </a:r>
          </a:p>
          <a:p>
            <a:r>
              <a:rPr lang="en-US" sz="1400"/>
              <a:t/>
            </a:r>
          </a:p>
          <a:p>
            <a:r>
              <a:rPr lang="en-US" sz="1400"/>
              <a:t>SÖYLE: Çevrim başına tek kapalı döngü: gözle, karar ver, tipli karar alanını döndür.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4194647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operator can inject ignitions, reconfigure resources, perturb weather.</a:t>
            </a:r>
          </a:p>
          <a:p>
            <a:r>
              <a:rPr lang="en-US" sz="1400"/>
              <a:t>- Scenario control touches only external inputs, never the core.</a:t>
            </a:r>
          </a:p>
          <a:p>
            <a:r>
              <a:rPr lang="en-US" sz="1400"/>
              <a:t/>
            </a:r>
          </a:p>
          <a:p>
            <a:r>
              <a:rPr lang="en-US" sz="1400"/>
              <a:t>SÖYLE: Operatör tutuşturma enjekte edebilir, kaynağı değiştirebilir, havayı oynatabilir.</a:t>
            </a:r>
          </a:p>
          <a:p>
            <a:r>
              <a:rPr lang="en-US" sz="1400"/>
              <a:t>- Senaryo kontrolü yalnız dış girdilere dokunur, çekirdeğe asla.</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9725403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Part 3: the decision framework itself.</a:t>
            </a:r>
          </a:p>
          <a:p>
            <a:r>
              <a:rPr lang="en-US" sz="1400"/>
              <a:t/>
            </a:r>
          </a:p>
          <a:p>
            <a:r>
              <a:rPr lang="en-US" sz="1400"/>
              <a:t>SÖYLE: Bolum 3: karar çerçevesinin kendisi.</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One agent, four layers, one loop: inputs, perception, concepts, decision.</a:t>
            </a:r>
          </a:p>
          <a:p>
            <a:r>
              <a:rPr lang="en-US" sz="1400"/>
              <a:t>- N agents run in parallel; how they coordinate is the next slide.</a:t>
            </a:r>
          </a:p>
          <a:p>
            <a:r>
              <a:rPr lang="en-US" sz="1400"/>
              <a:t/>
            </a:r>
          </a:p>
          <a:p>
            <a:r>
              <a:rPr lang="en-US" sz="1400"/>
              <a:t>SÖYLE: Bir ajan, dört katman, tek döngü: girdi, algı, kavram, karar.</a:t>
            </a:r>
          </a:p>
          <a:p>
            <a:r>
              <a:rPr lang="en-US" sz="1400"/>
              <a:t>- N ajan paralel koşar; nasıl koordine oldukları bir sonraki slaytta.</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What the agent can know: about 15 source families, all read as observations, never ground truth.</a:t>
            </a:r>
          </a:p>
          <a:p>
            <a:r>
              <a:rPr lang="en-US" sz="1400"/>
              <a:t/>
            </a:r>
          </a:p>
          <a:p>
            <a:r>
              <a:rPr lang="en-US" sz="1400"/>
              <a:t>SÖYLE: Ajanın bilebilecekleri: yaklaşık 15 kaynak ailesi; hepsi gözlem olarak okunur, asla zemin gerçeği değil.</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Layer 2 highlighted. Move fast.</a:t>
            </a:r>
          </a:p>
          <a:p>
            <a:r>
              <a:rPr lang="en-US" sz="1400"/>
              <a:t/>
            </a:r>
          </a:p>
          <a:p>
            <a:r>
              <a:rPr lang="en-US" sz="1400"/>
              <a:t>SÖYLE: Katman 2 vurgulu. Hızlı geç.</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2745905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Perception: observations become features that carry their own confidence.</a:t>
            </a:r>
          </a:p>
          <a:p>
            <a:r>
              <a:rPr lang="en-US" sz="1400"/>
              <a:t/>
            </a:r>
          </a:p>
          <a:p>
            <a:r>
              <a:rPr lang="en-US" sz="1400"/>
              <a:t>SÖYLE: Algı: gözlemler, kendi güvenini taşıyan özelliklere dönüşür.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Confidence is the weakest of four factors: observability, coverage, freshness, reliability.</a:t>
            </a:r>
          </a:p>
          <a:p>
            <a:r>
              <a:rPr lang="en-US" sz="1400"/>
              <a:t>- Bounded error, no distribution assumed.</a:t>
            </a:r>
          </a:p>
          <a:p>
            <a:r>
              <a:rPr lang="en-US" sz="1400"/>
              <a:t>- Missing data: last value, trusted less as it ages (90-minute half-life).</a:t>
            </a:r>
          </a:p>
          <a:p>
            <a:r>
              <a:rPr lang="en-US" sz="1400"/>
              <a:t/>
            </a:r>
          </a:p>
          <a:p>
            <a:r>
              <a:rPr lang="en-US" sz="1400"/>
              <a:t>SÖYLE: Güven, dört faktörün en zayıfıdır: gözlenebilirlik, kapsama, tazelik, güvenilirlik.</a:t>
            </a:r>
          </a:p>
          <a:p>
            <a:r>
              <a:rPr lang="en-US" sz="1400"/>
              <a:t>- Sınırlı hata, dağılım varsayımı yok.</a:t>
            </a:r>
          </a:p>
          <a:p>
            <a:r>
              <a:rPr lang="en-US" sz="1400"/>
              <a:t>- Kayıp veri: son değer, yaşlandıkça daha az güvenilir (90 dakika yarı ömür).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5016154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Layer 3 highlighted. Move fast.</a:t>
            </a:r>
          </a:p>
          <a:p>
            <a:r>
              <a:rPr lang="en-US" sz="1400"/>
              <a:t/>
            </a:r>
          </a:p>
          <a:p>
            <a:r>
              <a:rPr lang="en-US" sz="1400"/>
              <a:t>SÖYLE: Katman 3 vurgulu. Hızlı geç.</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0524708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Ten features by five terms would explode the rule space; five concepts kill that.</a:t>
            </a:r>
          </a:p>
          <a:p>
            <a:r>
              <a:rPr lang="en-US" sz="1400"/>
              <a:t>- Five standard command questions -&gt; five decision concepts.</a:t>
            </a:r>
          </a:p>
          <a:p>
            <a:r>
              <a:rPr lang="en-US" sz="1400"/>
              <a:t/>
            </a:r>
          </a:p>
          <a:p>
            <a:r>
              <a:rPr lang="en-US" sz="1400"/>
              <a:t>SÖYLE: On özellik x beş terim kural uzayını patlatırdı; beş kavram bunu keser.</a:t>
            </a:r>
          </a:p>
          <a:p>
            <a:r>
              <a:rPr lang="en-US" sz="1400"/>
              <a:t>- Bes standart komuta sorusu -&gt; beş karar kavramı.</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2229207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hierarchy: base concepts feed decisional concepts, level by level.</a:t>
            </a:r>
          </a:p>
          <a:p>
            <a:r>
              <a:rPr lang="en-US" sz="1400"/>
              <a:t/>
            </a:r>
          </a:p>
          <a:p>
            <a:r>
              <a:rPr lang="en-US" sz="1400"/>
              <a:t>SÖYLE: Hiyerarşi: taban kavramlar, karar kavramlarını seviye seviye besler.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311993579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Every activation is gated by its confidence and blended with a persistence prior.</a:t>
            </a:r>
          </a:p>
          <a:p>
            <a:r>
              <a:rPr lang="en-US" sz="1400"/>
              <a:t>- Gamma 1: passes; gamma 0: falls back; snaps back on fresh data.</a:t>
            </a:r>
          </a:p>
          <a:p>
            <a:r>
              <a:rPr lang="en-US" sz="1400"/>
              <a:t/>
            </a:r>
          </a:p>
          <a:p>
            <a:r>
              <a:rPr lang="en-US" sz="1400"/>
              <a:t>SÖYLE: Her aktivasyon güveniyle kapılanır ve kalıcılık önseliyle harmanlanır.</a:t>
            </a:r>
          </a:p>
          <a:p>
            <a:r>
              <a:rPr lang="en-US" sz="1400"/>
              <a:t>- Gamma 1: geçer; gamma 0: geri çekilir; taze veriyle anında döner.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Walk the picture once: fuzzify, aggregate, gate. Ten seconds.</a:t>
            </a:r>
          </a:p>
          <a:p>
            <a:r>
              <a:rPr lang="en-US" sz="1400"/>
              <a:t/>
            </a:r>
          </a:p>
          <a:p>
            <a:r>
              <a:rPr lang="en-US" sz="1400"/>
              <a:t>SÖYLE: Resmi bir kez gez: bulanıklaştır, topla, kapıla. On saniye.</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Why zero-order Takagi-Sugeno, not Mamdani: the outputs are already numbers.</a:t>
            </a:r>
          </a:p>
          <a:p>
            <a:r>
              <a:rPr lang="en-US" sz="1400"/>
              <a:t>- Singleton consequents, no defuzzification; each rule's contribution stays visible.</a:t>
            </a:r>
          </a:p>
          <a:p>
            <a:r>
              <a:rPr lang="en-US" sz="1400"/>
              <a:t>- Tuning moves one number; Mamdani would blur who ordered what.</a:t>
            </a:r>
          </a:p>
          <a:p>
            <a:r>
              <a:rPr lang="en-US" sz="1400"/>
              <a:t/>
            </a:r>
          </a:p>
          <a:p>
            <a:r>
              <a:rPr lang="en-US" sz="1400"/>
              <a:t>SÖYLE: Neden sıfırıncı derece Takagi-Sugeno, neden Mamdani değil: çıktılar zaten sayı.</a:t>
            </a:r>
          </a:p>
          <a:p>
            <a:r>
              <a:rPr lang="en-US" sz="1400"/>
              <a:t>- Tekil sonuçlar, durulaştırma yok; her kuralın katkısı görünür kalır.</a:t>
            </a:r>
          </a:p>
          <a:p>
            <a:r>
              <a:rPr lang="en-US" sz="1400"/>
              <a:t>- Ayar tek sayıyı oynatır; Mamdani kimin ne emrettiğini bulanıklaştırırdı.</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50384372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Layer 4 highlighted: the decision space, where the contribution lives.</a:t>
            </a:r>
          </a:p>
          <a:p>
            <a:r>
              <a:rPr lang="en-US" sz="1400"/>
              <a:t/>
            </a:r>
          </a:p>
          <a:p>
            <a:r>
              <a:rPr lang="en-US" sz="1400"/>
              <a:t>SÖYLE: Katman 4 vurgulu: katkının yaşadığı karar uzayı.</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48178133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Decide, price, test, adapt, once per cycle.</a:t>
            </a:r>
          </a:p>
          <a:p>
            <a:r>
              <a:rPr lang="en-US" sz="1400"/>
              <a:t>- Pass: apply. Fail: the adaptation ladder.</a:t>
            </a:r>
          </a:p>
          <a:p>
            <a:r>
              <a:rPr lang="en-US" sz="1400"/>
              <a:t/>
            </a:r>
          </a:p>
          <a:p>
            <a:r>
              <a:rPr lang="en-US" sz="1400"/>
              <a:t>SÖYLE: Karar ver, fiyatla, test et, uyarla; çevrimde bir kez.</a:t>
            </a:r>
          </a:p>
          <a:p>
            <a:r>
              <a:rPr lang="en-US" sz="1400"/>
              <a:t>- Geçerse uygula. Kalırsa uyarlanma merdiveni.</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Two lists. Six families are the language; seven effects are the only ways to touch the world.</a:t>
            </a:r>
          </a:p>
          <a:p>
            <a:r>
              <a:rPr lang="en-US" sz="1400"/>
              <a:t>- Basis fixed, vocabulary open: macros and actuators COMPOSE effects, never invent physics.</a:t>
            </a:r>
          </a:p>
          <a:p>
            <a:r>
              <a:rPr lang="en-US" sz="1400"/>
              <a:t/>
            </a:r>
          </a:p>
          <a:p>
            <a:r>
              <a:rPr lang="en-US" sz="1400"/>
              <a:t>SÖYLE: İki liste. Altı aile dildir; yedi etki dünyaya dokunmanın tek yollarıdır.</a:t>
            </a:r>
          </a:p>
          <a:p>
            <a:r>
              <a:rPr lang="en-US" sz="1400"/>
              <a:t>- Taban sabit, sözlük açık: makrolar ve aktüatörler etkileri BİRLEŞTİRİR, fizik icat etmez.</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D6CE3-1880-0CC7-AFD9-5CAE9FC1CD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3482C9-75D1-0C46-C42F-CBA3DF0902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558416-3185-7D49-FC4F-7CF04C22451E}"/>
              </a:ext>
            </a:extLst>
          </p:cNvPr>
          <p:cNvSpPr>
            <a:spLocks noGrp="1"/>
          </p:cNvSpPr>
          <p:nvPr>
            <p:ph type="body" idx="1"/>
          </p:nvPr>
        </p:nvSpPr>
        <p:spPr/>
        <p:txBody>
          <a:bodyPr/>
          <a:lstStyle/>
          <a:p>
            <a:r>
              <a:rPr lang="en-US" sz="1400" b="1"/>
              <a:t>SAY: Same map, next station. Move fast.</a:t>
            </a:r>
          </a:p>
          <a:p>
            <a:r>
              <a:rPr lang="en-US" sz="1400"/>
              <a:t/>
            </a:r>
          </a:p>
          <a:p>
            <a:r>
              <a:rPr lang="en-US" sz="1400"/>
              <a:t>SÖYLE: Ayni harita, sonraki durak. Hızlı geç.</a:t>
            </a:r>
          </a:p>
          <a:p>
            <a:endParaRPr dirty="0"/>
          </a:p>
        </p:txBody>
      </p:sp>
      <p:sp>
        <p:nvSpPr>
          <p:cNvPr id="4" name="Slide Number Placeholder 3">
            <a:extLst>
              <a:ext uri="{FF2B5EF4-FFF2-40B4-BE49-F238E27FC236}">
                <a16:creationId xmlns:a16="http://schemas.microsoft.com/office/drawing/2014/main" id="{F2A799F7-3876-BE74-DF99-D18588B6AFF5}"/>
              </a:ext>
            </a:extLst>
          </p:cNvPr>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300998642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976B6-7F32-C82D-474B-498B3CD3EB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BD519-03C5-DDF0-0B5D-1EA9030B4F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2BE921-281D-B9B9-8438-61437716B88B}"/>
              </a:ext>
            </a:extLst>
          </p:cNvPr>
          <p:cNvSpPr>
            <a:spLocks noGrp="1"/>
          </p:cNvSpPr>
          <p:nvPr>
            <p:ph type="body" idx="1"/>
          </p:nvPr>
        </p:nvSpPr>
        <p:spPr/>
        <p:txBody>
          <a:bodyPr/>
          <a:lstStyle/>
          <a:p>
            <a:r>
              <a:rPr lang="en-US" sz="1400" b="1"/>
              <a:t>SAY: One cost, two readings.</a:t>
            </a:r>
          </a:p>
          <a:p>
            <a:r>
              <a:rPr lang="en-US" sz="1400"/>
              <a:t>- Acceptance prices all five terms, effort included.</a:t>
            </a:r>
          </a:p>
          <a:p>
            <a:r>
              <a:rPr lang="en-US" sz="1400"/>
              <a:t>- Trials and no-harm use physics only: removes the 'order less, look better' loophole.</a:t>
            </a:r>
          </a:p>
          <a:p>
            <a:r>
              <a:rPr lang="en-US" sz="1400"/>
              <a:t/>
            </a:r>
          </a:p>
          <a:p>
            <a:r>
              <a:rPr lang="en-US" sz="1400"/>
              <a:t>SÖYLE: Tek maliyet, iki okuma.</a:t>
            </a:r>
          </a:p>
          <a:p>
            <a:r>
              <a:rPr lang="en-US" sz="1400"/>
              <a:t>- Kabul, emek dâhil beş terimi fiyatlar.</a:t>
            </a:r>
          </a:p>
          <a:p>
            <a:r>
              <a:rPr lang="en-US" sz="1400"/>
              <a:t>- Denemeler ve zarar-yok yalnız fiziğe bakar: 'az emret, iyi görün' açığını kapatır.</a:t>
            </a:r>
          </a:p>
          <a:p>
            <a:endParaRPr dirty="0"/>
          </a:p>
        </p:txBody>
      </p:sp>
      <p:sp>
        <p:nvSpPr>
          <p:cNvPr id="4" name="Slide Number Placeholder 3">
            <a:extLst>
              <a:ext uri="{FF2B5EF4-FFF2-40B4-BE49-F238E27FC236}">
                <a16:creationId xmlns:a16="http://schemas.microsoft.com/office/drawing/2014/main" id="{7957E6F7-E06B-872A-51D9-D747B3D021E1}"/>
              </a:ext>
            </a:extLst>
          </p:cNvPr>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318835221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Two tests, two independent failures.</a:t>
            </a:r>
          </a:p>
          <a:p>
            <a:r>
              <a:rPr lang="en-US" sz="1400"/>
              <a:t>- Cost: is the outcome acceptable? Big fires: ceiling; small fires: 5% margin over doing nothing.</a:t>
            </a:r>
          </a:p>
          <a:p>
            <a:r>
              <a:rPr lang="en-US" sz="1400"/>
              <a:t>- Quality: does the order serve the concepts that demand it?</a:t>
            </a:r>
          </a:p>
          <a:p>
            <a:r>
              <a:rPr lang="en-US" sz="1400"/>
              <a:t/>
            </a:r>
          </a:p>
          <a:p>
            <a:r>
              <a:rPr lang="en-US" sz="1400"/>
              <a:t>SÖYLE: İki test, iki bağımsız başarısızlık.</a:t>
            </a:r>
          </a:p>
          <a:p>
            <a:r>
              <a:rPr lang="en-US" sz="1400"/>
              <a:t>- Maliyet: sonuç kabul edilebilir mi? Büyük yangında tavan; küçükte hiçbir şey yapmamaya karşı %5 marj.</a:t>
            </a:r>
          </a:p>
          <a:p>
            <a:r>
              <a:rPr lang="en-US" sz="1400"/>
              <a:t>- Kalite: emir, onu talep eden kavramlara hizmet ediyor mu?</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Worked numbers: candidate 0.2354 against bound 0.2377; the margin binds; accepted.</a:t>
            </a:r>
          </a:p>
          <a:p>
            <a:r>
              <a:rPr lang="en-US" sz="1400"/>
              <a:t/>
            </a:r>
          </a:p>
          <a:p>
            <a:r>
              <a:rPr lang="en-US" sz="1400"/>
              <a:t>SÖYLE: Sayılarla: aday 0.2354, sınır 0.2377; marj bağlar; kabul.</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Quality pairs each demanding concept with its answering family; Q is one minus the mean gap.</a:t>
            </a:r>
          </a:p>
          <a:p>
            <a:r>
              <a:rPr lang="en-US" sz="1400"/>
              <a:t>- Region 2: evacuation demanded 0.674, ordered zero; only quality catches this.</a:t>
            </a:r>
          </a:p>
          <a:p>
            <a:r>
              <a:rPr lang="en-US" sz="1400"/>
              <a:t/>
            </a:r>
          </a:p>
          <a:p>
            <a:r>
              <a:rPr lang="en-US" sz="1400"/>
              <a:t>SÖYLE: Kalite, talep eden her kavramı cevap veren ailesiyle eşler; Q = 1 - ortalama fark.</a:t>
            </a:r>
          </a:p>
          <a:p>
            <a:r>
              <a:rPr lang="en-US" sz="1400"/>
              <a:t>- Bölge 2: tahliye talebi 0.674, emir sıfır; bunu yalnız kalite yakalar.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Derate, never panic; withhold, never pretend.</a:t>
            </a:r>
          </a:p>
          <a:p>
            <a:r>
              <a:rPr lang="en-US" sz="1400"/>
              <a:t>- Offensive families scale toward the watchful baseline; evacuation and warning never reduced.</a:t>
            </a:r>
          </a:p>
          <a:p>
            <a:r>
              <a:rPr lang="en-US" sz="1400"/>
              <a:t/>
            </a:r>
          </a:p>
          <a:p>
            <a:r>
              <a:rPr lang="en-US" sz="1400"/>
              <a:t>SÖYLE: Kıs, asla panikleme; geri tut, asla numara yapma.</a:t>
            </a:r>
          </a:p>
          <a:p>
            <a:r>
              <a:rPr lang="en-US" sz="1400"/>
              <a:t>- Saldırı aileleri temkinli tabana doğru ölçeklenir; tahliye ve uyarı asla azaltılmaz.</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Last station of the map: adaptation.</a:t>
            </a:r>
          </a:p>
          <a:p>
            <a:r>
              <a:rPr lang="en-US" sz="1400"/>
              <a:t/>
            </a:r>
          </a:p>
          <a:p>
            <a:r>
              <a:rPr lang="en-US" sz="1400"/>
              <a:t>SÖYLE: Haritanın son durağı: uyarlanma.</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93020353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whole starting doctrine is five rules; everything else is learned in the field.</a:t>
            </a:r>
          </a:p>
          <a:p>
            <a:r>
              <a:rPr lang="en-US" sz="1400"/>
              <a:t/>
            </a:r>
          </a:p>
          <a:p>
            <a:r>
              <a:rPr lang="en-US" sz="1400"/>
              <a:t>SÖYLE: Başlangıç doktrininin tamamı beş kural; gerisi sahada öğrenilir.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When the cost test fails, a learned controller picks exactly ONE repair.</a:t>
            </a:r>
          </a:p>
          <a:p>
            <a:r>
              <a:rPr lang="en-US" sz="1400"/>
              <a:t>- Uncovered -&gt; write a rule (2); deficit with rules firing -&gt; tune (1); exhausted -&gt; generate (3).</a:t>
            </a:r>
          </a:p>
          <a:p>
            <a:r>
              <a:rPr lang="en-US" sz="1400"/>
              <a:t>- The gates decide what is kept: the controller cannot insert anything.</a:t>
            </a:r>
          </a:p>
          <a:p>
            <a:r>
              <a:rPr lang="en-US" sz="1400"/>
              <a:t/>
            </a:r>
          </a:p>
          <a:p>
            <a:r>
              <a:rPr lang="en-US" sz="1400"/>
              <a:t>SÖYLE: Maliyet testi kalınca öğrenilmiş kontrolcü tam BİR onarım seçer.</a:t>
            </a:r>
          </a:p>
          <a:p>
            <a:r>
              <a:rPr lang="en-US" sz="1400"/>
              <a:t>- Kapsanmayan durum -&gt; kural yaz (2); kurallar ateşliyorken açık -&gt; ayarla (1); tükenince -&gt; üret (3).</a:t>
            </a:r>
          </a:p>
          <a:p>
            <a:r>
              <a:rPr lang="en-US" sz="1400"/>
              <a:t>- Neyin kalacağına kapılar karar verir: kontrolcü tabana hiçbir şey sokamaz.</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Stage 1: one bounded step on the consequents of the strongest firing rules.</a:t>
            </a:r>
          </a:p>
          <a:p>
            <a:r>
              <a:rPr lang="en-US" sz="1400"/>
              <a:t>- Kept only on strict forecast improvement. Record: 616 trials, 129 kept.</a:t>
            </a:r>
          </a:p>
          <a:p>
            <a:r>
              <a:rPr lang="en-US" sz="1400"/>
              <a:t/>
            </a:r>
          </a:p>
          <a:p>
            <a:r>
              <a:rPr lang="en-US" sz="1400"/>
              <a:t>SÖYLE: Aşama 1: en güçlü ateşlenen kuralların sonuçlarında tek sınırlı adım.</a:t>
            </a:r>
          </a:p>
          <a:p>
            <a:r>
              <a:rPr lang="en-US" sz="1400"/>
              <a:t>- Yalniz kesin tahmin iyileşmesiyle tutulur. Kayıt: 616 deneme, 129 tutuldu.</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Stage 2, mode 1: live fire on an empty combination: write a rule there.</a:t>
            </a:r>
          </a:p>
          <a:p>
            <a:r>
              <a:rPr lang="en-US" sz="1400"/>
              <a:t>- Consequents set to what the strongest concepts demand. Record: 359 trials, 40 rules.</a:t>
            </a:r>
          </a:p>
          <a:p>
            <a:r>
              <a:rPr lang="en-US" sz="1400"/>
              <a:t/>
            </a:r>
          </a:p>
          <a:p>
            <a:r>
              <a:rPr lang="en-US" sz="1400"/>
              <a:t>SÖYLE: Aşama 2, mod 1: canlı yangın, boş kombinasyon: oraya kural yazılır.</a:t>
            </a:r>
          </a:p>
          <a:p>
            <a:r>
              <a:rPr lang="en-US" sz="1400"/>
              <a:t>- Sonuçlar tahmin değil, en güçlü kavramların talebine eşitlenir. Kayıt: 359 deneme, 40 kural.</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Stage 2, mode 2: ambiguous reading: insert a narrow term, then write the rule on the refined cell.</a:t>
            </a:r>
          </a:p>
          <a:p>
            <a:r>
              <a:rPr lang="en-US" sz="1400"/>
              <a:t/>
            </a:r>
          </a:p>
          <a:p>
            <a:r>
              <a:rPr lang="en-US" sz="1400"/>
              <a:t>SÖYLE: Aşama 2, mod 2: belirsiz okuma: dar terim eklenir, kural incelmiş hücreye yazılır.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core contribution, on one picture: the model proposes, the gates decide.</a:t>
            </a:r>
          </a:p>
          <a:p>
            <a:r>
              <a:rPr lang="en-US" sz="1400"/>
              <a:t>- One candidate per cycle; five free checks; two paid rollouts; every verdict recorded.</a:t>
            </a:r>
          </a:p>
          <a:p>
            <a:r>
              <a:rPr lang="en-US" sz="1400"/>
              <a:t/>
            </a:r>
          </a:p>
          <a:p>
            <a:r>
              <a:rPr lang="en-US" sz="1400"/>
              <a:t>SÖYLE: Ana katkı tek resimde: model önerir, kapılar karar verir.</a:t>
            </a:r>
          </a:p>
          <a:p>
            <a:r>
              <a:rPr lang="en-US" sz="1400"/>
              <a:t>- Çevrimde tek aday; beş bedava kontrol; iki ücretli rollout; her hüküm kayıtlanır.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prompt is deterministic engine output, not conversation.</a:t>
            </a:r>
          </a:p>
          <a:p>
            <a:r>
              <a:rPr lang="en-US" sz="1400"/>
              <a:t>- Activations + confidences, cost trajectory, vocabulary, availability, past verdicts.</a:t>
            </a:r>
          </a:p>
          <a:p>
            <a:r>
              <a:rPr lang="en-US" sz="1400"/>
              <a:t>- Reply: one JSON object, closed grammar, 90-second cap.</a:t>
            </a:r>
          </a:p>
          <a:p>
            <a:r>
              <a:rPr lang="en-US" sz="1400"/>
              <a:t/>
            </a:r>
          </a:p>
          <a:p>
            <a:r>
              <a:rPr lang="en-US" sz="1400"/>
              <a:t>SÖYLE: Prompt sohbet değil, deterministik motor çıktısıdır.</a:t>
            </a:r>
          </a:p>
          <a:p>
            <a:r>
              <a:rPr lang="en-US" sz="1400"/>
              <a:t>- Aktivasyonlar + güvenler, maliyet gidişatı, sözlük, uygunluk, geçmiş hükümler.</a:t>
            </a:r>
          </a:p>
          <a:p>
            <a:r>
              <a:rPr lang="en-US" sz="1400"/>
              <a:t>- Cevap: tek JSON nesnesi, kapalı gramer, 90 saniye sınırı.</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Six steps, two rollouts total: summarize, propose, screen free, forecast, accept, record.</a:t>
            </a:r>
          </a:p>
          <a:p>
            <a:r>
              <a:rPr lang="en-US" sz="1400"/>
              <a:t/>
            </a:r>
          </a:p>
          <a:p>
            <a:r>
              <a:rPr lang="en-US" sz="1400"/>
              <a:t>SÖYLE: Altı adım, toplam iki rollout: özetle, öner, bedava ele, tahmin et, kabul et, kaydet.</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handover any solver would get: state, variable, objective, constraints, oracle and budget.</a:t>
            </a:r>
          </a:p>
          <a:p>
            <a:r>
              <a:rPr lang="en-US" sz="1400"/>
              <a:t>- RL: sample hungry, non-stationary space. Optimizers: millions of structures vs two rollouts.</a:t>
            </a:r>
          </a:p>
          <a:p>
            <a:r>
              <a:rPr lang="en-US" sz="1400"/>
              <a:t>- The LLM implements only the sampler; the test never changes.</a:t>
            </a:r>
          </a:p>
          <a:p>
            <a:r>
              <a:rPr lang="en-US" sz="1400"/>
              <a:t/>
            </a:r>
          </a:p>
          <a:p>
            <a:r>
              <a:rPr lang="en-US" sz="1400"/>
              <a:t>SÖYLE: Herhangi bir çözücüye verilecek teslim paketi: durum, değişken, amaç, kısıtlar, oracle ve bütçe.</a:t>
            </a:r>
          </a:p>
          <a:p>
            <a:r>
              <a:rPr lang="en-US" sz="1400"/>
              <a:t>- RL: örnek açlığı, büyüyen uzay. Optimizasyon: iki rollout'a karşı milyonlarca yapı.</a:t>
            </a:r>
          </a:p>
          <a:p>
            <a:r>
              <a:rPr lang="en-US" sz="1400"/>
              <a:t>- LLM yalnız örneklemeyi üstlenir; test asla değişmez.</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Admission is an inequality, not an opinion.</a:t>
            </a:r>
          </a:p>
          <a:p>
            <a:r>
              <a:rPr lang="en-US" sz="1400"/>
              <a:t>- Strict decrease on two independent futures; packages beat the margin and survive ablation.</a:t>
            </a:r>
          </a:p>
          <a:p>
            <a:r>
              <a:rPr lang="en-US" sz="1400"/>
              <a:t/>
            </a:r>
          </a:p>
          <a:p>
            <a:r>
              <a:rPr lang="en-US" sz="1400"/>
              <a:t>SÖYLE: Kabul bir eşitsizliktir, bir kanaat değil.</a:t>
            </a:r>
          </a:p>
          <a:p>
            <a:r>
              <a:rPr lang="en-US" sz="1400"/>
              <a:t>- İki bağımsız gelecekte kesin düşüş; paketler marjı geçer ve ablasyondan sağ çıkar.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symptom decides the form.</a:t>
            </a:r>
          </a:p>
          <a:p>
            <a:r>
              <a:rPr lang="en-US" sz="1400"/>
              <a:t>- Coverage gap: rule. Fixed ratio: macro. Unnameable situation: concept. Geometry: actuator.</a:t>
            </a:r>
          </a:p>
          <a:p>
            <a:r>
              <a:rPr lang="en-US" sz="1400"/>
              <a:t/>
            </a:r>
          </a:p>
          <a:p>
            <a:r>
              <a:rPr lang="en-US" sz="1400"/>
              <a:t>SÖYLE: Belirti biçimi seçer.</a:t>
            </a:r>
          </a:p>
          <a:p>
            <a:r>
              <a:rPr lang="en-US" sz="1400"/>
              <a:t>- Kapsama açığı: kural. Sabit oran: makro. Adlandırılamayan durum: kavram. Geometri: aktüatör.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Macro example: backburn = containment 0.6 + suppression 0.4.</a:t>
            </a:r>
          </a:p>
          <a:p>
            <a:r>
              <a:rPr lang="en-US" sz="1400"/>
              <a:t>- One name, one intensity; expands at execution; must pay at G5 and G5b.</a:t>
            </a:r>
          </a:p>
          <a:p>
            <a:r>
              <a:rPr lang="en-US" sz="1400"/>
              <a:t/>
            </a:r>
          </a:p>
          <a:p>
            <a:r>
              <a:rPr lang="en-US" sz="1400"/>
              <a:t>SÖYLE: Makro örneği: backburn = çevreleme 0.6 + bastırma 0.4.</a:t>
            </a:r>
          </a:p>
          <a:p>
            <a:r>
              <a:rPr lang="en-US" sz="1400"/>
              <a:t>- Tek isim, tek şiddet; icrada açılır; G5 ve G5b'de bedelini öder.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59099338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Concept example: ember spotting risk, a new node with five terms and a confidence gate.</a:t>
            </a:r>
          </a:p>
          <a:p>
            <a:r>
              <a:rPr lang="en-US" sz="1400"/>
              <a:t>- G5b is not run for concepts: strike the concept out and the rule itself vanishes.</a:t>
            </a:r>
          </a:p>
          <a:p>
            <a:r>
              <a:rPr lang="en-US" sz="1400"/>
              <a:t/>
            </a:r>
          </a:p>
          <a:p>
            <a:r>
              <a:rPr lang="en-US" sz="1400"/>
              <a:t>SÖYLE: Kavram örneği: ember spotting risk; beş terimli, güven kapılı yeni düğüm.</a:t>
            </a:r>
          </a:p>
          <a:p>
            <a:r>
              <a:rPr lang="en-US" sz="1400"/>
              <a:t>- Kavramda G5b koşulmaz: kavramı çıkarırsan kuralın kendisi yok olur.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98697931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Actuator example: lakeside_capacity_bridge.</a:t>
            </a:r>
          </a:p>
          <a:p>
            <a:r>
              <a:rPr lang="en-US" sz="1400"/>
              <a:t>- Clause = effect + sector + cell band + dose; the compiler resolves sectors on the live map.</a:t>
            </a:r>
          </a:p>
          <a:p>
            <a:r>
              <a:rPr lang="en-US" sz="1400"/>
              <a:t/>
            </a:r>
          </a:p>
          <a:p>
            <a:r>
              <a:rPr lang="en-US" sz="1400"/>
              <a:t>SÖYLE: Aktuator örneği: lakeside_capacity_bridge.</a:t>
            </a:r>
          </a:p>
          <a:p>
            <a:r>
              <a:rPr lang="en-US" sz="1400"/>
              <a:t>- Clause = etki + sektör + hücre bandı + doz; derleyici sektörleri canlı haritada çözer.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67766641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Part 4, five questions: faithful simulator? informative comparisons? does openness pay? what was built? fast enough?</a:t>
            </a:r>
          </a:p>
          <a:p>
            <a:r>
              <a:rPr lang="en-US" sz="1400"/>
              <a:t/>
            </a:r>
          </a:p>
          <a:p>
            <a:r>
              <a:rPr lang="en-US" sz="1400"/>
              <a:t>SÖYLE: Bolum 4, beş soru: simülatör sadık mi? kıyaslar bilgilendirici mi? açıklık kazandırıyor mu? ne üretildi? yeterince hızlı mi?</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Eight criteria, fixed before any experiment, audited at the end.</a:t>
            </a:r>
          </a:p>
          <a:p>
            <a:r>
              <a:rPr lang="en-US" sz="1400"/>
              <a:t/>
            </a:r>
          </a:p>
          <a:p>
            <a:r>
              <a:rPr lang="en-US" sz="1400"/>
              <a:t>SÖYLE: Sekiz kriter, deneylerden önce sabitlendi, sonda tek tek denetlendi.</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ground: 200x200 cells at 90 m, 12-minute cycle, 50 worlds per condition.</a:t>
            </a:r>
          </a:p>
          <a:p>
            <a:r>
              <a:rPr lang="en-US" sz="1400"/>
              <a:t/>
            </a:r>
          </a:p>
          <a:p>
            <a:r>
              <a:rPr lang="en-US" sz="1400"/>
              <a:t>SÖYLE: Zemin: 90 metrede 200x200 hücre, 12 dakikalık çevrim, koşul başına 50 dünya.</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Blind hindcasts: real inputs only, parameters frozen, public data.</a:t>
            </a:r>
          </a:p>
          <a:p>
            <a:r>
              <a:rPr lang="en-US" sz="1400"/>
              <a:t>- 86 to 94% overall agreement, detection 85 to 97%.</a:t>
            </a:r>
          </a:p>
          <a:p>
            <a:r>
              <a:rPr lang="en-US" sz="1400"/>
              <a:t>- Scored on propagation, not area: the free-burning core overpredicts area by design.</a:t>
            </a:r>
          </a:p>
          <a:p>
            <a:r>
              <a:rPr lang="en-US" sz="1400"/>
              <a:t/>
            </a:r>
          </a:p>
          <a:p>
            <a:r>
              <a:rPr lang="en-US" sz="1400"/>
              <a:t>SÖYLE: Kör hindcast: yalnız gerçek girdiler, parametreler donduruldu, veriler kamusal.</a:t>
            </a:r>
          </a:p>
          <a:p>
            <a:r>
              <a:rPr lang="en-US" sz="1400"/>
              <a:t>- Genel uyum %86-94, tespit %85-97.</a:t>
            </a:r>
          </a:p>
          <a:p>
            <a:r>
              <a:rPr lang="en-US" sz="1400"/>
              <a:t>- Alan değil yayılım puanlanır: bastırmasız çekirdek alanı bilerek fazla tahmin eder.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880 runs, one bias at a time: how much miscalibration does the loop tolerate?</a:t>
            </a:r>
          </a:p>
          <a:p>
            <a:r>
              <a:rPr lang="en-US" sz="1400"/>
              <a:t/>
            </a:r>
          </a:p>
          <a:p>
            <a:r>
              <a:rPr lang="en-US" sz="1400"/>
              <a:t>SÖYLE: 880 koşu, her seferinde tek sapma: döngü ne kadar kalibrasyonsuzluğa dayanır?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First find where the game is decidable: four ignitions on a quarter pool.</a:t>
            </a:r>
          </a:p>
          <a:p>
            <a:r>
              <a:rPr lang="en-US" sz="1400"/>
              <a:t>- Lost cells 77-83% of free burn; held cells 14-32%; sweeps run in between.</a:t>
            </a:r>
          </a:p>
          <a:p>
            <a:r>
              <a:rPr lang="en-US" sz="1400"/>
              <a:t/>
            </a:r>
          </a:p>
          <a:p>
            <a:r>
              <a:rPr lang="en-US" sz="1400"/>
              <a:t>SÖYLE: Önce oyunun karar verilebilir olduğu yer bulunur: çeyrek havuzda dört tutuşturma.</a:t>
            </a:r>
          </a:p>
          <a:p>
            <a:r>
              <a:rPr lang="en-US" sz="1400"/>
              <a:t>- Kayıp hücreler serbest yangının %77-83'u; tutulanlar %14-32; taramalar arada koşar.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Observation decides at light load and saturates at five sensors; resources decide at heavy load.</a:t>
            </a:r>
          </a:p>
          <a:p>
            <a:r>
              <a:rPr lang="en-US" sz="1400"/>
              <a:t/>
            </a:r>
          </a:p>
          <a:p>
            <a:r>
              <a:rPr lang="en-US" sz="1400"/>
              <a:t>SÖYLE: Hafif yükte gözlem belirler ve beş sensörde doyar; ağır yükte kaynak belirler.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r>
                  <a:rPr lang="en-US" sz="1400" b="1"/>
                  <a:t>SAY: All thresholds respond gradually, no cliffs.</a:t>
                </a:r>
              </a:p>
              <a:p>
                <a:r>
                  <a:rPr lang="en-US" sz="1400"/>
                  <a:t/>
                </a:r>
              </a:p>
              <a:p>
                <a:r>
                  <a:rPr lang="en-US" sz="1400"/>
                  <a:t>SÖYLE: Tüm eşikler kademeli tepki verir, uçurum yok.</a:t>
                </a:r>
              </a:p>
              <a:p>
                <a:endParaRPr dirty="0"/>
              </a:p>
            </p:txBody>
          </p:sp>
        </mc:Choice>
        <mc:Fallback>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EXPLAIN — The operational thresholds: the decision-cycle formula and its two bounds; the satisficing bound engages the ladder in 42 percent of cycles at 0.35 and saturates at 29.5 percent above 0.45; the quality gate acts only inside the band quality actually occupies (0.55-0.85). Steep directions: cycle and pool below half. Tolerant: coverage, ceiling above nominal, gate.</a:t>
                </a:r>
                <a:br>
                  <a:rPr lang="en-US" sz="1200" dirty="0"/>
                </a:br>
                <a:br>
                  <a:rPr lang="en-US" sz="1200" dirty="0"/>
                </a:br>
                <a:r>
                  <a:rPr lang="en-US" sz="1200" dirty="0">
                    <a:solidFill>
                      <a:srgbClr val="222222"/>
                    </a:solidFill>
                    <a:latin typeface="Calibri" pitchFamily="34" charset="0"/>
                    <a:ea typeface="Calibri" pitchFamily="34" charset="-122"/>
                    <a:cs typeface="Calibri" pitchFamily="34" charset="-120"/>
                  </a:rPr>
                  <a:t>Two bounds: the front advances at most half a cell between decisions, and the plan is revised at least five times inside the no-harm horizon; the result is floored at the integration step. </a:t>
                </a:r>
                <a:r>
                  <a:rPr lang="en-US" sz="1200" b="1" dirty="0">
                    <a:solidFill>
                      <a:srgbClr val="000000"/>
                    </a:solidFill>
                    <a:latin typeface="Calibri" pitchFamily="34" charset="0"/>
                    <a:ea typeface="Calibri" pitchFamily="34" charset="-122"/>
                    <a:cs typeface="Calibri" pitchFamily="34" charset="-120"/>
                  </a:rPr>
                  <a:t>Lengthening the cycle degrades the paired gain monotonically for both fire types — graded, not cliff-edged; the five-world half-width of 11.75 points bounds the effect size.</a:t>
                </a:r>
                <a:endParaRPr lang="en-US" sz="1200" dirty="0"/>
              </a:p>
              <a:p>
                <a:pPr marL="152400" indent="-152400">
                  <a:lnSpc>
                    <a:spcPct val="104000"/>
                  </a:lnSpc>
                  <a:spcAft>
                    <a:spcPts val="600"/>
                  </a:spcAft>
                  <a:buSzPct val="100000"/>
                  <a:buChar char="•"/>
                </a:pPr>
                <a:br>
                  <a:rPr lang="en-US" sz="1200" dirty="0"/>
                </a:br>
                <a:r>
                  <a:rPr lang="en-US" sz="1200" dirty="0">
                    <a:solidFill>
                      <a:srgbClr val="222222"/>
                    </a:solidFill>
                    <a:latin typeface="Calibri" pitchFamily="34" charset="0"/>
                    <a:ea typeface="Calibri" pitchFamily="34" charset="-122"/>
                    <a:cs typeface="Calibri" pitchFamily="34" charset="-120"/>
                  </a:rPr>
                  <a:t>The bound sets how often the adaptation ladder is engaged: 42.0% of cycles at the configured 0.35; flat at 29.5% above 0.45, where the relative margin against no action always binds instead.</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Between 0.35 and 0.45 the engagement falls ≈1.3 points per 0.01 of upward bias; below nominal it rises steeply — tolerant upward, proportional downward.</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Each threshold acts only where its quantity varies: the no-action forecast spans 0.06–0.46 (median 0.23), and decision quality stays in </a:t>
                </a:r>
                <a:r>
                  <a:rPr lang="en-US" sz="1200" i="0">
                    <a:latin typeface="Cambria Math"/>
                  </a:rPr>
                  <a:t>𝑄 ∈ [0.55, 0.85]</a:t>
                </a:r>
                <a:r>
                  <a:rPr lang="en-US" sz="1200" dirty="0">
                    <a:solidFill>
                      <a:srgbClr val="222222"/>
                    </a:solidFill>
                    <a:latin typeface="Calibri" pitchFamily="34" charset="0"/>
                    <a:ea typeface="Calibri" pitchFamily="34" charset="-122"/>
                    <a:cs typeface="Calibri" pitchFamily="34" charset="-120"/>
                  </a:rPr>
                  <a:t>.</a:t>
                </a:r>
                <a:endParaRPr lang="en-US" sz="1200" dirty="0"/>
              </a:p>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Summary — steep directions: the decision cycle and a pool below one half. Tolerant: coverage, the ceiling above nominal, the gate inside the occupied quality band.</a:t>
                </a:r>
                <a:endParaRPr lang="en-US" sz="1200" dirty="0"/>
              </a:p>
              <a:p>
                <a:endParaRPr lang="en-US" sz="1200" dirty="0"/>
              </a:p>
              <a:p>
                <a:endParaRPr lang="en-US" dirty="0"/>
              </a:p>
            </p:txBody>
          </p:sp>
        </mc:Fallback>
      </mc:AlternateContent>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Five families: forest / urban interface, sufficient / limited, plus degraded observation.</a:t>
            </a:r>
          </a:p>
          <a:p>
            <a:r>
              <a:rPr lang="en-US" sz="1400"/>
              <a:t>- Critical fire weather everywhere; 50 worlds each.</a:t>
            </a:r>
          </a:p>
          <a:p>
            <a:r>
              <a:rPr lang="en-US" sz="1400"/>
              <a:t/>
            </a:r>
          </a:p>
          <a:p>
            <a:r>
              <a:rPr lang="en-US" sz="1400"/>
              <a:t>SÖYLE: Bes aile: orman / kentsel arayüz, yeterli / kısıtlı, artı bozuk gözlem.</a:t>
            </a:r>
          </a:p>
          <a:p>
            <a:r>
              <a:rPr lang="en-US" sz="1400"/>
              <a:t>- Her ailede kritik yangın havası; her birinde 50 dünya.</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Every rung pays; the open space pays most.</a:t>
            </a:r>
          </a:p>
          <a:p>
            <a:r>
              <a:rPr lang="en-US" sz="1400"/>
              <a:t>- Burned area 220 -&gt; 84 -&gt; 78 -&gt; 39 hectares: 82% below free burn.</a:t>
            </a:r>
          </a:p>
          <a:p>
            <a:r>
              <a:rPr lang="en-US" sz="1400"/>
              <a:t>- Lowest cost in every family, after charging its own effort.</a:t>
            </a:r>
          </a:p>
          <a:p>
            <a:r>
              <a:rPr lang="en-US" sz="1400"/>
              <a:t/>
            </a:r>
          </a:p>
          <a:p>
            <a:r>
              <a:rPr lang="en-US" sz="1400"/>
              <a:t>SÖYLE: Her basamak kazandırır; en çok açık uzay kazandırır.</a:t>
            </a:r>
          </a:p>
          <a:p>
            <a:r>
              <a:rPr lang="en-US" sz="1400"/>
              <a:t>- Yanan alan 220 -&gt; 84 -&gt; 78 -&gt; 39 hektar: serbest yangının %82 altı.</a:t>
            </a:r>
          </a:p>
          <a:p>
            <a:r>
              <a:rPr lang="en-US" sz="1400"/>
              <a:t>- Kendi emeği fiyatlandıktan sonra her ailede en düşük maliyet.</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Adaptation is frequent, acceptance is strict, and that is the design.</a:t>
            </a:r>
          </a:p>
          <a:p>
            <a:r>
              <a:rPr lang="en-US" sz="1400"/>
              <a:t>- Stage 1: 129 of 616. Stage 2: 40 of 359. Stage 3: 47 of 232.</a:t>
            </a:r>
          </a:p>
          <a:p>
            <a:r>
              <a:rPr lang="en-US" sz="1400"/>
              <a:t>- 151 745 orders fielded, 5 502 withheld, 113 no-harm vetoes.</a:t>
            </a:r>
          </a:p>
          <a:p>
            <a:r>
              <a:rPr lang="en-US" sz="1400"/>
              <a:t/>
            </a:r>
          </a:p>
          <a:p>
            <a:r>
              <a:rPr lang="en-US" sz="1400"/>
              <a:t>SÖYLE: Uyarlanma sık, kabul katıdır; tasarım tam da budur.</a:t>
            </a:r>
          </a:p>
          <a:p>
            <a:r>
              <a:rPr lang="en-US" sz="1400"/>
              <a:t>- Aşama 1: 616'da 129. Aşama 2: 359'da 40. Aşama 3: 232'de 47.</a:t>
            </a:r>
          </a:p>
          <a:p>
            <a:r>
              <a:rPr lang="en-US" sz="1400"/>
              <a:t>- 151 745 emir sahaya indi, 5 502 geri tutuldu, 113 zarar-yok vetosu.</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Every edit is a recorded, bounded correction; nothing drifts silently.</a:t>
            </a:r>
          </a:p>
          <a:p>
            <a:r>
              <a:rPr lang="en-US" sz="1400"/>
              <a:t>- 167 consequent updates, 5 boundary shifts, 4 term insertions, 40 new rules.</a:t>
            </a:r>
          </a:p>
          <a:p>
            <a:r>
              <a:rPr lang="en-US" sz="1400"/>
              <a:t/>
            </a:r>
          </a:p>
          <a:p>
            <a:r>
              <a:rPr lang="en-US" sz="1400"/>
              <a:t>SÖYLE: Her düzenleme kayıtlı, sınırlı bir düzeltmedir; hiçbir şey sessizce kaymaz.</a:t>
            </a:r>
          </a:p>
          <a:p>
            <a:r>
              <a:rPr lang="en-US" sz="1400"/>
              <a:t>- 167 sonuç güncellemesi, 5 sınır kayması, 4 terim ekleme, 40 yeni kural.</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main campaign's ledger: seven macros and one concept survive; generated rules order them.</a:t>
            </a:r>
          </a:p>
          <a:p>
            <a:r>
              <a:rPr lang="en-US" sz="1400"/>
              <a:t>- G14 is the composed case: a generated rule firing on a generated concept.</a:t>
            </a:r>
          </a:p>
          <a:p>
            <a:r>
              <a:rPr lang="en-US" sz="1400"/>
              <a:t>- Main run totals: 232 proposals, 47 admitted (36 rules + 11 packages).</a:t>
            </a:r>
          </a:p>
          <a:p>
            <a:r>
              <a:rPr lang="en-US" sz="1400"/>
              <a:t/>
            </a:r>
          </a:p>
          <a:p>
            <a:r>
              <a:rPr lang="en-US" sz="1400"/>
              <a:t>SÖYLE: Ana kampanyanın defteri: yedi makro ve bir kavram kalır; üretilmiş kurallar onları isimle emreder.</a:t>
            </a:r>
          </a:p>
          <a:p>
            <a:r>
              <a:rPr lang="en-US" sz="1400"/>
              <a:t>- G14 bileşik vaka: üretilmiş bir kavram üzerinde ateşlenen üretilmiş bir kural.</a:t>
            </a:r>
          </a:p>
          <a:p>
            <a:r>
              <a:rPr lang="en-US" sz="1400"/>
              <a:t>- Ana koşu toplamı: 232 öneri, 47 kabul (36 kural + 11 paket).</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second, separate campaign: 35 proposals, 19 admitted, ending in G5b.</a:t>
            </a:r>
          </a:p>
          <a:p>
            <a:r>
              <a:rPr lang="en-US" sz="1400"/>
              <a:t>- Two families: coat the assets before the front; draft from the water.</a:t>
            </a:r>
          </a:p>
          <a:p>
            <a:r>
              <a:rPr lang="en-US" sz="1400"/>
              <a:t>- lakeside_capacity_bridge re-ordered at minute 114 by an unrelated rule: the gain was real.</a:t>
            </a:r>
          </a:p>
          <a:p>
            <a:r>
              <a:rPr lang="en-US" sz="1400"/>
              <a:t/>
            </a:r>
          </a:p>
          <a:p>
            <a:r>
              <a:rPr lang="en-US" sz="1400"/>
              <a:t>SÖYLE: İkinci, ayrı kampanya: 35 öneri, 19 kabul; zincir G5b ile biter.</a:t>
            </a:r>
          </a:p>
          <a:p>
            <a:r>
              <a:rPr lang="en-US" sz="1400"/>
              <a:t>- İki aile: cephe gelmeden varlıkları kapla; sudan ikmalle sahadaki ekibi güçlendir.</a:t>
            </a:r>
          </a:p>
          <a:p>
            <a:r>
              <a:rPr lang="en-US" sz="1400"/>
              <a:t>- lakeside_capacity_bridge dakika 114'te ilişkisiz bir kuralca yeniden emredildi: kazanç gerçekti.</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9D92A-850D-C08C-01F5-2197889290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921BB1-E7FD-1181-370A-2F256B7939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58CCE0-C5DC-C052-F8B2-4E7A2D7CC6F4}"/>
              </a:ext>
            </a:extLst>
          </p:cNvPr>
          <p:cNvSpPr>
            <a:spLocks noGrp="1"/>
          </p:cNvSpPr>
          <p:nvPr>
            <p:ph type="body" idx="1"/>
          </p:nvPr>
        </p:nvSpPr>
        <p:spPr/>
        <p:txBody>
          <a:bodyPr/>
          <a:lstStyle/>
          <a:p>
            <a:r>
              <a:rPr lang="en-US" sz="1400" b="1"/>
              <a:t>SAY: The admitted concepts, both campaigns on one table.</a:t>
            </a:r>
          </a:p>
          <a:p>
            <a:r>
              <a:rPr lang="en-US" sz="1400"/>
              <a:t>- interface_exposure from the main run; three pressure concepts from the actuator run.</a:t>
            </a:r>
          </a:p>
          <a:p>
            <a:r>
              <a:rPr lang="en-US" sz="1400"/>
              <a:t>- Totals: main 232 -&gt; 47; actuator 35 -&gt; 19. Each earlier slide quotes its own campaign.</a:t>
            </a:r>
          </a:p>
          <a:p>
            <a:r>
              <a:rPr lang="en-US" sz="1400"/>
              <a:t/>
            </a:r>
          </a:p>
          <a:p>
            <a:r>
              <a:rPr lang="en-US" sz="1400"/>
              <a:t>SÖYLE: Kabul edilen kavramlar, iki kampanya tek tabloda.</a:t>
            </a:r>
          </a:p>
          <a:p>
            <a:r>
              <a:rPr lang="en-US" sz="1400"/>
              <a:t>- interface_exposure ana koşudan; üç pressure kavramı aktüatör koşusundan.</a:t>
            </a:r>
          </a:p>
          <a:p>
            <a:r>
              <a:rPr lang="en-US" sz="1400"/>
              <a:t>- Toplamlar: ana 232 -&gt; 47; aktüatör 35 -&gt; 19. Önceki her slayt kendi kampanyasını söyler.</a:t>
            </a:r>
          </a:p>
          <a:p>
            <a:endParaRPr dirty="0"/>
          </a:p>
        </p:txBody>
      </p:sp>
      <p:sp>
        <p:nvSpPr>
          <p:cNvPr id="4" name="Slide Number Placeholder 3">
            <a:extLst>
              <a:ext uri="{FF2B5EF4-FFF2-40B4-BE49-F238E27FC236}">
                <a16:creationId xmlns:a16="http://schemas.microsoft.com/office/drawing/2014/main" id="{37CA9A2A-78E7-5DFD-A021-07F4C94E44D9}"/>
              </a:ext>
            </a:extLst>
          </p:cNvPr>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95215941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One incident end to end; every order explains itself.</a:t>
            </a:r>
          </a:p>
          <a:p>
            <a:r>
              <a:rPr lang="en-US" sz="1400"/>
              <a:t>- Accepted trials cluster early; later proposals are refused because little is left to improve.</a:t>
            </a:r>
          </a:p>
          <a:p>
            <a:r>
              <a:rPr lang="en-US" sz="1400"/>
              <a:t/>
            </a:r>
          </a:p>
          <a:p>
            <a:r>
              <a:rPr lang="en-US" sz="1400"/>
              <a:t>SÖYLE: Baştan sona tek yangın; her emir kendini açıklar.</a:t>
            </a:r>
          </a:p>
          <a:p>
            <a:r>
              <a:rPr lang="en-US" sz="1400"/>
              <a:t>- Kabuller erken kümeleniyor; geç öneriler çoğunlukla reddediliyor, çünkü iyileştirilecek az şey kaldı.</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274 milliseconds median against a 12-minute cycle: 0.04%.</a:t>
            </a:r>
          </a:p>
          <a:p>
            <a:r>
              <a:rPr lang="en-US" sz="1400"/>
              <a:t>- 16x agents cost 1.16 to 1.29x; the real driver is domain size.</a:t>
            </a:r>
          </a:p>
          <a:p>
            <a:r>
              <a:rPr lang="en-US" sz="1400"/>
              <a:t/>
            </a:r>
          </a:p>
          <a:p>
            <a:r>
              <a:rPr lang="en-US" sz="1400"/>
              <a:t>SÖYLE: 12 dakikalık çevrime karşı medyan 274 milisaniye: %0.04.</a:t>
            </a:r>
          </a:p>
          <a:p>
            <a:r>
              <a:rPr lang="en-US" sz="1400"/>
              <a:t>- 16 kat ajan 1.16-1.29 kata mal olur; asıl sürücü alan büyüklüğüdür.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The rubric returns: four criteria met in full, four bounded honestly.</a:t>
            </a:r>
          </a:p>
          <a:p>
            <a:r>
              <a:rPr lang="en-US" sz="1400"/>
              <a:t/>
            </a:r>
          </a:p>
          <a:p>
            <a:r>
              <a:rPr lang="en-US" sz="1400"/>
              <a:t>SÖYLE: Rubrik geri döner: dört kriter tam, dordu dürüstçe sınırlı.</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Conclusions and future work.</a:t>
            </a:r>
          </a:p>
          <a:p>
            <a:r>
              <a:rPr lang="en-US" sz="1400"/>
              <a:t/>
            </a:r>
          </a:p>
          <a:p>
            <a:r>
              <a:rPr lang="en-US" sz="1400"/>
              <a:t>SÖYLE: Sonuç ve gelecek çalışmalar.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5358792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Per contribution: what delivered it, what shows it.</a:t>
            </a:r>
          </a:p>
          <a:p>
            <a:r>
              <a:rPr lang="en-US" sz="1400"/>
              <a:t>- C1 ladder behind gates: five rules grew to 47 admitted objects; 82% less burn.</a:t>
            </a:r>
          </a:p>
          <a:p>
            <a:r>
              <a:rPr lang="en-US" sz="1400"/>
              <a:t>- C2 confidence + trace ledger: full traceability; degraded observation still best.</a:t>
            </a:r>
          </a:p>
          <a:p>
            <a:r>
              <a:rPr lang="en-US" sz="1400"/>
              <a:t>- C3 separated cores: 86-94% blind validation, then end to end at 274 ms.</a:t>
            </a:r>
          </a:p>
          <a:p>
            <a:r>
              <a:rPr lang="en-US" sz="1400"/>
              <a:t/>
            </a:r>
          </a:p>
          <a:p>
            <a:r>
              <a:rPr lang="en-US" sz="1400"/>
              <a:t>SÖYLE: Katkı başına: ne teslim etti, ne gösteriyor.</a:t>
            </a:r>
          </a:p>
          <a:p>
            <a:r>
              <a:rPr lang="en-US" sz="1400"/>
              <a:t>- C1 kapıların ardındaki merdiven: beş kural 47 kabul edilmis nesneye büyüdü; %82 az yanan alan.</a:t>
            </a:r>
          </a:p>
          <a:p>
            <a:r>
              <a:rPr lang="en-US" sz="1400"/>
              <a:t>- C2 güven + iz defteri: tam izlenebilirlik; bozuk gözlemde bile en iyi.</a:t>
            </a:r>
          </a:p>
          <a:p>
            <a:r>
              <a:rPr lang="en-US" sz="1400"/>
              <a:t>- C3 ayrık çekirdekler: %86-94 kor doğrulama, sonra 274 ms'de uçtan uca.</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Three boundaries, stated directly: internal baseline, four fires, non-reproducible proposer with a reproducible procedure.</a:t>
            </a:r>
          </a:p>
          <a:p>
            <a:r>
              <a:rPr lang="en-US" sz="1400"/>
              <a:t/>
            </a:r>
          </a:p>
          <a:p>
            <a:r>
              <a:rPr lang="en-US" sz="1400"/>
              <a:t>SÖYLE: Üç sınır, dogrudan: iç kıyas tabanı; dört yangın; yeniden üretilemeyen önerici, ama yeniden üretilebilir prosedür.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Four future studies: operators, other hazards, forecast ensembles, domain scale.</a:t>
            </a:r>
          </a:p>
          <a:p>
            <a:r>
              <a:rPr lang="en-US" sz="1400"/>
              <a:t>- None requires changing the framework.</a:t>
            </a:r>
          </a:p>
          <a:p>
            <a:r>
              <a:rPr lang="en-US" sz="1400"/>
              <a:t/>
            </a:r>
          </a:p>
          <a:p>
            <a:r>
              <a:rPr lang="en-US" sz="1400"/>
              <a:t>SÖYLE: Dört gelecek çalışma: operatörler, diğer afetler, tahmin toplulukları, alan ölçeği.</a:t>
            </a:r>
          </a:p>
          <a:p>
            <a:r>
              <a:rPr lang="en-US" sz="1400"/>
              <a:t>- Hiçbiri çerçevede değişiklik gerektirmez.</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DisasterAware: open where tactics live, closed where physics rules.</a:t>
            </a:r>
          </a:p>
          <a:p>
            <a:r>
              <a:rPr lang="en-US" sz="1400"/>
              <a:t>- Thank the committee; invite questions.</a:t>
            </a:r>
          </a:p>
          <a:p>
            <a:r>
              <a:rPr lang="en-US" sz="1400"/>
              <a:t/>
            </a:r>
          </a:p>
          <a:p>
            <a:r>
              <a:rPr lang="en-US" sz="1400"/>
              <a:t>SÖYLE: DisasterAware: taktiğin yaşadığı yerde açık, fiziğin hüküm sürdüğü yerde kapalı.</a:t>
            </a:r>
          </a:p>
          <a:p>
            <a:r>
              <a:rPr lang="en-US" sz="1400"/>
              <a:t>- Jüriye teşekkür; soruları davet et.</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SAY: Two levels, a sharp division of labor.</a:t>
            </a:r>
          </a:p>
          <a:p>
            <a:r>
              <a:rPr lang="en-US" sz="1400"/>
              <a:t>- LOCAL, one per region: the full four-layer loop; all inference lives here.</a:t>
            </a:r>
          </a:p>
          <a:p>
            <a:r>
              <a:rPr lang="en-US" sz="1400"/>
              <a:t>- GLOBAL, exactly one: no inference, no orders; ranks, shares attention, allocates, sets thresholds.</a:t>
            </a:r>
          </a:p>
          <a:p>
            <a:r>
              <a:rPr lang="en-US" sz="1400"/>
              <a:t>- Narrow channel: three numbers up, three down. That is why 16x agents cost only 1.29x.</a:t>
            </a:r>
          </a:p>
          <a:p>
            <a:r>
              <a:rPr lang="en-US" sz="1400"/>
              <a:t/>
            </a:r>
          </a:p>
          <a:p>
            <a:r>
              <a:rPr lang="en-US" sz="1400"/>
              <a:t>SÖYLE: İki seviye, keskin iş bölümü.</a:t>
            </a:r>
          </a:p>
          <a:p>
            <a:r>
              <a:rPr lang="en-US" sz="1400"/>
              <a:t>- YEREL, bölge başına bir: dört katmanlı döngünün tamamı; tüm çıkarım burada.</a:t>
            </a:r>
          </a:p>
          <a:p>
            <a:r>
              <a:rPr lang="en-US" sz="1400"/>
              <a:t>- KÜRESEL, tam bir tane: çıkarım yok, emir yok; sıralar, dikkat payı dağıtır, havuzu paylaştırır, eşikleri koyar.</a:t>
            </a:r>
          </a:p>
          <a:p>
            <a:r>
              <a:rPr lang="en-US" sz="1400"/>
              <a:t>- Dar kanal: yukarı üç sayı, aşağı üç sayı. 16 kat ajanın yalnız 1.29 kata mal olmasının nedeni bu.</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jpeg"/><Relationship Id="rId5" Type="http://schemas.openxmlformats.org/officeDocument/2006/relationships/image" Target="../media/image3.png"/><Relationship Id="rId10" Type="http://schemas.openxmlformats.org/officeDocument/2006/relationships/image" Target="../media/image8.jpeg"/><Relationship Id="rId4" Type="http://schemas.openxmlformats.org/officeDocument/2006/relationships/image" Target="../media/image2.png"/><Relationship Id="rId9" Type="http://schemas.openxmlformats.org/officeDocument/2006/relationships/image" Target="../media/image7.jpe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2.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1.png"/><Relationship Id="rId7" Type="http://schemas.openxmlformats.org/officeDocument/2006/relationships/diagramLayout" Target="../diagrams/layout1.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diagramData" Target="../diagrams/data1.xml"/><Relationship Id="rId5" Type="http://schemas.openxmlformats.org/officeDocument/2006/relationships/image" Target="../media/image1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13.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3.png"/><Relationship Id="rId3" Type="http://schemas.openxmlformats.org/officeDocument/2006/relationships/image" Target="../media/image1.png"/><Relationship Id="rId12" Type="http://schemas.openxmlformats.org/officeDocument/2006/relationships/image" Target="NUL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image" Target="NULL"/><Relationship Id="rId5" Type="http://schemas.openxmlformats.org/officeDocument/2006/relationships/image" Target="../media/image17.png"/><Relationship Id="rId10" Type="http://schemas.openxmlformats.org/officeDocument/2006/relationships/image" Target="NULL"/><Relationship Id="rId4" Type="http://schemas.openxmlformats.org/officeDocument/2006/relationships/image" Target="../media/image2.png"/><Relationship Id="rId9" Type="http://schemas.openxmlformats.org/officeDocument/2006/relationships/image" Target="NUL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12"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8.png"/><Relationship Id="rId11" Type="http://schemas.openxmlformats.org/officeDocument/2006/relationships/image" Target="../media/image19.png"/><Relationship Id="rId10" Type="http://schemas.openxmlformats.org/officeDocument/2006/relationships/image" Target="../media/image13.png"/><Relationship Id="rId4" Type="http://schemas.openxmlformats.org/officeDocument/2006/relationships/image" Target="../media/image2.png"/><Relationship Id="rId9" Type="http://schemas.openxmlformats.org/officeDocument/2006/relationships/image" Target="../media/image1110.png"/></Relationships>
</file>

<file path=ppt/slides/_rels/slide15.xml.rels><?xml version="1.0" encoding="UTF-8" standalone="yes"?>
<Relationships xmlns="http://schemas.openxmlformats.org/package/2006/relationships"><Relationship Id="rId8" Type="http://schemas.openxmlformats.org/officeDocument/2006/relationships/image" Target="../media/image1310.png"/><Relationship Id="rId3" Type="http://schemas.openxmlformats.org/officeDocument/2006/relationships/image" Target="../media/image1.png"/><Relationship Id="rId7" Type="http://schemas.openxmlformats.org/officeDocument/2006/relationships/image" Target="../media/image1210.png"/><Relationship Id="rId2" Type="http://schemas.openxmlformats.org/officeDocument/2006/relationships/notesSlide" Target="../notesSlides/notesSlide15.xml"/><Relationship Id="rId1" Type="http://schemas.openxmlformats.org/officeDocument/2006/relationships/slideLayout" Target="../slideLayouts/slideLayout1.xml"/><Relationship Id="rId11" Type="http://schemas.openxmlformats.org/officeDocument/2006/relationships/image" Target="../media/image19.png"/><Relationship Id="rId10" Type="http://schemas.openxmlformats.org/officeDocument/2006/relationships/image" Target="../media/image13.png"/><Relationship Id="rId4" Type="http://schemas.openxmlformats.org/officeDocument/2006/relationships/image" Target="../media/image2.png"/><Relationship Id="rId9" Type="http://schemas.openxmlformats.org/officeDocument/2006/relationships/image" Target="../media/image21.png"/></Relationships>
</file>

<file path=ppt/slides/_rels/slide1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png"/><Relationship Id="rId7" Type="http://schemas.openxmlformats.org/officeDocument/2006/relationships/image" Target="../media/image1510.png"/><Relationship Id="rId12"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 Id="rId11" Type="http://schemas.openxmlformats.org/officeDocument/2006/relationships/image" Target="../media/image19.png"/><Relationship Id="rId4" Type="http://schemas.openxmlformats.org/officeDocument/2006/relationships/image" Target="../media/image2.png"/><Relationship Id="rId9" Type="http://schemas.openxmlformats.org/officeDocument/2006/relationships/image" Target="../media/image22.png"/></Relationships>
</file>

<file path=ppt/slides/_rels/slide1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png"/><Relationship Id="rId7" Type="http://schemas.openxmlformats.org/officeDocument/2006/relationships/image" Target="../media/image180.png"/><Relationship Id="rId2" Type="http://schemas.openxmlformats.org/officeDocument/2006/relationships/notesSlide" Target="../notesSlides/notesSlide17.xml"/><Relationship Id="rId1" Type="http://schemas.openxmlformats.org/officeDocument/2006/relationships/slideLayout" Target="../slideLayouts/slideLayout1.xml"/><Relationship Id="rId10" Type="http://schemas.openxmlformats.org/officeDocument/2006/relationships/image" Target="../media/image13.png"/><Relationship Id="rId4" Type="http://schemas.openxmlformats.org/officeDocument/2006/relationships/image" Target="../media/image2.png"/><Relationship Id="rId9" Type="http://schemas.openxmlformats.org/officeDocument/2006/relationships/image" Target="../media/image200.png"/></Relationships>
</file>

<file path=ppt/slides/_rels/slide1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png"/><Relationship Id="rId7" Type="http://schemas.openxmlformats.org/officeDocument/2006/relationships/image" Target="../media/image210.png"/><Relationship Id="rId2" Type="http://schemas.openxmlformats.org/officeDocument/2006/relationships/notesSlide" Target="../notesSlides/notesSlide18.xml"/><Relationship Id="rId1" Type="http://schemas.openxmlformats.org/officeDocument/2006/relationships/slideLayout" Target="../slideLayouts/slideLayout1.xml"/><Relationship Id="rId11" Type="http://schemas.openxmlformats.org/officeDocument/2006/relationships/image" Target="../media/image19.png"/><Relationship Id="rId10" Type="http://schemas.openxmlformats.org/officeDocument/2006/relationships/image" Target="../media/image13.png"/><Relationship Id="rId4" Type="http://schemas.openxmlformats.org/officeDocument/2006/relationships/image" Target="../media/image2.png"/><Relationship Id="rId9" Type="http://schemas.openxmlformats.org/officeDocument/2006/relationships/image" Target="../media/image230.png"/></Relationships>
</file>

<file path=ppt/slides/_rels/slide19.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24.png"/><Relationship Id="rId3" Type="http://schemas.openxmlformats.org/officeDocument/2006/relationships/image" Target="../media/image1.png"/><Relationship Id="rId12" Type="http://schemas.openxmlformats.org/officeDocument/2006/relationships/image" Target="NUL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image" Target="NULL"/><Relationship Id="rId5" Type="http://schemas.openxmlformats.org/officeDocument/2006/relationships/image" Target="../media/image17.png"/><Relationship Id="rId10" Type="http://schemas.openxmlformats.org/officeDocument/2006/relationships/image" Target="NULL"/><Relationship Id="rId4" Type="http://schemas.openxmlformats.org/officeDocument/2006/relationships/image" Target="../media/image2.png"/><Relationship Id="rId9" Type="http://schemas.openxmlformats.org/officeDocument/2006/relationships/image" Target="NULL"/><Relationship Id="rId1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png"/><Relationship Id="rId7"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16.png"/><Relationship Id="rId4" Type="http://schemas.openxmlformats.org/officeDocument/2006/relationships/image" Target="../media/image2.png"/><Relationship Id="rId9" Type="http://schemas.openxmlformats.org/officeDocument/2006/relationships/image" Target="../media/image13.png"/></Relationships>
</file>

<file path=ppt/slides/_rels/slide2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1.png"/><Relationship Id="rId7"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png"/><Relationship Id="rId9" Type="http://schemas.openxmlformats.org/officeDocument/2006/relationships/image" Target="../media/image33.png"/></Relationships>
</file>

<file path=ppt/slides/_rels/slide23.xml.rels><?xml version="1.0" encoding="UTF-8" standalone="yes"?>
<Relationships xmlns="http://schemas.openxmlformats.org/package/2006/relationships"><Relationship Id="rId8" Type="http://schemas.openxmlformats.org/officeDocument/2006/relationships/image" Target="../media/image270.png"/><Relationship Id="rId3" Type="http://schemas.openxmlformats.org/officeDocument/2006/relationships/image" Target="../media/image1.png"/><Relationship Id="rId7" Type="http://schemas.openxmlformats.org/officeDocument/2006/relationships/image" Target="../media/image260.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5.png"/><Relationship Id="rId11" Type="http://schemas.openxmlformats.org/officeDocument/2006/relationships/image" Target="../media/image37.png"/><Relationship Id="rId5" Type="http://schemas.openxmlformats.org/officeDocument/2006/relationships/image" Target="../media/image34.png"/><Relationship Id="rId10" Type="http://schemas.openxmlformats.org/officeDocument/2006/relationships/image" Target="../media/image36.png"/><Relationship Id="rId4" Type="http://schemas.openxmlformats.org/officeDocument/2006/relationships/image" Target="../media/image2.png"/><Relationship Id="rId9"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1.png"/><Relationship Id="rId7" Type="http://schemas.openxmlformats.org/officeDocument/2006/relationships/image" Target="../media/image350.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340.png"/><Relationship Id="rId5" Type="http://schemas.openxmlformats.org/officeDocument/2006/relationships/image" Target="../media/image13.png"/><Relationship Id="rId10" Type="http://schemas.openxmlformats.org/officeDocument/2006/relationships/image" Target="../media/image41.png"/><Relationship Id="rId4" Type="http://schemas.openxmlformats.org/officeDocument/2006/relationships/image" Target="../media/image2.png"/><Relationship Id="rId9" Type="http://schemas.openxmlformats.org/officeDocument/2006/relationships/image" Target="../media/image40.png"/></Relationships>
</file>

<file path=ppt/slides/_rels/slide26.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1.png"/><Relationship Id="rId7" Type="http://schemas.openxmlformats.org/officeDocument/2006/relationships/image" Target="../media/image41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400.png"/><Relationship Id="rId5" Type="http://schemas.openxmlformats.org/officeDocument/2006/relationships/image" Target="../media/image13.png"/><Relationship Id="rId10" Type="http://schemas.openxmlformats.org/officeDocument/2006/relationships/image" Target="../media/image44.png"/><Relationship Id="rId4" Type="http://schemas.openxmlformats.org/officeDocument/2006/relationships/image" Target="../media/image2.png"/><Relationship Id="rId9" Type="http://schemas.openxmlformats.org/officeDocument/2006/relationships/image" Target="../media/image43.png"/></Relationships>
</file>

<file path=ppt/slides/_rels/slide27.xml.rels><?xml version="1.0" encoding="UTF-8" standalone="yes"?>
<Relationships xmlns="http://schemas.openxmlformats.org/package/2006/relationships"><Relationship Id="rId8" Type="http://schemas.openxmlformats.org/officeDocument/2006/relationships/image" Target="../media/image370.png"/><Relationship Id="rId13" Type="http://schemas.openxmlformats.org/officeDocument/2006/relationships/image" Target="../media/image48.png"/><Relationship Id="rId3" Type="http://schemas.openxmlformats.org/officeDocument/2006/relationships/image" Target="../media/image1.png"/><Relationship Id="rId7" Type="http://schemas.openxmlformats.org/officeDocument/2006/relationships/image" Target="NULL"/><Relationship Id="rId12" Type="http://schemas.openxmlformats.org/officeDocument/2006/relationships/image" Target="../media/image47.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NULL"/><Relationship Id="rId11" Type="http://schemas.openxmlformats.org/officeDocument/2006/relationships/image" Target="../media/image46.png"/><Relationship Id="rId5" Type="http://schemas.openxmlformats.org/officeDocument/2006/relationships/image" Target="../media/image13.png"/><Relationship Id="rId10" Type="http://schemas.openxmlformats.org/officeDocument/2006/relationships/image" Target="../media/image45.png"/><Relationship Id="rId4" Type="http://schemas.openxmlformats.org/officeDocument/2006/relationships/image" Target="../media/image2.png"/><Relationship Id="rId9" Type="http://schemas.openxmlformats.org/officeDocument/2006/relationships/image" Target="../media/image380.png"/></Relationships>
</file>

<file path=ppt/slides/_rels/slide28.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1.png"/><Relationship Id="rId7" Type="http://schemas.openxmlformats.org/officeDocument/2006/relationships/image" Target="../media/image49.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480.png"/><Relationship Id="rId5" Type="http://schemas.openxmlformats.org/officeDocument/2006/relationships/image" Target="../media/image13.png"/><Relationship Id="rId4" Type="http://schemas.openxmlformats.org/officeDocument/2006/relationships/image" Target="../media/image2.png"/><Relationship Id="rId9" Type="http://schemas.openxmlformats.org/officeDocument/2006/relationships/image" Target="../media/image51.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10.png"/><Relationship Id="rId5" Type="http://schemas.openxmlformats.org/officeDocument/2006/relationships/image" Target="../media/image13.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38.png"/><Relationship Id="rId7" Type="http://schemas.openxmlformats.org/officeDocument/2006/relationships/image" Target="../media/image56.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 Id="rId9"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9.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2.png"/></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7" Type="http://schemas.openxmlformats.org/officeDocument/2006/relationships/image" Target="../media/image38.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1.png"/><Relationship Id="rId7" Type="http://schemas.openxmlformats.org/officeDocument/2006/relationships/image" Target="../media/image67.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61.png"/><Relationship Id="rId5" Type="http://schemas.openxmlformats.org/officeDocument/2006/relationships/image" Target="../media/image52.png"/><Relationship Id="rId4" Type="http://schemas.openxmlformats.org/officeDocument/2006/relationships/image" Target="../media/image2.png"/></Relationships>
</file>

<file path=ppt/slides/_rels/slide39.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1.png"/><Relationship Id="rId7" Type="http://schemas.openxmlformats.org/officeDocument/2006/relationships/image" Target="../media/image76.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75.png"/><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9.png"/><Relationship Id="rId4" Type="http://schemas.openxmlformats.org/officeDocument/2006/relationships/image" Target="../media/image68.png"/></Relationships>
</file>

<file path=ppt/slides/_rels/slide41.xml.rels><?xml version="1.0" encoding="UTF-8" standalone="yes"?>
<Relationships xmlns="http://schemas.openxmlformats.org/package/2006/relationships"><Relationship Id="rId8" Type="http://schemas.openxmlformats.org/officeDocument/2006/relationships/image" Target="../media/image72.png"/><Relationship Id="rId3" Type="http://schemas.openxmlformats.org/officeDocument/2006/relationships/image" Target="../media/image1.png"/><Relationship Id="rId7" Type="http://schemas.openxmlformats.org/officeDocument/2006/relationships/image" Target="../media/image71.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0.png"/><Relationship Id="rId4" Type="http://schemas.openxmlformats.org/officeDocument/2006/relationships/image" Target="../media/image2.png"/><Relationship Id="rId9" Type="http://schemas.openxmlformats.org/officeDocument/2006/relationships/image" Target="../media/image73.png"/></Relationships>
</file>

<file path=ppt/slides/_rels/slide4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5.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46.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image" Target="../media/image1.png"/><Relationship Id="rId7" Type="http://schemas.openxmlformats.org/officeDocument/2006/relationships/image" Target="../media/image77.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74.png"/><Relationship Id="rId5" Type="http://schemas.openxmlformats.org/officeDocument/2006/relationships/image" Target="../media/image66.png"/><Relationship Id="rId4" Type="http://schemas.openxmlformats.org/officeDocument/2006/relationships/image" Target="../media/image2.png"/></Relationships>
</file>

<file path=ppt/slides/_rels/slide47.xml.rels><?xml version="1.0" encoding="UTF-8" standalone="yes"?>
<Relationships xmlns="http://schemas.openxmlformats.org/package/2006/relationships"><Relationship Id="rId8" Type="http://schemas.openxmlformats.org/officeDocument/2006/relationships/image" Target="../media/image80.png"/><Relationship Id="rId3" Type="http://schemas.openxmlformats.org/officeDocument/2006/relationships/image" Target="../media/image1.png"/><Relationship Id="rId7" Type="http://schemas.openxmlformats.org/officeDocument/2006/relationships/image" Target="../media/image90.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88.png"/><Relationship Id="rId4" Type="http://schemas.openxmlformats.org/officeDocument/2006/relationships/image" Target="../media/image2.png"/></Relationships>
</file>

<file path=ppt/slides/_rels/slide4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94.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image" Target="../media/image1.png"/><Relationship Id="rId7" Type="http://schemas.openxmlformats.org/officeDocument/2006/relationships/image" Target="../media/image83.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82.png"/><Relationship Id="rId5" Type="http://schemas.openxmlformats.org/officeDocument/2006/relationships/image" Target="../media/image81.png"/><Relationship Id="rId10" Type="http://schemas.openxmlformats.org/officeDocument/2006/relationships/image" Target="../media/image86.png"/><Relationship Id="rId4" Type="http://schemas.openxmlformats.org/officeDocument/2006/relationships/image" Target="../media/image2.png"/><Relationship Id="rId9" Type="http://schemas.openxmlformats.org/officeDocument/2006/relationships/image" Target="../media/image85.png"/></Relationships>
</file>

<file path=ppt/slides/_rels/slide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89.png"/><Relationship Id="rId5" Type="http://schemas.openxmlformats.org/officeDocument/2006/relationships/image" Target="../media/image87.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image" Target="../media/image1.png"/><Relationship Id="rId7" Type="http://schemas.openxmlformats.org/officeDocument/2006/relationships/image" Target="../media/image99.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2.png"/><Relationship Id="rId9" Type="http://schemas.openxmlformats.org/officeDocument/2006/relationships/image" Target="../media/image101.png"/></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4.xml"/><Relationship Id="rId1" Type="http://schemas.openxmlformats.org/officeDocument/2006/relationships/slideLayout" Target="../slideLayouts/slideLayout1.xml"/><Relationship Id="rId5" Type="http://schemas.openxmlformats.org/officeDocument/2006/relationships/image" Target="../media/image102.png"/><Relationship Id="rId4" Type="http://schemas.openxmlformats.org/officeDocument/2006/relationships/image" Target="../media/image2.png"/></Relationships>
</file>

<file path=ppt/slides/_rels/slide5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5.xml"/><Relationship Id="rId1" Type="http://schemas.openxmlformats.org/officeDocument/2006/relationships/slideLayout" Target="../slideLayouts/slideLayout1.xml"/><Relationship Id="rId5" Type="http://schemas.openxmlformats.org/officeDocument/2006/relationships/image" Target="../media/image103.png"/><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6.xml"/><Relationship Id="rId1" Type="http://schemas.openxmlformats.org/officeDocument/2006/relationships/slideLayout" Target="../slideLayouts/slideLayout1.xml"/><Relationship Id="rId5" Type="http://schemas.openxmlformats.org/officeDocument/2006/relationships/image" Target="../media/image104.png"/><Relationship Id="rId4" Type="http://schemas.openxmlformats.org/officeDocument/2006/relationships/image" Target="../media/image2.png"/></Relationships>
</file>

<file path=ppt/slides/_rels/slide5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8.xml"/><Relationship Id="rId1" Type="http://schemas.openxmlformats.org/officeDocument/2006/relationships/slideLayout" Target="../slideLayouts/slideLayout1.xml"/><Relationship Id="rId5" Type="http://schemas.openxmlformats.org/officeDocument/2006/relationships/image" Target="../media/image105.png"/><Relationship Id="rId4" Type="http://schemas.openxmlformats.org/officeDocument/2006/relationships/image" Target="../media/image2.png"/></Relationships>
</file>

<file path=ppt/slides/_rels/slide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1.xml.rels><?xml version="1.0" encoding="UTF-8" standalone="yes"?>
<Relationships xmlns="http://schemas.openxmlformats.org/package/2006/relationships"><Relationship Id="rId8" Type="http://schemas.openxmlformats.org/officeDocument/2006/relationships/image" Target="../media/image108.png"/><Relationship Id="rId3" Type="http://schemas.openxmlformats.org/officeDocument/2006/relationships/image" Target="../media/image1.png"/><Relationship Id="rId7" Type="http://schemas.openxmlformats.org/officeDocument/2006/relationships/image" Target="../media/image107.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2.png"/><Relationship Id="rId9" Type="http://schemas.openxmlformats.org/officeDocument/2006/relationships/image" Target="../media/image109.png"/></Relationships>
</file>

<file path=ppt/slides/_rels/slide6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3.xml"/><Relationship Id="rId1" Type="http://schemas.openxmlformats.org/officeDocument/2006/relationships/slideLayout" Target="../slideLayouts/slideLayout1.xml"/><Relationship Id="rId5" Type="http://schemas.openxmlformats.org/officeDocument/2006/relationships/image" Target="../media/image110.png"/><Relationship Id="rId4" Type="http://schemas.openxmlformats.org/officeDocument/2006/relationships/image" Target="../media/image2.png"/></Relationships>
</file>

<file path=ppt/slides/_rels/slide6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4.xml"/><Relationship Id="rId1" Type="http://schemas.openxmlformats.org/officeDocument/2006/relationships/slideLayout" Target="../slideLayouts/slideLayout1.xml"/><Relationship Id="rId5" Type="http://schemas.openxmlformats.org/officeDocument/2006/relationships/image" Target="../media/image110.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5.xml"/><Relationship Id="rId1" Type="http://schemas.openxmlformats.org/officeDocument/2006/relationships/slideLayout" Target="../slideLayouts/slideLayout1.xml"/><Relationship Id="rId5" Type="http://schemas.openxmlformats.org/officeDocument/2006/relationships/image" Target="../media/image110.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8.xml"/><Relationship Id="rId1" Type="http://schemas.openxmlformats.org/officeDocument/2006/relationships/slideLayout" Target="../slideLayouts/slideLayout1.xml"/><Relationship Id="rId5" Type="http://schemas.openxmlformats.org/officeDocument/2006/relationships/image" Target="../media/image111.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9.xml"/><Relationship Id="rId1" Type="http://schemas.openxmlformats.org/officeDocument/2006/relationships/slideLayout" Target="../slideLayouts/slideLayout1.xml"/><Relationship Id="rId6" Type="http://schemas.openxmlformats.org/officeDocument/2006/relationships/image" Target="../media/image113.emf"/><Relationship Id="rId5" Type="http://schemas.openxmlformats.org/officeDocument/2006/relationships/image" Target="../media/image112.png"/><Relationship Id="rId4" Type="http://schemas.openxmlformats.org/officeDocument/2006/relationships/image" Target="../media/image2.png"/></Relationships>
</file>

<file path=ppt/slides/_rels/slide7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0.xml"/><Relationship Id="rId1" Type="http://schemas.openxmlformats.org/officeDocument/2006/relationships/slideLayout" Target="../slideLayouts/slideLayout1.xml"/><Relationship Id="rId5" Type="http://schemas.openxmlformats.org/officeDocument/2006/relationships/image" Target="../media/image114.png"/><Relationship Id="rId4" Type="http://schemas.openxmlformats.org/officeDocument/2006/relationships/image" Target="../media/image2.png"/></Relationships>
</file>

<file path=ppt/slides/_rels/slide7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1.xml"/><Relationship Id="rId1" Type="http://schemas.openxmlformats.org/officeDocument/2006/relationships/slideLayout" Target="../slideLayouts/slideLayout1.xml"/><Relationship Id="rId5" Type="http://schemas.openxmlformats.org/officeDocument/2006/relationships/image" Target="../media/image115.png"/><Relationship Id="rId4" Type="http://schemas.openxmlformats.org/officeDocument/2006/relationships/image" Target="../media/image2.png"/></Relationships>
</file>

<file path=ppt/slides/_rels/slide72.xml.rels><?xml version="1.0" encoding="UTF-8" standalone="yes"?>
<Relationships xmlns="http://schemas.openxmlformats.org/package/2006/relationships"><Relationship Id="rId8" Type="http://schemas.openxmlformats.org/officeDocument/2006/relationships/image" Target="../media/image119.png"/><Relationship Id="rId3" Type="http://schemas.openxmlformats.org/officeDocument/2006/relationships/image" Target="../media/image1.png"/><Relationship Id="rId7" Type="http://schemas.openxmlformats.org/officeDocument/2006/relationships/image" Target="../media/image118.png"/><Relationship Id="rId2" Type="http://schemas.openxmlformats.org/officeDocument/2006/relationships/notesSlide" Target="../notesSlides/notesSlide72.xml"/><Relationship Id="rId1" Type="http://schemas.openxmlformats.org/officeDocument/2006/relationships/slideLayout" Target="../slideLayouts/slideLayout1.xml"/><Relationship Id="rId6" Type="http://schemas.openxmlformats.org/officeDocument/2006/relationships/image" Target="../media/image117.png"/><Relationship Id="rId5" Type="http://schemas.openxmlformats.org/officeDocument/2006/relationships/image" Target="../media/image116.png"/><Relationship Id="rId4" Type="http://schemas.openxmlformats.org/officeDocument/2006/relationships/image" Target="../media/image2.png"/></Relationships>
</file>

<file path=ppt/slides/_rels/slide73.xml.rels><?xml version="1.0" encoding="UTF-8" standalone="yes"?>
<Relationships xmlns="http://schemas.openxmlformats.org/package/2006/relationships"><Relationship Id="rId8" Type="http://schemas.openxmlformats.org/officeDocument/2006/relationships/image" Target="../media/image123.png"/><Relationship Id="rId3" Type="http://schemas.openxmlformats.org/officeDocument/2006/relationships/image" Target="../media/image1.png"/><Relationship Id="rId7" Type="http://schemas.openxmlformats.org/officeDocument/2006/relationships/image" Target="../media/image122.png"/><Relationship Id="rId2" Type="http://schemas.openxmlformats.org/officeDocument/2006/relationships/notesSlide" Target="../notesSlides/notesSlide73.xml"/><Relationship Id="rId1" Type="http://schemas.openxmlformats.org/officeDocument/2006/relationships/slideLayout" Target="../slideLayouts/slideLayout1.xml"/><Relationship Id="rId6" Type="http://schemas.openxmlformats.org/officeDocument/2006/relationships/image" Target="../media/image121.png"/><Relationship Id="rId5" Type="http://schemas.openxmlformats.org/officeDocument/2006/relationships/image" Target="../media/image120.png"/><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8" Type="http://schemas.openxmlformats.org/officeDocument/2006/relationships/image" Target="../media/image127.png"/><Relationship Id="rId3" Type="http://schemas.openxmlformats.org/officeDocument/2006/relationships/image" Target="../media/image1.png"/><Relationship Id="rId7" Type="http://schemas.openxmlformats.org/officeDocument/2006/relationships/image" Target="../media/image126.png"/><Relationship Id="rId2" Type="http://schemas.openxmlformats.org/officeDocument/2006/relationships/notesSlide" Target="../notesSlides/notesSlide74.xml"/><Relationship Id="rId1" Type="http://schemas.openxmlformats.org/officeDocument/2006/relationships/slideLayout" Target="../slideLayouts/slideLayout1.xml"/><Relationship Id="rId6" Type="http://schemas.openxmlformats.org/officeDocument/2006/relationships/image" Target="../media/image125.png"/><Relationship Id="rId5" Type="http://schemas.openxmlformats.org/officeDocument/2006/relationships/image" Target="../media/image124.png"/><Relationship Id="rId4" Type="http://schemas.openxmlformats.org/officeDocument/2006/relationships/image" Target="../media/image2.png"/></Relationships>
</file>

<file path=ppt/slides/_rels/slide7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30.png"/><Relationship Id="rId2" Type="http://schemas.openxmlformats.org/officeDocument/2006/relationships/notesSlide" Target="../notesSlides/notesSlide75.xml"/><Relationship Id="rId1" Type="http://schemas.openxmlformats.org/officeDocument/2006/relationships/slideLayout" Target="../slideLayouts/slideLayout1.xml"/><Relationship Id="rId6" Type="http://schemas.openxmlformats.org/officeDocument/2006/relationships/image" Target="../media/image129.png"/><Relationship Id="rId5" Type="http://schemas.openxmlformats.org/officeDocument/2006/relationships/image" Target="../media/image128.png"/><Relationship Id="rId4" Type="http://schemas.openxmlformats.org/officeDocument/2006/relationships/image" Target="../media/image2.png"/></Relationships>
</file>

<file path=ppt/slides/_rels/slide7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6.xml"/><Relationship Id="rId1" Type="http://schemas.openxmlformats.org/officeDocument/2006/relationships/slideLayout" Target="../slideLayouts/slideLayout1.xml"/><Relationship Id="rId5" Type="http://schemas.openxmlformats.org/officeDocument/2006/relationships/image" Target="../media/image131.png"/><Relationship Id="rId4" Type="http://schemas.openxmlformats.org/officeDocument/2006/relationships/image" Target="../media/image2.png"/></Relationships>
</file>

<file path=ppt/slides/_rels/slide7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8.xml"/><Relationship Id="rId1" Type="http://schemas.openxmlformats.org/officeDocument/2006/relationships/slideLayout" Target="../slideLayouts/slideLayout1.xml"/><Relationship Id="rId5" Type="http://schemas.openxmlformats.org/officeDocument/2006/relationships/image" Target="../media/image132.png"/><Relationship Id="rId4" Type="http://schemas.openxmlformats.org/officeDocument/2006/relationships/image" Target="../media/image2.png"/></Relationships>
</file>

<file path=ppt/slides/_rels/slide7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1.xml"/><Relationship Id="rId1" Type="http://schemas.openxmlformats.org/officeDocument/2006/relationships/slideLayout" Target="../slideLayouts/slideLayout1.xml"/><Relationship Id="rId5" Type="http://schemas.openxmlformats.org/officeDocument/2006/relationships/image" Target="../media/image133.png"/><Relationship Id="rId4" Type="http://schemas.openxmlformats.org/officeDocument/2006/relationships/image" Target="../media/image2.png"/></Relationships>
</file>

<file path=ppt/slides/_rels/slide8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2.xml"/><Relationship Id="rId1" Type="http://schemas.openxmlformats.org/officeDocument/2006/relationships/slideLayout" Target="../slideLayouts/slideLayout1.xml"/><Relationship Id="rId5" Type="http://schemas.openxmlformats.org/officeDocument/2006/relationships/image" Target="../media/image13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00.xml.rels><?xml version="1.0" encoding="UTF-8" standalone="yes"?>
<Relationships xmlns="http://schemas.openxmlformats.org/package/2006/relationships"><Relationship Id="rId3"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2.png"/><Relationship Id="rId77" Type="http://schemas.openxmlformats.org/officeDocument/2006/relationships/notesSlide" Target="../notesSlides/notesSlide40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tx1"/>
        </a:solidFill>
        <a:effectLst/>
      </p:bgPr>
    </p:bg>
    <p:spTree>
      <p:nvGrpSpPr>
        <p:cNvPr id="1" name=""/>
        <p:cNvGrpSpPr/>
        <p:nvPr/>
      </p:nvGrpSpPr>
      <p:grpSpPr>
        <a:xfrm>
          <a:off x="0" y="0"/>
          <a:ext cx="0" cy="0"/>
          <a:chOff x="0" y="0"/>
          <a:chExt cx="0" cy="0"/>
        </a:xfrm>
      </p:grpSpPr>
      <p:pic>
        <p:nvPicPr>
          <p:cNvPr id="2" name="Image 0" descr="/tmp/thx/deck/figs/metu_emblem.png"/>
          <p:cNvPicPr>
            <a:picLocks noChangeAspect="1"/>
          </p:cNvPicPr>
          <p:nvPr/>
        </p:nvPicPr>
        <p:blipFill>
          <a:blip r:embed="rId3"/>
          <a:stretch>
            <a:fillRect/>
          </a:stretch>
        </p:blipFill>
        <p:spPr>
          <a:xfrm>
            <a:off x="9464040" y="461518"/>
            <a:ext cx="1188720" cy="997204"/>
          </a:xfrm>
          <a:prstGeom prst="rect">
            <a:avLst/>
          </a:prstGeom>
        </p:spPr>
      </p:pic>
      <p:pic>
        <p:nvPicPr>
          <p:cNvPr id="3" name="Image 1" descr="/tmp/thx/deck/figs/eee_logo.png"/>
          <p:cNvPicPr>
            <a:picLocks noChangeAspect="1"/>
          </p:cNvPicPr>
          <p:nvPr/>
        </p:nvPicPr>
        <p:blipFill>
          <a:blip r:embed="rId4"/>
          <a:stretch>
            <a:fillRect/>
          </a:stretch>
        </p:blipFill>
        <p:spPr>
          <a:xfrm>
            <a:off x="10744200" y="465543"/>
            <a:ext cx="1188720" cy="989154"/>
          </a:xfrm>
          <a:prstGeom prst="rect">
            <a:avLst/>
          </a:prstGeom>
        </p:spPr>
      </p:pic>
      <p:sp>
        <p:nvSpPr>
          <p:cNvPr id="4" name="Text 0"/>
          <p:cNvSpPr/>
          <p:nvPr/>
        </p:nvSpPr>
        <p:spPr>
          <a:xfrm>
            <a:off x="822960" y="868680"/>
            <a:ext cx="5486400" cy="320040"/>
          </a:xfrm>
          <a:prstGeom prst="rect">
            <a:avLst/>
          </a:prstGeom>
          <a:noFill/>
          <a:ln/>
        </p:spPr>
        <p:txBody>
          <a:bodyPr wrap="square" lIns="0" tIns="0" rIns="0" bIns="0" rtlCol="0" anchor="ctr"/>
          <a:lstStyle/>
          <a:p>
            <a:pPr marL="0" indent="0">
              <a:buNone/>
            </a:pPr>
            <a:r>
              <a:rPr lang="en-US" sz="1500" b="1" kern="0" spc="300" dirty="0">
                <a:solidFill>
                  <a:srgbClr val="E31836"/>
                </a:solidFill>
                <a:latin typeface="Calibri" pitchFamily="34" charset="0"/>
                <a:ea typeface="Calibri" pitchFamily="34" charset="-122"/>
                <a:cs typeface="Calibri" pitchFamily="34" charset="-120"/>
              </a:rPr>
              <a:t>PhD Thesis Defense</a:t>
            </a:r>
            <a:endParaRPr lang="en-US" sz="1500" dirty="0"/>
          </a:p>
        </p:txBody>
      </p:sp>
      <p:sp>
        <p:nvSpPr>
          <p:cNvPr id="5" name="Text 1"/>
          <p:cNvSpPr/>
          <p:nvPr/>
        </p:nvSpPr>
        <p:spPr>
          <a:xfrm>
            <a:off x="822960" y="1280160"/>
            <a:ext cx="10515600" cy="914400"/>
          </a:xfrm>
          <a:prstGeom prst="rect">
            <a:avLst/>
          </a:prstGeom>
          <a:noFill/>
          <a:ln/>
        </p:spPr>
        <p:txBody>
          <a:bodyPr wrap="square" lIns="0" tIns="0" rIns="0" bIns="0" rtlCol="0" anchor="ctr"/>
          <a:lstStyle/>
          <a:p>
            <a:pPr marL="0" indent="0">
              <a:buNone/>
            </a:pPr>
            <a:r>
              <a:rPr lang="en-US" sz="5400" b="1" dirty="0">
                <a:solidFill>
                  <a:srgbClr val="FFFFFF"/>
                </a:solidFill>
                <a:latin typeface="Cambria" pitchFamily="34" charset="0"/>
                <a:ea typeface="Cambria" pitchFamily="34" charset="-122"/>
                <a:cs typeface="Cambria" pitchFamily="34" charset="-120"/>
              </a:rPr>
              <a:t>DisasterAware</a:t>
            </a:r>
            <a:endParaRPr lang="en-US" sz="5400" dirty="0"/>
          </a:p>
        </p:txBody>
      </p:sp>
      <p:sp>
        <p:nvSpPr>
          <p:cNvPr id="6" name="Text 2"/>
          <p:cNvSpPr/>
          <p:nvPr/>
        </p:nvSpPr>
        <p:spPr>
          <a:xfrm>
            <a:off x="822960" y="2331720"/>
            <a:ext cx="10515600" cy="914400"/>
          </a:xfrm>
          <a:prstGeom prst="rect">
            <a:avLst/>
          </a:prstGeom>
          <a:noFill/>
          <a:ln/>
        </p:spPr>
        <p:txBody>
          <a:bodyPr wrap="square" lIns="0" tIns="0" rIns="0" bIns="0" rtlCol="0" anchor="ctr"/>
          <a:lstStyle/>
          <a:p>
            <a:pPr marL="0" indent="0">
              <a:buNone/>
            </a:pPr>
            <a:r>
              <a:rPr lang="en-US" sz="2100" i="1" dirty="0">
                <a:solidFill>
                  <a:srgbClr val="D9D9D9"/>
                </a:solidFill>
                <a:latin typeface="Cambria" pitchFamily="34" charset="0"/>
                <a:ea typeface="Cambria" pitchFamily="34" charset="-122"/>
                <a:cs typeface="Cambria" pitchFamily="34" charset="-120"/>
              </a:rPr>
              <a:t>AI-Powered Decision Support System for Wildfire Disaster Response</a:t>
            </a:r>
            <a:r>
              <a:rPr lang="tr-TR" sz="2100" i="1" dirty="0">
                <a:solidFill>
                  <a:srgbClr val="D9D9D9"/>
                </a:solidFill>
                <a:latin typeface="Cambria" pitchFamily="34" charset="0"/>
                <a:ea typeface="Cambria" pitchFamily="34" charset="-122"/>
                <a:cs typeface="Cambria" pitchFamily="34" charset="-120"/>
              </a:rPr>
              <a:t> </a:t>
            </a:r>
            <a:r>
              <a:rPr lang="en-US" sz="2100" i="1" dirty="0">
                <a:solidFill>
                  <a:srgbClr val="D9D9D9"/>
                </a:solidFill>
                <a:latin typeface="Cambria" pitchFamily="34" charset="0"/>
                <a:ea typeface="Cambria" pitchFamily="34" charset="-122"/>
                <a:cs typeface="Cambria" pitchFamily="34" charset="-120"/>
              </a:rPr>
              <a:t>and Management</a:t>
            </a:r>
            <a:endParaRPr lang="en-US" sz="2100" dirty="0"/>
          </a:p>
        </p:txBody>
      </p:sp>
      <p:sp>
        <p:nvSpPr>
          <p:cNvPr id="7" name="Text 3"/>
          <p:cNvSpPr/>
          <p:nvPr/>
        </p:nvSpPr>
        <p:spPr>
          <a:xfrm>
            <a:off x="822960" y="3977640"/>
            <a:ext cx="7772400" cy="1737360"/>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Çağlar </a:t>
            </a:r>
            <a:r>
              <a:rPr lang="en-US" sz="2200" b="1" dirty="0" err="1">
                <a:solidFill>
                  <a:srgbClr val="FFFFFF"/>
                </a:solidFill>
                <a:latin typeface="Calibri" pitchFamily="34" charset="0"/>
                <a:ea typeface="Calibri" pitchFamily="34" charset="-122"/>
                <a:cs typeface="Calibri" pitchFamily="34" charset="-120"/>
              </a:rPr>
              <a:t>Akman</a:t>
            </a:r>
            <a:endParaRPr lang="tr-TR" sz="2200" b="1" dirty="0">
              <a:solidFill>
                <a:srgbClr val="FFFFFF"/>
              </a:solidFill>
              <a:latin typeface="Calibri" pitchFamily="34" charset="0"/>
              <a:ea typeface="Calibri" pitchFamily="34" charset="-122"/>
              <a:cs typeface="Calibri" pitchFamily="34" charset="-120"/>
            </a:endParaRPr>
          </a:p>
          <a:p>
            <a:pPr marL="0" indent="0">
              <a:buNone/>
            </a:pPr>
            <a:endParaRPr lang="tr-TR" sz="2200" b="1" dirty="0">
              <a:solidFill>
                <a:srgbClr val="FFFFFF"/>
              </a:solidFill>
              <a:latin typeface="Calibri" pitchFamily="34" charset="0"/>
              <a:ea typeface="Calibri" pitchFamily="34" charset="-122"/>
              <a:cs typeface="Calibri" pitchFamily="34" charset="-120"/>
            </a:endParaRPr>
          </a:p>
          <a:p>
            <a:pPr marL="0" indent="0">
              <a:buNone/>
            </a:pPr>
            <a:r>
              <a:rPr lang="en-US" sz="1500" dirty="0">
                <a:solidFill>
                  <a:srgbClr val="B3B3B3"/>
                </a:solidFill>
                <a:latin typeface="Calibri" pitchFamily="34" charset="0"/>
                <a:ea typeface="Calibri" pitchFamily="34" charset="-122"/>
                <a:cs typeface="Calibri" pitchFamily="34" charset="-120"/>
              </a:rPr>
              <a:t>Department of Electrical and Electronics Engineering
Middle East Technical University</a:t>
            </a:r>
            <a:endParaRPr lang="tr-TR" sz="1500" dirty="0">
              <a:solidFill>
                <a:srgbClr val="B3B3B3"/>
              </a:solidFill>
              <a:latin typeface="Calibri" pitchFamily="34" charset="0"/>
              <a:ea typeface="Calibri" pitchFamily="34" charset="-122"/>
              <a:cs typeface="Calibri" pitchFamily="34" charset="-120"/>
            </a:endParaRPr>
          </a:p>
          <a:p>
            <a:pPr marL="0" indent="0">
              <a:buNone/>
            </a:pPr>
            <a:endParaRPr lang="tr-TR" sz="1500" dirty="0">
              <a:solidFill>
                <a:srgbClr val="B3B3B3"/>
              </a:solidFill>
              <a:latin typeface="Calibri" pitchFamily="34" charset="0"/>
              <a:ea typeface="Calibri" pitchFamily="34" charset="-122"/>
              <a:cs typeface="Calibri" pitchFamily="34" charset="-120"/>
            </a:endParaRPr>
          </a:p>
          <a:p>
            <a:pPr marL="0" indent="0">
              <a:buNone/>
            </a:pPr>
            <a:r>
              <a:rPr lang="en-US" sz="1500" dirty="0">
                <a:solidFill>
                  <a:srgbClr val="D9D9D9"/>
                </a:solidFill>
                <a:latin typeface="Calibri" pitchFamily="34" charset="0"/>
                <a:ea typeface="Calibri" pitchFamily="34" charset="-122"/>
                <a:cs typeface="Calibri" pitchFamily="34" charset="-120"/>
              </a:rPr>
              <a:t>Supervisor: Prof. Dr. Mehmet Kemal Leblebicioğlu</a:t>
            </a:r>
            <a:endParaRPr lang="en-US" sz="2200" dirty="0"/>
          </a:p>
        </p:txBody>
      </p:sp>
      <p:sp>
        <p:nvSpPr>
          <p:cNvPr id="8" name="Text 4"/>
          <p:cNvSpPr/>
          <p:nvPr/>
        </p:nvSpPr>
        <p:spPr>
          <a:xfrm>
            <a:off x="822960" y="5943600"/>
            <a:ext cx="2743200" cy="365760"/>
          </a:xfrm>
          <a:prstGeom prst="rect">
            <a:avLst/>
          </a:prstGeom>
          <a:noFill/>
          <a:ln/>
        </p:spPr>
        <p:txBody>
          <a:bodyPr wrap="square" lIns="0" tIns="0" rIns="0" bIns="0" rtlCol="0" anchor="ctr"/>
          <a:lstStyle/>
          <a:p>
            <a:pPr marL="0" indent="0">
              <a:buNone/>
            </a:pPr>
            <a:r>
              <a:rPr lang="en-US" sz="1500" dirty="0">
                <a:solidFill>
                  <a:srgbClr val="B3B3B3"/>
                </a:solidFill>
                <a:latin typeface="Calibri" pitchFamily="34" charset="0"/>
                <a:ea typeface="Calibri" pitchFamily="34" charset="-122"/>
                <a:cs typeface="Calibri" pitchFamily="34" charset="-120"/>
              </a:rPr>
              <a:t>August 2026</a:t>
            </a:r>
            <a:endParaRPr lang="en-US" sz="15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OUTLINE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Today's Route Follows the Thesis Argument</a:t>
            </a:r>
            <a:endParaRPr lang="en-US" sz="2900" dirty="0"/>
          </a:p>
        </p:txBody>
      </p:sp>
      <p:sp>
        <p:nvSpPr>
          <p:cNvPr id="4" name="Shape 2"/>
          <p:cNvSpPr/>
          <p:nvPr/>
        </p:nvSpPr>
        <p:spPr>
          <a:xfrm>
            <a:off x="685800" y="1527048"/>
            <a:ext cx="566928" cy="566928"/>
          </a:xfrm>
          <a:prstGeom prst="ellipse">
            <a:avLst/>
          </a:prstGeom>
          <a:solidFill>
            <a:srgbClr val="000000"/>
          </a:solidFill>
          <a:ln/>
        </p:spPr>
        <p:txBody>
          <a:bodyPr/>
          <a:lstStyle/>
          <a:p>
            <a:endParaRPr lang="tr-TR"/>
          </a:p>
        </p:txBody>
      </p:sp>
      <p:sp>
        <p:nvSpPr>
          <p:cNvPr id="5" name="Text 3"/>
          <p:cNvSpPr/>
          <p:nvPr/>
        </p:nvSpPr>
        <p:spPr>
          <a:xfrm>
            <a:off x="685800" y="1527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508760" y="1481328"/>
            <a:ext cx="2860040" cy="685800"/>
          </a:xfrm>
          <a:prstGeom prst="rect">
            <a:avLst/>
          </a:prstGeom>
          <a:noFill/>
          <a:ln/>
        </p:spPr>
        <p:txBody>
          <a:bodyPr wrap="square" lIns="0" tIns="0" rIns="0" bIns="0" rtlCol="0" anchor="ctr"/>
          <a:lstStyle/>
          <a:p>
            <a:pPr marL="0" indent="0">
              <a:buNone/>
            </a:pPr>
            <a:r>
              <a:rPr lang="en-US" sz="1900" b="1" dirty="0">
                <a:solidFill>
                  <a:srgbClr val="000000"/>
                </a:solidFill>
                <a:latin typeface="Calibri" pitchFamily="34" charset="0"/>
                <a:ea typeface="Calibri" pitchFamily="34" charset="-122"/>
                <a:cs typeface="Calibri" pitchFamily="34" charset="-120"/>
              </a:rPr>
              <a:t>Problem &amp; Gaps</a:t>
            </a:r>
            <a:endParaRPr lang="en-US" sz="1900" dirty="0"/>
          </a:p>
        </p:txBody>
      </p:sp>
      <p:sp>
        <p:nvSpPr>
          <p:cNvPr id="7" name="Shape 5"/>
          <p:cNvSpPr/>
          <p:nvPr/>
        </p:nvSpPr>
        <p:spPr>
          <a:xfrm>
            <a:off x="685800" y="2368296"/>
            <a:ext cx="566928" cy="566928"/>
          </a:xfrm>
          <a:prstGeom prst="ellipse">
            <a:avLst/>
          </a:prstGeom>
          <a:solidFill>
            <a:srgbClr val="000000"/>
          </a:solidFill>
          <a:ln/>
        </p:spPr>
        <p:txBody>
          <a:bodyPr/>
          <a:lstStyle/>
          <a:p>
            <a:endParaRPr lang="tr-TR"/>
          </a:p>
        </p:txBody>
      </p:sp>
      <p:sp>
        <p:nvSpPr>
          <p:cNvPr id="8" name="Text 6"/>
          <p:cNvSpPr/>
          <p:nvPr/>
        </p:nvSpPr>
        <p:spPr>
          <a:xfrm>
            <a:off x="685800" y="2368296"/>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9" name="Text 7"/>
          <p:cNvSpPr/>
          <p:nvPr/>
        </p:nvSpPr>
        <p:spPr>
          <a:xfrm>
            <a:off x="1508760" y="2322576"/>
            <a:ext cx="2860040" cy="685800"/>
          </a:xfrm>
          <a:prstGeom prst="rect">
            <a:avLst/>
          </a:prstGeom>
          <a:noFill/>
          <a:ln/>
        </p:spPr>
        <p:txBody>
          <a:bodyPr wrap="square" lIns="0" tIns="0" rIns="0" bIns="0" rtlCol="0" anchor="ctr"/>
          <a:lstStyle/>
          <a:p>
            <a:pPr marL="0" indent="0">
              <a:buNone/>
            </a:pPr>
            <a:r>
              <a:rPr lang="en-US" sz="1900" b="1" dirty="0">
                <a:solidFill>
                  <a:srgbClr val="000000"/>
                </a:solidFill>
                <a:latin typeface="Calibri" pitchFamily="34" charset="0"/>
                <a:ea typeface="Calibri" pitchFamily="34" charset="-122"/>
                <a:cs typeface="Calibri" pitchFamily="34" charset="-120"/>
              </a:rPr>
              <a:t>Simulation Framework</a:t>
            </a:r>
            <a:endParaRPr lang="en-US" sz="1900" dirty="0"/>
          </a:p>
        </p:txBody>
      </p:sp>
      <p:sp>
        <p:nvSpPr>
          <p:cNvPr id="10" name="Shape 8"/>
          <p:cNvSpPr/>
          <p:nvPr/>
        </p:nvSpPr>
        <p:spPr>
          <a:xfrm>
            <a:off x="685800" y="3209544"/>
            <a:ext cx="566928" cy="566928"/>
          </a:xfrm>
          <a:prstGeom prst="ellipse">
            <a:avLst/>
          </a:prstGeom>
          <a:solidFill>
            <a:srgbClr val="000000"/>
          </a:solidFill>
          <a:ln/>
        </p:spPr>
        <p:txBody>
          <a:bodyPr/>
          <a:lstStyle/>
          <a:p>
            <a:endParaRPr lang="tr-TR"/>
          </a:p>
        </p:txBody>
      </p:sp>
      <p:sp>
        <p:nvSpPr>
          <p:cNvPr id="11" name="Text 9"/>
          <p:cNvSpPr/>
          <p:nvPr/>
        </p:nvSpPr>
        <p:spPr>
          <a:xfrm>
            <a:off x="685800" y="3209544"/>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2" name="Text 10"/>
          <p:cNvSpPr/>
          <p:nvPr/>
        </p:nvSpPr>
        <p:spPr>
          <a:xfrm>
            <a:off x="1508760" y="3163824"/>
            <a:ext cx="2860040" cy="685800"/>
          </a:xfrm>
          <a:prstGeom prst="rect">
            <a:avLst/>
          </a:prstGeom>
          <a:noFill/>
          <a:ln/>
        </p:spPr>
        <p:txBody>
          <a:bodyPr wrap="square" lIns="0" tIns="0" rIns="0" bIns="0" rtlCol="0" anchor="ctr"/>
          <a:lstStyle/>
          <a:p>
            <a:pPr marL="0" indent="0">
              <a:buNone/>
            </a:pPr>
            <a:r>
              <a:rPr lang="en-US" sz="1900" b="1" dirty="0">
                <a:solidFill>
                  <a:srgbClr val="000000"/>
                </a:solidFill>
                <a:latin typeface="Calibri" pitchFamily="34" charset="0"/>
                <a:ea typeface="Calibri" pitchFamily="34" charset="-122"/>
                <a:cs typeface="Calibri" pitchFamily="34" charset="-120"/>
              </a:rPr>
              <a:t>DSS Framework</a:t>
            </a:r>
            <a:endParaRPr lang="en-US" sz="1900" dirty="0"/>
          </a:p>
        </p:txBody>
      </p:sp>
      <p:sp>
        <p:nvSpPr>
          <p:cNvPr id="13" name="Shape 11"/>
          <p:cNvSpPr/>
          <p:nvPr/>
        </p:nvSpPr>
        <p:spPr>
          <a:xfrm>
            <a:off x="685800" y="4050792"/>
            <a:ext cx="566928" cy="566928"/>
          </a:xfrm>
          <a:prstGeom prst="ellipse">
            <a:avLst/>
          </a:prstGeom>
          <a:solidFill>
            <a:srgbClr val="000000"/>
          </a:solidFill>
          <a:ln/>
        </p:spPr>
        <p:txBody>
          <a:bodyPr/>
          <a:lstStyle/>
          <a:p>
            <a:endParaRPr lang="tr-TR"/>
          </a:p>
        </p:txBody>
      </p:sp>
      <p:sp>
        <p:nvSpPr>
          <p:cNvPr id="14" name="Text 12"/>
          <p:cNvSpPr/>
          <p:nvPr/>
        </p:nvSpPr>
        <p:spPr>
          <a:xfrm>
            <a:off x="685800" y="405079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5" name="Text 13"/>
          <p:cNvSpPr/>
          <p:nvPr/>
        </p:nvSpPr>
        <p:spPr>
          <a:xfrm>
            <a:off x="1508760" y="4005072"/>
            <a:ext cx="2860040" cy="685800"/>
          </a:xfrm>
          <a:prstGeom prst="rect">
            <a:avLst/>
          </a:prstGeom>
          <a:noFill/>
          <a:ln/>
        </p:spPr>
        <p:txBody>
          <a:bodyPr wrap="square" lIns="0" tIns="0" rIns="0" bIns="0" rtlCol="0" anchor="ctr"/>
          <a:lstStyle/>
          <a:p>
            <a:pPr marL="0" indent="0">
              <a:buNone/>
            </a:pPr>
            <a:r>
              <a:rPr lang="en-US" sz="1900" b="1" dirty="0">
                <a:solidFill>
                  <a:srgbClr val="000000"/>
                </a:solidFill>
                <a:latin typeface="Calibri" pitchFamily="34" charset="0"/>
                <a:ea typeface="Calibri" pitchFamily="34" charset="-122"/>
                <a:cs typeface="Calibri" pitchFamily="34" charset="-120"/>
              </a:rPr>
              <a:t>Open Decision Space</a:t>
            </a:r>
            <a:endParaRPr lang="en-US" sz="1900" dirty="0"/>
          </a:p>
        </p:txBody>
      </p:sp>
      <p:sp>
        <p:nvSpPr>
          <p:cNvPr id="16" name="Shape 14"/>
          <p:cNvSpPr/>
          <p:nvPr/>
        </p:nvSpPr>
        <p:spPr>
          <a:xfrm>
            <a:off x="685800" y="4892040"/>
            <a:ext cx="566928" cy="566928"/>
          </a:xfrm>
          <a:prstGeom prst="ellipse">
            <a:avLst/>
          </a:prstGeom>
          <a:solidFill>
            <a:srgbClr val="000000"/>
          </a:solidFill>
          <a:ln/>
        </p:spPr>
        <p:txBody>
          <a:bodyPr/>
          <a:lstStyle/>
          <a:p>
            <a:endParaRPr lang="tr-TR"/>
          </a:p>
        </p:txBody>
      </p:sp>
      <p:sp>
        <p:nvSpPr>
          <p:cNvPr id="17" name="Text 15"/>
          <p:cNvSpPr/>
          <p:nvPr/>
        </p:nvSpPr>
        <p:spPr>
          <a:xfrm>
            <a:off x="685800" y="4892040"/>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18" name="Text 16"/>
          <p:cNvSpPr/>
          <p:nvPr/>
        </p:nvSpPr>
        <p:spPr>
          <a:xfrm>
            <a:off x="1508760" y="4846320"/>
            <a:ext cx="2860041" cy="685800"/>
          </a:xfrm>
          <a:prstGeom prst="rect">
            <a:avLst/>
          </a:prstGeom>
          <a:noFill/>
          <a:ln/>
        </p:spPr>
        <p:txBody>
          <a:bodyPr wrap="square" lIns="0" tIns="0" rIns="0" bIns="0" rtlCol="0" anchor="ctr"/>
          <a:lstStyle/>
          <a:p>
            <a:pPr marL="0" indent="0">
              <a:buNone/>
            </a:pPr>
            <a:r>
              <a:rPr lang="tr-TR" sz="1900" b="1" dirty="0" err="1">
                <a:solidFill>
                  <a:srgbClr val="000000"/>
                </a:solidFill>
                <a:latin typeface="Calibri" pitchFamily="34" charset="0"/>
                <a:ea typeface="Calibri" pitchFamily="34" charset="-122"/>
                <a:cs typeface="Calibri" pitchFamily="34" charset="-120"/>
              </a:rPr>
              <a:t>Performance</a:t>
            </a:r>
            <a:r>
              <a:rPr lang="tr-TR" sz="1900" b="1" dirty="0">
                <a:solidFill>
                  <a:srgbClr val="000000"/>
                </a:solidFill>
                <a:latin typeface="Calibri" pitchFamily="34" charset="0"/>
                <a:ea typeface="Calibri" pitchFamily="34" charset="-122"/>
                <a:cs typeface="Calibri" pitchFamily="34" charset="-120"/>
              </a:rPr>
              <a:t> </a:t>
            </a:r>
            <a:r>
              <a:rPr lang="tr-TR" sz="1900" b="1" dirty="0" err="1">
                <a:solidFill>
                  <a:srgbClr val="000000"/>
                </a:solidFill>
                <a:latin typeface="Calibri" pitchFamily="34" charset="0"/>
                <a:ea typeface="Calibri" pitchFamily="34" charset="-122"/>
                <a:cs typeface="Calibri" pitchFamily="34" charset="-120"/>
              </a:rPr>
              <a:t>Results</a:t>
            </a:r>
            <a:endParaRPr lang="en-US" sz="1900" dirty="0"/>
          </a:p>
        </p:txBody>
      </p:sp>
      <p:sp>
        <p:nvSpPr>
          <p:cNvPr id="19" name="Shape 17"/>
          <p:cNvSpPr/>
          <p:nvPr/>
        </p:nvSpPr>
        <p:spPr>
          <a:xfrm>
            <a:off x="685800" y="5733288"/>
            <a:ext cx="566928" cy="566928"/>
          </a:xfrm>
          <a:prstGeom prst="ellipse">
            <a:avLst/>
          </a:prstGeom>
          <a:solidFill>
            <a:srgbClr val="E31836"/>
          </a:solidFill>
          <a:ln/>
        </p:spPr>
        <p:txBody>
          <a:bodyPr/>
          <a:lstStyle/>
          <a:p>
            <a:endParaRPr lang="tr-TR"/>
          </a:p>
        </p:txBody>
      </p:sp>
      <p:sp>
        <p:nvSpPr>
          <p:cNvPr id="21" name="Text 19"/>
          <p:cNvSpPr/>
          <p:nvPr/>
        </p:nvSpPr>
        <p:spPr>
          <a:xfrm>
            <a:off x="1508760" y="5687568"/>
            <a:ext cx="2860039" cy="685800"/>
          </a:xfrm>
          <a:prstGeom prst="rect">
            <a:avLst/>
          </a:prstGeom>
          <a:noFill/>
          <a:ln/>
        </p:spPr>
        <p:txBody>
          <a:bodyPr wrap="square" lIns="0" tIns="0" rIns="0" bIns="0" rtlCol="0" anchor="ctr"/>
          <a:lstStyle/>
          <a:p>
            <a:pPr marL="0" indent="0">
              <a:buNone/>
            </a:pPr>
            <a:r>
              <a:rPr lang="tr-TR" sz="1900" b="1" dirty="0">
                <a:solidFill>
                  <a:srgbClr val="000000"/>
                </a:solidFill>
                <a:latin typeface="Calibri" pitchFamily="34" charset="0"/>
                <a:ea typeface="Calibri" pitchFamily="34" charset="-122"/>
                <a:cs typeface="Calibri" pitchFamily="34" charset="-120"/>
              </a:rPr>
              <a:t>Demo &amp; </a:t>
            </a:r>
            <a:r>
              <a:rPr lang="tr-TR" sz="1900" b="1" dirty="0" err="1">
                <a:solidFill>
                  <a:srgbClr val="000000"/>
                </a:solidFill>
                <a:latin typeface="Calibri" pitchFamily="34" charset="0"/>
                <a:ea typeface="Calibri" pitchFamily="34" charset="-122"/>
                <a:cs typeface="Calibri" pitchFamily="34" charset="-120"/>
              </a:rPr>
              <a:t>Conclusion</a:t>
            </a:r>
            <a:endParaRPr lang="en-US" sz="1900" dirty="0"/>
          </a:p>
        </p:txBody>
      </p:sp>
      <p:pic>
        <p:nvPicPr>
          <p:cNvPr id="22"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23"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26" name="TextBox 25">
            <a:extLst>
              <a:ext uri="{FF2B5EF4-FFF2-40B4-BE49-F238E27FC236}">
                <a16:creationId xmlns:a16="http://schemas.microsoft.com/office/drawing/2014/main" id="{222C2336-5CF6-4DCB-9ABA-0AD0605BD085}"/>
              </a:ext>
            </a:extLst>
          </p:cNvPr>
          <p:cNvSpPr txBox="1"/>
          <p:nvPr/>
        </p:nvSpPr>
        <p:spPr>
          <a:xfrm>
            <a:off x="4368800" y="1639562"/>
            <a:ext cx="7701280" cy="369332"/>
          </a:xfrm>
          <a:prstGeom prst="rect">
            <a:avLst/>
          </a:prstGeom>
          <a:noFill/>
        </p:spPr>
        <p:txBody>
          <a:bodyPr wrap="square">
            <a:spAutoFit/>
          </a:bodyPr>
          <a:lstStyle/>
          <a:p>
            <a:r>
              <a:rPr lang="en-US" sz="1800" dirty="0">
                <a:solidFill>
                  <a:srgbClr val="222222"/>
                </a:solidFill>
                <a:latin typeface="Calibri" pitchFamily="34" charset="0"/>
                <a:ea typeface="Calibri" pitchFamily="34" charset="-122"/>
                <a:cs typeface="Calibri" pitchFamily="34" charset="-120"/>
              </a:rPr>
              <a:t>Why </a:t>
            </a:r>
            <a:r>
              <a:rPr lang="tr-TR" sz="1800" dirty="0">
                <a:solidFill>
                  <a:srgbClr val="222222"/>
                </a:solidFill>
                <a:latin typeface="Calibri" pitchFamily="34" charset="0"/>
                <a:ea typeface="Calibri" pitchFamily="34" charset="-122"/>
                <a:cs typeface="Calibri" pitchFamily="34" charset="-120"/>
              </a:rPr>
              <a:t>do </a:t>
            </a:r>
            <a:r>
              <a:rPr lang="en-US" sz="1800" dirty="0">
                <a:solidFill>
                  <a:srgbClr val="222222"/>
                </a:solidFill>
                <a:latin typeface="Calibri" pitchFamily="34" charset="0"/>
                <a:ea typeface="Calibri" pitchFamily="34" charset="-122"/>
                <a:cs typeface="Calibri" pitchFamily="34" charset="-120"/>
              </a:rPr>
              <a:t>wildfire DSS fall short</a:t>
            </a:r>
            <a:r>
              <a:rPr lang="tr-TR" sz="1800" dirty="0">
                <a:solidFill>
                  <a:srgbClr val="222222"/>
                </a:solidFill>
                <a:latin typeface="Calibri" pitchFamily="34" charset="0"/>
                <a:ea typeface="Calibri" pitchFamily="34" charset="-122"/>
                <a:cs typeface="Calibri" pitchFamily="34" charset="-120"/>
              </a:rPr>
              <a:t>: </a:t>
            </a:r>
            <a:r>
              <a:rPr lang="en-US" sz="1800" dirty="0">
                <a:solidFill>
                  <a:srgbClr val="222222"/>
                </a:solidFill>
                <a:latin typeface="Calibri" pitchFamily="34" charset="0"/>
                <a:ea typeface="Calibri" pitchFamily="34" charset="-122"/>
                <a:cs typeface="Calibri" pitchFamily="34" charset="-120"/>
              </a:rPr>
              <a:t>Gaps, Hypotheses, Contributions</a:t>
            </a:r>
            <a:endParaRPr lang="tr-TR" dirty="0"/>
          </a:p>
        </p:txBody>
      </p:sp>
      <p:sp>
        <p:nvSpPr>
          <p:cNvPr id="28" name="TextBox 27">
            <a:extLst>
              <a:ext uri="{FF2B5EF4-FFF2-40B4-BE49-F238E27FC236}">
                <a16:creationId xmlns:a16="http://schemas.microsoft.com/office/drawing/2014/main" id="{E7493BC8-2230-44E8-A167-837D738D5BAA}"/>
              </a:ext>
            </a:extLst>
          </p:cNvPr>
          <p:cNvSpPr txBox="1"/>
          <p:nvPr/>
        </p:nvSpPr>
        <p:spPr>
          <a:xfrm>
            <a:off x="4368800" y="2483596"/>
            <a:ext cx="7701280" cy="369332"/>
          </a:xfrm>
          <a:prstGeom prst="rect">
            <a:avLst/>
          </a:prstGeom>
          <a:noFill/>
        </p:spPr>
        <p:txBody>
          <a:bodyPr wrap="square">
            <a:spAutoFit/>
          </a:bodyPr>
          <a:lstStyle/>
          <a:p>
            <a:r>
              <a:rPr lang="en-US" sz="1800" dirty="0">
                <a:solidFill>
                  <a:srgbClr val="222222"/>
                </a:solidFill>
                <a:latin typeface="Calibri" pitchFamily="34" charset="0"/>
                <a:ea typeface="Calibri" pitchFamily="34" charset="-122"/>
                <a:cs typeface="Calibri" pitchFamily="34" charset="-120"/>
              </a:rPr>
              <a:t>External data layers, hybrid spread model, strict core separation</a:t>
            </a:r>
            <a:endParaRPr lang="tr-TR" dirty="0"/>
          </a:p>
        </p:txBody>
      </p:sp>
      <p:sp>
        <p:nvSpPr>
          <p:cNvPr id="30" name="TextBox 29">
            <a:extLst>
              <a:ext uri="{FF2B5EF4-FFF2-40B4-BE49-F238E27FC236}">
                <a16:creationId xmlns:a16="http://schemas.microsoft.com/office/drawing/2014/main" id="{9679F0AF-D0F3-4590-A30A-6FD35722E889}"/>
              </a:ext>
            </a:extLst>
          </p:cNvPr>
          <p:cNvSpPr txBox="1"/>
          <p:nvPr/>
        </p:nvSpPr>
        <p:spPr>
          <a:xfrm>
            <a:off x="4368800" y="3319272"/>
            <a:ext cx="7701280" cy="369332"/>
          </a:xfrm>
          <a:prstGeom prst="rect">
            <a:avLst/>
          </a:prstGeom>
          <a:noFill/>
        </p:spPr>
        <p:txBody>
          <a:bodyPr wrap="square">
            <a:spAutoFit/>
          </a:bodyPr>
          <a:lstStyle/>
          <a:p>
            <a:r>
              <a:rPr lang="en-US" sz="1800" dirty="0">
                <a:solidFill>
                  <a:srgbClr val="222222"/>
                </a:solidFill>
                <a:latin typeface="Calibri" pitchFamily="34" charset="0"/>
                <a:ea typeface="Calibri" pitchFamily="34" charset="-122"/>
                <a:cs typeface="Calibri" pitchFamily="34" charset="-120"/>
              </a:rPr>
              <a:t>Four layers in detail: inputs, perception, concepts, decision</a:t>
            </a:r>
            <a:endParaRPr lang="tr-TR" dirty="0"/>
          </a:p>
        </p:txBody>
      </p:sp>
      <p:sp>
        <p:nvSpPr>
          <p:cNvPr id="32" name="TextBox 31">
            <a:extLst>
              <a:ext uri="{FF2B5EF4-FFF2-40B4-BE49-F238E27FC236}">
                <a16:creationId xmlns:a16="http://schemas.microsoft.com/office/drawing/2014/main" id="{9BFDEC13-1299-4E16-8B2F-CCE7634BFF4F}"/>
              </a:ext>
            </a:extLst>
          </p:cNvPr>
          <p:cNvSpPr txBox="1"/>
          <p:nvPr/>
        </p:nvSpPr>
        <p:spPr>
          <a:xfrm>
            <a:off x="4368801" y="4164657"/>
            <a:ext cx="7701280" cy="369332"/>
          </a:xfrm>
          <a:prstGeom prst="rect">
            <a:avLst/>
          </a:prstGeom>
          <a:noFill/>
        </p:spPr>
        <p:txBody>
          <a:bodyPr wrap="square">
            <a:spAutoFit/>
          </a:bodyPr>
          <a:lstStyle/>
          <a:p>
            <a:r>
              <a:rPr lang="en-US" sz="1800" dirty="0" err="1">
                <a:solidFill>
                  <a:srgbClr val="222222"/>
                </a:solidFill>
                <a:latin typeface="Calibri" pitchFamily="34" charset="0"/>
                <a:ea typeface="Calibri" pitchFamily="34" charset="-122"/>
                <a:cs typeface="Calibri" pitchFamily="34" charset="-120"/>
              </a:rPr>
              <a:t>evFIS</a:t>
            </a:r>
            <a:r>
              <a:rPr lang="en-US" sz="1800" dirty="0">
                <a:solidFill>
                  <a:srgbClr val="222222"/>
                </a:solidFill>
                <a:latin typeface="Calibri" pitchFamily="34" charset="0"/>
                <a:ea typeface="Calibri" pitchFamily="34" charset="-122"/>
                <a:cs typeface="Calibri" pitchFamily="34" charset="-120"/>
              </a:rPr>
              <a:t> tuning &amp; growth, generative proposals, nine verification gates</a:t>
            </a:r>
            <a:endParaRPr lang="tr-TR" dirty="0"/>
          </a:p>
        </p:txBody>
      </p:sp>
      <p:sp>
        <p:nvSpPr>
          <p:cNvPr id="34" name="TextBox 33">
            <a:extLst>
              <a:ext uri="{FF2B5EF4-FFF2-40B4-BE49-F238E27FC236}">
                <a16:creationId xmlns:a16="http://schemas.microsoft.com/office/drawing/2014/main" id="{50CF5718-C3AD-4960-8682-DDE754BA2B87}"/>
              </a:ext>
            </a:extLst>
          </p:cNvPr>
          <p:cNvSpPr txBox="1"/>
          <p:nvPr/>
        </p:nvSpPr>
        <p:spPr>
          <a:xfrm>
            <a:off x="4368799" y="4990838"/>
            <a:ext cx="7701279" cy="369332"/>
          </a:xfrm>
          <a:prstGeom prst="rect">
            <a:avLst/>
          </a:prstGeom>
          <a:noFill/>
        </p:spPr>
        <p:txBody>
          <a:bodyPr wrap="square">
            <a:spAutoFit/>
          </a:bodyPr>
          <a:lstStyle/>
          <a:p>
            <a:r>
              <a:rPr lang="tr-TR" sz="1800" dirty="0">
                <a:solidFill>
                  <a:srgbClr val="222222"/>
                </a:solidFill>
                <a:latin typeface="Calibri" pitchFamily="34" charset="0"/>
                <a:ea typeface="Calibri" pitchFamily="34" charset="-122"/>
                <a:cs typeface="Calibri" pitchFamily="34" charset="-120"/>
              </a:rPr>
              <a:t>V</a:t>
            </a:r>
            <a:r>
              <a:rPr lang="en-US" sz="1800" dirty="0" err="1">
                <a:solidFill>
                  <a:srgbClr val="222222"/>
                </a:solidFill>
                <a:latin typeface="Calibri" pitchFamily="34" charset="0"/>
                <a:ea typeface="Calibri" pitchFamily="34" charset="-122"/>
                <a:cs typeface="Calibri" pitchFamily="34" charset="-120"/>
              </a:rPr>
              <a:t>alidity</a:t>
            </a:r>
            <a:r>
              <a:rPr lang="en-US" sz="1800" dirty="0">
                <a:solidFill>
                  <a:srgbClr val="222222"/>
                </a:solidFill>
                <a:latin typeface="Calibri" pitchFamily="34" charset="0"/>
                <a:ea typeface="Calibri" pitchFamily="34" charset="-122"/>
                <a:cs typeface="Calibri" pitchFamily="34" charset="-120"/>
              </a:rPr>
              <a:t>, sensitivity, improvement ladder, generative products, cost &amp; scale</a:t>
            </a:r>
            <a:endParaRPr lang="tr-TR"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lumMod val="75000"/>
            <a:lumOff val="25000"/>
          </a:schemeClr>
        </a:solidFill>
        <a:effectLst/>
      </p:bgPr>
    </p:bg>
    <p:spTree>
      <p:nvGrpSpPr>
        <p:cNvPr id="1" name=""/>
        <p:cNvGrpSpPr/>
        <p:nvPr/>
      </p:nvGrpSpPr>
      <p:grpSpPr>
        <a:xfrm>
          <a:off x="0" y="0"/>
          <a:ext cx="0" cy="0"/>
          <a:chOff x="0" y="0"/>
          <a:chExt cx="0" cy="0"/>
        </a:xfrm>
      </p:grpSpPr>
      <p:sp>
        <p:nvSpPr>
          <p:cNvPr id="3" name="Text 1"/>
          <p:cNvSpPr/>
          <p:nvPr/>
        </p:nvSpPr>
        <p:spPr>
          <a:xfrm>
            <a:off x="822960" y="2606040"/>
            <a:ext cx="10607040" cy="914400"/>
          </a:xfrm>
          <a:prstGeom prst="rect">
            <a:avLst/>
          </a:prstGeom>
          <a:noFill/>
          <a:ln/>
        </p:spPr>
        <p:txBody>
          <a:bodyPr wrap="square" lIns="0" tIns="0" rIns="0" bIns="0" rtlCol="0" anchor="ctr"/>
          <a:lstStyle/>
          <a:p>
            <a:pPr marL="0" indent="0">
              <a:buNone/>
            </a:pPr>
            <a:r>
              <a:rPr lang="tr-TR" sz="4800" b="1" dirty="0" err="1">
                <a:solidFill>
                  <a:srgbClr val="FFFFFF"/>
                </a:solidFill>
                <a:latin typeface="Cambria" pitchFamily="34" charset="0"/>
                <a:ea typeface="Cambria" pitchFamily="34" charset="-122"/>
                <a:cs typeface="Cambria" pitchFamily="34" charset="-120"/>
              </a:rPr>
              <a:t>Introduction</a:t>
            </a:r>
            <a:endParaRPr lang="en-US" sz="4800" dirty="0"/>
          </a:p>
        </p:txBody>
      </p:sp>
      <p:pic>
        <p:nvPicPr>
          <p:cNvPr id="5"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6"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Tree>
    <p:extLst>
      <p:ext uri="{BB962C8B-B14F-4D97-AF65-F5344CB8AC3E}">
        <p14:creationId xmlns:p14="http://schemas.microsoft.com/office/powerpoint/2010/main" val="18605080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D8D6C-AA53-30E1-AB1B-17394E0C881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957ABC-BA20-6D99-5EA2-F9C122C75E2E}"/>
              </a:ext>
            </a:extLst>
          </p:cNvPr>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MOTIVATION</a:t>
            </a:r>
            <a:endParaRPr lang="en-US" sz="1300" dirty="0"/>
          </a:p>
        </p:txBody>
      </p:sp>
      <p:pic>
        <p:nvPicPr>
          <p:cNvPr id="9" name="Image 1" descr="/tmp/thx/deck/figs/metu_emblem.png">
            <a:extLst>
              <a:ext uri="{FF2B5EF4-FFF2-40B4-BE49-F238E27FC236}">
                <a16:creationId xmlns:a16="http://schemas.microsoft.com/office/drawing/2014/main" id="{FCDB866F-7C64-953F-9E1A-3CAF25B3A050}"/>
              </a:ext>
            </a:extLst>
          </p:cNvPr>
          <p:cNvPicPr>
            <a:picLocks noChangeAspect="1"/>
          </p:cNvPicPr>
          <p:nvPr/>
        </p:nvPicPr>
        <p:blipFill>
          <a:blip r:embed="rId3"/>
          <a:stretch>
            <a:fillRect/>
          </a:stretch>
        </p:blipFill>
        <p:spPr>
          <a:xfrm>
            <a:off x="10716768" y="184607"/>
            <a:ext cx="475488" cy="398882"/>
          </a:xfrm>
          <a:prstGeom prst="rect">
            <a:avLst/>
          </a:prstGeom>
        </p:spPr>
      </p:pic>
      <p:pic>
        <p:nvPicPr>
          <p:cNvPr id="10" name="Image 2" descr="/tmp/thx/deck/figs/eee_logo.png">
            <a:extLst>
              <a:ext uri="{FF2B5EF4-FFF2-40B4-BE49-F238E27FC236}">
                <a16:creationId xmlns:a16="http://schemas.microsoft.com/office/drawing/2014/main" id="{7762843B-5B80-1DFD-2512-E08457544543}"/>
              </a:ext>
            </a:extLst>
          </p:cNvPr>
          <p:cNvPicPr>
            <a:picLocks noChangeAspect="1"/>
          </p:cNvPicPr>
          <p:nvPr/>
        </p:nvPicPr>
        <p:blipFill>
          <a:blip r:embed="rId4"/>
          <a:stretch>
            <a:fillRect/>
          </a:stretch>
        </p:blipFill>
        <p:spPr>
          <a:xfrm>
            <a:off x="11265408" y="186217"/>
            <a:ext cx="475488" cy="395662"/>
          </a:xfrm>
          <a:prstGeom prst="rect">
            <a:avLst/>
          </a:prstGeom>
        </p:spPr>
      </p:pic>
      <p:pic>
        <p:nvPicPr>
          <p:cNvPr id="14" name="Picture 13">
            <a:extLst>
              <a:ext uri="{FF2B5EF4-FFF2-40B4-BE49-F238E27FC236}">
                <a16:creationId xmlns:a16="http://schemas.microsoft.com/office/drawing/2014/main" id="{86B5121E-07BE-6673-FEC8-306D9C88F720}"/>
              </a:ext>
            </a:extLst>
          </p:cNvPr>
          <p:cNvPicPr>
            <a:picLocks noChangeAspect="1"/>
          </p:cNvPicPr>
          <p:nvPr/>
        </p:nvPicPr>
        <p:blipFill>
          <a:blip r:embed="rId5"/>
          <a:stretch>
            <a:fillRect/>
          </a:stretch>
        </p:blipFill>
        <p:spPr>
          <a:xfrm>
            <a:off x="203012" y="1569431"/>
            <a:ext cx="2407566" cy="1605044"/>
          </a:xfrm>
          <a:prstGeom prst="rect">
            <a:avLst/>
          </a:prstGeom>
        </p:spPr>
      </p:pic>
      <p:pic>
        <p:nvPicPr>
          <p:cNvPr id="25" name="Picture 24">
            <a:extLst>
              <a:ext uri="{FF2B5EF4-FFF2-40B4-BE49-F238E27FC236}">
                <a16:creationId xmlns:a16="http://schemas.microsoft.com/office/drawing/2014/main" id="{B642DDF3-93FB-79A7-4FB3-455550836789}"/>
              </a:ext>
            </a:extLst>
          </p:cNvPr>
          <p:cNvPicPr>
            <a:picLocks noChangeAspect="1"/>
          </p:cNvPicPr>
          <p:nvPr/>
        </p:nvPicPr>
        <p:blipFill>
          <a:blip r:embed="rId6"/>
          <a:stretch>
            <a:fillRect/>
          </a:stretch>
        </p:blipFill>
        <p:spPr>
          <a:xfrm>
            <a:off x="7467464" y="1859215"/>
            <a:ext cx="4623668" cy="3798929"/>
          </a:xfrm>
          <a:prstGeom prst="rect">
            <a:avLst/>
          </a:prstGeom>
        </p:spPr>
      </p:pic>
      <p:pic>
        <p:nvPicPr>
          <p:cNvPr id="26" name="Picture 25">
            <a:extLst>
              <a:ext uri="{FF2B5EF4-FFF2-40B4-BE49-F238E27FC236}">
                <a16:creationId xmlns:a16="http://schemas.microsoft.com/office/drawing/2014/main" id="{F022C1EF-150A-AE05-C4A0-374AA5D8F8B4}"/>
              </a:ext>
            </a:extLst>
          </p:cNvPr>
          <p:cNvPicPr>
            <a:picLocks noChangeAspect="1"/>
          </p:cNvPicPr>
          <p:nvPr/>
        </p:nvPicPr>
        <p:blipFill>
          <a:blip r:embed="rId7"/>
          <a:stretch>
            <a:fillRect/>
          </a:stretch>
        </p:blipFill>
        <p:spPr>
          <a:xfrm>
            <a:off x="2820416" y="2237086"/>
            <a:ext cx="4267206" cy="3224041"/>
          </a:xfrm>
          <a:prstGeom prst="rect">
            <a:avLst/>
          </a:prstGeom>
        </p:spPr>
      </p:pic>
      <p:grpSp>
        <p:nvGrpSpPr>
          <p:cNvPr id="30" name="Group 29">
            <a:extLst>
              <a:ext uri="{FF2B5EF4-FFF2-40B4-BE49-F238E27FC236}">
                <a16:creationId xmlns:a16="http://schemas.microsoft.com/office/drawing/2014/main" id="{A4E7ED66-AED3-6390-AD9D-154F75C54ABB}"/>
              </a:ext>
            </a:extLst>
          </p:cNvPr>
          <p:cNvGrpSpPr/>
          <p:nvPr/>
        </p:nvGrpSpPr>
        <p:grpSpPr>
          <a:xfrm>
            <a:off x="203012" y="3357590"/>
            <a:ext cx="2237563" cy="2386059"/>
            <a:chOff x="287810" y="1499616"/>
            <a:chExt cx="2237563" cy="2386059"/>
          </a:xfrm>
        </p:grpSpPr>
        <p:pic>
          <p:nvPicPr>
            <p:cNvPr id="19" name="Picture 18" descr="HIVEMIND (HORIZON EUROPE Program) — Software Engineering and AI-Based  Systems Group — UPC. Universitat Politècnica de Catalunya">
              <a:extLst>
                <a:ext uri="{FF2B5EF4-FFF2-40B4-BE49-F238E27FC236}">
                  <a16:creationId xmlns:a16="http://schemas.microsoft.com/office/drawing/2014/main" id="{C7AED5D8-AF21-3FAB-D69F-C59B745763DC}"/>
                </a:ext>
              </a:extLst>
            </p:cNvPr>
            <p:cNvPicPr>
              <a:picLocks noChangeAspect="1"/>
            </p:cNvPicPr>
            <p:nvPr/>
          </p:nvPicPr>
          <p:blipFill>
            <a:blip r:embed="rId8"/>
            <a:stretch>
              <a:fillRect/>
            </a:stretch>
          </p:blipFill>
          <p:spPr>
            <a:xfrm>
              <a:off x="825684" y="1991133"/>
              <a:ext cx="1119594" cy="699746"/>
            </a:xfrm>
            <a:prstGeom prst="rect">
              <a:avLst/>
            </a:prstGeom>
          </p:spPr>
        </p:pic>
        <p:pic>
          <p:nvPicPr>
            <p:cNvPr id="23" name="Picture 22">
              <a:extLst>
                <a:ext uri="{FF2B5EF4-FFF2-40B4-BE49-F238E27FC236}">
                  <a16:creationId xmlns:a16="http://schemas.microsoft.com/office/drawing/2014/main" id="{11303585-27B9-E910-7A51-A9EDE16D51AE}"/>
                </a:ext>
              </a:extLst>
            </p:cNvPr>
            <p:cNvPicPr>
              <a:picLocks noChangeAspect="1"/>
            </p:cNvPicPr>
            <p:nvPr/>
          </p:nvPicPr>
          <p:blipFill>
            <a:blip r:embed="rId9"/>
            <a:stretch>
              <a:fillRect/>
            </a:stretch>
          </p:blipFill>
          <p:spPr>
            <a:xfrm>
              <a:off x="825684" y="2873994"/>
              <a:ext cx="1119594" cy="1011681"/>
            </a:xfrm>
            <a:prstGeom prst="rect">
              <a:avLst/>
            </a:prstGeom>
          </p:spPr>
        </p:pic>
        <p:pic>
          <p:nvPicPr>
            <p:cNvPr id="27" name="Picture 26" descr="TeamAware (@TeamAware_EU) / X">
              <a:extLst>
                <a:ext uri="{FF2B5EF4-FFF2-40B4-BE49-F238E27FC236}">
                  <a16:creationId xmlns:a16="http://schemas.microsoft.com/office/drawing/2014/main" id="{5809192E-1F68-D0EA-144B-44B4DDD45A19}"/>
                </a:ext>
              </a:extLst>
            </p:cNvPr>
            <p:cNvPicPr>
              <a:picLocks noChangeAspect="1"/>
            </p:cNvPicPr>
            <p:nvPr/>
          </p:nvPicPr>
          <p:blipFill>
            <a:blip r:embed="rId10"/>
            <a:srcRect t="40485" b="40315"/>
            <a:stretch>
              <a:fillRect/>
            </a:stretch>
          </p:blipFill>
          <p:spPr>
            <a:xfrm>
              <a:off x="287810" y="1499616"/>
              <a:ext cx="2237563" cy="429612"/>
            </a:xfrm>
            <a:prstGeom prst="rect">
              <a:avLst/>
            </a:prstGeom>
          </p:spPr>
        </p:pic>
      </p:grpSp>
      <p:sp>
        <p:nvSpPr>
          <p:cNvPr id="29" name="Text 1">
            <a:extLst>
              <a:ext uri="{FF2B5EF4-FFF2-40B4-BE49-F238E27FC236}">
                <a16:creationId xmlns:a16="http://schemas.microsoft.com/office/drawing/2014/main" id="{B4BAEC63-5BD5-6619-7C8A-77D95B109D55}"/>
              </a:ext>
            </a:extLst>
          </p:cNvPr>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AI Enhanced Decision Support Systems</a:t>
            </a:r>
            <a:endParaRPr lang="en-US" sz="2900" dirty="0"/>
          </a:p>
        </p:txBody>
      </p:sp>
    </p:spTree>
    <p:extLst>
      <p:ext uri="{BB962C8B-B14F-4D97-AF65-F5344CB8AC3E}">
        <p14:creationId xmlns:p14="http://schemas.microsoft.com/office/powerpoint/2010/main" val="1940602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9171E-0B6A-8B0A-1B1B-2B1B1A891487}"/>
            </a:ext>
          </a:extLst>
        </p:cNvPr>
        <p:cNvGrpSpPr/>
        <p:nvPr/>
      </p:nvGrpSpPr>
      <p:grpSpPr>
        <a:xfrm>
          <a:off x="0" y="0"/>
          <a:ext cx="0" cy="0"/>
          <a:chOff x="0" y="0"/>
          <a:chExt cx="0" cy="0"/>
        </a:xfrm>
      </p:grpSpPr>
      <p:pic>
        <p:nvPicPr>
          <p:cNvPr id="22" name="Image 0" descr="/tmp/thx/deck/figs/Figure1_1.png">
            <a:extLst>
              <a:ext uri="{FF2B5EF4-FFF2-40B4-BE49-F238E27FC236}">
                <a16:creationId xmlns:a16="http://schemas.microsoft.com/office/drawing/2014/main" id="{96D70A4F-8403-81D7-F23C-D0F0E2335FCB}"/>
              </a:ext>
            </a:extLst>
          </p:cNvPr>
          <p:cNvPicPr>
            <a:picLocks noChangeAspect="1"/>
          </p:cNvPicPr>
          <p:nvPr/>
        </p:nvPicPr>
        <p:blipFill>
          <a:blip r:embed="rId3"/>
          <a:stretch>
            <a:fillRect/>
          </a:stretch>
        </p:blipFill>
        <p:spPr>
          <a:xfrm>
            <a:off x="2286833" y="1033009"/>
            <a:ext cx="7618335" cy="5377199"/>
          </a:xfrm>
          <a:prstGeom prst="rect">
            <a:avLst/>
          </a:prstGeom>
        </p:spPr>
      </p:pic>
      <p:pic>
        <p:nvPicPr>
          <p:cNvPr id="9" name="Image 1" descr="/tmp/thx/deck/figs/metu_emblem.png">
            <a:extLst>
              <a:ext uri="{FF2B5EF4-FFF2-40B4-BE49-F238E27FC236}">
                <a16:creationId xmlns:a16="http://schemas.microsoft.com/office/drawing/2014/main" id="{71E28BA6-C6AF-396A-4706-DEC4DF0879E2}"/>
              </a:ext>
            </a:extLst>
          </p:cNvPr>
          <p:cNvPicPr>
            <a:picLocks noChangeAspect="1"/>
          </p:cNvPicPr>
          <p:nvPr/>
        </p:nvPicPr>
        <p:blipFill>
          <a:blip r:embed="rId4"/>
          <a:stretch>
            <a:fillRect/>
          </a:stretch>
        </p:blipFill>
        <p:spPr>
          <a:xfrm>
            <a:off x="10716768" y="184607"/>
            <a:ext cx="475488" cy="398882"/>
          </a:xfrm>
          <a:prstGeom prst="rect">
            <a:avLst/>
          </a:prstGeom>
        </p:spPr>
      </p:pic>
      <p:pic>
        <p:nvPicPr>
          <p:cNvPr id="10" name="Image 2" descr="/tmp/thx/deck/figs/eee_logo.png">
            <a:extLst>
              <a:ext uri="{FF2B5EF4-FFF2-40B4-BE49-F238E27FC236}">
                <a16:creationId xmlns:a16="http://schemas.microsoft.com/office/drawing/2014/main" id="{A38D2B30-21C1-B929-4781-E7F5FD6BB768}"/>
              </a:ext>
            </a:extLst>
          </p:cNvPr>
          <p:cNvPicPr>
            <a:picLocks noChangeAspect="1"/>
          </p:cNvPicPr>
          <p:nvPr/>
        </p:nvPicPr>
        <p:blipFill>
          <a:blip r:embed="rId5"/>
          <a:stretch>
            <a:fillRect/>
          </a:stretch>
        </p:blipFill>
        <p:spPr>
          <a:xfrm>
            <a:off x="11265408" y="186217"/>
            <a:ext cx="475488" cy="395662"/>
          </a:xfrm>
          <a:prstGeom prst="rect">
            <a:avLst/>
          </a:prstGeom>
        </p:spPr>
      </p:pic>
      <p:sp>
        <p:nvSpPr>
          <p:cNvPr id="6" name="Text 1">
            <a:extLst>
              <a:ext uri="{FF2B5EF4-FFF2-40B4-BE49-F238E27FC236}">
                <a16:creationId xmlns:a16="http://schemas.microsoft.com/office/drawing/2014/main" id="{FA406EF7-A925-4D03-8F6F-B950D18C51F5}"/>
              </a:ext>
            </a:extLst>
          </p:cNvPr>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Wildfire Decisions Outpace the Tools That Support Them</a:t>
            </a:r>
            <a:endParaRPr lang="en-US" sz="2900" dirty="0"/>
          </a:p>
        </p:txBody>
      </p:sp>
      <p:sp>
        <p:nvSpPr>
          <p:cNvPr id="20" name="Text 2">
            <a:extLst>
              <a:ext uri="{FF2B5EF4-FFF2-40B4-BE49-F238E27FC236}">
                <a16:creationId xmlns:a16="http://schemas.microsoft.com/office/drawing/2014/main" id="{0D80ED46-7532-D25F-E240-B53B49071F07}"/>
              </a:ext>
            </a:extLst>
          </p:cNvPr>
          <p:cNvSpPr/>
          <p:nvPr/>
        </p:nvSpPr>
        <p:spPr>
          <a:xfrm>
            <a:off x="3169920" y="6472047"/>
            <a:ext cx="5852160" cy="292608"/>
          </a:xfrm>
          <a:prstGeom prst="rect">
            <a:avLst/>
          </a:prstGeom>
          <a:noFill/>
          <a:ln/>
        </p:spPr>
        <p:txBody>
          <a:bodyPr wrap="square" lIns="0" tIns="0" rIns="0" bIns="0" rtlCol="0" anchor="ctr"/>
          <a:lstStyle/>
          <a:p>
            <a:pPr marL="0" indent="0" algn="ctr">
              <a:buNone/>
            </a:pPr>
            <a:r>
              <a:rPr lang="en-US" sz="1200" i="1" dirty="0">
                <a:solidFill>
                  <a:srgbClr val="6E6E6E"/>
                </a:solidFill>
                <a:latin typeface="Calibri" pitchFamily="34" charset="0"/>
                <a:ea typeface="Calibri" pitchFamily="34" charset="-122"/>
                <a:cs typeface="Calibri" pitchFamily="34" charset="-120"/>
              </a:rPr>
              <a:t>Reported natural disasters, 1970–2024 : weather- and climate-driven events dominate the rise</a:t>
            </a:r>
            <a:endParaRPr lang="en-US" sz="1200" dirty="0"/>
          </a:p>
        </p:txBody>
      </p:sp>
      <p:sp>
        <p:nvSpPr>
          <p:cNvPr id="28" name="Text 0">
            <a:extLst>
              <a:ext uri="{FF2B5EF4-FFF2-40B4-BE49-F238E27FC236}">
                <a16:creationId xmlns:a16="http://schemas.microsoft.com/office/drawing/2014/main" id="{F618EAF3-393D-F776-0307-CC9FD31108A9}"/>
              </a:ext>
            </a:extLst>
          </p:cNvPr>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MOTIVATION</a:t>
            </a:r>
            <a:endParaRPr lang="en-US" sz="1300" dirty="0"/>
          </a:p>
        </p:txBody>
      </p:sp>
    </p:spTree>
    <p:extLst>
      <p:ext uri="{BB962C8B-B14F-4D97-AF65-F5344CB8AC3E}">
        <p14:creationId xmlns:p14="http://schemas.microsoft.com/office/powerpoint/2010/main" val="22495212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39D08-8015-3845-AF8A-2FE09C7FA77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84802D8-58DA-0430-0CD6-2626567F49B4}"/>
              </a:ext>
            </a:extLst>
          </p:cNvPr>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MOTIVATION</a:t>
            </a:r>
            <a:endParaRPr lang="en-US" sz="1300" dirty="0"/>
          </a:p>
        </p:txBody>
      </p:sp>
      <p:sp>
        <p:nvSpPr>
          <p:cNvPr id="3" name="Text 1">
            <a:extLst>
              <a:ext uri="{FF2B5EF4-FFF2-40B4-BE49-F238E27FC236}">
                <a16:creationId xmlns:a16="http://schemas.microsoft.com/office/drawing/2014/main" id="{C0E4255D-2A9A-F5AB-B81E-7ED4CD2BFF4B}"/>
              </a:ext>
            </a:extLst>
          </p:cNvPr>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Wildfire Decisions Outpace the Tools That Support Them</a:t>
            </a:r>
            <a:endParaRPr lang="en-US" sz="2900" dirty="0"/>
          </a:p>
        </p:txBody>
      </p:sp>
      <p:pic>
        <p:nvPicPr>
          <p:cNvPr id="9" name="Image 1" descr="/tmp/thx/deck/figs/metu_emblem.png">
            <a:extLst>
              <a:ext uri="{FF2B5EF4-FFF2-40B4-BE49-F238E27FC236}">
                <a16:creationId xmlns:a16="http://schemas.microsoft.com/office/drawing/2014/main" id="{44D0717B-81DA-437B-2F57-17990FAA2EB5}"/>
              </a:ext>
            </a:extLst>
          </p:cNvPr>
          <p:cNvPicPr>
            <a:picLocks noChangeAspect="1"/>
          </p:cNvPicPr>
          <p:nvPr/>
        </p:nvPicPr>
        <p:blipFill>
          <a:blip r:embed="rId3"/>
          <a:stretch>
            <a:fillRect/>
          </a:stretch>
        </p:blipFill>
        <p:spPr>
          <a:xfrm>
            <a:off x="10716768" y="184607"/>
            <a:ext cx="475488" cy="398882"/>
          </a:xfrm>
          <a:prstGeom prst="rect">
            <a:avLst/>
          </a:prstGeom>
        </p:spPr>
      </p:pic>
      <p:pic>
        <p:nvPicPr>
          <p:cNvPr id="10" name="Image 2" descr="/tmp/thx/deck/figs/eee_logo.png">
            <a:extLst>
              <a:ext uri="{FF2B5EF4-FFF2-40B4-BE49-F238E27FC236}">
                <a16:creationId xmlns:a16="http://schemas.microsoft.com/office/drawing/2014/main" id="{B2D99549-A460-A04E-0D0C-2D5C6E381783}"/>
              </a:ext>
            </a:extLst>
          </p:cNvPr>
          <p:cNvPicPr>
            <a:picLocks noChangeAspect="1"/>
          </p:cNvPicPr>
          <p:nvPr/>
        </p:nvPicPr>
        <p:blipFill>
          <a:blip r:embed="rId4"/>
          <a:stretch>
            <a:fillRect/>
          </a:stretch>
        </p:blipFill>
        <p:spPr>
          <a:xfrm>
            <a:off x="11265408" y="186217"/>
            <a:ext cx="475488" cy="395662"/>
          </a:xfrm>
          <a:prstGeom prst="rect">
            <a:avLst/>
          </a:prstGeom>
        </p:spPr>
      </p:pic>
      <p:pic>
        <p:nvPicPr>
          <p:cNvPr id="11" name="Image 0" descr="/tmp/thx/deck/figs/Figure1_1.png">
            <a:extLst>
              <a:ext uri="{FF2B5EF4-FFF2-40B4-BE49-F238E27FC236}">
                <a16:creationId xmlns:a16="http://schemas.microsoft.com/office/drawing/2014/main" id="{54FF5DC6-724B-9BED-7D95-2338937C60D6}"/>
              </a:ext>
            </a:extLst>
          </p:cNvPr>
          <p:cNvPicPr>
            <a:picLocks noChangeAspect="1"/>
          </p:cNvPicPr>
          <p:nvPr/>
        </p:nvPicPr>
        <p:blipFill>
          <a:blip r:embed="rId5"/>
          <a:stretch>
            <a:fillRect/>
          </a:stretch>
        </p:blipFill>
        <p:spPr>
          <a:xfrm>
            <a:off x="344565" y="1056673"/>
            <a:ext cx="2240280" cy="1581242"/>
          </a:xfrm>
          <a:prstGeom prst="rect">
            <a:avLst/>
          </a:prstGeom>
        </p:spPr>
      </p:pic>
      <p:pic>
        <p:nvPicPr>
          <p:cNvPr id="12" name="Picture 11">
            <a:extLst>
              <a:ext uri="{FF2B5EF4-FFF2-40B4-BE49-F238E27FC236}">
                <a16:creationId xmlns:a16="http://schemas.microsoft.com/office/drawing/2014/main" id="{7070E6D1-3105-AF1A-7ED3-D56AB1B1D406}"/>
              </a:ext>
            </a:extLst>
          </p:cNvPr>
          <p:cNvPicPr>
            <a:picLocks noChangeAspect="1"/>
          </p:cNvPicPr>
          <p:nvPr/>
        </p:nvPicPr>
        <p:blipFill>
          <a:blip r:embed="rId6"/>
          <a:stretch>
            <a:fillRect/>
          </a:stretch>
        </p:blipFill>
        <p:spPr>
          <a:xfrm>
            <a:off x="3047999" y="1185007"/>
            <a:ext cx="9144001" cy="5321995"/>
          </a:xfrm>
          <a:prstGeom prst="rect">
            <a:avLst/>
          </a:prstGeom>
        </p:spPr>
      </p:pic>
      <p:cxnSp>
        <p:nvCxnSpPr>
          <p:cNvPr id="13" name="Straight Connector 12">
            <a:extLst>
              <a:ext uri="{FF2B5EF4-FFF2-40B4-BE49-F238E27FC236}">
                <a16:creationId xmlns:a16="http://schemas.microsoft.com/office/drawing/2014/main" id="{424D9BC5-C0CD-A71C-2BD0-53CEC44B6A92}"/>
              </a:ext>
            </a:extLst>
          </p:cNvPr>
          <p:cNvCxnSpPr/>
          <p:nvPr/>
        </p:nvCxnSpPr>
        <p:spPr>
          <a:xfrm>
            <a:off x="2876550" y="1056673"/>
            <a:ext cx="0" cy="5391752"/>
          </a:xfrm>
          <a:prstGeom prst="line">
            <a:avLst/>
          </a:prstGeom>
          <a:ln w="28575"/>
          <a:effectLst>
            <a:glow rad="63500">
              <a:schemeClr val="accent3">
                <a:satMod val="175000"/>
                <a:alpha val="40000"/>
              </a:schemeClr>
            </a:glow>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494294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CF681-F7A9-E402-32E1-19250BC8897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84EE99D-162F-ABE5-5EC8-E96E2D448999}"/>
              </a:ext>
            </a:extLst>
          </p:cNvPr>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MOTIVATION</a:t>
            </a:r>
            <a:endParaRPr lang="en-US" sz="1300" dirty="0"/>
          </a:p>
        </p:txBody>
      </p:sp>
      <p:sp>
        <p:nvSpPr>
          <p:cNvPr id="3" name="Text 1">
            <a:extLst>
              <a:ext uri="{FF2B5EF4-FFF2-40B4-BE49-F238E27FC236}">
                <a16:creationId xmlns:a16="http://schemas.microsoft.com/office/drawing/2014/main" id="{46F2E41C-E6C5-C3A6-EA22-B2A39ECAD070}"/>
              </a:ext>
            </a:extLst>
          </p:cNvPr>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Wildfire Decisions Outpace the Tools That Support Them</a:t>
            </a:r>
            <a:endParaRPr lang="en-US" sz="2900" dirty="0"/>
          </a:p>
        </p:txBody>
      </p:sp>
      <p:pic>
        <p:nvPicPr>
          <p:cNvPr id="4" name="Image 0" descr="/tmp/thx/deck/figs/Figure1_1.png">
            <a:extLst>
              <a:ext uri="{FF2B5EF4-FFF2-40B4-BE49-F238E27FC236}">
                <a16:creationId xmlns:a16="http://schemas.microsoft.com/office/drawing/2014/main" id="{1C77F895-47D3-1525-4104-014E0C5FE2CA}"/>
              </a:ext>
            </a:extLst>
          </p:cNvPr>
          <p:cNvPicPr>
            <a:picLocks noChangeAspect="1"/>
          </p:cNvPicPr>
          <p:nvPr/>
        </p:nvPicPr>
        <p:blipFill>
          <a:blip r:embed="rId3"/>
          <a:stretch>
            <a:fillRect/>
          </a:stretch>
        </p:blipFill>
        <p:spPr>
          <a:xfrm>
            <a:off x="266842" y="1056673"/>
            <a:ext cx="2240280" cy="1581242"/>
          </a:xfrm>
          <a:prstGeom prst="rect">
            <a:avLst/>
          </a:prstGeom>
        </p:spPr>
      </p:pic>
      <p:pic>
        <p:nvPicPr>
          <p:cNvPr id="9" name="Image 1" descr="/tmp/thx/deck/figs/metu_emblem.png">
            <a:extLst>
              <a:ext uri="{FF2B5EF4-FFF2-40B4-BE49-F238E27FC236}">
                <a16:creationId xmlns:a16="http://schemas.microsoft.com/office/drawing/2014/main" id="{FBDBD71C-BB25-927E-372A-6F98F05A395A}"/>
              </a:ext>
            </a:extLst>
          </p:cNvPr>
          <p:cNvPicPr>
            <a:picLocks noChangeAspect="1"/>
          </p:cNvPicPr>
          <p:nvPr/>
        </p:nvPicPr>
        <p:blipFill>
          <a:blip r:embed="rId4"/>
          <a:stretch>
            <a:fillRect/>
          </a:stretch>
        </p:blipFill>
        <p:spPr>
          <a:xfrm>
            <a:off x="10716768" y="184607"/>
            <a:ext cx="475488" cy="398882"/>
          </a:xfrm>
          <a:prstGeom prst="rect">
            <a:avLst/>
          </a:prstGeom>
        </p:spPr>
      </p:pic>
      <p:pic>
        <p:nvPicPr>
          <p:cNvPr id="10" name="Image 2" descr="/tmp/thx/deck/figs/eee_logo.png">
            <a:extLst>
              <a:ext uri="{FF2B5EF4-FFF2-40B4-BE49-F238E27FC236}">
                <a16:creationId xmlns:a16="http://schemas.microsoft.com/office/drawing/2014/main" id="{DE16E0B9-B0D4-CC21-B253-99EBAEDC9A60}"/>
              </a:ext>
            </a:extLst>
          </p:cNvPr>
          <p:cNvPicPr>
            <a:picLocks noChangeAspect="1"/>
          </p:cNvPicPr>
          <p:nvPr/>
        </p:nvPicPr>
        <p:blipFill>
          <a:blip r:embed="rId5"/>
          <a:stretch>
            <a:fillRect/>
          </a:stretch>
        </p:blipFill>
        <p:spPr>
          <a:xfrm>
            <a:off x="11265408" y="186217"/>
            <a:ext cx="475488" cy="395662"/>
          </a:xfrm>
          <a:prstGeom prst="rect">
            <a:avLst/>
          </a:prstGeom>
        </p:spPr>
      </p:pic>
      <p:pic>
        <p:nvPicPr>
          <p:cNvPr id="11" name="Picture 10">
            <a:extLst>
              <a:ext uri="{FF2B5EF4-FFF2-40B4-BE49-F238E27FC236}">
                <a16:creationId xmlns:a16="http://schemas.microsoft.com/office/drawing/2014/main" id="{51D4EF33-1AAE-90AD-739F-182A8EABE085}"/>
              </a:ext>
            </a:extLst>
          </p:cNvPr>
          <p:cNvPicPr>
            <a:picLocks noChangeAspect="1"/>
          </p:cNvPicPr>
          <p:nvPr/>
        </p:nvPicPr>
        <p:blipFill>
          <a:blip r:embed="rId6"/>
          <a:stretch>
            <a:fillRect/>
          </a:stretch>
        </p:blipFill>
        <p:spPr>
          <a:xfrm>
            <a:off x="4084754" y="1243584"/>
            <a:ext cx="6854505" cy="5069807"/>
          </a:xfrm>
          <a:prstGeom prst="rect">
            <a:avLst/>
          </a:prstGeom>
        </p:spPr>
      </p:pic>
      <p:pic>
        <p:nvPicPr>
          <p:cNvPr id="13" name="Picture 12">
            <a:extLst>
              <a:ext uri="{FF2B5EF4-FFF2-40B4-BE49-F238E27FC236}">
                <a16:creationId xmlns:a16="http://schemas.microsoft.com/office/drawing/2014/main" id="{F124A01D-B06F-759A-2A94-9274A8F97164}"/>
              </a:ext>
            </a:extLst>
          </p:cNvPr>
          <p:cNvPicPr>
            <a:picLocks noChangeAspect="1"/>
          </p:cNvPicPr>
          <p:nvPr/>
        </p:nvPicPr>
        <p:blipFill>
          <a:blip r:embed="rId7"/>
          <a:stretch>
            <a:fillRect/>
          </a:stretch>
        </p:blipFill>
        <p:spPr>
          <a:xfrm>
            <a:off x="0" y="2637915"/>
            <a:ext cx="2773964" cy="1614504"/>
          </a:xfrm>
          <a:prstGeom prst="rect">
            <a:avLst/>
          </a:prstGeom>
        </p:spPr>
      </p:pic>
      <p:sp>
        <p:nvSpPr>
          <p:cNvPr id="14" name="TextBox 13">
            <a:extLst>
              <a:ext uri="{FF2B5EF4-FFF2-40B4-BE49-F238E27FC236}">
                <a16:creationId xmlns:a16="http://schemas.microsoft.com/office/drawing/2014/main" id="{3BED4C27-2D2A-E691-677F-7AC34D393538}"/>
              </a:ext>
            </a:extLst>
          </p:cNvPr>
          <p:cNvSpPr txBox="1"/>
          <p:nvPr/>
        </p:nvSpPr>
        <p:spPr>
          <a:xfrm>
            <a:off x="5497033" y="6345936"/>
            <a:ext cx="4501938" cy="369332"/>
          </a:xfrm>
          <a:prstGeom prst="rect">
            <a:avLst/>
          </a:prstGeom>
          <a:noFill/>
        </p:spPr>
        <p:txBody>
          <a:bodyPr wrap="none" rtlCol="0">
            <a:spAutoFit/>
          </a:bodyPr>
          <a:lstStyle/>
          <a:p>
            <a:r>
              <a:rPr lang="en-US" b="1" dirty="0">
                <a:solidFill>
                  <a:srgbClr val="C00000"/>
                </a:solidFill>
              </a:rPr>
              <a:t>A fixed menu cannot answer an evolving fire!</a:t>
            </a:r>
            <a:endParaRPr lang="tr-TR" b="1" dirty="0">
              <a:solidFill>
                <a:srgbClr val="C00000"/>
              </a:solidFill>
            </a:endParaRPr>
          </a:p>
        </p:txBody>
      </p:sp>
      <p:cxnSp>
        <p:nvCxnSpPr>
          <p:cNvPr id="15" name="Straight Connector 14">
            <a:extLst>
              <a:ext uri="{FF2B5EF4-FFF2-40B4-BE49-F238E27FC236}">
                <a16:creationId xmlns:a16="http://schemas.microsoft.com/office/drawing/2014/main" id="{DAC30EC4-CA53-5347-6992-9727FAE78BF4}"/>
              </a:ext>
            </a:extLst>
          </p:cNvPr>
          <p:cNvCxnSpPr/>
          <p:nvPr/>
        </p:nvCxnSpPr>
        <p:spPr>
          <a:xfrm>
            <a:off x="2876550" y="1056673"/>
            <a:ext cx="0" cy="5391752"/>
          </a:xfrm>
          <a:prstGeom prst="line">
            <a:avLst/>
          </a:prstGeom>
          <a:ln w="28575"/>
          <a:effectLst>
            <a:glow rad="63500">
              <a:schemeClr val="accent3">
                <a:satMod val="175000"/>
                <a:alpha val="40000"/>
              </a:schemeClr>
            </a:glow>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079052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510EA-206B-BA85-3573-E3F2DEA943C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BB8DB86-AACB-175B-CA0E-70F63BC48B8B}"/>
              </a:ext>
            </a:extLst>
          </p:cNvPr>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MOTIVATION</a:t>
            </a:r>
            <a:endParaRPr lang="en-US" sz="1300" dirty="0"/>
          </a:p>
        </p:txBody>
      </p:sp>
      <p:sp>
        <p:nvSpPr>
          <p:cNvPr id="3" name="Text 1">
            <a:extLst>
              <a:ext uri="{FF2B5EF4-FFF2-40B4-BE49-F238E27FC236}">
                <a16:creationId xmlns:a16="http://schemas.microsoft.com/office/drawing/2014/main" id="{C35A2BA8-4612-74C7-195A-C4183532567D}"/>
              </a:ext>
            </a:extLst>
          </p:cNvPr>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Wildfire Decisions Outpace the Tools That Support Them</a:t>
            </a:r>
            <a:endParaRPr lang="en-US" sz="2900" dirty="0"/>
          </a:p>
        </p:txBody>
      </p:sp>
      <p:pic>
        <p:nvPicPr>
          <p:cNvPr id="9" name="Image 1" descr="/tmp/thx/deck/figs/metu_emblem.png">
            <a:extLst>
              <a:ext uri="{FF2B5EF4-FFF2-40B4-BE49-F238E27FC236}">
                <a16:creationId xmlns:a16="http://schemas.microsoft.com/office/drawing/2014/main" id="{A23997D4-4459-432F-A24B-4E94A19A41FD}"/>
              </a:ext>
            </a:extLst>
          </p:cNvPr>
          <p:cNvPicPr>
            <a:picLocks noChangeAspect="1"/>
          </p:cNvPicPr>
          <p:nvPr/>
        </p:nvPicPr>
        <p:blipFill>
          <a:blip r:embed="rId3"/>
          <a:stretch>
            <a:fillRect/>
          </a:stretch>
        </p:blipFill>
        <p:spPr>
          <a:xfrm>
            <a:off x="10716768" y="184607"/>
            <a:ext cx="475488" cy="398882"/>
          </a:xfrm>
          <a:prstGeom prst="rect">
            <a:avLst/>
          </a:prstGeom>
        </p:spPr>
      </p:pic>
      <p:pic>
        <p:nvPicPr>
          <p:cNvPr id="10" name="Image 2" descr="/tmp/thx/deck/figs/eee_logo.png">
            <a:extLst>
              <a:ext uri="{FF2B5EF4-FFF2-40B4-BE49-F238E27FC236}">
                <a16:creationId xmlns:a16="http://schemas.microsoft.com/office/drawing/2014/main" id="{5E4AD7E3-C8A9-E03A-D812-9B20A9C937FD}"/>
              </a:ext>
            </a:extLst>
          </p:cNvPr>
          <p:cNvPicPr>
            <a:picLocks noChangeAspect="1"/>
          </p:cNvPicPr>
          <p:nvPr/>
        </p:nvPicPr>
        <p:blipFill>
          <a:blip r:embed="rId4"/>
          <a:stretch>
            <a:fillRect/>
          </a:stretch>
        </p:blipFill>
        <p:spPr>
          <a:xfrm>
            <a:off x="11265408" y="186217"/>
            <a:ext cx="475488" cy="395662"/>
          </a:xfrm>
          <a:prstGeom prst="rect">
            <a:avLst/>
          </a:prstGeom>
        </p:spPr>
      </p:pic>
      <p:pic>
        <p:nvPicPr>
          <p:cNvPr id="6" name="Picture 5">
            <a:extLst>
              <a:ext uri="{FF2B5EF4-FFF2-40B4-BE49-F238E27FC236}">
                <a16:creationId xmlns:a16="http://schemas.microsoft.com/office/drawing/2014/main" id="{6AE8F4D8-A3FA-6B42-5548-E7CE462794A0}"/>
              </a:ext>
            </a:extLst>
          </p:cNvPr>
          <p:cNvPicPr>
            <a:picLocks noChangeAspect="1"/>
          </p:cNvPicPr>
          <p:nvPr/>
        </p:nvPicPr>
        <p:blipFill>
          <a:blip r:embed="rId5"/>
          <a:stretch>
            <a:fillRect/>
          </a:stretch>
        </p:blipFill>
        <p:spPr>
          <a:xfrm>
            <a:off x="145872" y="4531273"/>
            <a:ext cx="2482220" cy="1835928"/>
          </a:xfrm>
          <a:prstGeom prst="rect">
            <a:avLst/>
          </a:prstGeom>
        </p:spPr>
      </p:pic>
      <p:pic>
        <p:nvPicPr>
          <p:cNvPr id="8" name="Image 0" descr="/tmp/thx/deck/figs/Figure1_1.png">
            <a:extLst>
              <a:ext uri="{FF2B5EF4-FFF2-40B4-BE49-F238E27FC236}">
                <a16:creationId xmlns:a16="http://schemas.microsoft.com/office/drawing/2014/main" id="{5AFE3185-0A63-5052-8772-44B1F260F725}"/>
              </a:ext>
            </a:extLst>
          </p:cNvPr>
          <p:cNvPicPr>
            <a:picLocks noChangeAspect="1"/>
          </p:cNvPicPr>
          <p:nvPr/>
        </p:nvPicPr>
        <p:blipFill>
          <a:blip r:embed="rId6"/>
          <a:stretch>
            <a:fillRect/>
          </a:stretch>
        </p:blipFill>
        <p:spPr>
          <a:xfrm>
            <a:off x="266842" y="1056673"/>
            <a:ext cx="2240280" cy="1581242"/>
          </a:xfrm>
          <a:prstGeom prst="rect">
            <a:avLst/>
          </a:prstGeom>
        </p:spPr>
      </p:pic>
      <p:pic>
        <p:nvPicPr>
          <p:cNvPr id="14" name="Picture 13">
            <a:extLst>
              <a:ext uri="{FF2B5EF4-FFF2-40B4-BE49-F238E27FC236}">
                <a16:creationId xmlns:a16="http://schemas.microsoft.com/office/drawing/2014/main" id="{F9CCD70B-1041-A9AB-6224-C833A3426D70}"/>
              </a:ext>
            </a:extLst>
          </p:cNvPr>
          <p:cNvPicPr>
            <a:picLocks noChangeAspect="1"/>
          </p:cNvPicPr>
          <p:nvPr/>
        </p:nvPicPr>
        <p:blipFill>
          <a:blip r:embed="rId7"/>
          <a:stretch>
            <a:fillRect/>
          </a:stretch>
        </p:blipFill>
        <p:spPr>
          <a:xfrm>
            <a:off x="0" y="2637915"/>
            <a:ext cx="2773964" cy="1614504"/>
          </a:xfrm>
          <a:prstGeom prst="rect">
            <a:avLst/>
          </a:prstGeom>
        </p:spPr>
      </p:pic>
      <p:cxnSp>
        <p:nvCxnSpPr>
          <p:cNvPr id="20" name="Straight Connector 19">
            <a:extLst>
              <a:ext uri="{FF2B5EF4-FFF2-40B4-BE49-F238E27FC236}">
                <a16:creationId xmlns:a16="http://schemas.microsoft.com/office/drawing/2014/main" id="{C9E2053C-AAE6-E601-9F95-AC5756286135}"/>
              </a:ext>
            </a:extLst>
          </p:cNvPr>
          <p:cNvCxnSpPr/>
          <p:nvPr/>
        </p:nvCxnSpPr>
        <p:spPr>
          <a:xfrm>
            <a:off x="2876550" y="1056673"/>
            <a:ext cx="0" cy="5391752"/>
          </a:xfrm>
          <a:prstGeom prst="line">
            <a:avLst/>
          </a:prstGeom>
          <a:ln w="28575"/>
          <a:effectLst>
            <a:glow rad="63500">
              <a:schemeClr val="accent3">
                <a:satMod val="175000"/>
                <a:alpha val="40000"/>
              </a:schemeClr>
            </a:glow>
          </a:effectLst>
        </p:spPr>
        <p:style>
          <a:lnRef idx="1">
            <a:schemeClr val="dk1"/>
          </a:lnRef>
          <a:fillRef idx="0">
            <a:schemeClr val="dk1"/>
          </a:fillRef>
          <a:effectRef idx="0">
            <a:schemeClr val="dk1"/>
          </a:effectRef>
          <a:fontRef idx="minor">
            <a:schemeClr val="tx1"/>
          </a:fontRef>
        </p:style>
      </p:cxnSp>
      <p:sp>
        <p:nvSpPr>
          <p:cNvPr id="5" name="Text 3">
            <a:extLst>
              <a:ext uri="{FF2B5EF4-FFF2-40B4-BE49-F238E27FC236}">
                <a16:creationId xmlns:a16="http://schemas.microsoft.com/office/drawing/2014/main" id="{FAD06964-FF6F-871F-0914-0807AD5954AE}"/>
              </a:ext>
            </a:extLst>
          </p:cNvPr>
          <p:cNvSpPr/>
          <p:nvPr/>
        </p:nvSpPr>
        <p:spPr>
          <a:xfrm>
            <a:off x="3245978" y="1499615"/>
            <a:ext cx="8504061" cy="4668955"/>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2400" dirty="0">
                <a:solidFill>
                  <a:srgbClr val="222222"/>
                </a:solidFill>
                <a:latin typeface="Calibri" pitchFamily="34" charset="0"/>
                <a:ea typeface="Calibri" pitchFamily="34" charset="-122"/>
                <a:cs typeface="Calibri" pitchFamily="34" charset="-120"/>
              </a:rPr>
              <a:t>Fire behavior shifts with wind, fuel, and terrain faster than a fixed plan can follow</a:t>
            </a:r>
          </a:p>
          <a:p>
            <a:pPr marL="152400" indent="-152400">
              <a:lnSpc>
                <a:spcPct val="105000"/>
              </a:lnSpc>
              <a:spcAft>
                <a:spcPts val="1000"/>
              </a:spcAft>
              <a:buSzPct val="100000"/>
              <a:buChar char="•"/>
            </a:pPr>
            <a:endParaRPr lang="en-US" sz="2400" dirty="0"/>
          </a:p>
          <a:p>
            <a:pPr marL="152400" indent="-152400">
              <a:lnSpc>
                <a:spcPct val="105000"/>
              </a:lnSpc>
              <a:spcAft>
                <a:spcPts val="1000"/>
              </a:spcAft>
              <a:buSzPct val="100000"/>
              <a:buChar char="•"/>
            </a:pPr>
            <a:r>
              <a:rPr lang="en-US" sz="2400" dirty="0">
                <a:solidFill>
                  <a:srgbClr val="222222"/>
                </a:solidFill>
                <a:latin typeface="Calibri" pitchFamily="34" charset="0"/>
                <a:ea typeface="Calibri" pitchFamily="34" charset="-122"/>
                <a:cs typeface="Calibri" pitchFamily="34" charset="-120"/>
              </a:rPr>
              <a:t>Observations arrive incomplete, delayed, and at varying confidence</a:t>
            </a:r>
          </a:p>
          <a:p>
            <a:pPr marL="152400" indent="-152400">
              <a:lnSpc>
                <a:spcPct val="105000"/>
              </a:lnSpc>
              <a:spcAft>
                <a:spcPts val="1000"/>
              </a:spcAft>
              <a:buSzPct val="100000"/>
              <a:buChar char="•"/>
            </a:pPr>
            <a:endParaRPr lang="en-US" sz="2400" dirty="0"/>
          </a:p>
          <a:p>
            <a:pPr marL="152400" indent="-152400">
              <a:lnSpc>
                <a:spcPct val="105000"/>
              </a:lnSpc>
              <a:spcAft>
                <a:spcPts val="1000"/>
              </a:spcAft>
              <a:buSzPct val="100000"/>
              <a:buChar char="•"/>
            </a:pPr>
            <a:r>
              <a:rPr lang="en-US" sz="2400" dirty="0">
                <a:solidFill>
                  <a:srgbClr val="222222"/>
                </a:solidFill>
                <a:latin typeface="Calibri" pitchFamily="34" charset="0"/>
                <a:ea typeface="Calibri" pitchFamily="34" charset="-122"/>
                <a:cs typeface="Calibri" pitchFamily="34" charset="-120"/>
              </a:rPr>
              <a:t>A commander needs a defensible order within the decision cycle</a:t>
            </a:r>
          </a:p>
          <a:p>
            <a:pPr marL="152400" indent="-152400">
              <a:lnSpc>
                <a:spcPct val="105000"/>
              </a:lnSpc>
              <a:spcAft>
                <a:spcPts val="1000"/>
              </a:spcAft>
              <a:buSzPct val="100000"/>
              <a:buChar char="•"/>
            </a:pPr>
            <a:endParaRPr lang="en-US" sz="2400" dirty="0"/>
          </a:p>
          <a:p>
            <a:pPr marL="152400" indent="-152400">
              <a:lnSpc>
                <a:spcPct val="105000"/>
              </a:lnSpc>
              <a:spcAft>
                <a:spcPts val="1000"/>
              </a:spcAft>
              <a:buSzPct val="100000"/>
              <a:buChar char="•"/>
            </a:pPr>
            <a:r>
              <a:rPr lang="en-US" sz="2400" b="1" dirty="0">
                <a:solidFill>
                  <a:srgbClr val="222222"/>
                </a:solidFill>
                <a:latin typeface="Calibri" pitchFamily="34" charset="0"/>
                <a:ea typeface="Calibri" pitchFamily="34" charset="-122"/>
                <a:cs typeface="Calibri" pitchFamily="34" charset="-120"/>
              </a:rPr>
              <a:t>Existing DSS confirm decisions already made</a:t>
            </a:r>
            <a:r>
              <a:rPr lang="tr-TR" sz="2400" b="1" dirty="0">
                <a:solidFill>
                  <a:srgbClr val="222222"/>
                </a:solidFill>
                <a:latin typeface="Calibri" pitchFamily="34" charset="0"/>
                <a:ea typeface="Calibri" pitchFamily="34" charset="-122"/>
                <a:cs typeface="Calibri" pitchFamily="34" charset="-120"/>
              </a:rPr>
              <a:t>; t</a:t>
            </a:r>
            <a:r>
              <a:rPr lang="en-US" sz="2400" b="1" dirty="0">
                <a:solidFill>
                  <a:srgbClr val="222222"/>
                </a:solidFill>
                <a:latin typeface="Calibri" pitchFamily="34" charset="0"/>
                <a:ea typeface="Calibri" pitchFamily="34" charset="-122"/>
                <a:cs typeface="Calibri" pitchFamily="34" charset="-120"/>
              </a:rPr>
              <a:t>hey do not generate the</a:t>
            </a:r>
            <a:r>
              <a:rPr lang="tr-TR" sz="2400" b="1" dirty="0">
                <a:solidFill>
                  <a:srgbClr val="222222"/>
                </a:solidFill>
                <a:latin typeface="Calibri" pitchFamily="34" charset="0"/>
                <a:ea typeface="Calibri" pitchFamily="34" charset="-122"/>
                <a:cs typeface="Calibri" pitchFamily="34" charset="-120"/>
              </a:rPr>
              <a:t>m </a:t>
            </a:r>
            <a:r>
              <a:rPr lang="tr-TR" sz="2400" b="1" dirty="0" err="1">
                <a:solidFill>
                  <a:srgbClr val="222222"/>
                </a:solidFill>
                <a:latin typeface="Calibri" pitchFamily="34" charset="0"/>
                <a:ea typeface="Calibri" pitchFamily="34" charset="-122"/>
                <a:cs typeface="Calibri" pitchFamily="34" charset="-120"/>
              </a:rPr>
              <a:t>and</a:t>
            </a:r>
            <a:r>
              <a:rPr lang="tr-TR" sz="2400" b="1" dirty="0">
                <a:solidFill>
                  <a:srgbClr val="222222"/>
                </a:solidFill>
                <a:latin typeface="Calibri" pitchFamily="34" charset="0"/>
                <a:ea typeface="Calibri" pitchFamily="34" charset="-122"/>
                <a:cs typeface="Calibri" pitchFamily="34" charset="-120"/>
              </a:rPr>
              <a:t> not </a:t>
            </a:r>
            <a:r>
              <a:rPr lang="tr-TR" sz="2400" b="1" dirty="0" err="1">
                <a:solidFill>
                  <a:srgbClr val="222222"/>
                </a:solidFill>
                <a:latin typeface="Calibri" pitchFamily="34" charset="0"/>
                <a:ea typeface="Calibri" pitchFamily="34" charset="-122"/>
                <a:cs typeface="Calibri" pitchFamily="34" charset="-120"/>
              </a:rPr>
              <a:t>adapt</a:t>
            </a:r>
            <a:r>
              <a:rPr lang="tr-TR" sz="2400" b="1" dirty="0">
                <a:solidFill>
                  <a:srgbClr val="222222"/>
                </a:solidFill>
                <a:latin typeface="Calibri" pitchFamily="34" charset="0"/>
                <a:ea typeface="Calibri" pitchFamily="34" charset="-122"/>
                <a:cs typeface="Calibri" pitchFamily="34" charset="-120"/>
              </a:rPr>
              <a:t> </a:t>
            </a:r>
            <a:r>
              <a:rPr lang="tr-TR" sz="2400" b="1" dirty="0" err="1">
                <a:solidFill>
                  <a:srgbClr val="222222"/>
                </a:solidFill>
                <a:latin typeface="Calibri" pitchFamily="34" charset="0"/>
                <a:ea typeface="Calibri" pitchFamily="34" charset="-122"/>
                <a:cs typeface="Calibri" pitchFamily="34" charset="-120"/>
              </a:rPr>
              <a:t>to</a:t>
            </a:r>
            <a:r>
              <a:rPr lang="tr-TR" sz="2400" b="1" dirty="0">
                <a:solidFill>
                  <a:srgbClr val="222222"/>
                </a:solidFill>
                <a:latin typeface="Calibri" pitchFamily="34" charset="0"/>
                <a:ea typeface="Calibri" pitchFamily="34" charset="-122"/>
                <a:cs typeface="Calibri" pitchFamily="34" charset="-120"/>
              </a:rPr>
              <a:t> </a:t>
            </a:r>
            <a:r>
              <a:rPr lang="tr-TR" sz="2400" b="1" dirty="0" err="1">
                <a:solidFill>
                  <a:srgbClr val="222222"/>
                </a:solidFill>
                <a:latin typeface="Calibri" pitchFamily="34" charset="0"/>
                <a:ea typeface="Calibri" pitchFamily="34" charset="-122"/>
                <a:cs typeface="Calibri" pitchFamily="34" charset="-120"/>
              </a:rPr>
              <a:t>varying</a:t>
            </a:r>
            <a:r>
              <a:rPr lang="tr-TR" sz="2400" b="1" dirty="0">
                <a:solidFill>
                  <a:srgbClr val="222222"/>
                </a:solidFill>
                <a:latin typeface="Calibri" pitchFamily="34" charset="0"/>
                <a:ea typeface="Calibri" pitchFamily="34" charset="-122"/>
                <a:cs typeface="Calibri" pitchFamily="34" charset="-120"/>
              </a:rPr>
              <a:t> </a:t>
            </a:r>
            <a:r>
              <a:rPr lang="tr-TR" sz="2400" b="1" dirty="0" err="1">
                <a:solidFill>
                  <a:srgbClr val="222222"/>
                </a:solidFill>
                <a:latin typeface="Calibri" pitchFamily="34" charset="0"/>
                <a:ea typeface="Calibri" pitchFamily="34" charset="-122"/>
                <a:cs typeface="Calibri" pitchFamily="34" charset="-120"/>
              </a:rPr>
              <a:t>conditions</a:t>
            </a:r>
            <a:r>
              <a:rPr lang="tr-TR" sz="2400" b="1" dirty="0">
                <a:solidFill>
                  <a:srgbClr val="222222"/>
                </a:solidFill>
                <a:latin typeface="Calibri" pitchFamily="34" charset="0"/>
                <a:ea typeface="Calibri" pitchFamily="34" charset="-122"/>
                <a:cs typeface="Calibri" pitchFamily="34" charset="-120"/>
              </a:rPr>
              <a:t>.</a:t>
            </a:r>
          </a:p>
        </p:txBody>
      </p:sp>
    </p:spTree>
    <p:extLst>
      <p:ext uri="{BB962C8B-B14F-4D97-AF65-F5344CB8AC3E}">
        <p14:creationId xmlns:p14="http://schemas.microsoft.com/office/powerpoint/2010/main" val="20194007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8923A-7E53-5A17-2162-9BE63C2791E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2325012-6554-3F2D-58EA-79C2A442C3E0}"/>
              </a:ext>
            </a:extLst>
          </p:cNvPr>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MOTIVATION</a:t>
            </a:r>
            <a:endParaRPr lang="en-US" sz="1300" dirty="0"/>
          </a:p>
        </p:txBody>
      </p:sp>
      <p:sp>
        <p:nvSpPr>
          <p:cNvPr id="3" name="Text 1">
            <a:extLst>
              <a:ext uri="{FF2B5EF4-FFF2-40B4-BE49-F238E27FC236}">
                <a16:creationId xmlns:a16="http://schemas.microsoft.com/office/drawing/2014/main" id="{060A64F2-F1D3-4E1C-3425-84234704D870}"/>
              </a:ext>
            </a:extLst>
          </p:cNvPr>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Wildfire Decisions Outpace the Tools That Support Them</a:t>
            </a:r>
            <a:endParaRPr lang="en-US" sz="2900" dirty="0"/>
          </a:p>
        </p:txBody>
      </p:sp>
      <p:pic>
        <p:nvPicPr>
          <p:cNvPr id="9" name="Image 1" descr="/tmp/thx/deck/figs/metu_emblem.png">
            <a:extLst>
              <a:ext uri="{FF2B5EF4-FFF2-40B4-BE49-F238E27FC236}">
                <a16:creationId xmlns:a16="http://schemas.microsoft.com/office/drawing/2014/main" id="{39B20601-2097-C743-5098-9A709B9780AC}"/>
              </a:ext>
            </a:extLst>
          </p:cNvPr>
          <p:cNvPicPr>
            <a:picLocks noChangeAspect="1"/>
          </p:cNvPicPr>
          <p:nvPr/>
        </p:nvPicPr>
        <p:blipFill>
          <a:blip r:embed="rId3"/>
          <a:stretch>
            <a:fillRect/>
          </a:stretch>
        </p:blipFill>
        <p:spPr>
          <a:xfrm>
            <a:off x="10716768" y="184607"/>
            <a:ext cx="475488" cy="398882"/>
          </a:xfrm>
          <a:prstGeom prst="rect">
            <a:avLst/>
          </a:prstGeom>
        </p:spPr>
      </p:pic>
      <p:pic>
        <p:nvPicPr>
          <p:cNvPr id="10" name="Image 2" descr="/tmp/thx/deck/figs/eee_logo.png">
            <a:extLst>
              <a:ext uri="{FF2B5EF4-FFF2-40B4-BE49-F238E27FC236}">
                <a16:creationId xmlns:a16="http://schemas.microsoft.com/office/drawing/2014/main" id="{5A416F98-A192-2109-88B1-9F89066EBABC}"/>
              </a:ext>
            </a:extLst>
          </p:cNvPr>
          <p:cNvPicPr>
            <a:picLocks noChangeAspect="1"/>
          </p:cNvPicPr>
          <p:nvPr/>
        </p:nvPicPr>
        <p:blipFill>
          <a:blip r:embed="rId4"/>
          <a:stretch>
            <a:fillRect/>
          </a:stretch>
        </p:blipFill>
        <p:spPr>
          <a:xfrm>
            <a:off x="11265408" y="186217"/>
            <a:ext cx="475488" cy="395662"/>
          </a:xfrm>
          <a:prstGeom prst="rect">
            <a:avLst/>
          </a:prstGeom>
        </p:spPr>
      </p:pic>
      <p:pic>
        <p:nvPicPr>
          <p:cNvPr id="6" name="Picture 5">
            <a:extLst>
              <a:ext uri="{FF2B5EF4-FFF2-40B4-BE49-F238E27FC236}">
                <a16:creationId xmlns:a16="http://schemas.microsoft.com/office/drawing/2014/main" id="{1059A0AA-625A-82A1-F04C-75FE63B52E68}"/>
              </a:ext>
            </a:extLst>
          </p:cNvPr>
          <p:cNvPicPr>
            <a:picLocks noChangeAspect="1"/>
          </p:cNvPicPr>
          <p:nvPr/>
        </p:nvPicPr>
        <p:blipFill>
          <a:blip r:embed="rId5"/>
          <a:stretch>
            <a:fillRect/>
          </a:stretch>
        </p:blipFill>
        <p:spPr>
          <a:xfrm>
            <a:off x="145872" y="4531273"/>
            <a:ext cx="2482220" cy="1835928"/>
          </a:xfrm>
          <a:prstGeom prst="rect">
            <a:avLst/>
          </a:prstGeom>
        </p:spPr>
      </p:pic>
      <p:pic>
        <p:nvPicPr>
          <p:cNvPr id="8" name="Image 0" descr="/tmp/thx/deck/figs/Figure1_1.png">
            <a:extLst>
              <a:ext uri="{FF2B5EF4-FFF2-40B4-BE49-F238E27FC236}">
                <a16:creationId xmlns:a16="http://schemas.microsoft.com/office/drawing/2014/main" id="{DBA97A70-06AF-3B7E-B905-6C3EC07AFCC5}"/>
              </a:ext>
            </a:extLst>
          </p:cNvPr>
          <p:cNvPicPr>
            <a:picLocks noChangeAspect="1"/>
          </p:cNvPicPr>
          <p:nvPr/>
        </p:nvPicPr>
        <p:blipFill>
          <a:blip r:embed="rId6"/>
          <a:stretch>
            <a:fillRect/>
          </a:stretch>
        </p:blipFill>
        <p:spPr>
          <a:xfrm>
            <a:off x="266842" y="1056673"/>
            <a:ext cx="2240280" cy="1581242"/>
          </a:xfrm>
          <a:prstGeom prst="rect">
            <a:avLst/>
          </a:prstGeom>
        </p:spPr>
      </p:pic>
      <p:pic>
        <p:nvPicPr>
          <p:cNvPr id="14" name="Picture 13">
            <a:extLst>
              <a:ext uri="{FF2B5EF4-FFF2-40B4-BE49-F238E27FC236}">
                <a16:creationId xmlns:a16="http://schemas.microsoft.com/office/drawing/2014/main" id="{24C02B5B-1BA9-8F11-C04A-9CBB25DFC490}"/>
              </a:ext>
            </a:extLst>
          </p:cNvPr>
          <p:cNvPicPr>
            <a:picLocks noChangeAspect="1"/>
          </p:cNvPicPr>
          <p:nvPr/>
        </p:nvPicPr>
        <p:blipFill>
          <a:blip r:embed="rId7"/>
          <a:stretch>
            <a:fillRect/>
          </a:stretch>
        </p:blipFill>
        <p:spPr>
          <a:xfrm>
            <a:off x="0" y="2637915"/>
            <a:ext cx="2773964" cy="1614504"/>
          </a:xfrm>
          <a:prstGeom prst="rect">
            <a:avLst/>
          </a:prstGeom>
        </p:spPr>
      </p:pic>
      <p:pic>
        <p:nvPicPr>
          <p:cNvPr id="18" name="Picture 17">
            <a:extLst>
              <a:ext uri="{FF2B5EF4-FFF2-40B4-BE49-F238E27FC236}">
                <a16:creationId xmlns:a16="http://schemas.microsoft.com/office/drawing/2014/main" id="{085AAAB6-DB41-82DF-E754-D2A54FD84F48}"/>
              </a:ext>
            </a:extLst>
          </p:cNvPr>
          <p:cNvPicPr>
            <a:picLocks noChangeAspect="1"/>
          </p:cNvPicPr>
          <p:nvPr/>
        </p:nvPicPr>
        <p:blipFill>
          <a:blip r:embed="rId8"/>
          <a:stretch>
            <a:fillRect/>
          </a:stretch>
        </p:blipFill>
        <p:spPr>
          <a:xfrm>
            <a:off x="3076366" y="1223701"/>
            <a:ext cx="8969762" cy="5143500"/>
          </a:xfrm>
          <a:prstGeom prst="rect">
            <a:avLst/>
          </a:prstGeom>
        </p:spPr>
      </p:pic>
      <p:cxnSp>
        <p:nvCxnSpPr>
          <p:cNvPr id="20" name="Straight Connector 19">
            <a:extLst>
              <a:ext uri="{FF2B5EF4-FFF2-40B4-BE49-F238E27FC236}">
                <a16:creationId xmlns:a16="http://schemas.microsoft.com/office/drawing/2014/main" id="{175F83DE-544B-1509-BF06-83F025A2F440}"/>
              </a:ext>
            </a:extLst>
          </p:cNvPr>
          <p:cNvCxnSpPr/>
          <p:nvPr/>
        </p:nvCxnSpPr>
        <p:spPr>
          <a:xfrm>
            <a:off x="2876550" y="1056673"/>
            <a:ext cx="0" cy="5391752"/>
          </a:xfrm>
          <a:prstGeom prst="line">
            <a:avLst/>
          </a:prstGeom>
          <a:ln w="28575"/>
          <a:effectLst>
            <a:glow rad="63500">
              <a:schemeClr val="accent3">
                <a:satMod val="175000"/>
                <a:alpha val="40000"/>
              </a:schemeClr>
            </a:glow>
          </a:effectLst>
        </p:spPr>
        <p:style>
          <a:lnRef idx="1">
            <a:schemeClr val="dk1"/>
          </a:lnRef>
          <a:fillRef idx="0">
            <a:schemeClr val="dk1"/>
          </a:fillRef>
          <a:effectRef idx="0">
            <a:schemeClr val="dk1"/>
          </a:effectRef>
          <a:fontRef idx="minor">
            <a:schemeClr val="tx1"/>
          </a:fontRef>
        </p:style>
      </p:cxnSp>
      <p:grpSp>
        <p:nvGrpSpPr>
          <p:cNvPr id="25" name="Group 24">
            <a:extLst>
              <a:ext uri="{FF2B5EF4-FFF2-40B4-BE49-F238E27FC236}">
                <a16:creationId xmlns:a16="http://schemas.microsoft.com/office/drawing/2014/main" id="{66A807EA-DBC0-D40B-5B53-190362DB8150}"/>
              </a:ext>
            </a:extLst>
          </p:cNvPr>
          <p:cNvGrpSpPr/>
          <p:nvPr/>
        </p:nvGrpSpPr>
        <p:grpSpPr>
          <a:xfrm>
            <a:off x="6895958" y="1358916"/>
            <a:ext cx="5029200" cy="1371600"/>
            <a:chOff x="6675120" y="4846320"/>
            <a:chExt cx="5029200" cy="1371600"/>
          </a:xfrm>
        </p:grpSpPr>
        <p:sp>
          <p:nvSpPr>
            <p:cNvPr id="26" name="Shape 4"/>
            <p:cNvSpPr/>
            <p:nvPr/>
          </p:nvSpPr>
          <p:spPr>
            <a:xfrm>
              <a:off x="6675120" y="4846320"/>
              <a:ext cx="5029200" cy="1371600"/>
            </a:xfrm>
            <a:prstGeom prst="roundRect">
              <a:avLst>
                <a:gd name="adj" fmla="val 4000"/>
              </a:avLst>
            </a:prstGeom>
            <a:solidFill>
              <a:srgbClr val="F2F2F2"/>
            </a:solidFill>
            <a:ln/>
          </p:spPr>
          <p:txBody>
            <a:bodyPr/>
            <a:lstStyle/>
            <a:p>
              <a:endParaRPr lang="tr-TR"/>
            </a:p>
          </p:txBody>
        </p:sp>
        <p:sp>
          <p:nvSpPr>
            <p:cNvPr id="27" name="Text 5"/>
            <p:cNvSpPr/>
            <p:nvPr/>
          </p:nvSpPr>
          <p:spPr>
            <a:xfrm>
              <a:off x="6903720" y="4983480"/>
              <a:ext cx="4572000" cy="1097280"/>
            </a:xfrm>
            <a:prstGeom prst="rect">
              <a:avLst/>
            </a:prstGeom>
            <a:noFill/>
            <a:ln/>
          </p:spPr>
          <p:txBody>
            <a:bodyPr wrap="square" lIns="0" tIns="0" rIns="0" bIns="0" rtlCol="0" anchor="ctr"/>
            <a:lstStyle/>
            <a:p>
              <a:pPr marL="0" indent="0">
                <a:buNone/>
              </a:pPr>
              <a:r>
                <a:rPr lang="en-US" sz="1600" b="1" dirty="0">
                  <a:solidFill>
                    <a:srgbClr val="E31836"/>
                  </a:solidFill>
                  <a:latin typeface="Calibri" pitchFamily="34" charset="0"/>
                  <a:ea typeface="Calibri" pitchFamily="34" charset="-122"/>
                  <a:cs typeface="Calibri" pitchFamily="34" charset="-120"/>
                </a:rPr>
                <a:t>The question: </a:t>
              </a:r>
              <a:r>
                <a:rPr lang="en-US" sz="1600" dirty="0">
                  <a:solidFill>
                    <a:srgbClr val="222222"/>
                  </a:solidFill>
                  <a:latin typeface="Calibri" pitchFamily="34" charset="0"/>
                  <a:ea typeface="Calibri" pitchFamily="34" charset="-122"/>
                  <a:cs typeface="Calibri" pitchFamily="34" charset="-120"/>
                </a:rPr>
                <a:t>can a DSS keep its </a:t>
              </a:r>
              <a:r>
                <a:rPr lang="en-US" sz="1600" b="1" u="sng" dirty="0">
                  <a:solidFill>
                    <a:srgbClr val="222222"/>
                  </a:solidFill>
                  <a:latin typeface="Calibri" pitchFamily="34" charset="0"/>
                  <a:ea typeface="Calibri" pitchFamily="34" charset="-122"/>
                  <a:cs typeface="Calibri" pitchFamily="34" charset="-120"/>
                </a:rPr>
                <a:t>decision space open</a:t>
              </a:r>
              <a:r>
                <a:rPr lang="en-US" sz="1600" dirty="0">
                  <a:solidFill>
                    <a:srgbClr val="222222"/>
                  </a:solidFill>
                  <a:latin typeface="Calibri" pitchFamily="34" charset="0"/>
                  <a:ea typeface="Calibri" pitchFamily="34" charset="-122"/>
                  <a:cs typeface="Calibri" pitchFamily="34" charset="-120"/>
                </a:rPr>
                <a:t>, its </a:t>
              </a:r>
              <a:r>
                <a:rPr lang="en-US" sz="1600" b="1" u="sng" dirty="0">
                  <a:solidFill>
                    <a:srgbClr val="222222"/>
                  </a:solidFill>
                  <a:latin typeface="Calibri" pitchFamily="34" charset="0"/>
                  <a:ea typeface="Calibri" pitchFamily="34" charset="-122"/>
                  <a:cs typeface="Calibri" pitchFamily="34" charset="-120"/>
                </a:rPr>
                <a:t>reasoning traceable</a:t>
              </a:r>
              <a:r>
                <a:rPr lang="en-US" sz="1600" dirty="0">
                  <a:solidFill>
                    <a:srgbClr val="222222"/>
                  </a:solidFill>
                  <a:latin typeface="Calibri" pitchFamily="34" charset="0"/>
                  <a:ea typeface="Calibri" pitchFamily="34" charset="-122"/>
                  <a:cs typeface="Calibri" pitchFamily="34" charset="-120"/>
                </a:rPr>
                <a:t>, and its </a:t>
              </a:r>
              <a:r>
                <a:rPr lang="en-US" sz="1600" b="1" u="sng" dirty="0">
                  <a:solidFill>
                    <a:srgbClr val="222222"/>
                  </a:solidFill>
                  <a:latin typeface="Calibri" pitchFamily="34" charset="0"/>
                  <a:ea typeface="Calibri" pitchFamily="34" charset="-122"/>
                  <a:cs typeface="Calibri" pitchFamily="34" charset="-120"/>
                </a:rPr>
                <a:t>tempo operational </a:t>
              </a:r>
              <a:r>
                <a:rPr lang="en-US" sz="1600" dirty="0">
                  <a:solidFill>
                    <a:srgbClr val="222222"/>
                  </a:solidFill>
                  <a:latin typeface="Calibri" pitchFamily="34" charset="0"/>
                  <a:ea typeface="Calibri" pitchFamily="34" charset="-122"/>
                  <a:cs typeface="Calibri" pitchFamily="34" charset="-120"/>
                </a:rPr>
                <a:t>at the same time?</a:t>
              </a:r>
              <a:endParaRPr lang="en-US" sz="1600" dirty="0"/>
            </a:p>
          </p:txBody>
        </p:sp>
      </p:grpSp>
    </p:spTree>
    <p:extLst>
      <p:ext uri="{BB962C8B-B14F-4D97-AF65-F5344CB8AC3E}">
        <p14:creationId xmlns:p14="http://schemas.microsoft.com/office/powerpoint/2010/main" val="21671694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PROBLEM → CLAIMS → ANSWERS</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800" b="1" dirty="0">
                <a:solidFill>
                  <a:srgbClr val="000000"/>
                </a:solidFill>
                <a:latin typeface="Cambria" pitchFamily="34" charset="0"/>
                <a:ea typeface="Cambria" pitchFamily="34" charset="-122"/>
                <a:cs typeface="Cambria" pitchFamily="34" charset="-120"/>
              </a:rPr>
              <a:t>Three Gaps, Three Hypotheses, Three Contributions</a:t>
            </a:r>
            <a:endParaRPr lang="en-US" sz="2800" dirty="0"/>
          </a:p>
        </p:txBody>
      </p:sp>
      <p:sp>
        <p:nvSpPr>
          <p:cNvPr id="4" name="Shape 2"/>
          <p:cNvSpPr/>
          <p:nvPr/>
        </p:nvSpPr>
        <p:spPr>
          <a:xfrm>
            <a:off x="502920" y="1371600"/>
            <a:ext cx="11201400" cy="777240"/>
          </a:xfrm>
          <a:prstGeom prst="roundRect">
            <a:avLst>
              <a:gd name="adj" fmla="val 7059"/>
            </a:avLst>
          </a:prstGeom>
          <a:solidFill>
            <a:srgbClr val="FDE8EB"/>
          </a:solidFill>
          <a:ln/>
        </p:spPr>
        <p:txBody>
          <a:bodyPr/>
          <a:lstStyle/>
          <a:p>
            <a:endParaRPr lang="tr-TR"/>
          </a:p>
        </p:txBody>
      </p:sp>
      <p:sp>
        <p:nvSpPr>
          <p:cNvPr id="5" name="Text 3"/>
          <p:cNvSpPr/>
          <p:nvPr/>
        </p:nvSpPr>
        <p:spPr>
          <a:xfrm>
            <a:off x="731520" y="1426464"/>
            <a:ext cx="10789920" cy="685800"/>
          </a:xfrm>
          <a:prstGeom prst="rect">
            <a:avLst/>
          </a:prstGeom>
          <a:noFill/>
          <a:ln/>
        </p:spPr>
        <p:txBody>
          <a:bodyPr wrap="square" lIns="0" tIns="0" rIns="0" bIns="0" rtlCol="0" anchor="ctr"/>
          <a:lstStyle/>
          <a:p>
            <a:pPr marL="0" indent="0">
              <a:buNone/>
            </a:pPr>
            <a:r>
              <a:rPr lang="en-US" b="1" dirty="0">
                <a:solidFill>
                  <a:srgbClr val="E31836"/>
                </a:solidFill>
                <a:latin typeface="Calibri" pitchFamily="34" charset="0"/>
                <a:ea typeface="Calibri" pitchFamily="34" charset="-122"/>
                <a:cs typeface="Calibri" pitchFamily="34" charset="-120"/>
              </a:rPr>
              <a:t>Research Question: </a:t>
            </a:r>
            <a:r>
              <a:rPr lang="en-US" sz="1600" dirty="0">
                <a:solidFill>
                  <a:srgbClr val="000000"/>
                </a:solidFill>
                <a:latin typeface="Calibri" pitchFamily="34" charset="0"/>
                <a:ea typeface="Calibri" pitchFamily="34" charset="-122"/>
                <a:cs typeface="Calibri" pitchFamily="34" charset="-120"/>
              </a:rPr>
              <a:t>Can a distributed, concept-driven fuzzy decision support system, in which rules evolve adaptively and generatively under a satisficing verification mechanism, address all three gaps within a single coherent framework?</a:t>
            </a:r>
            <a:endParaRPr lang="en-US" dirty="0"/>
          </a:p>
        </p:txBody>
      </p:sp>
      <p:pic>
        <p:nvPicPr>
          <p:cNvPr id="28"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29"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31" name="Text 4">
            <a:extLst>
              <a:ext uri="{FF2B5EF4-FFF2-40B4-BE49-F238E27FC236}">
                <a16:creationId xmlns:a16="http://schemas.microsoft.com/office/drawing/2014/main" id="{2D0A9EF6-9BDB-A1DD-AF38-F40F78750867}"/>
              </a:ext>
            </a:extLst>
          </p:cNvPr>
          <p:cNvSpPr/>
          <p:nvPr/>
        </p:nvSpPr>
        <p:spPr>
          <a:xfrm>
            <a:off x="502920" y="2292926"/>
            <a:ext cx="3675888"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kern="0" spc="200" dirty="0">
                <a:solidFill>
                  <a:srgbClr val="E31836"/>
                </a:solidFill>
                <a:latin typeface="Calibri" pitchFamily="34" charset="0"/>
                <a:ea typeface="Calibri" pitchFamily="34" charset="-122"/>
                <a:cs typeface="Calibri" pitchFamily="34" charset="-120"/>
              </a:rPr>
              <a:t>GAP / PROBLEM</a:t>
            </a:r>
            <a:endParaRPr lang="en-US" sz="1300" dirty="0"/>
          </a:p>
        </p:txBody>
      </p:sp>
      <p:sp>
        <p:nvSpPr>
          <p:cNvPr id="32" name="Text 5">
            <a:extLst>
              <a:ext uri="{FF2B5EF4-FFF2-40B4-BE49-F238E27FC236}">
                <a16:creationId xmlns:a16="http://schemas.microsoft.com/office/drawing/2014/main" id="{D3A57F30-E515-FA86-A018-BE8339ACE3D8}"/>
              </a:ext>
            </a:extLst>
          </p:cNvPr>
          <p:cNvSpPr/>
          <p:nvPr/>
        </p:nvSpPr>
        <p:spPr>
          <a:xfrm>
            <a:off x="4315968" y="2292926"/>
            <a:ext cx="3675888"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kern="0" spc="200" dirty="0">
                <a:solidFill>
                  <a:srgbClr val="E31836"/>
                </a:solidFill>
                <a:latin typeface="Calibri" pitchFamily="34" charset="0"/>
                <a:ea typeface="Calibri" pitchFamily="34" charset="-122"/>
                <a:cs typeface="Calibri" pitchFamily="34" charset="-120"/>
              </a:rPr>
              <a:t>HYPOTHESIS</a:t>
            </a:r>
            <a:endParaRPr lang="en-US" sz="1300" dirty="0"/>
          </a:p>
        </p:txBody>
      </p:sp>
      <p:sp>
        <p:nvSpPr>
          <p:cNvPr id="33" name="Text 6">
            <a:extLst>
              <a:ext uri="{FF2B5EF4-FFF2-40B4-BE49-F238E27FC236}">
                <a16:creationId xmlns:a16="http://schemas.microsoft.com/office/drawing/2014/main" id="{449A3E0D-C5D5-1728-EC26-BBE6F27BBFDD}"/>
              </a:ext>
            </a:extLst>
          </p:cNvPr>
          <p:cNvSpPr/>
          <p:nvPr/>
        </p:nvSpPr>
        <p:spPr>
          <a:xfrm>
            <a:off x="8129016" y="2292926"/>
            <a:ext cx="3675888"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kern="0" spc="200" dirty="0">
                <a:solidFill>
                  <a:srgbClr val="E31836"/>
                </a:solidFill>
                <a:latin typeface="Calibri" pitchFamily="34" charset="0"/>
                <a:ea typeface="Calibri" pitchFamily="34" charset="-122"/>
                <a:cs typeface="Calibri" pitchFamily="34" charset="-120"/>
              </a:rPr>
              <a:t>CONTRIBUTION</a:t>
            </a:r>
            <a:endParaRPr lang="en-US" sz="1300" dirty="0"/>
          </a:p>
        </p:txBody>
      </p:sp>
      <p:sp>
        <p:nvSpPr>
          <p:cNvPr id="34" name="Shape 7">
            <a:extLst>
              <a:ext uri="{FF2B5EF4-FFF2-40B4-BE49-F238E27FC236}">
                <a16:creationId xmlns:a16="http://schemas.microsoft.com/office/drawing/2014/main" id="{07D351E5-4DA1-BB70-2BFB-C9EE9886C0AC}"/>
              </a:ext>
            </a:extLst>
          </p:cNvPr>
          <p:cNvSpPr/>
          <p:nvPr/>
        </p:nvSpPr>
        <p:spPr>
          <a:xfrm>
            <a:off x="502920" y="2612966"/>
            <a:ext cx="3675888" cy="1207008"/>
          </a:xfrm>
          <a:prstGeom prst="roundRect">
            <a:avLst>
              <a:gd name="adj" fmla="val 4545"/>
            </a:avLst>
          </a:prstGeom>
          <a:solidFill>
            <a:srgbClr val="F2F2F2"/>
          </a:solidFill>
          <a:ln/>
        </p:spPr>
        <p:txBody>
          <a:bodyPr/>
          <a:lstStyle/>
          <a:p>
            <a:endParaRPr lang="tr-TR"/>
          </a:p>
        </p:txBody>
      </p:sp>
      <p:sp>
        <p:nvSpPr>
          <p:cNvPr id="35" name="Text 8">
            <a:extLst>
              <a:ext uri="{FF2B5EF4-FFF2-40B4-BE49-F238E27FC236}">
                <a16:creationId xmlns:a16="http://schemas.microsoft.com/office/drawing/2014/main" id="{39A99677-B6B6-1988-062F-E60C2C90D27D}"/>
              </a:ext>
            </a:extLst>
          </p:cNvPr>
          <p:cNvSpPr/>
          <p:nvPr/>
        </p:nvSpPr>
        <p:spPr>
          <a:xfrm>
            <a:off x="630936" y="2667830"/>
            <a:ext cx="3419856" cy="109728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G1 : Closed decision spaces</a:t>
            </a:r>
            <a:endParaRPr lang="en-US" sz="1400" dirty="0"/>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fixed menu of predefined alternatives</a:t>
            </a:r>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no new action during an ongoing incident</a:t>
            </a:r>
          </a:p>
        </p:txBody>
      </p:sp>
      <p:sp>
        <p:nvSpPr>
          <p:cNvPr id="36" name="Shape 9">
            <a:extLst>
              <a:ext uri="{FF2B5EF4-FFF2-40B4-BE49-F238E27FC236}">
                <a16:creationId xmlns:a16="http://schemas.microsoft.com/office/drawing/2014/main" id="{EE5DFA3B-870F-00E6-9ED6-E313FD9B01AD}"/>
              </a:ext>
            </a:extLst>
          </p:cNvPr>
          <p:cNvSpPr/>
          <p:nvPr/>
        </p:nvSpPr>
        <p:spPr>
          <a:xfrm>
            <a:off x="4315968" y="2612966"/>
            <a:ext cx="3675888" cy="1207008"/>
          </a:xfrm>
          <a:prstGeom prst="roundRect">
            <a:avLst>
              <a:gd name="adj" fmla="val 4545"/>
            </a:avLst>
          </a:prstGeom>
          <a:solidFill>
            <a:srgbClr val="F2F2F2"/>
          </a:solidFill>
          <a:ln/>
        </p:spPr>
        <p:txBody>
          <a:bodyPr/>
          <a:lstStyle/>
          <a:p>
            <a:endParaRPr lang="tr-TR"/>
          </a:p>
        </p:txBody>
      </p:sp>
      <p:sp>
        <p:nvSpPr>
          <p:cNvPr id="37" name="Text 10">
            <a:extLst>
              <a:ext uri="{FF2B5EF4-FFF2-40B4-BE49-F238E27FC236}">
                <a16:creationId xmlns:a16="http://schemas.microsoft.com/office/drawing/2014/main" id="{0EA67489-E4C2-A8AF-78BB-D72CE89C3EAA}"/>
              </a:ext>
            </a:extLst>
          </p:cNvPr>
          <p:cNvSpPr/>
          <p:nvPr/>
        </p:nvSpPr>
        <p:spPr>
          <a:xfrm>
            <a:off x="4443984" y="2667830"/>
            <a:ext cx="3419856" cy="109728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H1 : Open and timely</a:t>
            </a:r>
            <a:endParaRPr lang="en-US" sz="1400" dirty="0"/>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distributed, concept-based architecture</a:t>
            </a:r>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adaptive interventions over an open decision space</a:t>
            </a:r>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within the operational decision cycle</a:t>
            </a:r>
          </a:p>
        </p:txBody>
      </p:sp>
      <p:sp>
        <p:nvSpPr>
          <p:cNvPr id="38" name="Shape 11">
            <a:extLst>
              <a:ext uri="{FF2B5EF4-FFF2-40B4-BE49-F238E27FC236}">
                <a16:creationId xmlns:a16="http://schemas.microsoft.com/office/drawing/2014/main" id="{D0C179A7-BAF2-E3A8-13AF-D5C8BE928AEF}"/>
              </a:ext>
            </a:extLst>
          </p:cNvPr>
          <p:cNvSpPr/>
          <p:nvPr/>
        </p:nvSpPr>
        <p:spPr>
          <a:xfrm>
            <a:off x="8129016" y="2612966"/>
            <a:ext cx="3675888" cy="1207008"/>
          </a:xfrm>
          <a:prstGeom prst="roundRect">
            <a:avLst>
              <a:gd name="adj" fmla="val 4545"/>
            </a:avLst>
          </a:prstGeom>
          <a:solidFill>
            <a:srgbClr val="FDE8EB"/>
          </a:solidFill>
          <a:ln/>
        </p:spPr>
        <p:txBody>
          <a:bodyPr/>
          <a:lstStyle/>
          <a:p>
            <a:endParaRPr lang="tr-TR"/>
          </a:p>
        </p:txBody>
      </p:sp>
      <p:sp>
        <p:nvSpPr>
          <p:cNvPr id="39" name="Text 12">
            <a:extLst>
              <a:ext uri="{FF2B5EF4-FFF2-40B4-BE49-F238E27FC236}">
                <a16:creationId xmlns:a16="http://schemas.microsoft.com/office/drawing/2014/main" id="{BFB4EDB6-ECDA-60C6-5995-78FD5BA177DF}"/>
              </a:ext>
            </a:extLst>
          </p:cNvPr>
          <p:cNvSpPr/>
          <p:nvPr/>
        </p:nvSpPr>
        <p:spPr>
          <a:xfrm>
            <a:off x="8257032" y="2667830"/>
            <a:ext cx="3419856" cy="109728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C1 : Open, concept-driven decision space</a:t>
            </a:r>
            <a:endParaRPr lang="en-US" sz="1400" dirty="0"/>
          </a:p>
          <a:p>
            <a:pPr marL="285750" indent="-285750">
              <a:lnSpc>
                <a:spcPct val="98000"/>
              </a:lnSpc>
              <a:spcBef>
                <a:spcPts val="400"/>
              </a:spcBef>
              <a:buFont typeface="Wingdings" panose="05000000000000000000" pitchFamily="2" charset="2"/>
              <a:buChar char="ü"/>
            </a:pPr>
            <a:r>
              <a:rPr lang="en-US" sz="1250" b="1" dirty="0">
                <a:solidFill>
                  <a:srgbClr val="C8102E"/>
                </a:solidFill>
                <a:latin typeface="Calibri" pitchFamily="34" charset="0"/>
                <a:ea typeface="Calibri" pitchFamily="34" charset="-122"/>
                <a:cs typeface="Calibri" pitchFamily="34" charset="-120"/>
              </a:rPr>
              <a:t>10</a:t>
            </a:r>
            <a:r>
              <a:rPr lang="en-US" sz="1250" dirty="0">
                <a:solidFill>
                  <a:srgbClr val="222222"/>
                </a:solidFill>
                <a:latin typeface="Calibri" pitchFamily="34" charset="0"/>
                <a:ea typeface="Calibri" pitchFamily="34" charset="-122"/>
                <a:cs typeface="Calibri" pitchFamily="34" charset="-120"/>
              </a:rPr>
              <a:t> features → </a:t>
            </a:r>
            <a:r>
              <a:rPr lang="en-US" sz="1250" b="1" dirty="0">
                <a:solidFill>
                  <a:srgbClr val="C8102E"/>
                </a:solidFill>
                <a:latin typeface="Calibri" pitchFamily="34" charset="0"/>
                <a:ea typeface="Calibri" pitchFamily="34" charset="-122"/>
                <a:cs typeface="Calibri" pitchFamily="34" charset="-120"/>
              </a:rPr>
              <a:t>5</a:t>
            </a:r>
            <a:r>
              <a:rPr lang="en-US" sz="1250" dirty="0">
                <a:solidFill>
                  <a:srgbClr val="222222"/>
                </a:solidFill>
                <a:latin typeface="Calibri" pitchFamily="34" charset="0"/>
                <a:ea typeface="Calibri" pitchFamily="34" charset="-122"/>
                <a:cs typeface="Calibri" pitchFamily="34" charset="-120"/>
              </a:rPr>
              <a:t> decision concepts</a:t>
            </a:r>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Takagi–Sugeno rule base evolves in </a:t>
            </a:r>
            <a:r>
              <a:rPr lang="en-US" sz="1250" b="1" dirty="0">
                <a:solidFill>
                  <a:srgbClr val="C8102E"/>
                </a:solidFill>
                <a:latin typeface="Calibri" pitchFamily="34" charset="0"/>
                <a:ea typeface="Calibri" pitchFamily="34" charset="-122"/>
                <a:cs typeface="Calibri" pitchFamily="34" charset="-120"/>
              </a:rPr>
              <a:t>3</a:t>
            </a:r>
            <a:r>
              <a:rPr lang="en-US" sz="1250" dirty="0">
                <a:solidFill>
                  <a:srgbClr val="222222"/>
                </a:solidFill>
                <a:latin typeface="Calibri" pitchFamily="34" charset="0"/>
                <a:ea typeface="Calibri" pitchFamily="34" charset="-122"/>
                <a:cs typeface="Calibri" pitchFamily="34" charset="-120"/>
              </a:rPr>
              <a:t> stages</a:t>
            </a:r>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generated rules, macros, actuators, concepts</a:t>
            </a:r>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every change behind verification gates</a:t>
            </a:r>
          </a:p>
        </p:txBody>
      </p:sp>
      <p:sp>
        <p:nvSpPr>
          <p:cNvPr id="40" name="Shape 13">
            <a:extLst>
              <a:ext uri="{FF2B5EF4-FFF2-40B4-BE49-F238E27FC236}">
                <a16:creationId xmlns:a16="http://schemas.microsoft.com/office/drawing/2014/main" id="{B395F7AB-9CEB-B7B6-E938-AEF4EA82A641}"/>
              </a:ext>
            </a:extLst>
          </p:cNvPr>
          <p:cNvSpPr/>
          <p:nvPr/>
        </p:nvSpPr>
        <p:spPr>
          <a:xfrm>
            <a:off x="502920" y="3938846"/>
            <a:ext cx="3675888" cy="1207008"/>
          </a:xfrm>
          <a:prstGeom prst="roundRect">
            <a:avLst>
              <a:gd name="adj" fmla="val 4545"/>
            </a:avLst>
          </a:prstGeom>
          <a:solidFill>
            <a:srgbClr val="F2F2F2"/>
          </a:solidFill>
          <a:ln/>
        </p:spPr>
        <p:txBody>
          <a:bodyPr/>
          <a:lstStyle/>
          <a:p>
            <a:endParaRPr lang="tr-TR"/>
          </a:p>
        </p:txBody>
      </p:sp>
      <p:sp>
        <p:nvSpPr>
          <p:cNvPr id="41" name="Text 14">
            <a:extLst>
              <a:ext uri="{FF2B5EF4-FFF2-40B4-BE49-F238E27FC236}">
                <a16:creationId xmlns:a16="http://schemas.microsoft.com/office/drawing/2014/main" id="{F431A73D-D47A-CA04-CF0A-A5732800A2A2}"/>
              </a:ext>
            </a:extLst>
          </p:cNvPr>
          <p:cNvSpPr/>
          <p:nvPr/>
        </p:nvSpPr>
        <p:spPr>
          <a:xfrm>
            <a:off x="630936" y="3993710"/>
            <a:ext cx="3419856" cy="109728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G2 : Unrepresented epistemic uncertainty</a:t>
            </a:r>
            <a:endParaRPr lang="en-US" sz="1400" dirty="0"/>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missing or degraded observations treated as exact</a:t>
            </a:r>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explanations only after the decision</a:t>
            </a:r>
          </a:p>
        </p:txBody>
      </p:sp>
      <p:sp>
        <p:nvSpPr>
          <p:cNvPr id="42" name="Shape 15">
            <a:extLst>
              <a:ext uri="{FF2B5EF4-FFF2-40B4-BE49-F238E27FC236}">
                <a16:creationId xmlns:a16="http://schemas.microsoft.com/office/drawing/2014/main" id="{7157F100-AFA4-F650-8935-FA0B3AA07DC6}"/>
              </a:ext>
            </a:extLst>
          </p:cNvPr>
          <p:cNvSpPr/>
          <p:nvPr/>
        </p:nvSpPr>
        <p:spPr>
          <a:xfrm>
            <a:off x="4315968" y="3938846"/>
            <a:ext cx="3675888" cy="1207008"/>
          </a:xfrm>
          <a:prstGeom prst="roundRect">
            <a:avLst>
              <a:gd name="adj" fmla="val 4545"/>
            </a:avLst>
          </a:prstGeom>
          <a:solidFill>
            <a:srgbClr val="F2F2F2"/>
          </a:solidFill>
          <a:ln/>
        </p:spPr>
        <p:txBody>
          <a:bodyPr/>
          <a:lstStyle/>
          <a:p>
            <a:endParaRPr lang="tr-TR"/>
          </a:p>
        </p:txBody>
      </p:sp>
      <p:sp>
        <p:nvSpPr>
          <p:cNvPr id="43" name="Text 16">
            <a:extLst>
              <a:ext uri="{FF2B5EF4-FFF2-40B4-BE49-F238E27FC236}">
                <a16:creationId xmlns:a16="http://schemas.microsoft.com/office/drawing/2014/main" id="{C814A28E-923B-E14C-A7AA-ADED322397EF}"/>
              </a:ext>
            </a:extLst>
          </p:cNvPr>
          <p:cNvSpPr/>
          <p:nvPr/>
        </p:nvSpPr>
        <p:spPr>
          <a:xfrm>
            <a:off x="4443984" y="3993710"/>
            <a:ext cx="3419856" cy="109728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H2 : Traceable by construction</a:t>
            </a:r>
            <a:endParaRPr lang="en-US" sz="1400" dirty="0"/>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confidence-weighted observations</a:t>
            </a:r>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decisions traceable by construction</a:t>
            </a:r>
          </a:p>
        </p:txBody>
      </p:sp>
      <p:sp>
        <p:nvSpPr>
          <p:cNvPr id="44" name="Shape 17">
            <a:extLst>
              <a:ext uri="{FF2B5EF4-FFF2-40B4-BE49-F238E27FC236}">
                <a16:creationId xmlns:a16="http://schemas.microsoft.com/office/drawing/2014/main" id="{5F90A48B-C2D1-C099-4664-968F76513986}"/>
              </a:ext>
            </a:extLst>
          </p:cNvPr>
          <p:cNvSpPr/>
          <p:nvPr/>
        </p:nvSpPr>
        <p:spPr>
          <a:xfrm>
            <a:off x="8129016" y="3938846"/>
            <a:ext cx="3675888" cy="1207008"/>
          </a:xfrm>
          <a:prstGeom prst="roundRect">
            <a:avLst>
              <a:gd name="adj" fmla="val 4545"/>
            </a:avLst>
          </a:prstGeom>
          <a:solidFill>
            <a:srgbClr val="FDE8EB"/>
          </a:solidFill>
          <a:ln/>
        </p:spPr>
        <p:txBody>
          <a:bodyPr/>
          <a:lstStyle/>
          <a:p>
            <a:endParaRPr lang="tr-TR"/>
          </a:p>
        </p:txBody>
      </p:sp>
      <p:sp>
        <p:nvSpPr>
          <p:cNvPr id="45" name="Text 18">
            <a:extLst>
              <a:ext uri="{FF2B5EF4-FFF2-40B4-BE49-F238E27FC236}">
                <a16:creationId xmlns:a16="http://schemas.microsoft.com/office/drawing/2014/main" id="{8F3C13B3-B7DF-CA98-7ACE-83B95912B178}"/>
              </a:ext>
            </a:extLst>
          </p:cNvPr>
          <p:cNvSpPr/>
          <p:nvPr/>
        </p:nvSpPr>
        <p:spPr>
          <a:xfrm>
            <a:off x="8257032" y="3993710"/>
            <a:ext cx="3419856" cy="109728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C2 : Epistemic encoding &amp; traceability</a:t>
            </a:r>
            <a:endParaRPr lang="en-US" sz="1400" dirty="0"/>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each feature carries a confidence</a:t>
            </a:r>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confidence conditions the concept activation</a:t>
            </a:r>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every order traces to concepts, rules, confidences</a:t>
            </a:r>
          </a:p>
        </p:txBody>
      </p:sp>
      <p:sp>
        <p:nvSpPr>
          <p:cNvPr id="46" name="Shape 19">
            <a:extLst>
              <a:ext uri="{FF2B5EF4-FFF2-40B4-BE49-F238E27FC236}">
                <a16:creationId xmlns:a16="http://schemas.microsoft.com/office/drawing/2014/main" id="{3BB742CD-1BB8-C117-5238-E0BEF06498A1}"/>
              </a:ext>
            </a:extLst>
          </p:cNvPr>
          <p:cNvSpPr/>
          <p:nvPr/>
        </p:nvSpPr>
        <p:spPr>
          <a:xfrm>
            <a:off x="502920" y="5264726"/>
            <a:ext cx="3675888" cy="1207008"/>
          </a:xfrm>
          <a:prstGeom prst="roundRect">
            <a:avLst>
              <a:gd name="adj" fmla="val 4545"/>
            </a:avLst>
          </a:prstGeom>
          <a:solidFill>
            <a:srgbClr val="F2F2F2"/>
          </a:solidFill>
          <a:ln/>
        </p:spPr>
        <p:txBody>
          <a:bodyPr/>
          <a:lstStyle/>
          <a:p>
            <a:endParaRPr lang="tr-TR"/>
          </a:p>
        </p:txBody>
      </p:sp>
      <p:sp>
        <p:nvSpPr>
          <p:cNvPr id="47" name="Text 20">
            <a:extLst>
              <a:ext uri="{FF2B5EF4-FFF2-40B4-BE49-F238E27FC236}">
                <a16:creationId xmlns:a16="http://schemas.microsoft.com/office/drawing/2014/main" id="{84777060-06C9-3630-17FA-E3A5C8D5BAD6}"/>
              </a:ext>
            </a:extLst>
          </p:cNvPr>
          <p:cNvSpPr/>
          <p:nvPr/>
        </p:nvSpPr>
        <p:spPr>
          <a:xfrm>
            <a:off x="630936" y="5319590"/>
            <a:ext cx="3419856" cy="109728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G3 : Coupled simulation &amp; decision cores</a:t>
            </a:r>
            <a:endParaRPr lang="en-US" sz="1400" dirty="0"/>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fire model and decision logic fused</a:t>
            </a:r>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neither side can be validated independently</a:t>
            </a:r>
          </a:p>
        </p:txBody>
      </p:sp>
      <p:sp>
        <p:nvSpPr>
          <p:cNvPr id="48" name="Shape 21">
            <a:extLst>
              <a:ext uri="{FF2B5EF4-FFF2-40B4-BE49-F238E27FC236}">
                <a16:creationId xmlns:a16="http://schemas.microsoft.com/office/drawing/2014/main" id="{50C5944D-B245-E29F-4B65-04C172E0C87E}"/>
              </a:ext>
            </a:extLst>
          </p:cNvPr>
          <p:cNvSpPr/>
          <p:nvPr/>
        </p:nvSpPr>
        <p:spPr>
          <a:xfrm>
            <a:off x="4315968" y="5264726"/>
            <a:ext cx="3675888" cy="1207008"/>
          </a:xfrm>
          <a:prstGeom prst="roundRect">
            <a:avLst>
              <a:gd name="adj" fmla="val 4545"/>
            </a:avLst>
          </a:prstGeom>
          <a:solidFill>
            <a:srgbClr val="F2F2F2"/>
          </a:solidFill>
          <a:ln/>
        </p:spPr>
        <p:txBody>
          <a:bodyPr/>
          <a:lstStyle/>
          <a:p>
            <a:endParaRPr lang="tr-TR"/>
          </a:p>
        </p:txBody>
      </p:sp>
      <p:sp>
        <p:nvSpPr>
          <p:cNvPr id="49" name="Text 22">
            <a:extLst>
              <a:ext uri="{FF2B5EF4-FFF2-40B4-BE49-F238E27FC236}">
                <a16:creationId xmlns:a16="http://schemas.microsoft.com/office/drawing/2014/main" id="{47903BC2-F8E2-FDF3-6965-1E43CC7D7E5D}"/>
              </a:ext>
            </a:extLst>
          </p:cNvPr>
          <p:cNvSpPr/>
          <p:nvPr/>
        </p:nvSpPr>
        <p:spPr>
          <a:xfrm>
            <a:off x="4443984" y="5319590"/>
            <a:ext cx="3419856" cy="109728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H3 : Verified action only</a:t>
            </a:r>
            <a:endParaRPr lang="en-US" sz="1400" dirty="0"/>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strictly separated cores, one complete workflow</a:t>
            </a:r>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only gate-passing interventions execute</a:t>
            </a:r>
          </a:p>
        </p:txBody>
      </p:sp>
      <p:sp>
        <p:nvSpPr>
          <p:cNvPr id="50" name="Shape 23">
            <a:extLst>
              <a:ext uri="{FF2B5EF4-FFF2-40B4-BE49-F238E27FC236}">
                <a16:creationId xmlns:a16="http://schemas.microsoft.com/office/drawing/2014/main" id="{D71FC773-ABE5-F745-58C7-CA0AFDEEB171}"/>
              </a:ext>
            </a:extLst>
          </p:cNvPr>
          <p:cNvSpPr/>
          <p:nvPr/>
        </p:nvSpPr>
        <p:spPr>
          <a:xfrm>
            <a:off x="8129016" y="5264726"/>
            <a:ext cx="3675888" cy="1207008"/>
          </a:xfrm>
          <a:prstGeom prst="roundRect">
            <a:avLst>
              <a:gd name="adj" fmla="val 4545"/>
            </a:avLst>
          </a:prstGeom>
          <a:solidFill>
            <a:srgbClr val="FDE8EB"/>
          </a:solidFill>
          <a:ln/>
        </p:spPr>
        <p:txBody>
          <a:bodyPr/>
          <a:lstStyle/>
          <a:p>
            <a:endParaRPr lang="tr-TR"/>
          </a:p>
        </p:txBody>
      </p:sp>
      <p:sp>
        <p:nvSpPr>
          <p:cNvPr id="51" name="Text 24">
            <a:extLst>
              <a:ext uri="{FF2B5EF4-FFF2-40B4-BE49-F238E27FC236}">
                <a16:creationId xmlns:a16="http://schemas.microsoft.com/office/drawing/2014/main" id="{E0579C63-2757-397A-1716-B37A164B3059}"/>
              </a:ext>
            </a:extLst>
          </p:cNvPr>
          <p:cNvSpPr/>
          <p:nvPr/>
        </p:nvSpPr>
        <p:spPr>
          <a:xfrm>
            <a:off x="8257032" y="5319590"/>
            <a:ext cx="3419856" cy="109728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C3 : Strictly separated, validated cores</a:t>
            </a:r>
            <a:endParaRPr lang="en-US" sz="1400" dirty="0"/>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stand-alone simulation core validated on historical fires</a:t>
            </a:r>
          </a:p>
          <a:p>
            <a:pPr marL="285750" indent="-285750">
              <a:lnSpc>
                <a:spcPct val="98000"/>
              </a:lnSpc>
              <a:spcBef>
                <a:spcPts val="400"/>
              </a:spcBef>
              <a:buFont typeface="Wingdings" panose="05000000000000000000" pitchFamily="2" charset="2"/>
              <a:buChar char="ü"/>
            </a:pPr>
            <a:r>
              <a:rPr lang="en-US" sz="1250" dirty="0">
                <a:solidFill>
                  <a:srgbClr val="222222"/>
                </a:solidFill>
                <a:latin typeface="Calibri" pitchFamily="34" charset="0"/>
                <a:ea typeface="Calibri" pitchFamily="34" charset="-122"/>
                <a:cs typeface="Calibri" pitchFamily="34" charset="-120"/>
              </a:rPr>
              <a:t>decision system coupled only through a typed interface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3" name="Text 1"/>
          <p:cNvSpPr/>
          <p:nvPr/>
        </p:nvSpPr>
        <p:spPr>
          <a:xfrm>
            <a:off x="822960" y="2606040"/>
            <a:ext cx="10607040"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Simulation Framework</a:t>
            </a:r>
          </a:p>
          <a:p>
            <a:r>
              <a:rPr lang="en-US" sz="3200" b="1" dirty="0">
                <a:solidFill>
                  <a:srgbClr val="FFFFFF"/>
                </a:solidFill>
                <a:latin typeface="Cambria" pitchFamily="34" charset="0"/>
                <a:ea typeface="Cambria" pitchFamily="34" charset="-122"/>
                <a:cs typeface="Cambria" pitchFamily="34" charset="-120"/>
              </a:rPr>
              <a:t>(Fire Spread Core)</a:t>
            </a:r>
          </a:p>
        </p:txBody>
      </p:sp>
      <p:pic>
        <p:nvPicPr>
          <p:cNvPr id="5"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6"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8" name="Text 0">
            <a:extLst>
              <a:ext uri="{FF2B5EF4-FFF2-40B4-BE49-F238E27FC236}">
                <a16:creationId xmlns:a16="http://schemas.microsoft.com/office/drawing/2014/main" id="{D4B4FCD8-97CF-129E-4322-6349A2F138E8}"/>
              </a:ext>
            </a:extLst>
          </p:cNvPr>
          <p:cNvSpPr/>
          <p:nvPr/>
        </p:nvSpPr>
        <p:spPr>
          <a:xfrm>
            <a:off x="822960" y="2194560"/>
            <a:ext cx="5486400" cy="365760"/>
          </a:xfrm>
          <a:prstGeom prst="rect">
            <a:avLst/>
          </a:prstGeom>
          <a:noFill/>
          <a:ln/>
        </p:spPr>
        <p:txBody>
          <a:bodyPr wrap="square" lIns="0" tIns="0" rIns="0" bIns="0" rtlCol="0" anchor="ctr"/>
          <a:lstStyle/>
          <a:p>
            <a:pPr marL="0" indent="0">
              <a:buNone/>
            </a:pPr>
            <a:r>
              <a:rPr lang="en-US" sz="1500" b="1" kern="0" spc="300" dirty="0">
                <a:solidFill>
                  <a:srgbClr val="E31836"/>
                </a:solidFill>
                <a:latin typeface="Calibri" pitchFamily="34" charset="0"/>
                <a:ea typeface="Calibri" pitchFamily="34" charset="-122"/>
                <a:cs typeface="Calibri" pitchFamily="34" charset="-120"/>
              </a:rPr>
              <a:t>PART 1</a:t>
            </a:r>
            <a:endParaRPr lang="en-US" sz="15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r>
              <a:rPr lang="en-US" sz="2900" b="1" dirty="0">
                <a:solidFill>
                  <a:srgbClr val="000000"/>
                </a:solidFill>
                <a:latin typeface="Cambria" pitchFamily="34" charset="0"/>
                <a:ea typeface="Cambria" pitchFamily="34" charset="-122"/>
                <a:cs typeface="Cambria" pitchFamily="34" charset="-120"/>
              </a:rPr>
              <a:t>Sim &amp; DSS Cores</a:t>
            </a:r>
            <a:endParaRPr lang="en-US" sz="3200" i="1" u="sng" dirty="0"/>
          </a:p>
        </p:txBody>
      </p:sp>
      <p:sp>
        <p:nvSpPr>
          <p:cNvPr id="5" name="Text 2"/>
          <p:cNvSpPr/>
          <p:nvPr/>
        </p:nvSpPr>
        <p:spPr>
          <a:xfrm>
            <a:off x="1767840" y="2084832"/>
            <a:ext cx="3840480" cy="4389120"/>
          </a:xfrm>
          <a:prstGeom prst="rect">
            <a:avLst/>
          </a:prstGeom>
          <a:noFill/>
          <a:ln/>
        </p:spPr>
        <p:txBody>
          <a:bodyPr wrap="square" lIns="0" tIns="0" rIns="0" bIns="0" rtlCol="0" anchor="t"/>
          <a:lstStyle/>
          <a:p>
            <a:endParaRPr lang="en-US" sz="1400" dirty="0"/>
          </a:p>
        </p:txBody>
      </p:sp>
      <p:pic>
        <p:nvPicPr>
          <p:cNvPr id="6" name="Image 1"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7" name="Image 2"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12" name="Image 2" descr="/tmp/thx/deck/figs/Figure3_1.png">
            <a:extLst>
              <a:ext uri="{FF2B5EF4-FFF2-40B4-BE49-F238E27FC236}">
                <a16:creationId xmlns:a16="http://schemas.microsoft.com/office/drawing/2014/main" id="{1151D842-AAB1-20F3-8FD7-5AF74053D941}"/>
              </a:ext>
            </a:extLst>
          </p:cNvPr>
          <p:cNvPicPr>
            <a:picLocks noChangeAspect="1"/>
          </p:cNvPicPr>
          <p:nvPr/>
        </p:nvPicPr>
        <p:blipFill>
          <a:blip r:embed="rId5"/>
          <a:stretch>
            <a:fillRect/>
          </a:stretch>
        </p:blipFill>
        <p:spPr>
          <a:xfrm>
            <a:off x="365760" y="1815950"/>
            <a:ext cx="5074920" cy="4323379"/>
          </a:xfrm>
          <a:prstGeom prst="rect">
            <a:avLst/>
          </a:prstGeom>
        </p:spPr>
      </p:pic>
      <p:graphicFrame>
        <p:nvGraphicFramePr>
          <p:cNvPr id="13" name="Diagram 12">
            <a:extLst>
              <a:ext uri="{FF2B5EF4-FFF2-40B4-BE49-F238E27FC236}">
                <a16:creationId xmlns:a16="http://schemas.microsoft.com/office/drawing/2014/main" id="{8310A2BD-12C6-AD5B-B068-1AC6CED5BE6C}"/>
              </a:ext>
            </a:extLst>
          </p:cNvPr>
          <p:cNvGraphicFramePr/>
          <p:nvPr>
            <p:extLst>
              <p:ext uri="{D42A27DB-BD31-4B8C-83A1-F6EECF244321}">
                <p14:modId xmlns:p14="http://schemas.microsoft.com/office/powerpoint/2010/main" val="890337034"/>
              </p:ext>
            </p:extLst>
          </p:nvPr>
        </p:nvGraphicFramePr>
        <p:xfrm>
          <a:off x="5583847" y="1639957"/>
          <a:ext cx="6242393" cy="5060405"/>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2890031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Two Cores, One Typed Boundary</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7" name="Text 2"/>
          <p:cNvSpPr/>
          <p:nvPr/>
        </p:nvSpPr>
        <p:spPr>
          <a:xfrm>
            <a:off x="5715000" y="1371600"/>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State Transition</a:t>
            </a:r>
            <a:endParaRPr lang="en-US" sz="1500" dirty="0"/>
          </a:p>
        </p:txBody>
      </p:sp>
      <mc:AlternateContent xmlns:mc="http://schemas.openxmlformats.org/markup-compatibility/2006" xmlns:a14="http://schemas.microsoft.com/office/drawing/2010/main">
        <mc:Choice Requires="a14">
          <p:sp>
            <p:nvSpPr>
              <p:cNvPr id="8" name="Text 3"/>
              <p:cNvSpPr/>
              <p:nvPr/>
            </p:nvSpPr>
            <p:spPr>
              <a:xfrm>
                <a:off x="5738854" y="170078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r>
                            <a:rPr lang="en-US" sz="1600">
                              <a:latin typeface="Cambria Math"/>
                            </a:rPr>
                            <m:t>+1</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sz="1600">
                                  <a:latin typeface="Cambria Math"/>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8" name="Text 3"/>
              <p:cNvSpPr>
                <a:spLocks noRot="1" noChangeAspect="1" noMove="1" noResize="1" noEditPoints="1" noAdjustHandles="1" noChangeArrowheads="1" noChangeShapeType="1" noTextEdit="1"/>
              </p:cNvSpPr>
              <p:nvPr/>
            </p:nvSpPr>
            <p:spPr>
              <a:xfrm>
                <a:off x="5738854" y="1700784"/>
                <a:ext cx="6035040" cy="457200"/>
              </a:xfrm>
              <a:prstGeom prst="rect">
                <a:avLst/>
              </a:prstGeom>
              <a:blipFill>
                <a:blip r:embed="rId5"/>
                <a:stretch>
                  <a:fillRect/>
                </a:stretch>
              </a:blipFill>
              <a:ln/>
            </p:spPr>
            <p:txBody>
              <a:bodyPr/>
              <a:lstStyle/>
              <a:p>
                <a:r>
                  <a:rPr lang="tr-TR">
                    <a:noFill/>
                  </a:rPr>
                  <a:t> </a:t>
                </a:r>
              </a:p>
            </p:txBody>
          </p:sp>
        </mc:Fallback>
      </mc:AlternateContent>
      <p:sp>
        <p:nvSpPr>
          <p:cNvPr id="9" name="Text 4"/>
          <p:cNvSpPr/>
          <p:nvPr/>
        </p:nvSpPr>
        <p:spPr>
          <a:xfrm>
            <a:off x="5715000" y="2231136"/>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Input Field</a:t>
            </a:r>
            <a:endParaRPr lang="en-US" sz="1500" dirty="0"/>
          </a:p>
        </p:txBody>
      </p:sp>
      <mc:AlternateContent xmlns:mc="http://schemas.openxmlformats.org/markup-compatibility/2006" xmlns:a14="http://schemas.microsoft.com/office/drawing/2010/main">
        <mc:Choice Requires="a14">
          <p:sp>
            <p:nvSpPr>
              <p:cNvPr id="10" name="Text 5"/>
              <p:cNvSpPr/>
              <p:nvPr/>
            </p:nvSpPr>
            <p:spPr>
              <a:xfrm>
                <a:off x="5738854" y="2560320"/>
                <a:ext cx="6035040" cy="457200"/>
              </a:xfrm>
              <a:prstGeom prst="rect">
                <a:avLst/>
              </a:prstGeom>
              <a:noFill/>
              <a:ln/>
            </p:spPr>
            <p:txBody>
              <a:bodyPr wrap="square" lIns="0" tIns="0" rIns="0" bIns="0" rtlCol="0" anchor="ctr"/>
              <a:lstStyle/>
              <a:p>
                <a:pPr algn="ctr"/>
                <a14:m>
                  <m:oMathPara xmlns:m="http://schemas.openxmlformats.org/officeDocument/2006/math">
                    <m:oMath>
                      <m:sSub>
                        <m:sSubPr>
                          <m:ctrlPr>
                            <a:rPr lang="en-US" sz="1500">
                              <a:latin typeface="Cambria Math"/>
                            </a:rPr>
                          </m:ctrlPr>
                        </m:sSubPr>
                        <m:e>
                          <m:r>
                            <a:rPr lang="en-US" sz="1500">
                              <a:latin typeface="Cambria Math"/>
                            </a:rPr>
                            <m:t>ℱ</m:t>
                          </m:r>
                        </m:e>
                        <m:sub>
                          <m:r>
                            <a:rPr lang="en-US" sz="1500">
                              <a:latin typeface="Cambria Math"/>
                            </a:rPr>
                            <m:t>𝑖𝑛</m:t>
                          </m:r>
                          <m:r>
                            <a:rPr lang="en-US" sz="1500">
                              <a:latin typeface="Cambria Math"/>
                            </a:rPr>
                            <m:t>,</m:t>
                          </m:r>
                          <m:r>
                            <a:rPr lang="en-US" sz="1500">
                              <a:latin typeface="Cambria Math"/>
                            </a:rPr>
                            <m:t>𝑘</m:t>
                          </m:r>
                        </m:sub>
                      </m:sSub>
                      <m:r>
                        <a:rPr lang="en-US" sz="1500">
                          <a:latin typeface="Cambria Math"/>
                        </a:rPr>
                        <m:t>=</m:t>
                      </m:r>
                      <m:d>
                        <m:dPr>
                          <m:begChr m:val="{"/>
                          <m:endChr m:val="}"/>
                          <m:ctrlPr>
                            <a:rPr lang="en-US" sz="1500" i="1">
                              <a:latin typeface="Cambria Math" panose="02040503050406030204" pitchFamily="18" charset="0"/>
                            </a:rPr>
                          </m:ctrlPr>
                        </m:dPr>
                        <m:e>
                          <m:sSub>
                            <m:sSubPr>
                              <m:ctrlPr>
                                <a:rPr lang="en-US" sz="1500">
                                  <a:latin typeface="Cambria Math"/>
                                </a:rPr>
                              </m:ctrlPr>
                            </m:sSubPr>
                            <m:e>
                              <m:r>
                                <a:rPr lang="en-US" sz="1500">
                                  <a:latin typeface="Cambria Math"/>
                                </a:rPr>
                                <m:t>𝑈</m:t>
                              </m:r>
                            </m:e>
                            <m:sub>
                              <m:r>
                                <a:rPr lang="en-US" sz="1500">
                                  <a:latin typeface="Cambria Math"/>
                                </a:rPr>
                                <m:t>𝑀𝑒𝑡𝑒𝑜</m:t>
                              </m:r>
                              <m:r>
                                <a:rPr lang="en-US" sz="1500">
                                  <a:latin typeface="Cambria Math"/>
                                </a:rPr>
                                <m:t>,</m:t>
                              </m:r>
                              <m:r>
                                <a:rPr lang="en-US" sz="1500">
                                  <a:latin typeface="Cambria Math"/>
                                </a:rPr>
                                <m:t>𝑘</m:t>
                              </m:r>
                            </m:sub>
                          </m:sSub>
                          <m:r>
                            <a:rPr lang="en-US" sz="1500">
                              <a:latin typeface="Cambria Math"/>
                            </a:rPr>
                            <m:t>,</m:t>
                          </m:r>
                          <m:sSub>
                            <m:sSubPr>
                              <m:ctrlPr>
                                <a:rPr lang="en-US" sz="1500">
                                  <a:latin typeface="Cambria Math"/>
                                </a:rPr>
                              </m:ctrlPr>
                            </m:sSubPr>
                            <m:e>
                              <m:r>
                                <a:rPr lang="en-US" sz="1500">
                                  <a:latin typeface="Cambria Math"/>
                                </a:rPr>
                                <m:t>𝑈</m:t>
                              </m:r>
                            </m:e>
                            <m:sub>
                              <m:r>
                                <a:rPr lang="en-US" sz="1500">
                                  <a:latin typeface="Cambria Math"/>
                                </a:rPr>
                                <m:t>𝐺𝑒𝑜</m:t>
                              </m:r>
                            </m:sub>
                          </m:sSub>
                          <m:r>
                            <a:rPr lang="en-US" sz="1500">
                              <a:latin typeface="Cambria Math"/>
                            </a:rPr>
                            <m:t>, </m:t>
                          </m:r>
                          <m:sSub>
                            <m:sSubPr>
                              <m:ctrlPr>
                                <a:rPr lang="en-US" sz="1500" i="1">
                                  <a:latin typeface="Cambria Math" panose="02040503050406030204" pitchFamily="18" charset="0"/>
                                </a:rPr>
                              </m:ctrlPr>
                            </m:sSubPr>
                            <m:e>
                              <m:sSub>
                                <m:sSubPr>
                                  <m:ctrlPr>
                                    <a:rPr lang="en-US" sz="1500">
                                      <a:latin typeface="Cambria Math"/>
                                    </a:rPr>
                                  </m:ctrlPr>
                                </m:sSubPr>
                                <m:e>
                                  <m:r>
                                    <a:rPr lang="en-US" sz="1500">
                                      <a:latin typeface="Cambria Math"/>
                                    </a:rPr>
                                    <m:t>𝑈</m:t>
                                  </m:r>
                                </m:e>
                                <m:sub>
                                  <m:r>
                                    <a:rPr lang="en-US" sz="1500">
                                      <a:latin typeface="Cambria Math"/>
                                    </a:rPr>
                                    <m:t>𝐹𝑢𝑒𝑙</m:t>
                                  </m:r>
                                  <m:r>
                                    <m:rPr>
                                      <m:nor/>
                                    </m:rPr>
                                    <a:rPr lang="en-US" sz="1500" i="0">
                                      <a:latin typeface="Cambria Math"/>
                                    </a:rPr>
                                    <m:t>,</m:t>
                                  </m:r>
                                  <m:r>
                                    <a:rPr lang="tr-TR" sz="1500" b="0" i="1" smtClean="0">
                                      <a:latin typeface="Cambria Math" panose="02040503050406030204" pitchFamily="18" charset="0"/>
                                    </a:rPr>
                                    <m:t>𝑘</m:t>
                                  </m:r>
                                </m:sub>
                              </m:sSub>
                              <m:r>
                                <a:rPr lang="tr-TR" sz="1500" b="1" i="1">
                                  <a:latin typeface="Cambria Math" panose="02040503050406030204" pitchFamily="18" charset="0"/>
                                </a:rPr>
                                <m:t>,</m:t>
                              </m:r>
                              <m:sSub>
                                <m:sSubPr>
                                  <m:ctrlPr>
                                    <a:rPr lang="en-US" sz="1500">
                                      <a:latin typeface="Cambria Math"/>
                                    </a:rPr>
                                  </m:ctrlPr>
                                </m:sSubPr>
                                <m:e>
                                  <m:r>
                                    <a:rPr lang="en-US" sz="1500">
                                      <a:latin typeface="Cambria Math"/>
                                    </a:rPr>
                                    <m:t>𝑈</m:t>
                                  </m:r>
                                </m:e>
                                <m:sub>
                                  <m:r>
                                    <a:rPr lang="en-US" sz="1500">
                                      <a:latin typeface="Cambria Math"/>
                                    </a:rPr>
                                    <m:t>𝐼𝑔𝑛</m:t>
                                  </m:r>
                                  <m:r>
                                    <a:rPr lang="en-US" sz="1500">
                                      <a:latin typeface="Cambria Math"/>
                                    </a:rPr>
                                    <m:t>,</m:t>
                                  </m:r>
                                  <m:r>
                                    <a:rPr lang="en-US" sz="1500">
                                      <a:latin typeface="Cambria Math"/>
                                    </a:rPr>
                                    <m:t>𝑘</m:t>
                                  </m:r>
                                </m:sub>
                              </m:sSub>
                              <m:r>
                                <a:rPr lang="en-US" sz="1500">
                                  <a:latin typeface="Cambria Math"/>
                                </a:rPr>
                                <m:t>, </m:t>
                              </m:r>
                              <m:r>
                                <a:rPr lang="en-US" sz="1500">
                                  <a:latin typeface="Cambria Math"/>
                                </a:rPr>
                                <m:t>𝑈</m:t>
                              </m:r>
                            </m:e>
                            <m:sub>
                              <m:r>
                                <a:rPr lang="en-US" sz="1500">
                                  <a:latin typeface="Cambria Math"/>
                                </a:rPr>
                                <m:t>𝐷𝑆𝑆</m:t>
                              </m:r>
                              <m:r>
                                <a:rPr lang="en-US" sz="1500">
                                  <a:latin typeface="Cambria Math"/>
                                </a:rPr>
                                <m:t>,</m:t>
                              </m:r>
                              <m:r>
                                <a:rPr lang="en-US" sz="1500">
                                  <a:latin typeface="Cambria Math"/>
                                </a:rPr>
                                <m:t>𝑘</m:t>
                              </m:r>
                            </m:sub>
                          </m:sSub>
                        </m:e>
                      </m:d>
                    </m:oMath>
                  </m:oMathPara>
                </a14:m>
                <a:endParaRPr lang="en-US" sz="1600" dirty="0"/>
              </a:p>
            </p:txBody>
          </p:sp>
        </mc:Choice>
        <mc:Fallback xmlns="">
          <p:sp>
            <p:nvSpPr>
              <p:cNvPr id="10" name="Text 5"/>
              <p:cNvSpPr>
                <a:spLocks noRot="1" noChangeAspect="1" noMove="1" noResize="1" noEditPoints="1" noAdjustHandles="1" noChangeArrowheads="1" noChangeShapeType="1" noTextEdit="1"/>
              </p:cNvSpPr>
              <p:nvPr/>
            </p:nvSpPr>
            <p:spPr>
              <a:xfrm>
                <a:off x="5738854" y="2560320"/>
                <a:ext cx="6035040" cy="457200"/>
              </a:xfrm>
              <a:prstGeom prst="rect">
                <a:avLst/>
              </a:prstGeom>
              <a:blipFill>
                <a:blip r:embed="rId6"/>
                <a:stretch>
                  <a:fillRect/>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11" name="Text 6"/>
              <p:cNvSpPr/>
              <p:nvPr/>
            </p:nvSpPr>
            <p:spPr>
              <a:xfrm>
                <a:off x="5943600" y="3108960"/>
                <a:ext cx="5806440" cy="50292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a:latin typeface="Cambria Math"/>
                          </a:rPr>
                        </m:ctrlPr>
                      </m:sSubPr>
                      <m:e>
                        <m:r>
                          <a:rPr lang="en-US" sz="1300">
                            <a:latin typeface="Cambria Math"/>
                          </a:rPr>
                          <m:t>𝑈</m:t>
                        </m:r>
                      </m:e>
                      <m:sub>
                        <m:r>
                          <a:rPr lang="en-US" sz="1300">
                            <a:latin typeface="Cambria Math"/>
                          </a:rPr>
                          <m:t>𝑀𝑒𝑡𝑒𝑜</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meteorology: temperature, humidity, wind speed and direction, gusts, precipitation (time-varying)</a:t>
                </a:r>
                <a:endParaRPr lang="en-US" sz="1350" dirty="0"/>
              </a:p>
            </p:txBody>
          </p:sp>
        </mc:Choice>
        <mc:Fallback xmlns="">
          <p:sp>
            <p:nvSpPr>
              <p:cNvPr id="11" name="Text 6"/>
              <p:cNvSpPr>
                <a:spLocks noRot="1" noChangeAspect="1" noMove="1" noResize="1" noEditPoints="1" noAdjustHandles="1" noChangeArrowheads="1" noChangeShapeType="1" noTextEdit="1"/>
              </p:cNvSpPr>
              <p:nvPr/>
            </p:nvSpPr>
            <p:spPr>
              <a:xfrm>
                <a:off x="5943600" y="3108960"/>
                <a:ext cx="5806440" cy="502920"/>
              </a:xfrm>
              <a:prstGeom prst="rect">
                <a:avLst/>
              </a:prstGeom>
              <a:blipFill>
                <a:blip r:embed="rId8"/>
                <a:stretch>
                  <a:fillRect l="-1784" b="-19277"/>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2" name="Text 7"/>
              <p:cNvSpPr/>
              <p:nvPr/>
            </p:nvSpPr>
            <p:spPr>
              <a:xfrm>
                <a:off x="5943600" y="3639312"/>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a:latin typeface="Cambria Math"/>
                          </a:rPr>
                        </m:ctrlPr>
                      </m:sSubPr>
                      <m:e>
                        <m:r>
                          <a:rPr lang="en-US" sz="1300">
                            <a:latin typeface="Cambria Math"/>
                          </a:rPr>
                          <m:t>𝑈</m:t>
                        </m:r>
                      </m:e>
                      <m:sub>
                        <m:r>
                          <a:rPr lang="en-US" sz="1300">
                            <a:latin typeface="Cambria Math"/>
                          </a:rPr>
                          <m:t>𝐺𝑒𝑜</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topography: elevation, slope, aspect, and access (static)</a:t>
                </a:r>
                <a:endParaRPr lang="en-US" sz="1350" dirty="0"/>
              </a:p>
            </p:txBody>
          </p:sp>
        </mc:Choice>
        <mc:Fallback xmlns="">
          <p:sp>
            <p:nvSpPr>
              <p:cNvPr id="12" name="Text 7"/>
              <p:cNvSpPr>
                <a:spLocks noRot="1" noChangeAspect="1" noMove="1" noResize="1" noEditPoints="1" noAdjustHandles="1" noChangeArrowheads="1" noChangeShapeType="1" noTextEdit="1"/>
              </p:cNvSpPr>
              <p:nvPr/>
            </p:nvSpPr>
            <p:spPr>
              <a:xfrm>
                <a:off x="5943600" y="3639312"/>
                <a:ext cx="5806440" cy="320040"/>
              </a:xfrm>
              <a:prstGeom prst="rect">
                <a:avLst/>
              </a:prstGeom>
              <a:blipFill>
                <a:blip r:embed="rId9"/>
                <a:stretch>
                  <a:fillRect l="-944" t="-1887" b="-11321"/>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3" name="Text 8"/>
              <p:cNvSpPr/>
              <p:nvPr/>
            </p:nvSpPr>
            <p:spPr>
              <a:xfrm>
                <a:off x="5943600" y="3986784"/>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a:latin typeface="Cambria Math"/>
                          </a:rPr>
                        </m:ctrlPr>
                      </m:sSubPr>
                      <m:e>
                        <m:r>
                          <a:rPr lang="en-US" sz="1300">
                            <a:latin typeface="Cambria Math"/>
                          </a:rPr>
                          <m:t>𝑈</m:t>
                        </m:r>
                      </m:e>
                      <m:sub>
                        <m:r>
                          <a:rPr lang="en-US" sz="1300">
                            <a:latin typeface="Cambria Math"/>
                          </a:rPr>
                          <m:t>𝐹𝑢𝑒𝑙</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fuel load and fuel moisture, per fuel type</a:t>
                </a:r>
                <a:endParaRPr lang="en-US" sz="1350" dirty="0"/>
              </a:p>
            </p:txBody>
          </p:sp>
        </mc:Choice>
        <mc:Fallback xmlns="">
          <p:sp>
            <p:nvSpPr>
              <p:cNvPr id="13" name="Text 8"/>
              <p:cNvSpPr>
                <a:spLocks noRot="1" noChangeAspect="1" noMove="1" noResize="1" noEditPoints="1" noAdjustHandles="1" noChangeArrowheads="1" noChangeShapeType="1" noTextEdit="1"/>
              </p:cNvSpPr>
              <p:nvPr/>
            </p:nvSpPr>
            <p:spPr>
              <a:xfrm>
                <a:off x="5943600" y="3986784"/>
                <a:ext cx="5806440" cy="320040"/>
              </a:xfrm>
              <a:prstGeom prst="rect">
                <a:avLst/>
              </a:prstGeom>
              <a:blipFill>
                <a:blip r:embed="rId10"/>
                <a:stretch>
                  <a:fillRect l="-944" b="-15094"/>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4" name="Text 9"/>
              <p:cNvSpPr/>
              <p:nvPr/>
            </p:nvSpPr>
            <p:spPr>
              <a:xfrm>
                <a:off x="5943600" y="4334256"/>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a:latin typeface="Cambria Math"/>
                          </a:rPr>
                        </m:ctrlPr>
                      </m:sSubPr>
                      <m:e>
                        <m:r>
                          <a:rPr lang="en-US" sz="1300">
                            <a:latin typeface="Cambria Math"/>
                          </a:rPr>
                          <m:t>𝑈</m:t>
                        </m:r>
                      </m:e>
                      <m:sub>
                        <m:r>
                          <a:rPr lang="en-US" sz="1300">
                            <a:latin typeface="Cambria Math"/>
                          </a:rPr>
                          <m:t>𝐼𝑔𝑛</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ignition injection (binary ignition events)</a:t>
                </a:r>
                <a:endParaRPr lang="en-US" sz="1350" dirty="0"/>
              </a:p>
            </p:txBody>
          </p:sp>
        </mc:Choice>
        <mc:Fallback xmlns="">
          <p:sp>
            <p:nvSpPr>
              <p:cNvPr id="14" name="Text 9"/>
              <p:cNvSpPr>
                <a:spLocks noRot="1" noChangeAspect="1" noMove="1" noResize="1" noEditPoints="1" noAdjustHandles="1" noChangeArrowheads="1" noChangeShapeType="1" noTextEdit="1"/>
              </p:cNvSpPr>
              <p:nvPr/>
            </p:nvSpPr>
            <p:spPr>
              <a:xfrm>
                <a:off x="5943600" y="4334256"/>
                <a:ext cx="5806440" cy="320040"/>
              </a:xfrm>
              <a:prstGeom prst="rect">
                <a:avLst/>
              </a:prstGeom>
              <a:blipFill>
                <a:blip r:embed="rId11"/>
                <a:stretch>
                  <a:fillRect l="-944" b="-16981"/>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5" name="Text 10"/>
              <p:cNvSpPr/>
              <p:nvPr/>
            </p:nvSpPr>
            <p:spPr>
              <a:xfrm>
                <a:off x="5943600" y="4681728"/>
                <a:ext cx="5806440" cy="50292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a:latin typeface="Cambria Math"/>
                          </a:rPr>
                        </m:ctrlPr>
                      </m:sSubPr>
                      <m:e>
                        <m:r>
                          <a:rPr lang="en-US" sz="1300">
                            <a:latin typeface="Cambria Math"/>
                          </a:rPr>
                          <m:t>𝑈</m:t>
                        </m:r>
                      </m:e>
                      <m:sub>
                        <m:r>
                          <a:rPr lang="en-US" sz="1300">
                            <a:latin typeface="Cambria Math"/>
                          </a:rPr>
                          <m:t>𝐷𝑆𝑆</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b="1" dirty="0">
                    <a:solidFill>
                      <a:srgbClr val="222222"/>
                    </a:solidFill>
                    <a:latin typeface="Calibri" pitchFamily="34" charset="0"/>
                    <a:ea typeface="Calibri" pitchFamily="34" charset="-122"/>
                    <a:cs typeface="Calibri" pitchFamily="34" charset="-120"/>
                  </a:rPr>
                  <a:t> — the fielded decision: the only channel through which the DSS touches the world</a:t>
                </a:r>
                <a:endParaRPr lang="en-US" sz="1350" dirty="0"/>
              </a:p>
            </p:txBody>
          </p:sp>
        </mc:Choice>
        <mc:Fallback xmlns="">
          <p:sp>
            <p:nvSpPr>
              <p:cNvPr id="15" name="Text 10"/>
              <p:cNvSpPr>
                <a:spLocks noRot="1" noChangeAspect="1" noMove="1" noResize="1" noEditPoints="1" noAdjustHandles="1" noChangeArrowheads="1" noChangeShapeType="1" noTextEdit="1"/>
              </p:cNvSpPr>
              <p:nvPr/>
            </p:nvSpPr>
            <p:spPr>
              <a:xfrm>
                <a:off x="5943600" y="4681728"/>
                <a:ext cx="5806440" cy="502920"/>
              </a:xfrm>
              <a:prstGeom prst="rect">
                <a:avLst/>
              </a:prstGeom>
              <a:blipFill>
                <a:blip r:embed="rId12"/>
                <a:stretch>
                  <a:fillRect l="-1784" b="-19277"/>
                </a:stretch>
              </a:blipFill>
              <a:ln/>
            </p:spPr>
            <p:txBody>
              <a:bodyPr/>
              <a:lstStyle/>
              <a:p>
                <a:r>
                  <a:rPr lang="tr-TR">
                    <a:noFill/>
                  </a:rPr>
                  <a:t/>
                </a:r>
              </a:p>
            </p:txBody>
          </p:sp>
        </mc:Fallback>
      </mc:AlternateContent>
      <p:pic>
        <p:nvPicPr>
          <p:cNvPr id="19" name="Image 2" descr="/tmp/thx/deck/figs/Figure3_1.png">
            <a:extLst>
              <a:ext uri="{FF2B5EF4-FFF2-40B4-BE49-F238E27FC236}">
                <a16:creationId xmlns:a16="http://schemas.microsoft.com/office/drawing/2014/main" id="{F12BC6BD-B275-5A51-E846-F89704FA38F9}"/>
              </a:ext>
            </a:extLst>
          </p:cNvPr>
          <p:cNvPicPr>
            <a:picLocks noChangeAspect="1"/>
          </p:cNvPicPr>
          <p:nvPr/>
        </p:nvPicPr>
        <p:blipFill>
          <a:blip r:embed="rId13"/>
          <a:stretch>
            <a:fillRect/>
          </a:stretch>
        </p:blipFill>
        <p:spPr>
          <a:xfrm>
            <a:off x="365760" y="1815950"/>
            <a:ext cx="5074920" cy="432337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The Simulation Input Field</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5487A6DF-D271-4367-B456-BF2B80241A15}"/>
                  </a:ext>
                </a:extLst>
              </p:cNvPr>
              <p:cNvSpPr txBox="1"/>
              <p:nvPr/>
            </p:nvSpPr>
            <p:spPr>
              <a:xfrm>
                <a:off x="9577350" y="2091070"/>
                <a:ext cx="2754324" cy="1337930"/>
              </a:xfrm>
              <a:prstGeom prst="rect">
                <a:avLst/>
              </a:prstGeom>
              <a:noFill/>
            </p:spPr>
            <p:txBody>
              <a:bodyPr wrap="square">
                <a:spAutoFit/>
              </a:bodyPr>
              <a:lstStyle/>
              <a:p>
                <a:pPr/>
                <a14:m>
                  <m:oMathPara xmlns:m="http://schemas.openxmlformats.org/officeDocument/2006/math">
                    <m:oMath>
                      <m:sSub>
                        <m:sSubPr>
                          <m:ctrlPr>
                            <a:rPr lang="tr-TR" sz="1200" b="0" i="1" smtClean="0">
                              <a:latin typeface="Cambria Math" panose="02040503050406030204" pitchFamily="18" charset="0"/>
                            </a:rPr>
                          </m:ctrlPr>
                        </m:sSubPr>
                        <m:e>
                          <m:r>
                            <a:rPr lang="tr-TR" sz="1200" b="0" i="1" smtClean="0">
                              <a:latin typeface="Cambria Math" panose="02040503050406030204" pitchFamily="18" charset="0"/>
                            </a:rPr>
                            <m:t>𝑈</m:t>
                          </m:r>
                        </m:e>
                        <m:sub>
                          <m:r>
                            <a:rPr lang="tr-TR" sz="1200" b="0" i="1" smtClean="0">
                              <a:latin typeface="Cambria Math" panose="02040503050406030204" pitchFamily="18" charset="0"/>
                            </a:rPr>
                            <m:t>𝑀𝑒𝑡𝑒𝑜</m:t>
                          </m:r>
                          <m:r>
                            <a:rPr lang="tr-TR" sz="1200" b="0" i="0" smtClean="0">
                              <a:latin typeface="Cambria Math" panose="02040503050406030204" pitchFamily="18" charset="0"/>
                            </a:rPr>
                            <m:t>,</m:t>
                          </m:r>
                          <m:r>
                            <a:rPr lang="tr-TR" sz="1200" b="0" i="1" smtClean="0">
                              <a:latin typeface="Cambria Math" panose="02040503050406030204" pitchFamily="18" charset="0"/>
                            </a:rPr>
                            <m:t>𝑘</m:t>
                          </m:r>
                        </m:sub>
                      </m:sSub>
                      <m:d>
                        <m:dPr>
                          <m:ctrlPr>
                            <a:rPr lang="tr-TR" sz="1200" b="0" i="1" smtClean="0">
                              <a:latin typeface="Cambria Math" panose="02040503050406030204" pitchFamily="18" charset="0"/>
                            </a:rPr>
                          </m:ctrlPr>
                        </m:dPr>
                        <m:e>
                          <m:r>
                            <a:rPr lang="tr-TR" sz="1200" b="0" i="1" smtClean="0">
                              <a:latin typeface="Cambria Math" panose="02040503050406030204" pitchFamily="18" charset="0"/>
                            </a:rPr>
                            <m:t>𝑥</m:t>
                          </m:r>
                          <m:r>
                            <a:rPr lang="tr-TR" sz="1200" b="0" i="0" smtClean="0">
                              <a:latin typeface="Cambria Math" panose="02040503050406030204" pitchFamily="18" charset="0"/>
                            </a:rPr>
                            <m:t>,</m:t>
                          </m:r>
                          <m:r>
                            <a:rPr lang="tr-TR" sz="1200" b="0" i="1" smtClean="0">
                              <a:latin typeface="Cambria Math" panose="02040503050406030204" pitchFamily="18" charset="0"/>
                            </a:rPr>
                            <m:t>𝑦</m:t>
                          </m:r>
                        </m:e>
                      </m:d>
                      <m:r>
                        <a:rPr lang="tr-TR" sz="1200" b="0" i="0" smtClean="0">
                          <a:latin typeface="Cambria Math" panose="02040503050406030204" pitchFamily="18" charset="0"/>
                        </a:rPr>
                        <m:t>=</m:t>
                      </m:r>
                      <m:d>
                        <m:dPr>
                          <m:begChr m:val="["/>
                          <m:endChr m:val="]"/>
                          <m:ctrlPr>
                            <a:rPr lang="tr-TR" sz="1200" i="1">
                              <a:solidFill>
                                <a:srgbClr val="836967"/>
                              </a:solidFill>
                              <a:latin typeface="Cambria Math" panose="02040503050406030204" pitchFamily="18" charset="0"/>
                            </a:rPr>
                          </m:ctrlPr>
                        </m:dPr>
                        <m:e>
                          <m:eqArr>
                            <m:eqArrPr>
                              <m:ctrlPr>
                                <a:rPr lang="tr-TR" sz="1200" i="1">
                                  <a:solidFill>
                                    <a:srgbClr val="836967"/>
                                  </a:solidFill>
                                  <a:latin typeface="Cambria Math" panose="02040503050406030204" pitchFamily="18" charset="0"/>
                                </a:rPr>
                              </m:ctrlPr>
                            </m:eqArrPr>
                            <m:e>
                              <m:r>
                                <a:rPr lang="tr-TR" sz="1200" b="0" i="0" smtClean="0">
                                  <a:latin typeface="Cambria Math" panose="02040503050406030204" pitchFamily="18" charset="0"/>
                                </a:rPr>
                                <m:t>&amp;</m:t>
                              </m:r>
                              <m:sSub>
                                <m:sSubPr>
                                  <m:ctrlPr>
                                    <a:rPr lang="tr-TR" sz="1200" b="0" i="1" smtClean="0">
                                      <a:latin typeface="Cambria Math" panose="02040503050406030204" pitchFamily="18" charset="0"/>
                                    </a:rPr>
                                  </m:ctrlPr>
                                </m:sSubPr>
                                <m:e>
                                  <m:r>
                                    <a:rPr lang="tr-TR" sz="1200" b="0" i="1" smtClean="0">
                                      <a:latin typeface="Cambria Math" panose="02040503050406030204" pitchFamily="18" charset="0"/>
                                    </a:rPr>
                                    <m:t>𝑊</m:t>
                                  </m:r>
                                </m:e>
                                <m:sub>
                                  <m:r>
                                    <a:rPr lang="tr-TR" sz="1200" b="0" i="1" smtClean="0">
                                      <a:latin typeface="Cambria Math" panose="02040503050406030204" pitchFamily="18" charset="0"/>
                                    </a:rPr>
                                    <m:t>𝑡𝑒𝑚𝑝</m:t>
                                  </m:r>
                                  <m:r>
                                    <a:rPr lang="tr-TR" sz="1200" b="0" i="0" smtClean="0">
                                      <a:latin typeface="Cambria Math" panose="02040503050406030204" pitchFamily="18" charset="0"/>
                                    </a:rPr>
                                    <m:t>,</m:t>
                                  </m:r>
                                  <m:r>
                                    <a:rPr lang="tr-TR" sz="1200" b="0" i="1" smtClean="0">
                                      <a:latin typeface="Cambria Math" panose="02040503050406030204" pitchFamily="18" charset="0"/>
                                    </a:rPr>
                                    <m:t>𝑘</m:t>
                                  </m:r>
                                </m:sub>
                              </m:sSub>
                              <m:d>
                                <m:dPr>
                                  <m:ctrlPr>
                                    <a:rPr lang="tr-TR" sz="1200" b="0" i="1" smtClean="0">
                                      <a:latin typeface="Cambria Math" panose="02040503050406030204" pitchFamily="18" charset="0"/>
                                    </a:rPr>
                                  </m:ctrlPr>
                                </m:dPr>
                                <m:e>
                                  <m:r>
                                    <a:rPr lang="tr-TR" sz="1200" b="0" i="1" smtClean="0">
                                      <a:latin typeface="Cambria Math" panose="02040503050406030204" pitchFamily="18" charset="0"/>
                                    </a:rPr>
                                    <m:t>𝑥</m:t>
                                  </m:r>
                                  <m:r>
                                    <a:rPr lang="tr-TR" sz="1200" b="0" i="0" smtClean="0">
                                      <a:latin typeface="Cambria Math" panose="02040503050406030204" pitchFamily="18" charset="0"/>
                                    </a:rPr>
                                    <m:t>,</m:t>
                                  </m:r>
                                  <m:r>
                                    <a:rPr lang="tr-TR" sz="1200" b="0" i="1" smtClean="0">
                                      <a:latin typeface="Cambria Math" panose="02040503050406030204" pitchFamily="18" charset="0"/>
                                    </a:rPr>
                                    <m:t>𝑦</m:t>
                                  </m:r>
                                </m:e>
                              </m:d>
                            </m:e>
                            <m:e>
                              <m:r>
                                <a:rPr lang="tr-TR" sz="1200" b="0" i="0" smtClean="0">
                                  <a:latin typeface="Cambria Math" panose="02040503050406030204" pitchFamily="18" charset="0"/>
                                </a:rPr>
                                <m:t>&amp;</m:t>
                              </m:r>
                              <m:sSub>
                                <m:sSubPr>
                                  <m:ctrlPr>
                                    <a:rPr lang="tr-TR" sz="1200" b="0" i="1" smtClean="0">
                                      <a:latin typeface="Cambria Math" panose="02040503050406030204" pitchFamily="18" charset="0"/>
                                    </a:rPr>
                                  </m:ctrlPr>
                                </m:sSubPr>
                                <m:e>
                                  <m:r>
                                    <a:rPr lang="tr-TR" sz="1200" b="0" i="1" smtClean="0">
                                      <a:latin typeface="Cambria Math" panose="02040503050406030204" pitchFamily="18" charset="0"/>
                                    </a:rPr>
                                    <m:t>𝑊</m:t>
                                  </m:r>
                                </m:e>
                                <m:sub>
                                  <m:r>
                                    <a:rPr lang="tr-TR" sz="1200" b="0" i="1" smtClean="0">
                                      <a:latin typeface="Cambria Math" panose="02040503050406030204" pitchFamily="18" charset="0"/>
                                    </a:rPr>
                                    <m:t>𝑟ℎ</m:t>
                                  </m:r>
                                  <m:r>
                                    <a:rPr lang="tr-TR" sz="1200" b="0" i="0" smtClean="0">
                                      <a:latin typeface="Cambria Math" panose="02040503050406030204" pitchFamily="18" charset="0"/>
                                    </a:rPr>
                                    <m:t>,</m:t>
                                  </m:r>
                                  <m:r>
                                    <a:rPr lang="tr-TR" sz="1200" b="0" i="1" smtClean="0">
                                      <a:latin typeface="Cambria Math" panose="02040503050406030204" pitchFamily="18" charset="0"/>
                                    </a:rPr>
                                    <m:t>𝑘</m:t>
                                  </m:r>
                                </m:sub>
                              </m:sSub>
                              <m:d>
                                <m:dPr>
                                  <m:ctrlPr>
                                    <a:rPr lang="tr-TR" sz="1200" b="0" i="1" smtClean="0">
                                      <a:latin typeface="Cambria Math" panose="02040503050406030204" pitchFamily="18" charset="0"/>
                                    </a:rPr>
                                  </m:ctrlPr>
                                </m:dPr>
                                <m:e>
                                  <m:r>
                                    <a:rPr lang="tr-TR" sz="1200" b="0" i="1" smtClean="0">
                                      <a:latin typeface="Cambria Math" panose="02040503050406030204" pitchFamily="18" charset="0"/>
                                    </a:rPr>
                                    <m:t>𝑥</m:t>
                                  </m:r>
                                  <m:r>
                                    <a:rPr lang="tr-TR" sz="1200" b="0" i="0" smtClean="0">
                                      <a:latin typeface="Cambria Math" panose="02040503050406030204" pitchFamily="18" charset="0"/>
                                    </a:rPr>
                                    <m:t>,</m:t>
                                  </m:r>
                                  <m:r>
                                    <a:rPr lang="tr-TR" sz="1200" b="0" i="1" smtClean="0">
                                      <a:latin typeface="Cambria Math" panose="02040503050406030204" pitchFamily="18" charset="0"/>
                                    </a:rPr>
                                    <m:t>𝑦</m:t>
                                  </m:r>
                                </m:e>
                              </m:d>
                            </m:e>
                            <m:e>
                              <m:r>
                                <a:rPr lang="tr-TR" sz="1200" b="0" i="0" smtClean="0">
                                  <a:latin typeface="Cambria Math" panose="02040503050406030204" pitchFamily="18" charset="0"/>
                                </a:rPr>
                                <m:t>&amp;</m:t>
                              </m:r>
                              <m:sSub>
                                <m:sSubPr>
                                  <m:ctrlPr>
                                    <a:rPr lang="tr-TR" sz="1200" b="0" i="1" smtClean="0">
                                      <a:latin typeface="Cambria Math" panose="02040503050406030204" pitchFamily="18" charset="0"/>
                                    </a:rPr>
                                  </m:ctrlPr>
                                </m:sSubPr>
                                <m:e>
                                  <m:r>
                                    <a:rPr lang="tr-TR" sz="1200" b="0" i="1" smtClean="0">
                                      <a:latin typeface="Cambria Math" panose="02040503050406030204" pitchFamily="18" charset="0"/>
                                    </a:rPr>
                                    <m:t>𝑊</m:t>
                                  </m:r>
                                </m:e>
                                <m:sub>
                                  <m:r>
                                    <a:rPr lang="tr-TR" sz="1200" b="0" i="1" smtClean="0">
                                      <a:latin typeface="Cambria Math" panose="02040503050406030204" pitchFamily="18" charset="0"/>
                                    </a:rPr>
                                    <m:t>𝑤𝑠</m:t>
                                  </m:r>
                                  <m:r>
                                    <a:rPr lang="tr-TR" sz="1200" b="0" i="0" smtClean="0">
                                      <a:latin typeface="Cambria Math" panose="02040503050406030204" pitchFamily="18" charset="0"/>
                                    </a:rPr>
                                    <m:t>,</m:t>
                                  </m:r>
                                  <m:r>
                                    <a:rPr lang="tr-TR" sz="1200" b="0" i="1" smtClean="0">
                                      <a:latin typeface="Cambria Math" panose="02040503050406030204" pitchFamily="18" charset="0"/>
                                    </a:rPr>
                                    <m:t>𝑘</m:t>
                                  </m:r>
                                </m:sub>
                              </m:sSub>
                              <m:d>
                                <m:dPr>
                                  <m:ctrlPr>
                                    <a:rPr lang="tr-TR" sz="1200" b="0" i="1" smtClean="0">
                                      <a:latin typeface="Cambria Math" panose="02040503050406030204" pitchFamily="18" charset="0"/>
                                    </a:rPr>
                                  </m:ctrlPr>
                                </m:dPr>
                                <m:e>
                                  <m:r>
                                    <a:rPr lang="tr-TR" sz="1200" b="0" i="1" smtClean="0">
                                      <a:latin typeface="Cambria Math" panose="02040503050406030204" pitchFamily="18" charset="0"/>
                                    </a:rPr>
                                    <m:t>𝑥</m:t>
                                  </m:r>
                                  <m:r>
                                    <a:rPr lang="tr-TR" sz="1200" b="0" i="0" smtClean="0">
                                      <a:latin typeface="Cambria Math" panose="02040503050406030204" pitchFamily="18" charset="0"/>
                                    </a:rPr>
                                    <m:t>,</m:t>
                                  </m:r>
                                  <m:r>
                                    <a:rPr lang="tr-TR" sz="1200" b="0" i="1" smtClean="0">
                                      <a:latin typeface="Cambria Math" panose="02040503050406030204" pitchFamily="18" charset="0"/>
                                    </a:rPr>
                                    <m:t>𝑦</m:t>
                                  </m:r>
                                </m:e>
                              </m:d>
                            </m:e>
                            <m:e>
                              <m:r>
                                <a:rPr lang="tr-TR" sz="1200" b="0" i="0" smtClean="0">
                                  <a:latin typeface="Cambria Math" panose="02040503050406030204" pitchFamily="18" charset="0"/>
                                </a:rPr>
                                <m:t>&amp;</m:t>
                              </m:r>
                              <m:sSub>
                                <m:sSubPr>
                                  <m:ctrlPr>
                                    <a:rPr lang="tr-TR" sz="1200" b="0" i="1" smtClean="0">
                                      <a:latin typeface="Cambria Math" panose="02040503050406030204" pitchFamily="18" charset="0"/>
                                    </a:rPr>
                                  </m:ctrlPr>
                                </m:sSubPr>
                                <m:e>
                                  <m:r>
                                    <a:rPr lang="tr-TR" sz="1200" b="0" i="1" smtClean="0">
                                      <a:latin typeface="Cambria Math" panose="02040503050406030204" pitchFamily="18" charset="0"/>
                                    </a:rPr>
                                    <m:t>𝑊</m:t>
                                  </m:r>
                                </m:e>
                                <m:sub>
                                  <m:r>
                                    <a:rPr lang="tr-TR" sz="1200" b="0" i="1" smtClean="0">
                                      <a:latin typeface="Cambria Math" panose="02040503050406030204" pitchFamily="18" charset="0"/>
                                    </a:rPr>
                                    <m:t>𝑤𝑑</m:t>
                                  </m:r>
                                  <m:r>
                                    <a:rPr lang="tr-TR" sz="1200" b="0" i="0" smtClean="0">
                                      <a:latin typeface="Cambria Math" panose="02040503050406030204" pitchFamily="18" charset="0"/>
                                    </a:rPr>
                                    <m:t>,</m:t>
                                  </m:r>
                                  <m:r>
                                    <a:rPr lang="tr-TR" sz="1200" b="0" i="1" smtClean="0">
                                      <a:latin typeface="Cambria Math" panose="02040503050406030204" pitchFamily="18" charset="0"/>
                                    </a:rPr>
                                    <m:t>𝑘</m:t>
                                  </m:r>
                                </m:sub>
                              </m:sSub>
                              <m:d>
                                <m:dPr>
                                  <m:ctrlPr>
                                    <a:rPr lang="tr-TR" sz="1200" b="0" i="1" smtClean="0">
                                      <a:latin typeface="Cambria Math" panose="02040503050406030204" pitchFamily="18" charset="0"/>
                                    </a:rPr>
                                  </m:ctrlPr>
                                </m:dPr>
                                <m:e>
                                  <m:r>
                                    <a:rPr lang="tr-TR" sz="1200" b="0" i="1" smtClean="0">
                                      <a:latin typeface="Cambria Math" panose="02040503050406030204" pitchFamily="18" charset="0"/>
                                    </a:rPr>
                                    <m:t>𝑥</m:t>
                                  </m:r>
                                  <m:r>
                                    <a:rPr lang="tr-TR" sz="1200" b="0" i="0" smtClean="0">
                                      <a:latin typeface="Cambria Math" panose="02040503050406030204" pitchFamily="18" charset="0"/>
                                    </a:rPr>
                                    <m:t>,</m:t>
                                  </m:r>
                                  <m:r>
                                    <a:rPr lang="tr-TR" sz="1200" b="0" i="1" smtClean="0">
                                      <a:latin typeface="Cambria Math" panose="02040503050406030204" pitchFamily="18" charset="0"/>
                                    </a:rPr>
                                    <m:t>𝑦</m:t>
                                  </m:r>
                                </m:e>
                              </m:d>
                            </m:e>
                            <m:e>
                              <m:r>
                                <a:rPr lang="tr-TR" sz="1200" b="0" i="0" smtClean="0">
                                  <a:latin typeface="Cambria Math" panose="02040503050406030204" pitchFamily="18" charset="0"/>
                                </a:rPr>
                                <m:t>&amp;</m:t>
                              </m:r>
                              <m:sSub>
                                <m:sSubPr>
                                  <m:ctrlPr>
                                    <a:rPr lang="tr-TR" sz="1200" b="0" i="1" smtClean="0">
                                      <a:latin typeface="Cambria Math" panose="02040503050406030204" pitchFamily="18" charset="0"/>
                                    </a:rPr>
                                  </m:ctrlPr>
                                </m:sSubPr>
                                <m:e>
                                  <m:r>
                                    <a:rPr lang="tr-TR" sz="1200" b="0" i="1" smtClean="0">
                                      <a:latin typeface="Cambria Math" panose="02040503050406030204" pitchFamily="18" charset="0"/>
                                    </a:rPr>
                                    <m:t>𝑊</m:t>
                                  </m:r>
                                </m:e>
                                <m:sub>
                                  <m:r>
                                    <a:rPr lang="tr-TR" sz="1200" b="0" i="1" smtClean="0">
                                      <a:latin typeface="Cambria Math" panose="02040503050406030204" pitchFamily="18" charset="0"/>
                                    </a:rPr>
                                    <m:t>𝑔𝑢𝑠𝑡</m:t>
                                  </m:r>
                                  <m:r>
                                    <a:rPr lang="tr-TR" sz="1200" b="0" i="0" smtClean="0">
                                      <a:latin typeface="Cambria Math" panose="02040503050406030204" pitchFamily="18" charset="0"/>
                                    </a:rPr>
                                    <m:t>,</m:t>
                                  </m:r>
                                  <m:r>
                                    <a:rPr lang="tr-TR" sz="1200" b="0" i="1" smtClean="0">
                                      <a:latin typeface="Cambria Math" panose="02040503050406030204" pitchFamily="18" charset="0"/>
                                    </a:rPr>
                                    <m:t>𝑘</m:t>
                                  </m:r>
                                </m:sub>
                              </m:sSub>
                              <m:d>
                                <m:dPr>
                                  <m:ctrlPr>
                                    <a:rPr lang="tr-TR" sz="1200" b="0" i="1" smtClean="0">
                                      <a:latin typeface="Cambria Math" panose="02040503050406030204" pitchFamily="18" charset="0"/>
                                    </a:rPr>
                                  </m:ctrlPr>
                                </m:dPr>
                                <m:e>
                                  <m:r>
                                    <a:rPr lang="tr-TR" sz="1200" b="0" i="1" smtClean="0">
                                      <a:latin typeface="Cambria Math" panose="02040503050406030204" pitchFamily="18" charset="0"/>
                                    </a:rPr>
                                    <m:t>𝑥</m:t>
                                  </m:r>
                                  <m:r>
                                    <a:rPr lang="tr-TR" sz="1200" b="0" i="0" smtClean="0">
                                      <a:latin typeface="Cambria Math" panose="02040503050406030204" pitchFamily="18" charset="0"/>
                                    </a:rPr>
                                    <m:t>,</m:t>
                                  </m:r>
                                  <m:r>
                                    <a:rPr lang="tr-TR" sz="1200" b="0" i="1" smtClean="0">
                                      <a:latin typeface="Cambria Math" panose="02040503050406030204" pitchFamily="18" charset="0"/>
                                    </a:rPr>
                                    <m:t>𝑦</m:t>
                                  </m:r>
                                </m:e>
                              </m:d>
                            </m:e>
                            <m:e>
                              <m:r>
                                <a:rPr lang="tr-TR" sz="1200" b="0" i="0" smtClean="0">
                                  <a:latin typeface="Cambria Math" panose="02040503050406030204" pitchFamily="18" charset="0"/>
                                </a:rPr>
                                <m:t>&amp;</m:t>
                              </m:r>
                              <m:sSub>
                                <m:sSubPr>
                                  <m:ctrlPr>
                                    <a:rPr lang="tr-TR" sz="1200" b="0" i="1" smtClean="0">
                                      <a:latin typeface="Cambria Math" panose="02040503050406030204" pitchFamily="18" charset="0"/>
                                    </a:rPr>
                                  </m:ctrlPr>
                                </m:sSubPr>
                                <m:e>
                                  <m:r>
                                    <a:rPr lang="tr-TR" sz="1200" b="0" i="1" smtClean="0">
                                      <a:latin typeface="Cambria Math" panose="02040503050406030204" pitchFamily="18" charset="0"/>
                                    </a:rPr>
                                    <m:t>𝑊</m:t>
                                  </m:r>
                                </m:e>
                                <m:sub>
                                  <m:r>
                                    <a:rPr lang="tr-TR" sz="1200" b="0" i="1" smtClean="0">
                                      <a:latin typeface="Cambria Math" panose="02040503050406030204" pitchFamily="18" charset="0"/>
                                    </a:rPr>
                                    <m:t>𝑝𝑟𝑒𝑐</m:t>
                                  </m:r>
                                  <m:r>
                                    <a:rPr lang="tr-TR" sz="1200" b="0" i="0" smtClean="0">
                                      <a:latin typeface="Cambria Math" panose="02040503050406030204" pitchFamily="18" charset="0"/>
                                    </a:rPr>
                                    <m:t>,</m:t>
                                  </m:r>
                                  <m:r>
                                    <a:rPr lang="tr-TR" sz="1200" b="0" i="1" smtClean="0">
                                      <a:latin typeface="Cambria Math" panose="02040503050406030204" pitchFamily="18" charset="0"/>
                                    </a:rPr>
                                    <m:t>𝑘</m:t>
                                  </m:r>
                                </m:sub>
                              </m:sSub>
                            </m:e>
                          </m:eqArr>
                        </m:e>
                      </m:d>
                    </m:oMath>
                  </m:oMathPara>
                </a14:m>
                <a:endParaRPr lang="tr-TR" dirty="0"/>
              </a:p>
            </p:txBody>
          </p:sp>
        </mc:Choice>
        <mc:Fallback xmlns="">
          <p:sp>
            <p:nvSpPr>
              <p:cNvPr id="18" name="TextBox 17">
                <a:extLst>
                  <a:ext uri="{FF2B5EF4-FFF2-40B4-BE49-F238E27FC236}">
                    <a16:creationId xmlns:a16="http://schemas.microsoft.com/office/drawing/2014/main" id="{5487A6DF-D271-4367-B456-BF2B80241A15}"/>
                  </a:ext>
                </a:extLst>
              </p:cNvPr>
              <p:cNvSpPr txBox="1">
                <a:spLocks noRot="1" noChangeAspect="1" noMove="1" noResize="1" noEditPoints="1" noAdjustHandles="1" noChangeArrowheads="1" noChangeShapeType="1" noTextEdit="1"/>
              </p:cNvSpPr>
              <p:nvPr/>
            </p:nvSpPr>
            <p:spPr>
              <a:xfrm>
                <a:off x="9577350" y="2091070"/>
                <a:ext cx="2754324" cy="1337930"/>
              </a:xfrm>
              <a:prstGeom prst="rect">
                <a:avLst/>
              </a:prstGeom>
              <a:blipFill>
                <a:blip r:embed="rId6"/>
                <a:stretch>
                  <a:fillRect/>
                </a:stretch>
              </a:blipFill>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25" name="Text 5">
                <a:extLst>
                  <a:ext uri="{FF2B5EF4-FFF2-40B4-BE49-F238E27FC236}">
                    <a16:creationId xmlns:a16="http://schemas.microsoft.com/office/drawing/2014/main" id="{EC65DB17-2507-4A91-9DDF-59F3BB29910E}"/>
                  </a:ext>
                </a:extLst>
              </p:cNvPr>
              <p:cNvSpPr/>
              <p:nvPr/>
            </p:nvSpPr>
            <p:spPr>
              <a:xfrm>
                <a:off x="5715000" y="2560320"/>
                <a:ext cx="3931920" cy="457200"/>
              </a:xfrm>
              <a:prstGeom prst="rect">
                <a:avLst/>
              </a:prstGeom>
              <a:noFill/>
              <a:ln/>
            </p:spPr>
            <p:txBody>
              <a:bodyPr wrap="square" lIns="0" tIns="0" rIns="0" bIns="0" rtlCol="0" anchor="ctr"/>
              <a:lstStyle/>
              <a:p>
                <a:pPr algn="ctr"/>
                <a14:m>
                  <m:oMathPara xmlns:m="http://schemas.openxmlformats.org/officeDocument/2006/math">
                    <m:oMath>
                      <m:sSub>
                        <m:sSubPr>
                          <m:ctrlPr>
                            <a:rPr lang="en-US" sz="1500">
                              <a:latin typeface="Cambria Math"/>
                            </a:rPr>
                          </m:ctrlPr>
                        </m:sSubPr>
                        <m:e>
                          <m:r>
                            <a:rPr lang="en-US" sz="1500">
                              <a:latin typeface="Cambria Math"/>
                            </a:rPr>
                            <m:t>ℱ</m:t>
                          </m:r>
                        </m:e>
                        <m:sub>
                          <m:r>
                            <a:rPr lang="en-US" sz="1500">
                              <a:latin typeface="Cambria Math"/>
                            </a:rPr>
                            <m:t>𝑖𝑛</m:t>
                          </m:r>
                          <m:r>
                            <a:rPr lang="en-US" sz="1500">
                              <a:latin typeface="Cambria Math"/>
                            </a:rPr>
                            <m:t>,</m:t>
                          </m:r>
                          <m:r>
                            <a:rPr lang="en-US" sz="1500">
                              <a:latin typeface="Cambria Math"/>
                            </a:rPr>
                            <m:t>𝑘</m:t>
                          </m:r>
                        </m:sub>
                      </m:sSub>
                      <m:r>
                        <a:rPr lang="en-US" sz="1500">
                          <a:latin typeface="Cambria Math"/>
                        </a:rPr>
                        <m:t>=</m:t>
                      </m:r>
                      <m:d>
                        <m:dPr>
                          <m:begChr m:val="{"/>
                          <m:endChr m:val="}"/>
                          <m:ctrlPr>
                            <a:rPr lang="en-US" sz="1500" b="1" i="1">
                              <a:latin typeface="Cambria Math" panose="02040503050406030204" pitchFamily="18" charset="0"/>
                            </a:rPr>
                          </m:ctrlPr>
                        </m:dPr>
                        <m:e>
                          <m:sSub>
                            <m:sSubPr>
                              <m:ctrlPr>
                                <a:rPr lang="en-US" sz="1500" b="1" i="1">
                                  <a:latin typeface="Cambria Math"/>
                                </a:rPr>
                              </m:ctrlPr>
                            </m:sSubPr>
                            <m:e>
                              <m:r>
                                <a:rPr lang="en-US" sz="1500" b="1" i="1">
                                  <a:latin typeface="Cambria Math"/>
                                </a:rPr>
                                <m:t>𝐔</m:t>
                              </m:r>
                            </m:e>
                            <m:sub>
                              <m:r>
                                <a:rPr lang="en-US" sz="1500" b="1" i="1">
                                  <a:latin typeface="Cambria Math"/>
                                </a:rPr>
                                <m:t>𝐌𝐞𝐭𝐞𝐨</m:t>
                              </m:r>
                              <m:r>
                                <a:rPr lang="en-US" sz="1500" b="1">
                                  <a:latin typeface="Cambria Math"/>
                                </a:rPr>
                                <m:t>,</m:t>
                              </m:r>
                              <m:r>
                                <a:rPr lang="en-US" sz="1500" b="1" i="1">
                                  <a:latin typeface="Cambria Math"/>
                                </a:rPr>
                                <m:t>𝐤</m:t>
                              </m:r>
                            </m:sub>
                          </m:sSub>
                          <m:r>
                            <a:rPr lang="en-US" sz="1500" b="1">
                              <a:latin typeface="Cambria Math"/>
                            </a:rPr>
                            <m:t>,</m:t>
                          </m:r>
                          <m:sSub>
                            <m:sSubPr>
                              <m:ctrlPr>
                                <a:rPr lang="en-US" sz="1500">
                                  <a:latin typeface="Cambria Math"/>
                                </a:rPr>
                              </m:ctrlPr>
                            </m:sSubPr>
                            <m:e>
                              <m:r>
                                <a:rPr lang="en-US" sz="1500">
                                  <a:latin typeface="Cambria Math"/>
                                </a:rPr>
                                <m:t>𝑈</m:t>
                              </m:r>
                            </m:e>
                            <m:sub>
                              <m:r>
                                <a:rPr lang="en-US" sz="1500">
                                  <a:latin typeface="Cambria Math"/>
                                </a:rPr>
                                <m:t>𝐺𝑒𝑜</m:t>
                              </m:r>
                            </m:sub>
                          </m:sSub>
                          <m:r>
                            <a:rPr lang="en-US" sz="1500">
                              <a:latin typeface="Cambria Math"/>
                            </a:rPr>
                            <m:t>, </m:t>
                          </m:r>
                          <m:sSub>
                            <m:sSubPr>
                              <m:ctrlPr>
                                <a:rPr lang="en-US" sz="1500" i="1">
                                  <a:latin typeface="Cambria Math" panose="02040503050406030204" pitchFamily="18" charset="0"/>
                                </a:rPr>
                              </m:ctrlPr>
                            </m:sSubPr>
                            <m:e>
                              <m:sSub>
                                <m:sSubPr>
                                  <m:ctrlPr>
                                    <a:rPr lang="en-US" sz="1500">
                                      <a:latin typeface="Cambria Math"/>
                                    </a:rPr>
                                  </m:ctrlPr>
                                </m:sSubPr>
                                <m:e>
                                  <m:r>
                                    <a:rPr lang="en-US" sz="1500">
                                      <a:latin typeface="Cambria Math"/>
                                    </a:rPr>
                                    <m:t>𝑈</m:t>
                                  </m:r>
                                </m:e>
                                <m:sub>
                                  <m:r>
                                    <a:rPr lang="en-US" sz="1500">
                                      <a:latin typeface="Cambria Math"/>
                                    </a:rPr>
                                    <m:t>𝐹𝑢𝑒𝑙</m:t>
                                  </m:r>
                                  <m:r>
                                    <m:rPr>
                                      <m:nor/>
                                    </m:rPr>
                                    <a:rPr lang="en-US" sz="1500" i="0">
                                      <a:latin typeface="Cambria Math"/>
                                    </a:rPr>
                                    <m:t>,</m:t>
                                  </m:r>
                                  <m:r>
                                    <a:rPr lang="tr-TR" sz="1500" b="0" i="1" smtClean="0">
                                      <a:latin typeface="Cambria Math" panose="02040503050406030204" pitchFamily="18" charset="0"/>
                                    </a:rPr>
                                    <m:t>𝑘</m:t>
                                  </m:r>
                                </m:sub>
                              </m:sSub>
                              <m:r>
                                <a:rPr lang="tr-TR" sz="1500" b="1" i="1">
                                  <a:latin typeface="Cambria Math" panose="02040503050406030204" pitchFamily="18" charset="0"/>
                                </a:rPr>
                                <m:t>,</m:t>
                              </m:r>
                              <m:sSub>
                                <m:sSubPr>
                                  <m:ctrlPr>
                                    <a:rPr lang="en-US" sz="1500">
                                      <a:latin typeface="Cambria Math"/>
                                    </a:rPr>
                                  </m:ctrlPr>
                                </m:sSubPr>
                                <m:e>
                                  <m:r>
                                    <a:rPr lang="en-US" sz="1500">
                                      <a:latin typeface="Cambria Math"/>
                                    </a:rPr>
                                    <m:t>𝑈</m:t>
                                  </m:r>
                                </m:e>
                                <m:sub>
                                  <m:r>
                                    <a:rPr lang="en-US" sz="1500">
                                      <a:latin typeface="Cambria Math"/>
                                    </a:rPr>
                                    <m:t>𝐼𝑔𝑛</m:t>
                                  </m:r>
                                  <m:r>
                                    <a:rPr lang="en-US" sz="1500">
                                      <a:latin typeface="Cambria Math"/>
                                    </a:rPr>
                                    <m:t>,</m:t>
                                  </m:r>
                                  <m:r>
                                    <a:rPr lang="en-US" sz="1500">
                                      <a:latin typeface="Cambria Math"/>
                                    </a:rPr>
                                    <m:t>𝑘</m:t>
                                  </m:r>
                                </m:sub>
                              </m:sSub>
                              <m:r>
                                <a:rPr lang="en-US" sz="1500">
                                  <a:latin typeface="Cambria Math"/>
                                </a:rPr>
                                <m:t>, </m:t>
                              </m:r>
                              <m:r>
                                <a:rPr lang="en-US" sz="1500">
                                  <a:latin typeface="Cambria Math"/>
                                </a:rPr>
                                <m:t>𝑈</m:t>
                              </m:r>
                            </m:e>
                            <m:sub>
                              <m:r>
                                <a:rPr lang="en-US" sz="1500">
                                  <a:latin typeface="Cambria Math"/>
                                </a:rPr>
                                <m:t>𝐷𝑆𝑆</m:t>
                              </m:r>
                              <m:r>
                                <a:rPr lang="en-US" sz="1500">
                                  <a:latin typeface="Cambria Math"/>
                                </a:rPr>
                                <m:t>,</m:t>
                              </m:r>
                              <m:r>
                                <a:rPr lang="en-US" sz="1500">
                                  <a:latin typeface="Cambria Math"/>
                                </a:rPr>
                                <m:t>𝑘</m:t>
                              </m:r>
                            </m:sub>
                          </m:sSub>
                        </m:e>
                      </m:d>
                    </m:oMath>
                  </m:oMathPara>
                </a14:m>
                <a:endParaRPr lang="en-US" sz="1600" dirty="0"/>
              </a:p>
            </p:txBody>
          </p:sp>
        </mc:Choice>
        <mc:Fallback xmlns="">
          <p:sp>
            <p:nvSpPr>
              <p:cNvPr id="25" name="Text 5">
                <a:extLst>
                  <a:ext uri="{FF2B5EF4-FFF2-40B4-BE49-F238E27FC236}">
                    <a16:creationId xmlns:a16="http://schemas.microsoft.com/office/drawing/2014/main" id="{EC65DB17-2507-4A91-9DDF-59F3BB29910E}"/>
                  </a:ext>
                </a:extLst>
              </p:cNvPr>
              <p:cNvSpPr>
                <a:spLocks noRot="1" noChangeAspect="1" noMove="1" noResize="1" noEditPoints="1" noAdjustHandles="1" noChangeArrowheads="1" noChangeShapeType="1" noTextEdit="1"/>
              </p:cNvSpPr>
              <p:nvPr/>
            </p:nvSpPr>
            <p:spPr>
              <a:xfrm>
                <a:off x="5715000" y="2560320"/>
                <a:ext cx="3931920" cy="457200"/>
              </a:xfrm>
              <a:prstGeom prst="rect">
                <a:avLst/>
              </a:prstGeom>
              <a:blipFill>
                <a:blip r:embed="rId9"/>
                <a:stretch>
                  <a:fillRect/>
                </a:stretch>
              </a:blipFill>
              <a:ln/>
            </p:spPr>
            <p:txBody>
              <a:bodyPr/>
              <a:lstStyle/>
              <a:p>
                <a:r>
                  <a:rPr lang="tr-TR">
                    <a:noFill/>
                  </a:rPr>
                  <a:t/>
                </a:r>
              </a:p>
            </p:txBody>
          </p:sp>
        </mc:Fallback>
      </mc:AlternateContent>
      <p:pic>
        <p:nvPicPr>
          <p:cNvPr id="8" name="Image 2" descr="/tmp/thx/deck/figs/Figure3_1.png">
            <a:extLst>
              <a:ext uri="{FF2B5EF4-FFF2-40B4-BE49-F238E27FC236}">
                <a16:creationId xmlns:a16="http://schemas.microsoft.com/office/drawing/2014/main" id="{7D9FF66F-28B2-E695-FB9C-866BADB1D5E6}"/>
              </a:ext>
            </a:extLst>
          </p:cNvPr>
          <p:cNvPicPr>
            <a:picLocks noChangeAspect="1"/>
          </p:cNvPicPr>
          <p:nvPr/>
        </p:nvPicPr>
        <p:blipFill>
          <a:blip r:embed="rId10"/>
          <a:stretch>
            <a:fillRect/>
          </a:stretch>
        </p:blipFill>
        <p:spPr>
          <a:xfrm>
            <a:off x="365760" y="1815950"/>
            <a:ext cx="5074920" cy="4323379"/>
          </a:xfrm>
          <a:prstGeom prst="rect">
            <a:avLst/>
          </a:prstGeom>
        </p:spPr>
      </p:pic>
      <p:sp>
        <p:nvSpPr>
          <p:cNvPr id="20" name="Text 2">
            <a:extLst>
              <a:ext uri="{FF2B5EF4-FFF2-40B4-BE49-F238E27FC236}">
                <a16:creationId xmlns:a16="http://schemas.microsoft.com/office/drawing/2014/main" id="{A5CE2CB9-5F18-874B-4705-90094CFD5C18}"/>
              </a:ext>
            </a:extLst>
          </p:cNvPr>
          <p:cNvSpPr/>
          <p:nvPr/>
        </p:nvSpPr>
        <p:spPr>
          <a:xfrm>
            <a:off x="5715000" y="1371600"/>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State Transition</a:t>
            </a:r>
            <a:endParaRPr lang="en-US" sz="1500" dirty="0"/>
          </a:p>
        </p:txBody>
      </p:sp>
      <mc:AlternateContent xmlns:mc="http://schemas.openxmlformats.org/markup-compatibility/2006" xmlns:a14="http://schemas.microsoft.com/office/drawing/2010/main">
        <mc:Choice Requires="a14">
          <p:sp>
            <p:nvSpPr>
              <p:cNvPr id="26" name="Text 3">
                <a:extLst>
                  <a:ext uri="{FF2B5EF4-FFF2-40B4-BE49-F238E27FC236}">
                    <a16:creationId xmlns:a16="http://schemas.microsoft.com/office/drawing/2014/main" id="{09B13EAE-4C99-2C5C-13D1-EE917153D460}"/>
                  </a:ext>
                </a:extLst>
              </p:cNvPr>
              <p:cNvSpPr/>
              <p:nvPr/>
            </p:nvSpPr>
            <p:spPr>
              <a:xfrm>
                <a:off x="5738854" y="170078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r>
                            <a:rPr lang="en-US" sz="1600">
                              <a:latin typeface="Cambria Math"/>
                            </a:rPr>
                            <m:t>+1</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sz="1600">
                                  <a:latin typeface="Cambria Math"/>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26" name="Text 3">
                <a:extLst>
                  <a:ext uri="{FF2B5EF4-FFF2-40B4-BE49-F238E27FC236}">
                    <a16:creationId xmlns:a16="http://schemas.microsoft.com/office/drawing/2014/main" id="{09B13EAE-4C99-2C5C-13D1-EE917153D460}"/>
                  </a:ext>
                </a:extLst>
              </p:cNvPr>
              <p:cNvSpPr>
                <a:spLocks noRot="1" noChangeAspect="1" noMove="1" noResize="1" noEditPoints="1" noAdjustHandles="1" noChangeArrowheads="1" noChangeShapeType="1" noTextEdit="1"/>
              </p:cNvSpPr>
              <p:nvPr/>
            </p:nvSpPr>
            <p:spPr>
              <a:xfrm>
                <a:off x="5738854" y="1700784"/>
                <a:ext cx="6035040" cy="457200"/>
              </a:xfrm>
              <a:prstGeom prst="rect">
                <a:avLst/>
              </a:prstGeom>
              <a:blipFill>
                <a:blip r:embed="rId11"/>
                <a:stretch>
                  <a:fillRect/>
                </a:stretch>
              </a:blipFill>
              <a:ln/>
            </p:spPr>
            <p:txBody>
              <a:bodyPr/>
              <a:lstStyle/>
              <a:p>
                <a:r>
                  <a:rPr lang="tr-TR">
                    <a:noFill/>
                  </a:rPr>
                  <a:t> </a:t>
                </a:r>
              </a:p>
            </p:txBody>
          </p:sp>
        </mc:Fallback>
      </mc:AlternateContent>
      <p:sp>
        <p:nvSpPr>
          <p:cNvPr id="28" name="Text 4">
            <a:extLst>
              <a:ext uri="{FF2B5EF4-FFF2-40B4-BE49-F238E27FC236}">
                <a16:creationId xmlns:a16="http://schemas.microsoft.com/office/drawing/2014/main" id="{67FF3C21-09CA-4F4D-C654-DC7B1525562C}"/>
              </a:ext>
            </a:extLst>
          </p:cNvPr>
          <p:cNvSpPr/>
          <p:nvPr/>
        </p:nvSpPr>
        <p:spPr>
          <a:xfrm>
            <a:off x="5715000" y="2231136"/>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Input Field</a:t>
            </a:r>
            <a:endParaRPr lang="en-US" sz="1500" dirty="0"/>
          </a:p>
        </p:txBody>
      </p:sp>
      <mc:AlternateContent xmlns:mc="http://schemas.openxmlformats.org/markup-compatibility/2006" xmlns:a14="http://schemas.microsoft.com/office/drawing/2010/main">
        <mc:Choice Requires="a14">
          <p:graphicFrame>
            <p:nvGraphicFramePr>
              <p:cNvPr id="30" name="Table 29">
                <a:extLst>
                  <a:ext uri="{FF2B5EF4-FFF2-40B4-BE49-F238E27FC236}">
                    <a16:creationId xmlns:a16="http://schemas.microsoft.com/office/drawing/2014/main" id="{6395385F-9C52-B2C6-103E-1CBA827464B2}"/>
                  </a:ext>
                </a:extLst>
              </p:cNvPr>
              <p:cNvGraphicFramePr>
                <a:graphicFrameLocks noGrp="1"/>
              </p:cNvGraphicFramePr>
              <p:nvPr>
                <p:extLst>
                  <p:ext uri="{D42A27DB-BD31-4B8C-83A1-F6EECF244321}">
                    <p14:modId xmlns:p14="http://schemas.microsoft.com/office/powerpoint/2010/main" val="2248650635"/>
                  </p:ext>
                </p:extLst>
              </p:nvPr>
            </p:nvGraphicFramePr>
            <p:xfrm>
              <a:off x="5715000" y="3707261"/>
              <a:ext cx="6381924" cy="2639634"/>
            </p:xfrm>
            <a:graphic>
              <a:graphicData uri="http://schemas.openxmlformats.org/drawingml/2006/table">
                <a:tbl>
                  <a:tblPr firstRow="1" firstCol="1" bandRow="1">
                    <a:tableStyleId>{93296810-A885-4BE3-A3E7-6D5BEEA58F35}</a:tableStyleId>
                  </a:tblPr>
                  <a:tblGrid>
                    <a:gridCol w="1740153">
                      <a:extLst>
                        <a:ext uri="{9D8B030D-6E8A-4147-A177-3AD203B41FA5}">
                          <a16:colId xmlns:a16="http://schemas.microsoft.com/office/drawing/2014/main" val="2864274145"/>
                        </a:ext>
                      </a:extLst>
                    </a:gridCol>
                    <a:gridCol w="456600">
                      <a:extLst>
                        <a:ext uri="{9D8B030D-6E8A-4147-A177-3AD203B41FA5}">
                          <a16:colId xmlns:a16="http://schemas.microsoft.com/office/drawing/2014/main" val="3760314938"/>
                        </a:ext>
                      </a:extLst>
                    </a:gridCol>
                    <a:gridCol w="4185171">
                      <a:extLst>
                        <a:ext uri="{9D8B030D-6E8A-4147-A177-3AD203B41FA5}">
                          <a16:colId xmlns:a16="http://schemas.microsoft.com/office/drawing/2014/main" val="2786632141"/>
                        </a:ext>
                      </a:extLst>
                    </a:gridCol>
                  </a:tblGrid>
                  <a:tr h="183707">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50000"/>
                            </a:lnSpc>
                          </a:pPr>
                          <a:r>
                            <a:rPr lang="en-US" sz="1200" dirty="0">
                              <a:effectLst/>
                            </a:rPr>
                            <a:t>Purpose in Simulation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879300485"/>
                      </a:ext>
                    </a:extLst>
                  </a:tr>
                  <a:tr h="397511">
                    <a:tc>
                      <a:txBody>
                        <a:bodyPr/>
                        <a:lstStyle/>
                        <a:p>
                          <a:pPr algn="just">
                            <a:lnSpc>
                              <a:spcPct val="100000"/>
                            </a:lnSpc>
                          </a:pPr>
                          <a:r>
                            <a:rPr lang="en-US" sz="1200" dirty="0">
                              <a:effectLst/>
                            </a:rPr>
                            <a:t>Air Temperature </a:t>
                          </a:r>
                          <a:endParaRPr lang="tr-TR" sz="1200" dirty="0">
                            <a:effectLst/>
                          </a:endParaRPr>
                        </a:p>
                        <a:p>
                          <a:pPr algn="just">
                            <a:lnSpc>
                              <a:spcPct val="100000"/>
                            </a:lnSpc>
                          </a:pPr>
                          <a14:m>
                            <m:oMathPara xmlns:m="http://schemas.openxmlformats.org/officeDocument/2006/math">
                              <m:o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𝑾</m:t>
                                    </m:r>
                                  </m:e>
                                  <m:sub>
                                    <m:r>
                                      <m:rPr>
                                        <m:nor/>
                                      </m:rPr>
                                      <a:rPr lang="en-US" sz="1200" i="0">
                                        <a:effectLst/>
                                      </a:rPr>
                                      <m:t>temp,k</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a:effectLst/>
                            </a:rPr>
                            <a:t>°C</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drives fuel drying, ignition thresholds, intensity potential</a:t>
                          </a:r>
                        </a:p>
                      </a:txBody>
                      <a:tcPr marL="9525" marR="9525" marT="9525" marB="9525" anchor="ctr"/>
                    </a:tc>
                    <a:extLst>
                      <a:ext uri="{0D108BD9-81ED-4DB2-BD59-A6C34878D82A}">
                        <a16:rowId xmlns:a16="http://schemas.microsoft.com/office/drawing/2014/main" val="2552558262"/>
                      </a:ext>
                    </a:extLst>
                  </a:tr>
                  <a:tr h="392316">
                    <a:tc>
                      <a:txBody>
                        <a:bodyPr/>
                        <a:lstStyle/>
                        <a:p>
                          <a:pPr algn="just">
                            <a:lnSpc>
                              <a:spcPct val="100000"/>
                            </a:lnSpc>
                          </a:pPr>
                          <a:r>
                            <a:rPr lang="en-US" sz="1200" dirty="0">
                              <a:effectLst/>
                            </a:rPr>
                            <a:t>Relative Humidity </a:t>
                          </a:r>
                          <a:r>
                            <a:rPr lang="tr-TR" sz="1200" dirty="0">
                              <a:effectLst/>
                            </a:rPr>
                            <a:t> </a:t>
                          </a:r>
                        </a:p>
                        <a:p>
                          <a:pPr algn="just">
                            <a:lnSpc>
                              <a:spcPct val="100000"/>
                            </a:lnSpc>
                          </a:pPr>
                          <a14:m>
                            <m:oMathPara xmlns:m="http://schemas.openxmlformats.org/officeDocument/2006/math">
                              <m:o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𝑾</m:t>
                                    </m:r>
                                  </m:e>
                                  <m:sub>
                                    <m:r>
                                      <m:rPr>
                                        <m:nor/>
                                      </m:rPr>
                                      <a:rPr lang="en-US" sz="1200" i="0">
                                        <a:effectLst/>
                                      </a:rPr>
                                      <m:t>rh,k</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sets live and dead fuel moisture</a:t>
                          </a:r>
                        </a:p>
                      </a:txBody>
                      <a:tcPr marL="9525" marR="9525" marT="9525" marB="9525" anchor="ctr"/>
                    </a:tc>
                    <a:extLst>
                      <a:ext uri="{0D108BD9-81ED-4DB2-BD59-A6C34878D82A}">
                        <a16:rowId xmlns:a16="http://schemas.microsoft.com/office/drawing/2014/main" val="3261552996"/>
                      </a:ext>
                    </a:extLst>
                  </a:tr>
                  <a:tr h="392316">
                    <a:tc>
                      <a:txBody>
                        <a:bodyPr/>
                        <a:lstStyle/>
                        <a:p>
                          <a:pPr algn="just">
                            <a:lnSpc>
                              <a:spcPct val="100000"/>
                            </a:lnSpc>
                          </a:pPr>
                          <a:r>
                            <a:rPr lang="en-US" sz="1200" dirty="0">
                              <a:effectLst/>
                            </a:rPr>
                            <a:t>Wind Speed </a:t>
                          </a:r>
                          <a:r>
                            <a:rPr lang="tr-TR" sz="1200" dirty="0">
                              <a:effectLst/>
                            </a:rPr>
                            <a:t> </a:t>
                          </a:r>
                          <a:endParaRPr lang="tr-TR" sz="1200" i="1" dirty="0">
                            <a:effectLst/>
                            <a:latin typeface="Cambria Math" panose="02040503050406030204" pitchFamily="18" charset="0"/>
                          </a:endParaRPr>
                        </a:p>
                        <a:p>
                          <a:pPr algn="just">
                            <a:lnSpc>
                              <a:spcPct val="100000"/>
                            </a:lnSpc>
                          </a:pPr>
                          <a14:m>
                            <m:oMathPara xmlns:m="http://schemas.openxmlformats.org/officeDocument/2006/math">
                              <m:o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𝑾</m:t>
                                    </m:r>
                                  </m:e>
                                  <m:sub>
                                    <m:r>
                                      <m:rPr>
                                        <m:nor/>
                                      </m:rPr>
                                      <a:rPr lang="en-US" sz="1200" i="0">
                                        <a:effectLst/>
                                      </a:rPr>
                                      <m:t>ws,k</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a:effectLst/>
                            </a:rPr>
                            <a:t>m/s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primary driver of spread rate</a:t>
                          </a:r>
                        </a:p>
                      </a:txBody>
                      <a:tcPr marL="9525" marR="9525" marT="9525" marB="9525" anchor="ctr"/>
                    </a:tc>
                    <a:extLst>
                      <a:ext uri="{0D108BD9-81ED-4DB2-BD59-A6C34878D82A}">
                        <a16:rowId xmlns:a16="http://schemas.microsoft.com/office/drawing/2014/main" val="3150261034"/>
                      </a:ext>
                    </a:extLst>
                  </a:tr>
                  <a:tr h="392316">
                    <a:tc>
                      <a:txBody>
                        <a:bodyPr/>
                        <a:lstStyle/>
                        <a:p>
                          <a:pPr algn="just">
                            <a:lnSpc>
                              <a:spcPct val="100000"/>
                            </a:lnSpc>
                          </a:pPr>
                          <a:r>
                            <a:rPr lang="en-US" sz="1200" dirty="0">
                              <a:effectLst/>
                            </a:rPr>
                            <a:t>Wind Direction </a:t>
                          </a:r>
                          <a:r>
                            <a:rPr lang="tr-TR" sz="1200" dirty="0">
                              <a:effectLst/>
                            </a:rPr>
                            <a:t> </a:t>
                          </a:r>
                          <a:endParaRPr lang="tr-TR" sz="1200" i="1" dirty="0">
                            <a:effectLst/>
                            <a:latin typeface="Cambria Math" panose="02040503050406030204" pitchFamily="18" charset="0"/>
                          </a:endParaRPr>
                        </a:p>
                        <a:p>
                          <a:pPr algn="just">
                            <a:lnSpc>
                              <a:spcPct val="100000"/>
                            </a:lnSpc>
                          </a:pPr>
                          <a14:m>
                            <m:oMathPara xmlns:m="http://schemas.openxmlformats.org/officeDocument/2006/math">
                              <m:o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𝑾</m:t>
                                    </m:r>
                                  </m:e>
                                  <m:sub>
                                    <m:r>
                                      <m:rPr>
                                        <m:nor/>
                                      </m:rPr>
                                      <a:rPr lang="en-US" sz="1200" i="0">
                                        <a:effectLst/>
                                      </a:rPr>
                                      <m:t>wd,k</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a:effectLst/>
                            </a:rPr>
                            <a:t>rad</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nSpc>
                              <a:spcPct val="115000"/>
                            </a:lnSpc>
                            <a:spcAft>
                              <a:spcPts val="800"/>
                            </a:spcAft>
                            <a:buNone/>
                          </a:pP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steers</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the</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front</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drives</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anisotropic</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spread</a:t>
                          </a:r>
                        </a:p>
                      </a:txBody>
                      <a:tcPr marL="9525" marR="9525" marT="9525" marB="9525" anchor="ctr"/>
                    </a:tc>
                    <a:extLst>
                      <a:ext uri="{0D108BD9-81ED-4DB2-BD59-A6C34878D82A}">
                        <a16:rowId xmlns:a16="http://schemas.microsoft.com/office/drawing/2014/main" val="2109213521"/>
                      </a:ext>
                    </a:extLst>
                  </a:tr>
                  <a:tr h="397720">
                    <a:tc>
                      <a:txBody>
                        <a:bodyPr/>
                        <a:lstStyle/>
                        <a:p>
                          <a:pPr algn="just">
                            <a:lnSpc>
                              <a:spcPct val="100000"/>
                            </a:lnSpc>
                          </a:pPr>
                          <a:r>
                            <a:rPr lang="en-US" sz="1200" dirty="0">
                              <a:effectLst/>
                            </a:rPr>
                            <a:t>Wind Gust Speed</a:t>
                          </a:r>
                          <a:r>
                            <a:rPr lang="tr-TR" sz="1200" dirty="0">
                              <a:effectLst/>
                            </a:rPr>
                            <a:t> </a:t>
                          </a:r>
                          <a:endParaRPr lang="tr-TR" sz="1200" i="1" dirty="0">
                            <a:effectLst/>
                            <a:latin typeface="Cambria Math" panose="02040503050406030204" pitchFamily="18" charset="0"/>
                          </a:endParaRPr>
                        </a:p>
                        <a:p>
                          <a:pPr algn="just">
                            <a:lnSpc>
                              <a:spcPct val="100000"/>
                            </a:lnSpc>
                          </a:pPr>
                          <a14:m>
                            <m:oMathPara xmlns:m="http://schemas.openxmlformats.org/officeDocument/2006/math">
                              <m:o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𝑾</m:t>
                                    </m:r>
                                  </m:e>
                                  <m:sub>
                                    <m:r>
                                      <m:rPr>
                                        <m:nor/>
                                      </m:rPr>
                                      <a:rPr lang="en-US" sz="1200" i="0">
                                        <a:effectLst/>
                                      </a:rPr>
                                      <m:t>gust,k</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a:effectLst/>
                            </a:rPr>
                            <a:t>m/s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short-term fluctuations, stochastic acceleration</a:t>
                          </a:r>
                        </a:p>
                      </a:txBody>
                      <a:tcPr marL="9525" marR="9525" marT="9525" marB="9525" anchor="ctr"/>
                    </a:tc>
                    <a:extLst>
                      <a:ext uri="{0D108BD9-81ED-4DB2-BD59-A6C34878D82A}">
                        <a16:rowId xmlns:a16="http://schemas.microsoft.com/office/drawing/2014/main" val="2756361723"/>
                      </a:ext>
                    </a:extLst>
                  </a:tr>
                  <a:tr h="397511">
                    <a:tc>
                      <a:txBody>
                        <a:bodyPr/>
                        <a:lstStyle/>
                        <a:p>
                          <a:pPr algn="just">
                            <a:lnSpc>
                              <a:spcPct val="100000"/>
                            </a:lnSpc>
                          </a:pPr>
                          <a:r>
                            <a:rPr lang="en-US" sz="1200" dirty="0">
                              <a:effectLst/>
                            </a:rPr>
                            <a:t>Precipitation</a:t>
                          </a:r>
                          <a:r>
                            <a:rPr lang="tr-TR" sz="1200" dirty="0">
                              <a:effectLst/>
                            </a:rPr>
                            <a:t> </a:t>
                          </a:r>
                          <a:endParaRPr lang="tr-TR" sz="1200" i="1" dirty="0">
                            <a:effectLst/>
                            <a:latin typeface="Cambria Math" panose="02040503050406030204" pitchFamily="18" charset="0"/>
                          </a:endParaRPr>
                        </a:p>
                        <a:p>
                          <a:pPr algn="just">
                            <a:lnSpc>
                              <a:spcPct val="100000"/>
                            </a:lnSpc>
                          </a:pPr>
                          <a14:m>
                            <m:oMathPara xmlns:m="http://schemas.openxmlformats.org/officeDocument/2006/math">
                              <m:o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𝑾</m:t>
                                    </m:r>
                                  </m:e>
                                  <m:sub>
                                    <m:r>
                                      <m:rPr>
                                        <m:nor/>
                                      </m:rPr>
                                      <a:rPr lang="en-US" sz="1200" i="0">
                                        <a:effectLst/>
                                      </a:rPr>
                                      <m:t>prec,k</m:t>
                                    </m:r>
                                  </m:sub>
                                </m:sSub>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mm/h</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nSpc>
                              <a:spcPct val="115000"/>
                            </a:lnSpc>
                            <a:spcAft>
                              <a:spcPts val="800"/>
                            </a:spcAft>
                            <a:buNone/>
                          </a:pP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raises</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fuel</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moisture</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suppresses</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or</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delays</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combustion</a:t>
                          </a:r>
                          <a:endParaRPr lang="tr-TR"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852586988"/>
                      </a:ext>
                    </a:extLst>
                  </a:tr>
                </a:tbl>
              </a:graphicData>
            </a:graphic>
          </p:graphicFrame>
        </mc:Choice>
        <mc:Fallback xmlns="">
          <p:graphicFrame>
            <p:nvGraphicFramePr>
              <p:cNvPr id="30" name="Table 29">
                <a:extLst>
                  <a:ext uri="{FF2B5EF4-FFF2-40B4-BE49-F238E27FC236}">
                    <a16:creationId xmlns:a16="http://schemas.microsoft.com/office/drawing/2014/main" id="{6395385F-9C52-B2C6-103E-1CBA827464B2}"/>
                  </a:ext>
                </a:extLst>
              </p:cNvPr>
              <p:cNvGraphicFramePr>
                <a:graphicFrameLocks noGrp="1"/>
              </p:cNvGraphicFramePr>
              <p:nvPr>
                <p:extLst>
                  <p:ext uri="{D42A27DB-BD31-4B8C-83A1-F6EECF244321}">
                    <p14:modId xmlns:p14="http://schemas.microsoft.com/office/powerpoint/2010/main" val="2248650635"/>
                  </p:ext>
                </p:extLst>
              </p:nvPr>
            </p:nvGraphicFramePr>
            <p:xfrm>
              <a:off x="5715000" y="3707261"/>
              <a:ext cx="6381924" cy="2639634"/>
            </p:xfrm>
            <a:graphic>
              <a:graphicData uri="http://schemas.openxmlformats.org/drawingml/2006/table">
                <a:tbl>
                  <a:tblPr firstRow="1" firstCol="1" bandRow="1">
                    <a:tableStyleId>{93296810-A885-4BE3-A3E7-6D5BEEA58F35}</a:tableStyleId>
                  </a:tblPr>
                  <a:tblGrid>
                    <a:gridCol w="1740153">
                      <a:extLst>
                        <a:ext uri="{9D8B030D-6E8A-4147-A177-3AD203B41FA5}">
                          <a16:colId xmlns:a16="http://schemas.microsoft.com/office/drawing/2014/main" val="2864274145"/>
                        </a:ext>
                      </a:extLst>
                    </a:gridCol>
                    <a:gridCol w="456600">
                      <a:extLst>
                        <a:ext uri="{9D8B030D-6E8A-4147-A177-3AD203B41FA5}">
                          <a16:colId xmlns:a16="http://schemas.microsoft.com/office/drawing/2014/main" val="3760314938"/>
                        </a:ext>
                      </a:extLst>
                    </a:gridCol>
                    <a:gridCol w="4185171">
                      <a:extLst>
                        <a:ext uri="{9D8B030D-6E8A-4147-A177-3AD203B41FA5}">
                          <a16:colId xmlns:a16="http://schemas.microsoft.com/office/drawing/2014/main" val="2786632141"/>
                        </a:ext>
                      </a:extLst>
                    </a:gridCol>
                  </a:tblGrid>
                  <a:tr h="245047">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50000"/>
                            </a:lnSpc>
                          </a:pPr>
                          <a:r>
                            <a:rPr lang="en-US" sz="1200" dirty="0">
                              <a:effectLst/>
                            </a:rPr>
                            <a:t>Purpose in Simulation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879300485"/>
                      </a:ext>
                    </a:extLst>
                  </a:tr>
                  <a:tr h="401701">
                    <a:tc>
                      <a:txBody>
                        <a:bodyPr/>
                        <a:lstStyle/>
                        <a:p>
                          <a:endParaRPr lang="tr-TR"/>
                        </a:p>
                      </a:txBody>
                      <a:tcPr marL="54048" marR="54048" marT="0" marB="0">
                        <a:blipFill>
                          <a:blip r:embed="rId12"/>
                          <a:stretch>
                            <a:fillRect l="-350" t="-62121" r="-267832" b="-512121"/>
                          </a:stretch>
                        </a:blipFill>
                      </a:tcPr>
                    </a:tc>
                    <a:tc>
                      <a:txBody>
                        <a:bodyPr/>
                        <a:lstStyle/>
                        <a:p>
                          <a:pPr algn="just">
                            <a:lnSpc>
                              <a:spcPct val="100000"/>
                            </a:lnSpc>
                          </a:pPr>
                          <a:r>
                            <a:rPr lang="en-US" sz="1200">
                              <a:effectLst/>
                            </a:rPr>
                            <a:t>°C</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drives fuel drying, ignition thresholds, intensity potential</a:t>
                          </a:r>
                        </a:p>
                      </a:txBody>
                      <a:tcPr marL="9525" marR="9525" marT="9525" marB="9525" anchor="ctr"/>
                    </a:tc>
                    <a:extLst>
                      <a:ext uri="{0D108BD9-81ED-4DB2-BD59-A6C34878D82A}">
                        <a16:rowId xmlns:a16="http://schemas.microsoft.com/office/drawing/2014/main" val="2552558262"/>
                      </a:ext>
                    </a:extLst>
                  </a:tr>
                  <a:tr h="396431">
                    <a:tc>
                      <a:txBody>
                        <a:bodyPr/>
                        <a:lstStyle/>
                        <a:p>
                          <a:endParaRPr lang="tr-TR"/>
                        </a:p>
                      </a:txBody>
                      <a:tcPr marL="54048" marR="54048" marT="0" marB="0">
                        <a:blipFill>
                          <a:blip r:embed="rId12"/>
                          <a:stretch>
                            <a:fillRect l="-350" t="-162121" r="-267832" b="-412121"/>
                          </a:stretch>
                        </a:blipFill>
                      </a:tcPr>
                    </a:tc>
                    <a:tc>
                      <a:txBody>
                        <a:bodyPr/>
                        <a:lstStyle/>
                        <a:p>
                          <a:pPr algn="just">
                            <a:lnSpc>
                              <a:spcPct val="100000"/>
                            </a:lnSpc>
                          </a:pPr>
                          <a:r>
                            <a:rPr lang="en-US" sz="1200" dirty="0">
                              <a:effectLst/>
                            </a:rPr>
                            <a:t>%</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sets live and dead fuel moisture</a:t>
                          </a:r>
                        </a:p>
                      </a:txBody>
                      <a:tcPr marL="9525" marR="9525" marT="9525" marB="9525" anchor="ctr"/>
                    </a:tc>
                    <a:extLst>
                      <a:ext uri="{0D108BD9-81ED-4DB2-BD59-A6C34878D82A}">
                        <a16:rowId xmlns:a16="http://schemas.microsoft.com/office/drawing/2014/main" val="3261552996"/>
                      </a:ext>
                    </a:extLst>
                  </a:tr>
                  <a:tr h="396431">
                    <a:tc>
                      <a:txBody>
                        <a:bodyPr/>
                        <a:lstStyle/>
                        <a:p>
                          <a:endParaRPr lang="tr-TR"/>
                        </a:p>
                      </a:txBody>
                      <a:tcPr marL="54048" marR="54048" marT="0" marB="0">
                        <a:blipFill>
                          <a:blip r:embed="rId12"/>
                          <a:stretch>
                            <a:fillRect l="-350" t="-266154" r="-267832" b="-318462"/>
                          </a:stretch>
                        </a:blipFill>
                      </a:tcPr>
                    </a:tc>
                    <a:tc>
                      <a:txBody>
                        <a:bodyPr/>
                        <a:lstStyle/>
                        <a:p>
                          <a:pPr algn="just">
                            <a:lnSpc>
                              <a:spcPct val="100000"/>
                            </a:lnSpc>
                          </a:pPr>
                          <a:r>
                            <a:rPr lang="en-US" sz="1200">
                              <a:effectLst/>
                            </a:rPr>
                            <a:t>m/s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primary driver of spread rate</a:t>
                          </a:r>
                        </a:p>
                      </a:txBody>
                      <a:tcPr marL="9525" marR="9525" marT="9525" marB="9525" anchor="ctr"/>
                    </a:tc>
                    <a:extLst>
                      <a:ext uri="{0D108BD9-81ED-4DB2-BD59-A6C34878D82A}">
                        <a16:rowId xmlns:a16="http://schemas.microsoft.com/office/drawing/2014/main" val="3150261034"/>
                      </a:ext>
                    </a:extLst>
                  </a:tr>
                  <a:tr h="396431">
                    <a:tc>
                      <a:txBody>
                        <a:bodyPr/>
                        <a:lstStyle/>
                        <a:p>
                          <a:endParaRPr lang="tr-TR"/>
                        </a:p>
                      </a:txBody>
                      <a:tcPr marL="54048" marR="54048" marT="0" marB="0">
                        <a:blipFill>
                          <a:blip r:embed="rId12"/>
                          <a:stretch>
                            <a:fillRect l="-350" t="-366154" r="-267832" b="-218462"/>
                          </a:stretch>
                        </a:blipFill>
                      </a:tcPr>
                    </a:tc>
                    <a:tc>
                      <a:txBody>
                        <a:bodyPr/>
                        <a:lstStyle/>
                        <a:p>
                          <a:pPr algn="just">
                            <a:lnSpc>
                              <a:spcPct val="100000"/>
                            </a:lnSpc>
                          </a:pPr>
                          <a:r>
                            <a:rPr lang="en-US" sz="1200">
                              <a:effectLst/>
                            </a:rPr>
                            <a:t>rad</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nSpc>
                              <a:spcPct val="115000"/>
                            </a:lnSpc>
                            <a:spcAft>
                              <a:spcPts val="800"/>
                            </a:spcAft>
                            <a:buNone/>
                          </a:pP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steers</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the</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front</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drives</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anisotropic</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spread</a:t>
                          </a:r>
                        </a:p>
                      </a:txBody>
                      <a:tcPr marL="9525" marR="9525" marT="9525" marB="9525" anchor="ctr"/>
                    </a:tc>
                    <a:extLst>
                      <a:ext uri="{0D108BD9-81ED-4DB2-BD59-A6C34878D82A}">
                        <a16:rowId xmlns:a16="http://schemas.microsoft.com/office/drawing/2014/main" val="2109213521"/>
                      </a:ext>
                    </a:extLst>
                  </a:tr>
                  <a:tr h="401892">
                    <a:tc>
                      <a:txBody>
                        <a:bodyPr/>
                        <a:lstStyle/>
                        <a:p>
                          <a:endParaRPr lang="tr-TR"/>
                        </a:p>
                      </a:txBody>
                      <a:tcPr marL="54048" marR="54048" marT="0" marB="0">
                        <a:blipFill>
                          <a:blip r:embed="rId12"/>
                          <a:stretch>
                            <a:fillRect l="-350" t="-459091" r="-267832" b="-115152"/>
                          </a:stretch>
                        </a:blipFill>
                      </a:tcPr>
                    </a:tc>
                    <a:tc>
                      <a:txBody>
                        <a:bodyPr/>
                        <a:lstStyle/>
                        <a:p>
                          <a:pPr algn="just">
                            <a:lnSpc>
                              <a:spcPct val="100000"/>
                            </a:lnSpc>
                          </a:pPr>
                          <a:r>
                            <a:rPr lang="en-US" sz="1200">
                              <a:effectLst/>
                            </a:rPr>
                            <a:t>m/s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short-term fluctuations, stochastic acceleration</a:t>
                          </a:r>
                        </a:p>
                      </a:txBody>
                      <a:tcPr marL="9525" marR="9525" marT="9525" marB="9525" anchor="ctr"/>
                    </a:tc>
                    <a:extLst>
                      <a:ext uri="{0D108BD9-81ED-4DB2-BD59-A6C34878D82A}">
                        <a16:rowId xmlns:a16="http://schemas.microsoft.com/office/drawing/2014/main" val="2756361723"/>
                      </a:ext>
                    </a:extLst>
                  </a:tr>
                  <a:tr h="401701">
                    <a:tc>
                      <a:txBody>
                        <a:bodyPr/>
                        <a:lstStyle/>
                        <a:p>
                          <a:endParaRPr lang="tr-TR"/>
                        </a:p>
                      </a:txBody>
                      <a:tcPr marL="54048" marR="54048" marT="0" marB="0">
                        <a:blipFill>
                          <a:blip r:embed="rId12"/>
                          <a:stretch>
                            <a:fillRect l="-350" t="-559091" r="-267832" b="-15152"/>
                          </a:stretch>
                        </a:blipFill>
                      </a:tcPr>
                    </a:tc>
                    <a:tc>
                      <a:txBody>
                        <a:bodyPr/>
                        <a:lstStyle/>
                        <a:p>
                          <a:pPr algn="just">
                            <a:lnSpc>
                              <a:spcPct val="100000"/>
                            </a:lnSpc>
                          </a:pPr>
                          <a:r>
                            <a:rPr lang="en-US" sz="1200" dirty="0">
                              <a:effectLst/>
                            </a:rPr>
                            <a:t>mm/h</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nSpc>
                              <a:spcPct val="115000"/>
                            </a:lnSpc>
                            <a:spcAft>
                              <a:spcPts val="800"/>
                            </a:spcAft>
                            <a:buNone/>
                          </a:pP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raises</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fuel</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moisture</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suppresses</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or</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delays</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combustion</a:t>
                          </a:r>
                          <a:endParaRPr lang="tr-TR"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852586988"/>
                      </a:ext>
                    </a:extLst>
                  </a:tr>
                </a:tbl>
              </a:graphicData>
            </a:graphic>
          </p:graphicFrame>
        </mc:Fallback>
      </mc:AlternateContent>
    </p:spTree>
    <p:extLst>
      <p:ext uri="{BB962C8B-B14F-4D97-AF65-F5344CB8AC3E}">
        <p14:creationId xmlns:p14="http://schemas.microsoft.com/office/powerpoint/2010/main" val="612593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The Simulation Input Field</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sp>
            <p:nvSpPr>
              <p:cNvPr id="25" name="Text 5">
                <a:extLst>
                  <a:ext uri="{FF2B5EF4-FFF2-40B4-BE49-F238E27FC236}">
                    <a16:creationId xmlns:a16="http://schemas.microsoft.com/office/drawing/2014/main" id="{EC65DB17-2507-4A91-9DDF-59F3BB29910E}"/>
                  </a:ext>
                </a:extLst>
              </p:cNvPr>
              <p:cNvSpPr/>
              <p:nvPr/>
            </p:nvSpPr>
            <p:spPr>
              <a:xfrm>
                <a:off x="5715000" y="2560320"/>
                <a:ext cx="3931920" cy="457200"/>
              </a:xfrm>
              <a:prstGeom prst="rect">
                <a:avLst/>
              </a:prstGeom>
              <a:noFill/>
              <a:ln/>
            </p:spPr>
            <p:txBody>
              <a:bodyPr wrap="square" lIns="0" tIns="0" rIns="0" bIns="0" rtlCol="0" anchor="ctr"/>
              <a:lstStyle/>
              <a:p>
                <a:pPr algn="ctr"/>
                <a14:m>
                  <m:oMathPara xmlns:m="http://schemas.openxmlformats.org/officeDocument/2006/math">
                    <m:oMath>
                      <m:sSub>
                        <m:sSubPr>
                          <m:ctrlPr>
                            <a:rPr lang="en-US" sz="1500">
                              <a:latin typeface="Cambria Math"/>
                            </a:rPr>
                          </m:ctrlPr>
                        </m:sSubPr>
                        <m:e>
                          <m:r>
                            <a:rPr lang="en-US" sz="1500">
                              <a:latin typeface="Cambria Math"/>
                            </a:rPr>
                            <m:t>ℱ</m:t>
                          </m:r>
                        </m:e>
                        <m:sub>
                          <m:r>
                            <a:rPr lang="en-US" sz="1500">
                              <a:latin typeface="Cambria Math"/>
                            </a:rPr>
                            <m:t>𝑖𝑛</m:t>
                          </m:r>
                          <m:r>
                            <a:rPr lang="en-US" sz="1500">
                              <a:latin typeface="Cambria Math"/>
                            </a:rPr>
                            <m:t>,</m:t>
                          </m:r>
                          <m:r>
                            <a:rPr lang="en-US" sz="1500">
                              <a:latin typeface="Cambria Math"/>
                            </a:rPr>
                            <m:t>𝑘</m:t>
                          </m:r>
                        </m:sub>
                      </m:sSub>
                      <m:r>
                        <a:rPr lang="en-US" sz="1500">
                          <a:latin typeface="Cambria Math"/>
                        </a:rPr>
                        <m:t>=</m:t>
                      </m:r>
                      <m:d>
                        <m:dPr>
                          <m:begChr m:val="{"/>
                          <m:endChr m:val="}"/>
                          <m:ctrlPr>
                            <a:rPr lang="en-US" sz="1500" b="0" i="1">
                              <a:latin typeface="Cambria Math" panose="02040503050406030204" pitchFamily="18" charset="0"/>
                            </a:rPr>
                          </m:ctrlPr>
                        </m:dPr>
                        <m:e>
                          <m:sSub>
                            <m:sSubPr>
                              <m:ctrlPr>
                                <a:rPr lang="en-US" sz="1500" b="0" i="1">
                                  <a:latin typeface="Cambria Math"/>
                                </a:rPr>
                              </m:ctrlPr>
                            </m:sSubPr>
                            <m:e>
                              <m:r>
                                <a:rPr lang="en-US" sz="1500" b="0" i="1">
                                  <a:latin typeface="Cambria Math"/>
                                </a:rPr>
                                <m:t>𝑈</m:t>
                              </m:r>
                            </m:e>
                            <m:sub>
                              <m:r>
                                <a:rPr lang="en-US" sz="1500" b="0" i="1">
                                  <a:latin typeface="Cambria Math"/>
                                </a:rPr>
                                <m:t>𝑀𝑒𝑡𝑒𝑜</m:t>
                              </m:r>
                              <m:r>
                                <a:rPr lang="en-US" sz="1500" b="0">
                                  <a:latin typeface="Cambria Math"/>
                                </a:rPr>
                                <m:t>,</m:t>
                              </m:r>
                              <m:r>
                                <a:rPr lang="en-US" sz="1500" b="0" i="1">
                                  <a:latin typeface="Cambria Math"/>
                                </a:rPr>
                                <m:t>𝑘</m:t>
                              </m:r>
                            </m:sub>
                          </m:sSub>
                          <m:r>
                            <a:rPr lang="en-US" sz="1500" b="1">
                              <a:latin typeface="Cambria Math"/>
                            </a:rPr>
                            <m:t>,</m:t>
                          </m:r>
                          <m:sSub>
                            <m:sSubPr>
                              <m:ctrlPr>
                                <a:rPr lang="en-US" sz="1500" b="1" i="1">
                                  <a:latin typeface="Cambria Math"/>
                                </a:rPr>
                              </m:ctrlPr>
                            </m:sSubPr>
                            <m:e>
                              <m:r>
                                <a:rPr lang="en-US" sz="1500" b="1" i="1">
                                  <a:latin typeface="Cambria Math"/>
                                </a:rPr>
                                <m:t>𝐔</m:t>
                              </m:r>
                            </m:e>
                            <m:sub>
                              <m:r>
                                <a:rPr lang="en-US" sz="1500" b="1" i="1">
                                  <a:latin typeface="Cambria Math"/>
                                </a:rPr>
                                <m:t>𝐆𝐞𝐨</m:t>
                              </m:r>
                            </m:sub>
                          </m:sSub>
                          <m:r>
                            <a:rPr lang="en-US" sz="1500">
                              <a:latin typeface="Cambria Math"/>
                            </a:rPr>
                            <m:t>, </m:t>
                          </m:r>
                          <m:sSub>
                            <m:sSubPr>
                              <m:ctrlPr>
                                <a:rPr lang="en-US" sz="1500" i="1">
                                  <a:latin typeface="Cambria Math" panose="02040503050406030204" pitchFamily="18" charset="0"/>
                                </a:rPr>
                              </m:ctrlPr>
                            </m:sSubPr>
                            <m:e>
                              <m:sSub>
                                <m:sSubPr>
                                  <m:ctrlPr>
                                    <a:rPr lang="en-US" sz="1500">
                                      <a:latin typeface="Cambria Math"/>
                                    </a:rPr>
                                  </m:ctrlPr>
                                </m:sSubPr>
                                <m:e>
                                  <m:r>
                                    <a:rPr lang="en-US" sz="1500">
                                      <a:latin typeface="Cambria Math"/>
                                    </a:rPr>
                                    <m:t>𝑈</m:t>
                                  </m:r>
                                </m:e>
                                <m:sub>
                                  <m:r>
                                    <a:rPr lang="en-US" sz="1500">
                                      <a:latin typeface="Cambria Math"/>
                                    </a:rPr>
                                    <m:t>𝐹𝑢𝑒𝑙</m:t>
                                  </m:r>
                                  <m:r>
                                    <m:rPr>
                                      <m:nor/>
                                    </m:rPr>
                                    <a:rPr lang="en-US" sz="1500" i="0">
                                      <a:latin typeface="Cambria Math"/>
                                    </a:rPr>
                                    <m:t>,</m:t>
                                  </m:r>
                                  <m:r>
                                    <a:rPr lang="tr-TR" sz="1500" b="0" i="1" smtClean="0">
                                      <a:latin typeface="Cambria Math" panose="02040503050406030204" pitchFamily="18" charset="0"/>
                                    </a:rPr>
                                    <m:t>𝑘</m:t>
                                  </m:r>
                                </m:sub>
                              </m:sSub>
                              <m:r>
                                <a:rPr lang="tr-TR" sz="1500" b="1" i="1">
                                  <a:latin typeface="Cambria Math" panose="02040503050406030204" pitchFamily="18" charset="0"/>
                                </a:rPr>
                                <m:t>,</m:t>
                              </m:r>
                              <m:sSub>
                                <m:sSubPr>
                                  <m:ctrlPr>
                                    <a:rPr lang="en-US" sz="1500">
                                      <a:latin typeface="Cambria Math"/>
                                    </a:rPr>
                                  </m:ctrlPr>
                                </m:sSubPr>
                                <m:e>
                                  <m:r>
                                    <a:rPr lang="en-US" sz="1500">
                                      <a:latin typeface="Cambria Math"/>
                                    </a:rPr>
                                    <m:t>𝑈</m:t>
                                  </m:r>
                                </m:e>
                                <m:sub>
                                  <m:r>
                                    <a:rPr lang="en-US" sz="1500">
                                      <a:latin typeface="Cambria Math"/>
                                    </a:rPr>
                                    <m:t>𝐼𝑔𝑛</m:t>
                                  </m:r>
                                  <m:r>
                                    <a:rPr lang="en-US" sz="1500">
                                      <a:latin typeface="Cambria Math"/>
                                    </a:rPr>
                                    <m:t>,</m:t>
                                  </m:r>
                                  <m:r>
                                    <a:rPr lang="en-US" sz="1500">
                                      <a:latin typeface="Cambria Math"/>
                                    </a:rPr>
                                    <m:t>𝑘</m:t>
                                  </m:r>
                                </m:sub>
                              </m:sSub>
                              <m:r>
                                <a:rPr lang="en-US" sz="1500">
                                  <a:latin typeface="Cambria Math"/>
                                </a:rPr>
                                <m:t>, </m:t>
                              </m:r>
                              <m:r>
                                <a:rPr lang="en-US" sz="1500">
                                  <a:latin typeface="Cambria Math"/>
                                </a:rPr>
                                <m:t>𝑈</m:t>
                              </m:r>
                            </m:e>
                            <m:sub>
                              <m:r>
                                <a:rPr lang="en-US" sz="1500">
                                  <a:latin typeface="Cambria Math"/>
                                </a:rPr>
                                <m:t>𝐷𝑆𝑆</m:t>
                              </m:r>
                              <m:r>
                                <a:rPr lang="en-US" sz="1500">
                                  <a:latin typeface="Cambria Math"/>
                                </a:rPr>
                                <m:t>,</m:t>
                              </m:r>
                              <m:r>
                                <a:rPr lang="en-US" sz="1500">
                                  <a:latin typeface="Cambria Math"/>
                                </a:rPr>
                                <m:t>𝑘</m:t>
                              </m:r>
                            </m:sub>
                          </m:sSub>
                        </m:e>
                      </m:d>
                    </m:oMath>
                  </m:oMathPara>
                </a14:m>
                <a:endParaRPr lang="en-US" sz="1600" dirty="0"/>
              </a:p>
            </p:txBody>
          </p:sp>
        </mc:Choice>
        <mc:Fallback xmlns="">
          <p:sp>
            <p:nvSpPr>
              <p:cNvPr id="25" name="Text 5">
                <a:extLst>
                  <a:ext uri="{FF2B5EF4-FFF2-40B4-BE49-F238E27FC236}">
                    <a16:creationId xmlns:a16="http://schemas.microsoft.com/office/drawing/2014/main" id="{EC65DB17-2507-4A91-9DDF-59F3BB29910E}"/>
                  </a:ext>
                </a:extLst>
              </p:cNvPr>
              <p:cNvSpPr>
                <a:spLocks noRot="1" noChangeAspect="1" noMove="1" noResize="1" noEditPoints="1" noAdjustHandles="1" noChangeArrowheads="1" noChangeShapeType="1" noTextEdit="1"/>
              </p:cNvSpPr>
              <p:nvPr/>
            </p:nvSpPr>
            <p:spPr>
              <a:xfrm>
                <a:off x="5715000" y="2560320"/>
                <a:ext cx="3931920" cy="457200"/>
              </a:xfrm>
              <a:prstGeom prst="rect">
                <a:avLst/>
              </a:prstGeom>
              <a:blipFill>
                <a:blip r:embed="rId7"/>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90514FD-7766-409A-A7BB-2C326833A16B}"/>
                  </a:ext>
                </a:extLst>
              </p:cNvPr>
              <p:cNvSpPr txBox="1"/>
              <p:nvPr/>
            </p:nvSpPr>
            <p:spPr>
              <a:xfrm>
                <a:off x="9832876" y="2275157"/>
                <a:ext cx="2359124" cy="1027525"/>
              </a:xfrm>
              <a:prstGeom prst="rect">
                <a:avLst/>
              </a:prstGeom>
              <a:noFill/>
            </p:spPr>
            <p:txBody>
              <a:bodyPr wrap="square">
                <a:spAutoFit/>
              </a:bodyPr>
              <a:lstStyle/>
              <a:p>
                <a:pPr/>
                <a14:m>
                  <m:oMathPara xmlns:m="http://schemas.openxmlformats.org/officeDocument/2006/math">
                    <m:oMath>
                      <m:sSub>
                        <m:sSubPr>
                          <m:ctrlPr>
                            <a:rPr lang="tr-TR" sz="1400" i="1">
                              <a:latin typeface="Cambria Math" panose="02040503050406030204" pitchFamily="18" charset="0"/>
                            </a:rPr>
                          </m:ctrlPr>
                        </m:sSubPr>
                        <m:e>
                          <m:r>
                            <a:rPr lang="tr-TR" sz="1400" i="1">
                              <a:latin typeface="Cambria Math" panose="02040503050406030204" pitchFamily="18" charset="0"/>
                            </a:rPr>
                            <m:t>𝑈</m:t>
                          </m:r>
                        </m:e>
                        <m:sub>
                          <m:r>
                            <a:rPr lang="tr-TR" sz="1400" i="1">
                              <a:latin typeface="Cambria Math" panose="02040503050406030204" pitchFamily="18" charset="0"/>
                            </a:rPr>
                            <m:t>𝐺𝑒𝑜</m:t>
                          </m:r>
                        </m:sub>
                      </m:sSub>
                      <m:d>
                        <m:dPr>
                          <m:ctrlPr>
                            <a:rPr lang="tr-TR" sz="1400" i="1">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r>
                        <a:rPr lang="tr-TR" sz="1400" i="0">
                          <a:latin typeface="Cambria Math" panose="02040503050406030204" pitchFamily="18" charset="0"/>
                        </a:rPr>
                        <m:t>=</m:t>
                      </m:r>
                      <m:d>
                        <m:dPr>
                          <m:begChr m:val="["/>
                          <m:endChr m:val="]"/>
                          <m:ctrlPr>
                            <a:rPr lang="tr-TR" sz="1400" i="1">
                              <a:solidFill>
                                <a:srgbClr val="836967"/>
                              </a:solidFill>
                              <a:latin typeface="Cambria Math" panose="02040503050406030204" pitchFamily="18" charset="0"/>
                            </a:rPr>
                          </m:ctrlPr>
                        </m:dPr>
                        <m:e>
                          <m:eqArr>
                            <m:eqArrPr>
                              <m:ctrlPr>
                                <a:rPr lang="tr-TR" sz="1400" i="1">
                                  <a:solidFill>
                                    <a:srgbClr val="836967"/>
                                  </a:solidFill>
                                  <a:latin typeface="Cambria Math" panose="02040503050406030204" pitchFamily="18" charset="0"/>
                                </a:rPr>
                              </m:ctrlPr>
                            </m:eqArrPr>
                            <m:e>
                              <m:r>
                                <a:rPr lang="tr-TR" sz="1400" i="0">
                                  <a:latin typeface="Cambria Math" panose="02040503050406030204" pitchFamily="18" charset="0"/>
                                </a:rPr>
                                <m:t>&amp;</m:t>
                              </m:r>
                              <m:sSub>
                                <m:sSubPr>
                                  <m:ctrlPr>
                                    <a:rPr lang="tr-TR" sz="1400" i="1">
                                      <a:latin typeface="Cambria Math" panose="02040503050406030204" pitchFamily="18" charset="0"/>
                                    </a:rPr>
                                  </m:ctrlPr>
                                </m:sSubPr>
                                <m:e>
                                  <m:r>
                                    <a:rPr lang="tr-TR" sz="1400" i="1">
                                      <a:latin typeface="Cambria Math" panose="02040503050406030204" pitchFamily="18" charset="0"/>
                                    </a:rPr>
                                    <m:t>𝐺</m:t>
                                  </m:r>
                                </m:e>
                                <m:sub>
                                  <m:r>
                                    <a:rPr lang="tr-TR" sz="1400" i="1">
                                      <a:latin typeface="Cambria Math" panose="02040503050406030204" pitchFamily="18" charset="0"/>
                                    </a:rPr>
                                    <m:t>𝑒𝑙𝑒𝑣</m:t>
                                  </m:r>
                                </m:sub>
                              </m:sSub>
                              <m:d>
                                <m:dPr>
                                  <m:ctrlPr>
                                    <a:rPr lang="tr-TR" sz="1400" i="1">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
                              <m:r>
                                <a:rPr lang="tr-TR" sz="1400" i="0">
                                  <a:latin typeface="Cambria Math" panose="02040503050406030204" pitchFamily="18" charset="0"/>
                                </a:rPr>
                                <m:t>&amp;</m:t>
                              </m:r>
                              <m:sSub>
                                <m:sSubPr>
                                  <m:ctrlPr>
                                    <a:rPr lang="tr-TR" sz="1400" i="1">
                                      <a:latin typeface="Cambria Math" panose="02040503050406030204" pitchFamily="18" charset="0"/>
                                    </a:rPr>
                                  </m:ctrlPr>
                                </m:sSubPr>
                                <m:e>
                                  <m:r>
                                    <a:rPr lang="tr-TR" sz="1400" i="1">
                                      <a:latin typeface="Cambria Math" panose="02040503050406030204" pitchFamily="18" charset="0"/>
                                    </a:rPr>
                                    <m:t>𝐺</m:t>
                                  </m:r>
                                </m:e>
                                <m:sub>
                                  <m:r>
                                    <a:rPr lang="tr-TR" sz="1400" i="1">
                                      <a:latin typeface="Cambria Math" panose="02040503050406030204" pitchFamily="18" charset="0"/>
                                    </a:rPr>
                                    <m:t>𝑠𝑙𝑜𝑝𝑒</m:t>
                                  </m:r>
                                </m:sub>
                              </m:sSub>
                              <m:d>
                                <m:dPr>
                                  <m:ctrlPr>
                                    <a:rPr lang="tr-TR" sz="1400" i="1">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
                              <m:r>
                                <a:rPr lang="tr-TR" sz="1400" i="0">
                                  <a:latin typeface="Cambria Math" panose="02040503050406030204" pitchFamily="18" charset="0"/>
                                </a:rPr>
                                <m:t>&amp;</m:t>
                              </m:r>
                              <m:sSub>
                                <m:sSubPr>
                                  <m:ctrlPr>
                                    <a:rPr lang="tr-TR" sz="1400" i="1">
                                      <a:latin typeface="Cambria Math" panose="02040503050406030204" pitchFamily="18" charset="0"/>
                                    </a:rPr>
                                  </m:ctrlPr>
                                </m:sSubPr>
                                <m:e>
                                  <m:r>
                                    <a:rPr lang="tr-TR" sz="1400" i="1">
                                      <a:latin typeface="Cambria Math" panose="02040503050406030204" pitchFamily="18" charset="0"/>
                                    </a:rPr>
                                    <m:t>𝐺</m:t>
                                  </m:r>
                                </m:e>
                                <m:sub>
                                  <m:r>
                                    <a:rPr lang="tr-TR" sz="1400" i="1">
                                      <a:latin typeface="Cambria Math" panose="02040503050406030204" pitchFamily="18" charset="0"/>
                                    </a:rPr>
                                    <m:t>𝑎𝑠𝑝𝑒𝑐𝑡</m:t>
                                  </m:r>
                                </m:sub>
                              </m:sSub>
                              <m:d>
                                <m:dPr>
                                  <m:ctrlPr>
                                    <a:rPr lang="tr-TR" sz="1400" i="1">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
                              <m:r>
                                <a:rPr lang="tr-TR" sz="1400" i="0">
                                  <a:latin typeface="Cambria Math" panose="02040503050406030204" pitchFamily="18" charset="0"/>
                                </a:rPr>
                                <m:t>&amp;</m:t>
                              </m:r>
                              <m:sSub>
                                <m:sSubPr>
                                  <m:ctrlPr>
                                    <a:rPr lang="tr-TR" sz="1400" i="1">
                                      <a:latin typeface="Cambria Math" panose="02040503050406030204" pitchFamily="18" charset="0"/>
                                    </a:rPr>
                                  </m:ctrlPr>
                                </m:sSubPr>
                                <m:e>
                                  <m:r>
                                    <a:rPr lang="tr-TR" sz="1400" i="1">
                                      <a:latin typeface="Cambria Math" panose="02040503050406030204" pitchFamily="18" charset="0"/>
                                    </a:rPr>
                                    <m:t>𝐺</m:t>
                                  </m:r>
                                </m:e>
                                <m:sub>
                                  <m:r>
                                    <a:rPr lang="tr-TR" sz="1400" i="1">
                                      <a:latin typeface="Cambria Math" panose="02040503050406030204" pitchFamily="18" charset="0"/>
                                    </a:rPr>
                                    <m:t>𝑎𝑐𝑐𝑒𝑠𝑠</m:t>
                                  </m:r>
                                </m:sub>
                              </m:sSub>
                              <m:d>
                                <m:dPr>
                                  <m:ctrlPr>
                                    <a:rPr lang="tr-TR" sz="1400" i="1">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qArr>
                        </m:e>
                      </m:d>
                    </m:oMath>
                  </m:oMathPara>
                </a14:m>
                <a:endParaRPr lang="tr-TR" sz="1400" dirty="0"/>
              </a:p>
            </p:txBody>
          </p:sp>
        </mc:Choice>
        <mc:Fallback xmlns="">
          <p:sp>
            <p:nvSpPr>
              <p:cNvPr id="14" name="TextBox 13">
                <a:extLst>
                  <a:ext uri="{FF2B5EF4-FFF2-40B4-BE49-F238E27FC236}">
                    <a16:creationId xmlns:a16="http://schemas.microsoft.com/office/drawing/2014/main" id="{690514FD-7766-409A-A7BB-2C326833A16B}"/>
                  </a:ext>
                </a:extLst>
              </p:cNvPr>
              <p:cNvSpPr txBox="1">
                <a:spLocks noRot="1" noChangeAspect="1" noMove="1" noResize="1" noEditPoints="1" noAdjustHandles="1" noChangeArrowheads="1" noChangeShapeType="1" noTextEdit="1"/>
              </p:cNvSpPr>
              <p:nvPr/>
            </p:nvSpPr>
            <p:spPr>
              <a:xfrm>
                <a:off x="9832876" y="2275157"/>
                <a:ext cx="2359124" cy="1027525"/>
              </a:xfrm>
              <a:prstGeom prst="rect">
                <a:avLst/>
              </a:prstGeom>
              <a:blipFill>
                <a:blip r:embed="rId8"/>
                <a:stretch>
                  <a:fillRect/>
                </a:stretch>
              </a:blipFill>
            </p:spPr>
            <p:txBody>
              <a:bodyPr/>
              <a:lstStyle/>
              <a:p>
                <a:r>
                  <a:rPr lang="tr-TR">
                    <a:noFill/>
                  </a:rPr>
                  <a:t/>
                </a:r>
              </a:p>
            </p:txBody>
          </p:sp>
        </mc:Fallback>
      </mc:AlternateContent>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FA827CB6-5411-4699-B4F5-2042A854EA53}"/>
                  </a:ext>
                </a:extLst>
              </p:cNvPr>
              <p:cNvGraphicFramePr>
                <a:graphicFrameLocks noGrp="1"/>
              </p:cNvGraphicFramePr>
              <p:nvPr>
                <p:extLst>
                  <p:ext uri="{D42A27DB-BD31-4B8C-83A1-F6EECF244321}">
                    <p14:modId xmlns:p14="http://schemas.microsoft.com/office/powerpoint/2010/main" val="3415761351"/>
                  </p:ext>
                </p:extLst>
              </p:nvPr>
            </p:nvGraphicFramePr>
            <p:xfrm>
              <a:off x="5715000" y="3707261"/>
              <a:ext cx="6381924" cy="2653156"/>
            </p:xfrm>
            <a:graphic>
              <a:graphicData uri="http://schemas.openxmlformats.org/drawingml/2006/table">
                <a:tbl>
                  <a:tblPr firstRow="1" firstCol="1" bandRow="1">
                    <a:tableStyleId>{93296810-A885-4BE3-A3E7-6D5BEEA58F35}</a:tableStyleId>
                  </a:tblPr>
                  <a:tblGrid>
                    <a:gridCol w="2125822">
                      <a:extLst>
                        <a:ext uri="{9D8B030D-6E8A-4147-A177-3AD203B41FA5}">
                          <a16:colId xmlns:a16="http://schemas.microsoft.com/office/drawing/2014/main" val="3735269856"/>
                        </a:ext>
                      </a:extLst>
                    </a:gridCol>
                    <a:gridCol w="472668">
                      <a:extLst>
                        <a:ext uri="{9D8B030D-6E8A-4147-A177-3AD203B41FA5}">
                          <a16:colId xmlns:a16="http://schemas.microsoft.com/office/drawing/2014/main" val="1379316844"/>
                        </a:ext>
                      </a:extLst>
                    </a:gridCol>
                    <a:gridCol w="3783434">
                      <a:extLst>
                        <a:ext uri="{9D8B030D-6E8A-4147-A177-3AD203B41FA5}">
                          <a16:colId xmlns:a16="http://schemas.microsoft.com/office/drawing/2014/main" val="927154715"/>
                        </a:ext>
                      </a:extLst>
                    </a:gridCol>
                  </a:tblGrid>
                  <a:tr h="230567">
                    <a:tc>
                      <a:txBody>
                        <a:bodyPr/>
                        <a:lstStyle/>
                        <a:p>
                          <a:pPr algn="just">
                            <a:lnSpc>
                              <a:spcPct val="150000"/>
                            </a:lnSpc>
                          </a:pPr>
                          <a:r>
                            <a:rPr lang="en-US" sz="1200">
                              <a:effectLst/>
                            </a:rPr>
                            <a:t>Parameter </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748003628"/>
                      </a:ext>
                    </a:extLst>
                  </a:tr>
                  <a:tr h="659410">
                    <a:tc>
                      <a:txBody>
                        <a:bodyPr/>
                        <a:lstStyle/>
                        <a:p>
                          <a:pPr algn="just">
                            <a:lnSpc>
                              <a:spcPct val="150000"/>
                            </a:lnSpc>
                          </a:pPr>
                          <a:r>
                            <a:rPr lang="en-US" sz="1200" dirty="0">
                              <a:effectLst/>
                            </a:rPr>
                            <a:t>Elevation </a:t>
                          </a:r>
                          <a14:m>
                            <m:oMath xmlns:m="http://schemas.openxmlformats.org/officeDocument/2006/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𝑮</m:t>
                                  </m:r>
                                </m:e>
                                <m:sub>
                                  <m:r>
                                    <m:rPr>
                                      <m:nor/>
                                    </m:rPr>
                                    <a:rPr lang="en-US" sz="1200" i="0">
                                      <a:effectLst/>
                                    </a:rPr>
                                    <m:t>elev</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m</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shapes local wind, vegetation, environment gradients</a:t>
                          </a:r>
                        </a:p>
                      </a:txBody>
                      <a:tcPr marL="9525" marR="9525" marT="9525" marB="9525" anchor="ctr"/>
                    </a:tc>
                    <a:extLst>
                      <a:ext uri="{0D108BD9-81ED-4DB2-BD59-A6C34878D82A}">
                        <a16:rowId xmlns:a16="http://schemas.microsoft.com/office/drawing/2014/main" val="1326787796"/>
                      </a:ext>
                    </a:extLst>
                  </a:tr>
                  <a:tr h="657790">
                    <a:tc>
                      <a:txBody>
                        <a:bodyPr/>
                        <a:lstStyle/>
                        <a:p>
                          <a:pPr algn="just">
                            <a:lnSpc>
                              <a:spcPct val="150000"/>
                            </a:lnSpc>
                          </a:pPr>
                          <a:r>
                            <a:rPr lang="en-US" sz="1200" dirty="0">
                              <a:effectLst/>
                            </a:rPr>
                            <a:t>Slope </a:t>
                          </a:r>
                          <a14:m>
                            <m:oMath xmlns:m="http://schemas.openxmlformats.org/officeDocument/2006/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𝑮</m:t>
                                  </m:r>
                                </m:e>
                                <m:sub>
                                  <m:r>
                                    <m:rPr>
                                      <m:nor/>
                                    </m:rPr>
                                    <a:rPr lang="en-US" sz="1200" i="0">
                                      <a:effectLst/>
                                    </a:rPr>
                                    <m:t>slope</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rad</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raises uphill spread rate through flame heat transfer</a:t>
                          </a:r>
                        </a:p>
                      </a:txBody>
                      <a:tcPr marL="9525" marR="9525" marT="9525" marB="9525" anchor="ctr"/>
                    </a:tc>
                    <a:extLst>
                      <a:ext uri="{0D108BD9-81ED-4DB2-BD59-A6C34878D82A}">
                        <a16:rowId xmlns:a16="http://schemas.microsoft.com/office/drawing/2014/main" val="266321300"/>
                      </a:ext>
                    </a:extLst>
                  </a:tr>
                  <a:tr h="659410">
                    <a:tc>
                      <a:txBody>
                        <a:bodyPr/>
                        <a:lstStyle/>
                        <a:p>
                          <a:pPr algn="just">
                            <a:lnSpc>
                              <a:spcPct val="150000"/>
                            </a:lnSpc>
                          </a:pPr>
                          <a:r>
                            <a:rPr lang="en-US" sz="1200" dirty="0">
                              <a:effectLst/>
                            </a:rPr>
                            <a:t>Aspect </a:t>
                          </a:r>
                          <a14:m>
                            <m:oMath xmlns:m="http://schemas.openxmlformats.org/officeDocument/2006/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𝑮</m:t>
                                  </m:r>
                                </m:e>
                                <m:sub>
                                  <m:r>
                                    <m:rPr>
                                      <m:nor/>
                                    </m:rPr>
                                    <a:rPr lang="en-US" sz="1200" i="0">
                                      <a:effectLst/>
                                    </a:rPr>
                                    <m:t>aspect</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rad</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sets solar exposure, drying pattern, directional spread</a:t>
                          </a:r>
                        </a:p>
                      </a:txBody>
                      <a:tcPr marL="9525" marR="9525" marT="9525" marB="9525" anchor="ctr"/>
                    </a:tc>
                    <a:extLst>
                      <a:ext uri="{0D108BD9-81ED-4DB2-BD59-A6C34878D82A}">
                        <a16:rowId xmlns:a16="http://schemas.microsoft.com/office/drawing/2014/main" val="4206506710"/>
                      </a:ext>
                    </a:extLst>
                  </a:tr>
                  <a:tr h="431499">
                    <a:tc>
                      <a:txBody>
                        <a:bodyPr/>
                        <a:lstStyle/>
                        <a:p>
                          <a:pPr algn="just">
                            <a:lnSpc>
                              <a:spcPct val="150000"/>
                            </a:lnSpc>
                          </a:pPr>
                          <a:r>
                            <a:rPr lang="en-US" sz="1200" dirty="0">
                              <a:effectLst/>
                            </a:rPr>
                            <a:t>Accessibility</a:t>
                          </a:r>
                          <a:r>
                            <a:rPr lang="tr-TR" sz="1200" dirty="0">
                              <a:effectLst/>
                            </a:rPr>
                            <a:t> </a:t>
                          </a:r>
                          <a14:m>
                            <m:oMath xmlns:m="http://schemas.openxmlformats.org/officeDocument/2006/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𝑮</m:t>
                                  </m:r>
                                </m:e>
                                <m:sub>
                                  <m:r>
                                    <m:rPr>
                                      <m:nor/>
                                    </m:rPr>
                                    <a:rPr lang="en-US" sz="1200" i="0">
                                      <a:effectLst/>
                                    </a:rPr>
                                    <m:t>access</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nSpc>
                              <a:spcPct val="115000"/>
                            </a:lnSpc>
                            <a:spcAft>
                              <a:spcPts val="800"/>
                            </a:spcAft>
                            <a:buNone/>
                          </a:pP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governs</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responder</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mobility</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and</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intervention</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timing</a:t>
                          </a:r>
                          <a:endParaRPr lang="tr-TR"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159002224"/>
                      </a:ext>
                    </a:extLst>
                  </a:tr>
                </a:tbl>
              </a:graphicData>
            </a:graphic>
          </p:graphicFrame>
        </mc:Choice>
        <mc:Fallback xmlns="">
          <p:graphicFrame>
            <p:nvGraphicFramePr>
              <p:cNvPr id="15" name="Table 14">
                <a:extLst>
                  <a:ext uri="{FF2B5EF4-FFF2-40B4-BE49-F238E27FC236}">
                    <a16:creationId xmlns:a16="http://schemas.microsoft.com/office/drawing/2014/main" id="{FA827CB6-5411-4699-B4F5-2042A854EA53}"/>
                  </a:ext>
                </a:extLst>
              </p:cNvPr>
              <p:cNvGraphicFramePr>
                <a:graphicFrameLocks noGrp="1"/>
              </p:cNvGraphicFramePr>
              <p:nvPr>
                <p:extLst>
                  <p:ext uri="{D42A27DB-BD31-4B8C-83A1-F6EECF244321}">
                    <p14:modId xmlns:p14="http://schemas.microsoft.com/office/powerpoint/2010/main" val="3415761351"/>
                  </p:ext>
                </p:extLst>
              </p:nvPr>
            </p:nvGraphicFramePr>
            <p:xfrm>
              <a:off x="5715000" y="3707261"/>
              <a:ext cx="6381924" cy="2653156"/>
            </p:xfrm>
            <a:graphic>
              <a:graphicData uri="http://schemas.openxmlformats.org/drawingml/2006/table">
                <a:tbl>
                  <a:tblPr firstRow="1" firstCol="1" bandRow="1">
                    <a:tableStyleId>{93296810-A885-4BE3-A3E7-6D5BEEA58F35}</a:tableStyleId>
                  </a:tblPr>
                  <a:tblGrid>
                    <a:gridCol w="2125822">
                      <a:extLst>
                        <a:ext uri="{9D8B030D-6E8A-4147-A177-3AD203B41FA5}">
                          <a16:colId xmlns:a16="http://schemas.microsoft.com/office/drawing/2014/main" val="3735269856"/>
                        </a:ext>
                      </a:extLst>
                    </a:gridCol>
                    <a:gridCol w="472668">
                      <a:extLst>
                        <a:ext uri="{9D8B030D-6E8A-4147-A177-3AD203B41FA5}">
                          <a16:colId xmlns:a16="http://schemas.microsoft.com/office/drawing/2014/main" val="1379316844"/>
                        </a:ext>
                      </a:extLst>
                    </a:gridCol>
                    <a:gridCol w="3783434">
                      <a:extLst>
                        <a:ext uri="{9D8B030D-6E8A-4147-A177-3AD203B41FA5}">
                          <a16:colId xmlns:a16="http://schemas.microsoft.com/office/drawing/2014/main" val="927154715"/>
                        </a:ext>
                      </a:extLst>
                    </a:gridCol>
                  </a:tblGrid>
                  <a:tr h="245047">
                    <a:tc>
                      <a:txBody>
                        <a:bodyPr/>
                        <a:lstStyle/>
                        <a:p>
                          <a:pPr algn="just">
                            <a:lnSpc>
                              <a:spcPct val="150000"/>
                            </a:lnSpc>
                          </a:pPr>
                          <a:r>
                            <a:rPr lang="en-US" sz="1200">
                              <a:effectLst/>
                            </a:rPr>
                            <a:t>Parameter </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748003628"/>
                      </a:ext>
                    </a:extLst>
                  </a:tr>
                  <a:tr h="659410">
                    <a:tc>
                      <a:txBody>
                        <a:bodyPr/>
                        <a:lstStyle/>
                        <a:p>
                          <a:endParaRPr lang="tr-TR"/>
                        </a:p>
                      </a:txBody>
                      <a:tcPr marL="68580" marR="68580" marT="0" marB="0">
                        <a:blipFill>
                          <a:blip r:embed="rId9"/>
                          <a:stretch>
                            <a:fillRect l="-287" t="-37615" r="-201433" b="-265138"/>
                          </a:stretch>
                        </a:blipFill>
                      </a:tcPr>
                    </a:tc>
                    <a:tc>
                      <a:txBody>
                        <a:bodyPr/>
                        <a:lstStyle/>
                        <a:p>
                          <a:pPr algn="just">
                            <a:lnSpc>
                              <a:spcPct val="150000"/>
                            </a:lnSpc>
                          </a:pPr>
                          <a:r>
                            <a:rPr lang="en-US" sz="1200">
                              <a:effectLst/>
                            </a:rPr>
                            <a:t>m</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shapes local wind, vegetation, environment gradients</a:t>
                          </a:r>
                        </a:p>
                      </a:txBody>
                      <a:tcPr marL="9525" marR="9525" marT="9525" marB="9525" anchor="ctr"/>
                    </a:tc>
                    <a:extLst>
                      <a:ext uri="{0D108BD9-81ED-4DB2-BD59-A6C34878D82A}">
                        <a16:rowId xmlns:a16="http://schemas.microsoft.com/office/drawing/2014/main" val="1326787796"/>
                      </a:ext>
                    </a:extLst>
                  </a:tr>
                  <a:tr h="657790">
                    <a:tc>
                      <a:txBody>
                        <a:bodyPr/>
                        <a:lstStyle/>
                        <a:p>
                          <a:endParaRPr lang="tr-TR"/>
                        </a:p>
                      </a:txBody>
                      <a:tcPr marL="68580" marR="68580" marT="0" marB="0">
                        <a:blipFill>
                          <a:blip r:embed="rId9"/>
                          <a:stretch>
                            <a:fillRect l="-287" t="-138889" r="-201433" b="-167593"/>
                          </a:stretch>
                        </a:blipFill>
                      </a:tcPr>
                    </a:tc>
                    <a:tc>
                      <a:txBody>
                        <a:bodyPr/>
                        <a:lstStyle/>
                        <a:p>
                          <a:pPr algn="just">
                            <a:lnSpc>
                              <a:spcPct val="150000"/>
                            </a:lnSpc>
                          </a:pPr>
                          <a:r>
                            <a:rPr lang="en-US" sz="1200">
                              <a:effectLst/>
                            </a:rPr>
                            <a:t>rad</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raises uphill spread rate through flame heat transfer</a:t>
                          </a:r>
                        </a:p>
                      </a:txBody>
                      <a:tcPr marL="9525" marR="9525" marT="9525" marB="9525" anchor="ctr"/>
                    </a:tc>
                    <a:extLst>
                      <a:ext uri="{0D108BD9-81ED-4DB2-BD59-A6C34878D82A}">
                        <a16:rowId xmlns:a16="http://schemas.microsoft.com/office/drawing/2014/main" val="266321300"/>
                      </a:ext>
                    </a:extLst>
                  </a:tr>
                  <a:tr h="659410">
                    <a:tc>
                      <a:txBody>
                        <a:bodyPr/>
                        <a:lstStyle/>
                        <a:p>
                          <a:endParaRPr lang="tr-TR"/>
                        </a:p>
                      </a:txBody>
                      <a:tcPr marL="68580" marR="68580" marT="0" marB="0">
                        <a:blipFill>
                          <a:blip r:embed="rId9"/>
                          <a:stretch>
                            <a:fillRect l="-287" t="-238889" r="-201433" b="-67593"/>
                          </a:stretch>
                        </a:blipFill>
                      </a:tcPr>
                    </a:tc>
                    <a:tc>
                      <a:txBody>
                        <a:bodyPr/>
                        <a:lstStyle/>
                        <a:p>
                          <a:pPr algn="just">
                            <a:lnSpc>
                              <a:spcPct val="150000"/>
                            </a:lnSpc>
                          </a:pPr>
                          <a:r>
                            <a:rPr lang="en-US" sz="1200">
                              <a:effectLst/>
                            </a:rPr>
                            <a:t>rad</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sets solar exposure, drying pattern, directional spread</a:t>
                          </a:r>
                        </a:p>
                      </a:txBody>
                      <a:tcPr marL="9525" marR="9525" marT="9525" marB="9525" anchor="ctr"/>
                    </a:tc>
                    <a:extLst>
                      <a:ext uri="{0D108BD9-81ED-4DB2-BD59-A6C34878D82A}">
                        <a16:rowId xmlns:a16="http://schemas.microsoft.com/office/drawing/2014/main" val="4206506710"/>
                      </a:ext>
                    </a:extLst>
                  </a:tr>
                  <a:tr h="431499">
                    <a:tc>
                      <a:txBody>
                        <a:bodyPr/>
                        <a:lstStyle/>
                        <a:p>
                          <a:endParaRPr lang="tr-TR"/>
                        </a:p>
                      </a:txBody>
                      <a:tcPr marL="68580" marR="68580" marT="0" marB="0">
                        <a:blipFill>
                          <a:blip r:embed="rId9"/>
                          <a:stretch>
                            <a:fillRect l="-287" t="-515493" r="-201433" b="-2817"/>
                          </a:stretch>
                        </a:blipFill>
                      </a:tcPr>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nSpc>
                              <a:spcPct val="115000"/>
                            </a:lnSpc>
                            <a:spcAft>
                              <a:spcPts val="800"/>
                            </a:spcAft>
                            <a:buNone/>
                          </a:pP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governs</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responder</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mobility</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and</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intervention</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timing</a:t>
                          </a:r>
                          <a:endParaRPr lang="tr-TR"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159002224"/>
                      </a:ext>
                    </a:extLst>
                  </a:tr>
                </a:tbl>
              </a:graphicData>
            </a:graphic>
          </p:graphicFrame>
        </mc:Fallback>
      </mc:AlternateContent>
      <p:pic>
        <p:nvPicPr>
          <p:cNvPr id="8" name="Image 2" descr="/tmp/thx/deck/figs/Figure3_1.png">
            <a:extLst>
              <a:ext uri="{FF2B5EF4-FFF2-40B4-BE49-F238E27FC236}">
                <a16:creationId xmlns:a16="http://schemas.microsoft.com/office/drawing/2014/main" id="{2F3540AB-B538-52DC-6EE8-B6E68672E0F0}"/>
              </a:ext>
            </a:extLst>
          </p:cNvPr>
          <p:cNvPicPr>
            <a:picLocks noChangeAspect="1"/>
          </p:cNvPicPr>
          <p:nvPr/>
        </p:nvPicPr>
        <p:blipFill>
          <a:blip r:embed="rId10"/>
          <a:stretch>
            <a:fillRect/>
          </a:stretch>
        </p:blipFill>
        <p:spPr>
          <a:xfrm>
            <a:off x="365760" y="1815950"/>
            <a:ext cx="5074920" cy="4323379"/>
          </a:xfrm>
          <a:prstGeom prst="rect">
            <a:avLst/>
          </a:prstGeom>
        </p:spPr>
      </p:pic>
      <p:sp>
        <p:nvSpPr>
          <p:cNvPr id="10" name="Text 2">
            <a:extLst>
              <a:ext uri="{FF2B5EF4-FFF2-40B4-BE49-F238E27FC236}">
                <a16:creationId xmlns:a16="http://schemas.microsoft.com/office/drawing/2014/main" id="{D1F71992-39BC-21D9-60FC-D3DFE0CF9CBE}"/>
              </a:ext>
            </a:extLst>
          </p:cNvPr>
          <p:cNvSpPr/>
          <p:nvPr/>
        </p:nvSpPr>
        <p:spPr>
          <a:xfrm>
            <a:off x="5715000" y="1371600"/>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State Transition</a:t>
            </a:r>
            <a:endParaRPr lang="en-US" sz="1500" dirty="0"/>
          </a:p>
        </p:txBody>
      </p:sp>
      <mc:AlternateContent xmlns:mc="http://schemas.openxmlformats.org/markup-compatibility/2006" xmlns:a14="http://schemas.microsoft.com/office/drawing/2010/main">
        <mc:Choice Requires="a14">
          <p:sp>
            <p:nvSpPr>
              <p:cNvPr id="12" name="Text 3">
                <a:extLst>
                  <a:ext uri="{FF2B5EF4-FFF2-40B4-BE49-F238E27FC236}">
                    <a16:creationId xmlns:a16="http://schemas.microsoft.com/office/drawing/2014/main" id="{CBD29E03-315A-D582-4299-9242708B79BD}"/>
                  </a:ext>
                </a:extLst>
              </p:cNvPr>
              <p:cNvSpPr/>
              <p:nvPr/>
            </p:nvSpPr>
            <p:spPr>
              <a:xfrm>
                <a:off x="5738854" y="170078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r>
                            <a:rPr lang="en-US" sz="1600">
                              <a:latin typeface="Cambria Math"/>
                            </a:rPr>
                            <m:t>+1</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sz="1600">
                                  <a:latin typeface="Cambria Math"/>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12" name="Text 3">
                <a:extLst>
                  <a:ext uri="{FF2B5EF4-FFF2-40B4-BE49-F238E27FC236}">
                    <a16:creationId xmlns:a16="http://schemas.microsoft.com/office/drawing/2014/main" id="{CBD29E03-315A-D582-4299-9242708B79BD}"/>
                  </a:ext>
                </a:extLst>
              </p:cNvPr>
              <p:cNvSpPr>
                <a:spLocks noRot="1" noChangeAspect="1" noMove="1" noResize="1" noEditPoints="1" noAdjustHandles="1" noChangeArrowheads="1" noChangeShapeType="1" noTextEdit="1"/>
              </p:cNvSpPr>
              <p:nvPr/>
            </p:nvSpPr>
            <p:spPr>
              <a:xfrm>
                <a:off x="5738854" y="1700784"/>
                <a:ext cx="6035040" cy="457200"/>
              </a:xfrm>
              <a:prstGeom prst="rect">
                <a:avLst/>
              </a:prstGeom>
              <a:blipFill>
                <a:blip r:embed="rId11"/>
                <a:stretch>
                  <a:fillRect/>
                </a:stretch>
              </a:blipFill>
              <a:ln/>
            </p:spPr>
            <p:txBody>
              <a:bodyPr/>
              <a:lstStyle/>
              <a:p>
                <a:r>
                  <a:rPr lang="tr-TR">
                    <a:noFill/>
                  </a:rPr>
                  <a:t> </a:t>
                </a:r>
              </a:p>
            </p:txBody>
          </p:sp>
        </mc:Fallback>
      </mc:AlternateContent>
      <p:sp>
        <p:nvSpPr>
          <p:cNvPr id="16" name="Text 4">
            <a:extLst>
              <a:ext uri="{FF2B5EF4-FFF2-40B4-BE49-F238E27FC236}">
                <a16:creationId xmlns:a16="http://schemas.microsoft.com/office/drawing/2014/main" id="{E7852D50-2543-F665-6945-7F44FEB37A56}"/>
              </a:ext>
            </a:extLst>
          </p:cNvPr>
          <p:cNvSpPr/>
          <p:nvPr/>
        </p:nvSpPr>
        <p:spPr>
          <a:xfrm>
            <a:off x="5715000" y="2231136"/>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Input Field</a:t>
            </a:r>
            <a:endParaRPr lang="en-US" sz="1500" dirty="0"/>
          </a:p>
        </p:txBody>
      </p:sp>
    </p:spTree>
    <p:extLst>
      <p:ext uri="{BB962C8B-B14F-4D97-AF65-F5344CB8AC3E}">
        <p14:creationId xmlns:p14="http://schemas.microsoft.com/office/powerpoint/2010/main" val="35191284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The Simulation Input Field</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sp>
            <p:nvSpPr>
              <p:cNvPr id="25" name="Text 5">
                <a:extLst>
                  <a:ext uri="{FF2B5EF4-FFF2-40B4-BE49-F238E27FC236}">
                    <a16:creationId xmlns:a16="http://schemas.microsoft.com/office/drawing/2014/main" id="{EC65DB17-2507-4A91-9DDF-59F3BB29910E}"/>
                  </a:ext>
                </a:extLst>
              </p:cNvPr>
              <p:cNvSpPr/>
              <p:nvPr/>
            </p:nvSpPr>
            <p:spPr>
              <a:xfrm>
                <a:off x="5715000" y="2560320"/>
                <a:ext cx="3931920" cy="457200"/>
              </a:xfrm>
              <a:prstGeom prst="rect">
                <a:avLst/>
              </a:prstGeom>
              <a:noFill/>
              <a:ln/>
            </p:spPr>
            <p:txBody>
              <a:bodyPr wrap="square" lIns="0" tIns="0" rIns="0" bIns="0" rtlCol="0" anchor="ctr"/>
              <a:lstStyle/>
              <a:p>
                <a:pPr algn="ctr"/>
                <a14:m>
                  <m:oMathPara xmlns:m="http://schemas.openxmlformats.org/officeDocument/2006/math">
                    <m:oMath>
                      <m:sSub>
                        <m:sSubPr>
                          <m:ctrlPr>
                            <a:rPr lang="en-US" sz="1500">
                              <a:latin typeface="Cambria Math"/>
                            </a:rPr>
                          </m:ctrlPr>
                        </m:sSubPr>
                        <m:e>
                          <m:r>
                            <a:rPr lang="en-US" sz="1500">
                              <a:latin typeface="Cambria Math"/>
                            </a:rPr>
                            <m:t>ℱ</m:t>
                          </m:r>
                        </m:e>
                        <m:sub>
                          <m:r>
                            <a:rPr lang="en-US" sz="1500">
                              <a:latin typeface="Cambria Math"/>
                            </a:rPr>
                            <m:t>𝑖𝑛</m:t>
                          </m:r>
                          <m:r>
                            <a:rPr lang="en-US" sz="1500">
                              <a:latin typeface="Cambria Math"/>
                            </a:rPr>
                            <m:t>,</m:t>
                          </m:r>
                          <m:r>
                            <a:rPr lang="en-US" sz="1500">
                              <a:latin typeface="Cambria Math"/>
                            </a:rPr>
                            <m:t>𝑘</m:t>
                          </m:r>
                        </m:sub>
                      </m:sSub>
                      <m:r>
                        <a:rPr lang="en-US" sz="1500">
                          <a:latin typeface="Cambria Math"/>
                        </a:rPr>
                        <m:t>=</m:t>
                      </m:r>
                      <m:d>
                        <m:dPr>
                          <m:begChr m:val="{"/>
                          <m:endChr m:val="}"/>
                          <m:ctrlPr>
                            <a:rPr lang="en-US" sz="1500" b="0" i="1">
                              <a:latin typeface="Cambria Math" panose="02040503050406030204" pitchFamily="18" charset="0"/>
                            </a:rPr>
                          </m:ctrlPr>
                        </m:dPr>
                        <m:e>
                          <m:sSub>
                            <m:sSubPr>
                              <m:ctrlPr>
                                <a:rPr lang="en-US" sz="1500" b="0" i="1">
                                  <a:latin typeface="Cambria Math"/>
                                </a:rPr>
                              </m:ctrlPr>
                            </m:sSubPr>
                            <m:e>
                              <m:r>
                                <a:rPr lang="en-US" sz="1500" b="0" i="1">
                                  <a:latin typeface="Cambria Math"/>
                                </a:rPr>
                                <m:t>𝑈</m:t>
                              </m:r>
                            </m:e>
                            <m:sub>
                              <m:r>
                                <a:rPr lang="en-US" sz="1500" b="0" i="1">
                                  <a:latin typeface="Cambria Math"/>
                                </a:rPr>
                                <m:t>𝑀𝑒𝑡𝑒𝑜</m:t>
                              </m:r>
                              <m:r>
                                <a:rPr lang="en-US" sz="1500" b="0">
                                  <a:latin typeface="Cambria Math"/>
                                </a:rPr>
                                <m:t>,</m:t>
                              </m:r>
                              <m:r>
                                <a:rPr lang="en-US" sz="1500" b="0" i="1">
                                  <a:latin typeface="Cambria Math"/>
                                </a:rPr>
                                <m:t>𝑘</m:t>
                              </m:r>
                            </m:sub>
                          </m:sSub>
                          <m:r>
                            <a:rPr lang="en-US" sz="1500" b="1">
                              <a:latin typeface="Cambria Math"/>
                            </a:rPr>
                            <m:t>,</m:t>
                          </m:r>
                          <m:sSub>
                            <m:sSubPr>
                              <m:ctrlPr>
                                <a:rPr lang="en-US" sz="1500">
                                  <a:latin typeface="Cambria Math"/>
                                </a:rPr>
                              </m:ctrlPr>
                            </m:sSubPr>
                            <m:e>
                              <m:r>
                                <a:rPr lang="en-US" sz="1500">
                                  <a:latin typeface="Cambria Math"/>
                                </a:rPr>
                                <m:t>𝑈</m:t>
                              </m:r>
                            </m:e>
                            <m:sub>
                              <m:r>
                                <a:rPr lang="en-US" sz="1500">
                                  <a:latin typeface="Cambria Math"/>
                                </a:rPr>
                                <m:t>𝐺𝑒𝑜</m:t>
                              </m:r>
                            </m:sub>
                          </m:sSub>
                          <m:r>
                            <a:rPr lang="en-US" sz="1500">
                              <a:latin typeface="Cambria Math"/>
                            </a:rPr>
                            <m:t>, </m:t>
                          </m:r>
                          <m:sSub>
                            <m:sSubPr>
                              <m:ctrlPr>
                                <a:rPr lang="en-US" sz="1500" b="1" i="1">
                                  <a:latin typeface="Cambria Math" panose="02040503050406030204" pitchFamily="18" charset="0"/>
                                </a:rPr>
                              </m:ctrlPr>
                            </m:sSubPr>
                            <m:e>
                              <m:sSub>
                                <m:sSubPr>
                                  <m:ctrlPr>
                                    <a:rPr lang="en-US" sz="1500" b="1" i="1">
                                      <a:latin typeface="Cambria Math"/>
                                    </a:rPr>
                                  </m:ctrlPr>
                                </m:sSubPr>
                                <m:e>
                                  <m:r>
                                    <a:rPr lang="en-US" sz="1500" b="1" i="1">
                                      <a:latin typeface="Cambria Math"/>
                                    </a:rPr>
                                    <m:t>𝐔</m:t>
                                  </m:r>
                                </m:e>
                                <m:sub>
                                  <m:r>
                                    <a:rPr lang="en-US" sz="1500" b="1" i="1">
                                      <a:latin typeface="Cambria Math"/>
                                    </a:rPr>
                                    <m:t>𝐅𝐮𝐞𝐥</m:t>
                                  </m:r>
                                  <m:r>
                                    <m:rPr>
                                      <m:nor/>
                                    </m:rPr>
                                    <a:rPr lang="en-US" sz="1500" b="1" i="0">
                                      <a:latin typeface="Cambria Math"/>
                                    </a:rPr>
                                    <m:t>,</m:t>
                                  </m:r>
                                  <m:r>
                                    <a:rPr lang="tr-TR" sz="1500" b="1" i="1" smtClean="0">
                                      <a:latin typeface="Cambria Math" panose="02040503050406030204" pitchFamily="18" charset="0"/>
                                    </a:rPr>
                                    <m:t>𝒌</m:t>
                                  </m:r>
                                </m:sub>
                              </m:sSub>
                              <m:r>
                                <a:rPr lang="tr-TR" sz="1500" b="1" i="1">
                                  <a:latin typeface="Cambria Math" panose="02040503050406030204" pitchFamily="18" charset="0"/>
                                </a:rPr>
                                <m:t>,</m:t>
                              </m:r>
                              <m:sSub>
                                <m:sSubPr>
                                  <m:ctrlPr>
                                    <a:rPr lang="en-US" sz="1500">
                                      <a:latin typeface="Cambria Math"/>
                                    </a:rPr>
                                  </m:ctrlPr>
                                </m:sSubPr>
                                <m:e>
                                  <m:r>
                                    <a:rPr lang="en-US" sz="1500">
                                      <a:latin typeface="Cambria Math"/>
                                    </a:rPr>
                                    <m:t>𝑈</m:t>
                                  </m:r>
                                </m:e>
                                <m:sub>
                                  <m:r>
                                    <a:rPr lang="en-US" sz="1500">
                                      <a:latin typeface="Cambria Math"/>
                                    </a:rPr>
                                    <m:t>𝐼𝑔𝑛</m:t>
                                  </m:r>
                                  <m:r>
                                    <a:rPr lang="en-US" sz="1500">
                                      <a:latin typeface="Cambria Math"/>
                                    </a:rPr>
                                    <m:t>,</m:t>
                                  </m:r>
                                  <m:r>
                                    <a:rPr lang="en-US" sz="1500">
                                      <a:latin typeface="Cambria Math"/>
                                    </a:rPr>
                                    <m:t>𝑘</m:t>
                                  </m:r>
                                </m:sub>
                              </m:sSub>
                              <m:r>
                                <a:rPr lang="en-US" sz="1500">
                                  <a:latin typeface="Cambria Math"/>
                                </a:rPr>
                                <m:t>, </m:t>
                              </m:r>
                              <m:r>
                                <a:rPr lang="en-US" sz="1500">
                                  <a:latin typeface="Cambria Math"/>
                                </a:rPr>
                                <m:t>𝑈</m:t>
                              </m:r>
                            </m:e>
                            <m:sub>
                              <m:r>
                                <a:rPr lang="en-US" sz="1500">
                                  <a:latin typeface="Cambria Math"/>
                                </a:rPr>
                                <m:t>𝐷𝑆𝑆</m:t>
                              </m:r>
                              <m:r>
                                <a:rPr lang="en-US" sz="1500">
                                  <a:latin typeface="Cambria Math"/>
                                </a:rPr>
                                <m:t>,</m:t>
                              </m:r>
                              <m:r>
                                <a:rPr lang="en-US" sz="1500">
                                  <a:latin typeface="Cambria Math"/>
                                </a:rPr>
                                <m:t>𝑘</m:t>
                              </m:r>
                            </m:sub>
                          </m:sSub>
                        </m:e>
                      </m:d>
                    </m:oMath>
                  </m:oMathPara>
                </a14:m>
                <a:endParaRPr lang="en-US" sz="1600" dirty="0"/>
              </a:p>
            </p:txBody>
          </p:sp>
        </mc:Choice>
        <mc:Fallback xmlns="">
          <p:sp>
            <p:nvSpPr>
              <p:cNvPr id="25" name="Text 5">
                <a:extLst>
                  <a:ext uri="{FF2B5EF4-FFF2-40B4-BE49-F238E27FC236}">
                    <a16:creationId xmlns:a16="http://schemas.microsoft.com/office/drawing/2014/main" id="{EC65DB17-2507-4A91-9DDF-59F3BB29910E}"/>
                  </a:ext>
                </a:extLst>
              </p:cNvPr>
              <p:cNvSpPr>
                <a:spLocks noRot="1" noChangeAspect="1" noMove="1" noResize="1" noEditPoints="1" noAdjustHandles="1" noChangeArrowheads="1" noChangeShapeType="1" noTextEdit="1"/>
              </p:cNvSpPr>
              <p:nvPr/>
            </p:nvSpPr>
            <p:spPr>
              <a:xfrm>
                <a:off x="5715000" y="2560320"/>
                <a:ext cx="3931920" cy="457200"/>
              </a:xfrm>
              <a:prstGeom prst="rect">
                <a:avLst/>
              </a:prstGeom>
              <a:blipFill>
                <a:blip r:embed="rId7"/>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F9D6F77-615C-4A8A-A54F-23A7ACD21395}"/>
                  </a:ext>
                </a:extLst>
              </p:cNvPr>
              <p:cNvSpPr txBox="1"/>
              <p:nvPr/>
            </p:nvSpPr>
            <p:spPr>
              <a:xfrm>
                <a:off x="9558198" y="2384770"/>
                <a:ext cx="2792627" cy="886012"/>
              </a:xfrm>
              <a:prstGeom prst="rect">
                <a:avLst/>
              </a:prstGeom>
              <a:noFill/>
            </p:spPr>
            <p:txBody>
              <a:bodyPr wrap="square">
                <a:spAutoFit/>
              </a:bodyPr>
              <a:lstStyle/>
              <a:p>
                <a:pPr/>
                <a14:m>
                  <m:oMathPara xmlns:m="http://schemas.openxmlformats.org/officeDocument/2006/math">
                    <m:oMath>
                      <m:sSub>
                        <m:sSubPr>
                          <m:ctrlPr>
                            <a:rPr lang="en-US" sz="1400" i="1">
                              <a:effectLst/>
                              <a:latin typeface="Cambria Math" panose="02040503050406030204" pitchFamily="18" charset="0"/>
                              <a:ea typeface="Calibri" panose="020F0502020204030204" pitchFamily="34" charset="0"/>
                              <a:cs typeface="Arial" panose="020B0604020202020204" pitchFamily="34" charset="0"/>
                            </a:rPr>
                          </m:ctrlPr>
                        </m:sSubPr>
                        <m:e>
                          <m:r>
                            <a:rPr lang="en-US" sz="1400" i="1">
                              <a:effectLst/>
                              <a:latin typeface="Cambria Math" panose="02040503050406030204" pitchFamily="18" charset="0"/>
                              <a:ea typeface="Calibri" panose="020F0502020204030204" pitchFamily="34" charset="0"/>
                              <a:cs typeface="Arial" panose="020B0604020202020204" pitchFamily="34" charset="0"/>
                            </a:rPr>
                            <m:t>𝑈</m:t>
                          </m:r>
                        </m:e>
                        <m:sub>
                          <m:r>
                            <a:rPr lang="en-US" sz="1400" i="1">
                              <a:effectLst/>
                              <a:latin typeface="Cambria Math" panose="02040503050406030204" pitchFamily="18" charset="0"/>
                              <a:ea typeface="Calibri" panose="020F0502020204030204" pitchFamily="34" charset="0"/>
                              <a:cs typeface="Arial" panose="020B0604020202020204" pitchFamily="34" charset="0"/>
                            </a:rPr>
                            <m:t>𝐹𝑢𝑒𝑙</m:t>
                          </m:r>
                          <m:r>
                            <a:rPr lang="en-US" sz="1400" i="1">
                              <a:effectLst/>
                              <a:latin typeface="Cambria Math" panose="02040503050406030204" pitchFamily="18" charset="0"/>
                              <a:ea typeface="Calibri" panose="020F0502020204030204" pitchFamily="34" charset="0"/>
                              <a:cs typeface="Arial" panose="020B0604020202020204" pitchFamily="34" charset="0"/>
                            </a:rPr>
                            <m:t>,</m:t>
                          </m:r>
                          <m:r>
                            <a:rPr lang="en-US" sz="1400" i="1">
                              <a:effectLst/>
                              <a:latin typeface="Cambria Math" panose="02040503050406030204" pitchFamily="18" charset="0"/>
                              <a:ea typeface="Calibri" panose="020F0502020204030204" pitchFamily="34" charset="0"/>
                              <a:cs typeface="Arial" panose="020B0604020202020204" pitchFamily="34" charset="0"/>
                            </a:rPr>
                            <m:t>𝑘</m:t>
                          </m:r>
                        </m:sub>
                      </m:sSub>
                      <m:d>
                        <m:dPr>
                          <m:ctrlPr>
                            <a:rPr lang="en-US" sz="1400" i="1">
                              <a:effectLst/>
                              <a:latin typeface="Cambria Math" panose="02040503050406030204" pitchFamily="18" charset="0"/>
                              <a:ea typeface="Calibri" panose="020F0502020204030204" pitchFamily="34" charset="0"/>
                              <a:cs typeface="Arial" panose="020B0604020202020204" pitchFamily="34" charset="0"/>
                            </a:rPr>
                          </m:ctrlPr>
                        </m:dPr>
                        <m:e>
                          <m:r>
                            <a:rPr lang="en-US" sz="1400" i="1">
                              <a:effectLst/>
                              <a:latin typeface="Cambria Math" panose="02040503050406030204" pitchFamily="18" charset="0"/>
                              <a:ea typeface="Calibri" panose="020F0502020204030204" pitchFamily="34" charset="0"/>
                              <a:cs typeface="Arial" panose="020B0604020202020204" pitchFamily="34" charset="0"/>
                            </a:rPr>
                            <m:t>𝑥</m:t>
                          </m:r>
                          <m:r>
                            <a:rPr lang="en-US" sz="1400" i="1">
                              <a:effectLst/>
                              <a:latin typeface="Cambria Math" panose="02040503050406030204" pitchFamily="18" charset="0"/>
                              <a:ea typeface="Calibri" panose="020F0502020204030204" pitchFamily="34" charset="0"/>
                              <a:cs typeface="Arial" panose="020B0604020202020204" pitchFamily="34" charset="0"/>
                            </a:rPr>
                            <m:t>,</m:t>
                          </m:r>
                          <m:r>
                            <a:rPr lang="en-US" sz="1400" i="1">
                              <a:effectLst/>
                              <a:latin typeface="Cambria Math" panose="02040503050406030204" pitchFamily="18" charset="0"/>
                              <a:ea typeface="Calibri" panose="020F0502020204030204" pitchFamily="34" charset="0"/>
                              <a:cs typeface="Arial" panose="020B0604020202020204" pitchFamily="34" charset="0"/>
                            </a:rPr>
                            <m:t>𝑦</m:t>
                          </m:r>
                        </m:e>
                      </m:d>
                      <m:r>
                        <a:rPr lang="en-US" sz="1400" i="1">
                          <a:effectLst/>
                          <a:latin typeface="Cambria Math" panose="02040503050406030204" pitchFamily="18" charset="0"/>
                          <a:ea typeface="Calibri" panose="020F0502020204030204" pitchFamily="34" charset="0"/>
                          <a:cs typeface="Arial" panose="020B0604020202020204" pitchFamily="34" charset="0"/>
                        </a:rPr>
                        <m:t>=</m:t>
                      </m:r>
                      <m:d>
                        <m:dPr>
                          <m:begChr m:val="["/>
                          <m:endChr m:val="]"/>
                          <m:ctrlPr>
                            <a:rPr lang="tr-TR" sz="1400" i="1">
                              <a:effectLst/>
                              <a:latin typeface="Cambria Math" panose="02040503050406030204" pitchFamily="18" charset="0"/>
                            </a:rPr>
                          </m:ctrlPr>
                        </m:dPr>
                        <m:e>
                          <m:eqArr>
                            <m:eqArrPr>
                              <m:ctrlPr>
                                <a:rPr lang="tr-TR" sz="1400" i="1">
                                  <a:effectLst/>
                                  <a:latin typeface="Cambria Math" panose="02040503050406030204" pitchFamily="18" charset="0"/>
                                </a:rPr>
                              </m:ctrlPr>
                            </m:eqArrPr>
                            <m:e>
                              <m:sSub>
                                <m:sSubPr>
                                  <m:ctrlPr>
                                    <a:rPr lang="en-US" sz="1400" i="1">
                                      <a:effectLst/>
                                      <a:latin typeface="Cambria Math" panose="02040503050406030204" pitchFamily="18" charset="0"/>
                                      <a:ea typeface="Calibri" panose="020F0502020204030204" pitchFamily="34" charset="0"/>
                                      <a:cs typeface="Arial" panose="020B0604020202020204" pitchFamily="34" charset="0"/>
                                    </a:rPr>
                                  </m:ctrlPr>
                                </m:sSubPr>
                                <m:e>
                                  <m:r>
                                    <a:rPr lang="en-US" sz="1400" i="1">
                                      <a:effectLst/>
                                      <a:latin typeface="Cambria Math" panose="02040503050406030204" pitchFamily="18" charset="0"/>
                                      <a:ea typeface="Calibri" panose="020F0502020204030204" pitchFamily="34" charset="0"/>
                                      <a:cs typeface="Arial" panose="020B0604020202020204" pitchFamily="34" charset="0"/>
                                    </a:rPr>
                                    <m:t>𝐹</m:t>
                                  </m:r>
                                </m:e>
                                <m:sub>
                                  <m:r>
                                    <m:rPr>
                                      <m:nor/>
                                    </m:rPr>
                                    <a:rPr lang="en-US" sz="1400" i="1">
                                      <a:effectLst/>
                                      <a:latin typeface="Times New Roman" panose="02020603050405020304" pitchFamily="18" charset="0"/>
                                      <a:ea typeface="Calibri" panose="020F0502020204030204" pitchFamily="34" charset="0"/>
                                      <a:cs typeface="Arial" panose="020B0604020202020204" pitchFamily="34" charset="0"/>
                                    </a:rPr>
                                    <m:t>type</m:t>
                                  </m:r>
                                </m:sub>
                              </m:sSub>
                              <m:d>
                                <m:dPr>
                                  <m:ctrlPr>
                                    <a:rPr lang="en-US" sz="1400" i="1">
                                      <a:effectLst/>
                                      <a:latin typeface="Cambria Math" panose="02040503050406030204" pitchFamily="18" charset="0"/>
                                      <a:ea typeface="Calibri" panose="020F0502020204030204" pitchFamily="34" charset="0"/>
                                      <a:cs typeface="Arial" panose="020B0604020202020204" pitchFamily="34" charset="0"/>
                                    </a:rPr>
                                  </m:ctrlPr>
                                </m:dPr>
                                <m:e>
                                  <m:r>
                                    <a:rPr lang="en-US" sz="1400" i="1">
                                      <a:effectLst/>
                                      <a:latin typeface="Cambria Math" panose="02040503050406030204" pitchFamily="18" charset="0"/>
                                      <a:ea typeface="Calibri" panose="020F0502020204030204" pitchFamily="34" charset="0"/>
                                      <a:cs typeface="Arial" panose="020B0604020202020204" pitchFamily="34" charset="0"/>
                                    </a:rPr>
                                    <m:t>𝑥</m:t>
                                  </m:r>
                                  <m:r>
                                    <a:rPr lang="en-US" sz="1400" i="1">
                                      <a:effectLst/>
                                      <a:latin typeface="Cambria Math" panose="02040503050406030204" pitchFamily="18" charset="0"/>
                                      <a:ea typeface="Calibri" panose="020F0502020204030204" pitchFamily="34" charset="0"/>
                                      <a:cs typeface="Arial" panose="020B0604020202020204" pitchFamily="34" charset="0"/>
                                    </a:rPr>
                                    <m:t>,</m:t>
                                  </m:r>
                                  <m:r>
                                    <a:rPr lang="en-US" sz="1400" i="1">
                                      <a:effectLst/>
                                      <a:latin typeface="Cambria Math" panose="02040503050406030204" pitchFamily="18" charset="0"/>
                                      <a:ea typeface="Calibri" panose="020F0502020204030204" pitchFamily="34" charset="0"/>
                                      <a:cs typeface="Arial" panose="020B0604020202020204" pitchFamily="34" charset="0"/>
                                    </a:rPr>
                                    <m:t>𝑦</m:t>
                                  </m:r>
                                </m:e>
                              </m:d>
                            </m:e>
                            <m:e>
                              <m:r>
                                <a:rPr lang="en-US" sz="1400" i="1">
                                  <a:effectLst/>
                                  <a:latin typeface="Cambria Math" panose="02040503050406030204" pitchFamily="18" charset="0"/>
                                  <a:ea typeface="Calibri" panose="020F0502020204030204" pitchFamily="34" charset="0"/>
                                  <a:cs typeface="Arial" panose="020B0604020202020204" pitchFamily="34" charset="0"/>
                                </a:rPr>
                                <m:t> </m:t>
                              </m:r>
                              <m:sSub>
                                <m:sSubPr>
                                  <m:ctrlPr>
                                    <a:rPr lang="en-US" sz="1400" i="1">
                                      <a:effectLst/>
                                      <a:latin typeface="Cambria Math" panose="02040503050406030204" pitchFamily="18" charset="0"/>
                                      <a:ea typeface="Calibri" panose="020F0502020204030204" pitchFamily="34" charset="0"/>
                                      <a:cs typeface="Arial" panose="020B0604020202020204" pitchFamily="34" charset="0"/>
                                    </a:rPr>
                                  </m:ctrlPr>
                                </m:sSubPr>
                                <m:e>
                                  <m:r>
                                    <a:rPr lang="en-US" sz="1400" i="1">
                                      <a:effectLst/>
                                      <a:latin typeface="Cambria Math" panose="02040503050406030204" pitchFamily="18" charset="0"/>
                                      <a:ea typeface="Calibri" panose="020F0502020204030204" pitchFamily="34" charset="0"/>
                                      <a:cs typeface="Arial" panose="020B0604020202020204" pitchFamily="34" charset="0"/>
                                    </a:rPr>
                                    <m:t>𝐹</m:t>
                                  </m:r>
                                </m:e>
                                <m:sub>
                                  <m:r>
                                    <a:rPr lang="en-US" sz="1400" i="1">
                                      <a:effectLst/>
                                      <a:latin typeface="Cambria Math" panose="02040503050406030204" pitchFamily="18" charset="0"/>
                                      <a:ea typeface="Calibri" panose="020F0502020204030204" pitchFamily="34" charset="0"/>
                                      <a:cs typeface="Arial" panose="020B0604020202020204" pitchFamily="34" charset="0"/>
                                    </a:rPr>
                                    <m:t>𝑙𝑜𝑎𝑑</m:t>
                                  </m:r>
                                  <m:r>
                                    <a:rPr lang="en-US" sz="1400" i="1">
                                      <a:effectLst/>
                                      <a:latin typeface="Cambria Math" panose="02040503050406030204" pitchFamily="18" charset="0"/>
                                      <a:ea typeface="Calibri" panose="020F0502020204030204" pitchFamily="34" charset="0"/>
                                      <a:cs typeface="Arial" panose="020B0604020202020204" pitchFamily="34" charset="0"/>
                                    </a:rPr>
                                    <m:t>,0</m:t>
                                  </m:r>
                                </m:sub>
                              </m:sSub>
                              <m:d>
                                <m:dPr>
                                  <m:ctrlPr>
                                    <a:rPr lang="en-US" sz="1400" i="1">
                                      <a:effectLst/>
                                      <a:latin typeface="Cambria Math" panose="02040503050406030204" pitchFamily="18" charset="0"/>
                                      <a:ea typeface="Calibri" panose="020F0502020204030204" pitchFamily="34" charset="0"/>
                                      <a:cs typeface="Arial" panose="020B0604020202020204" pitchFamily="34" charset="0"/>
                                    </a:rPr>
                                  </m:ctrlPr>
                                </m:dPr>
                                <m:e>
                                  <m:r>
                                    <a:rPr lang="en-US" sz="1400" i="1">
                                      <a:effectLst/>
                                      <a:latin typeface="Cambria Math" panose="02040503050406030204" pitchFamily="18" charset="0"/>
                                      <a:ea typeface="Calibri" panose="020F0502020204030204" pitchFamily="34" charset="0"/>
                                      <a:cs typeface="Arial" panose="020B0604020202020204" pitchFamily="34" charset="0"/>
                                    </a:rPr>
                                    <m:t>𝑥</m:t>
                                  </m:r>
                                  <m:r>
                                    <a:rPr lang="en-US" sz="1400" i="1">
                                      <a:effectLst/>
                                      <a:latin typeface="Cambria Math" panose="02040503050406030204" pitchFamily="18" charset="0"/>
                                      <a:ea typeface="Calibri" panose="020F0502020204030204" pitchFamily="34" charset="0"/>
                                      <a:cs typeface="Arial" panose="020B0604020202020204" pitchFamily="34" charset="0"/>
                                    </a:rPr>
                                    <m:t>,</m:t>
                                  </m:r>
                                  <m:r>
                                    <a:rPr lang="en-US" sz="1400" i="1">
                                      <a:effectLst/>
                                      <a:latin typeface="Cambria Math" panose="02040503050406030204" pitchFamily="18" charset="0"/>
                                      <a:ea typeface="Calibri" panose="020F0502020204030204" pitchFamily="34" charset="0"/>
                                      <a:cs typeface="Arial" panose="020B0604020202020204" pitchFamily="34" charset="0"/>
                                    </a:rPr>
                                    <m:t>𝑦</m:t>
                                  </m:r>
                                </m:e>
                              </m:d>
                            </m:e>
                            <m:e>
                              <m:sSub>
                                <m:sSubPr>
                                  <m:ctrlPr>
                                    <a:rPr lang="en-US" sz="1400" i="1">
                                      <a:effectLst/>
                                      <a:latin typeface="Cambria Math" panose="02040503050406030204" pitchFamily="18" charset="0"/>
                                      <a:ea typeface="Calibri" panose="020F0502020204030204" pitchFamily="34" charset="0"/>
                                      <a:cs typeface="Arial" panose="020B0604020202020204" pitchFamily="34" charset="0"/>
                                    </a:rPr>
                                  </m:ctrlPr>
                                </m:sSubPr>
                                <m:e>
                                  <m:r>
                                    <a:rPr lang="en-US" sz="1400" i="1">
                                      <a:effectLst/>
                                      <a:latin typeface="Cambria Math" panose="02040503050406030204" pitchFamily="18" charset="0"/>
                                      <a:ea typeface="Calibri" panose="020F0502020204030204" pitchFamily="34" charset="0"/>
                                      <a:cs typeface="Arial" panose="020B0604020202020204" pitchFamily="34" charset="0"/>
                                    </a:rPr>
                                    <m:t>𝐹</m:t>
                                  </m:r>
                                </m:e>
                                <m:sub>
                                  <m:r>
                                    <m:rPr>
                                      <m:nor/>
                                    </m:rPr>
                                    <a:rPr lang="en-US" sz="1400" i="1">
                                      <a:effectLst/>
                                      <a:latin typeface="Times New Roman" panose="02020603050405020304" pitchFamily="18" charset="0"/>
                                      <a:ea typeface="Calibri" panose="020F0502020204030204" pitchFamily="34" charset="0"/>
                                      <a:cs typeface="Arial" panose="020B0604020202020204" pitchFamily="34" charset="0"/>
                                    </a:rPr>
                                    <m:t>moist,k</m:t>
                                  </m:r>
                                </m:sub>
                              </m:sSub>
                              <m:d>
                                <m:dPr>
                                  <m:ctrlPr>
                                    <a:rPr lang="en-US" sz="1400" i="1">
                                      <a:effectLst/>
                                      <a:latin typeface="Cambria Math" panose="02040503050406030204" pitchFamily="18" charset="0"/>
                                      <a:ea typeface="Calibri" panose="020F0502020204030204" pitchFamily="34" charset="0"/>
                                      <a:cs typeface="Arial" panose="020B0604020202020204" pitchFamily="34" charset="0"/>
                                    </a:rPr>
                                  </m:ctrlPr>
                                </m:dPr>
                                <m:e>
                                  <m:r>
                                    <a:rPr lang="en-US" sz="1400" i="1">
                                      <a:effectLst/>
                                      <a:latin typeface="Cambria Math" panose="02040503050406030204" pitchFamily="18" charset="0"/>
                                      <a:ea typeface="Calibri" panose="020F0502020204030204" pitchFamily="34" charset="0"/>
                                      <a:cs typeface="Arial" panose="020B0604020202020204" pitchFamily="34" charset="0"/>
                                    </a:rPr>
                                    <m:t>𝑥</m:t>
                                  </m:r>
                                  <m:r>
                                    <a:rPr lang="en-US" sz="1400" i="1">
                                      <a:effectLst/>
                                      <a:latin typeface="Cambria Math" panose="02040503050406030204" pitchFamily="18" charset="0"/>
                                      <a:ea typeface="Calibri" panose="020F0502020204030204" pitchFamily="34" charset="0"/>
                                      <a:cs typeface="Arial" panose="020B0604020202020204" pitchFamily="34" charset="0"/>
                                    </a:rPr>
                                    <m:t>,</m:t>
                                  </m:r>
                                  <m:r>
                                    <a:rPr lang="en-US" sz="1400" i="1">
                                      <a:effectLst/>
                                      <a:latin typeface="Cambria Math" panose="02040503050406030204" pitchFamily="18" charset="0"/>
                                      <a:ea typeface="Calibri" panose="020F0502020204030204" pitchFamily="34" charset="0"/>
                                      <a:cs typeface="Arial" panose="020B0604020202020204" pitchFamily="34" charset="0"/>
                                    </a:rPr>
                                    <m:t>𝑦</m:t>
                                  </m:r>
                                </m:e>
                              </m:d>
                            </m:e>
                          </m:eqArr>
                        </m:e>
                      </m:d>
                    </m:oMath>
                  </m:oMathPara>
                </a14:m>
                <a:endParaRPr lang="tr-TR" sz="1400" dirty="0"/>
              </a:p>
            </p:txBody>
          </p:sp>
        </mc:Choice>
        <mc:Fallback xmlns="">
          <p:sp>
            <p:nvSpPr>
              <p:cNvPr id="16" name="TextBox 15">
                <a:extLst>
                  <a:ext uri="{FF2B5EF4-FFF2-40B4-BE49-F238E27FC236}">
                    <a16:creationId xmlns:a16="http://schemas.microsoft.com/office/drawing/2014/main" id="{1F9D6F77-615C-4A8A-A54F-23A7ACD21395}"/>
                  </a:ext>
                </a:extLst>
              </p:cNvPr>
              <p:cNvSpPr txBox="1">
                <a:spLocks noRot="1" noChangeAspect="1" noMove="1" noResize="1" noEditPoints="1" noAdjustHandles="1" noChangeArrowheads="1" noChangeShapeType="1" noTextEdit="1"/>
              </p:cNvSpPr>
              <p:nvPr/>
            </p:nvSpPr>
            <p:spPr>
              <a:xfrm>
                <a:off x="9558198" y="2384770"/>
                <a:ext cx="2792627" cy="886012"/>
              </a:xfrm>
              <a:prstGeom prst="rect">
                <a:avLst/>
              </a:prstGeom>
              <a:blipFill>
                <a:blip r:embed="rId8"/>
                <a:stretch>
                  <a:fillRect/>
                </a:stretch>
              </a:blipFill>
            </p:spPr>
            <p:txBody>
              <a:bodyPr/>
              <a:lstStyle/>
              <a:p>
                <a:r>
                  <a:rPr lang="tr-TR">
                    <a:noFill/>
                  </a:rPr>
                  <a:t/>
                </a:r>
              </a:p>
            </p:txBody>
          </p:sp>
        </mc:Fallback>
      </mc:AlternateContent>
      <mc:AlternateContent xmlns:mc="http://schemas.openxmlformats.org/markup-compatibility/2006" xmlns:a14="http://schemas.microsoft.com/office/drawing/2010/main">
        <mc:Choice Requires="a14">
          <p:graphicFrame>
            <p:nvGraphicFramePr>
              <p:cNvPr id="17" name="Table 16">
                <a:extLst>
                  <a:ext uri="{FF2B5EF4-FFF2-40B4-BE49-F238E27FC236}">
                    <a16:creationId xmlns:a16="http://schemas.microsoft.com/office/drawing/2014/main" id="{39ECD6AD-DE5D-46F7-9CCC-AFD2499C0765}"/>
                  </a:ext>
                </a:extLst>
              </p:cNvPr>
              <p:cNvGraphicFramePr>
                <a:graphicFrameLocks noGrp="1"/>
              </p:cNvGraphicFramePr>
              <p:nvPr>
                <p:extLst>
                  <p:ext uri="{D42A27DB-BD31-4B8C-83A1-F6EECF244321}">
                    <p14:modId xmlns:p14="http://schemas.microsoft.com/office/powerpoint/2010/main" val="3215745891"/>
                  </p:ext>
                </p:extLst>
              </p:nvPr>
            </p:nvGraphicFramePr>
            <p:xfrm>
              <a:off x="5718078" y="3707261"/>
              <a:ext cx="6381922" cy="2061212"/>
            </p:xfrm>
            <a:graphic>
              <a:graphicData uri="http://schemas.openxmlformats.org/drawingml/2006/table">
                <a:tbl>
                  <a:tblPr firstRow="1" firstCol="1" bandRow="1">
                    <a:tableStyleId>{93296810-A885-4BE3-A3E7-6D5BEEA58F35}</a:tableStyleId>
                  </a:tblPr>
                  <a:tblGrid>
                    <a:gridCol w="2018420">
                      <a:extLst>
                        <a:ext uri="{9D8B030D-6E8A-4147-A177-3AD203B41FA5}">
                          <a16:colId xmlns:a16="http://schemas.microsoft.com/office/drawing/2014/main" val="3500361675"/>
                        </a:ext>
                      </a:extLst>
                    </a:gridCol>
                    <a:gridCol w="925665">
                      <a:extLst>
                        <a:ext uri="{9D8B030D-6E8A-4147-A177-3AD203B41FA5}">
                          <a16:colId xmlns:a16="http://schemas.microsoft.com/office/drawing/2014/main" val="2696332576"/>
                        </a:ext>
                      </a:extLst>
                    </a:gridCol>
                    <a:gridCol w="3437837">
                      <a:extLst>
                        <a:ext uri="{9D8B030D-6E8A-4147-A177-3AD203B41FA5}">
                          <a16:colId xmlns:a16="http://schemas.microsoft.com/office/drawing/2014/main" val="3051551869"/>
                        </a:ext>
                      </a:extLst>
                    </a:gridCol>
                  </a:tblGrid>
                  <a:tr h="0">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780016955"/>
                      </a:ext>
                    </a:extLst>
                  </a:tr>
                  <a:tr h="0">
                    <a:tc>
                      <a:txBody>
                        <a:bodyPr/>
                        <a:lstStyle/>
                        <a:p>
                          <a:pPr algn="just">
                            <a:lnSpc>
                              <a:spcPct val="150000"/>
                            </a:lnSpc>
                          </a:pPr>
                          <a:r>
                            <a:rPr lang="en-US" sz="1200" dirty="0">
                              <a:effectLst/>
                            </a:rPr>
                            <a:t>Fuel Type</a:t>
                          </a:r>
                          <a:r>
                            <a:rPr lang="tr-TR" sz="1200" dirty="0">
                              <a:effectLst/>
                            </a:rPr>
                            <a:t> </a:t>
                          </a:r>
                          <a:r>
                            <a:rPr lang="en-US" sz="1200" dirty="0">
                              <a:effectLst/>
                            </a:rPr>
                            <a:t> </a:t>
                          </a:r>
                          <a:endParaRPr lang="en-US" sz="1200" i="1" dirty="0">
                            <a:effectLst/>
                            <a:latin typeface="Cambria Math" panose="02040503050406030204" pitchFamily="18" charset="0"/>
                          </a:endParaRPr>
                        </a:p>
                        <a:p>
                          <a:pPr algn="just">
                            <a:lnSpc>
                              <a:spcPct val="150000"/>
                            </a:lnSpc>
                          </a:pPr>
                          <a14:m>
                            <m:oMathPara xmlns:m="http://schemas.openxmlformats.org/officeDocument/2006/math">
                              <m:o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𝑭</m:t>
                                    </m:r>
                                  </m:e>
                                  <m:sub>
                                    <m:r>
                                      <m:rPr>
                                        <m:nor/>
                                      </m:rPr>
                                      <a:rPr lang="en-US" sz="1200" i="0">
                                        <a:effectLst/>
                                      </a:rPr>
                                      <m:t>type</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dirty="0">
                              <a:effectLst/>
                            </a:rPr>
                            <a:t>–</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vegetation class; sets burn rate and heat release</a:t>
                          </a:r>
                        </a:p>
                      </a:txBody>
                      <a:tcPr marL="9525" marR="9525" marT="9525" marB="9525" anchor="ctr"/>
                    </a:tc>
                    <a:extLst>
                      <a:ext uri="{0D108BD9-81ED-4DB2-BD59-A6C34878D82A}">
                        <a16:rowId xmlns:a16="http://schemas.microsoft.com/office/drawing/2014/main" val="681984423"/>
                      </a:ext>
                    </a:extLst>
                  </a:tr>
                  <a:tr h="0">
                    <a:tc>
                      <a:txBody>
                        <a:bodyPr/>
                        <a:lstStyle/>
                        <a:p>
                          <a:pPr algn="just">
                            <a:lnSpc>
                              <a:spcPct val="150000"/>
                            </a:lnSpc>
                          </a:pPr>
                          <a:r>
                            <a:rPr lang="en-US" sz="1200" dirty="0">
                              <a:effectLst/>
                            </a:rPr>
                            <a:t>Fuel Load</a:t>
                          </a:r>
                          <a:r>
                            <a:rPr lang="tr-TR" sz="1200" dirty="0">
                              <a:effectLst/>
                            </a:rPr>
                            <a:t> </a:t>
                          </a:r>
                          <a:r>
                            <a:rPr lang="en-US" sz="1200" dirty="0">
                              <a:effectLst/>
                            </a:rPr>
                            <a:t> </a:t>
                          </a:r>
                          <a:endParaRPr lang="en-US" sz="1200" i="1" dirty="0">
                            <a:effectLst/>
                            <a:latin typeface="Cambria Math" panose="02040503050406030204" pitchFamily="18" charset="0"/>
                          </a:endParaRPr>
                        </a:p>
                        <a:p>
                          <a:pPr algn="just">
                            <a:lnSpc>
                              <a:spcPct val="150000"/>
                            </a:lnSpc>
                          </a:pPr>
                          <a14:m>
                            <m:oMathPara xmlns:m="http://schemas.openxmlformats.org/officeDocument/2006/math">
                              <m:o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𝑭</m:t>
                                    </m:r>
                                  </m:e>
                                  <m:sub>
                                    <m:r>
                                      <m:rPr>
                                        <m:nor/>
                                      </m:rPr>
                                      <a:rPr lang="en-US" sz="1200" i="0">
                                        <a:effectLst/>
                                      </a:rPr>
                                      <m:t>load,0</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[0,1]</a:t>
                          </a:r>
                          <a14:m>
                            <m:oMath xmlns:m="http://schemas.openxmlformats.org/officeDocument/2006/math">
                              <m:r>
                                <a:rPr lang="en-US" sz="1200">
                                  <a:effectLst/>
                                  <a:latin typeface="Cambria Math" panose="02040503050406030204" pitchFamily="18" charset="0"/>
                                </a:rPr>
                                <m:t> </m:t>
                              </m:r>
                              <m:f>
                                <m:fPr>
                                  <m:ctrlPr>
                                    <a:rPr lang="en-US" sz="1200">
                                      <a:effectLst/>
                                      <a:latin typeface="Cambria Math" panose="02040503050406030204" pitchFamily="18" charset="0"/>
                                    </a:rPr>
                                  </m:ctrlPr>
                                </m:fPr>
                                <m:num>
                                  <m:r>
                                    <a:rPr lang="en-US" sz="1200">
                                      <a:effectLst/>
                                      <a:latin typeface="Cambria Math" panose="02040503050406030204" pitchFamily="18" charset="0"/>
                                    </a:rPr>
                                    <m:t>𝑘𝑔</m:t>
                                  </m:r>
                                </m:num>
                                <m:den>
                                  <m:sSup>
                                    <m:sSupPr>
                                      <m:ctrlPr>
                                        <a:rPr lang="en-US" sz="1200">
                                          <a:effectLst/>
                                          <a:latin typeface="Cambria Math" panose="02040503050406030204" pitchFamily="18" charset="0"/>
                                        </a:rPr>
                                      </m:ctrlPr>
                                    </m:sSupPr>
                                    <m:e>
                                      <m:r>
                                        <a:rPr lang="en-US" sz="1200">
                                          <a:effectLst/>
                                          <a:latin typeface="Cambria Math" panose="02040503050406030204" pitchFamily="18" charset="0"/>
                                        </a:rPr>
                                        <m:t>𝑚</m:t>
                                      </m:r>
                                    </m:e>
                                    <m:sup>
                                      <m:r>
                                        <a:rPr lang="en-US" sz="1200">
                                          <a:effectLst/>
                                          <a:latin typeface="Cambria Math" panose="02040503050406030204" pitchFamily="18" charset="0"/>
                                        </a:rPr>
                                        <m:t>2</m:t>
                                      </m:r>
                                    </m:sup>
                                  </m:sSup>
                                </m:den>
                              </m:f>
                            </m:oMath>
                          </a14:m>
                          <a:r>
                            <a:rPr lang="en-US" sz="1200">
                              <a:effectLst/>
                            </a:rPr>
                            <a:t> (norm.)</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combustible mass; controls intensity and burn duration</a:t>
                          </a:r>
                        </a:p>
                      </a:txBody>
                      <a:tcPr marL="9525" marR="9525" marT="9525" marB="9525" anchor="ctr"/>
                    </a:tc>
                    <a:extLst>
                      <a:ext uri="{0D108BD9-81ED-4DB2-BD59-A6C34878D82A}">
                        <a16:rowId xmlns:a16="http://schemas.microsoft.com/office/drawing/2014/main" val="3802531926"/>
                      </a:ext>
                    </a:extLst>
                  </a:tr>
                  <a:tr h="0">
                    <a:tc>
                      <a:txBody>
                        <a:bodyPr/>
                        <a:lstStyle/>
                        <a:p>
                          <a:pPr algn="just">
                            <a:lnSpc>
                              <a:spcPct val="150000"/>
                            </a:lnSpc>
                          </a:pPr>
                          <a:r>
                            <a:rPr lang="en-US" sz="1200" dirty="0">
                              <a:effectLst/>
                            </a:rPr>
                            <a:t>Fuel Moisture</a:t>
                          </a:r>
                          <a:r>
                            <a:rPr lang="tr-TR" sz="1200" dirty="0">
                              <a:effectLst/>
                            </a:rPr>
                            <a:t> </a:t>
                          </a:r>
                          <a:endParaRPr lang="en-US" sz="1200" i="1" dirty="0">
                            <a:effectLst/>
                            <a:latin typeface="Cambria Math" panose="02040503050406030204" pitchFamily="18" charset="0"/>
                          </a:endParaRPr>
                        </a:p>
                        <a:p>
                          <a:pPr algn="just">
                            <a:lnSpc>
                              <a:spcPct val="150000"/>
                            </a:lnSpc>
                          </a:pPr>
                          <a14:m>
                            <m:oMathPara xmlns:m="http://schemas.openxmlformats.org/officeDocument/2006/math">
                              <m:o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𝑭</m:t>
                                    </m:r>
                                  </m:e>
                                  <m:sub>
                                    <m:r>
                                      <m:rPr>
                                        <m:nor/>
                                      </m:rPr>
                                      <a:rPr lang="en-US" sz="1200" i="0">
                                        <a:effectLst/>
                                      </a:rPr>
                                      <m:t>moist,k</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dirty="0">
                              <a:effectLst/>
                            </a:rPr>
                            <a:t>– (mass fraction)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nSpc>
                              <a:spcPct val="115000"/>
                            </a:lnSpc>
                            <a:spcAft>
                              <a:spcPts val="800"/>
                            </a:spcAft>
                            <a:buNone/>
                          </a:pP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sets</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ignition</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probability</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and</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combustion</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sustainability</a:t>
                          </a:r>
                          <a:endParaRPr lang="tr-TR"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573764920"/>
                      </a:ext>
                    </a:extLst>
                  </a:tr>
                </a:tbl>
              </a:graphicData>
            </a:graphic>
          </p:graphicFrame>
        </mc:Choice>
        <mc:Fallback xmlns="">
          <p:graphicFrame>
            <p:nvGraphicFramePr>
              <p:cNvPr id="17" name="Table 16">
                <a:extLst>
                  <a:ext uri="{FF2B5EF4-FFF2-40B4-BE49-F238E27FC236}">
                    <a16:creationId xmlns:a16="http://schemas.microsoft.com/office/drawing/2014/main" id="{39ECD6AD-DE5D-46F7-9CCC-AFD2499C0765}"/>
                  </a:ext>
                </a:extLst>
              </p:cNvPr>
              <p:cNvGraphicFramePr>
                <a:graphicFrameLocks noGrp="1"/>
              </p:cNvGraphicFramePr>
              <p:nvPr>
                <p:extLst>
                  <p:ext uri="{D42A27DB-BD31-4B8C-83A1-F6EECF244321}">
                    <p14:modId xmlns:p14="http://schemas.microsoft.com/office/powerpoint/2010/main" val="3215745891"/>
                  </p:ext>
                </p:extLst>
              </p:nvPr>
            </p:nvGraphicFramePr>
            <p:xfrm>
              <a:off x="5718078" y="3707261"/>
              <a:ext cx="6381922" cy="2061212"/>
            </p:xfrm>
            <a:graphic>
              <a:graphicData uri="http://schemas.openxmlformats.org/drawingml/2006/table">
                <a:tbl>
                  <a:tblPr firstRow="1" firstCol="1" bandRow="1">
                    <a:tableStyleId>{93296810-A885-4BE3-A3E7-6D5BEEA58F35}</a:tableStyleId>
                  </a:tblPr>
                  <a:tblGrid>
                    <a:gridCol w="2018420">
                      <a:extLst>
                        <a:ext uri="{9D8B030D-6E8A-4147-A177-3AD203B41FA5}">
                          <a16:colId xmlns:a16="http://schemas.microsoft.com/office/drawing/2014/main" val="3500361675"/>
                        </a:ext>
                      </a:extLst>
                    </a:gridCol>
                    <a:gridCol w="925665">
                      <a:extLst>
                        <a:ext uri="{9D8B030D-6E8A-4147-A177-3AD203B41FA5}">
                          <a16:colId xmlns:a16="http://schemas.microsoft.com/office/drawing/2014/main" val="2696332576"/>
                        </a:ext>
                      </a:extLst>
                    </a:gridCol>
                    <a:gridCol w="3437837">
                      <a:extLst>
                        <a:ext uri="{9D8B030D-6E8A-4147-A177-3AD203B41FA5}">
                          <a16:colId xmlns:a16="http://schemas.microsoft.com/office/drawing/2014/main" val="3051551869"/>
                        </a:ext>
                      </a:extLst>
                    </a:gridCol>
                  </a:tblGrid>
                  <a:tr h="245047">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780016955"/>
                      </a:ext>
                    </a:extLst>
                  </a:tr>
                  <a:tr h="581216">
                    <a:tc>
                      <a:txBody>
                        <a:bodyPr/>
                        <a:lstStyle/>
                        <a:p>
                          <a:endParaRPr lang="tr-TR"/>
                        </a:p>
                      </a:txBody>
                      <a:tcPr marL="68580" marR="68580" marT="0" marB="0">
                        <a:blipFill>
                          <a:blip r:embed="rId9"/>
                          <a:stretch>
                            <a:fillRect l="-604" t="-42708" r="-217825" b="-216667"/>
                          </a:stretch>
                        </a:blipFill>
                      </a:tcPr>
                    </a:tc>
                    <a:tc>
                      <a:txBody>
                        <a:bodyPr/>
                        <a:lstStyle/>
                        <a:p>
                          <a:pPr algn="just">
                            <a:lnSpc>
                              <a:spcPct val="150000"/>
                            </a:lnSpc>
                          </a:pPr>
                          <a:r>
                            <a:rPr lang="en-US" sz="1200" dirty="0">
                              <a:effectLst/>
                            </a:rPr>
                            <a:t>–</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vegetation class; sets burn rate and heat release</a:t>
                          </a:r>
                        </a:p>
                      </a:txBody>
                      <a:tcPr marL="9525" marR="9525" marT="9525" marB="9525" anchor="ctr"/>
                    </a:tc>
                    <a:extLst>
                      <a:ext uri="{0D108BD9-81ED-4DB2-BD59-A6C34878D82A}">
                        <a16:rowId xmlns:a16="http://schemas.microsoft.com/office/drawing/2014/main" val="681984423"/>
                      </a:ext>
                    </a:extLst>
                  </a:tr>
                  <a:tr h="640271">
                    <a:tc>
                      <a:txBody>
                        <a:bodyPr/>
                        <a:lstStyle/>
                        <a:p>
                          <a:endParaRPr lang="tr-TR"/>
                        </a:p>
                      </a:txBody>
                      <a:tcPr marL="68580" marR="68580" marT="0" marB="0">
                        <a:blipFill>
                          <a:blip r:embed="rId9"/>
                          <a:stretch>
                            <a:fillRect l="-604" t="-130476" r="-217825" b="-98095"/>
                          </a:stretch>
                        </a:blipFill>
                      </a:tcPr>
                    </a:tc>
                    <a:tc>
                      <a:txBody>
                        <a:bodyPr/>
                        <a:lstStyle/>
                        <a:p>
                          <a:endParaRPr lang="tr-TR"/>
                        </a:p>
                      </a:txBody>
                      <a:tcPr marL="68580" marR="68580" marT="0" marB="0">
                        <a:blipFill>
                          <a:blip r:embed="rId9"/>
                          <a:stretch>
                            <a:fillRect l="-219079" t="-130476" r="-374342" b="-98095"/>
                          </a:stretch>
                        </a:blipFill>
                      </a:tcPr>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combustible mass; controls intensity and burn duration</a:t>
                          </a:r>
                        </a:p>
                      </a:txBody>
                      <a:tcPr marL="9525" marR="9525" marT="9525" marB="9525" anchor="ctr"/>
                    </a:tc>
                    <a:extLst>
                      <a:ext uri="{0D108BD9-81ED-4DB2-BD59-A6C34878D82A}">
                        <a16:rowId xmlns:a16="http://schemas.microsoft.com/office/drawing/2014/main" val="3802531926"/>
                      </a:ext>
                    </a:extLst>
                  </a:tr>
                  <a:tr h="594678">
                    <a:tc>
                      <a:txBody>
                        <a:bodyPr/>
                        <a:lstStyle/>
                        <a:p>
                          <a:endParaRPr lang="tr-TR"/>
                        </a:p>
                      </a:txBody>
                      <a:tcPr marL="68580" marR="68580" marT="0" marB="0">
                        <a:blipFill>
                          <a:blip r:embed="rId9"/>
                          <a:stretch>
                            <a:fillRect l="-604" t="-246939" r="-217825" b="-5102"/>
                          </a:stretch>
                        </a:blipFill>
                      </a:tcPr>
                    </a:tc>
                    <a:tc>
                      <a:txBody>
                        <a:bodyPr/>
                        <a:lstStyle/>
                        <a:p>
                          <a:pPr algn="just">
                            <a:lnSpc>
                              <a:spcPct val="150000"/>
                            </a:lnSpc>
                          </a:pPr>
                          <a:r>
                            <a:rPr lang="en-US" sz="1200" dirty="0">
                              <a:effectLst/>
                            </a:rPr>
                            <a:t>– (mass fraction)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nSpc>
                              <a:spcPct val="115000"/>
                            </a:lnSpc>
                            <a:spcAft>
                              <a:spcPts val="800"/>
                            </a:spcAft>
                            <a:buNone/>
                          </a:pP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sets</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ignition</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probability</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and</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combustion</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sustainability</a:t>
                          </a:r>
                          <a:endParaRPr lang="tr-TR"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573764920"/>
                      </a:ext>
                    </a:extLst>
                  </a:tr>
                </a:tbl>
              </a:graphicData>
            </a:graphic>
          </p:graphicFrame>
        </mc:Fallback>
      </mc:AlternateContent>
      <p:sp>
        <p:nvSpPr>
          <p:cNvPr id="10" name="Text 2">
            <a:extLst>
              <a:ext uri="{FF2B5EF4-FFF2-40B4-BE49-F238E27FC236}">
                <a16:creationId xmlns:a16="http://schemas.microsoft.com/office/drawing/2014/main" id="{98D3D89B-6EBB-2E98-17B4-A8B3D3FC808D}"/>
              </a:ext>
            </a:extLst>
          </p:cNvPr>
          <p:cNvSpPr/>
          <p:nvPr/>
        </p:nvSpPr>
        <p:spPr>
          <a:xfrm>
            <a:off x="5715000" y="1371600"/>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State Transition</a:t>
            </a:r>
            <a:endParaRPr lang="en-US" sz="1500" dirty="0"/>
          </a:p>
        </p:txBody>
      </p:sp>
      <mc:AlternateContent xmlns:mc="http://schemas.openxmlformats.org/markup-compatibility/2006" xmlns:a14="http://schemas.microsoft.com/office/drawing/2010/main">
        <mc:Choice Requires="a14">
          <p:sp>
            <p:nvSpPr>
              <p:cNvPr id="12" name="Text 3">
                <a:extLst>
                  <a:ext uri="{FF2B5EF4-FFF2-40B4-BE49-F238E27FC236}">
                    <a16:creationId xmlns:a16="http://schemas.microsoft.com/office/drawing/2014/main" id="{2FF3B5D7-554D-938E-942E-EA07B39AB6D7}"/>
                  </a:ext>
                </a:extLst>
              </p:cNvPr>
              <p:cNvSpPr/>
              <p:nvPr/>
            </p:nvSpPr>
            <p:spPr>
              <a:xfrm>
                <a:off x="5738854" y="170078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r>
                            <a:rPr lang="en-US" sz="1600">
                              <a:latin typeface="Cambria Math"/>
                            </a:rPr>
                            <m:t>+1</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sz="1600">
                                  <a:latin typeface="Cambria Math"/>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12" name="Text 3">
                <a:extLst>
                  <a:ext uri="{FF2B5EF4-FFF2-40B4-BE49-F238E27FC236}">
                    <a16:creationId xmlns:a16="http://schemas.microsoft.com/office/drawing/2014/main" id="{2FF3B5D7-554D-938E-942E-EA07B39AB6D7}"/>
                  </a:ext>
                </a:extLst>
              </p:cNvPr>
              <p:cNvSpPr>
                <a:spLocks noRot="1" noChangeAspect="1" noMove="1" noResize="1" noEditPoints="1" noAdjustHandles="1" noChangeArrowheads="1" noChangeShapeType="1" noTextEdit="1"/>
              </p:cNvSpPr>
              <p:nvPr/>
            </p:nvSpPr>
            <p:spPr>
              <a:xfrm>
                <a:off x="5738854" y="1700784"/>
                <a:ext cx="6035040" cy="457200"/>
              </a:xfrm>
              <a:prstGeom prst="rect">
                <a:avLst/>
              </a:prstGeom>
              <a:blipFill>
                <a:blip r:embed="rId11"/>
                <a:stretch>
                  <a:fillRect/>
                </a:stretch>
              </a:blipFill>
              <a:ln/>
            </p:spPr>
            <p:txBody>
              <a:bodyPr/>
              <a:lstStyle/>
              <a:p>
                <a:r>
                  <a:rPr lang="tr-TR">
                    <a:noFill/>
                  </a:rPr>
                  <a:t> </a:t>
                </a:r>
              </a:p>
            </p:txBody>
          </p:sp>
        </mc:Fallback>
      </mc:AlternateContent>
      <p:sp>
        <p:nvSpPr>
          <p:cNvPr id="14" name="Text 4">
            <a:extLst>
              <a:ext uri="{FF2B5EF4-FFF2-40B4-BE49-F238E27FC236}">
                <a16:creationId xmlns:a16="http://schemas.microsoft.com/office/drawing/2014/main" id="{33958B97-0207-35C3-F415-186E0DD7F862}"/>
              </a:ext>
            </a:extLst>
          </p:cNvPr>
          <p:cNvSpPr/>
          <p:nvPr/>
        </p:nvSpPr>
        <p:spPr>
          <a:xfrm>
            <a:off x="5715000" y="2231136"/>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Input Field</a:t>
            </a:r>
            <a:endParaRPr lang="en-US" sz="1500" dirty="0"/>
          </a:p>
        </p:txBody>
      </p:sp>
      <p:pic>
        <p:nvPicPr>
          <p:cNvPr id="7" name="Image 2" descr="/tmp/thx/deck/figs/Figure3_1.png">
            <a:extLst>
              <a:ext uri="{FF2B5EF4-FFF2-40B4-BE49-F238E27FC236}">
                <a16:creationId xmlns:a16="http://schemas.microsoft.com/office/drawing/2014/main" id="{FD161713-9DBA-D27F-7485-BFFF5C5741F3}"/>
              </a:ext>
            </a:extLst>
          </p:cNvPr>
          <p:cNvPicPr>
            <a:picLocks noChangeAspect="1"/>
          </p:cNvPicPr>
          <p:nvPr/>
        </p:nvPicPr>
        <p:blipFill>
          <a:blip r:embed="rId12"/>
          <a:stretch>
            <a:fillRect/>
          </a:stretch>
        </p:blipFill>
        <p:spPr>
          <a:xfrm>
            <a:off x="365760" y="1815950"/>
            <a:ext cx="5074920" cy="4323379"/>
          </a:xfrm>
          <a:prstGeom prst="rect">
            <a:avLst/>
          </a:prstGeom>
        </p:spPr>
      </p:pic>
    </p:spTree>
    <p:extLst>
      <p:ext uri="{BB962C8B-B14F-4D97-AF65-F5344CB8AC3E}">
        <p14:creationId xmlns:p14="http://schemas.microsoft.com/office/powerpoint/2010/main" val="361192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The Simulation Input Field</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sp>
            <p:nvSpPr>
              <p:cNvPr id="25" name="Text 5">
                <a:extLst>
                  <a:ext uri="{FF2B5EF4-FFF2-40B4-BE49-F238E27FC236}">
                    <a16:creationId xmlns:a16="http://schemas.microsoft.com/office/drawing/2014/main" id="{EC65DB17-2507-4A91-9DDF-59F3BB29910E}"/>
                  </a:ext>
                </a:extLst>
              </p:cNvPr>
              <p:cNvSpPr/>
              <p:nvPr/>
            </p:nvSpPr>
            <p:spPr>
              <a:xfrm>
                <a:off x="5715000" y="2560320"/>
                <a:ext cx="3931920" cy="457200"/>
              </a:xfrm>
              <a:prstGeom prst="rect">
                <a:avLst/>
              </a:prstGeom>
              <a:noFill/>
              <a:ln/>
            </p:spPr>
            <p:txBody>
              <a:bodyPr wrap="square" lIns="0" tIns="0" rIns="0" bIns="0" rtlCol="0" anchor="ctr"/>
              <a:lstStyle/>
              <a:p>
                <a:pPr algn="ctr"/>
                <a14:m>
                  <m:oMathPara xmlns:m="http://schemas.openxmlformats.org/officeDocument/2006/math">
                    <m:oMath>
                      <m:sSub>
                        <m:sSubPr>
                          <m:ctrlPr>
                            <a:rPr lang="en-US" sz="1500">
                              <a:latin typeface="Cambria Math"/>
                            </a:rPr>
                          </m:ctrlPr>
                        </m:sSubPr>
                        <m:e>
                          <m:r>
                            <a:rPr lang="en-US" sz="1500">
                              <a:latin typeface="Cambria Math"/>
                            </a:rPr>
                            <m:t>ℱ</m:t>
                          </m:r>
                        </m:e>
                        <m:sub>
                          <m:r>
                            <a:rPr lang="en-US" sz="1500">
                              <a:latin typeface="Cambria Math"/>
                            </a:rPr>
                            <m:t>𝑖𝑛</m:t>
                          </m:r>
                          <m:r>
                            <a:rPr lang="en-US" sz="1500">
                              <a:latin typeface="Cambria Math"/>
                            </a:rPr>
                            <m:t>,</m:t>
                          </m:r>
                          <m:r>
                            <a:rPr lang="en-US" sz="1500">
                              <a:latin typeface="Cambria Math"/>
                            </a:rPr>
                            <m:t>𝑘</m:t>
                          </m:r>
                        </m:sub>
                      </m:sSub>
                      <m:r>
                        <a:rPr lang="en-US" sz="1500">
                          <a:latin typeface="Cambria Math"/>
                        </a:rPr>
                        <m:t>=</m:t>
                      </m:r>
                      <m:d>
                        <m:dPr>
                          <m:begChr m:val="{"/>
                          <m:endChr m:val="}"/>
                          <m:ctrlPr>
                            <a:rPr lang="en-US" sz="1500" b="0" i="1">
                              <a:latin typeface="Cambria Math" panose="02040503050406030204" pitchFamily="18" charset="0"/>
                            </a:rPr>
                          </m:ctrlPr>
                        </m:dPr>
                        <m:e>
                          <m:sSub>
                            <m:sSubPr>
                              <m:ctrlPr>
                                <a:rPr lang="en-US" sz="1500" b="0" i="1">
                                  <a:latin typeface="Cambria Math"/>
                                </a:rPr>
                              </m:ctrlPr>
                            </m:sSubPr>
                            <m:e>
                              <m:r>
                                <a:rPr lang="en-US" sz="1500" b="0" i="1">
                                  <a:latin typeface="Cambria Math"/>
                                </a:rPr>
                                <m:t>𝑈</m:t>
                              </m:r>
                            </m:e>
                            <m:sub>
                              <m:r>
                                <a:rPr lang="en-US" sz="1500" b="0" i="1">
                                  <a:latin typeface="Cambria Math"/>
                                </a:rPr>
                                <m:t>𝑀𝑒𝑡𝑒𝑜</m:t>
                              </m:r>
                              <m:r>
                                <a:rPr lang="en-US" sz="1500" b="0">
                                  <a:latin typeface="Cambria Math"/>
                                </a:rPr>
                                <m:t>,</m:t>
                              </m:r>
                              <m:r>
                                <a:rPr lang="en-US" sz="1500" b="0" i="1">
                                  <a:latin typeface="Cambria Math"/>
                                </a:rPr>
                                <m:t>𝑘</m:t>
                              </m:r>
                            </m:sub>
                          </m:sSub>
                          <m:r>
                            <a:rPr lang="en-US" sz="1500" b="1">
                              <a:latin typeface="Cambria Math"/>
                            </a:rPr>
                            <m:t>,</m:t>
                          </m:r>
                          <m:sSub>
                            <m:sSubPr>
                              <m:ctrlPr>
                                <a:rPr lang="en-US" sz="1500">
                                  <a:latin typeface="Cambria Math"/>
                                </a:rPr>
                              </m:ctrlPr>
                            </m:sSubPr>
                            <m:e>
                              <m:r>
                                <a:rPr lang="en-US" sz="1500">
                                  <a:latin typeface="Cambria Math"/>
                                </a:rPr>
                                <m:t>𝑈</m:t>
                              </m:r>
                            </m:e>
                            <m:sub>
                              <m:r>
                                <a:rPr lang="en-US" sz="1500">
                                  <a:latin typeface="Cambria Math"/>
                                </a:rPr>
                                <m:t>𝐺𝑒𝑜</m:t>
                              </m:r>
                            </m:sub>
                          </m:sSub>
                          <m:r>
                            <a:rPr lang="en-US" sz="1500">
                              <a:latin typeface="Cambria Math"/>
                            </a:rPr>
                            <m:t>, </m:t>
                          </m:r>
                          <m:sSub>
                            <m:sSubPr>
                              <m:ctrlPr>
                                <a:rPr lang="en-US" sz="1500" b="0" i="1">
                                  <a:latin typeface="Cambria Math" panose="02040503050406030204" pitchFamily="18" charset="0"/>
                                </a:rPr>
                              </m:ctrlPr>
                            </m:sSubPr>
                            <m:e>
                              <m:sSub>
                                <m:sSubPr>
                                  <m:ctrlPr>
                                    <a:rPr lang="en-US" sz="1500" b="0" i="1">
                                      <a:latin typeface="Cambria Math"/>
                                    </a:rPr>
                                  </m:ctrlPr>
                                </m:sSubPr>
                                <m:e>
                                  <m:r>
                                    <a:rPr lang="en-US" sz="1500" b="0" i="1">
                                      <a:latin typeface="Cambria Math"/>
                                    </a:rPr>
                                    <m:t>𝑈</m:t>
                                  </m:r>
                                </m:e>
                                <m:sub>
                                  <m:r>
                                    <a:rPr lang="en-US" sz="1500" b="0" i="1">
                                      <a:latin typeface="Cambria Math"/>
                                    </a:rPr>
                                    <m:t>𝐹𝑢𝑒𝑙</m:t>
                                  </m:r>
                                  <m:r>
                                    <m:rPr>
                                      <m:nor/>
                                    </m:rPr>
                                    <a:rPr lang="en-US" sz="1500" i="0">
                                      <a:latin typeface="Cambria Math"/>
                                    </a:rPr>
                                    <m:t>,</m:t>
                                  </m:r>
                                  <m:r>
                                    <a:rPr lang="tr-TR" sz="1500" b="0" i="1" smtClean="0">
                                      <a:latin typeface="Cambria Math" panose="02040503050406030204" pitchFamily="18" charset="0"/>
                                    </a:rPr>
                                    <m:t>𝑘</m:t>
                                  </m:r>
                                </m:sub>
                              </m:sSub>
                              <m:r>
                                <a:rPr lang="tr-TR" sz="1500" b="1" i="1">
                                  <a:latin typeface="Cambria Math" panose="02040503050406030204" pitchFamily="18" charset="0"/>
                                </a:rPr>
                                <m:t>,</m:t>
                              </m:r>
                              <m:sSub>
                                <m:sSubPr>
                                  <m:ctrlPr>
                                    <a:rPr lang="en-US" sz="1500" b="1" i="1">
                                      <a:latin typeface="Cambria Math"/>
                                    </a:rPr>
                                  </m:ctrlPr>
                                </m:sSubPr>
                                <m:e>
                                  <m:r>
                                    <a:rPr lang="en-US" sz="1500" b="1" i="1">
                                      <a:latin typeface="Cambria Math"/>
                                    </a:rPr>
                                    <m:t>𝐔</m:t>
                                  </m:r>
                                </m:e>
                                <m:sub>
                                  <m:r>
                                    <a:rPr lang="en-US" sz="1500" b="1" i="1">
                                      <a:latin typeface="Cambria Math"/>
                                    </a:rPr>
                                    <m:t>𝐈𝐠𝐧</m:t>
                                  </m:r>
                                  <m:r>
                                    <a:rPr lang="en-US" sz="1500" b="1">
                                      <a:latin typeface="Cambria Math"/>
                                    </a:rPr>
                                    <m:t>,</m:t>
                                  </m:r>
                                  <m:r>
                                    <a:rPr lang="en-US" sz="1500" b="1" i="1">
                                      <a:latin typeface="Cambria Math"/>
                                    </a:rPr>
                                    <m:t>𝐤</m:t>
                                  </m:r>
                                </m:sub>
                              </m:sSub>
                              <m:r>
                                <a:rPr lang="en-US" sz="1500">
                                  <a:latin typeface="Cambria Math"/>
                                </a:rPr>
                                <m:t>, </m:t>
                              </m:r>
                              <m:r>
                                <a:rPr lang="en-US" sz="1500">
                                  <a:latin typeface="Cambria Math"/>
                                </a:rPr>
                                <m:t>𝑈</m:t>
                              </m:r>
                            </m:e>
                            <m:sub>
                              <m:r>
                                <a:rPr lang="en-US" sz="1500">
                                  <a:latin typeface="Cambria Math"/>
                                </a:rPr>
                                <m:t>𝐷𝑆𝑆</m:t>
                              </m:r>
                              <m:r>
                                <a:rPr lang="en-US" sz="1500">
                                  <a:latin typeface="Cambria Math"/>
                                </a:rPr>
                                <m:t>,</m:t>
                              </m:r>
                              <m:r>
                                <a:rPr lang="en-US" sz="1500">
                                  <a:latin typeface="Cambria Math"/>
                                </a:rPr>
                                <m:t>𝑘</m:t>
                              </m:r>
                            </m:sub>
                          </m:sSub>
                        </m:e>
                      </m:d>
                    </m:oMath>
                  </m:oMathPara>
                </a14:m>
                <a:endParaRPr lang="en-US" sz="1600" dirty="0"/>
              </a:p>
            </p:txBody>
          </p:sp>
        </mc:Choice>
        <mc:Fallback xmlns="">
          <p:sp>
            <p:nvSpPr>
              <p:cNvPr id="25" name="Text 5">
                <a:extLst>
                  <a:ext uri="{FF2B5EF4-FFF2-40B4-BE49-F238E27FC236}">
                    <a16:creationId xmlns:a16="http://schemas.microsoft.com/office/drawing/2014/main" id="{EC65DB17-2507-4A91-9DDF-59F3BB29910E}"/>
                  </a:ext>
                </a:extLst>
              </p:cNvPr>
              <p:cNvSpPr>
                <a:spLocks noRot="1" noChangeAspect="1" noMove="1" noResize="1" noEditPoints="1" noAdjustHandles="1" noChangeArrowheads="1" noChangeShapeType="1" noTextEdit="1"/>
              </p:cNvSpPr>
              <p:nvPr/>
            </p:nvSpPr>
            <p:spPr>
              <a:xfrm>
                <a:off x="5715000" y="2560320"/>
                <a:ext cx="3931920" cy="457200"/>
              </a:xfrm>
              <a:prstGeom prst="rect">
                <a:avLst/>
              </a:prstGeom>
              <a:blipFill>
                <a:blip r:embed="rId7"/>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2064F4D-04F1-4A12-9804-1BB645F52292}"/>
                  </a:ext>
                </a:extLst>
              </p:cNvPr>
              <p:cNvSpPr txBox="1"/>
              <p:nvPr/>
            </p:nvSpPr>
            <p:spPr>
              <a:xfrm>
                <a:off x="9646920" y="2684085"/>
                <a:ext cx="2339546" cy="330603"/>
              </a:xfrm>
              <a:prstGeom prst="rect">
                <a:avLst/>
              </a:prstGeom>
              <a:noFill/>
            </p:spPr>
            <p:txBody>
              <a:bodyPr wrap="square">
                <a:spAutoFit/>
              </a:bodyPr>
              <a:lstStyle/>
              <a:p>
                <a:pPr/>
                <a14:m>
                  <m:oMathPara xmlns:m="http://schemas.openxmlformats.org/officeDocument/2006/math">
                    <m:oMath>
                      <m:sSub>
                        <m:sSubPr>
                          <m:ctrlPr>
                            <a:rPr lang="tr-TR" sz="1400" i="1">
                              <a:latin typeface="Cambria Math" panose="02040503050406030204" pitchFamily="18" charset="0"/>
                            </a:rPr>
                          </m:ctrlPr>
                        </m:sSubPr>
                        <m:e>
                          <m:r>
                            <a:rPr lang="tr-TR" sz="1400" i="1">
                              <a:latin typeface="Cambria Math" panose="02040503050406030204" pitchFamily="18" charset="0"/>
                            </a:rPr>
                            <m:t>𝑈</m:t>
                          </m:r>
                        </m:e>
                        <m:sub>
                          <m:r>
                            <a:rPr lang="tr-TR" sz="1400" i="1">
                              <a:latin typeface="Cambria Math" panose="02040503050406030204" pitchFamily="18" charset="0"/>
                            </a:rPr>
                            <m:t>𝐼𝑔𝑛</m:t>
                          </m:r>
                          <m:r>
                            <a:rPr lang="tr-TR" sz="1400" i="0">
                              <a:latin typeface="Cambria Math" panose="02040503050406030204" pitchFamily="18" charset="0"/>
                            </a:rPr>
                            <m:t>,</m:t>
                          </m:r>
                          <m:r>
                            <a:rPr lang="tr-TR" sz="1400" i="1">
                              <a:latin typeface="Cambria Math" panose="02040503050406030204" pitchFamily="18" charset="0"/>
                            </a:rPr>
                            <m:t>𝑘</m:t>
                          </m:r>
                        </m:sub>
                      </m:sSub>
                      <m:d>
                        <m:dPr>
                          <m:ctrlPr>
                            <a:rPr lang="tr-TR" sz="1400" i="1">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r>
                        <a:rPr lang="tr-TR" sz="1400" i="0">
                          <a:latin typeface="Cambria Math" panose="02040503050406030204" pitchFamily="18" charset="0"/>
                        </a:rPr>
                        <m:t>=</m:t>
                      </m:r>
                      <m:d>
                        <m:dPr>
                          <m:begChr m:val="["/>
                          <m:endChr m:val="]"/>
                          <m:ctrlPr>
                            <a:rPr lang="tr-TR" sz="1400" i="1">
                              <a:solidFill>
                                <a:srgbClr val="836967"/>
                              </a:solidFill>
                              <a:latin typeface="Cambria Math" panose="02040503050406030204" pitchFamily="18" charset="0"/>
                            </a:rPr>
                          </m:ctrlPr>
                        </m:dPr>
                        <m:e>
                          <m:eqArr>
                            <m:eqArrPr>
                              <m:ctrlPr>
                                <a:rPr lang="tr-TR" sz="1400" i="1">
                                  <a:solidFill>
                                    <a:srgbClr val="836967"/>
                                  </a:solidFill>
                                  <a:latin typeface="Cambria Math" panose="02040503050406030204" pitchFamily="18" charset="0"/>
                                </a:rPr>
                              </m:ctrlPr>
                            </m:eqArrPr>
                            <m:e>
                              <m:r>
                                <a:rPr lang="tr-TR" sz="1400" i="0">
                                  <a:latin typeface="Cambria Math" panose="02040503050406030204" pitchFamily="18" charset="0"/>
                                </a:rPr>
                                <m:t>&amp;</m:t>
                              </m:r>
                              <m:sSub>
                                <m:sSubPr>
                                  <m:ctrlPr>
                                    <a:rPr lang="tr-TR" sz="1400" i="1">
                                      <a:latin typeface="Cambria Math" panose="02040503050406030204" pitchFamily="18" charset="0"/>
                                    </a:rPr>
                                  </m:ctrlPr>
                                </m:sSubPr>
                                <m:e>
                                  <m:r>
                                    <a:rPr lang="tr-TR" sz="1400" i="1">
                                      <a:latin typeface="Cambria Math" panose="02040503050406030204" pitchFamily="18" charset="0"/>
                                    </a:rPr>
                                    <m:t>𝐼</m:t>
                                  </m:r>
                                </m:e>
                                <m:sub>
                                  <m:r>
                                    <a:rPr lang="tr-TR" sz="1400" i="1">
                                      <a:latin typeface="Cambria Math" panose="02040503050406030204" pitchFamily="18" charset="0"/>
                                    </a:rPr>
                                    <m:t>𝐼𝑔𝑛</m:t>
                                  </m:r>
                                  <m:r>
                                    <a:rPr lang="tr-TR" sz="1400" i="0">
                                      <a:latin typeface="Cambria Math" panose="02040503050406030204" pitchFamily="18" charset="0"/>
                                    </a:rPr>
                                    <m:t>,</m:t>
                                  </m:r>
                                  <m:r>
                                    <a:rPr lang="tr-TR" sz="1400" i="1">
                                      <a:latin typeface="Cambria Math" panose="02040503050406030204" pitchFamily="18" charset="0"/>
                                    </a:rPr>
                                    <m:t>𝑘</m:t>
                                  </m:r>
                                </m:sub>
                              </m:sSub>
                              <m:d>
                                <m:dPr>
                                  <m:ctrlPr>
                                    <a:rPr lang="tr-TR" sz="1400" i="1">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qArr>
                        </m:e>
                      </m:d>
                    </m:oMath>
                  </m:oMathPara>
                </a14:m>
                <a:endParaRPr lang="tr-TR" sz="1400" dirty="0"/>
              </a:p>
            </p:txBody>
          </p:sp>
        </mc:Choice>
        <mc:Fallback xmlns="">
          <p:sp>
            <p:nvSpPr>
              <p:cNvPr id="14" name="TextBox 13">
                <a:extLst>
                  <a:ext uri="{FF2B5EF4-FFF2-40B4-BE49-F238E27FC236}">
                    <a16:creationId xmlns:a16="http://schemas.microsoft.com/office/drawing/2014/main" id="{62064F4D-04F1-4A12-9804-1BB645F52292}"/>
                  </a:ext>
                </a:extLst>
              </p:cNvPr>
              <p:cNvSpPr txBox="1">
                <a:spLocks noRot="1" noChangeAspect="1" noMove="1" noResize="1" noEditPoints="1" noAdjustHandles="1" noChangeArrowheads="1" noChangeShapeType="1" noTextEdit="1"/>
              </p:cNvSpPr>
              <p:nvPr/>
            </p:nvSpPr>
            <p:spPr>
              <a:xfrm>
                <a:off x="9646920" y="2684085"/>
                <a:ext cx="2339546" cy="330603"/>
              </a:xfrm>
              <a:prstGeom prst="rect">
                <a:avLst/>
              </a:prstGeom>
              <a:blipFill>
                <a:blip r:embed="rId8"/>
                <a:stretch>
                  <a:fillRect b="-1818"/>
                </a:stretch>
              </a:blipFill>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4790E5A2-0504-43F5-AFFA-BAD737CAA648}"/>
                  </a:ext>
                </a:extLst>
              </p:cNvPr>
              <p:cNvSpPr txBox="1"/>
              <p:nvPr/>
            </p:nvSpPr>
            <p:spPr>
              <a:xfrm>
                <a:off x="6533429" y="3863744"/>
                <a:ext cx="5453037" cy="325282"/>
              </a:xfrm>
              <a:prstGeom prst="rect">
                <a:avLst/>
              </a:prstGeom>
              <a:noFill/>
            </p:spPr>
            <p:txBody>
              <a:bodyPr wrap="square">
                <a:spAutoFit/>
              </a:bodyPr>
              <a:lstStyle/>
              <a:p>
                <a14:m>
                  <m:oMath xmlns:m="http://schemas.openxmlformats.org/officeDocument/2006/math">
                    <m:sSub>
                      <m:sSubPr>
                        <m:ctrlPr>
                          <a:rPr lang="en-US" sz="1400" b="1" i="1">
                            <a:effectLst/>
                            <a:latin typeface="Cambria Math" panose="02040503050406030204" pitchFamily="18" charset="0"/>
                            <a:ea typeface="Times New Roman" panose="02020603050405020304" pitchFamily="18" charset="0"/>
                            <a:cs typeface="Arial" panose="020B0604020202020204" pitchFamily="34" charset="0"/>
                          </a:rPr>
                        </m:ctrlPr>
                      </m:sSubPr>
                      <m:e>
                        <m:r>
                          <a:rPr lang="en-US" sz="1400" b="1" i="1">
                            <a:effectLst/>
                            <a:latin typeface="Cambria Math" panose="02040503050406030204" pitchFamily="18" charset="0"/>
                            <a:ea typeface="Times New Roman" panose="02020603050405020304" pitchFamily="18" charset="0"/>
                            <a:cs typeface="Arial" panose="020B0604020202020204" pitchFamily="34" charset="0"/>
                          </a:rPr>
                          <m:t>𝑰</m:t>
                        </m:r>
                      </m:e>
                      <m:sub>
                        <m:r>
                          <a:rPr lang="en-US" sz="1400" b="1" i="1">
                            <a:effectLst/>
                            <a:latin typeface="Cambria Math" panose="02040503050406030204" pitchFamily="18" charset="0"/>
                            <a:ea typeface="Times New Roman" panose="02020603050405020304" pitchFamily="18" charset="0"/>
                            <a:cs typeface="Arial" panose="020B0604020202020204" pitchFamily="34" charset="0"/>
                          </a:rPr>
                          <m:t>𝑰𝒈𝒏</m:t>
                        </m:r>
                        <m:r>
                          <a:rPr lang="en-US" sz="1400" b="1" i="1">
                            <a:effectLst/>
                            <a:latin typeface="Cambria Math" panose="02040503050406030204" pitchFamily="18" charset="0"/>
                            <a:ea typeface="Times New Roman" panose="02020603050405020304" pitchFamily="18" charset="0"/>
                            <a:cs typeface="Arial" panose="020B0604020202020204" pitchFamily="34" charset="0"/>
                          </a:rPr>
                          <m:t>,</m:t>
                        </m:r>
                        <m:r>
                          <a:rPr lang="en-US" sz="1400" b="1" i="1">
                            <a:effectLst/>
                            <a:latin typeface="Cambria Math" panose="02040503050406030204" pitchFamily="18" charset="0"/>
                            <a:ea typeface="Times New Roman" panose="02020603050405020304" pitchFamily="18" charset="0"/>
                            <a:cs typeface="Arial" panose="020B0604020202020204" pitchFamily="34" charset="0"/>
                          </a:rPr>
                          <m:t>𝒌</m:t>
                        </m:r>
                      </m:sub>
                    </m:sSub>
                    <m:r>
                      <a:rPr lang="en-US" sz="1400" b="1" i="1">
                        <a:effectLst/>
                        <a:latin typeface="Cambria Math" panose="02040503050406030204" pitchFamily="18" charset="0"/>
                        <a:ea typeface="Times New Roman" panose="02020603050405020304" pitchFamily="18" charset="0"/>
                        <a:cs typeface="Arial" panose="020B0604020202020204" pitchFamily="34" charset="0"/>
                      </a:rPr>
                      <m:t>  (</m:t>
                    </m:r>
                    <m:r>
                      <a:rPr lang="en-US" sz="1400" b="1" i="1">
                        <a:effectLst/>
                        <a:latin typeface="Cambria Math" panose="02040503050406030204" pitchFamily="18" charset="0"/>
                        <a:ea typeface="Times New Roman" panose="02020603050405020304" pitchFamily="18" charset="0"/>
                        <a:cs typeface="Arial" panose="020B0604020202020204" pitchFamily="34" charset="0"/>
                      </a:rPr>
                      <m:t>𝒙</m:t>
                    </m:r>
                    <m:r>
                      <a:rPr lang="en-US" sz="1400" b="1" i="1">
                        <a:effectLst/>
                        <a:latin typeface="Cambria Math" panose="02040503050406030204" pitchFamily="18" charset="0"/>
                        <a:ea typeface="Times New Roman" panose="02020603050405020304" pitchFamily="18" charset="0"/>
                        <a:cs typeface="Arial" panose="020B0604020202020204" pitchFamily="34" charset="0"/>
                      </a:rPr>
                      <m:t>,</m:t>
                    </m:r>
                    <m:r>
                      <a:rPr lang="en-US" sz="1400" b="1" i="1">
                        <a:effectLst/>
                        <a:latin typeface="Cambria Math" panose="02040503050406030204" pitchFamily="18" charset="0"/>
                        <a:ea typeface="Times New Roman" panose="02020603050405020304" pitchFamily="18" charset="0"/>
                        <a:cs typeface="Arial" panose="020B0604020202020204" pitchFamily="34" charset="0"/>
                      </a:rPr>
                      <m:t>𝒚</m:t>
                    </m:r>
                    <m:r>
                      <a:rPr lang="en-US" sz="1400" b="1" i="1">
                        <a:effectLst/>
                        <a:latin typeface="Cambria Math" panose="02040503050406030204" pitchFamily="18" charset="0"/>
                        <a:ea typeface="Times New Roman" panose="02020603050405020304" pitchFamily="18" charset="0"/>
                        <a:cs typeface="Arial" panose="020B0604020202020204" pitchFamily="34" charset="0"/>
                      </a:rPr>
                      <m:t>)</m:t>
                    </m:r>
                  </m:oMath>
                </a14:m>
                <a:r>
                  <a:rPr lang="en-US" sz="1400" b="1" dirty="0">
                    <a:effectLst/>
                    <a:latin typeface="Times New Roman" panose="02020603050405020304" pitchFamily="18" charset="0"/>
                    <a:ea typeface="Times New Roman" panose="02020603050405020304" pitchFamily="18" charset="0"/>
                    <a:cs typeface="Arial" panose="020B0604020202020204" pitchFamily="34" charset="0"/>
                  </a:rPr>
                  <a:t> is</a:t>
                </a:r>
                <a:r>
                  <a:rPr lang="en-US" sz="1400" b="1" dirty="0">
                    <a:effectLst/>
                    <a:latin typeface="Times New Roman" panose="02020603050405020304" pitchFamily="18" charset="0"/>
                    <a:ea typeface="Calibri" panose="020F0502020204030204" pitchFamily="34" charset="0"/>
                    <a:cs typeface="Arial" panose="020B0604020202020204" pitchFamily="34" charset="0"/>
                  </a:rPr>
                  <a:t> a binary ignition injection indicator</a:t>
                </a:r>
                <a:endParaRPr lang="tr-TR" sz="1400" b="1" dirty="0"/>
              </a:p>
            </p:txBody>
          </p:sp>
        </mc:Choice>
        <mc:Fallback xmlns="">
          <p:sp>
            <p:nvSpPr>
              <p:cNvPr id="15" name="TextBox 14">
                <a:extLst>
                  <a:ext uri="{FF2B5EF4-FFF2-40B4-BE49-F238E27FC236}">
                    <a16:creationId xmlns:a16="http://schemas.microsoft.com/office/drawing/2014/main" id="{4790E5A2-0504-43F5-AFFA-BAD737CAA648}"/>
                  </a:ext>
                </a:extLst>
              </p:cNvPr>
              <p:cNvSpPr txBox="1">
                <a:spLocks noRot="1" noChangeAspect="1" noMove="1" noResize="1" noEditPoints="1" noAdjustHandles="1" noChangeArrowheads="1" noChangeShapeType="1" noTextEdit="1"/>
              </p:cNvSpPr>
              <p:nvPr/>
            </p:nvSpPr>
            <p:spPr>
              <a:xfrm>
                <a:off x="6533429" y="3863744"/>
                <a:ext cx="5453037" cy="325282"/>
              </a:xfrm>
              <a:prstGeom prst="rect">
                <a:avLst/>
              </a:prstGeom>
              <a:blipFill>
                <a:blip r:embed="rId9"/>
                <a:stretch>
                  <a:fillRect t="-3774" b="-13208"/>
                </a:stretch>
              </a:blipFill>
            </p:spPr>
            <p:txBody>
              <a:bodyPr/>
              <a:lstStyle/>
              <a:p>
                <a:r>
                  <a:rPr lang="tr-TR">
                    <a:noFill/>
                  </a:rPr>
                  <a:t/>
                </a:r>
              </a:p>
            </p:txBody>
          </p:sp>
        </mc:Fallback>
      </mc:AlternateContent>
      <p:pic>
        <p:nvPicPr>
          <p:cNvPr id="8" name="Image 2" descr="/tmp/thx/deck/figs/Figure3_1.png">
            <a:extLst>
              <a:ext uri="{FF2B5EF4-FFF2-40B4-BE49-F238E27FC236}">
                <a16:creationId xmlns:a16="http://schemas.microsoft.com/office/drawing/2014/main" id="{0609EE49-1DF0-8CC7-5DEC-F82149A57397}"/>
              </a:ext>
            </a:extLst>
          </p:cNvPr>
          <p:cNvPicPr>
            <a:picLocks noChangeAspect="1"/>
          </p:cNvPicPr>
          <p:nvPr/>
        </p:nvPicPr>
        <p:blipFill>
          <a:blip r:embed="rId10"/>
          <a:stretch>
            <a:fillRect/>
          </a:stretch>
        </p:blipFill>
        <p:spPr>
          <a:xfrm>
            <a:off x="365760" y="1815950"/>
            <a:ext cx="5074920" cy="4323379"/>
          </a:xfrm>
          <a:prstGeom prst="rect">
            <a:avLst/>
          </a:prstGeom>
        </p:spPr>
      </p:pic>
      <p:sp>
        <p:nvSpPr>
          <p:cNvPr id="18" name="Text 2">
            <a:extLst>
              <a:ext uri="{FF2B5EF4-FFF2-40B4-BE49-F238E27FC236}">
                <a16:creationId xmlns:a16="http://schemas.microsoft.com/office/drawing/2014/main" id="{E9D4D08C-807B-BD94-FDA6-D75983E31CA4}"/>
              </a:ext>
            </a:extLst>
          </p:cNvPr>
          <p:cNvSpPr/>
          <p:nvPr/>
        </p:nvSpPr>
        <p:spPr>
          <a:xfrm>
            <a:off x="5715000" y="1371600"/>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State Transition</a:t>
            </a:r>
            <a:endParaRPr lang="en-US" sz="1500" dirty="0"/>
          </a:p>
        </p:txBody>
      </p:sp>
      <mc:AlternateContent xmlns:mc="http://schemas.openxmlformats.org/markup-compatibility/2006" xmlns:a14="http://schemas.microsoft.com/office/drawing/2010/main">
        <mc:Choice Requires="a14">
          <p:sp>
            <p:nvSpPr>
              <p:cNvPr id="20" name="Text 3">
                <a:extLst>
                  <a:ext uri="{FF2B5EF4-FFF2-40B4-BE49-F238E27FC236}">
                    <a16:creationId xmlns:a16="http://schemas.microsoft.com/office/drawing/2014/main" id="{C2E68E62-57B5-94C1-3647-D2D4F4504CEE}"/>
                  </a:ext>
                </a:extLst>
              </p:cNvPr>
              <p:cNvSpPr/>
              <p:nvPr/>
            </p:nvSpPr>
            <p:spPr>
              <a:xfrm>
                <a:off x="5738854" y="170078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r>
                            <a:rPr lang="en-US" sz="1600">
                              <a:latin typeface="Cambria Math"/>
                            </a:rPr>
                            <m:t>+1</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sz="1600">
                                  <a:latin typeface="Cambria Math"/>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20" name="Text 3">
                <a:extLst>
                  <a:ext uri="{FF2B5EF4-FFF2-40B4-BE49-F238E27FC236}">
                    <a16:creationId xmlns:a16="http://schemas.microsoft.com/office/drawing/2014/main" id="{C2E68E62-57B5-94C1-3647-D2D4F4504CEE}"/>
                  </a:ext>
                </a:extLst>
              </p:cNvPr>
              <p:cNvSpPr>
                <a:spLocks noRot="1" noChangeAspect="1" noMove="1" noResize="1" noEditPoints="1" noAdjustHandles="1" noChangeArrowheads="1" noChangeShapeType="1" noTextEdit="1"/>
              </p:cNvSpPr>
              <p:nvPr/>
            </p:nvSpPr>
            <p:spPr>
              <a:xfrm>
                <a:off x="5738854" y="1700784"/>
                <a:ext cx="6035040" cy="457200"/>
              </a:xfrm>
              <a:prstGeom prst="rect">
                <a:avLst/>
              </a:prstGeom>
              <a:blipFill>
                <a:blip r:embed="rId8"/>
                <a:stretch>
                  <a:fillRect/>
                </a:stretch>
              </a:blipFill>
              <a:ln/>
            </p:spPr>
            <p:txBody>
              <a:bodyPr/>
              <a:lstStyle/>
              <a:p>
                <a:r>
                  <a:rPr lang="tr-TR">
                    <a:noFill/>
                  </a:rPr>
                  <a:t> </a:t>
                </a:r>
              </a:p>
            </p:txBody>
          </p:sp>
        </mc:Fallback>
      </mc:AlternateContent>
      <p:sp>
        <p:nvSpPr>
          <p:cNvPr id="26" name="Text 4">
            <a:extLst>
              <a:ext uri="{FF2B5EF4-FFF2-40B4-BE49-F238E27FC236}">
                <a16:creationId xmlns:a16="http://schemas.microsoft.com/office/drawing/2014/main" id="{FCB312B7-6082-78E2-D589-5B9B7C1A7613}"/>
              </a:ext>
            </a:extLst>
          </p:cNvPr>
          <p:cNvSpPr/>
          <p:nvPr/>
        </p:nvSpPr>
        <p:spPr>
          <a:xfrm>
            <a:off x="5715000" y="2231136"/>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Input Field</a:t>
            </a:r>
            <a:endParaRPr lang="en-US" sz="1500" dirty="0"/>
          </a:p>
        </p:txBody>
      </p:sp>
    </p:spTree>
    <p:extLst>
      <p:ext uri="{BB962C8B-B14F-4D97-AF65-F5344CB8AC3E}">
        <p14:creationId xmlns:p14="http://schemas.microsoft.com/office/powerpoint/2010/main" val="39067167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The Simulation Input Field</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sp>
            <p:nvSpPr>
              <p:cNvPr id="25" name="Text 5">
                <a:extLst>
                  <a:ext uri="{FF2B5EF4-FFF2-40B4-BE49-F238E27FC236}">
                    <a16:creationId xmlns:a16="http://schemas.microsoft.com/office/drawing/2014/main" id="{EC65DB17-2507-4A91-9DDF-59F3BB29910E}"/>
                  </a:ext>
                </a:extLst>
              </p:cNvPr>
              <p:cNvSpPr/>
              <p:nvPr/>
            </p:nvSpPr>
            <p:spPr>
              <a:xfrm>
                <a:off x="5715000" y="2560320"/>
                <a:ext cx="3931920" cy="457200"/>
              </a:xfrm>
              <a:prstGeom prst="rect">
                <a:avLst/>
              </a:prstGeom>
              <a:noFill/>
              <a:ln/>
            </p:spPr>
            <p:txBody>
              <a:bodyPr wrap="square" lIns="0" tIns="0" rIns="0" bIns="0" rtlCol="0" anchor="ctr"/>
              <a:lstStyle/>
              <a:p>
                <a:pPr algn="ctr"/>
                <a14:m>
                  <m:oMathPara xmlns:m="http://schemas.openxmlformats.org/officeDocument/2006/math">
                    <m:oMath>
                      <m:sSub>
                        <m:sSubPr>
                          <m:ctrlPr>
                            <a:rPr lang="en-US" sz="1500">
                              <a:latin typeface="Cambria Math"/>
                            </a:rPr>
                          </m:ctrlPr>
                        </m:sSubPr>
                        <m:e>
                          <m:r>
                            <a:rPr lang="en-US" sz="1500">
                              <a:latin typeface="Cambria Math"/>
                            </a:rPr>
                            <m:t>ℱ</m:t>
                          </m:r>
                        </m:e>
                        <m:sub>
                          <m:r>
                            <a:rPr lang="en-US" sz="1500">
                              <a:latin typeface="Cambria Math"/>
                            </a:rPr>
                            <m:t>𝑖𝑛</m:t>
                          </m:r>
                          <m:r>
                            <a:rPr lang="en-US" sz="1500">
                              <a:latin typeface="Cambria Math"/>
                            </a:rPr>
                            <m:t>,</m:t>
                          </m:r>
                          <m:r>
                            <a:rPr lang="en-US" sz="1500">
                              <a:latin typeface="Cambria Math"/>
                            </a:rPr>
                            <m:t>𝑘</m:t>
                          </m:r>
                        </m:sub>
                      </m:sSub>
                      <m:r>
                        <a:rPr lang="en-US" sz="1500">
                          <a:latin typeface="Cambria Math"/>
                        </a:rPr>
                        <m:t>=</m:t>
                      </m:r>
                      <m:d>
                        <m:dPr>
                          <m:begChr m:val="{"/>
                          <m:endChr m:val="}"/>
                          <m:ctrlPr>
                            <a:rPr lang="en-US" sz="1500" b="0" i="1">
                              <a:latin typeface="Cambria Math" panose="02040503050406030204" pitchFamily="18" charset="0"/>
                            </a:rPr>
                          </m:ctrlPr>
                        </m:dPr>
                        <m:e>
                          <m:sSub>
                            <m:sSubPr>
                              <m:ctrlPr>
                                <a:rPr lang="en-US" sz="1500" b="0" i="1">
                                  <a:latin typeface="Cambria Math"/>
                                </a:rPr>
                              </m:ctrlPr>
                            </m:sSubPr>
                            <m:e>
                              <m:r>
                                <a:rPr lang="en-US" sz="1500" b="0" i="1">
                                  <a:latin typeface="Cambria Math"/>
                                </a:rPr>
                                <m:t>𝑈</m:t>
                              </m:r>
                            </m:e>
                            <m:sub>
                              <m:r>
                                <a:rPr lang="en-US" sz="1500" b="0" i="1">
                                  <a:latin typeface="Cambria Math"/>
                                </a:rPr>
                                <m:t>𝑀𝑒𝑡𝑒𝑜</m:t>
                              </m:r>
                              <m:r>
                                <a:rPr lang="en-US" sz="1500" b="0">
                                  <a:latin typeface="Cambria Math"/>
                                </a:rPr>
                                <m:t>,</m:t>
                              </m:r>
                              <m:r>
                                <a:rPr lang="en-US" sz="1500" b="0" i="1">
                                  <a:latin typeface="Cambria Math"/>
                                </a:rPr>
                                <m:t>𝑘</m:t>
                              </m:r>
                            </m:sub>
                          </m:sSub>
                          <m:r>
                            <a:rPr lang="en-US" sz="1500" b="1">
                              <a:latin typeface="Cambria Math"/>
                            </a:rPr>
                            <m:t>,</m:t>
                          </m:r>
                          <m:sSub>
                            <m:sSubPr>
                              <m:ctrlPr>
                                <a:rPr lang="en-US" sz="1500">
                                  <a:latin typeface="Cambria Math"/>
                                </a:rPr>
                              </m:ctrlPr>
                            </m:sSubPr>
                            <m:e>
                              <m:r>
                                <a:rPr lang="en-US" sz="1500">
                                  <a:latin typeface="Cambria Math"/>
                                </a:rPr>
                                <m:t>𝑈</m:t>
                              </m:r>
                            </m:e>
                            <m:sub>
                              <m:r>
                                <a:rPr lang="en-US" sz="1500">
                                  <a:latin typeface="Cambria Math"/>
                                </a:rPr>
                                <m:t>𝐺𝑒𝑜</m:t>
                              </m:r>
                            </m:sub>
                          </m:sSub>
                          <m:r>
                            <a:rPr lang="en-US" sz="1500">
                              <a:latin typeface="Cambria Math"/>
                            </a:rPr>
                            <m:t>, </m:t>
                          </m:r>
                          <m:sSub>
                            <m:sSubPr>
                              <m:ctrlPr>
                                <a:rPr lang="en-US" sz="1500" b="0" i="1">
                                  <a:latin typeface="Cambria Math" panose="02040503050406030204" pitchFamily="18" charset="0"/>
                                </a:rPr>
                              </m:ctrlPr>
                            </m:sSubPr>
                            <m:e>
                              <m:sSub>
                                <m:sSubPr>
                                  <m:ctrlPr>
                                    <a:rPr lang="en-US" sz="1500" b="0" i="1">
                                      <a:latin typeface="Cambria Math"/>
                                    </a:rPr>
                                  </m:ctrlPr>
                                </m:sSubPr>
                                <m:e>
                                  <m:r>
                                    <a:rPr lang="en-US" sz="1500" b="0" i="1">
                                      <a:latin typeface="Cambria Math"/>
                                    </a:rPr>
                                    <m:t>𝑈</m:t>
                                  </m:r>
                                </m:e>
                                <m:sub>
                                  <m:r>
                                    <a:rPr lang="en-US" sz="1500" b="0" i="1">
                                      <a:latin typeface="Cambria Math"/>
                                    </a:rPr>
                                    <m:t>𝐹𝑢𝑒𝑙</m:t>
                                  </m:r>
                                  <m:r>
                                    <m:rPr>
                                      <m:nor/>
                                    </m:rPr>
                                    <a:rPr lang="en-US" sz="1500" i="0">
                                      <a:latin typeface="Cambria Math"/>
                                    </a:rPr>
                                    <m:t>,</m:t>
                                  </m:r>
                                  <m:r>
                                    <a:rPr lang="tr-TR" sz="1500" b="0" i="1" smtClean="0">
                                      <a:latin typeface="Cambria Math" panose="02040503050406030204" pitchFamily="18" charset="0"/>
                                    </a:rPr>
                                    <m:t>𝑘</m:t>
                                  </m:r>
                                </m:sub>
                              </m:sSub>
                              <m:r>
                                <a:rPr lang="tr-TR" sz="1500" b="1" i="1">
                                  <a:latin typeface="Cambria Math" panose="02040503050406030204" pitchFamily="18" charset="0"/>
                                </a:rPr>
                                <m:t>,</m:t>
                              </m:r>
                              <m:sSub>
                                <m:sSubPr>
                                  <m:ctrlPr>
                                    <a:rPr lang="en-US" sz="1500">
                                      <a:latin typeface="Cambria Math"/>
                                    </a:rPr>
                                  </m:ctrlPr>
                                </m:sSubPr>
                                <m:e>
                                  <m:r>
                                    <a:rPr lang="en-US" sz="1500">
                                      <a:latin typeface="Cambria Math"/>
                                    </a:rPr>
                                    <m:t>𝑈</m:t>
                                  </m:r>
                                </m:e>
                                <m:sub>
                                  <m:r>
                                    <a:rPr lang="en-US" sz="1500">
                                      <a:latin typeface="Cambria Math"/>
                                    </a:rPr>
                                    <m:t>𝐼𝑔𝑛</m:t>
                                  </m:r>
                                  <m:r>
                                    <a:rPr lang="en-US" sz="1500">
                                      <a:latin typeface="Cambria Math"/>
                                    </a:rPr>
                                    <m:t>,</m:t>
                                  </m:r>
                                  <m:r>
                                    <a:rPr lang="en-US" sz="1500">
                                      <a:latin typeface="Cambria Math"/>
                                    </a:rPr>
                                    <m:t>𝑘</m:t>
                                  </m:r>
                                </m:sub>
                              </m:sSub>
                              <m:r>
                                <a:rPr lang="en-US" sz="1500">
                                  <a:latin typeface="Cambria Math"/>
                                </a:rPr>
                                <m:t>, </m:t>
                              </m:r>
                              <m:r>
                                <a:rPr lang="en-US" sz="1500" b="1" i="1">
                                  <a:latin typeface="Cambria Math"/>
                                </a:rPr>
                                <m:t>𝐔</m:t>
                              </m:r>
                            </m:e>
                            <m:sub>
                              <m:r>
                                <a:rPr lang="en-US" sz="1500" b="1" i="1">
                                  <a:latin typeface="Cambria Math"/>
                                </a:rPr>
                                <m:t>𝐃𝐒𝐒</m:t>
                              </m:r>
                              <m:r>
                                <a:rPr lang="en-US" sz="1500" b="1">
                                  <a:latin typeface="Cambria Math"/>
                                </a:rPr>
                                <m:t>,</m:t>
                              </m:r>
                              <m:r>
                                <a:rPr lang="en-US" sz="1500" b="1" i="1">
                                  <a:latin typeface="Cambria Math"/>
                                </a:rPr>
                                <m:t>𝐤</m:t>
                              </m:r>
                            </m:sub>
                          </m:sSub>
                        </m:e>
                      </m:d>
                    </m:oMath>
                  </m:oMathPara>
                </a14:m>
                <a:endParaRPr lang="en-US" sz="1600" dirty="0"/>
              </a:p>
            </p:txBody>
          </p:sp>
        </mc:Choice>
        <mc:Fallback xmlns="">
          <p:sp>
            <p:nvSpPr>
              <p:cNvPr id="25" name="Text 5">
                <a:extLst>
                  <a:ext uri="{FF2B5EF4-FFF2-40B4-BE49-F238E27FC236}">
                    <a16:creationId xmlns:a16="http://schemas.microsoft.com/office/drawing/2014/main" id="{EC65DB17-2507-4A91-9DDF-59F3BB29910E}"/>
                  </a:ext>
                </a:extLst>
              </p:cNvPr>
              <p:cNvSpPr>
                <a:spLocks noRot="1" noChangeAspect="1" noMove="1" noResize="1" noEditPoints="1" noAdjustHandles="1" noChangeArrowheads="1" noChangeShapeType="1" noTextEdit="1"/>
              </p:cNvSpPr>
              <p:nvPr/>
            </p:nvSpPr>
            <p:spPr>
              <a:xfrm>
                <a:off x="5715000" y="2560320"/>
                <a:ext cx="3931920" cy="457200"/>
              </a:xfrm>
              <a:prstGeom prst="rect">
                <a:avLst/>
              </a:prstGeom>
              <a:blipFill>
                <a:blip r:embed="rId7"/>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graphicFrame>
            <p:nvGraphicFramePr>
              <p:cNvPr id="17" name="Table 16">
                <a:extLst>
                  <a:ext uri="{FF2B5EF4-FFF2-40B4-BE49-F238E27FC236}">
                    <a16:creationId xmlns:a16="http://schemas.microsoft.com/office/drawing/2014/main" id="{39ECD6AD-DE5D-46F7-9CCC-AFD2499C0765}"/>
                  </a:ext>
                </a:extLst>
              </p:cNvPr>
              <p:cNvGraphicFramePr>
                <a:graphicFrameLocks noGrp="1"/>
              </p:cNvGraphicFramePr>
              <p:nvPr>
                <p:extLst>
                  <p:ext uri="{D42A27DB-BD31-4B8C-83A1-F6EECF244321}">
                    <p14:modId xmlns:p14="http://schemas.microsoft.com/office/powerpoint/2010/main" val="395783912"/>
                  </p:ext>
                </p:extLst>
              </p:nvPr>
            </p:nvGraphicFramePr>
            <p:xfrm>
              <a:off x="5715000" y="3698312"/>
              <a:ext cx="6381922" cy="2660271"/>
            </p:xfrm>
            <a:graphic>
              <a:graphicData uri="http://schemas.openxmlformats.org/drawingml/2006/table">
                <a:tbl>
                  <a:tblPr firstRow="1" firstCol="1" bandRow="1">
                    <a:tableStyleId>{93296810-A885-4BE3-A3E7-6D5BEEA58F35}</a:tableStyleId>
                  </a:tblPr>
                  <a:tblGrid>
                    <a:gridCol w="2326455">
                      <a:extLst>
                        <a:ext uri="{9D8B030D-6E8A-4147-A177-3AD203B41FA5}">
                          <a16:colId xmlns:a16="http://schemas.microsoft.com/office/drawing/2014/main" val="3500361675"/>
                        </a:ext>
                      </a:extLst>
                    </a:gridCol>
                    <a:gridCol w="617630">
                      <a:extLst>
                        <a:ext uri="{9D8B030D-6E8A-4147-A177-3AD203B41FA5}">
                          <a16:colId xmlns:a16="http://schemas.microsoft.com/office/drawing/2014/main" val="2696332576"/>
                        </a:ext>
                      </a:extLst>
                    </a:gridCol>
                    <a:gridCol w="3437837">
                      <a:extLst>
                        <a:ext uri="{9D8B030D-6E8A-4147-A177-3AD203B41FA5}">
                          <a16:colId xmlns:a16="http://schemas.microsoft.com/office/drawing/2014/main" val="3051551869"/>
                        </a:ext>
                      </a:extLst>
                    </a:gridCol>
                  </a:tblGrid>
                  <a:tr h="196897">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1780016955"/>
                      </a:ext>
                    </a:extLst>
                  </a:tr>
                  <a:tr h="268941">
                    <a:tc>
                      <a:txBody>
                        <a:bodyPr/>
                        <a:lstStyle/>
                        <a:p>
                          <a:pPr algn="l">
                            <a:lnSpc>
                              <a:spcPct val="150000"/>
                            </a:lnSpc>
                          </a:pPr>
                          <a:r>
                            <a:rPr lang="en-US" sz="1200" dirty="0">
                              <a:effectLst/>
                            </a:rPr>
                            <a:t>Suppression Capacity</a:t>
                          </a:r>
                        </a:p>
                        <a:p>
                          <a:pPr algn="ctr">
                            <a:lnSpc>
                              <a:spcPct val="150000"/>
                            </a:lnSpc>
                          </a:pPr>
                          <a:r>
                            <a:rPr lang="en-US" sz="1200" dirty="0">
                              <a:effectLst/>
                            </a:rPr>
                            <a:t> </a:t>
                          </a:r>
                          <a14:m>
                            <m:oMath xmlns:m="http://schemas.openxmlformats.org/officeDocument/2006/math">
                              <m:sSub>
                                <m:sSubPr>
                                  <m:ctrlPr>
                                    <a:rPr lang="en-US" sz="1200" i="1">
                                      <a:effectLst/>
                                      <a:latin typeface="Cambria Math" panose="02040503050406030204" pitchFamily="18" charset="0"/>
                                    </a:rPr>
                                  </m:ctrlPr>
                                </m:sSubPr>
                                <m:e>
                                  <m:bar>
                                    <m:barPr>
                                      <m:pos m:val="top"/>
                                      <m:ctrlPr>
                                        <a:rPr lang="en-US" sz="1200">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i="0">
                                      <a:effectLst/>
                                    </a:rPr>
                                    <m:t>cap,k</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m³ / step</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available suppression capability per cell and step</a:t>
                          </a:r>
                        </a:p>
                      </a:txBody>
                      <a:tcPr marL="9525" marR="9525" marT="9525" marB="9525" anchor="ctr"/>
                    </a:tc>
                    <a:extLst>
                      <a:ext uri="{0D108BD9-81ED-4DB2-BD59-A6C34878D82A}">
                        <a16:rowId xmlns:a16="http://schemas.microsoft.com/office/drawing/2014/main" val="681984423"/>
                      </a:ext>
                    </a:extLst>
                  </a:tr>
                  <a:tr h="263124">
                    <a:tc>
                      <a:txBody>
                        <a:bodyPr/>
                        <a:lstStyle/>
                        <a:p>
                          <a:pPr algn="l">
                            <a:lnSpc>
                              <a:spcPct val="150000"/>
                            </a:lnSpc>
                          </a:pPr>
                          <a:r>
                            <a:rPr lang="en-US" sz="1200" dirty="0">
                              <a:effectLst/>
                            </a:rPr>
                            <a:t>Travel Time</a:t>
                          </a:r>
                        </a:p>
                        <a:p>
                          <a:pPr algn="ctr">
                            <a:lnSpc>
                              <a:spcPct val="150000"/>
                            </a:lnSpc>
                          </a:pPr>
                          <a:r>
                            <a:rPr lang="en-US" sz="1200" dirty="0">
                              <a:effectLst/>
                            </a:rPr>
                            <a:t> </a:t>
                          </a:r>
                          <a14:m>
                            <m:oMath xmlns:m="http://schemas.openxmlformats.org/officeDocument/2006/math">
                              <m:sSub>
                                <m:sSubPr>
                                  <m:ctrlPr>
                                    <a:rPr lang="en-US" sz="1200" i="1">
                                      <a:effectLst/>
                                      <a:latin typeface="Cambria Math" panose="02040503050406030204" pitchFamily="18" charset="0"/>
                                    </a:rPr>
                                  </m:ctrlPr>
                                </m:sSubPr>
                                <m:e>
                                  <m:bar>
                                    <m:barPr>
                                      <m:pos m:val="top"/>
                                      <m:ctrlPr>
                                        <a:rPr lang="en-US" sz="1200">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i="0">
                                      <a:effectLst/>
                                    </a:rPr>
                                    <m:t>time,k</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min or h</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time to reach the cell from the current position</a:t>
                          </a:r>
                        </a:p>
                      </a:txBody>
                      <a:tcPr marL="9525" marR="9525" marT="9525" marB="9525" anchor="ctr"/>
                    </a:tc>
                    <a:extLst>
                      <a:ext uri="{0D108BD9-81ED-4DB2-BD59-A6C34878D82A}">
                        <a16:rowId xmlns:a16="http://schemas.microsoft.com/office/drawing/2014/main" val="3802531926"/>
                      </a:ext>
                    </a:extLst>
                  </a:tr>
                  <a:tr h="263787">
                    <a:tc>
                      <a:txBody>
                        <a:bodyPr/>
                        <a:lstStyle/>
                        <a:p>
                          <a:pPr algn="l">
                            <a:lnSpc>
                              <a:spcPct val="150000"/>
                            </a:lnSpc>
                          </a:pPr>
                          <a:r>
                            <a:rPr lang="en-US" sz="1200" dirty="0">
                              <a:effectLst/>
                            </a:rPr>
                            <a:t>Suppression Efficiency</a:t>
                          </a:r>
                        </a:p>
                        <a:p>
                          <a:pPr algn="ctr">
                            <a:lnSpc>
                              <a:spcPct val="150000"/>
                            </a:lnSpc>
                          </a:pPr>
                          <a:r>
                            <a:rPr lang="en-US" sz="1200" dirty="0">
                              <a:effectLst/>
                            </a:rPr>
                            <a:t> </a:t>
                          </a:r>
                          <a14:m>
                            <m:oMath xmlns:m="http://schemas.openxmlformats.org/officeDocument/2006/math">
                              <m:sSub>
                                <m:sSubPr>
                                  <m:ctrlPr>
                                    <a:rPr lang="en-US" sz="1200" i="1">
                                      <a:effectLst/>
                                      <a:latin typeface="Cambria Math" panose="02040503050406030204" pitchFamily="18" charset="0"/>
                                    </a:rPr>
                                  </m:ctrlPr>
                                </m:sSubPr>
                                <m:e>
                                  <m:bar>
                                    <m:barPr>
                                      <m:pos m:val="top"/>
                                      <m:ctrlPr>
                                        <a:rPr lang="en-US" sz="1200">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i="0">
                                      <a:effectLst/>
                                    </a:rPr>
                                    <m:t>eff,k</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[0,1]</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how much a resource cuts fuel load or intensity</a:t>
                          </a:r>
                        </a:p>
                      </a:txBody>
                      <a:tcPr marL="9525" marR="9525" marT="9525" marB="9525" anchor="ctr"/>
                    </a:tc>
                    <a:extLst>
                      <a:ext uri="{0D108BD9-81ED-4DB2-BD59-A6C34878D82A}">
                        <a16:rowId xmlns:a16="http://schemas.microsoft.com/office/drawing/2014/main" val="573764920"/>
                      </a:ext>
                    </a:extLst>
                  </a:tr>
                  <a:tr h="263124">
                    <a:tc>
                      <a:txBody>
                        <a:bodyPr/>
                        <a:lstStyle/>
                        <a:p>
                          <a:pPr algn="l">
                            <a:lnSpc>
                              <a:spcPct val="150000"/>
                            </a:lnSpc>
                          </a:pPr>
                          <a:r>
                            <a:rPr lang="en-US" sz="1200" dirty="0">
                              <a:effectLst/>
                            </a:rPr>
                            <a:t>Resource Availability</a:t>
                          </a:r>
                        </a:p>
                        <a:p>
                          <a:pPr algn="ctr">
                            <a:lnSpc>
                              <a:spcPct val="150000"/>
                            </a:lnSpc>
                          </a:pPr>
                          <a:r>
                            <a:rPr lang="en-US" sz="1200" dirty="0">
                              <a:effectLst/>
                            </a:rPr>
                            <a:t> </a:t>
                          </a:r>
                          <a14:m>
                            <m:oMath xmlns:m="http://schemas.openxmlformats.org/officeDocument/2006/math">
                              <m:sSub>
                                <m:sSubPr>
                                  <m:ctrlPr>
                                    <a:rPr lang="en-US" sz="1200" i="1">
                                      <a:effectLst/>
                                      <a:latin typeface="Cambria Math" panose="02040503050406030204" pitchFamily="18" charset="0"/>
                                    </a:rPr>
                                  </m:ctrlPr>
                                </m:sSubPr>
                                <m:e>
                                  <m:bar>
                                    <m:barPr>
                                      <m:pos m:val="top"/>
                                      <m:ctrlPr>
                                        <a:rPr lang="en-US" sz="1200">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i="0">
                                      <a:effectLst/>
                                    </a:rPr>
                                    <m:t>avail,k</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nSpc>
                              <a:spcPct val="115000"/>
                            </a:lnSpc>
                            <a:spcAft>
                              <a:spcPts val="800"/>
                            </a:spcAft>
                            <a:buNone/>
                          </a:pP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how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deployable</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the</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resource</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currently</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is</a:t>
                          </a:r>
                        </a:p>
                      </a:txBody>
                      <a:tcPr marL="9525" marR="9525" marT="9525" marB="9525" anchor="ctr"/>
                    </a:tc>
                    <a:extLst>
                      <a:ext uri="{0D108BD9-81ED-4DB2-BD59-A6C34878D82A}">
                        <a16:rowId xmlns:a16="http://schemas.microsoft.com/office/drawing/2014/main" val="2921179270"/>
                      </a:ext>
                    </a:extLst>
                  </a:tr>
                </a:tbl>
              </a:graphicData>
            </a:graphic>
          </p:graphicFrame>
        </mc:Choice>
        <mc:Fallback xmlns="">
          <p:graphicFrame>
            <p:nvGraphicFramePr>
              <p:cNvPr id="17" name="Table 16">
                <a:extLst>
                  <a:ext uri="{FF2B5EF4-FFF2-40B4-BE49-F238E27FC236}">
                    <a16:creationId xmlns:a16="http://schemas.microsoft.com/office/drawing/2014/main" id="{39ECD6AD-DE5D-46F7-9CCC-AFD2499C0765}"/>
                  </a:ext>
                </a:extLst>
              </p:cNvPr>
              <p:cNvGraphicFramePr>
                <a:graphicFrameLocks noGrp="1"/>
              </p:cNvGraphicFramePr>
              <p:nvPr>
                <p:extLst>
                  <p:ext uri="{D42A27DB-BD31-4B8C-83A1-F6EECF244321}">
                    <p14:modId xmlns:p14="http://schemas.microsoft.com/office/powerpoint/2010/main" val="395783912"/>
                  </p:ext>
                </p:extLst>
              </p:nvPr>
            </p:nvGraphicFramePr>
            <p:xfrm>
              <a:off x="5715000" y="3698312"/>
              <a:ext cx="6381922" cy="2660271"/>
            </p:xfrm>
            <a:graphic>
              <a:graphicData uri="http://schemas.openxmlformats.org/drawingml/2006/table">
                <a:tbl>
                  <a:tblPr firstRow="1" firstCol="1" bandRow="1">
                    <a:tableStyleId>{93296810-A885-4BE3-A3E7-6D5BEEA58F35}</a:tableStyleId>
                  </a:tblPr>
                  <a:tblGrid>
                    <a:gridCol w="2326455">
                      <a:extLst>
                        <a:ext uri="{9D8B030D-6E8A-4147-A177-3AD203B41FA5}">
                          <a16:colId xmlns:a16="http://schemas.microsoft.com/office/drawing/2014/main" val="3500361675"/>
                        </a:ext>
                      </a:extLst>
                    </a:gridCol>
                    <a:gridCol w="617630">
                      <a:extLst>
                        <a:ext uri="{9D8B030D-6E8A-4147-A177-3AD203B41FA5}">
                          <a16:colId xmlns:a16="http://schemas.microsoft.com/office/drawing/2014/main" val="2696332576"/>
                        </a:ext>
                      </a:extLst>
                    </a:gridCol>
                    <a:gridCol w="3437837">
                      <a:extLst>
                        <a:ext uri="{9D8B030D-6E8A-4147-A177-3AD203B41FA5}">
                          <a16:colId xmlns:a16="http://schemas.microsoft.com/office/drawing/2014/main" val="3051551869"/>
                        </a:ext>
                      </a:extLst>
                    </a:gridCol>
                  </a:tblGrid>
                  <a:tr h="245047">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1780016955"/>
                      </a:ext>
                    </a:extLst>
                  </a:tr>
                  <a:tr h="609029">
                    <a:tc>
                      <a:txBody>
                        <a:bodyPr/>
                        <a:lstStyle/>
                        <a:p>
                          <a:endParaRPr lang="tr-TR"/>
                        </a:p>
                      </a:txBody>
                      <a:tcPr marL="17780" marR="17780" marT="0" marB="0">
                        <a:blipFill>
                          <a:blip r:embed="rId8"/>
                          <a:stretch>
                            <a:fillRect l="-262" t="-40594" r="-175393" b="-302970"/>
                          </a:stretch>
                        </a:blipFill>
                      </a:tcPr>
                    </a:tc>
                    <a:tc>
                      <a:txBody>
                        <a:bodyPr/>
                        <a:lstStyle/>
                        <a:p>
                          <a:pPr algn="just">
                            <a:lnSpc>
                              <a:spcPct val="150000"/>
                            </a:lnSpc>
                          </a:pPr>
                          <a:r>
                            <a:rPr lang="en-US" sz="1200" dirty="0">
                              <a:effectLst/>
                            </a:rPr>
                            <a:t>m³ / step</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available suppression capability per cell and step</a:t>
                          </a:r>
                        </a:p>
                      </a:txBody>
                      <a:tcPr marL="9525" marR="9525" marT="9525" marB="9525" anchor="ctr"/>
                    </a:tc>
                    <a:extLst>
                      <a:ext uri="{0D108BD9-81ED-4DB2-BD59-A6C34878D82A}">
                        <a16:rowId xmlns:a16="http://schemas.microsoft.com/office/drawing/2014/main" val="681984423"/>
                      </a:ext>
                    </a:extLst>
                  </a:tr>
                  <a:tr h="601790">
                    <a:tc>
                      <a:txBody>
                        <a:bodyPr/>
                        <a:lstStyle/>
                        <a:p>
                          <a:endParaRPr lang="tr-TR"/>
                        </a:p>
                      </a:txBody>
                      <a:tcPr marL="17780" marR="17780" marT="0" marB="0">
                        <a:blipFill>
                          <a:blip r:embed="rId8"/>
                          <a:stretch>
                            <a:fillRect l="-262" t="-143434" r="-175393" b="-209091"/>
                          </a:stretch>
                        </a:blipFill>
                      </a:tcPr>
                    </a:tc>
                    <a:tc>
                      <a:txBody>
                        <a:bodyPr/>
                        <a:lstStyle/>
                        <a:p>
                          <a:pPr algn="just">
                            <a:lnSpc>
                              <a:spcPct val="150000"/>
                            </a:lnSpc>
                          </a:pPr>
                          <a:r>
                            <a:rPr lang="en-US" sz="1200" dirty="0">
                              <a:effectLst/>
                            </a:rPr>
                            <a:t>min or h</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time to reach the cell from the current position</a:t>
                          </a:r>
                        </a:p>
                      </a:txBody>
                      <a:tcPr marL="9525" marR="9525" marT="9525" marB="9525" anchor="ctr"/>
                    </a:tc>
                    <a:extLst>
                      <a:ext uri="{0D108BD9-81ED-4DB2-BD59-A6C34878D82A}">
                        <a16:rowId xmlns:a16="http://schemas.microsoft.com/office/drawing/2014/main" val="3802531926"/>
                      </a:ext>
                    </a:extLst>
                  </a:tr>
                  <a:tr h="602615">
                    <a:tc>
                      <a:txBody>
                        <a:bodyPr/>
                        <a:lstStyle/>
                        <a:p>
                          <a:endParaRPr lang="tr-TR"/>
                        </a:p>
                      </a:txBody>
                      <a:tcPr marL="17780" marR="17780" marT="0" marB="0">
                        <a:blipFill>
                          <a:blip r:embed="rId8"/>
                          <a:stretch>
                            <a:fillRect l="-262" t="-243434" r="-175393" b="-109091"/>
                          </a:stretch>
                        </a:blipFill>
                      </a:tcPr>
                    </a:tc>
                    <a:tc>
                      <a:txBody>
                        <a:bodyPr/>
                        <a:lstStyle/>
                        <a:p>
                          <a:pPr algn="just">
                            <a:lnSpc>
                              <a:spcPct val="150000"/>
                            </a:lnSpc>
                          </a:pPr>
                          <a:r>
                            <a:rPr lang="en-US" sz="1200">
                              <a:effectLst/>
                            </a:rPr>
                            <a:t>[0,1]</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nSpc>
                              <a:spcPct val="115000"/>
                            </a:lnSpc>
                            <a:spcAft>
                              <a:spcPts val="800"/>
                            </a:spcAft>
                            <a:buNone/>
                          </a:pPr>
                          <a:r>
                            <a:rPr lang="tr-TR" sz="1200" kern="100">
                              <a:effectLst/>
                              <a:latin typeface="Calibri" panose="020F0502020204030204" pitchFamily="34" charset="0"/>
                              <a:ea typeface="Calibri" panose="020F0502020204030204" pitchFamily="34" charset="0"/>
                              <a:cs typeface="Times New Roman" panose="02020603050405020304" pitchFamily="18" charset="0"/>
                            </a:rPr>
                            <a:t>how much a resource cuts fuel load or intensity</a:t>
                          </a:r>
                        </a:p>
                      </a:txBody>
                      <a:tcPr marL="9525" marR="9525" marT="9525" marB="9525" anchor="ctr"/>
                    </a:tc>
                    <a:extLst>
                      <a:ext uri="{0D108BD9-81ED-4DB2-BD59-A6C34878D82A}">
                        <a16:rowId xmlns:a16="http://schemas.microsoft.com/office/drawing/2014/main" val="573764920"/>
                      </a:ext>
                    </a:extLst>
                  </a:tr>
                  <a:tr h="601790">
                    <a:tc>
                      <a:txBody>
                        <a:bodyPr/>
                        <a:lstStyle/>
                        <a:p>
                          <a:endParaRPr lang="tr-TR"/>
                        </a:p>
                      </a:txBody>
                      <a:tcPr marL="17780" marR="17780" marT="0" marB="0">
                        <a:blipFill>
                          <a:blip r:embed="rId8"/>
                          <a:stretch>
                            <a:fillRect l="-262" t="-343434" r="-175393" b="-9091"/>
                          </a:stretch>
                        </a:blipFill>
                      </a:tcPr>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nSpc>
                              <a:spcPct val="115000"/>
                            </a:lnSpc>
                            <a:spcAft>
                              <a:spcPts val="800"/>
                            </a:spcAft>
                            <a:buNone/>
                          </a:pP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how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deployable</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the</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resource</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a:t>
                          </a:r>
                          <a:r>
                            <a:rPr lang="tr-TR" sz="1200" kern="100" dirty="0" err="1">
                              <a:effectLst/>
                              <a:latin typeface="Calibri" panose="020F0502020204030204" pitchFamily="34" charset="0"/>
                              <a:ea typeface="Calibri" panose="020F0502020204030204" pitchFamily="34" charset="0"/>
                              <a:cs typeface="Times New Roman" panose="02020603050405020304" pitchFamily="18" charset="0"/>
                            </a:rPr>
                            <a:t>currently</a:t>
                          </a:r>
                          <a:r>
                            <a:rPr lang="tr-TR" sz="1200" kern="100" dirty="0">
                              <a:effectLst/>
                              <a:latin typeface="Calibri" panose="020F0502020204030204" pitchFamily="34" charset="0"/>
                              <a:ea typeface="Calibri" panose="020F0502020204030204" pitchFamily="34" charset="0"/>
                              <a:cs typeface="Times New Roman" panose="02020603050405020304" pitchFamily="18" charset="0"/>
                            </a:rPr>
                            <a:t> is</a:t>
                          </a:r>
                        </a:p>
                      </a:txBody>
                      <a:tcPr marL="9525" marR="9525" marT="9525" marB="9525" anchor="ctr"/>
                    </a:tc>
                    <a:extLst>
                      <a:ext uri="{0D108BD9-81ED-4DB2-BD59-A6C34878D82A}">
                        <a16:rowId xmlns:a16="http://schemas.microsoft.com/office/drawing/2014/main" val="2921179270"/>
                      </a:ext>
                    </a:extLst>
                  </a:tr>
                </a:tbl>
              </a:graphicData>
            </a:graphic>
          </p:graphicFrame>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2C8D425-6532-458E-BBC7-68AEB345B4C5}"/>
                  </a:ext>
                </a:extLst>
              </p:cNvPr>
              <p:cNvSpPr txBox="1"/>
              <p:nvPr/>
            </p:nvSpPr>
            <p:spPr>
              <a:xfrm>
                <a:off x="9586866" y="2262852"/>
                <a:ext cx="2605134" cy="1060227"/>
              </a:xfrm>
              <a:prstGeom prst="rect">
                <a:avLst/>
              </a:prstGeom>
              <a:noFill/>
            </p:spPr>
            <p:txBody>
              <a:bodyPr wrap="square">
                <a:spAutoFit/>
              </a:bodyPr>
              <a:lstStyle/>
              <a:p>
                <a:pPr/>
                <a14:m>
                  <m:oMathPara xmlns:m="http://schemas.openxmlformats.org/officeDocument/2006/math">
                    <m:oMath>
                      <m:sSub>
                        <m:sSubPr>
                          <m:ctrlPr>
                            <a:rPr lang="tr-TR" sz="1400" i="1">
                              <a:latin typeface="Cambria Math" panose="02040503050406030204" pitchFamily="18" charset="0"/>
                            </a:rPr>
                          </m:ctrlPr>
                        </m:sSubPr>
                        <m:e>
                          <m:r>
                            <a:rPr lang="tr-TR" sz="1400" i="1">
                              <a:latin typeface="Cambria Math" panose="02040503050406030204" pitchFamily="18" charset="0"/>
                            </a:rPr>
                            <m:t>𝑈</m:t>
                          </m:r>
                        </m:e>
                        <m:sub>
                          <m:r>
                            <a:rPr lang="tr-TR" sz="1400" i="1">
                              <a:latin typeface="Cambria Math" panose="02040503050406030204" pitchFamily="18" charset="0"/>
                            </a:rPr>
                            <m:t>𝐷𝑆𝑆</m:t>
                          </m:r>
                          <m:r>
                            <a:rPr lang="tr-TR" sz="1400" i="0">
                              <a:latin typeface="Cambria Math" panose="02040503050406030204" pitchFamily="18" charset="0"/>
                            </a:rPr>
                            <m:t>,</m:t>
                          </m:r>
                          <m:r>
                            <a:rPr lang="tr-TR" sz="1400" i="1">
                              <a:latin typeface="Cambria Math" panose="02040503050406030204" pitchFamily="18" charset="0"/>
                            </a:rPr>
                            <m:t>𝑘</m:t>
                          </m:r>
                        </m:sub>
                      </m:sSub>
                      <m:d>
                        <m:dPr>
                          <m:ctrlPr>
                            <a:rPr lang="tr-TR" sz="1400" i="1">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r>
                        <a:rPr lang="tr-TR" sz="1400" i="0">
                          <a:latin typeface="Cambria Math" panose="02040503050406030204" pitchFamily="18" charset="0"/>
                        </a:rPr>
                        <m:t>= </m:t>
                      </m:r>
                      <m:d>
                        <m:dPr>
                          <m:begChr m:val="["/>
                          <m:endChr m:val="]"/>
                          <m:ctrlPr>
                            <a:rPr lang="tr-TR" sz="1400" i="1">
                              <a:solidFill>
                                <a:srgbClr val="836967"/>
                              </a:solidFill>
                              <a:latin typeface="Cambria Math" panose="02040503050406030204" pitchFamily="18" charset="0"/>
                            </a:rPr>
                          </m:ctrlPr>
                        </m:dPr>
                        <m:e>
                          <m:eqArr>
                            <m:eqArrPr>
                              <m:ctrlPr>
                                <a:rPr lang="tr-TR" sz="1400" i="1">
                                  <a:solidFill>
                                    <a:srgbClr val="836967"/>
                                  </a:solidFill>
                                  <a:latin typeface="Cambria Math" panose="02040503050406030204" pitchFamily="18" charset="0"/>
                                </a:rPr>
                              </m:ctrlPr>
                            </m:eqArrPr>
                            <m:e>
                              <m:r>
                                <a:rPr lang="tr-TR" sz="1400" i="0">
                                  <a:latin typeface="Cambria Math" panose="02040503050406030204" pitchFamily="18" charset="0"/>
                                </a:rPr>
                                <m:t>&amp;</m:t>
                              </m:r>
                              <m:sSub>
                                <m:sSubPr>
                                  <m:ctrlPr>
                                    <a:rPr lang="tr-TR" sz="1400" i="1">
                                      <a:latin typeface="Cambria Math" panose="02040503050406030204" pitchFamily="18" charset="0"/>
                                    </a:rPr>
                                  </m:ctrlPr>
                                </m:sSubPr>
                                <m:e>
                                  <m:r>
                                    <a:rPr lang="tr-TR" sz="1400" i="1">
                                      <a:latin typeface="Cambria Math" panose="02040503050406030204" pitchFamily="18" charset="0"/>
                                    </a:rPr>
                                    <m:t>𝑅</m:t>
                                  </m:r>
                                </m:e>
                                <m:sub>
                                  <m:r>
                                    <a:rPr lang="tr-TR" sz="1400" i="1">
                                      <a:latin typeface="Cambria Math" panose="02040503050406030204" pitchFamily="18" charset="0"/>
                                    </a:rPr>
                                    <m:t>𝑐𝑎𝑝</m:t>
                                  </m:r>
                                  <m:r>
                                    <a:rPr lang="tr-TR" sz="1400" i="0">
                                      <a:latin typeface="Cambria Math" panose="02040503050406030204" pitchFamily="18" charset="0"/>
                                    </a:rPr>
                                    <m:t>,</m:t>
                                  </m:r>
                                  <m:r>
                                    <a:rPr lang="tr-TR" sz="1400" i="1">
                                      <a:latin typeface="Cambria Math" panose="02040503050406030204" pitchFamily="18" charset="0"/>
                                    </a:rPr>
                                    <m:t>𝑘</m:t>
                                  </m:r>
                                </m:sub>
                              </m:sSub>
                              <m:d>
                                <m:dPr>
                                  <m:ctrlPr>
                                    <a:rPr lang="tr-TR" sz="1400" i="1">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
                              <m:r>
                                <a:rPr lang="tr-TR" sz="1400" i="0">
                                  <a:latin typeface="Cambria Math" panose="02040503050406030204" pitchFamily="18" charset="0"/>
                                </a:rPr>
                                <m:t>&amp;</m:t>
                              </m:r>
                              <m:sSub>
                                <m:sSubPr>
                                  <m:ctrlPr>
                                    <a:rPr lang="tr-TR" sz="1400" i="1">
                                      <a:latin typeface="Cambria Math" panose="02040503050406030204" pitchFamily="18" charset="0"/>
                                    </a:rPr>
                                  </m:ctrlPr>
                                </m:sSubPr>
                                <m:e>
                                  <m:r>
                                    <a:rPr lang="tr-TR" sz="1400" i="1">
                                      <a:latin typeface="Cambria Math" panose="02040503050406030204" pitchFamily="18" charset="0"/>
                                    </a:rPr>
                                    <m:t>𝑅</m:t>
                                  </m:r>
                                </m:e>
                                <m:sub>
                                  <m:r>
                                    <a:rPr lang="tr-TR" sz="1400" i="1">
                                      <a:latin typeface="Cambria Math" panose="02040503050406030204" pitchFamily="18" charset="0"/>
                                    </a:rPr>
                                    <m:t>𝑎𝑣𝑎𝑖𝑙</m:t>
                                  </m:r>
                                  <m:r>
                                    <a:rPr lang="tr-TR" sz="1400" i="0">
                                      <a:latin typeface="Cambria Math" panose="02040503050406030204" pitchFamily="18" charset="0"/>
                                    </a:rPr>
                                    <m:t>,</m:t>
                                  </m:r>
                                  <m:r>
                                    <a:rPr lang="tr-TR" sz="1400" i="1">
                                      <a:latin typeface="Cambria Math" panose="02040503050406030204" pitchFamily="18" charset="0"/>
                                    </a:rPr>
                                    <m:t>𝑘</m:t>
                                  </m:r>
                                </m:sub>
                              </m:sSub>
                              <m:d>
                                <m:dPr>
                                  <m:ctrlPr>
                                    <a:rPr lang="tr-TR" sz="1400" i="1">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
                              <m:r>
                                <a:rPr lang="tr-TR" sz="1400" i="0">
                                  <a:latin typeface="Cambria Math" panose="02040503050406030204" pitchFamily="18" charset="0"/>
                                </a:rPr>
                                <m:t>&amp;</m:t>
                              </m:r>
                              <m:sSub>
                                <m:sSubPr>
                                  <m:ctrlPr>
                                    <a:rPr lang="tr-TR" sz="1400" i="1">
                                      <a:latin typeface="Cambria Math" panose="02040503050406030204" pitchFamily="18" charset="0"/>
                                    </a:rPr>
                                  </m:ctrlPr>
                                </m:sSubPr>
                                <m:e>
                                  <m:r>
                                    <a:rPr lang="tr-TR" sz="1400" i="1">
                                      <a:latin typeface="Cambria Math" panose="02040503050406030204" pitchFamily="18" charset="0"/>
                                    </a:rPr>
                                    <m:t>𝑅</m:t>
                                  </m:r>
                                </m:e>
                                <m:sub>
                                  <m:r>
                                    <a:rPr lang="tr-TR" sz="1400" i="1">
                                      <a:latin typeface="Cambria Math" panose="02040503050406030204" pitchFamily="18" charset="0"/>
                                    </a:rPr>
                                    <m:t>𝑒𝑓𝑓</m:t>
                                  </m:r>
                                  <m:r>
                                    <a:rPr lang="tr-TR" sz="1400" i="0">
                                      <a:latin typeface="Cambria Math" panose="02040503050406030204" pitchFamily="18" charset="0"/>
                                    </a:rPr>
                                    <m:t>,</m:t>
                                  </m:r>
                                  <m:r>
                                    <a:rPr lang="tr-TR" sz="1400" i="1">
                                      <a:latin typeface="Cambria Math" panose="02040503050406030204" pitchFamily="18" charset="0"/>
                                    </a:rPr>
                                    <m:t>𝑘</m:t>
                                  </m:r>
                                </m:sub>
                              </m:sSub>
                              <m:d>
                                <m:dPr>
                                  <m:ctrlPr>
                                    <a:rPr lang="tr-TR" sz="1400" i="1">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
                              <m:r>
                                <a:rPr lang="tr-TR" sz="1400" i="0">
                                  <a:latin typeface="Cambria Math" panose="02040503050406030204" pitchFamily="18" charset="0"/>
                                </a:rPr>
                                <m:t>&amp;</m:t>
                              </m:r>
                              <m:sSub>
                                <m:sSubPr>
                                  <m:ctrlPr>
                                    <a:rPr lang="tr-TR" sz="1400" i="1">
                                      <a:latin typeface="Cambria Math" panose="02040503050406030204" pitchFamily="18" charset="0"/>
                                    </a:rPr>
                                  </m:ctrlPr>
                                </m:sSubPr>
                                <m:e>
                                  <m:r>
                                    <a:rPr lang="tr-TR" sz="1400" i="1">
                                      <a:latin typeface="Cambria Math" panose="02040503050406030204" pitchFamily="18" charset="0"/>
                                    </a:rPr>
                                    <m:t>𝑅</m:t>
                                  </m:r>
                                </m:e>
                                <m:sub>
                                  <m:r>
                                    <a:rPr lang="tr-TR" sz="1400" i="1">
                                      <a:latin typeface="Cambria Math" panose="02040503050406030204" pitchFamily="18" charset="0"/>
                                    </a:rPr>
                                    <m:t>𝑡𝑖𝑚𝑒</m:t>
                                  </m:r>
                                  <m:r>
                                    <a:rPr lang="tr-TR" sz="1400" i="0">
                                      <a:latin typeface="Cambria Math" panose="02040503050406030204" pitchFamily="18" charset="0"/>
                                    </a:rPr>
                                    <m:t>,</m:t>
                                  </m:r>
                                  <m:r>
                                    <a:rPr lang="tr-TR" sz="1400" i="1">
                                      <a:latin typeface="Cambria Math" panose="02040503050406030204" pitchFamily="18" charset="0"/>
                                    </a:rPr>
                                    <m:t>𝑘</m:t>
                                  </m:r>
                                </m:sub>
                              </m:sSub>
                              <m:d>
                                <m:dPr>
                                  <m:ctrlPr>
                                    <a:rPr lang="tr-TR" sz="1400" i="1">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qArr>
                        </m:e>
                      </m:d>
                    </m:oMath>
                  </m:oMathPara>
                </a14:m>
                <a:endParaRPr lang="tr-TR" sz="1400" dirty="0"/>
              </a:p>
            </p:txBody>
          </p:sp>
        </mc:Choice>
        <mc:Fallback xmlns="">
          <p:sp>
            <p:nvSpPr>
              <p:cNvPr id="14" name="TextBox 13">
                <a:extLst>
                  <a:ext uri="{FF2B5EF4-FFF2-40B4-BE49-F238E27FC236}">
                    <a16:creationId xmlns:a16="http://schemas.microsoft.com/office/drawing/2014/main" id="{A2C8D425-6532-458E-BBC7-68AEB345B4C5}"/>
                  </a:ext>
                </a:extLst>
              </p:cNvPr>
              <p:cNvSpPr txBox="1">
                <a:spLocks noRot="1" noChangeAspect="1" noMove="1" noResize="1" noEditPoints="1" noAdjustHandles="1" noChangeArrowheads="1" noChangeShapeType="1" noTextEdit="1"/>
              </p:cNvSpPr>
              <p:nvPr/>
            </p:nvSpPr>
            <p:spPr>
              <a:xfrm>
                <a:off x="9586866" y="2262852"/>
                <a:ext cx="2605134" cy="1060227"/>
              </a:xfrm>
              <a:prstGeom prst="rect">
                <a:avLst/>
              </a:prstGeom>
              <a:blipFill>
                <a:blip r:embed="rId9"/>
                <a:stretch>
                  <a:fillRect/>
                </a:stretch>
              </a:blipFill>
            </p:spPr>
            <p:txBody>
              <a:bodyPr/>
              <a:lstStyle/>
              <a:p>
                <a:r>
                  <a:rPr lang="tr-TR">
                    <a:noFill/>
                  </a:rPr>
                  <a:t/>
                </a:r>
              </a:p>
            </p:txBody>
          </p:sp>
        </mc:Fallback>
      </mc:AlternateContent>
      <p:pic>
        <p:nvPicPr>
          <p:cNvPr id="8" name="Image 2" descr="/tmp/thx/deck/figs/Figure3_1.png">
            <a:extLst>
              <a:ext uri="{FF2B5EF4-FFF2-40B4-BE49-F238E27FC236}">
                <a16:creationId xmlns:a16="http://schemas.microsoft.com/office/drawing/2014/main" id="{7201042C-615F-4D7C-EBC2-DA298E2EDC3A}"/>
              </a:ext>
            </a:extLst>
          </p:cNvPr>
          <p:cNvPicPr>
            <a:picLocks noChangeAspect="1"/>
          </p:cNvPicPr>
          <p:nvPr/>
        </p:nvPicPr>
        <p:blipFill>
          <a:blip r:embed="rId10"/>
          <a:stretch>
            <a:fillRect/>
          </a:stretch>
        </p:blipFill>
        <p:spPr>
          <a:xfrm>
            <a:off x="365760" y="1815950"/>
            <a:ext cx="5074920" cy="4323379"/>
          </a:xfrm>
          <a:prstGeom prst="rect">
            <a:avLst/>
          </a:prstGeom>
        </p:spPr>
      </p:pic>
      <p:sp>
        <p:nvSpPr>
          <p:cNvPr id="10" name="Text 2">
            <a:extLst>
              <a:ext uri="{FF2B5EF4-FFF2-40B4-BE49-F238E27FC236}">
                <a16:creationId xmlns:a16="http://schemas.microsoft.com/office/drawing/2014/main" id="{25702AA4-72C2-1804-61C5-EC38BC5BECFE}"/>
              </a:ext>
            </a:extLst>
          </p:cNvPr>
          <p:cNvSpPr/>
          <p:nvPr/>
        </p:nvSpPr>
        <p:spPr>
          <a:xfrm>
            <a:off x="5715000" y="1371600"/>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State Transition</a:t>
            </a:r>
            <a:endParaRPr lang="en-US" sz="1500" dirty="0"/>
          </a:p>
        </p:txBody>
      </p:sp>
      <mc:AlternateContent xmlns:mc="http://schemas.openxmlformats.org/markup-compatibility/2006" xmlns:a14="http://schemas.microsoft.com/office/drawing/2010/main">
        <mc:Choice Requires="a14">
          <p:sp>
            <p:nvSpPr>
              <p:cNvPr id="12" name="Text 3">
                <a:extLst>
                  <a:ext uri="{FF2B5EF4-FFF2-40B4-BE49-F238E27FC236}">
                    <a16:creationId xmlns:a16="http://schemas.microsoft.com/office/drawing/2014/main" id="{9E2EEAF8-AE26-3E94-E9C1-3FBE23D9D505}"/>
                  </a:ext>
                </a:extLst>
              </p:cNvPr>
              <p:cNvSpPr/>
              <p:nvPr/>
            </p:nvSpPr>
            <p:spPr>
              <a:xfrm>
                <a:off x="5738854" y="170078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r>
                            <a:rPr lang="en-US" sz="1600">
                              <a:latin typeface="Cambria Math"/>
                            </a:rPr>
                            <m:t>+1</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sz="1600">
                                  <a:latin typeface="Cambria Math"/>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12" name="Text 3">
                <a:extLst>
                  <a:ext uri="{FF2B5EF4-FFF2-40B4-BE49-F238E27FC236}">
                    <a16:creationId xmlns:a16="http://schemas.microsoft.com/office/drawing/2014/main" id="{9E2EEAF8-AE26-3E94-E9C1-3FBE23D9D505}"/>
                  </a:ext>
                </a:extLst>
              </p:cNvPr>
              <p:cNvSpPr>
                <a:spLocks noRot="1" noChangeAspect="1" noMove="1" noResize="1" noEditPoints="1" noAdjustHandles="1" noChangeArrowheads="1" noChangeShapeType="1" noTextEdit="1"/>
              </p:cNvSpPr>
              <p:nvPr/>
            </p:nvSpPr>
            <p:spPr>
              <a:xfrm>
                <a:off x="5738854" y="1700784"/>
                <a:ext cx="6035040" cy="457200"/>
              </a:xfrm>
              <a:prstGeom prst="rect">
                <a:avLst/>
              </a:prstGeom>
              <a:blipFill>
                <a:blip r:embed="rId11"/>
                <a:stretch>
                  <a:fillRect/>
                </a:stretch>
              </a:blipFill>
              <a:ln/>
            </p:spPr>
            <p:txBody>
              <a:bodyPr/>
              <a:lstStyle/>
              <a:p>
                <a:r>
                  <a:rPr lang="tr-TR">
                    <a:noFill/>
                  </a:rPr>
                  <a:t> </a:t>
                </a:r>
              </a:p>
            </p:txBody>
          </p:sp>
        </mc:Fallback>
      </mc:AlternateContent>
      <p:sp>
        <p:nvSpPr>
          <p:cNvPr id="15" name="Text 4">
            <a:extLst>
              <a:ext uri="{FF2B5EF4-FFF2-40B4-BE49-F238E27FC236}">
                <a16:creationId xmlns:a16="http://schemas.microsoft.com/office/drawing/2014/main" id="{78C9E500-DF81-F08B-993D-40039A3C7715}"/>
              </a:ext>
            </a:extLst>
          </p:cNvPr>
          <p:cNvSpPr/>
          <p:nvPr/>
        </p:nvSpPr>
        <p:spPr>
          <a:xfrm>
            <a:off x="5715000" y="2231136"/>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Input Field</a:t>
            </a:r>
            <a:endParaRPr lang="en-US" sz="1500" dirty="0"/>
          </a:p>
        </p:txBody>
      </p:sp>
    </p:spTree>
    <p:extLst>
      <p:ext uri="{BB962C8B-B14F-4D97-AF65-F5344CB8AC3E}">
        <p14:creationId xmlns:p14="http://schemas.microsoft.com/office/powerpoint/2010/main" val="14255553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44CC3-22A0-8497-95D8-15302A0DE658}"/>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B19786FE-42F3-DA46-AEC7-0A8F41A2C14C}"/>
              </a:ext>
            </a:extLst>
          </p:cNvPr>
          <p:cNvSpPr/>
          <p:nvPr/>
        </p:nvSpPr>
        <p:spPr>
          <a:xfrm>
            <a:off x="5615609" y="5257800"/>
            <a:ext cx="6484391" cy="1344168"/>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tr-TR"/>
          </a:p>
        </p:txBody>
      </p:sp>
      <p:sp>
        <p:nvSpPr>
          <p:cNvPr id="2" name="Text 0">
            <a:extLst>
              <a:ext uri="{FF2B5EF4-FFF2-40B4-BE49-F238E27FC236}">
                <a16:creationId xmlns:a16="http://schemas.microsoft.com/office/drawing/2014/main" id="{C3812927-687F-6CB6-258E-3FB7D7E52141}"/>
              </a:ext>
            </a:extLst>
          </p:cNvPr>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a:extLst>
              <a:ext uri="{FF2B5EF4-FFF2-40B4-BE49-F238E27FC236}">
                <a16:creationId xmlns:a16="http://schemas.microsoft.com/office/drawing/2014/main" id="{10F4B736-AACE-4FC7-3DFC-9BC68FB36C1D}"/>
              </a:ext>
            </a:extLst>
          </p:cNvPr>
          <p:cNvSpPr/>
          <p:nvPr/>
        </p:nvSpPr>
        <p:spPr>
          <a:xfrm>
            <a:off x="502920" y="512064"/>
            <a:ext cx="11247120" cy="731520"/>
          </a:xfrm>
          <a:prstGeom prst="rect">
            <a:avLst/>
          </a:prstGeom>
          <a:noFill/>
          <a:ln/>
        </p:spPr>
        <p:txBody>
          <a:bodyPr wrap="square" lIns="0" tIns="0" rIns="0" bIns="0" rtlCol="0" anchor="ctr"/>
          <a:lstStyle/>
          <a:p>
            <a:r>
              <a:rPr lang="en-US" sz="2800" b="1" dirty="0">
                <a:solidFill>
                  <a:srgbClr val="000000"/>
                </a:solidFill>
                <a:latin typeface="Cambria" pitchFamily="34" charset="0"/>
                <a:ea typeface="Cambria" pitchFamily="34" charset="-122"/>
                <a:cs typeface="Cambria" pitchFamily="34" charset="-120"/>
              </a:rPr>
              <a:t>Sim &amp; DSS Cores</a:t>
            </a:r>
            <a:endParaRPr lang="en-US" sz="2800" dirty="0"/>
          </a:p>
        </p:txBody>
      </p:sp>
      <p:pic>
        <p:nvPicPr>
          <p:cNvPr id="4" name="Image 0" descr="/tmp/thx/deck/figs/metu_emblem.png">
            <a:extLst>
              <a:ext uri="{FF2B5EF4-FFF2-40B4-BE49-F238E27FC236}">
                <a16:creationId xmlns:a16="http://schemas.microsoft.com/office/drawing/2014/main" id="{C1FC0937-B5EE-18B3-44AF-1C90A0DE47ED}"/>
              </a:ext>
            </a:extLst>
          </p:cNvPr>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a:extLst>
              <a:ext uri="{FF2B5EF4-FFF2-40B4-BE49-F238E27FC236}">
                <a16:creationId xmlns:a16="http://schemas.microsoft.com/office/drawing/2014/main" id="{7E086409-0370-4D10-986F-3302F203B608}"/>
              </a:ext>
            </a:extLst>
          </p:cNvPr>
          <p:cNvPicPr>
            <a:picLocks noChangeAspect="1"/>
          </p:cNvPicPr>
          <p:nvPr/>
        </p:nvPicPr>
        <p:blipFill>
          <a:blip r:embed="rId4"/>
          <a:stretch>
            <a:fillRect/>
          </a:stretch>
        </p:blipFill>
        <p:spPr>
          <a:xfrm>
            <a:off x="11265408" y="186217"/>
            <a:ext cx="475488" cy="395662"/>
          </a:xfrm>
          <a:prstGeom prst="rect">
            <a:avLst/>
          </a:prstGeom>
        </p:spPr>
      </p:pic>
      <p:sp>
        <p:nvSpPr>
          <p:cNvPr id="7" name="Text 2">
            <a:extLst>
              <a:ext uri="{FF2B5EF4-FFF2-40B4-BE49-F238E27FC236}">
                <a16:creationId xmlns:a16="http://schemas.microsoft.com/office/drawing/2014/main" id="{16F306A8-7E1C-5CD8-1235-35257E80FA09}"/>
              </a:ext>
            </a:extLst>
          </p:cNvPr>
          <p:cNvSpPr/>
          <p:nvPr/>
        </p:nvSpPr>
        <p:spPr>
          <a:xfrm>
            <a:off x="5715000" y="1371600"/>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State Transition</a:t>
            </a:r>
            <a:endParaRPr lang="en-US" sz="1500" dirty="0"/>
          </a:p>
        </p:txBody>
      </p:sp>
      <mc:AlternateContent xmlns:mc="http://schemas.openxmlformats.org/markup-compatibility/2006" xmlns:a14="http://schemas.microsoft.com/office/drawing/2010/main">
        <mc:Choice Requires="a14">
          <p:sp>
            <p:nvSpPr>
              <p:cNvPr id="8" name="Text 3">
                <a:extLst>
                  <a:ext uri="{FF2B5EF4-FFF2-40B4-BE49-F238E27FC236}">
                    <a16:creationId xmlns:a16="http://schemas.microsoft.com/office/drawing/2014/main" id="{C30BDA3A-7760-F0A0-09A9-63295C8F407E}"/>
                  </a:ext>
                </a:extLst>
              </p:cNvPr>
              <p:cNvSpPr/>
              <p:nvPr/>
            </p:nvSpPr>
            <p:spPr>
              <a:xfrm>
                <a:off x="5738854" y="170078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r>
                            <a:rPr lang="en-US" sz="1600">
                              <a:latin typeface="Cambria Math"/>
                            </a:rPr>
                            <m:t>+1</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sz="1600">
                                  <a:latin typeface="Cambria Math"/>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8" name="Text 3">
                <a:extLst>
                  <a:ext uri="{FF2B5EF4-FFF2-40B4-BE49-F238E27FC236}">
                    <a16:creationId xmlns:a16="http://schemas.microsoft.com/office/drawing/2014/main" id="{C30BDA3A-7760-F0A0-09A9-63295C8F407E}"/>
                  </a:ext>
                </a:extLst>
              </p:cNvPr>
              <p:cNvSpPr>
                <a:spLocks noRot="1" noChangeAspect="1" noMove="1" noResize="1" noEditPoints="1" noAdjustHandles="1" noChangeArrowheads="1" noChangeShapeType="1" noTextEdit="1"/>
              </p:cNvSpPr>
              <p:nvPr/>
            </p:nvSpPr>
            <p:spPr>
              <a:xfrm>
                <a:off x="5738854" y="1700784"/>
                <a:ext cx="6035040" cy="457200"/>
              </a:xfrm>
              <a:prstGeom prst="rect">
                <a:avLst/>
              </a:prstGeom>
              <a:blipFill>
                <a:blip r:embed="rId5"/>
                <a:stretch>
                  <a:fillRect/>
                </a:stretch>
              </a:blipFill>
              <a:ln/>
            </p:spPr>
            <p:txBody>
              <a:bodyPr/>
              <a:lstStyle/>
              <a:p>
                <a:r>
                  <a:rPr lang="tr-TR">
                    <a:noFill/>
                  </a:rPr>
                  <a:t> </a:t>
                </a:r>
              </a:p>
            </p:txBody>
          </p:sp>
        </mc:Fallback>
      </mc:AlternateContent>
      <p:sp>
        <p:nvSpPr>
          <p:cNvPr id="9" name="Text 4">
            <a:extLst>
              <a:ext uri="{FF2B5EF4-FFF2-40B4-BE49-F238E27FC236}">
                <a16:creationId xmlns:a16="http://schemas.microsoft.com/office/drawing/2014/main" id="{8E513A74-2B9A-7DDF-0160-5175D73B6F25}"/>
              </a:ext>
            </a:extLst>
          </p:cNvPr>
          <p:cNvSpPr/>
          <p:nvPr/>
        </p:nvSpPr>
        <p:spPr>
          <a:xfrm>
            <a:off x="5715000" y="2231136"/>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Input Field</a:t>
            </a:r>
            <a:endParaRPr lang="en-US" sz="1500" dirty="0"/>
          </a:p>
        </p:txBody>
      </p:sp>
      <mc:AlternateContent xmlns:mc="http://schemas.openxmlformats.org/markup-compatibility/2006" xmlns:a14="http://schemas.microsoft.com/office/drawing/2010/main">
        <mc:Choice Requires="a14">
          <p:sp>
            <p:nvSpPr>
              <p:cNvPr id="10" name="Text 5">
                <a:extLst>
                  <a:ext uri="{FF2B5EF4-FFF2-40B4-BE49-F238E27FC236}">
                    <a16:creationId xmlns:a16="http://schemas.microsoft.com/office/drawing/2014/main" id="{0373AE05-224B-D9EF-4CA7-2AABF01D930B}"/>
                  </a:ext>
                </a:extLst>
              </p:cNvPr>
              <p:cNvSpPr/>
              <p:nvPr/>
            </p:nvSpPr>
            <p:spPr>
              <a:xfrm>
                <a:off x="5738854" y="2560320"/>
                <a:ext cx="6035040" cy="457200"/>
              </a:xfrm>
              <a:prstGeom prst="rect">
                <a:avLst/>
              </a:prstGeom>
              <a:noFill/>
              <a:ln/>
            </p:spPr>
            <p:txBody>
              <a:bodyPr wrap="square" lIns="0" tIns="0" rIns="0" bIns="0" rtlCol="0" anchor="ctr"/>
              <a:lstStyle/>
              <a:p>
                <a:pPr algn="ctr"/>
                <a14:m>
                  <m:oMathPara xmlns:m="http://schemas.openxmlformats.org/officeDocument/2006/math">
                    <m:oMath>
                      <m:sSub>
                        <m:sSubPr>
                          <m:ctrlPr>
                            <a:rPr lang="en-US" sz="1500">
                              <a:latin typeface="Cambria Math"/>
                            </a:rPr>
                          </m:ctrlPr>
                        </m:sSubPr>
                        <m:e>
                          <m:r>
                            <a:rPr lang="en-US" sz="1500">
                              <a:latin typeface="Cambria Math"/>
                            </a:rPr>
                            <m:t>ℱ</m:t>
                          </m:r>
                        </m:e>
                        <m:sub>
                          <m:r>
                            <a:rPr lang="en-US" sz="1500">
                              <a:latin typeface="Cambria Math"/>
                            </a:rPr>
                            <m:t>𝑖𝑛</m:t>
                          </m:r>
                          <m:r>
                            <a:rPr lang="en-US" sz="1500">
                              <a:latin typeface="Cambria Math"/>
                            </a:rPr>
                            <m:t>,</m:t>
                          </m:r>
                          <m:r>
                            <a:rPr lang="en-US" sz="1500">
                              <a:latin typeface="Cambria Math"/>
                            </a:rPr>
                            <m:t>𝑘</m:t>
                          </m:r>
                        </m:sub>
                      </m:sSub>
                      <m:r>
                        <a:rPr lang="en-US" sz="1500">
                          <a:latin typeface="Cambria Math"/>
                        </a:rPr>
                        <m:t>=</m:t>
                      </m:r>
                      <m:d>
                        <m:dPr>
                          <m:begChr m:val="{"/>
                          <m:endChr m:val="}"/>
                          <m:ctrlPr>
                            <a:rPr lang="en-US" sz="1500" i="1">
                              <a:latin typeface="Cambria Math" panose="02040503050406030204" pitchFamily="18" charset="0"/>
                            </a:rPr>
                          </m:ctrlPr>
                        </m:dPr>
                        <m:e>
                          <m:sSub>
                            <m:sSubPr>
                              <m:ctrlPr>
                                <a:rPr lang="en-US" sz="1500">
                                  <a:latin typeface="Cambria Math"/>
                                </a:rPr>
                              </m:ctrlPr>
                            </m:sSubPr>
                            <m:e>
                              <m:r>
                                <a:rPr lang="en-US" sz="1500">
                                  <a:latin typeface="Cambria Math"/>
                                </a:rPr>
                                <m:t>𝑈</m:t>
                              </m:r>
                            </m:e>
                            <m:sub>
                              <m:r>
                                <a:rPr lang="en-US" sz="1500">
                                  <a:latin typeface="Cambria Math"/>
                                </a:rPr>
                                <m:t>𝑀𝑒𝑡𝑒𝑜</m:t>
                              </m:r>
                              <m:r>
                                <a:rPr lang="en-US" sz="1500">
                                  <a:latin typeface="Cambria Math"/>
                                </a:rPr>
                                <m:t>,</m:t>
                              </m:r>
                              <m:r>
                                <a:rPr lang="en-US" sz="1500">
                                  <a:latin typeface="Cambria Math"/>
                                </a:rPr>
                                <m:t>𝑘</m:t>
                              </m:r>
                            </m:sub>
                          </m:sSub>
                          <m:r>
                            <a:rPr lang="en-US" sz="1500">
                              <a:latin typeface="Cambria Math"/>
                            </a:rPr>
                            <m:t>,</m:t>
                          </m:r>
                          <m:sSub>
                            <m:sSubPr>
                              <m:ctrlPr>
                                <a:rPr lang="en-US" sz="1500">
                                  <a:latin typeface="Cambria Math"/>
                                </a:rPr>
                              </m:ctrlPr>
                            </m:sSubPr>
                            <m:e>
                              <m:r>
                                <a:rPr lang="en-US" sz="1500">
                                  <a:latin typeface="Cambria Math"/>
                                </a:rPr>
                                <m:t>𝑈</m:t>
                              </m:r>
                            </m:e>
                            <m:sub>
                              <m:r>
                                <a:rPr lang="en-US" sz="1500">
                                  <a:latin typeface="Cambria Math"/>
                                </a:rPr>
                                <m:t>𝐺𝑒𝑜</m:t>
                              </m:r>
                            </m:sub>
                          </m:sSub>
                          <m:r>
                            <a:rPr lang="en-US" sz="1500">
                              <a:latin typeface="Cambria Math"/>
                            </a:rPr>
                            <m:t>, </m:t>
                          </m:r>
                          <m:sSub>
                            <m:sSubPr>
                              <m:ctrlPr>
                                <a:rPr lang="en-US" sz="1500" i="1">
                                  <a:latin typeface="Cambria Math" panose="02040503050406030204" pitchFamily="18" charset="0"/>
                                </a:rPr>
                              </m:ctrlPr>
                            </m:sSubPr>
                            <m:e>
                              <m:sSub>
                                <m:sSubPr>
                                  <m:ctrlPr>
                                    <a:rPr lang="en-US" sz="1500">
                                      <a:latin typeface="Cambria Math"/>
                                    </a:rPr>
                                  </m:ctrlPr>
                                </m:sSubPr>
                                <m:e>
                                  <m:r>
                                    <a:rPr lang="en-US" sz="1500">
                                      <a:latin typeface="Cambria Math"/>
                                    </a:rPr>
                                    <m:t>𝑈</m:t>
                                  </m:r>
                                </m:e>
                                <m:sub>
                                  <m:r>
                                    <a:rPr lang="en-US" sz="1500">
                                      <a:latin typeface="Cambria Math"/>
                                    </a:rPr>
                                    <m:t>𝐹𝑢𝑒𝑙</m:t>
                                  </m:r>
                                  <m:r>
                                    <m:rPr>
                                      <m:nor/>
                                    </m:rPr>
                                    <a:rPr lang="en-US" sz="1500" i="0">
                                      <a:latin typeface="Cambria Math"/>
                                    </a:rPr>
                                    <m:t>,</m:t>
                                  </m:r>
                                  <m:r>
                                    <a:rPr lang="tr-TR" sz="1500" b="0" i="1" smtClean="0">
                                      <a:latin typeface="Cambria Math" panose="02040503050406030204" pitchFamily="18" charset="0"/>
                                    </a:rPr>
                                    <m:t>𝑘</m:t>
                                  </m:r>
                                </m:sub>
                              </m:sSub>
                              <m:r>
                                <a:rPr lang="tr-TR" sz="1500" b="1" i="1">
                                  <a:latin typeface="Cambria Math" panose="02040503050406030204" pitchFamily="18" charset="0"/>
                                </a:rPr>
                                <m:t>,</m:t>
                              </m:r>
                              <m:sSub>
                                <m:sSubPr>
                                  <m:ctrlPr>
                                    <a:rPr lang="en-US" sz="1500">
                                      <a:latin typeface="Cambria Math"/>
                                    </a:rPr>
                                  </m:ctrlPr>
                                </m:sSubPr>
                                <m:e>
                                  <m:r>
                                    <a:rPr lang="en-US" sz="1500">
                                      <a:latin typeface="Cambria Math"/>
                                    </a:rPr>
                                    <m:t>𝑈</m:t>
                                  </m:r>
                                </m:e>
                                <m:sub>
                                  <m:r>
                                    <a:rPr lang="en-US" sz="1500">
                                      <a:latin typeface="Cambria Math"/>
                                    </a:rPr>
                                    <m:t>𝐼𝑔𝑛</m:t>
                                  </m:r>
                                  <m:r>
                                    <a:rPr lang="en-US" sz="1500">
                                      <a:latin typeface="Cambria Math"/>
                                    </a:rPr>
                                    <m:t>,</m:t>
                                  </m:r>
                                  <m:r>
                                    <a:rPr lang="en-US" sz="1500">
                                      <a:latin typeface="Cambria Math"/>
                                    </a:rPr>
                                    <m:t>𝑘</m:t>
                                  </m:r>
                                </m:sub>
                              </m:sSub>
                              <m:r>
                                <a:rPr lang="en-US" sz="1500">
                                  <a:latin typeface="Cambria Math"/>
                                </a:rPr>
                                <m:t>, </m:t>
                              </m:r>
                              <m:r>
                                <a:rPr lang="en-US" sz="1500">
                                  <a:latin typeface="Cambria Math"/>
                                </a:rPr>
                                <m:t>𝑈</m:t>
                              </m:r>
                            </m:e>
                            <m:sub>
                              <m:r>
                                <a:rPr lang="en-US" sz="1500">
                                  <a:latin typeface="Cambria Math"/>
                                </a:rPr>
                                <m:t>𝐷𝑆𝑆</m:t>
                              </m:r>
                              <m:r>
                                <a:rPr lang="en-US" sz="1500">
                                  <a:latin typeface="Cambria Math"/>
                                </a:rPr>
                                <m:t>,</m:t>
                              </m:r>
                              <m:r>
                                <a:rPr lang="en-US" sz="1500">
                                  <a:latin typeface="Cambria Math"/>
                                </a:rPr>
                                <m:t>𝑘</m:t>
                              </m:r>
                            </m:sub>
                          </m:sSub>
                        </m:e>
                      </m:d>
                    </m:oMath>
                  </m:oMathPara>
                </a14:m>
                <a:endParaRPr lang="en-US" sz="1600" dirty="0"/>
              </a:p>
            </p:txBody>
          </p:sp>
        </mc:Choice>
        <mc:Fallback xmlns="">
          <p:sp>
            <p:nvSpPr>
              <p:cNvPr id="10" name="Text 5">
                <a:extLst>
                  <a:ext uri="{FF2B5EF4-FFF2-40B4-BE49-F238E27FC236}">
                    <a16:creationId xmlns:a16="http://schemas.microsoft.com/office/drawing/2014/main" id="{0373AE05-224B-D9EF-4CA7-2AABF01D930B}"/>
                  </a:ext>
                </a:extLst>
              </p:cNvPr>
              <p:cNvSpPr>
                <a:spLocks noRot="1" noChangeAspect="1" noMove="1" noResize="1" noEditPoints="1" noAdjustHandles="1" noChangeArrowheads="1" noChangeShapeType="1" noTextEdit="1"/>
              </p:cNvSpPr>
              <p:nvPr/>
            </p:nvSpPr>
            <p:spPr>
              <a:xfrm>
                <a:off x="5738854" y="2560320"/>
                <a:ext cx="6035040" cy="457200"/>
              </a:xfrm>
              <a:prstGeom prst="rect">
                <a:avLst/>
              </a:prstGeom>
              <a:blipFill>
                <a:blip r:embed="rId6"/>
                <a:stretch>
                  <a:fillRect/>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11" name="Text 6">
                <a:extLst>
                  <a:ext uri="{FF2B5EF4-FFF2-40B4-BE49-F238E27FC236}">
                    <a16:creationId xmlns:a16="http://schemas.microsoft.com/office/drawing/2014/main" id="{F28F8C44-E829-AC07-EC86-4B9D4F2A19B9}"/>
                  </a:ext>
                </a:extLst>
              </p:cNvPr>
              <p:cNvSpPr/>
              <p:nvPr/>
            </p:nvSpPr>
            <p:spPr>
              <a:xfrm>
                <a:off x="5943600" y="3108960"/>
                <a:ext cx="5806440" cy="50292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a:latin typeface="Cambria Math"/>
                          </a:rPr>
                        </m:ctrlPr>
                      </m:sSubPr>
                      <m:e>
                        <m:r>
                          <a:rPr lang="en-US" sz="1300">
                            <a:latin typeface="Cambria Math"/>
                          </a:rPr>
                          <m:t>𝑈</m:t>
                        </m:r>
                      </m:e>
                      <m:sub>
                        <m:r>
                          <a:rPr lang="en-US" sz="1300">
                            <a:latin typeface="Cambria Math"/>
                          </a:rPr>
                          <m:t>𝑀𝑒𝑡𝑒𝑜</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meteorology: temperature, humidity, wind speed and direction, gusts, precipitation (time-varying)</a:t>
                </a:r>
                <a:endParaRPr lang="en-US" sz="1350" dirty="0"/>
              </a:p>
            </p:txBody>
          </p:sp>
        </mc:Choice>
        <mc:Fallback xmlns="">
          <p:sp>
            <p:nvSpPr>
              <p:cNvPr id="11" name="Text 6"/>
              <p:cNvSpPr>
                <a:spLocks noRot="1" noChangeAspect="1" noMove="1" noResize="1" noEditPoints="1" noAdjustHandles="1" noChangeArrowheads="1" noChangeShapeType="1" noTextEdit="1"/>
              </p:cNvSpPr>
              <p:nvPr/>
            </p:nvSpPr>
            <p:spPr>
              <a:xfrm>
                <a:off x="5943600" y="3108960"/>
                <a:ext cx="5806440" cy="502920"/>
              </a:xfrm>
              <a:prstGeom prst="rect">
                <a:avLst/>
              </a:prstGeom>
              <a:blipFill>
                <a:blip r:embed="rId8"/>
                <a:stretch>
                  <a:fillRect l="-1784" b="-19277"/>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2" name="Text 7">
                <a:extLst>
                  <a:ext uri="{FF2B5EF4-FFF2-40B4-BE49-F238E27FC236}">
                    <a16:creationId xmlns:a16="http://schemas.microsoft.com/office/drawing/2014/main" id="{8081E060-E5A5-AFE7-D806-D732F00FC2E1}"/>
                  </a:ext>
                </a:extLst>
              </p:cNvPr>
              <p:cNvSpPr/>
              <p:nvPr/>
            </p:nvSpPr>
            <p:spPr>
              <a:xfrm>
                <a:off x="5943600" y="3639312"/>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a:latin typeface="Cambria Math"/>
                          </a:rPr>
                        </m:ctrlPr>
                      </m:sSubPr>
                      <m:e>
                        <m:r>
                          <a:rPr lang="en-US" sz="1300">
                            <a:latin typeface="Cambria Math"/>
                          </a:rPr>
                          <m:t>𝑈</m:t>
                        </m:r>
                      </m:e>
                      <m:sub>
                        <m:r>
                          <a:rPr lang="en-US" sz="1300">
                            <a:latin typeface="Cambria Math"/>
                          </a:rPr>
                          <m:t>𝐺𝑒𝑜</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topography: elevation, slope, aspect, and access (static)</a:t>
                </a:r>
                <a:endParaRPr lang="en-US" sz="1350" dirty="0"/>
              </a:p>
            </p:txBody>
          </p:sp>
        </mc:Choice>
        <mc:Fallback xmlns="">
          <p:sp>
            <p:nvSpPr>
              <p:cNvPr id="12" name="Text 7"/>
              <p:cNvSpPr>
                <a:spLocks noRot="1" noChangeAspect="1" noMove="1" noResize="1" noEditPoints="1" noAdjustHandles="1" noChangeArrowheads="1" noChangeShapeType="1" noTextEdit="1"/>
              </p:cNvSpPr>
              <p:nvPr/>
            </p:nvSpPr>
            <p:spPr>
              <a:xfrm>
                <a:off x="5943600" y="3639312"/>
                <a:ext cx="5806440" cy="320040"/>
              </a:xfrm>
              <a:prstGeom prst="rect">
                <a:avLst/>
              </a:prstGeom>
              <a:blipFill>
                <a:blip r:embed="rId9"/>
                <a:stretch>
                  <a:fillRect l="-944" t="-1887" b="-11321"/>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3" name="Text 8">
                <a:extLst>
                  <a:ext uri="{FF2B5EF4-FFF2-40B4-BE49-F238E27FC236}">
                    <a16:creationId xmlns:a16="http://schemas.microsoft.com/office/drawing/2014/main" id="{96B533BE-6793-0730-532D-E86A023FFB61}"/>
                  </a:ext>
                </a:extLst>
              </p:cNvPr>
              <p:cNvSpPr/>
              <p:nvPr/>
            </p:nvSpPr>
            <p:spPr>
              <a:xfrm>
                <a:off x="5943600" y="3986784"/>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a:latin typeface="Cambria Math"/>
                          </a:rPr>
                        </m:ctrlPr>
                      </m:sSubPr>
                      <m:e>
                        <m:r>
                          <a:rPr lang="en-US" sz="1300">
                            <a:latin typeface="Cambria Math"/>
                          </a:rPr>
                          <m:t>𝑈</m:t>
                        </m:r>
                      </m:e>
                      <m:sub>
                        <m:r>
                          <a:rPr lang="en-US" sz="1300">
                            <a:latin typeface="Cambria Math"/>
                          </a:rPr>
                          <m:t>𝐹𝑢𝑒𝑙</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fuel load and fuel moisture, per fuel type</a:t>
                </a:r>
                <a:endParaRPr lang="en-US" sz="1350" dirty="0"/>
              </a:p>
            </p:txBody>
          </p:sp>
        </mc:Choice>
        <mc:Fallback xmlns="">
          <p:sp>
            <p:nvSpPr>
              <p:cNvPr id="13" name="Text 8"/>
              <p:cNvSpPr>
                <a:spLocks noRot="1" noChangeAspect="1" noMove="1" noResize="1" noEditPoints="1" noAdjustHandles="1" noChangeArrowheads="1" noChangeShapeType="1" noTextEdit="1"/>
              </p:cNvSpPr>
              <p:nvPr/>
            </p:nvSpPr>
            <p:spPr>
              <a:xfrm>
                <a:off x="5943600" y="3986784"/>
                <a:ext cx="5806440" cy="320040"/>
              </a:xfrm>
              <a:prstGeom prst="rect">
                <a:avLst/>
              </a:prstGeom>
              <a:blipFill>
                <a:blip r:embed="rId10"/>
                <a:stretch>
                  <a:fillRect l="-944" b="-15094"/>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4" name="Text 9">
                <a:extLst>
                  <a:ext uri="{FF2B5EF4-FFF2-40B4-BE49-F238E27FC236}">
                    <a16:creationId xmlns:a16="http://schemas.microsoft.com/office/drawing/2014/main" id="{7F097328-BD5E-7DE5-9CF8-A7BA0D2D0835}"/>
                  </a:ext>
                </a:extLst>
              </p:cNvPr>
              <p:cNvSpPr/>
              <p:nvPr/>
            </p:nvSpPr>
            <p:spPr>
              <a:xfrm>
                <a:off x="5943600" y="4334256"/>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a:latin typeface="Cambria Math"/>
                          </a:rPr>
                        </m:ctrlPr>
                      </m:sSubPr>
                      <m:e>
                        <m:r>
                          <a:rPr lang="en-US" sz="1300">
                            <a:latin typeface="Cambria Math"/>
                          </a:rPr>
                          <m:t>𝑈</m:t>
                        </m:r>
                      </m:e>
                      <m:sub>
                        <m:r>
                          <a:rPr lang="en-US" sz="1300">
                            <a:latin typeface="Cambria Math"/>
                          </a:rPr>
                          <m:t>𝐼𝑔𝑛</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ignition injection (binary ignition events)</a:t>
                </a:r>
                <a:endParaRPr lang="en-US" sz="1350" dirty="0"/>
              </a:p>
            </p:txBody>
          </p:sp>
        </mc:Choice>
        <mc:Fallback xmlns="">
          <p:sp>
            <p:nvSpPr>
              <p:cNvPr id="14" name="Text 9"/>
              <p:cNvSpPr>
                <a:spLocks noRot="1" noChangeAspect="1" noMove="1" noResize="1" noEditPoints="1" noAdjustHandles="1" noChangeArrowheads="1" noChangeShapeType="1" noTextEdit="1"/>
              </p:cNvSpPr>
              <p:nvPr/>
            </p:nvSpPr>
            <p:spPr>
              <a:xfrm>
                <a:off x="5943600" y="4334256"/>
                <a:ext cx="5806440" cy="320040"/>
              </a:xfrm>
              <a:prstGeom prst="rect">
                <a:avLst/>
              </a:prstGeom>
              <a:blipFill>
                <a:blip r:embed="rId11"/>
                <a:stretch>
                  <a:fillRect l="-944" b="-16981"/>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5" name="Text 10">
                <a:extLst>
                  <a:ext uri="{FF2B5EF4-FFF2-40B4-BE49-F238E27FC236}">
                    <a16:creationId xmlns:a16="http://schemas.microsoft.com/office/drawing/2014/main" id="{5DA449B5-5E8D-4059-F592-E42D9DEF682C}"/>
                  </a:ext>
                </a:extLst>
              </p:cNvPr>
              <p:cNvSpPr/>
              <p:nvPr/>
            </p:nvSpPr>
            <p:spPr>
              <a:xfrm>
                <a:off x="5943600" y="4681728"/>
                <a:ext cx="5806440" cy="50292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a:latin typeface="Cambria Math"/>
                          </a:rPr>
                        </m:ctrlPr>
                      </m:sSubPr>
                      <m:e>
                        <m:r>
                          <a:rPr lang="en-US" sz="1300">
                            <a:latin typeface="Cambria Math"/>
                          </a:rPr>
                          <m:t>𝑈</m:t>
                        </m:r>
                      </m:e>
                      <m:sub>
                        <m:r>
                          <a:rPr lang="en-US" sz="1300">
                            <a:latin typeface="Cambria Math"/>
                          </a:rPr>
                          <m:t>𝐷𝑆𝑆</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b="1" dirty="0">
                    <a:solidFill>
                      <a:srgbClr val="222222"/>
                    </a:solidFill>
                    <a:latin typeface="Calibri" pitchFamily="34" charset="0"/>
                    <a:ea typeface="Calibri" pitchFamily="34" charset="-122"/>
                    <a:cs typeface="Calibri" pitchFamily="34" charset="-120"/>
                  </a:rPr>
                  <a:t> — the fielded decision: the only channel through which the DSS touches the world</a:t>
                </a:r>
                <a:endParaRPr lang="en-US" sz="1350" dirty="0"/>
              </a:p>
            </p:txBody>
          </p:sp>
        </mc:Choice>
        <mc:Fallback xmlns="">
          <p:sp>
            <p:nvSpPr>
              <p:cNvPr id="15" name="Text 10"/>
              <p:cNvSpPr>
                <a:spLocks noRot="1" noChangeAspect="1" noMove="1" noResize="1" noEditPoints="1" noAdjustHandles="1" noChangeArrowheads="1" noChangeShapeType="1" noTextEdit="1"/>
              </p:cNvSpPr>
              <p:nvPr/>
            </p:nvSpPr>
            <p:spPr>
              <a:xfrm>
                <a:off x="5943600" y="4681728"/>
                <a:ext cx="5806440" cy="502920"/>
              </a:xfrm>
              <a:prstGeom prst="rect">
                <a:avLst/>
              </a:prstGeom>
              <a:blipFill>
                <a:blip r:embed="rId12"/>
                <a:stretch>
                  <a:fillRect l="-1784" b="-19277"/>
                </a:stretch>
              </a:blipFill>
              <a:ln/>
            </p:spPr>
            <p:txBody>
              <a:bodyPr/>
              <a:lstStyle/>
              <a:p>
                <a:r>
                  <a:rPr lang="tr-TR">
                    <a:noFill/>
                  </a:rPr>
                  <a:t/>
                </a:r>
              </a:p>
            </p:txBody>
          </p:sp>
        </mc:Fallback>
      </mc:AlternateContent>
      <p:sp>
        <p:nvSpPr>
          <p:cNvPr id="16" name="Text 11">
            <a:extLst>
              <a:ext uri="{FF2B5EF4-FFF2-40B4-BE49-F238E27FC236}">
                <a16:creationId xmlns:a16="http://schemas.microsoft.com/office/drawing/2014/main" id="{CCC1E050-72F1-1EB7-D3C7-2370BF16F770}"/>
              </a:ext>
            </a:extLst>
          </p:cNvPr>
          <p:cNvSpPr/>
          <p:nvPr/>
        </p:nvSpPr>
        <p:spPr>
          <a:xfrm>
            <a:off x="5715000" y="5257800"/>
            <a:ext cx="6035040" cy="502920"/>
          </a:xfrm>
          <a:prstGeom prst="rect">
            <a:avLst/>
          </a:prstGeom>
          <a:noFill/>
          <a:ln/>
        </p:spPr>
        <p:txBody>
          <a:bodyPr wrap="square" lIns="0" tIns="0" rIns="0" bIns="0" rtlCol="0" anchor="t"/>
          <a:lstStyle/>
          <a:p>
            <a:pPr marL="0" indent="0">
              <a:lnSpc>
                <a:spcPct val="104000"/>
              </a:lnSpc>
              <a:buNone/>
            </a:pPr>
            <a:r>
              <a:rPr lang="en-US" sz="1400" b="1" dirty="0">
                <a:solidFill>
                  <a:srgbClr val="222222"/>
                </a:solidFill>
                <a:latin typeface="Calibri" pitchFamily="34" charset="0"/>
                <a:ea typeface="Calibri" pitchFamily="34" charset="-122"/>
                <a:cs typeface="Calibri" pitchFamily="34" charset="-120"/>
              </a:rPr>
              <a:t>Per-Cell State</a:t>
            </a:r>
            <a:endParaRPr lang="en-US" sz="1400" dirty="0"/>
          </a:p>
        </p:txBody>
      </p:sp>
      <mc:AlternateContent xmlns:mc="http://schemas.openxmlformats.org/markup-compatibility/2006" xmlns:a14="http://schemas.microsoft.com/office/drawing/2010/main">
        <mc:Choice Requires="a14">
          <p:sp>
            <p:nvSpPr>
              <p:cNvPr id="17" name="Text 12">
                <a:extLst>
                  <a:ext uri="{FF2B5EF4-FFF2-40B4-BE49-F238E27FC236}">
                    <a16:creationId xmlns:a16="http://schemas.microsoft.com/office/drawing/2014/main" id="{8DE8F3FD-EF1F-ACE9-816F-BF3F0C77AB68}"/>
                  </a:ext>
                </a:extLst>
              </p:cNvPr>
              <p:cNvSpPr/>
              <p:nvPr/>
            </p:nvSpPr>
            <p:spPr>
              <a:xfrm>
                <a:off x="5738854" y="5490773"/>
                <a:ext cx="6035040" cy="777240"/>
              </a:xfrm>
              <a:prstGeom prst="rect">
                <a:avLst/>
              </a:prstGeom>
              <a:noFill/>
              <a:ln/>
            </p:spPr>
            <p:txBody>
              <a:bodyPr wrap="square" lIns="0" tIns="0" rIns="0" bIns="0" rtlCol="0" anchor="ctr"/>
              <a:lstStyle/>
              <a:p>
                <a:pPr algn="ctr"/>
                <a14:m>
                  <m:oMathPara xmlns:m="http://schemas.openxmlformats.org/officeDocument/2006/math">
                    <m:oMath>
                      <m:sSub>
                        <m:sSubPr>
                          <m:ctrlPr>
                            <a:rPr lang="en-US" sz="1500" i="1">
                              <a:latin typeface="Cambria Math" panose="02040503050406030204" pitchFamily="18" charset="0"/>
                            </a:rPr>
                          </m:ctrlPr>
                        </m:sSubPr>
                        <m:e>
                          <m:r>
                            <a:rPr lang="en-US" sz="1500" i="1">
                              <a:latin typeface="Cambria Math" panose="02040503050406030204" pitchFamily="18" charset="0"/>
                            </a:rPr>
                            <m:t>𝑠</m:t>
                          </m:r>
                        </m:e>
                        <m:sub>
                          <m:r>
                            <a:rPr lang="en-US" sz="1500">
                              <a:latin typeface="Cambria Math"/>
                            </a:rPr>
                            <m:t>𝑘</m:t>
                          </m:r>
                        </m:sub>
                      </m:sSub>
                      <m:d>
                        <m:dPr>
                          <m:ctrlPr>
                            <a:rPr lang="en-US" sz="1500">
                              <a:latin typeface="Cambria Math"/>
                            </a:rPr>
                          </m:ctrlPr>
                        </m:dPr>
                        <m:e>
                          <m:r>
                            <a:rPr lang="en-US" sz="1500">
                              <a:latin typeface="Cambria Math"/>
                            </a:rPr>
                            <m:t>𝑥</m:t>
                          </m:r>
                          <m:r>
                            <a:rPr lang="en-US" sz="1500">
                              <a:latin typeface="Cambria Math"/>
                            </a:rPr>
                            <m:t>,</m:t>
                          </m:r>
                          <m:r>
                            <a:rPr lang="en-US" sz="1500">
                              <a:latin typeface="Cambria Math"/>
                            </a:rPr>
                            <m:t>𝑦</m:t>
                          </m:r>
                        </m:e>
                      </m:d>
                      <m:r>
                        <a:rPr lang="en-US" sz="1500" b="0" i="1" smtClean="0">
                          <a:latin typeface="Cambria Math" panose="02040503050406030204" pitchFamily="18" charset="0"/>
                        </a:rPr>
                        <m:t>= </m:t>
                      </m:r>
                      <m:d>
                        <m:dPr>
                          <m:begChr m:val="["/>
                          <m:endChr m:val="]"/>
                          <m:ctrlPr>
                            <a:rPr lang="en-US" sz="1500" i="1">
                              <a:latin typeface="Cambria Math" panose="02040503050406030204" pitchFamily="18" charset="0"/>
                            </a:rPr>
                          </m:ctrlPr>
                        </m:dPr>
                        <m:e>
                          <m:eqArr>
                            <m:eqArrPr>
                              <m:ctrlPr>
                                <a:rPr lang="en-US" sz="1500" i="1">
                                  <a:latin typeface="Cambria Math" panose="02040503050406030204" pitchFamily="18" charset="0"/>
                                </a:rPr>
                              </m:ctrlPr>
                            </m:eqArrPr>
                            <m:e>
                              <m:sSub>
                                <m:sSubPr>
                                  <m:ctrlPr>
                                    <a:rPr lang="en-US" sz="1500">
                                      <a:latin typeface="Cambria Math"/>
                                    </a:rPr>
                                  </m:ctrlPr>
                                </m:sSubPr>
                                <m:e>
                                  <m:r>
                                    <a:rPr lang="en-US" sz="1500">
                                      <a:latin typeface="Cambria Math"/>
                                    </a:rPr>
                                    <m:t>𝐵</m:t>
                                  </m:r>
                                </m:e>
                                <m:sub>
                                  <m:r>
                                    <a:rPr lang="en-US" sz="1500">
                                      <a:latin typeface="Cambria Math"/>
                                    </a:rPr>
                                    <m:t>𝑘</m:t>
                                  </m:r>
                                </m:sub>
                              </m:sSub>
                              <m:d>
                                <m:dPr>
                                  <m:ctrlPr>
                                    <a:rPr lang="en-US" sz="1500">
                                      <a:latin typeface="Cambria Math"/>
                                    </a:rPr>
                                  </m:ctrlPr>
                                </m:dPr>
                                <m:e>
                                  <m:r>
                                    <a:rPr lang="en-US" sz="1500">
                                      <a:latin typeface="Cambria Math"/>
                                    </a:rPr>
                                    <m:t>𝑥</m:t>
                                  </m:r>
                                  <m:r>
                                    <a:rPr lang="en-US" sz="1500">
                                      <a:latin typeface="Cambria Math"/>
                                    </a:rPr>
                                    <m:t>,</m:t>
                                  </m:r>
                                  <m:r>
                                    <a:rPr lang="en-US" sz="1500">
                                      <a:latin typeface="Cambria Math"/>
                                    </a:rPr>
                                    <m:t>𝑦</m:t>
                                  </m:r>
                                </m:e>
                              </m:d>
                            </m:e>
                            <m:e>
                              <m:sSub>
                                <m:sSubPr>
                                  <m:ctrlPr>
                                    <a:rPr lang="en-US" sz="1500">
                                      <a:latin typeface="Cambria Math"/>
                                    </a:rPr>
                                  </m:ctrlPr>
                                </m:sSubPr>
                                <m:e>
                                  <m:r>
                                    <a:rPr lang="en-US" sz="1500">
                                      <a:latin typeface="Cambria Math"/>
                                    </a:rPr>
                                    <m:t>𝐹</m:t>
                                  </m:r>
                                </m:e>
                                <m:sub>
                                  <m:r>
                                    <a:rPr lang="en-US" sz="1500">
                                      <a:latin typeface="Cambria Math"/>
                                    </a:rPr>
                                    <m:t>𝑙𝑜𝑎𝑑</m:t>
                                  </m:r>
                                  <m:r>
                                    <a:rPr lang="en-US" sz="1500">
                                      <a:latin typeface="Cambria Math"/>
                                    </a:rPr>
                                    <m:t>,</m:t>
                                  </m:r>
                                  <m:r>
                                    <a:rPr lang="en-US" sz="1500">
                                      <a:latin typeface="Cambria Math"/>
                                    </a:rPr>
                                    <m:t>𝑘</m:t>
                                  </m:r>
                                </m:sub>
                              </m:sSub>
                              <m:d>
                                <m:dPr>
                                  <m:ctrlPr>
                                    <a:rPr lang="en-US" sz="1500">
                                      <a:latin typeface="Cambria Math"/>
                                    </a:rPr>
                                  </m:ctrlPr>
                                </m:dPr>
                                <m:e>
                                  <m:r>
                                    <a:rPr lang="en-US" sz="1500">
                                      <a:latin typeface="Cambria Math"/>
                                    </a:rPr>
                                    <m:t>𝑥</m:t>
                                  </m:r>
                                  <m:r>
                                    <a:rPr lang="en-US" sz="1500">
                                      <a:latin typeface="Cambria Math"/>
                                    </a:rPr>
                                    <m:t>,</m:t>
                                  </m:r>
                                  <m:r>
                                    <a:rPr lang="en-US" sz="1500">
                                      <a:latin typeface="Cambria Math"/>
                                    </a:rPr>
                                    <m:t>𝑦</m:t>
                                  </m:r>
                                </m:e>
                              </m:d>
                            </m:e>
                            <m:e>
                              <m:sSub>
                                <m:sSubPr>
                                  <m:ctrlPr>
                                    <a:rPr lang="en-US" sz="1500">
                                      <a:latin typeface="Cambria Math"/>
                                    </a:rPr>
                                  </m:ctrlPr>
                                </m:sSubPr>
                                <m:e>
                                  <m:r>
                                    <a:rPr lang="en-US" sz="1500">
                                      <a:latin typeface="Cambria Math"/>
                                    </a:rPr>
                                    <m:t>𝐼</m:t>
                                  </m:r>
                                </m:e>
                                <m:sub>
                                  <m:r>
                                    <a:rPr lang="en-US" sz="1500">
                                      <a:latin typeface="Cambria Math"/>
                                    </a:rPr>
                                    <m:t>𝑘</m:t>
                                  </m:r>
                                </m:sub>
                              </m:sSub>
                              <m:d>
                                <m:dPr>
                                  <m:ctrlPr>
                                    <a:rPr lang="en-US" sz="1500">
                                      <a:latin typeface="Cambria Math"/>
                                    </a:rPr>
                                  </m:ctrlPr>
                                </m:dPr>
                                <m:e>
                                  <m:r>
                                    <a:rPr lang="en-US" sz="1500">
                                      <a:latin typeface="Cambria Math"/>
                                    </a:rPr>
                                    <m:t>𝑥</m:t>
                                  </m:r>
                                  <m:r>
                                    <a:rPr lang="en-US" sz="1500">
                                      <a:latin typeface="Cambria Math"/>
                                    </a:rPr>
                                    <m:t>,</m:t>
                                  </m:r>
                                  <m:r>
                                    <a:rPr lang="en-US" sz="1500">
                                      <a:latin typeface="Cambria Math"/>
                                    </a:rPr>
                                    <m:t>𝑦</m:t>
                                  </m:r>
                                </m:e>
                              </m:d>
                            </m:e>
                            <m:e>
                              <m:sSub>
                                <m:sSubPr>
                                  <m:ctrlPr>
                                    <a:rPr lang="en-US" sz="1500">
                                      <a:latin typeface="Cambria Math"/>
                                    </a:rPr>
                                  </m:ctrlPr>
                                </m:sSubPr>
                                <m:e>
                                  <m:r>
                                    <a:rPr lang="en-US" sz="1500">
                                      <a:latin typeface="Cambria Math"/>
                                    </a:rPr>
                                    <m:t>𝜏</m:t>
                                  </m:r>
                                </m:e>
                                <m:sub>
                                  <m:r>
                                    <a:rPr lang="en-US" sz="1500">
                                      <a:latin typeface="Cambria Math"/>
                                    </a:rPr>
                                    <m:t>𝑘</m:t>
                                  </m:r>
                                </m:sub>
                              </m:sSub>
                              <m:d>
                                <m:dPr>
                                  <m:ctrlPr>
                                    <a:rPr lang="en-US" sz="1500">
                                      <a:latin typeface="Cambria Math"/>
                                    </a:rPr>
                                  </m:ctrlPr>
                                </m:dPr>
                                <m:e>
                                  <m:r>
                                    <a:rPr lang="en-US" sz="1500">
                                      <a:latin typeface="Cambria Math"/>
                                    </a:rPr>
                                    <m:t>𝑥</m:t>
                                  </m:r>
                                  <m:r>
                                    <a:rPr lang="en-US" sz="1500">
                                      <a:latin typeface="Cambria Math"/>
                                    </a:rPr>
                                    <m:t>,</m:t>
                                  </m:r>
                                  <m:r>
                                    <a:rPr lang="en-US" sz="1500">
                                      <a:latin typeface="Cambria Math"/>
                                    </a:rPr>
                                    <m:t>𝑦</m:t>
                                  </m:r>
                                </m:e>
                              </m:d>
                            </m:e>
                          </m:eqArr>
                        </m:e>
                      </m:d>
                    </m:oMath>
                  </m:oMathPara>
                </a14:m>
                <a:endParaRPr lang="en-US" sz="1500" dirty="0"/>
              </a:p>
            </p:txBody>
          </p:sp>
        </mc:Choice>
        <mc:Fallback xmlns="">
          <p:sp>
            <p:nvSpPr>
              <p:cNvPr id="17" name="Text 12">
                <a:extLst>
                  <a:ext uri="{FF2B5EF4-FFF2-40B4-BE49-F238E27FC236}">
                    <a16:creationId xmlns:a16="http://schemas.microsoft.com/office/drawing/2014/main" id="{8DE8F3FD-EF1F-ACE9-816F-BF3F0C77AB68}"/>
                  </a:ext>
                </a:extLst>
              </p:cNvPr>
              <p:cNvSpPr>
                <a:spLocks noRot="1" noChangeAspect="1" noMove="1" noResize="1" noEditPoints="1" noAdjustHandles="1" noChangeArrowheads="1" noChangeShapeType="1" noTextEdit="1"/>
              </p:cNvSpPr>
              <p:nvPr/>
            </p:nvSpPr>
            <p:spPr>
              <a:xfrm>
                <a:off x="5738854" y="5490773"/>
                <a:ext cx="6035040" cy="777240"/>
              </a:xfrm>
              <a:prstGeom prst="rect">
                <a:avLst/>
              </a:prstGeom>
              <a:blipFill>
                <a:blip r:embed="rId13"/>
                <a:stretch>
                  <a:fillRect t="-8661" b="-12598"/>
                </a:stretch>
              </a:blipFill>
              <a:ln/>
            </p:spPr>
            <p:txBody>
              <a:bodyPr/>
              <a:lstStyle/>
              <a:p>
                <a:r>
                  <a:rPr lang="tr-TR">
                    <a:noFill/>
                  </a:rPr>
                  <a:t> </a:t>
                </a:r>
              </a:p>
            </p:txBody>
          </p:sp>
        </mc:Fallback>
      </mc:AlternateContent>
      <p:pic>
        <p:nvPicPr>
          <p:cNvPr id="19" name="Image 2" descr="/tmp/thx/deck/figs/Figure3_1.png">
            <a:extLst>
              <a:ext uri="{FF2B5EF4-FFF2-40B4-BE49-F238E27FC236}">
                <a16:creationId xmlns:a16="http://schemas.microsoft.com/office/drawing/2014/main" id="{B5426302-6220-0CDA-67B9-F94A3AF90160}"/>
              </a:ext>
            </a:extLst>
          </p:cNvPr>
          <p:cNvPicPr>
            <a:picLocks noChangeAspect="1"/>
          </p:cNvPicPr>
          <p:nvPr/>
        </p:nvPicPr>
        <p:blipFill>
          <a:blip r:embed="rId14"/>
          <a:stretch>
            <a:fillRect/>
          </a:stretch>
        </p:blipFill>
        <p:spPr>
          <a:xfrm>
            <a:off x="365760" y="1815950"/>
            <a:ext cx="5074920" cy="4323379"/>
          </a:xfrm>
          <a:prstGeom prst="rect">
            <a:avLst/>
          </a:prstGeom>
        </p:spPr>
      </p:pic>
    </p:spTree>
    <p:extLst>
      <p:ext uri="{BB962C8B-B14F-4D97-AF65-F5344CB8AC3E}">
        <p14:creationId xmlns:p14="http://schemas.microsoft.com/office/powerpoint/2010/main" val="34969419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SIMULATION CORE</a:t>
            </a:r>
            <a:r>
              <a:rPr lang="tr-TR" sz="1300" b="1" kern="0" spc="200" dirty="0">
                <a:solidFill>
                  <a:srgbClr val="E31836"/>
                </a:solidFill>
                <a:latin typeface="Calibri" pitchFamily="34" charset="0"/>
                <a:ea typeface="Calibri" pitchFamily="34" charset="-122"/>
                <a:cs typeface="Calibri" pitchFamily="34" charset="-120"/>
              </a:rPr>
              <a:t> – STATE TRANSITION</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r>
              <a:rPr lang="en-US" sz="2900" b="1" dirty="0">
                <a:solidFill>
                  <a:srgbClr val="000000"/>
                </a:solidFill>
                <a:latin typeface="Cambria" pitchFamily="34" charset="0"/>
                <a:ea typeface="Cambria" pitchFamily="34" charset="-122"/>
                <a:cs typeface="Cambria" pitchFamily="34" charset="-120"/>
              </a:rPr>
              <a:t>Per-Cell State, </a:t>
            </a:r>
            <a:r>
              <a:rPr lang="tr-TR" sz="2900" b="1" dirty="0" err="1">
                <a:solidFill>
                  <a:srgbClr val="000000"/>
                </a:solidFill>
                <a:latin typeface="Cambria" pitchFamily="34" charset="0"/>
                <a:ea typeface="Cambria" pitchFamily="34" charset="-122"/>
                <a:cs typeface="Cambria" pitchFamily="34" charset="-120"/>
              </a:rPr>
              <a:t>State</a:t>
            </a:r>
            <a:r>
              <a:rPr lang="en-US" sz="2900" b="1" dirty="0">
                <a:solidFill>
                  <a:srgbClr val="000000"/>
                </a:solidFill>
                <a:latin typeface="Cambria" pitchFamily="34" charset="0"/>
                <a:ea typeface="Cambria" pitchFamily="34" charset="-122"/>
                <a:cs typeface="Cambria" pitchFamily="34" charset="-120"/>
              </a:rPr>
              <a:t> Transition</a:t>
            </a:r>
            <a:endParaRPr lang="en-US" sz="2900" dirty="0"/>
          </a:p>
        </p:txBody>
      </p:sp>
      <p:pic>
        <p:nvPicPr>
          <p:cNvPr id="9" name="Image 4"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10" name="Image 5" descr="/tmp/thx/deck/figs/eee_logo.png"/>
          <p:cNvPicPr>
            <a:picLocks noChangeAspect="1"/>
          </p:cNvPicPr>
          <p:nvPr/>
        </p:nvPicPr>
        <p:blipFill>
          <a:blip r:embed="rId4"/>
          <a:stretch>
            <a:fillRect/>
          </a:stretch>
        </p:blipFill>
        <p:spPr>
          <a:xfrm>
            <a:off x="11265408" y="186217"/>
            <a:ext cx="475488" cy="395662"/>
          </a:xfrm>
          <a:prstGeom prst="rect">
            <a:avLst/>
          </a:prstGeom>
        </p:spPr>
      </p:pic>
      <p:grpSp>
        <p:nvGrpSpPr>
          <p:cNvPr id="12" name="Group 11">
            <a:extLst>
              <a:ext uri="{FF2B5EF4-FFF2-40B4-BE49-F238E27FC236}">
                <a16:creationId xmlns:a16="http://schemas.microsoft.com/office/drawing/2014/main" id="{7051252B-8669-40EC-8F57-5CB351DA7216}"/>
              </a:ext>
            </a:extLst>
          </p:cNvPr>
          <p:cNvGrpSpPr/>
          <p:nvPr/>
        </p:nvGrpSpPr>
        <p:grpSpPr>
          <a:xfrm>
            <a:off x="7193280" y="844952"/>
            <a:ext cx="4457700" cy="5628999"/>
            <a:chOff x="679434" y="844952"/>
            <a:chExt cx="10585974" cy="5628999"/>
          </a:xfrm>
        </p:grpSpPr>
        <p:sp>
          <p:nvSpPr>
            <p:cNvPr id="13" name="Shape 4">
              <a:extLst>
                <a:ext uri="{FF2B5EF4-FFF2-40B4-BE49-F238E27FC236}">
                  <a16:creationId xmlns:a16="http://schemas.microsoft.com/office/drawing/2014/main" id="{0DB5810F-6586-469D-A023-F88F8742EF5C}"/>
                </a:ext>
              </a:extLst>
            </p:cNvPr>
            <p:cNvSpPr/>
            <p:nvPr/>
          </p:nvSpPr>
          <p:spPr>
            <a:xfrm>
              <a:off x="679434" y="844952"/>
              <a:ext cx="10585974" cy="5628999"/>
            </a:xfrm>
            <a:prstGeom prst="roundRect">
              <a:avLst>
                <a:gd name="adj" fmla="val 4000"/>
              </a:avLst>
            </a:prstGeom>
            <a:solidFill>
              <a:srgbClr val="F2F2F2"/>
            </a:solidFill>
            <a:ln/>
          </p:spPr>
          <p:txBody>
            <a:bodyPr/>
            <a:lstStyle/>
            <a:p>
              <a:endParaRPr lang="tr-TR"/>
            </a:p>
          </p:txBody>
        </p:sp>
        <p:sp>
          <p:nvSpPr>
            <p:cNvPr id="14" name="Text 5">
              <a:extLst>
                <a:ext uri="{FF2B5EF4-FFF2-40B4-BE49-F238E27FC236}">
                  <a16:creationId xmlns:a16="http://schemas.microsoft.com/office/drawing/2014/main" id="{C99A4777-2412-4921-AB4D-D01B7E7C6BC9}"/>
                </a:ext>
              </a:extLst>
            </p:cNvPr>
            <p:cNvSpPr/>
            <p:nvPr/>
          </p:nvSpPr>
          <p:spPr>
            <a:xfrm>
              <a:off x="926592" y="972273"/>
              <a:ext cx="10011484" cy="5347504"/>
            </a:xfrm>
            <a:prstGeom prst="rect">
              <a:avLst/>
            </a:prstGeom>
            <a:noFill/>
            <a:ln/>
          </p:spPr>
          <p:txBody>
            <a:bodyPr wrap="square" lIns="0" tIns="0" rIns="0" bIns="0" rtlCol="0" anchor="ctr"/>
            <a:lstStyle/>
            <a:p>
              <a:r>
                <a:rPr lang="en-US" dirty="0"/>
                <a:t>Why a cellular state-transition model rather than a vector-front model?</a:t>
              </a:r>
            </a:p>
            <a:p>
              <a:endParaRPr lang="en-US" dirty="0"/>
            </a:p>
            <a:p>
              <a:pPr marL="285750" indent="-285750">
                <a:buFont typeface="Wingdings" panose="05000000000000000000" pitchFamily="2" charset="2"/>
                <a:buChar char="v"/>
              </a:pPr>
              <a:r>
                <a:rPr lang="en-US" b="1" dirty="0"/>
                <a:t>Locality:</a:t>
              </a:r>
              <a:r>
                <a:rPr lang="en-US" dirty="0"/>
                <a:t>  interventions act on cells, through defined effects</a:t>
              </a:r>
            </a:p>
            <a:p>
              <a:pPr marL="285750" indent="-285750">
                <a:buFont typeface="Wingdings" panose="05000000000000000000" pitchFamily="2" charset="2"/>
                <a:buChar char="v"/>
              </a:pPr>
              <a:r>
                <a:rPr lang="en-US" b="1" dirty="0"/>
                <a:t>Exact replay:</a:t>
              </a:r>
              <a:r>
                <a:rPr lang="en-US" dirty="0"/>
                <a:t> one deterministic operator, same seed, same run</a:t>
              </a:r>
            </a:p>
            <a:p>
              <a:pPr marL="285750" indent="-285750">
                <a:buFont typeface="Wingdings" panose="05000000000000000000" pitchFamily="2" charset="2"/>
                <a:buChar char="v"/>
              </a:pPr>
              <a:r>
                <a:rPr lang="en-US" b="1" dirty="0"/>
                <a:t>Clean observation:  </a:t>
              </a:r>
              <a:r>
                <a:rPr lang="en-US" dirty="0"/>
                <a:t>confidence attaches per cell</a:t>
              </a:r>
            </a:p>
            <a:p>
              <a:pPr marL="285750" indent="-285750">
                <a:buFont typeface="Wingdings" panose="05000000000000000000" pitchFamily="2" charset="2"/>
                <a:buChar char="v"/>
              </a:pPr>
              <a:r>
                <a:rPr lang="en-US" b="1" dirty="0"/>
                <a:t>Vector fronts:</a:t>
              </a:r>
              <a:r>
                <a:rPr lang="en-US" dirty="0"/>
                <a:t> Great perimeters, but no per-cell intervention surface </a:t>
              </a:r>
              <a:r>
                <a:rPr lang="en-US" i="1" dirty="0"/>
                <a:t>(i.e. FARSITE draws where the fire goes; we need a surface the decision layer can act on, cell by cell.)</a:t>
              </a:r>
            </a:p>
          </p:txBody>
        </p:sp>
      </p:grpSp>
      <p:pic>
        <p:nvPicPr>
          <p:cNvPr id="15" name="Image 0" descr="/tmp/thx/deck/figs/Figure3_3.png">
            <a:extLst>
              <a:ext uri="{FF2B5EF4-FFF2-40B4-BE49-F238E27FC236}">
                <a16:creationId xmlns:a16="http://schemas.microsoft.com/office/drawing/2014/main" id="{8D99A245-E1E0-4FE0-BE4B-6093935856C6}"/>
              </a:ext>
            </a:extLst>
          </p:cNvPr>
          <p:cNvPicPr>
            <a:picLocks noChangeAspect="1"/>
          </p:cNvPicPr>
          <p:nvPr/>
        </p:nvPicPr>
        <p:blipFill>
          <a:blip r:embed="rId5"/>
          <a:stretch>
            <a:fillRect/>
          </a:stretch>
        </p:blipFill>
        <p:spPr>
          <a:xfrm>
            <a:off x="541020" y="1297666"/>
            <a:ext cx="6254479" cy="5122203"/>
          </a:xfrm>
          <a:prstGeom prst="rect">
            <a:avLst/>
          </a:prstGeom>
        </p:spPr>
      </p:pic>
    </p:spTree>
    <p:extLst>
      <p:ext uri="{BB962C8B-B14F-4D97-AF65-F5344CB8AC3E}">
        <p14:creationId xmlns:p14="http://schemas.microsoft.com/office/powerpoint/2010/main" val="1005716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SIMULATION CORE</a:t>
            </a:r>
            <a:r>
              <a:rPr lang="tr-TR" sz="1300" b="1" kern="0" spc="200" dirty="0">
                <a:solidFill>
                  <a:srgbClr val="E31836"/>
                </a:solidFill>
                <a:latin typeface="Calibri" pitchFamily="34" charset="0"/>
                <a:ea typeface="Calibri" pitchFamily="34" charset="-122"/>
                <a:cs typeface="Calibri" pitchFamily="34" charset="-120"/>
              </a:rPr>
              <a:t> </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Per-Cell State, </a:t>
            </a:r>
            <a:r>
              <a:rPr lang="tr-TR" sz="2900" b="1" dirty="0" err="1">
                <a:solidFill>
                  <a:srgbClr val="000000"/>
                </a:solidFill>
                <a:latin typeface="Cambria" pitchFamily="34" charset="0"/>
                <a:ea typeface="Cambria" pitchFamily="34" charset="-122"/>
                <a:cs typeface="Cambria" pitchFamily="34" charset="-120"/>
              </a:rPr>
              <a:t>State</a:t>
            </a:r>
            <a:r>
              <a:rPr lang="en-US" sz="2900" b="1" dirty="0">
                <a:solidFill>
                  <a:srgbClr val="000000"/>
                </a:solidFill>
                <a:latin typeface="Cambria" pitchFamily="34" charset="0"/>
                <a:ea typeface="Cambria" pitchFamily="34" charset="-122"/>
                <a:cs typeface="Cambria" pitchFamily="34" charset="-120"/>
              </a:rPr>
              <a:t> Transition</a:t>
            </a:r>
            <a:endParaRPr lang="en-US" sz="2900" dirty="0"/>
          </a:p>
        </p:txBody>
      </p:sp>
      <p:pic>
        <p:nvPicPr>
          <p:cNvPr id="9" name="Image 4"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10" name="Image 5"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17" name="Text 2">
            <a:extLst>
              <a:ext uri="{FF2B5EF4-FFF2-40B4-BE49-F238E27FC236}">
                <a16:creationId xmlns:a16="http://schemas.microsoft.com/office/drawing/2014/main" id="{45C70648-CC1E-4509-8471-E814689E4369}"/>
              </a:ext>
            </a:extLst>
          </p:cNvPr>
          <p:cNvSpPr/>
          <p:nvPr/>
        </p:nvSpPr>
        <p:spPr>
          <a:xfrm>
            <a:off x="6410960" y="1235675"/>
            <a:ext cx="5486400" cy="310896"/>
          </a:xfrm>
          <a:prstGeom prst="rect">
            <a:avLst/>
          </a:prstGeom>
          <a:noFill/>
          <a:ln/>
        </p:spPr>
        <p:txBody>
          <a:bodyPr wrap="square" lIns="0" tIns="0" rIns="0" bIns="0" rtlCol="0" anchor="ctr"/>
          <a:lstStyle/>
          <a:p>
            <a:pPr marL="0" indent="0">
              <a:buNone/>
            </a:pPr>
            <a:r>
              <a:rPr lang="en-US" sz="1500" b="1" dirty="0">
                <a:solidFill>
                  <a:srgbClr val="E31836"/>
                </a:solidFill>
                <a:latin typeface="Calibri" pitchFamily="34" charset="0"/>
                <a:ea typeface="Calibri" pitchFamily="34" charset="-122"/>
                <a:cs typeface="Calibri" pitchFamily="34" charset="-120"/>
              </a:rPr>
              <a:t>The discretized world</a:t>
            </a:r>
            <a:endParaRPr lang="en-US" sz="1500" dirty="0"/>
          </a:p>
        </p:txBody>
      </p:sp>
      <mc:AlternateContent xmlns:mc="http://schemas.openxmlformats.org/markup-compatibility/2006" xmlns:a14="http://schemas.microsoft.com/office/drawing/2010/main">
        <mc:Choice Requires="a14">
          <p:sp>
            <p:nvSpPr>
              <p:cNvPr id="18" name="Text 3">
                <a:extLst>
                  <a:ext uri="{FF2B5EF4-FFF2-40B4-BE49-F238E27FC236}">
                    <a16:creationId xmlns:a16="http://schemas.microsoft.com/office/drawing/2014/main" id="{70A29A39-4D26-46DC-A2DE-98E7CDB82810}"/>
                  </a:ext>
                </a:extLst>
              </p:cNvPr>
              <p:cNvSpPr/>
              <p:nvPr/>
            </p:nvSpPr>
            <p:spPr>
              <a:xfrm>
                <a:off x="6416431" y="1421892"/>
                <a:ext cx="3230490" cy="502920"/>
              </a:xfrm>
              <a:prstGeom prst="rect">
                <a:avLst/>
              </a:prstGeom>
              <a:noFill/>
              <a:ln/>
            </p:spPr>
            <p:txBody>
              <a:bodyPr wrap="square" lIns="0" tIns="0" rIns="0" bIns="0" rtlCol="0" anchor="ctr"/>
              <a:lstStyle/>
              <a:p>
                <a:pPr marL="0" indent="0" algn="ctr">
                  <a:buNone/>
                </a:pPr>
                <a14:m>
                  <m:oMathPara xmlns:m="http://schemas.openxmlformats.org/officeDocument/2006/math">
                    <m:oMath>
                      <m:r>
                        <a:rPr lang="en-US" sz="1400">
                          <a:latin typeface="Cambria Math"/>
                        </a:rPr>
                        <m:t>𝒢</m:t>
                      </m:r>
                      <m:r>
                        <a:rPr lang="en-US" sz="1400">
                          <a:latin typeface="Cambria Math"/>
                        </a:rPr>
                        <m:t>=</m:t>
                      </m:r>
                      <m:d>
                        <m:dPr>
                          <m:begChr m:val="{"/>
                          <m:endChr m:val="}"/>
                          <m:sepChr m:val="∣"/>
                          <m:ctrlPr>
                            <a:rPr lang="en-US" sz="1400" i="1">
                              <a:latin typeface="Cambria Math" panose="02040503050406030204" pitchFamily="18" charset="0"/>
                            </a:rPr>
                          </m:ctrlPr>
                        </m:dPr>
                        <m:e>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e>
                        <m:e>
                          <m:r>
                            <a:rPr lang="en-US" sz="1400">
                              <a:latin typeface="Cambria Math"/>
                            </a:rPr>
                            <m:t>𝑥</m:t>
                          </m:r>
                          <m:r>
                            <a:rPr lang="en-US" sz="1400">
                              <a:latin typeface="Cambria Math"/>
                            </a:rPr>
                            <m:t>=1,…,</m:t>
                          </m:r>
                          <m:sSub>
                            <m:sSubPr>
                              <m:ctrlPr>
                                <a:rPr lang="en-US" sz="1400">
                                  <a:latin typeface="Cambria Math"/>
                                </a:rPr>
                              </m:ctrlPr>
                            </m:sSubPr>
                            <m:e>
                              <m:r>
                                <a:rPr lang="en-US" sz="1400">
                                  <a:latin typeface="Cambria Math"/>
                                </a:rPr>
                                <m:t>𝑁</m:t>
                              </m:r>
                            </m:e>
                            <m:sub>
                              <m:r>
                                <a:rPr lang="en-US" sz="1400">
                                  <a:latin typeface="Cambria Math"/>
                                </a:rPr>
                                <m:t>𝑥</m:t>
                              </m:r>
                            </m:sub>
                          </m:sSub>
                          <m:r>
                            <a:rPr lang="en-US" sz="1400">
                              <a:latin typeface="Cambria Math"/>
                            </a:rPr>
                            <m:t>,</m:t>
                          </m:r>
                          <m:r>
                            <m:rPr>
                              <m:nor/>
                            </m:rPr>
                            <a:rPr lang="en-US" sz="1400" i="0">
                              <a:latin typeface="Cambria Math"/>
                            </a:rPr>
                            <m:t> </m:t>
                          </m:r>
                          <m:r>
                            <a:rPr lang="en-US" sz="1400">
                              <a:latin typeface="Cambria Math"/>
                            </a:rPr>
                            <m:t>𝑦</m:t>
                          </m:r>
                          <m:r>
                            <a:rPr lang="en-US" sz="1400">
                              <a:latin typeface="Cambria Math"/>
                            </a:rPr>
                            <m:t>=1,…,</m:t>
                          </m:r>
                          <m:sSub>
                            <m:sSubPr>
                              <m:ctrlPr>
                                <a:rPr lang="en-US" sz="1400">
                                  <a:latin typeface="Cambria Math"/>
                                </a:rPr>
                              </m:ctrlPr>
                            </m:sSubPr>
                            <m:e>
                              <m:r>
                                <a:rPr lang="en-US" sz="1400">
                                  <a:latin typeface="Cambria Math"/>
                                </a:rPr>
                                <m:t>𝑁</m:t>
                              </m:r>
                            </m:e>
                            <m:sub>
                              <m:r>
                                <a:rPr lang="en-US" sz="1400">
                                  <a:latin typeface="Cambria Math"/>
                                </a:rPr>
                                <m:t>𝑦</m:t>
                              </m:r>
                            </m:sub>
                          </m:sSub>
                        </m:e>
                      </m:d>
                    </m:oMath>
                  </m:oMathPara>
                </a14:m>
                <a:endParaRPr lang="en-US" sz="1400" dirty="0"/>
              </a:p>
            </p:txBody>
          </p:sp>
        </mc:Choice>
        <mc:Fallback xmlns="">
          <p:sp>
            <p:nvSpPr>
              <p:cNvPr id="18" name="Text 3">
                <a:extLst>
                  <a:ext uri="{FF2B5EF4-FFF2-40B4-BE49-F238E27FC236}">
                    <a16:creationId xmlns:a16="http://schemas.microsoft.com/office/drawing/2014/main" id="{70A29A39-4D26-46DC-A2DE-98E7CDB82810}"/>
                  </a:ext>
                </a:extLst>
              </p:cNvPr>
              <p:cNvSpPr>
                <a:spLocks noRot="1" noChangeAspect="1" noMove="1" noResize="1" noEditPoints="1" noAdjustHandles="1" noChangeArrowheads="1" noChangeShapeType="1" noTextEdit="1"/>
              </p:cNvSpPr>
              <p:nvPr/>
            </p:nvSpPr>
            <p:spPr>
              <a:xfrm>
                <a:off x="6416431" y="1421892"/>
                <a:ext cx="3230490" cy="502920"/>
              </a:xfrm>
              <a:prstGeom prst="rect">
                <a:avLst/>
              </a:prstGeom>
              <a:blipFill>
                <a:blip r:embed="rId5"/>
                <a:stretch>
                  <a:fillRect l="-2264"/>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9" name="Text 4">
                <a:extLst>
                  <a:ext uri="{FF2B5EF4-FFF2-40B4-BE49-F238E27FC236}">
                    <a16:creationId xmlns:a16="http://schemas.microsoft.com/office/drawing/2014/main" id="{9FA6B694-0BE1-456B-84DE-EAFCE5827742}"/>
                  </a:ext>
                </a:extLst>
              </p:cNvPr>
              <p:cNvSpPr/>
              <p:nvPr/>
            </p:nvSpPr>
            <p:spPr>
              <a:xfrm>
                <a:off x="9646529" y="1418489"/>
                <a:ext cx="2256302" cy="50292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300">
                              <a:latin typeface="Cambria Math"/>
                            </a:rPr>
                          </m:ctrlPr>
                        </m:sSubPr>
                        <m:e>
                          <m:r>
                            <a:rPr lang="en-US" sz="1300">
                              <a:latin typeface="Cambria Math"/>
                            </a:rPr>
                            <m:t>𝑆</m:t>
                          </m:r>
                        </m:e>
                        <m:sub>
                          <m:r>
                            <a:rPr lang="en-US" sz="1300">
                              <a:latin typeface="Cambria Math"/>
                            </a:rPr>
                            <m:t>𝑘</m:t>
                          </m:r>
                        </m:sub>
                      </m:sSub>
                      <m:r>
                        <m:rPr>
                          <m:aln/>
                        </m:rPr>
                        <a:rPr lang="en-US" sz="1300">
                          <a:latin typeface="Cambria Math"/>
                        </a:rPr>
                        <m:t>=</m:t>
                      </m:r>
                      <m:d>
                        <m:dPr>
                          <m:begChr m:val="{"/>
                          <m:endChr m:val="}"/>
                          <m:ctrlPr>
                            <a:rPr lang="en-US" sz="1300" i="1">
                              <a:latin typeface="Cambria Math" panose="02040503050406030204" pitchFamily="18" charset="0"/>
                            </a:rPr>
                          </m:ctrlPr>
                        </m:dPr>
                        <m:e>
                          <m:sSub>
                            <m:sSubPr>
                              <m:ctrlPr>
                                <a:rPr lang="en-US" sz="1300">
                                  <a:latin typeface="Cambria Math"/>
                                </a:rPr>
                              </m:ctrlPr>
                            </m:sSubPr>
                            <m:e>
                              <m:r>
                                <a:rPr lang="en-US" sz="1300">
                                  <a:latin typeface="Cambria Math"/>
                                </a:rPr>
                                <m:t>𝑠</m:t>
                              </m:r>
                            </m:e>
                            <m:sub>
                              <m:r>
                                <a:rPr lang="en-US" sz="1300">
                                  <a:latin typeface="Cambria Math"/>
                                </a:rPr>
                                <m:t>𝑘</m:t>
                              </m:r>
                            </m:sub>
                          </m:sSub>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r>
                            <a:rPr lang="en-US" sz="1300">
                              <a:latin typeface="Cambria Math"/>
                            </a:rPr>
                            <m:t>𝒢</m:t>
                          </m:r>
                        </m:e>
                      </m:d>
                    </m:oMath>
                  </m:oMathPara>
                </a14:m>
                <a:endParaRPr lang="en-US" sz="1400" dirty="0"/>
              </a:p>
            </p:txBody>
          </p:sp>
        </mc:Choice>
        <mc:Fallback xmlns="">
          <p:sp>
            <p:nvSpPr>
              <p:cNvPr id="19" name="Text 4">
                <a:extLst>
                  <a:ext uri="{FF2B5EF4-FFF2-40B4-BE49-F238E27FC236}">
                    <a16:creationId xmlns:a16="http://schemas.microsoft.com/office/drawing/2014/main" id="{9FA6B694-0BE1-456B-84DE-EAFCE5827742}"/>
                  </a:ext>
                </a:extLst>
              </p:cNvPr>
              <p:cNvSpPr>
                <a:spLocks noRot="1" noChangeAspect="1" noMove="1" noResize="1" noEditPoints="1" noAdjustHandles="1" noChangeArrowheads="1" noChangeShapeType="1" noTextEdit="1"/>
              </p:cNvSpPr>
              <p:nvPr/>
            </p:nvSpPr>
            <p:spPr>
              <a:xfrm>
                <a:off x="9646529" y="1418489"/>
                <a:ext cx="2256302" cy="502920"/>
              </a:xfrm>
              <a:prstGeom prst="rect">
                <a:avLst/>
              </a:prstGeom>
              <a:blipFill>
                <a:blip r:embed="rId6"/>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20" name="Text 5">
                <a:extLst>
                  <a:ext uri="{FF2B5EF4-FFF2-40B4-BE49-F238E27FC236}">
                    <a16:creationId xmlns:a16="http://schemas.microsoft.com/office/drawing/2014/main" id="{9D2C264E-24E0-4A8F-897E-1DA6215BFBED}"/>
                  </a:ext>
                </a:extLst>
              </p:cNvPr>
              <p:cNvSpPr/>
              <p:nvPr/>
            </p:nvSpPr>
            <p:spPr>
              <a:xfrm>
                <a:off x="6400800" y="1823970"/>
                <a:ext cx="1740095" cy="173736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300">
                              <a:latin typeface="Cambria Math"/>
                            </a:rPr>
                          </m:ctrlPr>
                        </m:sSubPr>
                        <m:e>
                          <m:r>
                            <a:rPr lang="en-US" sz="1300">
                              <a:latin typeface="Cambria Math"/>
                            </a:rPr>
                            <m:t>𝑠</m:t>
                          </m:r>
                        </m:e>
                        <m:sub>
                          <m:r>
                            <a:rPr lang="en-US" sz="1300">
                              <a:latin typeface="Cambria Math"/>
                            </a:rPr>
                            <m:t>𝑘</m:t>
                          </m:r>
                        </m:sub>
                      </m:sSub>
                      <m:r>
                        <m:rPr>
                          <m:aln/>
                        </m:rPr>
                        <a:rPr lang="en-US" sz="1300">
                          <a:latin typeface="Cambria Math"/>
                        </a:rPr>
                        <m:t>=</m:t>
                      </m:r>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sSub>
                                <m:sSubPr>
                                  <m:ctrlPr>
                                    <a:rPr lang="en-US" sz="1300">
                                      <a:latin typeface="Cambria Math"/>
                                    </a:rPr>
                                  </m:ctrlPr>
                                </m:sSubPr>
                                <m:e>
                                  <m:r>
                                    <a:rPr lang="en-US" sz="1300">
                                      <a:latin typeface="Cambria Math"/>
                                    </a:rPr>
                                    <m:t>𝐵</m:t>
                                  </m:r>
                                </m:e>
                                <m:sub>
                                  <m:r>
                                    <a:rPr lang="en-US" sz="1300">
                                      <a:latin typeface="Cambria Math"/>
                                    </a:rPr>
                                    <m:t>𝑘</m:t>
                                  </m:r>
                                </m:sub>
                              </m:sSub>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e>
                            <m:e>
                              <m:sSub>
                                <m:sSubPr>
                                  <m:ctrlPr>
                                    <a:rPr lang="en-US" sz="1300">
                                      <a:latin typeface="Cambria Math"/>
                                    </a:rPr>
                                  </m:ctrlPr>
                                </m:sSubPr>
                                <m:e>
                                  <m:r>
                                    <a:rPr lang="en-US" sz="1300">
                                      <a:latin typeface="Cambria Math"/>
                                    </a:rPr>
                                    <m:t>𝐹</m:t>
                                  </m:r>
                                </m:e>
                                <m:sub>
                                  <m:r>
                                    <a:rPr lang="en-US" sz="1300">
                                      <a:latin typeface="Cambria Math"/>
                                    </a:rPr>
                                    <m:t>𝑙𝑜𝑎𝑑</m:t>
                                  </m:r>
                                  <m:r>
                                    <a:rPr lang="en-US" sz="1300">
                                      <a:latin typeface="Cambria Math"/>
                                    </a:rPr>
                                    <m:t>,</m:t>
                                  </m:r>
                                  <m:r>
                                    <a:rPr lang="en-US" sz="1300">
                                      <a:latin typeface="Cambria Math"/>
                                    </a:rPr>
                                    <m:t>𝑘</m:t>
                                  </m:r>
                                </m:sub>
                              </m:sSub>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e>
                            <m:e>
                              <m:sSub>
                                <m:sSubPr>
                                  <m:ctrlPr>
                                    <a:rPr lang="en-US" sz="1300">
                                      <a:latin typeface="Cambria Math"/>
                                    </a:rPr>
                                  </m:ctrlPr>
                                </m:sSubPr>
                                <m:e>
                                  <m:r>
                                    <a:rPr lang="en-US" sz="1300">
                                      <a:latin typeface="Cambria Math"/>
                                    </a:rPr>
                                    <m:t>𝐼</m:t>
                                  </m:r>
                                </m:e>
                                <m:sub>
                                  <m:r>
                                    <a:rPr lang="en-US" sz="1300">
                                      <a:latin typeface="Cambria Math"/>
                                    </a:rPr>
                                    <m:t>𝑘</m:t>
                                  </m:r>
                                </m:sub>
                              </m:sSub>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e>
                            <m:e>
                              <m:sSub>
                                <m:sSubPr>
                                  <m:ctrlPr>
                                    <a:rPr lang="en-US" sz="1300">
                                      <a:latin typeface="Cambria Math"/>
                                    </a:rPr>
                                  </m:ctrlPr>
                                </m:sSubPr>
                                <m:e>
                                  <m:r>
                                    <a:rPr lang="en-US" sz="1300">
                                      <a:latin typeface="Cambria Math"/>
                                    </a:rPr>
                                    <m:t>𝜏</m:t>
                                  </m:r>
                                </m:e>
                                <m:sub>
                                  <m:r>
                                    <a:rPr lang="en-US" sz="1300">
                                      <a:latin typeface="Cambria Math"/>
                                    </a:rPr>
                                    <m:t>𝑘</m:t>
                                  </m:r>
                                </m:sub>
                              </m:sSub>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e>
                          </m:eqArr>
                        </m:e>
                      </m:d>
                    </m:oMath>
                  </m:oMathPara>
                </a14:m>
                <a:endParaRPr lang="en-US" sz="1400" dirty="0"/>
              </a:p>
            </p:txBody>
          </p:sp>
        </mc:Choice>
        <mc:Fallback xmlns="">
          <p:sp>
            <p:nvSpPr>
              <p:cNvPr id="20" name="Text 5">
                <a:extLst>
                  <a:ext uri="{FF2B5EF4-FFF2-40B4-BE49-F238E27FC236}">
                    <a16:creationId xmlns:a16="http://schemas.microsoft.com/office/drawing/2014/main" id="{9D2C264E-24E0-4A8F-897E-1DA6215BFBED}"/>
                  </a:ext>
                </a:extLst>
              </p:cNvPr>
              <p:cNvSpPr>
                <a:spLocks noRot="1" noChangeAspect="1" noMove="1" noResize="1" noEditPoints="1" noAdjustHandles="1" noChangeArrowheads="1" noChangeShapeType="1" noTextEdit="1"/>
              </p:cNvSpPr>
              <p:nvPr/>
            </p:nvSpPr>
            <p:spPr>
              <a:xfrm>
                <a:off x="6400800" y="1823970"/>
                <a:ext cx="1740095" cy="1737360"/>
              </a:xfrm>
              <a:prstGeom prst="rect">
                <a:avLst/>
              </a:prstGeom>
              <a:blipFill>
                <a:blip r:embed="rId7"/>
                <a:stretch>
                  <a:fillRect/>
                </a:stretch>
              </a:blipFill>
              <a:ln/>
            </p:spPr>
            <p:txBody>
              <a:bodyPr/>
              <a:lstStyle/>
              <a:p>
                <a:r>
                  <a:rPr lang="tr-TR">
                    <a:noFill/>
                  </a:rPr>
                  <a:t/>
                </a:r>
              </a:p>
            </p:txBody>
          </p:sp>
        </mc:Fallback>
      </mc:AlternateContent>
      <p:sp>
        <p:nvSpPr>
          <p:cNvPr id="21" name="Text 6">
            <a:extLst>
              <a:ext uri="{FF2B5EF4-FFF2-40B4-BE49-F238E27FC236}">
                <a16:creationId xmlns:a16="http://schemas.microsoft.com/office/drawing/2014/main" id="{8A6C24BA-3D61-47EA-A778-653EAD9582B7}"/>
              </a:ext>
            </a:extLst>
          </p:cNvPr>
          <p:cNvSpPr/>
          <p:nvPr/>
        </p:nvSpPr>
        <p:spPr>
          <a:xfrm>
            <a:off x="8099474" y="2136161"/>
            <a:ext cx="4092526" cy="1277425"/>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350" dirty="0">
                <a:solidFill>
                  <a:srgbClr val="222222"/>
                </a:solidFill>
                <a:latin typeface="Calibri" pitchFamily="34" charset="0"/>
                <a:ea typeface="Calibri" pitchFamily="34" charset="-122"/>
                <a:cs typeface="Calibri" pitchFamily="34" charset="-120"/>
              </a:rPr>
              <a:t>Burning status — is the cell burning (0/1)</a:t>
            </a:r>
            <a:endParaRPr lang="en-US" sz="1350" dirty="0"/>
          </a:p>
          <a:p>
            <a:pPr marL="152400" indent="-152400">
              <a:lnSpc>
                <a:spcPct val="105000"/>
              </a:lnSpc>
              <a:spcAft>
                <a:spcPts val="700"/>
              </a:spcAft>
              <a:buSzPct val="100000"/>
              <a:buChar char="•"/>
            </a:pPr>
            <a:r>
              <a:rPr lang="en-US" sz="1350" dirty="0">
                <a:solidFill>
                  <a:srgbClr val="222222"/>
                </a:solidFill>
                <a:latin typeface="Calibri" pitchFamily="34" charset="0"/>
                <a:ea typeface="Calibri" pitchFamily="34" charset="-122"/>
                <a:cs typeface="Calibri" pitchFamily="34" charset="-120"/>
              </a:rPr>
              <a:t>Available fuel mass — combustible material remaining</a:t>
            </a:r>
            <a:endParaRPr lang="en-US" sz="1350" dirty="0"/>
          </a:p>
          <a:p>
            <a:pPr marL="152400" indent="-152400">
              <a:lnSpc>
                <a:spcPct val="105000"/>
              </a:lnSpc>
              <a:spcAft>
                <a:spcPts val="700"/>
              </a:spcAft>
              <a:buSzPct val="100000"/>
              <a:buChar char="•"/>
            </a:pPr>
            <a:r>
              <a:rPr lang="en-US" sz="1350" dirty="0">
                <a:solidFill>
                  <a:srgbClr val="222222"/>
                </a:solidFill>
                <a:latin typeface="Calibri" pitchFamily="34" charset="0"/>
                <a:ea typeface="Calibri" pitchFamily="34" charset="-122"/>
                <a:cs typeface="Calibri" pitchFamily="34" charset="-120"/>
              </a:rPr>
              <a:t>Fire intensity — bounded local intensity proxy</a:t>
            </a:r>
            <a:endParaRPr lang="en-US" sz="1350" dirty="0"/>
          </a:p>
          <a:p>
            <a:pPr marL="152400" indent="-152400">
              <a:lnSpc>
                <a:spcPct val="105000"/>
              </a:lnSpc>
              <a:spcAft>
                <a:spcPts val="700"/>
              </a:spcAft>
              <a:buSzPct val="100000"/>
              <a:buChar char="•"/>
            </a:pPr>
            <a:r>
              <a:rPr lang="en-US" sz="1350" dirty="0">
                <a:solidFill>
                  <a:srgbClr val="222222"/>
                </a:solidFill>
                <a:latin typeface="Calibri" pitchFamily="34" charset="0"/>
                <a:ea typeface="Calibri" pitchFamily="34" charset="-122"/>
                <a:cs typeface="Calibri" pitchFamily="34" charset="-120"/>
              </a:rPr>
              <a:t>Time since ignition — for persistence and extinction</a:t>
            </a:r>
            <a:endParaRPr lang="en-US" sz="1350" dirty="0"/>
          </a:p>
        </p:txBody>
      </p:sp>
      <p:sp>
        <p:nvSpPr>
          <p:cNvPr id="22" name="Text 7">
            <a:extLst>
              <a:ext uri="{FF2B5EF4-FFF2-40B4-BE49-F238E27FC236}">
                <a16:creationId xmlns:a16="http://schemas.microsoft.com/office/drawing/2014/main" id="{92B814D4-9276-4488-9661-AE240F4EC8A1}"/>
              </a:ext>
            </a:extLst>
          </p:cNvPr>
          <p:cNvSpPr/>
          <p:nvPr/>
        </p:nvSpPr>
        <p:spPr>
          <a:xfrm>
            <a:off x="6416431" y="3490426"/>
            <a:ext cx="5440680" cy="310896"/>
          </a:xfrm>
          <a:prstGeom prst="rect">
            <a:avLst/>
          </a:prstGeom>
          <a:noFill/>
          <a:ln/>
        </p:spPr>
        <p:txBody>
          <a:bodyPr wrap="square" lIns="0" tIns="0" rIns="0" bIns="0" rtlCol="0" anchor="ctr"/>
          <a:lstStyle/>
          <a:p>
            <a:pPr marL="0" indent="0">
              <a:buNone/>
            </a:pPr>
            <a:r>
              <a:rPr lang="en-US" sz="1500" b="1" dirty="0">
                <a:solidFill>
                  <a:srgbClr val="E31836"/>
                </a:solidFill>
                <a:latin typeface="Calibri" pitchFamily="34" charset="0"/>
                <a:ea typeface="Calibri" pitchFamily="34" charset="-122"/>
                <a:cs typeface="Calibri" pitchFamily="34" charset="-120"/>
              </a:rPr>
              <a:t>One deterministic-plus-stochastic step</a:t>
            </a:r>
            <a:endParaRPr lang="en-US" sz="1500" dirty="0"/>
          </a:p>
        </p:txBody>
      </p:sp>
      <mc:AlternateContent xmlns:mc="http://schemas.openxmlformats.org/markup-compatibility/2006" xmlns:a14="http://schemas.microsoft.com/office/drawing/2010/main">
        <mc:Choice Requires="a14">
          <p:sp>
            <p:nvSpPr>
              <p:cNvPr id="23" name="Text 8">
                <a:extLst>
                  <a:ext uri="{FF2B5EF4-FFF2-40B4-BE49-F238E27FC236}">
                    <a16:creationId xmlns:a16="http://schemas.microsoft.com/office/drawing/2014/main" id="{46FD9A28-DCBD-4208-9E7E-867E8C30D071}"/>
                  </a:ext>
                </a:extLst>
              </p:cNvPr>
              <p:cNvSpPr/>
              <p:nvPr/>
            </p:nvSpPr>
            <p:spPr>
              <a:xfrm>
                <a:off x="6400800" y="3670561"/>
                <a:ext cx="5440680" cy="54864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600">
                              <a:latin typeface="Cambria Math"/>
                            </a:rPr>
                          </m:ctrlPr>
                        </m:sSubPr>
                        <m:e>
                          <m:r>
                            <a:rPr lang="en-US" sz="1600">
                              <a:latin typeface="Cambria Math"/>
                            </a:rPr>
                            <m:t>𝑆</m:t>
                          </m:r>
                        </m:e>
                        <m:sub>
                          <m:r>
                            <a:rPr lang="en-US" sz="1600">
                              <a:latin typeface="Cambria Math"/>
                            </a:rPr>
                            <m:t>𝑘</m:t>
                          </m:r>
                          <m:r>
                            <a:rPr lang="en-US" sz="1600">
                              <a:latin typeface="Cambria Math"/>
                            </a:rPr>
                            <m:t>+1</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sz="1600" i="1">
                              <a:latin typeface="Cambria Math" panose="02040503050406030204" pitchFamily="18" charset="0"/>
                            </a:rPr>
                          </m:ctrlPr>
                        </m:dPr>
                        <m:e>
                          <m:sSub>
                            <m:sSubPr>
                              <m:ctrlPr>
                                <a:rPr lang="en-US" sz="1600">
                                  <a:latin typeface="Cambria Math"/>
                                </a:rPr>
                              </m:ctrlPr>
                            </m:sSubPr>
                            <m:e>
                              <m:r>
                                <a:rPr lang="en-US" sz="1600">
                                  <a:latin typeface="Cambria Math"/>
                                </a:rPr>
                                <m:t>𝑆</m:t>
                              </m:r>
                            </m:e>
                            <m:sub>
                              <m:r>
                                <a:rPr lang="en-US" sz="1600">
                                  <a:latin typeface="Cambria Math"/>
                                </a:rPr>
                                <m:t>𝑘</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sz="1600">
                                  <a:latin typeface="Cambria Math"/>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400" dirty="0"/>
              </a:p>
            </p:txBody>
          </p:sp>
        </mc:Choice>
        <mc:Fallback xmlns="">
          <p:sp>
            <p:nvSpPr>
              <p:cNvPr id="23" name="Text 8">
                <a:extLst>
                  <a:ext uri="{FF2B5EF4-FFF2-40B4-BE49-F238E27FC236}">
                    <a16:creationId xmlns:a16="http://schemas.microsoft.com/office/drawing/2014/main" id="{46FD9A28-DCBD-4208-9E7E-867E8C30D071}"/>
                  </a:ext>
                </a:extLst>
              </p:cNvPr>
              <p:cNvSpPr>
                <a:spLocks noRot="1" noChangeAspect="1" noMove="1" noResize="1" noEditPoints="1" noAdjustHandles="1" noChangeArrowheads="1" noChangeShapeType="1" noTextEdit="1"/>
              </p:cNvSpPr>
              <p:nvPr/>
            </p:nvSpPr>
            <p:spPr>
              <a:xfrm>
                <a:off x="6400800" y="3670561"/>
                <a:ext cx="5440680" cy="548640"/>
              </a:xfrm>
              <a:prstGeom prst="rect">
                <a:avLst/>
              </a:prstGeom>
              <a:blipFill>
                <a:blip r:embed="rId8"/>
                <a:stretch>
                  <a:fillRect/>
                </a:stretch>
              </a:blipFill>
              <a:ln/>
            </p:spPr>
            <p:txBody>
              <a:bodyPr/>
              <a:lstStyle/>
              <a:p>
                <a:r>
                  <a:rPr lang="tr-TR">
                    <a:noFill/>
                  </a:rPr>
                  <a:t/>
                </a:r>
              </a:p>
            </p:txBody>
          </p:sp>
        </mc:Fallback>
      </mc:AlternateContent>
      <p:sp>
        <p:nvSpPr>
          <p:cNvPr id="24" name="Text 9">
            <a:extLst>
              <a:ext uri="{FF2B5EF4-FFF2-40B4-BE49-F238E27FC236}">
                <a16:creationId xmlns:a16="http://schemas.microsoft.com/office/drawing/2014/main" id="{47A6F6AC-071B-43F1-A75A-D9ED93AE5CEE}"/>
              </a:ext>
            </a:extLst>
          </p:cNvPr>
          <p:cNvSpPr/>
          <p:nvPr/>
        </p:nvSpPr>
        <p:spPr>
          <a:xfrm>
            <a:off x="6400800" y="4198627"/>
            <a:ext cx="5440680" cy="2596896"/>
          </a:xfrm>
          <a:prstGeom prst="rect">
            <a:avLst/>
          </a:prstGeom>
          <a:noFill/>
          <a:ln/>
        </p:spPr>
        <p:txBody>
          <a:bodyPr wrap="square" lIns="0" tIns="0" rIns="0" bIns="0" rtlCol="0" anchor="t"/>
          <a:lstStyle/>
          <a:p>
            <a:pPr algn="just">
              <a:lnSpc>
                <a:spcPct val="105000"/>
              </a:lnSpc>
              <a:spcAft>
                <a:spcPts val="700"/>
              </a:spcAft>
              <a:buSzPct val="100000"/>
            </a:pPr>
            <a:r>
              <a:rPr lang="en-US" sz="1350" dirty="0">
                <a:solidFill>
                  <a:srgbClr val="222222"/>
                </a:solidFill>
                <a:latin typeface="Calibri" pitchFamily="34" charset="0"/>
                <a:ea typeface="Calibri" pitchFamily="34" charset="-122"/>
                <a:cs typeface="Calibri" pitchFamily="34" charset="-120"/>
              </a:rPr>
              <a:t>Φ applies four evolutions to every cell, once per simulation step:</a:t>
            </a:r>
            <a:endParaRPr lang="en-US" sz="1350" dirty="0"/>
          </a:p>
          <a:p>
            <a:pPr algn="just">
              <a:lnSpc>
                <a:spcPct val="105000"/>
              </a:lnSpc>
              <a:spcAft>
                <a:spcPts val="700"/>
              </a:spcAft>
              <a:buSzPct val="100000"/>
            </a:pPr>
            <a:r>
              <a:rPr lang="en-US" sz="1350" dirty="0">
                <a:solidFill>
                  <a:srgbClr val="222222"/>
                </a:solidFill>
                <a:latin typeface="Calibri" pitchFamily="34" charset="0"/>
                <a:ea typeface="Calibri" pitchFamily="34" charset="-122"/>
                <a:cs typeface="Calibri" pitchFamily="34" charset="-120"/>
              </a:rPr>
              <a:t>① </a:t>
            </a:r>
            <a:r>
              <a:rPr lang="en-US" sz="1350" b="1" dirty="0">
                <a:solidFill>
                  <a:srgbClr val="222222"/>
                </a:solidFill>
                <a:latin typeface="Calibri" pitchFamily="34" charset="0"/>
                <a:ea typeface="Calibri" pitchFamily="34" charset="-122"/>
                <a:cs typeface="Calibri" pitchFamily="34" charset="-120"/>
              </a:rPr>
              <a:t>Burning status</a:t>
            </a:r>
            <a:r>
              <a:rPr lang="tr-TR" sz="1350" dirty="0">
                <a:solidFill>
                  <a:srgbClr val="222222"/>
                </a:solidFill>
                <a:latin typeface="Calibri" pitchFamily="34" charset="0"/>
                <a:ea typeface="Calibri" pitchFamily="34" charset="-122"/>
                <a:cs typeface="Calibri" pitchFamily="34" charset="-120"/>
              </a:rPr>
              <a:t>:</a:t>
            </a:r>
            <a:r>
              <a:rPr lang="en-US" sz="1350" dirty="0">
                <a:solidFill>
                  <a:srgbClr val="222222"/>
                </a:solidFill>
                <a:latin typeface="Calibri" pitchFamily="34" charset="0"/>
                <a:ea typeface="Calibri" pitchFamily="34" charset="-122"/>
                <a:cs typeface="Calibri" pitchFamily="34" charset="-120"/>
              </a:rPr>
              <a:t> Deterministic persistence ⊕ stochastic, wind-anisotropic propagation ⊕ ignition injection</a:t>
            </a:r>
            <a:endParaRPr lang="en-US" sz="1350" dirty="0"/>
          </a:p>
          <a:p>
            <a:pPr algn="just">
              <a:lnSpc>
                <a:spcPct val="105000"/>
              </a:lnSpc>
              <a:spcAft>
                <a:spcPts val="700"/>
              </a:spcAft>
              <a:buSzPct val="100000"/>
            </a:pPr>
            <a:r>
              <a:rPr lang="en-US" sz="1350" dirty="0">
                <a:solidFill>
                  <a:srgbClr val="222222"/>
                </a:solidFill>
                <a:latin typeface="Calibri" pitchFamily="34" charset="0"/>
                <a:ea typeface="Calibri" pitchFamily="34" charset="-122"/>
                <a:cs typeface="Calibri" pitchFamily="34" charset="-120"/>
              </a:rPr>
              <a:t>② </a:t>
            </a:r>
            <a:r>
              <a:rPr lang="en-US" sz="1350" b="1" dirty="0">
                <a:solidFill>
                  <a:srgbClr val="222222"/>
                </a:solidFill>
                <a:latin typeface="Calibri" pitchFamily="34" charset="0"/>
                <a:ea typeface="Calibri" pitchFamily="34" charset="-122"/>
                <a:cs typeface="Calibri" pitchFamily="34" charset="-120"/>
              </a:rPr>
              <a:t>Fuel mass</a:t>
            </a:r>
            <a:r>
              <a:rPr lang="tr-TR" sz="1350" dirty="0">
                <a:solidFill>
                  <a:srgbClr val="222222"/>
                </a:solidFill>
                <a:latin typeface="Calibri" pitchFamily="34" charset="0"/>
                <a:ea typeface="Calibri" pitchFamily="34" charset="-122"/>
                <a:cs typeface="Calibri" pitchFamily="34" charset="-120"/>
              </a:rPr>
              <a:t>:</a:t>
            </a:r>
            <a:r>
              <a:rPr lang="en-US" sz="1350" dirty="0">
                <a:solidFill>
                  <a:srgbClr val="222222"/>
                </a:solidFill>
                <a:latin typeface="Calibri" pitchFamily="34" charset="0"/>
                <a:ea typeface="Calibri" pitchFamily="34" charset="-122"/>
                <a:cs typeface="Calibri" pitchFamily="34" charset="-120"/>
              </a:rPr>
              <a:t> Combustion depletion minus suppression-driven reduction, floored at zero</a:t>
            </a:r>
            <a:endParaRPr lang="en-US" sz="1350" dirty="0"/>
          </a:p>
          <a:p>
            <a:pPr algn="just">
              <a:lnSpc>
                <a:spcPct val="105000"/>
              </a:lnSpc>
              <a:spcAft>
                <a:spcPts val="700"/>
              </a:spcAft>
              <a:buSzPct val="100000"/>
            </a:pPr>
            <a:r>
              <a:rPr lang="en-US" sz="1350" dirty="0">
                <a:solidFill>
                  <a:srgbClr val="222222"/>
                </a:solidFill>
                <a:latin typeface="Calibri" pitchFamily="34" charset="0"/>
                <a:ea typeface="Calibri" pitchFamily="34" charset="-122"/>
                <a:cs typeface="Calibri" pitchFamily="34" charset="-120"/>
              </a:rPr>
              <a:t>③ </a:t>
            </a:r>
            <a:r>
              <a:rPr lang="en-US" sz="1350" b="1" dirty="0">
                <a:solidFill>
                  <a:srgbClr val="222222"/>
                </a:solidFill>
                <a:latin typeface="Calibri" pitchFamily="34" charset="0"/>
                <a:ea typeface="Calibri" pitchFamily="34" charset="-122"/>
                <a:cs typeface="Calibri" pitchFamily="34" charset="-120"/>
              </a:rPr>
              <a:t>Fire intensity</a:t>
            </a:r>
            <a:r>
              <a:rPr lang="tr-TR" sz="1350" dirty="0">
                <a:solidFill>
                  <a:srgbClr val="222222"/>
                </a:solidFill>
                <a:latin typeface="Calibri" pitchFamily="34" charset="0"/>
                <a:ea typeface="Calibri" pitchFamily="34" charset="-122"/>
                <a:cs typeface="Calibri" pitchFamily="34" charset="-120"/>
              </a:rPr>
              <a:t>:</a:t>
            </a:r>
            <a:r>
              <a:rPr lang="en-US" sz="1350" dirty="0">
                <a:solidFill>
                  <a:srgbClr val="222222"/>
                </a:solidFill>
                <a:latin typeface="Calibri" pitchFamily="34" charset="0"/>
                <a:ea typeface="Calibri" pitchFamily="34" charset="-122"/>
                <a:cs typeface="Calibri" pitchFamily="34" charset="-120"/>
              </a:rPr>
              <a:t> Bounded combination of fuel, wind, and slope</a:t>
            </a:r>
            <a:endParaRPr lang="en-US" sz="1350" dirty="0"/>
          </a:p>
          <a:p>
            <a:pPr algn="just">
              <a:lnSpc>
                <a:spcPct val="105000"/>
              </a:lnSpc>
              <a:spcAft>
                <a:spcPts val="700"/>
              </a:spcAft>
              <a:buSzPct val="100000"/>
            </a:pPr>
            <a:r>
              <a:rPr lang="en-US" sz="1350" dirty="0">
                <a:solidFill>
                  <a:srgbClr val="222222"/>
                </a:solidFill>
                <a:latin typeface="Calibri" pitchFamily="34" charset="0"/>
                <a:ea typeface="Calibri" pitchFamily="34" charset="-122"/>
                <a:cs typeface="Calibri" pitchFamily="34" charset="-120"/>
              </a:rPr>
              <a:t>④ </a:t>
            </a:r>
            <a:r>
              <a:rPr lang="en-US" sz="1350" b="1" dirty="0">
                <a:solidFill>
                  <a:srgbClr val="222222"/>
                </a:solidFill>
                <a:latin typeface="Calibri" pitchFamily="34" charset="0"/>
                <a:ea typeface="Calibri" pitchFamily="34" charset="-122"/>
                <a:cs typeface="Calibri" pitchFamily="34" charset="-120"/>
              </a:rPr>
              <a:t>Ignition time</a:t>
            </a:r>
            <a:r>
              <a:rPr lang="tr-TR" sz="1350" dirty="0">
                <a:solidFill>
                  <a:srgbClr val="222222"/>
                </a:solidFill>
                <a:latin typeface="Calibri" pitchFamily="34" charset="0"/>
                <a:ea typeface="Calibri" pitchFamily="34" charset="-122"/>
                <a:cs typeface="Calibri" pitchFamily="34" charset="-120"/>
              </a:rPr>
              <a:t>:</a:t>
            </a:r>
            <a:r>
              <a:rPr lang="en-US" sz="1350" dirty="0">
                <a:solidFill>
                  <a:srgbClr val="222222"/>
                </a:solidFill>
                <a:latin typeface="Calibri" pitchFamily="34" charset="0"/>
                <a:ea typeface="Calibri" pitchFamily="34" charset="-122"/>
                <a:cs typeface="Calibri" pitchFamily="34" charset="-120"/>
              </a:rPr>
              <a:t> Reset on new ignition, advanced while burning, cleared on extinction</a:t>
            </a:r>
            <a:endParaRPr lang="en-US" sz="1350" dirty="0"/>
          </a:p>
          <a:p>
            <a:pPr algn="just">
              <a:lnSpc>
                <a:spcPct val="105000"/>
              </a:lnSpc>
              <a:spcAft>
                <a:spcPts val="700"/>
              </a:spcAft>
              <a:buSzPct val="100000"/>
            </a:pPr>
            <a:r>
              <a:rPr lang="en-US" sz="1350" b="1" dirty="0">
                <a:solidFill>
                  <a:srgbClr val="222222"/>
                </a:solidFill>
                <a:latin typeface="Calibri" pitchFamily="34" charset="0"/>
                <a:ea typeface="Calibri" pitchFamily="34" charset="-122"/>
                <a:cs typeface="Calibri" pitchFamily="34" charset="-120"/>
              </a:rPr>
              <a:t>Deterministic given the seed — identical worlds can be replayed under different decision configurations</a:t>
            </a:r>
            <a:endParaRPr lang="en-US" sz="1350" dirty="0"/>
          </a:p>
        </p:txBody>
      </p:sp>
      <p:pic>
        <p:nvPicPr>
          <p:cNvPr id="5" name="Image 2" descr="/tmp/thx/deck/figs/Figure3_1.png">
            <a:extLst>
              <a:ext uri="{FF2B5EF4-FFF2-40B4-BE49-F238E27FC236}">
                <a16:creationId xmlns:a16="http://schemas.microsoft.com/office/drawing/2014/main" id="{04FBCE9D-5C91-E41D-CAD7-5C37E05A9191}"/>
              </a:ext>
            </a:extLst>
          </p:cNvPr>
          <p:cNvPicPr>
            <a:picLocks noChangeAspect="1"/>
          </p:cNvPicPr>
          <p:nvPr/>
        </p:nvPicPr>
        <p:blipFill>
          <a:blip r:embed="rId9"/>
          <a:stretch>
            <a:fillRect/>
          </a:stretch>
        </p:blipFill>
        <p:spPr>
          <a:xfrm>
            <a:off x="365760" y="1815950"/>
            <a:ext cx="5074920" cy="4323379"/>
          </a:xfrm>
          <a:prstGeom prst="rect">
            <a:avLst/>
          </a:prstGeom>
        </p:spPr>
      </p:pic>
    </p:spTree>
    <p:extLst>
      <p:ext uri="{BB962C8B-B14F-4D97-AF65-F5344CB8AC3E}">
        <p14:creationId xmlns:p14="http://schemas.microsoft.com/office/powerpoint/2010/main" val="2165222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SIMULATION CORE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Per-Cell State, </a:t>
            </a:r>
            <a:r>
              <a:rPr lang="tr-TR" sz="2900" b="1" dirty="0" err="1">
                <a:solidFill>
                  <a:srgbClr val="000000"/>
                </a:solidFill>
                <a:latin typeface="Cambria" pitchFamily="34" charset="0"/>
                <a:ea typeface="Cambria" pitchFamily="34" charset="-122"/>
                <a:cs typeface="Cambria" pitchFamily="34" charset="-120"/>
              </a:rPr>
              <a:t>State</a:t>
            </a:r>
            <a:r>
              <a:rPr lang="en-US" sz="2900" b="1" dirty="0">
                <a:solidFill>
                  <a:srgbClr val="000000"/>
                </a:solidFill>
                <a:latin typeface="Cambria" pitchFamily="34" charset="0"/>
                <a:ea typeface="Cambria" pitchFamily="34" charset="-122"/>
                <a:cs typeface="Cambria" pitchFamily="34" charset="-120"/>
              </a:rPr>
              <a:t> Transition</a:t>
            </a:r>
            <a:r>
              <a:rPr lang="tr-TR" sz="2900" b="1" dirty="0">
                <a:solidFill>
                  <a:srgbClr val="000000"/>
                </a:solidFill>
                <a:latin typeface="Cambria" pitchFamily="34" charset="0"/>
                <a:ea typeface="Cambria" pitchFamily="34" charset="-122"/>
                <a:cs typeface="Cambria" pitchFamily="34" charset="-120"/>
              </a:rPr>
              <a:t> </a:t>
            </a:r>
            <a:r>
              <a:rPr lang="en-US" sz="2900" b="1" dirty="0">
                <a:solidFill>
                  <a:srgbClr val="000000"/>
                </a:solidFill>
                <a:latin typeface="Cambria" pitchFamily="34" charset="0"/>
                <a:ea typeface="Cambria" pitchFamily="34" charset="-122"/>
                <a:cs typeface="Cambria" pitchFamily="34" charset="-120"/>
              </a:rPr>
              <a:t>①</a:t>
            </a:r>
            <a:r>
              <a:rPr lang="tr-TR" sz="2900" b="1" dirty="0">
                <a:solidFill>
                  <a:srgbClr val="000000"/>
                </a:solidFill>
                <a:latin typeface="Cambria" pitchFamily="34" charset="0"/>
                <a:ea typeface="Cambria" pitchFamily="34" charset="-122"/>
                <a:cs typeface="Cambria" pitchFamily="34" charset="-120"/>
              </a:rPr>
              <a:t> </a:t>
            </a:r>
            <a:endParaRPr lang="en-US" sz="2900" dirty="0"/>
          </a:p>
        </p:txBody>
      </p:sp>
      <p:pic>
        <p:nvPicPr>
          <p:cNvPr id="9" name="Image 4"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10" name="Image 5"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sp>
            <p:nvSpPr>
              <p:cNvPr id="35" name="Text 2">
                <a:extLst>
                  <a:ext uri="{FF2B5EF4-FFF2-40B4-BE49-F238E27FC236}">
                    <a16:creationId xmlns:a16="http://schemas.microsoft.com/office/drawing/2014/main" id="{D365A081-EC97-4F4F-8394-5A3EB4A35E2D}"/>
                  </a:ext>
                </a:extLst>
              </p:cNvPr>
              <p:cNvSpPr/>
              <p:nvPr/>
            </p:nvSpPr>
            <p:spPr>
              <a:xfrm>
                <a:off x="387097" y="1311638"/>
                <a:ext cx="11353799" cy="54864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a:latin typeface="Cambria Math"/>
                            </a:rPr>
                          </m:ctrlPr>
                        </m:sSubPr>
                        <m:e>
                          <m:r>
                            <a:rPr lang="en-US">
                              <a:latin typeface="Cambria Math"/>
                            </a:rPr>
                            <m:t>𝐵</m:t>
                          </m:r>
                        </m:e>
                        <m:sub>
                          <m:r>
                            <a:rPr lang="en-US">
                              <a:latin typeface="Cambria Math"/>
                            </a:rPr>
                            <m:t>𝑘</m:t>
                          </m:r>
                          <m:r>
                            <a:rPr lang="en-US">
                              <a:latin typeface="Cambria Math"/>
                            </a:rPr>
                            <m:t>+1</m:t>
                          </m:r>
                        </m:sub>
                      </m:sSub>
                      <m:d>
                        <m:dPr>
                          <m:ctrlPr>
                            <a:rPr lang="en-US">
                              <a:latin typeface="Cambria Math"/>
                            </a:rPr>
                          </m:ctrlPr>
                        </m:dPr>
                        <m:e>
                          <m:r>
                            <a:rPr lang="en-US">
                              <a:latin typeface="Cambria Math"/>
                            </a:rPr>
                            <m:t>𝑥</m:t>
                          </m:r>
                          <m:r>
                            <a:rPr lang="en-US">
                              <a:latin typeface="Cambria Math"/>
                            </a:rPr>
                            <m:t>,</m:t>
                          </m:r>
                          <m:r>
                            <a:rPr lang="en-US">
                              <a:latin typeface="Cambria Math"/>
                            </a:rPr>
                            <m:t>𝑦</m:t>
                          </m:r>
                        </m:e>
                      </m:d>
                      <m:r>
                        <a:rPr lang="en-US">
                          <a:latin typeface="Cambria Math"/>
                        </a:rPr>
                        <m:t>=</m:t>
                      </m:r>
                      <m:func>
                        <m:funcPr>
                          <m:ctrlPr>
                            <a:rPr lang="en-US">
                              <a:latin typeface="Cambria Math"/>
                            </a:rPr>
                          </m:ctrlPr>
                        </m:funcPr>
                        <m:fName>
                          <m:r>
                            <m:rPr>
                              <m:sty m:val="p"/>
                            </m:rPr>
                            <a:rPr lang="en-US">
                              <a:latin typeface="Cambria Math"/>
                            </a:rPr>
                            <m:t>max</m:t>
                          </m:r>
                        </m:fName>
                        <m:e>
                          <m:d>
                            <m:dPr>
                              <m:ctrlPr>
                                <a:rPr lang="en-US" i="1">
                                  <a:latin typeface="Cambria Math" panose="02040503050406030204" pitchFamily="18" charset="0"/>
                                </a:rPr>
                              </m:ctrlPr>
                            </m:dPr>
                            <m:e>
                              <m:sSubSup>
                                <m:sSubSupPr>
                                  <m:ctrlPr>
                                    <a:rPr lang="en-US">
                                      <a:latin typeface="Cambria Math"/>
                                    </a:rPr>
                                  </m:ctrlPr>
                                </m:sSubSupPr>
                                <m:e>
                                  <m:r>
                                    <a:rPr lang="en-US">
                                      <a:latin typeface="Cambria Math"/>
                                    </a:rPr>
                                    <m:t>𝐵</m:t>
                                  </m:r>
                                </m:e>
                                <m:sub>
                                  <m:r>
                                    <a:rPr lang="en-US">
                                      <a:latin typeface="Cambria Math"/>
                                    </a:rPr>
                                    <m:t>𝑘</m:t>
                                  </m:r>
                                  <m:r>
                                    <a:rPr lang="en-US">
                                      <a:latin typeface="Cambria Math"/>
                                    </a:rPr>
                                    <m:t>+1</m:t>
                                  </m:r>
                                </m:sub>
                                <m:sup>
                                  <m:r>
                                    <a:rPr lang="en-US">
                                      <a:latin typeface="Cambria Math"/>
                                    </a:rPr>
                                    <m:t>𝑝𝑒𝑟𝑠</m:t>
                                  </m:r>
                                </m:sup>
                              </m:sSubSup>
                              <m:d>
                                <m:dPr>
                                  <m:ctrlPr>
                                    <a:rPr lang="en-US">
                                      <a:latin typeface="Cambria Math"/>
                                    </a:rPr>
                                  </m:ctrlPr>
                                </m:dPr>
                                <m:e>
                                  <m:r>
                                    <a:rPr lang="en-US">
                                      <a:latin typeface="Cambria Math"/>
                                    </a:rPr>
                                    <m:t>𝑥</m:t>
                                  </m:r>
                                  <m:r>
                                    <a:rPr lang="en-US">
                                      <a:latin typeface="Cambria Math"/>
                                    </a:rPr>
                                    <m:t>,</m:t>
                                  </m:r>
                                  <m:r>
                                    <a:rPr lang="en-US">
                                      <a:latin typeface="Cambria Math"/>
                                    </a:rPr>
                                    <m:t>𝑦</m:t>
                                  </m:r>
                                </m:e>
                              </m:d>
                              <m:r>
                                <a:rPr lang="en-US">
                                  <a:latin typeface="Cambria Math"/>
                                </a:rPr>
                                <m:t>,</m:t>
                              </m:r>
                              <m:sSubSup>
                                <m:sSubSupPr>
                                  <m:ctrlPr>
                                    <a:rPr lang="en-US">
                                      <a:latin typeface="Cambria Math"/>
                                    </a:rPr>
                                  </m:ctrlPr>
                                </m:sSubSupPr>
                                <m:e>
                                  <m:r>
                                    <a:rPr lang="en-US">
                                      <a:latin typeface="Cambria Math"/>
                                    </a:rPr>
                                    <m:t>𝐵</m:t>
                                  </m:r>
                                </m:e>
                                <m:sub>
                                  <m:r>
                                    <a:rPr lang="en-US">
                                      <a:latin typeface="Cambria Math"/>
                                    </a:rPr>
                                    <m:t>𝑘</m:t>
                                  </m:r>
                                  <m:r>
                                    <a:rPr lang="en-US">
                                      <a:latin typeface="Cambria Math"/>
                                    </a:rPr>
                                    <m:t>+1</m:t>
                                  </m:r>
                                </m:sub>
                                <m:sup>
                                  <m:r>
                                    <a:rPr lang="en-US">
                                      <a:latin typeface="Cambria Math"/>
                                    </a:rPr>
                                    <m:t>𝑝𝑟𝑜𝑝</m:t>
                                  </m:r>
                                </m:sup>
                              </m:sSubSup>
                              <m:d>
                                <m:dPr>
                                  <m:ctrlPr>
                                    <a:rPr lang="en-US">
                                      <a:latin typeface="Cambria Math"/>
                                    </a:rPr>
                                  </m:ctrlPr>
                                </m:dPr>
                                <m:e>
                                  <m:r>
                                    <a:rPr lang="en-US">
                                      <a:latin typeface="Cambria Math"/>
                                    </a:rPr>
                                    <m:t>𝑥</m:t>
                                  </m:r>
                                  <m:r>
                                    <a:rPr lang="en-US">
                                      <a:latin typeface="Cambria Math"/>
                                    </a:rPr>
                                    <m:t>,</m:t>
                                  </m:r>
                                  <m:r>
                                    <a:rPr lang="en-US">
                                      <a:latin typeface="Cambria Math"/>
                                    </a:rPr>
                                    <m:t>𝑦</m:t>
                                  </m:r>
                                </m:e>
                              </m:d>
                              <m:r>
                                <a:rPr lang="en-US">
                                  <a:latin typeface="Cambria Math"/>
                                </a:rPr>
                                <m:t>,</m:t>
                              </m:r>
                              <m:sSubSup>
                                <m:sSubSupPr>
                                  <m:ctrlPr>
                                    <a:rPr lang="en-US">
                                      <a:latin typeface="Cambria Math"/>
                                    </a:rPr>
                                  </m:ctrlPr>
                                </m:sSubSupPr>
                                <m:e>
                                  <m:r>
                                    <a:rPr lang="en-US">
                                      <a:latin typeface="Cambria Math"/>
                                    </a:rPr>
                                    <m:t>𝐵</m:t>
                                  </m:r>
                                </m:e>
                                <m:sub>
                                  <m:r>
                                    <a:rPr lang="en-US">
                                      <a:latin typeface="Cambria Math"/>
                                    </a:rPr>
                                    <m:t>𝑘</m:t>
                                  </m:r>
                                  <m:r>
                                    <a:rPr lang="en-US">
                                      <a:latin typeface="Cambria Math"/>
                                    </a:rPr>
                                    <m:t>+1</m:t>
                                  </m:r>
                                </m:sub>
                                <m:sup>
                                  <m:r>
                                    <a:rPr lang="en-US">
                                      <a:latin typeface="Cambria Math"/>
                                    </a:rPr>
                                    <m:t>𝑠𝑝𝑜𝑡</m:t>
                                  </m:r>
                                </m:sup>
                              </m:sSubSup>
                              <m:d>
                                <m:dPr>
                                  <m:ctrlPr>
                                    <a:rPr lang="en-US">
                                      <a:latin typeface="Cambria Math"/>
                                    </a:rPr>
                                  </m:ctrlPr>
                                </m:dPr>
                                <m:e>
                                  <m:r>
                                    <a:rPr lang="en-US">
                                      <a:latin typeface="Cambria Math"/>
                                    </a:rPr>
                                    <m:t>𝑥</m:t>
                                  </m:r>
                                  <m:r>
                                    <a:rPr lang="en-US">
                                      <a:latin typeface="Cambria Math"/>
                                    </a:rPr>
                                    <m:t>,</m:t>
                                  </m:r>
                                  <m:r>
                                    <a:rPr lang="en-US">
                                      <a:latin typeface="Cambria Math"/>
                                    </a:rPr>
                                    <m:t>𝑦</m:t>
                                  </m:r>
                                </m:e>
                              </m:d>
                              <m:r>
                                <a:rPr lang="en-US">
                                  <a:latin typeface="Cambria Math"/>
                                </a:rPr>
                                <m:t>,</m:t>
                              </m:r>
                              <m:sSub>
                                <m:sSubPr>
                                  <m:ctrlPr>
                                    <a:rPr lang="en-US">
                                      <a:latin typeface="Cambria Math"/>
                                    </a:rPr>
                                  </m:ctrlPr>
                                </m:sSubPr>
                                <m:e>
                                  <m:r>
                                    <a:rPr lang="en-US">
                                      <a:latin typeface="Cambria Math"/>
                                    </a:rPr>
                                    <m:t>𝐼</m:t>
                                  </m:r>
                                </m:e>
                                <m:sub>
                                  <m:r>
                                    <a:rPr lang="en-US">
                                      <a:latin typeface="Cambria Math"/>
                                    </a:rPr>
                                    <m:t>𝐼𝑔𝑛</m:t>
                                  </m:r>
                                  <m:r>
                                    <a:rPr lang="en-US">
                                      <a:latin typeface="Cambria Math"/>
                                    </a:rPr>
                                    <m:t>,</m:t>
                                  </m:r>
                                  <m:r>
                                    <a:rPr lang="en-US">
                                      <a:latin typeface="Cambria Math"/>
                                    </a:rPr>
                                    <m:t>𝑘</m:t>
                                  </m:r>
                                </m:sub>
                              </m:sSub>
                              <m:d>
                                <m:dPr>
                                  <m:ctrlPr>
                                    <a:rPr lang="en-US">
                                      <a:latin typeface="Cambria Math"/>
                                    </a:rPr>
                                  </m:ctrlPr>
                                </m:dPr>
                                <m:e>
                                  <m:r>
                                    <a:rPr lang="en-US">
                                      <a:latin typeface="Cambria Math"/>
                                    </a:rPr>
                                    <m:t>𝑥</m:t>
                                  </m:r>
                                  <m:r>
                                    <a:rPr lang="en-US">
                                      <a:latin typeface="Cambria Math"/>
                                    </a:rPr>
                                    <m:t>,</m:t>
                                  </m:r>
                                  <m:r>
                                    <a:rPr lang="en-US">
                                      <a:latin typeface="Cambria Math"/>
                                    </a:rPr>
                                    <m:t>𝑦</m:t>
                                  </m:r>
                                </m:e>
                              </m:d>
                            </m:e>
                          </m:d>
                        </m:e>
                      </m:func>
                    </m:oMath>
                  </m:oMathPara>
                </a14:m>
                <a:endParaRPr lang="en-US" dirty="0"/>
              </a:p>
            </p:txBody>
          </p:sp>
        </mc:Choice>
        <mc:Fallback xmlns="">
          <p:sp>
            <p:nvSpPr>
              <p:cNvPr id="35" name="Text 2">
                <a:extLst>
                  <a:ext uri="{FF2B5EF4-FFF2-40B4-BE49-F238E27FC236}">
                    <a16:creationId xmlns:a16="http://schemas.microsoft.com/office/drawing/2014/main" id="{D365A081-EC97-4F4F-8394-5A3EB4A35E2D}"/>
                  </a:ext>
                </a:extLst>
              </p:cNvPr>
              <p:cNvSpPr>
                <a:spLocks noRot="1" noChangeAspect="1" noMove="1" noResize="1" noEditPoints="1" noAdjustHandles="1" noChangeArrowheads="1" noChangeShapeType="1" noTextEdit="1"/>
              </p:cNvSpPr>
              <p:nvPr/>
            </p:nvSpPr>
            <p:spPr>
              <a:xfrm>
                <a:off x="387097" y="1311638"/>
                <a:ext cx="11353799" cy="548640"/>
              </a:xfrm>
              <a:prstGeom prst="rect">
                <a:avLst/>
              </a:prstGeom>
              <a:blipFill>
                <a:blip r:embed="rId5"/>
                <a:stretch>
                  <a:fillRect b="-1111"/>
                </a:stretch>
              </a:blipFill>
              <a:ln/>
            </p:spPr>
            <p:txBody>
              <a:bodyPr/>
              <a:lstStyle/>
              <a:p>
                <a:r>
                  <a:rPr lang="tr-TR">
                    <a:noFill/>
                  </a:rPr>
                  <a:t/>
                </a:r>
              </a:p>
            </p:txBody>
          </p:sp>
        </mc:Fallback>
      </mc:AlternateContent>
      <p:sp>
        <p:nvSpPr>
          <p:cNvPr id="36" name="Text 3">
            <a:extLst>
              <a:ext uri="{FF2B5EF4-FFF2-40B4-BE49-F238E27FC236}">
                <a16:creationId xmlns:a16="http://schemas.microsoft.com/office/drawing/2014/main" id="{1A93951C-BDCF-4C92-8A45-6E1AB7CB7438}"/>
              </a:ext>
            </a:extLst>
          </p:cNvPr>
          <p:cNvSpPr/>
          <p:nvPr/>
        </p:nvSpPr>
        <p:spPr>
          <a:xfrm>
            <a:off x="502921" y="2162030"/>
            <a:ext cx="11247120" cy="365760"/>
          </a:xfrm>
          <a:prstGeom prst="rect">
            <a:avLst/>
          </a:prstGeom>
          <a:noFill/>
          <a:ln/>
        </p:spPr>
        <p:txBody>
          <a:bodyPr wrap="square" lIns="0" tIns="0" rIns="0" bIns="0" rtlCol="0" anchor="t"/>
          <a:lstStyle/>
          <a:p>
            <a:pPr marL="0" indent="0">
              <a:lnSpc>
                <a:spcPct val="105000"/>
              </a:lnSpc>
              <a:buNone/>
            </a:pPr>
            <a:r>
              <a:rPr lang="en-US" sz="1400" b="1" dirty="0">
                <a:solidFill>
                  <a:srgbClr val="222222"/>
                </a:solidFill>
                <a:latin typeface="Calibri" pitchFamily="34" charset="0"/>
                <a:ea typeface="Calibri" pitchFamily="34" charset="-122"/>
                <a:cs typeface="Calibri" pitchFamily="34" charset="-120"/>
              </a:rPr>
              <a:t>A cell burns at the next step if it keeps burning, or fire propagates into it, or an ignition is injected.</a:t>
            </a:r>
            <a:endParaRPr lang="en-US" sz="1400" dirty="0"/>
          </a:p>
        </p:txBody>
      </p:sp>
      <p:sp>
        <p:nvSpPr>
          <p:cNvPr id="37" name="Text 4">
            <a:extLst>
              <a:ext uri="{FF2B5EF4-FFF2-40B4-BE49-F238E27FC236}">
                <a16:creationId xmlns:a16="http://schemas.microsoft.com/office/drawing/2014/main" id="{1071B7E4-5B74-4EEF-BFEF-ED97C8C36C96}"/>
              </a:ext>
            </a:extLst>
          </p:cNvPr>
          <p:cNvSpPr/>
          <p:nvPr/>
        </p:nvSpPr>
        <p:spPr>
          <a:xfrm>
            <a:off x="441959" y="2370319"/>
            <a:ext cx="5486400" cy="310896"/>
          </a:xfrm>
          <a:prstGeom prst="rect">
            <a:avLst/>
          </a:prstGeom>
          <a:noFill/>
          <a:ln/>
        </p:spPr>
        <p:txBody>
          <a:bodyPr wrap="square" lIns="0" tIns="0" rIns="0" bIns="0" rtlCol="0" anchor="ctr"/>
          <a:lstStyle/>
          <a:p>
            <a:pPr marL="0" indent="0">
              <a:buNone/>
            </a:pPr>
            <a:r>
              <a:rPr lang="en-US" sz="1600" b="1" dirty="0">
                <a:solidFill>
                  <a:srgbClr val="E31836"/>
                </a:solidFill>
                <a:latin typeface="Calibri" pitchFamily="34" charset="0"/>
                <a:ea typeface="Calibri" pitchFamily="34" charset="-122"/>
                <a:cs typeface="Calibri" pitchFamily="34" charset="-120"/>
              </a:rPr>
              <a:t>①</a:t>
            </a:r>
            <a:r>
              <a:rPr lang="en-US" sz="1600" b="1" dirty="0">
                <a:solidFill>
                  <a:srgbClr val="FF0000"/>
                </a:solidFill>
                <a:latin typeface="Calibri" pitchFamily="34" charset="0"/>
                <a:ea typeface="Calibri" pitchFamily="34" charset="-122"/>
                <a:cs typeface="Calibri" pitchFamily="34" charset="-120"/>
              </a:rPr>
              <a:t> </a:t>
            </a:r>
            <a:r>
              <a:rPr lang="en-US" sz="1500" b="1" dirty="0">
                <a:solidFill>
                  <a:srgbClr val="E31836"/>
                </a:solidFill>
                <a:latin typeface="Calibri" pitchFamily="34" charset="0"/>
                <a:ea typeface="Calibri" pitchFamily="34" charset="-122"/>
                <a:cs typeface="Calibri" pitchFamily="34" charset="-120"/>
              </a:rPr>
              <a:t>Deterministic persistence</a:t>
            </a:r>
            <a:endParaRPr lang="en-US" sz="1500" dirty="0"/>
          </a:p>
        </p:txBody>
      </p:sp>
      <p:sp>
        <p:nvSpPr>
          <p:cNvPr id="40" name="Text 7">
            <a:extLst>
              <a:ext uri="{FF2B5EF4-FFF2-40B4-BE49-F238E27FC236}">
                <a16:creationId xmlns:a16="http://schemas.microsoft.com/office/drawing/2014/main" id="{E6ACF31A-B270-4D04-A29A-B3BD79B5027F}"/>
              </a:ext>
            </a:extLst>
          </p:cNvPr>
          <p:cNvSpPr/>
          <p:nvPr/>
        </p:nvSpPr>
        <p:spPr>
          <a:xfrm>
            <a:off x="6248399" y="2370319"/>
            <a:ext cx="5440680" cy="310896"/>
          </a:xfrm>
          <a:prstGeom prst="rect">
            <a:avLst/>
          </a:prstGeom>
          <a:noFill/>
          <a:ln/>
        </p:spPr>
        <p:txBody>
          <a:bodyPr wrap="square" lIns="0" tIns="0" rIns="0" bIns="0" rtlCol="0" anchor="ctr"/>
          <a:lstStyle/>
          <a:p>
            <a:pPr marL="0" indent="0">
              <a:buNone/>
            </a:pPr>
            <a:r>
              <a:rPr lang="en-US" sz="1500" b="1" dirty="0">
                <a:solidFill>
                  <a:srgbClr val="E31836"/>
                </a:solidFill>
                <a:latin typeface="Calibri" pitchFamily="34" charset="0"/>
                <a:ea typeface="Calibri" pitchFamily="34" charset="-122"/>
                <a:cs typeface="Calibri" pitchFamily="34" charset="-120"/>
              </a:rPr>
              <a:t>Stochastic, wind-anisotropic propagation</a:t>
            </a:r>
            <a:endParaRPr lang="en-US" sz="1500" dirty="0"/>
          </a:p>
        </p:txBody>
      </p:sp>
      <mc:AlternateContent xmlns:mc="http://schemas.openxmlformats.org/markup-compatibility/2006" xmlns:a14="http://schemas.microsoft.com/office/drawing/2010/main">
        <mc:Choice Requires="a14">
          <p:sp>
            <p:nvSpPr>
              <p:cNvPr id="5" name="Text 5">
                <a:extLst>
                  <a:ext uri="{FF2B5EF4-FFF2-40B4-BE49-F238E27FC236}">
                    <a16:creationId xmlns:a16="http://schemas.microsoft.com/office/drawing/2014/main" id="{26B125F4-1B12-8ED6-EB47-01F4F29046CF}"/>
                  </a:ext>
                </a:extLst>
              </p:cNvPr>
              <p:cNvSpPr/>
              <p:nvPr/>
            </p:nvSpPr>
            <p:spPr>
              <a:xfrm>
                <a:off x="393192" y="2651760"/>
                <a:ext cx="5486400" cy="868680"/>
              </a:xfrm>
              <a:prstGeom prst="rect">
                <a:avLst/>
              </a:prstGeom>
              <a:noFill/>
              <a:ln/>
            </p:spPr>
            <p:txBody>
              <a:bodyPr wrap="square" lIns="0" tIns="0" rIns="0" bIns="0" rtlCol="0" anchor="ctr"/>
              <a:lstStyle/>
              <a:p>
                <a:pPr marL="0" indent="0" algn="ctr">
                  <a:buNone/>
                </a:pPr>
                <a14:m>
                  <m:oMathPara xmlns:m="http://schemas.openxmlformats.org/officeDocument/2006/math">
                    <m:oMath>
                      <m:sSubSup>
                        <m:sSubSupPr>
                          <m:ctrlPr>
                            <a:rPr lang="en-US" sz="1300">
                              <a:latin typeface="Cambria Math"/>
                            </a:rPr>
                          </m:ctrlPr>
                        </m:sSubSupPr>
                        <m:e>
                          <m:r>
                            <a:rPr lang="en-US" sz="1300">
                              <a:latin typeface="Cambria Math"/>
                            </a:rPr>
                            <m:t>𝐵</m:t>
                          </m:r>
                        </m:e>
                        <m:sub>
                          <m:r>
                            <a:rPr lang="en-US" sz="1300">
                              <a:latin typeface="Cambria Math"/>
                            </a:rPr>
                            <m:t>𝑘</m:t>
                          </m:r>
                          <m:r>
                            <a:rPr lang="en-US" sz="1300">
                              <a:latin typeface="Cambria Math"/>
                            </a:rPr>
                            <m:t>+1</m:t>
                          </m:r>
                        </m:sub>
                        <m:sup>
                          <m:r>
                            <a:rPr lang="en-US" sz="1300">
                              <a:latin typeface="Cambria Math"/>
                            </a:rPr>
                            <m:t>𝑝𝑒𝑟𝑠</m:t>
                          </m:r>
                        </m:sup>
                      </m:sSubSup>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sSub>
                        <m:sSubPr>
                          <m:ctrlPr>
                            <a:rPr lang="en-US" sz="1300">
                              <a:latin typeface="Cambria Math"/>
                            </a:rPr>
                          </m:ctrlPr>
                        </m:sSubPr>
                        <m:e>
                          <m:r>
                            <a:rPr lang="en-US" sz="1300">
                              <a:latin typeface="Cambria Math"/>
                            </a:rPr>
                            <m:t>𝐵</m:t>
                          </m:r>
                        </m:e>
                        <m:sub>
                          <m:r>
                            <a:rPr lang="en-US" sz="1300">
                              <a:latin typeface="Cambria Math"/>
                            </a:rPr>
                            <m:t>𝑘</m:t>
                          </m:r>
                        </m:sub>
                      </m:sSub>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r>
                        <a:rPr lang="en-US" sz="1300">
                          <a:latin typeface="Cambria Math"/>
                        </a:rPr>
                        <m:t>𝟏</m:t>
                      </m:r>
                      <m:d>
                        <m:dPr>
                          <m:begChr m:val="["/>
                          <m:endChr m:val="]"/>
                          <m:ctrlPr>
                            <a:rPr lang="en-US" sz="1300" i="1">
                              <a:latin typeface="Cambria Math" panose="02040503050406030204" pitchFamily="18" charset="0"/>
                            </a:rPr>
                          </m:ctrlPr>
                        </m:dPr>
                        <m:e>
                          <m:sSub>
                            <m:sSubPr>
                              <m:ctrlPr>
                                <a:rPr lang="en-US" sz="1300">
                                  <a:latin typeface="Cambria Math"/>
                                </a:rPr>
                              </m:ctrlPr>
                            </m:sSubPr>
                            <m:e>
                              <m:r>
                                <a:rPr lang="en-US" sz="1300">
                                  <a:latin typeface="Cambria Math"/>
                                </a:rPr>
                                <m:t>𝐹</m:t>
                              </m:r>
                            </m:e>
                            <m:sub>
                              <m:r>
                                <a:rPr lang="en-US" sz="1300">
                                  <a:latin typeface="Cambria Math"/>
                                </a:rPr>
                                <m:t>𝑙𝑜𝑎𝑑</m:t>
                              </m:r>
                              <m:r>
                                <a:rPr lang="en-US" sz="1300">
                                  <a:latin typeface="Cambria Math"/>
                                </a:rPr>
                                <m:t>,</m:t>
                              </m:r>
                              <m:r>
                                <a:rPr lang="en-US" sz="1300">
                                  <a:latin typeface="Cambria Math"/>
                                </a:rPr>
                                <m:t>𝑘</m:t>
                              </m:r>
                            </m:sub>
                          </m:sSub>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&gt;</m:t>
                          </m:r>
                          <m:sSub>
                            <m:sSubPr>
                              <m:ctrlPr>
                                <a:rPr lang="en-US" sz="1300">
                                  <a:latin typeface="Cambria Math"/>
                                </a:rPr>
                              </m:ctrlPr>
                            </m:sSubPr>
                            <m:e>
                              <m:r>
                                <a:rPr lang="en-US" sz="1300">
                                  <a:latin typeface="Cambria Math"/>
                                </a:rPr>
                                <m:t>𝜀</m:t>
                              </m:r>
                            </m:e>
                            <m:sub>
                              <m:r>
                                <a:rPr lang="en-US" sz="1300">
                                  <a:latin typeface="Cambria Math"/>
                                </a:rPr>
                                <m:t>𝑓𝑢𝑒</m:t>
                              </m:r>
                              <m:sSub>
                                <m:sSubPr>
                                  <m:ctrlPr>
                                    <a:rPr lang="en-US" sz="1300">
                                      <a:latin typeface="Cambria Math"/>
                                    </a:rPr>
                                  </m:ctrlPr>
                                </m:sSubPr>
                                <m:e>
                                  <m:r>
                                    <a:rPr lang="en-US" sz="1300">
                                      <a:latin typeface="Cambria Math"/>
                                    </a:rPr>
                                    <m:t>𝑙</m:t>
                                  </m:r>
                                </m:e>
                                <m:sub>
                                  <m:r>
                                    <a:rPr lang="en-US" sz="1300">
                                      <a:latin typeface="Cambria Math"/>
                                    </a:rPr>
                                    <m:t>𝑙𝑜𝑎𝑑</m:t>
                                  </m:r>
                                </m:sub>
                              </m:sSub>
                            </m:sub>
                          </m:sSub>
                          <m:r>
                            <a:rPr lang="en-US" sz="1300">
                              <a:latin typeface="Cambria Math"/>
                            </a:rPr>
                            <m:t> </m:t>
                          </m:r>
                        </m:e>
                      </m:d>
                      <m:r>
                        <a:rPr lang="en-US" sz="1300">
                          <a:latin typeface="Cambria Math"/>
                        </a:rPr>
                        <m:t>⋅</m:t>
                      </m:r>
                      <m:r>
                        <a:rPr lang="en-US" sz="1300">
                          <a:latin typeface="Cambria Math"/>
                        </a:rPr>
                        <m:t>𝟏</m:t>
                      </m:r>
                      <m:d>
                        <m:dPr>
                          <m:begChr m:val="["/>
                          <m:endChr m:val="]"/>
                          <m:ctrlPr>
                            <a:rPr lang="en-US" sz="1300" i="1">
                              <a:latin typeface="Cambria Math" panose="02040503050406030204" pitchFamily="18" charset="0"/>
                            </a:rPr>
                          </m:ctrlPr>
                        </m:dPr>
                        <m:e>
                          <m:sSub>
                            <m:sSubPr>
                              <m:ctrlPr>
                                <a:rPr lang="en-US" sz="1300">
                                  <a:latin typeface="Cambria Math"/>
                                </a:rPr>
                              </m:ctrlPr>
                            </m:sSubPr>
                            <m:e>
                              <m:r>
                                <a:rPr lang="en-US" sz="1300">
                                  <a:latin typeface="Cambria Math"/>
                                </a:rPr>
                                <m:t>𝐹</m:t>
                              </m:r>
                            </m:e>
                            <m:sub>
                              <m:r>
                                <a:rPr lang="en-US" sz="1300">
                                  <a:latin typeface="Cambria Math"/>
                                </a:rPr>
                                <m:t>𝑚𝑜𝑖𝑠𝑡</m:t>
                              </m:r>
                              <m:r>
                                <a:rPr lang="en-US" sz="1300">
                                  <a:latin typeface="Cambria Math"/>
                                </a:rPr>
                                <m:t>,</m:t>
                              </m:r>
                              <m:r>
                                <a:rPr lang="en-US" sz="1300">
                                  <a:latin typeface="Cambria Math"/>
                                </a:rPr>
                                <m:t>𝑘</m:t>
                              </m:r>
                            </m:sub>
                          </m:sSub>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&lt;</m:t>
                          </m:r>
                          <m:sSub>
                            <m:sSubPr>
                              <m:ctrlPr>
                                <a:rPr lang="en-US" sz="1300">
                                  <a:latin typeface="Cambria Math"/>
                                </a:rPr>
                              </m:ctrlPr>
                            </m:sSubPr>
                            <m:e>
                              <m:r>
                                <a:rPr lang="en-US" sz="1300">
                                  <a:latin typeface="Cambria Math"/>
                                </a:rPr>
                                <m:t>𝑚</m:t>
                              </m:r>
                            </m:e>
                            <m:sub>
                              <m:r>
                                <a:rPr lang="en-US" sz="1300">
                                  <a:latin typeface="Cambria Math"/>
                                </a:rPr>
                                <m:t>𝑒𝑥𝑡</m:t>
                              </m:r>
                            </m:sub>
                          </m:sSub>
                          <m:d>
                            <m:dPr>
                              <m:ctrlPr>
                                <a:rPr lang="en-US" sz="1300" i="1">
                                  <a:latin typeface="Cambria Math" panose="02040503050406030204" pitchFamily="18" charset="0"/>
                                </a:rPr>
                              </m:ctrlPr>
                            </m:dPr>
                            <m:e>
                              <m:sSub>
                                <m:sSubPr>
                                  <m:ctrlPr>
                                    <a:rPr lang="en-US" sz="1300">
                                      <a:latin typeface="Cambria Math"/>
                                    </a:rPr>
                                  </m:ctrlPr>
                                </m:sSubPr>
                                <m:e>
                                  <m:r>
                                    <a:rPr lang="en-US" sz="1300">
                                      <a:latin typeface="Cambria Math"/>
                                    </a:rPr>
                                    <m:t>𝐹</m:t>
                                  </m:r>
                                </m:e>
                                <m:sub>
                                  <m:r>
                                    <a:rPr lang="en-US" sz="1300">
                                      <a:latin typeface="Cambria Math"/>
                                    </a:rPr>
                                    <m:t>𝑡𝑦𝑝𝑒</m:t>
                                  </m:r>
                                </m:sub>
                              </m:sSub>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e>
                          </m:d>
                        </m:e>
                      </m:d>
                    </m:oMath>
                  </m:oMathPara>
                </a14:m>
                <a:endParaRPr lang="en-US" sz="1400" dirty="0"/>
              </a:p>
            </p:txBody>
          </p:sp>
        </mc:Choice>
        <mc:Fallback xmlns="">
          <p:sp>
            <p:nvSpPr>
              <p:cNvPr id="5" name="Text 5">
                <a:extLst>
                  <a:ext uri="{FF2B5EF4-FFF2-40B4-BE49-F238E27FC236}">
                    <a16:creationId xmlns:a16="http://schemas.microsoft.com/office/drawing/2014/main" id="{26B125F4-1B12-8ED6-EB47-01F4F29046CF}"/>
                  </a:ext>
                </a:extLst>
              </p:cNvPr>
              <p:cNvSpPr>
                <a:spLocks noRot="1" noChangeAspect="1" noMove="1" noResize="1" noEditPoints="1" noAdjustHandles="1" noChangeArrowheads="1" noChangeShapeType="1" noTextEdit="1"/>
              </p:cNvSpPr>
              <p:nvPr/>
            </p:nvSpPr>
            <p:spPr>
              <a:xfrm>
                <a:off x="393192" y="2651760"/>
                <a:ext cx="5486400" cy="868680"/>
              </a:xfrm>
              <a:prstGeom prst="rect">
                <a:avLst/>
              </a:prstGeom>
              <a:blipFill>
                <a:blip r:embed="rId6"/>
                <a:stretch>
                  <a:fillRect/>
                </a:stretch>
              </a:blipFill>
              <a:ln/>
            </p:spPr>
            <p:txBody>
              <a:bodyPr/>
              <a:lstStyle/>
              <a:p>
                <a:r>
                  <a:rPr lang="tr-TR">
                    <a:noFill/>
                  </a:rPr>
                  <a:t> </a:t>
                </a:r>
              </a:p>
            </p:txBody>
          </p:sp>
        </mc:Fallback>
      </mc:AlternateContent>
      <p:sp>
        <p:nvSpPr>
          <p:cNvPr id="7" name="Text 6">
            <a:extLst>
              <a:ext uri="{FF2B5EF4-FFF2-40B4-BE49-F238E27FC236}">
                <a16:creationId xmlns:a16="http://schemas.microsoft.com/office/drawing/2014/main" id="{4A0935B8-6C28-AA35-4B57-4D9EFBAC9767}"/>
              </a:ext>
            </a:extLst>
          </p:cNvPr>
          <p:cNvSpPr/>
          <p:nvPr/>
        </p:nvSpPr>
        <p:spPr>
          <a:xfrm>
            <a:off x="502920" y="3639312"/>
            <a:ext cx="5486400" cy="658368"/>
          </a:xfrm>
          <a:prstGeom prst="rect">
            <a:avLst/>
          </a:prstGeom>
          <a:noFill/>
          <a:ln/>
        </p:spPr>
        <p:txBody>
          <a:bodyPr wrap="square" lIns="0" tIns="0" rIns="0" bIns="0" rtlCol="0" anchor="t"/>
          <a:lstStyle/>
          <a:p>
            <a:pPr marL="152400" indent="-152400">
              <a:lnSpc>
                <a:spcPct val="105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fuel above threshold, moisture below extinction: it keeps burning</a:t>
            </a:r>
            <a:endParaRPr lang="en-US" sz="1250" dirty="0"/>
          </a:p>
          <a:p>
            <a:pPr marL="152400" indent="-152400">
              <a:lnSpc>
                <a:spcPct val="105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rain or fuel exhaustion puts it out, with no random draw</a:t>
            </a:r>
            <a:endParaRPr lang="en-US" sz="1250" dirty="0"/>
          </a:p>
        </p:txBody>
      </p:sp>
      <mc:AlternateContent xmlns:mc="http://schemas.openxmlformats.org/markup-compatibility/2006" xmlns:a14="http://schemas.microsoft.com/office/drawing/2010/main">
        <mc:Choice Requires="a14">
          <p:sp>
            <p:nvSpPr>
              <p:cNvPr id="11" name="Text 8">
                <a:extLst>
                  <a:ext uri="{FF2B5EF4-FFF2-40B4-BE49-F238E27FC236}">
                    <a16:creationId xmlns:a16="http://schemas.microsoft.com/office/drawing/2014/main" id="{F8A64832-CA9B-0238-400D-D104BADE89F3}"/>
                  </a:ext>
                </a:extLst>
              </p:cNvPr>
              <p:cNvSpPr/>
              <p:nvPr/>
            </p:nvSpPr>
            <p:spPr>
              <a:xfrm>
                <a:off x="6309360" y="2651760"/>
                <a:ext cx="5440680" cy="73152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300">
                              <a:latin typeface="Cambria Math"/>
                            </a:rPr>
                          </m:ctrlPr>
                        </m:sSubPr>
                        <m:e>
                          <m:r>
                            <m:rPr>
                              <m:sty m:val="p"/>
                            </m:rPr>
                            <a:rPr lang="en-US" sz="1300">
                              <a:latin typeface="Cambria Math"/>
                            </a:rPr>
                            <m:t>Ψ</m:t>
                          </m:r>
                        </m:e>
                        <m:sub>
                          <m:r>
                            <a:rPr lang="en-US" sz="1300">
                              <a:latin typeface="Cambria Math"/>
                            </a:rPr>
                            <m:t>𝑘</m:t>
                          </m:r>
                        </m:sub>
                      </m:sSub>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f>
                        <m:fPr>
                          <m:ctrlPr>
                            <a:rPr lang="en-US" sz="1300">
                              <a:latin typeface="Cambria Math"/>
                            </a:rPr>
                          </m:ctrlPr>
                        </m:fPr>
                        <m:num>
                          <m:r>
                            <a:rPr lang="en-US" sz="1300">
                              <a:latin typeface="Cambria Math"/>
                            </a:rPr>
                            <m:t>1</m:t>
                          </m:r>
                        </m:num>
                        <m:den>
                          <m:r>
                            <a:rPr lang="en-US" sz="1300">
                              <a:latin typeface="Cambria Math"/>
                            </a:rPr>
                            <m:t>8</m:t>
                          </m:r>
                        </m:den>
                      </m:f>
                      <m:nary>
                        <m:naryPr>
                          <m:chr m:val="∑"/>
                          <m:limLoc m:val="undOvr"/>
                          <m:ctrlPr>
                            <a:rPr lang="en-US" sz="1300" i="1">
                              <a:latin typeface="Cambria Math" panose="02040503050406030204" pitchFamily="18" charset="0"/>
                            </a:rPr>
                          </m:ctrlPr>
                        </m:naryPr>
                        <m:sub>
                          <m:d>
                            <m:dPr>
                              <m:ctrlPr>
                                <a:rPr lang="en-US" sz="1300">
                                  <a:latin typeface="Cambria Math"/>
                                </a:rPr>
                              </m:ctrlPr>
                            </m:dPr>
                            <m:e>
                              <m:r>
                                <a:rPr lang="en-US" sz="1300">
                                  <a:latin typeface="Cambria Math"/>
                                </a:rPr>
                                <m:t>𝑖</m:t>
                              </m:r>
                              <m:r>
                                <a:rPr lang="en-US" sz="1300">
                                  <a:latin typeface="Cambria Math"/>
                                </a:rPr>
                                <m:t>,</m:t>
                              </m:r>
                              <m:r>
                                <a:rPr lang="en-US" sz="1300">
                                  <a:latin typeface="Cambria Math"/>
                                </a:rPr>
                                <m:t>𝑗</m:t>
                              </m:r>
                              <m:r>
                                <a:rPr lang="en-US" sz="1300">
                                  <a:latin typeface="Cambria Math"/>
                                </a:rPr>
                                <m:t>)∈</m:t>
                              </m:r>
                              <m:sSup>
                                <m:sSupPr>
                                  <m:ctrlPr>
                                    <a:rPr lang="en-US" sz="1300">
                                      <a:latin typeface="Cambria Math"/>
                                    </a:rPr>
                                  </m:ctrlPr>
                                </m:sSupPr>
                                <m:e>
                                  <m:r>
                                    <a:rPr lang="en-US" sz="1300">
                                      <a:latin typeface="Cambria Math"/>
                                    </a:rPr>
                                    <m:t>𝒩</m:t>
                                  </m:r>
                                </m:e>
                                <m:sup>
                                  <m:r>
                                    <a:rPr lang="en-US" sz="1300">
                                      <a:latin typeface="Cambria Math"/>
                                    </a:rPr>
                                    <m:t>8</m:t>
                                  </m:r>
                                </m:sup>
                              </m:sSup>
                              <m:r>
                                <a:rPr lang="en-US" sz="1300">
                                  <a:latin typeface="Cambria Math"/>
                                </a:rPr>
                                <m:t>(</m:t>
                              </m:r>
                              <m:r>
                                <a:rPr lang="en-US" sz="1300">
                                  <a:latin typeface="Cambria Math"/>
                                </a:rPr>
                                <m:t>𝑥</m:t>
                              </m:r>
                              <m:r>
                                <a:rPr lang="en-US" sz="1300">
                                  <a:latin typeface="Cambria Math"/>
                                </a:rPr>
                                <m:t>,</m:t>
                              </m:r>
                              <m:r>
                                <a:rPr lang="en-US" sz="1300">
                                  <a:latin typeface="Cambria Math"/>
                                </a:rPr>
                                <m:t>𝑦</m:t>
                              </m:r>
                            </m:e>
                          </m:d>
                        </m:sub>
                        <m:sup/>
                        <m:e>
                          <m:sSub>
                            <m:sSubPr>
                              <m:ctrlPr>
                                <a:rPr lang="en-US" sz="1300">
                                  <a:latin typeface="Cambria Math"/>
                                </a:rPr>
                              </m:ctrlPr>
                            </m:sSubPr>
                            <m:e>
                              <m:r>
                                <a:rPr lang="en-US" sz="1300">
                                  <a:latin typeface="Cambria Math"/>
                                </a:rPr>
                                <m:t>𝐵</m:t>
                              </m:r>
                            </m:e>
                            <m:sub>
                              <m:r>
                                <a:rPr lang="en-US" sz="1300">
                                  <a:latin typeface="Cambria Math"/>
                                </a:rPr>
                                <m:t>𝑘</m:t>
                              </m:r>
                            </m:sub>
                          </m:sSub>
                        </m:e>
                      </m:nary>
                      <m:d>
                        <m:dPr>
                          <m:ctrlPr>
                            <a:rPr lang="en-US" sz="1300">
                              <a:latin typeface="Cambria Math"/>
                            </a:rPr>
                          </m:ctrlPr>
                        </m:dPr>
                        <m:e>
                          <m:r>
                            <a:rPr lang="en-US" sz="1300">
                              <a:latin typeface="Cambria Math"/>
                            </a:rPr>
                            <m:t>𝑖</m:t>
                          </m:r>
                          <m:r>
                            <a:rPr lang="en-US" sz="1300">
                              <a:latin typeface="Cambria Math"/>
                            </a:rPr>
                            <m:t>,</m:t>
                          </m:r>
                          <m:r>
                            <a:rPr lang="en-US" sz="1300">
                              <a:latin typeface="Cambria Math"/>
                            </a:rPr>
                            <m:t>𝑗</m:t>
                          </m:r>
                        </m:e>
                      </m:d>
                      <m:r>
                        <a:rPr lang="en-US" sz="1300">
                          <a:latin typeface="Cambria Math"/>
                        </a:rPr>
                        <m:t>⋅</m:t>
                      </m:r>
                      <m:sSub>
                        <m:sSubPr>
                          <m:ctrlPr>
                            <a:rPr lang="en-US" sz="1300">
                              <a:latin typeface="Cambria Math"/>
                            </a:rPr>
                          </m:ctrlPr>
                        </m:sSubPr>
                        <m:e>
                          <m:r>
                            <a:rPr lang="en-US" sz="1300">
                              <a:latin typeface="Cambria Math"/>
                            </a:rPr>
                            <m:t>𝑅</m:t>
                          </m:r>
                        </m:e>
                        <m:sub>
                          <m:r>
                            <a:rPr lang="en-US" sz="1300">
                              <a:latin typeface="Cambria Math"/>
                            </a:rPr>
                            <m:t>𝑠𝑝𝑟𝑒𝑎𝑑</m:t>
                          </m:r>
                          <m:r>
                            <a:rPr lang="en-US" sz="1300">
                              <a:latin typeface="Cambria Math"/>
                            </a:rPr>
                            <m:t>,</m:t>
                          </m:r>
                          <m:r>
                            <a:rPr lang="en-US" sz="1300">
                              <a:latin typeface="Cambria Math"/>
                            </a:rPr>
                            <m:t>𝑘</m:t>
                          </m:r>
                        </m:sub>
                      </m:sSub>
                      <m:d>
                        <m:dPr>
                          <m:ctrlPr>
                            <a:rPr lang="en-US" sz="1300">
                              <a:latin typeface="Cambria Math"/>
                            </a:rPr>
                          </m:ctrlPr>
                        </m:dPr>
                        <m:e>
                          <m:r>
                            <a:rPr lang="en-US" sz="1300">
                              <a:latin typeface="Cambria Math"/>
                            </a:rPr>
                            <m:t>𝑖</m:t>
                          </m:r>
                          <m:r>
                            <a:rPr lang="en-US" sz="1300">
                              <a:latin typeface="Cambria Math"/>
                            </a:rPr>
                            <m:t>,</m:t>
                          </m:r>
                          <m:r>
                            <a:rPr lang="en-US" sz="1300">
                              <a:latin typeface="Cambria Math"/>
                            </a:rPr>
                            <m:t>𝑗</m:t>
                          </m:r>
                        </m:e>
                      </m:d>
                      <m:r>
                        <a:rPr lang="en-US" sz="1300">
                          <a:latin typeface="Cambria Math"/>
                        </a:rPr>
                        <m:t>⋅ </m:t>
                      </m:r>
                      <m:sSubSup>
                        <m:sSubSupPr>
                          <m:ctrlPr>
                            <a:rPr lang="en-US" sz="1300">
                              <a:latin typeface="Cambria Math"/>
                            </a:rPr>
                          </m:ctrlPr>
                        </m:sSubSupPr>
                        <m:e>
                          <m:r>
                            <a:rPr lang="en-US" sz="1300">
                              <a:latin typeface="Cambria Math"/>
                            </a:rPr>
                            <m:t>𝑔</m:t>
                          </m:r>
                        </m:e>
                        <m:sub>
                          <m:r>
                            <a:rPr lang="en-US" sz="1300">
                              <a:latin typeface="Cambria Math"/>
                            </a:rPr>
                            <m:t>𝑑𝑖𝑟</m:t>
                          </m:r>
                          <m:r>
                            <a:rPr lang="en-US" sz="1300">
                              <a:latin typeface="Cambria Math"/>
                            </a:rPr>
                            <m:t>,</m:t>
                          </m:r>
                          <m:r>
                            <a:rPr lang="en-US" sz="1300">
                              <a:latin typeface="Cambria Math"/>
                            </a:rPr>
                            <m:t>𝑘</m:t>
                          </m:r>
                        </m:sub>
                        <m:sup>
                          <m:d>
                            <m:dPr>
                              <m:ctrlPr>
                                <a:rPr lang="en-US" sz="1300">
                                  <a:latin typeface="Cambria Math"/>
                                </a:rPr>
                              </m:ctrlPr>
                            </m:dPr>
                            <m:e>
                              <m:r>
                                <a:rPr lang="en-US" sz="1300">
                                  <a:latin typeface="Cambria Math"/>
                                </a:rPr>
                                <m:t>𝑖</m:t>
                              </m:r>
                              <m:r>
                                <a:rPr lang="en-US" sz="1300">
                                  <a:latin typeface="Cambria Math"/>
                                </a:rPr>
                                <m:t>,</m:t>
                              </m:r>
                              <m:r>
                                <a:rPr lang="en-US" sz="1300">
                                  <a:latin typeface="Cambria Math"/>
                                </a:rPr>
                                <m:t>𝑗</m:t>
                              </m:r>
                              <m:r>
                                <a:rPr lang="en-US" sz="1300">
                                  <a:latin typeface="Cambria Math"/>
                                </a:rPr>
                                <m:t>)→(</m:t>
                              </m:r>
                              <m:r>
                                <a:rPr lang="en-US" sz="1300">
                                  <a:latin typeface="Cambria Math"/>
                                </a:rPr>
                                <m:t>𝑥</m:t>
                              </m:r>
                              <m:r>
                                <a:rPr lang="en-US" sz="1300">
                                  <a:latin typeface="Cambria Math"/>
                                </a:rPr>
                                <m:t>,</m:t>
                              </m:r>
                              <m:r>
                                <a:rPr lang="en-US" sz="1300">
                                  <a:latin typeface="Cambria Math"/>
                                </a:rPr>
                                <m:t>𝑦</m:t>
                              </m:r>
                            </m:e>
                          </m:d>
                        </m:sup>
                      </m:sSubSup>
                    </m:oMath>
                  </m:oMathPara>
                </a14:m>
                <a:endParaRPr lang="en-US" sz="1400" dirty="0"/>
              </a:p>
            </p:txBody>
          </p:sp>
        </mc:Choice>
        <mc:Fallback xmlns="">
          <p:sp>
            <p:nvSpPr>
              <p:cNvPr id="11" name="Text 8">
                <a:extLst>
                  <a:ext uri="{FF2B5EF4-FFF2-40B4-BE49-F238E27FC236}">
                    <a16:creationId xmlns:a16="http://schemas.microsoft.com/office/drawing/2014/main" id="{F8A64832-CA9B-0238-400D-D104BADE89F3}"/>
                  </a:ext>
                </a:extLst>
              </p:cNvPr>
              <p:cNvSpPr>
                <a:spLocks noRot="1" noChangeAspect="1" noMove="1" noResize="1" noEditPoints="1" noAdjustHandles="1" noChangeArrowheads="1" noChangeShapeType="1" noTextEdit="1"/>
              </p:cNvSpPr>
              <p:nvPr/>
            </p:nvSpPr>
            <p:spPr>
              <a:xfrm>
                <a:off x="6309360" y="2651760"/>
                <a:ext cx="5440680" cy="731520"/>
              </a:xfrm>
              <a:prstGeom prst="rect">
                <a:avLst/>
              </a:prstGeom>
              <a:blipFill>
                <a:blip r:embed="rId7"/>
                <a:stretch>
                  <a:fillRect/>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13" name="Text 9">
                <a:extLst>
                  <a:ext uri="{FF2B5EF4-FFF2-40B4-BE49-F238E27FC236}">
                    <a16:creationId xmlns:a16="http://schemas.microsoft.com/office/drawing/2014/main" id="{6B86A72E-5AB2-EFEE-0BD9-E0397A64F801}"/>
                  </a:ext>
                </a:extLst>
              </p:cNvPr>
              <p:cNvSpPr/>
              <p:nvPr/>
            </p:nvSpPr>
            <p:spPr>
              <a:xfrm>
                <a:off x="6309360" y="3429000"/>
                <a:ext cx="5440680" cy="548640"/>
              </a:xfrm>
              <a:prstGeom prst="rect">
                <a:avLst/>
              </a:prstGeom>
              <a:noFill/>
              <a:ln/>
            </p:spPr>
            <p:txBody>
              <a:bodyPr wrap="square" lIns="0" tIns="0" rIns="0" bIns="0" rtlCol="0" anchor="ctr"/>
              <a:lstStyle/>
              <a:p>
                <a:pPr marL="0" indent="0" algn="ctr">
                  <a:buNone/>
                </a:pPr>
                <a14:m>
                  <m:oMathPara xmlns:m="http://schemas.openxmlformats.org/officeDocument/2006/math">
                    <m:oMath>
                      <m:sSubSup>
                        <m:sSubSupPr>
                          <m:ctrlPr>
                            <a:rPr lang="en-US" sz="1300">
                              <a:latin typeface="Cambria Math"/>
                            </a:rPr>
                          </m:ctrlPr>
                        </m:sSubSupPr>
                        <m:e>
                          <m:r>
                            <a:rPr lang="en-US" sz="1300">
                              <a:latin typeface="Cambria Math"/>
                            </a:rPr>
                            <m:t>𝑔</m:t>
                          </m:r>
                        </m:e>
                        <m:sub>
                          <m:r>
                            <a:rPr lang="en-US" sz="1300">
                              <a:latin typeface="Cambria Math"/>
                            </a:rPr>
                            <m:t>𝑑𝑖𝑟</m:t>
                          </m:r>
                          <m:r>
                            <a:rPr lang="en-US" sz="1300">
                              <a:latin typeface="Cambria Math"/>
                            </a:rPr>
                            <m:t>,</m:t>
                          </m:r>
                          <m:r>
                            <a:rPr lang="en-US" sz="1300">
                              <a:latin typeface="Cambria Math"/>
                            </a:rPr>
                            <m:t>𝑘</m:t>
                          </m:r>
                        </m:sub>
                        <m:sup>
                          <m:d>
                            <m:dPr>
                              <m:ctrlPr>
                                <a:rPr lang="en-US" sz="1300">
                                  <a:latin typeface="Cambria Math"/>
                                </a:rPr>
                              </m:ctrlPr>
                            </m:dPr>
                            <m:e>
                              <m:r>
                                <a:rPr lang="en-US" sz="1300">
                                  <a:latin typeface="Cambria Math"/>
                                </a:rPr>
                                <m:t>𝑖</m:t>
                              </m:r>
                              <m:r>
                                <a:rPr lang="en-US" sz="1300">
                                  <a:latin typeface="Cambria Math"/>
                                </a:rPr>
                                <m:t>,</m:t>
                              </m:r>
                              <m:r>
                                <a:rPr lang="en-US" sz="1300">
                                  <a:latin typeface="Cambria Math"/>
                                </a:rPr>
                                <m:t>𝑗</m:t>
                              </m:r>
                              <m:r>
                                <a:rPr lang="en-US" sz="1300">
                                  <a:latin typeface="Cambria Math"/>
                                </a:rPr>
                                <m:t>)→(</m:t>
                              </m:r>
                              <m:r>
                                <a:rPr lang="en-US" sz="1300">
                                  <a:latin typeface="Cambria Math"/>
                                </a:rPr>
                                <m:t>𝑥</m:t>
                              </m:r>
                              <m:r>
                                <a:rPr lang="en-US" sz="1300">
                                  <a:latin typeface="Cambria Math"/>
                                </a:rPr>
                                <m:t>,</m:t>
                              </m:r>
                              <m:r>
                                <a:rPr lang="en-US" sz="1300">
                                  <a:latin typeface="Cambria Math"/>
                                </a:rPr>
                                <m:t>𝑦</m:t>
                              </m:r>
                            </m:e>
                          </m:d>
                        </m:sup>
                      </m:sSubSup>
                      <m:r>
                        <a:rPr lang="en-US" sz="1300">
                          <a:latin typeface="Cambria Math"/>
                        </a:rPr>
                        <m:t>=</m:t>
                      </m:r>
                      <m:func>
                        <m:funcPr>
                          <m:ctrlPr>
                            <a:rPr lang="en-US" sz="1300">
                              <a:latin typeface="Cambria Math"/>
                            </a:rPr>
                          </m:ctrlPr>
                        </m:funcPr>
                        <m:fName>
                          <m:r>
                            <m:rPr>
                              <m:sty m:val="p"/>
                            </m:rPr>
                            <a:rPr lang="en-US" sz="1300">
                              <a:latin typeface="Cambria Math"/>
                            </a:rPr>
                            <m:t>max</m:t>
                          </m:r>
                        </m:fName>
                        <m:e>
                          <m:d>
                            <m:dPr>
                              <m:ctrlPr>
                                <a:rPr lang="en-US" sz="1300">
                                  <a:latin typeface="Cambria Math"/>
                                </a:rPr>
                              </m:ctrlPr>
                            </m:dPr>
                            <m:e>
                              <m:r>
                                <a:rPr lang="en-US" sz="1300">
                                  <a:latin typeface="Cambria Math"/>
                                </a:rPr>
                                <m:t>0,</m:t>
                              </m:r>
                              <m:func>
                                <m:funcPr>
                                  <m:ctrlPr>
                                    <a:rPr lang="en-US" sz="1300">
                                      <a:latin typeface="Cambria Math"/>
                                    </a:rPr>
                                  </m:ctrlPr>
                                </m:funcPr>
                                <m:fName>
                                  <m:r>
                                    <a:rPr lang="en-US" sz="1300">
                                      <a:latin typeface="Cambria Math"/>
                                    </a:rPr>
                                    <m:t>𝑐𝑜𝑠</m:t>
                                  </m:r>
                                </m:fName>
                                <m:e>
                                  <m:d>
                                    <m:dPr>
                                      <m:ctrlPr>
                                        <a:rPr lang="en-US" sz="1300" i="1">
                                          <a:latin typeface="Cambria Math" panose="02040503050406030204" pitchFamily="18" charset="0"/>
                                        </a:rPr>
                                      </m:ctrlPr>
                                    </m:dPr>
                                    <m:e>
                                      <m:sSub>
                                        <m:sSubPr>
                                          <m:ctrlPr>
                                            <a:rPr lang="en-US" sz="1300">
                                              <a:latin typeface="Cambria Math"/>
                                            </a:rPr>
                                          </m:ctrlPr>
                                        </m:sSubPr>
                                        <m:e>
                                          <m:r>
                                            <a:rPr lang="en-US" sz="1300">
                                              <a:latin typeface="Cambria Math"/>
                                            </a:rPr>
                                            <m:t>𝑊</m:t>
                                          </m:r>
                                        </m:e>
                                        <m:sub>
                                          <m:r>
                                            <a:rPr lang="en-US" sz="1300">
                                              <a:latin typeface="Cambria Math"/>
                                            </a:rPr>
                                            <m:t>𝑤𝑑</m:t>
                                          </m:r>
                                          <m:r>
                                            <a:rPr lang="en-US" sz="1300">
                                              <a:latin typeface="Cambria Math"/>
                                            </a:rPr>
                                            <m:t>,</m:t>
                                          </m:r>
                                          <m:r>
                                            <a:rPr lang="en-US" sz="1300">
                                              <a:latin typeface="Cambria Math"/>
                                            </a:rPr>
                                            <m:t>𝑘</m:t>
                                          </m:r>
                                        </m:sub>
                                      </m:sSub>
                                      <m:d>
                                        <m:dPr>
                                          <m:ctrlPr>
                                            <a:rPr lang="en-US" sz="1300">
                                              <a:latin typeface="Cambria Math"/>
                                            </a:rPr>
                                          </m:ctrlPr>
                                        </m:dPr>
                                        <m:e>
                                          <m:r>
                                            <a:rPr lang="en-US" sz="1300">
                                              <a:latin typeface="Cambria Math"/>
                                            </a:rPr>
                                            <m:t>𝑖</m:t>
                                          </m:r>
                                          <m:r>
                                            <a:rPr lang="en-US" sz="1300">
                                              <a:latin typeface="Cambria Math"/>
                                            </a:rPr>
                                            <m:t>,</m:t>
                                          </m:r>
                                          <m:r>
                                            <a:rPr lang="en-US" sz="1300">
                                              <a:latin typeface="Cambria Math"/>
                                            </a:rPr>
                                            <m:t>𝑗</m:t>
                                          </m:r>
                                        </m:e>
                                      </m:d>
                                      <m:r>
                                        <a:rPr lang="en-US" sz="1300">
                                          <a:latin typeface="Cambria Math"/>
                                        </a:rPr>
                                        <m:t>−</m:t>
                                      </m:r>
                                      <m:sSub>
                                        <m:sSubPr>
                                          <m:ctrlPr>
                                            <a:rPr lang="en-US" sz="1300">
                                              <a:latin typeface="Cambria Math"/>
                                            </a:rPr>
                                          </m:ctrlPr>
                                        </m:sSubPr>
                                        <m:e>
                                          <m:r>
                                            <a:rPr lang="en-US" sz="1300">
                                              <a:latin typeface="Cambria Math"/>
                                            </a:rPr>
                                            <m:t>𝜑</m:t>
                                          </m:r>
                                        </m:e>
                                        <m:sub>
                                          <m:d>
                                            <m:dPr>
                                              <m:ctrlPr>
                                                <a:rPr lang="en-US" sz="1300">
                                                  <a:latin typeface="Cambria Math"/>
                                                </a:rPr>
                                              </m:ctrlPr>
                                            </m:dPr>
                                            <m:e>
                                              <m:r>
                                                <a:rPr lang="en-US" sz="1300">
                                                  <a:latin typeface="Cambria Math"/>
                                                </a:rPr>
                                                <m:t>𝑖</m:t>
                                              </m:r>
                                              <m:r>
                                                <a:rPr lang="en-US" sz="1300">
                                                  <a:latin typeface="Cambria Math"/>
                                                </a:rPr>
                                                <m:t>,</m:t>
                                              </m:r>
                                              <m:r>
                                                <a:rPr lang="en-US" sz="1300">
                                                  <a:latin typeface="Cambria Math"/>
                                                </a:rPr>
                                                <m:t>𝑗</m:t>
                                              </m:r>
                                              <m:r>
                                                <a:rPr lang="en-US" sz="1300">
                                                  <a:latin typeface="Cambria Math"/>
                                                </a:rPr>
                                                <m:t>)→(</m:t>
                                              </m:r>
                                              <m:r>
                                                <a:rPr lang="en-US" sz="1300">
                                                  <a:latin typeface="Cambria Math"/>
                                                </a:rPr>
                                                <m:t>𝑥</m:t>
                                              </m:r>
                                              <m:r>
                                                <a:rPr lang="en-US" sz="1300">
                                                  <a:latin typeface="Cambria Math"/>
                                                </a:rPr>
                                                <m:t>,</m:t>
                                              </m:r>
                                              <m:r>
                                                <a:rPr lang="en-US" sz="1300">
                                                  <a:latin typeface="Cambria Math"/>
                                                </a:rPr>
                                                <m:t>𝑦</m:t>
                                              </m:r>
                                            </m:e>
                                          </m:d>
                                        </m:sub>
                                      </m:sSub>
                                    </m:e>
                                  </m:d>
                                </m:e>
                              </m:func>
                            </m:e>
                          </m:d>
                        </m:e>
                      </m:func>
                    </m:oMath>
                  </m:oMathPara>
                </a14:m>
                <a:endParaRPr lang="en-US" sz="1400" dirty="0"/>
              </a:p>
            </p:txBody>
          </p:sp>
        </mc:Choice>
        <mc:Fallback xmlns="">
          <p:sp>
            <p:nvSpPr>
              <p:cNvPr id="13" name="Text 9">
                <a:extLst>
                  <a:ext uri="{FF2B5EF4-FFF2-40B4-BE49-F238E27FC236}">
                    <a16:creationId xmlns:a16="http://schemas.microsoft.com/office/drawing/2014/main" id="{6B86A72E-5AB2-EFEE-0BD9-E0397A64F801}"/>
                  </a:ext>
                </a:extLst>
              </p:cNvPr>
              <p:cNvSpPr>
                <a:spLocks noRot="1" noChangeAspect="1" noMove="1" noResize="1" noEditPoints="1" noAdjustHandles="1" noChangeArrowheads="1" noChangeShapeType="1" noTextEdit="1"/>
              </p:cNvSpPr>
              <p:nvPr/>
            </p:nvSpPr>
            <p:spPr>
              <a:xfrm>
                <a:off x="6309360" y="3429000"/>
                <a:ext cx="5440680" cy="548640"/>
              </a:xfrm>
              <a:prstGeom prst="rect">
                <a:avLst/>
              </a:prstGeom>
              <a:blipFill>
                <a:blip r:embed="rId8"/>
                <a:stretch>
                  <a:fillRect/>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15" name="Text 10">
                <a:extLst>
                  <a:ext uri="{FF2B5EF4-FFF2-40B4-BE49-F238E27FC236}">
                    <a16:creationId xmlns:a16="http://schemas.microsoft.com/office/drawing/2014/main" id="{8BAA87D5-2DDB-D923-294D-3AD06D17E5FE}"/>
                  </a:ext>
                </a:extLst>
              </p:cNvPr>
              <p:cNvSpPr/>
              <p:nvPr/>
            </p:nvSpPr>
            <p:spPr>
              <a:xfrm>
                <a:off x="6309360" y="4023360"/>
                <a:ext cx="5440680" cy="457200"/>
              </a:xfrm>
              <a:prstGeom prst="rect">
                <a:avLst/>
              </a:prstGeom>
              <a:noFill/>
              <a:ln/>
            </p:spPr>
            <p:txBody>
              <a:bodyPr wrap="square" lIns="0" tIns="0" rIns="0" bIns="0" rtlCol="0" anchor="ctr"/>
              <a:lstStyle/>
              <a:p>
                <a:pPr marL="0" indent="0" algn="ctr">
                  <a:buNone/>
                </a:pPr>
                <a14:m>
                  <m:oMathPara xmlns:m="http://schemas.openxmlformats.org/officeDocument/2006/math">
                    <m:oMath>
                      <m:sSubSup>
                        <m:sSubSupPr>
                          <m:ctrlPr>
                            <a:rPr lang="en-US" sz="1400">
                              <a:latin typeface="Cambria Math"/>
                            </a:rPr>
                          </m:ctrlPr>
                        </m:sSubSupPr>
                        <m:e>
                          <m:r>
                            <a:rPr lang="en-US" sz="1400">
                              <a:latin typeface="Cambria Math"/>
                            </a:rPr>
                            <m:t>𝐵</m:t>
                          </m:r>
                        </m:e>
                        <m:sub>
                          <m:r>
                            <a:rPr lang="en-US" sz="1400">
                              <a:latin typeface="Cambria Math"/>
                            </a:rPr>
                            <m:t>𝑘</m:t>
                          </m:r>
                          <m:r>
                            <a:rPr lang="en-US" sz="1400">
                              <a:latin typeface="Cambria Math"/>
                            </a:rPr>
                            <m:t>+1</m:t>
                          </m:r>
                        </m:sub>
                        <m:sup>
                          <m:r>
                            <a:rPr lang="en-US" sz="1400">
                              <a:latin typeface="Cambria Math"/>
                            </a:rPr>
                            <m:t>𝑝𝑟𝑜𝑝</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r>
                        <a:rPr lang="en-US" sz="1400">
                          <a:latin typeface="Cambria Math"/>
                        </a:rPr>
                        <m:t>𝟏</m:t>
                      </m:r>
                      <m:d>
                        <m:dPr>
                          <m:begChr m:val="["/>
                          <m:endChr m:val="]"/>
                          <m:ctrlPr>
                            <a:rPr lang="en-US" sz="1400" i="1">
                              <a:latin typeface="Cambria Math" panose="02040503050406030204" pitchFamily="18" charset="0"/>
                            </a:rPr>
                          </m:ctrlPr>
                        </m:dPr>
                        <m:e>
                          <m:sSub>
                            <m:sSubPr>
                              <m:ctrlPr>
                                <a:rPr lang="en-US" sz="1400">
                                  <a:latin typeface="Cambria Math"/>
                                </a:rPr>
                              </m:ctrlPr>
                            </m:sSubPr>
                            <m:e>
                              <m:r>
                                <m:rPr>
                                  <m:sty m:val="p"/>
                                </m:rPr>
                                <a:rPr lang="en-US" sz="1400">
                                  <a:latin typeface="Cambria Math"/>
                                </a:rPr>
                                <m:t>Ψ</m:t>
                              </m:r>
                            </m:e>
                            <m:sub>
                              <m:r>
                                <a:rPr lang="en-US" sz="1400">
                                  <a:latin typeface="Cambria Math"/>
                                </a:rPr>
                                <m:t>𝑘</m:t>
                              </m:r>
                            </m:sub>
                          </m:sSub>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&gt; </m:t>
                          </m:r>
                          <m:sSub>
                            <m:sSubPr>
                              <m:ctrlPr>
                                <a:rPr lang="en-US" sz="1400">
                                  <a:latin typeface="Cambria Math"/>
                                </a:rPr>
                              </m:ctrlPr>
                            </m:sSubPr>
                            <m:e>
                              <m:r>
                                <m:rPr>
                                  <m:sty m:val="p"/>
                                </m:rPr>
                                <a:rPr lang="en-US" sz="1400">
                                  <a:latin typeface="Cambria Math"/>
                                </a:rPr>
                                <m:t>Θ</m:t>
                              </m:r>
                            </m:e>
                            <m:sub>
                              <m:r>
                                <a:rPr lang="en-US" sz="1400">
                                  <a:latin typeface="Cambria Math"/>
                                </a:rPr>
                                <m:t>𝑖𝑔𝑛</m:t>
                              </m:r>
                            </m:sub>
                          </m:sSub>
                        </m:e>
                      </m:d>
                    </m:oMath>
                  </m:oMathPara>
                </a14:m>
                <a:endParaRPr lang="en-US" sz="1400" dirty="0"/>
              </a:p>
            </p:txBody>
          </p:sp>
        </mc:Choice>
        <mc:Fallback xmlns="">
          <p:sp>
            <p:nvSpPr>
              <p:cNvPr id="15" name="Text 10">
                <a:extLst>
                  <a:ext uri="{FF2B5EF4-FFF2-40B4-BE49-F238E27FC236}">
                    <a16:creationId xmlns:a16="http://schemas.microsoft.com/office/drawing/2014/main" id="{8BAA87D5-2DDB-D923-294D-3AD06D17E5FE}"/>
                  </a:ext>
                </a:extLst>
              </p:cNvPr>
              <p:cNvSpPr>
                <a:spLocks noRot="1" noChangeAspect="1" noMove="1" noResize="1" noEditPoints="1" noAdjustHandles="1" noChangeArrowheads="1" noChangeShapeType="1" noTextEdit="1"/>
              </p:cNvSpPr>
              <p:nvPr/>
            </p:nvSpPr>
            <p:spPr>
              <a:xfrm>
                <a:off x="6309360" y="4023360"/>
                <a:ext cx="5440680" cy="457200"/>
              </a:xfrm>
              <a:prstGeom prst="rect">
                <a:avLst/>
              </a:prstGeom>
              <a:blipFill>
                <a:blip r:embed="rId9"/>
                <a:stretch>
                  <a:fillRect/>
                </a:stretch>
              </a:blipFill>
              <a:ln/>
            </p:spPr>
            <p:txBody>
              <a:bodyPr/>
              <a:lstStyle/>
              <a:p>
                <a:r>
                  <a:rPr lang="tr-TR">
                    <a:noFill/>
                  </a:rPr>
                  <a:t> </a:t>
                </a:r>
              </a:p>
            </p:txBody>
          </p:sp>
        </mc:Fallback>
      </mc:AlternateContent>
      <p:sp>
        <p:nvSpPr>
          <p:cNvPr id="17" name="Text 11">
            <a:extLst>
              <a:ext uri="{FF2B5EF4-FFF2-40B4-BE49-F238E27FC236}">
                <a16:creationId xmlns:a16="http://schemas.microsoft.com/office/drawing/2014/main" id="{90C90DC7-9083-F9F1-D1F1-CD63F6BDB745}"/>
              </a:ext>
            </a:extLst>
          </p:cNvPr>
          <p:cNvSpPr/>
          <p:nvPr/>
        </p:nvSpPr>
        <p:spPr>
          <a:xfrm>
            <a:off x="6309360" y="4572000"/>
            <a:ext cx="5440680" cy="658368"/>
          </a:xfrm>
          <a:prstGeom prst="rect">
            <a:avLst/>
          </a:prstGeom>
          <a:noFill/>
          <a:ln/>
        </p:spPr>
        <p:txBody>
          <a:bodyPr wrap="square" lIns="0" tIns="0" rIns="0" bIns="0" rtlCol="0" anchor="t"/>
          <a:lstStyle/>
          <a:p>
            <a:pPr marL="152400" indent="-152400">
              <a:lnSpc>
                <a:spcPct val="105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each burning neighbour contributes spread rate × directional factor</a:t>
            </a:r>
            <a:endParaRPr lang="en-US" sz="1250" dirty="0"/>
          </a:p>
          <a:p>
            <a:pPr marL="152400" indent="-152400">
              <a:lnSpc>
                <a:spcPct val="105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upwind pushes, downwind clips to zero — Ψ over the threshold ignites</a:t>
            </a:r>
            <a:endParaRPr lang="en-US" sz="1250" dirty="0"/>
          </a:p>
        </p:txBody>
      </p:sp>
      <p:sp>
        <p:nvSpPr>
          <p:cNvPr id="19" name="RothermelBadge">
            <a:extLst>
              <a:ext uri="{FF2B5EF4-FFF2-40B4-BE49-F238E27FC236}">
                <a16:creationId xmlns:a16="http://schemas.microsoft.com/office/drawing/2014/main" id="{43B00B46-99A3-CAD1-BAF3-E815EB028205}"/>
              </a:ext>
            </a:extLst>
          </p:cNvPr>
          <p:cNvSpPr txBox="1"/>
          <p:nvPr/>
        </p:nvSpPr>
        <p:spPr>
          <a:xfrm>
            <a:off x="411480" y="6180000"/>
            <a:ext cx="10800000" cy="500000"/>
          </a:xfrm>
          <a:prstGeom prst="roundRect">
            <a:avLst>
              <a:gd name="adj" fmla="val 12000"/>
            </a:avLst>
          </a:prstGeom>
          <a:solidFill>
            <a:srgbClr val="FDE8EB"/>
          </a:solidFill>
          <a:ln w="12700">
            <a:solidFill>
              <a:srgbClr val="E31836"/>
            </a:solidFill>
          </a:ln>
        </p:spPr>
        <p:txBody>
          <a:bodyPr lIns="182880" rIns="182880" anchor="ctr"/>
          <a:lstStyle/>
          <a:p>
            <a:r>
              <a:rPr lang="en-US" sz="1200" b="1">
                <a:solidFill>
                  <a:srgbClr val="E31836"/>
                </a:solidFill>
                <a:latin typeface="Calibri"/>
              </a:rPr>
              <a:t>Where Rothermel lives: </a:t>
            </a:r>
            <a:r>
              <a:rPr lang="en-US" sz="1200">
                <a:solidFill>
                  <a:srgbClr val="222222"/>
                </a:solidFill>
                <a:latin typeface="Calibri"/>
              </a:rPr>
              <a:t>the spread rate inside Ψ is a Rothermel-like semi-empirical mapping (Rothermel, 1972) — base rate by fuel type × moisture damping × tanh-saturated wind × slope × aspect–wind alignment; the directional cosine above is its anisotropy. Full formulation and fuel-type calibration: Backup · Appendix A.</a:t>
            </a:r>
          </a:p>
        </p:txBody>
      </p:sp>
      <p:sp>
        <p:nvSpPr>
          <p:cNvPr id="21" name="Text Spot Head">
            <a:extLst>
              <a:ext uri="{FF2B5EF4-FFF2-40B4-BE49-F238E27FC236}">
                <a16:creationId xmlns:a16="http://schemas.microsoft.com/office/drawing/2014/main" id="{557020BC-1FC9-2C4C-E779-0605E86A0B49}"/>
              </a:ext>
            </a:extLst>
          </p:cNvPr>
          <p:cNvSpPr/>
          <p:nvPr/>
        </p:nvSpPr>
        <p:spPr>
          <a:xfrm>
            <a:off x="502920" y="4434840"/>
            <a:ext cx="5486400" cy="292608"/>
          </a:xfrm>
          <a:prstGeom prst="rect">
            <a:avLst/>
          </a:prstGeom>
          <a:noFill/>
          <a:ln/>
        </p:spPr>
        <p:txBody>
          <a:bodyPr wrap="square" lIns="0" tIns="0" rIns="0" bIns="0" rtlCol="0" anchor="t"/>
          <a:lstStyle/>
          <a:p>
            <a:pPr marL="0" indent="0">
              <a:buNone/>
            </a:pPr>
            <a:r>
              <a:rPr lang="en-US" sz="1500" b="1" dirty="0">
                <a:solidFill>
                  <a:srgbClr val="E31836"/>
                </a:solidFill>
                <a:latin typeface="Calibri" pitchFamily="34" charset="0"/>
                <a:ea typeface="Calibri" pitchFamily="34" charset="-122"/>
                <a:cs typeface="Calibri" pitchFamily="34" charset="-120"/>
              </a:rPr>
              <a:t>Ember spotting</a:t>
            </a:r>
            <a:endParaRPr lang="en-US" sz="1500" dirty="0"/>
          </a:p>
        </p:txBody>
      </p:sp>
      <p:sp>
        <p:nvSpPr>
          <p:cNvPr id="23" name="Text Spot Body">
            <a:extLst>
              <a:ext uri="{FF2B5EF4-FFF2-40B4-BE49-F238E27FC236}">
                <a16:creationId xmlns:a16="http://schemas.microsoft.com/office/drawing/2014/main" id="{7F1417A1-25AB-BEBF-C05A-48193D2D0149}"/>
              </a:ext>
            </a:extLst>
          </p:cNvPr>
          <p:cNvSpPr/>
          <p:nvPr/>
        </p:nvSpPr>
        <p:spPr>
          <a:xfrm>
            <a:off x="502920" y="4754880"/>
            <a:ext cx="5486400" cy="1005840"/>
          </a:xfrm>
          <a:prstGeom prst="rect">
            <a:avLst/>
          </a:prstGeom>
          <a:noFill/>
          <a:ln/>
        </p:spPr>
        <p:txBody>
          <a:bodyPr wrap="square" lIns="0" tIns="0" rIns="0" bIns="0" rtlCol="0" anchor="t"/>
          <a:lstStyle/>
          <a:p>
            <a:pPr marL="152400" indent="-152400">
              <a:lnSpc>
                <a:spcPct val="105000"/>
              </a:lnSpc>
              <a:spcAft>
                <a:spcPts val="600"/>
              </a:spcAft>
              <a:buSzPct val="100000"/>
              <a:buChar char="•"/>
            </a:pPr>
            <a:r>
              <a:rPr lang="en-US" sz="1250" b="0" dirty="0">
                <a:solidFill>
                  <a:srgbClr val="222222"/>
                </a:solidFill>
                <a:latin typeface="Calibri" pitchFamily="34" charset="0"/>
                <a:ea typeface="Calibri" pitchFamily="34" charset="-122"/>
                <a:cs typeface="Calibri" pitchFamily="34" charset="-120"/>
              </a:rPr>
              <a:t>hot and dry: intensity &gt; 0.6, wind &gt; 3 m/s, rain &lt; 1 mm/h</a:t>
            </a:r>
            <a:endParaRPr lang="en-US" sz="1250" dirty="0"/>
          </a:p>
          <a:p>
            <a:pPr marL="152400" indent="-152400">
              <a:lnSpc>
                <a:spcPct val="105000"/>
              </a:lnSpc>
              <a:spcAft>
                <a:spcPts val="600"/>
              </a:spcAft>
              <a:buSzPct val="100000"/>
              <a:buChar char="•"/>
            </a:pPr>
            <a:r>
              <a:rPr lang="en-US" sz="1250" b="0" dirty="0">
                <a:solidFill>
                  <a:srgbClr val="222222"/>
                </a:solidFill>
                <a:latin typeface="Calibri" pitchFamily="34" charset="0"/>
                <a:ea typeface="Calibri" pitchFamily="34" charset="-122"/>
                <a:cs typeface="Calibri" pitchFamily="34" charset="-120"/>
              </a:rPr>
              <a:t>an ember is released with probability 0.02 per step</a:t>
            </a:r>
            <a:endParaRPr lang="en-US" sz="1250" dirty="0"/>
          </a:p>
          <a:p>
            <a:pPr marL="152400" indent="-152400">
              <a:lnSpc>
                <a:spcPct val="105000"/>
              </a:lnSpc>
              <a:spcAft>
                <a:spcPts val="600"/>
              </a:spcAft>
              <a:buSzPct val="100000"/>
              <a:buChar char="•"/>
            </a:pPr>
            <a:r>
              <a:rPr lang="en-US" sz="1250" b="0" dirty="0">
                <a:solidFill>
                  <a:srgbClr val="222222"/>
                </a:solidFill>
                <a:latin typeface="Calibri" pitchFamily="34" charset="0"/>
                <a:ea typeface="Calibri" pitchFamily="34" charset="-122"/>
                <a:cs typeface="Calibri" pitchFamily="34" charset="-120"/>
              </a:rPr>
              <a:t>it lands 6 cells downwind, igniting only if fuel is there and dry</a:t>
            </a:r>
            <a:endParaRPr lang="en-US" sz="1250" dirty="0"/>
          </a:p>
        </p:txBody>
      </p:sp>
      <p:sp>
        <p:nvSpPr>
          <p:cNvPr id="25" name="Text Ign Head">
            <a:extLst>
              <a:ext uri="{FF2B5EF4-FFF2-40B4-BE49-F238E27FC236}">
                <a16:creationId xmlns:a16="http://schemas.microsoft.com/office/drawing/2014/main" id="{6D7970F5-3E9A-4CF6-C280-BA0B552D58BD}"/>
              </a:ext>
            </a:extLst>
          </p:cNvPr>
          <p:cNvSpPr/>
          <p:nvPr/>
        </p:nvSpPr>
        <p:spPr>
          <a:xfrm>
            <a:off x="6309360" y="5321808"/>
            <a:ext cx="5440680" cy="292608"/>
          </a:xfrm>
          <a:prstGeom prst="rect">
            <a:avLst/>
          </a:prstGeom>
          <a:noFill/>
          <a:ln/>
        </p:spPr>
        <p:txBody>
          <a:bodyPr wrap="square" lIns="0" tIns="0" rIns="0" bIns="0" rtlCol="0" anchor="t"/>
          <a:lstStyle/>
          <a:p>
            <a:pPr marL="0" indent="0">
              <a:buNone/>
            </a:pPr>
            <a:r>
              <a:rPr lang="en-US" sz="1500" b="1" dirty="0">
                <a:solidFill>
                  <a:srgbClr val="E31836"/>
                </a:solidFill>
                <a:latin typeface="Calibri" pitchFamily="34" charset="0"/>
                <a:ea typeface="Calibri" pitchFamily="34" charset="-122"/>
                <a:cs typeface="Calibri" pitchFamily="34" charset="-120"/>
              </a:rPr>
              <a:t>Injected ignition</a:t>
            </a:r>
            <a:endParaRPr lang="en-US" sz="1500" dirty="0"/>
          </a:p>
        </p:txBody>
      </p:sp>
      <p:sp>
        <p:nvSpPr>
          <p:cNvPr id="27" name="Text Ign Body">
            <a:extLst>
              <a:ext uri="{FF2B5EF4-FFF2-40B4-BE49-F238E27FC236}">
                <a16:creationId xmlns:a16="http://schemas.microsoft.com/office/drawing/2014/main" id="{93897765-788C-EE73-D7E6-A10731C95C9F}"/>
              </a:ext>
            </a:extLst>
          </p:cNvPr>
          <p:cNvSpPr/>
          <p:nvPr/>
        </p:nvSpPr>
        <p:spPr>
          <a:xfrm>
            <a:off x="6309360" y="5614416"/>
            <a:ext cx="5440680" cy="530352"/>
          </a:xfrm>
          <a:prstGeom prst="rect">
            <a:avLst/>
          </a:prstGeom>
          <a:noFill/>
          <a:ln/>
        </p:spPr>
        <p:txBody>
          <a:bodyPr wrap="square" lIns="0" tIns="0" rIns="0" bIns="0" rtlCol="0" anchor="t"/>
          <a:lstStyle/>
          <a:p>
            <a:pPr marL="152400" indent="-152400">
              <a:lnSpc>
                <a:spcPct val="105000"/>
              </a:lnSpc>
              <a:spcAft>
                <a:spcPts val="600"/>
              </a:spcAft>
              <a:buSzPct val="100000"/>
              <a:buChar char="•"/>
            </a:pPr>
            <a:r>
              <a:rPr lang="en-US" sz="1250" b="0" dirty="0">
                <a:solidFill>
                  <a:srgbClr val="222222"/>
                </a:solidFill>
                <a:latin typeface="Calibri" pitchFamily="34" charset="0"/>
                <a:ea typeface="Calibri" pitchFamily="34" charset="-122"/>
                <a:cs typeface="Calibri" pitchFamily="34" charset="-120"/>
              </a:rPr>
              <a:t>lightning, human cause, or a scenario record</a:t>
            </a:r>
            <a:endParaRPr lang="en-US" sz="1250" dirty="0"/>
          </a:p>
          <a:p>
            <a:pPr marL="152400" indent="-152400">
              <a:lnSpc>
                <a:spcPct val="105000"/>
              </a:lnSpc>
              <a:spcAft>
                <a:spcPts val="600"/>
              </a:spcAft>
              <a:buSzPct val="100000"/>
              <a:buChar char="•"/>
            </a:pPr>
            <a:r>
              <a:rPr lang="en-US" sz="1250" b="0" dirty="0">
                <a:solidFill>
                  <a:srgbClr val="222222"/>
                </a:solidFill>
                <a:latin typeface="Calibri" pitchFamily="34" charset="0"/>
                <a:ea typeface="Calibri" pitchFamily="34" charset="-122"/>
                <a:cs typeface="Calibri" pitchFamily="34" charset="-120"/>
              </a:rPr>
              <a:t>sets the cell burning whatever the neighbours do</a:t>
            </a:r>
            <a:endParaRPr lang="en-US" sz="1250" dirty="0"/>
          </a:p>
        </p:txBody>
      </p:sp>
    </p:spTree>
    <p:extLst>
      <p:ext uri="{BB962C8B-B14F-4D97-AF65-F5344CB8AC3E}">
        <p14:creationId xmlns:p14="http://schemas.microsoft.com/office/powerpoint/2010/main" val="1794984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SIMULATION COR</a:t>
            </a:r>
            <a:r>
              <a:rPr lang="tr-TR" sz="1300" b="1" kern="0" spc="200" dirty="0">
                <a:solidFill>
                  <a:srgbClr val="E31836"/>
                </a:solidFill>
                <a:latin typeface="Calibri" pitchFamily="34" charset="0"/>
                <a:ea typeface="Calibri" pitchFamily="34" charset="-122"/>
                <a:cs typeface="Calibri" pitchFamily="34" charset="-120"/>
              </a:rPr>
              <a:t>E</a:t>
            </a:r>
            <a:endParaRPr lang="en-US" sz="1300" dirty="0"/>
          </a:p>
        </p:txBody>
      </p:sp>
      <p:sp>
        <p:nvSpPr>
          <p:cNvPr id="3" name="Text 1"/>
          <p:cNvSpPr/>
          <p:nvPr/>
        </p:nvSpPr>
        <p:spPr>
          <a:xfrm>
            <a:off x="502920" y="493776"/>
            <a:ext cx="11247120" cy="685800"/>
          </a:xfrm>
          <a:prstGeom prst="rect">
            <a:avLst/>
          </a:prstGeom>
          <a:noFill/>
          <a:ln/>
        </p:spPr>
        <p:txBody>
          <a:bodyPr wrap="square" lIns="0" tIns="0" rIns="0" bIns="0" rtlCol="0" anchor="ctr"/>
          <a:lstStyle/>
          <a:p>
            <a:pPr marL="0" indent="0">
              <a:buNone/>
            </a:pPr>
            <a:r>
              <a:rPr lang="en-US" sz="2800" b="1" dirty="0">
                <a:solidFill>
                  <a:srgbClr val="000000"/>
                </a:solidFill>
                <a:latin typeface="Cambria" pitchFamily="34" charset="0"/>
                <a:ea typeface="Cambria" pitchFamily="34" charset="-122"/>
                <a:cs typeface="Cambria" pitchFamily="34" charset="-120"/>
              </a:rPr>
              <a:t>Per-Cell State, </a:t>
            </a:r>
            <a:r>
              <a:rPr lang="tr-TR" sz="2800" b="1" dirty="0" err="1">
                <a:solidFill>
                  <a:srgbClr val="000000"/>
                </a:solidFill>
                <a:latin typeface="Cambria" pitchFamily="34" charset="0"/>
                <a:ea typeface="Cambria" pitchFamily="34" charset="-122"/>
                <a:cs typeface="Cambria" pitchFamily="34" charset="-120"/>
              </a:rPr>
              <a:t>State</a:t>
            </a:r>
            <a:r>
              <a:rPr lang="en-US" sz="2800" b="1" dirty="0">
                <a:solidFill>
                  <a:srgbClr val="000000"/>
                </a:solidFill>
                <a:latin typeface="Cambria" pitchFamily="34" charset="0"/>
                <a:ea typeface="Cambria" pitchFamily="34" charset="-122"/>
                <a:cs typeface="Cambria" pitchFamily="34" charset="-120"/>
              </a:rPr>
              <a:t> Transition</a:t>
            </a:r>
            <a:r>
              <a:rPr lang="tr-TR" sz="2800" b="1" dirty="0">
                <a:solidFill>
                  <a:srgbClr val="000000"/>
                </a:solidFill>
                <a:latin typeface="Cambria" pitchFamily="34" charset="0"/>
                <a:ea typeface="Cambria" pitchFamily="34" charset="-122"/>
                <a:cs typeface="Cambria" pitchFamily="34" charset="-120"/>
              </a:rPr>
              <a:t> </a:t>
            </a:r>
            <a:r>
              <a:rPr lang="en-US" sz="2800" b="1" dirty="0">
                <a:solidFill>
                  <a:srgbClr val="000000"/>
                </a:solidFill>
                <a:latin typeface="Cambria" pitchFamily="34" charset="0"/>
                <a:ea typeface="Cambria" pitchFamily="34" charset="-122"/>
                <a:cs typeface="Cambria" pitchFamily="34" charset="-120"/>
              </a:rPr>
              <a:t>②③④</a:t>
            </a:r>
            <a:r>
              <a:rPr lang="tr-TR" sz="2800" b="1" dirty="0">
                <a:solidFill>
                  <a:srgbClr val="000000"/>
                </a:solidFill>
                <a:latin typeface="Cambria" pitchFamily="34" charset="0"/>
                <a:ea typeface="Cambria" pitchFamily="34" charset="-122"/>
                <a:cs typeface="Cambria" pitchFamily="34" charset="-120"/>
              </a:rPr>
              <a:t> </a:t>
            </a:r>
            <a:endParaRPr lang="en-US" sz="28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371600"/>
            <a:ext cx="5577840" cy="310896"/>
          </a:xfrm>
          <a:prstGeom prst="rect">
            <a:avLst/>
          </a:prstGeom>
          <a:noFill/>
          <a:ln/>
        </p:spPr>
        <p:txBody>
          <a:bodyPr wrap="square" lIns="0" tIns="0" rIns="0" bIns="0" rtlCol="0" anchor="ctr"/>
          <a:lstStyle/>
          <a:p>
            <a:pPr marL="0" indent="0">
              <a:buNone/>
            </a:pPr>
            <a:r>
              <a:rPr lang="en-US" sz="1500" b="1" dirty="0">
                <a:solidFill>
                  <a:srgbClr val="E31836"/>
                </a:solidFill>
                <a:latin typeface="Calibri" pitchFamily="34" charset="0"/>
                <a:ea typeface="Calibri" pitchFamily="34" charset="-122"/>
                <a:cs typeface="Calibri" pitchFamily="34" charset="-120"/>
              </a:rPr>
              <a:t>② Fuel mass — combustion and suppression</a:t>
            </a:r>
            <a:endParaRPr lang="en-US" sz="1500" dirty="0"/>
          </a:p>
        </p:txBody>
      </p:sp>
      <mc:AlternateContent xmlns:mc="http://schemas.openxmlformats.org/markup-compatibility/2006" xmlns:a14="http://schemas.microsoft.com/office/drawing/2010/main">
        <mc:Choice Requires="a14">
          <p:sp>
            <p:nvSpPr>
              <p:cNvPr id="7" name="Text 3"/>
              <p:cNvSpPr/>
              <p:nvPr/>
            </p:nvSpPr>
            <p:spPr>
              <a:xfrm>
                <a:off x="518160" y="1954899"/>
                <a:ext cx="5577840" cy="105156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250">
                              <a:latin typeface="Cambria Math"/>
                            </a:rPr>
                          </m:ctrlPr>
                        </m:sSubPr>
                        <m:e>
                          <m:r>
                            <a:rPr lang="en-US" sz="1250">
                              <a:latin typeface="Cambria Math"/>
                            </a:rPr>
                            <m:t>𝐹</m:t>
                          </m:r>
                        </m:e>
                        <m:sub>
                          <m:r>
                            <a:rPr lang="en-US" sz="1250">
                              <a:latin typeface="Cambria Math"/>
                            </a:rPr>
                            <m:t>𝑙𝑜𝑎𝑑</m:t>
                          </m:r>
                          <m:r>
                            <a:rPr lang="en-US" sz="1250">
                              <a:latin typeface="Cambria Math"/>
                            </a:rPr>
                            <m:t>,</m:t>
                          </m:r>
                          <m:r>
                            <a:rPr lang="en-US" sz="1250">
                              <a:latin typeface="Cambria Math"/>
                            </a:rPr>
                            <m:t>𝑘</m:t>
                          </m:r>
                          <m:r>
                            <a:rPr lang="en-US" sz="1250">
                              <a:latin typeface="Cambria Math"/>
                            </a:rPr>
                            <m:t>+1</m:t>
                          </m:r>
                        </m:sub>
                      </m:sSub>
                      <m:d>
                        <m:dPr>
                          <m:ctrlPr>
                            <a:rPr lang="en-US" sz="1250">
                              <a:latin typeface="Cambria Math"/>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m:t>
                      </m:r>
                      <m:func>
                        <m:funcPr>
                          <m:ctrlPr>
                            <a:rPr lang="en-US" sz="1250">
                              <a:latin typeface="Cambria Math"/>
                            </a:rPr>
                          </m:ctrlPr>
                        </m:funcPr>
                        <m:fName>
                          <m:r>
                            <m:rPr>
                              <m:sty m:val="p"/>
                            </m:rPr>
                            <a:rPr lang="en-US" sz="1250">
                              <a:latin typeface="Cambria Math"/>
                            </a:rPr>
                            <m:t>max</m:t>
                          </m:r>
                        </m:fName>
                        <m:e>
                          <m:d>
                            <m:dPr>
                              <m:ctrlPr>
                                <a:rPr lang="en-US" i="1">
                                  <a:latin typeface="Cambria Math" panose="02040503050406030204" pitchFamily="18" charset="0"/>
                                </a:rPr>
                              </m:ctrlPr>
                            </m:dPr>
                            <m:e>
                              <m:eqArr>
                                <m:eqArrPr>
                                  <m:ctrlPr>
                                    <a:rPr lang="en-US" i="1">
                                      <a:latin typeface="Cambria Math" panose="02040503050406030204" pitchFamily="18" charset="0"/>
                                    </a:rPr>
                                  </m:ctrlPr>
                                </m:eqArrPr>
                                <m:e>
                                  <m:r>
                                    <a:rPr lang="en-US" sz="1250">
                                      <a:latin typeface="Cambria Math"/>
                                    </a:rPr>
                                    <m:t>0, </m:t>
                                  </m:r>
                                  <m:d>
                                    <m:dPr>
                                      <m:ctrlPr>
                                        <a:rPr lang="en-US" i="1">
                                          <a:latin typeface="Cambria Math" panose="02040503050406030204" pitchFamily="18" charset="0"/>
                                        </a:rPr>
                                      </m:ctrlPr>
                                    </m:dPr>
                                    <m:e>
                                      <m:eqArr>
                                        <m:eqArrPr>
                                          <m:ctrlPr>
                                            <a:rPr lang="en-US" i="1">
                                              <a:latin typeface="Cambria Math" panose="02040503050406030204" pitchFamily="18" charset="0"/>
                                            </a:rPr>
                                          </m:ctrlPr>
                                        </m:eqArrPr>
                                        <m:e>
                                          <m:sSub>
                                            <m:sSubPr>
                                              <m:ctrlPr>
                                                <a:rPr lang="en-US" sz="1250">
                                                  <a:latin typeface="Cambria Math"/>
                                                </a:rPr>
                                              </m:ctrlPr>
                                            </m:sSubPr>
                                            <m:e>
                                              <m:r>
                                                <a:rPr lang="en-US" sz="1250">
                                                  <a:latin typeface="Cambria Math"/>
                                                </a:rPr>
                                                <m:t>𝐹</m:t>
                                              </m:r>
                                            </m:e>
                                            <m:sub>
                                              <m:r>
                                                <a:rPr lang="en-US" sz="1250">
                                                  <a:latin typeface="Cambria Math"/>
                                                </a:rPr>
                                                <m:t>𝑙𝑜𝑎𝑑</m:t>
                                              </m:r>
                                              <m:r>
                                                <a:rPr lang="en-US" sz="1250">
                                                  <a:latin typeface="Cambria Math"/>
                                                </a:rPr>
                                                <m:t>,</m:t>
                                              </m:r>
                                              <m:r>
                                                <a:rPr lang="en-US" sz="1250">
                                                  <a:latin typeface="Cambria Math"/>
                                                </a:rPr>
                                                <m:t>𝑘</m:t>
                                              </m:r>
                                            </m:sub>
                                          </m:sSub>
                                          <m:d>
                                            <m:dPr>
                                              <m:ctrlPr>
                                                <a:rPr lang="en-US" sz="1250">
                                                  <a:latin typeface="Cambria Math"/>
                                                </a:rPr>
                                              </m:ctrlPr>
                                            </m:dPr>
                                            <m:e>
                                              <m:r>
                                                <a:rPr lang="en-US" sz="1250">
                                                  <a:latin typeface="Cambria Math"/>
                                                </a:rPr>
                                                <m:t>𝑥</m:t>
                                              </m:r>
                                              <m:r>
                                                <a:rPr lang="en-US" sz="1250">
                                                  <a:latin typeface="Cambria Math"/>
                                                </a:rPr>
                                                <m:t>,</m:t>
                                              </m:r>
                                              <m:r>
                                                <a:rPr lang="en-US" sz="1250">
                                                  <a:latin typeface="Cambria Math"/>
                                                </a:rPr>
                                                <m:t>𝑦</m:t>
                                              </m:r>
                                            </m:e>
                                          </m:d>
                                        </m:e>
                                        <m:e>
                                          <m:r>
                                            <a:rPr lang="en-US" sz="1250">
                                              <a:latin typeface="Cambria Math"/>
                                            </a:rPr>
                                            <m:t>−</m:t>
                                          </m:r>
                                          <m:sSub>
                                            <m:sSubPr>
                                              <m:ctrlPr>
                                                <a:rPr lang="en-US" sz="1250">
                                                  <a:latin typeface="Cambria Math"/>
                                                </a:rPr>
                                              </m:ctrlPr>
                                            </m:sSubPr>
                                            <m:e>
                                              <m:r>
                                                <a:rPr lang="en-US" sz="1250">
                                                  <a:latin typeface="Cambria Math"/>
                                                </a:rPr>
                                                <m:t>𝐹</m:t>
                                              </m:r>
                                            </m:e>
                                            <m:sub>
                                              <m:r>
                                                <a:rPr lang="en-US" sz="1250">
                                                  <a:latin typeface="Cambria Math"/>
                                                </a:rPr>
                                                <m:t>𝑙𝑜𝑎𝑑</m:t>
                                              </m:r>
                                              <m:r>
                                                <a:rPr lang="en-US" sz="1250">
                                                  <a:latin typeface="Cambria Math"/>
                                                </a:rPr>
                                                <m:t>,</m:t>
                                              </m:r>
                                              <m:r>
                                                <a:rPr lang="en-US" sz="1250">
                                                  <a:latin typeface="Cambria Math"/>
                                                </a:rPr>
                                                <m:t>𝑘</m:t>
                                              </m:r>
                                            </m:sub>
                                          </m:sSub>
                                          <m:d>
                                            <m:dPr>
                                              <m:ctrlPr>
                                                <a:rPr lang="en-US" sz="1250">
                                                  <a:latin typeface="Cambria Math"/>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 </m:t>
                                          </m:r>
                                          <m:sSub>
                                            <m:sSubPr>
                                              <m:ctrlPr>
                                                <a:rPr lang="en-US" sz="1250">
                                                  <a:latin typeface="Cambria Math"/>
                                                </a:rPr>
                                              </m:ctrlPr>
                                            </m:sSubPr>
                                            <m:e>
                                              <m:r>
                                                <a:rPr lang="en-US" sz="1250">
                                                  <a:latin typeface="Cambria Math"/>
                                                </a:rPr>
                                                <m:t>𝐵</m:t>
                                              </m:r>
                                            </m:e>
                                            <m:sub>
                                              <m:r>
                                                <a:rPr lang="en-US" sz="1250">
                                                  <a:latin typeface="Cambria Math"/>
                                                </a:rPr>
                                                <m:t>𝑘</m:t>
                                              </m:r>
                                            </m:sub>
                                          </m:sSub>
                                          <m:d>
                                            <m:dPr>
                                              <m:ctrlPr>
                                                <a:rPr lang="en-US" sz="1250">
                                                  <a:latin typeface="Cambria Math"/>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  </m:t>
                                          </m:r>
                                          <m:sSub>
                                            <m:sSubPr>
                                              <m:ctrlPr>
                                                <a:rPr lang="en-US" sz="1250">
                                                  <a:latin typeface="Cambria Math"/>
                                                </a:rPr>
                                              </m:ctrlPr>
                                            </m:sSubPr>
                                            <m:e>
                                              <m:r>
                                                <a:rPr lang="en-US" sz="1250">
                                                  <a:latin typeface="Cambria Math"/>
                                                </a:rPr>
                                                <m:t>𝐹</m:t>
                                              </m:r>
                                            </m:e>
                                            <m:sub>
                                              <m:r>
                                                <a:rPr lang="en-US" sz="1250">
                                                  <a:latin typeface="Cambria Math"/>
                                                </a:rPr>
                                                <m:t>𝑏𝑢𝑟𝑛</m:t>
                                              </m:r>
                                              <m:r>
                                                <a:rPr lang="en-US" sz="1250">
                                                  <a:latin typeface="Cambria Math"/>
                                                </a:rPr>
                                                <m:t>,</m:t>
                                              </m:r>
                                              <m:r>
                                                <a:rPr lang="en-US" sz="1250">
                                                  <a:latin typeface="Cambria Math"/>
                                                </a:rPr>
                                                <m:t>𝑘</m:t>
                                              </m:r>
                                            </m:sub>
                                          </m:sSub>
                                          <m:d>
                                            <m:dPr>
                                              <m:ctrlPr>
                                                <a:rPr lang="en-US" sz="1250">
                                                  <a:latin typeface="Cambria Math"/>
                                                </a:rPr>
                                              </m:ctrlPr>
                                            </m:dPr>
                                            <m:e>
                                              <m:r>
                                                <a:rPr lang="en-US" sz="1250">
                                                  <a:latin typeface="Cambria Math"/>
                                                </a:rPr>
                                                <m:t>𝑥</m:t>
                                              </m:r>
                                              <m:r>
                                                <a:rPr lang="en-US" sz="1250">
                                                  <a:latin typeface="Cambria Math"/>
                                                </a:rPr>
                                                <m:t>,</m:t>
                                              </m:r>
                                              <m:r>
                                                <a:rPr lang="en-US" sz="1250">
                                                  <a:latin typeface="Cambria Math"/>
                                                </a:rPr>
                                                <m:t>𝑦</m:t>
                                              </m:r>
                                            </m:e>
                                          </m:d>
                                        </m:e>
                                        <m:e>
                                          <m:r>
                                            <a:rPr lang="en-US" sz="1250">
                                              <a:latin typeface="Cambria Math"/>
                                            </a:rPr>
                                            <m:t>−</m:t>
                                          </m:r>
                                          <m:sSub>
                                            <m:sSubPr>
                                              <m:ctrlPr>
                                                <a:rPr lang="en-US" sz="1250">
                                                  <a:latin typeface="Cambria Math"/>
                                                </a:rPr>
                                              </m:ctrlPr>
                                            </m:sSubPr>
                                            <m:e>
                                              <m:r>
                                                <a:rPr lang="en-US" sz="1250">
                                                  <a:latin typeface="Cambria Math"/>
                                                </a:rPr>
                                                <m:t>𝐹</m:t>
                                              </m:r>
                                            </m:e>
                                            <m:sub>
                                              <m:r>
                                                <a:rPr lang="en-US" sz="1250">
                                                  <a:latin typeface="Cambria Math"/>
                                                </a:rPr>
                                                <m:t>𝑟𝑒𝑑</m:t>
                                              </m:r>
                                              <m:r>
                                                <a:rPr lang="en-US" sz="1250">
                                                  <a:latin typeface="Cambria Math"/>
                                                </a:rPr>
                                                <m:t>,</m:t>
                                              </m:r>
                                              <m:r>
                                                <a:rPr lang="en-US" sz="1250">
                                                  <a:latin typeface="Cambria Math"/>
                                                </a:rPr>
                                                <m:t>𝑘</m:t>
                                              </m:r>
                                            </m:sub>
                                          </m:sSub>
                                          <m:d>
                                            <m:dPr>
                                              <m:ctrlPr>
                                                <a:rPr lang="en-US" sz="1250">
                                                  <a:latin typeface="Cambria Math"/>
                                                </a:rPr>
                                              </m:ctrlPr>
                                            </m:dPr>
                                            <m:e>
                                              <m:r>
                                                <a:rPr lang="en-US" sz="1250">
                                                  <a:latin typeface="Cambria Math"/>
                                                </a:rPr>
                                                <m:t>𝑥</m:t>
                                              </m:r>
                                              <m:r>
                                                <a:rPr lang="en-US" sz="1250">
                                                  <a:latin typeface="Cambria Math"/>
                                                </a:rPr>
                                                <m:t>,</m:t>
                                              </m:r>
                                              <m:r>
                                                <a:rPr lang="en-US" sz="1250">
                                                  <a:latin typeface="Cambria Math"/>
                                                </a:rPr>
                                                <m:t>𝑦</m:t>
                                              </m:r>
                                            </m:e>
                                          </m:d>
                                        </m:e>
                                      </m:eqArr>
                                    </m:e>
                                  </m:d>
                                </m:e>
                              </m:eqArr>
                            </m:e>
                          </m:d>
                        </m:e>
                      </m:func>
                    </m:oMath>
                  </m:oMathPara>
                </a14:m>
                <a:endParaRPr lang="en-US" sz="1400" dirty="0"/>
              </a:p>
            </p:txBody>
          </p:sp>
        </mc:Choice>
        <mc:Fallback xmlns="">
          <p:sp>
            <p:nvSpPr>
              <p:cNvPr id="7" name="Text 3"/>
              <p:cNvSpPr>
                <a:spLocks noRot="1" noChangeAspect="1" noMove="1" noResize="1" noEditPoints="1" noAdjustHandles="1" noChangeArrowheads="1" noChangeShapeType="1" noTextEdit="1"/>
              </p:cNvSpPr>
              <p:nvPr/>
            </p:nvSpPr>
            <p:spPr>
              <a:xfrm>
                <a:off x="518160" y="1954899"/>
                <a:ext cx="5577840" cy="1051560"/>
              </a:xfrm>
              <a:prstGeom prst="rect">
                <a:avLst/>
              </a:prstGeom>
              <a:blipFill>
                <a:blip r:embed="rId5"/>
                <a:stretch>
                  <a:fillRect/>
                </a:stretch>
              </a:blipFill>
              <a:ln/>
            </p:spPr>
            <p:txBody>
              <a:bodyPr/>
              <a:lstStyle/>
              <a:p>
                <a:r>
                  <a:rPr lang="tr-TR">
                    <a:noFill/>
                  </a:rPr>
                  <a:t> </a:t>
                </a:r>
              </a:p>
            </p:txBody>
          </p:sp>
        </mc:Fallback>
      </mc:AlternateContent>
      <p:sp>
        <p:nvSpPr>
          <p:cNvPr id="8" name="Text 4"/>
          <p:cNvSpPr/>
          <p:nvPr/>
        </p:nvSpPr>
        <p:spPr>
          <a:xfrm>
            <a:off x="518160" y="3097899"/>
            <a:ext cx="5577840" cy="118872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Depletion by combustion (fractional burn rate) minus suppression-driven reduction, floored at zero</a:t>
            </a:r>
            <a:endParaRPr lang="en-US" sz="1300" dirty="0"/>
          </a:p>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Fuel cannot become negative and cannot increase</a:t>
            </a:r>
            <a:endParaRPr lang="en-US" sz="1300" dirty="0"/>
          </a:p>
        </p:txBody>
      </p:sp>
      <mc:AlternateContent xmlns:mc="http://schemas.openxmlformats.org/markup-compatibility/2006" xmlns:a14="http://schemas.microsoft.com/office/drawing/2010/main">
        <mc:Choice Requires="a14">
          <p:sp>
            <p:nvSpPr>
              <p:cNvPr id="9" name="Text 5"/>
              <p:cNvSpPr/>
              <p:nvPr/>
            </p:nvSpPr>
            <p:spPr>
              <a:xfrm>
                <a:off x="518160" y="4378059"/>
                <a:ext cx="5577840" cy="86868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250">
                              <a:latin typeface="Cambria Math"/>
                            </a:rPr>
                          </m:ctrlPr>
                        </m:sSubPr>
                        <m:e>
                          <m:r>
                            <a:rPr lang="en-US" sz="1250">
                              <a:latin typeface="Cambria Math"/>
                            </a:rPr>
                            <m:t>𝐹</m:t>
                          </m:r>
                        </m:e>
                        <m:sub>
                          <m:r>
                            <a:rPr lang="en-US" sz="1250">
                              <a:latin typeface="Cambria Math"/>
                            </a:rPr>
                            <m:t>𝑟𝑒𝑑</m:t>
                          </m:r>
                          <m:r>
                            <a:rPr lang="en-US" sz="1250">
                              <a:latin typeface="Cambria Math"/>
                            </a:rPr>
                            <m:t>,</m:t>
                          </m:r>
                          <m:r>
                            <a:rPr lang="en-US" sz="1250">
                              <a:latin typeface="Cambria Math"/>
                            </a:rPr>
                            <m:t>𝑘</m:t>
                          </m:r>
                        </m:sub>
                      </m:sSub>
                      <m:d>
                        <m:dPr>
                          <m:ctrlPr>
                            <a:rPr lang="en-US" sz="1250">
                              <a:latin typeface="Cambria Math"/>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m:t>
                      </m:r>
                      <m:sSub>
                        <m:sSubPr>
                          <m:ctrlPr>
                            <a:rPr lang="en-US" sz="1250">
                              <a:latin typeface="Cambria Math"/>
                            </a:rPr>
                          </m:ctrlPr>
                        </m:sSubPr>
                        <m:e>
                          <m:r>
                            <a:rPr lang="en-US" sz="1250">
                              <a:latin typeface="Cambria Math"/>
                            </a:rPr>
                            <m:t>𝑓</m:t>
                          </m:r>
                        </m:e>
                        <m:sub>
                          <m:r>
                            <a:rPr lang="en-US" sz="1250">
                              <a:latin typeface="Cambria Math"/>
                            </a:rPr>
                            <m:t>𝑠𝑢𝑝𝑝</m:t>
                          </m:r>
                        </m:sub>
                      </m:sSub>
                      <m:r>
                        <a:rPr lang="en-US" sz="1250">
                          <a:latin typeface="Cambria Math"/>
                        </a:rPr>
                        <m:t> </m:t>
                      </m:r>
                      <m:d>
                        <m:dPr>
                          <m:ctrlPr>
                            <a:rPr lang="en-US" i="1">
                              <a:latin typeface="Cambria Math" panose="02040503050406030204" pitchFamily="18" charset="0"/>
                            </a:rPr>
                          </m:ctrlPr>
                        </m:dPr>
                        <m:e>
                          <m:eqArr>
                            <m:eqArrPr>
                              <m:ctrlPr>
                                <a:rPr lang="en-US" i="1">
                                  <a:latin typeface="Cambria Math" panose="02040503050406030204" pitchFamily="18" charset="0"/>
                                </a:rPr>
                              </m:ctrlPr>
                            </m:eqArrPr>
                            <m:e>
                              <m:sSub>
                                <m:sSubPr>
                                  <m:ctrlPr>
                                    <a:rPr lang="en-US" sz="1250">
                                      <a:latin typeface="Cambria Math"/>
                                    </a:rPr>
                                  </m:ctrlPr>
                                </m:sSubPr>
                                <m:e>
                                  <m:r>
                                    <a:rPr lang="en-US" sz="1250">
                                      <a:latin typeface="Cambria Math"/>
                                    </a:rPr>
                                    <m:t>𝑅</m:t>
                                  </m:r>
                                </m:e>
                                <m:sub>
                                  <m:r>
                                    <a:rPr lang="en-US" sz="1250">
                                      <a:latin typeface="Cambria Math"/>
                                    </a:rPr>
                                    <m:t>𝑐𝑎𝑝</m:t>
                                  </m:r>
                                  <m:r>
                                    <a:rPr lang="en-US" sz="1250">
                                      <a:latin typeface="Cambria Math"/>
                                    </a:rPr>
                                    <m:t>,</m:t>
                                  </m:r>
                                  <m:r>
                                    <a:rPr lang="en-US" sz="1250">
                                      <a:latin typeface="Cambria Math"/>
                                    </a:rPr>
                                    <m:t>𝑘</m:t>
                                  </m:r>
                                </m:sub>
                              </m:sSub>
                              <m:d>
                                <m:dPr>
                                  <m:ctrlPr>
                                    <a:rPr lang="en-US" sz="1250">
                                      <a:latin typeface="Cambria Math"/>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m:t>
                              </m:r>
                              <m:sSub>
                                <m:sSubPr>
                                  <m:ctrlPr>
                                    <a:rPr lang="en-US" sz="1250">
                                      <a:latin typeface="Cambria Math"/>
                                    </a:rPr>
                                  </m:ctrlPr>
                                </m:sSubPr>
                                <m:e>
                                  <m:r>
                                    <a:rPr lang="en-US" sz="1250">
                                      <a:latin typeface="Cambria Math"/>
                                    </a:rPr>
                                    <m:t>𝑅</m:t>
                                  </m:r>
                                </m:e>
                                <m:sub>
                                  <m:r>
                                    <a:rPr lang="en-US" sz="1250">
                                      <a:latin typeface="Cambria Math"/>
                                    </a:rPr>
                                    <m:t>𝑎𝑣𝑎𝑖𝑙</m:t>
                                  </m:r>
                                  <m:r>
                                    <a:rPr lang="en-US" sz="1250">
                                      <a:latin typeface="Cambria Math"/>
                                    </a:rPr>
                                    <m:t>,</m:t>
                                  </m:r>
                                  <m:r>
                                    <a:rPr lang="en-US" sz="1250">
                                      <a:latin typeface="Cambria Math"/>
                                    </a:rPr>
                                    <m:t>𝑘</m:t>
                                  </m:r>
                                </m:sub>
                              </m:sSub>
                              <m:d>
                                <m:dPr>
                                  <m:ctrlPr>
                                    <a:rPr lang="en-US" sz="1250">
                                      <a:latin typeface="Cambria Math"/>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m:t>
                              </m:r>
                              <m:sSub>
                                <m:sSubPr>
                                  <m:ctrlPr>
                                    <a:rPr lang="en-US" sz="1250">
                                      <a:latin typeface="Cambria Math"/>
                                    </a:rPr>
                                  </m:ctrlPr>
                                </m:sSubPr>
                                <m:e>
                                  <m:r>
                                    <a:rPr lang="en-US" sz="1250">
                                      <a:latin typeface="Cambria Math"/>
                                    </a:rPr>
                                    <m:t>𝑅</m:t>
                                  </m:r>
                                </m:e>
                                <m:sub>
                                  <m:r>
                                    <a:rPr lang="en-US" sz="1250">
                                      <a:latin typeface="Cambria Math"/>
                                    </a:rPr>
                                    <m:t>𝑒𝑓𝑓</m:t>
                                  </m:r>
                                  <m:r>
                                    <a:rPr lang="en-US" sz="1250">
                                      <a:latin typeface="Cambria Math"/>
                                    </a:rPr>
                                    <m:t>,</m:t>
                                  </m:r>
                                  <m:r>
                                    <a:rPr lang="en-US" sz="1250">
                                      <a:latin typeface="Cambria Math"/>
                                    </a:rPr>
                                    <m:t>𝑘</m:t>
                                  </m:r>
                                </m:sub>
                              </m:sSub>
                              <m:d>
                                <m:dPr>
                                  <m:ctrlPr>
                                    <a:rPr lang="en-US" sz="1250">
                                      <a:latin typeface="Cambria Math"/>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m:t>
                              </m:r>
                            </m:e>
                            <m:e>
                              <m:sSub>
                                <m:sSubPr>
                                  <m:ctrlPr>
                                    <a:rPr lang="en-US" sz="1250">
                                      <a:latin typeface="Cambria Math"/>
                                    </a:rPr>
                                  </m:ctrlPr>
                                </m:sSubPr>
                                <m:e>
                                  <m:r>
                                    <a:rPr lang="en-US" sz="1250">
                                      <a:latin typeface="Cambria Math"/>
                                    </a:rPr>
                                    <m:t>𝑅</m:t>
                                  </m:r>
                                </m:e>
                                <m:sub>
                                  <m:r>
                                    <a:rPr lang="en-US" sz="1250">
                                      <a:latin typeface="Cambria Math"/>
                                    </a:rPr>
                                    <m:t>𝑡𝑖𝑚𝑒</m:t>
                                  </m:r>
                                  <m:r>
                                    <a:rPr lang="en-US" sz="1250">
                                      <a:latin typeface="Cambria Math"/>
                                    </a:rPr>
                                    <m:t>,</m:t>
                                  </m:r>
                                  <m:r>
                                    <a:rPr lang="en-US" sz="1250">
                                      <a:latin typeface="Cambria Math"/>
                                    </a:rPr>
                                    <m:t>𝑘</m:t>
                                  </m:r>
                                </m:sub>
                              </m:sSub>
                              <m:d>
                                <m:dPr>
                                  <m:ctrlPr>
                                    <a:rPr lang="en-US" sz="1250">
                                      <a:latin typeface="Cambria Math"/>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m:t>
                              </m:r>
                              <m:sSub>
                                <m:sSubPr>
                                  <m:ctrlPr>
                                    <a:rPr lang="en-US" sz="1250">
                                      <a:latin typeface="Cambria Math"/>
                                    </a:rPr>
                                  </m:ctrlPr>
                                </m:sSubPr>
                                <m:e>
                                  <m:r>
                                    <a:rPr lang="en-US" sz="1250">
                                      <a:latin typeface="Cambria Math"/>
                                    </a:rPr>
                                    <m:t>𝐺</m:t>
                                  </m:r>
                                </m:e>
                                <m:sub>
                                  <m:r>
                                    <a:rPr lang="en-US" sz="1250">
                                      <a:latin typeface="Cambria Math"/>
                                    </a:rPr>
                                    <m:t>𝑎𝑐𝑐𝑒𝑠𝑠</m:t>
                                  </m:r>
                                </m:sub>
                              </m:sSub>
                              <m:d>
                                <m:dPr>
                                  <m:ctrlPr>
                                    <a:rPr lang="en-US" sz="1250">
                                      <a:latin typeface="Cambria Math"/>
                                    </a:rPr>
                                  </m:ctrlPr>
                                </m:dPr>
                                <m:e>
                                  <m:r>
                                    <a:rPr lang="en-US" sz="1250">
                                      <a:latin typeface="Cambria Math"/>
                                    </a:rPr>
                                    <m:t>𝑥</m:t>
                                  </m:r>
                                  <m:r>
                                    <a:rPr lang="en-US" sz="1250">
                                      <a:latin typeface="Cambria Math"/>
                                    </a:rPr>
                                    <m:t>,</m:t>
                                  </m:r>
                                  <m:r>
                                    <a:rPr lang="en-US" sz="1250">
                                      <a:latin typeface="Cambria Math"/>
                                    </a:rPr>
                                    <m:t>𝑦</m:t>
                                  </m:r>
                                </m:e>
                              </m:d>
                            </m:e>
                          </m:eqArr>
                        </m:e>
                      </m:d>
                    </m:oMath>
                  </m:oMathPara>
                </a14:m>
                <a:endParaRPr lang="en-US" sz="1400" dirty="0"/>
              </a:p>
            </p:txBody>
          </p:sp>
        </mc:Choice>
        <mc:Fallback xmlns="">
          <p:sp>
            <p:nvSpPr>
              <p:cNvPr id="9" name="Text 5"/>
              <p:cNvSpPr>
                <a:spLocks noRot="1" noChangeAspect="1" noMove="1" noResize="1" noEditPoints="1" noAdjustHandles="1" noChangeArrowheads="1" noChangeShapeType="1" noTextEdit="1"/>
              </p:cNvSpPr>
              <p:nvPr/>
            </p:nvSpPr>
            <p:spPr>
              <a:xfrm>
                <a:off x="518160" y="4378059"/>
                <a:ext cx="5577840" cy="868680"/>
              </a:xfrm>
              <a:prstGeom prst="rect">
                <a:avLst/>
              </a:prstGeom>
              <a:blipFill>
                <a:blip r:embed="rId6"/>
                <a:stretch>
                  <a:fillRect/>
                </a:stretch>
              </a:blipFill>
              <a:ln/>
            </p:spPr>
            <p:txBody>
              <a:bodyPr/>
              <a:lstStyle/>
              <a:p>
                <a:r>
                  <a:rPr lang="tr-TR">
                    <a:noFill/>
                  </a:rPr>
                  <a:t> </a:t>
                </a:r>
              </a:p>
            </p:txBody>
          </p:sp>
        </mc:Fallback>
      </mc:AlternateContent>
      <p:sp>
        <p:nvSpPr>
          <p:cNvPr id="10" name="Text 6"/>
          <p:cNvSpPr/>
          <p:nvPr/>
        </p:nvSpPr>
        <p:spPr>
          <a:xfrm>
            <a:off x="518160" y="5338179"/>
            <a:ext cx="5577840" cy="100584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300" b="1" dirty="0">
                <a:solidFill>
                  <a:srgbClr val="222222"/>
                </a:solidFill>
                <a:latin typeface="Calibri" pitchFamily="34" charset="0"/>
                <a:ea typeface="Calibri" pitchFamily="34" charset="-122"/>
                <a:cs typeface="Calibri" pitchFamily="34" charset="-120"/>
              </a:rPr>
              <a:t>Suppression acts only through fuel reduction — scaled by committed capacity, availability, effectiveness, travel time, and access</a:t>
            </a:r>
            <a:endParaRPr lang="en-US" sz="1300" dirty="0"/>
          </a:p>
        </p:txBody>
      </p:sp>
      <p:sp>
        <p:nvSpPr>
          <p:cNvPr id="11" name="Text 7"/>
          <p:cNvSpPr/>
          <p:nvPr/>
        </p:nvSpPr>
        <p:spPr>
          <a:xfrm>
            <a:off x="6309360" y="1371600"/>
            <a:ext cx="5440680" cy="310896"/>
          </a:xfrm>
          <a:prstGeom prst="rect">
            <a:avLst/>
          </a:prstGeom>
          <a:noFill/>
          <a:ln/>
        </p:spPr>
        <p:txBody>
          <a:bodyPr wrap="square" lIns="0" tIns="0" rIns="0" bIns="0" rtlCol="0" anchor="ctr"/>
          <a:lstStyle/>
          <a:p>
            <a:pPr marL="0" indent="0">
              <a:buNone/>
            </a:pPr>
            <a:r>
              <a:rPr lang="en-US" sz="1500" b="1" dirty="0">
                <a:solidFill>
                  <a:srgbClr val="E31836"/>
                </a:solidFill>
                <a:latin typeface="Calibri" pitchFamily="34" charset="0"/>
                <a:ea typeface="Calibri" pitchFamily="34" charset="-122"/>
                <a:cs typeface="Calibri" pitchFamily="34" charset="-120"/>
              </a:rPr>
              <a:t>③ Fire intensity — bounded proxy</a:t>
            </a:r>
            <a:endParaRPr lang="en-US" sz="1500" dirty="0"/>
          </a:p>
        </p:txBody>
      </p:sp>
      <mc:AlternateContent xmlns:mc="http://schemas.openxmlformats.org/markup-compatibility/2006" xmlns:a14="http://schemas.microsoft.com/office/drawing/2010/main">
        <mc:Choice Requires="a14">
          <p:sp>
            <p:nvSpPr>
              <p:cNvPr id="12" name="Text 8"/>
              <p:cNvSpPr/>
              <p:nvPr/>
            </p:nvSpPr>
            <p:spPr>
              <a:xfrm>
                <a:off x="6309360" y="1737360"/>
                <a:ext cx="5440680" cy="54864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300">
                              <a:latin typeface="Cambria Math"/>
                            </a:rPr>
                          </m:ctrlPr>
                        </m:sSubPr>
                        <m:e>
                          <m:r>
                            <a:rPr lang="en-US" sz="1300">
                              <a:latin typeface="Cambria Math"/>
                            </a:rPr>
                            <m:t>𝐼</m:t>
                          </m:r>
                        </m:e>
                        <m:sub>
                          <m:r>
                            <a:rPr lang="en-US" sz="1300">
                              <a:latin typeface="Cambria Math"/>
                            </a:rPr>
                            <m:t>𝑘</m:t>
                          </m:r>
                          <m:r>
                            <a:rPr lang="en-US" sz="1300">
                              <a:latin typeface="Cambria Math"/>
                            </a:rPr>
                            <m:t>+1</m:t>
                          </m:r>
                        </m:sub>
                      </m:sSub>
                      <m:d>
                        <m:dPr>
                          <m:ctrlPr>
                            <a:rPr lang="en-US" sz="1300">
                              <a:latin typeface="Cambria Math"/>
                            </a:rPr>
                          </m:ctrlPr>
                        </m:dPr>
                        <m:e>
                          <m:r>
                            <m:rPr>
                              <m:sty m:val="p"/>
                            </m:rPr>
                            <a:rPr lang="en-US" sz="1300">
                              <a:latin typeface="Cambria Math"/>
                            </a:rPr>
                            <m:t>x</m:t>
                          </m:r>
                          <m:r>
                            <a:rPr lang="en-US" sz="1300">
                              <a:latin typeface="Cambria Math"/>
                            </a:rPr>
                            <m:t>,</m:t>
                          </m:r>
                          <m:r>
                            <m:rPr>
                              <m:sty m:val="p"/>
                            </m:rPr>
                            <a:rPr lang="en-US" sz="1300">
                              <a:latin typeface="Cambria Math"/>
                            </a:rPr>
                            <m:t>y</m:t>
                          </m:r>
                        </m:e>
                      </m:d>
                      <m:r>
                        <a:rPr lang="en-US" sz="1300">
                          <a:latin typeface="Cambria Math"/>
                        </a:rPr>
                        <m:t>=</m:t>
                      </m:r>
                      <m:sSub>
                        <m:sSubPr>
                          <m:ctrlPr>
                            <a:rPr lang="en-US" sz="1300">
                              <a:latin typeface="Cambria Math"/>
                            </a:rPr>
                          </m:ctrlPr>
                        </m:sSubPr>
                        <m:e>
                          <m:r>
                            <a:rPr lang="en-US" sz="1300">
                              <a:latin typeface="Cambria Math"/>
                            </a:rPr>
                            <m:t>𝑓</m:t>
                          </m:r>
                        </m:e>
                        <m:sub>
                          <m:r>
                            <a:rPr lang="en-US" sz="1300">
                              <a:latin typeface="Cambria Math"/>
                            </a:rPr>
                            <m:t>𝑖𝑛𝑡𝑒𝑛𝑠𝑖𝑡𝑦</m:t>
                          </m:r>
                        </m:sub>
                      </m:sSub>
                      <m:d>
                        <m:dPr>
                          <m:ctrlPr>
                            <a:rPr lang="en-US" sz="1300" i="1">
                              <a:latin typeface="Cambria Math" panose="02040503050406030204" pitchFamily="18" charset="0"/>
                            </a:rPr>
                          </m:ctrlPr>
                        </m:dPr>
                        <m:e>
                          <m:sSub>
                            <m:sSubPr>
                              <m:ctrlPr>
                                <a:rPr lang="en-US" sz="1300">
                                  <a:latin typeface="Cambria Math"/>
                                </a:rPr>
                              </m:ctrlPr>
                            </m:sSubPr>
                            <m:e>
                              <m:r>
                                <a:rPr lang="en-US" sz="1300">
                                  <a:latin typeface="Cambria Math"/>
                                </a:rPr>
                                <m:t>𝐹</m:t>
                              </m:r>
                            </m:e>
                            <m:sub>
                              <m:r>
                                <a:rPr lang="en-US" sz="1300">
                                  <a:latin typeface="Cambria Math"/>
                                </a:rPr>
                                <m:t>𝑙𝑜𝑎𝑑</m:t>
                              </m:r>
                              <m:r>
                                <a:rPr lang="en-US" sz="1300">
                                  <a:latin typeface="Cambria Math"/>
                                </a:rPr>
                                <m:t>,</m:t>
                              </m:r>
                              <m:r>
                                <a:rPr lang="en-US" sz="1300">
                                  <a:latin typeface="Cambria Math"/>
                                </a:rPr>
                                <m:t>𝑘</m:t>
                              </m:r>
                            </m:sub>
                          </m:sSub>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sSub>
                            <m:sSubPr>
                              <m:ctrlPr>
                                <a:rPr lang="en-US" sz="1300">
                                  <a:latin typeface="Cambria Math"/>
                                </a:rPr>
                              </m:ctrlPr>
                            </m:sSubPr>
                            <m:e>
                              <m:r>
                                <a:rPr lang="en-US" sz="1300">
                                  <a:latin typeface="Cambria Math"/>
                                </a:rPr>
                                <m:t>𝑊</m:t>
                              </m:r>
                            </m:e>
                            <m:sub>
                              <m:r>
                                <a:rPr lang="en-US" sz="1300">
                                  <a:latin typeface="Cambria Math"/>
                                </a:rPr>
                                <m:t>𝑤𝑠</m:t>
                              </m:r>
                              <m:r>
                                <a:rPr lang="en-US" sz="1300">
                                  <a:latin typeface="Cambria Math"/>
                                </a:rPr>
                                <m:t>,</m:t>
                              </m:r>
                              <m:r>
                                <a:rPr lang="en-US" sz="1300">
                                  <a:latin typeface="Cambria Math"/>
                                </a:rPr>
                                <m:t>𝑘</m:t>
                              </m:r>
                            </m:sub>
                          </m:sSub>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sSub>
                            <m:sSubPr>
                              <m:ctrlPr>
                                <a:rPr lang="en-US" sz="1300">
                                  <a:latin typeface="Cambria Math"/>
                                </a:rPr>
                              </m:ctrlPr>
                            </m:sSubPr>
                            <m:e>
                              <m:r>
                                <a:rPr lang="en-US" sz="1300">
                                  <a:latin typeface="Cambria Math"/>
                                </a:rPr>
                                <m:t>𝐺</m:t>
                              </m:r>
                            </m:e>
                            <m:sub>
                              <m:r>
                                <a:rPr lang="en-US" sz="1300">
                                  <a:latin typeface="Cambria Math"/>
                                </a:rPr>
                                <m:t>𝑠𝑙𝑜𝑝𝑒</m:t>
                              </m:r>
                            </m:sub>
                          </m:sSub>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e>
                      </m:d>
                    </m:oMath>
                  </m:oMathPara>
                </a14:m>
                <a:endParaRPr lang="en-US" sz="1400" dirty="0"/>
              </a:p>
            </p:txBody>
          </p:sp>
        </mc:Choice>
        <mc:Fallback xmlns="">
          <p:sp>
            <p:nvSpPr>
              <p:cNvPr id="12" name="Text 8"/>
              <p:cNvSpPr>
                <a:spLocks noRot="1" noChangeAspect="1" noMove="1" noResize="1" noEditPoints="1" noAdjustHandles="1" noChangeArrowheads="1" noChangeShapeType="1" noTextEdit="1"/>
              </p:cNvSpPr>
              <p:nvPr/>
            </p:nvSpPr>
            <p:spPr>
              <a:xfrm>
                <a:off x="6309360" y="1737360"/>
                <a:ext cx="5440680" cy="548640"/>
              </a:xfrm>
              <a:prstGeom prst="rect">
                <a:avLst/>
              </a:prstGeom>
              <a:blipFill>
                <a:blip r:embed="rId7"/>
                <a:stretch>
                  <a:fillRect/>
                </a:stretch>
              </a:blipFill>
              <a:ln/>
            </p:spPr>
            <p:txBody>
              <a:bodyPr/>
              <a:lstStyle/>
              <a:p>
                <a:r>
                  <a:rPr lang="tr-TR">
                    <a:noFill/>
                  </a:rPr>
                  <a:t/>
                </a:r>
              </a:p>
            </p:txBody>
          </p:sp>
        </mc:Fallback>
      </mc:AlternateContent>
      <p:sp>
        <p:nvSpPr>
          <p:cNvPr id="13" name="Text 9"/>
          <p:cNvSpPr/>
          <p:nvPr/>
        </p:nvSpPr>
        <p:spPr>
          <a:xfrm>
            <a:off x="6309360" y="2377440"/>
            <a:ext cx="5440680" cy="86868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Bounded nonlinear combination of fuel, wind, and slope — ordinal prioritization, not flame physics</a:t>
            </a:r>
            <a:endParaRPr lang="en-US" sz="1300" dirty="0"/>
          </a:p>
        </p:txBody>
      </p:sp>
      <p:sp>
        <p:nvSpPr>
          <p:cNvPr id="14" name="Text 10"/>
          <p:cNvSpPr/>
          <p:nvPr/>
        </p:nvSpPr>
        <p:spPr>
          <a:xfrm>
            <a:off x="6309360" y="3337560"/>
            <a:ext cx="5440680" cy="310896"/>
          </a:xfrm>
          <a:prstGeom prst="rect">
            <a:avLst/>
          </a:prstGeom>
          <a:noFill/>
          <a:ln/>
        </p:spPr>
        <p:txBody>
          <a:bodyPr wrap="square" lIns="0" tIns="0" rIns="0" bIns="0" rtlCol="0" anchor="ctr"/>
          <a:lstStyle/>
          <a:p>
            <a:pPr marL="0" indent="0">
              <a:buNone/>
            </a:pPr>
            <a:r>
              <a:rPr lang="en-US" sz="1500" b="1" dirty="0">
                <a:solidFill>
                  <a:srgbClr val="E31836"/>
                </a:solidFill>
                <a:latin typeface="Calibri" pitchFamily="34" charset="0"/>
                <a:ea typeface="Calibri" pitchFamily="34" charset="-122"/>
                <a:cs typeface="Calibri" pitchFamily="34" charset="-120"/>
              </a:rPr>
              <a:t>④ Time since ignition — bookkeeping</a:t>
            </a:r>
            <a:endParaRPr lang="en-US" sz="1500" dirty="0"/>
          </a:p>
        </p:txBody>
      </p:sp>
      <mc:AlternateContent xmlns:mc="http://schemas.openxmlformats.org/markup-compatibility/2006" xmlns:a14="http://schemas.microsoft.com/office/drawing/2010/main">
        <mc:Choice Requires="a14">
          <p:sp>
            <p:nvSpPr>
              <p:cNvPr id="15" name="Text 11"/>
              <p:cNvSpPr/>
              <p:nvPr/>
            </p:nvSpPr>
            <p:spPr>
              <a:xfrm>
                <a:off x="6309360" y="3703320"/>
                <a:ext cx="5440680" cy="118872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300">
                              <a:latin typeface="Cambria Math"/>
                            </a:rPr>
                          </m:ctrlPr>
                        </m:sSubPr>
                        <m:e>
                          <m:r>
                            <a:rPr lang="en-US" sz="1300">
                              <a:latin typeface="Cambria Math"/>
                            </a:rPr>
                            <m:t>𝜏</m:t>
                          </m:r>
                        </m:e>
                        <m:sub>
                          <m:r>
                            <a:rPr lang="en-US" sz="1300">
                              <a:latin typeface="Cambria Math"/>
                            </a:rPr>
                            <m:t>𝑘</m:t>
                          </m:r>
                          <m:r>
                            <a:rPr lang="en-US" sz="1300">
                              <a:latin typeface="Cambria Math"/>
                            </a:rPr>
                            <m:t>+1</m:t>
                          </m:r>
                        </m:sub>
                      </m:sSub>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a:rPr lang="en-US" sz="1300">
                                    <a:latin typeface="Cambria Math"/>
                                  </a:rPr>
                                  <m:t>0,</m:t>
                                </m:r>
                              </m:e>
                              <m:e>
                                <m:sSub>
                                  <m:sSubPr>
                                    <m:ctrlPr>
                                      <a:rPr lang="en-US" sz="1300">
                                        <a:latin typeface="Cambria Math"/>
                                      </a:rPr>
                                    </m:ctrlPr>
                                  </m:sSubPr>
                                  <m:e>
                                    <m:r>
                                      <a:rPr lang="en-US" sz="1300">
                                        <a:latin typeface="Cambria Math"/>
                                      </a:rPr>
                                      <m:t>𝐵</m:t>
                                    </m:r>
                                  </m:e>
                                  <m:sub>
                                    <m:r>
                                      <a:rPr lang="en-US" sz="1300">
                                        <a:latin typeface="Cambria Math"/>
                                      </a:rPr>
                                      <m:t>𝑘</m:t>
                                    </m:r>
                                    <m:r>
                                      <a:rPr lang="en-US" sz="1300">
                                        <a:latin typeface="Cambria Math"/>
                                      </a:rPr>
                                      <m:t>+1</m:t>
                                    </m:r>
                                  </m:sub>
                                </m:sSub>
                                <m:r>
                                  <a:rPr lang="en-US" sz="1300">
                                    <a:latin typeface="Cambria Math"/>
                                  </a:rPr>
                                  <m:t>=1∧</m:t>
                                </m:r>
                                <m:sSub>
                                  <m:sSubPr>
                                    <m:ctrlPr>
                                      <a:rPr lang="en-US" sz="1300">
                                        <a:latin typeface="Cambria Math"/>
                                      </a:rPr>
                                    </m:ctrlPr>
                                  </m:sSubPr>
                                  <m:e>
                                    <m:r>
                                      <a:rPr lang="en-US" sz="1300">
                                        <a:latin typeface="Cambria Math"/>
                                      </a:rPr>
                                      <m:t>𝐵</m:t>
                                    </m:r>
                                  </m:e>
                                  <m:sub>
                                    <m:r>
                                      <a:rPr lang="en-US" sz="1300">
                                        <a:latin typeface="Cambria Math"/>
                                      </a:rPr>
                                      <m:t>𝑘</m:t>
                                    </m:r>
                                  </m:sub>
                                </m:sSub>
                                <m:r>
                                  <a:rPr lang="en-US" sz="1300">
                                    <a:latin typeface="Cambria Math"/>
                                  </a:rPr>
                                  <m:t>=0</m:t>
                                </m:r>
                              </m:e>
                            </m:mr>
                            <m:mr>
                              <m:e>
                                <m:sSub>
                                  <m:sSubPr>
                                    <m:ctrlPr>
                                      <a:rPr lang="en-US" sz="1300">
                                        <a:latin typeface="Cambria Math"/>
                                      </a:rPr>
                                    </m:ctrlPr>
                                  </m:sSubPr>
                                  <m:e>
                                    <m:r>
                                      <a:rPr lang="en-US" sz="1300">
                                        <a:latin typeface="Cambria Math"/>
                                      </a:rPr>
                                      <m:t>𝜏</m:t>
                                    </m:r>
                                  </m:e>
                                  <m:sub>
                                    <m:r>
                                      <a:rPr lang="en-US" sz="1300">
                                        <a:latin typeface="Cambria Math"/>
                                      </a:rPr>
                                      <m:t>𝑘</m:t>
                                    </m:r>
                                  </m:sub>
                                </m:sSub>
                                <m:r>
                                  <a:rPr lang="en-US" sz="1300">
                                    <a:latin typeface="Cambria Math"/>
                                  </a:rPr>
                                  <m:t>+</m:t>
                                </m:r>
                                <m:r>
                                  <m:rPr>
                                    <m:sty m:val="p"/>
                                  </m:rPr>
                                  <a:rPr lang="en-US" sz="1300">
                                    <a:latin typeface="Cambria Math"/>
                                  </a:rPr>
                                  <m:t>Δ</m:t>
                                </m:r>
                                <m:r>
                                  <a:rPr lang="en-US" sz="1300">
                                    <a:latin typeface="Cambria Math"/>
                                  </a:rPr>
                                  <m:t>𝑡</m:t>
                                </m:r>
                                <m:r>
                                  <a:rPr lang="en-US" sz="1300">
                                    <a:latin typeface="Cambria Math"/>
                                  </a:rPr>
                                  <m:t>,</m:t>
                                </m:r>
                              </m:e>
                              <m:e>
                                <m:sSub>
                                  <m:sSubPr>
                                    <m:ctrlPr>
                                      <a:rPr lang="en-US" sz="1300">
                                        <a:latin typeface="Cambria Math"/>
                                      </a:rPr>
                                    </m:ctrlPr>
                                  </m:sSubPr>
                                  <m:e>
                                    <m:r>
                                      <a:rPr lang="en-US" sz="1300">
                                        <a:latin typeface="Cambria Math"/>
                                      </a:rPr>
                                      <m:t>𝐵</m:t>
                                    </m:r>
                                  </m:e>
                                  <m:sub>
                                    <m:r>
                                      <a:rPr lang="en-US" sz="1300">
                                        <a:latin typeface="Cambria Math"/>
                                      </a:rPr>
                                      <m:t>𝑘</m:t>
                                    </m:r>
                                    <m:r>
                                      <a:rPr lang="en-US" sz="1300">
                                        <a:latin typeface="Cambria Math"/>
                                      </a:rPr>
                                      <m:t>+1</m:t>
                                    </m:r>
                                  </m:sub>
                                </m:sSub>
                                <m:r>
                                  <a:rPr lang="en-US" sz="1300">
                                    <a:latin typeface="Cambria Math"/>
                                  </a:rPr>
                                  <m:t>=1∧</m:t>
                                </m:r>
                                <m:sSub>
                                  <m:sSubPr>
                                    <m:ctrlPr>
                                      <a:rPr lang="en-US" sz="1300">
                                        <a:latin typeface="Cambria Math"/>
                                      </a:rPr>
                                    </m:ctrlPr>
                                  </m:sSubPr>
                                  <m:e>
                                    <m:r>
                                      <a:rPr lang="en-US" sz="1300">
                                        <a:latin typeface="Cambria Math"/>
                                      </a:rPr>
                                      <m:t>𝐵</m:t>
                                    </m:r>
                                  </m:e>
                                  <m:sub>
                                    <m:r>
                                      <a:rPr lang="en-US" sz="1300">
                                        <a:latin typeface="Cambria Math"/>
                                      </a:rPr>
                                      <m:t>𝑘</m:t>
                                    </m:r>
                                  </m:sub>
                                </m:sSub>
                                <m:r>
                                  <a:rPr lang="en-US" sz="1300">
                                    <a:latin typeface="Cambria Math"/>
                                  </a:rPr>
                                  <m:t>=1</m:t>
                                </m:r>
                              </m:e>
                            </m:mr>
                            <m:mr>
                              <m:e>
                                <m:r>
                                  <a:rPr lang="en-US" sz="1300">
                                    <a:latin typeface="Cambria Math"/>
                                  </a:rPr>
                                  <m:t>0,</m:t>
                                </m:r>
                              </m:e>
                              <m:e>
                                <m:sSub>
                                  <m:sSubPr>
                                    <m:ctrlPr>
                                      <a:rPr lang="en-US" sz="1300">
                                        <a:latin typeface="Cambria Math"/>
                                      </a:rPr>
                                    </m:ctrlPr>
                                  </m:sSubPr>
                                  <m:e>
                                    <m:r>
                                      <a:rPr lang="en-US" sz="1300">
                                        <a:latin typeface="Cambria Math"/>
                                      </a:rPr>
                                      <m:t>𝐵</m:t>
                                    </m:r>
                                  </m:e>
                                  <m:sub>
                                    <m:r>
                                      <a:rPr lang="en-US" sz="1300">
                                        <a:latin typeface="Cambria Math"/>
                                      </a:rPr>
                                      <m:t>𝑘</m:t>
                                    </m:r>
                                    <m:r>
                                      <a:rPr lang="en-US" sz="1300">
                                        <a:latin typeface="Cambria Math"/>
                                      </a:rPr>
                                      <m:t>+1</m:t>
                                    </m:r>
                                  </m:sub>
                                </m:sSub>
                                <m:r>
                                  <a:rPr lang="en-US" sz="1300">
                                    <a:latin typeface="Cambria Math"/>
                                  </a:rPr>
                                  <m:t>=0</m:t>
                                </m:r>
                              </m:e>
                            </m:mr>
                          </m:m>
                        </m:e>
                      </m:d>
                    </m:oMath>
                  </m:oMathPara>
                </a14:m>
                <a:endParaRPr lang="en-US" sz="1400" dirty="0"/>
              </a:p>
            </p:txBody>
          </p:sp>
        </mc:Choice>
        <mc:Fallback xmlns="">
          <p:sp>
            <p:nvSpPr>
              <p:cNvPr id="15" name="Text 11"/>
              <p:cNvSpPr>
                <a:spLocks noRot="1" noChangeAspect="1" noMove="1" noResize="1" noEditPoints="1" noAdjustHandles="1" noChangeArrowheads="1" noChangeShapeType="1" noTextEdit="1"/>
              </p:cNvSpPr>
              <p:nvPr/>
            </p:nvSpPr>
            <p:spPr>
              <a:xfrm>
                <a:off x="6309360" y="3703320"/>
                <a:ext cx="5440680" cy="1188720"/>
              </a:xfrm>
              <a:prstGeom prst="rect">
                <a:avLst/>
              </a:prstGeom>
              <a:blipFill>
                <a:blip r:embed="rId8"/>
                <a:stretch>
                  <a:fillRect/>
                </a:stretch>
              </a:blipFill>
              <a:ln/>
            </p:spPr>
            <p:txBody>
              <a:bodyPr/>
              <a:lstStyle/>
              <a:p>
                <a:r>
                  <a:rPr lang="tr-TR">
                    <a:noFill/>
                  </a:rPr>
                  <a:t/>
                </a:r>
              </a:p>
            </p:txBody>
          </p:sp>
        </mc:Fallback>
      </mc:AlternateContent>
      <p:sp>
        <p:nvSpPr>
          <p:cNvPr id="16" name="Text 12"/>
          <p:cNvSpPr/>
          <p:nvPr/>
        </p:nvSpPr>
        <p:spPr>
          <a:xfrm>
            <a:off x="6309360" y="4983480"/>
            <a:ext cx="5440680" cy="109728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Reset on new ignition, advanced while burning, cleared on extinction</a:t>
            </a:r>
            <a:endParaRPr lang="en-US" sz="1300" dirty="0"/>
          </a:p>
          <a:p>
            <a:pPr marL="152400" indent="-152400">
              <a:lnSpc>
                <a:spcPct val="105000"/>
              </a:lnSpc>
              <a:spcAft>
                <a:spcPts val="700"/>
              </a:spcAft>
              <a:buSzPct val="100000"/>
              <a:buChar char="•"/>
            </a:pPr>
            <a:r>
              <a:rPr lang="en-US" sz="1300" b="1" dirty="0">
                <a:solidFill>
                  <a:srgbClr val="222222"/>
                </a:solidFill>
                <a:latin typeface="Calibri" pitchFamily="34" charset="0"/>
                <a:ea typeface="Calibri" pitchFamily="34" charset="-122"/>
                <a:cs typeface="Calibri" pitchFamily="34" charset="-120"/>
              </a:rPr>
              <a:t>Supports persistence, extinction, and intensity dynamics</a:t>
            </a:r>
            <a:endParaRPr lang="en-US" sz="1300" dirty="0"/>
          </a:p>
        </p:txBody>
      </p:sp>
      <p:pic>
        <p:nvPicPr>
          <p:cNvPr id="18" name="Picture 17">
            <a:extLst>
              <a:ext uri="{FF2B5EF4-FFF2-40B4-BE49-F238E27FC236}">
                <a16:creationId xmlns:a16="http://schemas.microsoft.com/office/drawing/2014/main" id="{F40B761A-B386-FECB-BAED-AC9D6545CF54}"/>
              </a:ext>
            </a:extLst>
          </p:cNvPr>
          <p:cNvPicPr>
            <a:picLocks noChangeAspect="1"/>
          </p:cNvPicPr>
          <p:nvPr/>
        </p:nvPicPr>
        <p:blipFill>
          <a:blip r:embed="rId9"/>
          <a:stretch>
            <a:fillRect/>
          </a:stretch>
        </p:blipFill>
        <p:spPr>
          <a:xfrm>
            <a:off x="9378579" y="1223334"/>
            <a:ext cx="1338189" cy="607427"/>
          </a:xfrm>
          <a:prstGeom prst="rect">
            <a:avLst/>
          </a:prstGeom>
        </p:spPr>
      </p:pic>
      <p:pic>
        <p:nvPicPr>
          <p:cNvPr id="20" name="Picture 19">
            <a:extLst>
              <a:ext uri="{FF2B5EF4-FFF2-40B4-BE49-F238E27FC236}">
                <a16:creationId xmlns:a16="http://schemas.microsoft.com/office/drawing/2014/main" id="{0705E36E-C0A1-D6CD-BC7F-D99F0ACEAA3A}"/>
              </a:ext>
            </a:extLst>
          </p:cNvPr>
          <p:cNvPicPr>
            <a:picLocks noChangeAspect="1"/>
          </p:cNvPicPr>
          <p:nvPr/>
        </p:nvPicPr>
        <p:blipFill>
          <a:blip r:embed="rId10"/>
          <a:stretch>
            <a:fillRect/>
          </a:stretch>
        </p:blipFill>
        <p:spPr>
          <a:xfrm>
            <a:off x="9542398" y="3320456"/>
            <a:ext cx="1807602" cy="476958"/>
          </a:xfrm>
          <a:prstGeom prst="rect">
            <a:avLst/>
          </a:prstGeom>
        </p:spPr>
      </p:pic>
      <p:pic>
        <p:nvPicPr>
          <p:cNvPr id="22" name="Picture 21">
            <a:extLst>
              <a:ext uri="{FF2B5EF4-FFF2-40B4-BE49-F238E27FC236}">
                <a16:creationId xmlns:a16="http://schemas.microsoft.com/office/drawing/2014/main" id="{504B09D1-C4B3-52C7-CDAD-BC028D3183B7}"/>
              </a:ext>
            </a:extLst>
          </p:cNvPr>
          <p:cNvPicPr>
            <a:picLocks noChangeAspect="1"/>
          </p:cNvPicPr>
          <p:nvPr/>
        </p:nvPicPr>
        <p:blipFill>
          <a:blip r:embed="rId11"/>
          <a:stretch>
            <a:fillRect/>
          </a:stretch>
        </p:blipFill>
        <p:spPr>
          <a:xfrm>
            <a:off x="4267503" y="1223334"/>
            <a:ext cx="1075575" cy="73156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a:extLst>
            <a:ext uri="{FF2B5EF4-FFF2-40B4-BE49-F238E27FC236}">
              <a16:creationId xmlns:a16="http://schemas.microsoft.com/office/drawing/2014/main" id="{04FDB5A8-6A96-8312-8613-2037C713B786}"/>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3AB6A024-6D63-7646-290D-B639B9BBEC58}"/>
              </a:ext>
            </a:extLst>
          </p:cNvPr>
          <p:cNvSpPr/>
          <p:nvPr/>
        </p:nvSpPr>
        <p:spPr>
          <a:xfrm>
            <a:off x="822960" y="2606040"/>
            <a:ext cx="10607040"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Simulation Framework</a:t>
            </a:r>
          </a:p>
          <a:p>
            <a:r>
              <a:rPr lang="en-US" sz="3200" b="1" dirty="0">
                <a:solidFill>
                  <a:srgbClr val="FFFFFF"/>
                </a:solidFill>
                <a:latin typeface="Cambria" pitchFamily="34" charset="0"/>
                <a:ea typeface="Cambria" pitchFamily="34" charset="-122"/>
                <a:cs typeface="Cambria" pitchFamily="34" charset="-120"/>
              </a:rPr>
              <a:t>(DSS Core)</a:t>
            </a:r>
          </a:p>
        </p:txBody>
      </p:sp>
      <p:pic>
        <p:nvPicPr>
          <p:cNvPr id="5" name="Image 0" descr="/tmp/thx/deck/figs/metu_emblem.png">
            <a:extLst>
              <a:ext uri="{FF2B5EF4-FFF2-40B4-BE49-F238E27FC236}">
                <a16:creationId xmlns:a16="http://schemas.microsoft.com/office/drawing/2014/main" id="{8F53DDDA-BFD1-6DE7-335C-BBC986B017A1}"/>
              </a:ext>
            </a:extLst>
          </p:cNvPr>
          <p:cNvPicPr>
            <a:picLocks noChangeAspect="1"/>
          </p:cNvPicPr>
          <p:nvPr/>
        </p:nvPicPr>
        <p:blipFill>
          <a:blip r:embed="rId3"/>
          <a:stretch>
            <a:fillRect/>
          </a:stretch>
        </p:blipFill>
        <p:spPr>
          <a:xfrm>
            <a:off x="10716768" y="184607"/>
            <a:ext cx="475488" cy="398882"/>
          </a:xfrm>
          <a:prstGeom prst="rect">
            <a:avLst/>
          </a:prstGeom>
        </p:spPr>
      </p:pic>
      <p:pic>
        <p:nvPicPr>
          <p:cNvPr id="6" name="Image 1" descr="/tmp/thx/deck/figs/eee_logo.png">
            <a:extLst>
              <a:ext uri="{FF2B5EF4-FFF2-40B4-BE49-F238E27FC236}">
                <a16:creationId xmlns:a16="http://schemas.microsoft.com/office/drawing/2014/main" id="{D3880740-BA2D-51E4-AAAF-09B5EB92352A}"/>
              </a:ext>
            </a:extLst>
          </p:cNvPr>
          <p:cNvPicPr>
            <a:picLocks noChangeAspect="1"/>
          </p:cNvPicPr>
          <p:nvPr/>
        </p:nvPicPr>
        <p:blipFill>
          <a:blip r:embed="rId4"/>
          <a:stretch>
            <a:fillRect/>
          </a:stretch>
        </p:blipFill>
        <p:spPr>
          <a:xfrm>
            <a:off x="11265408" y="186217"/>
            <a:ext cx="475488" cy="395662"/>
          </a:xfrm>
          <a:prstGeom prst="rect">
            <a:avLst/>
          </a:prstGeom>
        </p:spPr>
      </p:pic>
      <p:sp>
        <p:nvSpPr>
          <p:cNvPr id="4" name="Text 0">
            <a:extLst>
              <a:ext uri="{FF2B5EF4-FFF2-40B4-BE49-F238E27FC236}">
                <a16:creationId xmlns:a16="http://schemas.microsoft.com/office/drawing/2014/main" id="{7386FD07-1F45-E51E-53B7-2FF9CE10A66E}"/>
              </a:ext>
            </a:extLst>
          </p:cNvPr>
          <p:cNvSpPr/>
          <p:nvPr/>
        </p:nvSpPr>
        <p:spPr>
          <a:xfrm>
            <a:off x="822960" y="2194560"/>
            <a:ext cx="5486400" cy="365760"/>
          </a:xfrm>
          <a:prstGeom prst="rect">
            <a:avLst/>
          </a:prstGeom>
          <a:noFill/>
          <a:ln/>
        </p:spPr>
        <p:txBody>
          <a:bodyPr wrap="square" lIns="0" tIns="0" rIns="0" bIns="0" rtlCol="0" anchor="ctr"/>
          <a:lstStyle/>
          <a:p>
            <a:pPr marL="0" indent="0">
              <a:buNone/>
            </a:pPr>
            <a:r>
              <a:rPr lang="en-US" sz="1500" b="1" kern="0" spc="300" dirty="0">
                <a:solidFill>
                  <a:srgbClr val="E31836"/>
                </a:solidFill>
                <a:latin typeface="Calibri" pitchFamily="34" charset="0"/>
                <a:ea typeface="Calibri" pitchFamily="34" charset="-122"/>
                <a:cs typeface="Calibri" pitchFamily="34" charset="-120"/>
              </a:rPr>
              <a:t>PART 1</a:t>
            </a:r>
            <a:endParaRPr lang="en-US" sz="1500" dirty="0"/>
          </a:p>
        </p:txBody>
      </p:sp>
    </p:spTree>
    <p:extLst>
      <p:ext uri="{BB962C8B-B14F-4D97-AF65-F5344CB8AC3E}">
        <p14:creationId xmlns:p14="http://schemas.microsoft.com/office/powerpoint/2010/main" val="13420275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tr-TR" sz="2700" b="1" dirty="0">
                <a:solidFill>
                  <a:srgbClr val="000000"/>
                </a:solidFill>
                <a:latin typeface="Cambria" pitchFamily="34" charset="0"/>
                <a:ea typeface="Cambria" pitchFamily="34" charset="-122"/>
                <a:cs typeface="Cambria" pitchFamily="34" charset="-120"/>
              </a:rPr>
              <a:t>DSS – </a:t>
            </a:r>
            <a:r>
              <a:rPr lang="tr-TR" sz="2700" b="1" dirty="0" err="1">
                <a:solidFill>
                  <a:srgbClr val="000000"/>
                </a:solidFill>
                <a:latin typeface="Cambria" pitchFamily="34" charset="0"/>
                <a:ea typeface="Cambria" pitchFamily="34" charset="-122"/>
                <a:cs typeface="Cambria" pitchFamily="34" charset="-120"/>
              </a:rPr>
              <a:t>Input</a:t>
            </a:r>
            <a:r>
              <a:rPr lang="tr-TR" sz="2700" b="1" dirty="0">
                <a:solidFill>
                  <a:srgbClr val="000000"/>
                </a:solidFill>
                <a:latin typeface="Cambria" pitchFamily="34" charset="0"/>
                <a:ea typeface="Cambria" pitchFamily="34" charset="-122"/>
                <a:cs typeface="Cambria" pitchFamily="34" charset="-120"/>
              </a:rPr>
              <a:t> </a:t>
            </a:r>
            <a:r>
              <a:rPr lang="tr-TR" sz="2700" b="1" dirty="0" err="1">
                <a:solidFill>
                  <a:srgbClr val="000000"/>
                </a:solidFill>
                <a:latin typeface="Cambria" pitchFamily="34" charset="0"/>
                <a:ea typeface="Cambria" pitchFamily="34" charset="-122"/>
                <a:cs typeface="Cambria" pitchFamily="34" charset="-120"/>
              </a:rPr>
              <a:t>Field</a:t>
            </a:r>
            <a:r>
              <a:rPr lang="tr-TR" sz="2700" b="1" dirty="0">
                <a:solidFill>
                  <a:srgbClr val="000000"/>
                </a:solidFill>
                <a:latin typeface="Cambria" pitchFamily="34" charset="0"/>
                <a:ea typeface="Cambria" pitchFamily="34" charset="-122"/>
                <a:cs typeface="Cambria" pitchFamily="34" charset="-120"/>
              </a:rPr>
              <a:t> </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p:sp>
        <p:nvSpPr>
          <p:cNvPr id="7" name="Text 2"/>
          <p:cNvSpPr/>
          <p:nvPr/>
        </p:nvSpPr>
        <p:spPr>
          <a:xfrm>
            <a:off x="5829300" y="1097280"/>
            <a:ext cx="6035040" cy="320040"/>
          </a:xfrm>
          <a:prstGeom prst="rect">
            <a:avLst/>
          </a:prstGeom>
          <a:noFill/>
          <a:ln/>
        </p:spPr>
        <p:txBody>
          <a:bodyPr wrap="square" lIns="0" tIns="0" rIns="0" bIns="0" rtlCol="0" anchor="t"/>
          <a:lstStyle/>
          <a:p>
            <a:pPr marL="0" indent="0" algn="just">
              <a:lnSpc>
                <a:spcPct val="104000"/>
              </a:lnSpc>
              <a:buNone/>
            </a:pPr>
            <a:r>
              <a:rPr lang="en-US" sz="1500" b="1" dirty="0">
                <a:solidFill>
                  <a:srgbClr val="222222"/>
                </a:solidFill>
                <a:latin typeface="Calibri" pitchFamily="34" charset="0"/>
                <a:ea typeface="Calibri" pitchFamily="34" charset="-122"/>
                <a:cs typeface="Calibri" pitchFamily="34" charset="-120"/>
              </a:rPr>
              <a:t>• Decisional context, read only by the DSS (invisible to the fire physics):</a:t>
            </a:r>
            <a:endParaRPr lang="en-US" sz="1500" dirty="0"/>
          </a:p>
        </p:txBody>
      </p:sp>
      <mc:AlternateContent xmlns:mc="http://schemas.openxmlformats.org/markup-compatibility/2006" xmlns:a14="http://schemas.microsoft.com/office/drawing/2010/main">
        <mc:Choice Requires="a14">
          <p:sp>
            <p:nvSpPr>
              <p:cNvPr id="8" name="Text 3"/>
              <p:cNvSpPr/>
              <p:nvPr/>
            </p:nvSpPr>
            <p:spPr>
              <a:xfrm>
                <a:off x="5752904" y="1380744"/>
                <a:ext cx="6035040" cy="384048"/>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500">
                              <a:latin typeface="Cambria Math"/>
                            </a:rPr>
                          </m:ctrlPr>
                        </m:sSubPr>
                        <m:e>
                          <m:r>
                            <a:rPr lang="en-US" sz="1500">
                              <a:latin typeface="Cambria Math"/>
                            </a:rPr>
                            <m:t>ℱ</m:t>
                          </m:r>
                        </m:e>
                        <m:sub>
                          <m:r>
                            <a:rPr lang="en-US" sz="1500">
                              <a:latin typeface="Cambria Math"/>
                            </a:rPr>
                            <m:t>𝐷𝑆𝑆</m:t>
                          </m:r>
                          <m:r>
                            <a:rPr lang="en-US" sz="1500">
                              <a:latin typeface="Cambria Math"/>
                            </a:rPr>
                            <m:t>,</m:t>
                          </m:r>
                          <m:r>
                            <a:rPr lang="en-US" sz="1500">
                              <a:latin typeface="Cambria Math"/>
                            </a:rPr>
                            <m:t>𝑘</m:t>
                          </m:r>
                        </m:sub>
                      </m:sSub>
                      <m:r>
                        <a:rPr lang="en-US" sz="1500">
                          <a:latin typeface="Cambria Math"/>
                        </a:rPr>
                        <m:t>={</m:t>
                      </m:r>
                      <m:sSub>
                        <m:sSubPr>
                          <m:ctrlPr>
                            <a:rPr lang="en-US" sz="1500" b="1" i="1">
                              <a:latin typeface="Cambria Math"/>
                            </a:rPr>
                          </m:ctrlPr>
                        </m:sSubPr>
                        <m:e>
                          <m:r>
                            <a:rPr lang="en-US" sz="1500" b="1" i="1">
                              <a:latin typeface="Cambria Math"/>
                            </a:rPr>
                            <m:t>𝐔</m:t>
                          </m:r>
                        </m:e>
                        <m:sub>
                          <m:r>
                            <a:rPr lang="en-US" sz="1500" b="1" i="1">
                              <a:latin typeface="Cambria Math"/>
                            </a:rPr>
                            <m:t>𝐕𝐚𝐥</m:t>
                          </m:r>
                          <m:r>
                            <a:rPr lang="en-US" sz="1500" b="1">
                              <a:latin typeface="Cambria Math"/>
                            </a:rPr>
                            <m:t>,</m:t>
                          </m:r>
                          <m:r>
                            <a:rPr lang="en-US" sz="1500" b="1" i="1">
                              <a:latin typeface="Cambria Math"/>
                            </a:rPr>
                            <m:t>𝐤</m:t>
                          </m:r>
                        </m:sub>
                      </m:sSub>
                      <m:r>
                        <a:rPr lang="en-US" sz="1500">
                          <a:latin typeface="Cambria Math"/>
                        </a:rPr>
                        <m:t>, </m:t>
                      </m:r>
                      <m:sSub>
                        <m:sSubPr>
                          <m:ctrlPr>
                            <a:rPr lang="en-US" sz="1500">
                              <a:latin typeface="Cambria Math"/>
                            </a:rPr>
                          </m:ctrlPr>
                        </m:sSubPr>
                        <m:e>
                          <m:r>
                            <a:rPr lang="en-US" sz="1500">
                              <a:latin typeface="Cambria Math"/>
                            </a:rPr>
                            <m:t>𝑈</m:t>
                          </m:r>
                        </m:e>
                        <m:sub>
                          <m:r>
                            <a:rPr lang="en-US" sz="1500">
                              <a:latin typeface="Cambria Math"/>
                            </a:rPr>
                            <m:t>𝑅𝑒𝑠</m:t>
                          </m:r>
                          <m:r>
                            <a:rPr lang="en-US" sz="1500">
                              <a:latin typeface="Cambria Math"/>
                            </a:rPr>
                            <m:t>,</m:t>
                          </m:r>
                          <m:r>
                            <a:rPr lang="en-US" sz="1500">
                              <a:latin typeface="Cambria Math"/>
                            </a:rPr>
                            <m:t>𝑘</m:t>
                          </m:r>
                        </m:sub>
                      </m:sSub>
                      <m:r>
                        <a:rPr lang="en-US" sz="1500">
                          <a:latin typeface="Cambria Math"/>
                        </a:rPr>
                        <m:t>}</m:t>
                      </m:r>
                    </m:oMath>
                  </m:oMathPara>
                </a14:m>
                <a:endParaRPr lang="en-US" sz="1600" dirty="0"/>
              </a:p>
            </p:txBody>
          </p:sp>
        </mc:Choice>
        <mc:Fallback xmlns="">
          <p:sp>
            <p:nvSpPr>
              <p:cNvPr id="8" name="Text 3"/>
              <p:cNvSpPr>
                <a:spLocks noRot="1" noChangeAspect="1" noMove="1" noResize="1" noEditPoints="1" noAdjustHandles="1" noChangeArrowheads="1" noChangeShapeType="1" noTextEdit="1"/>
              </p:cNvSpPr>
              <p:nvPr/>
            </p:nvSpPr>
            <p:spPr>
              <a:xfrm>
                <a:off x="5752904" y="1380744"/>
                <a:ext cx="6035040" cy="384048"/>
              </a:xfrm>
              <a:prstGeom prst="rect">
                <a:avLst/>
              </a:prstGeom>
              <a:blipFill>
                <a:blip r:embed="rId6"/>
                <a:stretch>
                  <a:fillRect b="-4762"/>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9" name="Text 4"/>
              <p:cNvSpPr/>
              <p:nvPr/>
            </p:nvSpPr>
            <p:spPr>
              <a:xfrm>
                <a:off x="5981504" y="1828800"/>
                <a:ext cx="5806440" cy="292608"/>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b="1" i="1">
                            <a:latin typeface="Cambria Math"/>
                          </a:rPr>
                        </m:ctrlPr>
                      </m:sSubPr>
                      <m:e>
                        <m:r>
                          <a:rPr lang="en-US" sz="1300" b="1" i="1">
                            <a:latin typeface="Cambria Math"/>
                          </a:rPr>
                          <m:t>𝐔</m:t>
                        </m:r>
                      </m:e>
                      <m:sub>
                        <m:r>
                          <a:rPr lang="en-US" sz="1300" b="1" i="1">
                            <a:latin typeface="Cambria Math"/>
                          </a:rPr>
                          <m:t>𝐕𝐚𝐥</m:t>
                        </m:r>
                        <m:r>
                          <a:rPr lang="en-US" sz="1300" b="1">
                            <a:latin typeface="Cambria Math"/>
                          </a:rPr>
                          <m:t>,</m:t>
                        </m:r>
                        <m:r>
                          <a:rPr lang="en-US" sz="1300" b="1" i="1">
                            <a:latin typeface="Cambria Math"/>
                          </a:rPr>
                          <m:t>𝐤</m:t>
                        </m:r>
                      </m:sub>
                    </m:sSub>
                    <m:r>
                      <a:rPr lang="en-US" sz="1300" b="1">
                        <a:latin typeface="Cambria Math"/>
                      </a:rPr>
                      <m:t>(</m:t>
                    </m:r>
                    <m:r>
                      <a:rPr lang="en-US" sz="1300" b="1" i="1">
                        <a:latin typeface="Cambria Math"/>
                      </a:rPr>
                      <m:t>𝐱</m:t>
                    </m:r>
                    <m:r>
                      <a:rPr lang="en-US" sz="1300" b="1">
                        <a:latin typeface="Cambria Math"/>
                      </a:rPr>
                      <m:t>,</m:t>
                    </m:r>
                    <m:r>
                      <a:rPr lang="en-US" sz="1300" b="1" i="1">
                        <a:latin typeface="Cambria Math"/>
                      </a:rPr>
                      <m:t>𝐲</m:t>
                    </m:r>
                    <m:r>
                      <a:rPr lang="en-US" sz="1300" b="1">
                        <a:latin typeface="Cambria Math"/>
                      </a:rPr>
                      <m:t>)</m:t>
                    </m:r>
                  </m:oMath>
                </a14:m>
                <a:r>
                  <a:rPr lang="en-US" sz="1350" b="1" dirty="0">
                    <a:solidFill>
                      <a:srgbClr val="222222"/>
                    </a:solidFill>
                    <a:latin typeface="Calibri" pitchFamily="34" charset="0"/>
                    <a:ea typeface="Calibri" pitchFamily="34" charset="-122"/>
                    <a:cs typeface="Calibri" pitchFamily="34" charset="-120"/>
                  </a:rPr>
                  <a:t> — value-at-risk priorities</a:t>
                </a:r>
                <a:endParaRPr lang="en-US" sz="1350" b="1" dirty="0"/>
              </a:p>
            </p:txBody>
          </p:sp>
        </mc:Choice>
        <mc:Fallback xmlns="">
          <p:sp>
            <p:nvSpPr>
              <p:cNvPr id="9" name="Text 4"/>
              <p:cNvSpPr>
                <a:spLocks noRot="1" noChangeAspect="1" noMove="1" noResize="1" noEditPoints="1" noAdjustHandles="1" noChangeArrowheads="1" noChangeShapeType="1" noTextEdit="1"/>
              </p:cNvSpPr>
              <p:nvPr/>
            </p:nvSpPr>
            <p:spPr>
              <a:xfrm>
                <a:off x="5981504" y="1828800"/>
                <a:ext cx="5806440" cy="292608"/>
              </a:xfrm>
              <a:prstGeom prst="rect">
                <a:avLst/>
              </a:prstGeom>
              <a:blipFill>
                <a:blip r:embed="rId7"/>
                <a:stretch>
                  <a:fillRect l="-944" b="-27083"/>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6"/>
              <p:cNvSpPr/>
              <p:nvPr/>
            </p:nvSpPr>
            <p:spPr>
              <a:xfrm>
                <a:off x="5943600" y="2136730"/>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a:latin typeface="Cambria Math"/>
                          </a:rPr>
                        </m:ctrlPr>
                      </m:sSubPr>
                      <m:e>
                        <m:r>
                          <a:rPr lang="en-US" sz="1300">
                            <a:latin typeface="Cambria Math"/>
                          </a:rPr>
                          <m:t>𝑈</m:t>
                        </m:r>
                      </m:e>
                      <m:sub>
                        <m:r>
                          <a:rPr lang="en-US" sz="1300">
                            <a:latin typeface="Cambria Math"/>
                          </a:rPr>
                          <m:t>𝑅𝑒𝑠</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resource pool</a:t>
                </a:r>
                <a:endParaRPr lang="en-US" sz="1350" dirty="0"/>
              </a:p>
            </p:txBody>
          </p:sp>
        </mc:Choice>
        <mc:Fallback xmlns="">
          <p:sp>
            <p:nvSpPr>
              <p:cNvPr id="11" name="Text 6"/>
              <p:cNvSpPr>
                <a:spLocks noRot="1" noChangeAspect="1" noMove="1" noResize="1" noEditPoints="1" noAdjustHandles="1" noChangeArrowheads="1" noChangeShapeType="1" noTextEdit="1"/>
              </p:cNvSpPr>
              <p:nvPr/>
            </p:nvSpPr>
            <p:spPr>
              <a:xfrm>
                <a:off x="5943600" y="2136730"/>
                <a:ext cx="5806440" cy="320040"/>
              </a:xfrm>
              <a:prstGeom prst="rect">
                <a:avLst/>
              </a:prstGeom>
              <a:blipFill>
                <a:blip r:embed="rId8"/>
                <a:stretch>
                  <a:fillRect l="-944" b="-17308"/>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graphicFrame>
            <p:nvGraphicFramePr>
              <p:cNvPr id="10" name="Table 9">
                <a:extLst>
                  <a:ext uri="{FF2B5EF4-FFF2-40B4-BE49-F238E27FC236}">
                    <a16:creationId xmlns:a16="http://schemas.microsoft.com/office/drawing/2014/main" id="{098AF497-9BAD-4DBD-9FCA-7A884A1A2873}"/>
                  </a:ext>
                </a:extLst>
              </p:cNvPr>
              <p:cNvGraphicFramePr>
                <a:graphicFrameLocks noGrp="1"/>
              </p:cNvGraphicFramePr>
              <p:nvPr>
                <p:extLst>
                  <p:ext uri="{D42A27DB-BD31-4B8C-83A1-F6EECF244321}">
                    <p14:modId xmlns:p14="http://schemas.microsoft.com/office/powerpoint/2010/main" val="4049951000"/>
                  </p:ext>
                </p:extLst>
              </p:nvPr>
            </p:nvGraphicFramePr>
            <p:xfrm>
              <a:off x="5752904" y="2567487"/>
              <a:ext cx="6187832" cy="3199751"/>
            </p:xfrm>
            <a:graphic>
              <a:graphicData uri="http://schemas.openxmlformats.org/drawingml/2006/table">
                <a:tbl>
                  <a:tblPr firstRow="1" firstCol="1" bandRow="1">
                    <a:tableStyleId>{93296810-A885-4BE3-A3E7-6D5BEEA58F35}</a:tableStyleId>
                  </a:tblPr>
                  <a:tblGrid>
                    <a:gridCol w="1624080">
                      <a:extLst>
                        <a:ext uri="{9D8B030D-6E8A-4147-A177-3AD203B41FA5}">
                          <a16:colId xmlns:a16="http://schemas.microsoft.com/office/drawing/2014/main" val="277425698"/>
                        </a:ext>
                      </a:extLst>
                    </a:gridCol>
                    <a:gridCol w="605481">
                      <a:extLst>
                        <a:ext uri="{9D8B030D-6E8A-4147-A177-3AD203B41FA5}">
                          <a16:colId xmlns:a16="http://schemas.microsoft.com/office/drawing/2014/main" val="2279409957"/>
                        </a:ext>
                      </a:extLst>
                    </a:gridCol>
                    <a:gridCol w="3958271">
                      <a:extLst>
                        <a:ext uri="{9D8B030D-6E8A-4147-A177-3AD203B41FA5}">
                          <a16:colId xmlns:a16="http://schemas.microsoft.com/office/drawing/2014/main" val="3088005188"/>
                        </a:ext>
                      </a:extLst>
                    </a:gridCol>
                  </a:tblGrid>
                  <a:tr h="192083">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rPr>
                            <a:t>Purpose in Simulation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3105288991"/>
                      </a:ext>
                    </a:extLst>
                  </a:tr>
                  <a:tr h="622190">
                    <a:tc>
                      <a:txBody>
                        <a:bodyPr/>
                        <a:lstStyle/>
                        <a:p>
                          <a:pPr algn="just">
                            <a:lnSpc>
                              <a:spcPct val="150000"/>
                            </a:lnSpc>
                          </a:pPr>
                          <a:r>
                            <a:rPr lang="en-US" sz="1200" dirty="0">
                              <a:effectLst/>
                            </a:rPr>
                            <a:t>Building Footprint</a:t>
                          </a:r>
                          <a:r>
                            <a:rPr lang="tr-TR" sz="1200" dirty="0">
                              <a:effectLst/>
                            </a:rPr>
                            <a:t> </a:t>
                          </a:r>
                        </a:p>
                        <a:p>
                          <a:pPr algn="just">
                            <a:lnSpc>
                              <a:spcPct val="150000"/>
                            </a:lnSpc>
                          </a:pPr>
                          <a14:m>
                            <m:oMathPara xmlns:m="http://schemas.openxmlformats.org/officeDocument/2006/math">
                              <m:o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𝑽</m:t>
                                    </m:r>
                                  </m:e>
                                  <m:sub>
                                    <m:r>
                                      <m:rPr>
                                        <m:nor/>
                                      </m:rPr>
                                      <a:rPr lang="en-US" sz="1200" i="0">
                                        <a:effectLst/>
                                      </a:rPr>
                                      <m:t>bld</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{0,1}</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latin typeface="Times New Roman" panose="02020603050405020304" pitchFamily="18" charset="0"/>
                              <a:ea typeface="Calibri" panose="020F0502020204030204" pitchFamily="34" charset="0"/>
                              <a:cs typeface="Arial" panose="020B0604020202020204" pitchFamily="34" charset="0"/>
                            </a:rPr>
                            <a:t>Residential or commercial structures; marks the wildland-urban interface</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4289072623"/>
                      </a:ext>
                    </a:extLst>
                  </a:tr>
                  <a:tr h="454433">
                    <a:tc>
                      <a:txBody>
                        <a:bodyPr/>
                        <a:lstStyle/>
                        <a:p>
                          <a:pPr algn="just">
                            <a:lnSpc>
                              <a:spcPct val="150000"/>
                            </a:lnSpc>
                          </a:pPr>
                          <a:r>
                            <a:rPr lang="en-US" sz="1200" dirty="0">
                              <a:effectLst/>
                            </a:rPr>
                            <a:t>Critical Facility Index </a:t>
                          </a:r>
                          <a:endParaRPr lang="tr-TR" sz="1200" dirty="0">
                            <a:effectLst/>
                          </a:endParaRPr>
                        </a:p>
                        <a:p>
                          <a:pPr algn="just">
                            <a:lnSpc>
                              <a:spcPct val="150000"/>
                            </a:lnSpc>
                          </a:pPr>
                          <a14:m>
                            <m:oMathPara xmlns:m="http://schemas.openxmlformats.org/officeDocument/2006/math">
                              <m:o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𝑽</m:t>
                                    </m:r>
                                  </m:e>
                                  <m:sub>
                                    <m:r>
                                      <m:rPr>
                                        <m:nor/>
                                      </m:rPr>
                                      <a:rPr lang="en-US" sz="1200" i="0">
                                        <a:effectLst/>
                                      </a:rPr>
                                      <m:t>crit</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{0,1}</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latin typeface="Times New Roman" panose="02020603050405020304" pitchFamily="18" charset="0"/>
                              <a:ea typeface="Calibri" panose="020F0502020204030204" pitchFamily="34" charset="0"/>
                              <a:cs typeface="Arial" panose="020B0604020202020204" pitchFamily="34" charset="0"/>
                            </a:rPr>
                            <a:t>Hospitals, power plants, fuel depots, water infrastructure</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361369388"/>
                      </a:ext>
                    </a:extLst>
                  </a:tr>
                  <a:tr h="466538">
                    <a:tc>
                      <a:txBody>
                        <a:bodyPr/>
                        <a:lstStyle/>
                        <a:p>
                          <a:pPr algn="just">
                            <a:lnSpc>
                              <a:spcPct val="150000"/>
                            </a:lnSpc>
                          </a:pPr>
                          <a:r>
                            <a:rPr lang="en-US" sz="1200" dirty="0">
                              <a:effectLst/>
                            </a:rPr>
                            <a:t>Population Density</a:t>
                          </a:r>
                          <a:endParaRPr lang="tr-TR" sz="1200" b="1" i="0" dirty="0">
                            <a:effectLst/>
                            <a:latin typeface="Cambria Math" panose="02040503050406030204" pitchFamily="18" charset="0"/>
                          </a:endParaRPr>
                        </a:p>
                        <a:p>
                          <a:pPr algn="just">
                            <a:lnSpc>
                              <a:spcPct val="150000"/>
                            </a:lnSpc>
                          </a:pPr>
                          <a14:m>
                            <m:oMathPara xmlns:m="http://schemas.openxmlformats.org/officeDocument/2006/math">
                              <m:oMath>
                                <m:r>
                                  <a:rPr lang="tr-TR" sz="1200" b="1" i="0" smtClean="0">
                                    <a:effectLst/>
                                    <a:latin typeface="Cambria Math" panose="02040503050406030204" pitchFamily="18" charset="0"/>
                                  </a:rPr>
                                  <m:t> </m:t>
                                </m:r>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𝑽</m:t>
                                    </m:r>
                                  </m:e>
                                  <m:sub>
                                    <m:r>
                                      <m:rPr>
                                        <m:nor/>
                                      </m:rPr>
                                      <a:rPr lang="en-US" sz="1200" i="0">
                                        <a:effectLst/>
                                      </a:rPr>
                                      <m:t>pop</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person/km²</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latin typeface="Times New Roman" panose="02020603050405020304" pitchFamily="18" charset="0"/>
                              <a:ea typeface="Calibri" panose="020F0502020204030204" pitchFamily="34" charset="0"/>
                              <a:cs typeface="Arial" panose="020B0604020202020204" pitchFamily="34" charset="0"/>
                            </a:rPr>
                            <a:t>Exposed population per cell; drives evacuation priority</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2764470451"/>
                      </a:ext>
                    </a:extLst>
                  </a:tr>
                  <a:tr h="594264">
                    <a:tc>
                      <a:txBody>
                        <a:bodyPr/>
                        <a:lstStyle/>
                        <a:p>
                          <a:pPr algn="just">
                            <a:lnSpc>
                              <a:spcPct val="150000"/>
                            </a:lnSpc>
                          </a:pPr>
                          <a:r>
                            <a:rPr lang="en-US" sz="1200" dirty="0">
                              <a:effectLst/>
                            </a:rPr>
                            <a:t>Access to Evacuation </a:t>
                          </a:r>
                          <a:endParaRPr lang="tr-TR" sz="1200" dirty="0">
                            <a:effectLst/>
                          </a:endParaRPr>
                        </a:p>
                        <a:p>
                          <a:pPr algn="just">
                            <a:lnSpc>
                              <a:spcPct val="150000"/>
                            </a:lnSpc>
                          </a:pPr>
                          <a14:m>
                            <m:oMathPara xmlns:m="http://schemas.openxmlformats.org/officeDocument/2006/math">
                              <m:o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𝑽</m:t>
                                    </m:r>
                                  </m:e>
                                  <m:sub>
                                    <m:r>
                                      <m:rPr>
                                        <m:nor/>
                                      </m:rPr>
                                      <a:rPr lang="en-US" sz="1200" i="0">
                                        <a:effectLst/>
                                      </a:rPr>
                                      <m:t>evac</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m</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tr-TR" sz="1200" dirty="0" err="1">
                              <a:effectLst/>
                              <a:latin typeface="Times New Roman" panose="02020603050405020304" pitchFamily="18" charset="0"/>
                              <a:ea typeface="Calibri" panose="020F0502020204030204" pitchFamily="34" charset="0"/>
                              <a:cs typeface="Arial" panose="020B0604020202020204" pitchFamily="34" charset="0"/>
                            </a:rPr>
                            <a:t>Proximity</a:t>
                          </a:r>
                          <a:r>
                            <a:rPr lang="tr-TR" sz="1200" dirty="0">
                              <a:effectLst/>
                              <a:latin typeface="Times New Roman" panose="02020603050405020304" pitchFamily="18" charset="0"/>
                              <a:ea typeface="Calibri" panose="020F0502020204030204" pitchFamily="34" charset="0"/>
                              <a:cs typeface="Arial" panose="020B0604020202020204" pitchFamily="34" charset="0"/>
                            </a:rPr>
                            <a:t> </a:t>
                          </a:r>
                          <a:r>
                            <a:rPr lang="tr-TR" sz="1200" dirty="0" err="1">
                              <a:effectLst/>
                              <a:latin typeface="Times New Roman" panose="02020603050405020304" pitchFamily="18" charset="0"/>
                              <a:ea typeface="Calibri" panose="020F0502020204030204" pitchFamily="34" charset="0"/>
                              <a:cs typeface="Arial" panose="020B0604020202020204" pitchFamily="34" charset="0"/>
                            </a:rPr>
                            <a:t>to</a:t>
                          </a:r>
                          <a:r>
                            <a:rPr lang="tr-TR" sz="1200" dirty="0">
                              <a:effectLst/>
                              <a:latin typeface="Times New Roman" panose="02020603050405020304" pitchFamily="18" charset="0"/>
                              <a:ea typeface="Calibri" panose="020F0502020204030204" pitchFamily="34" charset="0"/>
                              <a:cs typeface="Arial" panose="020B0604020202020204" pitchFamily="34" charset="0"/>
                            </a:rPr>
                            <a:t> </a:t>
                          </a:r>
                          <a:r>
                            <a:rPr lang="tr-TR" sz="1200" dirty="0" err="1">
                              <a:effectLst/>
                              <a:latin typeface="Times New Roman" panose="02020603050405020304" pitchFamily="18" charset="0"/>
                              <a:ea typeface="Calibri" panose="020F0502020204030204" pitchFamily="34" charset="0"/>
                              <a:cs typeface="Arial" panose="020B0604020202020204" pitchFamily="34" charset="0"/>
                            </a:rPr>
                            <a:t>evacuation</a:t>
                          </a:r>
                          <a:r>
                            <a:rPr lang="tr-TR" sz="1200" dirty="0">
                              <a:effectLst/>
                              <a:latin typeface="Times New Roman" panose="02020603050405020304" pitchFamily="18" charset="0"/>
                              <a:ea typeface="Calibri" panose="020F0502020204030204" pitchFamily="34" charset="0"/>
                              <a:cs typeface="Arial" panose="020B0604020202020204" pitchFamily="34" charset="0"/>
                            </a:rPr>
                            <a:t> </a:t>
                          </a:r>
                          <a:r>
                            <a:rPr lang="tr-TR" sz="1200" dirty="0" err="1">
                              <a:effectLst/>
                              <a:latin typeface="Times New Roman" panose="02020603050405020304" pitchFamily="18" charset="0"/>
                              <a:ea typeface="Calibri" panose="020F0502020204030204" pitchFamily="34" charset="0"/>
                              <a:cs typeface="Arial" panose="020B0604020202020204" pitchFamily="34" charset="0"/>
                            </a:rPr>
                            <a:t>infrastructure</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2028413603"/>
                      </a:ext>
                    </a:extLst>
                  </a:tr>
                  <a:tr h="479229">
                    <a:tc>
                      <a:txBody>
                        <a:bodyPr/>
                        <a:lstStyle/>
                        <a:p>
                          <a:pPr algn="just">
                            <a:lnSpc>
                              <a:spcPct val="150000"/>
                            </a:lnSpc>
                          </a:pPr>
                          <a:r>
                            <a:rPr lang="en-US" sz="1200" dirty="0">
                              <a:effectLst/>
                            </a:rPr>
                            <a:t>Protection Priority</a:t>
                          </a:r>
                          <a:endParaRPr lang="tr-TR" sz="1200" dirty="0">
                            <a:effectLst/>
                          </a:endParaRPr>
                        </a:p>
                        <a:p>
                          <a:pPr algn="just">
                            <a:lnSpc>
                              <a:spcPct val="150000"/>
                            </a:lnSpc>
                          </a:pPr>
                          <a14:m>
                            <m:oMathPara xmlns:m="http://schemas.openxmlformats.org/officeDocument/2006/math">
                              <m:oMath>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𝑽</m:t>
                                    </m:r>
                                  </m:e>
                                  <m:sub>
                                    <m:r>
                                      <m:rPr>
                                        <m:nor/>
                                      </m:rPr>
                                      <a:rPr lang="en-US" sz="1200" i="0">
                                        <a:effectLst/>
                                      </a:rPr>
                                      <m:t>prio</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rPr>
                            <a:t>–</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latin typeface="Times New Roman" panose="02020603050405020304" pitchFamily="18" charset="0"/>
                              <a:ea typeface="Calibri" panose="020F0502020204030204" pitchFamily="34" charset="0"/>
                              <a:cs typeface="Arial" panose="020B0604020202020204" pitchFamily="34" charset="0"/>
                            </a:rPr>
                            <a:t>Weighted combination of the above; ranks cells by importance</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3142714893"/>
                      </a:ext>
                    </a:extLst>
                  </a:tr>
                </a:tbl>
              </a:graphicData>
            </a:graphic>
          </p:graphicFrame>
        </mc:Choice>
        <mc:Fallback xmlns="">
          <p:graphicFrame>
            <p:nvGraphicFramePr>
              <p:cNvPr id="10" name="Table 9">
                <a:extLst>
                  <a:ext uri="{FF2B5EF4-FFF2-40B4-BE49-F238E27FC236}">
                    <a16:creationId xmlns:a16="http://schemas.microsoft.com/office/drawing/2014/main" id="{098AF497-9BAD-4DBD-9FCA-7A884A1A2873}"/>
                  </a:ext>
                </a:extLst>
              </p:cNvPr>
              <p:cNvGraphicFramePr>
                <a:graphicFrameLocks noGrp="1"/>
              </p:cNvGraphicFramePr>
              <p:nvPr>
                <p:extLst>
                  <p:ext uri="{D42A27DB-BD31-4B8C-83A1-F6EECF244321}">
                    <p14:modId xmlns:p14="http://schemas.microsoft.com/office/powerpoint/2010/main" val="4049951000"/>
                  </p:ext>
                </p:extLst>
              </p:nvPr>
            </p:nvGraphicFramePr>
            <p:xfrm>
              <a:off x="5752904" y="2567487"/>
              <a:ext cx="6187832" cy="3199751"/>
            </p:xfrm>
            <a:graphic>
              <a:graphicData uri="http://schemas.openxmlformats.org/drawingml/2006/table">
                <a:tbl>
                  <a:tblPr firstRow="1" firstCol="1" bandRow="1">
                    <a:tableStyleId>{93296810-A885-4BE3-A3E7-6D5BEEA58F35}</a:tableStyleId>
                  </a:tblPr>
                  <a:tblGrid>
                    <a:gridCol w="1624080">
                      <a:extLst>
                        <a:ext uri="{9D8B030D-6E8A-4147-A177-3AD203B41FA5}">
                          <a16:colId xmlns:a16="http://schemas.microsoft.com/office/drawing/2014/main" val="277425698"/>
                        </a:ext>
                      </a:extLst>
                    </a:gridCol>
                    <a:gridCol w="605481">
                      <a:extLst>
                        <a:ext uri="{9D8B030D-6E8A-4147-A177-3AD203B41FA5}">
                          <a16:colId xmlns:a16="http://schemas.microsoft.com/office/drawing/2014/main" val="2279409957"/>
                        </a:ext>
                      </a:extLst>
                    </a:gridCol>
                    <a:gridCol w="3958271">
                      <a:extLst>
                        <a:ext uri="{9D8B030D-6E8A-4147-A177-3AD203B41FA5}">
                          <a16:colId xmlns:a16="http://schemas.microsoft.com/office/drawing/2014/main" val="3088005188"/>
                        </a:ext>
                      </a:extLst>
                    </a:gridCol>
                  </a:tblGrid>
                  <a:tr h="245047">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rPr>
                            <a:t>Purpose in Simulation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3105288991"/>
                      </a:ext>
                    </a:extLst>
                  </a:tr>
                  <a:tr h="622190">
                    <a:tc>
                      <a:txBody>
                        <a:bodyPr/>
                        <a:lstStyle/>
                        <a:p>
                          <a:endParaRPr lang="tr-TR"/>
                        </a:p>
                      </a:txBody>
                      <a:tcPr marL="62697" marR="62697" marT="0" marB="0">
                        <a:blipFill>
                          <a:blip r:embed="rId9"/>
                          <a:stretch>
                            <a:fillRect l="-375" t="-39806" r="-282022" b="-377670"/>
                          </a:stretch>
                        </a:blipFill>
                      </a:tcPr>
                    </a:tc>
                    <a:tc>
                      <a:txBody>
                        <a:bodyPr/>
                        <a:lstStyle/>
                        <a:p>
                          <a:pPr algn="just">
                            <a:lnSpc>
                              <a:spcPct val="150000"/>
                            </a:lnSpc>
                          </a:pPr>
                          <a:r>
                            <a:rPr lang="en-US" sz="1200">
                              <a:effectLst/>
                            </a:rPr>
                            <a:t>{0,1}</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latin typeface="Times New Roman" panose="02020603050405020304" pitchFamily="18" charset="0"/>
                              <a:ea typeface="Calibri" panose="020F0502020204030204" pitchFamily="34" charset="0"/>
                              <a:cs typeface="Arial" panose="020B0604020202020204" pitchFamily="34" charset="0"/>
                            </a:rPr>
                            <a:t>Residential or commercial structures; marks the wildland-urban interface</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4289072623"/>
                      </a:ext>
                    </a:extLst>
                  </a:tr>
                  <a:tr h="560769">
                    <a:tc>
                      <a:txBody>
                        <a:bodyPr/>
                        <a:lstStyle/>
                        <a:p>
                          <a:endParaRPr lang="tr-TR"/>
                        </a:p>
                      </a:txBody>
                      <a:tcPr marL="62697" marR="62697" marT="0" marB="0">
                        <a:blipFill>
                          <a:blip r:embed="rId9"/>
                          <a:stretch>
                            <a:fillRect l="-375" t="-156522" r="-282022" b="-322826"/>
                          </a:stretch>
                        </a:blipFill>
                      </a:tcPr>
                    </a:tc>
                    <a:tc>
                      <a:txBody>
                        <a:bodyPr/>
                        <a:lstStyle/>
                        <a:p>
                          <a:pPr algn="just">
                            <a:lnSpc>
                              <a:spcPct val="150000"/>
                            </a:lnSpc>
                          </a:pPr>
                          <a:r>
                            <a:rPr lang="en-US" sz="1200">
                              <a:effectLst/>
                            </a:rPr>
                            <a:t>{0,1}</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latin typeface="Times New Roman" panose="02020603050405020304" pitchFamily="18" charset="0"/>
                              <a:ea typeface="Calibri" panose="020F0502020204030204" pitchFamily="34" charset="0"/>
                              <a:cs typeface="Arial" panose="020B0604020202020204" pitchFamily="34" charset="0"/>
                            </a:rPr>
                            <a:t>Hospitals, power plants, fuel depots, water infrastructure</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361369388"/>
                      </a:ext>
                    </a:extLst>
                  </a:tr>
                  <a:tr h="578739">
                    <a:tc>
                      <a:txBody>
                        <a:bodyPr/>
                        <a:lstStyle/>
                        <a:p>
                          <a:endParaRPr lang="tr-TR"/>
                        </a:p>
                      </a:txBody>
                      <a:tcPr marL="62697" marR="62697" marT="0" marB="0">
                        <a:blipFill>
                          <a:blip r:embed="rId9"/>
                          <a:stretch>
                            <a:fillRect l="-375" t="-248421" r="-282022" b="-212632"/>
                          </a:stretch>
                        </a:blipFill>
                      </a:tcPr>
                    </a:tc>
                    <a:tc>
                      <a:txBody>
                        <a:bodyPr/>
                        <a:lstStyle/>
                        <a:p>
                          <a:pPr algn="just">
                            <a:lnSpc>
                              <a:spcPct val="150000"/>
                            </a:lnSpc>
                          </a:pPr>
                          <a:r>
                            <a:rPr lang="en-US" sz="1200">
                              <a:effectLst/>
                            </a:rPr>
                            <a:t>person/km²</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latin typeface="Times New Roman" panose="02020603050405020304" pitchFamily="18" charset="0"/>
                              <a:ea typeface="Calibri" panose="020F0502020204030204" pitchFamily="34" charset="0"/>
                              <a:cs typeface="Arial" panose="020B0604020202020204" pitchFamily="34" charset="0"/>
                            </a:rPr>
                            <a:t>Exposed population per cell; drives evacuation priority</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2764470451"/>
                      </a:ext>
                    </a:extLst>
                  </a:tr>
                  <a:tr h="594264">
                    <a:tc>
                      <a:txBody>
                        <a:bodyPr/>
                        <a:lstStyle/>
                        <a:p>
                          <a:endParaRPr lang="tr-TR"/>
                        </a:p>
                      </a:txBody>
                      <a:tcPr marL="62697" marR="62697" marT="0" marB="0">
                        <a:blipFill>
                          <a:blip r:embed="rId9"/>
                          <a:stretch>
                            <a:fillRect l="-375" t="-337755" r="-282022" b="-106122"/>
                          </a:stretch>
                        </a:blipFill>
                      </a:tcPr>
                    </a:tc>
                    <a:tc>
                      <a:txBody>
                        <a:bodyPr/>
                        <a:lstStyle/>
                        <a:p>
                          <a:pPr algn="just">
                            <a:lnSpc>
                              <a:spcPct val="150000"/>
                            </a:lnSpc>
                          </a:pPr>
                          <a:r>
                            <a:rPr lang="en-US" sz="1200">
                              <a:effectLst/>
                            </a:rPr>
                            <a:t>m</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tr-TR" sz="1200" dirty="0" err="1">
                              <a:effectLst/>
                              <a:latin typeface="Times New Roman" panose="02020603050405020304" pitchFamily="18" charset="0"/>
                              <a:ea typeface="Calibri" panose="020F0502020204030204" pitchFamily="34" charset="0"/>
                              <a:cs typeface="Arial" panose="020B0604020202020204" pitchFamily="34" charset="0"/>
                            </a:rPr>
                            <a:t>Proximity</a:t>
                          </a:r>
                          <a:r>
                            <a:rPr lang="tr-TR" sz="1200" dirty="0">
                              <a:effectLst/>
                              <a:latin typeface="Times New Roman" panose="02020603050405020304" pitchFamily="18" charset="0"/>
                              <a:ea typeface="Calibri" panose="020F0502020204030204" pitchFamily="34" charset="0"/>
                              <a:cs typeface="Arial" panose="020B0604020202020204" pitchFamily="34" charset="0"/>
                            </a:rPr>
                            <a:t> </a:t>
                          </a:r>
                          <a:r>
                            <a:rPr lang="tr-TR" sz="1200" dirty="0" err="1">
                              <a:effectLst/>
                              <a:latin typeface="Times New Roman" panose="02020603050405020304" pitchFamily="18" charset="0"/>
                              <a:ea typeface="Calibri" panose="020F0502020204030204" pitchFamily="34" charset="0"/>
                              <a:cs typeface="Arial" panose="020B0604020202020204" pitchFamily="34" charset="0"/>
                            </a:rPr>
                            <a:t>to</a:t>
                          </a:r>
                          <a:r>
                            <a:rPr lang="tr-TR" sz="1200" dirty="0">
                              <a:effectLst/>
                              <a:latin typeface="Times New Roman" panose="02020603050405020304" pitchFamily="18" charset="0"/>
                              <a:ea typeface="Calibri" panose="020F0502020204030204" pitchFamily="34" charset="0"/>
                              <a:cs typeface="Arial" panose="020B0604020202020204" pitchFamily="34" charset="0"/>
                            </a:rPr>
                            <a:t> </a:t>
                          </a:r>
                          <a:r>
                            <a:rPr lang="tr-TR" sz="1200" dirty="0" err="1">
                              <a:effectLst/>
                              <a:latin typeface="Times New Roman" panose="02020603050405020304" pitchFamily="18" charset="0"/>
                              <a:ea typeface="Calibri" panose="020F0502020204030204" pitchFamily="34" charset="0"/>
                              <a:cs typeface="Arial" panose="020B0604020202020204" pitchFamily="34" charset="0"/>
                            </a:rPr>
                            <a:t>evacuation</a:t>
                          </a:r>
                          <a:r>
                            <a:rPr lang="tr-TR" sz="1200" dirty="0">
                              <a:effectLst/>
                              <a:latin typeface="Times New Roman" panose="02020603050405020304" pitchFamily="18" charset="0"/>
                              <a:ea typeface="Calibri" panose="020F0502020204030204" pitchFamily="34" charset="0"/>
                              <a:cs typeface="Arial" panose="020B0604020202020204" pitchFamily="34" charset="0"/>
                            </a:rPr>
                            <a:t> </a:t>
                          </a:r>
                          <a:r>
                            <a:rPr lang="tr-TR" sz="1200" dirty="0" err="1">
                              <a:effectLst/>
                              <a:latin typeface="Times New Roman" panose="02020603050405020304" pitchFamily="18" charset="0"/>
                              <a:ea typeface="Calibri" panose="020F0502020204030204" pitchFamily="34" charset="0"/>
                              <a:cs typeface="Arial" panose="020B0604020202020204" pitchFamily="34" charset="0"/>
                            </a:rPr>
                            <a:t>infrastructure</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2028413603"/>
                      </a:ext>
                    </a:extLst>
                  </a:tr>
                  <a:tr h="598742">
                    <a:tc>
                      <a:txBody>
                        <a:bodyPr/>
                        <a:lstStyle/>
                        <a:p>
                          <a:endParaRPr lang="tr-TR"/>
                        </a:p>
                      </a:txBody>
                      <a:tcPr marL="62697" marR="62697" marT="0" marB="0">
                        <a:blipFill>
                          <a:blip r:embed="rId9"/>
                          <a:stretch>
                            <a:fillRect l="-375" t="-437755" r="-282022" b="-6122"/>
                          </a:stretch>
                        </a:blipFill>
                      </a:tcPr>
                    </a:tc>
                    <a:tc>
                      <a:txBody>
                        <a:bodyPr/>
                        <a:lstStyle/>
                        <a:p>
                          <a:pPr algn="just">
                            <a:lnSpc>
                              <a:spcPct val="150000"/>
                            </a:lnSpc>
                          </a:pPr>
                          <a:r>
                            <a:rPr lang="en-US" sz="1200" dirty="0">
                              <a:effectLst/>
                            </a:rPr>
                            <a:t>–</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latin typeface="Times New Roman" panose="02020603050405020304" pitchFamily="18" charset="0"/>
                              <a:ea typeface="Calibri" panose="020F0502020204030204" pitchFamily="34" charset="0"/>
                              <a:cs typeface="Arial" panose="020B0604020202020204" pitchFamily="34" charset="0"/>
                            </a:rPr>
                            <a:t>Weighted combination of the above; ranks cells by importance</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3142714893"/>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28030C30-86CC-4B35-ACF5-CB70621AC381}"/>
                  </a:ext>
                </a:extLst>
              </p:cNvPr>
              <p:cNvSpPr txBox="1"/>
              <p:nvPr/>
            </p:nvSpPr>
            <p:spPr>
              <a:xfrm>
                <a:off x="5752901" y="5882456"/>
                <a:ext cx="6187833" cy="347724"/>
              </a:xfrm>
              <a:prstGeom prst="rect">
                <a:avLst/>
              </a:prstGeom>
              <a:noFill/>
            </p:spPr>
            <p:txBody>
              <a:bodyPr wrap="square">
                <a:spAutoFit/>
              </a:bodyPr>
              <a:lstStyle/>
              <a:p>
                <a:pPr marL="0" indent="0" algn="ctr">
                  <a:buNone/>
                </a:pPr>
                <a14:m>
                  <m:oMathPara xmlns:m="http://schemas.openxmlformats.org/officeDocument/2006/math">
                    <m:oMath>
                      <m:sSub>
                        <m:sSubPr>
                          <m:ctrlPr>
                            <a:rPr lang="en-US" sz="1400" b="1" i="1">
                              <a:latin typeface="Cambria Math"/>
                            </a:rPr>
                          </m:ctrlPr>
                        </m:sSubPr>
                        <m:e>
                          <m:r>
                            <a:rPr lang="en-US" sz="1400" b="1" i="1">
                              <a:latin typeface="Cambria Math"/>
                            </a:rPr>
                            <m:t>𝐕</m:t>
                          </m:r>
                        </m:e>
                        <m:sub>
                          <m:r>
                            <a:rPr lang="en-US" sz="1400" b="1" i="1">
                              <a:latin typeface="Cambria Math"/>
                            </a:rPr>
                            <m:t>𝐩𝐫𝐢𝐨</m:t>
                          </m:r>
                        </m:sub>
                      </m:sSub>
                      <m:r>
                        <a:rPr lang="en-US" sz="1400" b="1">
                          <a:latin typeface="Cambria Math"/>
                        </a:rPr>
                        <m:t> = </m:t>
                      </m:r>
                      <m:sSub>
                        <m:sSubPr>
                          <m:ctrlPr>
                            <a:rPr lang="en-US" sz="1400" b="1" i="1">
                              <a:latin typeface="Cambria Math"/>
                            </a:rPr>
                          </m:ctrlPr>
                        </m:sSubPr>
                        <m:e>
                          <m:r>
                            <a:rPr lang="en-US" sz="1400" b="1" i="1">
                              <a:latin typeface="Cambria Math"/>
                            </a:rPr>
                            <m:t>𝐰</m:t>
                          </m:r>
                        </m:e>
                        <m:sub>
                          <m:r>
                            <a:rPr lang="en-US" sz="1400" b="1" i="1">
                              <a:latin typeface="Cambria Math"/>
                            </a:rPr>
                            <m:t>𝐛𝐥𝐝</m:t>
                          </m:r>
                        </m:sub>
                      </m:sSub>
                      <m:r>
                        <a:rPr lang="en-US" sz="1400" b="1">
                          <a:latin typeface="Cambria Math"/>
                        </a:rPr>
                        <m:t> · </m:t>
                      </m:r>
                      <m:sSub>
                        <m:sSubPr>
                          <m:ctrlPr>
                            <a:rPr lang="en-US" sz="1400" b="1" i="1">
                              <a:latin typeface="Cambria Math"/>
                            </a:rPr>
                          </m:ctrlPr>
                        </m:sSubPr>
                        <m:e>
                          <m:r>
                            <a:rPr lang="en-US" sz="1400" b="1" i="1">
                              <a:latin typeface="Cambria Math"/>
                            </a:rPr>
                            <m:t>𝐕</m:t>
                          </m:r>
                        </m:e>
                        <m:sub>
                          <m:r>
                            <a:rPr lang="en-US" sz="1400" b="1" i="1">
                              <a:latin typeface="Cambria Math"/>
                            </a:rPr>
                            <m:t>𝐛𝐥𝐝</m:t>
                          </m:r>
                        </m:sub>
                      </m:sSub>
                      <m:r>
                        <a:rPr lang="en-US" sz="1400" b="1">
                          <a:latin typeface="Cambria Math"/>
                        </a:rPr>
                        <m:t> + </m:t>
                      </m:r>
                      <m:sSub>
                        <m:sSubPr>
                          <m:ctrlPr>
                            <a:rPr lang="en-US" sz="1400" b="1" i="1">
                              <a:latin typeface="Cambria Math"/>
                            </a:rPr>
                          </m:ctrlPr>
                        </m:sSubPr>
                        <m:e>
                          <m:r>
                            <a:rPr lang="en-US" sz="1400" b="1" i="1">
                              <a:latin typeface="Cambria Math"/>
                            </a:rPr>
                            <m:t>𝐰</m:t>
                          </m:r>
                        </m:e>
                        <m:sub>
                          <m:r>
                            <a:rPr lang="en-US" sz="1400" b="1" i="1">
                              <a:latin typeface="Cambria Math"/>
                            </a:rPr>
                            <m:t>𝐜𝐫𝐢𝐭</m:t>
                          </m:r>
                        </m:sub>
                      </m:sSub>
                      <m:r>
                        <a:rPr lang="en-US" sz="1400" b="1">
                          <a:latin typeface="Cambria Math"/>
                        </a:rPr>
                        <m:t> · </m:t>
                      </m:r>
                      <m:sSub>
                        <m:sSubPr>
                          <m:ctrlPr>
                            <a:rPr lang="en-US" sz="1400" b="1" i="1">
                              <a:latin typeface="Cambria Math"/>
                            </a:rPr>
                          </m:ctrlPr>
                        </m:sSubPr>
                        <m:e>
                          <m:r>
                            <a:rPr lang="en-US" sz="1400" b="1" i="1">
                              <a:latin typeface="Cambria Math"/>
                            </a:rPr>
                            <m:t>𝐕</m:t>
                          </m:r>
                        </m:e>
                        <m:sub>
                          <m:r>
                            <a:rPr lang="en-US" sz="1400" b="1" i="1">
                              <a:latin typeface="Cambria Math"/>
                            </a:rPr>
                            <m:t>𝐜𝐫𝐢𝐭</m:t>
                          </m:r>
                        </m:sub>
                      </m:sSub>
                      <m:r>
                        <a:rPr lang="en-US" sz="1400" b="1">
                          <a:latin typeface="Cambria Math"/>
                        </a:rPr>
                        <m:t> + </m:t>
                      </m:r>
                      <m:sSub>
                        <m:sSubPr>
                          <m:ctrlPr>
                            <a:rPr lang="en-US" sz="1400" b="1" i="1">
                              <a:latin typeface="Cambria Math"/>
                            </a:rPr>
                          </m:ctrlPr>
                        </m:sSubPr>
                        <m:e>
                          <m:r>
                            <a:rPr lang="en-US" sz="1400" b="1" i="1">
                              <a:latin typeface="Cambria Math"/>
                            </a:rPr>
                            <m:t>𝐰</m:t>
                          </m:r>
                        </m:e>
                        <m:sub>
                          <m:r>
                            <a:rPr lang="en-US" sz="1400" b="1" i="1">
                              <a:latin typeface="Cambria Math"/>
                            </a:rPr>
                            <m:t>𝐩𝐨𝐩</m:t>
                          </m:r>
                        </m:sub>
                      </m:sSub>
                      <m:r>
                        <a:rPr lang="en-US" sz="1400" b="1">
                          <a:latin typeface="Cambria Math"/>
                        </a:rPr>
                        <m:t> · </m:t>
                      </m:r>
                      <m:sSubSup>
                        <m:sSubSupPr>
                          <m:ctrlPr>
                            <a:rPr lang="en-US" sz="1400" b="1" i="1">
                              <a:latin typeface="Cambria Math"/>
                            </a:rPr>
                          </m:ctrlPr>
                        </m:sSubSupPr>
                        <m:e>
                          <m:r>
                            <a:rPr lang="en-US" sz="1400" b="1" i="1">
                              <a:latin typeface="Cambria Math"/>
                            </a:rPr>
                            <m:t>𝐕</m:t>
                          </m:r>
                        </m:e>
                        <m:sub>
                          <m:r>
                            <a:rPr lang="en-US" sz="1400" b="1" i="1">
                              <a:latin typeface="Cambria Math"/>
                            </a:rPr>
                            <m:t>𝐩𝐨𝐩</m:t>
                          </m:r>
                        </m:sub>
                        <m:sup/>
                      </m:sSubSup>
                      <m:r>
                        <a:rPr lang="en-US" sz="1400" b="1">
                          <a:latin typeface="Cambria Math"/>
                        </a:rPr>
                        <m:t> + </m:t>
                      </m:r>
                      <m:sSub>
                        <m:sSubPr>
                          <m:ctrlPr>
                            <a:rPr lang="en-US" sz="1400" b="1" i="1">
                              <a:latin typeface="Cambria Math"/>
                            </a:rPr>
                          </m:ctrlPr>
                        </m:sSubPr>
                        <m:e>
                          <m:r>
                            <a:rPr lang="en-US" sz="1400" b="1" i="1">
                              <a:latin typeface="Cambria Math"/>
                            </a:rPr>
                            <m:t>𝐰</m:t>
                          </m:r>
                        </m:e>
                        <m:sub>
                          <m:r>
                            <a:rPr lang="en-US" sz="1400" b="1" i="1">
                              <a:latin typeface="Cambria Math"/>
                            </a:rPr>
                            <m:t>𝐞𝐯𝐚𝐜</m:t>
                          </m:r>
                        </m:sub>
                      </m:sSub>
                      <m:r>
                        <a:rPr lang="en-US" sz="1400" b="1">
                          <a:latin typeface="Cambria Math"/>
                        </a:rPr>
                        <m:t> · </m:t>
                      </m:r>
                      <m:sSubSup>
                        <m:sSubSupPr>
                          <m:ctrlPr>
                            <a:rPr lang="en-US" sz="1400" b="1" i="1">
                              <a:latin typeface="Cambria Math"/>
                            </a:rPr>
                          </m:ctrlPr>
                        </m:sSubSupPr>
                        <m:e>
                          <m:r>
                            <a:rPr lang="en-US" sz="1400" b="1" i="1">
                              <a:latin typeface="Cambria Math"/>
                            </a:rPr>
                            <m:t>𝐕</m:t>
                          </m:r>
                        </m:e>
                        <m:sub>
                          <m:r>
                            <a:rPr lang="en-US" sz="1400" b="1" i="1">
                              <a:latin typeface="Cambria Math"/>
                            </a:rPr>
                            <m:t>𝐞𝐯𝐚𝐜</m:t>
                          </m:r>
                        </m:sub>
                        <m:sup/>
                      </m:sSubSup>
                    </m:oMath>
                  </m:oMathPara>
                </a14:m>
                <a:endParaRPr lang="en-US" sz="1400" b="1" dirty="0"/>
              </a:p>
            </p:txBody>
          </p:sp>
        </mc:Choice>
        <mc:Fallback xmlns="">
          <p:sp>
            <p:nvSpPr>
              <p:cNvPr id="13" name="TextBox 12">
                <a:extLst>
                  <a:ext uri="{FF2B5EF4-FFF2-40B4-BE49-F238E27FC236}">
                    <a16:creationId xmlns:a16="http://schemas.microsoft.com/office/drawing/2014/main" id="{28030C30-86CC-4B35-ACF5-CB70621AC381}"/>
                  </a:ext>
                </a:extLst>
              </p:cNvPr>
              <p:cNvSpPr txBox="1">
                <a:spLocks noRot="1" noChangeAspect="1" noMove="1" noResize="1" noEditPoints="1" noAdjustHandles="1" noChangeArrowheads="1" noChangeShapeType="1" noTextEdit="1"/>
              </p:cNvSpPr>
              <p:nvPr/>
            </p:nvSpPr>
            <p:spPr>
              <a:xfrm>
                <a:off x="5752901" y="5882456"/>
                <a:ext cx="6187833" cy="347724"/>
              </a:xfrm>
              <a:prstGeom prst="rect">
                <a:avLst/>
              </a:prstGeom>
              <a:blipFill>
                <a:blip r:embed="rId10"/>
                <a:stretch>
                  <a:fillRect b="-3509"/>
                </a:stretch>
              </a:blipFill>
            </p:spPr>
            <p:txBody>
              <a:bodyPr/>
              <a:lstStyle/>
              <a:p>
                <a:r>
                  <a:rPr lang="tr-TR">
                    <a:noFill/>
                  </a:rPr>
                  <a:t> </a:t>
                </a:r>
              </a:p>
            </p:txBody>
          </p:sp>
        </mc:Fallback>
      </mc:AlternateContent>
    </p:spTree>
    <p:extLst>
      <p:ext uri="{BB962C8B-B14F-4D97-AF65-F5344CB8AC3E}">
        <p14:creationId xmlns:p14="http://schemas.microsoft.com/office/powerpoint/2010/main" val="760329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tr-TR" sz="2700" b="1" dirty="0">
                <a:solidFill>
                  <a:srgbClr val="000000"/>
                </a:solidFill>
                <a:latin typeface="Cambria" pitchFamily="34" charset="0"/>
                <a:ea typeface="Cambria" pitchFamily="34" charset="-122"/>
                <a:cs typeface="Cambria" pitchFamily="34" charset="-120"/>
              </a:rPr>
              <a:t>DSS – </a:t>
            </a:r>
            <a:r>
              <a:rPr lang="tr-TR" sz="2700" b="1" dirty="0" err="1">
                <a:solidFill>
                  <a:srgbClr val="000000"/>
                </a:solidFill>
                <a:latin typeface="Cambria" pitchFamily="34" charset="0"/>
                <a:ea typeface="Cambria" pitchFamily="34" charset="-122"/>
                <a:cs typeface="Cambria" pitchFamily="34" charset="-120"/>
              </a:rPr>
              <a:t>Input</a:t>
            </a:r>
            <a:r>
              <a:rPr lang="tr-TR" sz="2700" b="1" dirty="0">
                <a:solidFill>
                  <a:srgbClr val="000000"/>
                </a:solidFill>
                <a:latin typeface="Cambria" pitchFamily="34" charset="0"/>
                <a:ea typeface="Cambria" pitchFamily="34" charset="-122"/>
                <a:cs typeface="Cambria" pitchFamily="34" charset="-120"/>
              </a:rPr>
              <a:t> </a:t>
            </a:r>
            <a:r>
              <a:rPr lang="tr-TR" sz="2700" b="1" dirty="0" err="1">
                <a:solidFill>
                  <a:srgbClr val="000000"/>
                </a:solidFill>
                <a:latin typeface="Cambria" pitchFamily="34" charset="0"/>
                <a:ea typeface="Cambria" pitchFamily="34" charset="-122"/>
                <a:cs typeface="Cambria" pitchFamily="34" charset="-120"/>
              </a:rPr>
              <a:t>Field</a:t>
            </a:r>
            <a:r>
              <a:rPr lang="tr-TR" sz="2700" b="1" dirty="0">
                <a:solidFill>
                  <a:srgbClr val="000000"/>
                </a:solidFill>
                <a:latin typeface="Cambria" pitchFamily="34" charset="0"/>
                <a:ea typeface="Cambria" pitchFamily="34" charset="-122"/>
                <a:cs typeface="Cambria" pitchFamily="34" charset="-120"/>
              </a:rPr>
              <a:t> </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p:sp>
        <p:nvSpPr>
          <p:cNvPr id="7" name="Text 2"/>
          <p:cNvSpPr/>
          <p:nvPr/>
        </p:nvSpPr>
        <p:spPr>
          <a:xfrm>
            <a:off x="5829300" y="1097280"/>
            <a:ext cx="6035040" cy="320040"/>
          </a:xfrm>
          <a:prstGeom prst="rect">
            <a:avLst/>
          </a:prstGeom>
          <a:noFill/>
          <a:ln/>
        </p:spPr>
        <p:txBody>
          <a:bodyPr wrap="square" lIns="0" tIns="0" rIns="0" bIns="0" rtlCol="0" anchor="t"/>
          <a:lstStyle/>
          <a:p>
            <a:pPr marL="0" indent="0" algn="just">
              <a:lnSpc>
                <a:spcPct val="104000"/>
              </a:lnSpc>
              <a:buNone/>
            </a:pPr>
            <a:r>
              <a:rPr lang="en-US" sz="1500" b="1" dirty="0">
                <a:solidFill>
                  <a:srgbClr val="222222"/>
                </a:solidFill>
                <a:latin typeface="Calibri" pitchFamily="34" charset="0"/>
                <a:ea typeface="Calibri" pitchFamily="34" charset="-122"/>
                <a:cs typeface="Calibri" pitchFamily="34" charset="-120"/>
              </a:rPr>
              <a:t>• Decisional context, read only by the DSS (invisible to the fire physics):</a:t>
            </a:r>
            <a:endParaRPr lang="en-US" sz="1500" dirty="0"/>
          </a:p>
        </p:txBody>
      </p:sp>
      <mc:AlternateContent xmlns:mc="http://schemas.openxmlformats.org/markup-compatibility/2006" xmlns:a14="http://schemas.microsoft.com/office/drawing/2010/main">
        <mc:Choice Requires="a14">
          <p:sp>
            <p:nvSpPr>
              <p:cNvPr id="8" name="Text 3"/>
              <p:cNvSpPr/>
              <p:nvPr/>
            </p:nvSpPr>
            <p:spPr>
              <a:xfrm>
                <a:off x="5752904" y="1380744"/>
                <a:ext cx="6035040" cy="384048"/>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500">
                              <a:latin typeface="Cambria Math"/>
                            </a:rPr>
                          </m:ctrlPr>
                        </m:sSubPr>
                        <m:e>
                          <m:r>
                            <a:rPr lang="en-US" sz="1500">
                              <a:latin typeface="Cambria Math"/>
                            </a:rPr>
                            <m:t>ℱ</m:t>
                          </m:r>
                        </m:e>
                        <m:sub>
                          <m:r>
                            <a:rPr lang="en-US" sz="1500">
                              <a:latin typeface="Cambria Math"/>
                            </a:rPr>
                            <m:t>𝐷𝑆𝑆</m:t>
                          </m:r>
                          <m:r>
                            <a:rPr lang="en-US" sz="1500">
                              <a:latin typeface="Cambria Math"/>
                            </a:rPr>
                            <m:t>,</m:t>
                          </m:r>
                          <m:r>
                            <a:rPr lang="en-US" sz="1500">
                              <a:latin typeface="Cambria Math"/>
                            </a:rPr>
                            <m:t>𝑘</m:t>
                          </m:r>
                        </m:sub>
                      </m:sSub>
                      <m:r>
                        <a:rPr lang="en-US" sz="1500">
                          <a:latin typeface="Cambria Math"/>
                        </a:rPr>
                        <m:t>={</m:t>
                      </m:r>
                      <m:sSub>
                        <m:sSubPr>
                          <m:ctrlPr>
                            <a:rPr lang="en-US" sz="1500">
                              <a:latin typeface="Cambria Math"/>
                            </a:rPr>
                          </m:ctrlPr>
                        </m:sSubPr>
                        <m:e>
                          <m:r>
                            <a:rPr lang="en-US" sz="1500">
                              <a:latin typeface="Cambria Math"/>
                            </a:rPr>
                            <m:t>𝑈</m:t>
                          </m:r>
                        </m:e>
                        <m:sub>
                          <m:r>
                            <a:rPr lang="en-US" sz="1500">
                              <a:latin typeface="Cambria Math"/>
                            </a:rPr>
                            <m:t>𝑉𝑎𝑙</m:t>
                          </m:r>
                          <m:r>
                            <a:rPr lang="en-US" sz="1500">
                              <a:latin typeface="Cambria Math"/>
                            </a:rPr>
                            <m:t>,</m:t>
                          </m:r>
                          <m:r>
                            <a:rPr lang="en-US" sz="1500">
                              <a:latin typeface="Cambria Math"/>
                            </a:rPr>
                            <m:t>𝑘</m:t>
                          </m:r>
                        </m:sub>
                      </m:sSub>
                      <m:r>
                        <a:rPr lang="en-US" sz="1500">
                          <a:latin typeface="Cambria Math"/>
                        </a:rPr>
                        <m:t>, </m:t>
                      </m:r>
                      <m:sSub>
                        <m:sSubPr>
                          <m:ctrlPr>
                            <a:rPr lang="en-US" sz="1500" b="1" i="1">
                              <a:latin typeface="Cambria Math"/>
                            </a:rPr>
                          </m:ctrlPr>
                        </m:sSubPr>
                        <m:e>
                          <m:r>
                            <a:rPr lang="en-US" sz="1500" b="1" i="1">
                              <a:latin typeface="Cambria Math"/>
                            </a:rPr>
                            <m:t>𝐔</m:t>
                          </m:r>
                        </m:e>
                        <m:sub>
                          <m:r>
                            <a:rPr lang="en-US" sz="1500" b="1" i="1">
                              <a:latin typeface="Cambria Math"/>
                            </a:rPr>
                            <m:t>𝐑𝐞𝐬</m:t>
                          </m:r>
                          <m:r>
                            <a:rPr lang="en-US" sz="1500" b="1">
                              <a:latin typeface="Cambria Math"/>
                            </a:rPr>
                            <m:t>,</m:t>
                          </m:r>
                          <m:r>
                            <a:rPr lang="en-US" sz="1500" b="1" i="1">
                              <a:latin typeface="Cambria Math"/>
                            </a:rPr>
                            <m:t>𝐤</m:t>
                          </m:r>
                        </m:sub>
                      </m:sSub>
                      <m:r>
                        <a:rPr lang="en-US" sz="1500" b="1">
                          <a:latin typeface="Cambria Math"/>
                        </a:rPr>
                        <m:t>}</m:t>
                      </m:r>
                    </m:oMath>
                  </m:oMathPara>
                </a14:m>
                <a:endParaRPr lang="en-US" sz="1600" b="1" dirty="0"/>
              </a:p>
            </p:txBody>
          </p:sp>
        </mc:Choice>
        <mc:Fallback xmlns="">
          <p:sp>
            <p:nvSpPr>
              <p:cNvPr id="8" name="Text 3"/>
              <p:cNvSpPr>
                <a:spLocks noRot="1" noChangeAspect="1" noMove="1" noResize="1" noEditPoints="1" noAdjustHandles="1" noChangeArrowheads="1" noChangeShapeType="1" noTextEdit="1"/>
              </p:cNvSpPr>
              <p:nvPr/>
            </p:nvSpPr>
            <p:spPr>
              <a:xfrm>
                <a:off x="5752904" y="1380744"/>
                <a:ext cx="6035040" cy="384048"/>
              </a:xfrm>
              <a:prstGeom prst="rect">
                <a:avLst/>
              </a:prstGeom>
              <a:blipFill>
                <a:blip r:embed="rId6"/>
                <a:stretch>
                  <a:fillRect b="-4762"/>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9" name="Text 4"/>
              <p:cNvSpPr/>
              <p:nvPr/>
            </p:nvSpPr>
            <p:spPr>
              <a:xfrm>
                <a:off x="5943600" y="1856232"/>
                <a:ext cx="5806440" cy="292608"/>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a:latin typeface="Cambria Math"/>
                          </a:rPr>
                        </m:ctrlPr>
                      </m:sSubPr>
                      <m:e>
                        <m:r>
                          <a:rPr lang="en-US" sz="1300">
                            <a:latin typeface="Cambria Math"/>
                          </a:rPr>
                          <m:t>𝑈</m:t>
                        </m:r>
                      </m:e>
                      <m:sub>
                        <m:r>
                          <a:rPr lang="en-US" sz="1300">
                            <a:latin typeface="Cambria Math"/>
                          </a:rPr>
                          <m:t>𝑉𝑎𝑙</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value-at-risk priorities</a:t>
                </a:r>
                <a:endParaRPr lang="en-US" sz="1350" dirty="0"/>
              </a:p>
            </p:txBody>
          </p:sp>
        </mc:Choice>
        <mc:Fallback xmlns="">
          <p:sp>
            <p:nvSpPr>
              <p:cNvPr id="9" name="Text 4"/>
              <p:cNvSpPr>
                <a:spLocks noRot="1" noChangeAspect="1" noMove="1" noResize="1" noEditPoints="1" noAdjustHandles="1" noChangeArrowheads="1" noChangeShapeType="1" noTextEdit="1"/>
              </p:cNvSpPr>
              <p:nvPr/>
            </p:nvSpPr>
            <p:spPr>
              <a:xfrm>
                <a:off x="5943600" y="1856232"/>
                <a:ext cx="5806440" cy="292608"/>
              </a:xfrm>
              <a:prstGeom prst="rect">
                <a:avLst/>
              </a:prstGeom>
              <a:blipFill>
                <a:blip r:embed="rId7"/>
                <a:stretch>
                  <a:fillRect l="-944" b="-27083"/>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6"/>
              <p:cNvSpPr/>
              <p:nvPr/>
            </p:nvSpPr>
            <p:spPr>
              <a:xfrm>
                <a:off x="5943600" y="2136730"/>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b="1" i="1">
                            <a:latin typeface="Cambria Math"/>
                          </a:rPr>
                        </m:ctrlPr>
                      </m:sSubPr>
                      <m:e>
                        <m:r>
                          <a:rPr lang="en-US" sz="1300" b="1" i="1">
                            <a:latin typeface="Cambria Math"/>
                          </a:rPr>
                          <m:t>𝐔</m:t>
                        </m:r>
                      </m:e>
                      <m:sub>
                        <m:r>
                          <a:rPr lang="en-US" sz="1300" b="1" i="1">
                            <a:latin typeface="Cambria Math"/>
                          </a:rPr>
                          <m:t>𝐑𝐞𝐬</m:t>
                        </m:r>
                        <m:r>
                          <a:rPr lang="en-US" sz="1300" b="1">
                            <a:latin typeface="Cambria Math"/>
                          </a:rPr>
                          <m:t>,</m:t>
                        </m:r>
                        <m:r>
                          <a:rPr lang="en-US" sz="1300" b="1" i="1">
                            <a:latin typeface="Cambria Math"/>
                          </a:rPr>
                          <m:t>𝐤</m:t>
                        </m:r>
                      </m:sub>
                    </m:sSub>
                    <m:r>
                      <a:rPr lang="en-US" sz="1300" b="1">
                        <a:latin typeface="Cambria Math"/>
                      </a:rPr>
                      <m:t>(</m:t>
                    </m:r>
                    <m:r>
                      <a:rPr lang="en-US" sz="1300" b="1" i="1">
                        <a:latin typeface="Cambria Math"/>
                      </a:rPr>
                      <m:t>𝐱</m:t>
                    </m:r>
                    <m:r>
                      <a:rPr lang="en-US" sz="1300" b="1">
                        <a:latin typeface="Cambria Math"/>
                      </a:rPr>
                      <m:t>,</m:t>
                    </m:r>
                    <m:r>
                      <a:rPr lang="en-US" sz="1300" b="1" i="1">
                        <a:latin typeface="Cambria Math"/>
                      </a:rPr>
                      <m:t>𝐲</m:t>
                    </m:r>
                    <m:r>
                      <a:rPr lang="en-US" sz="1300" b="1">
                        <a:latin typeface="Cambria Math"/>
                      </a:rPr>
                      <m:t>)</m:t>
                    </m:r>
                  </m:oMath>
                </a14:m>
                <a:r>
                  <a:rPr lang="en-US" sz="1350" b="1" dirty="0">
                    <a:solidFill>
                      <a:srgbClr val="222222"/>
                    </a:solidFill>
                    <a:latin typeface="Calibri" pitchFamily="34" charset="0"/>
                    <a:ea typeface="Calibri" pitchFamily="34" charset="-122"/>
                    <a:cs typeface="Calibri" pitchFamily="34" charset="-120"/>
                  </a:rPr>
                  <a:t> — resource pool</a:t>
                </a:r>
                <a:endParaRPr lang="en-US" sz="1350" b="1" dirty="0"/>
              </a:p>
            </p:txBody>
          </p:sp>
        </mc:Choice>
        <mc:Fallback xmlns="">
          <p:sp>
            <p:nvSpPr>
              <p:cNvPr id="11" name="Text 6"/>
              <p:cNvSpPr>
                <a:spLocks noRot="1" noChangeAspect="1" noMove="1" noResize="1" noEditPoints="1" noAdjustHandles="1" noChangeArrowheads="1" noChangeShapeType="1" noTextEdit="1"/>
              </p:cNvSpPr>
              <p:nvPr/>
            </p:nvSpPr>
            <p:spPr>
              <a:xfrm>
                <a:off x="5943600" y="2136730"/>
                <a:ext cx="5806440" cy="320040"/>
              </a:xfrm>
              <a:prstGeom prst="rect">
                <a:avLst/>
              </a:prstGeom>
              <a:blipFill>
                <a:blip r:embed="rId8"/>
                <a:stretch>
                  <a:fillRect l="-944" b="-17308"/>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graphicFrame>
            <p:nvGraphicFramePr>
              <p:cNvPr id="10" name="Table 9">
                <a:extLst>
                  <a:ext uri="{FF2B5EF4-FFF2-40B4-BE49-F238E27FC236}">
                    <a16:creationId xmlns:a16="http://schemas.microsoft.com/office/drawing/2014/main" id="{098AF497-9BAD-4DBD-9FCA-7A884A1A2873}"/>
                  </a:ext>
                </a:extLst>
              </p:cNvPr>
              <p:cNvGraphicFramePr>
                <a:graphicFrameLocks noGrp="1"/>
              </p:cNvGraphicFramePr>
              <p:nvPr>
                <p:extLst>
                  <p:ext uri="{D42A27DB-BD31-4B8C-83A1-F6EECF244321}">
                    <p14:modId xmlns:p14="http://schemas.microsoft.com/office/powerpoint/2010/main" val="2725125031"/>
                  </p:ext>
                </p:extLst>
              </p:nvPr>
            </p:nvGraphicFramePr>
            <p:xfrm>
              <a:off x="5752904" y="2567487"/>
              <a:ext cx="6187832" cy="2779968"/>
            </p:xfrm>
            <a:graphic>
              <a:graphicData uri="http://schemas.openxmlformats.org/drawingml/2006/table">
                <a:tbl>
                  <a:tblPr firstRow="1" firstCol="1" bandRow="1">
                    <a:tableStyleId>{93296810-A885-4BE3-A3E7-6D5BEEA58F35}</a:tableStyleId>
                  </a:tblPr>
                  <a:tblGrid>
                    <a:gridCol w="1624080">
                      <a:extLst>
                        <a:ext uri="{9D8B030D-6E8A-4147-A177-3AD203B41FA5}">
                          <a16:colId xmlns:a16="http://schemas.microsoft.com/office/drawing/2014/main" val="277425698"/>
                        </a:ext>
                      </a:extLst>
                    </a:gridCol>
                    <a:gridCol w="605481">
                      <a:extLst>
                        <a:ext uri="{9D8B030D-6E8A-4147-A177-3AD203B41FA5}">
                          <a16:colId xmlns:a16="http://schemas.microsoft.com/office/drawing/2014/main" val="2279409957"/>
                        </a:ext>
                      </a:extLst>
                    </a:gridCol>
                    <a:gridCol w="3958271">
                      <a:extLst>
                        <a:ext uri="{9D8B030D-6E8A-4147-A177-3AD203B41FA5}">
                          <a16:colId xmlns:a16="http://schemas.microsoft.com/office/drawing/2014/main" val="3088005188"/>
                        </a:ext>
                      </a:extLst>
                    </a:gridCol>
                  </a:tblGrid>
                  <a:tr h="192083">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105288991"/>
                      </a:ext>
                    </a:extLst>
                  </a:tr>
                  <a:tr h="622190">
                    <a:tc>
                      <a:txBody>
                        <a:bodyPr/>
                        <a:lstStyle/>
                        <a:p>
                          <a:pPr algn="just">
                            <a:lnSpc>
                              <a:spcPct val="150000"/>
                            </a:lnSpc>
                          </a:pPr>
                          <a:r>
                            <a:rPr lang="en-US" sz="1200" dirty="0">
                              <a:effectLst/>
                            </a:rPr>
                            <a:t>Suppression Capacity </a:t>
                          </a:r>
                          <a:endParaRPr lang="tr-TR" sz="1200" dirty="0">
                            <a:effectLst/>
                          </a:endParaRPr>
                        </a:p>
                        <a:p>
                          <a:pPr algn="just">
                            <a:lnSpc>
                              <a:spcPct val="150000"/>
                            </a:lnSpc>
                          </a:pPr>
                          <a14:m>
                            <m:oMathPara xmlns:m="http://schemas.openxmlformats.org/officeDocument/2006/math">
                              <m:oMath>
                                <m:sSub>
                                  <m:sSubPr>
                                    <m:ctrlPr>
                                      <a:rPr lang="en-US" sz="1200" i="1">
                                        <a:effectLst/>
                                        <a:latin typeface="Cambria Math" panose="02040503050406030204" pitchFamily="18" charset="0"/>
                                      </a:rPr>
                                    </m:ctrlPr>
                                  </m:sSubPr>
                                  <m:e>
                                    <m:bar>
                                      <m:barPr>
                                        <m:pos m:val="top"/>
                                        <m:ctrlPr>
                                          <a:rPr lang="en-US" sz="1200">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i="0">
                                        <a:effectLst/>
                                      </a:rPr>
                                      <m:t>cap,k</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m³ / step</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Water volume or manpower available at the cell</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4289072623"/>
                      </a:ext>
                    </a:extLst>
                  </a:tr>
                  <a:tr h="454433">
                    <a:tc>
                      <a:txBody>
                        <a:bodyPr/>
                        <a:lstStyle/>
                        <a:p>
                          <a:pPr algn="just">
                            <a:lnSpc>
                              <a:spcPct val="150000"/>
                            </a:lnSpc>
                          </a:pPr>
                          <a:r>
                            <a:rPr lang="en-US" sz="1200" dirty="0">
                              <a:effectLst/>
                            </a:rPr>
                            <a:t>Travel Time </a:t>
                          </a:r>
                          <a:endParaRPr lang="tr-TR" sz="1200" dirty="0">
                            <a:effectLst/>
                          </a:endParaRPr>
                        </a:p>
                        <a:p>
                          <a:pPr algn="just">
                            <a:lnSpc>
                              <a:spcPct val="150000"/>
                            </a:lnSpc>
                          </a:pPr>
                          <a14:m>
                            <m:oMathPara xmlns:m="http://schemas.openxmlformats.org/officeDocument/2006/math">
                              <m:oMath>
                                <m:sSub>
                                  <m:sSubPr>
                                    <m:ctrlPr>
                                      <a:rPr lang="en-US" sz="1200" i="1">
                                        <a:effectLst/>
                                        <a:latin typeface="Cambria Math" panose="02040503050406030204" pitchFamily="18" charset="0"/>
                                      </a:rPr>
                                    </m:ctrlPr>
                                  </m:sSubPr>
                                  <m:e>
                                    <m:bar>
                                      <m:barPr>
                                        <m:pos m:val="top"/>
                                        <m:ctrlPr>
                                          <a:rPr lang="en-US" sz="1200">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i="0">
                                        <a:effectLst/>
                                      </a:rPr>
                                      <m:t>time,k</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min or h</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Time to reach the cell from the current position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61369388"/>
                      </a:ext>
                    </a:extLst>
                  </a:tr>
                  <a:tr h="466538">
                    <a:tc>
                      <a:txBody>
                        <a:bodyPr/>
                        <a:lstStyle/>
                        <a:p>
                          <a:pPr algn="just">
                            <a:lnSpc>
                              <a:spcPct val="150000"/>
                            </a:lnSpc>
                          </a:pPr>
                          <a:r>
                            <a:rPr lang="en-US" sz="1200" dirty="0">
                              <a:effectLst/>
                            </a:rPr>
                            <a:t>Suppression Efficiency </a:t>
                          </a:r>
                          <a:endParaRPr lang="tr-TR" sz="1200" dirty="0">
                            <a:effectLst/>
                          </a:endParaRPr>
                        </a:p>
                        <a:p>
                          <a:pPr algn="just">
                            <a:lnSpc>
                              <a:spcPct val="150000"/>
                            </a:lnSpc>
                          </a:pPr>
                          <a14:m>
                            <m:oMathPara xmlns:m="http://schemas.openxmlformats.org/officeDocument/2006/math">
                              <m:oMath>
                                <m:sSub>
                                  <m:sSubPr>
                                    <m:ctrlPr>
                                      <a:rPr lang="en-US" sz="1200" i="1">
                                        <a:effectLst/>
                                        <a:latin typeface="Cambria Math" panose="02040503050406030204" pitchFamily="18" charset="0"/>
                                      </a:rPr>
                                    </m:ctrlPr>
                                  </m:sSubPr>
                                  <m:e>
                                    <m:bar>
                                      <m:barPr>
                                        <m:pos m:val="top"/>
                                        <m:ctrlPr>
                                          <a:rPr lang="en-US" sz="1200">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i="0">
                                        <a:effectLst/>
                                      </a:rPr>
                                      <m:t>eff,k</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How much a resource cuts fuel load or intensity</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764470451"/>
                      </a:ext>
                    </a:extLst>
                  </a:tr>
                  <a:tr h="594264">
                    <a:tc>
                      <a:txBody>
                        <a:bodyPr/>
                        <a:lstStyle/>
                        <a:p>
                          <a:pPr algn="just">
                            <a:lnSpc>
                              <a:spcPct val="150000"/>
                            </a:lnSpc>
                          </a:pPr>
                          <a:r>
                            <a:rPr lang="en-US" sz="1200" dirty="0">
                              <a:effectLst/>
                            </a:rPr>
                            <a:t>Resource Availability </a:t>
                          </a:r>
                          <a:endParaRPr lang="tr-TR" sz="1200" dirty="0">
                            <a:effectLst/>
                          </a:endParaRPr>
                        </a:p>
                        <a:p>
                          <a:pPr algn="just">
                            <a:lnSpc>
                              <a:spcPct val="150000"/>
                            </a:lnSpc>
                          </a:pPr>
                          <a14:m>
                            <m:oMathPara xmlns:m="http://schemas.openxmlformats.org/officeDocument/2006/math">
                              <m:oMath>
                                <m:sSub>
                                  <m:sSubPr>
                                    <m:ctrlPr>
                                      <a:rPr lang="en-US" sz="1200" i="1">
                                        <a:effectLst/>
                                        <a:latin typeface="Cambria Math" panose="02040503050406030204" pitchFamily="18" charset="0"/>
                                      </a:rPr>
                                    </m:ctrlPr>
                                  </m:sSubPr>
                                  <m:e>
                                    <m:bar>
                                      <m:barPr>
                                        <m:pos m:val="top"/>
                                        <m:ctrlPr>
                                          <a:rPr lang="en-US" sz="1200">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i="0">
                                        <a:effectLst/>
                                      </a:rPr>
                                      <m:t>avail,k</m:t>
                                    </m:r>
                                  </m:sub>
                                </m:sSub>
                                <m:d>
                                  <m:dPr>
                                    <m:ctrlPr>
                                      <a:rPr lang="en-US" sz="1200">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How deployable the resource currently is.</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028413603"/>
                      </a:ext>
                    </a:extLst>
                  </a:tr>
                </a:tbl>
              </a:graphicData>
            </a:graphic>
          </p:graphicFrame>
        </mc:Choice>
        <mc:Fallback xmlns="">
          <p:graphicFrame>
            <p:nvGraphicFramePr>
              <p:cNvPr id="10" name="Table 9">
                <a:extLst>
                  <a:ext uri="{FF2B5EF4-FFF2-40B4-BE49-F238E27FC236}">
                    <a16:creationId xmlns:a16="http://schemas.microsoft.com/office/drawing/2014/main" id="{098AF497-9BAD-4DBD-9FCA-7A884A1A2873}"/>
                  </a:ext>
                </a:extLst>
              </p:cNvPr>
              <p:cNvGraphicFramePr>
                <a:graphicFrameLocks noGrp="1"/>
              </p:cNvGraphicFramePr>
              <p:nvPr>
                <p:extLst>
                  <p:ext uri="{D42A27DB-BD31-4B8C-83A1-F6EECF244321}">
                    <p14:modId xmlns:p14="http://schemas.microsoft.com/office/powerpoint/2010/main" val="2725125031"/>
                  </p:ext>
                </p:extLst>
              </p:nvPr>
            </p:nvGraphicFramePr>
            <p:xfrm>
              <a:off x="5752904" y="2567487"/>
              <a:ext cx="6187832" cy="2779968"/>
            </p:xfrm>
            <a:graphic>
              <a:graphicData uri="http://schemas.openxmlformats.org/drawingml/2006/table">
                <a:tbl>
                  <a:tblPr firstRow="1" firstCol="1" bandRow="1">
                    <a:tableStyleId>{93296810-A885-4BE3-A3E7-6D5BEEA58F35}</a:tableStyleId>
                  </a:tblPr>
                  <a:tblGrid>
                    <a:gridCol w="1624080">
                      <a:extLst>
                        <a:ext uri="{9D8B030D-6E8A-4147-A177-3AD203B41FA5}">
                          <a16:colId xmlns:a16="http://schemas.microsoft.com/office/drawing/2014/main" val="277425698"/>
                        </a:ext>
                      </a:extLst>
                    </a:gridCol>
                    <a:gridCol w="605481">
                      <a:extLst>
                        <a:ext uri="{9D8B030D-6E8A-4147-A177-3AD203B41FA5}">
                          <a16:colId xmlns:a16="http://schemas.microsoft.com/office/drawing/2014/main" val="2279409957"/>
                        </a:ext>
                      </a:extLst>
                    </a:gridCol>
                    <a:gridCol w="3958271">
                      <a:extLst>
                        <a:ext uri="{9D8B030D-6E8A-4147-A177-3AD203B41FA5}">
                          <a16:colId xmlns:a16="http://schemas.microsoft.com/office/drawing/2014/main" val="3088005188"/>
                        </a:ext>
                      </a:extLst>
                    </a:gridCol>
                  </a:tblGrid>
                  <a:tr h="245047">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105288991"/>
                      </a:ext>
                    </a:extLst>
                  </a:tr>
                  <a:tr h="639445">
                    <a:tc>
                      <a:txBody>
                        <a:bodyPr/>
                        <a:lstStyle/>
                        <a:p>
                          <a:endParaRPr lang="tr-TR"/>
                        </a:p>
                      </a:txBody>
                      <a:tcPr marL="17780" marR="17780" marT="0" marB="0">
                        <a:blipFill>
                          <a:blip r:embed="rId9"/>
                          <a:stretch>
                            <a:fillRect l="-375" t="-39048" r="-282022" b="-300952"/>
                          </a:stretch>
                        </a:blipFill>
                      </a:tcPr>
                    </a:tc>
                    <a:tc>
                      <a:txBody>
                        <a:bodyPr/>
                        <a:lstStyle/>
                        <a:p>
                          <a:pPr algn="just">
                            <a:lnSpc>
                              <a:spcPct val="150000"/>
                            </a:lnSpc>
                          </a:pPr>
                          <a:r>
                            <a:rPr lang="en-US" sz="1200" dirty="0">
                              <a:effectLst/>
                            </a:rPr>
                            <a:t>m³ / step</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Water volume or manpower available at the cell</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4289072623"/>
                      </a:ext>
                    </a:extLst>
                  </a:tr>
                  <a:tr h="631508">
                    <a:tc>
                      <a:txBody>
                        <a:bodyPr/>
                        <a:lstStyle/>
                        <a:p>
                          <a:endParaRPr lang="tr-TR"/>
                        </a:p>
                      </a:txBody>
                      <a:tcPr marL="17780" marR="17780" marT="0" marB="0">
                        <a:blipFill>
                          <a:blip r:embed="rId9"/>
                          <a:stretch>
                            <a:fillRect l="-375" t="-140385" r="-282022" b="-203846"/>
                          </a:stretch>
                        </a:blipFill>
                      </a:tcPr>
                    </a:tc>
                    <a:tc>
                      <a:txBody>
                        <a:bodyPr/>
                        <a:lstStyle/>
                        <a:p>
                          <a:pPr algn="just">
                            <a:lnSpc>
                              <a:spcPct val="150000"/>
                            </a:lnSpc>
                          </a:pPr>
                          <a:r>
                            <a:rPr lang="en-US" sz="1200" dirty="0">
                              <a:effectLst/>
                            </a:rPr>
                            <a:t>min or h</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Time to reach the cell from the current position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61369388"/>
                      </a:ext>
                    </a:extLst>
                  </a:tr>
                  <a:tr h="632460">
                    <a:tc>
                      <a:txBody>
                        <a:bodyPr/>
                        <a:lstStyle/>
                        <a:p>
                          <a:endParaRPr lang="tr-TR"/>
                        </a:p>
                      </a:txBody>
                      <a:tcPr marL="17780" marR="17780" marT="0" marB="0">
                        <a:blipFill>
                          <a:blip r:embed="rId9"/>
                          <a:stretch>
                            <a:fillRect l="-375" t="-240385" r="-282022" b="-103846"/>
                          </a:stretch>
                        </a:blipFill>
                      </a:tcPr>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How much a resource cuts fuel load or intensity</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764470451"/>
                      </a:ext>
                    </a:extLst>
                  </a:tr>
                  <a:tr h="631508">
                    <a:tc>
                      <a:txBody>
                        <a:bodyPr/>
                        <a:lstStyle/>
                        <a:p>
                          <a:endParaRPr lang="tr-TR"/>
                        </a:p>
                      </a:txBody>
                      <a:tcPr marL="17780" marR="17780" marT="0" marB="0">
                        <a:blipFill>
                          <a:blip r:embed="rId9"/>
                          <a:stretch>
                            <a:fillRect l="-375" t="-340385" r="-282022" b="-3846"/>
                          </a:stretch>
                        </a:blipFill>
                      </a:tcPr>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How deployable the resource currently is.</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028413603"/>
                      </a:ext>
                    </a:extLst>
                  </a:tr>
                </a:tbl>
              </a:graphicData>
            </a:graphic>
          </p:graphicFrame>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75B8BA42-EDF4-40F1-B08C-8F67AAE93352}"/>
                  </a:ext>
                </a:extLst>
              </p:cNvPr>
              <p:cNvSpPr txBox="1"/>
              <p:nvPr/>
            </p:nvSpPr>
            <p:spPr>
              <a:xfrm>
                <a:off x="7312464" y="5562717"/>
                <a:ext cx="2915920" cy="396006"/>
              </a:xfrm>
              <a:prstGeom prst="rect">
                <a:avLst/>
              </a:prstGeom>
              <a:noFill/>
            </p:spPr>
            <p:txBody>
              <a:bodyPr wrap="square">
                <a:spAutoFit/>
              </a:bodyPr>
              <a:lstStyle/>
              <a:p>
                <a14:m>
                  <m:oMath xmlns:m="http://schemas.openxmlformats.org/officeDocument/2006/math">
                    <m:sSub>
                      <m:sSubPr>
                        <m:ctrlPr>
                          <a:rPr lang="en-US" sz="1800" b="1" i="1">
                            <a:latin typeface="Cambria Math"/>
                          </a:rPr>
                        </m:ctrlPr>
                      </m:sSubPr>
                      <m:e>
                        <m:r>
                          <a:rPr lang="en-US" sz="1800" b="1" i="1">
                            <a:latin typeface="Cambria Math"/>
                          </a:rPr>
                          <m:t>𝑼</m:t>
                        </m:r>
                      </m:e>
                      <m:sub>
                        <m:r>
                          <a:rPr lang="en-US" sz="1800" b="1" i="1">
                            <a:latin typeface="Cambria Math"/>
                          </a:rPr>
                          <m:t>𝑹𝒆𝒔</m:t>
                        </m:r>
                        <m:r>
                          <a:rPr lang="en-US" sz="1800" b="1" i="1">
                            <a:latin typeface="Cambria Math"/>
                          </a:rPr>
                          <m:t>,</m:t>
                        </m:r>
                        <m:r>
                          <a:rPr lang="en-US" sz="1800" b="1" i="1">
                            <a:latin typeface="Cambria Math"/>
                          </a:rPr>
                          <m:t>𝒌</m:t>
                        </m:r>
                      </m:sub>
                    </m:sSub>
                    <m:d>
                      <m:dPr>
                        <m:ctrlPr>
                          <a:rPr lang="en-US" sz="1800" b="1" i="1">
                            <a:latin typeface="Cambria Math"/>
                          </a:rPr>
                        </m:ctrlPr>
                      </m:dPr>
                      <m:e>
                        <m:r>
                          <a:rPr lang="en-US" sz="1800" b="1" i="1">
                            <a:latin typeface="Cambria Math"/>
                          </a:rPr>
                          <m:t>𝒙</m:t>
                        </m:r>
                        <m:r>
                          <a:rPr lang="en-US" sz="1800" b="1" i="1">
                            <a:latin typeface="Cambria Math"/>
                          </a:rPr>
                          <m:t>,</m:t>
                        </m:r>
                        <m:r>
                          <a:rPr lang="en-US" sz="1800" b="1" i="1">
                            <a:latin typeface="Cambria Math"/>
                          </a:rPr>
                          <m:t>𝒚</m:t>
                        </m:r>
                      </m:e>
                    </m:d>
                    <m:r>
                      <a:rPr lang="en-US" sz="1800" b="1" i="1" smtClean="0">
                        <a:latin typeface="Cambria Math" panose="02040503050406030204" pitchFamily="18" charset="0"/>
                        <a:ea typeface="Cambria Math" panose="02040503050406030204" pitchFamily="18" charset="0"/>
                      </a:rPr>
                      <m:t>≡</m:t>
                    </m:r>
                    <m:sSub>
                      <m:sSubPr>
                        <m:ctrlPr>
                          <a:rPr lang="tr-TR" sz="1800" b="1" i="1" smtClean="0">
                            <a:latin typeface="Cambria Math" panose="02040503050406030204" pitchFamily="18" charset="0"/>
                            <a:ea typeface="Cambria Math" panose="02040503050406030204" pitchFamily="18" charset="0"/>
                          </a:rPr>
                        </m:ctrlPr>
                      </m:sSubPr>
                      <m:e>
                        <m:r>
                          <a:rPr lang="tr-TR" sz="1800" b="1" i="1" smtClean="0">
                            <a:latin typeface="Cambria Math" panose="02040503050406030204" pitchFamily="18" charset="0"/>
                            <a:ea typeface="Cambria Math" panose="02040503050406030204" pitchFamily="18" charset="0"/>
                          </a:rPr>
                          <m:t>𝑼</m:t>
                        </m:r>
                      </m:e>
                      <m:sub>
                        <m:r>
                          <a:rPr lang="tr-TR" sz="1800" b="1" i="1" smtClean="0">
                            <a:latin typeface="Cambria Math" panose="02040503050406030204" pitchFamily="18" charset="0"/>
                            <a:ea typeface="Cambria Math" panose="02040503050406030204" pitchFamily="18" charset="0"/>
                          </a:rPr>
                          <m:t>𝑫𝑺𝑺</m:t>
                        </m:r>
                        <m:r>
                          <a:rPr lang="tr-TR" sz="1800" b="1" i="1" smtClean="0">
                            <a:latin typeface="Cambria Math" panose="02040503050406030204" pitchFamily="18" charset="0"/>
                            <a:ea typeface="Cambria Math" panose="02040503050406030204" pitchFamily="18" charset="0"/>
                          </a:rPr>
                          <m:t>,</m:t>
                        </m:r>
                        <m:r>
                          <a:rPr lang="tr-TR" sz="1800" b="1" i="1" smtClean="0">
                            <a:latin typeface="Cambria Math" panose="02040503050406030204" pitchFamily="18" charset="0"/>
                            <a:ea typeface="Cambria Math" panose="02040503050406030204" pitchFamily="18" charset="0"/>
                          </a:rPr>
                          <m:t>𝒌</m:t>
                        </m:r>
                      </m:sub>
                    </m:sSub>
                    <m:r>
                      <a:rPr lang="tr-TR" sz="1800" b="1" i="1" smtClean="0">
                        <a:latin typeface="Cambria Math" panose="02040503050406030204" pitchFamily="18" charset="0"/>
                        <a:ea typeface="Cambria Math" panose="02040503050406030204" pitchFamily="18" charset="0"/>
                      </a:rPr>
                      <m:t> (</m:t>
                    </m:r>
                    <m:r>
                      <a:rPr lang="tr-TR" sz="1800" b="1" i="1" smtClean="0">
                        <a:latin typeface="Cambria Math" panose="02040503050406030204" pitchFamily="18" charset="0"/>
                        <a:ea typeface="Cambria Math" panose="02040503050406030204" pitchFamily="18" charset="0"/>
                      </a:rPr>
                      <m:t>𝒙</m:t>
                    </m:r>
                    <m:r>
                      <a:rPr lang="tr-TR" sz="1800" b="1" i="1" smtClean="0">
                        <a:latin typeface="Cambria Math" panose="02040503050406030204" pitchFamily="18" charset="0"/>
                        <a:ea typeface="Cambria Math" panose="02040503050406030204" pitchFamily="18" charset="0"/>
                      </a:rPr>
                      <m:t>,</m:t>
                    </m:r>
                    <m:r>
                      <a:rPr lang="tr-TR" sz="1800" b="1" i="1" smtClean="0">
                        <a:latin typeface="Cambria Math" panose="02040503050406030204" pitchFamily="18" charset="0"/>
                        <a:ea typeface="Cambria Math" panose="02040503050406030204" pitchFamily="18" charset="0"/>
                      </a:rPr>
                      <m:t>𝒚</m:t>
                    </m:r>
                    <m:r>
                      <a:rPr lang="tr-TR" sz="1800" b="1" i="1" smtClean="0">
                        <a:latin typeface="Cambria Math" panose="02040503050406030204" pitchFamily="18" charset="0"/>
                        <a:ea typeface="Cambria Math" panose="02040503050406030204" pitchFamily="18" charset="0"/>
                      </a:rPr>
                      <m:t>)</m:t>
                    </m:r>
                  </m:oMath>
                </a14:m>
                <a:r>
                  <a:rPr lang="en-US" sz="1800" b="1" i="1" dirty="0">
                    <a:solidFill>
                      <a:srgbClr val="222222"/>
                    </a:solidFill>
                    <a:latin typeface="Calibri" pitchFamily="34" charset="0"/>
                    <a:ea typeface="Calibri" pitchFamily="34" charset="-122"/>
                    <a:cs typeface="Calibri" pitchFamily="34" charset="-120"/>
                  </a:rPr>
                  <a:t> </a:t>
                </a:r>
                <a:endParaRPr lang="tr-TR" i="1" dirty="0"/>
              </a:p>
            </p:txBody>
          </p:sp>
        </mc:Choice>
        <mc:Fallback xmlns="">
          <p:sp>
            <p:nvSpPr>
              <p:cNvPr id="16" name="TextBox 15">
                <a:extLst>
                  <a:ext uri="{FF2B5EF4-FFF2-40B4-BE49-F238E27FC236}">
                    <a16:creationId xmlns:a16="http://schemas.microsoft.com/office/drawing/2014/main" id="{75B8BA42-EDF4-40F1-B08C-8F67AAE93352}"/>
                  </a:ext>
                </a:extLst>
              </p:cNvPr>
              <p:cNvSpPr txBox="1">
                <a:spLocks noRot="1" noChangeAspect="1" noMove="1" noResize="1" noEditPoints="1" noAdjustHandles="1" noChangeArrowheads="1" noChangeShapeType="1" noTextEdit="1"/>
              </p:cNvSpPr>
              <p:nvPr/>
            </p:nvSpPr>
            <p:spPr>
              <a:xfrm>
                <a:off x="7312464" y="5562717"/>
                <a:ext cx="2915920" cy="396006"/>
              </a:xfrm>
              <a:prstGeom prst="rect">
                <a:avLst/>
              </a:prstGeom>
              <a:blipFill>
                <a:blip r:embed="rId10"/>
                <a:stretch>
                  <a:fillRect b="-7813"/>
                </a:stretch>
              </a:blipFill>
            </p:spPr>
            <p:txBody>
              <a:bodyPr/>
              <a:lstStyle/>
              <a:p>
                <a:r>
                  <a:rPr lang="tr-TR">
                    <a:noFill/>
                  </a:rPr>
                  <a:t/>
                </a:r>
              </a:p>
            </p:txBody>
          </p:sp>
        </mc:Fallback>
      </mc:AlternateContent>
    </p:spTree>
    <p:extLst>
      <p:ext uri="{BB962C8B-B14F-4D97-AF65-F5344CB8AC3E}">
        <p14:creationId xmlns:p14="http://schemas.microsoft.com/office/powerpoint/2010/main" val="20021046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tr-TR" sz="2700" b="1" dirty="0">
                <a:solidFill>
                  <a:srgbClr val="000000"/>
                </a:solidFill>
                <a:latin typeface="Cambria" pitchFamily="34" charset="0"/>
                <a:ea typeface="Cambria" pitchFamily="34" charset="-122"/>
                <a:cs typeface="Cambria" pitchFamily="34" charset="-120"/>
              </a:rPr>
              <a:t>DSS – </a:t>
            </a:r>
            <a:r>
              <a:rPr lang="en-US" sz="2700" b="1" dirty="0">
                <a:solidFill>
                  <a:srgbClr val="000000"/>
                </a:solidFill>
                <a:latin typeface="Cambria" pitchFamily="34" charset="0"/>
                <a:ea typeface="Cambria" pitchFamily="34" charset="-122"/>
                <a:cs typeface="Cambria" pitchFamily="34" charset="-120"/>
              </a:rPr>
              <a:t>Observation and Decision Return</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p:sp>
        <p:nvSpPr>
          <p:cNvPr id="7" name="Text 2"/>
          <p:cNvSpPr/>
          <p:nvPr/>
        </p:nvSpPr>
        <p:spPr>
          <a:xfrm>
            <a:off x="5715000" y="1371600"/>
            <a:ext cx="6035040" cy="320040"/>
          </a:xfrm>
          <a:prstGeom prst="rect">
            <a:avLst/>
          </a:prstGeom>
          <a:noFill/>
          <a:ln/>
        </p:spPr>
        <p:txBody>
          <a:bodyPr wrap="square" lIns="0" tIns="0" rIns="0" bIns="0" rtlCol="0" anchor="t"/>
          <a:lstStyle/>
          <a:p>
            <a:pPr marL="0" indent="0" algn="just">
              <a:lnSpc>
                <a:spcPct val="104000"/>
              </a:lnSpc>
              <a:buNone/>
            </a:pPr>
            <a:r>
              <a:rPr lang="en-US" sz="1500" b="1" dirty="0">
                <a:solidFill>
                  <a:srgbClr val="222222"/>
                </a:solidFill>
                <a:latin typeface="Calibri" pitchFamily="34" charset="0"/>
                <a:ea typeface="Calibri" pitchFamily="34" charset="-122"/>
                <a:cs typeface="Calibri" pitchFamily="34" charset="-120"/>
              </a:rPr>
              <a:t>• Decisional context, read only by the DSS (invisible to the fire physics):</a:t>
            </a:r>
            <a:endParaRPr lang="en-US" sz="1500" dirty="0"/>
          </a:p>
        </p:txBody>
      </p:sp>
      <mc:AlternateContent xmlns:mc="http://schemas.openxmlformats.org/markup-compatibility/2006" xmlns:a14="http://schemas.microsoft.com/office/drawing/2010/main">
        <mc:Choice Requires="a14">
          <p:sp>
            <p:nvSpPr>
              <p:cNvPr id="8" name="Text 3"/>
              <p:cNvSpPr/>
              <p:nvPr/>
            </p:nvSpPr>
            <p:spPr>
              <a:xfrm>
                <a:off x="5715000" y="1700784"/>
                <a:ext cx="6035040" cy="384048"/>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500">
                              <a:latin typeface="Cambria Math"/>
                            </a:rPr>
                          </m:ctrlPr>
                        </m:sSubPr>
                        <m:e>
                          <m:r>
                            <a:rPr lang="en-US" sz="1500">
                              <a:latin typeface="Cambria Math"/>
                            </a:rPr>
                            <m:t>ℱ</m:t>
                          </m:r>
                        </m:e>
                        <m:sub>
                          <m:r>
                            <a:rPr lang="en-US" sz="1500">
                              <a:latin typeface="Cambria Math"/>
                            </a:rPr>
                            <m:t>𝐷𝑆𝑆</m:t>
                          </m:r>
                          <m:r>
                            <a:rPr lang="en-US" sz="1500">
                              <a:latin typeface="Cambria Math"/>
                            </a:rPr>
                            <m:t>,</m:t>
                          </m:r>
                          <m:r>
                            <a:rPr lang="en-US" sz="1500">
                              <a:latin typeface="Cambria Math"/>
                            </a:rPr>
                            <m:t>𝑘</m:t>
                          </m:r>
                        </m:sub>
                      </m:sSub>
                      <m:r>
                        <a:rPr lang="en-US" sz="1500">
                          <a:latin typeface="Cambria Math"/>
                        </a:rPr>
                        <m:t>={</m:t>
                      </m:r>
                      <m:sSub>
                        <m:sSubPr>
                          <m:ctrlPr>
                            <a:rPr lang="en-US" sz="1500">
                              <a:latin typeface="Cambria Math"/>
                            </a:rPr>
                          </m:ctrlPr>
                        </m:sSubPr>
                        <m:e>
                          <m:r>
                            <a:rPr lang="en-US" sz="1500">
                              <a:latin typeface="Cambria Math"/>
                            </a:rPr>
                            <m:t>𝑈</m:t>
                          </m:r>
                        </m:e>
                        <m:sub>
                          <m:r>
                            <a:rPr lang="en-US" sz="1500">
                              <a:latin typeface="Cambria Math"/>
                            </a:rPr>
                            <m:t>𝑉𝑎𝑙</m:t>
                          </m:r>
                          <m:r>
                            <a:rPr lang="en-US" sz="1500">
                              <a:latin typeface="Cambria Math"/>
                            </a:rPr>
                            <m:t>,</m:t>
                          </m:r>
                          <m:r>
                            <a:rPr lang="en-US" sz="1500">
                              <a:latin typeface="Cambria Math"/>
                            </a:rPr>
                            <m:t>𝑘</m:t>
                          </m:r>
                        </m:sub>
                      </m:sSub>
                      <m:r>
                        <a:rPr lang="en-US" sz="1500">
                          <a:latin typeface="Cambria Math"/>
                        </a:rPr>
                        <m:t>, </m:t>
                      </m:r>
                      <m:sSub>
                        <m:sSubPr>
                          <m:ctrlPr>
                            <a:rPr lang="en-US" sz="1500">
                              <a:latin typeface="Cambria Math"/>
                            </a:rPr>
                          </m:ctrlPr>
                        </m:sSubPr>
                        <m:e>
                          <m:r>
                            <a:rPr lang="en-US" sz="1500">
                              <a:latin typeface="Cambria Math"/>
                            </a:rPr>
                            <m:t>𝑈</m:t>
                          </m:r>
                        </m:e>
                        <m:sub>
                          <m:r>
                            <a:rPr lang="en-US" sz="1500">
                              <a:latin typeface="Cambria Math"/>
                            </a:rPr>
                            <m:t>𝑅𝑒𝑠</m:t>
                          </m:r>
                          <m:r>
                            <a:rPr lang="en-US" sz="1500">
                              <a:latin typeface="Cambria Math"/>
                            </a:rPr>
                            <m:t>,</m:t>
                          </m:r>
                          <m:r>
                            <a:rPr lang="en-US" sz="1500">
                              <a:latin typeface="Cambria Math"/>
                            </a:rPr>
                            <m:t>𝑘</m:t>
                          </m:r>
                        </m:sub>
                      </m:sSub>
                      <m:r>
                        <a:rPr lang="en-US" sz="1500">
                          <a:latin typeface="Cambria Math"/>
                        </a:rPr>
                        <m:t>}</m:t>
                      </m:r>
                    </m:oMath>
                  </m:oMathPara>
                </a14:m>
                <a:endParaRPr lang="en-US" sz="1600" dirty="0"/>
              </a:p>
            </p:txBody>
          </p:sp>
        </mc:Choice>
        <mc:Fallback xmlns="">
          <p:sp>
            <p:nvSpPr>
              <p:cNvPr id="8" name="Text 3"/>
              <p:cNvSpPr>
                <a:spLocks noRot="1" noChangeAspect="1" noMove="1" noResize="1" noEditPoints="1" noAdjustHandles="1" noChangeArrowheads="1" noChangeShapeType="1" noTextEdit="1"/>
              </p:cNvSpPr>
              <p:nvPr/>
            </p:nvSpPr>
            <p:spPr>
              <a:xfrm>
                <a:off x="5715000" y="1700784"/>
                <a:ext cx="6035040" cy="384048"/>
              </a:xfrm>
              <a:prstGeom prst="rect">
                <a:avLst/>
              </a:prstGeom>
              <a:blipFill>
                <a:blip r:embed="rId6"/>
                <a:stretch>
                  <a:fillRect b="-4762"/>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9" name="Text 4"/>
              <p:cNvSpPr/>
              <p:nvPr/>
            </p:nvSpPr>
            <p:spPr>
              <a:xfrm>
                <a:off x="5943600" y="2139696"/>
                <a:ext cx="5806440" cy="292608"/>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a:latin typeface="Cambria Math"/>
                          </a:rPr>
                        </m:ctrlPr>
                      </m:sSubPr>
                      <m:e>
                        <m:r>
                          <a:rPr lang="en-US" sz="1300">
                            <a:latin typeface="Cambria Math"/>
                          </a:rPr>
                          <m:t>𝑈</m:t>
                        </m:r>
                      </m:e>
                      <m:sub>
                        <m:r>
                          <a:rPr lang="en-US" sz="1300">
                            <a:latin typeface="Cambria Math"/>
                          </a:rPr>
                          <m:t>𝑉𝑎𝑙</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value-at-risk priorities:</a:t>
                </a:r>
                <a:endParaRPr lang="en-US" sz="1350" dirty="0"/>
              </a:p>
            </p:txBody>
          </p:sp>
        </mc:Choice>
        <mc:Fallback xmlns="">
          <p:sp>
            <p:nvSpPr>
              <p:cNvPr id="9" name="Text 4"/>
              <p:cNvSpPr>
                <a:spLocks noRot="1" noChangeAspect="1" noMove="1" noResize="1" noEditPoints="1" noAdjustHandles="1" noChangeArrowheads="1" noChangeShapeType="1" noTextEdit="1"/>
              </p:cNvSpPr>
              <p:nvPr/>
            </p:nvSpPr>
            <p:spPr>
              <a:xfrm>
                <a:off x="5943600" y="2139696"/>
                <a:ext cx="5806440" cy="292608"/>
              </a:xfrm>
              <a:prstGeom prst="rect">
                <a:avLst/>
              </a:prstGeom>
              <a:blipFill>
                <a:blip r:embed="rId7"/>
                <a:stretch>
                  <a:fillRect l="-944" b="-27083"/>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6"/>
              <p:cNvSpPr/>
              <p:nvPr/>
            </p:nvSpPr>
            <p:spPr>
              <a:xfrm>
                <a:off x="5943600" y="2532888"/>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sz="1300">
                            <a:latin typeface="Cambria Math"/>
                          </a:rPr>
                        </m:ctrlPr>
                      </m:sSubPr>
                      <m:e>
                        <m:r>
                          <a:rPr lang="en-US" sz="1300">
                            <a:latin typeface="Cambria Math"/>
                          </a:rPr>
                          <m:t>𝑈</m:t>
                        </m:r>
                      </m:e>
                      <m:sub>
                        <m:r>
                          <a:rPr lang="en-US" sz="1300">
                            <a:latin typeface="Cambria Math"/>
                          </a:rPr>
                          <m:t>𝑅𝑒𝑠</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resource pool: capacity, availability, effectiveness, travel time</a:t>
                </a:r>
                <a:endParaRPr lang="en-US" sz="1350" dirty="0"/>
              </a:p>
            </p:txBody>
          </p:sp>
        </mc:Choice>
        <mc:Fallback xmlns="">
          <p:sp>
            <p:nvSpPr>
              <p:cNvPr id="11" name="Text 6"/>
              <p:cNvSpPr>
                <a:spLocks noRot="1" noChangeAspect="1" noMove="1" noResize="1" noEditPoints="1" noAdjustHandles="1" noChangeArrowheads="1" noChangeShapeType="1" noTextEdit="1"/>
              </p:cNvSpPr>
              <p:nvPr/>
            </p:nvSpPr>
            <p:spPr>
              <a:xfrm>
                <a:off x="5943600" y="2532888"/>
                <a:ext cx="5806440" cy="320040"/>
              </a:xfrm>
              <a:prstGeom prst="rect">
                <a:avLst/>
              </a:prstGeom>
              <a:blipFill>
                <a:blip r:embed="rId8"/>
                <a:stretch>
                  <a:fillRect l="-944" b="-17308"/>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2" name="Text 7"/>
              <p:cNvSpPr/>
              <p:nvPr/>
            </p:nvSpPr>
            <p:spPr>
              <a:xfrm>
                <a:off x="5715000" y="3012948"/>
                <a:ext cx="6035040" cy="502920"/>
              </a:xfrm>
              <a:prstGeom prst="rect">
                <a:avLst/>
              </a:prstGeom>
              <a:noFill/>
              <a:ln/>
            </p:spPr>
            <p:txBody>
              <a:bodyPr wrap="square" lIns="0" tIns="0" rIns="0" bIns="0" rtlCol="0" anchor="t"/>
              <a:lstStyle/>
              <a:p>
                <a:pPr marL="0" indent="0" algn="just">
                  <a:lnSpc>
                    <a:spcPct val="104000"/>
                  </a:lnSpc>
                  <a:buNone/>
                </a:pPr>
                <a:r>
                  <a:rPr lang="en-US" sz="1500" b="1" dirty="0">
                    <a:solidFill>
                      <a:srgbClr val="222222"/>
                    </a:solidFill>
                    <a:latin typeface="Calibri" pitchFamily="34" charset="0"/>
                    <a:ea typeface="Calibri" pitchFamily="34" charset="-122"/>
                    <a:cs typeface="Calibri" pitchFamily="34" charset="-120"/>
                  </a:rPr>
                  <a:t>• The DSS never reads the true state </a:t>
                </a:r>
                <a14:m>
                  <m:oMath xmlns:m="http://schemas.openxmlformats.org/officeDocument/2006/math">
                    <m:sSub>
                      <m:sSubPr>
                        <m:ctrlPr>
                          <a:rPr lang="en-US" sz="1400">
                            <a:latin typeface="Cambria Math"/>
                          </a:rPr>
                        </m:ctrlPr>
                      </m:sSubPr>
                      <m:e>
                        <m:r>
                          <a:rPr lang="en-US" sz="1400">
                            <a:latin typeface="Cambria Math"/>
                          </a:rPr>
                          <m:t>𝑆</m:t>
                        </m:r>
                      </m:e>
                      <m:sub>
                        <m:r>
                          <a:rPr lang="en-US" sz="1400">
                            <a:latin typeface="Cambria Math"/>
                          </a:rPr>
                          <m:t>𝑘</m:t>
                        </m:r>
                      </m:sub>
                    </m:sSub>
                    <m:r>
                      <a:rPr lang="tr-TR" sz="1400" b="1" i="0" smtClean="0">
                        <a:latin typeface="Cambria Math" panose="02040503050406030204" pitchFamily="18" charset="0"/>
                      </a:rPr>
                      <m:t>;</m:t>
                    </m:r>
                  </m:oMath>
                </a14:m>
                <a:r>
                  <a:rPr lang="tr-TR" sz="1500" b="1" dirty="0">
                    <a:solidFill>
                      <a:srgbClr val="222222"/>
                    </a:solidFill>
                    <a:latin typeface="Calibri" pitchFamily="34" charset="0"/>
                    <a:ea typeface="Calibri" pitchFamily="34" charset="-122"/>
                    <a:cs typeface="Calibri" pitchFamily="34" charset="-120"/>
                  </a:rPr>
                  <a:t> it</a:t>
                </a:r>
                <a:r>
                  <a:rPr lang="en-US" sz="1500" b="1" dirty="0">
                    <a:solidFill>
                      <a:srgbClr val="222222"/>
                    </a:solidFill>
                    <a:latin typeface="Calibri" pitchFamily="34" charset="0"/>
                    <a:ea typeface="Calibri" pitchFamily="34" charset="-122"/>
                    <a:cs typeface="Calibri" pitchFamily="34" charset="-120"/>
                  </a:rPr>
                  <a:t> sees only its observation, with an error bounded by confidence:</a:t>
                </a:r>
                <a:endParaRPr lang="en-US" sz="1500" dirty="0"/>
              </a:p>
            </p:txBody>
          </p:sp>
        </mc:Choice>
        <mc:Fallback xmlns="">
          <p:sp>
            <p:nvSpPr>
              <p:cNvPr id="12" name="Text 7"/>
              <p:cNvSpPr>
                <a:spLocks noRot="1" noChangeAspect="1" noMove="1" noResize="1" noEditPoints="1" noAdjustHandles="1" noChangeArrowheads="1" noChangeShapeType="1" noTextEdit="1"/>
              </p:cNvSpPr>
              <p:nvPr/>
            </p:nvSpPr>
            <p:spPr>
              <a:xfrm>
                <a:off x="5715000" y="3012948"/>
                <a:ext cx="6035040" cy="502920"/>
              </a:xfrm>
              <a:prstGeom prst="rect">
                <a:avLst/>
              </a:prstGeom>
              <a:blipFill>
                <a:blip r:embed="rId9"/>
                <a:stretch>
                  <a:fillRect l="-1919" t="-4819" r="-1818" b="-22892"/>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3" name="Text 8"/>
              <p:cNvSpPr/>
              <p:nvPr/>
            </p:nvSpPr>
            <p:spPr>
              <a:xfrm>
                <a:off x="7090719" y="3547872"/>
                <a:ext cx="3811743" cy="384048"/>
              </a:xfrm>
              <a:prstGeom prst="rect">
                <a:avLst/>
              </a:prstGeom>
              <a:noFill/>
              <a:ln/>
            </p:spPr>
            <p:txBody>
              <a:bodyPr wrap="square" lIns="0" tIns="0" rIns="0" bIns="0" rtlCol="0" anchor="ctr"/>
              <a:lstStyle/>
              <a:p>
                <a:pPr algn="ctr"/>
                <a14:m>
                  <m:oMathPara xmlns:m="http://schemas.openxmlformats.org/officeDocument/2006/math">
                    <m:oMath>
                      <m:sSubSup>
                        <m:sSubSupPr>
                          <m:ctrlPr>
                            <a:rPr lang="en-US" sz="1400">
                              <a:latin typeface="Cambria Math"/>
                            </a:rPr>
                          </m:ctrlPr>
                        </m:sSubSupPr>
                        <m:e>
                          <m:r>
                            <a:rPr lang="en-US" sz="1400">
                              <a:latin typeface="Cambria Math"/>
                            </a:rPr>
                            <m:t>𝑂</m:t>
                          </m:r>
                        </m:e>
                        <m:sub>
                          <m:r>
                            <a:rPr lang="en-US" sz="1400">
                              <a:latin typeface="Cambria Math"/>
                            </a:rPr>
                            <m:t>𝑘</m:t>
                          </m:r>
                        </m:sub>
                        <m:sup>
                          <m:r>
                            <a:rPr lang="en-US" sz="1400">
                              <a:latin typeface="Cambria Math"/>
                            </a:rPr>
                            <m:t>𝑖</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p>
                        <m:sSupPr>
                          <m:ctrlPr>
                            <a:rPr lang="en-US" sz="1400">
                              <a:latin typeface="Cambria Math"/>
                            </a:rPr>
                          </m:ctrlPr>
                        </m:sSupPr>
                        <m:e>
                          <m:r>
                            <a:rPr lang="en-US" sz="1400">
                              <a:latin typeface="Cambria Math"/>
                            </a:rPr>
                            <m:t>ℎ</m:t>
                          </m:r>
                        </m:e>
                        <m:sup>
                          <m:r>
                            <a:rPr lang="en-US" sz="1400">
                              <a:latin typeface="Cambria Math"/>
                            </a:rPr>
                            <m:t>𝑖</m:t>
                          </m:r>
                        </m:sup>
                      </m:sSup>
                      <m:d>
                        <m:dPr>
                          <m:ctrlPr>
                            <a:rPr lang="en-US" sz="1400" i="1">
                              <a:latin typeface="Cambria Math" panose="02040503050406030204" pitchFamily="18" charset="0"/>
                            </a:rPr>
                          </m:ctrlPr>
                        </m:dPr>
                        <m:e>
                          <m:sSub>
                            <m:sSubPr>
                              <m:ctrlPr>
                                <a:rPr lang="en-US" sz="1400">
                                  <a:latin typeface="Cambria Math"/>
                                </a:rPr>
                              </m:ctrlPr>
                            </m:sSubPr>
                            <m:e>
                              <m:r>
                                <a:rPr lang="en-US" sz="1400">
                                  <a:latin typeface="Cambria Math"/>
                                </a:rPr>
                                <m:t>𝑆</m:t>
                              </m:r>
                            </m:e>
                            <m:sub>
                              <m:r>
                                <a:rPr lang="en-US" sz="1400">
                                  <a:latin typeface="Cambria Math"/>
                                </a:rPr>
                                <m:t>𝑘</m:t>
                              </m:r>
                            </m:sub>
                          </m:sSub>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 </m:t>
                          </m:r>
                          <m:sSubSup>
                            <m:sSubSupPr>
                              <m:ctrlPr>
                                <a:rPr lang="en-US" sz="1400">
                                  <a:latin typeface="Cambria Math"/>
                                </a:rPr>
                              </m:ctrlPr>
                            </m:sSubSupPr>
                            <m:e>
                              <m:r>
                                <a:rPr lang="en-US" sz="1400">
                                  <a:latin typeface="Cambria Math"/>
                                </a:rPr>
                                <m:t>𝜀</m:t>
                              </m:r>
                            </m:e>
                            <m:sub>
                              <m:r>
                                <a:rPr lang="en-US" sz="1400">
                                  <a:latin typeface="Cambria Math"/>
                                </a:rPr>
                                <m:t>𝑘</m:t>
                              </m:r>
                            </m:sub>
                            <m:sup>
                              <m:r>
                                <a:rPr lang="en-US" sz="1400">
                                  <a:latin typeface="Cambria Math"/>
                                </a:rPr>
                                <m:t>𝑖</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e>
                      </m:d>
                      <m:r>
                        <a:rPr lang="en-US" sz="1400">
                          <a:latin typeface="Cambria Math"/>
                        </a:rPr>
                        <m:t>, </m:t>
                      </m:r>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p>
                        <m:sSupPr>
                          <m:ctrlPr>
                            <a:rPr lang="en-US" sz="1400">
                              <a:latin typeface="Cambria Math"/>
                            </a:rPr>
                          </m:ctrlPr>
                        </m:sSupPr>
                        <m:e>
                          <m:r>
                            <a:rPr lang="en-US" sz="1400">
                              <a:latin typeface="Cambria Math"/>
                            </a:rPr>
                            <m:t>𝒢</m:t>
                          </m:r>
                        </m:e>
                        <m:sup>
                          <m:r>
                            <a:rPr lang="en-US" sz="1400">
                              <a:latin typeface="Cambria Math"/>
                            </a:rPr>
                            <m:t>𝑖</m:t>
                          </m:r>
                        </m:sup>
                      </m:sSup>
                    </m:oMath>
                  </m:oMathPara>
                </a14:m>
                <a:endParaRPr lang="en-US" sz="1400" dirty="0"/>
              </a:p>
            </p:txBody>
          </p:sp>
        </mc:Choice>
        <mc:Fallback xmlns="">
          <p:sp>
            <p:nvSpPr>
              <p:cNvPr id="13" name="Text 8"/>
              <p:cNvSpPr>
                <a:spLocks noRot="1" noChangeAspect="1" noMove="1" noResize="1" noEditPoints="1" noAdjustHandles="1" noChangeArrowheads="1" noChangeShapeType="1" noTextEdit="1"/>
              </p:cNvSpPr>
              <p:nvPr/>
            </p:nvSpPr>
            <p:spPr>
              <a:xfrm>
                <a:off x="7090719" y="3547872"/>
                <a:ext cx="3811743" cy="384048"/>
              </a:xfrm>
              <a:prstGeom prst="rect">
                <a:avLst/>
              </a:prstGeom>
              <a:blipFill>
                <a:blip r:embed="rId10"/>
                <a:stretch>
                  <a:fillRect b="-4762"/>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4" name="Text 9"/>
              <p:cNvSpPr/>
              <p:nvPr/>
            </p:nvSpPr>
            <p:spPr>
              <a:xfrm>
                <a:off x="7223760" y="4304488"/>
                <a:ext cx="3017520" cy="384048"/>
              </a:xfrm>
              <a:prstGeom prst="rect">
                <a:avLst/>
              </a:prstGeom>
              <a:noFill/>
              <a:ln/>
            </p:spPr>
            <p:txBody>
              <a:bodyPr wrap="square" lIns="0" tIns="0" rIns="0" bIns="0" rtlCol="0" anchor="ctr"/>
              <a:lstStyle/>
              <a:p>
                <a:pPr marL="0" indent="0" algn="ctr">
                  <a:buNone/>
                </a:pPr>
                <a14:m>
                  <m:oMathPara xmlns:m="http://schemas.openxmlformats.org/officeDocument/2006/math">
                    <m:oMath>
                      <m:r>
                        <a:rPr lang="en-US" sz="1300">
                          <a:latin typeface="Cambria Math"/>
                        </a:rPr>
                        <m:t>|</m:t>
                      </m:r>
                      <m:sSubSup>
                        <m:sSubSupPr>
                          <m:ctrlPr>
                            <a:rPr lang="en-US" sz="1300">
                              <a:latin typeface="Cambria Math"/>
                            </a:rPr>
                          </m:ctrlPr>
                        </m:sSubSupPr>
                        <m:e>
                          <m:r>
                            <a:rPr lang="en-US" sz="1300">
                              <a:latin typeface="Cambria Math"/>
                            </a:rPr>
                            <m:t>𝜀</m:t>
                          </m:r>
                        </m:e>
                        <m:sub>
                          <m:r>
                            <a:rPr lang="en-US" sz="1300">
                              <a:latin typeface="Cambria Math"/>
                            </a:rPr>
                            <m:t>𝑘</m:t>
                          </m:r>
                        </m:sub>
                        <m:sup>
                          <m:r>
                            <a:rPr lang="en-US" sz="1300">
                              <a:latin typeface="Cambria Math"/>
                            </a:rPr>
                            <m:t>𝑖</m:t>
                          </m:r>
                        </m:sup>
                      </m:sSubSup>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|≤(1−</m:t>
                      </m:r>
                      <m:sSubSup>
                        <m:sSubSupPr>
                          <m:ctrlPr>
                            <a:rPr lang="en-US" sz="1300">
                              <a:latin typeface="Cambria Math"/>
                            </a:rPr>
                          </m:ctrlPr>
                        </m:sSubSupPr>
                        <m:e>
                          <m:r>
                            <a:rPr lang="en-US" sz="1300">
                              <a:latin typeface="Cambria Math"/>
                            </a:rPr>
                            <m:t>𝛾</m:t>
                          </m:r>
                        </m:e>
                        <m:sub>
                          <m:r>
                            <a:rPr lang="en-US" sz="1300">
                              <a:latin typeface="Cambria Math"/>
                            </a:rPr>
                            <m:t>𝑘</m:t>
                          </m:r>
                        </m:sub>
                        <m:sup>
                          <m:r>
                            <a:rPr lang="en-US" sz="1300">
                              <a:latin typeface="Cambria Math"/>
                            </a:rPr>
                            <m:t>𝑖</m:t>
                          </m:r>
                        </m:sup>
                      </m:sSubSup>
                      <m:d>
                        <m:dPr>
                          <m:ctrlPr>
                            <a:rPr lang="en-US" sz="1300">
                              <a:latin typeface="Cambria Math"/>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sSub>
                        <m:sSubPr>
                          <m:ctrlPr>
                            <a:rPr lang="en-US" sz="1300">
                              <a:latin typeface="Cambria Math"/>
                            </a:rPr>
                          </m:ctrlPr>
                        </m:sSubPr>
                        <m:e>
                          <m:r>
                            <a:rPr lang="en-US" sz="1300">
                              <a:latin typeface="Cambria Math"/>
                            </a:rPr>
                            <m:t>𝜀</m:t>
                          </m:r>
                        </m:e>
                        <m:sub>
                          <m:r>
                            <a:rPr lang="en-US" sz="1300">
                              <a:latin typeface="Cambria Math"/>
                            </a:rPr>
                            <m:t>𝑚𝑎𝑥</m:t>
                          </m:r>
                        </m:sub>
                      </m:sSub>
                    </m:oMath>
                  </m:oMathPara>
                </a14:m>
                <a:endParaRPr lang="en-US" sz="1600" dirty="0"/>
              </a:p>
            </p:txBody>
          </p:sp>
        </mc:Choice>
        <mc:Fallback xmlns="">
          <p:sp>
            <p:nvSpPr>
              <p:cNvPr id="14" name="Text 9"/>
              <p:cNvSpPr>
                <a:spLocks noRot="1" noChangeAspect="1" noMove="1" noResize="1" noEditPoints="1" noAdjustHandles="1" noChangeArrowheads="1" noChangeShapeType="1" noTextEdit="1"/>
              </p:cNvSpPr>
              <p:nvPr/>
            </p:nvSpPr>
            <p:spPr>
              <a:xfrm>
                <a:off x="7223760" y="4304488"/>
                <a:ext cx="3017520" cy="384048"/>
              </a:xfrm>
              <a:prstGeom prst="rect">
                <a:avLst/>
              </a:prstGeom>
              <a:blipFill>
                <a:blip r:embed="rId11"/>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9" name="Text 5">
                <a:extLst>
                  <a:ext uri="{FF2B5EF4-FFF2-40B4-BE49-F238E27FC236}">
                    <a16:creationId xmlns:a16="http://schemas.microsoft.com/office/drawing/2014/main" id="{A1B6E5EE-B28C-41C6-9CC2-19940B1EF136}"/>
                  </a:ext>
                </a:extLst>
              </p:cNvPr>
              <p:cNvSpPr/>
              <p:nvPr/>
            </p:nvSpPr>
            <p:spPr>
              <a:xfrm>
                <a:off x="5943600" y="3890112"/>
                <a:ext cx="5486400" cy="502920"/>
              </a:xfrm>
              <a:prstGeom prst="rect">
                <a:avLst/>
              </a:prstGeom>
              <a:noFill/>
              <a:ln/>
            </p:spPr>
            <p:txBody>
              <a:bodyPr wrap="square" lIns="0" tIns="0" rIns="0" bIns="0" rtlCol="0" anchor="ctr"/>
              <a:lstStyle/>
              <a:p>
                <a:pPr marL="0" indent="0" algn="ctr">
                  <a:buNone/>
                </a:pPr>
                <a14:m>
                  <m:oMathPara xmlns:m="http://schemas.openxmlformats.org/officeDocument/2006/math">
                    <m:oMath>
                      <m:sSubSup>
                        <m:sSubSupPr>
                          <m:ctrlPr>
                            <a:rPr lang="en-US" sz="1400">
                              <a:latin typeface="Cambria Math"/>
                            </a:rPr>
                          </m:ctrlPr>
                        </m:sSubSupPr>
                        <m:e>
                          <m:r>
                            <a:rPr lang="en-US" sz="1400">
                              <a:latin typeface="Cambria Math"/>
                            </a:rPr>
                            <m:t>𝛾</m:t>
                          </m:r>
                        </m:e>
                        <m:sub>
                          <m:r>
                            <a:rPr lang="en-US" sz="1400">
                              <a:latin typeface="Cambria Math"/>
                            </a:rPr>
                            <m:t>𝑘</m:t>
                          </m:r>
                        </m:sub>
                        <m:sup>
                          <m:r>
                            <a:rPr lang="en-US" sz="1400">
                              <a:latin typeface="Cambria Math"/>
                            </a:rPr>
                            <m:t>𝑖</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r>
                        <a:rPr lang="en-US" sz="1400">
                          <a:latin typeface="Cambria Math"/>
                        </a:rPr>
                        <m:t>𝑚𝑖𝑛</m:t>
                      </m:r>
                      <m:r>
                        <a:rPr lang="en-US" sz="1400">
                          <a:latin typeface="Cambria Math"/>
                        </a:rPr>
                        <m:t>⁡{</m:t>
                      </m:r>
                      <m:sSub>
                        <m:sSubPr>
                          <m:ctrlPr>
                            <a:rPr lang="en-US" sz="1400">
                              <a:latin typeface="Cambria Math"/>
                            </a:rPr>
                          </m:ctrlPr>
                        </m:sSubPr>
                        <m:e>
                          <m:r>
                            <a:rPr lang="en-US" sz="1400">
                              <a:latin typeface="Cambria Math"/>
                            </a:rPr>
                            <m:t>𝛾</m:t>
                          </m:r>
                        </m:e>
                        <m:sub>
                          <m:r>
                            <a:rPr lang="en-US" sz="1400">
                              <a:latin typeface="Cambria Math"/>
                            </a:rPr>
                            <m:t>𝑜𝑏𝑠</m:t>
                          </m:r>
                        </m:sub>
                      </m:sSub>
                      <m:r>
                        <a:rPr lang="en-US" sz="1400">
                          <a:latin typeface="Cambria Math"/>
                        </a:rPr>
                        <m:t>,</m:t>
                      </m:r>
                      <m:sSub>
                        <m:sSubPr>
                          <m:ctrlPr>
                            <a:rPr lang="en-US" sz="1400">
                              <a:latin typeface="Cambria Math"/>
                            </a:rPr>
                          </m:ctrlPr>
                        </m:sSubPr>
                        <m:e>
                          <m:r>
                            <a:rPr lang="en-US" sz="1400">
                              <a:latin typeface="Cambria Math"/>
                            </a:rPr>
                            <m:t>𝛾</m:t>
                          </m:r>
                        </m:e>
                        <m:sub>
                          <m:r>
                            <a:rPr lang="en-US" sz="1400">
                              <a:latin typeface="Cambria Math"/>
                            </a:rPr>
                            <m:t>𝑐𝑜𝑣</m:t>
                          </m:r>
                        </m:sub>
                      </m:sSub>
                      <m:r>
                        <a:rPr lang="en-US" sz="1400">
                          <a:latin typeface="Cambria Math"/>
                        </a:rPr>
                        <m:t>,</m:t>
                      </m:r>
                      <m:sSub>
                        <m:sSubPr>
                          <m:ctrlPr>
                            <a:rPr lang="en-US" sz="1400">
                              <a:latin typeface="Cambria Math"/>
                            </a:rPr>
                          </m:ctrlPr>
                        </m:sSubPr>
                        <m:e>
                          <m:r>
                            <a:rPr lang="en-US" sz="1400">
                              <a:latin typeface="Cambria Math"/>
                            </a:rPr>
                            <m:t>𝛾</m:t>
                          </m:r>
                        </m:e>
                        <m:sub>
                          <m:r>
                            <a:rPr lang="en-US" sz="1400">
                              <a:latin typeface="Cambria Math"/>
                            </a:rPr>
                            <m:t>𝑓𝑟𝑒</m:t>
                          </m:r>
                        </m:sub>
                      </m:sSub>
                      <m:r>
                        <a:rPr lang="en-US" sz="1400">
                          <a:latin typeface="Cambria Math"/>
                        </a:rPr>
                        <m:t>,</m:t>
                      </m:r>
                      <m:sSub>
                        <m:sSubPr>
                          <m:ctrlPr>
                            <a:rPr lang="en-US" sz="1400">
                              <a:latin typeface="Cambria Math"/>
                            </a:rPr>
                          </m:ctrlPr>
                        </m:sSubPr>
                        <m:e>
                          <m:r>
                            <a:rPr lang="en-US" sz="1400">
                              <a:latin typeface="Cambria Math"/>
                            </a:rPr>
                            <m:t>𝛾</m:t>
                          </m:r>
                        </m:e>
                        <m:sub>
                          <m:r>
                            <a:rPr lang="en-US" sz="1400">
                              <a:latin typeface="Cambria Math"/>
                            </a:rPr>
                            <m:t>𝑟𝑒𝑙</m:t>
                          </m:r>
                        </m:sub>
                      </m:sSub>
                      <m:r>
                        <a:rPr lang="en-US" sz="1400">
                          <a:latin typeface="Cambria Math"/>
                        </a:rPr>
                        <m:t>}</m:t>
                      </m:r>
                    </m:oMath>
                  </m:oMathPara>
                </a14:m>
                <a:endParaRPr lang="en-US" sz="1400" dirty="0"/>
              </a:p>
            </p:txBody>
          </p:sp>
        </mc:Choice>
        <mc:Fallback xmlns="">
          <p:sp>
            <p:nvSpPr>
              <p:cNvPr id="19" name="Text 5">
                <a:extLst>
                  <a:ext uri="{FF2B5EF4-FFF2-40B4-BE49-F238E27FC236}">
                    <a16:creationId xmlns:a16="http://schemas.microsoft.com/office/drawing/2014/main" id="{A1B6E5EE-B28C-41C6-9CC2-19940B1EF136}"/>
                  </a:ext>
                </a:extLst>
              </p:cNvPr>
              <p:cNvSpPr>
                <a:spLocks noRot="1" noChangeAspect="1" noMove="1" noResize="1" noEditPoints="1" noAdjustHandles="1" noChangeArrowheads="1" noChangeShapeType="1" noTextEdit="1"/>
              </p:cNvSpPr>
              <p:nvPr/>
            </p:nvSpPr>
            <p:spPr>
              <a:xfrm>
                <a:off x="5943600" y="3890112"/>
                <a:ext cx="5486400" cy="502920"/>
              </a:xfrm>
              <a:prstGeom prst="rect">
                <a:avLst/>
              </a:prstGeom>
              <a:blipFill>
                <a:blip r:embed="rId12"/>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798830C-A0BC-6CD5-384D-25B38D620A19}"/>
                  </a:ext>
                </a:extLst>
              </p:cNvPr>
              <p:cNvSpPr txBox="1"/>
              <p:nvPr/>
            </p:nvSpPr>
            <p:spPr>
              <a:xfrm>
                <a:off x="5986855" y="4686662"/>
                <a:ext cx="6096000" cy="2157578"/>
              </a:xfrm>
              <a:prstGeom prst="rect">
                <a:avLst/>
              </a:prstGeom>
              <a:noFill/>
            </p:spPr>
            <p:txBody>
              <a:bodyPr wrap="square">
                <a:spAutoFit/>
              </a:bodyPr>
              <a:lstStyle/>
              <a:p>
                <a:pPr marL="152400" indent="-152400">
                  <a:lnSpc>
                    <a:spcPct val="105000"/>
                  </a:lnSpc>
                  <a:spcAft>
                    <a:spcPts val="700"/>
                  </a:spcAft>
                  <a:buSzPct val="100000"/>
                  <a:buChar char="•"/>
                </a:pPr>
                <a14:m>
                  <m:oMath xmlns:m="http://schemas.openxmlformats.org/officeDocument/2006/math">
                    <m:sSub>
                      <m:sSubPr>
                        <m:ctrlPr>
                          <a:rPr lang="en-US" sz="1200">
                            <a:latin typeface="Cambria Math"/>
                          </a:rPr>
                        </m:ctrlPr>
                      </m:sSubPr>
                      <m:e>
                        <m:r>
                          <a:rPr lang="en-US" sz="1200">
                            <a:latin typeface="Cambria Math"/>
                          </a:rPr>
                          <m:t>𝛾</m:t>
                        </m:r>
                      </m:e>
                      <m:sub>
                        <m:r>
                          <a:rPr lang="en-US" sz="1200">
                            <a:latin typeface="Cambria Math"/>
                          </a:rPr>
                          <m:t>𝑜𝑏𝑠</m:t>
                        </m:r>
                      </m:sub>
                    </m:sSub>
                    <m:r>
                      <a:rPr lang="en-US" sz="1200" i="1">
                        <a:latin typeface="Cambria Math" panose="02040503050406030204" pitchFamily="18" charset="0"/>
                      </a:rPr>
                      <m:t> </m:t>
                    </m:r>
                    <m:r>
                      <a:rPr lang="en-US" sz="1200" b="0" i="1" smtClean="0">
                        <a:latin typeface="Cambria Math" panose="02040503050406030204" pitchFamily="18" charset="0"/>
                      </a:rPr>
                      <m:t>: </m:t>
                    </m:r>
                  </m:oMath>
                </a14:m>
                <a:r>
                  <a:rPr lang="en-US" sz="1300" dirty="0">
                    <a:solidFill>
                      <a:srgbClr val="222222"/>
                    </a:solidFill>
                    <a:latin typeface="Calibri" pitchFamily="34" charset="0"/>
                    <a:ea typeface="Calibri" pitchFamily="34" charset="-122"/>
                    <a:cs typeface="Calibri" pitchFamily="34" charset="-120"/>
                  </a:rPr>
                  <a:t>Observability is the quantity sensible at all (occlusion, line of sight, product availability)</a:t>
                </a:r>
                <a:endParaRPr lang="en-US" sz="1300" dirty="0"/>
              </a:p>
              <a:p>
                <a:pPr marL="152400" indent="-152400">
                  <a:lnSpc>
                    <a:spcPct val="105000"/>
                  </a:lnSpc>
                  <a:spcAft>
                    <a:spcPts val="700"/>
                  </a:spcAft>
                  <a:buSzPct val="100000"/>
                  <a:buChar char="•"/>
                </a:pPr>
                <a14:m>
                  <m:oMath xmlns:m="http://schemas.openxmlformats.org/officeDocument/2006/math">
                    <m:sSub>
                      <m:sSubPr>
                        <m:ctrlPr>
                          <a:rPr lang="en-US" sz="1200">
                            <a:latin typeface="Cambria Math"/>
                          </a:rPr>
                        </m:ctrlPr>
                      </m:sSubPr>
                      <m:e>
                        <m:r>
                          <a:rPr lang="en-US" sz="1200">
                            <a:latin typeface="Cambria Math"/>
                          </a:rPr>
                          <m:t>𝛾</m:t>
                        </m:r>
                      </m:e>
                      <m:sub>
                        <m:r>
                          <a:rPr lang="en-US" sz="1200">
                            <a:latin typeface="Cambria Math"/>
                          </a:rPr>
                          <m:t>𝑐𝑜𝑣</m:t>
                        </m:r>
                      </m:sub>
                    </m:sSub>
                    <m:r>
                      <a:rPr lang="en-US" sz="1200" i="1">
                        <a:latin typeface="Cambria Math" panose="02040503050406030204" pitchFamily="18" charset="0"/>
                      </a:rPr>
                      <m:t> </m:t>
                    </m:r>
                    <m:r>
                      <a:rPr lang="en-US" sz="1200" b="0" i="1" smtClean="0">
                        <a:latin typeface="Cambria Math" panose="02040503050406030204" pitchFamily="18" charset="0"/>
                      </a:rPr>
                      <m:t>: </m:t>
                    </m:r>
                  </m:oMath>
                </a14:m>
                <a:r>
                  <a:rPr lang="en-US" sz="1300" dirty="0">
                    <a:solidFill>
                      <a:srgbClr val="222222"/>
                    </a:solidFill>
                    <a:latin typeface="Calibri" pitchFamily="34" charset="0"/>
                    <a:ea typeface="Calibri" pitchFamily="34" charset="-122"/>
                    <a:cs typeface="Calibri" pitchFamily="34" charset="-120"/>
                  </a:rPr>
                  <a:t>Coverage is computed from the covering footprints of satellite, aerial, and in-situ assets</a:t>
                </a:r>
                <a:endParaRPr lang="en-US" sz="1300" dirty="0"/>
              </a:p>
              <a:p>
                <a:pPr marL="152400" indent="-152400">
                  <a:lnSpc>
                    <a:spcPct val="105000"/>
                  </a:lnSpc>
                  <a:spcAft>
                    <a:spcPts val="700"/>
                  </a:spcAft>
                  <a:buSzPct val="100000"/>
                  <a:buChar char="•"/>
                </a:pPr>
                <a14:m>
                  <m:oMath xmlns:m="http://schemas.openxmlformats.org/officeDocument/2006/math">
                    <m:sSub>
                      <m:sSubPr>
                        <m:ctrlPr>
                          <a:rPr lang="en-US" sz="1200">
                            <a:latin typeface="Cambria Math"/>
                          </a:rPr>
                        </m:ctrlPr>
                      </m:sSubPr>
                      <m:e>
                        <m:r>
                          <a:rPr lang="en-US" sz="1200">
                            <a:latin typeface="Cambria Math"/>
                          </a:rPr>
                          <m:t>𝛾</m:t>
                        </m:r>
                      </m:e>
                      <m:sub>
                        <m:r>
                          <a:rPr lang="en-US" sz="1200">
                            <a:latin typeface="Cambria Math"/>
                          </a:rPr>
                          <m:t>𝑓𝑟𝑒</m:t>
                        </m:r>
                      </m:sub>
                    </m:sSub>
                    <m:r>
                      <a:rPr lang="en-US" sz="1200" i="1">
                        <a:latin typeface="Cambria Math" panose="02040503050406030204" pitchFamily="18" charset="0"/>
                      </a:rPr>
                      <m:t> </m:t>
                    </m:r>
                  </m:oMath>
                </a14:m>
                <a:r>
                  <a:rPr lang="en-US" sz="1300" dirty="0">
                    <a:solidFill>
                      <a:srgbClr val="222222"/>
                    </a:solidFill>
                    <a:latin typeface="Calibri" pitchFamily="34" charset="0"/>
                    <a:ea typeface="Calibri" pitchFamily="34" charset="-122"/>
                    <a:cs typeface="Calibri" pitchFamily="34" charset="-120"/>
                  </a:rPr>
                  <a:t>: Freshness decays exponentially with report age (half-life 90 minutes)</a:t>
                </a:r>
                <a:endParaRPr lang="en-US" sz="1300" dirty="0"/>
              </a:p>
              <a:p>
                <a:pPr marL="152400" indent="-152400">
                  <a:lnSpc>
                    <a:spcPct val="105000"/>
                  </a:lnSpc>
                  <a:spcAft>
                    <a:spcPts val="700"/>
                  </a:spcAft>
                  <a:buSzPct val="100000"/>
                  <a:buChar char="•"/>
                </a:pPr>
                <a14:m>
                  <m:oMath xmlns:m="http://schemas.openxmlformats.org/officeDocument/2006/math">
                    <m:sSub>
                      <m:sSubPr>
                        <m:ctrlPr>
                          <a:rPr lang="en-US" sz="1200">
                            <a:latin typeface="Cambria Math"/>
                          </a:rPr>
                        </m:ctrlPr>
                      </m:sSubPr>
                      <m:e>
                        <m:r>
                          <a:rPr lang="en-US" sz="1200">
                            <a:latin typeface="Cambria Math"/>
                          </a:rPr>
                          <m:t>𝛾</m:t>
                        </m:r>
                      </m:e>
                      <m:sub>
                        <m:r>
                          <a:rPr lang="en-US" sz="1200">
                            <a:latin typeface="Cambria Math"/>
                          </a:rPr>
                          <m:t>𝑟𝑒𝑙</m:t>
                        </m:r>
                      </m:sub>
                    </m:sSub>
                    <m:r>
                      <a:rPr lang="en-US" sz="1200" i="1">
                        <a:latin typeface="Cambria Math" panose="02040503050406030204" pitchFamily="18" charset="0"/>
                      </a:rPr>
                      <m:t> </m:t>
                    </m:r>
                  </m:oMath>
                </a14:m>
                <a:r>
                  <a:rPr lang="en-US" sz="1300" dirty="0">
                    <a:solidFill>
                      <a:srgbClr val="222222"/>
                    </a:solidFill>
                    <a:latin typeface="Calibri" pitchFamily="34" charset="0"/>
                    <a:ea typeface="Calibri" pitchFamily="34" charset="-122"/>
                    <a:cs typeface="Calibri" pitchFamily="34" charset="-120"/>
                  </a:rPr>
                  <a:t>: Reliability is the trust of the reporting channel (calibrated sensors near 1, unproven reports lower)</a:t>
                </a:r>
                <a:endParaRPr lang="en-US" sz="1300" dirty="0"/>
              </a:p>
              <a:p>
                <a:pPr marL="152400" indent="-152400">
                  <a:lnSpc>
                    <a:spcPct val="105000"/>
                  </a:lnSpc>
                  <a:spcAft>
                    <a:spcPts val="700"/>
                  </a:spcAft>
                  <a:buSzPct val="100000"/>
                  <a:buChar char="•"/>
                </a:pPr>
                <a:r>
                  <a:rPr lang="en-US" sz="1300" b="1" dirty="0">
                    <a:solidFill>
                      <a:srgbClr val="222222"/>
                    </a:solidFill>
                    <a:latin typeface="Calibri" pitchFamily="34" charset="0"/>
                    <a:ea typeface="Calibri" pitchFamily="34" charset="-122"/>
                    <a:cs typeface="Calibri" pitchFamily="34" charset="-120"/>
                  </a:rPr>
                  <a:t>Minimum, not average — the weakest factor rules (conservative by design)</a:t>
                </a:r>
                <a:endParaRPr lang="en-US" sz="1300" dirty="0"/>
              </a:p>
            </p:txBody>
          </p:sp>
        </mc:Choice>
        <mc:Fallback xmlns="">
          <p:sp>
            <p:nvSpPr>
              <p:cNvPr id="15" name="TextBox 14">
                <a:extLst>
                  <a:ext uri="{FF2B5EF4-FFF2-40B4-BE49-F238E27FC236}">
                    <a16:creationId xmlns:a16="http://schemas.microsoft.com/office/drawing/2014/main" id="{9798830C-A0BC-6CD5-384D-25B38D620A19}"/>
                  </a:ext>
                </a:extLst>
              </p:cNvPr>
              <p:cNvSpPr txBox="1">
                <a:spLocks noRot="1" noChangeAspect="1" noMove="1" noResize="1" noEditPoints="1" noAdjustHandles="1" noChangeArrowheads="1" noChangeShapeType="1" noTextEdit="1"/>
              </p:cNvSpPr>
              <p:nvPr/>
            </p:nvSpPr>
            <p:spPr>
              <a:xfrm>
                <a:off x="5986855" y="4686662"/>
                <a:ext cx="6096000" cy="2157578"/>
              </a:xfrm>
              <a:prstGeom prst="rect">
                <a:avLst/>
              </a:prstGeom>
              <a:blipFill>
                <a:blip r:embed="rId13"/>
                <a:stretch>
                  <a:fillRect l="-200"/>
                </a:stretch>
              </a:blipFill>
            </p:spPr>
            <p:txBody>
              <a:bodyPr/>
              <a:lstStyle/>
              <a:p>
                <a:r>
                  <a:rPr lang="tr-TR">
                    <a:noFill/>
                  </a:rPr>
                  <a:t> </a:t>
                </a:r>
              </a:p>
            </p:txBody>
          </p:sp>
        </mc:Fallback>
      </mc:AlternateContent>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tr-TR" sz="2700" b="1" dirty="0">
                <a:solidFill>
                  <a:srgbClr val="000000"/>
                </a:solidFill>
                <a:latin typeface="Cambria" pitchFamily="34" charset="0"/>
                <a:ea typeface="Cambria" pitchFamily="34" charset="-122"/>
                <a:cs typeface="Cambria" pitchFamily="34" charset="-120"/>
              </a:rPr>
              <a:t>DSS – </a:t>
            </a:r>
            <a:r>
              <a:rPr lang="en-US" sz="2700" b="1" dirty="0">
                <a:solidFill>
                  <a:srgbClr val="000000"/>
                </a:solidFill>
                <a:latin typeface="Cambria" pitchFamily="34" charset="0"/>
                <a:ea typeface="Cambria" pitchFamily="34" charset="-122"/>
                <a:cs typeface="Cambria" pitchFamily="34" charset="-120"/>
              </a:rPr>
              <a:t>Observation and Decision Return</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mc:AlternateContent xmlns:mc="http://schemas.openxmlformats.org/markup-compatibility/2006" xmlns:a14="http://schemas.microsoft.com/office/drawing/2010/main">
        <mc:Choice Requires="a14">
          <p:sp>
            <p:nvSpPr>
              <p:cNvPr id="15" name="Text 10"/>
              <p:cNvSpPr/>
              <p:nvPr/>
            </p:nvSpPr>
            <p:spPr>
              <a:xfrm>
                <a:off x="5715000" y="1466815"/>
                <a:ext cx="6035040" cy="548640"/>
              </a:xfrm>
              <a:prstGeom prst="rect">
                <a:avLst/>
              </a:prstGeom>
              <a:noFill/>
              <a:ln/>
            </p:spPr>
            <p:txBody>
              <a:bodyPr wrap="square" lIns="0" tIns="0" rIns="0" bIns="0" rtlCol="0" anchor="t"/>
              <a:lstStyle/>
              <a:p>
                <a:pPr marL="0" indent="0" algn="just">
                  <a:lnSpc>
                    <a:spcPct val="104000"/>
                  </a:lnSpc>
                  <a:buNone/>
                </a:pPr>
                <a:r>
                  <a:rPr lang="en-US" sz="1500" b="1" dirty="0">
                    <a:solidFill>
                      <a:srgbClr val="222222"/>
                    </a:solidFill>
                    <a:latin typeface="Calibri" pitchFamily="34" charset="0"/>
                    <a:ea typeface="Calibri" pitchFamily="34" charset="-122"/>
                    <a:cs typeface="Calibri" pitchFamily="34" charset="-120"/>
                  </a:rPr>
                  <a:t>• The decision returns as a typed field — </a:t>
                </a:r>
                <a14:m>
                  <m:oMath xmlns:m="http://schemas.openxmlformats.org/officeDocument/2006/math">
                    <m:sSub>
                      <m:sSubPr>
                        <m:ctrlPr>
                          <a:rPr lang="en-US" sz="1400">
                            <a:latin typeface="Cambria Math"/>
                          </a:rPr>
                        </m:ctrlPr>
                      </m:sSubPr>
                      <m:e>
                        <m:r>
                          <a:rPr lang="en-US" sz="1400">
                            <a:latin typeface="Cambria Math"/>
                          </a:rPr>
                          <m:t>𝜋</m:t>
                        </m:r>
                      </m:e>
                      <m:sub>
                        <m:r>
                          <a:rPr lang="en-US" sz="1400">
                            <a:latin typeface="Cambria Math"/>
                          </a:rPr>
                          <m:t>𝐷𝑆𝑆</m:t>
                        </m:r>
                      </m:sub>
                    </m:sSub>
                  </m:oMath>
                </a14:m>
                <a:r>
                  <a:rPr lang="en-US" sz="1500" b="1" dirty="0">
                    <a:solidFill>
                      <a:srgbClr val="222222"/>
                    </a:solidFill>
                    <a:latin typeface="Calibri" pitchFamily="34" charset="0"/>
                    <a:ea typeface="Calibri" pitchFamily="34" charset="-122"/>
                    <a:cs typeface="Calibri" pitchFamily="34" charset="-120"/>
                  </a:rPr>
                  <a:t> is the four-layer pipeline (features with confidence → concepts → rules → cost and quality tests):</a:t>
                </a:r>
                <a:endParaRPr lang="en-US" sz="1500" dirty="0"/>
              </a:p>
            </p:txBody>
          </p:sp>
        </mc:Choice>
        <mc:Fallback xmlns="">
          <p:sp>
            <p:nvSpPr>
              <p:cNvPr id="15" name="Text 10"/>
              <p:cNvSpPr>
                <a:spLocks noRot="1" noChangeAspect="1" noMove="1" noResize="1" noEditPoints="1" noAdjustHandles="1" noChangeArrowheads="1" noChangeShapeType="1" noTextEdit="1"/>
              </p:cNvSpPr>
              <p:nvPr/>
            </p:nvSpPr>
            <p:spPr>
              <a:xfrm>
                <a:off x="5715000" y="1466815"/>
                <a:ext cx="6035040" cy="548640"/>
              </a:xfrm>
              <a:prstGeom prst="rect">
                <a:avLst/>
              </a:prstGeom>
              <a:blipFill>
                <a:blip r:embed="rId6"/>
                <a:stretch>
                  <a:fillRect l="-1919" t="-5556" r="-1818" b="-13333"/>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6" name="Text 11"/>
              <p:cNvSpPr/>
              <p:nvPr/>
            </p:nvSpPr>
            <p:spPr>
              <a:xfrm>
                <a:off x="5715000" y="2015455"/>
                <a:ext cx="6035040" cy="420624"/>
              </a:xfrm>
              <a:prstGeom prst="rect">
                <a:avLst/>
              </a:prstGeom>
              <a:noFill/>
              <a:ln/>
            </p:spPr>
            <p:txBody>
              <a:bodyPr wrap="square" lIns="0" tIns="0" rIns="0" bIns="0" rtlCol="0" anchor="ctr"/>
              <a:lstStyle/>
              <a:p>
                <a:pPr marL="0" indent="0" algn="ctr">
                  <a:buNone/>
                </a:pPr>
                <a14:m>
                  <m:oMathPara xmlns:m="http://schemas.openxmlformats.org/officeDocument/2006/math">
                    <m:oMath>
                      <m:sSubSup>
                        <m:sSubSupPr>
                          <m:ctrlPr>
                            <a:rPr lang="en-US" sz="1400">
                              <a:latin typeface="Cambria Math"/>
                            </a:rPr>
                          </m:ctrlPr>
                        </m:sSubSupPr>
                        <m:e>
                          <m:r>
                            <a:rPr lang="en-US" sz="1400">
                              <a:latin typeface="Cambria Math"/>
                            </a:rPr>
                            <m:t>𝑈</m:t>
                          </m:r>
                        </m:e>
                        <m:sub>
                          <m:r>
                            <a:rPr lang="en-US" sz="1400">
                              <a:latin typeface="Cambria Math"/>
                            </a:rPr>
                            <m:t>𝐷𝑆𝑆</m:t>
                          </m:r>
                          <m:r>
                            <a:rPr lang="en-US" sz="1400">
                              <a:latin typeface="Cambria Math"/>
                            </a:rPr>
                            <m:t>,</m:t>
                          </m:r>
                          <m:r>
                            <a:rPr lang="en-US" sz="1400">
                              <a:latin typeface="Cambria Math"/>
                            </a:rPr>
                            <m:t>𝑘</m:t>
                          </m:r>
                        </m:sub>
                        <m:sup>
                          <m:r>
                            <m:rPr>
                              <m:sty m:val="p"/>
                            </m:rPr>
                            <a:rPr lang="tr-TR" sz="1400" b="0" i="0" smtClean="0">
                              <a:latin typeface="Cambria Math" panose="02040503050406030204" pitchFamily="18" charset="0"/>
                            </a:rPr>
                            <m:t>i</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 = </m:t>
                      </m:r>
                      <m:sSubSup>
                        <m:sSubSupPr>
                          <m:ctrlPr>
                            <a:rPr lang="en-US" sz="1400">
                              <a:latin typeface="Cambria Math"/>
                            </a:rPr>
                          </m:ctrlPr>
                        </m:sSubSupPr>
                        <m:e>
                          <m:r>
                            <a:rPr lang="en-US" sz="1400">
                              <a:latin typeface="Cambria Math"/>
                            </a:rPr>
                            <m:t>𝜋</m:t>
                          </m:r>
                        </m:e>
                        <m:sub>
                          <m:r>
                            <a:rPr lang="en-US" sz="1400">
                              <a:latin typeface="Cambria Math"/>
                            </a:rPr>
                            <m:t>𝐷𝑆𝑆</m:t>
                          </m:r>
                        </m:sub>
                        <m:sup>
                          <m:r>
                            <a:rPr lang="en-US" sz="1400">
                              <a:latin typeface="Cambria Math"/>
                            </a:rPr>
                            <m:t>𝑖</m:t>
                          </m:r>
                        </m:sup>
                      </m:sSubSup>
                      <m:d>
                        <m:dPr>
                          <m:ctrlPr>
                            <a:rPr lang="en-US" sz="1400" i="1">
                              <a:latin typeface="Cambria Math" panose="02040503050406030204" pitchFamily="18" charset="0"/>
                            </a:rPr>
                          </m:ctrlPr>
                        </m:dPr>
                        <m:e>
                          <m:sSubSup>
                            <m:sSubSupPr>
                              <m:ctrlPr>
                                <a:rPr lang="en-US" sz="1400">
                                  <a:latin typeface="Cambria Math"/>
                                </a:rPr>
                              </m:ctrlPr>
                            </m:sSubSupPr>
                            <m:e>
                              <m:r>
                                <a:rPr lang="en-US" sz="1400">
                                  <a:latin typeface="Cambria Math"/>
                                </a:rPr>
                                <m:t>𝑂</m:t>
                              </m:r>
                            </m:e>
                            <m:sub>
                              <m:r>
                                <a:rPr lang="en-US" sz="1400">
                                  <a:latin typeface="Cambria Math"/>
                                </a:rPr>
                                <m:t>𝑘</m:t>
                              </m:r>
                            </m:sub>
                            <m:sup>
                              <m:r>
                                <m:rPr>
                                  <m:sty m:val="p"/>
                                </m:rPr>
                                <a:rPr lang="tr-TR" sz="1400" b="0" i="0" smtClean="0">
                                  <a:latin typeface="Cambria Math" panose="02040503050406030204" pitchFamily="18" charset="0"/>
                                </a:rPr>
                                <m:t>i</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sz="1400">
                                  <a:latin typeface="Cambria Math"/>
                                </a:rPr>
                              </m:ctrlPr>
                            </m:sSubPr>
                            <m:e>
                              <m:r>
                                <a:rPr lang="en-US" sz="1400">
                                  <a:latin typeface="Cambria Math"/>
                                </a:rPr>
                                <m:t>ℱ</m:t>
                              </m:r>
                            </m:e>
                            <m:sub>
                              <m:r>
                                <a:rPr lang="en-US" sz="1400">
                                  <a:latin typeface="Cambria Math"/>
                                </a:rPr>
                                <m:t>𝐷𝑆𝑆</m:t>
                              </m:r>
                              <m:r>
                                <a:rPr lang="en-US" sz="1400">
                                  <a:latin typeface="Cambria Math"/>
                                </a:rPr>
                                <m:t>,</m:t>
                              </m:r>
                              <m:r>
                                <a:rPr lang="en-US" sz="1400">
                                  <a:latin typeface="Cambria Math"/>
                                </a:rPr>
                                <m:t>𝑘</m:t>
                              </m:r>
                            </m:sub>
                          </m:sSub>
                        </m:e>
                      </m:d>
                      <m:r>
                        <a:rPr lang="en-US" sz="1400">
                          <a:latin typeface="Cambria Math"/>
                        </a:rPr>
                        <m:t> ⊂ </m:t>
                      </m:r>
                      <m:sSub>
                        <m:sSubPr>
                          <m:ctrlPr>
                            <a:rPr lang="en-US" sz="1400">
                              <a:latin typeface="Cambria Math"/>
                            </a:rPr>
                          </m:ctrlPr>
                        </m:sSubPr>
                        <m:e>
                          <m:r>
                            <a:rPr lang="en-US" sz="1400">
                              <a:latin typeface="Cambria Math"/>
                            </a:rPr>
                            <m:t>ℱ</m:t>
                          </m:r>
                        </m:e>
                        <m:sub>
                          <m:r>
                            <a:rPr lang="en-US" sz="1400">
                              <a:latin typeface="Cambria Math"/>
                            </a:rPr>
                            <m:t>𝑖𝑛</m:t>
                          </m:r>
                          <m:r>
                            <a:rPr lang="en-US" sz="1400">
                              <a:latin typeface="Cambria Math"/>
                            </a:rPr>
                            <m:t>,</m:t>
                          </m:r>
                          <m:r>
                            <a:rPr lang="en-US" sz="1400">
                              <a:latin typeface="Cambria Math"/>
                            </a:rPr>
                            <m:t>𝑘</m:t>
                          </m:r>
                        </m:sub>
                      </m:sSub>
                    </m:oMath>
                  </m:oMathPara>
                </a14:m>
                <a:endParaRPr lang="en-US" sz="1600" dirty="0"/>
              </a:p>
            </p:txBody>
          </p:sp>
        </mc:Choice>
        <mc:Fallback xmlns="">
          <p:sp>
            <p:nvSpPr>
              <p:cNvPr id="16" name="Text 11"/>
              <p:cNvSpPr>
                <a:spLocks noRot="1" noChangeAspect="1" noMove="1" noResize="1" noEditPoints="1" noAdjustHandles="1" noChangeArrowheads="1" noChangeShapeType="1" noTextEdit="1"/>
              </p:cNvSpPr>
              <p:nvPr/>
            </p:nvSpPr>
            <p:spPr>
              <a:xfrm>
                <a:off x="5715000" y="2015455"/>
                <a:ext cx="6035040" cy="420624"/>
              </a:xfrm>
              <a:prstGeom prst="rect">
                <a:avLst/>
              </a:prstGeom>
              <a:blipFill>
                <a:blip r:embed="rId7"/>
                <a:stretch>
                  <a:fillRect/>
                </a:stretch>
              </a:blipFill>
              <a:ln/>
            </p:spPr>
            <p:txBody>
              <a:bodyPr/>
              <a:lstStyle/>
              <a:p>
                <a:r>
                  <a:rPr lang="tr-TR">
                    <a:noFill/>
                  </a:rPr>
                  <a:t/>
                </a:r>
              </a:p>
            </p:txBody>
          </p:sp>
        </mc:Fallback>
      </mc:AlternateContent>
      <p:sp>
        <p:nvSpPr>
          <p:cNvPr id="17" name="Text 12"/>
          <p:cNvSpPr/>
          <p:nvPr/>
        </p:nvSpPr>
        <p:spPr>
          <a:xfrm>
            <a:off x="5572124" y="5575138"/>
            <a:ext cx="6035040" cy="292608"/>
          </a:xfrm>
          <a:prstGeom prst="rect">
            <a:avLst/>
          </a:prstGeom>
          <a:noFill/>
          <a:ln/>
        </p:spPr>
        <p:txBody>
          <a:bodyPr wrap="square" lIns="0" tIns="0" rIns="0" bIns="0" rtlCol="0" anchor="t"/>
          <a:lstStyle/>
          <a:p>
            <a:pPr marL="0" indent="0" algn="just">
              <a:lnSpc>
                <a:spcPct val="104000"/>
              </a:lnSpc>
              <a:buNone/>
            </a:pPr>
            <a:r>
              <a:rPr lang="en-US" sz="1500" b="1" dirty="0">
                <a:solidFill>
                  <a:srgbClr val="222222"/>
                </a:solidFill>
                <a:latin typeface="Calibri" pitchFamily="34" charset="0"/>
                <a:ea typeface="Calibri" pitchFamily="34" charset="-122"/>
                <a:cs typeface="Calibri" pitchFamily="34" charset="-120"/>
              </a:rPr>
              <a:t>• One closed loop per decision cycle:</a:t>
            </a:r>
            <a:endParaRPr lang="en-US" sz="1500" dirty="0"/>
          </a:p>
        </p:txBody>
      </p:sp>
      <mc:AlternateContent xmlns:mc="http://schemas.openxmlformats.org/markup-compatibility/2006" xmlns:a14="http://schemas.microsoft.com/office/drawing/2010/main">
        <mc:Choice Requires="a14">
          <p:sp>
            <p:nvSpPr>
              <p:cNvPr id="18" name="Text 13"/>
              <p:cNvSpPr/>
              <p:nvPr/>
            </p:nvSpPr>
            <p:spPr>
              <a:xfrm>
                <a:off x="5689960" y="5785450"/>
                <a:ext cx="6035040" cy="420624"/>
              </a:xfrm>
              <a:prstGeom prst="rect">
                <a:avLst/>
              </a:prstGeom>
              <a:noFill/>
              <a:ln/>
            </p:spPr>
            <p:txBody>
              <a:bodyPr wrap="square" lIns="0" tIns="0" rIns="0" bIns="0" rtlCol="0" anchor="ctr"/>
              <a:lstStyle/>
              <a:p>
                <a:pPr algn="ctr"/>
                <a14:m>
                  <m:oMathPara xmlns:m="http://schemas.openxmlformats.org/officeDocument/2006/math">
                    <m:oMath>
                      <m:sSubSup>
                        <m:sSubSupPr>
                          <m:ctrlPr>
                            <a:rPr lang="en-US" sz="1400">
                              <a:latin typeface="Cambria Math"/>
                            </a:rPr>
                          </m:ctrlPr>
                        </m:sSubSupPr>
                        <m:e>
                          <m:r>
                            <a:rPr lang="en-US" sz="1400">
                              <a:latin typeface="Cambria Math"/>
                            </a:rPr>
                            <m:t>𝑆</m:t>
                          </m:r>
                        </m:e>
                        <m:sub>
                          <m:r>
                            <a:rPr lang="en-US" sz="1400">
                              <a:latin typeface="Cambria Math"/>
                            </a:rPr>
                            <m:t>𝑘</m:t>
                          </m:r>
                        </m:sub>
                        <m:sup>
                          <m:r>
                            <m:rPr>
                              <m:sty m:val="p"/>
                            </m:rPr>
                            <a:rPr lang="tr-TR" sz="1400" b="0" i="0" smtClean="0">
                              <a:latin typeface="Cambria Math" panose="02040503050406030204" pitchFamily="18" charset="0"/>
                            </a:rPr>
                            <m:t>i</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 </m:t>
                      </m:r>
                      <m:sSubSup>
                        <m:sSubSupPr>
                          <m:ctrlPr>
                            <a:rPr lang="en-US" sz="1400">
                              <a:latin typeface="Cambria Math"/>
                            </a:rPr>
                          </m:ctrlPr>
                        </m:sSubSupPr>
                        <m:e>
                          <m:r>
                            <a:rPr lang="en-US" sz="1400">
                              <a:latin typeface="Cambria Math"/>
                            </a:rPr>
                            <m:t>𝑂</m:t>
                          </m:r>
                        </m:e>
                        <m:sub>
                          <m:r>
                            <a:rPr lang="en-US" sz="1400">
                              <a:latin typeface="Cambria Math"/>
                            </a:rPr>
                            <m:t>𝑘</m:t>
                          </m:r>
                        </m:sub>
                        <m:sup>
                          <m:r>
                            <a:rPr lang="tr-TR" sz="1400" b="0" i="1" smtClean="0">
                              <a:latin typeface="Cambria Math" panose="02040503050406030204" pitchFamily="18" charset="0"/>
                            </a:rPr>
                            <m:t>𝑖</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sz="1400">
                              <a:latin typeface="Cambria Math"/>
                            </a:rPr>
                          </m:ctrlPr>
                        </m:sSubPr>
                        <m:e>
                          <m:r>
                            <a:rPr lang="en-US" sz="1400">
                              <a:latin typeface="Cambria Math"/>
                            </a:rPr>
                            <m:t>ℱ</m:t>
                          </m:r>
                        </m:e>
                        <m:sub>
                          <m:r>
                            <a:rPr lang="en-US" sz="1400">
                              <a:latin typeface="Cambria Math"/>
                            </a:rPr>
                            <m:t>𝐷𝑆𝑆</m:t>
                          </m:r>
                          <m:r>
                            <a:rPr lang="en-US" sz="1400">
                              <a:latin typeface="Cambria Math"/>
                            </a:rPr>
                            <m:t>,</m:t>
                          </m:r>
                          <m:r>
                            <a:rPr lang="en-US" sz="1400">
                              <a:latin typeface="Cambria Math"/>
                            </a:rPr>
                            <m:t>𝑘</m:t>
                          </m:r>
                        </m:sub>
                      </m:sSub>
                      <m:r>
                        <a:rPr lang="en-US" sz="1400">
                          <a:latin typeface="Cambria Math"/>
                        </a:rPr>
                        <m:t>→</m:t>
                      </m:r>
                      <m:sSubSup>
                        <m:sSubSupPr>
                          <m:ctrlPr>
                            <a:rPr lang="en-US" sz="1400">
                              <a:latin typeface="Cambria Math"/>
                            </a:rPr>
                          </m:ctrlPr>
                        </m:sSubSupPr>
                        <m:e>
                          <m:r>
                            <a:rPr lang="en-US" sz="1400">
                              <a:latin typeface="Cambria Math"/>
                            </a:rPr>
                            <m:t>𝑈</m:t>
                          </m:r>
                        </m:e>
                        <m:sub>
                          <m:r>
                            <a:rPr lang="en-US" sz="1400">
                              <a:latin typeface="Cambria Math"/>
                            </a:rPr>
                            <m:t>𝐷𝑆𝑆</m:t>
                          </m:r>
                          <m:r>
                            <a:rPr lang="en-US" sz="1400">
                              <a:latin typeface="Cambria Math"/>
                            </a:rPr>
                            <m:t>,</m:t>
                          </m:r>
                          <m:r>
                            <a:rPr lang="en-US" sz="1400">
                              <a:latin typeface="Cambria Math"/>
                            </a:rPr>
                            <m:t>𝑘</m:t>
                          </m:r>
                        </m:sub>
                        <m:sup>
                          <m:r>
                            <a:rPr lang="tr-TR" sz="1400" i="1">
                              <a:latin typeface="Cambria Math" panose="02040503050406030204" pitchFamily="18" charset="0"/>
                            </a:rPr>
                            <m:t>𝑖</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r>
                        <m:rPr>
                          <m:sty m:val="p"/>
                        </m:rPr>
                        <a:rPr lang="en-US" sz="1400">
                          <a:latin typeface="Cambria Math"/>
                        </a:rPr>
                        <m:t>Φ</m:t>
                      </m:r>
                      <m:d>
                        <m:dPr>
                          <m:ctrlPr>
                            <a:rPr lang="en-US" sz="1400">
                              <a:latin typeface="Cambria Math"/>
                            </a:rPr>
                          </m:ctrlPr>
                        </m:dPr>
                        <m:e>
                          <m:r>
                            <a:rPr lang="en-US" sz="1400">
                              <a:latin typeface="Cambria Math"/>
                            </a:rPr>
                            <m:t>∙</m:t>
                          </m:r>
                        </m:e>
                      </m:d>
                      <m:r>
                        <a:rPr lang="en-US" sz="1400">
                          <a:latin typeface="Cambria Math"/>
                        </a:rPr>
                        <m:t>→</m:t>
                      </m:r>
                      <m:sSubSup>
                        <m:sSubSupPr>
                          <m:ctrlPr>
                            <a:rPr lang="en-US" sz="1400">
                              <a:latin typeface="Cambria Math"/>
                            </a:rPr>
                          </m:ctrlPr>
                        </m:sSubSupPr>
                        <m:e>
                          <m:r>
                            <a:rPr lang="en-US" sz="1400">
                              <a:latin typeface="Cambria Math"/>
                            </a:rPr>
                            <m:t>𝑆</m:t>
                          </m:r>
                        </m:e>
                        <m:sub>
                          <m:r>
                            <a:rPr lang="en-US" sz="1400">
                              <a:latin typeface="Cambria Math"/>
                            </a:rPr>
                            <m:t>𝑘</m:t>
                          </m:r>
                          <m:r>
                            <a:rPr lang="en-US" sz="1400">
                              <a:latin typeface="Cambria Math"/>
                            </a:rPr>
                            <m:t>+1</m:t>
                          </m:r>
                        </m:sub>
                        <m:sup>
                          <m:r>
                            <a:rPr lang="tr-TR" sz="1400" i="1">
                              <a:latin typeface="Cambria Math" panose="02040503050406030204" pitchFamily="18" charset="0"/>
                            </a:rPr>
                            <m:t>𝑖</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oMath>
                  </m:oMathPara>
                </a14:m>
                <a:endParaRPr lang="en-US" dirty="0"/>
              </a:p>
            </p:txBody>
          </p:sp>
        </mc:Choice>
        <mc:Fallback xmlns="">
          <p:sp>
            <p:nvSpPr>
              <p:cNvPr id="18" name="Text 13"/>
              <p:cNvSpPr>
                <a:spLocks noRot="1" noChangeAspect="1" noMove="1" noResize="1" noEditPoints="1" noAdjustHandles="1" noChangeArrowheads="1" noChangeShapeType="1" noTextEdit="1"/>
              </p:cNvSpPr>
              <p:nvPr/>
            </p:nvSpPr>
            <p:spPr>
              <a:xfrm>
                <a:off x="5689960" y="5785450"/>
                <a:ext cx="6035040" cy="420624"/>
              </a:xfrm>
              <a:prstGeom prst="rect">
                <a:avLst/>
              </a:prstGeom>
              <a:blipFill>
                <a:blip r:embed="rId8"/>
                <a:stretch>
                  <a:fillRect/>
                </a:stretch>
              </a:blipFill>
              <a:ln/>
            </p:spPr>
            <p:txBody>
              <a:bodyPr/>
              <a:lstStyle/>
              <a:p>
                <a:r>
                  <a:rPr lang="tr-TR">
                    <a:noFill/>
                  </a:rPr>
                  <a:t> </a:t>
                </a:r>
              </a:p>
            </p:txBody>
          </p:sp>
        </mc:Fallback>
      </mc:AlternateContent>
      <p:sp>
        <p:nvSpPr>
          <p:cNvPr id="19" name="Text 4">
            <a:extLst>
              <a:ext uri="{FF2B5EF4-FFF2-40B4-BE49-F238E27FC236}">
                <a16:creationId xmlns:a16="http://schemas.microsoft.com/office/drawing/2014/main" id="{E26E6661-D2F8-45B4-AC9A-9845494278C3}"/>
              </a:ext>
            </a:extLst>
          </p:cNvPr>
          <p:cNvSpPr/>
          <p:nvPr/>
        </p:nvSpPr>
        <p:spPr>
          <a:xfrm>
            <a:off x="5927558" y="2564095"/>
            <a:ext cx="5822482" cy="155448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π is the decision policy: features with confidence → concepts → rules → cost and quality tests</a:t>
            </a:r>
            <a:endParaRPr lang="tr-TR" sz="1400" dirty="0">
              <a:solidFill>
                <a:srgbClr val="222222"/>
              </a:solidFill>
              <a:latin typeface="Calibri" pitchFamily="34" charset="0"/>
              <a:ea typeface="Calibri" pitchFamily="34" charset="-122"/>
              <a:cs typeface="Calibri" pitchFamily="34" charset="-120"/>
            </a:endParaRPr>
          </a:p>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Its inputs are only the observation and the decisional context — the true state is not an argument</a:t>
            </a:r>
            <a:endParaRPr lang="en-US" sz="1400" dirty="0"/>
          </a:p>
          <a:p>
            <a:pPr marL="152400" indent="-152400">
              <a:lnSpc>
                <a:spcPct val="105000"/>
              </a:lnSpc>
              <a:spcAft>
                <a:spcPts val="700"/>
              </a:spcAft>
              <a:buSzPct val="100000"/>
              <a:buChar char="•"/>
            </a:pPr>
            <a:r>
              <a:rPr lang="en-US" sz="1400" b="1" dirty="0">
                <a:solidFill>
                  <a:srgbClr val="222222"/>
                </a:solidFill>
                <a:latin typeface="Calibri" pitchFamily="34" charset="0"/>
                <a:ea typeface="Calibri" pitchFamily="34" charset="-122"/>
                <a:cs typeface="Calibri" pitchFamily="34" charset="-120"/>
              </a:rPr>
              <a:t>The decisional context is a subset of the input set: the boundary is closed</a:t>
            </a:r>
            <a:endParaRPr lang="en-US" sz="1400" dirty="0"/>
          </a:p>
        </p:txBody>
      </p:sp>
      <p:sp>
        <p:nvSpPr>
          <p:cNvPr id="20" name="Text 5">
            <a:extLst>
              <a:ext uri="{FF2B5EF4-FFF2-40B4-BE49-F238E27FC236}">
                <a16:creationId xmlns:a16="http://schemas.microsoft.com/office/drawing/2014/main" id="{9DC80B8A-7DB0-4D81-B0E7-17CD60BEA173}"/>
              </a:ext>
            </a:extLst>
          </p:cNvPr>
          <p:cNvSpPr/>
          <p:nvPr/>
        </p:nvSpPr>
        <p:spPr>
          <a:xfrm>
            <a:off x="5715000" y="4008847"/>
            <a:ext cx="6324600" cy="320040"/>
          </a:xfrm>
          <a:prstGeom prst="rect">
            <a:avLst/>
          </a:prstGeom>
          <a:noFill/>
          <a:ln/>
        </p:spPr>
        <p:txBody>
          <a:bodyPr wrap="square" lIns="0" tIns="0" rIns="0" bIns="0" rtlCol="0" anchor="t"/>
          <a:lstStyle/>
          <a:p>
            <a:pPr marL="0" indent="0">
              <a:lnSpc>
                <a:spcPct val="105000"/>
              </a:lnSpc>
              <a:buNone/>
            </a:pPr>
            <a:r>
              <a:rPr lang="en-US" sz="1500" b="1" dirty="0">
                <a:solidFill>
                  <a:srgbClr val="222222"/>
                </a:solidFill>
                <a:latin typeface="Calibri" pitchFamily="34" charset="0"/>
                <a:ea typeface="Calibri" pitchFamily="34" charset="-122"/>
                <a:cs typeface="Calibri" pitchFamily="34" charset="-120"/>
              </a:rPr>
              <a:t>• Inside simulation, the order can act only through seven physical effects:</a:t>
            </a:r>
            <a:endParaRPr lang="en-US" sz="1500" dirty="0"/>
          </a:p>
        </p:txBody>
      </p:sp>
      <p:sp>
        <p:nvSpPr>
          <p:cNvPr id="21" name="Text 6">
            <a:extLst>
              <a:ext uri="{FF2B5EF4-FFF2-40B4-BE49-F238E27FC236}">
                <a16:creationId xmlns:a16="http://schemas.microsoft.com/office/drawing/2014/main" id="{C3E85245-712F-4E9B-A382-407503EA0EB8}"/>
              </a:ext>
            </a:extLst>
          </p:cNvPr>
          <p:cNvSpPr/>
          <p:nvPr/>
        </p:nvSpPr>
        <p:spPr>
          <a:xfrm>
            <a:off x="6343649" y="4272967"/>
            <a:ext cx="5263515" cy="1205414"/>
          </a:xfrm>
          <a:prstGeom prst="rect">
            <a:avLst/>
          </a:prstGeom>
          <a:noFill/>
          <a:ln/>
        </p:spPr>
        <p:txBody>
          <a:bodyPr wrap="square" lIns="0" tIns="0" rIns="0" bIns="0" numCol="2" rtlCol="0" anchor="t"/>
          <a:lstStyle/>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wet (moisture increase) </a:t>
            </a:r>
          </a:p>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clear (fuel removal) </a:t>
            </a:r>
          </a:p>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ignite (backburn) </a:t>
            </a:r>
          </a:p>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coat (asset protection)</a:t>
            </a:r>
          </a:p>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evacuate </a:t>
            </a:r>
          </a:p>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prime </a:t>
            </a:r>
          </a:p>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draft</a:t>
            </a:r>
            <a:endParaRPr lang="en-US" sz="1400" dirty="0"/>
          </a:p>
          <a:p>
            <a:pPr>
              <a:lnSpc>
                <a:spcPct val="105000"/>
              </a:lnSpc>
              <a:spcAft>
                <a:spcPts val="700"/>
              </a:spcAft>
              <a:buSzPct val="100000"/>
            </a:pPr>
            <a:r>
              <a:rPr lang="en-US" sz="1400" dirty="0">
                <a:solidFill>
                  <a:srgbClr val="222222"/>
                </a:solidFill>
                <a:latin typeface="Calibri" pitchFamily="34" charset="0"/>
                <a:ea typeface="Calibri" pitchFamily="34" charset="-122"/>
                <a:cs typeface="Calibri" pitchFamily="34" charset="-120"/>
              </a:rPr>
              <a:t> </a:t>
            </a:r>
            <a:endParaRPr lang="en-US" sz="1400" dirty="0"/>
          </a:p>
        </p:txBody>
      </p:sp>
      <p:sp>
        <p:nvSpPr>
          <p:cNvPr id="8" name="Text 6">
            <a:extLst>
              <a:ext uri="{FF2B5EF4-FFF2-40B4-BE49-F238E27FC236}">
                <a16:creationId xmlns:a16="http://schemas.microsoft.com/office/drawing/2014/main" id="{1EF09F06-EC22-6BFD-0AFF-51235073C706}"/>
              </a:ext>
            </a:extLst>
          </p:cNvPr>
          <p:cNvSpPr/>
          <p:nvPr/>
        </p:nvSpPr>
        <p:spPr>
          <a:xfrm>
            <a:off x="9646920" y="4568225"/>
            <a:ext cx="2587793" cy="1205414"/>
          </a:xfrm>
          <a:prstGeom prst="rect">
            <a:avLst/>
          </a:prstGeom>
          <a:noFill/>
          <a:ln/>
        </p:spPr>
        <p:txBody>
          <a:bodyPr wrap="square" lIns="0" tIns="0" rIns="0" bIns="0" rtlCol="0" anchor="t"/>
          <a:lstStyle/>
          <a:p>
            <a:pPr marL="152400" indent="-152400">
              <a:lnSpc>
                <a:spcPct val="105000"/>
              </a:lnSpc>
              <a:spcAft>
                <a:spcPts val="700"/>
              </a:spcAft>
              <a:buSzPct val="100000"/>
              <a:buChar char="•"/>
            </a:pPr>
            <a:endParaRPr lang="en-US" sz="1400" dirty="0"/>
          </a:p>
        </p:txBody>
      </p:sp>
      <mc:AlternateContent xmlns:mc="http://schemas.openxmlformats.org/markup-compatibility/2006" xmlns:a14="http://schemas.microsoft.com/office/drawing/2010/main">
        <mc:Choice Requires="a14">
          <p:sp>
            <p:nvSpPr>
              <p:cNvPr id="10" name="Text 3">
                <a:extLst>
                  <a:ext uri="{FF2B5EF4-FFF2-40B4-BE49-F238E27FC236}">
                    <a16:creationId xmlns:a16="http://schemas.microsoft.com/office/drawing/2014/main" id="{28252808-11A4-EE2C-0BC8-D8EFE98963DD}"/>
                  </a:ext>
                </a:extLst>
              </p:cNvPr>
              <p:cNvSpPr/>
              <p:nvPr/>
            </p:nvSpPr>
            <p:spPr>
              <a:xfrm>
                <a:off x="5779768" y="616957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r>
                            <a:rPr lang="en-US" sz="1600">
                              <a:latin typeface="Cambria Math"/>
                            </a:rPr>
                            <m:t>+1</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sz="1600">
                                  <a:latin typeface="Cambria Math"/>
                                </a:rPr>
                                <m:t>𝑘</m:t>
                              </m:r>
                            </m:sub>
                          </m:sSub>
                          <m:d>
                            <m:dPr>
                              <m:ctrlPr>
                                <a:rPr lang="en-US" sz="1600">
                                  <a:latin typeface="Cambria Math"/>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sz="1600">
                                  <a:latin typeface="Cambria Math"/>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10" name="Text 3">
                <a:extLst>
                  <a:ext uri="{FF2B5EF4-FFF2-40B4-BE49-F238E27FC236}">
                    <a16:creationId xmlns:a16="http://schemas.microsoft.com/office/drawing/2014/main" id="{28252808-11A4-EE2C-0BC8-D8EFE98963DD}"/>
                  </a:ext>
                </a:extLst>
              </p:cNvPr>
              <p:cNvSpPr>
                <a:spLocks noRot="1" noChangeAspect="1" noMove="1" noResize="1" noEditPoints="1" noAdjustHandles="1" noChangeArrowheads="1" noChangeShapeType="1" noTextEdit="1"/>
              </p:cNvSpPr>
              <p:nvPr/>
            </p:nvSpPr>
            <p:spPr>
              <a:xfrm>
                <a:off x="5779768" y="6169574"/>
                <a:ext cx="6035040" cy="457200"/>
              </a:xfrm>
              <a:prstGeom prst="rect">
                <a:avLst/>
              </a:prstGeom>
              <a:blipFill>
                <a:blip r:embed="rId9"/>
                <a:stretch>
                  <a:fillRect/>
                </a:stretch>
              </a:blipFill>
              <a:ln/>
            </p:spPr>
            <p:txBody>
              <a:bodyPr/>
              <a:lstStyle/>
              <a:p>
                <a:r>
                  <a:rPr lang="tr-TR">
                    <a:noFill/>
                  </a:rPr>
                  <a:t> </a:t>
                </a:r>
              </a:p>
            </p:txBody>
          </p:sp>
        </mc:Fallback>
      </mc:AlternateContent>
    </p:spTree>
    <p:extLst>
      <p:ext uri="{BB962C8B-B14F-4D97-AF65-F5344CB8AC3E}">
        <p14:creationId xmlns:p14="http://schemas.microsoft.com/office/powerpoint/2010/main" val="42424390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Scenario Control</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mc:AlternateContent xmlns:mc="http://schemas.openxmlformats.org/markup-compatibility/2006" xmlns:a14="http://schemas.microsoft.com/office/drawing/2010/main">
        <mc:Choice Requires="a14">
          <p:sp>
            <p:nvSpPr>
              <p:cNvPr id="22" name="Text 2">
                <a:extLst>
                  <a:ext uri="{FF2B5EF4-FFF2-40B4-BE49-F238E27FC236}">
                    <a16:creationId xmlns:a16="http://schemas.microsoft.com/office/drawing/2014/main" id="{C80D4747-2928-47BA-A0FC-8A581B417C05}"/>
                  </a:ext>
                </a:extLst>
              </p:cNvPr>
              <p:cNvSpPr/>
              <p:nvPr/>
            </p:nvSpPr>
            <p:spPr>
              <a:xfrm>
                <a:off x="6411351" y="1580739"/>
                <a:ext cx="5223972" cy="73152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500">
                              <a:latin typeface="Cambria Math"/>
                            </a:rPr>
                          </m:ctrlPr>
                        </m:sSubPr>
                        <m:e>
                          <m:r>
                            <m:rPr>
                              <m:sty m:val="p"/>
                            </m:rPr>
                            <a:rPr lang="en-US" sz="1500">
                              <a:latin typeface="Cambria Math"/>
                            </a:rPr>
                            <m:t>Θ</m:t>
                          </m:r>
                        </m:e>
                        <m:sub>
                          <m:r>
                            <a:rPr lang="en-US" sz="1500">
                              <a:latin typeface="Cambria Math"/>
                            </a:rPr>
                            <m:t>𝑈𝐼</m:t>
                          </m:r>
                        </m:sub>
                      </m:sSub>
                      <m:r>
                        <a:rPr lang="en-US" sz="1500">
                          <a:latin typeface="Cambria Math"/>
                        </a:rPr>
                        <m:t>:</m:t>
                      </m:r>
                      <m:sSub>
                        <m:sSubPr>
                          <m:ctrlPr>
                            <a:rPr lang="en-US" sz="1500">
                              <a:latin typeface="Cambria Math"/>
                            </a:rPr>
                          </m:ctrlPr>
                        </m:sSubPr>
                        <m:e>
                          <m:r>
                            <a:rPr lang="en-US" sz="1500">
                              <a:latin typeface="Cambria Math"/>
                            </a:rPr>
                            <m:t>ℱ</m:t>
                          </m:r>
                        </m:e>
                        <m:sub>
                          <m:r>
                            <a:rPr lang="en-US" sz="1500">
                              <a:latin typeface="Cambria Math"/>
                            </a:rPr>
                            <m:t>𝑖𝑛</m:t>
                          </m:r>
                        </m:sub>
                      </m:sSub>
                      <m:r>
                        <a:rPr lang="en-US" sz="1500">
                          <a:latin typeface="Cambria Math"/>
                        </a:rPr>
                        <m:t>×</m:t>
                      </m:r>
                      <m:sSub>
                        <m:sSubPr>
                          <m:ctrlPr>
                            <a:rPr lang="en-US" sz="1500">
                              <a:latin typeface="Cambria Math"/>
                            </a:rPr>
                          </m:ctrlPr>
                        </m:sSubPr>
                        <m:e>
                          <m:r>
                            <a:rPr lang="en-US" sz="1500">
                              <a:latin typeface="Cambria Math"/>
                            </a:rPr>
                            <m:t>ℱ</m:t>
                          </m:r>
                        </m:e>
                        <m:sub>
                          <m:r>
                            <a:rPr lang="en-US" sz="1500">
                              <a:latin typeface="Cambria Math"/>
                            </a:rPr>
                            <m:t>𝐷𝑆𝑆</m:t>
                          </m:r>
                        </m:sub>
                      </m:sSub>
                      <m:r>
                        <m:rPr>
                          <m:nor/>
                        </m:rPr>
                        <a:rPr lang="en-US" sz="1500" i="0">
                          <a:latin typeface="Cambria Math"/>
                        </a:rPr>
                        <m:t> </m:t>
                      </m:r>
                      <m:r>
                        <a:rPr lang="en-US" sz="1500">
                          <a:latin typeface="Cambria Math"/>
                        </a:rPr>
                        <m:t>⟶</m:t>
                      </m:r>
                      <m:r>
                        <m:rPr>
                          <m:nor/>
                        </m:rPr>
                        <a:rPr lang="en-US" sz="1500" i="0">
                          <a:latin typeface="Cambria Math"/>
                        </a:rPr>
                        <m:t> </m:t>
                      </m:r>
                      <m:sSubSup>
                        <m:sSubSupPr>
                          <m:ctrlPr>
                            <a:rPr lang="en-US" sz="1500">
                              <a:latin typeface="Cambria Math"/>
                            </a:rPr>
                          </m:ctrlPr>
                        </m:sSubSupPr>
                        <m:e>
                          <m:r>
                            <a:rPr lang="en-US" sz="1500">
                              <a:latin typeface="Cambria Math"/>
                            </a:rPr>
                            <m:t>ℱ</m:t>
                          </m:r>
                        </m:e>
                        <m:sub>
                          <m:r>
                            <a:rPr lang="en-US" sz="1500">
                              <a:latin typeface="Cambria Math"/>
                            </a:rPr>
                            <m:t>𝑖𝑛</m:t>
                          </m:r>
                        </m:sub>
                        <m:sup>
                          <m:r>
                            <a:rPr lang="en-US" sz="1500">
                              <a:latin typeface="Cambria Math"/>
                            </a:rPr>
                            <m:t>∗</m:t>
                          </m:r>
                        </m:sup>
                      </m:sSubSup>
                      <m:r>
                        <a:rPr lang="en-US" sz="1500">
                          <a:latin typeface="Cambria Math"/>
                        </a:rPr>
                        <m:t>×</m:t>
                      </m:r>
                      <m:sSubSup>
                        <m:sSubSupPr>
                          <m:ctrlPr>
                            <a:rPr lang="en-US" sz="1500">
                              <a:latin typeface="Cambria Math"/>
                            </a:rPr>
                          </m:ctrlPr>
                        </m:sSubSupPr>
                        <m:e>
                          <m:r>
                            <a:rPr lang="en-US" sz="1500">
                              <a:latin typeface="Cambria Math"/>
                            </a:rPr>
                            <m:t>ℱ</m:t>
                          </m:r>
                        </m:e>
                        <m:sub>
                          <m:r>
                            <a:rPr lang="en-US" sz="1500">
                              <a:latin typeface="Cambria Math"/>
                            </a:rPr>
                            <m:t>𝐷𝑆𝑆</m:t>
                          </m:r>
                        </m:sub>
                        <m:sup>
                          <m:r>
                            <a:rPr lang="en-US" sz="1500">
                              <a:latin typeface="Cambria Math"/>
                            </a:rPr>
                            <m:t>∗</m:t>
                          </m:r>
                        </m:sup>
                      </m:sSubSup>
                    </m:oMath>
                  </m:oMathPara>
                </a14:m>
                <a:endParaRPr lang="en-US" sz="1400" dirty="0"/>
              </a:p>
            </p:txBody>
          </p:sp>
        </mc:Choice>
        <mc:Fallback xmlns="">
          <p:sp>
            <p:nvSpPr>
              <p:cNvPr id="22" name="Text 2">
                <a:extLst>
                  <a:ext uri="{FF2B5EF4-FFF2-40B4-BE49-F238E27FC236}">
                    <a16:creationId xmlns:a16="http://schemas.microsoft.com/office/drawing/2014/main" id="{C80D4747-2928-47BA-A0FC-8A581B417C05}"/>
                  </a:ext>
                </a:extLst>
              </p:cNvPr>
              <p:cNvSpPr>
                <a:spLocks noRot="1" noChangeAspect="1" noMove="1" noResize="1" noEditPoints="1" noAdjustHandles="1" noChangeArrowheads="1" noChangeShapeType="1" noTextEdit="1"/>
              </p:cNvSpPr>
              <p:nvPr/>
            </p:nvSpPr>
            <p:spPr>
              <a:xfrm>
                <a:off x="6411351" y="1580739"/>
                <a:ext cx="5223972" cy="731520"/>
              </a:xfrm>
              <a:prstGeom prst="rect">
                <a:avLst/>
              </a:prstGeom>
              <a:blipFill>
                <a:blip r:embed="rId6"/>
                <a:stretch>
                  <a:fillRect/>
                </a:stretch>
              </a:blipFill>
              <a:ln/>
            </p:spPr>
            <p:txBody>
              <a:bodyPr/>
              <a:lstStyle/>
              <a:p>
                <a:r>
                  <a:rPr lang="tr-TR">
                    <a:noFill/>
                  </a:rPr>
                  <a:t/>
                </a:r>
              </a:p>
            </p:txBody>
          </p:sp>
        </mc:Fallback>
      </mc:AlternateContent>
      <p:sp>
        <p:nvSpPr>
          <p:cNvPr id="23" name="Text 3">
            <a:extLst>
              <a:ext uri="{FF2B5EF4-FFF2-40B4-BE49-F238E27FC236}">
                <a16:creationId xmlns:a16="http://schemas.microsoft.com/office/drawing/2014/main" id="{D9CFACDF-819E-4790-B9E8-9588EE601251}"/>
              </a:ext>
            </a:extLst>
          </p:cNvPr>
          <p:cNvSpPr/>
          <p:nvPr/>
        </p:nvSpPr>
        <p:spPr>
          <a:xfrm>
            <a:off x="6594231" y="2649414"/>
            <a:ext cx="5011615" cy="3108960"/>
          </a:xfrm>
          <a:prstGeom prst="rect">
            <a:avLst/>
          </a:prstGeom>
          <a:noFill/>
          <a:ln/>
        </p:spPr>
        <p:txBody>
          <a:bodyPr wrap="square" lIns="0" tIns="0" rIns="0" bIns="0" rtlCol="0" anchor="t"/>
          <a:lstStyle/>
          <a:p>
            <a:pPr>
              <a:lnSpc>
                <a:spcPct val="105000"/>
              </a:lnSpc>
              <a:spcAft>
                <a:spcPts val="700"/>
              </a:spcAft>
              <a:buSzPct val="100000"/>
            </a:pPr>
            <a:r>
              <a:rPr lang="en-US" sz="1500" dirty="0">
                <a:solidFill>
                  <a:srgbClr val="222222"/>
                </a:solidFill>
                <a:latin typeface="Calibri" pitchFamily="34" charset="0"/>
                <a:ea typeface="Calibri" pitchFamily="34" charset="-122"/>
                <a:cs typeface="Calibri" pitchFamily="34" charset="-120"/>
              </a:rPr>
              <a:t>The operator maps the current input and decisional fields to operator-modified versions</a:t>
            </a:r>
            <a:endParaRPr lang="en-US" sz="1500" dirty="0"/>
          </a:p>
          <a:p>
            <a:pPr marL="152400" indent="-152400">
              <a:lnSpc>
                <a:spcPct val="105000"/>
              </a:lnSpc>
              <a:spcAft>
                <a:spcPts val="700"/>
              </a:spcAft>
              <a:buSzPct val="100000"/>
              <a:buChar char="•"/>
            </a:pPr>
            <a:r>
              <a:rPr lang="en-US" sz="1500" b="1" dirty="0">
                <a:solidFill>
                  <a:srgbClr val="222222"/>
                </a:solidFill>
                <a:latin typeface="Calibri" pitchFamily="34" charset="0"/>
                <a:ea typeface="Calibri" pitchFamily="34" charset="-122"/>
                <a:cs typeface="Calibri" pitchFamily="34" charset="-120"/>
              </a:rPr>
              <a:t>Ignition injection</a:t>
            </a:r>
            <a:r>
              <a:rPr lang="tr-TR" sz="1500" b="1" dirty="0">
                <a:solidFill>
                  <a:srgbClr val="222222"/>
                </a:solidFill>
                <a:latin typeface="Calibri" pitchFamily="34" charset="0"/>
                <a:ea typeface="Calibri" pitchFamily="34" charset="-122"/>
                <a:cs typeface="Calibri" pitchFamily="34" charset="-120"/>
              </a:rPr>
              <a:t>: </a:t>
            </a:r>
            <a:r>
              <a:rPr lang="en-US" sz="1500" b="1" dirty="0">
                <a:solidFill>
                  <a:srgbClr val="222222"/>
                </a:solidFill>
                <a:latin typeface="Calibri" pitchFamily="34" charset="0"/>
                <a:ea typeface="Calibri" pitchFamily="34" charset="-122"/>
                <a:cs typeface="Calibri" pitchFamily="34" charset="-120"/>
              </a:rPr>
              <a:t> </a:t>
            </a:r>
            <a:r>
              <a:rPr lang="en-US" sz="1500" dirty="0">
                <a:solidFill>
                  <a:srgbClr val="222222"/>
                </a:solidFill>
                <a:latin typeface="Calibri" pitchFamily="34" charset="0"/>
                <a:ea typeface="Calibri" pitchFamily="34" charset="-122"/>
                <a:cs typeface="Calibri" pitchFamily="34" charset="-120"/>
              </a:rPr>
              <a:t>place ignitions for scenario families and hindcast replication</a:t>
            </a:r>
            <a:endParaRPr lang="en-US" sz="1500" dirty="0"/>
          </a:p>
          <a:p>
            <a:pPr marL="152400" indent="-152400">
              <a:lnSpc>
                <a:spcPct val="105000"/>
              </a:lnSpc>
              <a:spcAft>
                <a:spcPts val="700"/>
              </a:spcAft>
              <a:buSzPct val="100000"/>
              <a:buChar char="•"/>
            </a:pPr>
            <a:r>
              <a:rPr lang="en-US" sz="1500" b="1" dirty="0">
                <a:solidFill>
                  <a:srgbClr val="222222"/>
                </a:solidFill>
                <a:latin typeface="Calibri" pitchFamily="34" charset="0"/>
                <a:ea typeface="Calibri" pitchFamily="34" charset="-122"/>
                <a:cs typeface="Calibri" pitchFamily="34" charset="-120"/>
              </a:rPr>
              <a:t>Resource reconfiguration</a:t>
            </a:r>
            <a:r>
              <a:rPr lang="tr-TR" sz="1500" b="1" dirty="0">
                <a:solidFill>
                  <a:srgbClr val="222222"/>
                </a:solidFill>
                <a:latin typeface="Calibri" pitchFamily="34" charset="0"/>
                <a:ea typeface="Calibri" pitchFamily="34" charset="-122"/>
                <a:cs typeface="Calibri" pitchFamily="34" charset="-120"/>
              </a:rPr>
              <a:t>:</a:t>
            </a:r>
            <a:r>
              <a:rPr lang="en-US" sz="1500" b="1" dirty="0">
                <a:solidFill>
                  <a:srgbClr val="222222"/>
                </a:solidFill>
                <a:latin typeface="Calibri" pitchFamily="34" charset="0"/>
                <a:ea typeface="Calibri" pitchFamily="34" charset="-122"/>
                <a:cs typeface="Calibri" pitchFamily="34" charset="-120"/>
              </a:rPr>
              <a:t> </a:t>
            </a:r>
            <a:r>
              <a:rPr lang="en-US" sz="1500" dirty="0">
                <a:solidFill>
                  <a:srgbClr val="222222"/>
                </a:solidFill>
                <a:latin typeface="Calibri" pitchFamily="34" charset="0"/>
                <a:ea typeface="Calibri" pitchFamily="34" charset="-122"/>
                <a:cs typeface="Calibri" pitchFamily="34" charset="-120"/>
              </a:rPr>
              <a:t>change the pool to sweep resource-sufficiency axes</a:t>
            </a:r>
            <a:endParaRPr lang="en-US" sz="1500" dirty="0"/>
          </a:p>
          <a:p>
            <a:pPr marL="152400" indent="-152400">
              <a:lnSpc>
                <a:spcPct val="105000"/>
              </a:lnSpc>
              <a:spcAft>
                <a:spcPts val="700"/>
              </a:spcAft>
              <a:buSzPct val="100000"/>
              <a:buChar char="•"/>
            </a:pPr>
            <a:r>
              <a:rPr lang="en-US" sz="1500" b="1" dirty="0">
                <a:solidFill>
                  <a:srgbClr val="222222"/>
                </a:solidFill>
                <a:latin typeface="Calibri" pitchFamily="34" charset="0"/>
                <a:ea typeface="Calibri" pitchFamily="34" charset="-122"/>
                <a:cs typeface="Calibri" pitchFamily="34" charset="-120"/>
              </a:rPr>
              <a:t>What-if meteorology</a:t>
            </a:r>
            <a:r>
              <a:rPr lang="tr-TR" sz="1500" b="1" dirty="0">
                <a:solidFill>
                  <a:srgbClr val="222222"/>
                </a:solidFill>
                <a:latin typeface="Calibri" pitchFamily="34" charset="0"/>
                <a:ea typeface="Calibri" pitchFamily="34" charset="-122"/>
                <a:cs typeface="Calibri" pitchFamily="34" charset="-120"/>
              </a:rPr>
              <a:t>:</a:t>
            </a:r>
            <a:r>
              <a:rPr lang="en-US" sz="1500" b="1" dirty="0">
                <a:solidFill>
                  <a:srgbClr val="222222"/>
                </a:solidFill>
                <a:latin typeface="Calibri" pitchFamily="34" charset="0"/>
                <a:ea typeface="Calibri" pitchFamily="34" charset="-122"/>
                <a:cs typeface="Calibri" pitchFamily="34" charset="-120"/>
              </a:rPr>
              <a:t> </a:t>
            </a:r>
            <a:r>
              <a:rPr lang="en-US" sz="1500" dirty="0">
                <a:solidFill>
                  <a:srgbClr val="222222"/>
                </a:solidFill>
                <a:latin typeface="Calibri" pitchFamily="34" charset="0"/>
                <a:ea typeface="Calibri" pitchFamily="34" charset="-122"/>
                <a:cs typeface="Calibri" pitchFamily="34" charset="-120"/>
              </a:rPr>
              <a:t>perturb weather for sensitivity and robustness studies</a:t>
            </a:r>
            <a:endParaRPr lang="en-US" sz="1500" dirty="0"/>
          </a:p>
          <a:p>
            <a:pPr marL="152400" indent="-152400">
              <a:lnSpc>
                <a:spcPct val="105000"/>
              </a:lnSpc>
              <a:spcAft>
                <a:spcPts val="700"/>
              </a:spcAft>
              <a:buSzPct val="100000"/>
              <a:buChar char="•"/>
            </a:pPr>
            <a:r>
              <a:rPr lang="en-US" sz="1500" b="1" dirty="0">
                <a:solidFill>
                  <a:srgbClr val="222222"/>
                </a:solidFill>
                <a:latin typeface="Calibri" pitchFamily="34" charset="0"/>
                <a:ea typeface="Calibri" pitchFamily="34" charset="-122"/>
                <a:cs typeface="Calibri" pitchFamily="34" charset="-120"/>
              </a:rPr>
              <a:t>Scenario control touches only the external fields — never the DSS internals, never the state directly</a:t>
            </a:r>
            <a:endParaRPr lang="en-US" sz="1500" dirty="0"/>
          </a:p>
        </p:txBody>
      </p:sp>
    </p:spTree>
    <p:extLst>
      <p:ext uri="{BB962C8B-B14F-4D97-AF65-F5344CB8AC3E}">
        <p14:creationId xmlns:p14="http://schemas.microsoft.com/office/powerpoint/2010/main" val="35581350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name="Slide 12">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3" name="Text 1"/>
          <p:cNvSpPr/>
          <p:nvPr/>
        </p:nvSpPr>
        <p:spPr>
          <a:xfrm>
            <a:off x="822960" y="2606040"/>
            <a:ext cx="10607040"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Decision Support System Framework</a:t>
            </a:r>
            <a:endParaRPr lang="en-US" sz="4800" dirty="0"/>
          </a:p>
        </p:txBody>
      </p:sp>
      <p:pic>
        <p:nvPicPr>
          <p:cNvPr id="5"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6"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One Agent, Four Layers, One Loop</a:t>
            </a:r>
            <a:endParaRPr lang="en-US" sz="2900" dirty="0"/>
          </a:p>
        </p:txBody>
      </p:sp>
      <p:pic>
        <p:nvPicPr>
          <p:cNvPr id="4" name="Image 0" descr="/tmp/thx/deck/figs/Figure4_1.png"/>
          <p:cNvPicPr>
            <a:picLocks noChangeAspect="1"/>
          </p:cNvPicPr>
          <p:nvPr/>
        </p:nvPicPr>
        <p:blipFill>
          <a:blip r:embed="rId3"/>
          <a:stretch>
            <a:fillRect/>
          </a:stretch>
        </p:blipFill>
        <p:spPr>
          <a:xfrm>
            <a:off x="1695072" y="1371600"/>
            <a:ext cx="3102096" cy="5212080"/>
          </a:xfrm>
          <a:prstGeom prst="rect">
            <a:avLst/>
          </a:prstGeom>
        </p:spPr>
      </p:pic>
      <p:sp>
        <p:nvSpPr>
          <p:cNvPr id="5" name="Text 2"/>
          <p:cNvSpPr/>
          <p:nvPr/>
        </p:nvSpPr>
        <p:spPr>
          <a:xfrm>
            <a:off x="6263640" y="1737360"/>
            <a:ext cx="5486400" cy="457200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600" dirty="0">
                <a:solidFill>
                  <a:srgbClr val="222222"/>
                </a:solidFill>
                <a:highlight>
                  <a:srgbClr val="C0C0C0"/>
                </a:highlight>
                <a:latin typeface="Calibri" pitchFamily="34" charset="0"/>
                <a:ea typeface="Calibri" pitchFamily="34" charset="-122"/>
                <a:cs typeface="Calibri" pitchFamily="34" charset="-120"/>
              </a:rPr>
              <a:t>Layer 1 : </a:t>
            </a:r>
            <a:r>
              <a:rPr lang="en-US" sz="1600" b="1" dirty="0">
                <a:solidFill>
                  <a:srgbClr val="222222"/>
                </a:solidFill>
                <a:highlight>
                  <a:srgbClr val="C0C0C0"/>
                </a:highlight>
                <a:latin typeface="Calibri" pitchFamily="34" charset="0"/>
                <a:ea typeface="Calibri" pitchFamily="34" charset="-122"/>
                <a:cs typeface="Calibri" pitchFamily="34" charset="-120"/>
              </a:rPr>
              <a:t>Input space</a:t>
            </a:r>
            <a:r>
              <a:rPr lang="tr-TR" sz="1600" b="1" dirty="0">
                <a:solidFill>
                  <a:srgbClr val="222222"/>
                </a:solidFill>
                <a:highlight>
                  <a:srgbClr val="C0C0C0"/>
                </a:highlight>
                <a:latin typeface="Calibri" pitchFamily="34" charset="0"/>
                <a:ea typeface="Calibri" pitchFamily="34" charset="-122"/>
                <a:cs typeface="Calibri" pitchFamily="34" charset="-120"/>
              </a:rPr>
              <a:t> - </a:t>
            </a:r>
            <a:r>
              <a:rPr lang="en-US" sz="1600" dirty="0">
                <a:solidFill>
                  <a:srgbClr val="222222"/>
                </a:solidFill>
                <a:highlight>
                  <a:srgbClr val="C0C0C0"/>
                </a:highlight>
                <a:latin typeface="Calibri" pitchFamily="34" charset="0"/>
                <a:ea typeface="Calibri" pitchFamily="34" charset="-122"/>
                <a:cs typeface="Calibri" pitchFamily="34" charset="-120"/>
              </a:rPr>
              <a:t>heterogeneous, spatio-temporal measurements</a:t>
            </a:r>
            <a:endParaRPr lang="en-US" sz="1600" dirty="0">
              <a:highlight>
                <a:srgbClr val="C0C0C0"/>
              </a:highlight>
            </a:endParaRPr>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2 : </a:t>
            </a:r>
            <a:r>
              <a:rPr lang="en-US" sz="1600" b="1" dirty="0">
                <a:solidFill>
                  <a:srgbClr val="222222"/>
                </a:solidFill>
                <a:latin typeface="Calibri" pitchFamily="34" charset="0"/>
                <a:ea typeface="Calibri" pitchFamily="34" charset="-122"/>
                <a:cs typeface="Calibri" pitchFamily="34" charset="-120"/>
              </a:rPr>
              <a:t>Perception</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fusion into features with explicit confidence</a:t>
            </a:r>
            <a:endParaRPr lang="en-US" sz="1600" dirty="0"/>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3 : </a:t>
            </a:r>
            <a:r>
              <a:rPr lang="en-US" sz="1600" b="1" dirty="0">
                <a:solidFill>
                  <a:srgbClr val="222222"/>
                </a:solidFill>
                <a:latin typeface="Calibri" pitchFamily="34" charset="0"/>
                <a:ea typeface="Calibri" pitchFamily="34" charset="-122"/>
                <a:cs typeface="Calibri" pitchFamily="34" charset="-120"/>
              </a:rPr>
              <a:t>Concept space</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hierarchical fuzzification into five decision concepts</a:t>
            </a:r>
            <a:endParaRPr lang="en-US" sz="1600" dirty="0"/>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4 : </a:t>
            </a:r>
            <a:r>
              <a:rPr lang="en-US" sz="1600" b="1" dirty="0">
                <a:solidFill>
                  <a:srgbClr val="222222"/>
                </a:solidFill>
                <a:latin typeface="Calibri" pitchFamily="34" charset="0"/>
                <a:ea typeface="Calibri" pitchFamily="34" charset="-122"/>
                <a:cs typeface="Calibri" pitchFamily="34" charset="-120"/>
              </a:rPr>
              <a:t>Decision space</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rules, satisficing tests, staged adaptation, fail-safe</a:t>
            </a:r>
            <a:endParaRPr lang="en-US" sz="1600" dirty="0"/>
          </a:p>
          <a:p>
            <a:pPr marL="152400" indent="-152400">
              <a:lnSpc>
                <a:spcPct val="105000"/>
              </a:lnSpc>
              <a:spcAft>
                <a:spcPts val="1000"/>
              </a:spcAft>
              <a:buSzPct val="100000"/>
              <a:buChar char="•"/>
            </a:pPr>
            <a:r>
              <a:rPr lang="en-US" sz="1600" b="1" dirty="0">
                <a:solidFill>
                  <a:srgbClr val="222222"/>
                </a:solidFill>
                <a:latin typeface="Calibri" pitchFamily="34" charset="0"/>
                <a:ea typeface="Calibri" pitchFamily="34" charset="-122"/>
                <a:cs typeface="Calibri" pitchFamily="34" charset="-120"/>
              </a:rPr>
              <a:t>N agents run this loop concurrently on their own regions; a non-inferential Global DSS ranks and allocates</a:t>
            </a:r>
            <a:endParaRPr lang="en-US" sz="1600" dirty="0"/>
          </a:p>
        </p:txBody>
      </p:sp>
      <p:pic>
        <p:nvPicPr>
          <p:cNvPr id="6" name="Image 1" descr="/tmp/thx/deck/figs/metu_emblem.png"/>
          <p:cNvPicPr>
            <a:picLocks noChangeAspect="1"/>
          </p:cNvPicPr>
          <p:nvPr/>
        </p:nvPicPr>
        <p:blipFill>
          <a:blip r:embed="rId4"/>
          <a:stretch>
            <a:fillRect/>
          </a:stretch>
        </p:blipFill>
        <p:spPr>
          <a:xfrm>
            <a:off x="10716768" y="184607"/>
            <a:ext cx="475488" cy="398882"/>
          </a:xfrm>
          <a:prstGeom prst="rect">
            <a:avLst/>
          </a:prstGeom>
        </p:spPr>
      </p:pic>
      <p:pic>
        <p:nvPicPr>
          <p:cNvPr id="7" name="Image 2" descr="/tmp/thx/deck/figs/eee_logo.png"/>
          <p:cNvPicPr>
            <a:picLocks noChangeAspect="1"/>
          </p:cNvPicPr>
          <p:nvPr/>
        </p:nvPicPr>
        <p:blipFill>
          <a:blip r:embed="rId5"/>
          <a:stretch>
            <a:fillRect/>
          </a:stretch>
        </p:blipFill>
        <p:spPr>
          <a:xfrm>
            <a:off x="11265408" y="186217"/>
            <a:ext cx="475488" cy="39566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1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1 : Input Space</a:t>
            </a:r>
            <a:r>
              <a:rPr lang="tr-TR" sz="2900" b="1" dirty="0">
                <a:solidFill>
                  <a:srgbClr val="000000"/>
                </a:solidFill>
                <a:latin typeface="Cambria" pitchFamily="34" charset="0"/>
                <a:ea typeface="Cambria" pitchFamily="34" charset="-122"/>
                <a:cs typeface="Cambria" pitchFamily="34" charset="-120"/>
              </a:rPr>
              <a:t> - </a:t>
            </a:r>
            <a:r>
              <a:rPr lang="en-US" sz="2900" b="1" dirty="0">
                <a:solidFill>
                  <a:srgbClr val="000000"/>
                </a:solidFill>
                <a:latin typeface="Cambria" pitchFamily="34" charset="0"/>
                <a:ea typeface="Cambria" pitchFamily="34" charset="-122"/>
                <a:cs typeface="Cambria" pitchFamily="34" charset="-120"/>
              </a:rPr>
              <a:t>What the Agent Can Know</a:t>
            </a:r>
            <a:endParaRPr lang="en-US" sz="2900" dirty="0"/>
          </a:p>
        </p:txBody>
      </p:sp>
      <p:sp>
        <p:nvSpPr>
          <p:cNvPr id="5" name="Text 2"/>
          <p:cNvSpPr/>
          <p:nvPr/>
        </p:nvSpPr>
        <p:spPr>
          <a:xfrm>
            <a:off x="685800" y="4663440"/>
            <a:ext cx="10881360" cy="192024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tr-TR" sz="1650" dirty="0" err="1">
                <a:solidFill>
                  <a:srgbClr val="222222"/>
                </a:solidFill>
                <a:latin typeface="Calibri" pitchFamily="34" charset="0"/>
                <a:ea typeface="Calibri" pitchFamily="34" charset="-122"/>
                <a:cs typeface="Calibri" pitchFamily="34" charset="-120"/>
              </a:rPr>
              <a:t>Almost</a:t>
            </a:r>
            <a:r>
              <a:rPr lang="tr-TR" sz="1650" dirty="0">
                <a:solidFill>
                  <a:srgbClr val="222222"/>
                </a:solidFill>
                <a:latin typeface="Calibri" pitchFamily="34" charset="0"/>
                <a:ea typeface="Calibri" pitchFamily="34" charset="-122"/>
                <a:cs typeface="Calibri" pitchFamily="34" charset="-120"/>
              </a:rPr>
              <a:t> 15</a:t>
            </a:r>
            <a:r>
              <a:rPr lang="en-US" sz="1650" dirty="0">
                <a:solidFill>
                  <a:srgbClr val="222222"/>
                </a:solidFill>
                <a:latin typeface="Calibri" pitchFamily="34" charset="0"/>
                <a:ea typeface="Calibri" pitchFamily="34" charset="-122"/>
                <a:cs typeface="Calibri" pitchFamily="34" charset="-120"/>
              </a:rPr>
              <a:t> heterogeneous source families: </a:t>
            </a:r>
            <a:r>
              <a:rPr lang="en-US" sz="1650" i="1" dirty="0">
                <a:solidFill>
                  <a:srgbClr val="222222"/>
                </a:solidFill>
                <a:latin typeface="Calibri" pitchFamily="34" charset="0"/>
                <a:ea typeface="Calibri" pitchFamily="34" charset="-122"/>
                <a:cs typeface="Calibri" pitchFamily="34" charset="-120"/>
              </a:rPr>
              <a:t>stations, forecasts, satellite / aerial / ground imagery, ignition detections, terrain, fuel, roads, value-at-risk, resources, field reports</a:t>
            </a:r>
            <a:endParaRPr lang="en-US" sz="1650" i="1" dirty="0"/>
          </a:p>
          <a:p>
            <a:pPr marL="152400" indent="-152400">
              <a:lnSpc>
                <a:spcPct val="105000"/>
              </a:lnSpc>
              <a:spcAft>
                <a:spcPts val="1000"/>
              </a:spcAft>
              <a:buSzPct val="100000"/>
              <a:buChar char="•"/>
            </a:pPr>
            <a:r>
              <a:rPr lang="en-US" sz="1650" dirty="0">
                <a:solidFill>
                  <a:srgbClr val="222222"/>
                </a:solidFill>
                <a:latin typeface="Calibri" pitchFamily="34" charset="0"/>
                <a:ea typeface="Calibri" pitchFamily="34" charset="-122"/>
                <a:cs typeface="Calibri" pitchFamily="34" charset="-120"/>
              </a:rPr>
              <a:t>DSS reads them only as observations, never as ground truth</a:t>
            </a:r>
            <a:endParaRPr lang="en-US" sz="1650" dirty="0"/>
          </a:p>
          <a:p>
            <a:pPr marL="152400" indent="-152400">
              <a:lnSpc>
                <a:spcPct val="105000"/>
              </a:lnSpc>
              <a:spcAft>
                <a:spcPts val="1000"/>
              </a:spcAft>
              <a:buSzPct val="100000"/>
              <a:buChar char="•"/>
            </a:pPr>
            <a:r>
              <a:rPr lang="en-US" sz="1650" b="1" dirty="0">
                <a:solidFill>
                  <a:srgbClr val="222222"/>
                </a:solidFill>
                <a:latin typeface="Calibri" pitchFamily="34" charset="0"/>
                <a:ea typeface="Calibri" pitchFamily="34" charset="-122"/>
                <a:cs typeface="Calibri" pitchFamily="34" charset="-120"/>
              </a:rPr>
              <a:t>Spatio-temporal: every measurement is indexed by cell (x, y) and step k</a:t>
            </a:r>
            <a:endParaRPr lang="en-US" sz="1650" dirty="0"/>
          </a:p>
        </p:txBody>
      </p:sp>
      <p:pic>
        <p:nvPicPr>
          <p:cNvPr id="6" name="Image 1"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7" name="Image 2"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9" name="Image 0" descr="/tmp/thx/deck/figs/Figure4_1.png">
            <a:extLst>
              <a:ext uri="{FF2B5EF4-FFF2-40B4-BE49-F238E27FC236}">
                <a16:creationId xmlns:a16="http://schemas.microsoft.com/office/drawing/2014/main" id="{A2CA2966-2BC2-465E-937C-6E9CBD1B4E11}"/>
              </a:ext>
            </a:extLst>
          </p:cNvPr>
          <p:cNvPicPr>
            <a:picLocks noChangeAspect="1"/>
          </p:cNvPicPr>
          <p:nvPr/>
        </p:nvPicPr>
        <p:blipFill rotWithShape="1">
          <a:blip r:embed="rId5"/>
          <a:srcRect r="14164" b="84597"/>
          <a:stretch/>
        </p:blipFill>
        <p:spPr>
          <a:xfrm>
            <a:off x="1247600" y="1371600"/>
            <a:ext cx="9550103" cy="287938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One Agent, Four Layers, One Loop</a:t>
            </a:r>
            <a:endParaRPr lang="en-US" sz="2900" dirty="0"/>
          </a:p>
        </p:txBody>
      </p:sp>
      <p:pic>
        <p:nvPicPr>
          <p:cNvPr id="4" name="Image 0" descr="/tmp/thx/deck/figs/Figure4_1.png"/>
          <p:cNvPicPr>
            <a:picLocks noChangeAspect="1"/>
          </p:cNvPicPr>
          <p:nvPr/>
        </p:nvPicPr>
        <p:blipFill>
          <a:blip r:embed="rId3"/>
          <a:stretch>
            <a:fillRect/>
          </a:stretch>
        </p:blipFill>
        <p:spPr>
          <a:xfrm>
            <a:off x="1695072" y="1371600"/>
            <a:ext cx="3102096" cy="5212080"/>
          </a:xfrm>
          <a:prstGeom prst="rect">
            <a:avLst/>
          </a:prstGeom>
        </p:spPr>
      </p:pic>
      <p:sp>
        <p:nvSpPr>
          <p:cNvPr id="5" name="Text 2"/>
          <p:cNvSpPr/>
          <p:nvPr/>
        </p:nvSpPr>
        <p:spPr>
          <a:xfrm>
            <a:off x="6263640" y="1737360"/>
            <a:ext cx="5486400" cy="457200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1 : </a:t>
            </a:r>
            <a:r>
              <a:rPr lang="en-US" sz="1600" b="1" dirty="0">
                <a:solidFill>
                  <a:srgbClr val="222222"/>
                </a:solidFill>
                <a:latin typeface="Calibri" pitchFamily="34" charset="0"/>
                <a:ea typeface="Calibri" pitchFamily="34" charset="-122"/>
                <a:cs typeface="Calibri" pitchFamily="34" charset="-120"/>
              </a:rPr>
              <a:t>Input space</a:t>
            </a:r>
            <a:r>
              <a:rPr lang="tr-TR" sz="1600" b="1" dirty="0">
                <a:solidFill>
                  <a:srgbClr val="222222"/>
                </a:solidFill>
                <a:latin typeface="Calibri" pitchFamily="34" charset="0"/>
                <a:ea typeface="Calibri" pitchFamily="34" charset="-122"/>
                <a:cs typeface="Calibri" pitchFamily="34" charset="-120"/>
              </a:rPr>
              <a:t> - </a:t>
            </a:r>
            <a:r>
              <a:rPr lang="en-US" sz="1600" dirty="0">
                <a:solidFill>
                  <a:srgbClr val="222222"/>
                </a:solidFill>
                <a:latin typeface="Calibri" pitchFamily="34" charset="0"/>
                <a:ea typeface="Calibri" pitchFamily="34" charset="-122"/>
                <a:cs typeface="Calibri" pitchFamily="34" charset="-120"/>
              </a:rPr>
              <a:t>heterogeneous, spatio-temporal measurements</a:t>
            </a:r>
            <a:endParaRPr lang="en-US" sz="1600" dirty="0"/>
          </a:p>
          <a:p>
            <a:pPr marL="152400" indent="-152400">
              <a:lnSpc>
                <a:spcPct val="105000"/>
              </a:lnSpc>
              <a:spcAft>
                <a:spcPts val="1000"/>
              </a:spcAft>
              <a:buSzPct val="100000"/>
              <a:buChar char="•"/>
            </a:pPr>
            <a:r>
              <a:rPr lang="en-US" sz="1600" dirty="0">
                <a:solidFill>
                  <a:srgbClr val="222222"/>
                </a:solidFill>
                <a:highlight>
                  <a:srgbClr val="C0C0C0"/>
                </a:highlight>
                <a:latin typeface="Calibri" pitchFamily="34" charset="0"/>
                <a:ea typeface="Calibri" pitchFamily="34" charset="-122"/>
                <a:cs typeface="Calibri" pitchFamily="34" charset="-120"/>
              </a:rPr>
              <a:t>Layer 2 : </a:t>
            </a:r>
            <a:r>
              <a:rPr lang="en-US" sz="1600" b="1" dirty="0">
                <a:solidFill>
                  <a:srgbClr val="222222"/>
                </a:solidFill>
                <a:highlight>
                  <a:srgbClr val="C0C0C0"/>
                </a:highlight>
                <a:latin typeface="Calibri" pitchFamily="34" charset="0"/>
                <a:ea typeface="Calibri" pitchFamily="34" charset="-122"/>
                <a:cs typeface="Calibri" pitchFamily="34" charset="-120"/>
              </a:rPr>
              <a:t>Perception</a:t>
            </a:r>
            <a:r>
              <a:rPr lang="tr-TR" sz="1600" dirty="0">
                <a:solidFill>
                  <a:srgbClr val="222222"/>
                </a:solidFill>
                <a:highlight>
                  <a:srgbClr val="C0C0C0"/>
                </a:highlight>
                <a:latin typeface="Calibri" pitchFamily="34" charset="0"/>
                <a:ea typeface="Calibri" pitchFamily="34" charset="-122"/>
                <a:cs typeface="Calibri" pitchFamily="34" charset="-120"/>
              </a:rPr>
              <a:t> </a:t>
            </a:r>
            <a:r>
              <a:rPr lang="tr-TR" sz="1600" b="1" dirty="0">
                <a:solidFill>
                  <a:srgbClr val="222222"/>
                </a:solidFill>
                <a:highlight>
                  <a:srgbClr val="C0C0C0"/>
                </a:highlight>
                <a:latin typeface="Calibri" pitchFamily="34" charset="0"/>
                <a:ea typeface="Calibri" pitchFamily="34" charset="-122"/>
                <a:cs typeface="Calibri" pitchFamily="34" charset="-120"/>
              </a:rPr>
              <a:t>-</a:t>
            </a:r>
            <a:r>
              <a:rPr lang="en-US" sz="1600" dirty="0">
                <a:solidFill>
                  <a:srgbClr val="222222"/>
                </a:solidFill>
                <a:highlight>
                  <a:srgbClr val="C0C0C0"/>
                </a:highlight>
                <a:latin typeface="Calibri" pitchFamily="34" charset="0"/>
                <a:ea typeface="Calibri" pitchFamily="34" charset="-122"/>
                <a:cs typeface="Calibri" pitchFamily="34" charset="-120"/>
              </a:rPr>
              <a:t> fusion into features with explicit confidence</a:t>
            </a:r>
            <a:endParaRPr lang="en-US" sz="1600" dirty="0">
              <a:highlight>
                <a:srgbClr val="C0C0C0"/>
              </a:highlight>
            </a:endParaRPr>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3 : </a:t>
            </a:r>
            <a:r>
              <a:rPr lang="en-US" sz="1600" b="1" dirty="0">
                <a:solidFill>
                  <a:srgbClr val="222222"/>
                </a:solidFill>
                <a:latin typeface="Calibri" pitchFamily="34" charset="0"/>
                <a:ea typeface="Calibri" pitchFamily="34" charset="-122"/>
                <a:cs typeface="Calibri" pitchFamily="34" charset="-120"/>
              </a:rPr>
              <a:t>Concept space</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hierarchical fuzzification into five decision concepts</a:t>
            </a:r>
            <a:endParaRPr lang="en-US" sz="1600" dirty="0"/>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4 : </a:t>
            </a:r>
            <a:r>
              <a:rPr lang="en-US" sz="1600" b="1" dirty="0">
                <a:solidFill>
                  <a:srgbClr val="222222"/>
                </a:solidFill>
                <a:latin typeface="Calibri" pitchFamily="34" charset="0"/>
                <a:ea typeface="Calibri" pitchFamily="34" charset="-122"/>
                <a:cs typeface="Calibri" pitchFamily="34" charset="-120"/>
              </a:rPr>
              <a:t>Decision space</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rules, satisficing tests, staged adaptation, fail-safe</a:t>
            </a:r>
            <a:endParaRPr lang="en-US" sz="1600" dirty="0"/>
          </a:p>
          <a:p>
            <a:pPr marL="152400" indent="-152400">
              <a:lnSpc>
                <a:spcPct val="105000"/>
              </a:lnSpc>
              <a:spcAft>
                <a:spcPts val="1000"/>
              </a:spcAft>
              <a:buSzPct val="100000"/>
              <a:buChar char="•"/>
            </a:pPr>
            <a:r>
              <a:rPr lang="en-US" sz="1600" b="1" dirty="0">
                <a:solidFill>
                  <a:srgbClr val="222222"/>
                </a:solidFill>
                <a:latin typeface="Calibri" pitchFamily="34" charset="0"/>
                <a:ea typeface="Calibri" pitchFamily="34" charset="-122"/>
                <a:cs typeface="Calibri" pitchFamily="34" charset="-120"/>
              </a:rPr>
              <a:t>N agents run this loop concurrently on their own regions; a non-inferential Global DSS ranks and allocates</a:t>
            </a:r>
            <a:endParaRPr lang="en-US" sz="1600" dirty="0"/>
          </a:p>
        </p:txBody>
      </p:sp>
      <p:pic>
        <p:nvPicPr>
          <p:cNvPr id="6" name="Image 1" descr="/tmp/thx/deck/figs/metu_emblem.png"/>
          <p:cNvPicPr>
            <a:picLocks noChangeAspect="1"/>
          </p:cNvPicPr>
          <p:nvPr/>
        </p:nvPicPr>
        <p:blipFill>
          <a:blip r:embed="rId4"/>
          <a:stretch>
            <a:fillRect/>
          </a:stretch>
        </p:blipFill>
        <p:spPr>
          <a:xfrm>
            <a:off x="10716768" y="184607"/>
            <a:ext cx="475488" cy="398882"/>
          </a:xfrm>
          <a:prstGeom prst="rect">
            <a:avLst/>
          </a:prstGeom>
        </p:spPr>
      </p:pic>
      <p:pic>
        <p:nvPicPr>
          <p:cNvPr id="7" name="Image 2" descr="/tmp/thx/deck/figs/eee_logo.png"/>
          <p:cNvPicPr>
            <a:picLocks noChangeAspect="1"/>
          </p:cNvPicPr>
          <p:nvPr/>
        </p:nvPicPr>
        <p:blipFill>
          <a:blip r:embed="rId5"/>
          <a:stretch>
            <a:fillRect/>
          </a:stretch>
        </p:blipFill>
        <p:spPr>
          <a:xfrm>
            <a:off x="11265408" y="186217"/>
            <a:ext cx="475488" cy="395662"/>
          </a:xfrm>
          <a:prstGeom prst="rect">
            <a:avLst/>
          </a:prstGeom>
        </p:spPr>
      </p:pic>
    </p:spTree>
    <p:extLst>
      <p:ext uri="{BB962C8B-B14F-4D97-AF65-F5344CB8AC3E}">
        <p14:creationId xmlns:p14="http://schemas.microsoft.com/office/powerpoint/2010/main" val="32291926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13" name="Image 0" descr="/tmp/thx/deck/figs/Figure4_1.png">
            <a:extLst>
              <a:ext uri="{FF2B5EF4-FFF2-40B4-BE49-F238E27FC236}">
                <a16:creationId xmlns:a16="http://schemas.microsoft.com/office/drawing/2014/main" id="{E41E7CAB-6CFD-414D-9826-B113269865A7}"/>
              </a:ext>
            </a:extLst>
          </p:cNvPr>
          <p:cNvPicPr>
            <a:picLocks noChangeAspect="1"/>
          </p:cNvPicPr>
          <p:nvPr/>
        </p:nvPicPr>
        <p:blipFill rotWithShape="1">
          <a:blip r:embed="rId3"/>
          <a:srcRect l="1" t="168" r="14263" b="59109"/>
          <a:stretch>
            <a:fillRect/>
          </a:stretch>
        </p:blipFill>
        <p:spPr>
          <a:xfrm>
            <a:off x="0" y="1243584"/>
            <a:ext cx="6200775" cy="5175462"/>
          </a:xfrm>
          <a:prstGeom prst="rect">
            <a:avLst/>
          </a:prstGeom>
        </p:spPr>
      </p:pic>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2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2 : Perception</a:t>
            </a:r>
            <a:r>
              <a:rPr lang="tr-TR" sz="2900" b="1" dirty="0">
                <a:solidFill>
                  <a:srgbClr val="000000"/>
                </a:solidFill>
                <a:latin typeface="Cambria" pitchFamily="34" charset="0"/>
                <a:ea typeface="Cambria" pitchFamily="34" charset="-122"/>
                <a:cs typeface="Cambria" pitchFamily="34" charset="-120"/>
              </a:rPr>
              <a:t> – </a:t>
            </a:r>
            <a:r>
              <a:rPr lang="en-US" sz="2900" b="1" dirty="0">
                <a:solidFill>
                  <a:srgbClr val="000000"/>
                </a:solidFill>
                <a:latin typeface="Cambria" pitchFamily="34" charset="0"/>
                <a:ea typeface="Cambria" pitchFamily="34" charset="-122"/>
                <a:cs typeface="Cambria" pitchFamily="34" charset="-120"/>
              </a:rPr>
              <a:t>Observation</a:t>
            </a:r>
            <a:endParaRPr lang="en-US" sz="2900" dirty="0"/>
          </a:p>
        </p:txBody>
      </p:sp>
      <mc:AlternateContent xmlns:mc="http://schemas.openxmlformats.org/markup-compatibility/2006" xmlns:a14="http://schemas.microsoft.com/office/drawing/2010/main">
        <mc:Choice Requires="a14">
          <p:sp>
            <p:nvSpPr>
              <p:cNvPr id="5" name="Equation 37"/>
              <p:cNvSpPr txBox="1"/>
              <p:nvPr/>
            </p:nvSpPr>
            <p:spPr>
              <a:xfrm>
                <a:off x="6926008" y="2668141"/>
                <a:ext cx="5074920" cy="281306"/>
              </a:xfrm>
              <a:prstGeom prst="rect">
                <a:avLst/>
              </a:prstGeom>
              <a:noFill/>
            </p:spPr>
            <p:txBody>
              <a:bodyPr wrap="square" lIns="0" tIns="0" rIns="0" bIns="0" anchor="ctr">
                <a:noAutofit/>
              </a:bodyPr>
              <a:lstStyle/>
              <a:p>
                <a:pPr algn="ctr"/>
                <a14:m>
                  <m:oMath xmlns:m="http://schemas.openxmlformats.org/officeDocument/2006/math">
                    <m:sSubSup>
                      <m:sSubSupPr>
                        <m:ctrlPr>
                          <a:rPr lang="en-US">
                            <a:latin typeface="Cambria Math"/>
                          </a:rPr>
                        </m:ctrlPr>
                      </m:sSubSupPr>
                      <m:e>
                        <m:r>
                          <a:rPr lang="en-US">
                            <a:latin typeface="Cambria Math"/>
                          </a:rPr>
                          <m:t>𝑂</m:t>
                        </m:r>
                      </m:e>
                      <m:sub>
                        <m:r>
                          <a:rPr lang="en-US">
                            <a:latin typeface="Cambria Math"/>
                          </a:rPr>
                          <m:t>𝑘</m:t>
                        </m:r>
                      </m:sub>
                      <m:sup>
                        <m:r>
                          <a:rPr lang="en-US">
                            <a:latin typeface="Cambria Math"/>
                          </a:rPr>
                          <m:t>𝑖</m:t>
                        </m:r>
                      </m:sup>
                    </m:sSubSup>
                    <m:d>
                      <m:dPr>
                        <m:ctrlPr>
                          <a:rPr lang="en-US">
                            <a:latin typeface="Cambria Math"/>
                          </a:rPr>
                        </m:ctrlPr>
                      </m:dPr>
                      <m:e>
                        <m:r>
                          <a:rPr lang="en-US">
                            <a:latin typeface="Cambria Math"/>
                          </a:rPr>
                          <m:t>𝑥</m:t>
                        </m:r>
                        <m:r>
                          <a:rPr lang="en-US">
                            <a:latin typeface="Cambria Math"/>
                          </a:rPr>
                          <m:t>,</m:t>
                        </m:r>
                        <m:r>
                          <a:rPr lang="en-US">
                            <a:latin typeface="Cambria Math"/>
                          </a:rPr>
                          <m:t>𝑦</m:t>
                        </m:r>
                      </m:e>
                    </m:d>
                    <m:r>
                      <a:rPr lang="en-US">
                        <a:latin typeface="Cambria Math"/>
                      </a:rPr>
                      <m:t>=</m:t>
                    </m:r>
                    <m:sSup>
                      <m:sSupPr>
                        <m:ctrlPr>
                          <a:rPr lang="en-US">
                            <a:latin typeface="Cambria Math"/>
                          </a:rPr>
                        </m:ctrlPr>
                      </m:sSupPr>
                      <m:e>
                        <m:r>
                          <a:rPr lang="en-US">
                            <a:latin typeface="Cambria Math"/>
                          </a:rPr>
                          <m:t>ℎ</m:t>
                        </m:r>
                      </m:e>
                      <m:sup>
                        <m:r>
                          <a:rPr lang="en-US">
                            <a:latin typeface="Cambria Math"/>
                          </a:rPr>
                          <m:t>𝑖</m:t>
                        </m:r>
                      </m:sup>
                    </m:sSup>
                    <m:d>
                      <m:dPr>
                        <m:ctrlPr>
                          <a:rPr lang="en-US" i="1">
                            <a:latin typeface="Cambria Math" panose="02040503050406030204" pitchFamily="18" charset="0"/>
                          </a:rPr>
                        </m:ctrlPr>
                      </m:dPr>
                      <m:e>
                        <m:sSub>
                          <m:sSubPr>
                            <m:ctrlPr>
                              <a:rPr lang="en-US">
                                <a:latin typeface="Cambria Math"/>
                              </a:rPr>
                            </m:ctrlPr>
                          </m:sSubPr>
                          <m:e>
                            <m:r>
                              <a:rPr lang="en-US">
                                <a:latin typeface="Cambria Math"/>
                              </a:rPr>
                              <m:t>𝑆</m:t>
                            </m:r>
                          </m:e>
                          <m:sub>
                            <m:r>
                              <a:rPr lang="en-US">
                                <a:latin typeface="Cambria Math"/>
                              </a:rPr>
                              <m:t>𝑘</m:t>
                            </m:r>
                          </m:sub>
                        </m:sSub>
                        <m:d>
                          <m:dPr>
                            <m:ctrlPr>
                              <a:rPr lang="en-US">
                                <a:latin typeface="Cambria Math"/>
                              </a:rPr>
                            </m:ctrlPr>
                          </m:dPr>
                          <m:e>
                            <m:r>
                              <a:rPr lang="en-US">
                                <a:latin typeface="Cambria Math"/>
                              </a:rPr>
                              <m:t>𝑥</m:t>
                            </m:r>
                            <m:r>
                              <a:rPr lang="en-US">
                                <a:latin typeface="Cambria Math"/>
                              </a:rPr>
                              <m:t>,</m:t>
                            </m:r>
                            <m:r>
                              <a:rPr lang="en-US">
                                <a:latin typeface="Cambria Math"/>
                              </a:rPr>
                              <m:t>𝑦</m:t>
                            </m:r>
                          </m:e>
                        </m:d>
                        <m:r>
                          <a:rPr lang="en-US">
                            <a:latin typeface="Cambria Math"/>
                          </a:rPr>
                          <m:t>, </m:t>
                        </m:r>
                        <m:sSubSup>
                          <m:sSubSupPr>
                            <m:ctrlPr>
                              <a:rPr lang="en-US">
                                <a:latin typeface="Cambria Math"/>
                              </a:rPr>
                            </m:ctrlPr>
                          </m:sSubSupPr>
                          <m:e>
                            <m:r>
                              <a:rPr lang="en-US">
                                <a:latin typeface="Cambria Math"/>
                              </a:rPr>
                              <m:t>𝜀</m:t>
                            </m:r>
                          </m:e>
                          <m:sub>
                            <m:r>
                              <a:rPr lang="en-US">
                                <a:latin typeface="Cambria Math"/>
                              </a:rPr>
                              <m:t>𝑘</m:t>
                            </m:r>
                          </m:sub>
                          <m:sup>
                            <m:r>
                              <a:rPr lang="en-US">
                                <a:latin typeface="Cambria Math"/>
                              </a:rPr>
                              <m:t>𝑖</m:t>
                            </m:r>
                          </m:sup>
                        </m:sSubSup>
                        <m:d>
                          <m:dPr>
                            <m:ctrlPr>
                              <a:rPr lang="en-US">
                                <a:latin typeface="Cambria Math"/>
                              </a:rPr>
                            </m:ctrlPr>
                          </m:dPr>
                          <m:e>
                            <m:r>
                              <a:rPr lang="en-US">
                                <a:latin typeface="Cambria Math"/>
                              </a:rPr>
                              <m:t>𝑥</m:t>
                            </m:r>
                            <m:r>
                              <a:rPr lang="en-US">
                                <a:latin typeface="Cambria Math"/>
                              </a:rPr>
                              <m:t>,</m:t>
                            </m:r>
                            <m:r>
                              <a:rPr lang="en-US">
                                <a:latin typeface="Cambria Math"/>
                              </a:rPr>
                              <m:t>𝑦</m:t>
                            </m:r>
                          </m:e>
                        </m:d>
                      </m:e>
                    </m:d>
                    <m:r>
                      <a:rPr lang="en-US">
                        <a:latin typeface="Cambria Math"/>
                      </a:rPr>
                      <m:t>, </m:t>
                    </m:r>
                    <m:d>
                      <m:dPr>
                        <m:ctrlPr>
                          <a:rPr lang="en-US">
                            <a:latin typeface="Cambria Math"/>
                          </a:rPr>
                        </m:ctrlPr>
                      </m:dPr>
                      <m:e>
                        <m:r>
                          <a:rPr lang="en-US">
                            <a:latin typeface="Cambria Math"/>
                          </a:rPr>
                          <m:t>𝑥</m:t>
                        </m:r>
                        <m:r>
                          <a:rPr lang="en-US">
                            <a:latin typeface="Cambria Math"/>
                          </a:rPr>
                          <m:t>,</m:t>
                        </m:r>
                        <m:r>
                          <a:rPr lang="en-US">
                            <a:latin typeface="Cambria Math"/>
                          </a:rPr>
                          <m:t>𝑦</m:t>
                        </m:r>
                      </m:e>
                    </m:d>
                    <m:r>
                      <a:rPr lang="en-US">
                        <a:latin typeface="Cambria Math"/>
                      </a:rPr>
                      <m:t>∈</m:t>
                    </m:r>
                    <m:sSup>
                      <m:sSupPr>
                        <m:ctrlPr>
                          <a:rPr lang="en-US">
                            <a:latin typeface="Cambria Math"/>
                          </a:rPr>
                        </m:ctrlPr>
                      </m:sSupPr>
                      <m:e>
                        <m:r>
                          <a:rPr lang="en-US">
                            <a:latin typeface="Cambria Math"/>
                          </a:rPr>
                          <m:t>𝒢</m:t>
                        </m:r>
                      </m:e>
                      <m:sup>
                        <m:r>
                          <a:rPr lang="en-US">
                            <a:latin typeface="Cambria Math"/>
                          </a:rPr>
                          <m:t>𝑖</m:t>
                        </m:r>
                      </m:sup>
                    </m:sSup>
                  </m:oMath>
                </a14:m>
                <a:r>
                  <a:rPr lang="en-US" dirty="0">
                    <a:solidFill>
                      <a:srgbClr val="6E6E6E"/>
                    </a:solidFill>
                  </a:rPr>
                  <a:t> </a:t>
                </a:r>
              </a:p>
            </p:txBody>
          </p:sp>
        </mc:Choice>
        <mc:Fallback xmlns="">
          <p:sp>
            <p:nvSpPr>
              <p:cNvPr id="5" name="Equation 37"/>
              <p:cNvSpPr txBox="1">
                <a:spLocks noRot="1" noChangeAspect="1" noMove="1" noResize="1" noEditPoints="1" noAdjustHandles="1" noChangeArrowheads="1" noChangeShapeType="1" noTextEdit="1"/>
              </p:cNvSpPr>
              <p:nvPr/>
            </p:nvSpPr>
            <p:spPr>
              <a:xfrm>
                <a:off x="6926008" y="2668141"/>
                <a:ext cx="5074920" cy="281306"/>
              </a:xfrm>
              <a:prstGeom prst="rect">
                <a:avLst/>
              </a:prstGeom>
              <a:blipFill>
                <a:blip r:embed="rId4"/>
                <a:stretch>
                  <a:fillRect t="-30435" b="-47826"/>
                </a:stretch>
              </a:blipFill>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6" name="Equation 38"/>
              <p:cNvSpPr txBox="1"/>
              <p:nvPr/>
            </p:nvSpPr>
            <p:spPr>
              <a:xfrm>
                <a:off x="7139341" y="3724554"/>
                <a:ext cx="4648254" cy="277505"/>
              </a:xfrm>
              <a:prstGeom prst="rect">
                <a:avLst/>
              </a:prstGeom>
              <a:noFill/>
            </p:spPr>
            <p:txBody>
              <a:bodyPr wrap="square" lIns="0" tIns="0" rIns="0" bIns="0" anchor="ctr">
                <a:noAutofit/>
              </a:bodyPr>
              <a:lstStyle/>
              <a:p>
                <a:pPr algn="ctr"/>
                <a14:m>
                  <m:oMathPara xmlns:m="http://schemas.openxmlformats.org/officeDocument/2006/math">
                    <m:oMath>
                      <m:sSubSup>
                        <m:sSubSupPr>
                          <m:ctrlPr>
                            <a:rPr lang="en-US">
                              <a:latin typeface="Cambria Math"/>
                            </a:rPr>
                          </m:ctrlPr>
                        </m:sSubSupPr>
                        <m:e>
                          <m:r>
                            <a:rPr lang="en-US">
                              <a:latin typeface="Cambria Math"/>
                            </a:rPr>
                            <m:t>𝛾</m:t>
                          </m:r>
                        </m:e>
                        <m:sub>
                          <m:r>
                            <a:rPr lang="en-US">
                              <a:latin typeface="Cambria Math"/>
                            </a:rPr>
                            <m:t>𝑘</m:t>
                          </m:r>
                        </m:sub>
                        <m:sup>
                          <m:r>
                            <a:rPr lang="en-US">
                              <a:latin typeface="Cambria Math"/>
                            </a:rPr>
                            <m:t>𝑖</m:t>
                          </m:r>
                        </m:sup>
                      </m:sSubSup>
                      <m:d>
                        <m:dPr>
                          <m:ctrlPr>
                            <a:rPr lang="en-US">
                              <a:latin typeface="Cambria Math"/>
                            </a:rPr>
                          </m:ctrlPr>
                        </m:dPr>
                        <m:e>
                          <m:r>
                            <a:rPr lang="en-US">
                              <a:latin typeface="Cambria Math"/>
                            </a:rPr>
                            <m:t>𝑥</m:t>
                          </m:r>
                          <m:r>
                            <a:rPr lang="en-US">
                              <a:latin typeface="Cambria Math"/>
                            </a:rPr>
                            <m:t>,</m:t>
                          </m:r>
                          <m:r>
                            <a:rPr lang="en-US">
                              <a:latin typeface="Cambria Math"/>
                            </a:rPr>
                            <m:t>𝑦</m:t>
                          </m:r>
                        </m:e>
                      </m:d>
                      <m:r>
                        <a:rPr lang="en-US">
                          <a:latin typeface="Cambria Math"/>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𝑚𝑖</m:t>
                          </m:r>
                          <m:r>
                            <a:rPr lang="en-US">
                              <a:latin typeface="Cambria Math"/>
                            </a:rPr>
                            <m:t>𝑛</m:t>
                          </m:r>
                        </m:fName>
                        <m:e>
                          <m:d>
                            <m:dPr>
                              <m:begChr m:val="{"/>
                              <m:endChr m:val="}"/>
                              <m:ctrlPr>
                                <a:rPr lang="en-US" i="1">
                                  <a:latin typeface="Cambria Math" panose="02040503050406030204" pitchFamily="18" charset="0"/>
                                </a:rPr>
                              </m:ctrlPr>
                            </m:dPr>
                            <m:e>
                              <m:sSub>
                                <m:sSubPr>
                                  <m:ctrlPr>
                                    <a:rPr lang="en-US">
                                      <a:latin typeface="Cambria Math"/>
                                    </a:rPr>
                                  </m:ctrlPr>
                                </m:sSubPr>
                                <m:e>
                                  <m:r>
                                    <a:rPr lang="en-US">
                                      <a:latin typeface="Cambria Math"/>
                                    </a:rPr>
                                    <m:t>𝛾</m:t>
                                  </m:r>
                                </m:e>
                                <m:sub>
                                  <m:r>
                                    <a:rPr lang="en-US">
                                      <a:latin typeface="Cambria Math"/>
                                    </a:rPr>
                                    <m:t>𝑜𝑏𝑠</m:t>
                                  </m:r>
                                </m:sub>
                              </m:sSub>
                              <m:r>
                                <a:rPr lang="en-US">
                                  <a:latin typeface="Cambria Math"/>
                                </a:rPr>
                                <m:t>,</m:t>
                              </m:r>
                              <m:sSub>
                                <m:sSubPr>
                                  <m:ctrlPr>
                                    <a:rPr lang="en-US">
                                      <a:latin typeface="Cambria Math"/>
                                    </a:rPr>
                                  </m:ctrlPr>
                                </m:sSubPr>
                                <m:e>
                                  <m:r>
                                    <a:rPr lang="en-US">
                                      <a:latin typeface="Cambria Math"/>
                                    </a:rPr>
                                    <m:t>𝛾</m:t>
                                  </m:r>
                                </m:e>
                                <m:sub>
                                  <m:r>
                                    <a:rPr lang="en-US">
                                      <a:latin typeface="Cambria Math"/>
                                    </a:rPr>
                                    <m:t>𝑐𝑜𝑣</m:t>
                                  </m:r>
                                </m:sub>
                              </m:sSub>
                              <m:r>
                                <a:rPr lang="en-US">
                                  <a:latin typeface="Cambria Math"/>
                                </a:rPr>
                                <m:t>,</m:t>
                              </m:r>
                              <m:sSub>
                                <m:sSubPr>
                                  <m:ctrlPr>
                                    <a:rPr lang="en-US">
                                      <a:latin typeface="Cambria Math"/>
                                    </a:rPr>
                                  </m:ctrlPr>
                                </m:sSubPr>
                                <m:e>
                                  <m:r>
                                    <a:rPr lang="en-US">
                                      <a:latin typeface="Cambria Math"/>
                                    </a:rPr>
                                    <m:t>𝛾</m:t>
                                  </m:r>
                                </m:e>
                                <m:sub>
                                  <m:r>
                                    <a:rPr lang="en-US">
                                      <a:latin typeface="Cambria Math"/>
                                    </a:rPr>
                                    <m:t>𝑓𝑟𝑒</m:t>
                                  </m:r>
                                </m:sub>
                              </m:sSub>
                              <m:r>
                                <a:rPr lang="en-US">
                                  <a:latin typeface="Cambria Math"/>
                                </a:rPr>
                                <m:t>,</m:t>
                              </m:r>
                              <m:sSub>
                                <m:sSubPr>
                                  <m:ctrlPr>
                                    <a:rPr lang="en-US">
                                      <a:latin typeface="Cambria Math"/>
                                    </a:rPr>
                                  </m:ctrlPr>
                                </m:sSubPr>
                                <m:e>
                                  <m:r>
                                    <a:rPr lang="en-US">
                                      <a:latin typeface="Cambria Math"/>
                                    </a:rPr>
                                    <m:t>𝛾</m:t>
                                  </m:r>
                                </m:e>
                                <m:sub>
                                  <m:r>
                                    <a:rPr lang="en-US">
                                      <a:latin typeface="Cambria Math"/>
                                    </a:rPr>
                                    <m:t>𝑟𝑒𝑙</m:t>
                                  </m:r>
                                </m:sub>
                              </m:sSub>
                            </m:e>
                          </m:d>
                        </m:e>
                      </m:func>
                    </m:oMath>
                  </m:oMathPara>
                </a14:m>
                <a:endParaRPr lang="en-US" dirty="0"/>
              </a:p>
            </p:txBody>
          </p:sp>
        </mc:Choice>
        <mc:Fallback xmlns="">
          <p:sp>
            <p:nvSpPr>
              <p:cNvPr id="6" name="Equation 38"/>
              <p:cNvSpPr txBox="1">
                <a:spLocks noRot="1" noChangeAspect="1" noMove="1" noResize="1" noEditPoints="1" noAdjustHandles="1" noChangeArrowheads="1" noChangeShapeType="1" noTextEdit="1"/>
              </p:cNvSpPr>
              <p:nvPr/>
            </p:nvSpPr>
            <p:spPr>
              <a:xfrm>
                <a:off x="7139341" y="3724554"/>
                <a:ext cx="4648254" cy="277505"/>
              </a:xfrm>
              <a:prstGeom prst="rect">
                <a:avLst/>
              </a:prstGeom>
              <a:blipFill>
                <a:blip r:embed="rId5"/>
                <a:stretch>
                  <a:fillRect t="-4348" b="-34783"/>
                </a:stretch>
              </a:blipFill>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7" name="Equation 39"/>
              <p:cNvSpPr txBox="1"/>
              <p:nvPr/>
            </p:nvSpPr>
            <p:spPr>
              <a:xfrm>
                <a:off x="6926008" y="3196348"/>
                <a:ext cx="5074920" cy="281306"/>
              </a:xfrm>
              <a:prstGeom prst="rect">
                <a:avLst/>
              </a:prstGeom>
              <a:noFill/>
            </p:spPr>
            <p:txBody>
              <a:bodyPr wrap="square" lIns="0" tIns="0" rIns="0" bIns="0" anchor="ctr">
                <a:noAutofit/>
              </a:bodyPr>
              <a:lstStyle/>
              <a:p>
                <a:pPr algn="ctr"/>
                <a14:m>
                  <m:oMath xmlns:m="http://schemas.openxmlformats.org/officeDocument/2006/math">
                    <m:r>
                      <a:rPr lang="en-US" smtClean="0">
                        <a:latin typeface="Cambria Math"/>
                      </a:rPr>
                      <m:t>|</m:t>
                    </m:r>
                    <m:sSubSup>
                      <m:sSubSupPr>
                        <m:ctrlPr>
                          <a:rPr lang="en-US">
                            <a:latin typeface="Cambria Math"/>
                          </a:rPr>
                        </m:ctrlPr>
                      </m:sSubSupPr>
                      <m:e>
                        <m:r>
                          <a:rPr lang="en-US">
                            <a:latin typeface="Cambria Math"/>
                          </a:rPr>
                          <m:t>𝜀</m:t>
                        </m:r>
                      </m:e>
                      <m:sub>
                        <m:r>
                          <a:rPr lang="en-US">
                            <a:latin typeface="Cambria Math"/>
                          </a:rPr>
                          <m:t>𝑘</m:t>
                        </m:r>
                      </m:sub>
                      <m:sup>
                        <m:r>
                          <a:rPr lang="en-US">
                            <a:latin typeface="Cambria Math"/>
                          </a:rPr>
                          <m:t>𝑖</m:t>
                        </m:r>
                      </m:sup>
                    </m:sSubSup>
                    <m:d>
                      <m:dPr>
                        <m:ctrlPr>
                          <a:rPr lang="en-US">
                            <a:latin typeface="Cambria Math"/>
                          </a:rPr>
                        </m:ctrlPr>
                      </m:dPr>
                      <m:e>
                        <m:r>
                          <a:rPr lang="en-US">
                            <a:latin typeface="Cambria Math"/>
                          </a:rPr>
                          <m:t>𝑥</m:t>
                        </m:r>
                        <m:r>
                          <a:rPr lang="en-US">
                            <a:latin typeface="Cambria Math"/>
                          </a:rPr>
                          <m:t>,</m:t>
                        </m:r>
                        <m:r>
                          <a:rPr lang="en-US">
                            <a:latin typeface="Cambria Math"/>
                          </a:rPr>
                          <m:t>𝑦</m:t>
                        </m:r>
                      </m:e>
                    </m:d>
                    <m:r>
                      <a:rPr lang="en-US">
                        <a:latin typeface="Cambria Math"/>
                      </a:rPr>
                      <m:t>|≤(1−</m:t>
                    </m:r>
                    <m:sSubSup>
                      <m:sSubSupPr>
                        <m:ctrlPr>
                          <a:rPr lang="en-US">
                            <a:latin typeface="Cambria Math"/>
                          </a:rPr>
                        </m:ctrlPr>
                      </m:sSubSupPr>
                      <m:e>
                        <m:r>
                          <a:rPr lang="en-US">
                            <a:latin typeface="Cambria Math"/>
                          </a:rPr>
                          <m:t>𝛾</m:t>
                        </m:r>
                      </m:e>
                      <m:sub>
                        <m:r>
                          <a:rPr lang="en-US">
                            <a:latin typeface="Cambria Math"/>
                          </a:rPr>
                          <m:t>𝑘</m:t>
                        </m:r>
                      </m:sub>
                      <m:sup>
                        <m:r>
                          <a:rPr lang="en-US">
                            <a:latin typeface="Cambria Math"/>
                          </a:rPr>
                          <m:t>𝑖</m:t>
                        </m:r>
                      </m:sup>
                    </m:sSubSup>
                    <m:d>
                      <m:dPr>
                        <m:ctrlPr>
                          <a:rPr lang="en-US">
                            <a:latin typeface="Cambria Math"/>
                          </a:rPr>
                        </m:ctrlPr>
                      </m:dPr>
                      <m:e>
                        <m:r>
                          <a:rPr lang="en-US">
                            <a:latin typeface="Cambria Math"/>
                          </a:rPr>
                          <m:t>𝑥</m:t>
                        </m:r>
                        <m:r>
                          <a:rPr lang="en-US">
                            <a:latin typeface="Cambria Math"/>
                          </a:rPr>
                          <m:t>,</m:t>
                        </m:r>
                        <m:r>
                          <a:rPr lang="en-US">
                            <a:latin typeface="Cambria Math"/>
                          </a:rPr>
                          <m:t>𝑦</m:t>
                        </m:r>
                      </m:e>
                    </m:d>
                    <m:r>
                      <a:rPr lang="en-US">
                        <a:latin typeface="Cambria Math"/>
                      </a:rPr>
                      <m:t>)⋅</m:t>
                    </m:r>
                    <m:sSub>
                      <m:sSubPr>
                        <m:ctrlPr>
                          <a:rPr lang="en-US">
                            <a:latin typeface="Cambria Math"/>
                          </a:rPr>
                        </m:ctrlPr>
                      </m:sSubPr>
                      <m:e>
                        <m:r>
                          <a:rPr lang="en-US">
                            <a:latin typeface="Cambria Math"/>
                          </a:rPr>
                          <m:t>𝜀</m:t>
                        </m:r>
                      </m:e>
                      <m:sub>
                        <m:r>
                          <a:rPr lang="en-US">
                            <a:latin typeface="Cambria Math"/>
                          </a:rPr>
                          <m:t>𝑚𝑎𝑥</m:t>
                        </m:r>
                      </m:sub>
                    </m:sSub>
                  </m:oMath>
                </a14:m>
                <a:r>
                  <a:rPr lang="en-US" dirty="0">
                    <a:solidFill>
                      <a:srgbClr val="6E6E6E"/>
                    </a:solidFill>
                  </a:rPr>
                  <a:t> </a:t>
                </a:r>
              </a:p>
            </p:txBody>
          </p:sp>
        </mc:Choice>
        <mc:Fallback xmlns="">
          <p:sp>
            <p:nvSpPr>
              <p:cNvPr id="7" name="Equation 39"/>
              <p:cNvSpPr txBox="1">
                <a:spLocks noRot="1" noChangeAspect="1" noMove="1" noResize="1" noEditPoints="1" noAdjustHandles="1" noChangeArrowheads="1" noChangeShapeType="1" noTextEdit="1"/>
              </p:cNvSpPr>
              <p:nvPr/>
            </p:nvSpPr>
            <p:spPr>
              <a:xfrm>
                <a:off x="6926008" y="3196348"/>
                <a:ext cx="5074920" cy="281306"/>
              </a:xfrm>
              <a:prstGeom prst="rect">
                <a:avLst/>
              </a:prstGeom>
              <a:blipFill>
                <a:blip r:embed="rId6"/>
                <a:stretch>
                  <a:fillRect t="-4348" b="-39130"/>
                </a:stretch>
              </a:blipFill>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8" name="Equation 40"/>
              <p:cNvSpPr txBox="1"/>
              <p:nvPr/>
            </p:nvSpPr>
            <p:spPr>
              <a:xfrm>
                <a:off x="6995160" y="6002788"/>
                <a:ext cx="5074920" cy="277505"/>
              </a:xfrm>
              <a:prstGeom prst="rect">
                <a:avLst/>
              </a:prstGeom>
              <a:noFill/>
            </p:spPr>
            <p:txBody>
              <a:bodyPr wrap="square" lIns="0" tIns="0" rIns="0" bIns="0" anchor="ctr">
                <a:noAutofit/>
              </a:bodyPr>
              <a:lstStyle/>
              <a:p>
                <a:pPr algn="ctr"/>
                <a14:m>
                  <m:oMathPara xmlns:m="http://schemas.openxmlformats.org/officeDocument/2006/math">
                    <m:oMath>
                      <m:sSubSup>
                        <m:sSubSupPr>
                          <m:ctrlPr>
                            <a:rPr lang="en-US">
                              <a:latin typeface="Cambria Math"/>
                            </a:rPr>
                          </m:ctrlPr>
                        </m:sSubSupPr>
                        <m:e>
                          <m:r>
                            <a:rPr lang="en-US">
                              <a:latin typeface="Cambria Math"/>
                            </a:rPr>
                            <m:t>𝑧</m:t>
                          </m:r>
                        </m:e>
                        <m:sub>
                          <m:r>
                            <a:rPr lang="en-US">
                              <a:latin typeface="Cambria Math"/>
                            </a:rPr>
                            <m:t>𝑓</m:t>
                          </m:r>
                          <m:r>
                            <a:rPr lang="en-US">
                              <a:latin typeface="Cambria Math"/>
                            </a:rPr>
                            <m:t>,</m:t>
                          </m:r>
                          <m:r>
                            <a:rPr lang="en-US">
                              <a:latin typeface="Cambria Math"/>
                            </a:rPr>
                            <m:t>𝑘</m:t>
                          </m:r>
                        </m:sub>
                        <m:sup>
                          <m:r>
                            <a:rPr lang="en-US">
                              <a:latin typeface="Cambria Math"/>
                            </a:rPr>
                            <m:t>𝑖</m:t>
                          </m:r>
                        </m:sup>
                      </m:sSubSup>
                      <m:r>
                        <a:rPr lang="en-US">
                          <a:latin typeface="Cambria Math"/>
                        </a:rPr>
                        <m:t>=</m:t>
                      </m:r>
                      <m:sSub>
                        <m:sSubPr>
                          <m:ctrlPr>
                            <a:rPr lang="en-US">
                              <a:latin typeface="Cambria Math"/>
                            </a:rPr>
                          </m:ctrlPr>
                        </m:sSubPr>
                        <m:e>
                          <m:r>
                            <a:rPr lang="en-US">
                              <a:latin typeface="Cambria Math"/>
                            </a:rPr>
                            <m:t>𝜉</m:t>
                          </m:r>
                        </m:e>
                        <m:sub>
                          <m:r>
                            <a:rPr lang="en-US">
                              <a:latin typeface="Cambria Math"/>
                            </a:rPr>
                            <m:t>𝑓</m:t>
                          </m:r>
                        </m:sub>
                      </m:sSub>
                      <m:d>
                        <m:dPr>
                          <m:ctrlPr>
                            <a:rPr lang="en-US" i="1">
                              <a:latin typeface="Cambria Math" panose="02040503050406030204" pitchFamily="18" charset="0"/>
                            </a:rPr>
                          </m:ctrlPr>
                        </m:dPr>
                        <m:e>
                          <m:sSubSup>
                            <m:sSubSupPr>
                              <m:ctrlPr>
                                <a:rPr lang="en-US">
                                  <a:latin typeface="Cambria Math"/>
                                </a:rPr>
                              </m:ctrlPr>
                            </m:sSubSupPr>
                            <m:e>
                              <m:r>
                                <a:rPr lang="en-US">
                                  <a:latin typeface="Cambria Math"/>
                                </a:rPr>
                                <m:t>𝑂</m:t>
                              </m:r>
                            </m:e>
                            <m:sub>
                              <m:r>
                                <a:rPr lang="en-US">
                                  <a:latin typeface="Cambria Math"/>
                                </a:rPr>
                                <m:t>𝑘</m:t>
                              </m:r>
                            </m:sub>
                            <m:sup>
                              <m:r>
                                <a:rPr lang="en-US">
                                  <a:latin typeface="Cambria Math"/>
                                </a:rPr>
                                <m:t>𝑖</m:t>
                              </m:r>
                            </m:sup>
                          </m:sSubSup>
                        </m:e>
                      </m:d>
                      <m:r>
                        <a:rPr lang="en-US">
                          <a:latin typeface="Cambria Math"/>
                        </a:rPr>
                        <m:t>∈[0,1], </m:t>
                      </m:r>
                      <m:r>
                        <a:rPr lang="en-US">
                          <a:latin typeface="Cambria Math"/>
                        </a:rPr>
                        <m:t>𝑓</m:t>
                      </m:r>
                      <m:r>
                        <a:rPr lang="en-US">
                          <a:latin typeface="Cambria Math"/>
                        </a:rPr>
                        <m:t>=1,…,</m:t>
                      </m:r>
                      <m:sSub>
                        <m:sSubPr>
                          <m:ctrlPr>
                            <a:rPr lang="en-US">
                              <a:latin typeface="Cambria Math"/>
                            </a:rPr>
                          </m:ctrlPr>
                        </m:sSubPr>
                        <m:e>
                          <m:r>
                            <a:rPr lang="en-US">
                              <a:latin typeface="Cambria Math"/>
                            </a:rPr>
                            <m:t>𝑁</m:t>
                          </m:r>
                        </m:e>
                        <m:sub>
                          <m:r>
                            <a:rPr lang="en-US">
                              <a:latin typeface="Cambria Math"/>
                            </a:rPr>
                            <m:t>𝑓𝑒𝑎𝑡𝑢𝑟𝑒</m:t>
                          </m:r>
                        </m:sub>
                      </m:sSub>
                    </m:oMath>
                  </m:oMathPara>
                </a14:m>
                <a:endParaRPr lang="en-US" dirty="0">
                  <a:solidFill>
                    <a:srgbClr val="6E6E6E"/>
                  </a:solidFill>
                </a:endParaRPr>
              </a:p>
            </p:txBody>
          </p:sp>
        </mc:Choice>
        <mc:Fallback xmlns="">
          <p:sp>
            <p:nvSpPr>
              <p:cNvPr id="8" name="Equation 40"/>
              <p:cNvSpPr txBox="1">
                <a:spLocks noRot="1" noChangeAspect="1" noMove="1" noResize="1" noEditPoints="1" noAdjustHandles="1" noChangeArrowheads="1" noChangeShapeType="1" noTextEdit="1"/>
              </p:cNvSpPr>
              <p:nvPr/>
            </p:nvSpPr>
            <p:spPr>
              <a:xfrm>
                <a:off x="6995160" y="6002788"/>
                <a:ext cx="5074920" cy="277505"/>
              </a:xfrm>
              <a:prstGeom prst="rect">
                <a:avLst/>
              </a:prstGeom>
              <a:blipFill>
                <a:blip r:embed="rId7"/>
                <a:stretch>
                  <a:fillRect t="-31111" b="-51111"/>
                </a:stretch>
              </a:blipFill>
            </p:spPr>
            <p:txBody>
              <a:bodyPr/>
              <a:lstStyle/>
              <a:p>
                <a:r>
                  <a:rPr lang="tr-TR">
                    <a:noFill/>
                  </a:rPr>
                  <a:t/>
                </a:r>
              </a:p>
            </p:txBody>
          </p:sp>
        </mc:Fallback>
      </mc:AlternateContent>
      <p:pic>
        <p:nvPicPr>
          <p:cNvPr id="10" name="Image 5" descr="/tmp/thx/deck/figs/metu_emblem.png"/>
          <p:cNvPicPr>
            <a:picLocks noChangeAspect="1"/>
          </p:cNvPicPr>
          <p:nvPr/>
        </p:nvPicPr>
        <p:blipFill>
          <a:blip r:embed="rId8"/>
          <a:stretch>
            <a:fillRect/>
          </a:stretch>
        </p:blipFill>
        <p:spPr>
          <a:xfrm>
            <a:off x="10716768" y="184607"/>
            <a:ext cx="475488" cy="398882"/>
          </a:xfrm>
          <a:prstGeom prst="rect">
            <a:avLst/>
          </a:prstGeom>
        </p:spPr>
      </p:pic>
      <p:pic>
        <p:nvPicPr>
          <p:cNvPr id="11" name="Image 6" descr="/tmp/thx/deck/figs/eee_logo.png"/>
          <p:cNvPicPr>
            <a:picLocks noChangeAspect="1"/>
          </p:cNvPicPr>
          <p:nvPr/>
        </p:nvPicPr>
        <p:blipFill>
          <a:blip r:embed="rId9"/>
          <a:stretch>
            <a:fillRect/>
          </a:stretch>
        </p:blipFill>
        <p:spPr>
          <a:xfrm>
            <a:off x="11265408" y="186217"/>
            <a:ext cx="475488" cy="39566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2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800" b="1" dirty="0">
                <a:solidFill>
                  <a:srgbClr val="000000"/>
                </a:solidFill>
                <a:latin typeface="Cambria" pitchFamily="34" charset="0"/>
                <a:ea typeface="Cambria" pitchFamily="34" charset="-122"/>
                <a:cs typeface="Cambria" pitchFamily="34" charset="-120"/>
              </a:rPr>
              <a:t>Layer 2 : Perception – Observation and Confidence</a:t>
            </a:r>
            <a:endParaRPr lang="en-US" sz="28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19" name="Text 2">
            <a:extLst>
              <a:ext uri="{FF2B5EF4-FFF2-40B4-BE49-F238E27FC236}">
                <a16:creationId xmlns:a16="http://schemas.microsoft.com/office/drawing/2014/main" id="{75F05216-CBD1-4FDE-AE90-EEDD919D3C03}"/>
              </a:ext>
            </a:extLst>
          </p:cNvPr>
          <p:cNvSpPr/>
          <p:nvPr/>
        </p:nvSpPr>
        <p:spPr>
          <a:xfrm>
            <a:off x="502920" y="1225296"/>
            <a:ext cx="5577840" cy="237744"/>
          </a:xfrm>
          <a:prstGeom prst="rect">
            <a:avLst/>
          </a:prstGeom>
          <a:noFill/>
          <a:ln/>
        </p:spPr>
        <p:txBody>
          <a:bodyPr wrap="square" lIns="0" tIns="0" rIns="0" bIns="0" rtlCol="0" anchor="t"/>
          <a:lstStyle/>
          <a:p>
            <a:pPr marL="0" indent="0">
              <a:buNone/>
            </a:pPr>
            <a:r>
              <a:rPr lang="en-US" sz="1300" b="1" dirty="0">
                <a:solidFill>
                  <a:srgbClr val="222222"/>
                </a:solidFill>
                <a:latin typeface="Calibri" pitchFamily="34" charset="0"/>
                <a:ea typeface="Calibri" pitchFamily="34" charset="-122"/>
                <a:cs typeface="Calibri" pitchFamily="34" charset="-120"/>
              </a:rPr>
              <a:t>Region-restricted observation — the only window onto the world</a:t>
            </a:r>
            <a:endParaRPr lang="en-US" sz="1300" dirty="0"/>
          </a:p>
        </p:txBody>
      </p:sp>
      <mc:AlternateContent xmlns:mc="http://schemas.openxmlformats.org/markup-compatibility/2006" xmlns:a14="http://schemas.microsoft.com/office/drawing/2010/main">
        <mc:Choice Requires="a14">
          <p:sp>
            <p:nvSpPr>
              <p:cNvPr id="20" name="Text 3">
                <a:extLst>
                  <a:ext uri="{FF2B5EF4-FFF2-40B4-BE49-F238E27FC236}">
                    <a16:creationId xmlns:a16="http://schemas.microsoft.com/office/drawing/2014/main" id="{D6F24581-C38B-42E5-8E20-A07C8A61C657}"/>
                  </a:ext>
                </a:extLst>
              </p:cNvPr>
              <p:cNvSpPr/>
              <p:nvPr/>
            </p:nvSpPr>
            <p:spPr>
              <a:xfrm>
                <a:off x="502920" y="1481328"/>
                <a:ext cx="5486400" cy="502920"/>
              </a:xfrm>
              <a:prstGeom prst="rect">
                <a:avLst/>
              </a:prstGeom>
              <a:noFill/>
              <a:ln/>
            </p:spPr>
            <p:txBody>
              <a:bodyPr wrap="square" lIns="0" tIns="0" rIns="0" bIns="0" rtlCol="0" anchor="ctr"/>
              <a:lstStyle/>
              <a:p>
                <a:pPr marL="0" indent="0" algn="ctr">
                  <a:buNone/>
                </a:pPr>
                <a14:m>
                  <m:oMathPara xmlns:m="http://schemas.openxmlformats.org/officeDocument/2006/math">
                    <m:oMath>
                      <m:sSubSup>
                        <m:sSubSupPr>
                          <m:ctrlPr>
                            <a:rPr lang="en-US" sz="1400">
                              <a:latin typeface="Cambria Math"/>
                            </a:rPr>
                          </m:ctrlPr>
                        </m:sSubSupPr>
                        <m:e>
                          <m:r>
                            <a:rPr lang="en-US" sz="1400">
                              <a:latin typeface="Cambria Math"/>
                            </a:rPr>
                            <m:t>𝑂</m:t>
                          </m:r>
                        </m:e>
                        <m:sub>
                          <m:r>
                            <a:rPr lang="en-US" sz="1400">
                              <a:latin typeface="Cambria Math"/>
                            </a:rPr>
                            <m:t>𝑘</m:t>
                          </m:r>
                        </m:sub>
                        <m:sup>
                          <m:r>
                            <a:rPr lang="en-US" sz="1400">
                              <a:latin typeface="Cambria Math"/>
                            </a:rPr>
                            <m:t>𝑖</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p>
                        <m:sSupPr>
                          <m:ctrlPr>
                            <a:rPr lang="en-US" sz="1400">
                              <a:latin typeface="Cambria Math"/>
                            </a:rPr>
                          </m:ctrlPr>
                        </m:sSupPr>
                        <m:e>
                          <m:r>
                            <a:rPr lang="en-US" sz="1400">
                              <a:latin typeface="Cambria Math"/>
                            </a:rPr>
                            <m:t>ℎ</m:t>
                          </m:r>
                        </m:e>
                        <m:sup>
                          <m:r>
                            <a:rPr lang="en-US" sz="1400">
                              <a:latin typeface="Cambria Math"/>
                            </a:rPr>
                            <m:t>𝑖</m:t>
                          </m:r>
                        </m:sup>
                      </m:sSup>
                      <m:d>
                        <m:dPr>
                          <m:ctrlPr>
                            <a:rPr lang="en-US" sz="1400" i="1">
                              <a:latin typeface="Cambria Math" panose="02040503050406030204" pitchFamily="18" charset="0"/>
                            </a:rPr>
                          </m:ctrlPr>
                        </m:dPr>
                        <m:e>
                          <m:sSub>
                            <m:sSubPr>
                              <m:ctrlPr>
                                <a:rPr lang="en-US" sz="1400">
                                  <a:latin typeface="Cambria Math"/>
                                </a:rPr>
                              </m:ctrlPr>
                            </m:sSubPr>
                            <m:e>
                              <m:r>
                                <a:rPr lang="en-US" sz="1400">
                                  <a:latin typeface="Cambria Math"/>
                                </a:rPr>
                                <m:t>𝑆</m:t>
                              </m:r>
                            </m:e>
                            <m:sub>
                              <m:r>
                                <a:rPr lang="en-US" sz="1400">
                                  <a:latin typeface="Cambria Math"/>
                                </a:rPr>
                                <m:t>𝑘</m:t>
                              </m:r>
                            </m:sub>
                          </m:sSub>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 </m:t>
                          </m:r>
                          <m:sSubSup>
                            <m:sSubSupPr>
                              <m:ctrlPr>
                                <a:rPr lang="en-US" sz="1400">
                                  <a:latin typeface="Cambria Math"/>
                                </a:rPr>
                              </m:ctrlPr>
                            </m:sSubSupPr>
                            <m:e>
                              <m:r>
                                <a:rPr lang="en-US" sz="1400">
                                  <a:latin typeface="Cambria Math"/>
                                </a:rPr>
                                <m:t>𝜀</m:t>
                              </m:r>
                            </m:e>
                            <m:sub>
                              <m:r>
                                <a:rPr lang="en-US" sz="1400">
                                  <a:latin typeface="Cambria Math"/>
                                </a:rPr>
                                <m:t>𝑘</m:t>
                              </m:r>
                            </m:sub>
                            <m:sup>
                              <m:r>
                                <a:rPr lang="en-US" sz="1400">
                                  <a:latin typeface="Cambria Math"/>
                                </a:rPr>
                                <m:t>𝑖</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e>
                      </m:d>
                      <m:r>
                        <a:rPr lang="en-US" sz="1400">
                          <a:latin typeface="Cambria Math"/>
                        </a:rPr>
                        <m:t>, </m:t>
                      </m:r>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p>
                        <m:sSupPr>
                          <m:ctrlPr>
                            <a:rPr lang="en-US" sz="1400">
                              <a:latin typeface="Cambria Math"/>
                            </a:rPr>
                          </m:ctrlPr>
                        </m:sSupPr>
                        <m:e>
                          <m:r>
                            <a:rPr lang="en-US" sz="1400">
                              <a:latin typeface="Cambria Math"/>
                            </a:rPr>
                            <m:t>𝒢</m:t>
                          </m:r>
                        </m:e>
                        <m:sup>
                          <m:r>
                            <a:rPr lang="en-US" sz="1400">
                              <a:latin typeface="Cambria Math"/>
                            </a:rPr>
                            <m:t>𝑖</m:t>
                          </m:r>
                        </m:sup>
                      </m:sSup>
                    </m:oMath>
                  </m:oMathPara>
                </a14:m>
                <a:endParaRPr lang="en-US" sz="1400" dirty="0"/>
              </a:p>
            </p:txBody>
          </p:sp>
        </mc:Choice>
        <mc:Fallback xmlns="">
          <p:sp>
            <p:nvSpPr>
              <p:cNvPr id="20" name="Text 3">
                <a:extLst>
                  <a:ext uri="{FF2B5EF4-FFF2-40B4-BE49-F238E27FC236}">
                    <a16:creationId xmlns:a16="http://schemas.microsoft.com/office/drawing/2014/main" id="{D6F24581-C38B-42E5-8E20-A07C8A61C657}"/>
                  </a:ext>
                </a:extLst>
              </p:cNvPr>
              <p:cNvSpPr>
                <a:spLocks noRot="1" noChangeAspect="1" noMove="1" noResize="1" noEditPoints="1" noAdjustHandles="1" noChangeArrowheads="1" noChangeShapeType="1" noTextEdit="1"/>
              </p:cNvSpPr>
              <p:nvPr/>
            </p:nvSpPr>
            <p:spPr>
              <a:xfrm>
                <a:off x="502920" y="1481328"/>
                <a:ext cx="5486400" cy="502920"/>
              </a:xfrm>
              <a:prstGeom prst="rect">
                <a:avLst/>
              </a:prstGeom>
              <a:blipFill>
                <a:blip r:embed="rId5"/>
                <a:stretch>
                  <a:fillRect/>
                </a:stretch>
              </a:blipFill>
              <a:ln/>
            </p:spPr>
            <p:txBody>
              <a:bodyPr/>
              <a:lstStyle/>
              <a:p>
                <a:r>
                  <a:rPr lang="tr-TR">
                    <a:noFill/>
                  </a:rPr>
                  <a:t/>
                </a:r>
              </a:p>
            </p:txBody>
          </p:sp>
        </mc:Fallback>
      </mc:AlternateContent>
      <p:sp>
        <p:nvSpPr>
          <p:cNvPr id="21" name="Text 4">
            <a:extLst>
              <a:ext uri="{FF2B5EF4-FFF2-40B4-BE49-F238E27FC236}">
                <a16:creationId xmlns:a16="http://schemas.microsoft.com/office/drawing/2014/main" id="{D9D0A11B-BC8C-4F11-9249-E68789535091}"/>
              </a:ext>
            </a:extLst>
          </p:cNvPr>
          <p:cNvSpPr/>
          <p:nvPr/>
        </p:nvSpPr>
        <p:spPr>
          <a:xfrm>
            <a:off x="502920" y="2084832"/>
            <a:ext cx="5577840" cy="237744"/>
          </a:xfrm>
          <a:prstGeom prst="rect">
            <a:avLst/>
          </a:prstGeom>
          <a:noFill/>
          <a:ln/>
        </p:spPr>
        <p:txBody>
          <a:bodyPr wrap="square" lIns="0" tIns="0" rIns="0" bIns="0" rtlCol="0" anchor="t"/>
          <a:lstStyle/>
          <a:p>
            <a:pPr marL="0" indent="0">
              <a:buNone/>
            </a:pPr>
            <a:r>
              <a:rPr lang="en-US" sz="1300" b="1" dirty="0">
                <a:solidFill>
                  <a:srgbClr val="222222"/>
                </a:solidFill>
                <a:latin typeface="Calibri" pitchFamily="34" charset="0"/>
                <a:ea typeface="Calibri" pitchFamily="34" charset="-122"/>
                <a:cs typeface="Calibri" pitchFamily="34" charset="-120"/>
              </a:rPr>
              <a:t>Confidence — the weakest of four factors</a:t>
            </a:r>
            <a:endParaRPr lang="en-US" sz="1300" dirty="0"/>
          </a:p>
        </p:txBody>
      </p:sp>
      <mc:AlternateContent xmlns:mc="http://schemas.openxmlformats.org/markup-compatibility/2006" xmlns:a14="http://schemas.microsoft.com/office/drawing/2010/main">
        <mc:Choice Requires="a14">
          <p:sp>
            <p:nvSpPr>
              <p:cNvPr id="22" name="Text 5">
                <a:extLst>
                  <a:ext uri="{FF2B5EF4-FFF2-40B4-BE49-F238E27FC236}">
                    <a16:creationId xmlns:a16="http://schemas.microsoft.com/office/drawing/2014/main" id="{FECCE786-F16F-4D58-AFA6-1D375DCAD440}"/>
                  </a:ext>
                </a:extLst>
              </p:cNvPr>
              <p:cNvSpPr/>
              <p:nvPr/>
            </p:nvSpPr>
            <p:spPr>
              <a:xfrm>
                <a:off x="502920" y="2340864"/>
                <a:ext cx="5486400" cy="502920"/>
              </a:xfrm>
              <a:prstGeom prst="rect">
                <a:avLst/>
              </a:prstGeom>
              <a:noFill/>
              <a:ln/>
            </p:spPr>
            <p:txBody>
              <a:bodyPr wrap="square" lIns="0" tIns="0" rIns="0" bIns="0" rtlCol="0" anchor="ctr"/>
              <a:lstStyle/>
              <a:p>
                <a:pPr marL="0" indent="0" algn="ctr">
                  <a:buNone/>
                </a:pPr>
                <a14:m>
                  <m:oMathPara xmlns:m="http://schemas.openxmlformats.org/officeDocument/2006/math">
                    <m:oMath>
                      <m:sSubSup>
                        <m:sSubSupPr>
                          <m:ctrlPr>
                            <a:rPr lang="en-US" sz="1400">
                              <a:latin typeface="Cambria Math"/>
                            </a:rPr>
                          </m:ctrlPr>
                        </m:sSubSupPr>
                        <m:e>
                          <m:r>
                            <a:rPr lang="en-US" sz="1400">
                              <a:latin typeface="Cambria Math"/>
                            </a:rPr>
                            <m:t>𝛾</m:t>
                          </m:r>
                        </m:e>
                        <m:sub>
                          <m:r>
                            <a:rPr lang="en-US" sz="1400">
                              <a:latin typeface="Cambria Math"/>
                            </a:rPr>
                            <m:t>𝑘</m:t>
                          </m:r>
                        </m:sub>
                        <m:sup>
                          <m:r>
                            <a:rPr lang="en-US" sz="1400">
                              <a:latin typeface="Cambria Math"/>
                            </a:rPr>
                            <m:t>𝑖</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r>
                        <a:rPr lang="en-US" sz="1400">
                          <a:latin typeface="Cambria Math"/>
                        </a:rPr>
                        <m:t>𝑚𝑖𝑛</m:t>
                      </m:r>
                      <m:r>
                        <a:rPr lang="en-US" sz="1400">
                          <a:latin typeface="Cambria Math"/>
                        </a:rPr>
                        <m:t>⁡{</m:t>
                      </m:r>
                      <m:sSub>
                        <m:sSubPr>
                          <m:ctrlPr>
                            <a:rPr lang="en-US" sz="1400">
                              <a:latin typeface="Cambria Math"/>
                            </a:rPr>
                          </m:ctrlPr>
                        </m:sSubPr>
                        <m:e>
                          <m:r>
                            <a:rPr lang="en-US" sz="1400">
                              <a:latin typeface="Cambria Math"/>
                            </a:rPr>
                            <m:t>𝛾</m:t>
                          </m:r>
                        </m:e>
                        <m:sub>
                          <m:r>
                            <a:rPr lang="en-US" sz="1400">
                              <a:latin typeface="Cambria Math"/>
                            </a:rPr>
                            <m:t>𝑜𝑏𝑠</m:t>
                          </m:r>
                        </m:sub>
                      </m:sSub>
                      <m:r>
                        <a:rPr lang="en-US" sz="1400">
                          <a:latin typeface="Cambria Math"/>
                        </a:rPr>
                        <m:t>,</m:t>
                      </m:r>
                      <m:sSub>
                        <m:sSubPr>
                          <m:ctrlPr>
                            <a:rPr lang="en-US" sz="1400">
                              <a:latin typeface="Cambria Math"/>
                            </a:rPr>
                          </m:ctrlPr>
                        </m:sSubPr>
                        <m:e>
                          <m:r>
                            <a:rPr lang="en-US" sz="1400">
                              <a:latin typeface="Cambria Math"/>
                            </a:rPr>
                            <m:t>𝛾</m:t>
                          </m:r>
                        </m:e>
                        <m:sub>
                          <m:r>
                            <a:rPr lang="en-US" sz="1400">
                              <a:latin typeface="Cambria Math"/>
                            </a:rPr>
                            <m:t>𝑐𝑜𝑣</m:t>
                          </m:r>
                        </m:sub>
                      </m:sSub>
                      <m:r>
                        <a:rPr lang="en-US" sz="1400">
                          <a:latin typeface="Cambria Math"/>
                        </a:rPr>
                        <m:t>,</m:t>
                      </m:r>
                      <m:sSub>
                        <m:sSubPr>
                          <m:ctrlPr>
                            <a:rPr lang="en-US" sz="1400">
                              <a:latin typeface="Cambria Math"/>
                            </a:rPr>
                          </m:ctrlPr>
                        </m:sSubPr>
                        <m:e>
                          <m:r>
                            <a:rPr lang="en-US" sz="1400">
                              <a:latin typeface="Cambria Math"/>
                            </a:rPr>
                            <m:t>𝛾</m:t>
                          </m:r>
                        </m:e>
                        <m:sub>
                          <m:r>
                            <a:rPr lang="en-US" sz="1400">
                              <a:latin typeface="Cambria Math"/>
                            </a:rPr>
                            <m:t>𝑓𝑟𝑒</m:t>
                          </m:r>
                        </m:sub>
                      </m:sSub>
                      <m:r>
                        <a:rPr lang="en-US" sz="1400">
                          <a:latin typeface="Cambria Math"/>
                        </a:rPr>
                        <m:t>,</m:t>
                      </m:r>
                      <m:sSub>
                        <m:sSubPr>
                          <m:ctrlPr>
                            <a:rPr lang="en-US" sz="1400">
                              <a:latin typeface="Cambria Math"/>
                            </a:rPr>
                          </m:ctrlPr>
                        </m:sSubPr>
                        <m:e>
                          <m:r>
                            <a:rPr lang="en-US" sz="1400">
                              <a:latin typeface="Cambria Math"/>
                            </a:rPr>
                            <m:t>𝛾</m:t>
                          </m:r>
                        </m:e>
                        <m:sub>
                          <m:r>
                            <a:rPr lang="en-US" sz="1400">
                              <a:latin typeface="Cambria Math"/>
                            </a:rPr>
                            <m:t>𝑟𝑒𝑙</m:t>
                          </m:r>
                        </m:sub>
                      </m:sSub>
                      <m:r>
                        <a:rPr lang="en-US" sz="1400">
                          <a:latin typeface="Cambria Math"/>
                        </a:rPr>
                        <m:t>}</m:t>
                      </m:r>
                    </m:oMath>
                  </m:oMathPara>
                </a14:m>
                <a:endParaRPr lang="en-US" sz="1400" dirty="0"/>
              </a:p>
            </p:txBody>
          </p:sp>
        </mc:Choice>
        <mc:Fallback xmlns="">
          <p:sp>
            <p:nvSpPr>
              <p:cNvPr id="22" name="Text 5">
                <a:extLst>
                  <a:ext uri="{FF2B5EF4-FFF2-40B4-BE49-F238E27FC236}">
                    <a16:creationId xmlns:a16="http://schemas.microsoft.com/office/drawing/2014/main" id="{FECCE786-F16F-4D58-AFA6-1D375DCAD440}"/>
                  </a:ext>
                </a:extLst>
              </p:cNvPr>
              <p:cNvSpPr>
                <a:spLocks noRot="1" noChangeAspect="1" noMove="1" noResize="1" noEditPoints="1" noAdjustHandles="1" noChangeArrowheads="1" noChangeShapeType="1" noTextEdit="1"/>
              </p:cNvSpPr>
              <p:nvPr/>
            </p:nvSpPr>
            <p:spPr>
              <a:xfrm>
                <a:off x="502920" y="2340864"/>
                <a:ext cx="5486400" cy="502920"/>
              </a:xfrm>
              <a:prstGeom prst="rect">
                <a:avLst/>
              </a:prstGeom>
              <a:blipFill>
                <a:blip r:embed="rId6"/>
                <a:stretch>
                  <a:fillRect/>
                </a:stretch>
              </a:blipFill>
              <a:ln/>
            </p:spPr>
            <p:txBody>
              <a:bodyPr/>
              <a:lstStyle/>
              <a:p>
                <a:r>
                  <a:rPr lang="tr-TR">
                    <a:noFill/>
                  </a:rPr>
                  <a:t/>
                </a:r>
              </a:p>
            </p:txBody>
          </p:sp>
        </mc:Fallback>
      </mc:AlternateContent>
      <p:sp>
        <p:nvSpPr>
          <p:cNvPr id="23" name="Text 6">
            <a:extLst>
              <a:ext uri="{FF2B5EF4-FFF2-40B4-BE49-F238E27FC236}">
                <a16:creationId xmlns:a16="http://schemas.microsoft.com/office/drawing/2014/main" id="{9A091E67-8194-4586-B2D6-AD2213B0AF18}"/>
              </a:ext>
            </a:extLst>
          </p:cNvPr>
          <p:cNvSpPr/>
          <p:nvPr/>
        </p:nvSpPr>
        <p:spPr>
          <a:xfrm>
            <a:off x="502920" y="2944368"/>
            <a:ext cx="5577840" cy="237744"/>
          </a:xfrm>
          <a:prstGeom prst="rect">
            <a:avLst/>
          </a:prstGeom>
          <a:noFill/>
          <a:ln/>
        </p:spPr>
        <p:txBody>
          <a:bodyPr wrap="square" lIns="0" tIns="0" rIns="0" bIns="0" rtlCol="0" anchor="t"/>
          <a:lstStyle/>
          <a:p>
            <a:pPr marL="0" indent="0">
              <a:buNone/>
            </a:pPr>
            <a:r>
              <a:rPr lang="en-US" sz="1300" b="1" dirty="0">
                <a:solidFill>
                  <a:srgbClr val="222222"/>
                </a:solidFill>
                <a:latin typeface="Calibri" pitchFamily="34" charset="0"/>
                <a:ea typeface="Calibri" pitchFamily="34" charset="-122"/>
                <a:cs typeface="Calibri" pitchFamily="34" charset="-120"/>
              </a:rPr>
              <a:t>Bounded error — no distribution assumed</a:t>
            </a:r>
            <a:endParaRPr lang="en-US" sz="1300" dirty="0"/>
          </a:p>
        </p:txBody>
      </p:sp>
      <mc:AlternateContent xmlns:mc="http://schemas.openxmlformats.org/markup-compatibility/2006" xmlns:a14="http://schemas.microsoft.com/office/drawing/2010/main">
        <mc:Choice Requires="a14">
          <p:sp>
            <p:nvSpPr>
              <p:cNvPr id="24" name="Text 7">
                <a:extLst>
                  <a:ext uri="{FF2B5EF4-FFF2-40B4-BE49-F238E27FC236}">
                    <a16:creationId xmlns:a16="http://schemas.microsoft.com/office/drawing/2014/main" id="{3F4B75BE-484D-4272-BA5A-1C98DC60C70E}"/>
                  </a:ext>
                </a:extLst>
              </p:cNvPr>
              <p:cNvSpPr/>
              <p:nvPr/>
            </p:nvSpPr>
            <p:spPr>
              <a:xfrm>
                <a:off x="502920" y="3200400"/>
                <a:ext cx="5486400" cy="502920"/>
              </a:xfrm>
              <a:prstGeom prst="rect">
                <a:avLst/>
              </a:prstGeom>
              <a:noFill/>
              <a:ln/>
            </p:spPr>
            <p:txBody>
              <a:bodyPr wrap="square" lIns="0" tIns="0" rIns="0" bIns="0" rtlCol="0" anchor="ctr"/>
              <a:lstStyle/>
              <a:p>
                <a:pPr marL="0" indent="0" algn="ctr">
                  <a:buNone/>
                </a:pPr>
                <a14:m>
                  <m:oMathPara xmlns:m="http://schemas.openxmlformats.org/officeDocument/2006/math">
                    <m:oMath>
                      <m:r>
                        <a:rPr lang="en-US" sz="1400">
                          <a:latin typeface="Cambria Math"/>
                        </a:rPr>
                        <m:t>|</m:t>
                      </m:r>
                      <m:sSubSup>
                        <m:sSubSupPr>
                          <m:ctrlPr>
                            <a:rPr lang="en-US" sz="1400">
                              <a:latin typeface="Cambria Math"/>
                            </a:rPr>
                          </m:ctrlPr>
                        </m:sSubSupPr>
                        <m:e>
                          <m:r>
                            <a:rPr lang="en-US" sz="1400">
                              <a:latin typeface="Cambria Math"/>
                            </a:rPr>
                            <m:t>𝜀</m:t>
                          </m:r>
                        </m:e>
                        <m:sub>
                          <m:r>
                            <a:rPr lang="en-US" sz="1400">
                              <a:latin typeface="Cambria Math"/>
                            </a:rPr>
                            <m:t>𝑘</m:t>
                          </m:r>
                        </m:sub>
                        <m:sup>
                          <m:r>
                            <a:rPr lang="en-US" sz="1400">
                              <a:latin typeface="Cambria Math"/>
                            </a:rPr>
                            <m:t>𝑖</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|≤(1−</m:t>
                      </m:r>
                      <m:sSubSup>
                        <m:sSubSupPr>
                          <m:ctrlPr>
                            <a:rPr lang="en-US" sz="1400">
                              <a:latin typeface="Cambria Math"/>
                            </a:rPr>
                          </m:ctrlPr>
                        </m:sSubSupPr>
                        <m:e>
                          <m:r>
                            <a:rPr lang="en-US" sz="1400">
                              <a:latin typeface="Cambria Math"/>
                            </a:rPr>
                            <m:t>𝛾</m:t>
                          </m:r>
                        </m:e>
                        <m:sub>
                          <m:r>
                            <a:rPr lang="en-US" sz="1400">
                              <a:latin typeface="Cambria Math"/>
                            </a:rPr>
                            <m:t>𝑘</m:t>
                          </m:r>
                        </m:sub>
                        <m:sup>
                          <m:r>
                            <a:rPr lang="en-US" sz="1400">
                              <a:latin typeface="Cambria Math"/>
                            </a:rPr>
                            <m:t>𝑖</m:t>
                          </m:r>
                        </m:sup>
                      </m:sSubSup>
                      <m:d>
                        <m:dPr>
                          <m:ctrlPr>
                            <a:rPr lang="en-US" sz="1400">
                              <a:latin typeface="Cambria Math"/>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sz="1400">
                              <a:latin typeface="Cambria Math"/>
                            </a:rPr>
                          </m:ctrlPr>
                        </m:sSubPr>
                        <m:e>
                          <m:r>
                            <a:rPr lang="en-US" sz="1400">
                              <a:latin typeface="Cambria Math"/>
                            </a:rPr>
                            <m:t>𝜀</m:t>
                          </m:r>
                        </m:e>
                        <m:sub>
                          <m:r>
                            <a:rPr lang="en-US" sz="1400">
                              <a:latin typeface="Cambria Math"/>
                            </a:rPr>
                            <m:t>𝑚𝑎𝑥</m:t>
                          </m:r>
                        </m:sub>
                      </m:sSub>
                    </m:oMath>
                  </m:oMathPara>
                </a14:m>
                <a:endParaRPr lang="en-US" sz="1400" dirty="0"/>
              </a:p>
            </p:txBody>
          </p:sp>
        </mc:Choice>
        <mc:Fallback xmlns="">
          <p:sp>
            <p:nvSpPr>
              <p:cNvPr id="24" name="Text 7">
                <a:extLst>
                  <a:ext uri="{FF2B5EF4-FFF2-40B4-BE49-F238E27FC236}">
                    <a16:creationId xmlns:a16="http://schemas.microsoft.com/office/drawing/2014/main" id="{3F4B75BE-484D-4272-BA5A-1C98DC60C70E}"/>
                  </a:ext>
                </a:extLst>
              </p:cNvPr>
              <p:cNvSpPr>
                <a:spLocks noRot="1" noChangeAspect="1" noMove="1" noResize="1" noEditPoints="1" noAdjustHandles="1" noChangeArrowheads="1" noChangeShapeType="1" noTextEdit="1"/>
              </p:cNvSpPr>
              <p:nvPr/>
            </p:nvSpPr>
            <p:spPr>
              <a:xfrm>
                <a:off x="502920" y="3200400"/>
                <a:ext cx="5486400" cy="502920"/>
              </a:xfrm>
              <a:prstGeom prst="rect">
                <a:avLst/>
              </a:prstGeom>
              <a:blipFill>
                <a:blip r:embed="rId7"/>
                <a:stretch>
                  <a:fillRect/>
                </a:stretch>
              </a:blipFill>
              <a:ln/>
            </p:spPr>
            <p:txBody>
              <a:bodyPr/>
              <a:lstStyle/>
              <a:p>
                <a:r>
                  <a:rPr lang="tr-TR">
                    <a:noFill/>
                  </a:rPr>
                  <a:t/>
                </a:r>
              </a:p>
            </p:txBody>
          </p:sp>
        </mc:Fallback>
      </mc:AlternateContent>
      <p:sp>
        <p:nvSpPr>
          <p:cNvPr id="25" name="Text 8">
            <a:extLst>
              <a:ext uri="{FF2B5EF4-FFF2-40B4-BE49-F238E27FC236}">
                <a16:creationId xmlns:a16="http://schemas.microsoft.com/office/drawing/2014/main" id="{F94A8106-903F-4D10-8A34-4AF41E7B3920}"/>
              </a:ext>
            </a:extLst>
          </p:cNvPr>
          <p:cNvSpPr/>
          <p:nvPr/>
        </p:nvSpPr>
        <p:spPr>
          <a:xfrm>
            <a:off x="6309360" y="1225296"/>
            <a:ext cx="5440680" cy="1234440"/>
          </a:xfrm>
          <a:prstGeom prst="rect">
            <a:avLst/>
          </a:prstGeom>
          <a:noFill/>
          <a:ln/>
        </p:spPr>
        <p:txBody>
          <a:bodyPr wrap="square" lIns="0" tIns="0" rIns="0" bIns="0" rtlCol="0" anchor="t"/>
          <a:lstStyle/>
          <a:p>
            <a:pPr marL="152400" indent="-152400">
              <a:lnSpc>
                <a:spcPct val="102000"/>
              </a:lnSpc>
              <a:spcAft>
                <a:spcPts val="500"/>
              </a:spcAft>
              <a:buSzPct val="100000"/>
              <a:buChar char="•"/>
            </a:pPr>
            <a:r>
              <a:rPr lang="en-US" sz="1250" b="0" dirty="0">
                <a:solidFill>
                  <a:srgbClr val="222222"/>
                </a:solidFill>
                <a:latin typeface="Calibri" pitchFamily="34" charset="0"/>
                <a:ea typeface="Calibri" pitchFamily="34" charset="-122"/>
                <a:cs typeface="Calibri" pitchFamily="34" charset="-120"/>
              </a:rPr>
              <a:t>Observability — can the quantity be sensed at all</a:t>
            </a:r>
            <a:endParaRPr lang="en-US" sz="1250" dirty="0"/>
          </a:p>
          <a:p>
            <a:pPr marL="152400" indent="-152400">
              <a:lnSpc>
                <a:spcPct val="102000"/>
              </a:lnSpc>
              <a:spcAft>
                <a:spcPts val="500"/>
              </a:spcAft>
              <a:buSzPct val="100000"/>
              <a:buChar char="•"/>
            </a:pPr>
            <a:r>
              <a:rPr lang="en-US" sz="1250" b="0" dirty="0">
                <a:solidFill>
                  <a:srgbClr val="222222"/>
                </a:solidFill>
                <a:latin typeface="Calibri" pitchFamily="34" charset="0"/>
                <a:ea typeface="Calibri" pitchFamily="34" charset="-122"/>
                <a:cs typeface="Calibri" pitchFamily="34" charset="-120"/>
              </a:rPr>
              <a:t>Coverage — how many assets see the cell</a:t>
            </a:r>
            <a:endParaRPr lang="en-US" sz="1250" dirty="0"/>
          </a:p>
          <a:p>
            <a:pPr marL="152400" indent="-152400">
              <a:lnSpc>
                <a:spcPct val="102000"/>
              </a:lnSpc>
              <a:spcAft>
                <a:spcPts val="500"/>
              </a:spcAft>
              <a:buSzPct val="100000"/>
              <a:buChar char="•"/>
            </a:pPr>
            <a:r>
              <a:rPr lang="en-US" sz="1250" b="0" dirty="0">
                <a:solidFill>
                  <a:srgbClr val="222222"/>
                </a:solidFill>
                <a:latin typeface="Calibri" pitchFamily="34" charset="0"/>
                <a:ea typeface="Calibri" pitchFamily="34" charset="-122"/>
                <a:cs typeface="Calibri" pitchFamily="34" charset="-120"/>
              </a:rPr>
              <a:t>Freshness — report age, 90-minute half-life</a:t>
            </a:r>
            <a:endParaRPr lang="en-US" sz="1250" dirty="0"/>
          </a:p>
          <a:p>
            <a:pPr marL="152400" indent="-152400">
              <a:lnSpc>
                <a:spcPct val="102000"/>
              </a:lnSpc>
              <a:spcAft>
                <a:spcPts val="500"/>
              </a:spcAft>
              <a:buSzPct val="100000"/>
              <a:buChar char="•"/>
            </a:pPr>
            <a:r>
              <a:rPr lang="en-US" sz="1250" b="0" dirty="0">
                <a:solidFill>
                  <a:srgbClr val="222222"/>
                </a:solidFill>
                <a:latin typeface="Calibri" pitchFamily="34" charset="0"/>
                <a:ea typeface="Calibri" pitchFamily="34" charset="-122"/>
                <a:cs typeface="Calibri" pitchFamily="34" charset="-120"/>
              </a:rPr>
              <a:t>Reliability — the source’s own accuracy</a:t>
            </a:r>
            <a:endParaRPr lang="en-US" sz="1250" dirty="0"/>
          </a:p>
        </p:txBody>
      </p:sp>
      <p:sp>
        <p:nvSpPr>
          <p:cNvPr id="26" name="Text 9">
            <a:extLst>
              <a:ext uri="{FF2B5EF4-FFF2-40B4-BE49-F238E27FC236}">
                <a16:creationId xmlns:a16="http://schemas.microsoft.com/office/drawing/2014/main" id="{DFECCAD8-773F-4C48-8DE5-ABE92F927999}"/>
              </a:ext>
            </a:extLst>
          </p:cNvPr>
          <p:cNvSpPr/>
          <p:nvPr/>
        </p:nvSpPr>
        <p:spPr>
          <a:xfrm>
            <a:off x="6309360" y="2606040"/>
            <a:ext cx="5440680" cy="1051560"/>
          </a:xfrm>
          <a:prstGeom prst="rect">
            <a:avLst/>
          </a:prstGeom>
          <a:noFill/>
          <a:ln/>
        </p:spPr>
        <p:txBody>
          <a:bodyPr wrap="square" lIns="0" tIns="0" rIns="0" bIns="0" rtlCol="0" anchor="t"/>
          <a:lstStyle/>
          <a:p>
            <a:pPr marL="152400" indent="-152400">
              <a:lnSpc>
                <a:spcPct val="102000"/>
              </a:lnSpc>
              <a:spcAft>
                <a:spcPts val="500"/>
              </a:spcAft>
              <a:buSzPct val="100000"/>
              <a:buChar char="•"/>
            </a:pPr>
            <a:r>
              <a:rPr lang="en-US" sz="1250" b="1" dirty="0">
                <a:solidFill>
                  <a:srgbClr val="222222"/>
                </a:solidFill>
                <a:latin typeface="Calibri" pitchFamily="34" charset="0"/>
                <a:ea typeface="Calibri" pitchFamily="34" charset="-122"/>
                <a:cs typeface="Calibri" pitchFamily="34" charset="-120"/>
              </a:rPr>
              <a:t>the minimum rules: one weak factor is enough to distrust the cell</a:t>
            </a:r>
            <a:endParaRPr lang="en-US" sz="1250" dirty="0"/>
          </a:p>
          <a:p>
            <a:pPr marL="152400" indent="-152400">
              <a:lnSpc>
                <a:spcPct val="102000"/>
              </a:lnSpc>
              <a:spcAft>
                <a:spcPts val="500"/>
              </a:spcAft>
              <a:buSzPct val="100000"/>
              <a:buChar char="•"/>
            </a:pPr>
            <a:r>
              <a:rPr lang="en-US" sz="1250" b="0" dirty="0">
                <a:solidFill>
                  <a:srgbClr val="222222"/>
                </a:solidFill>
                <a:latin typeface="Calibri" pitchFamily="34" charset="0"/>
                <a:ea typeface="Calibri" pitchFamily="34" charset="-122"/>
                <a:cs typeface="Calibri" pitchFamily="34" charset="-120"/>
              </a:rPr>
              <a:t>γ = 1 exact, γ = 0 worst case; between them it degrades linearly</a:t>
            </a:r>
            <a:endParaRPr lang="en-US" sz="1250" dirty="0"/>
          </a:p>
          <a:p>
            <a:pPr marL="152400" indent="-152400">
              <a:lnSpc>
                <a:spcPct val="102000"/>
              </a:lnSpc>
              <a:spcAft>
                <a:spcPts val="500"/>
              </a:spcAft>
              <a:buSzPct val="100000"/>
              <a:buChar char="•"/>
            </a:pPr>
            <a:r>
              <a:rPr lang="en-US" sz="1250" b="0" dirty="0">
                <a:solidFill>
                  <a:srgbClr val="222222"/>
                </a:solidFill>
                <a:latin typeface="Calibri" pitchFamily="34" charset="0"/>
                <a:ea typeface="Calibri" pitchFamily="34" charset="-122"/>
                <a:cs typeface="Calibri" pitchFamily="34" charset="-120"/>
              </a:rPr>
              <a:t>a missing observation falls back to a decaying persistence prior</a:t>
            </a:r>
            <a:endParaRPr lang="en-US" sz="1250" dirty="0"/>
          </a:p>
        </p:txBody>
      </p:sp>
      <p:sp>
        <p:nvSpPr>
          <p:cNvPr id="901" name="Table Caption"/>
          <p:cNvSpPr/>
          <p:nvPr/>
        </p:nvSpPr>
        <p:spPr>
          <a:xfrm>
            <a:off x="2095348" y="3794760"/>
            <a:ext cx="8001000" cy="237744"/>
          </a:xfrm>
          <a:prstGeom prst="rect">
            <a:avLst/>
          </a:prstGeom>
          <a:noFill/>
          <a:ln/>
        </p:spPr>
        <p:txBody>
          <a:bodyPr wrap="square" lIns="0" tIns="0" rIns="0" bIns="0" rtlCol="0" anchor="t"/>
          <a:lstStyle/>
          <a:p>
            <a:pPr marL="0" indent="0">
              <a:buNone/>
            </a:pPr>
            <a:r>
              <a:rPr lang="en-US" sz="1300" b="1" dirty="0">
                <a:solidFill>
                  <a:srgbClr val="222222"/>
                </a:solidFill>
                <a:latin typeface="Calibri" pitchFamily="34" charset="0"/>
                <a:ea typeface="Calibri" pitchFamily="34" charset="-122"/>
                <a:cs typeface="Calibri" pitchFamily="34" charset="-120"/>
              </a:rPr>
              <a:t>Every source carries its own bound — the DSS never sees ε, only how far it could reach</a:t>
            </a:r>
            <a:endParaRPr lang="en-US" sz="1300" dirty="0"/>
          </a:p>
        </p:txBody>
      </p:sp>
      <p:graphicFrame>
        <p:nvGraphicFramePr>
          <p:cNvPr id="8" name="Table 0"/>
          <p:cNvGraphicFramePr>
            <a:graphicFrameLocks noGrp="1"/>
          </p:cNvGraphicFramePr>
          <p:nvPr/>
        </p:nvGraphicFramePr>
        <p:xfrm>
          <a:off x="2095348" y="4069080"/>
          <a:ext cx="8001000" cy="1920240"/>
        </p:xfrm>
        <a:graphic>
          <a:graphicData uri="http://schemas.openxmlformats.org/drawingml/2006/table">
            <a:tbl>
              <a:tblPr/>
              <a:tblGrid>
                <a:gridCol w="416052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27432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Observation channel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max |ε|</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Latency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Coverage radius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274320">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Environmental ground sensors (in-situ) — fuel load</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 0.02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&lt; 1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1.5 km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UAV / aerial thermal reconnaissance — burning, intensity</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 0.03</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2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2.5 km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Satellite imagery — burning, intensity</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 0.05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20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whole map</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Fixed lookout camera — burning, intensity</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 0.06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1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4 km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First-responder field data — burning, time-since-ignition</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 0.10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10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1 km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Public reports / calls — burning</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 0.20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15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1.2 km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9020373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One Agent, Four Layers, One Loop</a:t>
            </a:r>
            <a:endParaRPr lang="en-US" sz="2900" dirty="0"/>
          </a:p>
        </p:txBody>
      </p:sp>
      <p:pic>
        <p:nvPicPr>
          <p:cNvPr id="4" name="Image 0" descr="/tmp/thx/deck/figs/Figure4_1.png"/>
          <p:cNvPicPr>
            <a:picLocks noChangeAspect="1"/>
          </p:cNvPicPr>
          <p:nvPr/>
        </p:nvPicPr>
        <p:blipFill>
          <a:blip r:embed="rId3"/>
          <a:stretch>
            <a:fillRect/>
          </a:stretch>
        </p:blipFill>
        <p:spPr>
          <a:xfrm>
            <a:off x="1695072" y="1371600"/>
            <a:ext cx="3102096" cy="5212080"/>
          </a:xfrm>
          <a:prstGeom prst="rect">
            <a:avLst/>
          </a:prstGeom>
        </p:spPr>
      </p:pic>
      <p:sp>
        <p:nvSpPr>
          <p:cNvPr id="5" name="Text 2"/>
          <p:cNvSpPr/>
          <p:nvPr/>
        </p:nvSpPr>
        <p:spPr>
          <a:xfrm>
            <a:off x="6263640" y="1737360"/>
            <a:ext cx="5486400" cy="457200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1 : </a:t>
            </a:r>
            <a:r>
              <a:rPr lang="en-US" sz="1600" b="1" dirty="0">
                <a:solidFill>
                  <a:srgbClr val="222222"/>
                </a:solidFill>
                <a:latin typeface="Calibri" pitchFamily="34" charset="0"/>
                <a:ea typeface="Calibri" pitchFamily="34" charset="-122"/>
                <a:cs typeface="Calibri" pitchFamily="34" charset="-120"/>
              </a:rPr>
              <a:t>Input space</a:t>
            </a:r>
            <a:r>
              <a:rPr lang="tr-TR" sz="1600" b="1" dirty="0">
                <a:solidFill>
                  <a:srgbClr val="222222"/>
                </a:solidFill>
                <a:latin typeface="Calibri" pitchFamily="34" charset="0"/>
                <a:ea typeface="Calibri" pitchFamily="34" charset="-122"/>
                <a:cs typeface="Calibri" pitchFamily="34" charset="-120"/>
              </a:rPr>
              <a:t> - </a:t>
            </a:r>
            <a:r>
              <a:rPr lang="en-US" sz="1600" dirty="0">
                <a:solidFill>
                  <a:srgbClr val="222222"/>
                </a:solidFill>
                <a:latin typeface="Calibri" pitchFamily="34" charset="0"/>
                <a:ea typeface="Calibri" pitchFamily="34" charset="-122"/>
                <a:cs typeface="Calibri" pitchFamily="34" charset="-120"/>
              </a:rPr>
              <a:t>heterogeneous, spatio-temporal measurements</a:t>
            </a:r>
            <a:endParaRPr lang="en-US" sz="1600" dirty="0"/>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2 : </a:t>
            </a:r>
            <a:r>
              <a:rPr lang="en-US" sz="1600" b="1" dirty="0">
                <a:solidFill>
                  <a:srgbClr val="222222"/>
                </a:solidFill>
                <a:latin typeface="Calibri" pitchFamily="34" charset="0"/>
                <a:ea typeface="Calibri" pitchFamily="34" charset="-122"/>
                <a:cs typeface="Calibri" pitchFamily="34" charset="-120"/>
              </a:rPr>
              <a:t>Perception</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fusion into features with explicit confidence</a:t>
            </a:r>
            <a:endParaRPr lang="en-US" sz="1600" dirty="0"/>
          </a:p>
          <a:p>
            <a:pPr marL="152400" indent="-152400">
              <a:lnSpc>
                <a:spcPct val="105000"/>
              </a:lnSpc>
              <a:spcAft>
                <a:spcPts val="1000"/>
              </a:spcAft>
              <a:buSzPct val="100000"/>
              <a:buChar char="•"/>
            </a:pPr>
            <a:r>
              <a:rPr lang="en-US" sz="1600" dirty="0">
                <a:solidFill>
                  <a:srgbClr val="222222"/>
                </a:solidFill>
                <a:highlight>
                  <a:srgbClr val="C0C0C0"/>
                </a:highlight>
                <a:latin typeface="Calibri" pitchFamily="34" charset="0"/>
                <a:ea typeface="Calibri" pitchFamily="34" charset="-122"/>
                <a:cs typeface="Calibri" pitchFamily="34" charset="-120"/>
              </a:rPr>
              <a:t>Layer 3 : </a:t>
            </a:r>
            <a:r>
              <a:rPr lang="en-US" sz="1600" b="1" dirty="0">
                <a:solidFill>
                  <a:srgbClr val="222222"/>
                </a:solidFill>
                <a:highlight>
                  <a:srgbClr val="C0C0C0"/>
                </a:highlight>
                <a:latin typeface="Calibri" pitchFamily="34" charset="0"/>
                <a:ea typeface="Calibri" pitchFamily="34" charset="-122"/>
                <a:cs typeface="Calibri" pitchFamily="34" charset="-120"/>
              </a:rPr>
              <a:t>Concept space</a:t>
            </a:r>
            <a:r>
              <a:rPr lang="tr-TR" sz="1600" dirty="0">
                <a:solidFill>
                  <a:srgbClr val="222222"/>
                </a:solidFill>
                <a:highlight>
                  <a:srgbClr val="C0C0C0"/>
                </a:highlight>
                <a:latin typeface="Calibri" pitchFamily="34" charset="0"/>
                <a:ea typeface="Calibri" pitchFamily="34" charset="-122"/>
                <a:cs typeface="Calibri" pitchFamily="34" charset="-120"/>
              </a:rPr>
              <a:t> </a:t>
            </a:r>
            <a:r>
              <a:rPr lang="tr-TR" sz="1600" b="1" dirty="0">
                <a:solidFill>
                  <a:srgbClr val="222222"/>
                </a:solidFill>
                <a:highlight>
                  <a:srgbClr val="C0C0C0"/>
                </a:highlight>
                <a:latin typeface="Calibri" pitchFamily="34" charset="0"/>
                <a:ea typeface="Calibri" pitchFamily="34" charset="-122"/>
                <a:cs typeface="Calibri" pitchFamily="34" charset="-120"/>
              </a:rPr>
              <a:t>-</a:t>
            </a:r>
            <a:r>
              <a:rPr lang="en-US" sz="1600" dirty="0">
                <a:solidFill>
                  <a:srgbClr val="222222"/>
                </a:solidFill>
                <a:highlight>
                  <a:srgbClr val="C0C0C0"/>
                </a:highlight>
                <a:latin typeface="Calibri" pitchFamily="34" charset="0"/>
                <a:ea typeface="Calibri" pitchFamily="34" charset="-122"/>
                <a:cs typeface="Calibri" pitchFamily="34" charset="-120"/>
              </a:rPr>
              <a:t> hierarchical fuzzification into five decision concepts</a:t>
            </a:r>
            <a:endParaRPr lang="en-US" sz="1600" dirty="0">
              <a:highlight>
                <a:srgbClr val="C0C0C0"/>
              </a:highlight>
            </a:endParaRPr>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4 : </a:t>
            </a:r>
            <a:r>
              <a:rPr lang="en-US" sz="1600" b="1" dirty="0">
                <a:solidFill>
                  <a:srgbClr val="222222"/>
                </a:solidFill>
                <a:latin typeface="Calibri" pitchFamily="34" charset="0"/>
                <a:ea typeface="Calibri" pitchFamily="34" charset="-122"/>
                <a:cs typeface="Calibri" pitchFamily="34" charset="-120"/>
              </a:rPr>
              <a:t>Decision space</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rules, satisficing tests, staged adaptation, fail-safe</a:t>
            </a:r>
            <a:endParaRPr lang="en-US" sz="1600" dirty="0"/>
          </a:p>
          <a:p>
            <a:pPr marL="152400" indent="-152400">
              <a:lnSpc>
                <a:spcPct val="105000"/>
              </a:lnSpc>
              <a:spcAft>
                <a:spcPts val="1000"/>
              </a:spcAft>
              <a:buSzPct val="100000"/>
              <a:buChar char="•"/>
            </a:pPr>
            <a:r>
              <a:rPr lang="en-US" sz="1600" b="1" dirty="0">
                <a:solidFill>
                  <a:srgbClr val="222222"/>
                </a:solidFill>
                <a:latin typeface="Calibri" pitchFamily="34" charset="0"/>
                <a:ea typeface="Calibri" pitchFamily="34" charset="-122"/>
                <a:cs typeface="Calibri" pitchFamily="34" charset="-120"/>
              </a:rPr>
              <a:t>N agents run this loop concurrently on their own regions; a non-inferential Global DSS ranks and allocates</a:t>
            </a:r>
            <a:endParaRPr lang="en-US" sz="1600" dirty="0"/>
          </a:p>
        </p:txBody>
      </p:sp>
      <p:pic>
        <p:nvPicPr>
          <p:cNvPr id="6" name="Image 1" descr="/tmp/thx/deck/figs/metu_emblem.png"/>
          <p:cNvPicPr>
            <a:picLocks noChangeAspect="1"/>
          </p:cNvPicPr>
          <p:nvPr/>
        </p:nvPicPr>
        <p:blipFill>
          <a:blip r:embed="rId4"/>
          <a:stretch>
            <a:fillRect/>
          </a:stretch>
        </p:blipFill>
        <p:spPr>
          <a:xfrm>
            <a:off x="10716768" y="184607"/>
            <a:ext cx="475488" cy="398882"/>
          </a:xfrm>
          <a:prstGeom prst="rect">
            <a:avLst/>
          </a:prstGeom>
        </p:spPr>
      </p:pic>
      <p:pic>
        <p:nvPicPr>
          <p:cNvPr id="7" name="Image 2" descr="/tmp/thx/deck/figs/eee_logo.png"/>
          <p:cNvPicPr>
            <a:picLocks noChangeAspect="1"/>
          </p:cNvPicPr>
          <p:nvPr/>
        </p:nvPicPr>
        <p:blipFill>
          <a:blip r:embed="rId5"/>
          <a:stretch>
            <a:fillRect/>
          </a:stretch>
        </p:blipFill>
        <p:spPr>
          <a:xfrm>
            <a:off x="11265408" y="186217"/>
            <a:ext cx="475488" cy="395662"/>
          </a:xfrm>
          <a:prstGeom prst="rect">
            <a:avLst/>
          </a:prstGeom>
        </p:spPr>
      </p:pic>
    </p:spTree>
    <p:extLst>
      <p:ext uri="{BB962C8B-B14F-4D97-AF65-F5344CB8AC3E}">
        <p14:creationId xmlns:p14="http://schemas.microsoft.com/office/powerpoint/2010/main" val="10514666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3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3 : Concept Space: Killing the Rule Explosion</a:t>
            </a:r>
            <a:endParaRPr lang="en-US" sz="2900" dirty="0"/>
          </a:p>
        </p:txBody>
      </p:sp>
      <mc:AlternateContent xmlns:mc="http://schemas.openxmlformats.org/markup-compatibility/2006" xmlns:a14="http://schemas.microsoft.com/office/drawing/2010/main">
        <mc:Choice Requires="a14">
          <p:sp>
            <p:nvSpPr>
              <p:cNvPr id="5" name="Text 2"/>
              <p:cNvSpPr/>
              <p:nvPr/>
            </p:nvSpPr>
            <p:spPr>
              <a:xfrm>
                <a:off x="6949440" y="1554480"/>
                <a:ext cx="2377440" cy="777240"/>
              </a:xfrm>
              <a:prstGeom prst="rect">
                <a:avLst/>
              </a:prstGeom>
              <a:noFill/>
              <a:ln/>
            </p:spPr>
            <p:txBody>
              <a:bodyPr wrap="square" lIns="0" tIns="0" rIns="0" bIns="0" rtlCol="0" anchor="ctr"/>
              <a:lstStyle/>
              <a:p>
                <a:pPr marL="0" indent="0" algn="ctr">
                  <a:buNone/>
                </a:pPr>
                <a14:m>
                  <m:oMathPara xmlns:m="http://schemas.openxmlformats.org/officeDocument/2006/math">
                    <m:oMath>
                      <m:sSup>
                        <m:sSupPr>
                          <m:ctrlPr>
                            <a:rPr lang="en-US" sz="2800" b="1" i="1" dirty="0" smtClean="0">
                              <a:solidFill>
                                <a:srgbClr val="6E6E6E"/>
                              </a:solidFill>
                              <a:latin typeface="Cambria Math" panose="02040503050406030204" pitchFamily="18" charset="0"/>
                              <a:ea typeface="Cambria" pitchFamily="34" charset="-122"/>
                              <a:cs typeface="Cambria" pitchFamily="34" charset="-120"/>
                            </a:rPr>
                          </m:ctrlPr>
                        </m:sSupPr>
                        <m:e>
                          <m:r>
                            <a:rPr lang="en-US" sz="2800" b="1" i="1" dirty="0" smtClean="0">
                              <a:solidFill>
                                <a:srgbClr val="6E6E6E"/>
                              </a:solidFill>
                              <a:latin typeface="Cambria Math" panose="02040503050406030204" pitchFamily="18" charset="0"/>
                              <a:ea typeface="Cambria" pitchFamily="34" charset="-122"/>
                              <a:cs typeface="Cambria" pitchFamily="34" charset="-120"/>
                            </a:rPr>
                            <m:t>𝟓</m:t>
                          </m:r>
                        </m:e>
                        <m:sup>
                          <m:r>
                            <a:rPr lang="en-US" sz="2800" b="1" i="1" dirty="0" smtClean="0">
                              <a:solidFill>
                                <a:srgbClr val="6E6E6E"/>
                              </a:solidFill>
                              <a:latin typeface="Cambria Math" panose="02040503050406030204" pitchFamily="18" charset="0"/>
                              <a:ea typeface="Cambria" pitchFamily="34" charset="-122"/>
                              <a:cs typeface="Cambria" pitchFamily="34" charset="-120"/>
                            </a:rPr>
                            <m:t>𝟏𝟎</m:t>
                          </m:r>
                        </m:sup>
                      </m:sSup>
                      <m:r>
                        <a:rPr lang="en-US" sz="2800" b="1" i="1" dirty="0" smtClean="0">
                          <a:solidFill>
                            <a:srgbClr val="6E6E6E"/>
                          </a:solidFill>
                          <a:latin typeface="Cambria Math" panose="02040503050406030204" pitchFamily="18" charset="0"/>
                          <a:ea typeface="Cambria" pitchFamily="34" charset="-122"/>
                          <a:cs typeface="Cambria" pitchFamily="34" charset="-120"/>
                        </a:rPr>
                        <m:t> = </m:t>
                      </m:r>
                      <m:r>
                        <a:rPr lang="en-US" sz="2800" b="1" i="1" dirty="0" smtClean="0">
                          <a:solidFill>
                            <a:srgbClr val="6E6E6E"/>
                          </a:solidFill>
                          <a:latin typeface="Cambria Math" panose="02040503050406030204" pitchFamily="18" charset="0"/>
                          <a:ea typeface="Cambria" pitchFamily="34" charset="-122"/>
                          <a:cs typeface="Cambria" pitchFamily="34" charset="-120"/>
                        </a:rPr>
                        <m:t>𝟗</m:t>
                      </m:r>
                      <m:r>
                        <a:rPr lang="en-US" sz="2800" b="1" i="1" dirty="0" smtClean="0">
                          <a:solidFill>
                            <a:srgbClr val="6E6E6E"/>
                          </a:solidFill>
                          <a:latin typeface="Cambria Math" panose="02040503050406030204" pitchFamily="18" charset="0"/>
                          <a:ea typeface="Cambria" pitchFamily="34" charset="-122"/>
                          <a:cs typeface="Cambria" pitchFamily="34" charset="-120"/>
                        </a:rPr>
                        <m:t>.</m:t>
                      </m:r>
                      <m:r>
                        <a:rPr lang="en-US" sz="2800" b="1" i="1" dirty="0" smtClean="0">
                          <a:solidFill>
                            <a:srgbClr val="6E6E6E"/>
                          </a:solidFill>
                          <a:latin typeface="Cambria Math" panose="02040503050406030204" pitchFamily="18" charset="0"/>
                          <a:ea typeface="Cambria" pitchFamily="34" charset="-122"/>
                          <a:cs typeface="Cambria" pitchFamily="34" charset="-120"/>
                        </a:rPr>
                        <m:t>𝟖</m:t>
                      </m:r>
                      <m:r>
                        <a:rPr lang="en-US" sz="2800" b="1" i="1" dirty="0" smtClean="0">
                          <a:solidFill>
                            <a:srgbClr val="6E6E6E"/>
                          </a:solidFill>
                          <a:latin typeface="Cambria Math" panose="02040503050406030204" pitchFamily="18" charset="0"/>
                          <a:ea typeface="Cambria" pitchFamily="34" charset="-122"/>
                          <a:cs typeface="Cambria" pitchFamily="34" charset="-120"/>
                        </a:rPr>
                        <m:t> </m:t>
                      </m:r>
                      <m:r>
                        <a:rPr lang="en-US" sz="2800" b="1" i="1" dirty="0">
                          <a:solidFill>
                            <a:srgbClr val="6E6E6E"/>
                          </a:solidFill>
                          <a:latin typeface="Cambria Math" panose="02040503050406030204" pitchFamily="18" charset="0"/>
                          <a:ea typeface="Cambria" pitchFamily="34" charset="-122"/>
                          <a:cs typeface="Cambria" pitchFamily="34" charset="-120"/>
                        </a:rPr>
                        <m:t>𝑴</m:t>
                      </m:r>
                    </m:oMath>
                  </m:oMathPara>
                </a14:m>
                <a:endParaRPr lang="en-US" sz="2800" dirty="0"/>
              </a:p>
            </p:txBody>
          </p:sp>
        </mc:Choice>
        <mc:Fallback xmlns="">
          <p:sp>
            <p:nvSpPr>
              <p:cNvPr id="5" name="Text 2"/>
              <p:cNvSpPr>
                <a:spLocks noRot="1" noChangeAspect="1" noMove="1" noResize="1" noEditPoints="1" noAdjustHandles="1" noChangeArrowheads="1" noChangeShapeType="1" noTextEdit="1"/>
              </p:cNvSpPr>
              <p:nvPr/>
            </p:nvSpPr>
            <p:spPr>
              <a:xfrm>
                <a:off x="6949440" y="1554480"/>
                <a:ext cx="2377440" cy="777240"/>
              </a:xfrm>
              <a:prstGeom prst="rect">
                <a:avLst/>
              </a:prstGeom>
              <a:blipFill>
                <a:blip r:embed="rId3"/>
                <a:stretch>
                  <a:fillRect/>
                </a:stretch>
              </a:blipFill>
              <a:ln/>
            </p:spPr>
            <p:txBody>
              <a:bodyPr/>
              <a:lstStyle/>
              <a:p>
                <a:r>
                  <a:rPr lang="tr-TR">
                    <a:noFill/>
                  </a:rPr>
                  <a:t/>
                </a:r>
              </a:p>
            </p:txBody>
          </p:sp>
        </mc:Fallback>
      </mc:AlternateContent>
      <p:sp>
        <p:nvSpPr>
          <p:cNvPr id="6" name="Text 3"/>
          <p:cNvSpPr/>
          <p:nvPr/>
        </p:nvSpPr>
        <p:spPr>
          <a:xfrm>
            <a:off x="6949440" y="2331720"/>
            <a:ext cx="2377440" cy="594360"/>
          </a:xfrm>
          <a:prstGeom prst="rect">
            <a:avLst/>
          </a:prstGeom>
          <a:noFill/>
          <a:ln/>
        </p:spPr>
        <p:txBody>
          <a:bodyPr wrap="square" lIns="0" tIns="0" rIns="0" bIns="0" rtlCol="0" anchor="ctr"/>
          <a:lstStyle/>
          <a:p>
            <a:pPr marL="0" indent="0" algn="ctr">
              <a:buNone/>
            </a:pPr>
            <a:r>
              <a:rPr lang="en-US" sz="1400" dirty="0">
                <a:solidFill>
                  <a:srgbClr val="222222"/>
                </a:solidFill>
                <a:latin typeface="Calibri" pitchFamily="34" charset="0"/>
                <a:ea typeface="Calibri" pitchFamily="34" charset="-122"/>
                <a:cs typeface="Calibri" pitchFamily="34" charset="-120"/>
              </a:rPr>
              <a:t>flat rule combinations over 10 features × 5 terms</a:t>
            </a:r>
            <a:endParaRPr lang="en-US" sz="1400" dirty="0"/>
          </a:p>
        </p:txBody>
      </p:sp>
      <mc:AlternateContent xmlns:mc="http://schemas.openxmlformats.org/markup-compatibility/2006" xmlns:a14="http://schemas.microsoft.com/office/drawing/2010/main">
        <mc:Choice Requires="a14">
          <p:sp>
            <p:nvSpPr>
              <p:cNvPr id="7" name="Text 4"/>
              <p:cNvSpPr/>
              <p:nvPr/>
            </p:nvSpPr>
            <p:spPr>
              <a:xfrm>
                <a:off x="9372600" y="1554480"/>
                <a:ext cx="2377440" cy="777240"/>
              </a:xfrm>
              <a:prstGeom prst="rect">
                <a:avLst/>
              </a:prstGeom>
              <a:noFill/>
              <a:ln/>
            </p:spPr>
            <p:txBody>
              <a:bodyPr wrap="square" lIns="0" tIns="0" rIns="0" bIns="0" rtlCol="0" anchor="ctr"/>
              <a:lstStyle/>
              <a:p>
                <a:pPr marL="0" indent="0" algn="ctr">
                  <a:buNone/>
                </a:pPr>
                <a14:m>
                  <m:oMathPara xmlns:m="http://schemas.openxmlformats.org/officeDocument/2006/math">
                    <m:oMath>
                      <m:sSup>
                        <m:sSupPr>
                          <m:ctrlPr>
                            <a:rPr lang="en-US" sz="3200" b="1" i="1" dirty="0" smtClean="0">
                              <a:solidFill>
                                <a:srgbClr val="E31836"/>
                              </a:solidFill>
                              <a:latin typeface="Cambria Math" panose="02040503050406030204" pitchFamily="18" charset="0"/>
                              <a:ea typeface="Cambria" pitchFamily="34" charset="-122"/>
                              <a:cs typeface="Cambria" pitchFamily="34" charset="-120"/>
                            </a:rPr>
                          </m:ctrlPr>
                        </m:sSupPr>
                        <m:e>
                          <m:r>
                            <a:rPr lang="en-US" sz="3200" b="1" i="1" dirty="0" smtClean="0">
                              <a:solidFill>
                                <a:srgbClr val="E31836"/>
                              </a:solidFill>
                              <a:latin typeface="Cambria Math" panose="02040503050406030204" pitchFamily="18" charset="0"/>
                              <a:ea typeface="Cambria" pitchFamily="34" charset="-122"/>
                              <a:cs typeface="Cambria" pitchFamily="34" charset="-120"/>
                            </a:rPr>
                            <m:t>𝟓</m:t>
                          </m:r>
                        </m:e>
                        <m:sup>
                          <m:r>
                            <a:rPr lang="en-US" sz="3200" b="1" i="1" dirty="0" smtClean="0">
                              <a:solidFill>
                                <a:srgbClr val="E31836"/>
                              </a:solidFill>
                              <a:latin typeface="Cambria Math" panose="02040503050406030204" pitchFamily="18" charset="0"/>
                              <a:ea typeface="Cambria" pitchFamily="34" charset="-122"/>
                              <a:cs typeface="Cambria" pitchFamily="34" charset="-120"/>
                            </a:rPr>
                            <m:t>𝟓</m:t>
                          </m:r>
                        </m:sup>
                      </m:sSup>
                      <m:r>
                        <a:rPr lang="en-US" sz="3200" b="1" i="1" dirty="0" smtClean="0">
                          <a:solidFill>
                            <a:srgbClr val="E31836"/>
                          </a:solidFill>
                          <a:latin typeface="Cambria Math" panose="02040503050406030204" pitchFamily="18" charset="0"/>
                          <a:ea typeface="Cambria" pitchFamily="34" charset="-122"/>
                          <a:cs typeface="Cambria" pitchFamily="34" charset="-120"/>
                        </a:rPr>
                        <m:t>=</m:t>
                      </m:r>
                      <m:r>
                        <a:rPr lang="en-US" sz="3200" b="1" i="1" dirty="0" smtClean="0">
                          <a:solidFill>
                            <a:srgbClr val="E31836"/>
                          </a:solidFill>
                          <a:latin typeface="Cambria Math" panose="02040503050406030204" pitchFamily="18" charset="0"/>
                          <a:ea typeface="Cambria" pitchFamily="34" charset="-122"/>
                          <a:cs typeface="Cambria" pitchFamily="34" charset="-120"/>
                        </a:rPr>
                        <m:t>𝟑</m:t>
                      </m:r>
                      <m:r>
                        <a:rPr lang="en-US" sz="3200" b="1" i="1" dirty="0" smtClean="0">
                          <a:solidFill>
                            <a:srgbClr val="E31836"/>
                          </a:solidFill>
                          <a:latin typeface="Cambria Math" panose="02040503050406030204" pitchFamily="18" charset="0"/>
                          <a:ea typeface="Cambria" pitchFamily="34" charset="-122"/>
                          <a:cs typeface="Cambria" pitchFamily="34" charset="-120"/>
                        </a:rPr>
                        <m:t> </m:t>
                      </m:r>
                      <m:r>
                        <a:rPr lang="en-US" sz="3200" b="1" i="1" dirty="0">
                          <a:solidFill>
                            <a:srgbClr val="E31836"/>
                          </a:solidFill>
                          <a:latin typeface="Cambria Math" panose="02040503050406030204" pitchFamily="18" charset="0"/>
                          <a:ea typeface="Cambria" pitchFamily="34" charset="-122"/>
                          <a:cs typeface="Cambria" pitchFamily="34" charset="-120"/>
                        </a:rPr>
                        <m:t>𝟏𝟐𝟓</m:t>
                      </m:r>
                    </m:oMath>
                  </m:oMathPara>
                </a14:m>
                <a:endParaRPr lang="en-US" sz="3200" dirty="0"/>
              </a:p>
            </p:txBody>
          </p:sp>
        </mc:Choice>
        <mc:Fallback xmlns="">
          <p:sp>
            <p:nvSpPr>
              <p:cNvPr id="7" name="Text 4"/>
              <p:cNvSpPr>
                <a:spLocks noRot="1" noChangeAspect="1" noMove="1" noResize="1" noEditPoints="1" noAdjustHandles="1" noChangeArrowheads="1" noChangeShapeType="1" noTextEdit="1"/>
              </p:cNvSpPr>
              <p:nvPr/>
            </p:nvSpPr>
            <p:spPr>
              <a:xfrm>
                <a:off x="9372600" y="1554480"/>
                <a:ext cx="2377440" cy="777240"/>
              </a:xfrm>
              <a:prstGeom prst="rect">
                <a:avLst/>
              </a:prstGeom>
              <a:blipFill>
                <a:blip r:embed="rId4"/>
                <a:stretch>
                  <a:fillRect/>
                </a:stretch>
              </a:blipFill>
              <a:ln/>
            </p:spPr>
            <p:txBody>
              <a:bodyPr/>
              <a:lstStyle/>
              <a:p>
                <a:r>
                  <a:rPr lang="tr-TR">
                    <a:noFill/>
                  </a:rPr>
                  <a:t/>
                </a:r>
              </a:p>
            </p:txBody>
          </p:sp>
        </mc:Fallback>
      </mc:AlternateContent>
      <p:sp>
        <p:nvSpPr>
          <p:cNvPr id="8" name="Text 5"/>
          <p:cNvSpPr/>
          <p:nvPr/>
        </p:nvSpPr>
        <p:spPr>
          <a:xfrm>
            <a:off x="9372600" y="2331720"/>
            <a:ext cx="2377440" cy="594360"/>
          </a:xfrm>
          <a:prstGeom prst="rect">
            <a:avLst/>
          </a:prstGeom>
          <a:noFill/>
          <a:ln/>
        </p:spPr>
        <p:txBody>
          <a:bodyPr wrap="square" lIns="0" tIns="0" rIns="0" bIns="0" rtlCol="0" anchor="ctr"/>
          <a:lstStyle/>
          <a:p>
            <a:pPr marL="0" indent="0" algn="ctr">
              <a:buNone/>
            </a:pPr>
            <a:r>
              <a:rPr lang="en-US" sz="1400" dirty="0">
                <a:solidFill>
                  <a:srgbClr val="222222"/>
                </a:solidFill>
                <a:latin typeface="Calibri" pitchFamily="34" charset="0"/>
                <a:ea typeface="Calibri" pitchFamily="34" charset="-122"/>
                <a:cs typeface="Calibri" pitchFamily="34" charset="-120"/>
              </a:rPr>
              <a:t>combinations over the 5 decision concepts</a:t>
            </a:r>
            <a:endParaRPr lang="en-US" sz="1400" dirty="0"/>
          </a:p>
        </p:txBody>
      </p:sp>
      <p:sp>
        <p:nvSpPr>
          <p:cNvPr id="10" name="Text 6"/>
          <p:cNvSpPr/>
          <p:nvPr/>
        </p:nvSpPr>
        <p:spPr>
          <a:xfrm>
            <a:off x="502920" y="6096950"/>
            <a:ext cx="11247120" cy="76105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Ten features → six base concepts → three mid + two higher decision concepts → one coordination concept</a:t>
            </a:r>
            <a:endParaRPr lang="en-US" sz="1550" dirty="0"/>
          </a:p>
          <a:p>
            <a:pPr marL="152400" indent="-152400">
              <a:lnSpc>
                <a:spcPct val="105000"/>
              </a:lnSpc>
              <a:spcAft>
                <a:spcPts val="1000"/>
              </a:spcAft>
              <a:buSzPct val="100000"/>
              <a:buChar char="•"/>
            </a:pPr>
            <a:r>
              <a:rPr lang="en-US" sz="1550" b="1" dirty="0">
                <a:solidFill>
                  <a:srgbClr val="222222"/>
                </a:solidFill>
                <a:latin typeface="Calibri" pitchFamily="34" charset="0"/>
                <a:ea typeface="Calibri" pitchFamily="34" charset="-122"/>
                <a:cs typeface="Calibri" pitchFamily="34" charset="-120"/>
              </a:rPr>
              <a:t>Five decision concepts answer the five canonical command questions : severity, exposure, feasibility, urgency, evacuation</a:t>
            </a:r>
            <a:endParaRPr lang="en-US" sz="1550" dirty="0"/>
          </a:p>
        </p:txBody>
      </p:sp>
      <p:pic>
        <p:nvPicPr>
          <p:cNvPr id="11" name="Image 2" descr="/tmp/thx/deck/figs/metu_emblem.png"/>
          <p:cNvPicPr>
            <a:picLocks noChangeAspect="1"/>
          </p:cNvPicPr>
          <p:nvPr/>
        </p:nvPicPr>
        <p:blipFill>
          <a:blip r:embed="rId5"/>
          <a:stretch>
            <a:fillRect/>
          </a:stretch>
        </p:blipFill>
        <p:spPr>
          <a:xfrm>
            <a:off x="10716768" y="184607"/>
            <a:ext cx="475488" cy="398882"/>
          </a:xfrm>
          <a:prstGeom prst="rect">
            <a:avLst/>
          </a:prstGeom>
        </p:spPr>
      </p:pic>
      <p:pic>
        <p:nvPicPr>
          <p:cNvPr id="12" name="Image 3" descr="/tmp/thx/deck/figs/eee_logo.png"/>
          <p:cNvPicPr>
            <a:picLocks noChangeAspect="1"/>
          </p:cNvPicPr>
          <p:nvPr/>
        </p:nvPicPr>
        <p:blipFill>
          <a:blip r:embed="rId6"/>
          <a:stretch>
            <a:fillRect/>
          </a:stretch>
        </p:blipFill>
        <p:spPr>
          <a:xfrm>
            <a:off x="11265408" y="186217"/>
            <a:ext cx="475488" cy="395662"/>
          </a:xfrm>
          <a:prstGeom prst="rect">
            <a:avLst/>
          </a:prstGeom>
        </p:spPr>
      </p:pic>
      <p:pic>
        <p:nvPicPr>
          <p:cNvPr id="14" name="Image 0" descr="/tmp/thx/deck/figs/Figure4_1.png">
            <a:extLst>
              <a:ext uri="{FF2B5EF4-FFF2-40B4-BE49-F238E27FC236}">
                <a16:creationId xmlns:a16="http://schemas.microsoft.com/office/drawing/2014/main" id="{4B8C3F6D-8DE6-4BAC-86C8-0F27E4DF1198}"/>
              </a:ext>
            </a:extLst>
          </p:cNvPr>
          <p:cNvPicPr>
            <a:picLocks noChangeAspect="1"/>
          </p:cNvPicPr>
          <p:nvPr/>
        </p:nvPicPr>
        <p:blipFill rotWithShape="1">
          <a:blip r:embed="rId7"/>
          <a:srcRect l="-409" t="29248" r="13945" b="30510"/>
          <a:stretch>
            <a:fillRect/>
          </a:stretch>
        </p:blipFill>
        <p:spPr>
          <a:xfrm>
            <a:off x="182880" y="1447800"/>
            <a:ext cx="5551170" cy="4539930"/>
          </a:xfrm>
          <a:prstGeom prst="rect">
            <a:avLst/>
          </a:prstGeom>
        </p:spPr>
      </p:pic>
      <p:graphicFrame>
        <p:nvGraphicFramePr>
          <p:cNvPr id="9" name="Table 8">
            <a:extLst>
              <a:ext uri="{FF2B5EF4-FFF2-40B4-BE49-F238E27FC236}">
                <a16:creationId xmlns:a16="http://schemas.microsoft.com/office/drawing/2014/main" id="{C6CB5984-3751-600F-87A9-CD5C0D0BF755}"/>
              </a:ext>
            </a:extLst>
          </p:cNvPr>
          <p:cNvGraphicFramePr>
            <a:graphicFrameLocks noGrp="1"/>
          </p:cNvGraphicFramePr>
          <p:nvPr>
            <p:extLst>
              <p:ext uri="{D42A27DB-BD31-4B8C-83A1-F6EECF244321}">
                <p14:modId xmlns:p14="http://schemas.microsoft.com/office/powerpoint/2010/main" val="2681770900"/>
              </p:ext>
            </p:extLst>
          </p:nvPr>
        </p:nvGraphicFramePr>
        <p:xfrm>
          <a:off x="7142081" y="2926080"/>
          <a:ext cx="4050175" cy="2995044"/>
        </p:xfrm>
        <a:graphic>
          <a:graphicData uri="http://schemas.openxmlformats.org/drawingml/2006/table">
            <a:tbl>
              <a:tblPr firstRow="1" firstCol="1" bandRow="1">
                <a:tableStyleId>{93296810-A885-4BE3-A3E7-6D5BEEA58F35}</a:tableStyleId>
              </a:tblPr>
              <a:tblGrid>
                <a:gridCol w="2119862">
                  <a:extLst>
                    <a:ext uri="{9D8B030D-6E8A-4147-A177-3AD203B41FA5}">
                      <a16:colId xmlns:a16="http://schemas.microsoft.com/office/drawing/2014/main" val="408930425"/>
                    </a:ext>
                  </a:extLst>
                </a:gridCol>
                <a:gridCol w="1930313">
                  <a:extLst>
                    <a:ext uri="{9D8B030D-6E8A-4147-A177-3AD203B41FA5}">
                      <a16:colId xmlns:a16="http://schemas.microsoft.com/office/drawing/2014/main" val="1739012305"/>
                    </a:ext>
                  </a:extLst>
                </a:gridCol>
              </a:tblGrid>
              <a:tr h="0">
                <a:tc>
                  <a:txBody>
                    <a:bodyPr/>
                    <a:lstStyle/>
                    <a:p>
                      <a:pPr algn="just">
                        <a:lnSpc>
                          <a:spcPct val="150000"/>
                        </a:lnSpc>
                      </a:pPr>
                      <a:r>
                        <a:rPr lang="en-US" sz="1400" dirty="0">
                          <a:effectLst/>
                        </a:rPr>
                        <a:t>Operational question</a:t>
                      </a:r>
                      <a:endParaRPr lang="tr-TR" sz="14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400">
                          <a:effectLst/>
                        </a:rPr>
                        <a:t>Decision concept</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63646761"/>
                  </a:ext>
                </a:extLst>
              </a:tr>
              <a:tr h="0">
                <a:tc>
                  <a:txBody>
                    <a:bodyPr/>
                    <a:lstStyle/>
                    <a:p>
                      <a:pPr algn="just">
                        <a:lnSpc>
                          <a:spcPct val="150000"/>
                        </a:lnSpc>
                      </a:pPr>
                      <a:r>
                        <a:rPr lang="en-US" sz="1400" dirty="0">
                          <a:effectLst/>
                        </a:rPr>
                        <a:t>How severe is the fire threat in this cell?</a:t>
                      </a:r>
                      <a:endParaRPr lang="tr-TR" sz="14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400">
                          <a:effectLst/>
                        </a:rPr>
                        <a:t>Fire Threat Level</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965055568"/>
                  </a:ext>
                </a:extLst>
              </a:tr>
              <a:tr h="0">
                <a:tc>
                  <a:txBody>
                    <a:bodyPr/>
                    <a:lstStyle/>
                    <a:p>
                      <a:pPr algn="just">
                        <a:lnSpc>
                          <a:spcPct val="150000"/>
                        </a:lnSpc>
                      </a:pPr>
                      <a:r>
                        <a:rPr lang="en-US" sz="1400" dirty="0">
                          <a:effectLst/>
                        </a:rPr>
                        <a:t>Can an intervention feasibly be mounted here?</a:t>
                      </a:r>
                      <a:endParaRPr lang="tr-TR" sz="14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400">
                          <a:effectLst/>
                        </a:rPr>
                        <a:t>Suppression Feasibility</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164981675"/>
                  </a:ext>
                </a:extLst>
              </a:tr>
              <a:tr h="0">
                <a:tc>
                  <a:txBody>
                    <a:bodyPr/>
                    <a:lstStyle/>
                    <a:p>
                      <a:pPr algn="just">
                        <a:lnSpc>
                          <a:spcPct val="150000"/>
                        </a:lnSpc>
                      </a:pPr>
                      <a:r>
                        <a:rPr lang="en-US" sz="1400" dirty="0">
                          <a:effectLst/>
                        </a:rPr>
                        <a:t>How exposed are the assets here?</a:t>
                      </a:r>
                      <a:endParaRPr lang="tr-TR" sz="14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400">
                          <a:effectLst/>
                        </a:rPr>
                        <a:t>Asset Exposure Risk</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606404420"/>
                  </a:ext>
                </a:extLst>
              </a:tr>
              <a:tr h="0">
                <a:tc>
                  <a:txBody>
                    <a:bodyPr/>
                    <a:lstStyle/>
                    <a:p>
                      <a:pPr algn="just">
                        <a:lnSpc>
                          <a:spcPct val="150000"/>
                        </a:lnSpc>
                      </a:pPr>
                      <a:r>
                        <a:rPr lang="en-US" sz="1400" dirty="0">
                          <a:effectLst/>
                        </a:rPr>
                        <a:t>How urgent is action here?</a:t>
                      </a:r>
                      <a:endParaRPr lang="tr-TR" sz="14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400">
                          <a:effectLst/>
                        </a:rPr>
                        <a:t>Intervention Urgency</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34398677"/>
                  </a:ext>
                </a:extLst>
              </a:tr>
              <a:tr h="0">
                <a:tc>
                  <a:txBody>
                    <a:bodyPr/>
                    <a:lstStyle/>
                    <a:p>
                      <a:pPr algn="just">
                        <a:lnSpc>
                          <a:spcPct val="150000"/>
                        </a:lnSpc>
                      </a:pPr>
                      <a:r>
                        <a:rPr lang="en-US" sz="1400" dirty="0">
                          <a:effectLst/>
                        </a:rPr>
                        <a:t>Is evacuation pressure building here?</a:t>
                      </a:r>
                      <a:endParaRPr lang="tr-TR" sz="14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400" dirty="0">
                          <a:effectLst/>
                        </a:rPr>
                        <a:t>Evacuation Pressure</a:t>
                      </a:r>
                      <a:endParaRPr lang="tr-TR" sz="14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55540589"/>
                  </a:ext>
                </a:extLst>
              </a:tr>
            </a:tbl>
          </a:graphicData>
        </a:graphic>
      </p:graphicFrame>
    </p:spTree>
    <p:extLst>
      <p:ext uri="{BB962C8B-B14F-4D97-AF65-F5344CB8AC3E}">
        <p14:creationId xmlns:p14="http://schemas.microsoft.com/office/powerpoint/2010/main" val="35944394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0"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3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3 : Concept Space</a:t>
            </a:r>
            <a:r>
              <a:rPr lang="tr-TR" sz="2900" b="1" dirty="0">
                <a:solidFill>
                  <a:srgbClr val="000000"/>
                </a:solidFill>
                <a:latin typeface="Cambria" pitchFamily="34" charset="0"/>
                <a:ea typeface="Cambria" pitchFamily="34" charset="-122"/>
                <a:cs typeface="Cambria" pitchFamily="34" charset="-120"/>
              </a:rPr>
              <a:t> </a:t>
            </a:r>
            <a:r>
              <a:rPr lang="tr-TR" sz="2900" b="1" dirty="0" err="1">
                <a:solidFill>
                  <a:srgbClr val="000000"/>
                </a:solidFill>
                <a:latin typeface="Cambria" pitchFamily="34" charset="0"/>
                <a:ea typeface="Cambria" pitchFamily="34" charset="-122"/>
                <a:cs typeface="Cambria" pitchFamily="34" charset="-120"/>
              </a:rPr>
              <a:t>Levels</a:t>
            </a:r>
            <a:r>
              <a:rPr lang="tr-TR" sz="2900" b="1" dirty="0">
                <a:solidFill>
                  <a:srgbClr val="000000"/>
                </a:solidFill>
                <a:latin typeface="Cambria" pitchFamily="34" charset="0"/>
                <a:ea typeface="Cambria" pitchFamily="34" charset="-122"/>
                <a:cs typeface="Cambria" pitchFamily="34" charset="-120"/>
              </a:rPr>
              <a:t> </a:t>
            </a:r>
            <a:endParaRPr lang="en-US" sz="2900" dirty="0"/>
          </a:p>
        </p:txBody>
      </p:sp>
      <p:pic>
        <p:nvPicPr>
          <p:cNvPr id="11" name="Image 2"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12" name="Image 3"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16" name="Picture 15">
            <a:extLst>
              <a:ext uri="{FF2B5EF4-FFF2-40B4-BE49-F238E27FC236}">
                <a16:creationId xmlns:a16="http://schemas.microsoft.com/office/drawing/2014/main" id="{67672472-2578-4B3A-97B2-C6E9A1AE4EA5}"/>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2920" y="1243583"/>
            <a:ext cx="6617338" cy="4853367"/>
          </a:xfrm>
          <a:prstGeom prst="rect">
            <a:avLst/>
          </a:prstGeom>
          <a:noFill/>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20FA6669-5258-4D42-911D-CE1B7C3FAF82}"/>
                  </a:ext>
                </a:extLst>
              </p:cNvPr>
              <p:cNvGraphicFramePr>
                <a:graphicFrameLocks noGrp="1"/>
              </p:cNvGraphicFramePr>
              <p:nvPr>
                <p:extLst>
                  <p:ext uri="{D42A27DB-BD31-4B8C-83A1-F6EECF244321}">
                    <p14:modId xmlns:p14="http://schemas.microsoft.com/office/powerpoint/2010/main" val="2344713063"/>
                  </p:ext>
                </p:extLst>
              </p:nvPr>
            </p:nvGraphicFramePr>
            <p:xfrm>
              <a:off x="7516498" y="1073625"/>
              <a:ext cx="4224398" cy="2805339"/>
            </p:xfrm>
            <a:graphic>
              <a:graphicData uri="http://schemas.openxmlformats.org/drawingml/2006/table">
                <a:tbl>
                  <a:tblPr firstRow="1" firstCol="1" bandRow="1">
                    <a:tableStyleId>{2D5ABB26-0587-4C30-8999-92F81FD0307C}</a:tableStyleId>
                  </a:tblPr>
                  <a:tblGrid>
                    <a:gridCol w="2112199">
                      <a:extLst>
                        <a:ext uri="{9D8B030D-6E8A-4147-A177-3AD203B41FA5}">
                          <a16:colId xmlns:a16="http://schemas.microsoft.com/office/drawing/2014/main" val="642329100"/>
                        </a:ext>
                      </a:extLst>
                    </a:gridCol>
                    <a:gridCol w="2112199">
                      <a:extLst>
                        <a:ext uri="{9D8B030D-6E8A-4147-A177-3AD203B41FA5}">
                          <a16:colId xmlns:a16="http://schemas.microsoft.com/office/drawing/2014/main" val="2705746310"/>
                        </a:ext>
                      </a:extLst>
                    </a:gridCol>
                  </a:tblGrid>
                  <a:tr h="261500">
                    <a:tc>
                      <a:txBody>
                        <a:bodyPr/>
                        <a:lstStyle/>
                        <a:p>
                          <a:pPr algn="just">
                            <a:lnSpc>
                              <a:spcPct val="150000"/>
                            </a:lnSpc>
                          </a:pPr>
                          <a:r>
                            <a:rPr lang="en-US" sz="1200">
                              <a:effectLst/>
                            </a:rPr>
                            <a:t>Base Concepts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just">
                            <a:lnSpc>
                              <a:spcPct val="150000"/>
                            </a:lnSpc>
                          </a:pPr>
                          <a:r>
                            <a:rPr lang="en-US" sz="1200" dirty="0">
                              <a:effectLst/>
                            </a:rPr>
                            <a:t>Decisional Concepts</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246918569"/>
                      </a:ext>
                    </a:extLst>
                  </a:tr>
                  <a:tr h="2543839">
                    <a:tc>
                      <a:txBody>
                        <a:bodyPr/>
                        <a:lstStyle/>
                        <a:p>
                          <a:pPr algn="just">
                            <a:lnSpc>
                              <a:spcPct val="150000"/>
                            </a:lnSpc>
                          </a:pPr>
                          <a14:m>
                            <m:oMathPara xmlns:m="http://schemas.openxmlformats.org/officeDocument/2006/math">
                              <m:oMath>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1</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en-US" sz="1200" i="1">
                                        <a:effectLst/>
                                        <a:latin typeface="Cambria Math" panose="02040503050406030204" pitchFamily="18" charset="0"/>
                                      </a:rPr>
                                    </m:ctrlPr>
                                  </m:dPr>
                                  <m:e>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1</m:t>
                                        </m:r>
                                      </m:sub>
                                    </m:sSub>
                                    <m:r>
                                      <a:rPr lang="en-US" sz="1200">
                                        <a:effectLst/>
                                        <a:latin typeface="Cambria Math" panose="02040503050406030204" pitchFamily="18" charset="0"/>
                                      </a:rPr>
                                      <m:t>,</m:t>
                                    </m:r>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2</m:t>
                                        </m:r>
                                      </m:sub>
                                    </m:sSub>
                                  </m:e>
                                </m:d>
                              </m:oMath>
                              <m:oMath>
                                <m:r>
                                  <a:rPr lang="en-US" sz="1200">
                                    <a:effectLst/>
                                    <a:latin typeface="Cambria Math" panose="02040503050406030204" pitchFamily="18" charset="0"/>
                                  </a:rPr>
                                  <m:t> </m:t>
                                </m:r>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2</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en-US" sz="1200" i="1">
                                        <a:effectLst/>
                                        <a:latin typeface="Cambria Math" panose="02040503050406030204" pitchFamily="18" charset="0"/>
                                      </a:rPr>
                                    </m:ctrlPr>
                                  </m:dPr>
                                  <m:e>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2</m:t>
                                        </m:r>
                                      </m:sub>
                                    </m:sSub>
                                    <m:r>
                                      <a:rPr lang="en-US" sz="1200">
                                        <a:effectLst/>
                                        <a:latin typeface="Cambria Math" panose="02040503050406030204" pitchFamily="18" charset="0"/>
                                      </a:rPr>
                                      <m:t>,</m:t>
                                    </m:r>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3</m:t>
                                        </m:r>
                                      </m:sub>
                                    </m:sSub>
                                    <m:r>
                                      <a:rPr lang="en-US" sz="1200">
                                        <a:effectLst/>
                                        <a:latin typeface="Cambria Math" panose="02040503050406030204" pitchFamily="18" charset="0"/>
                                      </a:rPr>
                                      <m:t>,</m:t>
                                    </m:r>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4</m:t>
                                        </m:r>
                                      </m:sub>
                                    </m:sSub>
                                  </m:e>
                                </m:d>
                              </m:oMath>
                              <m:oMath>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3</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en-US" sz="1200" i="1">
                                        <a:effectLst/>
                                        <a:latin typeface="Cambria Math" panose="02040503050406030204" pitchFamily="18" charset="0"/>
                                      </a:rPr>
                                    </m:ctrlPr>
                                  </m:dPr>
                                  <m:e>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3</m:t>
                                        </m:r>
                                      </m:sub>
                                    </m:sSub>
                                    <m:r>
                                      <a:rPr lang="en-US" sz="1200">
                                        <a:effectLst/>
                                        <a:latin typeface="Cambria Math" panose="02040503050406030204" pitchFamily="18" charset="0"/>
                                      </a:rPr>
                                      <m:t>,</m:t>
                                    </m:r>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5</m:t>
                                        </m:r>
                                      </m:sub>
                                    </m:sSub>
                                  </m:e>
                                </m:d>
                                <m:r>
                                  <a:rPr lang="en-US" sz="1200">
                                    <a:effectLst/>
                                    <a:latin typeface="Cambria Math" panose="02040503050406030204" pitchFamily="18" charset="0"/>
                                  </a:rPr>
                                  <m:t>, </m:t>
                                </m:r>
                              </m:oMath>
                              <m:oMath>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4</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en-US" sz="1200" i="1">
                                        <a:effectLst/>
                                        <a:latin typeface="Cambria Math" panose="02040503050406030204" pitchFamily="18" charset="0"/>
                                      </a:rPr>
                                    </m:ctrlPr>
                                  </m:dPr>
                                  <m:e>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6</m:t>
                                        </m:r>
                                      </m:sub>
                                    </m:sSub>
                                  </m:e>
                                </m:d>
                                <m:r>
                                  <a:rPr lang="en-US" sz="1200">
                                    <a:effectLst/>
                                    <a:latin typeface="Cambria Math" panose="02040503050406030204" pitchFamily="18" charset="0"/>
                                  </a:rPr>
                                  <m:t>, </m:t>
                                </m:r>
                              </m:oMath>
                              <m:oMath>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5</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en-US" sz="1200" i="1">
                                        <a:effectLst/>
                                        <a:latin typeface="Cambria Math" panose="02040503050406030204" pitchFamily="18" charset="0"/>
                                      </a:rPr>
                                    </m:ctrlPr>
                                  </m:dPr>
                                  <m:e>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7</m:t>
                                        </m:r>
                                      </m:sub>
                                    </m:sSub>
                                    <m:r>
                                      <a:rPr lang="en-US" sz="1200">
                                        <a:effectLst/>
                                        <a:latin typeface="Cambria Math" panose="02040503050406030204" pitchFamily="18" charset="0"/>
                                      </a:rPr>
                                      <m:t>,</m:t>
                                    </m:r>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8</m:t>
                                        </m:r>
                                      </m:sub>
                                    </m:sSub>
                                  </m:e>
                                </m:d>
                                <m:r>
                                  <a:rPr lang="en-US" sz="1200">
                                    <a:effectLst/>
                                    <a:latin typeface="Cambria Math" panose="02040503050406030204" pitchFamily="18" charset="0"/>
                                  </a:rPr>
                                  <m:t>, </m:t>
                                </m:r>
                              </m:oMath>
                              <m:oMath>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6</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en-US" sz="1200" i="1">
                                        <a:effectLst/>
                                        <a:latin typeface="Cambria Math" panose="02040503050406030204" pitchFamily="18" charset="0"/>
                                      </a:rPr>
                                    </m:ctrlPr>
                                  </m:dPr>
                                  <m:e>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9</m:t>
                                        </m:r>
                                      </m:sub>
                                    </m:sSub>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just">
                            <a:lnSpc>
                              <a:spcPct val="150000"/>
                            </a:lnSpc>
                          </a:pPr>
                          <a14:m>
                            <m:oMathPara xmlns:m="http://schemas.openxmlformats.org/officeDocument/2006/math">
                              <m:oMath>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1</m:t>
                                    </m:r>
                                  </m:sub>
                                  <m:sup>
                                    <m:r>
                                      <a:rPr lang="en-US" sz="1200">
                                        <a:effectLst/>
                                        <a:latin typeface="Cambria Math" panose="02040503050406030204" pitchFamily="18" charset="0"/>
                                      </a:rPr>
                                      <m:t>(2)</m:t>
                                    </m:r>
                                  </m:sup>
                                </m:sSubSup>
                                <m:r>
                                  <m:rPr>
                                    <m:aln/>
                                  </m:rPr>
                                  <a:rPr lang="en-US" sz="1200">
                                    <a:effectLst/>
                                    <a:latin typeface="Cambria Math" panose="02040503050406030204" pitchFamily="18" charset="0"/>
                                  </a:rPr>
                                  <m:t>=</m:t>
                                </m:r>
                                <m:d>
                                  <m:dPr>
                                    <m:begChr m:val="{"/>
                                    <m:endChr m:val="}"/>
                                    <m:ctrlPr>
                                      <a:rPr lang="en-US" sz="1200" i="1">
                                        <a:effectLst/>
                                        <a:latin typeface="Cambria Math" panose="02040503050406030204" pitchFamily="18" charset="0"/>
                                      </a:rPr>
                                    </m:ctrlPr>
                                  </m:dPr>
                                  <m:e>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1</m:t>
                                        </m:r>
                                      </m:sub>
                                      <m:sup>
                                        <m:r>
                                          <a:rPr lang="en-US" sz="1200">
                                            <a:effectLst/>
                                            <a:latin typeface="Cambria Math" panose="02040503050406030204" pitchFamily="18" charset="0"/>
                                          </a:rPr>
                                          <m:t>(1)</m:t>
                                        </m:r>
                                      </m:sup>
                                    </m:sSubSup>
                                    <m:r>
                                      <a:rPr lang="en-US" sz="1200">
                                        <a:effectLst/>
                                        <a:latin typeface="Cambria Math" panose="02040503050406030204" pitchFamily="18" charset="0"/>
                                      </a:rPr>
                                      <m:t>,</m:t>
                                    </m:r>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(1)</m:t>
                                        </m:r>
                                      </m:sup>
                                    </m:sSubSup>
                                    <m:r>
                                      <a:rPr lang="en-US" sz="1200">
                                        <a:effectLst/>
                                        <a:latin typeface="Cambria Math" panose="02040503050406030204" pitchFamily="18" charset="0"/>
                                      </a:rPr>
                                      <m:t>,</m:t>
                                    </m:r>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3</m:t>
                                        </m:r>
                                      </m:sub>
                                      <m:sup>
                                        <m:r>
                                          <a:rPr lang="en-US" sz="1200">
                                            <a:effectLst/>
                                            <a:latin typeface="Cambria Math" panose="02040503050406030204" pitchFamily="18" charset="0"/>
                                          </a:rPr>
                                          <m:t>(1)</m:t>
                                        </m:r>
                                      </m:sup>
                                    </m:sSubSup>
                                  </m:e>
                                </m:d>
                              </m:oMath>
                              <m:oMath>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2</m:t>
                                    </m:r>
                                  </m:sub>
                                  <m:sup>
                                    <m:r>
                                      <a:rPr lang="en-US" sz="1200">
                                        <a:effectLst/>
                                        <a:latin typeface="Cambria Math" panose="02040503050406030204" pitchFamily="18" charset="0"/>
                                      </a:rPr>
                                      <m:t>(2)</m:t>
                                    </m:r>
                                  </m:sup>
                                </m:sSubSup>
                                <m:r>
                                  <m:rPr>
                                    <m:aln/>
                                  </m:rPr>
                                  <a:rPr lang="en-US" sz="1200">
                                    <a:effectLst/>
                                    <a:latin typeface="Cambria Math" panose="02040503050406030204" pitchFamily="18" charset="0"/>
                                  </a:rPr>
                                  <m:t>=</m:t>
                                </m:r>
                                <m:d>
                                  <m:dPr>
                                    <m:begChr m:val="{"/>
                                    <m:endChr m:val="}"/>
                                    <m:ctrlPr>
                                      <a:rPr lang="en-US" sz="1200" i="1">
                                        <a:effectLst/>
                                        <a:latin typeface="Cambria Math" panose="02040503050406030204" pitchFamily="18" charset="0"/>
                                      </a:rPr>
                                    </m:ctrlPr>
                                  </m:dPr>
                                  <m:e>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(1)</m:t>
                                        </m:r>
                                      </m:sup>
                                    </m:sSubSup>
                                    <m:r>
                                      <a:rPr lang="en-US" sz="1200">
                                        <a:effectLst/>
                                        <a:latin typeface="Cambria Math" panose="02040503050406030204" pitchFamily="18" charset="0"/>
                                      </a:rPr>
                                      <m:t>,</m:t>
                                    </m:r>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4</m:t>
                                        </m:r>
                                      </m:sub>
                                      <m:sup>
                                        <m:r>
                                          <a:rPr lang="en-US" sz="1200">
                                            <a:effectLst/>
                                            <a:latin typeface="Cambria Math" panose="02040503050406030204" pitchFamily="18" charset="0"/>
                                          </a:rPr>
                                          <m:t>(1)</m:t>
                                        </m:r>
                                      </m:sup>
                                    </m:sSubSup>
                                  </m:e>
                                </m:d>
                                <m:r>
                                  <a:rPr lang="en-US" sz="1200">
                                    <a:effectLst/>
                                    <a:latin typeface="Cambria Math" panose="02040503050406030204" pitchFamily="18" charset="0"/>
                                  </a:rPr>
                                  <m:t>, </m:t>
                                </m:r>
                              </m:oMath>
                              <m:oMath>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3</m:t>
                                    </m:r>
                                  </m:sub>
                                  <m:sup>
                                    <m:r>
                                      <a:rPr lang="en-US" sz="1200">
                                        <a:effectLst/>
                                        <a:latin typeface="Cambria Math" panose="02040503050406030204" pitchFamily="18" charset="0"/>
                                      </a:rPr>
                                      <m:t>(2)</m:t>
                                    </m:r>
                                  </m:sup>
                                </m:sSubSup>
                                <m:r>
                                  <m:rPr>
                                    <m:aln/>
                                  </m:rPr>
                                  <a:rPr lang="en-US" sz="1200">
                                    <a:effectLst/>
                                    <a:latin typeface="Cambria Math" panose="02040503050406030204" pitchFamily="18" charset="0"/>
                                  </a:rPr>
                                  <m:t>=</m:t>
                                </m:r>
                                <m:d>
                                  <m:dPr>
                                    <m:begChr m:val="{"/>
                                    <m:endChr m:val="}"/>
                                    <m:ctrlPr>
                                      <a:rPr lang="en-US" sz="1200" i="1">
                                        <a:effectLst/>
                                        <a:latin typeface="Cambria Math" panose="02040503050406030204" pitchFamily="18" charset="0"/>
                                      </a:rPr>
                                    </m:ctrlPr>
                                  </m:dPr>
                                  <m:e>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5</m:t>
                                        </m:r>
                                      </m:sub>
                                      <m:sup>
                                        <m:r>
                                          <a:rPr lang="en-US" sz="1200">
                                            <a:effectLst/>
                                            <a:latin typeface="Cambria Math" panose="02040503050406030204" pitchFamily="18" charset="0"/>
                                          </a:rPr>
                                          <m:t>(1)</m:t>
                                        </m:r>
                                      </m:sup>
                                    </m:sSubSup>
                                    <m:r>
                                      <a:rPr lang="en-US" sz="1200">
                                        <a:effectLst/>
                                        <a:latin typeface="Cambria Math" panose="02040503050406030204" pitchFamily="18" charset="0"/>
                                      </a:rPr>
                                      <m:t>,</m:t>
                                    </m:r>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6</m:t>
                                        </m:r>
                                      </m:sub>
                                      <m:sup>
                                        <m:r>
                                          <a:rPr lang="en-US" sz="1200">
                                            <a:effectLst/>
                                            <a:latin typeface="Cambria Math" panose="02040503050406030204" pitchFamily="18" charset="0"/>
                                          </a:rPr>
                                          <m:t>(1)</m:t>
                                        </m:r>
                                      </m:sup>
                                    </m:sSubSup>
                                  </m:e>
                                </m:d>
                              </m:oMath>
                              <m:oMath>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1</m:t>
                                    </m:r>
                                  </m:sub>
                                  <m:sup>
                                    <m:r>
                                      <a:rPr lang="en-US" sz="1200">
                                        <a:effectLst/>
                                        <a:latin typeface="Cambria Math" panose="02040503050406030204" pitchFamily="18" charset="0"/>
                                      </a:rPr>
                                      <m:t>(3)</m:t>
                                    </m:r>
                                  </m:sup>
                                </m:sSubSup>
                                <m:r>
                                  <m:rPr>
                                    <m:aln/>
                                  </m:rPr>
                                  <a:rPr lang="en-US" sz="1200">
                                    <a:effectLst/>
                                    <a:latin typeface="Cambria Math" panose="02040503050406030204" pitchFamily="18" charset="0"/>
                                  </a:rPr>
                                  <m:t>=</m:t>
                                </m:r>
                                <m:d>
                                  <m:dPr>
                                    <m:begChr m:val="{"/>
                                    <m:endChr m:val="}"/>
                                    <m:ctrlPr>
                                      <a:rPr lang="en-US" sz="1200" i="1">
                                        <a:effectLst/>
                                        <a:latin typeface="Cambria Math" panose="02040503050406030204" pitchFamily="18" charset="0"/>
                                      </a:rPr>
                                    </m:ctrlPr>
                                  </m:dPr>
                                  <m:e>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1</m:t>
                                        </m:r>
                                      </m:sub>
                                      <m:sup>
                                        <m:r>
                                          <a:rPr lang="en-US" sz="1200">
                                            <a:effectLst/>
                                            <a:latin typeface="Cambria Math" panose="02040503050406030204" pitchFamily="18" charset="0"/>
                                          </a:rPr>
                                          <m:t>(2)</m:t>
                                        </m:r>
                                      </m:sup>
                                    </m:sSubSup>
                                    <m:r>
                                      <a:rPr lang="en-US" sz="1200">
                                        <a:effectLst/>
                                        <a:latin typeface="Cambria Math" panose="02040503050406030204" pitchFamily="18" charset="0"/>
                                      </a:rPr>
                                      <m:t>,</m:t>
                                    </m:r>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(2)</m:t>
                                        </m:r>
                                      </m:sup>
                                    </m:sSubSup>
                                    <m:r>
                                      <a:rPr lang="en-US" sz="1200">
                                        <a:effectLst/>
                                        <a:latin typeface="Cambria Math" panose="02040503050406030204" pitchFamily="18" charset="0"/>
                                      </a:rPr>
                                      <m:t>,</m:t>
                                    </m:r>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10</m:t>
                                        </m:r>
                                      </m:sub>
                                    </m:sSub>
                                  </m:e>
                                </m:d>
                                <m:r>
                                  <a:rPr lang="en-US" sz="1200">
                                    <a:effectLst/>
                                    <a:latin typeface="Cambria Math" panose="02040503050406030204" pitchFamily="18" charset="0"/>
                                  </a:rPr>
                                  <m:t>, </m:t>
                                </m:r>
                              </m:oMath>
                              <m:oMath>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2</m:t>
                                    </m:r>
                                  </m:sub>
                                  <m:sup>
                                    <m:r>
                                      <a:rPr lang="en-US" sz="1200">
                                        <a:effectLst/>
                                        <a:latin typeface="Cambria Math" panose="02040503050406030204" pitchFamily="18" charset="0"/>
                                      </a:rPr>
                                      <m:t>(3)</m:t>
                                    </m:r>
                                  </m:sup>
                                </m:sSubSup>
                                <m:r>
                                  <m:rPr>
                                    <m:aln/>
                                  </m:rPr>
                                  <a:rPr lang="en-US" sz="1200">
                                    <a:effectLst/>
                                    <a:latin typeface="Cambria Math" panose="02040503050406030204" pitchFamily="18" charset="0"/>
                                  </a:rPr>
                                  <m:t>=</m:t>
                                </m:r>
                                <m:d>
                                  <m:dPr>
                                    <m:begChr m:val="{"/>
                                    <m:endChr m:val="}"/>
                                    <m:ctrlPr>
                                      <a:rPr lang="en-US" sz="1200" i="1">
                                        <a:effectLst/>
                                        <a:latin typeface="Cambria Math" panose="02040503050406030204" pitchFamily="18" charset="0"/>
                                      </a:rPr>
                                    </m:ctrlPr>
                                  </m:dPr>
                                  <m:e>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(2)</m:t>
                                        </m:r>
                                      </m:sup>
                                    </m:sSubSup>
                                    <m:r>
                                      <a:rPr lang="en-US" sz="1200">
                                        <a:effectLst/>
                                        <a:latin typeface="Cambria Math" panose="02040503050406030204" pitchFamily="18" charset="0"/>
                                      </a:rPr>
                                      <m:t>,1−</m:t>
                                    </m:r>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8</m:t>
                                        </m:r>
                                      </m:sub>
                                    </m:sSub>
                                    <m:r>
                                      <a:rPr lang="en-US" sz="1200">
                                        <a:effectLst/>
                                        <a:latin typeface="Cambria Math" panose="02040503050406030204" pitchFamily="18" charset="0"/>
                                      </a:rPr>
                                      <m:t>,</m:t>
                                    </m:r>
                                    <m:sSub>
                                      <m:sSubPr>
                                        <m:ctrlPr>
                                          <a:rPr lang="en-US" sz="1200">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10</m:t>
                                        </m:r>
                                      </m:sub>
                                    </m:sSub>
                                  </m:e>
                                </m:d>
                              </m:oMath>
                              <m:oMath>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1</m:t>
                                    </m:r>
                                  </m:sub>
                                  <m:sup>
                                    <m:r>
                                      <a:rPr lang="en-US" sz="1200">
                                        <a:effectLst/>
                                        <a:latin typeface="Cambria Math" panose="02040503050406030204" pitchFamily="18" charset="0"/>
                                      </a:rPr>
                                      <m:t>(4)</m:t>
                                    </m:r>
                                  </m:sup>
                                </m:sSubSup>
                                <m:r>
                                  <m:rPr>
                                    <m:aln/>
                                  </m:rPr>
                                  <a:rPr lang="en-US" sz="1200">
                                    <a:effectLst/>
                                    <a:latin typeface="Cambria Math" panose="02040503050406030204" pitchFamily="18" charset="0"/>
                                  </a:rPr>
                                  <m:t>=</m:t>
                                </m:r>
                                <m:r>
                                  <a:rPr lang="en-US" sz="1200">
                                    <a:effectLst/>
                                    <a:latin typeface="Cambria Math" panose="02040503050406030204" pitchFamily="18" charset="0"/>
                                  </a:rPr>
                                  <m:t>{</m:t>
                                </m:r>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1</m:t>
                                    </m:r>
                                  </m:sub>
                                  <m:sup>
                                    <m:r>
                                      <a:rPr lang="en-US" sz="1200">
                                        <a:effectLst/>
                                        <a:latin typeface="Cambria Math" panose="02040503050406030204" pitchFamily="18" charset="0"/>
                                      </a:rPr>
                                      <m:t>(2)</m:t>
                                    </m:r>
                                  </m:sup>
                                </m:sSubSup>
                                <m:r>
                                  <a:rPr lang="en-US" sz="1200">
                                    <a:effectLst/>
                                    <a:latin typeface="Cambria Math" panose="02040503050406030204" pitchFamily="18" charset="0"/>
                                  </a:rPr>
                                  <m:t>,</m:t>
                                </m:r>
                                <m:sSubSup>
                                  <m:sSubSupPr>
                                    <m:ctrlPr>
                                      <a:rPr lang="en-US" sz="1200">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(2)</m:t>
                                    </m:r>
                                  </m:sup>
                                </m:sSubSup>
                                <m:r>
                                  <a:rPr lang="en-US" sz="1200">
                                    <a:effectLst/>
                                    <a:latin typeface="Cambria Math" panose="02040503050406030204" pitchFamily="18" charset="0"/>
                                  </a:rPr>
                                  <m:t>}</m:t>
                                </m:r>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1073945"/>
                      </a:ext>
                    </a:extLst>
                  </a:tr>
                </a:tbl>
              </a:graphicData>
            </a:graphic>
          </p:graphicFrame>
        </mc:Choice>
        <mc:Fallback xmlns="">
          <p:graphicFrame>
            <p:nvGraphicFramePr>
              <p:cNvPr id="4" name="Table 3">
                <a:extLst>
                  <a:ext uri="{FF2B5EF4-FFF2-40B4-BE49-F238E27FC236}">
                    <a16:creationId xmlns:a16="http://schemas.microsoft.com/office/drawing/2014/main" id="{20FA6669-5258-4D42-911D-CE1B7C3FAF82}"/>
                  </a:ext>
                </a:extLst>
              </p:cNvPr>
              <p:cNvGraphicFramePr>
                <a:graphicFrameLocks noGrp="1"/>
              </p:cNvGraphicFramePr>
              <p:nvPr>
                <p:extLst>
                  <p:ext uri="{D42A27DB-BD31-4B8C-83A1-F6EECF244321}">
                    <p14:modId xmlns:p14="http://schemas.microsoft.com/office/powerpoint/2010/main" val="2344713063"/>
                  </p:ext>
                </p:extLst>
              </p:nvPr>
            </p:nvGraphicFramePr>
            <p:xfrm>
              <a:off x="7516498" y="1073625"/>
              <a:ext cx="4224398" cy="2805339"/>
            </p:xfrm>
            <a:graphic>
              <a:graphicData uri="http://schemas.openxmlformats.org/drawingml/2006/table">
                <a:tbl>
                  <a:tblPr firstRow="1" firstCol="1" bandRow="1">
                    <a:tableStyleId>{2D5ABB26-0587-4C30-8999-92F81FD0307C}</a:tableStyleId>
                  </a:tblPr>
                  <a:tblGrid>
                    <a:gridCol w="2112199">
                      <a:extLst>
                        <a:ext uri="{9D8B030D-6E8A-4147-A177-3AD203B41FA5}">
                          <a16:colId xmlns:a16="http://schemas.microsoft.com/office/drawing/2014/main" val="642329100"/>
                        </a:ext>
                      </a:extLst>
                    </a:gridCol>
                    <a:gridCol w="2112199">
                      <a:extLst>
                        <a:ext uri="{9D8B030D-6E8A-4147-A177-3AD203B41FA5}">
                          <a16:colId xmlns:a16="http://schemas.microsoft.com/office/drawing/2014/main" val="2705746310"/>
                        </a:ext>
                      </a:extLst>
                    </a:gridCol>
                  </a:tblGrid>
                  <a:tr h="261500">
                    <a:tc>
                      <a:txBody>
                        <a:bodyPr/>
                        <a:lstStyle/>
                        <a:p>
                          <a:pPr algn="just">
                            <a:lnSpc>
                              <a:spcPct val="150000"/>
                            </a:lnSpc>
                          </a:pPr>
                          <a:r>
                            <a:rPr lang="en-US" sz="1200">
                              <a:effectLst/>
                            </a:rPr>
                            <a:t>Base Concepts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just">
                            <a:lnSpc>
                              <a:spcPct val="150000"/>
                            </a:lnSpc>
                          </a:pPr>
                          <a:r>
                            <a:rPr lang="en-US" sz="1200" dirty="0">
                              <a:effectLst/>
                            </a:rPr>
                            <a:t>Decisional Concepts</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246918569"/>
                      </a:ext>
                    </a:extLst>
                  </a:tr>
                  <a:tr h="2543839">
                    <a:tc>
                      <a:txBody>
                        <a:bodyPr/>
                        <a:lstStyle/>
                        <a:p>
                          <a:endParaRPr lang="tr-TR"/>
                        </a:p>
                      </a:txBody>
                      <a:tcPr marL="68580" marR="68580" marT="0" marB="0" anchor="ctr">
                        <a:blipFill>
                          <a:blip r:embed="rId6"/>
                          <a:stretch>
                            <a:fillRect t="-10287" r="-99712"/>
                          </a:stretch>
                        </a:blipFill>
                      </a:tcPr>
                    </a:tc>
                    <a:tc>
                      <a:txBody>
                        <a:bodyPr/>
                        <a:lstStyle/>
                        <a:p>
                          <a:endParaRPr lang="tr-TR"/>
                        </a:p>
                      </a:txBody>
                      <a:tcPr marL="68580" marR="68580" marT="0" marB="0" anchor="ctr">
                        <a:blipFill>
                          <a:blip r:embed="rId6"/>
                          <a:stretch>
                            <a:fillRect l="-100289" t="-10287"/>
                          </a:stretch>
                        </a:blipFill>
                      </a:tcPr>
                    </a:tc>
                    <a:extLst>
                      <a:ext uri="{0D108BD9-81ED-4DB2-BD59-A6C34878D82A}">
                        <a16:rowId xmlns:a16="http://schemas.microsoft.com/office/drawing/2014/main" val="31073945"/>
                      </a:ext>
                    </a:extLst>
                  </a:tr>
                </a:tbl>
              </a:graphicData>
            </a:graphic>
          </p:graphicFrame>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BC3C359-A415-424F-9DE6-5B5DD8B6E6CD}"/>
                  </a:ext>
                </a:extLst>
              </p:cNvPr>
              <p:cNvSpPr txBox="1"/>
              <p:nvPr/>
            </p:nvSpPr>
            <p:spPr>
              <a:xfrm>
                <a:off x="7516498" y="4195094"/>
                <a:ext cx="4172582" cy="1589281"/>
              </a:xfrm>
              <a:prstGeom prst="rect">
                <a:avLst/>
              </a:prstGeom>
              <a:noFill/>
            </p:spPr>
            <p:txBody>
              <a:bodyPr wrap="square">
                <a:spAutoFit/>
              </a:bodyPr>
              <a:lstStyle/>
              <a:p>
                <a:pPr/>
                <a14:m>
                  <m:oMathPara xmlns:m="http://schemas.openxmlformats.org/officeDocument/2006/math">
                    <m:oMath>
                      <m:sSubSup>
                        <m:sSubSupPr>
                          <m:ctrlPr>
                            <a:rPr lang="tr-TR" i="1">
                              <a:latin typeface="Cambria Math" panose="02040503050406030204" pitchFamily="18" charset="0"/>
                            </a:rPr>
                          </m:ctrlPr>
                        </m:sSubSupPr>
                        <m:e>
                          <m:r>
                            <a:rPr lang="tr-TR" i="1">
                              <a:latin typeface="Cambria Math" panose="02040503050406030204" pitchFamily="18" charset="0"/>
                            </a:rPr>
                            <m:t>𝑎</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𝑘</m:t>
                          </m:r>
                        </m:sub>
                        <m:sup>
                          <m:d>
                            <m:dPr>
                              <m:ctrlPr>
                                <a:rPr lang="tr-TR" i="0">
                                  <a:latin typeface="Cambria Math" panose="02040503050406030204" pitchFamily="18" charset="0"/>
                                </a:rPr>
                              </m:ctrlPr>
                            </m:dPr>
                            <m:e>
                              <m:r>
                                <a:rPr lang="tr-TR" i="0">
                                  <a:latin typeface="Cambria Math" panose="02040503050406030204" pitchFamily="18" charset="0"/>
                                </a:rPr>
                                <m:t>1</m:t>
                              </m:r>
                            </m:e>
                          </m:d>
                          <m:r>
                            <a:rPr lang="tr-TR" i="0">
                              <a:latin typeface="Cambria Math" panose="02040503050406030204" pitchFamily="18" charset="0"/>
                            </a:rPr>
                            <m:t>,</m:t>
                          </m:r>
                          <m:r>
                            <a:rPr lang="tr-TR" i="1">
                              <a:latin typeface="Cambria Math" panose="02040503050406030204" pitchFamily="18" charset="0"/>
                            </a:rPr>
                            <m:t>𝑖</m:t>
                          </m:r>
                        </m:sup>
                      </m:sSubSup>
                      <m:r>
                        <a:rPr lang="tr-TR" i="0">
                          <a:latin typeface="Cambria Math" panose="02040503050406030204" pitchFamily="18" charset="0"/>
                        </a:rPr>
                        <m:t>=</m:t>
                      </m:r>
                      <m:nary>
                        <m:naryPr>
                          <m:chr m:val="∑"/>
                          <m:limLoc m:val="undOvr"/>
                          <m:supHide m:val="on"/>
                          <m:ctrlPr>
                            <a:rPr lang="tr-TR" i="1">
                              <a:latin typeface="Cambria Math" panose="02040503050406030204" pitchFamily="18" charset="0"/>
                            </a:rPr>
                          </m:ctrlPr>
                        </m:naryPr>
                        <m:sub>
                          <m:r>
                            <a:rPr lang="tr-TR" i="1">
                              <a:latin typeface="Cambria Math" panose="02040503050406030204" pitchFamily="18" charset="0"/>
                            </a:rPr>
                            <m:t>𝑓</m:t>
                          </m:r>
                          <m:r>
                            <a:rPr lang="tr-TR" i="0">
                              <a:latin typeface="Cambria Math" panose="02040503050406030204" pitchFamily="18" charset="0"/>
                            </a:rPr>
                            <m:t>∈</m:t>
                          </m:r>
                          <m:sSub>
                            <m:sSubPr>
                              <m:ctrlPr>
                                <a:rPr lang="tr-TR" i="0">
                                  <a:latin typeface="Cambria Math" panose="02040503050406030204" pitchFamily="18" charset="0"/>
                                </a:rPr>
                              </m:ctrlPr>
                            </m:sSubPr>
                            <m:e>
                              <m:r>
                                <a:rPr lang="tr-TR" i="0">
                                  <a:latin typeface="Cambria Math" panose="02040503050406030204" pitchFamily="18" charset="0"/>
                                </a:rPr>
                                <m:t>𝒵</m:t>
                              </m:r>
                            </m:e>
                            <m:sub>
                              <m:r>
                                <a:rPr lang="tr-TR" i="1">
                                  <a:latin typeface="Cambria Math" panose="02040503050406030204" pitchFamily="18" charset="0"/>
                                </a:rPr>
                                <m:t>𝑛</m:t>
                              </m:r>
                            </m:sub>
                          </m:sSub>
                        </m:sub>
                        <m:sup/>
                        <m:e>
                          <m:sSub>
                            <m:sSubPr>
                              <m:ctrlPr>
                                <a:rPr lang="tr-TR" i="1">
                                  <a:latin typeface="Cambria Math" panose="02040503050406030204" pitchFamily="18" charset="0"/>
                                </a:rPr>
                              </m:ctrlPr>
                            </m:sSubPr>
                            <m:e>
                              <m:r>
                                <a:rPr lang="tr-TR" i="1">
                                  <a:latin typeface="Cambria Math" panose="02040503050406030204" pitchFamily="18" charset="0"/>
                                </a:rPr>
                                <m:t>𝜔</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𝑓</m:t>
                              </m:r>
                            </m:sub>
                          </m:sSub>
                          <m:r>
                            <a:rPr lang="tr-TR" i="0">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𝜇</m:t>
                              </m:r>
                            </m:e>
                            <m:sub>
                              <m:sSub>
                                <m:sSubPr>
                                  <m:ctrlPr>
                                    <a:rPr lang="tr-TR" i="0">
                                      <a:latin typeface="Cambria Math" panose="02040503050406030204" pitchFamily="18" charset="0"/>
                                    </a:rPr>
                                  </m:ctrlPr>
                                </m:sSubPr>
                                <m:e>
                                  <m:r>
                                    <a:rPr lang="tr-TR" i="0">
                                      <a:latin typeface="Cambria Math" panose="02040503050406030204" pitchFamily="18" charset="0"/>
                                    </a:rPr>
                                    <m:t>𝒜</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𝑓</m:t>
                                  </m:r>
                                </m:sub>
                              </m:sSub>
                            </m:sub>
                          </m:sSub>
                          <m:d>
                            <m:dPr>
                              <m:ctrlPr>
                                <a:rPr lang="tr-TR" i="1">
                                  <a:latin typeface="Cambria Math" panose="02040503050406030204" pitchFamily="18" charset="0"/>
                                </a:rPr>
                              </m:ctrlPr>
                            </m:dPr>
                            <m:e>
                              <m:sSubSup>
                                <m:sSubSupPr>
                                  <m:ctrlPr>
                                    <a:rPr lang="tr-TR" i="1">
                                      <a:latin typeface="Cambria Math" panose="02040503050406030204" pitchFamily="18" charset="0"/>
                                    </a:rPr>
                                  </m:ctrlPr>
                                </m:sSubSupPr>
                                <m:e>
                                  <m:r>
                                    <a:rPr lang="tr-TR" i="1">
                                      <a:latin typeface="Cambria Math" panose="02040503050406030204" pitchFamily="18" charset="0"/>
                                    </a:rPr>
                                    <m:t>𝑧</m:t>
                                  </m:r>
                                </m:e>
                                <m:sub>
                                  <m:r>
                                    <a:rPr lang="tr-TR" i="1">
                                      <a:latin typeface="Cambria Math" panose="02040503050406030204" pitchFamily="18" charset="0"/>
                                    </a:rPr>
                                    <m:t>𝑓</m:t>
                                  </m:r>
                                  <m:r>
                                    <a:rPr lang="tr-TR" i="0">
                                      <a:latin typeface="Cambria Math" panose="02040503050406030204" pitchFamily="18" charset="0"/>
                                    </a:rPr>
                                    <m:t>,</m:t>
                                  </m:r>
                                  <m:r>
                                    <a:rPr lang="tr-TR" i="1">
                                      <a:latin typeface="Cambria Math" panose="02040503050406030204" pitchFamily="18" charset="0"/>
                                    </a:rPr>
                                    <m:t>𝑘</m:t>
                                  </m:r>
                                </m:sub>
                                <m:sup>
                                  <m:r>
                                    <a:rPr lang="tr-TR" i="1">
                                      <a:latin typeface="Cambria Math" panose="02040503050406030204" pitchFamily="18" charset="0"/>
                                    </a:rPr>
                                    <m:t>𝑖</m:t>
                                  </m:r>
                                </m:sup>
                              </m:sSubSup>
                            </m:e>
                          </m:d>
                        </m:e>
                      </m:nary>
                    </m:oMath>
                  </m:oMathPara>
                </a14:m>
                <a:endParaRPr lang="tr-TR" i="1" dirty="0">
                  <a:latin typeface="Cambria Math" panose="02040503050406030204" pitchFamily="18" charset="0"/>
                </a:endParaRPr>
              </a:p>
              <a:p>
                <a:pPr/>
                <a14:m>
                  <m:oMathPara xmlns:m="http://schemas.openxmlformats.org/officeDocument/2006/math">
                    <m:oMath>
                      <m:sSubSup>
                        <m:sSubSupPr>
                          <m:ctrlPr>
                            <a:rPr lang="tr-TR" i="1">
                              <a:latin typeface="Cambria Math" panose="02040503050406030204" pitchFamily="18" charset="0"/>
                            </a:rPr>
                          </m:ctrlPr>
                        </m:sSubSupPr>
                        <m:e>
                          <m:r>
                            <a:rPr lang="tr-TR" i="1">
                              <a:latin typeface="Cambria Math" panose="02040503050406030204" pitchFamily="18" charset="0"/>
                            </a:rPr>
                            <m:t>𝑎</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𝑘</m:t>
                          </m:r>
                        </m:sub>
                        <m:sup>
                          <m:d>
                            <m:dPr>
                              <m:ctrlPr>
                                <a:rPr lang="tr-TR" i="1">
                                  <a:latin typeface="Cambria Math" panose="02040503050406030204" pitchFamily="18" charset="0"/>
                                </a:rPr>
                              </m:ctrlPr>
                            </m:dPr>
                            <m:e>
                              <m:r>
                                <a:rPr lang="tr-TR" i="1">
                                  <a:latin typeface="Cambria Math" panose="02040503050406030204" pitchFamily="18" charset="0"/>
                                </a:rPr>
                                <m:t>𝑙</m:t>
                              </m:r>
                            </m:e>
                          </m:d>
                          <m:r>
                            <a:rPr lang="tr-TR" i="0">
                              <a:latin typeface="Cambria Math" panose="02040503050406030204" pitchFamily="18" charset="0"/>
                            </a:rPr>
                            <m:t>,</m:t>
                          </m:r>
                          <m:r>
                            <a:rPr lang="tr-TR" i="1">
                              <a:latin typeface="Cambria Math" panose="02040503050406030204" pitchFamily="18" charset="0"/>
                            </a:rPr>
                            <m:t>𝑖</m:t>
                          </m:r>
                        </m:sup>
                      </m:sSubSup>
                      <m:r>
                        <a:rPr lang="tr-TR" i="0">
                          <a:latin typeface="Cambria Math" panose="02040503050406030204" pitchFamily="18" charset="0"/>
                        </a:rPr>
                        <m:t>=</m:t>
                      </m:r>
                      <m:nary>
                        <m:naryPr>
                          <m:chr m:val="∑"/>
                          <m:limLoc m:val="undOvr"/>
                          <m:supHide m:val="on"/>
                          <m:ctrlPr>
                            <a:rPr lang="tr-TR" i="1">
                              <a:latin typeface="Cambria Math" panose="02040503050406030204" pitchFamily="18" charset="0"/>
                            </a:rPr>
                          </m:ctrlPr>
                        </m:naryPr>
                        <m:sub>
                          <m:r>
                            <a:rPr lang="tr-TR" i="1">
                              <a:latin typeface="Cambria Math" panose="02040503050406030204" pitchFamily="18" charset="0"/>
                            </a:rPr>
                            <m:t>𝑚</m:t>
                          </m:r>
                          <m:r>
                            <a:rPr lang="tr-TR" i="0">
                              <a:latin typeface="Cambria Math" panose="02040503050406030204" pitchFamily="18" charset="0"/>
                            </a:rPr>
                            <m:t>∈</m:t>
                          </m:r>
                          <m:sSubSup>
                            <m:sSubSupPr>
                              <m:ctrlPr>
                                <a:rPr lang="tr-TR" i="0">
                                  <a:latin typeface="Cambria Math" panose="02040503050406030204" pitchFamily="18" charset="0"/>
                                </a:rPr>
                              </m:ctrlPr>
                            </m:sSubSupPr>
                            <m:e>
                              <m:r>
                                <a:rPr lang="tr-TR" i="0">
                                  <a:latin typeface="Cambria Math" panose="02040503050406030204" pitchFamily="18" charset="0"/>
                                </a:rPr>
                                <m:t>𝒞</m:t>
                              </m:r>
                            </m:e>
                            <m:sub>
                              <m:r>
                                <a:rPr lang="tr-TR" i="1">
                                  <a:latin typeface="Cambria Math" panose="02040503050406030204" pitchFamily="18" charset="0"/>
                                </a:rPr>
                                <m:t>𝑛</m:t>
                              </m:r>
                            </m:sub>
                            <m:sup>
                              <m:d>
                                <m:dPr>
                                  <m:ctrlPr>
                                    <a:rPr lang="tr-TR" i="1">
                                      <a:latin typeface="Cambria Math" panose="02040503050406030204" pitchFamily="18" charset="0"/>
                                    </a:rPr>
                                  </m:ctrlPr>
                                </m:dPr>
                                <m:e>
                                  <m:r>
                                    <a:rPr lang="tr-TR" i="1">
                                      <a:latin typeface="Cambria Math" panose="02040503050406030204" pitchFamily="18" charset="0"/>
                                    </a:rPr>
                                    <m:t>𝑙</m:t>
                                  </m:r>
                                </m:e>
                              </m:d>
                            </m:sup>
                          </m:sSubSup>
                        </m:sub>
                        <m:sup/>
                        <m:e>
                          <m:sSubSup>
                            <m:sSubSupPr>
                              <m:ctrlPr>
                                <a:rPr lang="tr-TR" i="1">
                                  <a:latin typeface="Cambria Math" panose="02040503050406030204" pitchFamily="18" charset="0"/>
                                </a:rPr>
                              </m:ctrlPr>
                            </m:sSubSupPr>
                            <m:e>
                              <m:r>
                                <a:rPr lang="tr-TR" i="1">
                                  <a:latin typeface="Cambria Math" panose="02040503050406030204" pitchFamily="18" charset="0"/>
                                </a:rPr>
                                <m:t>𝜔</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𝑚</m:t>
                              </m:r>
                            </m:sub>
                            <m:sup>
                              <m:d>
                                <m:dPr>
                                  <m:ctrlPr>
                                    <a:rPr lang="tr-TR" i="1">
                                      <a:latin typeface="Cambria Math" panose="02040503050406030204" pitchFamily="18" charset="0"/>
                                    </a:rPr>
                                  </m:ctrlPr>
                                </m:dPr>
                                <m:e>
                                  <m:r>
                                    <a:rPr lang="tr-TR" i="1">
                                      <a:latin typeface="Cambria Math" panose="02040503050406030204" pitchFamily="18" charset="0"/>
                                    </a:rPr>
                                    <m:t>𝑙</m:t>
                                  </m:r>
                                </m:e>
                              </m:d>
                            </m:sup>
                          </m:sSubSup>
                          <m:r>
                            <a:rPr lang="tr-TR" i="0">
                              <a:latin typeface="Cambria Math" panose="02040503050406030204" pitchFamily="18" charset="0"/>
                            </a:rPr>
                            <m:t>⋅</m:t>
                          </m:r>
                          <m:sSubSup>
                            <m:sSubSupPr>
                              <m:ctrlPr>
                                <a:rPr lang="tr-TR" i="1">
                                  <a:latin typeface="Cambria Math" panose="02040503050406030204" pitchFamily="18" charset="0"/>
                                </a:rPr>
                              </m:ctrlPr>
                            </m:sSubSupPr>
                            <m:e>
                              <m:r>
                                <a:rPr lang="tr-TR" i="1">
                                  <a:latin typeface="Cambria Math" panose="02040503050406030204" pitchFamily="18" charset="0"/>
                                </a:rPr>
                                <m:t>𝑎</m:t>
                              </m:r>
                            </m:e>
                            <m:sub>
                              <m:r>
                                <a:rPr lang="tr-TR" i="1">
                                  <a:latin typeface="Cambria Math" panose="02040503050406030204" pitchFamily="18" charset="0"/>
                                </a:rPr>
                                <m:t>𝑚</m:t>
                              </m:r>
                              <m:r>
                                <a:rPr lang="tr-TR" i="0">
                                  <a:latin typeface="Cambria Math" panose="02040503050406030204" pitchFamily="18" charset="0"/>
                                </a:rPr>
                                <m:t>,</m:t>
                              </m:r>
                              <m:r>
                                <a:rPr lang="tr-TR" i="1">
                                  <a:latin typeface="Cambria Math" panose="02040503050406030204" pitchFamily="18" charset="0"/>
                                </a:rPr>
                                <m:t>𝑘</m:t>
                              </m:r>
                            </m:sub>
                            <m:sup>
                              <m:d>
                                <m:dPr>
                                  <m:ctrlPr>
                                    <a:rPr lang="tr-TR" i="1">
                                      <a:latin typeface="Cambria Math" panose="02040503050406030204" pitchFamily="18" charset="0"/>
                                    </a:rPr>
                                  </m:ctrlPr>
                                </m:dPr>
                                <m:e>
                                  <m:r>
                                    <a:rPr lang="tr-TR" i="1">
                                      <a:latin typeface="Cambria Math" panose="02040503050406030204" pitchFamily="18" charset="0"/>
                                    </a:rPr>
                                    <m:t>𝑙</m:t>
                                  </m:r>
                                  <m:r>
                                    <a:rPr lang="tr-TR" i="0">
                                      <a:latin typeface="Cambria Math" panose="02040503050406030204" pitchFamily="18" charset="0"/>
                                    </a:rPr>
                                    <m:t>−1</m:t>
                                  </m:r>
                                </m:e>
                              </m:d>
                              <m:r>
                                <a:rPr lang="tr-TR" i="0">
                                  <a:latin typeface="Cambria Math" panose="02040503050406030204" pitchFamily="18" charset="0"/>
                                </a:rPr>
                                <m:t>,</m:t>
                              </m:r>
                              <m:r>
                                <a:rPr lang="tr-TR" i="1">
                                  <a:latin typeface="Cambria Math" panose="02040503050406030204" pitchFamily="18" charset="0"/>
                                </a:rPr>
                                <m:t>𝑖</m:t>
                              </m:r>
                            </m:sup>
                          </m:sSubSup>
                        </m:e>
                      </m:nary>
                      <m:r>
                        <a:rPr lang="tr-TR" i="0">
                          <a:latin typeface="Cambria Math" panose="02040503050406030204" pitchFamily="18" charset="0"/>
                        </a:rPr>
                        <m:t>, </m:t>
                      </m:r>
                      <m:r>
                        <a:rPr lang="tr-TR" i="1">
                          <a:latin typeface="Cambria Math" panose="02040503050406030204" pitchFamily="18" charset="0"/>
                        </a:rPr>
                        <m:t>𝑙</m:t>
                      </m:r>
                      <m:r>
                        <a:rPr lang="tr-TR" i="0">
                          <a:latin typeface="Cambria Math" panose="02040503050406030204" pitchFamily="18" charset="0"/>
                        </a:rPr>
                        <m:t>=2,3,4</m:t>
                      </m:r>
                    </m:oMath>
                  </m:oMathPara>
                </a14:m>
                <a:endParaRPr lang="tr-TR" dirty="0"/>
              </a:p>
            </p:txBody>
          </p:sp>
        </mc:Choice>
        <mc:Fallback xmlns="">
          <p:sp>
            <p:nvSpPr>
              <p:cNvPr id="17" name="TextBox 16">
                <a:extLst>
                  <a:ext uri="{FF2B5EF4-FFF2-40B4-BE49-F238E27FC236}">
                    <a16:creationId xmlns:a16="http://schemas.microsoft.com/office/drawing/2014/main" id="{7BC3C359-A415-424F-9DE6-5B5DD8B6E6CD}"/>
                  </a:ext>
                </a:extLst>
              </p:cNvPr>
              <p:cNvSpPr txBox="1">
                <a:spLocks noRot="1" noChangeAspect="1" noMove="1" noResize="1" noEditPoints="1" noAdjustHandles="1" noChangeArrowheads="1" noChangeShapeType="1" noTextEdit="1"/>
              </p:cNvSpPr>
              <p:nvPr/>
            </p:nvSpPr>
            <p:spPr>
              <a:xfrm>
                <a:off x="7516498" y="4195094"/>
                <a:ext cx="4172582" cy="1589281"/>
              </a:xfrm>
              <a:prstGeom prst="rect">
                <a:avLst/>
              </a:prstGeom>
              <a:blipFill>
                <a:blip r:embed="rId7"/>
                <a:stretch>
                  <a:fillRect/>
                </a:stretch>
              </a:blipFill>
            </p:spPr>
            <p:txBody>
              <a:bodyPr/>
              <a:lstStyle/>
              <a:p>
                <a:r>
                  <a:rPr lang="tr-TR">
                    <a:noFill/>
                  </a:rPr>
                  <a:t/>
                </a:r>
              </a:p>
            </p:txBody>
          </p:sp>
        </mc:Fallback>
      </mc:AlternateContent>
      <p:pic>
        <p:nvPicPr>
          <p:cNvPr id="6" name="Picture 5">
            <a:extLst>
              <a:ext uri="{FF2B5EF4-FFF2-40B4-BE49-F238E27FC236}">
                <a16:creationId xmlns:a16="http://schemas.microsoft.com/office/drawing/2014/main" id="{FD0210B4-4B9C-3DF4-4760-C34132BA6598}"/>
              </a:ext>
            </a:extLst>
          </p:cNvPr>
          <p:cNvPicPr>
            <a:picLocks noChangeAspect="1"/>
          </p:cNvPicPr>
          <p:nvPr/>
        </p:nvPicPr>
        <p:blipFill>
          <a:blip r:embed="rId8"/>
          <a:stretch>
            <a:fillRect/>
          </a:stretch>
        </p:blipFill>
        <p:spPr>
          <a:xfrm>
            <a:off x="480277" y="1243584"/>
            <a:ext cx="6700085" cy="4858933"/>
          </a:xfrm>
          <a:prstGeom prst="rect">
            <a:avLst/>
          </a:prstGeom>
        </p:spPr>
      </p:pic>
    </p:spTree>
    <p:extLst>
      <p:ext uri="{BB962C8B-B14F-4D97-AF65-F5344CB8AC3E}">
        <p14:creationId xmlns:p14="http://schemas.microsoft.com/office/powerpoint/2010/main" val="42285255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3 OF 4</a:t>
            </a:r>
            <a:endParaRPr lang="en-US" sz="1300" dirty="0"/>
          </a:p>
        </p:txBody>
      </p:sp>
      <p:sp>
        <p:nvSpPr>
          <p:cNvPr id="3" name="Text 1"/>
          <p:cNvSpPr/>
          <p:nvPr/>
        </p:nvSpPr>
        <p:spPr>
          <a:xfrm>
            <a:off x="502920" y="493776"/>
            <a:ext cx="11247120" cy="685800"/>
          </a:xfrm>
          <a:prstGeom prst="rect">
            <a:avLst/>
          </a:prstGeom>
          <a:noFill/>
          <a:ln/>
        </p:spPr>
        <p:txBody>
          <a:bodyPr wrap="square" lIns="0" tIns="0" rIns="0" bIns="0" rtlCol="0" anchor="ctr"/>
          <a:lstStyle/>
          <a:p>
            <a:r>
              <a:rPr lang="en-US" sz="2400" b="1" dirty="0">
                <a:solidFill>
                  <a:srgbClr val="000000"/>
                </a:solidFill>
                <a:latin typeface="Cambria" pitchFamily="34" charset="0"/>
                <a:ea typeface="Cambria" pitchFamily="34" charset="-122"/>
                <a:cs typeface="Cambria" pitchFamily="34" charset="-120"/>
              </a:rPr>
              <a:t>Layer 3 : Concept Space</a:t>
            </a:r>
            <a:r>
              <a:rPr lang="tr-TR" sz="2400" b="1" dirty="0">
                <a:solidFill>
                  <a:srgbClr val="000000"/>
                </a:solidFill>
                <a:latin typeface="Cambria" pitchFamily="34" charset="0"/>
                <a:ea typeface="Cambria" pitchFamily="34" charset="-122"/>
                <a:cs typeface="Cambria" pitchFamily="34" charset="-120"/>
              </a:rPr>
              <a:t> </a:t>
            </a:r>
            <a:r>
              <a:rPr lang="tr-TR" sz="2400" b="1" dirty="0" err="1">
                <a:solidFill>
                  <a:srgbClr val="000000"/>
                </a:solidFill>
                <a:latin typeface="Cambria" pitchFamily="34" charset="0"/>
                <a:ea typeface="Cambria" pitchFamily="34" charset="-122"/>
                <a:cs typeface="Cambria" pitchFamily="34" charset="-120"/>
              </a:rPr>
              <a:t>Levels</a:t>
            </a:r>
            <a:r>
              <a:rPr lang="tr-TR" sz="2400" b="1" dirty="0">
                <a:solidFill>
                  <a:srgbClr val="000000"/>
                </a:solidFill>
                <a:latin typeface="Cambria" pitchFamily="34" charset="0"/>
                <a:ea typeface="Cambria" pitchFamily="34" charset="-122"/>
                <a:cs typeface="Cambria" pitchFamily="34" charset="-120"/>
              </a:rPr>
              <a:t> – </a:t>
            </a:r>
            <a:r>
              <a:rPr lang="tr-TR" sz="2400" b="1" dirty="0" err="1">
                <a:solidFill>
                  <a:srgbClr val="000000"/>
                </a:solidFill>
                <a:latin typeface="Cambria" pitchFamily="34" charset="0"/>
                <a:ea typeface="Cambria" pitchFamily="34" charset="-122"/>
                <a:cs typeface="Cambria" pitchFamily="34" charset="-120"/>
              </a:rPr>
              <a:t>Confidence</a:t>
            </a:r>
            <a:r>
              <a:rPr lang="tr-TR" sz="2400" b="1" dirty="0">
                <a:solidFill>
                  <a:srgbClr val="000000"/>
                </a:solidFill>
                <a:latin typeface="Cambria" pitchFamily="34" charset="0"/>
                <a:ea typeface="Cambria" pitchFamily="34" charset="-122"/>
                <a:cs typeface="Cambria" pitchFamily="34" charset="-120"/>
              </a:rPr>
              <a:t> </a:t>
            </a:r>
            <a:r>
              <a:rPr lang="tr-TR" sz="2400" b="1" dirty="0" err="1">
                <a:solidFill>
                  <a:srgbClr val="000000"/>
                </a:solidFill>
                <a:latin typeface="Cambria" pitchFamily="34" charset="0"/>
                <a:ea typeface="Cambria" pitchFamily="34" charset="-122"/>
                <a:cs typeface="Cambria" pitchFamily="34" charset="-120"/>
              </a:rPr>
              <a:t>Gating</a:t>
            </a:r>
            <a:r>
              <a:rPr lang="en-US" sz="2400" b="1" dirty="0">
                <a:solidFill>
                  <a:srgbClr val="000000"/>
                </a:solidFill>
                <a:latin typeface="Cambria" pitchFamily="34" charset="0"/>
                <a:ea typeface="Cambria" pitchFamily="34" charset="-122"/>
                <a:cs typeface="Cambria" pitchFamily="34" charset="-120"/>
              </a:rPr>
              <a:t> </a:t>
            </a:r>
            <a:r>
              <a:rPr lang="en-US" sz="2400" i="1" dirty="0">
                <a:solidFill>
                  <a:srgbClr val="000000"/>
                </a:solidFill>
                <a:latin typeface="Cambria" pitchFamily="34" charset="0"/>
                <a:ea typeface="Cambria" pitchFamily="34" charset="-122"/>
                <a:cs typeface="Cambria" pitchFamily="34" charset="-120"/>
              </a:rPr>
              <a:t>(</a:t>
            </a:r>
            <a:r>
              <a:rPr lang="en-US" sz="2400" i="1" dirty="0">
                <a:solidFill>
                  <a:srgbClr val="000000"/>
                </a:solidFill>
                <a:latin typeface="Calibri" pitchFamily="34" charset="0"/>
                <a:ea typeface="Calibri" pitchFamily="34" charset="-122"/>
                <a:cs typeface="Calibri" pitchFamily="34" charset="-120"/>
              </a:rPr>
              <a:t>C2 : Epistemic encoding)</a:t>
            </a:r>
            <a:endParaRPr lang="en-US" sz="2400" i="1"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7" name="Text 2"/>
          <p:cNvSpPr/>
          <p:nvPr/>
        </p:nvSpPr>
        <p:spPr>
          <a:xfrm>
            <a:off x="6035040" y="1371600"/>
            <a:ext cx="5715000" cy="640080"/>
          </a:xfrm>
          <a:prstGeom prst="rect">
            <a:avLst/>
          </a:prstGeom>
          <a:noFill/>
          <a:ln/>
        </p:spPr>
        <p:txBody>
          <a:bodyPr wrap="square" lIns="0" tIns="0" rIns="0" bIns="0" rtlCol="0" anchor="t"/>
          <a:lstStyle/>
          <a:p>
            <a:pPr marL="0" indent="0">
              <a:lnSpc>
                <a:spcPct val="105000"/>
              </a:lnSpc>
              <a:buNone/>
            </a:pPr>
            <a:r>
              <a:rPr lang="en-US" sz="1400" b="1" dirty="0">
                <a:solidFill>
                  <a:srgbClr val="222222"/>
                </a:solidFill>
                <a:latin typeface="Calibri" pitchFamily="34" charset="0"/>
                <a:ea typeface="Calibri" pitchFamily="34" charset="-122"/>
                <a:cs typeface="Calibri" pitchFamily="34" charset="-120"/>
              </a:rPr>
              <a:t>• Each activation is gated by its confidence and blended with a persistence prior:</a:t>
            </a:r>
            <a:endParaRPr lang="en-US" sz="1400" dirty="0"/>
          </a:p>
        </p:txBody>
      </p:sp>
      <mc:AlternateContent xmlns:mc="http://schemas.openxmlformats.org/markup-compatibility/2006" xmlns:a14="http://schemas.microsoft.com/office/drawing/2010/main">
        <mc:Choice Requires="a14">
          <p:sp>
            <p:nvSpPr>
              <p:cNvPr id="8" name="Text 3"/>
              <p:cNvSpPr/>
              <p:nvPr/>
            </p:nvSpPr>
            <p:spPr>
              <a:xfrm>
                <a:off x="6035040" y="2057400"/>
                <a:ext cx="5715000" cy="548640"/>
              </a:xfrm>
              <a:prstGeom prst="rect">
                <a:avLst/>
              </a:prstGeom>
              <a:noFill/>
              <a:ln/>
            </p:spPr>
            <p:txBody>
              <a:bodyPr wrap="square" lIns="0" tIns="0" rIns="0" bIns="0" rtlCol="0" anchor="ctr"/>
              <a:lstStyle/>
              <a:p>
                <a:pPr marL="0" indent="0" algn="ctr">
                  <a:buNone/>
                </a:pPr>
                <a14:m>
                  <m:oMathPara xmlns:m="http://schemas.openxmlformats.org/officeDocument/2006/math">
                    <m:oMath>
                      <m:sSubSup>
                        <m:sSubSupPr>
                          <m:ctrlPr>
                            <a:rPr lang="en-US" sz="1400">
                              <a:latin typeface="Cambria Math"/>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𝑒𝑓𝑓</m:t>
                          </m:r>
                          <m:r>
                            <a:rPr lang="en-US" sz="1400">
                              <a:latin typeface="Cambria Math"/>
                            </a:rPr>
                            <m:t>,</m:t>
                          </m:r>
                          <m:r>
                            <a:rPr lang="en-US" sz="1400">
                              <a:latin typeface="Cambria Math"/>
                            </a:rPr>
                            <m:t>𝑖</m:t>
                          </m:r>
                        </m:sup>
                      </m:sSubSup>
                      <m:r>
                        <m:rPr>
                          <m:aln/>
                        </m:rPr>
                        <a:rPr lang="en-US" sz="1400">
                          <a:latin typeface="Cambria Math"/>
                        </a:rPr>
                        <m:t>=</m:t>
                      </m:r>
                      <m:sSubSup>
                        <m:sSubSupPr>
                          <m:ctrlPr>
                            <a:rPr lang="en-US" sz="1400">
                              <a:latin typeface="Cambria Math"/>
                            </a:rPr>
                          </m:ctrlPr>
                        </m:sSubSupPr>
                        <m:e>
                          <m:r>
                            <a:rPr lang="en-US" sz="1400">
                              <a:latin typeface="Cambria Math"/>
                            </a:rPr>
                            <m:t>𝛾</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𝑖</m:t>
                          </m:r>
                        </m:sup>
                      </m:sSubSup>
                      <m:r>
                        <a:rPr lang="en-US" sz="1400">
                          <a:latin typeface="Cambria Math"/>
                        </a:rPr>
                        <m:t>⋅</m:t>
                      </m:r>
                      <m:sSubSup>
                        <m:sSubSupPr>
                          <m:ctrlPr>
                            <a:rPr lang="en-US" sz="1400">
                              <a:latin typeface="Cambria Math"/>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𝑜𝑏𝑠</m:t>
                          </m:r>
                          <m:r>
                            <a:rPr lang="en-US" sz="1400">
                              <a:latin typeface="Cambria Math"/>
                            </a:rPr>
                            <m:t>,</m:t>
                          </m:r>
                          <m:r>
                            <a:rPr lang="en-US" sz="1400">
                              <a:latin typeface="Cambria Math"/>
                            </a:rPr>
                            <m:t>𝑖</m:t>
                          </m:r>
                        </m:sup>
                      </m:sSubSup>
                      <m:r>
                        <a:rPr lang="en-US" sz="1400">
                          <a:latin typeface="Cambria Math"/>
                        </a:rPr>
                        <m:t>+</m:t>
                      </m:r>
                      <m:d>
                        <m:dPr>
                          <m:ctrlPr>
                            <a:rPr lang="en-US" sz="1400">
                              <a:latin typeface="Cambria Math"/>
                            </a:rPr>
                          </m:ctrlPr>
                        </m:dPr>
                        <m:e>
                          <m:r>
                            <a:rPr lang="en-US" sz="1400">
                              <a:latin typeface="Cambria Math"/>
                            </a:rPr>
                            <m:t>1−</m:t>
                          </m:r>
                          <m:sSubSup>
                            <m:sSubSupPr>
                              <m:ctrlPr>
                                <a:rPr lang="en-US" sz="1400">
                                  <a:latin typeface="Cambria Math"/>
                                </a:rPr>
                              </m:ctrlPr>
                            </m:sSubSupPr>
                            <m:e>
                              <m:r>
                                <a:rPr lang="en-US" sz="1400">
                                  <a:latin typeface="Cambria Math"/>
                                </a:rPr>
                                <m:t>𝛾</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𝑖</m:t>
                              </m:r>
                            </m:sup>
                          </m:sSubSup>
                        </m:e>
                      </m:d>
                      <m:r>
                        <a:rPr lang="en-US" sz="1400">
                          <a:latin typeface="Cambria Math"/>
                        </a:rPr>
                        <m:t>⋅</m:t>
                      </m:r>
                      <m:r>
                        <a:rPr lang="en-US" sz="1400">
                          <a:latin typeface="Cambria Math"/>
                        </a:rPr>
                        <m:t>𝜌</m:t>
                      </m:r>
                      <m:r>
                        <a:rPr lang="en-US" sz="1400">
                          <a:latin typeface="Cambria Math"/>
                        </a:rPr>
                        <m:t>⋅</m:t>
                      </m:r>
                      <m:sSubSup>
                        <m:sSubSupPr>
                          <m:ctrlPr>
                            <a:rPr lang="en-US" sz="1400">
                              <a:latin typeface="Cambria Math"/>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r>
                            <a:rPr lang="en-US" sz="1400">
                              <a:latin typeface="Cambria Math"/>
                            </a:rPr>
                            <m:t>−1</m:t>
                          </m:r>
                        </m:sub>
                        <m:sup>
                          <m:r>
                            <a:rPr lang="en-US" sz="1400">
                              <a:latin typeface="Cambria Math"/>
                            </a:rPr>
                            <m:t>𝑒𝑓𝑓</m:t>
                          </m:r>
                          <m:r>
                            <a:rPr lang="en-US" sz="1400">
                              <a:latin typeface="Cambria Math"/>
                            </a:rPr>
                            <m:t>,</m:t>
                          </m:r>
                          <m:r>
                            <a:rPr lang="en-US" sz="1400">
                              <a:latin typeface="Cambria Math"/>
                            </a:rPr>
                            <m:t>𝑖</m:t>
                          </m:r>
                        </m:sup>
                      </m:sSubSup>
                      <m:r>
                        <a:rPr lang="en-US" sz="1400">
                          <a:latin typeface="Cambria Math"/>
                        </a:rPr>
                        <m:t>,</m:t>
                      </m:r>
                    </m:oMath>
                  </m:oMathPara>
                </a14:m>
                <a:endParaRPr lang="en-US" sz="1600" dirty="0"/>
              </a:p>
            </p:txBody>
          </p:sp>
        </mc:Choice>
        <mc:Fallback xmlns="">
          <p:sp>
            <p:nvSpPr>
              <p:cNvPr id="8" name="Text 3"/>
              <p:cNvSpPr>
                <a:spLocks noRot="1" noChangeAspect="1" noMove="1" noResize="1" noEditPoints="1" noAdjustHandles="1" noChangeArrowheads="1" noChangeShapeType="1" noTextEdit="1"/>
              </p:cNvSpPr>
              <p:nvPr/>
            </p:nvSpPr>
            <p:spPr>
              <a:xfrm>
                <a:off x="6035040" y="2057400"/>
                <a:ext cx="5715000" cy="548640"/>
              </a:xfrm>
              <a:prstGeom prst="rect">
                <a:avLst/>
              </a:prstGeom>
              <a:blipFill>
                <a:blip r:embed="rId6"/>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9" name="Text 4"/>
              <p:cNvSpPr/>
              <p:nvPr/>
            </p:nvSpPr>
            <p:spPr>
              <a:xfrm>
                <a:off x="6025896" y="2651760"/>
                <a:ext cx="5715000" cy="457200"/>
              </a:xfrm>
              <a:prstGeom prst="rect">
                <a:avLst/>
              </a:prstGeom>
              <a:noFill/>
              <a:ln/>
            </p:spPr>
            <p:txBody>
              <a:bodyPr wrap="square" lIns="0" tIns="0" rIns="0" bIns="0" rtlCol="0" anchor="ctr"/>
              <a:lstStyle/>
              <a:p>
                <a:pPr marL="0" indent="0" algn="ctr">
                  <a:buNone/>
                </a:pPr>
                <a14:m>
                  <m:oMathPara xmlns:m="http://schemas.openxmlformats.org/officeDocument/2006/math">
                    <m:oMath>
                      <m:sSubSup>
                        <m:sSubSupPr>
                          <m:ctrlPr>
                            <a:rPr lang="en-US" sz="1400">
                              <a:latin typeface="Cambria Math"/>
                            </a:rPr>
                          </m:ctrlPr>
                        </m:sSubSupPr>
                        <m:e>
                          <m:r>
                            <a:rPr lang="en-US" sz="1400">
                              <a:latin typeface="Cambria Math"/>
                            </a:rPr>
                            <m:t>𝛾</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𝑖</m:t>
                          </m:r>
                        </m:sup>
                      </m:sSubSup>
                      <m:r>
                        <m:rPr>
                          <m:aln/>
                        </m:rPr>
                        <a:rPr lang="en-US" sz="1400">
                          <a:latin typeface="Cambria Math"/>
                        </a:rPr>
                        <m:t>=</m:t>
                      </m:r>
                      <m:r>
                        <a:rPr lang="en-US" sz="1400">
                          <a:latin typeface="Cambria Math"/>
                        </a:rPr>
                        <m:t>𝑚𝑖𝑛</m:t>
                      </m:r>
                      <m:r>
                        <a:rPr lang="en-US" sz="1400">
                          <a:latin typeface="Cambria Math"/>
                        </a:rPr>
                        <m:t>⁡{</m:t>
                      </m:r>
                      <m:sSubSup>
                        <m:sSubSupPr>
                          <m:ctrlPr>
                            <a:rPr lang="en-US" sz="1400">
                              <a:latin typeface="Cambria Math"/>
                            </a:rPr>
                          </m:ctrlPr>
                        </m:sSubSupPr>
                        <m:e>
                          <m:r>
                            <a:rPr lang="en-US" sz="1400">
                              <a:latin typeface="Cambria Math"/>
                            </a:rPr>
                            <m:t>𝛾</m:t>
                          </m:r>
                        </m:e>
                        <m:sub>
                          <m:r>
                            <a:rPr lang="en-US" sz="1400">
                              <a:latin typeface="Cambria Math"/>
                            </a:rPr>
                            <m:t>𝑓</m:t>
                          </m:r>
                          <m:r>
                            <a:rPr lang="en-US" sz="1400">
                              <a:latin typeface="Cambria Math"/>
                            </a:rPr>
                            <m:t>,</m:t>
                          </m:r>
                          <m:r>
                            <a:rPr lang="en-US" sz="1400">
                              <a:latin typeface="Cambria Math"/>
                            </a:rPr>
                            <m:t>𝑘</m:t>
                          </m:r>
                        </m:sub>
                        <m:sup>
                          <m:r>
                            <a:rPr lang="en-US" sz="1400">
                              <a:latin typeface="Cambria Math"/>
                            </a:rPr>
                            <m:t>𝑖</m:t>
                          </m:r>
                        </m:sup>
                      </m:sSubSup>
                      <m:r>
                        <a:rPr lang="en-US" sz="1400">
                          <a:latin typeface="Cambria Math"/>
                        </a:rPr>
                        <m:t>:</m:t>
                      </m:r>
                      <m:r>
                        <a:rPr lang="en-US" sz="1400">
                          <a:latin typeface="Cambria Math"/>
                        </a:rPr>
                        <m:t>𝑓</m:t>
                      </m:r>
                      <m:r>
                        <a:rPr lang="en-US" sz="1400">
                          <a:latin typeface="Cambria Math"/>
                        </a:rPr>
                        <m:t>∈</m:t>
                      </m:r>
                      <m:sSub>
                        <m:sSubPr>
                          <m:ctrlPr>
                            <a:rPr lang="en-US" sz="1400">
                              <a:latin typeface="Cambria Math"/>
                            </a:rPr>
                          </m:ctrlPr>
                        </m:sSubPr>
                        <m:e>
                          <m:r>
                            <a:rPr lang="en-US" sz="1400">
                              <a:latin typeface="Cambria Math"/>
                            </a:rPr>
                            <m:t>𝒵</m:t>
                          </m:r>
                        </m:e>
                        <m:sub>
                          <m:r>
                            <a:rPr lang="en-US" sz="1400">
                              <a:latin typeface="Cambria Math"/>
                            </a:rPr>
                            <m:t>𝑛</m:t>
                          </m:r>
                        </m:sub>
                      </m:sSub>
                      <m:r>
                        <a:rPr lang="en-US" sz="1400">
                          <a:latin typeface="Cambria Math"/>
                        </a:rPr>
                        <m:t>}</m:t>
                      </m:r>
                    </m:oMath>
                  </m:oMathPara>
                </a14:m>
                <a:endParaRPr lang="en-US" sz="1600" dirty="0"/>
              </a:p>
            </p:txBody>
          </p:sp>
        </mc:Choice>
        <mc:Fallback xmlns="">
          <p:sp>
            <p:nvSpPr>
              <p:cNvPr id="9" name="Text 4"/>
              <p:cNvSpPr>
                <a:spLocks noRot="1" noChangeAspect="1" noMove="1" noResize="1" noEditPoints="1" noAdjustHandles="1" noChangeArrowheads="1" noChangeShapeType="1" noTextEdit="1"/>
              </p:cNvSpPr>
              <p:nvPr/>
            </p:nvSpPr>
            <p:spPr>
              <a:xfrm>
                <a:off x="6025896" y="2651760"/>
                <a:ext cx="5715000" cy="457200"/>
              </a:xfrm>
              <a:prstGeom prst="rect">
                <a:avLst/>
              </a:prstGeom>
              <a:blipFill>
                <a:blip r:embed="rId7"/>
                <a:stretch>
                  <a:fillRect/>
                </a:stretch>
              </a:blipFill>
              <a:ln/>
            </p:spPr>
            <p:txBody>
              <a:bodyPr/>
              <a:lstStyle/>
              <a:p>
                <a:r>
                  <a:rPr lang="tr-TR">
                    <a:noFill/>
                  </a:rPr>
                  <a:t/>
                </a:r>
              </a:p>
            </p:txBody>
          </p:sp>
        </mc:Fallback>
      </mc:AlternateContent>
      <p:sp>
        <p:nvSpPr>
          <p:cNvPr id="10" name="Text 5"/>
          <p:cNvSpPr/>
          <p:nvPr/>
        </p:nvSpPr>
        <p:spPr>
          <a:xfrm>
            <a:off x="6035040" y="4251960"/>
            <a:ext cx="5715000" cy="2103119"/>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γ = 1: the observation passes through unchanged; γ = 0: full fallback to the decayed previous estimate</a:t>
            </a:r>
            <a:endParaRPr lang="en-US" sz="1400" dirty="0"/>
          </a:p>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When observation is lost, the effective activation decays geometrically (ρ per step) and snaps back on the first fresh report</a:t>
            </a:r>
            <a:endParaRPr lang="en-US" sz="1400" dirty="0"/>
          </a:p>
        </p:txBody>
      </p:sp>
      <p:grpSp>
        <p:nvGrpSpPr>
          <p:cNvPr id="13" name="Group 12">
            <a:extLst>
              <a:ext uri="{FF2B5EF4-FFF2-40B4-BE49-F238E27FC236}">
                <a16:creationId xmlns:a16="http://schemas.microsoft.com/office/drawing/2014/main" id="{07223011-06A3-32C6-C109-E87A40D460AC}"/>
              </a:ext>
            </a:extLst>
          </p:cNvPr>
          <p:cNvGrpSpPr/>
          <p:nvPr/>
        </p:nvGrpSpPr>
        <p:grpSpPr>
          <a:xfrm>
            <a:off x="112515" y="1199403"/>
            <a:ext cx="5913381" cy="5248656"/>
            <a:chOff x="449319" y="1371600"/>
            <a:chExt cx="5319282" cy="4846320"/>
          </a:xfrm>
        </p:grpSpPr>
        <p:pic>
          <p:nvPicPr>
            <p:cNvPr id="6" name="Image 2" descr="/tmp/thx/deck/figs/Figure4_4.png"/>
            <p:cNvPicPr>
              <a:picLocks noChangeAspect="1"/>
            </p:cNvPicPr>
            <p:nvPr/>
          </p:nvPicPr>
          <p:blipFill>
            <a:blip r:embed="rId8"/>
            <a:stretch>
              <a:fillRect/>
            </a:stretch>
          </p:blipFill>
          <p:spPr>
            <a:xfrm>
              <a:off x="449319" y="1371600"/>
              <a:ext cx="5319282" cy="4846320"/>
            </a:xfrm>
            <a:prstGeom prst="rect">
              <a:avLst/>
            </a:prstGeom>
          </p:spPr>
        </p:pic>
        <p:pic>
          <p:nvPicPr>
            <p:cNvPr id="12" name="Image 2" descr="/tmp/thx/deck/figs/Figure4_4.png">
              <a:extLst>
                <a:ext uri="{FF2B5EF4-FFF2-40B4-BE49-F238E27FC236}">
                  <a16:creationId xmlns:a16="http://schemas.microsoft.com/office/drawing/2014/main" id="{16B2BD63-F860-CEFC-22AD-97DF18662C9E}"/>
                </a:ext>
              </a:extLst>
            </p:cNvPr>
            <p:cNvPicPr>
              <a:picLocks noChangeAspect="1"/>
            </p:cNvPicPr>
            <p:nvPr/>
          </p:nvPicPr>
          <p:blipFill>
            <a:blip r:embed="rId8"/>
            <a:srcRect l="6774" t="22327" r="88749" b="73860"/>
            <a:stretch>
              <a:fillRect/>
            </a:stretch>
          </p:blipFill>
          <p:spPr>
            <a:xfrm>
              <a:off x="842962" y="4775835"/>
              <a:ext cx="238125" cy="184785"/>
            </a:xfrm>
            <a:prstGeom prst="rect">
              <a:avLst/>
            </a:prstGeom>
          </p:spPr>
        </p:pic>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3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3 : Activation, Aggregation, and the Confidence Gate</a:t>
            </a:r>
            <a:endParaRPr lang="en-US" sz="2900" dirty="0"/>
          </a:p>
        </p:txBody>
      </p:sp>
      <p:pic>
        <p:nvPicPr>
          <p:cNvPr id="4" name="Image 0" descr="/tmp/thx/deck/figs/Figure4_3.png"/>
          <p:cNvPicPr>
            <a:picLocks noChangeAspect="1"/>
          </p:cNvPicPr>
          <p:nvPr/>
        </p:nvPicPr>
        <p:blipFill>
          <a:blip r:embed="rId3"/>
          <a:stretch>
            <a:fillRect/>
          </a:stretch>
        </p:blipFill>
        <p:spPr>
          <a:xfrm>
            <a:off x="1308735" y="1593146"/>
            <a:ext cx="9044940" cy="3671708"/>
          </a:xfrm>
          <a:prstGeom prst="rect">
            <a:avLst/>
          </a:prstGeom>
        </p:spPr>
      </p:pic>
      <mc:AlternateContent xmlns:mc="http://schemas.openxmlformats.org/markup-compatibility/2006" xmlns:a14="http://schemas.microsoft.com/office/drawing/2010/main">
        <mc:Choice Requires="a14">
          <p:sp>
            <p:nvSpPr>
              <p:cNvPr id="6" name="Equation 42"/>
              <p:cNvSpPr txBox="1"/>
              <p:nvPr/>
            </p:nvSpPr>
            <p:spPr>
              <a:xfrm>
                <a:off x="1308735" y="5669762"/>
                <a:ext cx="3870960" cy="974264"/>
              </a:xfrm>
              <a:prstGeom prst="rect">
                <a:avLst/>
              </a:prstGeom>
              <a:noFill/>
            </p:spPr>
            <p:txBody>
              <a:bodyPr wrap="square" lIns="0" tIns="0" rIns="0" bIns="0" anchor="ctr">
                <a:noAutofit/>
              </a:bodyPr>
              <a:lstStyle/>
              <a:p>
                <a:pPr algn="ctr"/>
                <a14:m>
                  <m:oMathPara xmlns:m="http://schemas.openxmlformats.org/officeDocument/2006/math">
                    <m:oMath>
                      <m:sSubSup>
                        <m:sSubSupPr>
                          <m:ctrlPr>
                            <a:rPr lang="en-US" sz="1400">
                              <a:latin typeface="Cambria Math"/>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(1),</m:t>
                          </m:r>
                          <m:r>
                            <a:rPr lang="en-US" sz="1400">
                              <a:latin typeface="Cambria Math"/>
                            </a:rPr>
                            <m:t>𝑖</m:t>
                          </m:r>
                        </m:sup>
                      </m:sSubSup>
                      <m:r>
                        <m:rPr>
                          <m:aln/>
                        </m:rPr>
                        <a:rPr lang="en-US" sz="1400">
                          <a:latin typeface="Cambria Math"/>
                        </a:rPr>
                        <m:t>=</m:t>
                      </m:r>
                      <m:nary>
                        <m:naryPr>
                          <m:chr m:val="∑"/>
                          <m:limLoc m:val="undOvr"/>
                          <m:ctrlPr>
                            <a:rPr lang="en-US" sz="1400">
                              <a:latin typeface="Cambria Math"/>
                            </a:rPr>
                          </m:ctrlPr>
                        </m:naryPr>
                        <m:sub>
                          <m:r>
                            <a:rPr lang="en-US" sz="1400">
                              <a:latin typeface="Cambria Math"/>
                            </a:rPr>
                            <m:t>𝑓</m:t>
                          </m:r>
                          <m:r>
                            <a:rPr lang="en-US" sz="1400">
                              <a:latin typeface="Cambria Math"/>
                            </a:rPr>
                            <m:t>∈</m:t>
                          </m:r>
                          <m:sSub>
                            <m:sSubPr>
                              <m:ctrlPr>
                                <a:rPr lang="en-US" sz="1400">
                                  <a:latin typeface="Cambria Math"/>
                                </a:rPr>
                              </m:ctrlPr>
                            </m:sSubPr>
                            <m:e>
                              <m:r>
                                <a:rPr lang="en-US" sz="1400">
                                  <a:latin typeface="Cambria Math"/>
                                </a:rPr>
                                <m:t>𝒵</m:t>
                              </m:r>
                            </m:e>
                            <m:sub>
                              <m:r>
                                <a:rPr lang="en-US" sz="1400">
                                  <a:latin typeface="Cambria Math"/>
                                </a:rPr>
                                <m:t>𝑛</m:t>
                              </m:r>
                            </m:sub>
                          </m:sSub>
                        </m:sub>
                        <m:sup/>
                        <m:e>
                          <m:sSub>
                            <m:sSubPr>
                              <m:ctrlPr>
                                <a:rPr lang="en-US" sz="1400">
                                  <a:latin typeface="Cambria Math"/>
                                </a:rPr>
                              </m:ctrlPr>
                            </m:sSubPr>
                            <m:e>
                              <m:r>
                                <a:rPr lang="en-US" sz="1400">
                                  <a:latin typeface="Cambria Math"/>
                                </a:rPr>
                                <m:t>𝜔</m:t>
                              </m:r>
                            </m:e>
                            <m:sub>
                              <m:r>
                                <a:rPr lang="en-US" sz="1400">
                                  <a:latin typeface="Cambria Math"/>
                                </a:rPr>
                                <m:t>𝑛</m:t>
                              </m:r>
                              <m:r>
                                <a:rPr lang="en-US" sz="1400">
                                  <a:latin typeface="Cambria Math"/>
                                </a:rPr>
                                <m:t>,</m:t>
                              </m:r>
                              <m:r>
                                <a:rPr lang="en-US" sz="1400">
                                  <a:latin typeface="Cambria Math"/>
                                </a:rPr>
                                <m:t>𝑓</m:t>
                              </m:r>
                            </m:sub>
                          </m:sSub>
                          <m:r>
                            <a:rPr lang="en-US" sz="1400">
                              <a:latin typeface="Cambria Math"/>
                            </a:rPr>
                            <m:t>⋅</m:t>
                          </m:r>
                          <m:sSub>
                            <m:sSubPr>
                              <m:ctrlPr>
                                <a:rPr lang="en-US" sz="1400">
                                  <a:latin typeface="Cambria Math"/>
                                </a:rPr>
                              </m:ctrlPr>
                            </m:sSubPr>
                            <m:e>
                              <m:r>
                                <a:rPr lang="en-US" sz="1400">
                                  <a:latin typeface="Cambria Math"/>
                                </a:rPr>
                                <m:t>𝜇</m:t>
                              </m:r>
                            </m:e>
                            <m:sub>
                              <m:sSub>
                                <m:sSubPr>
                                  <m:ctrlPr>
                                    <a:rPr lang="en-US" sz="1400">
                                      <a:latin typeface="Cambria Math"/>
                                    </a:rPr>
                                  </m:ctrlPr>
                                </m:sSubPr>
                                <m:e>
                                  <m:r>
                                    <a:rPr lang="en-US" sz="1400">
                                      <a:latin typeface="Cambria Math"/>
                                    </a:rPr>
                                    <m:t>𝒜</m:t>
                                  </m:r>
                                </m:e>
                                <m:sub>
                                  <m:r>
                                    <a:rPr lang="en-US" sz="1400">
                                      <a:latin typeface="Cambria Math"/>
                                    </a:rPr>
                                    <m:t>𝑛</m:t>
                                  </m:r>
                                  <m:r>
                                    <a:rPr lang="en-US" sz="1400">
                                      <a:latin typeface="Cambria Math"/>
                                    </a:rPr>
                                    <m:t>,</m:t>
                                  </m:r>
                                  <m:r>
                                    <a:rPr lang="en-US" sz="1400">
                                      <a:latin typeface="Cambria Math"/>
                                    </a:rPr>
                                    <m:t>𝑓</m:t>
                                  </m:r>
                                </m:sub>
                              </m:sSub>
                            </m:sub>
                          </m:sSub>
                          <m:d>
                            <m:dPr>
                              <m:ctrlPr>
                                <a:rPr lang="en-US" sz="1400" i="1">
                                  <a:latin typeface="Cambria Math" panose="02040503050406030204" pitchFamily="18" charset="0"/>
                                </a:rPr>
                              </m:ctrlPr>
                            </m:dPr>
                            <m:e>
                              <m:sSubSup>
                                <m:sSubSupPr>
                                  <m:ctrlPr>
                                    <a:rPr lang="en-US" sz="1400">
                                      <a:latin typeface="Cambria Math"/>
                                    </a:rPr>
                                  </m:ctrlPr>
                                </m:sSubSupPr>
                                <m:e>
                                  <m:r>
                                    <a:rPr lang="en-US" sz="1400">
                                      <a:latin typeface="Cambria Math"/>
                                    </a:rPr>
                                    <m:t>𝑧</m:t>
                                  </m:r>
                                </m:e>
                                <m:sub>
                                  <m:r>
                                    <a:rPr lang="en-US" sz="1400">
                                      <a:latin typeface="Cambria Math"/>
                                    </a:rPr>
                                    <m:t>𝑓</m:t>
                                  </m:r>
                                  <m:r>
                                    <a:rPr lang="en-US" sz="1400">
                                      <a:latin typeface="Cambria Math"/>
                                    </a:rPr>
                                    <m:t>,</m:t>
                                  </m:r>
                                  <m:r>
                                    <a:rPr lang="en-US" sz="1400">
                                      <a:latin typeface="Cambria Math"/>
                                    </a:rPr>
                                    <m:t>𝑘</m:t>
                                  </m:r>
                                </m:sub>
                                <m:sup>
                                  <m:r>
                                    <a:rPr lang="en-US" sz="1400">
                                      <a:latin typeface="Cambria Math"/>
                                    </a:rPr>
                                    <m:t>𝑖</m:t>
                                  </m:r>
                                </m:sup>
                              </m:sSubSup>
                            </m:e>
                          </m:d>
                        </m:e>
                      </m:nary>
                    </m:oMath>
                  </m:oMathPara>
                </a14:m>
                <a:endParaRPr sz="1400" dirty="0"/>
              </a:p>
              <a:p>
                <a:pPr algn="ctr"/>
                <a14:m>
                  <m:oMathPara xmlns:m="http://schemas.openxmlformats.org/officeDocument/2006/math">
                    <m:oMath>
                      <m:sSubSup>
                        <m:sSubSupPr>
                          <m:ctrlPr>
                            <a:rPr lang="en-US" sz="1400">
                              <a:latin typeface="Cambria Math"/>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m:t>
                          </m:r>
                          <m:r>
                            <a:rPr lang="en-US" sz="1400">
                              <a:latin typeface="Cambria Math"/>
                            </a:rPr>
                            <m:t>𝑙</m:t>
                          </m:r>
                          <m:r>
                            <a:rPr lang="en-US" sz="1400">
                              <a:latin typeface="Cambria Math"/>
                            </a:rPr>
                            <m:t>),</m:t>
                          </m:r>
                          <m:r>
                            <a:rPr lang="en-US" sz="1400">
                              <a:latin typeface="Cambria Math"/>
                            </a:rPr>
                            <m:t>𝑖</m:t>
                          </m:r>
                        </m:sup>
                      </m:sSubSup>
                      <m:r>
                        <m:rPr>
                          <m:aln/>
                        </m:rPr>
                        <a:rPr lang="en-US" sz="1400">
                          <a:latin typeface="Cambria Math"/>
                        </a:rPr>
                        <m:t>=</m:t>
                      </m:r>
                      <m:nary>
                        <m:naryPr>
                          <m:chr m:val="∑"/>
                          <m:limLoc m:val="undOvr"/>
                          <m:ctrlPr>
                            <a:rPr lang="en-US" sz="1400">
                              <a:latin typeface="Cambria Math"/>
                            </a:rPr>
                          </m:ctrlPr>
                        </m:naryPr>
                        <m:sub>
                          <m:r>
                            <a:rPr lang="en-US" sz="1400">
                              <a:latin typeface="Cambria Math"/>
                            </a:rPr>
                            <m:t>𝑚</m:t>
                          </m:r>
                          <m:r>
                            <a:rPr lang="en-US" sz="1400">
                              <a:latin typeface="Cambria Math"/>
                            </a:rPr>
                            <m:t>∈</m:t>
                          </m:r>
                          <m:sSubSup>
                            <m:sSubSupPr>
                              <m:ctrlPr>
                                <a:rPr lang="en-US" sz="1400">
                                  <a:latin typeface="Cambria Math"/>
                                </a:rPr>
                              </m:ctrlPr>
                            </m:sSubSupPr>
                            <m:e>
                              <m:r>
                                <a:rPr lang="en-US" sz="1400">
                                  <a:latin typeface="Cambria Math"/>
                                </a:rPr>
                                <m:t>𝒞</m:t>
                              </m:r>
                            </m:e>
                            <m:sub>
                              <m:r>
                                <a:rPr lang="en-US" sz="1400">
                                  <a:latin typeface="Cambria Math"/>
                                </a:rPr>
                                <m:t>𝑛</m:t>
                              </m:r>
                            </m:sub>
                            <m:sup>
                              <m:r>
                                <a:rPr lang="en-US" sz="1400">
                                  <a:latin typeface="Cambria Math"/>
                                </a:rPr>
                                <m:t>(</m:t>
                              </m:r>
                              <m:r>
                                <a:rPr lang="en-US" sz="1400">
                                  <a:latin typeface="Cambria Math"/>
                                </a:rPr>
                                <m:t>𝑙</m:t>
                              </m:r>
                              <m:r>
                                <a:rPr lang="en-US" sz="1400">
                                  <a:latin typeface="Cambria Math"/>
                                </a:rPr>
                                <m:t>)</m:t>
                              </m:r>
                            </m:sup>
                          </m:sSubSup>
                        </m:sub>
                        <m:sup/>
                        <m:e>
                          <m:sSubSup>
                            <m:sSubSupPr>
                              <m:ctrlPr>
                                <a:rPr lang="en-US" sz="1400">
                                  <a:latin typeface="Cambria Math"/>
                                </a:rPr>
                              </m:ctrlPr>
                            </m:sSubSupPr>
                            <m:e>
                              <m:r>
                                <a:rPr lang="en-US" sz="1400">
                                  <a:latin typeface="Cambria Math"/>
                                </a:rPr>
                                <m:t>𝜔</m:t>
                              </m:r>
                            </m:e>
                            <m:sub>
                              <m:r>
                                <a:rPr lang="en-US" sz="1400">
                                  <a:latin typeface="Cambria Math"/>
                                </a:rPr>
                                <m:t>𝑛</m:t>
                              </m:r>
                              <m:r>
                                <a:rPr lang="en-US" sz="1400">
                                  <a:latin typeface="Cambria Math"/>
                                </a:rPr>
                                <m:t>,</m:t>
                              </m:r>
                              <m:r>
                                <a:rPr lang="en-US" sz="1400">
                                  <a:latin typeface="Cambria Math"/>
                                </a:rPr>
                                <m:t>𝑚</m:t>
                              </m:r>
                            </m:sub>
                            <m:sup>
                              <m:r>
                                <a:rPr lang="en-US" sz="1400">
                                  <a:latin typeface="Cambria Math"/>
                                </a:rPr>
                                <m:t>(</m:t>
                              </m:r>
                              <m:r>
                                <a:rPr lang="en-US" sz="1400">
                                  <a:latin typeface="Cambria Math"/>
                                </a:rPr>
                                <m:t>𝑙</m:t>
                              </m:r>
                              <m:r>
                                <a:rPr lang="en-US" sz="1400">
                                  <a:latin typeface="Cambria Math"/>
                                </a:rPr>
                                <m:t>)</m:t>
                              </m:r>
                            </m:sup>
                          </m:sSubSup>
                          <m:r>
                            <a:rPr lang="en-US" sz="1400">
                              <a:latin typeface="Cambria Math"/>
                            </a:rPr>
                            <m:t>⋅</m:t>
                          </m:r>
                          <m:sSubSup>
                            <m:sSubSupPr>
                              <m:ctrlPr>
                                <a:rPr lang="en-US" sz="1400">
                                  <a:latin typeface="Cambria Math"/>
                                </a:rPr>
                              </m:ctrlPr>
                            </m:sSubSupPr>
                            <m:e>
                              <m:r>
                                <a:rPr lang="en-US" sz="1400">
                                  <a:latin typeface="Cambria Math"/>
                                </a:rPr>
                                <m:t>𝑎</m:t>
                              </m:r>
                            </m:e>
                            <m:sub>
                              <m:r>
                                <a:rPr lang="en-US" sz="1400">
                                  <a:latin typeface="Cambria Math"/>
                                </a:rPr>
                                <m:t>𝑚</m:t>
                              </m:r>
                              <m:r>
                                <a:rPr lang="en-US" sz="1400">
                                  <a:latin typeface="Cambria Math"/>
                                </a:rPr>
                                <m:t>,</m:t>
                              </m:r>
                              <m:r>
                                <a:rPr lang="en-US" sz="1400">
                                  <a:latin typeface="Cambria Math"/>
                                </a:rPr>
                                <m:t>𝑘</m:t>
                              </m:r>
                            </m:sub>
                            <m:sup>
                              <m:r>
                                <a:rPr lang="en-US" sz="1400">
                                  <a:latin typeface="Cambria Math"/>
                                </a:rPr>
                                <m:t>(</m:t>
                              </m:r>
                              <m:r>
                                <a:rPr lang="en-US" sz="1400">
                                  <a:latin typeface="Cambria Math"/>
                                </a:rPr>
                                <m:t>𝑙</m:t>
                              </m:r>
                              <m:r>
                                <a:rPr lang="en-US" sz="1400">
                                  <a:latin typeface="Cambria Math"/>
                                </a:rPr>
                                <m:t>−1),</m:t>
                              </m:r>
                              <m:r>
                                <a:rPr lang="en-US" sz="1400">
                                  <a:latin typeface="Cambria Math"/>
                                </a:rPr>
                                <m:t>𝑖</m:t>
                              </m:r>
                            </m:sup>
                          </m:sSubSup>
                        </m:e>
                      </m:nary>
                      <m:r>
                        <a:rPr lang="en-US" sz="1400">
                          <a:latin typeface="Cambria Math"/>
                        </a:rPr>
                        <m:t>, </m:t>
                      </m:r>
                      <m:r>
                        <a:rPr lang="en-US" sz="1400">
                          <a:latin typeface="Cambria Math"/>
                        </a:rPr>
                        <m:t>𝑙</m:t>
                      </m:r>
                      <m:r>
                        <a:rPr lang="en-US" sz="1400">
                          <a:latin typeface="Cambria Math"/>
                        </a:rPr>
                        <m:t>=2,3,4</m:t>
                      </m:r>
                    </m:oMath>
                  </m:oMathPara>
                </a14:m>
                <a:endParaRPr sz="1400" dirty="0"/>
              </a:p>
            </p:txBody>
          </p:sp>
        </mc:Choice>
        <mc:Fallback xmlns="">
          <p:sp>
            <p:nvSpPr>
              <p:cNvPr id="6" name="Equation 42"/>
              <p:cNvSpPr txBox="1">
                <a:spLocks noRot="1" noChangeAspect="1" noMove="1" noResize="1" noEditPoints="1" noAdjustHandles="1" noChangeArrowheads="1" noChangeShapeType="1" noTextEdit="1"/>
              </p:cNvSpPr>
              <p:nvPr/>
            </p:nvSpPr>
            <p:spPr>
              <a:xfrm>
                <a:off x="1308735" y="5669762"/>
                <a:ext cx="3870960" cy="974264"/>
              </a:xfrm>
              <a:prstGeom prst="rect">
                <a:avLst/>
              </a:prstGeom>
              <a:blipFill>
                <a:blip r:embed="rId4"/>
                <a:stretch>
                  <a:fillRect t="-1875" b="-20625"/>
                </a:stretch>
              </a:blipFill>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7" name="Equation 43"/>
              <p:cNvSpPr txBox="1"/>
              <p:nvPr/>
            </p:nvSpPr>
            <p:spPr>
              <a:xfrm>
                <a:off x="5975985" y="5871036"/>
                <a:ext cx="3779520" cy="575353"/>
              </a:xfrm>
              <a:prstGeom prst="rect">
                <a:avLst/>
              </a:prstGeom>
              <a:noFill/>
            </p:spPr>
            <p:txBody>
              <a:bodyPr wrap="square" lIns="0" tIns="0" rIns="0" bIns="0" anchor="ctr">
                <a:noAutofit/>
              </a:bodyPr>
              <a:lstStyle/>
              <a:p>
                <a:pPr algn="ctr"/>
                <a14:m>
                  <m:oMathPara xmlns:m="http://schemas.openxmlformats.org/officeDocument/2006/math">
                    <m:oMath>
                      <m:sSubSup>
                        <m:sSubSupPr>
                          <m:ctrlPr>
                            <a:rPr lang="en-US" sz="1400">
                              <a:latin typeface="Cambria Math"/>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𝑒𝑓𝑓</m:t>
                          </m:r>
                          <m:r>
                            <a:rPr lang="en-US" sz="1400">
                              <a:latin typeface="Cambria Math"/>
                            </a:rPr>
                            <m:t>,</m:t>
                          </m:r>
                          <m:r>
                            <a:rPr lang="en-US" sz="1400">
                              <a:latin typeface="Cambria Math"/>
                            </a:rPr>
                            <m:t>𝑖</m:t>
                          </m:r>
                        </m:sup>
                      </m:sSubSup>
                      <m:r>
                        <m:rPr>
                          <m:aln/>
                        </m:rPr>
                        <a:rPr lang="en-US" sz="1400">
                          <a:latin typeface="Cambria Math"/>
                        </a:rPr>
                        <m:t>=</m:t>
                      </m:r>
                      <m:sSubSup>
                        <m:sSubSupPr>
                          <m:ctrlPr>
                            <a:rPr lang="en-US" sz="1400">
                              <a:latin typeface="Cambria Math"/>
                            </a:rPr>
                          </m:ctrlPr>
                        </m:sSubSupPr>
                        <m:e>
                          <m:r>
                            <a:rPr lang="en-US" sz="1400">
                              <a:latin typeface="Cambria Math"/>
                            </a:rPr>
                            <m:t>𝛾</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𝑖</m:t>
                          </m:r>
                        </m:sup>
                      </m:sSubSup>
                      <m:r>
                        <a:rPr lang="en-US" sz="1400">
                          <a:latin typeface="Cambria Math"/>
                        </a:rPr>
                        <m:t>⋅</m:t>
                      </m:r>
                      <m:sSubSup>
                        <m:sSubSupPr>
                          <m:ctrlPr>
                            <a:rPr lang="en-US" sz="1400">
                              <a:latin typeface="Cambria Math"/>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𝑜𝑏𝑠</m:t>
                          </m:r>
                          <m:r>
                            <a:rPr lang="en-US" sz="1400">
                              <a:latin typeface="Cambria Math"/>
                            </a:rPr>
                            <m:t>,</m:t>
                          </m:r>
                          <m:r>
                            <a:rPr lang="en-US" sz="1400">
                              <a:latin typeface="Cambria Math"/>
                            </a:rPr>
                            <m:t>𝑖</m:t>
                          </m:r>
                        </m:sup>
                      </m:sSubSup>
                      <m:r>
                        <a:rPr lang="en-US" sz="1400">
                          <a:latin typeface="Cambria Math"/>
                        </a:rPr>
                        <m:t>+</m:t>
                      </m:r>
                      <m:d>
                        <m:dPr>
                          <m:ctrlPr>
                            <a:rPr lang="en-US" sz="1400">
                              <a:latin typeface="Cambria Math"/>
                            </a:rPr>
                          </m:ctrlPr>
                        </m:dPr>
                        <m:e>
                          <m:r>
                            <a:rPr lang="en-US" sz="1400">
                              <a:latin typeface="Cambria Math"/>
                            </a:rPr>
                            <m:t>1−</m:t>
                          </m:r>
                          <m:sSubSup>
                            <m:sSubSupPr>
                              <m:ctrlPr>
                                <a:rPr lang="en-US" sz="1400">
                                  <a:latin typeface="Cambria Math"/>
                                </a:rPr>
                              </m:ctrlPr>
                            </m:sSubSupPr>
                            <m:e>
                              <m:r>
                                <a:rPr lang="en-US" sz="1400">
                                  <a:latin typeface="Cambria Math"/>
                                </a:rPr>
                                <m:t>𝛾</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𝑖</m:t>
                              </m:r>
                            </m:sup>
                          </m:sSubSup>
                        </m:e>
                      </m:d>
                      <m:r>
                        <a:rPr lang="en-US" sz="1400">
                          <a:latin typeface="Cambria Math"/>
                        </a:rPr>
                        <m:t>⋅</m:t>
                      </m:r>
                      <m:r>
                        <a:rPr lang="en-US" sz="1400">
                          <a:latin typeface="Cambria Math"/>
                        </a:rPr>
                        <m:t>𝜌</m:t>
                      </m:r>
                      <m:r>
                        <a:rPr lang="en-US" sz="1400">
                          <a:latin typeface="Cambria Math"/>
                        </a:rPr>
                        <m:t>⋅</m:t>
                      </m:r>
                      <m:sSubSup>
                        <m:sSubSupPr>
                          <m:ctrlPr>
                            <a:rPr lang="en-US" sz="1400">
                              <a:latin typeface="Cambria Math"/>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r>
                            <a:rPr lang="en-US" sz="1400">
                              <a:latin typeface="Cambria Math"/>
                            </a:rPr>
                            <m:t>−1</m:t>
                          </m:r>
                        </m:sub>
                        <m:sup>
                          <m:r>
                            <a:rPr lang="en-US" sz="1400">
                              <a:latin typeface="Cambria Math"/>
                            </a:rPr>
                            <m:t>𝑒𝑓𝑓</m:t>
                          </m:r>
                          <m:r>
                            <a:rPr lang="en-US" sz="1400">
                              <a:latin typeface="Cambria Math"/>
                            </a:rPr>
                            <m:t>,</m:t>
                          </m:r>
                          <m:r>
                            <a:rPr lang="en-US" sz="1400">
                              <a:latin typeface="Cambria Math"/>
                            </a:rPr>
                            <m:t>𝑖</m:t>
                          </m:r>
                        </m:sup>
                      </m:sSubSup>
                      <m:r>
                        <a:rPr lang="en-US" sz="1400">
                          <a:latin typeface="Cambria Math"/>
                        </a:rPr>
                        <m:t>,</m:t>
                      </m:r>
                    </m:oMath>
                  </m:oMathPara>
                </a14:m>
                <a:endParaRPr sz="2000" dirty="0"/>
              </a:p>
              <a:p>
                <a:pPr algn="ctr"/>
                <a14:m>
                  <m:oMathPara xmlns:m="http://schemas.openxmlformats.org/officeDocument/2006/math">
                    <m:oMath>
                      <m:sSubSup>
                        <m:sSubSupPr>
                          <m:ctrlPr>
                            <a:rPr lang="en-US" sz="1400">
                              <a:latin typeface="Cambria Math"/>
                            </a:rPr>
                          </m:ctrlPr>
                        </m:sSubSupPr>
                        <m:e>
                          <m:r>
                            <a:rPr lang="en-US" sz="1400">
                              <a:latin typeface="Cambria Math"/>
                            </a:rPr>
                            <m:t>𝛾</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𝑖</m:t>
                          </m:r>
                        </m:sup>
                      </m:sSubSup>
                      <m:r>
                        <m:rPr>
                          <m:aln/>
                        </m:rPr>
                        <a:rPr lang="en-US" sz="1400">
                          <a:latin typeface="Cambria Math"/>
                        </a:rPr>
                        <m:t>=</m:t>
                      </m:r>
                      <m:r>
                        <a:rPr lang="en-US" sz="1400">
                          <a:latin typeface="Cambria Math"/>
                        </a:rPr>
                        <m:t>𝑚𝑖𝑛</m:t>
                      </m:r>
                      <m:r>
                        <a:rPr lang="en-US" sz="1400">
                          <a:latin typeface="Cambria Math"/>
                        </a:rPr>
                        <m:t>⁡{</m:t>
                      </m:r>
                      <m:sSubSup>
                        <m:sSubSupPr>
                          <m:ctrlPr>
                            <a:rPr lang="en-US" sz="1400">
                              <a:latin typeface="Cambria Math"/>
                            </a:rPr>
                          </m:ctrlPr>
                        </m:sSubSupPr>
                        <m:e>
                          <m:r>
                            <a:rPr lang="en-US" sz="1400">
                              <a:latin typeface="Cambria Math"/>
                            </a:rPr>
                            <m:t>𝛾</m:t>
                          </m:r>
                        </m:e>
                        <m:sub>
                          <m:r>
                            <a:rPr lang="en-US" sz="1400">
                              <a:latin typeface="Cambria Math"/>
                            </a:rPr>
                            <m:t>𝑓</m:t>
                          </m:r>
                          <m:r>
                            <a:rPr lang="en-US" sz="1400">
                              <a:latin typeface="Cambria Math"/>
                            </a:rPr>
                            <m:t>,</m:t>
                          </m:r>
                          <m:r>
                            <a:rPr lang="en-US" sz="1400">
                              <a:latin typeface="Cambria Math"/>
                            </a:rPr>
                            <m:t>𝑘</m:t>
                          </m:r>
                        </m:sub>
                        <m:sup>
                          <m:r>
                            <a:rPr lang="en-US" sz="1400">
                              <a:latin typeface="Cambria Math"/>
                            </a:rPr>
                            <m:t>𝑖</m:t>
                          </m:r>
                        </m:sup>
                      </m:sSubSup>
                      <m:r>
                        <a:rPr lang="en-US" sz="1400">
                          <a:latin typeface="Cambria Math"/>
                        </a:rPr>
                        <m:t>:</m:t>
                      </m:r>
                      <m:r>
                        <a:rPr lang="en-US" sz="1400">
                          <a:latin typeface="Cambria Math"/>
                        </a:rPr>
                        <m:t>𝑓</m:t>
                      </m:r>
                      <m:r>
                        <a:rPr lang="en-US" sz="1400">
                          <a:latin typeface="Cambria Math"/>
                        </a:rPr>
                        <m:t>∈</m:t>
                      </m:r>
                      <m:sSub>
                        <m:sSubPr>
                          <m:ctrlPr>
                            <a:rPr lang="en-US" sz="1400">
                              <a:latin typeface="Cambria Math"/>
                            </a:rPr>
                          </m:ctrlPr>
                        </m:sSubPr>
                        <m:e>
                          <m:r>
                            <a:rPr lang="en-US" sz="1400">
                              <a:latin typeface="Cambria Math"/>
                            </a:rPr>
                            <m:t>𝒵</m:t>
                          </m:r>
                        </m:e>
                        <m:sub>
                          <m:r>
                            <a:rPr lang="en-US" sz="1400">
                              <a:latin typeface="Cambria Math"/>
                            </a:rPr>
                            <m:t>𝑛</m:t>
                          </m:r>
                        </m:sub>
                      </m:sSub>
                      <m:r>
                        <a:rPr lang="en-US" sz="1400">
                          <a:latin typeface="Cambria Math"/>
                        </a:rPr>
                        <m:t>}</m:t>
                      </m:r>
                    </m:oMath>
                  </m:oMathPara>
                </a14:m>
                <a:endParaRPr sz="2000" dirty="0"/>
              </a:p>
            </p:txBody>
          </p:sp>
        </mc:Choice>
        <mc:Fallback xmlns="">
          <p:sp>
            <p:nvSpPr>
              <p:cNvPr id="7" name="Equation 43"/>
              <p:cNvSpPr txBox="1">
                <a:spLocks noRot="1" noChangeAspect="1" noMove="1" noResize="1" noEditPoints="1" noAdjustHandles="1" noChangeArrowheads="1" noChangeShapeType="1" noTextEdit="1"/>
              </p:cNvSpPr>
              <p:nvPr/>
            </p:nvSpPr>
            <p:spPr>
              <a:xfrm>
                <a:off x="5975985" y="5871036"/>
                <a:ext cx="3779520" cy="575353"/>
              </a:xfrm>
              <a:prstGeom prst="rect">
                <a:avLst/>
              </a:prstGeom>
              <a:blipFill>
                <a:blip r:embed="rId5"/>
                <a:stretch>
                  <a:fillRect t="-2128" b="-17021"/>
                </a:stretch>
              </a:blipFill>
            </p:spPr>
            <p:txBody>
              <a:bodyPr/>
              <a:lstStyle/>
              <a:p>
                <a:r>
                  <a:rPr lang="tr-TR">
                    <a:noFill/>
                  </a:rPr>
                  <a:t> </a:t>
                </a:r>
              </a:p>
            </p:txBody>
          </p:sp>
        </mc:Fallback>
      </mc:AlternateContent>
      <p:pic>
        <p:nvPicPr>
          <p:cNvPr id="9" name="Image 3" descr="/tmp/thx/deck/figs/metu_emblem.png"/>
          <p:cNvPicPr>
            <a:picLocks noChangeAspect="1"/>
          </p:cNvPicPr>
          <p:nvPr/>
        </p:nvPicPr>
        <p:blipFill>
          <a:blip r:embed="rId6"/>
          <a:stretch>
            <a:fillRect/>
          </a:stretch>
        </p:blipFill>
        <p:spPr>
          <a:xfrm>
            <a:off x="10716768" y="184607"/>
            <a:ext cx="475488" cy="398882"/>
          </a:xfrm>
          <a:prstGeom prst="rect">
            <a:avLst/>
          </a:prstGeom>
        </p:spPr>
      </p:pic>
      <p:pic>
        <p:nvPicPr>
          <p:cNvPr id="10" name="Image 4" descr="/tmp/thx/deck/figs/eee_logo.png"/>
          <p:cNvPicPr>
            <a:picLocks noChangeAspect="1"/>
          </p:cNvPicPr>
          <p:nvPr/>
        </p:nvPicPr>
        <p:blipFill>
          <a:blip r:embed="rId7"/>
          <a:stretch>
            <a:fillRect/>
          </a:stretch>
        </p:blipFill>
        <p:spPr>
          <a:xfrm>
            <a:off x="11265408" y="186217"/>
            <a:ext cx="475488" cy="39566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3 OF 4</a:t>
            </a:r>
            <a:endParaRPr lang="en-US" sz="1300" dirty="0"/>
          </a:p>
        </p:txBody>
      </p:sp>
      <p:sp>
        <p:nvSpPr>
          <p:cNvPr id="3" name="Text 1"/>
          <p:cNvSpPr/>
          <p:nvPr/>
        </p:nvSpPr>
        <p:spPr>
          <a:xfrm>
            <a:off x="502920" y="493776"/>
            <a:ext cx="11247120" cy="685800"/>
          </a:xfrm>
          <a:prstGeom prst="rect">
            <a:avLst/>
          </a:prstGeom>
          <a:noFill/>
          <a:ln/>
        </p:spPr>
        <p:txBody>
          <a:bodyPr wrap="square" lIns="0" tIns="0" rIns="0" bIns="0" rtlCol="0" anchor="ctr"/>
          <a:lstStyle/>
          <a:p>
            <a:pPr marL="0" indent="0">
              <a:buNone/>
            </a:pPr>
            <a:r>
              <a:rPr lang="en-US" sz="2400" b="1" dirty="0">
                <a:solidFill>
                  <a:srgbClr val="000000"/>
                </a:solidFill>
                <a:latin typeface="Cambria" pitchFamily="34" charset="0"/>
                <a:ea typeface="Cambria" pitchFamily="34" charset="-122"/>
                <a:cs typeface="Cambria" pitchFamily="34" charset="-120"/>
              </a:rPr>
              <a:t>Layer 3 : Concept Space</a:t>
            </a:r>
            <a:r>
              <a:rPr lang="tr-TR" sz="2400" b="1" dirty="0">
                <a:solidFill>
                  <a:srgbClr val="000000"/>
                </a:solidFill>
                <a:latin typeface="Cambria" pitchFamily="34" charset="0"/>
                <a:ea typeface="Cambria" pitchFamily="34" charset="-122"/>
                <a:cs typeface="Cambria" pitchFamily="34" charset="-120"/>
              </a:rPr>
              <a:t> – </a:t>
            </a:r>
            <a:r>
              <a:rPr lang="en-US" sz="2400" b="1" dirty="0">
                <a:solidFill>
                  <a:srgbClr val="000000"/>
                </a:solidFill>
                <a:latin typeface="Cambria" pitchFamily="34" charset="0"/>
                <a:ea typeface="Cambria" pitchFamily="34" charset="-122"/>
                <a:cs typeface="Cambria" pitchFamily="34" charset="-120"/>
              </a:rPr>
              <a:t>Fuzzy Inference</a:t>
            </a:r>
            <a:endParaRPr lang="en-US" sz="24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12" name="Shape 2">
            <a:extLst>
              <a:ext uri="{FF2B5EF4-FFF2-40B4-BE49-F238E27FC236}">
                <a16:creationId xmlns:a16="http://schemas.microsoft.com/office/drawing/2014/main" id="{FDE032D8-8A58-49F4-8526-A7603D5DFD6E}"/>
              </a:ext>
            </a:extLst>
          </p:cNvPr>
          <p:cNvSpPr/>
          <p:nvPr/>
        </p:nvSpPr>
        <p:spPr>
          <a:xfrm>
            <a:off x="472440" y="1216152"/>
            <a:ext cx="5532120" cy="3246120"/>
          </a:xfrm>
          <a:prstGeom prst="roundRect">
            <a:avLst>
              <a:gd name="adj" fmla="val 1408"/>
            </a:avLst>
          </a:prstGeom>
          <a:solidFill>
            <a:srgbClr val="F2F2F2"/>
          </a:solidFill>
          <a:ln/>
        </p:spPr>
        <p:txBody>
          <a:bodyPr/>
          <a:lstStyle/>
          <a:p>
            <a:endParaRPr lang="tr-TR"/>
          </a:p>
        </p:txBody>
      </p:sp>
      <p:sp>
        <p:nvSpPr>
          <p:cNvPr id="13" name="Shape 3">
            <a:extLst>
              <a:ext uri="{FF2B5EF4-FFF2-40B4-BE49-F238E27FC236}">
                <a16:creationId xmlns:a16="http://schemas.microsoft.com/office/drawing/2014/main" id="{BE6751CE-EA5A-4042-824E-9E5D5BFB8A84}"/>
              </a:ext>
            </a:extLst>
          </p:cNvPr>
          <p:cNvSpPr/>
          <p:nvPr/>
        </p:nvSpPr>
        <p:spPr>
          <a:xfrm>
            <a:off x="6187440" y="1216152"/>
            <a:ext cx="5486400" cy="3246120"/>
          </a:xfrm>
          <a:prstGeom prst="roundRect">
            <a:avLst>
              <a:gd name="adj" fmla="val 1408"/>
            </a:avLst>
          </a:prstGeom>
          <a:solidFill>
            <a:srgbClr val="FDE8EB"/>
          </a:solidFill>
          <a:ln/>
        </p:spPr>
        <p:txBody>
          <a:bodyPr/>
          <a:lstStyle/>
          <a:p>
            <a:endParaRPr lang="tr-TR"/>
          </a:p>
        </p:txBody>
      </p:sp>
      <p:sp>
        <p:nvSpPr>
          <p:cNvPr id="14" name="Text 4">
            <a:extLst>
              <a:ext uri="{FF2B5EF4-FFF2-40B4-BE49-F238E27FC236}">
                <a16:creationId xmlns:a16="http://schemas.microsoft.com/office/drawing/2014/main" id="{66A960F1-0707-493A-A361-E666F81B8B91}"/>
              </a:ext>
            </a:extLst>
          </p:cNvPr>
          <p:cNvSpPr/>
          <p:nvPr/>
        </p:nvSpPr>
        <p:spPr>
          <a:xfrm>
            <a:off x="746760" y="1335024"/>
            <a:ext cx="5029200" cy="2926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500" b="1" kern="0" spc="200" dirty="0">
                <a:solidFill>
                  <a:srgbClr val="6E6E6E"/>
                </a:solidFill>
                <a:latin typeface="Calibri" pitchFamily="34" charset="0"/>
                <a:ea typeface="Calibri" pitchFamily="34" charset="-122"/>
                <a:cs typeface="Calibri" pitchFamily="34" charset="-120"/>
              </a:rPr>
              <a:t>MAMDANI</a:t>
            </a:r>
            <a:endParaRPr lang="en-US" sz="1500" dirty="0"/>
          </a:p>
        </p:txBody>
      </p:sp>
      <p:sp>
        <p:nvSpPr>
          <p:cNvPr id="15" name="Text 5">
            <a:extLst>
              <a:ext uri="{FF2B5EF4-FFF2-40B4-BE49-F238E27FC236}">
                <a16:creationId xmlns:a16="http://schemas.microsoft.com/office/drawing/2014/main" id="{241DAC05-2DF7-48F3-B98E-C6DEA35FD063}"/>
              </a:ext>
            </a:extLst>
          </p:cNvPr>
          <p:cNvSpPr/>
          <p:nvPr/>
        </p:nvSpPr>
        <p:spPr>
          <a:xfrm>
            <a:off x="6461760" y="1335024"/>
            <a:ext cx="5029200" cy="2926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500" b="1" kern="0" spc="100" dirty="0">
                <a:solidFill>
                  <a:srgbClr val="E31836"/>
                </a:solidFill>
                <a:latin typeface="Calibri" pitchFamily="34" charset="0"/>
                <a:ea typeface="Calibri" pitchFamily="34" charset="-122"/>
                <a:cs typeface="Calibri" pitchFamily="34" charset="-120"/>
              </a:rPr>
              <a:t>ZERO-ORDER TAKAGI–SUGENO (this thesis)</a:t>
            </a:r>
            <a:endParaRPr lang="en-US" sz="1500" dirty="0"/>
          </a:p>
        </p:txBody>
      </p:sp>
      <p:sp>
        <p:nvSpPr>
          <p:cNvPr id="16" name="Text 6">
            <a:extLst>
              <a:ext uri="{FF2B5EF4-FFF2-40B4-BE49-F238E27FC236}">
                <a16:creationId xmlns:a16="http://schemas.microsoft.com/office/drawing/2014/main" id="{DFBE0F7B-0AE8-468F-9D91-BD8F3DC5DBD5}"/>
              </a:ext>
            </a:extLst>
          </p:cNvPr>
          <p:cNvSpPr/>
          <p:nvPr/>
        </p:nvSpPr>
        <p:spPr>
          <a:xfrm>
            <a:off x="746760" y="1673352"/>
            <a:ext cx="502920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dirty="0">
                <a:solidFill>
                  <a:srgbClr val="222222"/>
                </a:solidFill>
                <a:latin typeface="Calibri" pitchFamily="34" charset="0"/>
                <a:ea typeface="Calibri" pitchFamily="34" charset="-122"/>
                <a:cs typeface="Calibri" pitchFamily="34" charset="-120"/>
              </a:rPr>
              <a:t>Consequent is a fuzzy set: “…THEN u is HIGH”</a:t>
            </a:r>
            <a:endParaRPr lang="en-US" sz="1300" dirty="0"/>
          </a:p>
        </p:txBody>
      </p:sp>
      <mc:AlternateContent xmlns:mc="http://schemas.openxmlformats.org/markup-compatibility/2006" xmlns:a14="http://schemas.microsoft.com/office/drawing/2010/main">
        <mc:Choice Requires="a14">
          <p:sp>
            <p:nvSpPr>
              <p:cNvPr id="17" name="Text 7">
                <a:extLst>
                  <a:ext uri="{FF2B5EF4-FFF2-40B4-BE49-F238E27FC236}">
                    <a16:creationId xmlns:a16="http://schemas.microsoft.com/office/drawing/2014/main" id="{22874BB7-FBD7-4C5B-A08A-A93B8C5EC660}"/>
                  </a:ext>
                </a:extLst>
              </p:cNvPr>
              <p:cNvSpPr/>
              <p:nvPr/>
            </p:nvSpPr>
            <p:spPr>
              <a:xfrm>
                <a:off x="746760" y="2039112"/>
                <a:ext cx="5029200" cy="6858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Para xmlns:m="http://schemas.openxmlformats.org/officeDocument/2006/math">
                    <m:oMath>
                      <m:sSup>
                        <m:sSupPr>
                          <m:ctrlPr>
                            <a:rPr lang="en-US" sz="1400">
                              <a:latin typeface="Cambria Math"/>
                            </a:rPr>
                          </m:ctrlPr>
                        </m:sSupPr>
                        <m:e>
                          <m:r>
                            <a:rPr lang="en-US" sz="1400">
                              <a:latin typeface="Cambria Math"/>
                            </a:rPr>
                            <m:t>𝑢</m:t>
                          </m:r>
                        </m:e>
                        <m:sup>
                          <m:r>
                            <a:rPr lang="en-US" sz="1400">
                              <a:latin typeface="Cambria Math"/>
                            </a:rPr>
                            <m:t>∗</m:t>
                          </m:r>
                        </m:sup>
                      </m:sSup>
                      <m:r>
                        <a:rPr lang="en-US" sz="1400">
                          <a:latin typeface="Cambria Math"/>
                        </a:rPr>
                        <m:t>=</m:t>
                      </m:r>
                      <m:f>
                        <m:fPr>
                          <m:ctrlPr>
                            <a:rPr lang="en-US" sz="1400">
                              <a:latin typeface="Cambria Math"/>
                            </a:rPr>
                          </m:ctrlPr>
                        </m:fPr>
                        <m:num>
                          <m:r>
                            <a:rPr lang="en-US" sz="1400">
                              <a:latin typeface="Cambria Math"/>
                            </a:rPr>
                            <m:t>∫</m:t>
                          </m:r>
                          <m:r>
                            <a:rPr lang="en-US" sz="1400">
                              <a:latin typeface="Cambria Math"/>
                            </a:rPr>
                            <m:t>𝑢</m:t>
                          </m:r>
                          <m:r>
                            <a:rPr lang="en-US" sz="1400">
                              <a:latin typeface="Cambria Math"/>
                            </a:rPr>
                            <m:t>⋅</m:t>
                          </m:r>
                          <m:sSub>
                            <m:sSubPr>
                              <m:ctrlPr>
                                <a:rPr lang="en-US" sz="1400">
                                  <a:latin typeface="Cambria Math"/>
                                </a:rPr>
                              </m:ctrlPr>
                            </m:sSubPr>
                            <m:e>
                              <m:r>
                                <a:rPr lang="en-US" sz="1400">
                                  <a:latin typeface="Cambria Math"/>
                                </a:rPr>
                                <m:t>𝜇</m:t>
                              </m:r>
                            </m:e>
                            <m:sub>
                              <m:r>
                                <a:rPr lang="en-US" sz="1400">
                                  <a:latin typeface="Cambria Math"/>
                                </a:rPr>
                                <m:t>𝑎𝑔𝑔</m:t>
                              </m:r>
                            </m:sub>
                          </m:sSub>
                          <m:r>
                            <a:rPr lang="en-US" sz="1400">
                              <a:latin typeface="Cambria Math"/>
                            </a:rPr>
                            <m:t>(</m:t>
                          </m:r>
                          <m:r>
                            <a:rPr lang="en-US" sz="1400">
                              <a:latin typeface="Cambria Math"/>
                            </a:rPr>
                            <m:t>𝑢</m:t>
                          </m:r>
                          <m:r>
                            <a:rPr lang="en-US" sz="1400">
                              <a:latin typeface="Cambria Math"/>
                            </a:rPr>
                            <m:t>)</m:t>
                          </m:r>
                          <m:r>
                            <m:rPr>
                              <m:sty m:val="p"/>
                            </m:rPr>
                            <a:rPr lang="en-US" sz="1400">
                              <a:latin typeface="Cambria Math"/>
                            </a:rPr>
                            <m:t>du</m:t>
                          </m:r>
                        </m:num>
                        <m:den>
                          <m:r>
                            <a:rPr lang="en-US" sz="1400">
                              <a:latin typeface="Cambria Math"/>
                            </a:rPr>
                            <m:t>∫</m:t>
                          </m:r>
                          <m:sSub>
                            <m:sSubPr>
                              <m:ctrlPr>
                                <a:rPr lang="en-US" sz="1400">
                                  <a:latin typeface="Cambria Math"/>
                                </a:rPr>
                              </m:ctrlPr>
                            </m:sSubPr>
                            <m:e>
                              <m:r>
                                <a:rPr lang="en-US" sz="1400">
                                  <a:latin typeface="Cambria Math"/>
                                </a:rPr>
                                <m:t>𝜇</m:t>
                              </m:r>
                            </m:e>
                            <m:sub>
                              <m:r>
                                <a:rPr lang="en-US" sz="1400">
                                  <a:latin typeface="Cambria Math"/>
                                </a:rPr>
                                <m:t>𝑎𝑔𝑔</m:t>
                              </m:r>
                            </m:sub>
                          </m:sSub>
                          <m:r>
                            <a:rPr lang="en-US" sz="1400">
                              <a:latin typeface="Cambria Math"/>
                            </a:rPr>
                            <m:t>(</m:t>
                          </m:r>
                          <m:r>
                            <a:rPr lang="en-US" sz="1400">
                              <a:latin typeface="Cambria Math"/>
                            </a:rPr>
                            <m:t>𝑢</m:t>
                          </m:r>
                          <m:r>
                            <a:rPr lang="en-US" sz="1400">
                              <a:latin typeface="Cambria Math"/>
                            </a:rPr>
                            <m:t>)</m:t>
                          </m:r>
                          <m:r>
                            <m:rPr>
                              <m:sty m:val="p"/>
                            </m:rPr>
                            <a:rPr lang="en-US" sz="1400">
                              <a:latin typeface="Cambria Math"/>
                            </a:rPr>
                            <m:t>du</m:t>
                          </m:r>
                        </m:den>
                      </m:f>
                    </m:oMath>
                  </m:oMathPara>
                </a14:m>
                <a:endParaRPr lang="en-US" sz="1300" dirty="0"/>
              </a:p>
            </p:txBody>
          </p:sp>
        </mc:Choice>
        <mc:Fallback xmlns="">
          <p:sp>
            <p:nvSpPr>
              <p:cNvPr id="17" name="Text 7">
                <a:extLst>
                  <a:ext uri="{FF2B5EF4-FFF2-40B4-BE49-F238E27FC236}">
                    <a16:creationId xmlns:a16="http://schemas.microsoft.com/office/drawing/2014/main" id="{22874BB7-FBD7-4C5B-A08A-A93B8C5EC660}"/>
                  </a:ext>
                </a:extLst>
              </p:cNvPr>
              <p:cNvSpPr>
                <a:spLocks noRot="1" noChangeAspect="1" noMove="1" noResize="1" noEditPoints="1" noAdjustHandles="1" noChangeArrowheads="1" noChangeShapeType="1" noTextEdit="1"/>
              </p:cNvSpPr>
              <p:nvPr/>
            </p:nvSpPr>
            <p:spPr>
              <a:xfrm>
                <a:off x="746760" y="2039112"/>
                <a:ext cx="5029200" cy="685800"/>
              </a:xfrm>
              <a:prstGeom prst="rect">
                <a:avLst/>
              </a:prstGeom>
              <a:blipFill>
                <a:blip r:embed="rId5"/>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8" name="Text 8">
                <a:extLst>
                  <a:ext uri="{FF2B5EF4-FFF2-40B4-BE49-F238E27FC236}">
                    <a16:creationId xmlns:a16="http://schemas.microsoft.com/office/drawing/2014/main" id="{CEED5808-43F1-44F2-9A6C-D5A8205A4889}"/>
                  </a:ext>
                </a:extLst>
              </p:cNvPr>
              <p:cNvSpPr/>
              <p:nvPr/>
            </p:nvSpPr>
            <p:spPr>
              <a:xfrm>
                <a:off x="746760" y="2770632"/>
                <a:ext cx="5029200" cy="5029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Para xmlns:m="http://schemas.openxmlformats.org/officeDocument/2006/math">
                    <m:oMath>
                      <m:sSub>
                        <m:sSubPr>
                          <m:ctrlPr>
                            <a:rPr lang="en-US" sz="1400">
                              <a:latin typeface="Cambria Math"/>
                            </a:rPr>
                          </m:ctrlPr>
                        </m:sSubPr>
                        <m:e>
                          <m:r>
                            <a:rPr lang="en-US" sz="1400">
                              <a:latin typeface="Cambria Math"/>
                            </a:rPr>
                            <m:t>𝜇</m:t>
                          </m:r>
                        </m:e>
                        <m:sub>
                          <m:r>
                            <a:rPr lang="en-US" sz="1400">
                              <a:latin typeface="Cambria Math"/>
                            </a:rPr>
                            <m:t>𝑎𝑔𝑔</m:t>
                          </m:r>
                        </m:sub>
                      </m:sSub>
                      <m:r>
                        <a:rPr lang="en-US" sz="1400">
                          <a:latin typeface="Cambria Math"/>
                        </a:rPr>
                        <m:t>(</m:t>
                      </m:r>
                      <m:r>
                        <a:rPr lang="en-US" sz="1400">
                          <a:latin typeface="Cambria Math"/>
                        </a:rPr>
                        <m:t>𝑢</m:t>
                      </m:r>
                      <m:r>
                        <a:rPr lang="en-US" sz="1400">
                          <a:latin typeface="Cambria Math"/>
                        </a:rPr>
                        <m:t>)=</m:t>
                      </m:r>
                      <m:func>
                        <m:funcPr>
                          <m:ctrlPr>
                            <a:rPr lang="en-US" sz="1400" i="1">
                              <a:latin typeface="Cambria Math" panose="02040503050406030204" pitchFamily="18" charset="0"/>
                            </a:rPr>
                          </m:ctrlPr>
                        </m:funcPr>
                        <m:fName>
                          <m:limLow>
                            <m:limLowPr>
                              <m:ctrlPr>
                                <a:rPr lang="en-US" sz="1400">
                                  <a:latin typeface="Cambria Math"/>
                                </a:rPr>
                              </m:ctrlPr>
                            </m:limLowPr>
                            <m:e>
                              <m:r>
                                <m:rPr>
                                  <m:sty m:val="p"/>
                                </m:rPr>
                                <a:rPr lang="en-US" sz="1400">
                                  <a:latin typeface="Cambria Math"/>
                                </a:rPr>
                                <m:t>max</m:t>
                              </m:r>
                            </m:e>
                            <m:lim>
                              <m:r>
                                <a:rPr lang="en-US" sz="1400">
                                  <a:latin typeface="Cambria Math"/>
                                </a:rPr>
                                <m:t>𝑟</m:t>
                              </m:r>
                            </m:lim>
                          </m:limLow>
                        </m:fName>
                        <m:e>
                          <m:r>
                            <m:rPr>
                              <m:sty m:val="p"/>
                            </m:rPr>
                            <a:rPr lang="en-US" sz="1400">
                              <a:latin typeface="Cambria Math"/>
                            </a:rPr>
                            <m:t>min</m:t>
                          </m:r>
                          <m:r>
                            <a:rPr lang="en-US" sz="1400">
                              <a:latin typeface="Cambria Math"/>
                            </a:rPr>
                            <m:t>(</m:t>
                          </m:r>
                          <m:sSub>
                            <m:sSubPr>
                              <m:ctrlPr>
                                <a:rPr lang="en-US" sz="1400">
                                  <a:latin typeface="Cambria Math"/>
                                </a:rPr>
                              </m:ctrlPr>
                            </m:sSubPr>
                            <m:e>
                              <m:r>
                                <a:rPr lang="en-US" sz="1400">
                                  <a:latin typeface="Cambria Math"/>
                                </a:rPr>
                                <m:t>𝛼</m:t>
                              </m:r>
                            </m:e>
                            <m:sub>
                              <m:r>
                                <a:rPr lang="en-US" sz="1400">
                                  <a:latin typeface="Cambria Math"/>
                                </a:rPr>
                                <m:t>𝑟</m:t>
                              </m:r>
                            </m:sub>
                          </m:sSub>
                          <m:r>
                            <a:rPr lang="en-US" sz="1400">
                              <a:latin typeface="Cambria Math"/>
                            </a:rPr>
                            <m:t>,</m:t>
                          </m:r>
                          <m:sSub>
                            <m:sSubPr>
                              <m:ctrlPr>
                                <a:rPr lang="en-US" sz="1400">
                                  <a:latin typeface="Cambria Math"/>
                                </a:rPr>
                              </m:ctrlPr>
                            </m:sSubPr>
                            <m:e>
                              <m:r>
                                <a:rPr lang="en-US" sz="1400">
                                  <a:latin typeface="Cambria Math"/>
                                </a:rPr>
                                <m:t>𝜇</m:t>
                              </m:r>
                            </m:e>
                            <m:sub>
                              <m:sSub>
                                <m:sSubPr>
                                  <m:ctrlPr>
                                    <a:rPr lang="en-US" sz="1400">
                                      <a:latin typeface="Cambria Math"/>
                                    </a:rPr>
                                  </m:ctrlPr>
                                </m:sSubPr>
                                <m:e>
                                  <m:r>
                                    <a:rPr lang="en-US" sz="1400">
                                      <a:latin typeface="Cambria Math"/>
                                    </a:rPr>
                                    <m:t>ℬ</m:t>
                                  </m:r>
                                </m:e>
                                <m:sub>
                                  <m:r>
                                    <a:rPr lang="en-US" sz="1400">
                                      <a:latin typeface="Cambria Math"/>
                                    </a:rPr>
                                    <m:t>𝑟</m:t>
                                  </m:r>
                                </m:sub>
                              </m:sSub>
                            </m:sub>
                          </m:sSub>
                          <m:r>
                            <a:rPr lang="en-US" sz="1400">
                              <a:latin typeface="Cambria Math"/>
                            </a:rPr>
                            <m:t>(</m:t>
                          </m:r>
                          <m:r>
                            <a:rPr lang="en-US" sz="1400">
                              <a:latin typeface="Cambria Math"/>
                            </a:rPr>
                            <m:t>𝑢</m:t>
                          </m:r>
                          <m:r>
                            <a:rPr lang="en-US" sz="1400">
                              <a:latin typeface="Cambria Math"/>
                            </a:rPr>
                            <m:t>))</m:t>
                          </m:r>
                        </m:e>
                      </m:func>
                      <m:r>
                        <a:rPr lang="en-US" sz="1400">
                          <a:latin typeface="Cambria Math"/>
                        </a:rPr>
                        <m:t>⁡</m:t>
                      </m:r>
                    </m:oMath>
                  </m:oMathPara>
                </a14:m>
                <a:endParaRPr lang="en-US" sz="1300" dirty="0"/>
              </a:p>
            </p:txBody>
          </p:sp>
        </mc:Choice>
        <mc:Fallback xmlns="">
          <p:sp>
            <p:nvSpPr>
              <p:cNvPr id="18" name="Text 8">
                <a:extLst>
                  <a:ext uri="{FF2B5EF4-FFF2-40B4-BE49-F238E27FC236}">
                    <a16:creationId xmlns:a16="http://schemas.microsoft.com/office/drawing/2014/main" id="{CEED5808-43F1-44F2-9A6C-D5A8205A4889}"/>
                  </a:ext>
                </a:extLst>
              </p:cNvPr>
              <p:cNvSpPr>
                <a:spLocks noRot="1" noChangeAspect="1" noMove="1" noResize="1" noEditPoints="1" noAdjustHandles="1" noChangeArrowheads="1" noChangeShapeType="1" noTextEdit="1"/>
              </p:cNvSpPr>
              <p:nvPr/>
            </p:nvSpPr>
            <p:spPr>
              <a:xfrm>
                <a:off x="746760" y="2770632"/>
                <a:ext cx="5029200" cy="502920"/>
              </a:xfrm>
              <a:prstGeom prst="rect">
                <a:avLst/>
              </a:prstGeom>
              <a:blipFill>
                <a:blip r:embed="rId6"/>
                <a:stretch>
                  <a:fillRect/>
                </a:stretch>
              </a:blipFill>
              <a:ln/>
            </p:spPr>
            <p:txBody>
              <a:bodyPr/>
              <a:lstStyle/>
              <a:p>
                <a:r>
                  <a:rPr lang="tr-TR">
                    <a:noFill/>
                  </a:rPr>
                  <a:t/>
                </a:r>
              </a:p>
            </p:txBody>
          </p:sp>
        </mc:Fallback>
      </mc:AlternateContent>
      <p:sp>
        <p:nvSpPr>
          <p:cNvPr id="19" name="Text 9">
            <a:extLst>
              <a:ext uri="{FF2B5EF4-FFF2-40B4-BE49-F238E27FC236}">
                <a16:creationId xmlns:a16="http://schemas.microsoft.com/office/drawing/2014/main" id="{962D4510-01B5-49B1-BCC0-0AF65EAAE5E1}"/>
              </a:ext>
            </a:extLst>
          </p:cNvPr>
          <p:cNvSpPr/>
          <p:nvPr/>
        </p:nvSpPr>
        <p:spPr>
          <a:xfrm>
            <a:off x="746760" y="3364992"/>
            <a:ext cx="5029200" cy="100584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0" indent="-127000">
              <a:lnSpc>
                <a:spcPct val="102000"/>
              </a:lnSpc>
              <a:spcAft>
                <a:spcPts val="500"/>
              </a:spcAft>
              <a:buSzPct val="100000"/>
              <a:buChar char="•"/>
            </a:pPr>
            <a:r>
              <a:rPr lang="en-US" sz="1250" dirty="0">
                <a:solidFill>
                  <a:srgbClr val="222222"/>
                </a:solidFill>
                <a:latin typeface="Calibri" pitchFamily="34" charset="0"/>
                <a:ea typeface="Calibri" pitchFamily="34" charset="-122"/>
                <a:cs typeface="Calibri" pitchFamily="34" charset="-120"/>
              </a:rPr>
              <a:t>Output sets are clipped, aggregated, then defuzzified (centroid integral)</a:t>
            </a:r>
            <a:endParaRPr lang="en-US" sz="1250" dirty="0"/>
          </a:p>
          <a:p>
            <a:pPr marL="127000" indent="-127000">
              <a:lnSpc>
                <a:spcPct val="102000"/>
              </a:lnSpc>
              <a:spcAft>
                <a:spcPts val="500"/>
              </a:spcAft>
              <a:buSzPct val="100000"/>
              <a:buChar char="•"/>
            </a:pPr>
            <a:r>
              <a:rPr lang="en-US" sz="1250" b="1" dirty="0">
                <a:solidFill>
                  <a:srgbClr val="222222"/>
                </a:solidFill>
                <a:latin typeface="Calibri" pitchFamily="34" charset="0"/>
                <a:ea typeface="Calibri" pitchFamily="34" charset="-122"/>
                <a:cs typeface="Calibri" pitchFamily="34" charset="-120"/>
              </a:rPr>
              <a:t>Strength: </a:t>
            </a:r>
            <a:r>
              <a:rPr lang="en-US" sz="1250" dirty="0">
                <a:solidFill>
                  <a:srgbClr val="222222"/>
                </a:solidFill>
                <a:latin typeface="Calibri" pitchFamily="34" charset="0"/>
                <a:ea typeface="Calibri" pitchFamily="34" charset="-122"/>
                <a:cs typeface="Calibri" pitchFamily="34" charset="-120"/>
              </a:rPr>
              <a:t>linguistic output — natural when the answer is a phrase for a human</a:t>
            </a:r>
            <a:endParaRPr lang="en-US" sz="1250" dirty="0"/>
          </a:p>
          <a:p>
            <a:pPr marL="127000" indent="-127000">
              <a:lnSpc>
                <a:spcPct val="102000"/>
              </a:lnSpc>
              <a:buSzPct val="100000"/>
              <a:buChar char="•"/>
            </a:pPr>
            <a:r>
              <a:rPr lang="en-US" sz="1250" b="1" dirty="0">
                <a:solidFill>
                  <a:srgbClr val="222222"/>
                </a:solidFill>
                <a:latin typeface="Calibri" pitchFamily="34" charset="0"/>
                <a:ea typeface="Calibri" pitchFamily="34" charset="-122"/>
                <a:cs typeface="Calibri" pitchFamily="34" charset="-120"/>
              </a:rPr>
              <a:t>Cost: </a:t>
            </a:r>
            <a:r>
              <a:rPr lang="en-US" sz="1250" dirty="0">
                <a:solidFill>
                  <a:srgbClr val="222222"/>
                </a:solidFill>
                <a:latin typeface="Calibri" pitchFamily="34" charset="0"/>
                <a:ea typeface="Calibri" pitchFamily="34" charset="-122"/>
                <a:cs typeface="Calibri" pitchFamily="34" charset="-120"/>
              </a:rPr>
              <a:t>the integral blurs which rule ordered what, and tuning means reshaping whole output sets</a:t>
            </a:r>
            <a:endParaRPr lang="en-US" sz="1250" dirty="0"/>
          </a:p>
        </p:txBody>
      </p:sp>
      <p:sp>
        <p:nvSpPr>
          <p:cNvPr id="20" name="Text 10">
            <a:extLst>
              <a:ext uri="{FF2B5EF4-FFF2-40B4-BE49-F238E27FC236}">
                <a16:creationId xmlns:a16="http://schemas.microsoft.com/office/drawing/2014/main" id="{32EC1233-986C-49E2-90E1-E5AC78DE57FC}"/>
              </a:ext>
            </a:extLst>
          </p:cNvPr>
          <p:cNvSpPr/>
          <p:nvPr/>
        </p:nvSpPr>
        <p:spPr>
          <a:xfrm>
            <a:off x="6461760" y="1673352"/>
            <a:ext cx="502920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dirty="0">
                <a:solidFill>
                  <a:srgbClr val="222222"/>
                </a:solidFill>
                <a:latin typeface="Calibri" pitchFamily="34" charset="0"/>
                <a:ea typeface="Calibri" pitchFamily="34" charset="-122"/>
                <a:cs typeface="Calibri" pitchFamily="34" charset="-120"/>
              </a:rPr>
              <a:t>Consequent is a numeric singleton: “…THEN suppression = 0.8”</a:t>
            </a:r>
            <a:endParaRPr lang="en-US" sz="1300" dirty="0"/>
          </a:p>
        </p:txBody>
      </p:sp>
      <mc:AlternateContent xmlns:mc="http://schemas.openxmlformats.org/markup-compatibility/2006" xmlns:a14="http://schemas.microsoft.com/office/drawing/2010/main">
        <mc:Choice Requires="a14">
          <p:sp>
            <p:nvSpPr>
              <p:cNvPr id="21" name="Text 11">
                <a:extLst>
                  <a:ext uri="{FF2B5EF4-FFF2-40B4-BE49-F238E27FC236}">
                    <a16:creationId xmlns:a16="http://schemas.microsoft.com/office/drawing/2014/main" id="{9CBADE3E-3254-4F9E-BB29-926001FFCCEF}"/>
                  </a:ext>
                </a:extLst>
              </p:cNvPr>
              <p:cNvSpPr/>
              <p:nvPr/>
            </p:nvSpPr>
            <p:spPr>
              <a:xfrm>
                <a:off x="6461760" y="2039112"/>
                <a:ext cx="5029200" cy="5029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Para xmlns:m="http://schemas.openxmlformats.org/officeDocument/2006/math">
                    <m:oMath>
                      <m:sSub>
                        <m:sSubPr>
                          <m:ctrlPr>
                            <a:rPr lang="en-US" sz="1400">
                              <a:latin typeface="Cambria Math"/>
                            </a:rPr>
                          </m:ctrlPr>
                        </m:sSubPr>
                        <m:e>
                          <m:r>
                            <a:rPr lang="en-US" sz="1400">
                              <a:latin typeface="Cambria Math"/>
                            </a:rPr>
                            <m:t>𝑅</m:t>
                          </m:r>
                        </m:e>
                        <m:sub>
                          <m:r>
                            <a:rPr lang="en-US" sz="1400">
                              <a:latin typeface="Cambria Math"/>
                            </a:rPr>
                            <m:t>𝑟</m:t>
                          </m:r>
                        </m:sub>
                      </m:sSub>
                      <m:r>
                        <a:rPr lang="en-US" sz="1400">
                          <a:latin typeface="Cambria Math"/>
                        </a:rPr>
                        <m:t>: </m:t>
                      </m:r>
                      <m:r>
                        <a:rPr lang="en-US" sz="1400">
                          <a:latin typeface="Cambria Math"/>
                        </a:rPr>
                        <m:t>𝐼𝐹</m:t>
                      </m:r>
                      <m:r>
                        <a:rPr lang="en-US" sz="1400">
                          <a:latin typeface="Cambria Math"/>
                        </a:rPr>
                        <m:t> </m:t>
                      </m:r>
                      <m:sSubSup>
                        <m:sSubSupPr>
                          <m:ctrlPr>
                            <a:rPr lang="en-US" sz="1400">
                              <a:latin typeface="Cambria Math"/>
                            </a:rPr>
                          </m:ctrlPr>
                        </m:sSubSupPr>
                        <m:e>
                          <m:r>
                            <a:rPr lang="en-US" sz="1400">
                              <a:latin typeface="Cambria Math"/>
                            </a:rPr>
                            <m:t>𝑎</m:t>
                          </m:r>
                        </m:e>
                        <m:sub>
                          <m:r>
                            <a:rPr lang="en-US" sz="1400">
                              <a:latin typeface="Cambria Math"/>
                            </a:rPr>
                            <m:t>1,</m:t>
                          </m:r>
                          <m:r>
                            <a:rPr lang="en-US" sz="1400">
                              <a:latin typeface="Cambria Math"/>
                            </a:rPr>
                            <m:t>𝑘</m:t>
                          </m:r>
                        </m:sub>
                        <m:sup>
                          <m:r>
                            <a:rPr lang="en-US" sz="1400">
                              <a:latin typeface="Cambria Math"/>
                            </a:rPr>
                            <m:t>𝑒𝑓𝑓</m:t>
                          </m:r>
                          <m:r>
                            <a:rPr lang="en-US" sz="1400">
                              <a:latin typeface="Cambria Math"/>
                            </a:rPr>
                            <m:t>,</m:t>
                          </m:r>
                          <m:r>
                            <a:rPr lang="en-US" sz="1400">
                              <a:latin typeface="Cambria Math"/>
                            </a:rPr>
                            <m:t>𝑖</m:t>
                          </m:r>
                        </m:sup>
                      </m:sSubSup>
                      <m:r>
                        <a:rPr lang="en-US" sz="1400">
                          <a:latin typeface="Cambria Math"/>
                        </a:rPr>
                        <m:t> </m:t>
                      </m:r>
                      <m:r>
                        <a:rPr lang="en-US" sz="1400">
                          <a:latin typeface="Cambria Math"/>
                        </a:rPr>
                        <m:t>𝑖𝑠</m:t>
                      </m:r>
                      <m:r>
                        <a:rPr lang="en-US" sz="1400">
                          <a:latin typeface="Cambria Math"/>
                        </a:rPr>
                        <m:t> </m:t>
                      </m:r>
                      <m:sSub>
                        <m:sSubPr>
                          <m:ctrlPr>
                            <a:rPr lang="en-US" sz="1400">
                              <a:latin typeface="Cambria Math"/>
                            </a:rPr>
                          </m:ctrlPr>
                        </m:sSubPr>
                        <m:e>
                          <m:r>
                            <a:rPr lang="en-US" sz="1400">
                              <a:latin typeface="Cambria Math"/>
                            </a:rPr>
                            <m:t>𝒜</m:t>
                          </m:r>
                        </m:e>
                        <m:sub>
                          <m:r>
                            <a:rPr lang="en-US" sz="1400">
                              <a:latin typeface="Cambria Math"/>
                            </a:rPr>
                            <m:t>𝑟</m:t>
                          </m:r>
                          <m:r>
                            <a:rPr lang="en-US" sz="1400">
                              <a:latin typeface="Cambria Math"/>
                            </a:rPr>
                            <m:t>,1</m:t>
                          </m:r>
                        </m:sub>
                      </m:sSub>
                      <m:r>
                        <a:rPr lang="en-US" sz="1400">
                          <a:latin typeface="Cambria Math"/>
                        </a:rPr>
                        <m:t> </m:t>
                      </m:r>
                      <m:r>
                        <a:rPr lang="en-US" sz="1400">
                          <a:latin typeface="Cambria Math"/>
                        </a:rPr>
                        <m:t>𝐴𝑁𝐷</m:t>
                      </m:r>
                      <m:r>
                        <a:rPr lang="en-US" sz="1400">
                          <a:latin typeface="Cambria Math"/>
                        </a:rPr>
                        <m:t> … </m:t>
                      </m:r>
                      <m:r>
                        <a:rPr lang="en-US" sz="1400">
                          <a:latin typeface="Cambria Math"/>
                        </a:rPr>
                        <m:t>𝐴𝑁𝐷</m:t>
                      </m:r>
                      <m:r>
                        <a:rPr lang="en-US" sz="1400">
                          <a:latin typeface="Cambria Math"/>
                        </a:rPr>
                        <m:t> </m:t>
                      </m:r>
                      <m:sSubSup>
                        <m:sSubSupPr>
                          <m:ctrlPr>
                            <a:rPr lang="en-US" sz="1400">
                              <a:latin typeface="Cambria Math"/>
                            </a:rPr>
                          </m:ctrlPr>
                        </m:sSubSupPr>
                        <m:e>
                          <m:r>
                            <a:rPr lang="en-US" sz="1400">
                              <a:latin typeface="Cambria Math"/>
                            </a:rPr>
                            <m:t>𝑎</m:t>
                          </m:r>
                        </m:e>
                        <m:sub>
                          <m:r>
                            <a:rPr lang="en-US" sz="1400">
                              <a:latin typeface="Cambria Math"/>
                            </a:rPr>
                            <m:t>5,</m:t>
                          </m:r>
                          <m:r>
                            <a:rPr lang="en-US" sz="1400">
                              <a:latin typeface="Cambria Math"/>
                            </a:rPr>
                            <m:t>𝑘</m:t>
                          </m:r>
                        </m:sub>
                        <m:sup>
                          <m:r>
                            <a:rPr lang="en-US" sz="1400">
                              <a:latin typeface="Cambria Math"/>
                            </a:rPr>
                            <m:t>𝑒𝑓𝑓</m:t>
                          </m:r>
                          <m:r>
                            <a:rPr lang="en-US" sz="1400">
                              <a:latin typeface="Cambria Math"/>
                            </a:rPr>
                            <m:t>,</m:t>
                          </m:r>
                          <m:r>
                            <a:rPr lang="en-US" sz="1400">
                              <a:latin typeface="Cambria Math"/>
                            </a:rPr>
                            <m:t>𝑖</m:t>
                          </m:r>
                        </m:sup>
                      </m:sSubSup>
                      <m:r>
                        <a:rPr lang="en-US" sz="1400">
                          <a:latin typeface="Cambria Math"/>
                        </a:rPr>
                        <m:t> </m:t>
                      </m:r>
                      <m:r>
                        <a:rPr lang="en-US" sz="1400">
                          <a:latin typeface="Cambria Math"/>
                        </a:rPr>
                        <m:t>𝑖𝑠</m:t>
                      </m:r>
                      <m:r>
                        <a:rPr lang="en-US" sz="1400">
                          <a:latin typeface="Cambria Math"/>
                        </a:rPr>
                        <m:t> </m:t>
                      </m:r>
                      <m:sSub>
                        <m:sSubPr>
                          <m:ctrlPr>
                            <a:rPr lang="en-US" sz="1400">
                              <a:latin typeface="Cambria Math"/>
                            </a:rPr>
                          </m:ctrlPr>
                        </m:sSubPr>
                        <m:e>
                          <m:r>
                            <a:rPr lang="en-US" sz="1400">
                              <a:latin typeface="Cambria Math"/>
                            </a:rPr>
                            <m:t>𝒜</m:t>
                          </m:r>
                        </m:e>
                        <m:sub>
                          <m:r>
                            <a:rPr lang="en-US" sz="1400">
                              <a:latin typeface="Cambria Math"/>
                            </a:rPr>
                            <m:t>𝑟</m:t>
                          </m:r>
                          <m:r>
                            <a:rPr lang="en-US" sz="1400">
                              <a:latin typeface="Cambria Math"/>
                            </a:rPr>
                            <m:t>,5</m:t>
                          </m:r>
                        </m:sub>
                      </m:sSub>
                      <m:r>
                        <a:rPr lang="en-US" sz="1400">
                          <a:latin typeface="Cambria Math"/>
                        </a:rPr>
                        <m:t> </m:t>
                      </m:r>
                      <m:r>
                        <a:rPr lang="en-US" sz="1400">
                          <a:latin typeface="Cambria Math"/>
                        </a:rPr>
                        <m:t>𝑇𝐻𝐸𝑁</m:t>
                      </m:r>
                      <m:r>
                        <a:rPr lang="en-US" sz="1400">
                          <a:latin typeface="Cambria Math"/>
                        </a:rPr>
                        <m:t> </m:t>
                      </m:r>
                      <m:sSubSup>
                        <m:sSubSupPr>
                          <m:ctrlPr>
                            <a:rPr lang="en-US" sz="1400">
                              <a:latin typeface="Cambria Math"/>
                            </a:rPr>
                          </m:ctrlPr>
                        </m:sSubSupPr>
                        <m:e>
                          <m:r>
                            <a:rPr lang="en-US" sz="1400">
                              <a:latin typeface="Cambria Math"/>
                            </a:rPr>
                            <m:t>𝑈</m:t>
                          </m:r>
                        </m:e>
                        <m:sub>
                          <m:r>
                            <a:rPr lang="en-US" sz="1400">
                              <a:latin typeface="Cambria Math"/>
                            </a:rPr>
                            <m:t>𝐷𝑆𝑆</m:t>
                          </m:r>
                          <m:r>
                            <a:rPr lang="en-US" sz="1400">
                              <a:latin typeface="Cambria Math"/>
                            </a:rPr>
                            <m:t>,</m:t>
                          </m:r>
                          <m:r>
                            <a:rPr lang="en-US" sz="1400">
                              <a:latin typeface="Cambria Math"/>
                            </a:rPr>
                            <m:t>𝑘</m:t>
                          </m:r>
                        </m:sub>
                        <m:sup>
                          <m:r>
                            <a:rPr lang="en-US" sz="1400">
                              <a:latin typeface="Cambria Math"/>
                            </a:rPr>
                            <m:t>𝑖</m:t>
                          </m:r>
                        </m:sup>
                      </m:sSubSup>
                      <m:r>
                        <a:rPr lang="en-US" sz="1400">
                          <a:latin typeface="Cambria Math"/>
                        </a:rPr>
                        <m:t> </m:t>
                      </m:r>
                      <m:r>
                        <a:rPr lang="en-US" sz="1400">
                          <a:latin typeface="Cambria Math"/>
                        </a:rPr>
                        <m:t>𝑖𝑠</m:t>
                      </m:r>
                      <m:r>
                        <a:rPr lang="en-US" sz="1400">
                          <a:latin typeface="Cambria Math"/>
                        </a:rPr>
                        <m:t> </m:t>
                      </m:r>
                      <m:sSub>
                        <m:sSubPr>
                          <m:ctrlPr>
                            <a:rPr lang="en-US" sz="1400">
                              <a:latin typeface="Cambria Math"/>
                            </a:rPr>
                          </m:ctrlPr>
                        </m:sSubPr>
                        <m:e>
                          <m:r>
                            <a:rPr lang="en-US" sz="1400">
                              <a:latin typeface="Cambria Math"/>
                            </a:rPr>
                            <m:t>ℬ</m:t>
                          </m:r>
                        </m:e>
                        <m:sub>
                          <m:r>
                            <a:rPr lang="en-US" sz="1400">
                              <a:latin typeface="Cambria Math"/>
                            </a:rPr>
                            <m:t>𝑟</m:t>
                          </m:r>
                        </m:sub>
                      </m:sSub>
                    </m:oMath>
                  </m:oMathPara>
                </a14:m>
                <a:endParaRPr lang="en-US" sz="1200" dirty="0"/>
              </a:p>
            </p:txBody>
          </p:sp>
        </mc:Choice>
        <mc:Fallback xmlns="">
          <p:sp>
            <p:nvSpPr>
              <p:cNvPr id="21" name="Text 11">
                <a:extLst>
                  <a:ext uri="{FF2B5EF4-FFF2-40B4-BE49-F238E27FC236}">
                    <a16:creationId xmlns:a16="http://schemas.microsoft.com/office/drawing/2014/main" id="{9CBADE3E-3254-4F9E-BB29-926001FFCCEF}"/>
                  </a:ext>
                </a:extLst>
              </p:cNvPr>
              <p:cNvSpPr>
                <a:spLocks noRot="1" noChangeAspect="1" noMove="1" noResize="1" noEditPoints="1" noAdjustHandles="1" noChangeArrowheads="1" noChangeShapeType="1" noTextEdit="1"/>
              </p:cNvSpPr>
              <p:nvPr/>
            </p:nvSpPr>
            <p:spPr>
              <a:xfrm>
                <a:off x="6461760" y="2039112"/>
                <a:ext cx="5029200" cy="502920"/>
              </a:xfrm>
              <a:prstGeom prst="rect">
                <a:avLst/>
              </a:prstGeom>
              <a:blipFill>
                <a:blip r:embed="rId7"/>
                <a:stretch>
                  <a:fillRect l="-1939" r="-242"/>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22" name="Text 12">
                <a:extLst>
                  <a:ext uri="{FF2B5EF4-FFF2-40B4-BE49-F238E27FC236}">
                    <a16:creationId xmlns:a16="http://schemas.microsoft.com/office/drawing/2014/main" id="{39FB4C6D-0B2A-4F3C-BE44-54F451B158B5}"/>
                  </a:ext>
                </a:extLst>
              </p:cNvPr>
              <p:cNvSpPr/>
              <p:nvPr/>
            </p:nvSpPr>
            <p:spPr>
              <a:xfrm>
                <a:off x="6461760" y="2587752"/>
                <a:ext cx="2468880" cy="6858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Para xmlns:m="http://schemas.openxmlformats.org/officeDocument/2006/math">
                    <m:oMath>
                      <m:sSubSup>
                        <m:sSubSupPr>
                          <m:ctrlPr>
                            <a:rPr lang="en-US" sz="1400">
                              <a:latin typeface="Cambria Math"/>
                            </a:rPr>
                          </m:ctrlPr>
                        </m:sSubSupPr>
                        <m:e>
                          <m:r>
                            <a:rPr lang="en-US" sz="1400">
                              <a:latin typeface="Cambria Math"/>
                            </a:rPr>
                            <m:t>𝑢</m:t>
                          </m:r>
                        </m:e>
                        <m:sub>
                          <m:r>
                            <a:rPr lang="en-US" sz="1400">
                              <a:latin typeface="Cambria Math"/>
                            </a:rPr>
                            <m:t>𝑚</m:t>
                          </m:r>
                          <m:r>
                            <a:rPr lang="en-US" sz="1400">
                              <a:latin typeface="Cambria Math"/>
                            </a:rPr>
                            <m:t>,</m:t>
                          </m:r>
                          <m:r>
                            <a:rPr lang="en-US" sz="1400">
                              <a:latin typeface="Cambria Math"/>
                            </a:rPr>
                            <m:t>𝑘</m:t>
                          </m:r>
                        </m:sub>
                        <m:sup>
                          <m:r>
                            <a:rPr lang="en-US" sz="1400">
                              <a:latin typeface="Cambria Math"/>
                            </a:rPr>
                            <m:t>𝑖</m:t>
                          </m:r>
                        </m:sup>
                      </m:sSubSup>
                      <m:r>
                        <a:rPr lang="en-US" sz="1400">
                          <a:latin typeface="Cambria Math"/>
                        </a:rPr>
                        <m:t> </m:t>
                      </m:r>
                      <m:r>
                        <m:rPr>
                          <m:aln/>
                        </m:rPr>
                        <a:rPr lang="en-US" sz="1400">
                          <a:latin typeface="Cambria Math"/>
                        </a:rPr>
                        <m:t>=</m:t>
                      </m:r>
                      <m:r>
                        <a:rPr lang="en-US" sz="1400">
                          <a:latin typeface="Cambria Math"/>
                        </a:rPr>
                        <m:t> </m:t>
                      </m:r>
                      <m:f>
                        <m:fPr>
                          <m:ctrlPr>
                            <a:rPr lang="en-US" sz="1400" i="1">
                              <a:latin typeface="Cambria Math" panose="02040503050406030204" pitchFamily="18" charset="0"/>
                            </a:rPr>
                          </m:ctrlPr>
                        </m:fPr>
                        <m:num>
                          <m:nary>
                            <m:naryPr>
                              <m:chr m:val="∑"/>
                              <m:limLoc m:val="undOvr"/>
                              <m:ctrlPr>
                                <a:rPr lang="en-US" sz="1400">
                                  <a:latin typeface="Cambria Math"/>
                                </a:rPr>
                              </m:ctrlPr>
                            </m:naryPr>
                            <m:sub>
                              <m:r>
                                <a:rPr lang="en-US" sz="1400">
                                  <a:latin typeface="Cambria Math"/>
                                </a:rPr>
                                <m:t>𝑟</m:t>
                              </m:r>
                            </m:sub>
                            <m:sup/>
                            <m:e>
                              <m:sSub>
                                <m:sSubPr>
                                  <m:ctrlPr>
                                    <a:rPr lang="en-US" sz="1400">
                                      <a:latin typeface="Cambria Math"/>
                                    </a:rPr>
                                  </m:ctrlPr>
                                </m:sSubPr>
                                <m:e>
                                  <m:r>
                                    <a:rPr lang="en-US" sz="1400">
                                      <a:latin typeface="Cambria Math"/>
                                    </a:rPr>
                                    <m:t>𝛼</m:t>
                                  </m:r>
                                </m:e>
                                <m:sub>
                                  <m:r>
                                    <a:rPr lang="en-US" sz="1400">
                                      <a:latin typeface="Cambria Math"/>
                                    </a:rPr>
                                    <m:t>𝑟</m:t>
                                  </m:r>
                                </m:sub>
                              </m:sSub>
                              <m:r>
                                <a:rPr lang="en-US" sz="1400">
                                  <a:latin typeface="Cambria Math"/>
                                </a:rPr>
                                <m:t> </m:t>
                              </m:r>
                              <m:sSub>
                                <m:sSubPr>
                                  <m:ctrlPr>
                                    <a:rPr lang="en-US" sz="1400">
                                      <a:latin typeface="Cambria Math"/>
                                    </a:rPr>
                                  </m:ctrlPr>
                                </m:sSubPr>
                                <m:e>
                                  <m:r>
                                    <a:rPr lang="en-US" sz="1400">
                                      <a:latin typeface="Cambria Math"/>
                                    </a:rPr>
                                    <m:t>𝑣</m:t>
                                  </m:r>
                                </m:e>
                                <m:sub>
                                  <m:r>
                                    <a:rPr lang="en-US" sz="1400">
                                      <a:latin typeface="Cambria Math"/>
                                    </a:rPr>
                                    <m:t>𝑟</m:t>
                                  </m:r>
                                  <m:r>
                                    <a:rPr lang="en-US" sz="1400">
                                      <a:latin typeface="Cambria Math"/>
                                    </a:rPr>
                                    <m:t>,</m:t>
                                  </m:r>
                                  <m:r>
                                    <a:rPr lang="en-US" sz="1400">
                                      <a:latin typeface="Cambria Math"/>
                                    </a:rPr>
                                    <m:t>𝑚</m:t>
                                  </m:r>
                                </m:sub>
                              </m:sSub>
                            </m:e>
                          </m:nary>
                        </m:num>
                        <m:den>
                          <m:r>
                            <a:rPr lang="en-US" sz="1400">
                              <a:latin typeface="Cambria Math"/>
                            </a:rPr>
                            <m:t>𝑚𝑎𝑥</m:t>
                          </m:r>
                          <m:r>
                            <a:rPr lang="en-US" sz="1400">
                              <a:latin typeface="Cambria Math"/>
                            </a:rPr>
                            <m:t>(1, </m:t>
                          </m:r>
                          <m:nary>
                            <m:naryPr>
                              <m:chr m:val="∑"/>
                              <m:limLoc m:val="undOvr"/>
                              <m:ctrlPr>
                                <a:rPr lang="en-US" sz="1400">
                                  <a:latin typeface="Cambria Math"/>
                                </a:rPr>
                              </m:ctrlPr>
                            </m:naryPr>
                            <m:sub>
                              <m:r>
                                <a:rPr lang="en-US" sz="1400">
                                  <a:latin typeface="Cambria Math"/>
                                </a:rPr>
                                <m:t>𝑟</m:t>
                              </m:r>
                            </m:sub>
                            <m:sup/>
                            <m:e>
                              <m:sSub>
                                <m:sSubPr>
                                  <m:ctrlPr>
                                    <a:rPr lang="en-US" sz="1400">
                                      <a:latin typeface="Cambria Math"/>
                                    </a:rPr>
                                  </m:ctrlPr>
                                </m:sSubPr>
                                <m:e>
                                  <m:r>
                                    <a:rPr lang="en-US" sz="1400">
                                      <a:latin typeface="Cambria Math"/>
                                    </a:rPr>
                                    <m:t>𝛼</m:t>
                                  </m:r>
                                </m:e>
                                <m:sub>
                                  <m:r>
                                    <a:rPr lang="en-US" sz="1400">
                                      <a:latin typeface="Cambria Math"/>
                                    </a:rPr>
                                    <m:t>𝑟</m:t>
                                  </m:r>
                                </m:sub>
                              </m:sSub>
                            </m:e>
                          </m:nary>
                          <m:r>
                            <a:rPr lang="en-US" sz="1400">
                              <a:latin typeface="Cambria Math"/>
                            </a:rPr>
                            <m:t>)</m:t>
                          </m:r>
                        </m:den>
                      </m:f>
                    </m:oMath>
                  </m:oMathPara>
                </a14:m>
                <a:endParaRPr lang="en-US" sz="1200" dirty="0"/>
              </a:p>
            </p:txBody>
          </p:sp>
        </mc:Choice>
        <mc:Fallback xmlns="">
          <p:sp>
            <p:nvSpPr>
              <p:cNvPr id="22" name="Text 12">
                <a:extLst>
                  <a:ext uri="{FF2B5EF4-FFF2-40B4-BE49-F238E27FC236}">
                    <a16:creationId xmlns:a16="http://schemas.microsoft.com/office/drawing/2014/main" id="{39FB4C6D-0B2A-4F3C-BE44-54F451B158B5}"/>
                  </a:ext>
                </a:extLst>
              </p:cNvPr>
              <p:cNvSpPr>
                <a:spLocks noRot="1" noChangeAspect="1" noMove="1" noResize="1" noEditPoints="1" noAdjustHandles="1" noChangeArrowheads="1" noChangeShapeType="1" noTextEdit="1"/>
              </p:cNvSpPr>
              <p:nvPr/>
            </p:nvSpPr>
            <p:spPr>
              <a:xfrm>
                <a:off x="6461760" y="2587752"/>
                <a:ext cx="2468880" cy="685800"/>
              </a:xfrm>
              <a:prstGeom prst="rect">
                <a:avLst/>
              </a:prstGeom>
              <a:blipFill>
                <a:blip r:embed="rId8"/>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23" name="Text 13">
                <a:extLst>
                  <a:ext uri="{FF2B5EF4-FFF2-40B4-BE49-F238E27FC236}">
                    <a16:creationId xmlns:a16="http://schemas.microsoft.com/office/drawing/2014/main" id="{2A7F13B5-73BC-4DD6-A727-8BE1BEFB66DD}"/>
                  </a:ext>
                </a:extLst>
              </p:cNvPr>
              <p:cNvSpPr/>
              <p:nvPr/>
            </p:nvSpPr>
            <p:spPr>
              <a:xfrm>
                <a:off x="9022080" y="2587752"/>
                <a:ext cx="2468880" cy="6858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Para xmlns:m="http://schemas.openxmlformats.org/officeDocument/2006/math">
                    <m:oMath>
                      <m:r>
                        <a:rPr lang="en-US" sz="1400">
                          <a:latin typeface="Cambria Math"/>
                        </a:rPr>
                        <m:t> </m:t>
                      </m:r>
                      <m:sSub>
                        <m:sSubPr>
                          <m:ctrlPr>
                            <a:rPr lang="en-US" sz="1400">
                              <a:latin typeface="Cambria Math"/>
                            </a:rPr>
                          </m:ctrlPr>
                        </m:sSubPr>
                        <m:e>
                          <m:r>
                            <a:rPr lang="en-US" sz="1400">
                              <a:latin typeface="Cambria Math"/>
                            </a:rPr>
                            <m:t>𝛼</m:t>
                          </m:r>
                        </m:e>
                        <m:sub>
                          <m:r>
                            <a:rPr lang="en-US" sz="1400">
                              <a:latin typeface="Cambria Math"/>
                            </a:rPr>
                            <m:t>𝑟</m:t>
                          </m:r>
                        </m:sub>
                      </m:sSub>
                      <m:r>
                        <a:rPr lang="en-US" sz="1400">
                          <a:latin typeface="Cambria Math"/>
                        </a:rPr>
                        <m:t> </m:t>
                      </m:r>
                      <m:r>
                        <m:rPr>
                          <m:aln/>
                        </m:rPr>
                        <a:rPr lang="en-US" sz="1400">
                          <a:latin typeface="Cambria Math"/>
                        </a:rPr>
                        <m:t>=</m:t>
                      </m:r>
                      <m:r>
                        <a:rPr lang="en-US" sz="1400">
                          <a:latin typeface="Cambria Math"/>
                        </a:rPr>
                        <m:t> </m:t>
                      </m:r>
                      <m:sSub>
                        <m:sSubPr>
                          <m:ctrlPr>
                            <a:rPr lang="en-US" sz="1400">
                              <a:latin typeface="Cambria Math"/>
                            </a:rPr>
                          </m:ctrlPr>
                        </m:sSubPr>
                        <m:e>
                          <m:r>
                            <m:rPr>
                              <m:sty m:val="p"/>
                            </m:rPr>
                            <a:rPr lang="en-US" sz="1400">
                              <a:latin typeface="Cambria Math"/>
                            </a:rPr>
                            <m:t>min</m:t>
                          </m:r>
                        </m:e>
                        <m:sub>
                          <m:r>
                            <a:rPr lang="en-US" sz="1400">
                              <a:latin typeface="Cambria Math"/>
                            </a:rPr>
                            <m:t>𝑛</m:t>
                          </m:r>
                          <m:r>
                            <a:rPr lang="en-US" sz="1400">
                              <a:latin typeface="Cambria Math"/>
                            </a:rPr>
                            <m:t> ∈ </m:t>
                          </m:r>
                          <m:r>
                            <a:rPr lang="en-US" sz="1400">
                              <a:latin typeface="Cambria Math"/>
                            </a:rPr>
                            <m:t>𝑎𝑛𝑡</m:t>
                          </m:r>
                          <m:r>
                            <a:rPr lang="en-US" sz="1400">
                              <a:latin typeface="Cambria Math"/>
                            </a:rPr>
                            <m:t>(</m:t>
                          </m:r>
                          <m:r>
                            <a:rPr lang="en-US" sz="1400">
                              <a:latin typeface="Cambria Math"/>
                            </a:rPr>
                            <m:t>𝑟</m:t>
                          </m:r>
                          <m:r>
                            <a:rPr lang="en-US" sz="1400">
                              <a:latin typeface="Cambria Math"/>
                            </a:rPr>
                            <m:t>)</m:t>
                          </m:r>
                        </m:sub>
                      </m:sSub>
                      <m:r>
                        <a:rPr lang="en-US" sz="1400">
                          <a:latin typeface="Cambria Math"/>
                        </a:rPr>
                        <m:t> </m:t>
                      </m:r>
                      <m:sSub>
                        <m:sSubPr>
                          <m:ctrlPr>
                            <a:rPr lang="en-US" sz="1400">
                              <a:latin typeface="Cambria Math"/>
                            </a:rPr>
                          </m:ctrlPr>
                        </m:sSubPr>
                        <m:e>
                          <m:r>
                            <a:rPr lang="en-US" sz="1400">
                              <a:latin typeface="Cambria Math"/>
                            </a:rPr>
                            <m:t>𝜇</m:t>
                          </m:r>
                        </m:e>
                        <m:sub>
                          <m:sSub>
                            <m:sSubPr>
                              <m:ctrlPr>
                                <a:rPr lang="en-US" sz="1400">
                                  <a:latin typeface="Cambria Math"/>
                                </a:rPr>
                              </m:ctrlPr>
                            </m:sSubPr>
                            <m:e>
                              <m:r>
                                <a:rPr lang="en-US" sz="1400">
                                  <a:latin typeface="Cambria Math"/>
                                </a:rPr>
                                <m:t>𝐴</m:t>
                              </m:r>
                            </m:e>
                            <m:sub>
                              <m:r>
                                <a:rPr lang="en-US" sz="1400">
                                  <a:latin typeface="Cambria Math"/>
                                </a:rPr>
                                <m:t>𝑟</m:t>
                              </m:r>
                              <m:r>
                                <a:rPr lang="en-US" sz="1400">
                                  <a:latin typeface="Cambria Math"/>
                                </a:rPr>
                                <m:t>,</m:t>
                              </m:r>
                              <m:r>
                                <a:rPr lang="en-US" sz="1400">
                                  <a:latin typeface="Cambria Math"/>
                                </a:rPr>
                                <m:t>𝑛</m:t>
                              </m:r>
                            </m:sub>
                          </m:sSub>
                        </m:sub>
                      </m:sSub>
                      <m:r>
                        <a:rPr lang="en-US" sz="1400">
                          <a:latin typeface="Cambria Math"/>
                        </a:rPr>
                        <m:t>(</m:t>
                      </m:r>
                      <m:sSubSup>
                        <m:sSubSupPr>
                          <m:ctrlPr>
                            <a:rPr lang="en-US" sz="1400">
                              <a:latin typeface="Cambria Math"/>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𝑒𝑓𝑓</m:t>
                          </m:r>
                          <m:r>
                            <a:rPr lang="en-US" sz="1400">
                              <a:latin typeface="Cambria Math"/>
                            </a:rPr>
                            <m:t>,</m:t>
                          </m:r>
                          <m:r>
                            <a:rPr lang="en-US" sz="1400">
                              <a:latin typeface="Cambria Math"/>
                            </a:rPr>
                            <m:t>𝑖</m:t>
                          </m:r>
                        </m:sup>
                      </m:sSubSup>
                      <m:r>
                        <a:rPr lang="en-US" sz="1400">
                          <a:latin typeface="Cambria Math"/>
                        </a:rPr>
                        <m:t>)</m:t>
                      </m:r>
                    </m:oMath>
                  </m:oMathPara>
                </a14:m>
                <a:endParaRPr lang="en-US" sz="1200" dirty="0"/>
              </a:p>
            </p:txBody>
          </p:sp>
        </mc:Choice>
        <mc:Fallback xmlns="">
          <p:sp>
            <p:nvSpPr>
              <p:cNvPr id="23" name="Text 13">
                <a:extLst>
                  <a:ext uri="{FF2B5EF4-FFF2-40B4-BE49-F238E27FC236}">
                    <a16:creationId xmlns:a16="http://schemas.microsoft.com/office/drawing/2014/main" id="{2A7F13B5-73BC-4DD6-A727-8BE1BEFB66DD}"/>
                  </a:ext>
                </a:extLst>
              </p:cNvPr>
              <p:cNvSpPr>
                <a:spLocks noRot="1" noChangeAspect="1" noMove="1" noResize="1" noEditPoints="1" noAdjustHandles="1" noChangeArrowheads="1" noChangeShapeType="1" noTextEdit="1"/>
              </p:cNvSpPr>
              <p:nvPr/>
            </p:nvSpPr>
            <p:spPr>
              <a:xfrm>
                <a:off x="9022080" y="2587752"/>
                <a:ext cx="2468880" cy="685800"/>
              </a:xfrm>
              <a:prstGeom prst="rect">
                <a:avLst/>
              </a:prstGeom>
              <a:blipFill>
                <a:blip r:embed="rId9"/>
                <a:stretch>
                  <a:fillRect l="-494" r="-1975"/>
                </a:stretch>
              </a:blipFill>
              <a:ln/>
            </p:spPr>
            <p:txBody>
              <a:bodyPr/>
              <a:lstStyle/>
              <a:p>
                <a:r>
                  <a:rPr lang="tr-TR">
                    <a:noFill/>
                  </a:rPr>
                  <a:t/>
                </a:r>
              </a:p>
            </p:txBody>
          </p:sp>
        </mc:Fallback>
      </mc:AlternateContent>
      <p:sp>
        <p:nvSpPr>
          <p:cNvPr id="24" name="Text 14">
            <a:extLst>
              <a:ext uri="{FF2B5EF4-FFF2-40B4-BE49-F238E27FC236}">
                <a16:creationId xmlns:a16="http://schemas.microsoft.com/office/drawing/2014/main" id="{0523A97F-25C0-42DF-BF45-1C2FAEA8DADA}"/>
              </a:ext>
            </a:extLst>
          </p:cNvPr>
          <p:cNvSpPr/>
          <p:nvPr/>
        </p:nvSpPr>
        <p:spPr>
          <a:xfrm>
            <a:off x="6461760" y="3364992"/>
            <a:ext cx="5029200" cy="100584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0" indent="-127000">
              <a:lnSpc>
                <a:spcPct val="102000"/>
              </a:lnSpc>
              <a:spcAft>
                <a:spcPts val="500"/>
              </a:spcAft>
              <a:buSzPct val="100000"/>
              <a:buChar char="•"/>
            </a:pPr>
            <a:r>
              <a:rPr lang="en-US" sz="1250" b="1" dirty="0">
                <a:solidFill>
                  <a:srgbClr val="222222"/>
                </a:solidFill>
                <a:latin typeface="Calibri" pitchFamily="34" charset="0"/>
                <a:ea typeface="Calibri" pitchFamily="34" charset="-122"/>
                <a:cs typeface="Calibri" pitchFamily="34" charset="-120"/>
              </a:rPr>
              <a:t>No defuzzification</a:t>
            </a:r>
            <a:r>
              <a:rPr lang="en-US" sz="1250" dirty="0">
                <a:solidFill>
                  <a:srgbClr val="222222"/>
                </a:solidFill>
                <a:latin typeface="Calibri" pitchFamily="34" charset="0"/>
                <a:ea typeface="Calibri" pitchFamily="34" charset="-122"/>
                <a:cs typeface="Calibri" pitchFamily="34" charset="-120"/>
              </a:rPr>
              <a:t>: the order is an activation-weighted average of singletons</a:t>
            </a:r>
            <a:endParaRPr lang="en-US" sz="1250" dirty="0"/>
          </a:p>
          <a:p>
            <a:pPr marL="127000" indent="-127000">
              <a:lnSpc>
                <a:spcPct val="102000"/>
              </a:lnSpc>
              <a:spcAft>
                <a:spcPts val="500"/>
              </a:spcAft>
              <a:buSzPct val="100000"/>
              <a:buChar char="•"/>
            </a:pPr>
            <a:r>
              <a:rPr lang="en-US" sz="1250" b="1" dirty="0">
                <a:solidFill>
                  <a:srgbClr val="222222"/>
                </a:solidFill>
                <a:latin typeface="Calibri" pitchFamily="34" charset="0"/>
                <a:ea typeface="Calibri" pitchFamily="34" charset="-122"/>
                <a:cs typeface="Calibri" pitchFamily="34" charset="-120"/>
              </a:rPr>
              <a:t>Unit-floored denominator</a:t>
            </a:r>
            <a:r>
              <a:rPr lang="en-US" sz="1250" dirty="0">
                <a:solidFill>
                  <a:srgbClr val="222222"/>
                </a:solidFill>
                <a:latin typeface="Calibri" pitchFamily="34" charset="0"/>
                <a:ea typeface="Calibri" pitchFamily="34" charset="-122"/>
                <a:cs typeface="Calibri" pitchFamily="34" charset="-120"/>
              </a:rPr>
              <a:t>: weak evidence orders weak action</a:t>
            </a:r>
            <a:endParaRPr lang="en-US" sz="1250" dirty="0"/>
          </a:p>
          <a:p>
            <a:pPr marL="127000" indent="-127000">
              <a:lnSpc>
                <a:spcPct val="102000"/>
              </a:lnSpc>
              <a:buSzPct val="100000"/>
              <a:buChar char="•"/>
            </a:pPr>
            <a:r>
              <a:rPr lang="en-US" sz="1250" dirty="0">
                <a:solidFill>
                  <a:srgbClr val="222222"/>
                </a:solidFill>
                <a:latin typeface="Calibri" pitchFamily="34" charset="0"/>
                <a:ea typeface="Calibri" pitchFamily="34" charset="-122"/>
                <a:cs typeface="Calibri" pitchFamily="34" charset="-120"/>
              </a:rPr>
              <a:t>Each rule's contribution to each family stays visible and traceable by construction</a:t>
            </a:r>
            <a:endParaRPr lang="en-US" sz="1250" dirty="0"/>
          </a:p>
        </p:txBody>
      </p:sp>
      <p:sp>
        <p:nvSpPr>
          <p:cNvPr id="25" name="Shape 15">
            <a:extLst>
              <a:ext uri="{FF2B5EF4-FFF2-40B4-BE49-F238E27FC236}">
                <a16:creationId xmlns:a16="http://schemas.microsoft.com/office/drawing/2014/main" id="{4803B180-7FD4-4A46-8571-95CAE7E0DD20}"/>
              </a:ext>
            </a:extLst>
          </p:cNvPr>
          <p:cNvSpPr/>
          <p:nvPr/>
        </p:nvSpPr>
        <p:spPr>
          <a:xfrm>
            <a:off x="472440" y="4599432"/>
            <a:ext cx="11201400" cy="2093976"/>
          </a:xfrm>
          <a:prstGeom prst="roundRect">
            <a:avLst>
              <a:gd name="adj" fmla="val 2564"/>
            </a:avLst>
          </a:prstGeom>
          <a:solidFill>
            <a:srgbClr val="F2F2F2"/>
          </a:solidFill>
          <a:ln/>
        </p:spPr>
        <p:txBody>
          <a:bodyPr/>
          <a:lstStyle/>
          <a:p>
            <a:endParaRPr lang="tr-TR"/>
          </a:p>
        </p:txBody>
      </p:sp>
      <p:sp>
        <p:nvSpPr>
          <p:cNvPr id="26" name="Text 16">
            <a:extLst>
              <a:ext uri="{FF2B5EF4-FFF2-40B4-BE49-F238E27FC236}">
                <a16:creationId xmlns:a16="http://schemas.microsoft.com/office/drawing/2014/main" id="{ED24557F-324B-4FC8-984D-7769AA977E8E}"/>
              </a:ext>
            </a:extLst>
          </p:cNvPr>
          <p:cNvSpPr/>
          <p:nvPr/>
        </p:nvSpPr>
        <p:spPr>
          <a:xfrm>
            <a:off x="746760" y="4690872"/>
            <a:ext cx="10698480" cy="200253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300" b="1" noProof="0" dirty="0"/>
              <a:t>Why Takagi–Sugeno follows from the framework, not from preference:</a:t>
            </a:r>
          </a:p>
          <a:p>
            <a:endParaRPr lang="en-US" sz="1300" noProof="0" dirty="0"/>
          </a:p>
          <a:p>
            <a:pPr marL="342900" lvl="0" indent="-342900">
              <a:buFont typeface="+mj-lt"/>
              <a:buAutoNum type="arabicPeriod"/>
            </a:pPr>
            <a:r>
              <a:rPr lang="en-US" sz="1300" b="1" noProof="0" dirty="0"/>
              <a:t>The outputs are already numbers.</a:t>
            </a:r>
            <a:r>
              <a:rPr lang="en-US" sz="1300" noProof="0" dirty="0"/>
              <a:t> Every consequent is an intervention intensity in [0, 1]. A singleton states that number directly; a fuzzy output set would only wrap it in an extra shape that must then be un-done by defuzzification.</a:t>
            </a:r>
          </a:p>
          <a:p>
            <a:pPr marL="342900" lvl="0" indent="-342900">
              <a:buFont typeface="+mj-lt"/>
              <a:buAutoNum type="arabicPeriod"/>
            </a:pPr>
            <a:r>
              <a:rPr lang="en-US" sz="1300" b="1" noProof="0" dirty="0"/>
              <a:t>Adaptation needs a number to adjust.</a:t>
            </a:r>
            <a:r>
              <a:rPr lang="en-US" sz="1300" noProof="0" dirty="0"/>
              <a:t> Stage ① moves exactly these singletons, in bounded ±0.05 steps that can be tested and reversed one at a time. A Mamdani output surface has no single knob to turn — an edit spreads over the whole set and cannot be audited step by step.</a:t>
            </a:r>
          </a:p>
          <a:p>
            <a:pPr marL="342900" lvl="0" indent="-342900">
              <a:buFont typeface="+mj-lt"/>
              <a:buAutoNum type="arabicPeriod"/>
            </a:pPr>
            <a:r>
              <a:rPr lang="en-US" sz="1300" b="1" noProof="0" dirty="0"/>
              <a:t>Traceability needs named rules with visible weights.</a:t>
            </a:r>
            <a:r>
              <a:rPr lang="en-US" sz="1300" noProof="0" dirty="0"/>
              <a:t> In the weighted average, every order decomposes into "rule R, strength w, value u" which the trace reads directly. A centroid integral mixes all rules into one area; the individual shares disappear.</a:t>
            </a:r>
          </a:p>
          <a:p>
            <a:pPr marL="342900" lvl="0" indent="-342900">
              <a:buFont typeface="+mj-lt"/>
              <a:buAutoNum type="arabicPeriod"/>
            </a:pPr>
            <a:r>
              <a:rPr lang="en-US" sz="1300" b="1" noProof="0" dirty="0"/>
              <a:t>Nothing linguistic is lost.</a:t>
            </a:r>
            <a:r>
              <a:rPr lang="en-US" sz="1300" noProof="0" dirty="0"/>
              <a:t> The condition side stays fully linguistic — five gated decision concepts with five terms each. Mamdani's real strength lives on the antecedent side, and that side is kept.</a:t>
            </a:r>
          </a:p>
        </p:txBody>
      </p:sp>
    </p:spTree>
    <p:extLst>
      <p:ext uri="{BB962C8B-B14F-4D97-AF65-F5344CB8AC3E}">
        <p14:creationId xmlns:p14="http://schemas.microsoft.com/office/powerpoint/2010/main" val="1932746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One Agent, Four Layers, One Loop</a:t>
            </a:r>
            <a:endParaRPr lang="en-US" sz="2900" dirty="0"/>
          </a:p>
        </p:txBody>
      </p:sp>
      <p:pic>
        <p:nvPicPr>
          <p:cNvPr id="4" name="Image 0" descr="/tmp/thx/deck/figs/Figure4_1.png"/>
          <p:cNvPicPr>
            <a:picLocks noChangeAspect="1"/>
          </p:cNvPicPr>
          <p:nvPr/>
        </p:nvPicPr>
        <p:blipFill>
          <a:blip r:embed="rId3"/>
          <a:stretch>
            <a:fillRect/>
          </a:stretch>
        </p:blipFill>
        <p:spPr>
          <a:xfrm>
            <a:off x="1695072" y="1371600"/>
            <a:ext cx="3102096" cy="5212080"/>
          </a:xfrm>
          <a:prstGeom prst="rect">
            <a:avLst/>
          </a:prstGeom>
        </p:spPr>
      </p:pic>
      <p:sp>
        <p:nvSpPr>
          <p:cNvPr id="5" name="Text 2"/>
          <p:cNvSpPr/>
          <p:nvPr/>
        </p:nvSpPr>
        <p:spPr>
          <a:xfrm>
            <a:off x="6263640" y="1737360"/>
            <a:ext cx="5486400" cy="457200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1 : </a:t>
            </a:r>
            <a:r>
              <a:rPr lang="en-US" sz="1600" b="1" dirty="0">
                <a:solidFill>
                  <a:srgbClr val="222222"/>
                </a:solidFill>
                <a:latin typeface="Calibri" pitchFamily="34" charset="0"/>
                <a:ea typeface="Calibri" pitchFamily="34" charset="-122"/>
                <a:cs typeface="Calibri" pitchFamily="34" charset="-120"/>
              </a:rPr>
              <a:t>Input space</a:t>
            </a:r>
            <a:r>
              <a:rPr lang="tr-TR" sz="1600" b="1" dirty="0">
                <a:solidFill>
                  <a:srgbClr val="222222"/>
                </a:solidFill>
                <a:latin typeface="Calibri" pitchFamily="34" charset="0"/>
                <a:ea typeface="Calibri" pitchFamily="34" charset="-122"/>
                <a:cs typeface="Calibri" pitchFamily="34" charset="-120"/>
              </a:rPr>
              <a:t> - </a:t>
            </a:r>
            <a:r>
              <a:rPr lang="en-US" sz="1600" dirty="0">
                <a:solidFill>
                  <a:srgbClr val="222222"/>
                </a:solidFill>
                <a:latin typeface="Calibri" pitchFamily="34" charset="0"/>
                <a:ea typeface="Calibri" pitchFamily="34" charset="-122"/>
                <a:cs typeface="Calibri" pitchFamily="34" charset="-120"/>
              </a:rPr>
              <a:t>heterogeneous, spatio-temporal measurements</a:t>
            </a:r>
            <a:endParaRPr lang="en-US" sz="1600" dirty="0"/>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2 : </a:t>
            </a:r>
            <a:r>
              <a:rPr lang="en-US" sz="1600" b="1" dirty="0">
                <a:solidFill>
                  <a:srgbClr val="222222"/>
                </a:solidFill>
                <a:latin typeface="Calibri" pitchFamily="34" charset="0"/>
                <a:ea typeface="Calibri" pitchFamily="34" charset="-122"/>
                <a:cs typeface="Calibri" pitchFamily="34" charset="-120"/>
              </a:rPr>
              <a:t>Perception</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fusion into features with explicit confidence</a:t>
            </a:r>
            <a:endParaRPr lang="en-US" sz="1600" dirty="0"/>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3 : </a:t>
            </a:r>
            <a:r>
              <a:rPr lang="en-US" sz="1600" b="1" dirty="0">
                <a:solidFill>
                  <a:srgbClr val="222222"/>
                </a:solidFill>
                <a:latin typeface="Calibri" pitchFamily="34" charset="0"/>
                <a:ea typeface="Calibri" pitchFamily="34" charset="-122"/>
                <a:cs typeface="Calibri" pitchFamily="34" charset="-120"/>
              </a:rPr>
              <a:t>Concept space</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hierarchical fuzzification into five decision concepts</a:t>
            </a:r>
            <a:endParaRPr lang="en-US" sz="1600" dirty="0"/>
          </a:p>
          <a:p>
            <a:pPr marL="152400" indent="-152400">
              <a:lnSpc>
                <a:spcPct val="105000"/>
              </a:lnSpc>
              <a:spcAft>
                <a:spcPts val="1000"/>
              </a:spcAft>
              <a:buSzPct val="100000"/>
              <a:buChar char="•"/>
            </a:pPr>
            <a:r>
              <a:rPr lang="en-US" sz="1600" dirty="0">
                <a:solidFill>
                  <a:srgbClr val="222222"/>
                </a:solidFill>
                <a:highlight>
                  <a:srgbClr val="C0C0C0"/>
                </a:highlight>
                <a:latin typeface="Calibri" pitchFamily="34" charset="0"/>
                <a:ea typeface="Calibri" pitchFamily="34" charset="-122"/>
                <a:cs typeface="Calibri" pitchFamily="34" charset="-120"/>
              </a:rPr>
              <a:t>Layer 4 : </a:t>
            </a:r>
            <a:r>
              <a:rPr lang="en-US" sz="1600" b="1" dirty="0">
                <a:solidFill>
                  <a:srgbClr val="222222"/>
                </a:solidFill>
                <a:highlight>
                  <a:srgbClr val="C0C0C0"/>
                </a:highlight>
                <a:latin typeface="Calibri" pitchFamily="34" charset="0"/>
                <a:ea typeface="Calibri" pitchFamily="34" charset="-122"/>
                <a:cs typeface="Calibri" pitchFamily="34" charset="-120"/>
              </a:rPr>
              <a:t>Decision space</a:t>
            </a:r>
            <a:r>
              <a:rPr lang="tr-TR" sz="1600" dirty="0">
                <a:solidFill>
                  <a:srgbClr val="222222"/>
                </a:solidFill>
                <a:highlight>
                  <a:srgbClr val="C0C0C0"/>
                </a:highlight>
                <a:latin typeface="Calibri" pitchFamily="34" charset="0"/>
                <a:ea typeface="Calibri" pitchFamily="34" charset="-122"/>
                <a:cs typeface="Calibri" pitchFamily="34" charset="-120"/>
              </a:rPr>
              <a:t> </a:t>
            </a:r>
            <a:r>
              <a:rPr lang="tr-TR" sz="1600" b="1" dirty="0">
                <a:solidFill>
                  <a:srgbClr val="222222"/>
                </a:solidFill>
                <a:highlight>
                  <a:srgbClr val="C0C0C0"/>
                </a:highlight>
                <a:latin typeface="Calibri" pitchFamily="34" charset="0"/>
                <a:ea typeface="Calibri" pitchFamily="34" charset="-122"/>
                <a:cs typeface="Calibri" pitchFamily="34" charset="-120"/>
              </a:rPr>
              <a:t>-</a:t>
            </a:r>
            <a:r>
              <a:rPr lang="en-US" sz="1600" dirty="0">
                <a:solidFill>
                  <a:srgbClr val="222222"/>
                </a:solidFill>
                <a:highlight>
                  <a:srgbClr val="C0C0C0"/>
                </a:highlight>
                <a:latin typeface="Calibri" pitchFamily="34" charset="0"/>
                <a:ea typeface="Calibri" pitchFamily="34" charset="-122"/>
                <a:cs typeface="Calibri" pitchFamily="34" charset="-120"/>
              </a:rPr>
              <a:t> rules, satisficing tests, staged adaptation, fail-safe</a:t>
            </a:r>
            <a:endParaRPr lang="en-US" sz="1600" dirty="0">
              <a:highlight>
                <a:srgbClr val="C0C0C0"/>
              </a:highlight>
            </a:endParaRPr>
          </a:p>
          <a:p>
            <a:pPr marL="152400" indent="-152400">
              <a:lnSpc>
                <a:spcPct val="105000"/>
              </a:lnSpc>
              <a:spcAft>
                <a:spcPts val="1000"/>
              </a:spcAft>
              <a:buSzPct val="100000"/>
              <a:buChar char="•"/>
            </a:pPr>
            <a:r>
              <a:rPr lang="en-US" sz="1600" b="1" dirty="0">
                <a:solidFill>
                  <a:srgbClr val="222222"/>
                </a:solidFill>
                <a:latin typeface="Calibri" pitchFamily="34" charset="0"/>
                <a:ea typeface="Calibri" pitchFamily="34" charset="-122"/>
                <a:cs typeface="Calibri" pitchFamily="34" charset="-120"/>
              </a:rPr>
              <a:t>N agents run this loop concurrently on their own regions; a non-inferential Global DSS ranks and allocates</a:t>
            </a:r>
            <a:endParaRPr lang="en-US" sz="1600" dirty="0"/>
          </a:p>
        </p:txBody>
      </p:sp>
      <p:pic>
        <p:nvPicPr>
          <p:cNvPr id="6" name="Image 1" descr="/tmp/thx/deck/figs/metu_emblem.png"/>
          <p:cNvPicPr>
            <a:picLocks noChangeAspect="1"/>
          </p:cNvPicPr>
          <p:nvPr/>
        </p:nvPicPr>
        <p:blipFill>
          <a:blip r:embed="rId4"/>
          <a:stretch>
            <a:fillRect/>
          </a:stretch>
        </p:blipFill>
        <p:spPr>
          <a:xfrm>
            <a:off x="10716768" y="184607"/>
            <a:ext cx="475488" cy="398882"/>
          </a:xfrm>
          <a:prstGeom prst="rect">
            <a:avLst/>
          </a:prstGeom>
        </p:spPr>
      </p:pic>
      <p:pic>
        <p:nvPicPr>
          <p:cNvPr id="7" name="Image 2" descr="/tmp/thx/deck/figs/eee_logo.png"/>
          <p:cNvPicPr>
            <a:picLocks noChangeAspect="1"/>
          </p:cNvPicPr>
          <p:nvPr/>
        </p:nvPicPr>
        <p:blipFill>
          <a:blip r:embed="rId5"/>
          <a:stretch>
            <a:fillRect/>
          </a:stretch>
        </p:blipFill>
        <p:spPr>
          <a:xfrm>
            <a:off x="11265408" y="186217"/>
            <a:ext cx="475488" cy="395662"/>
          </a:xfrm>
          <a:prstGeom prst="rect">
            <a:avLst/>
          </a:prstGeom>
        </p:spPr>
      </p:pic>
    </p:spTree>
    <p:extLst>
      <p:ext uri="{BB962C8B-B14F-4D97-AF65-F5344CB8AC3E}">
        <p14:creationId xmlns:p14="http://schemas.microsoft.com/office/powerpoint/2010/main" val="16294079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4 : Decision Space: Decide, Price, Test, Adapt</a:t>
            </a:r>
            <a:endParaRPr lang="en-US" sz="2900" dirty="0"/>
          </a:p>
        </p:txBody>
      </p:sp>
      <p:sp>
        <p:nvSpPr>
          <p:cNvPr id="5" name="Text 2"/>
          <p:cNvSpPr/>
          <p:nvPr/>
        </p:nvSpPr>
        <p:spPr>
          <a:xfrm>
            <a:off x="7589520" y="1645920"/>
            <a:ext cx="4160520" cy="402336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Runs once per decision cycle, in a fixed order</a:t>
            </a:r>
            <a:endParaRPr lang="en-US" sz="1550" dirty="0"/>
          </a:p>
          <a:p>
            <a:pPr marL="152400" indent="-152400">
              <a:lnSpc>
                <a:spcPct val="105000"/>
              </a:lnSpc>
              <a:spcAft>
                <a:spcPts val="1000"/>
              </a:spcAft>
              <a:buSzPct val="100000"/>
              <a:buChar char="•"/>
            </a:pPr>
            <a:r>
              <a:rPr lang="en-US" sz="1550" b="1" dirty="0">
                <a:solidFill>
                  <a:srgbClr val="222222"/>
                </a:solidFill>
                <a:latin typeface="Calibri" pitchFamily="34" charset="0"/>
                <a:ea typeface="Calibri" pitchFamily="34" charset="-122"/>
                <a:cs typeface="Calibri" pitchFamily="34" charset="-120"/>
              </a:rPr>
              <a:t>Input: </a:t>
            </a:r>
            <a:r>
              <a:rPr lang="en-US" sz="1550" dirty="0">
                <a:solidFill>
                  <a:srgbClr val="222222"/>
                </a:solidFill>
                <a:latin typeface="Calibri" pitchFamily="34" charset="0"/>
                <a:ea typeface="Calibri" pitchFamily="34" charset="-122"/>
                <a:cs typeface="Calibri" pitchFamily="34" charset="-120"/>
              </a:rPr>
              <a:t>Gated concept activations.</a:t>
            </a:r>
          </a:p>
          <a:p>
            <a:pPr marL="152400" indent="-152400">
              <a:lnSpc>
                <a:spcPct val="102000"/>
              </a:lnSpc>
              <a:spcAft>
                <a:spcPts val="500"/>
              </a:spcAft>
              <a:buSzPct val="100000"/>
              <a:buChar char="•"/>
            </a:pPr>
            <a:r>
              <a:rPr lang="en-US" sz="1550" b="1" dirty="0">
                <a:solidFill>
                  <a:srgbClr val="222222"/>
                </a:solidFill>
                <a:latin typeface="Calibri" pitchFamily="34" charset="0"/>
                <a:ea typeface="Calibri" pitchFamily="34" charset="-122"/>
                <a:cs typeface="Calibri" pitchFamily="34" charset="-120"/>
              </a:rPr>
              <a:t>Output: </a:t>
            </a:r>
            <a:r>
              <a:rPr lang="en-US" sz="1400" dirty="0">
                <a:solidFill>
                  <a:srgbClr val="222222"/>
                </a:solidFill>
                <a:latin typeface="Calibri" pitchFamily="34" charset="0"/>
                <a:ea typeface="Calibri" pitchFamily="34" charset="-122"/>
                <a:cs typeface="Calibri" pitchFamily="34" charset="-120"/>
              </a:rPr>
              <a:t>An intensity vector over the intervention vocabulary (base intervention families, plus admitted macros and clause actuators that compile into them)</a:t>
            </a:r>
            <a:endParaRPr lang="en-US" sz="1400" dirty="0"/>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“Cost test → quality gate → apply”  </a:t>
            </a:r>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“Cost test → quality gate → fail” triggers the adaptation ladder ① ② ③</a:t>
            </a:r>
            <a:endParaRPr lang="en-US" sz="1550" dirty="0"/>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Graduated fail-safe attenuates offensive orders; life-safety orders never reduced</a:t>
            </a:r>
            <a:endParaRPr lang="en-US" sz="1550" dirty="0"/>
          </a:p>
        </p:txBody>
      </p:sp>
      <p:pic>
        <p:nvPicPr>
          <p:cNvPr id="7" name="Image 1"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8" name="Image 2"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0" descr="/tmp/thx/deck/figs/Figure4_1.png">
            <a:extLst>
              <a:ext uri="{FF2B5EF4-FFF2-40B4-BE49-F238E27FC236}">
                <a16:creationId xmlns:a16="http://schemas.microsoft.com/office/drawing/2014/main" id="{951B0C7B-ED2B-4E50-4CA1-D598C04DD872}"/>
              </a:ext>
            </a:extLst>
          </p:cNvPr>
          <p:cNvPicPr>
            <a:picLocks noChangeAspect="1"/>
          </p:cNvPicPr>
          <p:nvPr/>
        </p:nvPicPr>
        <p:blipFill rotWithShape="1">
          <a:blip r:embed="rId5">
            <a:clrChange>
              <a:clrFrom>
                <a:srgbClr val="FFFFFF"/>
              </a:clrFrom>
              <a:clrTo>
                <a:srgbClr val="FFFFFF">
                  <a:alpha val="0"/>
                </a:srgbClr>
              </a:clrTo>
            </a:clrChange>
          </a:blip>
          <a:srcRect t="65091" r="13885"/>
          <a:stretch>
            <a:fillRect/>
          </a:stretch>
        </p:blipFill>
        <p:spPr>
          <a:xfrm>
            <a:off x="99951" y="1610749"/>
            <a:ext cx="7050989" cy="48025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Vocabulary of Action: Six Intervention Families, Seven Physical Effects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457200" y="1188720"/>
            <a:ext cx="5669280" cy="274320"/>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Intervention families — the language of decisions</a:t>
            </a:r>
            <a:endParaRPr lang="en-US" sz="1400" dirty="0"/>
          </a:p>
        </p:txBody>
      </p:sp>
      <p:graphicFrame>
        <p:nvGraphicFramePr>
          <p:cNvPr id="7" name="Table 0"/>
          <p:cNvGraphicFramePr>
            <a:graphicFrameLocks noGrp="1"/>
          </p:cNvGraphicFramePr>
          <p:nvPr/>
        </p:nvGraphicFramePr>
        <p:xfrm>
          <a:off x="457200" y="1517904"/>
          <a:ext cx="5623560" cy="2688336"/>
        </p:xfrm>
        <a:graphic>
          <a:graphicData uri="http://schemas.openxmlformats.org/drawingml/2006/table">
            <a:tbl>
              <a:tblPr/>
              <a:tblGrid>
                <a:gridCol w="182880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Family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order means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Suppression effort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Direct firefighting intensity applied to the fire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Resource deployment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Committing and moving crews and equipment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Containment line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Building firebreak lines ahead of the fire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Asset protection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Protecting structures and infrastructure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Evacuation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Moving the exposed population to safety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Public warning</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Alerting the population of the risk</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8" name="Text 3"/>
          <p:cNvSpPr/>
          <p:nvPr/>
        </p:nvSpPr>
        <p:spPr>
          <a:xfrm>
            <a:off x="6355080" y="1188720"/>
            <a:ext cx="5394960" cy="274320"/>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Physical effects — how decisions act inside the simulation</a:t>
            </a:r>
            <a:endParaRPr lang="en-US" sz="1400" dirty="0"/>
          </a:p>
        </p:txBody>
      </p:sp>
      <p:graphicFrame>
        <p:nvGraphicFramePr>
          <p:cNvPr id="9" name="Table 1"/>
          <p:cNvGraphicFramePr>
            <a:graphicFrameLocks noGrp="1"/>
          </p:cNvGraphicFramePr>
          <p:nvPr/>
        </p:nvGraphicFramePr>
        <p:xfrm>
          <a:off x="6355080" y="1517904"/>
          <a:ext cx="5394960" cy="3218688"/>
        </p:xfrm>
        <a:graphic>
          <a:graphicData uri="http://schemas.openxmlformats.org/drawingml/2006/table">
            <a:tbl>
              <a:tblPr/>
              <a:tblGrid>
                <a:gridCol w="105156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changes in the world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wet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Raises capacity and crew availability — a pre-wetted band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clear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Marks the cells as cut and raises capacity — a containment line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ignite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Sets the cells alight — a firing operation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coat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Raises the moisture floor to 0.45 of the amount laid — retardant or soil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evacuate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Raises the evacuation order, where population is present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prime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Raises the public warning, where population is present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draft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Multiplies the capacity already on the cells — the factor falls with the distance to water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Shape 4"/>
          <p:cNvSpPr/>
          <p:nvPr/>
        </p:nvSpPr>
        <p:spPr>
          <a:xfrm>
            <a:off x="457200" y="5449824"/>
            <a:ext cx="11292840" cy="1225296"/>
          </a:xfrm>
          <a:prstGeom prst="roundRect">
            <a:avLst>
              <a:gd name="adj" fmla="val 3448"/>
            </a:avLst>
          </a:prstGeom>
          <a:solidFill>
            <a:srgbClr val="F2F2F2"/>
          </a:solidFill>
          <a:ln/>
        </p:spPr>
        <p:txBody>
          <a:bodyPr/>
          <a:lstStyle/>
          <a:p>
            <a:endParaRPr lang="tr-TR"/>
          </a:p>
        </p:txBody>
      </p:sp>
      <p:sp>
        <p:nvSpPr>
          <p:cNvPr id="11" name="Text 5"/>
          <p:cNvSpPr/>
          <p:nvPr/>
        </p:nvSpPr>
        <p:spPr>
          <a:xfrm>
            <a:off x="731520" y="5577840"/>
            <a:ext cx="10789920" cy="1005840"/>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1200" b="0" i="0" dirty="0">
                <a:solidFill>
                  <a:srgbClr val="222222"/>
                </a:solidFill>
                <a:latin typeface="Calibri" pitchFamily="34" charset="0"/>
                <a:ea typeface="Calibri" pitchFamily="34" charset="-122"/>
                <a:cs typeface="Calibri" pitchFamily="34" charset="-120"/>
              </a:rPr>
              <a:t>A decision is an intensity in [0, 1] on each name in the current vocabulary.</a:t>
            </a:r>
            <a:endParaRPr lang="en-US" sz="1200" dirty="0"/>
          </a:p>
          <a:p>
            <a:pPr marL="152400" indent="-152400">
              <a:lnSpc>
                <a:spcPct val="102000"/>
              </a:lnSpc>
              <a:spcAft>
                <a:spcPts val="300"/>
              </a:spcAft>
              <a:buSzPct val="100000"/>
              <a:buChar char="•"/>
            </a:pPr>
            <a:r>
              <a:rPr lang="en-US" sz="1200" b="0" i="0" dirty="0">
                <a:solidFill>
                  <a:srgbClr val="222222"/>
                </a:solidFill>
                <a:latin typeface="Calibri" pitchFamily="34" charset="0"/>
                <a:ea typeface="Calibri" pitchFamily="34" charset="-122"/>
                <a:cs typeface="Calibri" pitchFamily="34" charset="-120"/>
              </a:rPr>
              <a:t>The simulation core compiles those orders into the seven effects; the effects change capacity, moisture, coating, ignition and population, and the fire then evolves under the ordinary physics.</a:t>
            </a:r>
            <a:endParaRPr lang="en-US" sz="1200" dirty="0"/>
          </a:p>
          <a:p>
            <a:pPr marL="152400" indent="-152400">
              <a:lnSpc>
                <a:spcPct val="102000"/>
              </a:lnSpc>
              <a:spcAft>
                <a:spcPts val="0"/>
              </a:spcAft>
              <a:buSzPct val="100000"/>
              <a:buChar char="•"/>
            </a:pPr>
            <a:r>
              <a:rPr lang="en-US" sz="1200" b="1" i="0" dirty="0">
                <a:solidFill>
                  <a:srgbClr val="222222"/>
                </a:solidFill>
                <a:latin typeface="Calibri" pitchFamily="34" charset="0"/>
                <a:ea typeface="Calibri" pitchFamily="34" charset="-122"/>
                <a:cs typeface="Calibri" pitchFamily="34" charset="-120"/>
              </a:rPr>
              <a:t>The basis is fixed, the vocabulary is not: a macro bundles existing families, a clause actuator composes verified effects over the sectors. No new physical effect can be ordered, but only composed.</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73457-E7AB-0E27-EEDC-7D94BA6B408A}"/>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0B254E51-A31B-6754-81FE-AB006D8ED608}"/>
              </a:ext>
            </a:extLst>
          </p:cNvPr>
          <p:cNvGrpSpPr/>
          <p:nvPr/>
        </p:nvGrpSpPr>
        <p:grpSpPr>
          <a:xfrm>
            <a:off x="2834640" y="2724045"/>
            <a:ext cx="3882683" cy="2779774"/>
            <a:chOff x="2834640" y="2724045"/>
            <a:chExt cx="3882683" cy="2779774"/>
          </a:xfrm>
        </p:grpSpPr>
        <p:sp>
          <p:nvSpPr>
            <p:cNvPr id="11" name="Rectangle 10">
              <a:extLst>
                <a:ext uri="{FF2B5EF4-FFF2-40B4-BE49-F238E27FC236}">
                  <a16:creationId xmlns:a16="http://schemas.microsoft.com/office/drawing/2014/main" id="{0837B4A0-C002-97F2-04A4-99DA8F6E2CE4}"/>
                </a:ext>
              </a:extLst>
            </p:cNvPr>
            <p:cNvSpPr/>
            <p:nvPr/>
          </p:nvSpPr>
          <p:spPr>
            <a:xfrm>
              <a:off x="4197531" y="2724045"/>
              <a:ext cx="2519792" cy="2779774"/>
            </a:xfrm>
            <a:prstGeom prst="rect">
              <a:avLst/>
            </a:prstGeom>
            <a:solidFill>
              <a:schemeClr val="bg1">
                <a:lumMod val="8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6" name="Rectangle 5">
              <a:extLst>
                <a:ext uri="{FF2B5EF4-FFF2-40B4-BE49-F238E27FC236}">
                  <a16:creationId xmlns:a16="http://schemas.microsoft.com/office/drawing/2014/main" id="{D2408398-D1C8-15D3-23C4-E85F4818627A}"/>
                </a:ext>
              </a:extLst>
            </p:cNvPr>
            <p:cNvSpPr/>
            <p:nvPr/>
          </p:nvSpPr>
          <p:spPr>
            <a:xfrm>
              <a:off x="2834640" y="2724045"/>
              <a:ext cx="1807698" cy="1682494"/>
            </a:xfrm>
            <a:prstGeom prst="rect">
              <a:avLst/>
            </a:prstGeom>
            <a:solidFill>
              <a:schemeClr val="bg1">
                <a:lumMod val="8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grpSp>
      <p:pic>
        <p:nvPicPr>
          <p:cNvPr id="10" name="Image 0" descr="/tmp/thx/deck/figs/Figure4_1.png">
            <a:extLst>
              <a:ext uri="{FF2B5EF4-FFF2-40B4-BE49-F238E27FC236}">
                <a16:creationId xmlns:a16="http://schemas.microsoft.com/office/drawing/2014/main" id="{3A7D1325-6B4B-4C23-C9EE-BB31C2C50D07}"/>
              </a:ext>
            </a:extLst>
          </p:cNvPr>
          <p:cNvPicPr>
            <a:picLocks noChangeAspect="1"/>
          </p:cNvPicPr>
          <p:nvPr/>
        </p:nvPicPr>
        <p:blipFill rotWithShape="1">
          <a:blip r:embed="rId3">
            <a:clrChange>
              <a:clrFrom>
                <a:srgbClr val="FFFFFF"/>
              </a:clrFrom>
              <a:clrTo>
                <a:srgbClr val="FFFFFF">
                  <a:alpha val="0"/>
                </a:srgbClr>
              </a:clrTo>
            </a:clrChange>
          </a:blip>
          <a:srcRect t="65091" r="13885"/>
          <a:stretch>
            <a:fillRect/>
          </a:stretch>
        </p:blipFill>
        <p:spPr>
          <a:xfrm>
            <a:off x="99951" y="1610749"/>
            <a:ext cx="7050989" cy="4802505"/>
          </a:xfrm>
          <a:prstGeom prst="rect">
            <a:avLst/>
          </a:prstGeom>
        </p:spPr>
      </p:pic>
      <p:sp>
        <p:nvSpPr>
          <p:cNvPr id="2" name="Text 0">
            <a:extLst>
              <a:ext uri="{FF2B5EF4-FFF2-40B4-BE49-F238E27FC236}">
                <a16:creationId xmlns:a16="http://schemas.microsoft.com/office/drawing/2014/main" id="{2BE26D25-7F1A-540D-EBFA-7210213DC123}"/>
              </a:ext>
            </a:extLst>
          </p:cNvPr>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a:extLst>
              <a:ext uri="{FF2B5EF4-FFF2-40B4-BE49-F238E27FC236}">
                <a16:creationId xmlns:a16="http://schemas.microsoft.com/office/drawing/2014/main" id="{961F2563-5C56-29FA-6FDF-72049E6C2023}"/>
              </a:ext>
            </a:extLst>
          </p:cNvPr>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4 : Decision Space: Decide, Price, Test, Adapt</a:t>
            </a:r>
            <a:endParaRPr lang="en-US" sz="2900" dirty="0"/>
          </a:p>
        </p:txBody>
      </p:sp>
      <p:sp>
        <p:nvSpPr>
          <p:cNvPr id="5" name="Text 2">
            <a:extLst>
              <a:ext uri="{FF2B5EF4-FFF2-40B4-BE49-F238E27FC236}">
                <a16:creationId xmlns:a16="http://schemas.microsoft.com/office/drawing/2014/main" id="{8F9C7993-6EE7-3E7D-7786-EECB088B58B3}"/>
              </a:ext>
            </a:extLst>
          </p:cNvPr>
          <p:cNvSpPr/>
          <p:nvPr/>
        </p:nvSpPr>
        <p:spPr>
          <a:xfrm>
            <a:off x="7589520" y="1645920"/>
            <a:ext cx="4160520" cy="402336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Runs once per decision cycle, in a fixed order</a:t>
            </a:r>
            <a:endParaRPr lang="en-US" sz="1550" dirty="0"/>
          </a:p>
          <a:p>
            <a:pPr marL="152400" indent="-152400">
              <a:lnSpc>
                <a:spcPct val="105000"/>
              </a:lnSpc>
              <a:spcAft>
                <a:spcPts val="1000"/>
              </a:spcAft>
              <a:buSzPct val="100000"/>
              <a:buChar char="•"/>
            </a:pPr>
            <a:r>
              <a:rPr lang="en-US" sz="1550" b="1" dirty="0">
                <a:solidFill>
                  <a:srgbClr val="222222"/>
                </a:solidFill>
                <a:latin typeface="Calibri" pitchFamily="34" charset="0"/>
                <a:ea typeface="Calibri" pitchFamily="34" charset="-122"/>
                <a:cs typeface="Calibri" pitchFamily="34" charset="-120"/>
              </a:rPr>
              <a:t>Input: </a:t>
            </a:r>
            <a:r>
              <a:rPr lang="en-US" sz="1550" dirty="0">
                <a:solidFill>
                  <a:srgbClr val="222222"/>
                </a:solidFill>
                <a:latin typeface="Calibri" pitchFamily="34" charset="0"/>
                <a:ea typeface="Calibri" pitchFamily="34" charset="-122"/>
                <a:cs typeface="Calibri" pitchFamily="34" charset="-120"/>
              </a:rPr>
              <a:t>Gated concept activations.</a:t>
            </a:r>
          </a:p>
          <a:p>
            <a:pPr marL="152400" indent="-152400">
              <a:lnSpc>
                <a:spcPct val="102000"/>
              </a:lnSpc>
              <a:spcAft>
                <a:spcPts val="500"/>
              </a:spcAft>
              <a:buSzPct val="100000"/>
              <a:buChar char="•"/>
            </a:pPr>
            <a:r>
              <a:rPr lang="en-US" sz="1550" b="1" dirty="0">
                <a:solidFill>
                  <a:srgbClr val="222222"/>
                </a:solidFill>
                <a:latin typeface="Calibri" pitchFamily="34" charset="0"/>
                <a:ea typeface="Calibri" pitchFamily="34" charset="-122"/>
                <a:cs typeface="Calibri" pitchFamily="34" charset="-120"/>
              </a:rPr>
              <a:t>Output: </a:t>
            </a:r>
            <a:r>
              <a:rPr lang="en-US" sz="1400" dirty="0">
                <a:solidFill>
                  <a:srgbClr val="222222"/>
                </a:solidFill>
                <a:latin typeface="Calibri" pitchFamily="34" charset="0"/>
                <a:ea typeface="Calibri" pitchFamily="34" charset="-122"/>
                <a:cs typeface="Calibri" pitchFamily="34" charset="-120"/>
              </a:rPr>
              <a:t>An intensity vector over the intervention vocabulary (base intervention families, plus admitted macros and clause actuators that compile into them)</a:t>
            </a:r>
            <a:endParaRPr lang="en-US" sz="1400" dirty="0"/>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“Cost test → quality gate → apply”  </a:t>
            </a:r>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“Cost test → quality gate → fail” triggers the adaptation ladder ① ② ③</a:t>
            </a:r>
            <a:endParaRPr lang="en-US" sz="1550" dirty="0"/>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Graduated fail-safe attenuates offensive orders; life-safety orders never reduced</a:t>
            </a:r>
            <a:endParaRPr lang="en-US" sz="1550" dirty="0"/>
          </a:p>
        </p:txBody>
      </p:sp>
      <p:pic>
        <p:nvPicPr>
          <p:cNvPr id="7" name="Image 1" descr="/tmp/thx/deck/figs/metu_emblem.png">
            <a:extLst>
              <a:ext uri="{FF2B5EF4-FFF2-40B4-BE49-F238E27FC236}">
                <a16:creationId xmlns:a16="http://schemas.microsoft.com/office/drawing/2014/main" id="{823D7E95-BD6E-C840-B44C-0EC1059FF2DE}"/>
              </a:ext>
            </a:extLst>
          </p:cNvPr>
          <p:cNvPicPr>
            <a:picLocks noChangeAspect="1"/>
          </p:cNvPicPr>
          <p:nvPr/>
        </p:nvPicPr>
        <p:blipFill>
          <a:blip r:embed="rId4"/>
          <a:stretch>
            <a:fillRect/>
          </a:stretch>
        </p:blipFill>
        <p:spPr>
          <a:xfrm>
            <a:off x="10716768" y="184607"/>
            <a:ext cx="475488" cy="398882"/>
          </a:xfrm>
          <a:prstGeom prst="rect">
            <a:avLst/>
          </a:prstGeom>
        </p:spPr>
      </p:pic>
      <p:pic>
        <p:nvPicPr>
          <p:cNvPr id="8" name="Image 2" descr="/tmp/thx/deck/figs/eee_logo.png">
            <a:extLst>
              <a:ext uri="{FF2B5EF4-FFF2-40B4-BE49-F238E27FC236}">
                <a16:creationId xmlns:a16="http://schemas.microsoft.com/office/drawing/2014/main" id="{49A2AAF5-8E8E-1B2E-97E2-2A680CEFF123}"/>
              </a:ext>
            </a:extLst>
          </p:cNvPr>
          <p:cNvPicPr>
            <a:picLocks noChangeAspect="1"/>
          </p:cNvPicPr>
          <p:nvPr/>
        </p:nvPicPr>
        <p:blipFill>
          <a:blip r:embed="rId5"/>
          <a:stretch>
            <a:fillRect/>
          </a:stretch>
        </p:blipFill>
        <p:spPr>
          <a:xfrm>
            <a:off x="11265408" y="186217"/>
            <a:ext cx="475488" cy="395662"/>
          </a:xfrm>
          <a:prstGeom prst="rect">
            <a:avLst/>
          </a:prstGeom>
        </p:spPr>
      </p:pic>
    </p:spTree>
    <p:extLst>
      <p:ext uri="{BB962C8B-B14F-4D97-AF65-F5344CB8AC3E}">
        <p14:creationId xmlns:p14="http://schemas.microsoft.com/office/powerpoint/2010/main" val="14577878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BEECB-CF61-7C97-85C9-3253D206C36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B80E83F-0BDA-06FC-8095-31E296BE83D0}"/>
              </a:ext>
            </a:extLst>
          </p:cNvPr>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a:extLst>
              <a:ext uri="{FF2B5EF4-FFF2-40B4-BE49-F238E27FC236}">
                <a16:creationId xmlns:a16="http://schemas.microsoft.com/office/drawing/2014/main" id="{C120DC78-15F0-ECD6-9905-D1D50D93B4BA}"/>
              </a:ext>
            </a:extLst>
          </p:cNvPr>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Decision Cost</a:t>
            </a:r>
            <a:endParaRPr lang="en-US" sz="2500" dirty="0"/>
          </a:p>
        </p:txBody>
      </p:sp>
      <p:pic>
        <p:nvPicPr>
          <p:cNvPr id="4" name="Image 0" descr="/tmp/thx/deck/figs/metu_emblem.png">
            <a:extLst>
              <a:ext uri="{FF2B5EF4-FFF2-40B4-BE49-F238E27FC236}">
                <a16:creationId xmlns:a16="http://schemas.microsoft.com/office/drawing/2014/main" id="{9DBE6DD5-ECED-6625-72D0-55326C06523F}"/>
              </a:ext>
            </a:extLst>
          </p:cNvPr>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a:extLst>
              <a:ext uri="{FF2B5EF4-FFF2-40B4-BE49-F238E27FC236}">
                <a16:creationId xmlns:a16="http://schemas.microsoft.com/office/drawing/2014/main" id="{A1CE568F-D4D1-771C-A2EB-0098BA63A83F}"/>
              </a:ext>
            </a:extLst>
          </p:cNvPr>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sp>
            <p:nvSpPr>
              <p:cNvPr id="6" name="Text 2">
                <a:extLst>
                  <a:ext uri="{FF2B5EF4-FFF2-40B4-BE49-F238E27FC236}">
                    <a16:creationId xmlns:a16="http://schemas.microsoft.com/office/drawing/2014/main" id="{61E39827-99C9-8650-1A6C-935EDE25C68F}"/>
                  </a:ext>
                </a:extLst>
              </p:cNvPr>
              <p:cNvSpPr/>
              <p:nvPr/>
            </p:nvSpPr>
            <p:spPr>
              <a:xfrm>
                <a:off x="429768" y="3822193"/>
                <a:ext cx="5440680" cy="73152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400">
                              <a:latin typeface="Cambria Math"/>
                            </a:rPr>
                          </m:ctrlPr>
                        </m:sSubPr>
                        <m:e>
                          <m:r>
                            <a:rPr lang="en-US" sz="1400">
                              <a:latin typeface="Cambria Math"/>
                            </a:rPr>
                            <m:t>𝐽</m:t>
                          </m:r>
                        </m:e>
                        <m:sub>
                          <m:r>
                            <a:rPr lang="en-US" sz="1400">
                              <a:latin typeface="Cambria Math"/>
                            </a:rPr>
                            <m:t>𝑃ℎ𝑦</m:t>
                          </m:r>
                        </m:sub>
                      </m:sSub>
                      <m:r>
                        <m:rPr>
                          <m:aln/>
                        </m:rPr>
                        <a:rPr lang="en-US" sz="1400">
                          <a:latin typeface="Cambria Math"/>
                        </a:rPr>
                        <m:t>=</m:t>
                      </m:r>
                      <m:f>
                        <m:fPr>
                          <m:ctrlPr>
                            <a:rPr lang="en-US" sz="1400" i="1">
                              <a:latin typeface="Cambria Math" panose="02040503050406030204" pitchFamily="18" charset="0"/>
                            </a:rPr>
                          </m:ctrlPr>
                        </m:fPr>
                        <m:num>
                          <m:nary>
                            <m:naryPr>
                              <m:chr m:val="∑"/>
                              <m:limLoc m:val="undOvr"/>
                              <m:ctrlPr>
                                <a:rPr lang="en-US" sz="1400">
                                  <a:latin typeface="Cambria Math"/>
                                </a:rPr>
                              </m:ctrlPr>
                            </m:naryPr>
                            <m:sub>
                              <m:r>
                                <a:rPr lang="en-US" sz="1400">
                                  <a:latin typeface="Cambria Math"/>
                                </a:rPr>
                                <m:t>𝑗</m:t>
                              </m:r>
                            </m:sub>
                            <m:sup/>
                            <m:e>
                              <m:sSub>
                                <m:sSubPr>
                                  <m:ctrlPr>
                                    <a:rPr lang="en-US" sz="1400">
                                      <a:latin typeface="Cambria Math"/>
                                    </a:rPr>
                                  </m:ctrlPr>
                                </m:sSubPr>
                                <m:e>
                                  <m:r>
                                    <a:rPr lang="en-US" sz="1400">
                                      <a:latin typeface="Cambria Math"/>
                                    </a:rPr>
                                    <m:t>𝑤</m:t>
                                  </m:r>
                                </m:e>
                                <m:sub>
                                  <m:r>
                                    <a:rPr lang="en-US" sz="1400">
                                      <a:latin typeface="Cambria Math"/>
                                    </a:rPr>
                                    <m:t>𝑗</m:t>
                                  </m:r>
                                </m:sub>
                              </m:sSub>
                              <m:sSub>
                                <m:sSubPr>
                                  <m:ctrlPr>
                                    <a:rPr lang="en-US" sz="1400">
                                      <a:latin typeface="Cambria Math"/>
                                    </a:rPr>
                                  </m:ctrlPr>
                                </m:sSubPr>
                                <m:e>
                                  <m:r>
                                    <a:rPr lang="en-US" sz="1400">
                                      <a:latin typeface="Cambria Math"/>
                                    </a:rPr>
                                    <m:t>𝐽</m:t>
                                  </m:r>
                                </m:e>
                                <m:sub>
                                  <m:r>
                                    <a:rPr lang="en-US" sz="1400">
                                      <a:latin typeface="Cambria Math"/>
                                    </a:rPr>
                                    <m:t>𝑗</m:t>
                                  </m:r>
                                </m:sub>
                              </m:sSub>
                            </m:e>
                          </m:nary>
                        </m:num>
                        <m:den>
                          <m:nary>
                            <m:naryPr>
                              <m:chr m:val="∑"/>
                              <m:limLoc m:val="undOvr"/>
                              <m:ctrlPr>
                                <a:rPr lang="en-US" sz="1400">
                                  <a:latin typeface="Cambria Math"/>
                                </a:rPr>
                              </m:ctrlPr>
                            </m:naryPr>
                            <m:sub>
                              <m:r>
                                <a:rPr lang="en-US" sz="1400">
                                  <a:latin typeface="Cambria Math"/>
                                </a:rPr>
                                <m:t>𝑗</m:t>
                              </m:r>
                            </m:sub>
                            <m:sup/>
                            <m:e>
                              <m:sSub>
                                <m:sSubPr>
                                  <m:ctrlPr>
                                    <a:rPr lang="en-US" sz="1400">
                                      <a:latin typeface="Cambria Math"/>
                                    </a:rPr>
                                  </m:ctrlPr>
                                </m:sSubPr>
                                <m:e>
                                  <m:r>
                                    <a:rPr lang="en-US" sz="1400">
                                      <a:latin typeface="Cambria Math"/>
                                    </a:rPr>
                                    <m:t>𝑤</m:t>
                                  </m:r>
                                </m:e>
                                <m:sub>
                                  <m:r>
                                    <a:rPr lang="en-US" sz="1400">
                                      <a:latin typeface="Cambria Math"/>
                                    </a:rPr>
                                    <m:t>𝑗</m:t>
                                  </m:r>
                                </m:sub>
                              </m:sSub>
                            </m:e>
                          </m:nary>
                        </m:den>
                      </m:f>
                      <m:r>
                        <a:rPr lang="en-US" sz="1400">
                          <a:latin typeface="Cambria Math"/>
                        </a:rPr>
                        <m:t>,  </m:t>
                      </m:r>
                      <m:r>
                        <a:rPr lang="en-US" sz="1400">
                          <a:latin typeface="Cambria Math"/>
                        </a:rPr>
                        <m:t>𝑗</m:t>
                      </m:r>
                      <m:r>
                        <a:rPr lang="en-US" sz="1400">
                          <a:latin typeface="Cambria Math"/>
                        </a:rPr>
                        <m:t>∈</m:t>
                      </m:r>
                      <m:d>
                        <m:dPr>
                          <m:begChr m:val="{"/>
                          <m:endChr m:val="}"/>
                          <m:ctrlPr>
                            <a:rPr lang="en-US" sz="1400">
                              <a:latin typeface="Cambria Math"/>
                            </a:rPr>
                          </m:ctrlPr>
                        </m:dPr>
                        <m:e>
                          <m:r>
                            <a:rPr lang="en-US" sz="1400">
                              <a:latin typeface="Cambria Math"/>
                            </a:rPr>
                            <m:t>𝑏𝑢𝑟𝑛</m:t>
                          </m:r>
                          <m:r>
                            <a:rPr lang="en-US" sz="1400">
                              <a:latin typeface="Cambria Math"/>
                            </a:rPr>
                            <m:t>, </m:t>
                          </m:r>
                          <m:r>
                            <a:rPr lang="en-US" sz="1400">
                              <a:latin typeface="Cambria Math"/>
                            </a:rPr>
                            <m:t>𝑎𝑠𝑠𝑒𝑡</m:t>
                          </m:r>
                          <m:r>
                            <a:rPr lang="en-US" sz="1400">
                              <a:latin typeface="Cambria Math"/>
                            </a:rPr>
                            <m:t>, </m:t>
                          </m:r>
                          <m:r>
                            <a:rPr lang="en-US" sz="1400">
                              <a:latin typeface="Cambria Math"/>
                            </a:rPr>
                            <m:t>𝑝𝑜𝑝</m:t>
                          </m:r>
                        </m:e>
                      </m:d>
                    </m:oMath>
                  </m:oMathPara>
                </a14:m>
                <a:endParaRPr lang="en-US" sz="1300" dirty="0"/>
              </a:p>
            </p:txBody>
          </p:sp>
        </mc:Choice>
        <mc:Fallback xmlns="">
          <p:sp>
            <p:nvSpPr>
              <p:cNvPr id="6" name="Text 2">
                <a:extLst>
                  <a:ext uri="{FF2B5EF4-FFF2-40B4-BE49-F238E27FC236}">
                    <a16:creationId xmlns:a16="http://schemas.microsoft.com/office/drawing/2014/main" id="{61E39827-99C9-8650-1A6C-935EDE25C68F}"/>
                  </a:ext>
                </a:extLst>
              </p:cNvPr>
              <p:cNvSpPr>
                <a:spLocks noRot="1" noChangeAspect="1" noMove="1" noResize="1" noEditPoints="1" noAdjustHandles="1" noChangeArrowheads="1" noChangeShapeType="1" noTextEdit="1"/>
              </p:cNvSpPr>
              <p:nvPr/>
            </p:nvSpPr>
            <p:spPr>
              <a:xfrm>
                <a:off x="429768" y="3822193"/>
                <a:ext cx="5440680" cy="731520"/>
              </a:xfrm>
              <a:prstGeom prst="rect">
                <a:avLst/>
              </a:prstGeom>
              <a:blipFill>
                <a:blip r:embed="rId5"/>
                <a:stretch>
                  <a:fillRect/>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7" name="Text 3">
                <a:extLst>
                  <a:ext uri="{FF2B5EF4-FFF2-40B4-BE49-F238E27FC236}">
                    <a16:creationId xmlns:a16="http://schemas.microsoft.com/office/drawing/2014/main" id="{FF0E311C-2458-3D07-5A84-CE36D72028D6}"/>
                  </a:ext>
                </a:extLst>
              </p:cNvPr>
              <p:cNvSpPr/>
              <p:nvPr/>
            </p:nvSpPr>
            <p:spPr>
              <a:xfrm>
                <a:off x="429768" y="1719072"/>
                <a:ext cx="5440680" cy="73152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400">
                              <a:latin typeface="Cambria Math"/>
                            </a:rPr>
                          </m:ctrlPr>
                        </m:sSubPr>
                        <m:e>
                          <m:r>
                            <a:rPr lang="en-US" sz="1400">
                              <a:latin typeface="Cambria Math"/>
                            </a:rPr>
                            <m:t>𝐽</m:t>
                          </m:r>
                        </m:e>
                        <m:sub>
                          <m:r>
                            <a:rPr lang="en-US" sz="1400">
                              <a:latin typeface="Cambria Math"/>
                            </a:rPr>
                            <m:t>𝑇𝑜𝑡</m:t>
                          </m:r>
                        </m:sub>
                      </m:sSub>
                      <m:r>
                        <m:rPr>
                          <m:aln/>
                        </m:rPr>
                        <a:rPr lang="en-US" sz="1400">
                          <a:latin typeface="Cambria Math"/>
                        </a:rPr>
                        <m:t>=</m:t>
                      </m:r>
                      <m:r>
                        <a:rPr lang="en-US" sz="1400">
                          <a:latin typeface="Cambria Math"/>
                        </a:rPr>
                        <m:t> </m:t>
                      </m:r>
                      <m:f>
                        <m:fPr>
                          <m:ctrlPr>
                            <a:rPr lang="en-US" sz="1400" i="1">
                              <a:latin typeface="Cambria Math" panose="02040503050406030204" pitchFamily="18" charset="0"/>
                            </a:rPr>
                          </m:ctrlPr>
                        </m:fPr>
                        <m:num>
                          <m:nary>
                            <m:naryPr>
                              <m:chr m:val="∑"/>
                              <m:limLoc m:val="undOvr"/>
                              <m:ctrlPr>
                                <a:rPr lang="en-US" sz="1400">
                                  <a:latin typeface="Cambria Math"/>
                                </a:rPr>
                              </m:ctrlPr>
                            </m:naryPr>
                            <m:sub>
                              <m:r>
                                <a:rPr lang="en-US" sz="1400">
                                  <a:latin typeface="Cambria Math"/>
                                </a:rPr>
                                <m:t>𝑗</m:t>
                              </m:r>
                            </m:sub>
                            <m:sup/>
                            <m:e>
                              <m:sSub>
                                <m:sSubPr>
                                  <m:ctrlPr>
                                    <a:rPr lang="en-US" sz="1400">
                                      <a:latin typeface="Cambria Math"/>
                                    </a:rPr>
                                  </m:ctrlPr>
                                </m:sSubPr>
                                <m:e>
                                  <m:r>
                                    <a:rPr lang="en-US" sz="1400">
                                      <a:latin typeface="Cambria Math"/>
                                    </a:rPr>
                                    <m:t>𝑤</m:t>
                                  </m:r>
                                </m:e>
                                <m:sub>
                                  <m:r>
                                    <a:rPr lang="en-US" sz="1400">
                                      <a:latin typeface="Cambria Math"/>
                                    </a:rPr>
                                    <m:t>𝑗</m:t>
                                  </m:r>
                                </m:sub>
                              </m:sSub>
                              <m:sSub>
                                <m:sSubPr>
                                  <m:ctrlPr>
                                    <a:rPr lang="en-US" sz="1400">
                                      <a:latin typeface="Cambria Math"/>
                                    </a:rPr>
                                  </m:ctrlPr>
                                </m:sSubPr>
                                <m:e>
                                  <m:r>
                                    <a:rPr lang="en-US" sz="1400">
                                      <a:latin typeface="Cambria Math"/>
                                    </a:rPr>
                                    <m:t>𝐽</m:t>
                                  </m:r>
                                </m:e>
                                <m:sub>
                                  <m:r>
                                    <a:rPr lang="en-US" sz="1400">
                                      <a:latin typeface="Cambria Math"/>
                                    </a:rPr>
                                    <m:t>𝑗</m:t>
                                  </m:r>
                                </m:sub>
                              </m:sSub>
                            </m:e>
                          </m:nary>
                        </m:num>
                        <m:den>
                          <m:nary>
                            <m:naryPr>
                              <m:chr m:val="∑"/>
                              <m:limLoc m:val="undOvr"/>
                              <m:ctrlPr>
                                <a:rPr lang="en-US" sz="1400">
                                  <a:latin typeface="Cambria Math"/>
                                </a:rPr>
                              </m:ctrlPr>
                            </m:naryPr>
                            <m:sub>
                              <m:r>
                                <a:rPr lang="en-US" sz="1400">
                                  <a:latin typeface="Cambria Math"/>
                                </a:rPr>
                                <m:t>𝑗</m:t>
                              </m:r>
                            </m:sub>
                            <m:sup/>
                            <m:e>
                              <m:sSub>
                                <m:sSubPr>
                                  <m:ctrlPr>
                                    <a:rPr lang="en-US" sz="1400">
                                      <a:latin typeface="Cambria Math"/>
                                    </a:rPr>
                                  </m:ctrlPr>
                                </m:sSubPr>
                                <m:e>
                                  <m:r>
                                    <a:rPr lang="en-US" sz="1400">
                                      <a:latin typeface="Cambria Math"/>
                                    </a:rPr>
                                    <m:t>𝑤</m:t>
                                  </m:r>
                                </m:e>
                                <m:sub>
                                  <m:r>
                                    <a:rPr lang="en-US" sz="1400">
                                      <a:latin typeface="Cambria Math"/>
                                    </a:rPr>
                                    <m:t>𝑗</m:t>
                                  </m:r>
                                </m:sub>
                              </m:sSub>
                            </m:e>
                          </m:nary>
                        </m:den>
                      </m:f>
                      <m:r>
                        <a:rPr lang="en-US" sz="1400">
                          <a:latin typeface="Cambria Math"/>
                        </a:rPr>
                        <m:t>,  </m:t>
                      </m:r>
                      <m:r>
                        <a:rPr lang="en-US" sz="1400">
                          <a:latin typeface="Cambria Math"/>
                        </a:rPr>
                        <m:t>𝑗</m:t>
                      </m:r>
                      <m:r>
                        <a:rPr lang="en-US" sz="1400">
                          <a:latin typeface="Cambria Math"/>
                        </a:rPr>
                        <m:t>∈</m:t>
                      </m:r>
                      <m:d>
                        <m:dPr>
                          <m:begChr m:val="{"/>
                          <m:endChr m:val="}"/>
                          <m:ctrlPr>
                            <a:rPr lang="en-US" sz="1400">
                              <a:latin typeface="Cambria Math"/>
                            </a:rPr>
                          </m:ctrlPr>
                        </m:dPr>
                        <m:e>
                          <m:r>
                            <a:rPr lang="en-US" sz="1400">
                              <a:latin typeface="Cambria Math"/>
                            </a:rPr>
                            <m:t>𝑏𝑢𝑟𝑛</m:t>
                          </m:r>
                          <m:r>
                            <a:rPr lang="en-US" sz="1400">
                              <a:latin typeface="Cambria Math"/>
                            </a:rPr>
                            <m:t>, </m:t>
                          </m:r>
                          <m:r>
                            <a:rPr lang="en-US" sz="1400">
                              <a:latin typeface="Cambria Math"/>
                            </a:rPr>
                            <m:t>𝑎𝑠𝑠𝑒𝑡</m:t>
                          </m:r>
                          <m:r>
                            <a:rPr lang="en-US" sz="1400">
                              <a:latin typeface="Cambria Math"/>
                            </a:rPr>
                            <m:t>, </m:t>
                          </m:r>
                          <m:r>
                            <a:rPr lang="en-US" sz="1400">
                              <a:latin typeface="Cambria Math"/>
                            </a:rPr>
                            <m:t>𝑝𝑜𝑝</m:t>
                          </m:r>
                          <m:r>
                            <a:rPr lang="en-US" sz="1400">
                              <a:latin typeface="Cambria Math"/>
                            </a:rPr>
                            <m:t>, </m:t>
                          </m:r>
                          <m:r>
                            <a:rPr lang="en-US" sz="1400">
                              <a:latin typeface="Cambria Math"/>
                            </a:rPr>
                            <m:t>𝑟𝑒𝑠𝑝</m:t>
                          </m:r>
                          <m:r>
                            <a:rPr lang="en-US" sz="1400">
                              <a:latin typeface="Cambria Math"/>
                            </a:rPr>
                            <m:t>, </m:t>
                          </m:r>
                          <m:r>
                            <a:rPr lang="en-US" sz="1400">
                              <a:latin typeface="Cambria Math"/>
                            </a:rPr>
                            <m:t>𝑑𝑒𝑙𝑎𝑦</m:t>
                          </m:r>
                        </m:e>
                      </m:d>
                    </m:oMath>
                  </m:oMathPara>
                </a14:m>
                <a:endParaRPr lang="en-US" sz="1300" dirty="0"/>
              </a:p>
            </p:txBody>
          </p:sp>
        </mc:Choice>
        <mc:Fallback xmlns="">
          <p:sp>
            <p:nvSpPr>
              <p:cNvPr id="7" name="Text 3">
                <a:extLst>
                  <a:ext uri="{FF2B5EF4-FFF2-40B4-BE49-F238E27FC236}">
                    <a16:creationId xmlns:a16="http://schemas.microsoft.com/office/drawing/2014/main" id="{FF0E311C-2458-3D07-5A84-CE36D72028D6}"/>
                  </a:ext>
                </a:extLst>
              </p:cNvPr>
              <p:cNvSpPr>
                <a:spLocks noRot="1" noChangeAspect="1" noMove="1" noResize="1" noEditPoints="1" noAdjustHandles="1" noChangeArrowheads="1" noChangeShapeType="1" noTextEdit="1"/>
              </p:cNvSpPr>
              <p:nvPr/>
            </p:nvSpPr>
            <p:spPr>
              <a:xfrm>
                <a:off x="429768" y="1719072"/>
                <a:ext cx="5440680" cy="731520"/>
              </a:xfrm>
              <a:prstGeom prst="rect">
                <a:avLst/>
              </a:prstGeom>
              <a:blipFill>
                <a:blip r:embed="rId6"/>
                <a:stretch>
                  <a:fillRect/>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8" name="Text 4">
                <a:extLst>
                  <a:ext uri="{FF2B5EF4-FFF2-40B4-BE49-F238E27FC236}">
                    <a16:creationId xmlns:a16="http://schemas.microsoft.com/office/drawing/2014/main" id="{EFF88AF0-0BFD-3ABE-1D29-738E8EBC475F}"/>
                  </a:ext>
                </a:extLst>
              </p:cNvPr>
              <p:cNvSpPr/>
              <p:nvPr/>
            </p:nvSpPr>
            <p:spPr>
              <a:xfrm>
                <a:off x="502920" y="1444752"/>
                <a:ext cx="5440680" cy="274320"/>
              </a:xfrm>
              <a:prstGeom prst="rect">
                <a:avLst/>
              </a:prstGeom>
              <a:noFill/>
              <a:ln/>
            </p:spPr>
            <p:txBody>
              <a:bodyPr wrap="square" lIns="0" tIns="0" rIns="0" bIns="0" rtlCol="0" anchor="ctr"/>
              <a:lstStyle/>
              <a:p>
                <a:pPr marL="0" indent="0">
                  <a:buNone/>
                </a:pPr>
                <a14:m>
                  <m:oMath xmlns:m="http://schemas.openxmlformats.org/officeDocument/2006/math">
                    <m:sSub>
                      <m:sSubPr>
                        <m:ctrlPr>
                          <a:rPr lang="en-US" sz="1400">
                            <a:latin typeface="Cambria Math"/>
                          </a:rPr>
                        </m:ctrlPr>
                      </m:sSubPr>
                      <m:e>
                        <m:r>
                          <a:rPr lang="en-US" sz="1400">
                            <a:latin typeface="Cambria Math"/>
                          </a:rPr>
                          <m:t>𝐽</m:t>
                        </m:r>
                      </m:e>
                      <m:sub>
                        <m:r>
                          <a:rPr lang="en-US" sz="1400">
                            <a:latin typeface="Cambria Math"/>
                          </a:rPr>
                          <m:t>𝑇𝑜𝑡</m:t>
                        </m:r>
                      </m:sub>
                    </m:sSub>
                  </m:oMath>
                </a14:m>
                <a:r>
                  <a:rPr lang="en-US" sz="1400" b="1" dirty="0">
                    <a:solidFill>
                      <a:srgbClr val="E31836"/>
                    </a:solidFill>
                    <a:latin typeface="Calibri" pitchFamily="34" charset="0"/>
                    <a:ea typeface="Calibri" pitchFamily="34" charset="-122"/>
                    <a:cs typeface="Calibri" pitchFamily="34" charset="-120"/>
                  </a:rPr>
                  <a:t> — used by the acceptance test</a:t>
                </a:r>
                <a:endParaRPr lang="en-US" sz="1400" dirty="0"/>
              </a:p>
            </p:txBody>
          </p:sp>
        </mc:Choice>
        <mc:Fallback xmlns="">
          <p:sp>
            <p:nvSpPr>
              <p:cNvPr id="8" name="Text 4">
                <a:extLst>
                  <a:ext uri="{FF2B5EF4-FFF2-40B4-BE49-F238E27FC236}">
                    <a16:creationId xmlns:a16="http://schemas.microsoft.com/office/drawing/2014/main" id="{EFF88AF0-0BFD-3ABE-1D29-738E8EBC475F}"/>
                  </a:ext>
                </a:extLst>
              </p:cNvPr>
              <p:cNvSpPr>
                <a:spLocks noRot="1" noChangeAspect="1" noMove="1" noResize="1" noEditPoints="1" noAdjustHandles="1" noChangeArrowheads="1" noChangeShapeType="1" noTextEdit="1"/>
              </p:cNvSpPr>
              <p:nvPr/>
            </p:nvSpPr>
            <p:spPr>
              <a:xfrm>
                <a:off x="502920" y="1444752"/>
                <a:ext cx="5440680" cy="274320"/>
              </a:xfrm>
              <a:prstGeom prst="rect">
                <a:avLst/>
              </a:prstGeom>
              <a:blipFill>
                <a:blip r:embed="rId7"/>
                <a:stretch>
                  <a:fillRect l="-1457" t="-8889" b="-28889"/>
                </a:stretch>
              </a:blipFill>
              <a:ln/>
            </p:spPr>
            <p:txBody>
              <a:bodyPr/>
              <a:lstStyle/>
              <a:p>
                <a:r>
                  <a:rPr lang="tr-TR">
                    <a:noFill/>
                  </a:rPr>
                  <a:t> </a:t>
                </a:r>
              </a:p>
            </p:txBody>
          </p:sp>
        </mc:Fallback>
      </mc:AlternateContent>
      <p:sp>
        <p:nvSpPr>
          <p:cNvPr id="9" name="Text 5">
            <a:extLst>
              <a:ext uri="{FF2B5EF4-FFF2-40B4-BE49-F238E27FC236}">
                <a16:creationId xmlns:a16="http://schemas.microsoft.com/office/drawing/2014/main" id="{55A6E9ED-C03E-A15B-F3F6-5907F41D67F7}"/>
              </a:ext>
            </a:extLst>
          </p:cNvPr>
          <p:cNvSpPr/>
          <p:nvPr/>
        </p:nvSpPr>
        <p:spPr>
          <a:xfrm>
            <a:off x="502920" y="2505456"/>
            <a:ext cx="5440680" cy="603504"/>
          </a:xfrm>
          <a:prstGeom prst="rect">
            <a:avLst/>
          </a:prstGeom>
          <a:noFill/>
          <a:ln/>
        </p:spPr>
        <p:txBody>
          <a:bodyPr wrap="square" lIns="0" tIns="0" rIns="0" bIns="0" rtlCol="0" anchor="t"/>
          <a:lstStyle/>
          <a:p>
            <a:pPr marL="152400" indent="-152400">
              <a:lnSpc>
                <a:spcPct val="102000"/>
              </a:lnSpc>
              <a:spcAft>
                <a:spcPts val="250"/>
              </a:spcAft>
              <a:buSzPct val="100000"/>
              <a:buChar char="•"/>
            </a:pPr>
            <a:r>
              <a:rPr lang="en-US" sz="1200" b="0" i="0" dirty="0">
                <a:solidFill>
                  <a:srgbClr val="222222"/>
                </a:solidFill>
                <a:latin typeface="Calibri" pitchFamily="34" charset="0"/>
                <a:ea typeface="Calibri" pitchFamily="34" charset="-122"/>
                <a:cs typeface="Calibri" pitchFamily="34" charset="-120"/>
              </a:rPr>
              <a:t>all five terms: the three physical losses plus effort and delay</a:t>
            </a:r>
            <a:endParaRPr lang="en-US" sz="1200" dirty="0"/>
          </a:p>
          <a:p>
            <a:pPr marL="152400" indent="-152400">
              <a:lnSpc>
                <a:spcPct val="102000"/>
              </a:lnSpc>
              <a:spcAft>
                <a:spcPts val="0"/>
              </a:spcAft>
              <a:buSzPct val="100000"/>
              <a:buChar char="•"/>
            </a:pPr>
            <a:r>
              <a:rPr lang="en-US" sz="1200" b="0" i="0" dirty="0">
                <a:solidFill>
                  <a:srgbClr val="222222"/>
                </a:solidFill>
                <a:latin typeface="Calibri" pitchFamily="34" charset="0"/>
                <a:ea typeface="Calibri" pitchFamily="34" charset="-122"/>
                <a:cs typeface="Calibri" pitchFamily="34" charset="-120"/>
              </a:rPr>
              <a:t>an order that is fielded must be worth its own effort. Without the effort term, the cheapest policy would always be to order maximum action everywhere, because physical losses alone never penalize activity.</a:t>
            </a:r>
          </a:p>
          <a:p>
            <a:pPr marL="152400" indent="-152400">
              <a:lnSpc>
                <a:spcPct val="102000"/>
              </a:lnSpc>
              <a:spcAft>
                <a:spcPts val="0"/>
              </a:spcAft>
              <a:buSzPct val="100000"/>
              <a:buChar char="•"/>
            </a:pPr>
            <a:endParaRPr lang="en-US" sz="1200" dirty="0"/>
          </a:p>
        </p:txBody>
      </p:sp>
      <mc:AlternateContent xmlns:mc="http://schemas.openxmlformats.org/markup-compatibility/2006" xmlns:a14="http://schemas.microsoft.com/office/drawing/2010/main">
        <mc:Choice Requires="a14">
          <p:sp>
            <p:nvSpPr>
              <p:cNvPr id="10" name="Text 6">
                <a:extLst>
                  <a:ext uri="{FF2B5EF4-FFF2-40B4-BE49-F238E27FC236}">
                    <a16:creationId xmlns:a16="http://schemas.microsoft.com/office/drawing/2014/main" id="{6129862E-4AF4-DBC7-3BD5-89F51E3484A9}"/>
                  </a:ext>
                </a:extLst>
              </p:cNvPr>
              <p:cNvSpPr/>
              <p:nvPr/>
            </p:nvSpPr>
            <p:spPr>
              <a:xfrm>
                <a:off x="502920" y="3547873"/>
                <a:ext cx="5440680" cy="274320"/>
              </a:xfrm>
              <a:prstGeom prst="rect">
                <a:avLst/>
              </a:prstGeom>
              <a:noFill/>
              <a:ln/>
            </p:spPr>
            <p:txBody>
              <a:bodyPr wrap="square" lIns="0" tIns="0" rIns="0" bIns="0" rtlCol="0" anchor="ctr"/>
              <a:lstStyle/>
              <a:p>
                <a:pPr marL="0" indent="0">
                  <a:buNone/>
                </a:pPr>
                <a14:m>
                  <m:oMath xmlns:m="http://schemas.openxmlformats.org/officeDocument/2006/math">
                    <m:sSub>
                      <m:sSubPr>
                        <m:ctrlPr>
                          <a:rPr lang="en-US" sz="1400">
                            <a:latin typeface="Cambria Math"/>
                          </a:rPr>
                        </m:ctrlPr>
                      </m:sSubPr>
                      <m:e>
                        <m:r>
                          <a:rPr lang="en-US" sz="1400">
                            <a:latin typeface="Cambria Math"/>
                          </a:rPr>
                          <m:t>𝐽</m:t>
                        </m:r>
                      </m:e>
                      <m:sub>
                        <m:r>
                          <a:rPr lang="en-US" sz="1400">
                            <a:latin typeface="Cambria Math"/>
                          </a:rPr>
                          <m:t>𝑃ℎ𝑦</m:t>
                        </m:r>
                      </m:sub>
                    </m:sSub>
                  </m:oMath>
                </a14:m>
                <a:r>
                  <a:rPr lang="en-US" sz="1400" b="1" dirty="0">
                    <a:solidFill>
                      <a:srgbClr val="E31836"/>
                    </a:solidFill>
                    <a:latin typeface="Calibri" pitchFamily="34" charset="0"/>
                    <a:ea typeface="Calibri" pitchFamily="34" charset="-122"/>
                    <a:cs typeface="Calibri" pitchFamily="34" charset="-120"/>
                  </a:rPr>
                  <a:t> — used by every trial, gate, and the no-harm veto</a:t>
                </a:r>
                <a:endParaRPr lang="en-US" sz="1400" dirty="0"/>
              </a:p>
            </p:txBody>
          </p:sp>
        </mc:Choice>
        <mc:Fallback xmlns="">
          <p:sp>
            <p:nvSpPr>
              <p:cNvPr id="10" name="Text 6">
                <a:extLst>
                  <a:ext uri="{FF2B5EF4-FFF2-40B4-BE49-F238E27FC236}">
                    <a16:creationId xmlns:a16="http://schemas.microsoft.com/office/drawing/2014/main" id="{6129862E-4AF4-DBC7-3BD5-89F51E3484A9}"/>
                  </a:ext>
                </a:extLst>
              </p:cNvPr>
              <p:cNvSpPr>
                <a:spLocks noRot="1" noChangeAspect="1" noMove="1" noResize="1" noEditPoints="1" noAdjustHandles="1" noChangeArrowheads="1" noChangeShapeType="1" noTextEdit="1"/>
              </p:cNvSpPr>
              <p:nvPr/>
            </p:nvSpPr>
            <p:spPr>
              <a:xfrm>
                <a:off x="502920" y="3547873"/>
                <a:ext cx="5440680" cy="274320"/>
              </a:xfrm>
              <a:prstGeom prst="rect">
                <a:avLst/>
              </a:prstGeom>
              <a:blipFill>
                <a:blip r:embed="rId8"/>
                <a:stretch>
                  <a:fillRect l="-1457" t="-11111" b="-28889"/>
                </a:stretch>
              </a:blipFill>
              <a:ln/>
            </p:spPr>
            <p:txBody>
              <a:bodyPr/>
              <a:lstStyle/>
              <a:p>
                <a:r>
                  <a:rPr lang="tr-TR">
                    <a:noFill/>
                  </a:rPr>
                  <a:t> </a:t>
                </a:r>
              </a:p>
            </p:txBody>
          </p:sp>
        </mc:Fallback>
      </mc:AlternateContent>
      <p:sp>
        <p:nvSpPr>
          <p:cNvPr id="11" name="Text 7">
            <a:extLst>
              <a:ext uri="{FF2B5EF4-FFF2-40B4-BE49-F238E27FC236}">
                <a16:creationId xmlns:a16="http://schemas.microsoft.com/office/drawing/2014/main" id="{29344A37-AC4C-766F-088A-8D26B68BCBCE}"/>
              </a:ext>
            </a:extLst>
          </p:cNvPr>
          <p:cNvSpPr/>
          <p:nvPr/>
        </p:nvSpPr>
        <p:spPr>
          <a:xfrm>
            <a:off x="502920" y="4608577"/>
            <a:ext cx="5440680" cy="1235142"/>
          </a:xfrm>
          <a:prstGeom prst="rect">
            <a:avLst/>
          </a:prstGeom>
          <a:noFill/>
          <a:ln/>
        </p:spPr>
        <p:txBody>
          <a:bodyPr wrap="square" lIns="0" tIns="0" rIns="0" bIns="0" rtlCol="0" anchor="t"/>
          <a:lstStyle/>
          <a:p>
            <a:pPr marL="152400" indent="-152400">
              <a:lnSpc>
                <a:spcPct val="102000"/>
              </a:lnSpc>
              <a:spcAft>
                <a:spcPts val="250"/>
              </a:spcAft>
              <a:buSzPct val="100000"/>
              <a:buChar char="•"/>
            </a:pPr>
            <a:r>
              <a:rPr lang="en-US" sz="1200" b="0" i="0" dirty="0">
                <a:solidFill>
                  <a:srgbClr val="222222"/>
                </a:solidFill>
                <a:latin typeface="Calibri" pitchFamily="34" charset="0"/>
                <a:ea typeface="Calibri" pitchFamily="34" charset="-122"/>
                <a:cs typeface="Calibri" pitchFamily="34" charset="-120"/>
              </a:rPr>
              <a:t>only burned area, asset loss, population exposure</a:t>
            </a:r>
            <a:endParaRPr lang="en-US" sz="1200" dirty="0"/>
          </a:p>
          <a:p>
            <a:pPr marL="152400" indent="-152400">
              <a:lnSpc>
                <a:spcPct val="102000"/>
              </a:lnSpc>
              <a:spcAft>
                <a:spcPts val="0"/>
              </a:spcAft>
              <a:buSzPct val="100000"/>
              <a:buChar char="•"/>
            </a:pPr>
            <a:r>
              <a:rPr lang="en-US" sz="1200" dirty="0"/>
              <a:t>An adaptation trial compares two futures that contain different orders. If the orders themselves were priced, an edit could look good simply by ordering less — without helping the fire at all. Judging on physics alone removes this loophole.</a:t>
            </a:r>
          </a:p>
          <a:p>
            <a:pPr marL="152400" indent="-152400">
              <a:lnSpc>
                <a:spcPct val="102000"/>
              </a:lnSpc>
              <a:spcAft>
                <a:spcPts val="0"/>
              </a:spcAft>
              <a:buSzPct val="100000"/>
              <a:buChar char="•"/>
            </a:pPr>
            <a:r>
              <a:rPr lang="en-US" sz="1200" dirty="0"/>
              <a:t>The no-harm veto asks a physical question: is acting better for the world than doing nothing? Effort and delay are irrelevant to that question.</a:t>
            </a:r>
          </a:p>
          <a:p>
            <a:pPr marL="152400" indent="-152400">
              <a:lnSpc>
                <a:spcPct val="102000"/>
              </a:lnSpc>
              <a:spcAft>
                <a:spcPts val="0"/>
              </a:spcAft>
              <a:buSzPct val="100000"/>
              <a:buChar char="•"/>
            </a:pPr>
            <a:endParaRPr lang="en-US" sz="1200" dirty="0"/>
          </a:p>
        </p:txBody>
      </p:sp>
      <p:sp>
        <p:nvSpPr>
          <p:cNvPr id="7001" name="Head L">
            <a:extLst>
              <a:ext uri="{FF2B5EF4-FFF2-40B4-BE49-F238E27FC236}">
                <a16:creationId xmlns:a16="http://schemas.microsoft.com/office/drawing/2014/main" id="{115CCA57-6529-E488-8427-7534B8F8EC8B}"/>
              </a:ext>
            </a:extLst>
          </p:cNvPr>
          <p:cNvSpPr/>
          <p:nvPr/>
        </p:nvSpPr>
        <p:spPr>
          <a:xfrm>
            <a:off x="502920" y="1115568"/>
            <a:ext cx="5440680" cy="256032"/>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ONE COST, TWO READINGS</a:t>
            </a:r>
            <a:endParaRPr lang="en-US" sz="1250" dirty="0"/>
          </a:p>
        </p:txBody>
      </p:sp>
      <p:sp>
        <p:nvSpPr>
          <p:cNvPr id="15" name="Text 4">
            <a:extLst>
              <a:ext uri="{FF2B5EF4-FFF2-40B4-BE49-F238E27FC236}">
                <a16:creationId xmlns:a16="http://schemas.microsoft.com/office/drawing/2014/main" id="{D26724AF-7B8D-9A67-D483-8F9F79E1D66E}"/>
              </a:ext>
            </a:extLst>
          </p:cNvPr>
          <p:cNvSpPr/>
          <p:nvPr/>
        </p:nvSpPr>
        <p:spPr>
          <a:xfrm>
            <a:off x="6611112" y="889438"/>
            <a:ext cx="52120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How each term is measured (normalization)</a:t>
            </a:r>
            <a:endParaRPr lang="en-US" sz="1400" dirty="0"/>
          </a:p>
        </p:txBody>
      </p:sp>
      <p:graphicFrame>
        <p:nvGraphicFramePr>
          <p:cNvPr id="17" name="Table 0">
            <a:extLst>
              <a:ext uri="{FF2B5EF4-FFF2-40B4-BE49-F238E27FC236}">
                <a16:creationId xmlns:a16="http://schemas.microsoft.com/office/drawing/2014/main" id="{C5579F0B-E5E6-487B-1732-E8AAB5CB0A7F}"/>
              </a:ext>
            </a:extLst>
          </p:cNvPr>
          <p:cNvGraphicFramePr>
            <a:graphicFrameLocks noGrp="1"/>
          </p:cNvGraphicFramePr>
          <p:nvPr>
            <p:extLst>
              <p:ext uri="{D42A27DB-BD31-4B8C-83A1-F6EECF244321}">
                <p14:modId xmlns:p14="http://schemas.microsoft.com/office/powerpoint/2010/main" val="2851014707"/>
              </p:ext>
            </p:extLst>
          </p:nvPr>
        </p:nvGraphicFramePr>
        <p:xfrm>
          <a:off x="6611112" y="1236910"/>
          <a:ext cx="5212080" cy="2743200"/>
        </p:xfrm>
        <a:graphic>
          <a:graphicData uri="http://schemas.openxmlformats.org/drawingml/2006/table">
            <a:tbl>
              <a:tblPr/>
              <a:tblGrid>
                <a:gridCol w="20116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457200">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Term (weight)</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Measured as</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Burned area (1)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burned cells ÷ burnable cells of the scenario</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Asset loss (1)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value lost ÷ total exposed value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Population exposure (1)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person-steps exposed ÷ (population at risk × horizon)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Response effort (0.2)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committed capacity ÷ total available capacity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Response delay (0.2)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delay steps ÷ reference delay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9" name="Text 5">
            <a:extLst>
              <a:ext uri="{FF2B5EF4-FFF2-40B4-BE49-F238E27FC236}">
                <a16:creationId xmlns:a16="http://schemas.microsoft.com/office/drawing/2014/main" id="{93C8796C-9CF8-5498-C771-003B1A2A08C7}"/>
              </a:ext>
            </a:extLst>
          </p:cNvPr>
          <p:cNvSpPr/>
          <p:nvPr/>
        </p:nvSpPr>
        <p:spPr>
          <a:xfrm>
            <a:off x="6611112" y="4901184"/>
            <a:ext cx="5212080" cy="146304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Why these weights?</a:t>
            </a:r>
          </a:p>
          <a:p>
            <a:pPr marL="0" indent="0">
              <a:lnSpc>
                <a:spcPct val="104000"/>
              </a:lnSpc>
              <a:buNone/>
            </a:pPr>
            <a:endParaRPr lang="en-US" sz="1250" b="1" dirty="0">
              <a:solidFill>
                <a:srgbClr val="000000"/>
              </a:solidFill>
              <a:latin typeface="Calibri" pitchFamily="34" charset="0"/>
              <a:ea typeface="Calibri" pitchFamily="34" charset="-122"/>
              <a:cs typeface="Calibri" pitchFamily="34" charset="-120"/>
            </a:endParaRPr>
          </a:p>
          <a:p>
            <a:pPr marL="285750" indent="-285750">
              <a:lnSpc>
                <a:spcPct val="104000"/>
              </a:lnSpc>
              <a:buFont typeface="Arial" panose="020B0604020202020204" pitchFamily="34" charset="0"/>
              <a:buChar char="•"/>
            </a:pPr>
            <a:r>
              <a:rPr lang="en-US" sz="1250" dirty="0">
                <a:solidFill>
                  <a:srgbClr val="000000"/>
                </a:solidFill>
                <a:latin typeface="Calibri" pitchFamily="34" charset="0"/>
                <a:ea typeface="Calibri" pitchFamily="34" charset="-122"/>
                <a:cs typeface="Calibri" pitchFamily="34" charset="-120"/>
              </a:rPr>
              <a:t>3</a:t>
            </a:r>
            <a:r>
              <a:rPr lang="en-US" sz="1250" dirty="0">
                <a:solidFill>
                  <a:srgbClr val="222222"/>
                </a:solidFill>
                <a:latin typeface="Calibri" pitchFamily="34" charset="0"/>
                <a:ea typeface="Calibri" pitchFamily="34" charset="-122"/>
                <a:cs typeface="Calibri" pitchFamily="34" charset="-120"/>
              </a:rPr>
              <a:t> physical losses carry equal, dominant weight, so no ranking among land, assets, and life is hard-coded beyond parity.</a:t>
            </a:r>
          </a:p>
          <a:p>
            <a:pPr marL="285750" indent="-285750">
              <a:lnSpc>
                <a:spcPct val="104000"/>
              </a:lnSpc>
              <a:buFont typeface="Arial" panose="020B0604020202020204" pitchFamily="34" charset="0"/>
              <a:buChar char="•"/>
            </a:pPr>
            <a:r>
              <a:rPr lang="en-US" sz="1250" dirty="0">
                <a:solidFill>
                  <a:srgbClr val="222222"/>
                </a:solidFill>
                <a:latin typeface="Calibri" pitchFamily="34" charset="0"/>
                <a:ea typeface="Calibri" pitchFamily="34" charset="-122"/>
                <a:cs typeface="Calibri" pitchFamily="34" charset="-120"/>
              </a:rPr>
              <a:t>Effort and delay are priced small but non-zero: action is never free, and hesitation is never free. </a:t>
            </a:r>
          </a:p>
          <a:p>
            <a:pPr marL="285750" indent="-285750">
              <a:lnSpc>
                <a:spcPct val="104000"/>
              </a:lnSpc>
              <a:buFont typeface="Arial" panose="020B0604020202020204" pitchFamily="34" charset="0"/>
              <a:buChar char="•"/>
            </a:pPr>
            <a:r>
              <a:rPr lang="en-US" sz="1250" dirty="0">
                <a:solidFill>
                  <a:srgbClr val="222222"/>
                </a:solidFill>
                <a:latin typeface="Calibri" pitchFamily="34" charset="0"/>
                <a:ea typeface="Calibri" pitchFamily="34" charset="-122"/>
                <a:cs typeface="Calibri" pitchFamily="34" charset="-120"/>
              </a:rPr>
              <a:t>Every term is a ratio, so J is comparable across scenarios of different size.</a:t>
            </a:r>
            <a:endParaRPr lang="en-US" sz="1250" dirty="0"/>
          </a:p>
        </p:txBody>
      </p:sp>
    </p:spTree>
    <p:extLst>
      <p:ext uri="{BB962C8B-B14F-4D97-AF65-F5344CB8AC3E}">
        <p14:creationId xmlns:p14="http://schemas.microsoft.com/office/powerpoint/2010/main" val="1068842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Two Tests, Two Different Failures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457200" y="1325880"/>
            <a:ext cx="56692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Test 1 — Satisficing cost: is the outcome acceptable?</a:t>
            </a:r>
            <a:endParaRPr lang="en-US" sz="1400" dirty="0"/>
          </a:p>
        </p:txBody>
      </p:sp>
      <mc:AlternateContent xmlns:mc="http://schemas.openxmlformats.org/markup-compatibility/2006" xmlns:a14="http://schemas.microsoft.com/office/drawing/2010/main">
        <mc:Choice Requires="a14">
          <p:sp>
            <p:nvSpPr>
              <p:cNvPr id="7" name="Text 3"/>
              <p:cNvSpPr/>
              <p:nvPr/>
            </p:nvSpPr>
            <p:spPr>
              <a:xfrm>
                <a:off x="457200" y="1664208"/>
                <a:ext cx="5669280" cy="54864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400" i="1">
                              <a:latin typeface="Cambria Math" panose="02040503050406030204" pitchFamily="18" charset="0"/>
                            </a:rPr>
                          </m:ctrlPr>
                        </m:sSubPr>
                        <m:e>
                          <m:acc>
                            <m:accPr>
                              <m:chr m:val="̂"/>
                              <m:ctrlPr>
                                <a:rPr lang="en-US" sz="1400">
                                  <a:latin typeface="Cambria Math"/>
                                </a:rPr>
                              </m:ctrlPr>
                            </m:accPr>
                            <m:e>
                              <m:r>
                                <a:rPr lang="en-US" sz="1400">
                                  <a:latin typeface="Cambria Math"/>
                                </a:rPr>
                                <m:t>𝐽</m:t>
                              </m:r>
                            </m:e>
                          </m:acc>
                        </m:e>
                        <m:sub>
                          <m:r>
                            <a:rPr lang="en-US" sz="1400">
                              <a:latin typeface="Cambria Math"/>
                            </a:rPr>
                            <m:t>𝑘</m:t>
                          </m:r>
                        </m:sub>
                      </m:sSub>
                      <m:d>
                        <m:dPr>
                          <m:ctrlPr>
                            <a:rPr lang="en-US" sz="1400" i="1">
                              <a:latin typeface="Cambria Math" panose="02040503050406030204" pitchFamily="18" charset="0"/>
                            </a:rPr>
                          </m:ctrlPr>
                        </m:dPr>
                        <m:e>
                          <m:sSub>
                            <m:sSubPr>
                              <m:ctrlPr>
                                <a:rPr lang="en-US" sz="1400">
                                  <a:latin typeface="Cambria Math"/>
                                </a:rPr>
                              </m:ctrlPr>
                            </m:sSubPr>
                            <m:e>
                              <m:r>
                                <a:rPr lang="en-US" sz="1400">
                                  <a:latin typeface="Cambria Math"/>
                                </a:rPr>
                                <m:t>𝑈</m:t>
                              </m:r>
                            </m:e>
                            <m:sub>
                              <m:r>
                                <a:rPr lang="en-US" sz="1400">
                                  <a:latin typeface="Cambria Math"/>
                                </a:rPr>
                                <m:t>𝐷𝑆𝑆</m:t>
                              </m:r>
                              <m:r>
                                <a:rPr lang="en-US" sz="1400">
                                  <a:latin typeface="Cambria Math"/>
                                </a:rPr>
                                <m:t>,</m:t>
                              </m:r>
                              <m:r>
                                <a:rPr lang="en-US" sz="1400">
                                  <a:latin typeface="Cambria Math"/>
                                </a:rPr>
                                <m:t>𝑘</m:t>
                              </m:r>
                            </m:sub>
                          </m:sSub>
                        </m:e>
                      </m:d>
                      <m:r>
                        <a:rPr lang="en-US" sz="1400">
                          <a:latin typeface="Cambria Math"/>
                        </a:rPr>
                        <m:t> ≤ </m:t>
                      </m:r>
                      <m:r>
                        <a:rPr lang="en-US" sz="1400">
                          <a:latin typeface="Cambria Math"/>
                        </a:rPr>
                        <m:t>𝑚𝑖𝑛</m:t>
                      </m:r>
                      <m:r>
                        <a:rPr lang="en-US" sz="1400">
                          <a:latin typeface="Cambria Math"/>
                        </a:rPr>
                        <m:t>(</m:t>
                      </m:r>
                      <m:sSub>
                        <m:sSubPr>
                          <m:ctrlPr>
                            <a:rPr lang="en-US" sz="1400">
                              <a:latin typeface="Cambria Math"/>
                            </a:rPr>
                          </m:ctrlPr>
                        </m:sSubPr>
                        <m:e>
                          <m:r>
                            <a:rPr lang="en-US" sz="1400">
                              <a:latin typeface="Cambria Math"/>
                            </a:rPr>
                            <m:t>𝐽</m:t>
                          </m:r>
                        </m:e>
                        <m:sub>
                          <m:r>
                            <a:rPr lang="en-US" sz="1400">
                              <a:latin typeface="Cambria Math"/>
                            </a:rPr>
                            <m:t>𝑇𝐻</m:t>
                          </m:r>
                        </m:sub>
                      </m:sSub>
                      <m:r>
                        <a:rPr lang="en-US" sz="1400">
                          <a:latin typeface="Cambria Math"/>
                        </a:rPr>
                        <m:t>, (1−</m:t>
                      </m:r>
                      <m:sSub>
                        <m:sSubPr>
                          <m:ctrlPr>
                            <a:rPr lang="en-US" sz="1400">
                              <a:latin typeface="Cambria Math"/>
                            </a:rPr>
                          </m:ctrlPr>
                        </m:sSubPr>
                        <m:e>
                          <m:r>
                            <a:rPr lang="en-US" sz="1400">
                              <a:latin typeface="Cambria Math"/>
                            </a:rPr>
                            <m:t>𝛿</m:t>
                          </m:r>
                        </m:e>
                        <m:sub>
                          <m:r>
                            <a:rPr lang="en-US" sz="1400">
                              <a:latin typeface="Cambria Math"/>
                            </a:rPr>
                            <m:t>𝑔𝑎𝑖𝑛</m:t>
                          </m:r>
                        </m:sub>
                      </m:sSub>
                      <m:r>
                        <a:rPr lang="en-US" sz="1400">
                          <a:latin typeface="Cambria Math"/>
                        </a:rPr>
                        <m:t>)⋅</m:t>
                      </m:r>
                      <m:sSub>
                        <m:sSubPr>
                          <m:ctrlPr>
                            <a:rPr lang="en-US" sz="1400" i="1">
                              <a:latin typeface="Cambria Math" panose="02040503050406030204" pitchFamily="18" charset="0"/>
                            </a:rPr>
                          </m:ctrlPr>
                        </m:sSubPr>
                        <m:e>
                          <m:acc>
                            <m:accPr>
                              <m:chr m:val="̂"/>
                              <m:ctrlPr>
                                <a:rPr lang="en-US" sz="1400">
                                  <a:latin typeface="Cambria Math"/>
                                </a:rPr>
                              </m:ctrlPr>
                            </m:accPr>
                            <m:e>
                              <m:r>
                                <a:rPr lang="en-US" sz="1400">
                                  <a:latin typeface="Cambria Math"/>
                                </a:rPr>
                                <m:t>𝐽</m:t>
                              </m:r>
                            </m:e>
                          </m:acc>
                        </m:e>
                        <m:sub>
                          <m:r>
                            <a:rPr lang="en-US" sz="1400">
                              <a:latin typeface="Cambria Math"/>
                            </a:rPr>
                            <m:t>𝑘</m:t>
                          </m:r>
                        </m:sub>
                      </m:sSub>
                      <m:r>
                        <a:rPr lang="en-US" sz="1400">
                          <a:latin typeface="Cambria Math"/>
                        </a:rPr>
                        <m:t>(0))</m:t>
                      </m:r>
                    </m:oMath>
                  </m:oMathPara>
                </a14:m>
                <a:endParaRPr lang="en-US" sz="1300" dirty="0"/>
              </a:p>
            </p:txBody>
          </p:sp>
        </mc:Choice>
        <mc:Fallback xmlns="">
          <p:sp>
            <p:nvSpPr>
              <p:cNvPr id="7" name="Text 3"/>
              <p:cNvSpPr>
                <a:spLocks noRot="1" noChangeAspect="1" noMove="1" noResize="1" noEditPoints="1" noAdjustHandles="1" noChangeArrowheads="1" noChangeShapeType="1" noTextEdit="1"/>
              </p:cNvSpPr>
              <p:nvPr/>
            </p:nvSpPr>
            <p:spPr>
              <a:xfrm>
                <a:off x="457200" y="1664208"/>
                <a:ext cx="5669280" cy="548640"/>
              </a:xfrm>
              <a:prstGeom prst="rect">
                <a:avLst/>
              </a:prstGeom>
              <a:blipFill>
                <a:blip r:embed="rId5"/>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8" name="Text 4"/>
              <p:cNvSpPr/>
              <p:nvPr/>
            </p:nvSpPr>
            <p:spPr>
              <a:xfrm>
                <a:off x="457200" y="2286000"/>
                <a:ext cx="5669280" cy="173736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Bound = the tighter of a fixed ceiling (</a:t>
                </a:r>
                <a14:m>
                  <m:oMath xmlns:m="http://schemas.openxmlformats.org/officeDocument/2006/math">
                    <m:sSub>
                      <m:sSubPr>
                        <m:ctrlPr>
                          <a:rPr lang="en-US" sz="1250">
                            <a:latin typeface="Cambria Math"/>
                          </a:rPr>
                        </m:ctrlPr>
                      </m:sSubPr>
                      <m:e>
                        <m:r>
                          <a:rPr lang="en-US" sz="1250">
                            <a:latin typeface="Cambria Math"/>
                          </a:rPr>
                          <m:t>𝐽</m:t>
                        </m:r>
                      </m:e>
                      <m:sub>
                        <m:r>
                          <a:rPr lang="en-US" sz="1250">
                            <a:latin typeface="Cambria Math"/>
                          </a:rPr>
                          <m:t>𝑇𝐻</m:t>
                        </m:r>
                      </m:sub>
                    </m:sSub>
                    <m:r>
                      <a:rPr lang="en-US" sz="1250">
                        <a:latin typeface="Cambria Math"/>
                      </a:rPr>
                      <m:t> = 0.35</m:t>
                    </m:r>
                  </m:oMath>
                </a14:m>
                <a:r>
                  <a:rPr lang="en-US" sz="1250" dirty="0">
                    <a:solidFill>
                      <a:srgbClr val="222222"/>
                    </a:solidFill>
                    <a:latin typeface="Calibri" pitchFamily="34" charset="0"/>
                    <a:ea typeface="Calibri" pitchFamily="34" charset="-122"/>
                    <a:cs typeface="Calibri" pitchFamily="34" charset="-120"/>
                  </a:rPr>
                  <a:t>) and a 5% required gain over the no-action shadow run from the same state </a:t>
                </a:r>
                <a:endParaRPr lang="en-US" sz="1400" dirty="0">
                  <a:solidFill>
                    <a:srgbClr val="6E6E6E"/>
                  </a:solidFill>
                  <a:latin typeface="Calibri" pitchFamily="34" charset="0"/>
                  <a:ea typeface="Calibri" pitchFamily="34" charset="-122"/>
                  <a:cs typeface="Calibri" pitchFamily="34" charset="-120"/>
                </a:endParaRPr>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Ceiling binds on large fires (never leave the incident expensive); margin binds on small fires (never interfere expensively)</a:t>
                </a:r>
              </a:p>
              <a:p>
                <a:pPr marL="609600" lvl="1"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Ceiling: the outcome must fall below 0.35.</a:t>
                </a:r>
              </a:p>
              <a:p>
                <a:pPr marL="609600" lvl="1"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Margin: the outcome must be at least 5 % better than doing nothing.</a:t>
                </a:r>
              </a:p>
              <a:p>
                <a:pPr marL="152400" indent="-152400">
                  <a:lnSpc>
                    <a:spcPct val="104000"/>
                  </a:lnSpc>
                  <a:spcAft>
                    <a:spcPts val="600"/>
                  </a:spcAft>
                  <a:buSzPct val="100000"/>
                  <a:buChar char="•"/>
                </a:pPr>
                <a:endParaRPr lang="en-US" sz="1250" dirty="0">
                  <a:solidFill>
                    <a:srgbClr val="222222"/>
                  </a:solidFill>
                  <a:latin typeface="Calibri" pitchFamily="34" charset="0"/>
                  <a:ea typeface="Calibri" pitchFamily="34" charset="-122"/>
                  <a:cs typeface="Calibri" pitchFamily="34" charset="-120"/>
                </a:endParaRPr>
              </a:p>
            </p:txBody>
          </p:sp>
        </mc:Choice>
        <mc:Fallback xmlns="">
          <p:sp>
            <p:nvSpPr>
              <p:cNvPr id="8" name="Text 4"/>
              <p:cNvSpPr>
                <a:spLocks noRot="1" noChangeAspect="1" noMove="1" noResize="1" noEditPoints="1" noAdjustHandles="1" noChangeArrowheads="1" noChangeShapeType="1" noTextEdit="1"/>
              </p:cNvSpPr>
              <p:nvPr/>
            </p:nvSpPr>
            <p:spPr>
              <a:xfrm>
                <a:off x="457200" y="2286000"/>
                <a:ext cx="5669280" cy="1737360"/>
              </a:xfrm>
              <a:prstGeom prst="rect">
                <a:avLst/>
              </a:prstGeom>
              <a:blipFill>
                <a:blip r:embed="rId6"/>
                <a:stretch>
                  <a:fillRect l="-1720" t="-3158"/>
                </a:stretch>
              </a:blipFill>
              <a:ln/>
            </p:spPr>
            <p:txBody>
              <a:bodyPr/>
              <a:lstStyle/>
              <a:p>
                <a:r>
                  <a:rPr lang="tr-TR">
                    <a:noFill/>
                  </a:rPr>
                  <a:t> </a:t>
                </a:r>
              </a:p>
            </p:txBody>
          </p:sp>
        </mc:Fallback>
      </mc:AlternateContent>
      <p:sp>
        <p:nvSpPr>
          <p:cNvPr id="9" name="Text 5"/>
          <p:cNvSpPr/>
          <p:nvPr/>
        </p:nvSpPr>
        <p:spPr>
          <a:xfrm>
            <a:off x="6355080" y="1325880"/>
            <a:ext cx="539496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Test 2 — Quality: does the order serve its demanding concepts?</a:t>
            </a:r>
            <a:endParaRPr lang="en-US" sz="1400" dirty="0"/>
          </a:p>
        </p:txBody>
      </p:sp>
      <mc:AlternateContent xmlns:mc="http://schemas.openxmlformats.org/markup-compatibility/2006" xmlns:a14="http://schemas.microsoft.com/office/drawing/2010/main">
        <mc:Choice Requires="a14">
          <p:sp>
            <p:nvSpPr>
              <p:cNvPr id="10" name="Text 6"/>
              <p:cNvSpPr/>
              <p:nvPr/>
            </p:nvSpPr>
            <p:spPr>
              <a:xfrm>
                <a:off x="6355080" y="1664208"/>
                <a:ext cx="5394960" cy="54864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400">
                              <a:latin typeface="Cambria Math"/>
                            </a:rPr>
                          </m:ctrlPr>
                        </m:sSubPr>
                        <m:e>
                          <m:r>
                            <a:rPr lang="en-US" sz="1400">
                              <a:latin typeface="Cambria Math"/>
                            </a:rPr>
                            <m:t>𝑄</m:t>
                          </m:r>
                        </m:e>
                        <m:sub>
                          <m:r>
                            <a:rPr lang="en-US" sz="1400">
                              <a:latin typeface="Cambria Math"/>
                            </a:rPr>
                            <m:t>𝑘</m:t>
                          </m:r>
                        </m:sub>
                      </m:sSub>
                      <m:r>
                        <a:rPr lang="en-US" sz="1400">
                          <a:latin typeface="Cambria Math"/>
                        </a:rPr>
                        <m:t>=1−</m:t>
                      </m:r>
                      <m:f>
                        <m:fPr>
                          <m:ctrlPr>
                            <a:rPr lang="en-US" sz="1400">
                              <a:latin typeface="Cambria Math"/>
                            </a:rPr>
                          </m:ctrlPr>
                        </m:fPr>
                        <m:num>
                          <m:r>
                            <a:rPr lang="en-US" sz="1400">
                              <a:latin typeface="Cambria Math"/>
                            </a:rPr>
                            <m:t>1</m:t>
                          </m:r>
                        </m:num>
                        <m:den>
                          <m:r>
                            <a:rPr lang="en-US" sz="1400">
                              <a:latin typeface="Cambria Math"/>
                            </a:rPr>
                            <m:t>4</m:t>
                          </m:r>
                        </m:den>
                      </m:f>
                      <m:nary>
                        <m:naryPr>
                          <m:chr m:val="∑"/>
                          <m:limLoc m:val="undOvr"/>
                          <m:ctrlPr>
                            <a:rPr lang="en-US" sz="1400">
                              <a:latin typeface="Cambria Math"/>
                            </a:rPr>
                          </m:ctrlPr>
                        </m:naryPr>
                        <m:sub>
                          <m:r>
                            <a:rPr lang="en-US" sz="1400">
                              <a:latin typeface="Cambria Math"/>
                            </a:rPr>
                            <m:t>𝑛</m:t>
                          </m:r>
                          <m:r>
                            <a:rPr lang="en-US" sz="1400">
                              <a:latin typeface="Cambria Math"/>
                            </a:rPr>
                            <m:t>∈</m:t>
                          </m:r>
                          <m:sSub>
                            <m:sSubPr>
                              <m:ctrlPr>
                                <a:rPr lang="en-US" sz="1400">
                                  <a:latin typeface="Cambria Math"/>
                                </a:rPr>
                              </m:ctrlPr>
                            </m:sSubPr>
                            <m:e>
                              <m:r>
                                <a:rPr lang="en-US" sz="1400">
                                  <a:latin typeface="Cambria Math"/>
                                </a:rPr>
                                <m:t>𝐶</m:t>
                              </m:r>
                            </m:e>
                            <m:sub>
                              <m:r>
                                <a:rPr lang="en-US" sz="1400">
                                  <a:latin typeface="Cambria Math"/>
                                </a:rPr>
                                <m:t>𝑄</m:t>
                              </m:r>
                            </m:sub>
                          </m:sSub>
                        </m:sub>
                        <m:sup/>
                        <m:e>
                          <m:r>
                            <a:rPr lang="en-US" sz="1400">
                              <a:latin typeface="Cambria Math"/>
                            </a:rPr>
                            <m:t>|</m:t>
                          </m:r>
                          <m:sSup>
                            <m:sSupPr>
                              <m:ctrlPr>
                                <a:rPr lang="en-US" sz="1400" i="1">
                                  <a:latin typeface="Cambria Math" panose="02040503050406030204" pitchFamily="18" charset="0"/>
                                </a:rPr>
                              </m:ctrlPr>
                            </m:sSupPr>
                            <m:e>
                              <m:sSub>
                                <m:sSubPr>
                                  <m:ctrlPr>
                                    <a:rPr lang="en-US" sz="1400">
                                      <a:latin typeface="Cambria Math"/>
                                    </a:rPr>
                                  </m:ctrlPr>
                                </m:sSubPr>
                                <m:e>
                                  <m:r>
                                    <a:rPr lang="en-US" sz="1400">
                                      <a:latin typeface="Cambria Math"/>
                                    </a:rPr>
                                    <m:t>𝑎</m:t>
                                  </m:r>
                                </m:e>
                                <m:sub>
                                  <m:r>
                                    <a:rPr lang="en-US" sz="1400">
                                      <a:latin typeface="Cambria Math"/>
                                    </a:rPr>
                                    <m:t>𝑛</m:t>
                                  </m:r>
                                </m:sub>
                              </m:sSub>
                            </m:e>
                            <m:sup>
                              <m:r>
                                <a:rPr lang="en-US" sz="1400">
                                  <a:latin typeface="Cambria Math"/>
                                </a:rPr>
                                <m:t>𝑒𝑓𝑓</m:t>
                              </m:r>
                            </m:sup>
                          </m:sSup>
                          <m:r>
                            <a:rPr lang="en-US" sz="1400">
                              <a:latin typeface="Cambria Math"/>
                            </a:rPr>
                            <m:t>−</m:t>
                          </m:r>
                          <m:sSub>
                            <m:sSubPr>
                              <m:ctrlPr>
                                <a:rPr lang="en-US" sz="1400">
                                  <a:latin typeface="Cambria Math"/>
                                </a:rPr>
                              </m:ctrlPr>
                            </m:sSubPr>
                            <m:e>
                              <m:r>
                                <a:rPr lang="en-US" sz="1400">
                                  <a:latin typeface="Cambria Math"/>
                                </a:rPr>
                                <m:t>𝑚𝑎𝑥</m:t>
                              </m:r>
                            </m:e>
                            <m:sub>
                              <m:r>
                                <a:rPr lang="en-US" sz="1400">
                                  <a:latin typeface="Cambria Math"/>
                                </a:rPr>
                                <m:t>𝑓</m:t>
                              </m:r>
                              <m:r>
                                <a:rPr lang="en-US" sz="1400">
                                  <a:latin typeface="Cambria Math"/>
                                </a:rPr>
                                <m:t>∈</m:t>
                              </m:r>
                              <m:r>
                                <a:rPr lang="en-US" sz="1400">
                                  <a:latin typeface="Cambria Math"/>
                                </a:rPr>
                                <m:t>𝐹</m:t>
                              </m:r>
                              <m:r>
                                <a:rPr lang="en-US" sz="1400">
                                  <a:latin typeface="Cambria Math"/>
                                </a:rPr>
                                <m:t>(</m:t>
                              </m:r>
                              <m:r>
                                <a:rPr lang="en-US" sz="1400">
                                  <a:latin typeface="Cambria Math"/>
                                </a:rPr>
                                <m:t>𝑛</m:t>
                              </m:r>
                              <m:r>
                                <a:rPr lang="en-US" sz="1400">
                                  <a:latin typeface="Cambria Math"/>
                                </a:rPr>
                                <m:t>)</m:t>
                              </m:r>
                            </m:sub>
                          </m:sSub>
                          <m:r>
                            <a:rPr lang="en-US" sz="1400">
                              <a:latin typeface="Cambria Math"/>
                            </a:rPr>
                            <m:t> </m:t>
                          </m:r>
                          <m:sSub>
                            <m:sSubPr>
                              <m:ctrlPr>
                                <a:rPr lang="en-US" sz="1400">
                                  <a:latin typeface="Cambria Math"/>
                                </a:rPr>
                              </m:ctrlPr>
                            </m:sSubPr>
                            <m:e>
                              <m:r>
                                <a:rPr lang="en-US" sz="1400">
                                  <a:latin typeface="Cambria Math"/>
                                </a:rPr>
                                <m:t>𝑢</m:t>
                              </m:r>
                            </m:e>
                            <m:sub>
                              <m:r>
                                <a:rPr lang="en-US" sz="1400">
                                  <a:latin typeface="Cambria Math"/>
                                </a:rPr>
                                <m:t>𝑓</m:t>
                              </m:r>
                            </m:sub>
                          </m:sSub>
                          <m:r>
                            <a:rPr lang="en-US" sz="1400">
                              <a:latin typeface="Cambria Math"/>
                            </a:rPr>
                            <m:t>|</m:t>
                          </m:r>
                        </m:e>
                      </m:nary>
                      <m:r>
                        <a:rPr lang="en-US" sz="1400">
                          <a:latin typeface="Cambria Math"/>
                        </a:rPr>
                        <m:t>,   </m:t>
                      </m:r>
                      <m:r>
                        <a:rPr lang="en-US" sz="1400">
                          <a:latin typeface="Cambria Math"/>
                        </a:rPr>
                        <m:t>𝑎𝑐𝑐𝑒𝑝𝑡</m:t>
                      </m:r>
                      <m:r>
                        <a:rPr lang="en-US" sz="1400">
                          <a:latin typeface="Cambria Math"/>
                        </a:rPr>
                        <m:t> ⇔ </m:t>
                      </m:r>
                      <m:sSub>
                        <m:sSubPr>
                          <m:ctrlPr>
                            <a:rPr lang="en-US" sz="1400">
                              <a:latin typeface="Cambria Math"/>
                            </a:rPr>
                          </m:ctrlPr>
                        </m:sSubPr>
                        <m:e>
                          <m:r>
                            <a:rPr lang="en-US" sz="1400">
                              <a:latin typeface="Cambria Math"/>
                            </a:rPr>
                            <m:t>𝑄</m:t>
                          </m:r>
                        </m:e>
                        <m:sub>
                          <m:r>
                            <a:rPr lang="en-US" sz="1400">
                              <a:latin typeface="Cambria Math"/>
                            </a:rPr>
                            <m:t>𝑘</m:t>
                          </m:r>
                        </m:sub>
                      </m:sSub>
                      <m:r>
                        <a:rPr lang="en-US" sz="1400">
                          <a:latin typeface="Cambria Math"/>
                        </a:rPr>
                        <m:t>≥</m:t>
                      </m:r>
                      <m:r>
                        <a:rPr lang="en-US" sz="1400">
                          <a:latin typeface="Cambria Math"/>
                        </a:rPr>
                        <m:t>𝜂</m:t>
                      </m:r>
                    </m:oMath>
                  </m:oMathPara>
                </a14:m>
                <a:endParaRPr lang="en-US" sz="1300" dirty="0"/>
              </a:p>
            </p:txBody>
          </p:sp>
        </mc:Choice>
        <mc:Fallback xmlns="">
          <p:sp>
            <p:nvSpPr>
              <p:cNvPr id="10" name="Text 6"/>
              <p:cNvSpPr>
                <a:spLocks noRot="1" noChangeAspect="1" noMove="1" noResize="1" noEditPoints="1" noAdjustHandles="1" noChangeArrowheads="1" noChangeShapeType="1" noTextEdit="1"/>
              </p:cNvSpPr>
              <p:nvPr/>
            </p:nvSpPr>
            <p:spPr>
              <a:xfrm>
                <a:off x="6355080" y="1664208"/>
                <a:ext cx="5394960" cy="548640"/>
              </a:xfrm>
              <a:prstGeom prst="rect">
                <a:avLst/>
              </a:prstGeom>
              <a:blipFill>
                <a:blip r:embed="rId7"/>
                <a:stretch>
                  <a:fillRect b="-26667"/>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7"/>
              <p:cNvSpPr/>
              <p:nvPr/>
            </p:nvSpPr>
            <p:spPr>
              <a:xfrm>
                <a:off x="6355080" y="2286000"/>
                <a:ext cx="5394960" cy="173736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Each scored concept is paired with the family that answers it: </a:t>
                </a:r>
              </a:p>
              <a:p>
                <a:pPr marL="609600" lvl="1"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fire threat ↔ suppression, </a:t>
                </a:r>
              </a:p>
              <a:p>
                <a:pPr marL="609600" lvl="1"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asset risk ↔ protection, </a:t>
                </a:r>
              </a:p>
              <a:p>
                <a:pPr marL="609600" lvl="1"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urgency ↔ deployment, </a:t>
                </a:r>
              </a:p>
              <a:p>
                <a:pPr marL="609600" lvl="1"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evacuation pressure ↔ evacuation &amp; warning</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Suppression feasibility is excluded — a modulator, not a demander</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Accept ⇔ </a:t>
                </a:r>
                <a14:m>
                  <m:oMath xmlns:m="http://schemas.openxmlformats.org/officeDocument/2006/math">
                    <m:r>
                      <a:rPr lang="en-US" sz="1250">
                        <a:latin typeface="Cambria Math"/>
                      </a:rPr>
                      <m:t>𝑄</m:t>
                    </m:r>
                    <m:r>
                      <a:rPr lang="en-US" sz="1250">
                        <a:latin typeface="Cambria Math"/>
                      </a:rPr>
                      <m:t> ≥ </m:t>
                    </m:r>
                    <m:r>
                      <a:rPr lang="en-US" sz="1250">
                        <a:latin typeface="Cambria Math"/>
                      </a:rPr>
                      <m:t>𝜂</m:t>
                    </m:r>
                  </m:oMath>
                </a14:m>
                <a:r>
                  <a:rPr lang="en-US" sz="1250" b="1" dirty="0">
                    <a:solidFill>
                      <a:srgbClr val="222222"/>
                    </a:solidFill>
                    <a:latin typeface="Calibri" pitchFamily="34" charset="0"/>
                    <a:ea typeface="Calibri" pitchFamily="34" charset="-122"/>
                    <a:cs typeface="Calibri" pitchFamily="34" charset="-120"/>
                  </a:rPr>
                  <a:t> = 0.60</a:t>
                </a:r>
                <a:endParaRPr lang="en-US" sz="1250" dirty="0"/>
              </a:p>
            </p:txBody>
          </p:sp>
        </mc:Choice>
        <mc:Fallback xmlns="">
          <p:sp>
            <p:nvSpPr>
              <p:cNvPr id="11" name="Text 7"/>
              <p:cNvSpPr>
                <a:spLocks noRot="1" noChangeAspect="1" noMove="1" noResize="1" noEditPoints="1" noAdjustHandles="1" noChangeArrowheads="1" noChangeShapeType="1" noTextEdit="1"/>
              </p:cNvSpPr>
              <p:nvPr/>
            </p:nvSpPr>
            <p:spPr>
              <a:xfrm>
                <a:off x="6355080" y="2286000"/>
                <a:ext cx="5394960" cy="1737360"/>
              </a:xfrm>
              <a:prstGeom prst="rect">
                <a:avLst/>
              </a:prstGeom>
              <a:blipFill>
                <a:blip r:embed="rId8"/>
                <a:stretch>
                  <a:fillRect l="-1921" t="-3158" b="-11228"/>
                </a:stretch>
              </a:blipFill>
              <a:ln/>
            </p:spPr>
            <p:txBody>
              <a:bodyPr/>
              <a:lstStyle/>
              <a:p>
                <a:r>
                  <a:rPr lang="tr-TR">
                    <a:noFill/>
                  </a:rPr>
                  <a:t> </a:t>
                </a:r>
              </a:p>
            </p:txBody>
          </p:sp>
        </mc:Fallback>
      </mc:AlternateContent>
      <p:sp>
        <p:nvSpPr>
          <p:cNvPr id="12" name="Shape 8"/>
          <p:cNvSpPr/>
          <p:nvPr/>
        </p:nvSpPr>
        <p:spPr>
          <a:xfrm>
            <a:off x="457200" y="4411980"/>
            <a:ext cx="11247120" cy="2240280"/>
          </a:xfrm>
          <a:prstGeom prst="roundRect">
            <a:avLst>
              <a:gd name="adj" fmla="val 2041"/>
            </a:avLst>
          </a:prstGeom>
          <a:solidFill>
            <a:srgbClr val="FDE8EB"/>
          </a:solidFill>
          <a:ln/>
        </p:spPr>
        <p:txBody>
          <a:bodyPr/>
          <a:lstStyle/>
          <a:p>
            <a:endParaRPr lang="tr-TR"/>
          </a:p>
        </p:txBody>
      </p:sp>
      <p:sp>
        <p:nvSpPr>
          <p:cNvPr id="13" name="Text 9"/>
          <p:cNvSpPr/>
          <p:nvPr/>
        </p:nvSpPr>
        <p:spPr>
          <a:xfrm>
            <a:off x="731520" y="4489704"/>
            <a:ext cx="106984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Why two stages — the failures are orthogonal</a:t>
            </a:r>
            <a:endParaRPr lang="en-US" sz="1400" dirty="0"/>
          </a:p>
        </p:txBody>
      </p:sp>
      <p:sp>
        <p:nvSpPr>
          <p:cNvPr id="14" name="Text 10"/>
          <p:cNvSpPr/>
          <p:nvPr/>
        </p:nvSpPr>
        <p:spPr>
          <a:xfrm>
            <a:off x="777240" y="4914900"/>
            <a:ext cx="10698480" cy="16459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A cheap order can still ignore an urgent demand: cost passes while an evacuation-pressure VH cell receives no evacuation — only Q catches this</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A well-aimed order can still be wasteful: quality passes while the forecast cost stays above the bound — only J catches this</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One combined score would let strength in one dimension pay for failure in the other; two sequential gates make each failure visible, attributable, and separately repairable — cost failures summon adaptation, quality deficits summon the fail-safe</a:t>
            </a:r>
            <a:endParaRPr lang="en-US" sz="12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Cost Test, Term by Term</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7" name="Table 0"/>
          <p:cNvGraphicFramePr>
            <a:graphicFrameLocks noGrp="1"/>
          </p:cNvGraphicFramePr>
          <p:nvPr/>
        </p:nvGraphicFramePr>
        <p:xfrm>
          <a:off x="457200" y="1371600"/>
          <a:ext cx="5577840" cy="2688336"/>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Cost term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Weight w</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Candidate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 action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Burned area</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0.5218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0.5376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loss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0.2226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0.3061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Population exposure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0.0004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0.0008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Response effort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0.0549</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0.0300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Response delay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0.2230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0.0000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Weighted sum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0.8004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0.8506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Text 2"/>
          <p:cNvSpPr/>
          <p:nvPr/>
        </p:nvSpPr>
        <p:spPr>
          <a:xfrm>
            <a:off x="457200" y="4206240"/>
            <a:ext cx="5577840" cy="868680"/>
          </a:xfrm>
          <a:prstGeom prst="rect">
            <a:avLst/>
          </a:prstGeom>
          <a:noFill/>
          <a:ln/>
        </p:spPr>
        <p:txBody>
          <a:bodyPr wrap="square" lIns="0" tIns="0" rIns="0" bIns="0" rtlCol="0" anchor="t"/>
          <a:lstStyle/>
          <a:p>
            <a:pPr marL="0" indent="0">
              <a:lnSpc>
                <a:spcPct val="104000"/>
              </a:lnSpc>
              <a:buNone/>
            </a:pPr>
            <a:r>
              <a:rPr lang="en-US" sz="1200" dirty="0">
                <a:solidFill>
                  <a:srgbClr val="222222"/>
                </a:solidFill>
                <a:latin typeface="Calibri" pitchFamily="34" charset="0"/>
                <a:ea typeface="Calibri" pitchFamily="34" charset="-122"/>
                <a:cs typeface="Calibri" pitchFamily="34" charset="-120"/>
              </a:rPr>
              <a:t>Each weighted sum uses w = 1.0 for the three physical terms and w = 0.2 for the two bookkeeping terms. The total weight is 3.4. Normalized, this is exactly the default weight set 0.29 / 0.29 / 0.29 / 0.06 / 0.06.</a:t>
            </a:r>
            <a:endParaRPr lang="en-US" sz="1200" dirty="0"/>
          </a:p>
        </p:txBody>
      </p:sp>
      <p:sp>
        <p:nvSpPr>
          <p:cNvPr id="8" name="Text 3"/>
          <p:cNvSpPr/>
          <p:nvPr/>
        </p:nvSpPr>
        <p:spPr>
          <a:xfrm>
            <a:off x="6400800" y="1325880"/>
            <a:ext cx="534924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Where every number comes from</a:t>
            </a:r>
            <a:endParaRPr lang="en-US" sz="1400" dirty="0"/>
          </a:p>
        </p:txBody>
      </p:sp>
      <mc:AlternateContent xmlns:mc="http://schemas.openxmlformats.org/markup-compatibility/2006" xmlns:a14="http://schemas.microsoft.com/office/drawing/2010/main">
        <mc:Choice Requires="a14">
          <p:sp>
            <p:nvSpPr>
              <p:cNvPr id="9" name="Text 4"/>
              <p:cNvSpPr/>
              <p:nvPr/>
            </p:nvSpPr>
            <p:spPr>
              <a:xfrm>
                <a:off x="6400800" y="1664208"/>
                <a:ext cx="5349240" cy="777240"/>
              </a:xfrm>
              <a:prstGeom prst="rect">
                <a:avLst/>
              </a:prstGeom>
              <a:noFill/>
              <a:ln/>
            </p:spPr>
            <p:txBody>
              <a:bodyPr wrap="square" lIns="0" tIns="0" rIns="0" bIns="0" rtlCol="0" anchor="ctr"/>
              <a:lstStyle/>
              <a:p>
                <a:pPr marL="0" indent="0" algn="ctr">
                  <a:buNone/>
                </a:pPr>
                <a14:m>
                  <m:oMathPara xmlns:m="http://schemas.openxmlformats.org/officeDocument/2006/math">
                    <m:oMath>
                      <m:acc>
                        <m:accPr>
                          <m:chr m:val="̂"/>
                          <m:ctrlPr>
                            <a:rPr lang="en-US" sz="1400" i="1">
                              <a:latin typeface="Cambria Math" panose="02040503050406030204" pitchFamily="18" charset="0"/>
                            </a:rPr>
                          </m:ctrlPr>
                        </m:accPr>
                        <m:e>
                          <m:sSub>
                            <m:sSubPr>
                              <m:ctrlPr>
                                <a:rPr lang="en-US" sz="1400">
                                  <a:latin typeface="Cambria Math"/>
                                </a:rPr>
                              </m:ctrlPr>
                            </m:sSubPr>
                            <m:e>
                              <m:r>
                                <a:rPr lang="en-US" sz="1400">
                                  <a:latin typeface="Cambria Math"/>
                                </a:rPr>
                                <m:t>𝐽</m:t>
                              </m:r>
                            </m:e>
                            <m:sub>
                              <m:r>
                                <m:rPr>
                                  <m:sty m:val="p"/>
                                </m:rPr>
                                <a:rPr lang="en-US" sz="1400">
                                  <a:latin typeface="Cambria Math"/>
                                </a:rPr>
                                <m:t>k</m:t>
                              </m:r>
                            </m:sub>
                          </m:sSub>
                        </m:e>
                      </m:acc>
                      <m:d>
                        <m:dPr>
                          <m:ctrlPr>
                            <a:rPr lang="en-US" sz="1400">
                              <a:latin typeface="Cambria Math"/>
                            </a:rPr>
                          </m:ctrlPr>
                        </m:dPr>
                        <m:e>
                          <m:r>
                            <a:rPr lang="en-US" sz="1400">
                              <a:latin typeface="Cambria Math"/>
                            </a:rPr>
                            <m:t>𝑈</m:t>
                          </m:r>
                        </m:e>
                      </m:d>
                      <m:r>
                        <m:rPr>
                          <m:aln/>
                        </m:rPr>
                        <a:rPr lang="en-US" sz="1400">
                          <a:latin typeface="Cambria Math"/>
                        </a:rPr>
                        <m:t>=</m:t>
                      </m:r>
                      <m:r>
                        <a:rPr lang="en-US" sz="1400">
                          <a:latin typeface="Cambria Math"/>
                        </a:rPr>
                        <m:t> </m:t>
                      </m:r>
                      <m:f>
                        <m:fPr>
                          <m:ctrlPr>
                            <a:rPr lang="en-US" sz="1400">
                              <a:latin typeface="Cambria Math"/>
                            </a:rPr>
                          </m:ctrlPr>
                        </m:fPr>
                        <m:num>
                          <m:r>
                            <a:rPr lang="en-US" sz="1400">
                              <a:latin typeface="Cambria Math"/>
                            </a:rPr>
                            <m:t>0.8004</m:t>
                          </m:r>
                        </m:num>
                        <m:den>
                          <m:r>
                            <a:rPr lang="en-US" sz="1400">
                              <a:latin typeface="Cambria Math"/>
                            </a:rPr>
                            <m:t>3.4</m:t>
                          </m:r>
                        </m:den>
                      </m:f>
                      <m:r>
                        <a:rPr lang="en-US" sz="1400">
                          <a:latin typeface="Cambria Math"/>
                        </a:rPr>
                        <m:t> = 0.2354</m:t>
                      </m:r>
                    </m:oMath>
                  </m:oMathPara>
                </a14:m>
                <a:endParaRPr lang="en-US" sz="1300" dirty="0"/>
              </a:p>
            </p:txBody>
          </p:sp>
        </mc:Choice>
        <mc:Fallback xmlns="">
          <p:sp>
            <p:nvSpPr>
              <p:cNvPr id="9" name="Text 4"/>
              <p:cNvSpPr>
                <a:spLocks noRot="1" noChangeAspect="1" noMove="1" noResize="1" noEditPoints="1" noAdjustHandles="1" noChangeArrowheads="1" noChangeShapeType="1" noTextEdit="1"/>
              </p:cNvSpPr>
              <p:nvPr/>
            </p:nvSpPr>
            <p:spPr>
              <a:xfrm>
                <a:off x="6400800" y="1664208"/>
                <a:ext cx="5349240" cy="777240"/>
              </a:xfrm>
              <a:prstGeom prst="rect">
                <a:avLst/>
              </a:prstGeom>
              <a:blipFill>
                <a:blip r:embed="rId5"/>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0" name="Text 5"/>
              <p:cNvSpPr/>
              <p:nvPr/>
            </p:nvSpPr>
            <p:spPr>
              <a:xfrm>
                <a:off x="6400800" y="2514600"/>
                <a:ext cx="5349240" cy="685800"/>
              </a:xfrm>
              <a:prstGeom prst="rect">
                <a:avLst/>
              </a:prstGeom>
              <a:noFill/>
              <a:ln/>
            </p:spPr>
            <p:txBody>
              <a:bodyPr wrap="square" lIns="0" tIns="0" rIns="0" bIns="0" rtlCol="0" anchor="ctr"/>
              <a:lstStyle/>
              <a:p>
                <a:pPr marL="0" indent="0" algn="ctr">
                  <a:buNone/>
                </a:pPr>
                <a14:m>
                  <m:oMathPara xmlns:m="http://schemas.openxmlformats.org/officeDocument/2006/math">
                    <m:oMath>
                      <m:r>
                        <a:rPr lang="en-US" sz="1400">
                          <a:latin typeface="Cambria Math"/>
                        </a:rPr>
                        <m:t>0.2354 ≤ </m:t>
                      </m:r>
                      <m:r>
                        <m:rPr>
                          <m:sty m:val="p"/>
                        </m:rPr>
                        <a:rPr lang="en-US" sz="1400">
                          <a:latin typeface="Cambria Math"/>
                        </a:rPr>
                        <m:t>min</m:t>
                      </m:r>
                      <m:r>
                        <a:rPr lang="en-US" sz="1400">
                          <a:latin typeface="Cambria Math"/>
                        </a:rPr>
                        <m:t>(0.35, (1−0.05)× 0.2502) = 0.2377</m:t>
                      </m:r>
                    </m:oMath>
                  </m:oMathPara>
                </a14:m>
                <a:endParaRPr lang="en-US" sz="1300" dirty="0"/>
              </a:p>
            </p:txBody>
          </p:sp>
        </mc:Choice>
        <mc:Fallback xmlns="">
          <p:sp>
            <p:nvSpPr>
              <p:cNvPr id="10" name="Text 5"/>
              <p:cNvSpPr>
                <a:spLocks noRot="1" noChangeAspect="1" noMove="1" noResize="1" noEditPoints="1" noAdjustHandles="1" noChangeArrowheads="1" noChangeShapeType="1" noTextEdit="1"/>
              </p:cNvSpPr>
              <p:nvPr/>
            </p:nvSpPr>
            <p:spPr>
              <a:xfrm>
                <a:off x="6400800" y="2514600"/>
                <a:ext cx="5349240" cy="685800"/>
              </a:xfrm>
              <a:prstGeom prst="rect">
                <a:avLst/>
              </a:prstGeom>
              <a:blipFill>
                <a:blip r:embed="rId6"/>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6"/>
              <p:cNvSpPr/>
              <p:nvPr/>
            </p:nvSpPr>
            <p:spPr>
              <a:xfrm>
                <a:off x="6400800" y="3310128"/>
                <a:ext cx="5349240" cy="30175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0.8506 is the weighted sum of the no-action column. Divided by the total weight 3.4, it gives the no-action forecast cost: </a:t>
                </a:r>
                <a14:m>
                  <m:oMath xmlns:m="http://schemas.openxmlformats.org/officeDocument/2006/math">
                    <m:acc>
                      <m:accPr>
                        <m:chr m:val="̂"/>
                        <m:ctrlPr>
                          <a:rPr lang="en-US" sz="1250">
                            <a:latin typeface="Cambria Math"/>
                          </a:rPr>
                        </m:ctrlPr>
                      </m:accPr>
                      <m:e>
                        <m:r>
                          <a:rPr lang="en-US" sz="1250">
                            <a:latin typeface="Cambria Math"/>
                          </a:rPr>
                          <m:t>𝐽</m:t>
                        </m:r>
                      </m:e>
                    </m:acc>
                    <m:r>
                      <a:rPr lang="en-US" sz="1250">
                        <a:latin typeface="Cambria Math"/>
                      </a:rPr>
                      <m:t>(0) = 0.2502</m:t>
                    </m:r>
                  </m:oMath>
                </a14:m>
                <a:r>
                  <a:rPr lang="en-US" sz="1250" dirty="0">
                    <a:solidFill>
                      <a:srgbClr val="222222"/>
                    </a:solidFill>
                    <a:latin typeface="Calibri" pitchFamily="34" charset="0"/>
                    <a:ea typeface="Calibri" pitchFamily="34" charset="-122"/>
                    <a:cs typeface="Calibri" pitchFamily="34" charset="-120"/>
                  </a:rPr>
                  <a:t>.</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0.8004 is the weighted sum of the candidate column. Divided by 3.4, it gives the candidate forecast cost: 0.2354.</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bound is the smaller of two numbers: the ceiling 0.35, and the margin 0.95 × 0.2502 = 0.2377. Here the margin is smaller, so the margin binds.</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Decision: 0.2354 ≤ 0.2377, so the candidate is accepted on cost.</a:t>
                </a:r>
                <a:endParaRPr lang="en-US" sz="1250" dirty="0"/>
              </a:p>
            </p:txBody>
          </p:sp>
        </mc:Choice>
        <mc:Fallback xmlns="">
          <p:sp>
            <p:nvSpPr>
              <p:cNvPr id="11" name="Text 6"/>
              <p:cNvSpPr>
                <a:spLocks noRot="1" noChangeAspect="1" noMove="1" noResize="1" noEditPoints="1" noAdjustHandles="1" noChangeArrowheads="1" noChangeShapeType="1" noTextEdit="1"/>
              </p:cNvSpPr>
              <p:nvPr/>
            </p:nvSpPr>
            <p:spPr>
              <a:xfrm>
                <a:off x="6400800" y="3310128"/>
                <a:ext cx="5349240" cy="3017520"/>
              </a:xfrm>
              <a:prstGeom prst="rect">
                <a:avLst/>
              </a:prstGeom>
              <a:blipFill>
                <a:blip r:embed="rId7"/>
                <a:stretch>
                  <a:fillRect l="-1822" t="-1818" r="-2164"/>
                </a:stretch>
              </a:blipFill>
              <a:ln/>
            </p:spPr>
            <p:txBody>
              <a:bodyPr/>
              <a:lstStyle/>
              <a:p>
                <a:r>
                  <a:rPr lang="tr-TR">
                    <a:noFill/>
                  </a:rPr>
                  <a:t/>
                </a:r>
              </a:p>
            </p:txBody>
          </p:sp>
        </mc:Fallback>
      </mc:AlternateContent>
      <p:sp>
        <p:nvSpPr>
          <p:cNvPr id="13" name="TextBox 12">
            <a:extLst>
              <a:ext uri="{FF2B5EF4-FFF2-40B4-BE49-F238E27FC236}">
                <a16:creationId xmlns:a16="http://schemas.microsoft.com/office/drawing/2014/main" id="{D6045AC2-4721-5CF8-B894-A99603F83D67}"/>
              </a:ext>
            </a:extLst>
          </p:cNvPr>
          <p:cNvSpPr txBox="1"/>
          <p:nvPr/>
        </p:nvSpPr>
        <p:spPr>
          <a:xfrm>
            <a:off x="457200" y="5456203"/>
            <a:ext cx="5577840" cy="461665"/>
          </a:xfrm>
          <a:prstGeom prst="rect">
            <a:avLst/>
          </a:prstGeom>
          <a:noFill/>
        </p:spPr>
        <p:txBody>
          <a:bodyPr wrap="square">
            <a:spAutoFit/>
          </a:bodyPr>
          <a:lstStyle/>
          <a:p>
            <a:r>
              <a:rPr lang="tr-TR" sz="1200" dirty="0" err="1"/>
              <a:t>no</a:t>
            </a:r>
            <a:r>
              <a:rPr lang="tr-TR" sz="1200" dirty="0"/>
              <a:t> </a:t>
            </a:r>
            <a:r>
              <a:rPr lang="tr-TR" sz="1200" dirty="0" err="1"/>
              <a:t>action</a:t>
            </a:r>
            <a:r>
              <a:rPr lang="tr-TR" sz="1200" dirty="0"/>
              <a:t> = </a:t>
            </a:r>
            <a:r>
              <a:rPr lang="tr-TR" sz="1200" dirty="0" err="1"/>
              <a:t>no</a:t>
            </a:r>
            <a:r>
              <a:rPr lang="tr-TR" sz="1200" dirty="0"/>
              <a:t> </a:t>
            </a:r>
            <a:r>
              <a:rPr lang="tr-TR" sz="1200" dirty="0" err="1"/>
              <a:t>new</a:t>
            </a:r>
            <a:r>
              <a:rPr lang="tr-TR" sz="1200" dirty="0"/>
              <a:t> </a:t>
            </a:r>
            <a:r>
              <a:rPr lang="tr-TR" sz="1200" dirty="0" err="1"/>
              <a:t>orders</a:t>
            </a:r>
            <a:r>
              <a:rPr lang="tr-TR" sz="1200" dirty="0"/>
              <a:t>; </a:t>
            </a:r>
            <a:r>
              <a:rPr lang="tr-TR" sz="1200" dirty="0" err="1"/>
              <a:t>capacity</a:t>
            </a:r>
            <a:r>
              <a:rPr lang="tr-TR" sz="1200" dirty="0"/>
              <a:t> </a:t>
            </a:r>
            <a:r>
              <a:rPr lang="tr-TR" sz="1200" dirty="0" err="1"/>
              <a:t>already</a:t>
            </a:r>
            <a:r>
              <a:rPr lang="tr-TR" sz="1200" dirty="0"/>
              <a:t> in </a:t>
            </a:r>
            <a:r>
              <a:rPr lang="tr-TR" sz="1200" dirty="0" err="1"/>
              <a:t>the</a:t>
            </a:r>
            <a:r>
              <a:rPr lang="tr-TR" sz="1200" dirty="0"/>
              <a:t> </a:t>
            </a:r>
            <a:r>
              <a:rPr lang="tr-TR" sz="1200" dirty="0" err="1"/>
              <a:t>field</a:t>
            </a:r>
            <a:r>
              <a:rPr lang="tr-TR" sz="1200" dirty="0"/>
              <a:t> </a:t>
            </a:r>
            <a:r>
              <a:rPr lang="tr-TR" sz="1200" dirty="0" err="1"/>
              <a:t>keeps</a:t>
            </a:r>
            <a:r>
              <a:rPr lang="tr-TR" sz="1200" dirty="0"/>
              <a:t> </a:t>
            </a:r>
            <a:r>
              <a:rPr lang="tr-TR" sz="1200" dirty="0" err="1"/>
              <a:t>accruing</a:t>
            </a:r>
            <a:r>
              <a:rPr lang="tr-TR" sz="1200" dirty="0"/>
              <a:t> </a:t>
            </a:r>
            <a:r>
              <a:rPr lang="tr-TR" sz="1200" dirty="0" err="1"/>
              <a:t>effort</a:t>
            </a:r>
            <a:r>
              <a:rPr lang="tr-TR" sz="1200" dirty="0"/>
              <a:t>, but </a:t>
            </a:r>
            <a:r>
              <a:rPr lang="tr-TR" sz="1200" dirty="0" err="1"/>
              <a:t>nothing</a:t>
            </a:r>
            <a:r>
              <a:rPr lang="tr-TR" sz="1200" dirty="0"/>
              <a:t> </a:t>
            </a:r>
            <a:r>
              <a:rPr lang="tr-TR" sz="1200" dirty="0" err="1"/>
              <a:t>new</a:t>
            </a:r>
            <a:r>
              <a:rPr lang="tr-TR" sz="1200" dirty="0"/>
              <a:t> is </a:t>
            </a:r>
            <a:r>
              <a:rPr lang="tr-TR" sz="1200" dirty="0" err="1"/>
              <a:t>dispatched</a:t>
            </a:r>
            <a:r>
              <a:rPr lang="tr-TR" sz="1200" dirty="0"/>
              <a:t>, </a:t>
            </a:r>
            <a:r>
              <a:rPr lang="tr-TR" sz="1200" dirty="0" err="1"/>
              <a:t>so</a:t>
            </a:r>
            <a:r>
              <a:rPr lang="tr-TR" sz="1200" dirty="0"/>
              <a:t> </a:t>
            </a:r>
            <a:r>
              <a:rPr lang="tr-TR" sz="1200" dirty="0" err="1"/>
              <a:t>delay</a:t>
            </a:r>
            <a:r>
              <a:rPr lang="tr-TR" sz="1200" dirty="0"/>
              <a:t> is </a:t>
            </a:r>
            <a:r>
              <a:rPr lang="tr-TR" sz="1200" dirty="0" err="1"/>
              <a:t>zero</a:t>
            </a:r>
            <a:endParaRPr lang="tr-TR"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Quality Test, Term by Term, in Two Regions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graphicFrame>
            <p:nvGraphicFramePr>
              <p:cNvPr id="8" name="Table 0"/>
              <p:cNvGraphicFramePr>
                <a:graphicFrameLocks noGrp="1"/>
              </p:cNvGraphicFramePr>
              <p:nvPr>
                <p:extLst>
                  <p:ext uri="{D42A27DB-BD31-4B8C-83A1-F6EECF244321}">
                    <p14:modId xmlns:p14="http://schemas.microsoft.com/office/powerpoint/2010/main" val="2315942434"/>
                  </p:ext>
                </p:extLst>
              </p:nvPr>
            </p:nvGraphicFramePr>
            <p:xfrm>
              <a:off x="457200" y="1325880"/>
              <a:ext cx="5943600" cy="3061970"/>
            </p:xfrm>
            <a:graphic>
              <a:graphicData uri="http://schemas.openxmlformats.org/drawingml/2006/table">
                <a:tbl>
                  <a:tblPr/>
                  <a:tblGrid>
                    <a:gridCol w="6400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tblGrid>
                  <a:tr h="329184">
                    <a:tc>
                      <a:txBody>
                        <a:bodyPr/>
                        <a:lstStyle/>
                        <a:p>
                          <a:pPr marL="0" indent="0" algn="ctr">
                            <a:buNone/>
                          </a:pPr>
                          <a:r>
                            <a:rPr lang="en-US" sz="1150" b="1" dirty="0">
                              <a:solidFill>
                                <a:schemeClr val="bg1"/>
                              </a:solidFill>
                              <a:latin typeface="Calibri" pitchFamily="34" charset="0"/>
                              <a:ea typeface="Calibri" pitchFamily="34" charset="-122"/>
                              <a:cs typeface="Calibri" pitchFamily="34" charset="-120"/>
                            </a:rPr>
                            <a:t>Region</a:t>
                          </a:r>
                          <a:endParaRPr lang="en-US" sz="1150" dirty="0">
                            <a:solidFill>
                              <a:schemeClr val="bg1"/>
                            </a:solidFill>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lgn="ctr">
                            <a:buNone/>
                          </a:pPr>
                          <a:r>
                            <a:rPr lang="en-US" sz="1150" b="1" dirty="0">
                              <a:solidFill>
                                <a:schemeClr val="bg1"/>
                              </a:solidFill>
                              <a:latin typeface="Calibri" pitchFamily="34" charset="0"/>
                              <a:ea typeface="Calibri" pitchFamily="34" charset="-122"/>
                              <a:cs typeface="Calibri" pitchFamily="34" charset="-120"/>
                            </a:rPr>
                            <a:t>Concept (demand)</a:t>
                          </a:r>
                          <a:endParaRPr lang="en-US" sz="1150" dirty="0">
                            <a:solidFill>
                              <a:schemeClr val="bg1"/>
                            </a:solidFill>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lgn="ctr">
                            <a:buNone/>
                          </a:pPr>
                          <a:r>
                            <a:rPr lang="en-US" sz="1150" b="1" dirty="0">
                              <a:solidFill>
                                <a:schemeClr val="bg1"/>
                              </a:solidFill>
                              <a:latin typeface="Calibri" pitchFamily="34" charset="0"/>
                              <a:ea typeface="Calibri" pitchFamily="34" charset="-122"/>
                              <a:cs typeface="Calibri" pitchFamily="34" charset="-120"/>
                            </a:rPr>
                            <a:t>Activation </a:t>
                          </a:r>
                          <a14:m>
                            <m:oMath xmlns:m="http://schemas.openxmlformats.org/officeDocument/2006/math">
                              <m:sSup>
                                <m:sSupPr>
                                  <m:ctrlPr>
                                    <a:rPr lang="en-US" sz="1150">
                                      <a:solidFill>
                                        <a:schemeClr val="bg1"/>
                                      </a:solidFill>
                                      <a:latin typeface="Cambria Math"/>
                                    </a:rPr>
                                  </m:ctrlPr>
                                </m:sSupPr>
                                <m:e>
                                  <m:r>
                                    <a:rPr lang="en-US" sz="1150">
                                      <a:solidFill>
                                        <a:schemeClr val="bg1"/>
                                      </a:solidFill>
                                      <a:latin typeface="Cambria Math"/>
                                    </a:rPr>
                                    <m:t>𝑎</m:t>
                                  </m:r>
                                </m:e>
                                <m:sup>
                                  <m:r>
                                    <a:rPr lang="en-US" sz="1150">
                                      <a:solidFill>
                                        <a:schemeClr val="bg1"/>
                                      </a:solidFill>
                                      <a:latin typeface="Cambria Math"/>
                                    </a:rPr>
                                    <m:t>𝑒𝑓𝑓</m:t>
                                  </m:r>
                                </m:sup>
                              </m:sSup>
                            </m:oMath>
                          </a14:m>
                          <a:endParaRPr lang="en-US" sz="1150" dirty="0">
                            <a:solidFill>
                              <a:schemeClr val="bg1"/>
                            </a:solidFill>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lgn="ctr">
                            <a:buNone/>
                          </a:pPr>
                          <a:r>
                            <a:rPr lang="en-US" sz="1150" b="1" dirty="0">
                              <a:solidFill>
                                <a:schemeClr val="bg1"/>
                              </a:solidFill>
                              <a:latin typeface="Calibri" pitchFamily="34" charset="0"/>
                              <a:ea typeface="Calibri" pitchFamily="34" charset="-122"/>
                              <a:cs typeface="Calibri" pitchFamily="34" charset="-120"/>
                            </a:rPr>
                            <a:t>Ordered </a:t>
                          </a:r>
                          <a14:m>
                            <m:oMath xmlns:m="http://schemas.openxmlformats.org/officeDocument/2006/math">
                              <m:sSub>
                                <m:sSubPr>
                                  <m:ctrlPr>
                                    <a:rPr lang="en-US" sz="1150">
                                      <a:solidFill>
                                        <a:schemeClr val="bg1"/>
                                      </a:solidFill>
                                      <a:latin typeface="Cambria Math"/>
                                    </a:rPr>
                                  </m:ctrlPr>
                                </m:sSubPr>
                                <m:e>
                                  <m:r>
                                    <a:rPr lang="en-US" sz="1150">
                                      <a:solidFill>
                                        <a:schemeClr val="bg1"/>
                                      </a:solidFill>
                                      <a:latin typeface="Cambria Math"/>
                                    </a:rPr>
                                    <m:t>𝑢</m:t>
                                  </m:r>
                                </m:e>
                                <m:sub>
                                  <m:r>
                                    <a:rPr lang="en-US" sz="1150">
                                      <a:solidFill>
                                        <a:schemeClr val="bg1"/>
                                      </a:solidFill>
                                      <a:latin typeface="Cambria Math"/>
                                    </a:rPr>
                                    <m:t>𝑓</m:t>
                                  </m:r>
                                </m:sub>
                              </m:sSub>
                            </m:oMath>
                          </a14:m>
                          <a:endParaRPr lang="en-US" sz="1150" dirty="0">
                            <a:solidFill>
                              <a:schemeClr val="bg1"/>
                            </a:solidFill>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lgn="ctr">
                            <a:buNone/>
                          </a:pPr>
                          <a14:m>
                            <m:oMathPara xmlns:m="http://schemas.openxmlformats.org/officeDocument/2006/math">
                              <m:oMath>
                                <m:r>
                                  <a:rPr lang="en-US" sz="1150" smtClean="0">
                                    <a:solidFill>
                                      <a:schemeClr val="bg1"/>
                                    </a:solidFill>
                                    <a:latin typeface="Cambria Math"/>
                                  </a:rPr>
                                  <m:t>|</m:t>
                                </m:r>
                                <m:sSup>
                                  <m:sSupPr>
                                    <m:ctrlPr>
                                      <a:rPr lang="en-US" sz="1150">
                                        <a:solidFill>
                                          <a:schemeClr val="bg1"/>
                                        </a:solidFill>
                                        <a:latin typeface="Cambria Math"/>
                                      </a:rPr>
                                    </m:ctrlPr>
                                  </m:sSupPr>
                                  <m:e>
                                    <m:r>
                                      <a:rPr lang="en-US" sz="1150">
                                        <a:solidFill>
                                          <a:schemeClr val="bg1"/>
                                        </a:solidFill>
                                        <a:latin typeface="Cambria Math"/>
                                      </a:rPr>
                                      <m:t>𝑎</m:t>
                                    </m:r>
                                  </m:e>
                                  <m:sup>
                                    <m:r>
                                      <a:rPr lang="en-US" sz="1150">
                                        <a:solidFill>
                                          <a:schemeClr val="bg1"/>
                                        </a:solidFill>
                                        <a:latin typeface="Cambria Math"/>
                                      </a:rPr>
                                      <m:t>𝑒𝑓𝑓</m:t>
                                    </m:r>
                                  </m:sup>
                                </m:sSup>
                                <m:r>
                                  <a:rPr lang="en-US" sz="1150">
                                    <a:solidFill>
                                      <a:schemeClr val="bg1"/>
                                    </a:solidFill>
                                    <a:latin typeface="Cambria Math"/>
                                  </a:rPr>
                                  <m:t>−</m:t>
                                </m:r>
                                <m:sSub>
                                  <m:sSubPr>
                                    <m:ctrlPr>
                                      <a:rPr lang="en-US" sz="1150">
                                        <a:solidFill>
                                          <a:schemeClr val="bg1"/>
                                        </a:solidFill>
                                        <a:latin typeface="Cambria Math"/>
                                      </a:rPr>
                                    </m:ctrlPr>
                                  </m:sSubPr>
                                  <m:e>
                                    <m:r>
                                      <a:rPr lang="en-US" sz="1150">
                                        <a:solidFill>
                                          <a:schemeClr val="bg1"/>
                                        </a:solidFill>
                                        <a:latin typeface="Cambria Math"/>
                                      </a:rPr>
                                      <m:t>𝑢</m:t>
                                    </m:r>
                                  </m:e>
                                  <m:sub>
                                    <m:r>
                                      <a:rPr lang="en-US" sz="1150">
                                        <a:solidFill>
                                          <a:schemeClr val="bg1"/>
                                        </a:solidFill>
                                        <a:latin typeface="Cambria Math"/>
                                      </a:rPr>
                                      <m:t>𝑓</m:t>
                                    </m:r>
                                  </m:sub>
                                </m:sSub>
                                <m:r>
                                  <a:rPr lang="en-US" sz="1150">
                                    <a:solidFill>
                                      <a:schemeClr val="bg1"/>
                                    </a:solidFill>
                                    <a:latin typeface="Cambria Math"/>
                                  </a:rPr>
                                  <m:t>|</m:t>
                                </m:r>
                              </m:oMath>
                            </m:oMathPara>
                          </a14:m>
                          <a:endParaRPr lang="en-US" sz="1150" dirty="0">
                            <a:solidFill>
                              <a:schemeClr val="bg1"/>
                            </a:solidFill>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fire threat → suppression effort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0.597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0.360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0.237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asset exposure → asset protection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0.541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0.049</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0.492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intervention urgency → deployment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0.639</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0.554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0.085</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evacuation pressure → evacuation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0.497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0.497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fire threat → suppression effort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0.687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0.360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0.327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asset exposure → asset protection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0.831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0.831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intervention urgency → deployment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0.816</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0.920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0.104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evacuation pressure → evacuation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0.674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0.674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mc:Choice>
        <mc:Fallback xmlns="">
          <p:graphicFrame>
            <p:nvGraphicFramePr>
              <p:cNvPr id="8" name="Table 0"/>
              <p:cNvGraphicFramePr>
                <a:graphicFrameLocks noGrp="1"/>
              </p:cNvGraphicFramePr>
              <p:nvPr>
                <p:extLst>
                  <p:ext uri="{D42A27DB-BD31-4B8C-83A1-F6EECF244321}">
                    <p14:modId xmlns:p14="http://schemas.microsoft.com/office/powerpoint/2010/main" val="2315942434"/>
                  </p:ext>
                </p:extLst>
              </p:nvPr>
            </p:nvGraphicFramePr>
            <p:xfrm>
              <a:off x="457200" y="1325880"/>
              <a:ext cx="5943600" cy="3061970"/>
            </p:xfrm>
            <a:graphic>
              <a:graphicData uri="http://schemas.openxmlformats.org/drawingml/2006/table">
                <a:tbl>
                  <a:tblPr/>
                  <a:tblGrid>
                    <a:gridCol w="6400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tblGrid>
                  <a:tr h="428498">
                    <a:tc>
                      <a:txBody>
                        <a:bodyPr/>
                        <a:lstStyle/>
                        <a:p>
                          <a:pPr marL="0" indent="0" algn="ctr">
                            <a:buNone/>
                          </a:pPr>
                          <a:r>
                            <a:rPr lang="en-US" sz="1150" b="1" dirty="0">
                              <a:solidFill>
                                <a:schemeClr val="bg1"/>
                              </a:solidFill>
                              <a:latin typeface="Calibri" pitchFamily="34" charset="0"/>
                              <a:ea typeface="Calibri" pitchFamily="34" charset="-122"/>
                              <a:cs typeface="Calibri" pitchFamily="34" charset="-120"/>
                            </a:rPr>
                            <a:t>Region</a:t>
                          </a:r>
                          <a:endParaRPr lang="en-US" sz="1150" dirty="0">
                            <a:solidFill>
                              <a:schemeClr val="bg1"/>
                            </a:solidFill>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lgn="ctr">
                            <a:buNone/>
                          </a:pPr>
                          <a:r>
                            <a:rPr lang="en-US" sz="1150" b="1" dirty="0">
                              <a:solidFill>
                                <a:schemeClr val="bg1"/>
                              </a:solidFill>
                              <a:latin typeface="Calibri" pitchFamily="34" charset="0"/>
                              <a:ea typeface="Calibri" pitchFamily="34" charset="-122"/>
                              <a:cs typeface="Calibri" pitchFamily="34" charset="-120"/>
                            </a:rPr>
                            <a:t>Concept (demand)</a:t>
                          </a:r>
                          <a:endParaRPr lang="en-US" sz="1150" dirty="0">
                            <a:solidFill>
                              <a:schemeClr val="bg1"/>
                            </a:solidFill>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323418" t="-2857" r="-195570" b="-621429"/>
                          </a:stretch>
                        </a:blip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446000" t="-2857" r="-106000" b="-621429"/>
                          </a:stretch>
                        </a:blip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521656" t="-2857" r="-1274" b="-621429"/>
                          </a:stretch>
                        </a:blipFill>
                      </a:tcPr>
                    </a:tc>
                    <a:extLst>
                      <a:ext uri="{0D108BD9-81ED-4DB2-BD59-A6C34878D82A}">
                        <a16:rowId xmlns:a16="http://schemas.microsoft.com/office/drawing/2014/main" val="10000"/>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fire threat → suppression effort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0.597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0.360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0.237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asset exposure → asset protection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0.541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0.049</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0.492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intervention urgency → deployment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0.639</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0.554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0.085</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evacuation pressure → evacuation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0.497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0.497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fire threat → suppression effort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0.687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0.360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0.327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asset exposure → asset protection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0.831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0.831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intervention urgency → deployment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0.816</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0.920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0.104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evacuation pressure → evacuation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0.674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0.674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mc:Fallback>
      </mc:AlternateContent>
      <p:sp>
        <p:nvSpPr>
          <p:cNvPr id="6" name="Text 3"/>
          <p:cNvSpPr/>
          <p:nvPr/>
        </p:nvSpPr>
        <p:spPr>
          <a:xfrm>
            <a:off x="6629400" y="1078992"/>
            <a:ext cx="5120640" cy="292608"/>
          </a:xfrm>
          <a:prstGeom prst="rect">
            <a:avLst/>
          </a:prstGeom>
          <a:noFill/>
          <a:ln/>
        </p:spPr>
        <p:txBody>
          <a:bodyPr wrap="square" lIns="0" tIns="0" rIns="0" bIns="0" rtlCol="0" anchor="ctr"/>
          <a:lstStyle/>
          <a:p>
            <a:pPr marL="0" indent="0">
              <a:buNone/>
            </a:pPr>
            <a:r>
              <a:rPr lang="en-US" sz="1400" b="1" dirty="0">
                <a:solidFill>
                  <a:srgbClr val="3E7C4F"/>
                </a:solidFill>
                <a:latin typeface="Calibri" pitchFamily="34" charset="0"/>
                <a:ea typeface="Calibri" pitchFamily="34" charset="-122"/>
                <a:cs typeface="Calibri" pitchFamily="34" charset="-120"/>
              </a:rPr>
              <a:t>Region 1 — quality passes</a:t>
            </a:r>
            <a:endParaRPr lang="en-US" sz="1400" dirty="0"/>
          </a:p>
        </p:txBody>
      </p:sp>
      <mc:AlternateContent xmlns:mc="http://schemas.openxmlformats.org/markup-compatibility/2006" xmlns:a14="http://schemas.microsoft.com/office/drawing/2010/main">
        <mc:Choice Requires="a14">
          <p:sp>
            <p:nvSpPr>
              <p:cNvPr id="9" name="Text 4"/>
              <p:cNvSpPr/>
              <p:nvPr/>
            </p:nvSpPr>
            <p:spPr>
              <a:xfrm>
                <a:off x="6629400" y="1399032"/>
                <a:ext cx="5120640" cy="77326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400">
                              <a:latin typeface="Cambria Math"/>
                            </a:rPr>
                          </m:ctrlPr>
                        </m:sSubPr>
                        <m:e>
                          <m:r>
                            <a:rPr lang="en-US" sz="1400">
                              <a:latin typeface="Cambria Math"/>
                            </a:rPr>
                            <m:t>𝑄</m:t>
                          </m:r>
                        </m:e>
                        <m:sub>
                          <m:r>
                            <a:rPr lang="en-US" sz="1400">
                              <a:latin typeface="Cambria Math"/>
                            </a:rPr>
                            <m:t>1</m:t>
                          </m:r>
                        </m:sub>
                      </m:sSub>
                      <m:r>
                        <a:rPr lang="en-US" sz="1400">
                          <a:latin typeface="Cambria Math"/>
                        </a:rPr>
                        <m:t> = 1 − </m:t>
                      </m:r>
                      <m:f>
                        <m:fPr>
                          <m:ctrlPr>
                            <a:rPr lang="en-US" sz="1400">
                              <a:latin typeface="Cambria Math"/>
                            </a:rPr>
                          </m:ctrlPr>
                        </m:fPr>
                        <m:num>
                          <m:r>
                            <a:rPr lang="en-US" sz="1400">
                              <a:latin typeface="Cambria Math"/>
                            </a:rPr>
                            <m:t>1</m:t>
                          </m:r>
                        </m:num>
                        <m:den>
                          <m:r>
                            <a:rPr lang="en-US" sz="1400">
                              <a:latin typeface="Cambria Math"/>
                            </a:rPr>
                            <m:t>4</m:t>
                          </m:r>
                        </m:den>
                      </m:f>
                      <m:d>
                        <m:dPr>
                          <m:ctrlPr>
                            <a:rPr lang="en-US" sz="1400">
                              <a:latin typeface="Cambria Math"/>
                            </a:rPr>
                          </m:ctrlPr>
                        </m:dPr>
                        <m:e>
                          <m:r>
                            <a:rPr lang="en-US" sz="1400">
                              <a:latin typeface="Cambria Math"/>
                            </a:rPr>
                            <m:t>0.237 + 0.492 + 0.085 + 0.497</m:t>
                          </m:r>
                        </m:e>
                      </m:d>
                      <m:r>
                        <a:rPr lang="en-US" sz="1400">
                          <a:latin typeface="Cambria Math"/>
                        </a:rPr>
                        <m:t>= 0.672</m:t>
                      </m:r>
                    </m:oMath>
                  </m:oMathPara>
                </a14:m>
                <a:endParaRPr lang="en-US" sz="1400" dirty="0"/>
              </a:p>
              <a:p>
                <a:pPr algn="ctr"/>
                <a14:m>
                  <m:oMathPara xmlns:m="http://schemas.openxmlformats.org/officeDocument/2006/math">
                    <m:oMath>
                      <m:r>
                        <a:rPr lang="en-US" sz="1400" i="1">
                          <a:latin typeface="Cambria Math" panose="02040503050406030204" pitchFamily="18" charset="0"/>
                        </a:rPr>
                        <m:t>𝑄</m:t>
                      </m:r>
                      <m:r>
                        <a:rPr lang="en-US" sz="1400" i="1">
                          <a:latin typeface="Cambria Math" panose="02040503050406030204" pitchFamily="18" charset="0"/>
                        </a:rPr>
                        <m:t>₁ = 1 − 0.328 = 0.672 ≥ 0.60</m:t>
                      </m:r>
                    </m:oMath>
                  </m:oMathPara>
                </a14:m>
                <a:endParaRPr lang="en-US" sz="1400" dirty="0"/>
              </a:p>
              <a:p>
                <a:pPr marL="0" indent="0" algn="ctr">
                  <a:buNone/>
                </a:pPr>
                <a:endParaRPr lang="en-US" sz="1400" dirty="0"/>
              </a:p>
            </p:txBody>
          </p:sp>
        </mc:Choice>
        <mc:Fallback xmlns="">
          <p:sp>
            <p:nvSpPr>
              <p:cNvPr id="9" name="Text 4"/>
              <p:cNvSpPr>
                <a:spLocks noRot="1" noChangeAspect="1" noMove="1" noResize="1" noEditPoints="1" noAdjustHandles="1" noChangeArrowheads="1" noChangeShapeType="1" noTextEdit="1"/>
              </p:cNvSpPr>
              <p:nvPr/>
            </p:nvSpPr>
            <p:spPr>
              <a:xfrm>
                <a:off x="6629400" y="1399032"/>
                <a:ext cx="5120640" cy="773260"/>
              </a:xfrm>
              <a:prstGeom prst="rect">
                <a:avLst/>
              </a:prstGeom>
              <a:blipFill>
                <a:blip r:embed="rId6"/>
                <a:stretch>
                  <a:fillRect t="-3968"/>
                </a:stretch>
              </a:blipFill>
              <a:ln/>
            </p:spPr>
            <p:txBody>
              <a:bodyPr/>
              <a:lstStyle/>
              <a:p>
                <a:r>
                  <a:rPr lang="tr-TR">
                    <a:noFill/>
                  </a:rPr>
                  <a:t> </a:t>
                </a:r>
              </a:p>
            </p:txBody>
          </p:sp>
        </mc:Fallback>
      </mc:AlternateContent>
      <p:sp>
        <p:nvSpPr>
          <p:cNvPr id="11" name="Text 6"/>
          <p:cNvSpPr/>
          <p:nvPr/>
        </p:nvSpPr>
        <p:spPr>
          <a:xfrm>
            <a:off x="6621780" y="2418014"/>
            <a:ext cx="512064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Region 2 — quality fails, the fail-safe engages</a:t>
            </a:r>
            <a:endParaRPr lang="en-US" sz="1400" dirty="0"/>
          </a:p>
        </p:txBody>
      </p:sp>
      <mc:AlternateContent xmlns:mc="http://schemas.openxmlformats.org/markup-compatibility/2006" xmlns:a14="http://schemas.microsoft.com/office/drawing/2010/main">
        <mc:Choice Requires="a14">
          <p:sp>
            <p:nvSpPr>
              <p:cNvPr id="12" name="Text 7"/>
              <p:cNvSpPr/>
              <p:nvPr/>
            </p:nvSpPr>
            <p:spPr>
              <a:xfrm>
                <a:off x="6621780" y="2738054"/>
                <a:ext cx="5120640" cy="64008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400">
                              <a:latin typeface="Cambria Math"/>
                            </a:rPr>
                          </m:ctrlPr>
                        </m:sSubPr>
                        <m:e>
                          <m:r>
                            <a:rPr lang="en-US" sz="1400">
                              <a:latin typeface="Cambria Math"/>
                            </a:rPr>
                            <m:t>𝑄</m:t>
                          </m:r>
                        </m:e>
                        <m:sub>
                          <m:r>
                            <a:rPr lang="en-US" sz="1400">
                              <a:latin typeface="Cambria Math"/>
                            </a:rPr>
                            <m:t>2</m:t>
                          </m:r>
                        </m:sub>
                      </m:sSub>
                      <m:r>
                        <a:rPr lang="en-US" sz="1400">
                          <a:latin typeface="Cambria Math"/>
                        </a:rPr>
                        <m:t> = 1 − </m:t>
                      </m:r>
                      <m:f>
                        <m:fPr>
                          <m:ctrlPr>
                            <a:rPr lang="en-US" sz="1400">
                              <a:latin typeface="Cambria Math"/>
                            </a:rPr>
                          </m:ctrlPr>
                        </m:fPr>
                        <m:num>
                          <m:r>
                            <a:rPr lang="en-US" sz="1400">
                              <a:latin typeface="Cambria Math"/>
                            </a:rPr>
                            <m:t>1</m:t>
                          </m:r>
                        </m:num>
                        <m:den>
                          <m:r>
                            <a:rPr lang="en-US" sz="1400">
                              <a:latin typeface="Cambria Math"/>
                            </a:rPr>
                            <m:t>4</m:t>
                          </m:r>
                        </m:den>
                      </m:f>
                      <m:r>
                        <a:rPr lang="en-US" sz="1400">
                          <a:latin typeface="Cambria Math"/>
                        </a:rPr>
                        <m:t>(0.327 + 0.831 + 0.104 + 0.674) = 0.516</m:t>
                      </m:r>
                    </m:oMath>
                  </m:oMathPara>
                </a14:m>
                <a:endParaRPr lang="en-US" sz="1300" dirty="0"/>
              </a:p>
            </p:txBody>
          </p:sp>
        </mc:Choice>
        <mc:Fallback xmlns="">
          <p:sp>
            <p:nvSpPr>
              <p:cNvPr id="12" name="Text 7"/>
              <p:cNvSpPr>
                <a:spLocks noRot="1" noChangeAspect="1" noMove="1" noResize="1" noEditPoints="1" noAdjustHandles="1" noChangeArrowheads="1" noChangeShapeType="1" noTextEdit="1"/>
              </p:cNvSpPr>
              <p:nvPr/>
            </p:nvSpPr>
            <p:spPr>
              <a:xfrm>
                <a:off x="6621780" y="2738054"/>
                <a:ext cx="5120640" cy="640080"/>
              </a:xfrm>
              <a:prstGeom prst="rect">
                <a:avLst/>
              </a:prstGeom>
              <a:blipFill>
                <a:blip r:embed="rId7"/>
                <a:stretch>
                  <a:fillRect/>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13" name="Text 8"/>
              <p:cNvSpPr/>
              <p:nvPr/>
            </p:nvSpPr>
            <p:spPr>
              <a:xfrm>
                <a:off x="6621780" y="3423854"/>
                <a:ext cx="5120640" cy="548640"/>
              </a:xfrm>
              <a:prstGeom prst="rect">
                <a:avLst/>
              </a:prstGeom>
              <a:noFill/>
              <a:ln/>
            </p:spPr>
            <p:txBody>
              <a:bodyPr wrap="square" lIns="0" tIns="0" rIns="0" bIns="0" rtlCol="0" anchor="ctr"/>
              <a:lstStyle/>
              <a:p>
                <a:pPr algn="ctr"/>
                <a14:m>
                  <m:oMathPara xmlns:m="http://schemas.openxmlformats.org/officeDocument/2006/math">
                    <m:oMath>
                      <m:sSub>
                        <m:sSubPr>
                          <m:ctrlPr>
                            <a:rPr lang="en-US" sz="1400">
                              <a:latin typeface="Cambria Math"/>
                            </a:rPr>
                          </m:ctrlPr>
                        </m:sSubPr>
                        <m:e>
                          <m:r>
                            <a:rPr lang="en-US" sz="1400">
                              <a:latin typeface="Cambria Math"/>
                            </a:rPr>
                            <m:t>𝑢</m:t>
                          </m:r>
                        </m:e>
                        <m:sub>
                          <m:r>
                            <m:rPr>
                              <m:sty m:val="p"/>
                            </m:rPr>
                            <a:rPr lang="en-US" sz="1400">
                              <a:latin typeface="Cambria Math"/>
                            </a:rPr>
                            <m:t>f</m:t>
                          </m:r>
                        </m:sub>
                      </m:sSub>
                      <m:r>
                        <a:rPr lang="en-US" sz="1400">
                          <a:latin typeface="Cambria Math"/>
                        </a:rPr>
                        <m:t>′ = </m:t>
                      </m:r>
                      <m:f>
                        <m:fPr>
                          <m:ctrlPr>
                            <a:rPr lang="en-US" sz="1400" i="1">
                              <a:latin typeface="Cambria Math" panose="02040503050406030204" pitchFamily="18" charset="0"/>
                            </a:rPr>
                          </m:ctrlPr>
                        </m:fPr>
                        <m:num>
                          <m:sSub>
                            <m:sSubPr>
                              <m:ctrlPr>
                                <a:rPr lang="en-US" sz="1400">
                                  <a:latin typeface="Cambria Math"/>
                                </a:rPr>
                              </m:ctrlPr>
                            </m:sSubPr>
                            <m:e>
                              <m:r>
                                <a:rPr lang="en-US" sz="1400">
                                  <a:latin typeface="Cambria Math"/>
                                </a:rPr>
                                <m:t>𝑄</m:t>
                              </m:r>
                            </m:e>
                            <m:sub>
                              <m:r>
                                <a:rPr lang="en-US" sz="1400">
                                  <a:latin typeface="Cambria Math"/>
                                </a:rPr>
                                <m:t>2</m:t>
                              </m:r>
                            </m:sub>
                          </m:sSub>
                        </m:num>
                        <m:den>
                          <m:r>
                            <a:rPr lang="en-US" sz="1400">
                              <a:latin typeface="Cambria Math"/>
                            </a:rPr>
                            <m:t>𝜂</m:t>
                          </m:r>
                        </m:den>
                      </m:f>
                      <m:sSub>
                        <m:sSubPr>
                          <m:ctrlPr>
                            <a:rPr lang="en-US" sz="1400">
                              <a:latin typeface="Cambria Math"/>
                            </a:rPr>
                          </m:ctrlPr>
                        </m:sSubPr>
                        <m:e>
                          <m:r>
                            <a:rPr lang="en-US" sz="1400">
                              <a:latin typeface="Cambria Math"/>
                            </a:rPr>
                            <m:t>𝑢</m:t>
                          </m:r>
                        </m:e>
                        <m:sub>
                          <m:r>
                            <m:rPr>
                              <m:sty m:val="p"/>
                            </m:rPr>
                            <a:rPr lang="en-US" sz="1400">
                              <a:latin typeface="Cambria Math"/>
                            </a:rPr>
                            <m:t>f</m:t>
                          </m:r>
                        </m:sub>
                      </m:sSub>
                      <m:r>
                        <a:rPr lang="en-US" sz="1400">
                          <a:latin typeface="Cambria Math"/>
                        </a:rPr>
                        <m:t> =</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0.516</m:t>
                          </m:r>
                        </m:num>
                        <m:den>
                          <m:r>
                            <a:rPr lang="en-US" sz="1400" b="0" i="1" smtClean="0">
                              <a:latin typeface="Cambria Math" panose="02040503050406030204" pitchFamily="18" charset="0"/>
                            </a:rPr>
                            <m:t>0.6</m:t>
                          </m:r>
                        </m:den>
                      </m:f>
                      <m:sSub>
                        <m:sSubPr>
                          <m:ctrlPr>
                            <a:rPr lang="en-US" sz="1400">
                              <a:latin typeface="Cambria Math"/>
                            </a:rPr>
                          </m:ctrlPr>
                        </m:sSubPr>
                        <m:e>
                          <m:r>
                            <a:rPr lang="en-US" sz="1400">
                              <a:latin typeface="Cambria Math"/>
                            </a:rPr>
                            <m:t>𝑢</m:t>
                          </m:r>
                        </m:e>
                        <m:sub>
                          <m:r>
                            <m:rPr>
                              <m:sty m:val="p"/>
                            </m:rPr>
                            <a:rPr lang="en-US" sz="1400">
                              <a:latin typeface="Cambria Math"/>
                            </a:rPr>
                            <m:t>f</m:t>
                          </m:r>
                        </m:sub>
                      </m:sSub>
                      <m:r>
                        <a:rPr lang="en-US" sz="1400">
                          <a:latin typeface="Cambria Math"/>
                        </a:rPr>
                        <m:t> =0.86</m:t>
                      </m:r>
                      <m:sSub>
                        <m:sSubPr>
                          <m:ctrlPr>
                            <a:rPr lang="en-US" sz="1400">
                              <a:latin typeface="Cambria Math"/>
                            </a:rPr>
                          </m:ctrlPr>
                        </m:sSubPr>
                        <m:e>
                          <m:r>
                            <a:rPr lang="en-US" sz="1400">
                              <a:latin typeface="Cambria Math"/>
                            </a:rPr>
                            <m:t>𝑢</m:t>
                          </m:r>
                        </m:e>
                        <m:sub>
                          <m:r>
                            <m:rPr>
                              <m:sty m:val="p"/>
                            </m:rPr>
                            <a:rPr lang="en-US" sz="1400">
                              <a:latin typeface="Cambria Math"/>
                            </a:rPr>
                            <m:t>f</m:t>
                          </m:r>
                        </m:sub>
                      </m:sSub>
                    </m:oMath>
                  </m:oMathPara>
                </a14:m>
                <a:endParaRPr lang="en-US" sz="1300" dirty="0"/>
              </a:p>
            </p:txBody>
          </p:sp>
        </mc:Choice>
        <mc:Fallback xmlns="">
          <p:sp>
            <p:nvSpPr>
              <p:cNvPr id="13" name="Text 8"/>
              <p:cNvSpPr>
                <a:spLocks noRot="1" noChangeAspect="1" noMove="1" noResize="1" noEditPoints="1" noAdjustHandles="1" noChangeArrowheads="1" noChangeShapeType="1" noTextEdit="1"/>
              </p:cNvSpPr>
              <p:nvPr/>
            </p:nvSpPr>
            <p:spPr>
              <a:xfrm>
                <a:off x="6621780" y="3423854"/>
                <a:ext cx="5120640" cy="548640"/>
              </a:xfrm>
              <a:prstGeom prst="rect">
                <a:avLst/>
              </a:prstGeom>
              <a:blipFill>
                <a:blip r:embed="rId8"/>
                <a:stretch>
                  <a:fillRect b="-1111"/>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14" name="Text 9"/>
              <p:cNvSpPr/>
              <p:nvPr/>
            </p:nvSpPr>
            <p:spPr>
              <a:xfrm>
                <a:off x="6629400" y="3883978"/>
                <a:ext cx="5120640" cy="2736278"/>
              </a:xfrm>
              <a:prstGeom prst="rect">
                <a:avLst/>
              </a:prstGeom>
              <a:noFill/>
              <a:ln/>
            </p:spPr>
            <p:txBody>
              <a:bodyPr wrap="square" lIns="0" tIns="0" rIns="0" bIns="0" rtlCol="0" anchor="t"/>
              <a:lstStyle/>
              <a:p>
                <a:pPr marL="171450" indent="-171450">
                  <a:lnSpc>
                    <a:spcPct val="104000"/>
                  </a:lnSpc>
                  <a:buFont typeface="Arial" panose="020B0604020202020204" pitchFamily="34" charset="0"/>
                  <a:buChar char="•"/>
                </a:pPr>
                <a:r>
                  <a:rPr lang="en-US" sz="1400" dirty="0">
                    <a:solidFill>
                      <a:srgbClr val="222222"/>
                    </a:solidFill>
                    <a:latin typeface="Calibri" pitchFamily="34" charset="0"/>
                    <a:ea typeface="Calibri" pitchFamily="34" charset="-122"/>
                    <a:cs typeface="Calibri" pitchFamily="34" charset="-120"/>
                  </a:rPr>
                  <a:t>The fail-safe engages and </a:t>
                </a:r>
                <a14:m>
                  <m:oMath xmlns:m="http://schemas.openxmlformats.org/officeDocument/2006/math">
                    <m:sSub>
                      <m:sSubPr>
                        <m:ctrlPr>
                          <a:rPr lang="en-US" sz="1400">
                            <a:latin typeface="Cambria Math"/>
                          </a:rPr>
                        </m:ctrlPr>
                      </m:sSubPr>
                      <m:e>
                        <m:r>
                          <a:rPr lang="en-US" sz="1400">
                            <a:latin typeface="Cambria Math"/>
                          </a:rPr>
                          <m:t>𝑢</m:t>
                        </m:r>
                      </m:e>
                      <m:sub>
                        <m:r>
                          <a:rPr lang="en-US" sz="1400">
                            <a:latin typeface="Cambria Math"/>
                          </a:rPr>
                          <m:t>𝑓</m:t>
                        </m:r>
                      </m:sub>
                    </m:sSub>
                  </m:oMath>
                </a14:m>
                <a:r>
                  <a:rPr lang="en-US" sz="1400" dirty="0">
                    <a:solidFill>
                      <a:srgbClr val="222222"/>
                    </a:solidFill>
                    <a:latin typeface="Calibri" pitchFamily="34" charset="0"/>
                    <a:ea typeface="Calibri" pitchFamily="34" charset="-122"/>
                    <a:cs typeface="Calibri" pitchFamily="34" charset="-120"/>
                  </a:rPr>
                  <a:t> is the intensity the candidate ordered for family f  (the numbers in the 'Ordered' column). The fail-safe replaces each offensive order by </a:t>
                </a:r>
                <a14:m>
                  <m:oMath xmlns:m="http://schemas.openxmlformats.org/officeDocument/2006/math">
                    <m:sSub>
                      <m:sSubPr>
                        <m:ctrlPr>
                          <a:rPr lang="en-US" sz="1400">
                            <a:latin typeface="Cambria Math"/>
                          </a:rPr>
                        </m:ctrlPr>
                      </m:sSubPr>
                      <m:e>
                        <m:r>
                          <a:rPr lang="en-US" sz="1400">
                            <a:latin typeface="Cambria Math"/>
                          </a:rPr>
                          <m:t>𝑢</m:t>
                        </m:r>
                        <m:r>
                          <a:rPr lang="en-US" sz="1400">
                            <a:latin typeface="Cambria Math"/>
                          </a:rPr>
                          <m:t>′</m:t>
                        </m:r>
                      </m:e>
                      <m:sub>
                        <m:r>
                          <a:rPr lang="en-US" sz="1400">
                            <a:latin typeface="Cambria Math"/>
                          </a:rPr>
                          <m:t>𝑓</m:t>
                        </m:r>
                      </m:sub>
                    </m:sSub>
                    <m:r>
                      <a:rPr lang="en-US" sz="1400">
                        <a:latin typeface="Cambria Math"/>
                      </a:rPr>
                      <m:t> = (</m:t>
                    </m:r>
                    <m:sSub>
                      <m:sSubPr>
                        <m:ctrlPr>
                          <a:rPr lang="en-US" sz="1400">
                            <a:latin typeface="Cambria Math"/>
                          </a:rPr>
                        </m:ctrlPr>
                      </m:sSubPr>
                      <m:e>
                        <m:r>
                          <a:rPr lang="en-US" sz="1400">
                            <a:latin typeface="Cambria Math"/>
                          </a:rPr>
                          <m:t>𝑄</m:t>
                        </m:r>
                      </m:e>
                      <m:sub>
                        <m:r>
                          <a:rPr lang="en-US" sz="1400">
                            <a:latin typeface="Cambria Math"/>
                          </a:rPr>
                          <m:t>2</m:t>
                        </m:r>
                      </m:sub>
                    </m:sSub>
                    <m:r>
                      <a:rPr lang="en-US" sz="1400">
                        <a:latin typeface="Cambria Math"/>
                      </a:rPr>
                      <m:t>∕</m:t>
                    </m:r>
                    <m:r>
                      <a:rPr lang="en-US" sz="1400">
                        <a:latin typeface="Cambria Math"/>
                      </a:rPr>
                      <m:t>𝜂</m:t>
                    </m:r>
                    <m:r>
                      <a:rPr lang="en-US" sz="1400">
                        <a:latin typeface="Cambria Math"/>
                      </a:rPr>
                      <m:t>)⋅</m:t>
                    </m:r>
                    <m:sSub>
                      <m:sSubPr>
                        <m:ctrlPr>
                          <a:rPr lang="en-US" sz="1400">
                            <a:latin typeface="Cambria Math"/>
                          </a:rPr>
                        </m:ctrlPr>
                      </m:sSubPr>
                      <m:e>
                        <m:r>
                          <a:rPr lang="en-US" sz="1400">
                            <a:latin typeface="Cambria Math"/>
                          </a:rPr>
                          <m:t>𝑢</m:t>
                        </m:r>
                      </m:e>
                      <m:sub>
                        <m:r>
                          <a:rPr lang="en-US" sz="1400">
                            <a:latin typeface="Cambria Math"/>
                          </a:rPr>
                          <m:t>𝑓</m:t>
                        </m:r>
                      </m:sub>
                    </m:sSub>
                  </m:oMath>
                </a14:m>
                <a:r>
                  <a:rPr lang="en-US" sz="1400" dirty="0">
                    <a:solidFill>
                      <a:srgbClr val="222222"/>
                    </a:solidFill>
                    <a:latin typeface="Calibri" pitchFamily="34" charset="0"/>
                    <a:ea typeface="Calibri" pitchFamily="34" charset="-122"/>
                    <a:cs typeface="Calibri" pitchFamily="34" charset="-120"/>
                  </a:rPr>
                  <a:t>, that is, every offensive order is multiplied by 0.86 and re-issued at the reduced strength: suppression 0.86 × 0.360 = 0.310, deployment 0.86 × 0.920 = 0.791. </a:t>
                </a:r>
                <a:r>
                  <a:rPr lang="en-US" sz="1400" b="1" dirty="0">
                    <a:solidFill>
                      <a:srgbClr val="222222"/>
                    </a:solidFill>
                    <a:latin typeface="Calibri" pitchFamily="34" charset="0"/>
                    <a:ea typeface="Calibri" pitchFamily="34" charset="-122"/>
                    <a:cs typeface="Calibri" pitchFamily="34" charset="-120"/>
                  </a:rPr>
                  <a:t>The order is weakened, not cancelled. </a:t>
                </a:r>
              </a:p>
              <a:p>
                <a:pPr marL="171450" indent="-171450">
                  <a:lnSpc>
                    <a:spcPct val="104000"/>
                  </a:lnSpc>
                  <a:buFont typeface="Arial" panose="020B0604020202020204" pitchFamily="34" charset="0"/>
                  <a:buChar char="•"/>
                </a:pPr>
                <a:r>
                  <a:rPr lang="en-US" sz="1400" b="1" dirty="0">
                    <a:solidFill>
                      <a:srgbClr val="222222"/>
                    </a:solidFill>
                    <a:latin typeface="Calibri" pitchFamily="34" charset="0"/>
                    <a:ea typeface="Calibri" pitchFamily="34" charset="-122"/>
                    <a:cs typeface="Calibri" pitchFamily="34" charset="-120"/>
                  </a:rPr>
                  <a:t>Evacuation and warning are never attenuated</a:t>
                </a:r>
                <a:r>
                  <a:rPr lang="en-US" sz="1400" dirty="0">
                    <a:solidFill>
                      <a:srgbClr val="222222"/>
                    </a:solidFill>
                    <a:latin typeface="Calibri" pitchFamily="34" charset="0"/>
                    <a:ea typeface="Calibri" pitchFamily="34" charset="-122"/>
                    <a:cs typeface="Calibri" pitchFamily="34" charset="-120"/>
                  </a:rPr>
                  <a:t>; none was ordered here, and that omission is exactly what the quality test recorded</a:t>
                </a:r>
              </a:p>
              <a:p>
                <a:pPr marL="171450" indent="-171450">
                  <a:lnSpc>
                    <a:spcPct val="104000"/>
                  </a:lnSpc>
                  <a:buFont typeface="Arial" panose="020B0604020202020204" pitchFamily="34" charset="0"/>
                  <a:buChar char="•"/>
                </a:pPr>
                <a:r>
                  <a:rPr lang="en-US" sz="1400" dirty="0">
                    <a:solidFill>
                      <a:srgbClr val="222222"/>
                    </a:solidFill>
                    <a:latin typeface="Calibri" pitchFamily="34" charset="0"/>
                    <a:ea typeface="Calibri" pitchFamily="34" charset="-122"/>
                    <a:cs typeface="Calibri" pitchFamily="34" charset="-120"/>
                  </a:rPr>
                  <a:t>The cost test could not see it, because assets not yet burning carry no cost inside the horizon.</a:t>
                </a:r>
                <a:endParaRPr lang="en-US" sz="1400" dirty="0"/>
              </a:p>
            </p:txBody>
          </p:sp>
        </mc:Choice>
        <mc:Fallback xmlns="">
          <p:sp>
            <p:nvSpPr>
              <p:cNvPr id="14" name="Text 9"/>
              <p:cNvSpPr>
                <a:spLocks noRot="1" noChangeAspect="1" noMove="1" noResize="1" noEditPoints="1" noAdjustHandles="1" noChangeArrowheads="1" noChangeShapeType="1" noTextEdit="1"/>
              </p:cNvSpPr>
              <p:nvPr/>
            </p:nvSpPr>
            <p:spPr>
              <a:xfrm>
                <a:off x="6629400" y="3883978"/>
                <a:ext cx="5120640" cy="2736278"/>
              </a:xfrm>
              <a:prstGeom prst="rect">
                <a:avLst/>
              </a:prstGeom>
              <a:blipFill>
                <a:blip r:embed="rId9"/>
                <a:stretch>
                  <a:fillRect l="-2024" t="-1559" r="-833"/>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16" name="Text 7">
                <a:extLst>
                  <a:ext uri="{FF2B5EF4-FFF2-40B4-BE49-F238E27FC236}">
                    <a16:creationId xmlns:a16="http://schemas.microsoft.com/office/drawing/2014/main" id="{689F2944-B9F4-BF37-2D8B-92CF794CD7EA}"/>
                  </a:ext>
                </a:extLst>
              </p:cNvPr>
              <p:cNvSpPr/>
              <p:nvPr/>
            </p:nvSpPr>
            <p:spPr>
              <a:xfrm>
                <a:off x="457200" y="4462974"/>
                <a:ext cx="5943600" cy="2347025"/>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300" dirty="0">
                    <a:solidFill>
                      <a:srgbClr val="222222"/>
                    </a:solidFill>
                    <a:latin typeface="Calibri" pitchFamily="34" charset="0"/>
                    <a:ea typeface="Calibri" pitchFamily="34" charset="-122"/>
                    <a:cs typeface="Calibri" pitchFamily="34" charset="-120"/>
                  </a:rPr>
                  <a:t>Each scored concept is paired with the family that answers it: fire threat ↔ suppression, asset risk ↔ protection, urgency ↔ deployment, evacuation pressure ↔ evacuation &amp; warning</a:t>
                </a:r>
                <a:endParaRPr lang="en-US" sz="1300" dirty="0"/>
              </a:p>
              <a:p>
                <a:pPr marL="152400" indent="-152400">
                  <a:lnSpc>
                    <a:spcPct val="104000"/>
                  </a:lnSpc>
                  <a:spcAft>
                    <a:spcPts val="600"/>
                  </a:spcAft>
                  <a:buSzPct val="100000"/>
                  <a:buChar char="•"/>
                </a:pPr>
                <a:r>
                  <a:rPr lang="en-US" sz="1300" dirty="0">
                    <a:solidFill>
                      <a:srgbClr val="222222"/>
                    </a:solidFill>
                    <a:latin typeface="Calibri" pitchFamily="34" charset="0"/>
                    <a:ea typeface="Calibri" pitchFamily="34" charset="-122"/>
                    <a:cs typeface="Calibri" pitchFamily="34" charset="-120"/>
                  </a:rPr>
                  <a:t>Suppression feasibility is excluded — a modulator, not a demander</a:t>
                </a:r>
              </a:p>
              <a:p>
                <a:pPr marL="152400" indent="-152400">
                  <a:lnSpc>
                    <a:spcPct val="104000"/>
                  </a:lnSpc>
                  <a:spcAft>
                    <a:spcPts val="600"/>
                  </a:spcAft>
                  <a:buSzPct val="100000"/>
                  <a:buFontTx/>
                  <a:buChar char="•"/>
                </a:pPr>
                <a:r>
                  <a:rPr lang="en-US" sz="1300" dirty="0">
                    <a:solidFill>
                      <a:srgbClr val="222222"/>
                    </a:solidFill>
                    <a:latin typeface="Calibri" pitchFamily="34" charset="0"/>
                    <a:ea typeface="Calibri" pitchFamily="34" charset="-122"/>
                    <a:cs typeface="Calibri" pitchFamily="34" charset="-120"/>
                  </a:rPr>
                  <a:t>Each mismatch is the distance between what the concept demanded and what the candidate ordered from the family that answers it. Ordering too much counts the same as ordering too little (Region 2, urgency: 0.920 ordered against 0.816 demanded).</a:t>
                </a:r>
                <a:endParaRPr lang="en-US" sz="1300" dirty="0"/>
              </a:p>
              <a:p>
                <a:pPr marL="152400" indent="-152400">
                  <a:lnSpc>
                    <a:spcPct val="104000"/>
                  </a:lnSpc>
                  <a:spcAft>
                    <a:spcPts val="600"/>
                  </a:spcAft>
                  <a:buSzPct val="100000"/>
                  <a:buChar char="•"/>
                </a:pPr>
                <a:r>
                  <a:rPr lang="en-US" sz="1300" b="1" dirty="0">
                    <a:solidFill>
                      <a:srgbClr val="222222"/>
                    </a:solidFill>
                    <a:latin typeface="Calibri" pitchFamily="34" charset="0"/>
                    <a:ea typeface="Calibri" pitchFamily="34" charset="-122"/>
                    <a:cs typeface="Calibri" pitchFamily="34" charset="-120"/>
                  </a:rPr>
                  <a:t>Accept ⇔ </a:t>
                </a:r>
                <a14:m>
                  <m:oMath xmlns:m="http://schemas.openxmlformats.org/officeDocument/2006/math">
                    <m:r>
                      <a:rPr lang="en-US" sz="1300">
                        <a:latin typeface="Cambria Math"/>
                      </a:rPr>
                      <m:t>𝑄</m:t>
                    </m:r>
                    <m:r>
                      <a:rPr lang="en-US" sz="1300">
                        <a:latin typeface="Cambria Math"/>
                      </a:rPr>
                      <m:t> ≥ </m:t>
                    </m:r>
                    <m:r>
                      <a:rPr lang="en-US" sz="1300">
                        <a:latin typeface="Cambria Math"/>
                      </a:rPr>
                      <m:t>𝜂</m:t>
                    </m:r>
                  </m:oMath>
                </a14:m>
                <a:r>
                  <a:rPr lang="en-US" sz="1300" b="1" dirty="0">
                    <a:solidFill>
                      <a:srgbClr val="222222"/>
                    </a:solidFill>
                    <a:latin typeface="Calibri" pitchFamily="34" charset="0"/>
                    <a:ea typeface="Calibri" pitchFamily="34" charset="-122"/>
                    <a:cs typeface="Calibri" pitchFamily="34" charset="-120"/>
                  </a:rPr>
                  <a:t> = 0.60</a:t>
                </a:r>
                <a:endParaRPr lang="en-US" sz="1300" dirty="0"/>
              </a:p>
            </p:txBody>
          </p:sp>
        </mc:Choice>
        <mc:Fallback xmlns="">
          <p:sp>
            <p:nvSpPr>
              <p:cNvPr id="16" name="Text 7">
                <a:extLst>
                  <a:ext uri="{FF2B5EF4-FFF2-40B4-BE49-F238E27FC236}">
                    <a16:creationId xmlns:a16="http://schemas.microsoft.com/office/drawing/2014/main" id="{689F2944-B9F4-BF37-2D8B-92CF794CD7EA}"/>
                  </a:ext>
                </a:extLst>
              </p:cNvPr>
              <p:cNvSpPr>
                <a:spLocks noRot="1" noChangeAspect="1" noMove="1" noResize="1" noEditPoints="1" noAdjustHandles="1" noChangeArrowheads="1" noChangeShapeType="1" noTextEdit="1"/>
              </p:cNvSpPr>
              <p:nvPr/>
            </p:nvSpPr>
            <p:spPr>
              <a:xfrm>
                <a:off x="457200" y="4462974"/>
                <a:ext cx="5943600" cy="2347025"/>
              </a:xfrm>
              <a:prstGeom prst="rect">
                <a:avLst/>
              </a:prstGeom>
              <a:blipFill>
                <a:blip r:embed="rId10"/>
                <a:stretch>
                  <a:fillRect l="-1744" t="-2597"/>
                </a:stretch>
              </a:blipFill>
              <a:ln/>
            </p:spPr>
            <p:txBody>
              <a:bodyPr/>
              <a:lstStyle/>
              <a:p>
                <a:r>
                  <a:rPr lang="tr-TR">
                    <a:noFill/>
                  </a:rPr>
                  <a:t> </a:t>
                </a:r>
              </a:p>
            </p:txBody>
          </p:sp>
        </mc:Fallback>
      </mc:AlternateContent>
      <p:sp>
        <p:nvSpPr>
          <p:cNvPr id="18" name="TextBox 17">
            <a:extLst>
              <a:ext uri="{FF2B5EF4-FFF2-40B4-BE49-F238E27FC236}">
                <a16:creationId xmlns:a16="http://schemas.microsoft.com/office/drawing/2014/main" id="{41D84514-4ABA-01DB-12CB-B473DF1A1179}"/>
              </a:ext>
            </a:extLst>
          </p:cNvPr>
          <p:cNvSpPr txBox="1"/>
          <p:nvPr/>
        </p:nvSpPr>
        <p:spPr>
          <a:xfrm>
            <a:off x="6619600" y="2061703"/>
            <a:ext cx="5105400" cy="307777"/>
          </a:xfrm>
          <a:prstGeom prst="rect">
            <a:avLst/>
          </a:prstGeom>
          <a:noFill/>
        </p:spPr>
        <p:txBody>
          <a:bodyPr wrap="square">
            <a:spAutoFit/>
          </a:bodyPr>
          <a:lstStyle/>
          <a:p>
            <a:pPr marL="171450" indent="-171450">
              <a:lnSpc>
                <a:spcPct val="104000"/>
              </a:lnSpc>
              <a:buFont typeface="Arial" panose="020B0604020202020204" pitchFamily="34" charset="0"/>
              <a:buChar char="•"/>
            </a:pPr>
            <a:r>
              <a:rPr lang="en-US" sz="1400" dirty="0">
                <a:solidFill>
                  <a:srgbClr val="222222"/>
                </a:solidFill>
                <a:latin typeface="Calibri" pitchFamily="34" charset="0"/>
                <a:ea typeface="Calibri" pitchFamily="34" charset="-122"/>
                <a:cs typeface="Calibri" pitchFamily="34" charset="-120"/>
              </a:rPr>
              <a:t>The orders are applied as written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Derate, Never Panic; Withhold, Never Pretend</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4_10.png"/>
          <p:cNvPicPr>
            <a:picLocks noChangeAspect="1"/>
          </p:cNvPicPr>
          <p:nvPr/>
        </p:nvPicPr>
        <p:blipFill>
          <a:blip r:embed="rId5"/>
          <a:stretch>
            <a:fillRect/>
          </a:stretch>
        </p:blipFill>
        <p:spPr>
          <a:xfrm>
            <a:off x="411480" y="2012766"/>
            <a:ext cx="6217920" cy="3655428"/>
          </a:xfrm>
          <a:prstGeom prst="rect">
            <a:avLst/>
          </a:prstGeom>
        </p:spPr>
      </p:pic>
      <mc:AlternateContent xmlns:mc="http://schemas.openxmlformats.org/markup-compatibility/2006" xmlns:a14="http://schemas.microsoft.com/office/drawing/2010/main">
        <mc:Choice Requires="a14">
          <p:sp>
            <p:nvSpPr>
              <p:cNvPr id="7" name="Text 2"/>
              <p:cNvSpPr/>
              <p:nvPr/>
            </p:nvSpPr>
            <p:spPr>
              <a:xfrm>
                <a:off x="6858000" y="1554480"/>
                <a:ext cx="4846320" cy="4754880"/>
              </a:xfrm>
              <a:prstGeom prst="rect">
                <a:avLst/>
              </a:prstGeom>
              <a:noFill/>
              <a:ln/>
            </p:spPr>
            <p:txBody>
              <a:bodyPr wrap="square" lIns="0" tIns="0" rIns="0" bIns="0" rtlCol="0" anchor="t"/>
              <a:lstStyle/>
              <a:p>
                <a:pPr marL="152400" indent="-152400">
                  <a:lnSpc>
                    <a:spcPct val="104000"/>
                  </a:lnSpc>
                  <a:spcAft>
                    <a:spcPts val="600"/>
                  </a:spcAft>
                  <a:buSzPct val="100000"/>
                  <a:buChar char="•"/>
                </a:pPr>
                <a14:m>
                  <m:oMath xmlns:m="http://schemas.openxmlformats.org/officeDocument/2006/math">
                    <m:r>
                      <a:rPr lang="en-US" sz="1250">
                        <a:latin typeface="Cambria Math"/>
                      </a:rPr>
                      <m:t>𝑄</m:t>
                    </m:r>
                    <m:r>
                      <a:rPr lang="en-US" sz="1250">
                        <a:latin typeface="Cambria Math"/>
                      </a:rPr>
                      <m:t> ≥ </m:t>
                    </m:r>
                    <m:r>
                      <a:rPr lang="en-US" sz="1250">
                        <a:latin typeface="Cambria Math"/>
                      </a:rPr>
                      <m:t>𝜂</m:t>
                    </m:r>
                  </m:oMath>
                </a14:m>
                <a:r>
                  <a:rPr lang="en-US" sz="1250" dirty="0">
                    <a:solidFill>
                      <a:srgbClr val="222222"/>
                    </a:solidFill>
                    <a:latin typeface="Calibri" pitchFamily="34" charset="0"/>
                    <a:ea typeface="Calibri" pitchFamily="34" charset="-122"/>
                    <a:cs typeface="Calibri" pitchFamily="34" charset="-120"/>
                  </a:rPr>
                  <a:t> → orders issued in full</a:t>
                </a:r>
                <a:endParaRPr lang="en-US" sz="1250" dirty="0"/>
              </a:p>
              <a:p>
                <a:pPr marL="152400" indent="-152400">
                  <a:lnSpc>
                    <a:spcPct val="104000"/>
                  </a:lnSpc>
                  <a:spcAft>
                    <a:spcPts val="600"/>
                  </a:spcAft>
                  <a:buSzPct val="100000"/>
                  <a:buChar char="•"/>
                </a:pPr>
                <a14:m>
                  <m:oMath xmlns:m="http://schemas.openxmlformats.org/officeDocument/2006/math">
                    <m:r>
                      <a:rPr lang="en-US" sz="1250">
                        <a:latin typeface="Cambria Math"/>
                      </a:rPr>
                      <m:t>𝑄</m:t>
                    </m:r>
                    <m:r>
                      <a:rPr lang="en-US" sz="1250">
                        <a:latin typeface="Cambria Math"/>
                      </a:rPr>
                      <m:t> &lt; </m:t>
                    </m:r>
                    <m:r>
                      <a:rPr lang="en-US" sz="1250">
                        <a:latin typeface="Cambria Math"/>
                      </a:rPr>
                      <m:t>𝜂</m:t>
                    </m:r>
                  </m:oMath>
                </a14:m>
                <a:r>
                  <a:rPr lang="en-US" sz="1250" dirty="0">
                    <a:solidFill>
                      <a:srgbClr val="222222"/>
                    </a:solidFill>
                    <a:latin typeface="Calibri" pitchFamily="34" charset="0"/>
                    <a:ea typeface="Calibri" pitchFamily="34" charset="-122"/>
                    <a:cs typeface="Calibri" pitchFamily="34" charset="-120"/>
                  </a:rPr>
                  <a:t> → offensive families (suppression, deployment, containment, protection) scaled by </a:t>
                </a:r>
                <a14:m>
                  <m:oMath xmlns:m="http://schemas.openxmlformats.org/officeDocument/2006/math">
                    <m:r>
                      <a:rPr lang="en-US" sz="1250">
                        <a:latin typeface="Cambria Math"/>
                      </a:rPr>
                      <m:t>𝜆</m:t>
                    </m:r>
                    <m:r>
                      <a:rPr lang="en-US" sz="1250">
                        <a:latin typeface="Cambria Math"/>
                      </a:rPr>
                      <m:t> = </m:t>
                    </m:r>
                    <m:r>
                      <a:rPr lang="en-US" sz="1250">
                        <a:latin typeface="Cambria Math"/>
                      </a:rPr>
                      <m:t>𝑄</m:t>
                    </m:r>
                    <m:r>
                      <a:rPr lang="en-US" sz="1250">
                        <a:latin typeface="Cambria Math"/>
                      </a:rPr>
                      <m:t>∕</m:t>
                    </m:r>
                    <m:r>
                      <a:rPr lang="en-US" sz="1250">
                        <a:latin typeface="Cambria Math"/>
                      </a:rPr>
                      <m:t>𝜂</m:t>
                    </m:r>
                  </m:oMath>
                </a14:m>
                <a:r>
                  <a:rPr lang="en-US" sz="1250" dirty="0">
                    <a:solidFill>
                      <a:srgbClr val="222222"/>
                    </a:solidFill>
                    <a:latin typeface="Calibri" pitchFamily="34" charset="0"/>
                    <a:ea typeface="Calibri" pitchFamily="34" charset="-122"/>
                    <a:cs typeface="Calibri" pitchFamily="34" charset="-120"/>
                  </a:rPr>
                  <a:t> toward the watchful baseline</a:t>
                </a:r>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Evacuation and public warning are never attenuated </a:t>
                </a:r>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No-harm veto (on </a:t>
                </a:r>
                <a14:m>
                  <m:oMath xmlns:m="http://schemas.openxmlformats.org/officeDocument/2006/math">
                    <m:sSub>
                      <m:sSubPr>
                        <m:ctrlPr>
                          <a:rPr lang="en-US" sz="1250">
                            <a:latin typeface="Cambria Math"/>
                          </a:rPr>
                        </m:ctrlPr>
                      </m:sSubPr>
                      <m:e>
                        <m:r>
                          <a:rPr lang="en-US" sz="1250">
                            <a:latin typeface="Cambria Math"/>
                          </a:rPr>
                          <m:t>𝐽</m:t>
                        </m:r>
                      </m:e>
                      <m:sub>
                        <m:r>
                          <a:rPr lang="en-US" sz="1250">
                            <a:latin typeface="Cambria Math"/>
                          </a:rPr>
                          <m:t>𝑃ℎ𝑦</m:t>
                        </m:r>
                      </m:sub>
                    </m:sSub>
                  </m:oMath>
                </a14:m>
                <a:r>
                  <a:rPr lang="en-US" sz="1250" dirty="0">
                    <a:solidFill>
                      <a:srgbClr val="222222"/>
                    </a:solidFill>
                    <a:latin typeface="Calibri" pitchFamily="34" charset="0"/>
                    <a:ea typeface="Calibri" pitchFamily="34" charset="-122"/>
                    <a:cs typeface="Calibri" pitchFamily="34" charset="-120"/>
                  </a:rPr>
                  <a:t> only): if even the adapted candidate forecasts worse physics than doing nothing, the offensive allocation is withheld for the cycle (no capacity fielded, no response cost paid, life-safety orders stand)</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Why graduated: a hard cut would oscillate between action and inaction at the threshold; proportional derating keeps the response continuous in the quality deficit</a:t>
                </a:r>
                <a:endParaRPr lang="en-US" sz="1250" dirty="0"/>
              </a:p>
            </p:txBody>
          </p:sp>
        </mc:Choice>
        <mc:Fallback xmlns="">
          <p:sp>
            <p:nvSpPr>
              <p:cNvPr id="7" name="Text 2"/>
              <p:cNvSpPr>
                <a:spLocks noRot="1" noChangeAspect="1" noMove="1" noResize="1" noEditPoints="1" noAdjustHandles="1" noChangeArrowheads="1" noChangeShapeType="1" noTextEdit="1"/>
              </p:cNvSpPr>
              <p:nvPr/>
            </p:nvSpPr>
            <p:spPr>
              <a:xfrm>
                <a:off x="6858000" y="1554480"/>
                <a:ext cx="4846320" cy="4754880"/>
              </a:xfrm>
              <a:prstGeom prst="rect">
                <a:avLst/>
              </a:prstGeom>
              <a:blipFill>
                <a:blip r:embed="rId6"/>
                <a:stretch>
                  <a:fillRect l="-2013" t="-1154" r="-881"/>
                </a:stretch>
              </a:blipFill>
              <a:ln/>
            </p:spPr>
            <p:txBody>
              <a:bodyPr/>
              <a:lstStyle/>
              <a:p>
                <a:r>
                  <a:rPr lang="tr-TR">
                    <a:noFill/>
                  </a:rPr>
                  <a:t> </a:t>
                </a:r>
              </a:p>
            </p:txBody>
          </p:sp>
        </mc:Fallback>
      </mc:AlternateContent>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4957D42-490E-4694-9914-ADE9E7A8EC43}"/>
              </a:ext>
            </a:extLst>
          </p:cNvPr>
          <p:cNvSpPr/>
          <p:nvPr/>
        </p:nvSpPr>
        <p:spPr>
          <a:xfrm>
            <a:off x="441960" y="2151234"/>
            <a:ext cx="2039983" cy="3657383"/>
          </a:xfrm>
          <a:prstGeom prst="rect">
            <a:avLst/>
          </a:prstGeom>
          <a:solidFill>
            <a:schemeClr val="bg1">
              <a:lumMod val="8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pic>
        <p:nvPicPr>
          <p:cNvPr id="10" name="Image 0" descr="/tmp/thx/deck/figs/Figure4_1.png">
            <a:extLst>
              <a:ext uri="{FF2B5EF4-FFF2-40B4-BE49-F238E27FC236}">
                <a16:creationId xmlns:a16="http://schemas.microsoft.com/office/drawing/2014/main" id="{2DC26631-0B92-435B-A091-092C4F22C51C}"/>
              </a:ext>
            </a:extLst>
          </p:cNvPr>
          <p:cNvPicPr>
            <a:picLocks noChangeAspect="1"/>
          </p:cNvPicPr>
          <p:nvPr/>
        </p:nvPicPr>
        <p:blipFill rotWithShape="1">
          <a:blip r:embed="rId3">
            <a:clrChange>
              <a:clrFrom>
                <a:srgbClr val="FFFFFF"/>
              </a:clrFrom>
              <a:clrTo>
                <a:srgbClr val="FFFFFF">
                  <a:alpha val="0"/>
                </a:srgbClr>
              </a:clrTo>
            </a:clrChange>
          </a:blip>
          <a:srcRect t="65091" r="14361"/>
          <a:stretch>
            <a:fillRect/>
          </a:stretch>
        </p:blipFill>
        <p:spPr>
          <a:xfrm>
            <a:off x="134786" y="1645920"/>
            <a:ext cx="6266014" cy="4291576"/>
          </a:xfrm>
          <a:prstGeom prst="rect">
            <a:avLst/>
          </a:prstGeom>
        </p:spPr>
      </p:pic>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4 : Decision Space: Decide, Price, Test, Adapt</a:t>
            </a:r>
            <a:endParaRPr lang="en-US" sz="2900" dirty="0"/>
          </a:p>
        </p:txBody>
      </p:sp>
      <p:pic>
        <p:nvPicPr>
          <p:cNvPr id="7" name="Image 1" descr="/tmp/thx/deck/figs/metu_emblem.png"/>
          <p:cNvPicPr>
            <a:picLocks noChangeAspect="1"/>
          </p:cNvPicPr>
          <p:nvPr/>
        </p:nvPicPr>
        <p:blipFill>
          <a:blip r:embed="rId4"/>
          <a:stretch>
            <a:fillRect/>
          </a:stretch>
        </p:blipFill>
        <p:spPr>
          <a:xfrm>
            <a:off x="10716768" y="184607"/>
            <a:ext cx="475488" cy="398882"/>
          </a:xfrm>
          <a:prstGeom prst="rect">
            <a:avLst/>
          </a:prstGeom>
        </p:spPr>
      </p:pic>
      <p:pic>
        <p:nvPicPr>
          <p:cNvPr id="8" name="Image 2" descr="/tmp/thx/deck/figs/eee_logo.png"/>
          <p:cNvPicPr>
            <a:picLocks noChangeAspect="1"/>
          </p:cNvPicPr>
          <p:nvPr/>
        </p:nvPicPr>
        <p:blipFill>
          <a:blip r:embed="rId5"/>
          <a:stretch>
            <a:fillRect/>
          </a:stretch>
        </p:blipFill>
        <p:spPr>
          <a:xfrm>
            <a:off x="11265408" y="186217"/>
            <a:ext cx="475488" cy="395662"/>
          </a:xfrm>
          <a:prstGeom prst="rect">
            <a:avLst/>
          </a:prstGeom>
        </p:spPr>
      </p:pic>
      <p:sp>
        <p:nvSpPr>
          <p:cNvPr id="9" name="Text 2">
            <a:extLst>
              <a:ext uri="{FF2B5EF4-FFF2-40B4-BE49-F238E27FC236}">
                <a16:creationId xmlns:a16="http://schemas.microsoft.com/office/drawing/2014/main" id="{F0EF7DE3-6A12-98AC-E001-E3E45B824FF6}"/>
              </a:ext>
            </a:extLst>
          </p:cNvPr>
          <p:cNvSpPr/>
          <p:nvPr/>
        </p:nvSpPr>
        <p:spPr>
          <a:xfrm>
            <a:off x="7589520" y="1645920"/>
            <a:ext cx="4160520" cy="402336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Runs once per decision cycle, in a fixed order</a:t>
            </a:r>
            <a:endParaRPr lang="en-US" sz="1550" dirty="0"/>
          </a:p>
          <a:p>
            <a:pPr marL="152400" indent="-152400">
              <a:lnSpc>
                <a:spcPct val="105000"/>
              </a:lnSpc>
              <a:spcAft>
                <a:spcPts val="1000"/>
              </a:spcAft>
              <a:buSzPct val="100000"/>
              <a:buChar char="•"/>
            </a:pPr>
            <a:r>
              <a:rPr lang="en-US" sz="1550" b="1" dirty="0">
                <a:solidFill>
                  <a:srgbClr val="222222"/>
                </a:solidFill>
                <a:latin typeface="Calibri" pitchFamily="34" charset="0"/>
                <a:ea typeface="Calibri" pitchFamily="34" charset="-122"/>
                <a:cs typeface="Calibri" pitchFamily="34" charset="-120"/>
              </a:rPr>
              <a:t>Input: </a:t>
            </a:r>
            <a:r>
              <a:rPr lang="en-US" sz="1550" dirty="0">
                <a:solidFill>
                  <a:srgbClr val="222222"/>
                </a:solidFill>
                <a:latin typeface="Calibri" pitchFamily="34" charset="0"/>
                <a:ea typeface="Calibri" pitchFamily="34" charset="-122"/>
                <a:cs typeface="Calibri" pitchFamily="34" charset="-120"/>
              </a:rPr>
              <a:t>Gated concept activations.</a:t>
            </a:r>
          </a:p>
          <a:p>
            <a:pPr marL="152400" indent="-152400">
              <a:lnSpc>
                <a:spcPct val="102000"/>
              </a:lnSpc>
              <a:spcAft>
                <a:spcPts val="500"/>
              </a:spcAft>
              <a:buSzPct val="100000"/>
              <a:buChar char="•"/>
            </a:pPr>
            <a:r>
              <a:rPr lang="en-US" sz="1550" b="1" dirty="0">
                <a:solidFill>
                  <a:srgbClr val="222222"/>
                </a:solidFill>
                <a:latin typeface="Calibri" pitchFamily="34" charset="0"/>
                <a:ea typeface="Calibri" pitchFamily="34" charset="-122"/>
                <a:cs typeface="Calibri" pitchFamily="34" charset="-120"/>
              </a:rPr>
              <a:t>Output: </a:t>
            </a:r>
            <a:r>
              <a:rPr lang="en-US" sz="1400" dirty="0">
                <a:solidFill>
                  <a:srgbClr val="222222"/>
                </a:solidFill>
                <a:latin typeface="Calibri" pitchFamily="34" charset="0"/>
                <a:ea typeface="Calibri" pitchFamily="34" charset="-122"/>
                <a:cs typeface="Calibri" pitchFamily="34" charset="-120"/>
              </a:rPr>
              <a:t>An intensity vector over the intervention vocabulary (base intervention families, plus admitted macros and clause actuators that compile into them)</a:t>
            </a:r>
            <a:endParaRPr lang="en-US" sz="1400" dirty="0"/>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“Cost test → quality gate → apply”  </a:t>
            </a:r>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“Cost test → quality gate → fail” triggers the adaptation ladder ① ② ③</a:t>
            </a:r>
            <a:endParaRPr lang="en-US" sz="1550" dirty="0"/>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Graduated fail-safe attenuates offensive orders; life-safety orders never reduced</a:t>
            </a:r>
            <a:endParaRPr lang="en-US" sz="1550" dirty="0"/>
          </a:p>
        </p:txBody>
      </p:sp>
    </p:spTree>
    <p:extLst>
      <p:ext uri="{BB962C8B-B14F-4D97-AF65-F5344CB8AC3E}">
        <p14:creationId xmlns:p14="http://schemas.microsoft.com/office/powerpoint/2010/main" val="29044141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Five Seed Rules — the Whole Starting Doctrine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10" name="Table 0"/>
          <p:cNvGraphicFramePr>
            <a:graphicFrameLocks noGrp="1"/>
          </p:cNvGraphicFramePr>
          <p:nvPr/>
        </p:nvGraphicFramePr>
        <p:xfrm>
          <a:off x="457200" y="1325880"/>
          <a:ext cx="11247120" cy="2852928"/>
        </p:xfrm>
        <a:graphic>
          <a:graphicData uri="http://schemas.openxmlformats.org/drawingml/2006/table">
            <a:tbl>
              <a:tblPr/>
              <a:tblGrid>
                <a:gridCol w="5486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IF (over gated decision concepts)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THEN (intensities)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Regime it anchors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75488">
                <a:tc>
                  <a:txBody>
                    <a:bodyPr/>
                    <a:lstStyle/>
                    <a:p>
                      <a:pPr marL="0" indent="0">
                        <a:buNone/>
                      </a:pPr>
                      <a:r>
                        <a:rPr lang="en-US" sz="1250" b="1" dirty="0">
                          <a:solidFill>
                            <a:srgbClr val="E31836"/>
                          </a:solidFill>
                          <a:latin typeface="Calibri" pitchFamily="34" charset="0"/>
                          <a:ea typeface="Calibri" pitchFamily="34" charset="-122"/>
                          <a:cs typeface="Calibri" pitchFamily="34" charset="-120"/>
                        </a:rPr>
                        <a:t>R1</a:t>
                      </a:r>
                      <a:endParaRPr lang="en-US" sz="12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exposure risk VH ∧ suppression feasibility 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protection 0.9, containment line 0.6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Asset protection when attack is infeasible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250" b="1" dirty="0">
                          <a:solidFill>
                            <a:srgbClr val="E31836"/>
                          </a:solidFill>
                          <a:latin typeface="Calibri" pitchFamily="34" charset="0"/>
                          <a:ea typeface="Calibri" pitchFamily="34" charset="-122"/>
                          <a:cs typeface="Calibri" pitchFamily="34" charset="-120"/>
                        </a:rPr>
                        <a:t>R2</a:t>
                      </a:r>
                      <a:endParaRPr lang="en-US" sz="12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evacuation pressure VH ∧ suppression feasibility VL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evacuation 1.0, public warning 1.0, deployment 0.7 (offensive intensities withdrawn)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Evacuation &amp; warning</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250" b="1" dirty="0">
                          <a:solidFill>
                            <a:srgbClr val="E31836"/>
                          </a:solidFill>
                          <a:latin typeface="Calibri" pitchFamily="34" charset="0"/>
                          <a:ea typeface="Calibri" pitchFamily="34" charset="-122"/>
                          <a:cs typeface="Calibri" pitchFamily="34" charset="-120"/>
                        </a:rPr>
                        <a:t>R3</a:t>
                      </a:r>
                      <a:endParaRPr lang="en-US" sz="12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threat level VH ∧ suppression feasibility VL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containment line 0.9, evacuation 0.6, public warning 0.8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Feasibility-limited response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E31836"/>
                          </a:solidFill>
                          <a:latin typeface="Calibri" pitchFamily="34" charset="0"/>
                          <a:ea typeface="Calibri" pitchFamily="34" charset="-122"/>
                          <a:cs typeface="Calibri" pitchFamily="34" charset="-120"/>
                        </a:rPr>
                        <a:t>R4</a:t>
                      </a:r>
                      <a:endParaRPr lang="en-US" sz="12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intervention urgency VH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resource deployment 1.0 (priority preemption across regions)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Urgency / preemption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250" b="1" dirty="0">
                          <a:solidFill>
                            <a:srgbClr val="E31836"/>
                          </a:solidFill>
                          <a:latin typeface="Calibri" pitchFamily="34" charset="0"/>
                          <a:ea typeface="Calibri" pitchFamily="34" charset="-122"/>
                          <a:cs typeface="Calibri" pitchFamily="34" charset="-120"/>
                        </a:rPr>
                        <a:t>R5</a:t>
                      </a:r>
                      <a:endParaRPr lang="en-US" sz="12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threat level VH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 effort 1.0, resource deployment 0.8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Backbone suppression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Shape 2"/>
          <p:cNvSpPr/>
          <p:nvPr/>
        </p:nvSpPr>
        <p:spPr>
          <a:xfrm>
            <a:off x="457200" y="4480560"/>
            <a:ext cx="11247120" cy="1965960"/>
          </a:xfrm>
          <a:prstGeom prst="roundRect">
            <a:avLst>
              <a:gd name="adj" fmla="val 2326"/>
            </a:avLst>
          </a:prstGeom>
          <a:solidFill>
            <a:srgbClr val="F2F2F2"/>
          </a:solidFill>
          <a:ln/>
        </p:spPr>
        <p:txBody>
          <a:bodyPr/>
          <a:lstStyle/>
          <a:p>
            <a:endParaRPr lang="tr-TR"/>
          </a:p>
        </p:txBody>
      </p:sp>
      <p:sp>
        <p:nvSpPr>
          <p:cNvPr id="8" name="Text 3"/>
          <p:cNvSpPr/>
          <p:nvPr/>
        </p:nvSpPr>
        <p:spPr>
          <a:xfrm>
            <a:off x="731520" y="4590288"/>
            <a:ext cx="106984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Why exactly these five</a:t>
            </a:r>
            <a:endParaRPr lang="en-US" sz="1400" dirty="0"/>
          </a:p>
        </p:txBody>
      </p:sp>
      <mc:AlternateContent xmlns:mc="http://schemas.openxmlformats.org/markup-compatibility/2006" xmlns:a14="http://schemas.microsoft.com/office/drawing/2010/main">
        <mc:Choice Requires="a14">
          <p:sp>
            <p:nvSpPr>
              <p:cNvPr id="9" name="Text 4"/>
              <p:cNvSpPr/>
              <p:nvPr/>
            </p:nvSpPr>
            <p:spPr>
              <a:xfrm>
                <a:off x="8138160" y="4434840"/>
                <a:ext cx="3566160" cy="502920"/>
              </a:xfrm>
              <a:prstGeom prst="rect">
                <a:avLst/>
              </a:prstGeom>
              <a:noFill/>
              <a:ln/>
            </p:spPr>
            <p:txBody>
              <a:bodyPr wrap="square" lIns="0" tIns="0" rIns="0" bIns="0" rtlCol="0" anchor="ctr"/>
              <a:lstStyle/>
              <a:p>
                <a:pPr marL="0" indent="0" algn="ctr">
                  <a:buNone/>
                </a:pPr>
                <a14:m>
                  <m:oMathPara xmlns:m="http://schemas.openxmlformats.org/officeDocument/2006/math">
                    <m:oMath>
                      <m:sSub>
                        <m:sSubPr>
                          <m:ctrlPr>
                            <a:rPr lang="en-US" sz="1400">
                              <a:latin typeface="Cambria Math"/>
                            </a:rPr>
                          </m:ctrlPr>
                        </m:sSubPr>
                        <m:e>
                          <m:r>
                            <a:rPr lang="en-US" sz="1400">
                              <a:latin typeface="Cambria Math"/>
                            </a:rPr>
                            <m:t>𝑚𝑖𝑛</m:t>
                          </m:r>
                        </m:e>
                        <m:sub>
                          <m:sSup>
                            <m:sSupPr>
                              <m:ctrlPr>
                                <a:rPr lang="en-US" sz="1400">
                                  <a:latin typeface="Cambria Math"/>
                                </a:rPr>
                              </m:ctrlPr>
                            </m:sSupPr>
                            <m:e>
                              <m:r>
                                <a:rPr lang="en-US" sz="1400">
                                  <a:latin typeface="Cambria Math"/>
                                </a:rPr>
                                <m:t>𝑎</m:t>
                              </m:r>
                            </m:e>
                            <m:sup>
                              <m:r>
                                <a:rPr lang="en-US" sz="1400">
                                  <a:latin typeface="Cambria Math"/>
                                </a:rPr>
                                <m:t>𝑒𝑓𝑓</m:t>
                              </m:r>
                            </m:sup>
                          </m:sSup>
                          <m:r>
                            <a:rPr lang="en-US" sz="1400">
                              <a:latin typeface="Cambria Math"/>
                            </a:rPr>
                            <m:t>∈[0,1</m:t>
                          </m:r>
                          <m:sSup>
                            <m:sSupPr>
                              <m:ctrlPr>
                                <a:rPr lang="en-US" sz="1400">
                                  <a:latin typeface="Cambria Math"/>
                                </a:rPr>
                              </m:ctrlPr>
                            </m:sSupPr>
                            <m:e>
                              <m:r>
                                <a:rPr lang="en-US" sz="1400">
                                  <a:latin typeface="Cambria Math"/>
                                </a:rPr>
                                <m:t>]</m:t>
                              </m:r>
                            </m:e>
                            <m:sup>
                              <m:r>
                                <a:rPr lang="en-US" sz="1400">
                                  <a:latin typeface="Cambria Math"/>
                                </a:rPr>
                                <m:t>5</m:t>
                              </m:r>
                            </m:sup>
                          </m:sSup>
                        </m:sub>
                      </m:sSub>
                      <m:r>
                        <a:rPr lang="en-US" sz="1400">
                          <a:latin typeface="Cambria Math"/>
                        </a:rPr>
                        <m:t> </m:t>
                      </m:r>
                      <m:sSub>
                        <m:sSubPr>
                          <m:ctrlPr>
                            <a:rPr lang="en-US" sz="1400">
                              <a:latin typeface="Cambria Math"/>
                            </a:rPr>
                          </m:ctrlPr>
                        </m:sSubPr>
                        <m:e>
                          <m:r>
                            <a:rPr lang="en-US" sz="1400">
                              <a:latin typeface="Cambria Math"/>
                            </a:rPr>
                            <m:t>𝑚𝑎𝑥</m:t>
                          </m:r>
                        </m:e>
                        <m:sub>
                          <m:r>
                            <a:rPr lang="en-US" sz="1400">
                              <a:latin typeface="Cambria Math"/>
                            </a:rPr>
                            <m:t>𝑟</m:t>
                          </m:r>
                        </m:sub>
                      </m:sSub>
                      <m:r>
                        <a:rPr lang="en-US" sz="1400">
                          <a:latin typeface="Cambria Math"/>
                        </a:rPr>
                        <m:t> </m:t>
                      </m:r>
                      <m:sSub>
                        <m:sSubPr>
                          <m:ctrlPr>
                            <a:rPr lang="en-US" sz="1400">
                              <a:latin typeface="Cambria Math"/>
                            </a:rPr>
                          </m:ctrlPr>
                        </m:sSubPr>
                        <m:e>
                          <m:r>
                            <a:rPr lang="en-US" sz="1400">
                              <a:latin typeface="Cambria Math"/>
                            </a:rPr>
                            <m:t>𝛼</m:t>
                          </m:r>
                        </m:e>
                        <m:sub>
                          <m:r>
                            <a:rPr lang="en-US" sz="1400">
                              <a:latin typeface="Cambria Math"/>
                            </a:rPr>
                            <m:t>𝑟</m:t>
                          </m:r>
                        </m:sub>
                      </m:sSub>
                      <m:d>
                        <m:dPr>
                          <m:ctrlPr>
                            <a:rPr lang="en-US" sz="1400" i="1">
                              <a:latin typeface="Cambria Math" panose="02040503050406030204" pitchFamily="18" charset="0"/>
                            </a:rPr>
                          </m:ctrlPr>
                        </m:dPr>
                        <m:e>
                          <m:sSup>
                            <m:sSupPr>
                              <m:ctrlPr>
                                <a:rPr lang="en-US" sz="1400">
                                  <a:latin typeface="Cambria Math"/>
                                </a:rPr>
                              </m:ctrlPr>
                            </m:sSupPr>
                            <m:e>
                              <m:r>
                                <a:rPr lang="en-US" sz="1400">
                                  <a:latin typeface="Cambria Math"/>
                                </a:rPr>
                                <m:t>𝑎</m:t>
                              </m:r>
                            </m:e>
                            <m:sup>
                              <m:r>
                                <a:rPr lang="en-US" sz="1400">
                                  <a:latin typeface="Cambria Math"/>
                                </a:rPr>
                                <m:t>𝑒𝑓𝑓</m:t>
                              </m:r>
                            </m:sup>
                          </m:sSup>
                        </m:e>
                      </m:d>
                      <m:r>
                        <a:rPr lang="en-US" sz="1400">
                          <a:latin typeface="Cambria Math"/>
                        </a:rPr>
                        <m:t>≥</m:t>
                      </m:r>
                      <m:sSub>
                        <m:sSubPr>
                          <m:ctrlPr>
                            <a:rPr lang="en-US" sz="1400">
                              <a:latin typeface="Cambria Math"/>
                            </a:rPr>
                          </m:ctrlPr>
                        </m:sSubPr>
                        <m:e>
                          <m:r>
                            <a:rPr lang="en-US" sz="1400">
                              <a:latin typeface="Cambria Math"/>
                            </a:rPr>
                            <m:t>𝛼</m:t>
                          </m:r>
                        </m:e>
                        <m:sub>
                          <m:r>
                            <a:rPr lang="en-US" sz="1400">
                              <a:latin typeface="Cambria Math"/>
                            </a:rPr>
                            <m:t>𝑚𝑖𝑛</m:t>
                          </m:r>
                        </m:sub>
                      </m:sSub>
                      <m:r>
                        <a:rPr lang="en-US" sz="1400">
                          <a:latin typeface="Cambria Math"/>
                        </a:rPr>
                        <m:t>&gt;0</m:t>
                      </m:r>
                    </m:oMath>
                  </m:oMathPara>
                </a14:m>
                <a:endParaRPr lang="en-US" sz="1200" dirty="0"/>
              </a:p>
            </p:txBody>
          </p:sp>
        </mc:Choice>
        <mc:Fallback xmlns="">
          <p:sp>
            <p:nvSpPr>
              <p:cNvPr id="9" name="Text 4"/>
              <p:cNvSpPr>
                <a:spLocks noRot="1" noChangeAspect="1" noMove="1" noResize="1" noEditPoints="1" noAdjustHandles="1" noChangeArrowheads="1" noChangeShapeType="1" noTextEdit="1"/>
              </p:cNvSpPr>
              <p:nvPr/>
            </p:nvSpPr>
            <p:spPr>
              <a:xfrm>
                <a:off x="8138160" y="4434840"/>
                <a:ext cx="3566160" cy="502920"/>
              </a:xfrm>
              <a:prstGeom prst="rect">
                <a:avLst/>
              </a:prstGeom>
              <a:blipFill>
                <a:blip r:embed="rId5"/>
                <a:stretch>
                  <a:fillRect/>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6" name="Text 5"/>
              <p:cNvSpPr/>
              <p:nvPr/>
            </p:nvSpPr>
            <p:spPr>
              <a:xfrm>
                <a:off x="777240" y="4983480"/>
                <a:ext cx="10698480" cy="14173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Each of the five demanding decision concepts anchors at least one rule, so every canonical command question has a first answer</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Together they satisfy the graded coverage condition: at every reachable reading some rule fires with strength ≥ </a:t>
                </a:r>
                <a14:m>
                  <m:oMath xmlns:m="http://schemas.openxmlformats.org/officeDocument/2006/math">
                    <m:sSub>
                      <m:sSubPr>
                        <m:ctrlPr>
                          <a:rPr lang="en-US" sz="1250">
                            <a:latin typeface="Cambria Math"/>
                          </a:rPr>
                        </m:ctrlPr>
                      </m:sSubPr>
                      <m:e>
                        <m:r>
                          <a:rPr lang="en-US" sz="1250">
                            <a:latin typeface="Cambria Math"/>
                          </a:rPr>
                          <m:t>𝛼</m:t>
                        </m:r>
                      </m:e>
                      <m:sub>
                        <m:r>
                          <a:rPr lang="en-US" sz="1250">
                            <a:latin typeface="Cambria Math"/>
                          </a:rPr>
                          <m:t>𝑚𝑖𝑛</m:t>
                        </m:r>
                      </m:sub>
                    </m:sSub>
                    <m:r>
                      <a:rPr lang="en-US" sz="1250">
                        <a:latin typeface="Cambria Math"/>
                      </a:rPr>
                      <m:t> = 0.05</m:t>
                    </m:r>
                  </m:oMath>
                </a14:m>
                <a:r>
                  <a:rPr lang="en-US" sz="1250" dirty="0">
                    <a:solidFill>
                      <a:srgbClr val="222222"/>
                    </a:solidFill>
                    <a:latin typeface="Calibri" pitchFamily="34" charset="0"/>
                    <a:ea typeface="Calibri" pitchFamily="34" charset="-122"/>
                    <a:cs typeface="Calibri" pitchFamily="34" charset="-120"/>
                  </a:rPr>
                  <a:t> — no situation is met with silence</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Deliberately minimal: everything beyond this doctrine must be earned by the adaptation ladder under gate evidence</a:t>
                </a:r>
              </a:p>
              <a:p>
                <a:pPr>
                  <a:lnSpc>
                    <a:spcPct val="104000"/>
                  </a:lnSpc>
                  <a:spcAft>
                    <a:spcPts val="600"/>
                  </a:spcAft>
                  <a:buSzPct val="100000"/>
                </a:pPr>
                <a:r>
                  <a:rPr lang="en-US" sz="1250" b="1" dirty="0">
                    <a:solidFill>
                      <a:srgbClr val="222222"/>
                    </a:solidFill>
                    <a:highlight>
                      <a:srgbClr val="FFFF00"/>
                    </a:highlight>
                    <a:latin typeface="Calibri" pitchFamily="34" charset="0"/>
                    <a:ea typeface="Calibri" pitchFamily="34" charset="-122"/>
                    <a:cs typeface="Calibri" pitchFamily="34" charset="-120"/>
                  </a:rPr>
                  <a:t>(The campaign grows it to 129 tuned trials, 40 instantiated and 47 admitted rules)</a:t>
                </a:r>
                <a:endParaRPr lang="en-US" sz="1250" dirty="0">
                  <a:highlight>
                    <a:srgbClr val="FFFF00"/>
                  </a:highlight>
                </a:endParaRPr>
              </a:p>
            </p:txBody>
          </p:sp>
        </mc:Choice>
        <mc:Fallback xmlns="">
          <p:sp>
            <p:nvSpPr>
              <p:cNvPr id="6" name="Text 5"/>
              <p:cNvSpPr>
                <a:spLocks noRot="1" noChangeAspect="1" noMove="1" noResize="1" noEditPoints="1" noAdjustHandles="1" noChangeArrowheads="1" noChangeShapeType="1" noTextEdit="1"/>
              </p:cNvSpPr>
              <p:nvPr/>
            </p:nvSpPr>
            <p:spPr>
              <a:xfrm>
                <a:off x="777240" y="4983480"/>
                <a:ext cx="10698480" cy="1417320"/>
              </a:xfrm>
              <a:prstGeom prst="rect">
                <a:avLst/>
              </a:prstGeom>
              <a:blipFill>
                <a:blip r:embed="rId6"/>
                <a:stretch>
                  <a:fillRect l="-969" t="-4310"/>
                </a:stretch>
              </a:blipFill>
              <a:ln/>
            </p:spPr>
            <p:txBody>
              <a:bodyPr/>
              <a:lstStyle/>
              <a:p>
                <a:r>
                  <a:rPr lang="tr-TR">
                    <a:noFill/>
                  </a:rPr>
                  <a:t> </a:t>
                </a:r>
              </a:p>
            </p:txBody>
          </p:sp>
        </mc:Fallback>
      </mc:AlternateContent>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How the Adaptation Stage Is Selected</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115568"/>
            <a:ext cx="11247120" cy="292608"/>
          </a:xfrm>
          <a:prstGeom prst="rect">
            <a:avLst/>
          </a:prstGeom>
          <a:noFill/>
          <a:ln/>
        </p:spPr>
        <p:txBody>
          <a:bodyPr wrap="square" lIns="0" tIns="0" rIns="0" bIns="0" rtlCol="0" anchor="t"/>
          <a:lstStyle/>
          <a:p>
            <a:pPr marL="0" indent="0">
              <a:lnSpc>
                <a:spcPct val="102000"/>
              </a:lnSpc>
              <a:spcAft>
                <a:spcPts val="0"/>
              </a:spcAft>
              <a:buNone/>
            </a:pPr>
            <a:r>
              <a:rPr lang="en-US" sz="1300" b="1" i="0" dirty="0">
                <a:solidFill>
                  <a:srgbClr val="222222"/>
                </a:solidFill>
                <a:latin typeface="Calibri" pitchFamily="34" charset="0"/>
                <a:ea typeface="Calibri" pitchFamily="34" charset="-122"/>
                <a:cs typeface="Calibri" pitchFamily="34" charset="-120"/>
              </a:rPr>
              <a:t>The cost test failed in this cycle. Exactly one adaptation stage is tried. Two facts computed in this cycle define the situation.</a:t>
            </a:r>
            <a:endParaRPr lang="en-US" sz="1300" dirty="0"/>
          </a:p>
        </p:txBody>
      </p:sp>
      <p:sp>
        <p:nvSpPr>
          <p:cNvPr id="15" name="Shape 11"/>
          <p:cNvSpPr/>
          <p:nvPr/>
        </p:nvSpPr>
        <p:spPr>
          <a:xfrm>
            <a:off x="502920" y="5149691"/>
            <a:ext cx="11201400" cy="1470565"/>
          </a:xfrm>
          <a:prstGeom prst="roundRect">
            <a:avLst>
              <a:gd name="adj" fmla="val 5263"/>
            </a:avLst>
          </a:prstGeom>
          <a:solidFill>
            <a:srgbClr val="FDE8EB"/>
          </a:solidFill>
          <a:ln/>
        </p:spPr>
        <p:txBody>
          <a:bodyPr/>
          <a:lstStyle/>
          <a:p>
            <a:endParaRPr lang="tr-TR"/>
          </a:p>
        </p:txBody>
      </p:sp>
      <p:sp>
        <p:nvSpPr>
          <p:cNvPr id="16" name="Text 12"/>
          <p:cNvSpPr/>
          <p:nvPr/>
        </p:nvSpPr>
        <p:spPr>
          <a:xfrm>
            <a:off x="769620" y="5276087"/>
            <a:ext cx="10652760" cy="1354931"/>
          </a:xfrm>
          <a:prstGeom prst="rect">
            <a:avLst/>
          </a:prstGeom>
          <a:noFill/>
          <a:ln/>
        </p:spPr>
        <p:txBody>
          <a:bodyPr wrap="square" lIns="0" tIns="0" rIns="0" bIns="0" rtlCol="0" anchor="t"/>
          <a:lstStyle/>
          <a:p>
            <a:pPr marL="0" indent="0">
              <a:lnSpc>
                <a:spcPct val="102000"/>
              </a:lnSpc>
              <a:spcAft>
                <a:spcPts val="300"/>
              </a:spcAft>
              <a:buNone/>
            </a:pPr>
            <a:r>
              <a:rPr lang="en-US" sz="1250" b="1" i="0" dirty="0">
                <a:solidFill>
                  <a:srgbClr val="222222"/>
                </a:solidFill>
                <a:latin typeface="Calibri" pitchFamily="34" charset="0"/>
                <a:ea typeface="Calibri" pitchFamily="34" charset="-122"/>
                <a:cs typeface="Calibri" pitchFamily="34" charset="-120"/>
              </a:rPr>
              <a:t>The controller chooses which repair to try. Whether the trial is kept is decided by the gates and the shadow forecast.</a:t>
            </a:r>
            <a:endParaRPr lang="en-US" sz="1250" dirty="0"/>
          </a:p>
          <a:p>
            <a:pPr marL="0" indent="0">
              <a:lnSpc>
                <a:spcPct val="102000"/>
              </a:lnSpc>
              <a:spcAft>
                <a:spcPts val="300"/>
              </a:spcAft>
              <a:buNone/>
            </a:pPr>
            <a:r>
              <a:rPr lang="en-US" sz="1200" b="0" i="0" dirty="0">
                <a:solidFill>
                  <a:srgbClr val="222222"/>
                </a:solidFill>
                <a:latin typeface="Calibri" pitchFamily="34" charset="0"/>
                <a:ea typeface="Calibri" pitchFamily="34" charset="-122"/>
                <a:cs typeface="Calibri" pitchFamily="34" charset="-120"/>
              </a:rPr>
              <a:t>A badly learned score can waste a cycle. It cannot put a rule into the base.</a:t>
            </a:r>
            <a:endParaRPr lang="en-US" sz="1200" dirty="0"/>
          </a:p>
          <a:p>
            <a:pPr marL="0" indent="0">
              <a:lnSpc>
                <a:spcPct val="102000"/>
              </a:lnSpc>
              <a:spcAft>
                <a:spcPts val="0"/>
              </a:spcAft>
              <a:buNone/>
            </a:pPr>
            <a:r>
              <a:rPr lang="en-US" sz="1150" b="0" i="1" dirty="0">
                <a:solidFill>
                  <a:srgbClr val="6E6E6E"/>
                </a:solidFill>
                <a:latin typeface="Calibri" pitchFamily="34" charset="0"/>
                <a:ea typeface="Calibri" pitchFamily="34" charset="-122"/>
                <a:cs typeface="Calibri" pitchFamily="34" charset="-120"/>
              </a:rPr>
              <a:t>Every choice, trial and verdict is logged, so the controller can be audited line by line. What it learns matches the hand logic: uncovered situations go to ②, deficits with rules firing go to ①.</a:t>
            </a:r>
            <a:endParaRPr lang="en-US" sz="1150" dirty="0"/>
          </a:p>
        </p:txBody>
      </p:sp>
      <p:sp>
        <p:nvSpPr>
          <p:cNvPr id="7501" name="Head Situation"/>
          <p:cNvSpPr/>
          <p:nvPr/>
        </p:nvSpPr>
        <p:spPr>
          <a:xfrm>
            <a:off x="502920" y="1463040"/>
            <a:ext cx="5440680" cy="256032"/>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THE SITUATION</a:t>
            </a:r>
            <a:endParaRPr lang="en-US" sz="1250" dirty="0"/>
          </a:p>
        </p:txBody>
      </p:sp>
      <mc:AlternateContent xmlns:mc="http://schemas.openxmlformats.org/markup-compatibility/2006" xmlns:a14="http://schemas.microsoft.com/office/drawing/2010/main">
        <mc:Choice Requires="a14">
          <p:sp>
            <p:nvSpPr>
              <p:cNvPr id="7502" name="Eq Situation"/>
              <p:cNvSpPr/>
              <p:nvPr/>
            </p:nvSpPr>
            <p:spPr>
              <a:xfrm>
                <a:off x="502920" y="1773936"/>
                <a:ext cx="5440680" cy="402336"/>
              </a:xfrm>
              <a:prstGeom prst="rect">
                <a:avLst/>
              </a:prstGeom>
              <a:noFill/>
              <a:ln/>
            </p:spPr>
            <p:txBody>
              <a:bodyPr wrap="square" lIns="0" tIns="0" rIns="0" bIns="0" rtlCol="0" anchor="t"/>
              <a:lstStyle/>
              <a:p>
                <a:pPr marL="0" indent="0">
                  <a:buNone/>
                </a:pPr>
                <a14:m>
                  <m:oMathPara xmlns:m="http://schemas.openxmlformats.org/officeDocument/2006/math">
                    <m:oMath>
                      <m:sSub>
                        <m:sSubPr>
                          <m:ctrlPr>
                            <a:rPr lang="en-US" sz="1400">
                              <a:latin typeface="Cambria Math"/>
                            </a:rPr>
                          </m:ctrlPr>
                        </m:sSubPr>
                        <m:e>
                          <m:r>
                            <a:rPr lang="en-US" sz="1400">
                              <a:latin typeface="Cambria Math"/>
                            </a:rPr>
                            <m:t>𝑠</m:t>
                          </m:r>
                          <m:r>
                            <a:rPr lang="en-US" sz="1400" b="0" i="1" smtClean="0">
                              <a:latin typeface="Cambria Math" panose="02040503050406030204" pitchFamily="18" charset="0"/>
                            </a:rPr>
                            <m:t>𝑖𝑡𝑢𝑎𝑡𝑖𝑜𝑛</m:t>
                          </m:r>
                        </m:e>
                        <m:sub>
                          <m:r>
                            <a:rPr lang="en-US" sz="1400">
                              <a:latin typeface="Cambria Math"/>
                            </a:rPr>
                            <m:t>𝑘</m:t>
                          </m:r>
                        </m:sub>
                      </m:sSub>
                      <m:r>
                        <a:rPr lang="en-US" sz="1400">
                          <a:latin typeface="Cambria Math"/>
                        </a:rPr>
                        <m:t> = ( </m:t>
                      </m:r>
                      <m:sSub>
                        <m:sSubPr>
                          <m:ctrlPr>
                            <a:rPr lang="en-US" sz="1400">
                              <a:latin typeface="Cambria Math"/>
                            </a:rPr>
                          </m:ctrlPr>
                        </m:sSubPr>
                        <m:e>
                          <m:r>
                            <a:rPr lang="en-US" sz="1400">
                              <a:latin typeface="Cambria Math"/>
                            </a:rPr>
                            <m:t>𝑐</m:t>
                          </m:r>
                          <m:r>
                            <a:rPr lang="en-US" sz="1400" b="0" i="1" smtClean="0">
                              <a:latin typeface="Cambria Math" panose="02040503050406030204" pitchFamily="18" charset="0"/>
                            </a:rPr>
                            <m:t>𝑜𝑣</m:t>
                          </m:r>
                        </m:e>
                        <m:sub>
                          <m:r>
                            <a:rPr lang="en-US" sz="1400">
                              <a:latin typeface="Cambria Math"/>
                            </a:rPr>
                            <m:t>𝑘</m:t>
                          </m:r>
                        </m:sub>
                      </m:sSub>
                      <m:r>
                        <a:rPr lang="en-US" sz="1400">
                          <a:latin typeface="Cambria Math"/>
                        </a:rPr>
                        <m:t> , </m:t>
                      </m:r>
                      <m:sSub>
                        <m:sSubPr>
                          <m:ctrlPr>
                            <a:rPr lang="en-US" sz="1400">
                              <a:latin typeface="Cambria Math"/>
                            </a:rPr>
                          </m:ctrlPr>
                        </m:sSubPr>
                        <m:e>
                          <m:r>
                            <a:rPr lang="en-US" sz="1400">
                              <a:latin typeface="Cambria Math"/>
                            </a:rPr>
                            <m:t>𝑑</m:t>
                          </m:r>
                          <m:r>
                            <a:rPr lang="en-US" sz="1400" b="0" i="1" smtClean="0">
                              <a:latin typeface="Cambria Math" panose="02040503050406030204" pitchFamily="18" charset="0"/>
                            </a:rPr>
                            <m:t>𝑒𝑓</m:t>
                          </m:r>
                        </m:e>
                        <m:sub>
                          <m:r>
                            <a:rPr lang="en-US" sz="1400">
                              <a:latin typeface="Cambria Math"/>
                            </a:rPr>
                            <m:t>𝑘</m:t>
                          </m:r>
                        </m:sub>
                      </m:sSub>
                      <m:r>
                        <a:rPr lang="en-US" sz="1400">
                          <a:latin typeface="Cambria Math"/>
                        </a:rPr>
                        <m:t> )</m:t>
                      </m:r>
                    </m:oMath>
                  </m:oMathPara>
                </a14:m>
                <a:endParaRPr lang="en-US" sz="1400" dirty="0"/>
              </a:p>
            </p:txBody>
          </p:sp>
        </mc:Choice>
        <mc:Fallback xmlns="">
          <p:sp>
            <p:nvSpPr>
              <p:cNvPr id="7502" name="Eq Situation"/>
              <p:cNvSpPr>
                <a:spLocks noRot="1" noChangeAspect="1" noMove="1" noResize="1" noEditPoints="1" noAdjustHandles="1" noChangeArrowheads="1" noChangeShapeType="1" noTextEdit="1"/>
              </p:cNvSpPr>
              <p:nvPr/>
            </p:nvSpPr>
            <p:spPr>
              <a:xfrm>
                <a:off x="502920" y="1773936"/>
                <a:ext cx="5440680" cy="402336"/>
              </a:xfrm>
              <a:prstGeom prst="rect">
                <a:avLst/>
              </a:prstGeom>
              <a:blipFill>
                <a:blip r:embed="rId5"/>
                <a:stretch>
                  <a:fillRect/>
                </a:stretch>
              </a:blipFill>
              <a:ln/>
            </p:spPr>
            <p:txBody>
              <a:bodyPr/>
              <a:lstStyle/>
              <a:p>
                <a:r>
                  <a:rPr lang="tr-TR">
                    <a:noFill/>
                  </a:rPr>
                  <a:t> </a:t>
                </a:r>
              </a:p>
            </p:txBody>
          </p:sp>
        </mc:Fallback>
      </mc:AlternateContent>
      <p:sp>
        <p:nvSpPr>
          <p:cNvPr id="7503" name="Situation bullets"/>
          <p:cNvSpPr/>
          <p:nvPr/>
        </p:nvSpPr>
        <p:spPr>
          <a:xfrm>
            <a:off x="502920" y="2267712"/>
            <a:ext cx="5440680" cy="1188720"/>
          </a:xfrm>
          <a:prstGeom prst="rect">
            <a:avLst/>
          </a:prstGeom>
          <a:noFill/>
          <a:ln/>
        </p:spPr>
        <p:txBody>
          <a:bodyPr wrap="square" lIns="0" tIns="0" rIns="0" bIns="0" rtlCol="0" anchor="t"/>
          <a:lstStyle/>
          <a:p>
            <a:pPr marL="152400" indent="-152400">
              <a:lnSpc>
                <a:spcPct val="102000"/>
              </a:lnSpc>
              <a:spcAft>
                <a:spcPts val="350"/>
              </a:spcAft>
              <a:buSzPct val="100000"/>
              <a:buChar char="•"/>
            </a:pPr>
            <a:r>
              <a:rPr lang="en-US" sz="1200" b="0" i="0" dirty="0">
                <a:solidFill>
                  <a:srgbClr val="222222"/>
                </a:solidFill>
                <a:latin typeface="Calibri" pitchFamily="34" charset="0"/>
                <a:ea typeface="Calibri" pitchFamily="34" charset="-122"/>
                <a:cs typeface="Calibri" pitchFamily="34" charset="-120"/>
              </a:rPr>
              <a:t>coverage: does any rule fire above the floor at the current reading? if none does, the situation is uncovered</a:t>
            </a:r>
            <a:endParaRPr lang="en-US" sz="1200" dirty="0"/>
          </a:p>
          <a:p>
            <a:pPr marL="152400" indent="-152400">
              <a:lnSpc>
                <a:spcPct val="102000"/>
              </a:lnSpc>
              <a:spcAft>
                <a:spcPts val="0"/>
              </a:spcAft>
              <a:buSzPct val="100000"/>
              <a:buChar char="•"/>
            </a:pPr>
            <a:r>
              <a:rPr lang="en-US" sz="1200" b="0" i="0" dirty="0">
                <a:solidFill>
                  <a:srgbClr val="222222"/>
                </a:solidFill>
                <a:latin typeface="Calibri" pitchFamily="34" charset="0"/>
                <a:ea typeface="Calibri" pitchFamily="34" charset="-122"/>
                <a:cs typeface="Calibri" pitchFamily="34" charset="-120"/>
              </a:rPr>
              <a:t>cost deficit: how far the forecast cost sits above the acceptance bound, in coarse buckets</a:t>
            </a:r>
            <a:endParaRPr lang="en-US" sz="1200" dirty="0"/>
          </a:p>
        </p:txBody>
      </p:sp>
      <p:sp>
        <p:nvSpPr>
          <p:cNvPr id="7504" name="Head Repairs"/>
          <p:cNvSpPr/>
          <p:nvPr/>
        </p:nvSpPr>
        <p:spPr>
          <a:xfrm>
            <a:off x="502920" y="3566160"/>
            <a:ext cx="5440680" cy="256032"/>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THE THREE REPAIRS</a:t>
            </a:r>
            <a:endParaRPr lang="en-US" sz="1250" dirty="0"/>
          </a:p>
        </p:txBody>
      </p:sp>
      <p:sp>
        <p:nvSpPr>
          <p:cNvPr id="7505" name="Repair bullets"/>
          <p:cNvSpPr/>
          <p:nvPr/>
        </p:nvSpPr>
        <p:spPr>
          <a:xfrm>
            <a:off x="502920" y="3877056"/>
            <a:ext cx="5440680" cy="1280160"/>
          </a:xfrm>
          <a:prstGeom prst="rect">
            <a:avLst/>
          </a:prstGeom>
          <a:noFill/>
          <a:ln/>
        </p:spPr>
        <p:txBody>
          <a:bodyPr wrap="square" lIns="0" tIns="0" rIns="0" bIns="0" rtlCol="0" anchor="t"/>
          <a:lstStyle/>
          <a:p>
            <a:pPr marL="152400" indent="-152400">
              <a:lnSpc>
                <a:spcPct val="102000"/>
              </a:lnSpc>
              <a:spcAft>
                <a:spcPts val="350"/>
              </a:spcAft>
              <a:buSzPct val="100000"/>
              <a:buChar char="•"/>
            </a:pPr>
            <a:r>
              <a:rPr lang="en-US" sz="1200" b="0" i="0" dirty="0">
                <a:solidFill>
                  <a:srgbClr val="222222"/>
                </a:solidFill>
                <a:latin typeface="Calibri" pitchFamily="34" charset="0"/>
                <a:ea typeface="Calibri" pitchFamily="34" charset="-122"/>
                <a:cs typeface="Calibri" pitchFamily="34" charset="-120"/>
              </a:rPr>
              <a:t>① tune the boundaries and the consequents of rules that already fire</a:t>
            </a:r>
            <a:endParaRPr lang="en-US" sz="1200" dirty="0"/>
          </a:p>
          <a:p>
            <a:pPr marL="152400" indent="-152400">
              <a:lnSpc>
                <a:spcPct val="102000"/>
              </a:lnSpc>
              <a:spcAft>
                <a:spcPts val="350"/>
              </a:spcAft>
              <a:buSzPct val="100000"/>
              <a:buChar char="•"/>
            </a:pPr>
            <a:r>
              <a:rPr lang="en-US" sz="1200" b="0" i="0" dirty="0">
                <a:solidFill>
                  <a:srgbClr val="222222"/>
                </a:solidFill>
                <a:latin typeface="Calibri" pitchFamily="34" charset="0"/>
                <a:ea typeface="Calibri" pitchFamily="34" charset="-122"/>
                <a:cs typeface="Calibri" pitchFamily="34" charset="-120"/>
              </a:rPr>
              <a:t>② add a term or split a region, so a rule can exist where none fired</a:t>
            </a:r>
            <a:endParaRPr lang="en-US" sz="1200" dirty="0"/>
          </a:p>
          <a:p>
            <a:pPr marL="152400" indent="-152400">
              <a:lnSpc>
                <a:spcPct val="102000"/>
              </a:lnSpc>
              <a:spcAft>
                <a:spcPts val="0"/>
              </a:spcAft>
              <a:buSzPct val="100000"/>
              <a:buChar char="•"/>
            </a:pPr>
            <a:r>
              <a:rPr lang="en-US" sz="1200" b="0" i="0" dirty="0">
                <a:solidFill>
                  <a:srgbClr val="222222"/>
                </a:solidFill>
                <a:latin typeface="Calibri" pitchFamily="34" charset="0"/>
                <a:ea typeface="Calibri" pitchFamily="34" charset="-122"/>
                <a:cs typeface="Calibri" pitchFamily="34" charset="-120"/>
              </a:rPr>
              <a:t>③ propose a new rule, alone or with one new vocabulary object</a:t>
            </a:r>
            <a:endParaRPr lang="en-US" sz="1200" dirty="0"/>
          </a:p>
        </p:txBody>
      </p:sp>
      <p:sp>
        <p:nvSpPr>
          <p:cNvPr id="7506" name="Repair note"/>
          <p:cNvSpPr/>
          <p:nvPr/>
        </p:nvSpPr>
        <p:spPr>
          <a:xfrm>
            <a:off x="769620" y="6172199"/>
            <a:ext cx="10652760" cy="566928"/>
          </a:xfrm>
          <a:prstGeom prst="rect">
            <a:avLst/>
          </a:prstGeom>
          <a:noFill/>
          <a:ln/>
        </p:spPr>
        <p:txBody>
          <a:bodyPr wrap="square" lIns="0" tIns="0" rIns="0" bIns="0" rtlCol="0" anchor="t"/>
          <a:lstStyle/>
          <a:p>
            <a:pPr marL="0" indent="0">
              <a:lnSpc>
                <a:spcPct val="102000"/>
              </a:lnSpc>
              <a:spcAft>
                <a:spcPts val="0"/>
              </a:spcAft>
              <a:buNone/>
            </a:pPr>
            <a:r>
              <a:rPr lang="en-US" sz="1150" b="0" i="1" dirty="0">
                <a:solidFill>
                  <a:srgbClr val="6E6E6E"/>
                </a:solidFill>
                <a:latin typeface="Calibri" pitchFamily="34" charset="0"/>
                <a:ea typeface="Calibri" pitchFamily="34" charset="-122"/>
                <a:cs typeface="Calibri" pitchFamily="34" charset="-120"/>
              </a:rPr>
              <a:t>③ costs a model call and two reseeded rollouts, so it is the last resort. A greedy trial and an exploratory one face exactly the same gates.</a:t>
            </a:r>
            <a:endParaRPr lang="en-US" sz="1150" dirty="0"/>
          </a:p>
        </p:txBody>
      </p:sp>
      <p:sp>
        <p:nvSpPr>
          <p:cNvPr id="7507" name="Head Choice"/>
          <p:cNvSpPr/>
          <p:nvPr/>
        </p:nvSpPr>
        <p:spPr>
          <a:xfrm>
            <a:off x="6309360" y="1463040"/>
            <a:ext cx="5394960" cy="256032"/>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THE CHOICE : ε-GREEDY</a:t>
            </a:r>
            <a:endParaRPr lang="en-US" sz="1250" dirty="0"/>
          </a:p>
        </p:txBody>
      </p:sp>
      <mc:AlternateContent xmlns:mc="http://schemas.openxmlformats.org/markup-compatibility/2006" xmlns:a14="http://schemas.microsoft.com/office/drawing/2010/main">
        <mc:Choice Requires="a14">
          <p:sp>
            <p:nvSpPr>
              <p:cNvPr id="7508" name="Eq Greedy"/>
              <p:cNvSpPr/>
              <p:nvPr/>
            </p:nvSpPr>
            <p:spPr>
              <a:xfrm>
                <a:off x="6152707" y="1773936"/>
                <a:ext cx="5551613" cy="402336"/>
              </a:xfrm>
              <a:prstGeom prst="rect">
                <a:avLst/>
              </a:prstGeom>
              <a:noFill/>
              <a:ln/>
            </p:spPr>
            <p:txBody>
              <a:bodyPr wrap="square" lIns="0" tIns="0" rIns="0" bIns="0" rtlCol="0" anchor="t"/>
              <a:lstStyle/>
              <a:p>
                <a:pPr/>
                <a14:m>
                  <m:oMathPara xmlns:m="http://schemas.openxmlformats.org/officeDocument/2006/math">
                    <m:oMath>
                      <m:sSub>
                        <m:sSubPr>
                          <m:ctrlPr>
                            <a:rPr lang="en-US" sz="1400" b="0" i="0" smtClean="0">
                              <a:latin typeface="Cambria Math" panose="02040503050406030204" pitchFamily="18" charset="0"/>
                            </a:rPr>
                          </m:ctrlPr>
                        </m:sSubPr>
                        <m:e>
                          <m:r>
                            <m:rPr>
                              <m:sty m:val="p"/>
                            </m:rPr>
                            <a:rPr lang="en-US" sz="1400" b="0" i="0" smtClean="0">
                              <a:latin typeface="Cambria Math" panose="02040503050406030204" pitchFamily="18" charset="0"/>
                            </a:rPr>
                            <m:t>stage</m:t>
                          </m:r>
                        </m:e>
                        <m:sub>
                          <m:r>
                            <a:rPr lang="en-US" sz="1400">
                              <a:latin typeface="Cambria Math"/>
                            </a:rPr>
                            <m:t>𝑘</m:t>
                          </m:r>
                        </m:sub>
                      </m:sSub>
                      <m:r>
                        <a:rPr lang="en-US" sz="1400">
                          <a:latin typeface="Cambria Math"/>
                        </a:rPr>
                        <m:t> = </m:t>
                      </m:r>
                      <m:sSub>
                        <m:sSubPr>
                          <m:ctrlPr>
                            <a:rPr lang="en-US" sz="1400">
                              <a:latin typeface="Cambria Math"/>
                            </a:rPr>
                          </m:ctrlPr>
                        </m:sSubPr>
                        <m:e>
                          <m:r>
                            <m:rPr>
                              <m:sty m:val="p"/>
                            </m:rPr>
                            <a:rPr lang="en-US" sz="1400">
                              <a:latin typeface="Cambria Math"/>
                            </a:rPr>
                            <m:t>arg</m:t>
                          </m:r>
                          <m:r>
                            <a:rPr lang="en-US" sz="1400">
                              <a:latin typeface="Cambria Math"/>
                            </a:rPr>
                            <m:t> </m:t>
                          </m:r>
                          <m:r>
                            <m:rPr>
                              <m:sty m:val="p"/>
                            </m:rPr>
                            <a:rPr lang="en-US" sz="1400">
                              <a:latin typeface="Cambria Math"/>
                            </a:rPr>
                            <m:t>max</m:t>
                          </m:r>
                        </m:e>
                        <m:sub>
                          <m:r>
                            <m:rPr>
                              <m:sty m:val="p"/>
                            </m:rPr>
                            <a:rPr lang="en-US" sz="1400">
                              <a:latin typeface="Cambria Math" panose="02040503050406030204" pitchFamily="18" charset="0"/>
                            </a:rPr>
                            <m:t>stage</m:t>
                          </m:r>
                        </m:sub>
                      </m:sSub>
                      <m:r>
                        <a:rPr lang="en-US" sz="1400">
                          <a:latin typeface="Cambria Math"/>
                        </a:rPr>
                        <m:t> </m:t>
                      </m:r>
                      <m:r>
                        <a:rPr lang="en-US" sz="1400">
                          <a:latin typeface="Cambria Math"/>
                        </a:rPr>
                        <m:t>𝐻</m:t>
                      </m:r>
                      <m:r>
                        <a:rPr lang="en-US" sz="1400">
                          <a:latin typeface="Cambria Math"/>
                        </a:rPr>
                        <m:t> ( </m:t>
                      </m:r>
                      <m:sSub>
                        <m:sSubPr>
                          <m:ctrlPr>
                            <a:rPr lang="en-US" sz="1400">
                              <a:latin typeface="Cambria Math"/>
                            </a:rPr>
                          </m:ctrlPr>
                        </m:sSubPr>
                        <m:e>
                          <m:r>
                            <a:rPr lang="en-US" sz="1400">
                              <a:latin typeface="Cambria Math"/>
                            </a:rPr>
                            <m:t>𝑠</m:t>
                          </m:r>
                          <m:r>
                            <a:rPr lang="en-US" sz="1400" i="1">
                              <a:latin typeface="Cambria Math" panose="02040503050406030204" pitchFamily="18" charset="0"/>
                            </a:rPr>
                            <m:t>𝑖𝑡𝑢𝑎𝑡𝑖𝑜𝑛</m:t>
                          </m:r>
                        </m:e>
                        <m:sub>
                          <m:r>
                            <a:rPr lang="en-US" sz="1400">
                              <a:latin typeface="Cambria Math"/>
                            </a:rPr>
                            <m:t>𝑘</m:t>
                          </m:r>
                        </m:sub>
                      </m:sSub>
                      <m:r>
                        <a:rPr lang="en-US" sz="1400">
                          <a:latin typeface="Cambria Math"/>
                        </a:rPr>
                        <m:t> ,</m:t>
                      </m:r>
                      <m:r>
                        <m:rPr>
                          <m:sty m:val="p"/>
                        </m:rPr>
                        <a:rPr lang="en-US" sz="1400">
                          <a:latin typeface="Cambria Math" panose="02040503050406030204" pitchFamily="18" charset="0"/>
                        </a:rPr>
                        <m:t>stage</m:t>
                      </m:r>
                      <m:r>
                        <a:rPr lang="en-US" sz="1400">
                          <a:latin typeface="Cambria Math"/>
                        </a:rPr>
                        <m:t>)    </m:t>
                      </m:r>
                      <m:r>
                        <m:rPr>
                          <m:sty m:val="p"/>
                        </m:rPr>
                        <a:rPr lang="en-US" sz="1400">
                          <a:latin typeface="Cambria Math"/>
                        </a:rPr>
                        <m:t>with</m:t>
                      </m:r>
                      <m:r>
                        <a:rPr lang="en-US" sz="1400">
                          <a:latin typeface="Cambria Math"/>
                        </a:rPr>
                        <m:t> </m:t>
                      </m:r>
                      <m:r>
                        <m:rPr>
                          <m:sty m:val="p"/>
                        </m:rPr>
                        <a:rPr lang="en-US" sz="1400">
                          <a:latin typeface="Cambria Math"/>
                        </a:rPr>
                        <m:t>probability</m:t>
                      </m:r>
                      <m:r>
                        <a:rPr lang="en-US" sz="1400">
                          <a:latin typeface="Cambria Math"/>
                        </a:rPr>
                        <m:t>  1 − </m:t>
                      </m:r>
                      <m:r>
                        <a:rPr lang="en-US" sz="1400">
                          <a:latin typeface="Cambria Math"/>
                        </a:rPr>
                        <m:t>𝜀</m:t>
                      </m:r>
                    </m:oMath>
                  </m:oMathPara>
                </a14:m>
                <a:endParaRPr lang="en-US" sz="1300" dirty="0"/>
              </a:p>
            </p:txBody>
          </p:sp>
        </mc:Choice>
        <mc:Fallback xmlns="">
          <p:sp>
            <p:nvSpPr>
              <p:cNvPr id="7508" name="Eq Greedy"/>
              <p:cNvSpPr>
                <a:spLocks noRot="1" noChangeAspect="1" noMove="1" noResize="1" noEditPoints="1" noAdjustHandles="1" noChangeArrowheads="1" noChangeShapeType="1" noTextEdit="1"/>
              </p:cNvSpPr>
              <p:nvPr/>
            </p:nvSpPr>
            <p:spPr>
              <a:xfrm>
                <a:off x="6152707" y="1773936"/>
                <a:ext cx="5551613" cy="402336"/>
              </a:xfrm>
              <a:prstGeom prst="rect">
                <a:avLst/>
              </a:prstGeom>
              <a:blipFill>
                <a:blip r:embed="rId6"/>
                <a:stretch>
                  <a:fillRect l="-110"/>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7509" name="Eq Explore"/>
              <p:cNvSpPr/>
              <p:nvPr/>
            </p:nvSpPr>
            <p:spPr>
              <a:xfrm>
                <a:off x="6309360" y="2249424"/>
                <a:ext cx="5394960" cy="402336"/>
              </a:xfrm>
              <a:prstGeom prst="rect">
                <a:avLst/>
              </a:prstGeom>
              <a:noFill/>
              <a:ln/>
            </p:spPr>
            <p:txBody>
              <a:bodyPr wrap="square" lIns="0" tIns="0" rIns="0" bIns="0" rtlCol="0" anchor="t"/>
              <a:lstStyle/>
              <a:p>
                <a:pPr/>
                <a14:m>
                  <m:oMathPara xmlns:m="http://schemas.openxmlformats.org/officeDocument/2006/math">
                    <m:oMath>
                      <m:sSub>
                        <m:sSubPr>
                          <m:ctrlPr>
                            <a:rPr lang="en-US" sz="1400">
                              <a:latin typeface="Cambria Math" panose="02040503050406030204" pitchFamily="18" charset="0"/>
                            </a:rPr>
                          </m:ctrlPr>
                        </m:sSubPr>
                        <m:e>
                          <m:r>
                            <m:rPr>
                              <m:sty m:val="p"/>
                            </m:rPr>
                            <a:rPr lang="en-US" sz="1400">
                              <a:latin typeface="Cambria Math" panose="02040503050406030204" pitchFamily="18" charset="0"/>
                            </a:rPr>
                            <m:t>stage</m:t>
                          </m:r>
                        </m:e>
                        <m:sub>
                          <m:r>
                            <a:rPr lang="en-US" sz="1400">
                              <a:latin typeface="Cambria Math"/>
                            </a:rPr>
                            <m:t>𝑘</m:t>
                          </m:r>
                        </m:sub>
                      </m:sSub>
                      <m:r>
                        <a:rPr lang="en-US" sz="1400">
                          <a:latin typeface="Cambria Math"/>
                        </a:rPr>
                        <m:t> = </m:t>
                      </m:r>
                      <m:r>
                        <m:rPr>
                          <m:sty m:val="p"/>
                        </m:rPr>
                        <a:rPr lang="en-US" sz="1400">
                          <a:latin typeface="Cambria Math"/>
                        </a:rPr>
                        <m:t>random</m:t>
                      </m:r>
                      <m:r>
                        <a:rPr lang="en-US" sz="1400">
                          <a:latin typeface="Cambria Math"/>
                        </a:rPr>
                        <m:t> </m:t>
                      </m:r>
                      <m:r>
                        <m:rPr>
                          <m:sty m:val="p"/>
                        </m:rPr>
                        <a:rPr lang="en-US" sz="1400">
                          <a:latin typeface="Cambria Math"/>
                        </a:rPr>
                        <m:t>allowed</m:t>
                      </m:r>
                      <m:r>
                        <a:rPr lang="en-US" sz="1400">
                          <a:latin typeface="Cambria Math"/>
                        </a:rPr>
                        <m:t> </m:t>
                      </m:r>
                      <m:r>
                        <m:rPr>
                          <m:sty m:val="p"/>
                        </m:rPr>
                        <a:rPr lang="en-US" sz="1400">
                          <a:latin typeface="Cambria Math"/>
                        </a:rPr>
                        <m:t>stage</m:t>
                      </m:r>
                      <m:r>
                        <a:rPr lang="en-US" sz="1400">
                          <a:latin typeface="Cambria Math"/>
                        </a:rPr>
                        <m:t>   </m:t>
                      </m:r>
                      <m:r>
                        <m:rPr>
                          <m:sty m:val="p"/>
                        </m:rPr>
                        <a:rPr lang="en-US" sz="1400">
                          <a:latin typeface="Cambria Math"/>
                        </a:rPr>
                        <m:t>with</m:t>
                      </m:r>
                      <m:r>
                        <a:rPr lang="en-US" sz="1400">
                          <a:latin typeface="Cambria Math"/>
                        </a:rPr>
                        <m:t> </m:t>
                      </m:r>
                      <m:r>
                        <m:rPr>
                          <m:sty m:val="p"/>
                        </m:rPr>
                        <a:rPr lang="en-US" sz="1400">
                          <a:latin typeface="Cambria Math"/>
                        </a:rPr>
                        <m:t>probability</m:t>
                      </m:r>
                      <m:r>
                        <a:rPr lang="en-US" sz="1400">
                          <a:latin typeface="Cambria Math"/>
                        </a:rPr>
                        <m:t>  </m:t>
                      </m:r>
                      <m:r>
                        <a:rPr lang="en-US" sz="1400">
                          <a:latin typeface="Cambria Math"/>
                        </a:rPr>
                        <m:t>𝜀</m:t>
                      </m:r>
                      <m:r>
                        <a:rPr lang="en-US" sz="1400">
                          <a:latin typeface="Cambria Math"/>
                        </a:rPr>
                        <m:t> = 0.10</m:t>
                      </m:r>
                    </m:oMath>
                  </m:oMathPara>
                </a14:m>
                <a:endParaRPr lang="en-US" sz="1300" dirty="0"/>
              </a:p>
            </p:txBody>
          </p:sp>
        </mc:Choice>
        <mc:Fallback xmlns="">
          <p:sp>
            <p:nvSpPr>
              <p:cNvPr id="7509" name="Eq Explore"/>
              <p:cNvSpPr>
                <a:spLocks noRot="1" noChangeAspect="1" noMove="1" noResize="1" noEditPoints="1" noAdjustHandles="1" noChangeArrowheads="1" noChangeShapeType="1" noTextEdit="1"/>
              </p:cNvSpPr>
              <p:nvPr/>
            </p:nvSpPr>
            <p:spPr>
              <a:xfrm>
                <a:off x="6309360" y="2249424"/>
                <a:ext cx="5394960" cy="402336"/>
              </a:xfrm>
              <a:prstGeom prst="rect">
                <a:avLst/>
              </a:prstGeom>
              <a:blipFill>
                <a:blip r:embed="rId7"/>
                <a:stretch>
                  <a:fillRect/>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7510" name="Choice bullets"/>
              <p:cNvSpPr/>
              <p:nvPr/>
            </p:nvSpPr>
            <p:spPr>
              <a:xfrm>
                <a:off x="6309360" y="2724912"/>
                <a:ext cx="5394960" cy="1051560"/>
              </a:xfrm>
              <a:prstGeom prst="rect">
                <a:avLst/>
              </a:prstGeom>
              <a:noFill/>
              <a:ln/>
            </p:spPr>
            <p:txBody>
              <a:bodyPr wrap="square" lIns="0" tIns="0" rIns="0" bIns="0" rtlCol="0" anchor="t"/>
              <a:lstStyle/>
              <a:p>
                <a:pPr marL="152400" indent="-152400">
                  <a:lnSpc>
                    <a:spcPct val="102000"/>
                  </a:lnSpc>
                  <a:spcAft>
                    <a:spcPts val="350"/>
                  </a:spcAft>
                  <a:buSzPct val="100000"/>
                  <a:buChar char="•"/>
                </a:pPr>
                <a14:m>
                  <m:oMath xmlns:m="http://schemas.openxmlformats.org/officeDocument/2006/math">
                    <m:r>
                      <a:rPr lang="en-US" sz="1200">
                        <a:latin typeface="Cambria Math"/>
                      </a:rPr>
                      <m:t>𝐻</m:t>
                    </m:r>
                    <m:r>
                      <a:rPr lang="en-US" sz="1200">
                        <a:latin typeface="Cambria Math"/>
                      </a:rPr>
                      <m:t> ( </m:t>
                    </m:r>
                    <m:sSub>
                      <m:sSubPr>
                        <m:ctrlPr>
                          <a:rPr lang="en-US" sz="1200">
                            <a:latin typeface="Cambria Math"/>
                          </a:rPr>
                        </m:ctrlPr>
                      </m:sSubPr>
                      <m:e>
                        <m:r>
                          <a:rPr lang="en-US" sz="1200">
                            <a:latin typeface="Cambria Math"/>
                          </a:rPr>
                          <m:t>𝑠</m:t>
                        </m:r>
                        <m:r>
                          <a:rPr lang="en-US" sz="1200" i="1">
                            <a:latin typeface="Cambria Math" panose="02040503050406030204" pitchFamily="18" charset="0"/>
                          </a:rPr>
                          <m:t>𝑖𝑡𝑢𝑎𝑡𝑖𝑜𝑛</m:t>
                        </m:r>
                      </m:e>
                      <m:sub>
                        <m:r>
                          <a:rPr lang="en-US" sz="1200">
                            <a:latin typeface="Cambria Math"/>
                          </a:rPr>
                          <m:t>𝑘</m:t>
                        </m:r>
                      </m:sub>
                    </m:sSub>
                    <m:r>
                      <a:rPr lang="en-US" sz="1200">
                        <a:latin typeface="Cambria Math"/>
                      </a:rPr>
                      <m:t> ,</m:t>
                    </m:r>
                    <m:r>
                      <m:rPr>
                        <m:sty m:val="p"/>
                      </m:rPr>
                      <a:rPr lang="en-US" sz="1200">
                        <a:latin typeface="Cambria Math" panose="02040503050406030204" pitchFamily="18" charset="0"/>
                      </a:rPr>
                      <m:t>stage</m:t>
                    </m:r>
                    <m:r>
                      <a:rPr lang="en-US" sz="1200">
                        <a:latin typeface="Cambria Math"/>
                      </a:rPr>
                      <m:t>)</m:t>
                    </m:r>
                    <m:r>
                      <a:rPr lang="en-US" sz="1200" i="1">
                        <a:latin typeface="Cambria Math"/>
                      </a:rPr>
                      <m:t> </m:t>
                    </m:r>
                  </m:oMath>
                </a14:m>
                <a:r>
                  <a:rPr lang="en-US" sz="1200" b="0" i="0" dirty="0">
                    <a:solidFill>
                      <a:srgbClr val="222222"/>
                    </a:solidFill>
                    <a:latin typeface="Calibri" pitchFamily="34" charset="0"/>
                    <a:ea typeface="Calibri" pitchFamily="34" charset="-122"/>
                    <a:cs typeface="Calibri" pitchFamily="34" charset="-120"/>
                  </a:rPr>
                  <a:t>is the average forecast improvement that stage a has produced in situation</a:t>
                </a:r>
                <a:endParaRPr lang="en-US" sz="1200" dirty="0"/>
              </a:p>
              <a:p>
                <a:pPr marL="152400" indent="-152400">
                  <a:lnSpc>
                    <a:spcPct val="102000"/>
                  </a:lnSpc>
                  <a:spcAft>
                    <a:spcPts val="0"/>
                  </a:spcAft>
                  <a:buSzPct val="100000"/>
                  <a:buChar char="•"/>
                </a:pPr>
                <a:r>
                  <a:rPr lang="en-US" sz="1200" b="0" i="0" dirty="0">
                    <a:solidFill>
                      <a:srgbClr val="222222"/>
                    </a:solidFill>
                    <a:latin typeface="Calibri" pitchFamily="34" charset="0"/>
                    <a:ea typeface="Calibri" pitchFamily="34" charset="-122"/>
                    <a:cs typeface="Calibri" pitchFamily="34" charset="-120"/>
                  </a:rPr>
                  <a:t>the random tenth keeps every stage tested, so a stage that was unlucky early is not locked out</a:t>
                </a:r>
                <a:endParaRPr lang="en-US" sz="1200" dirty="0"/>
              </a:p>
            </p:txBody>
          </p:sp>
        </mc:Choice>
        <mc:Fallback xmlns="">
          <p:sp>
            <p:nvSpPr>
              <p:cNvPr id="7510" name="Choice bullets"/>
              <p:cNvSpPr>
                <a:spLocks noRot="1" noChangeAspect="1" noMove="1" noResize="1" noEditPoints="1" noAdjustHandles="1" noChangeArrowheads="1" noChangeShapeType="1" noTextEdit="1"/>
              </p:cNvSpPr>
              <p:nvPr/>
            </p:nvSpPr>
            <p:spPr>
              <a:xfrm>
                <a:off x="6309360" y="2724912"/>
                <a:ext cx="5394960" cy="1051560"/>
              </a:xfrm>
              <a:prstGeom prst="rect">
                <a:avLst/>
              </a:prstGeom>
              <a:blipFill>
                <a:blip r:embed="rId8"/>
                <a:stretch>
                  <a:fillRect l="-1808" t="-5202" r="-113"/>
                </a:stretch>
              </a:blipFill>
              <a:ln/>
            </p:spPr>
            <p:txBody>
              <a:bodyPr/>
              <a:lstStyle/>
              <a:p>
                <a:r>
                  <a:rPr lang="tr-TR">
                    <a:noFill/>
                  </a:rPr>
                  <a:t> </a:t>
                </a:r>
              </a:p>
            </p:txBody>
          </p:sp>
        </mc:Fallback>
      </mc:AlternateContent>
      <p:sp>
        <p:nvSpPr>
          <p:cNvPr id="7511" name="Head Update"/>
          <p:cNvSpPr/>
          <p:nvPr/>
        </p:nvSpPr>
        <p:spPr>
          <a:xfrm>
            <a:off x="6309360" y="3877056"/>
            <a:ext cx="5394960" cy="256032"/>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THE UPDATE</a:t>
            </a:r>
            <a:endParaRPr lang="en-US" sz="1250" dirty="0"/>
          </a:p>
        </p:txBody>
      </p:sp>
      <mc:AlternateContent xmlns:mc="http://schemas.openxmlformats.org/markup-compatibility/2006" xmlns:a14="http://schemas.microsoft.com/office/drawing/2010/main">
        <mc:Choice Requires="a14">
          <p:sp>
            <p:nvSpPr>
              <p:cNvPr id="7512" name="Eq Update"/>
              <p:cNvSpPr/>
              <p:nvPr/>
            </p:nvSpPr>
            <p:spPr>
              <a:xfrm>
                <a:off x="6309360" y="4187952"/>
                <a:ext cx="5394960" cy="402336"/>
              </a:xfrm>
              <a:prstGeom prst="rect">
                <a:avLst/>
              </a:prstGeom>
              <a:noFill/>
              <a:ln/>
            </p:spPr>
            <p:txBody>
              <a:bodyPr wrap="square" lIns="0" tIns="0" rIns="0" bIns="0" rtlCol="0" anchor="t"/>
              <a:lstStyle/>
              <a:p>
                <a:pPr marL="0" indent="0">
                  <a:buNone/>
                </a:pPr>
                <a14:m>
                  <m:oMathPara xmlns:m="http://schemas.openxmlformats.org/officeDocument/2006/math">
                    <m:oMath>
                      <m:r>
                        <a:rPr lang="en-US" sz="1400">
                          <a:latin typeface="Cambria Math"/>
                        </a:rPr>
                        <m:t>𝐻</m:t>
                      </m:r>
                      <m:r>
                        <a:rPr lang="en-US" sz="1400">
                          <a:latin typeface="Cambria Math"/>
                        </a:rPr>
                        <m:t> ← </m:t>
                      </m:r>
                      <m:r>
                        <a:rPr lang="en-US" sz="1400">
                          <a:latin typeface="Cambria Math"/>
                        </a:rPr>
                        <m:t>𝐻</m:t>
                      </m:r>
                      <m:r>
                        <a:rPr lang="en-US" sz="1400">
                          <a:latin typeface="Cambria Math"/>
                        </a:rPr>
                        <m:t> + </m:t>
                      </m:r>
                      <m:r>
                        <a:rPr lang="en-US" sz="1400">
                          <a:latin typeface="Cambria Math"/>
                        </a:rPr>
                        <m:t>𝛼</m:t>
                      </m:r>
                      <m:r>
                        <a:rPr lang="en-US" sz="1400">
                          <a:latin typeface="Cambria Math"/>
                        </a:rPr>
                        <m:t> ( </m:t>
                      </m:r>
                      <m:sSub>
                        <m:sSubPr>
                          <m:ctrlPr>
                            <a:rPr lang="en-US" sz="1400">
                              <a:latin typeface="Cambria Math"/>
                            </a:rPr>
                          </m:ctrlPr>
                        </m:sSubPr>
                        <m:e>
                          <m:r>
                            <a:rPr lang="en-US" sz="1400">
                              <a:latin typeface="Cambria Math"/>
                            </a:rPr>
                            <m:t>𝑟</m:t>
                          </m:r>
                        </m:e>
                        <m:sub>
                          <m:r>
                            <a:rPr lang="en-US" sz="1400">
                              <a:latin typeface="Cambria Math"/>
                            </a:rPr>
                            <m:t>𝑘</m:t>
                          </m:r>
                        </m:sub>
                      </m:sSub>
                      <m:r>
                        <a:rPr lang="en-US" sz="1400">
                          <a:latin typeface="Cambria Math"/>
                        </a:rPr>
                        <m:t> − </m:t>
                      </m:r>
                      <m:r>
                        <a:rPr lang="en-US" sz="1400">
                          <a:latin typeface="Cambria Math"/>
                        </a:rPr>
                        <m:t>𝐻</m:t>
                      </m:r>
                      <m:r>
                        <a:rPr lang="en-US" sz="1400">
                          <a:latin typeface="Cambria Math"/>
                        </a:rPr>
                        <m:t> )    </m:t>
                      </m:r>
                      <m:r>
                        <m:rPr>
                          <m:sty m:val="p"/>
                        </m:rPr>
                        <a:rPr lang="en-US" sz="1400">
                          <a:latin typeface="Cambria Math"/>
                        </a:rPr>
                        <m:t>with</m:t>
                      </m:r>
                      <m:r>
                        <a:rPr lang="en-US" sz="1400">
                          <a:latin typeface="Cambria Math"/>
                        </a:rPr>
                        <m:t>  </m:t>
                      </m:r>
                      <m:r>
                        <a:rPr lang="en-US" sz="1400">
                          <a:latin typeface="Cambria Math"/>
                        </a:rPr>
                        <m:t>𝛼</m:t>
                      </m:r>
                      <m:r>
                        <a:rPr lang="en-US" sz="1400">
                          <a:latin typeface="Cambria Math"/>
                        </a:rPr>
                        <m:t> = 0.05</m:t>
                      </m:r>
                    </m:oMath>
                  </m:oMathPara>
                </a14:m>
                <a:endParaRPr lang="en-US" sz="1300" dirty="0"/>
              </a:p>
            </p:txBody>
          </p:sp>
        </mc:Choice>
        <mc:Fallback xmlns="">
          <p:sp>
            <p:nvSpPr>
              <p:cNvPr id="7512" name="Eq Update"/>
              <p:cNvSpPr/>
              <p:nvPr/>
            </p:nvSpPr>
            <p:spPr>
              <a:xfrm>
                <a:off x="6309360" y="4187952"/>
                <a:ext cx="5394960" cy="402336"/>
              </a:xfrm>
              <a:prstGeom prst="rect">
                <a:avLst/>
              </a:prstGeom>
              <a:noFill/>
              <a:ln/>
            </p:spPr>
            <p:txBody>
              <a:bodyPr wrap="square" lIns="0" tIns="0" rIns="0" bIns="0" rtlCol="0" anchor="t"/>
              <a:lstStyle/>
              <a:p>
                <a:pPr marL="0" indent="0">
                  <a:lnSpc>
                    <a:spcPct val="102000"/>
                  </a:lnSpc>
                  <a:spcAft>
                    <a:spcPts val="0"/>
                  </a:spcAft>
                  <a:buNone/>
                </a:pPr>
                <a:r>
                  <a:rPr lang="en-US" sz="1300" b="0" i="1" dirty="0">
                    <a:solidFill>
                      <a:srgbClr val="222222"/>
                    </a:solidFill>
                    <a:latin typeface="Calibri" pitchFamily="34" charset="0"/>
                    <a:ea typeface="Calibri" pitchFamily="34" charset="-122"/>
                    <a:cs typeface="Calibri" pitchFamily="34" charset="-120"/>
                  </a:rPr>
                  <a:t>H &lt;- H + a ( r k - H )    with a = 0.05</a:t>
                </a:r>
                <a:endParaRPr lang="en-US" sz="1300" dirty="0"/>
              </a:p>
            </p:txBody>
          </p:sp>
        </mc:Fallback>
      </mc:AlternateContent>
      <mc:AlternateContent xmlns:mc="http://schemas.openxmlformats.org/markup-compatibility/2006" xmlns:a14="http://schemas.microsoft.com/office/drawing/2010/main">
        <mc:Choice Requires="a14">
          <p:sp>
            <p:nvSpPr>
              <p:cNvPr id="7513" name="Eq Reward"/>
              <p:cNvSpPr/>
              <p:nvPr/>
            </p:nvSpPr>
            <p:spPr>
              <a:xfrm>
                <a:off x="6309360" y="4402228"/>
                <a:ext cx="5394960" cy="402336"/>
              </a:xfrm>
              <a:prstGeom prst="rect">
                <a:avLst/>
              </a:prstGeom>
              <a:noFill/>
              <a:ln/>
            </p:spPr>
            <p:txBody>
              <a:bodyPr wrap="square" lIns="0" tIns="0" rIns="0" bIns="0" rtlCol="0" anchor="t"/>
              <a:lstStyle/>
              <a:p>
                <a:pPr marL="0" indent="0">
                  <a:buNone/>
                </a:pPr>
                <a14:m>
                  <m:oMathPara xmlns:m="http://schemas.openxmlformats.org/officeDocument/2006/math">
                    <m:oMath>
                      <m:sSub>
                        <m:sSubPr>
                          <m:ctrlPr>
                            <a:rPr lang="en-US" sz="1400">
                              <a:latin typeface="Cambria Math"/>
                            </a:rPr>
                          </m:ctrlPr>
                        </m:sSubPr>
                        <m:e>
                          <m:r>
                            <a:rPr lang="en-US" sz="1400">
                              <a:latin typeface="Cambria Math"/>
                            </a:rPr>
                            <m:t>𝑟</m:t>
                          </m:r>
                        </m:e>
                        <m:sub>
                          <m:r>
                            <a:rPr lang="en-US" sz="1400">
                              <a:latin typeface="Cambria Math"/>
                            </a:rPr>
                            <m:t>𝑘</m:t>
                          </m:r>
                        </m:sub>
                      </m:sSub>
                      <m:r>
                        <a:rPr lang="en-US" sz="1400">
                          <a:latin typeface="Cambria Math"/>
                        </a:rPr>
                        <m:t> = </m:t>
                      </m:r>
                      <m:sSub>
                        <m:sSubPr>
                          <m:ctrlPr>
                            <a:rPr lang="en-US" sz="1400">
                              <a:latin typeface="Cambria Math"/>
                            </a:rPr>
                          </m:ctrlPr>
                        </m:sSubPr>
                        <m:e>
                          <m:r>
                            <a:rPr lang="en-US" sz="1400">
                              <a:latin typeface="Cambria Math"/>
                            </a:rPr>
                            <m:t>𝐽</m:t>
                          </m:r>
                        </m:e>
                        <m:sub>
                          <m:r>
                            <m:rPr>
                              <m:sty m:val="p"/>
                            </m:rPr>
                            <a:rPr lang="en-US" sz="1400">
                              <a:latin typeface="Cambria Math"/>
                            </a:rPr>
                            <m:t>Phy</m:t>
                          </m:r>
                        </m:sub>
                      </m:sSub>
                      <m:r>
                        <a:rPr lang="en-US" sz="1400">
                          <a:latin typeface="Cambria Math"/>
                        </a:rPr>
                        <m:t>(</m:t>
                      </m:r>
                      <m:r>
                        <m:rPr>
                          <m:sty m:val="p"/>
                        </m:rPr>
                        <a:rPr lang="en-US" sz="1400">
                          <a:latin typeface="Cambria Math"/>
                        </a:rPr>
                        <m:t>no</m:t>
                      </m:r>
                      <m:r>
                        <a:rPr lang="en-US" sz="1400">
                          <a:latin typeface="Cambria Math"/>
                        </a:rPr>
                        <m:t> </m:t>
                      </m:r>
                      <m:r>
                        <m:rPr>
                          <m:sty m:val="p"/>
                        </m:rPr>
                        <a:rPr lang="en-US" sz="1400">
                          <a:latin typeface="Cambria Math"/>
                        </a:rPr>
                        <m:t>trial</m:t>
                      </m:r>
                      <m:r>
                        <a:rPr lang="en-US" sz="1400">
                          <a:latin typeface="Cambria Math"/>
                        </a:rPr>
                        <m:t>) − </m:t>
                      </m:r>
                      <m:sSub>
                        <m:sSubPr>
                          <m:ctrlPr>
                            <a:rPr lang="en-US" sz="1400">
                              <a:latin typeface="Cambria Math"/>
                            </a:rPr>
                          </m:ctrlPr>
                        </m:sSubPr>
                        <m:e>
                          <m:r>
                            <a:rPr lang="en-US" sz="1400">
                              <a:latin typeface="Cambria Math"/>
                            </a:rPr>
                            <m:t>𝐽</m:t>
                          </m:r>
                        </m:e>
                        <m:sub>
                          <m:r>
                            <m:rPr>
                              <m:sty m:val="p"/>
                            </m:rPr>
                            <a:rPr lang="en-US" sz="1400">
                              <a:latin typeface="Cambria Math"/>
                            </a:rPr>
                            <m:t>Phy</m:t>
                          </m:r>
                        </m:sub>
                      </m:sSub>
                      <m:r>
                        <a:rPr lang="en-US" sz="1400">
                          <a:latin typeface="Cambria Math"/>
                        </a:rPr>
                        <m:t>(</m:t>
                      </m:r>
                      <m:r>
                        <m:rPr>
                          <m:sty m:val="p"/>
                        </m:rPr>
                        <a:rPr lang="en-US" sz="1400">
                          <a:latin typeface="Cambria Math"/>
                        </a:rPr>
                        <m:t>trial</m:t>
                      </m:r>
                      <m:r>
                        <a:rPr lang="en-US" sz="1400">
                          <a:latin typeface="Cambria Math"/>
                        </a:rPr>
                        <m:t>)</m:t>
                      </m:r>
                    </m:oMath>
                  </m:oMathPara>
                </a14:m>
                <a:endParaRPr lang="en-US" sz="1300" dirty="0"/>
              </a:p>
            </p:txBody>
          </p:sp>
        </mc:Choice>
        <mc:Fallback xmlns="">
          <p:sp>
            <p:nvSpPr>
              <p:cNvPr id="7513" name="Eq Reward"/>
              <p:cNvSpPr>
                <a:spLocks noRot="1" noChangeAspect="1" noMove="1" noResize="1" noEditPoints="1" noAdjustHandles="1" noChangeArrowheads="1" noChangeShapeType="1" noTextEdit="1"/>
              </p:cNvSpPr>
              <p:nvPr/>
            </p:nvSpPr>
            <p:spPr>
              <a:xfrm>
                <a:off x="6309360" y="4402228"/>
                <a:ext cx="5394960" cy="402336"/>
              </a:xfrm>
              <a:prstGeom prst="rect">
                <a:avLst/>
              </a:prstGeom>
              <a:blipFill>
                <a:blip r:embed="rId9"/>
                <a:stretch>
                  <a:fillRect/>
                </a:stretch>
              </a:blipFill>
              <a:ln/>
            </p:spPr>
            <p:txBody>
              <a:bodyPr/>
              <a:lstStyle/>
              <a:p>
                <a:r>
                  <a:rPr lang="tr-TR">
                    <a:noFill/>
                  </a:rPr>
                  <a:t> </a:t>
                </a:r>
              </a:p>
            </p:txBody>
          </p:sp>
        </mc:Fallback>
      </mc:AlternateContent>
      <p:sp>
        <p:nvSpPr>
          <p:cNvPr id="7514" name="Update note"/>
          <p:cNvSpPr/>
          <p:nvPr/>
        </p:nvSpPr>
        <p:spPr>
          <a:xfrm>
            <a:off x="6345936" y="4747355"/>
            <a:ext cx="5394960" cy="292608"/>
          </a:xfrm>
          <a:prstGeom prst="rect">
            <a:avLst/>
          </a:prstGeom>
          <a:noFill/>
          <a:ln/>
        </p:spPr>
        <p:txBody>
          <a:bodyPr wrap="square" lIns="0" tIns="0" rIns="0" bIns="0" rtlCol="0" anchor="t"/>
          <a:lstStyle/>
          <a:p>
            <a:pPr marL="0" indent="0">
              <a:lnSpc>
                <a:spcPct val="102000"/>
              </a:lnSpc>
              <a:spcAft>
                <a:spcPts val="0"/>
              </a:spcAft>
              <a:buNone/>
            </a:pPr>
            <a:r>
              <a:rPr lang="en-US" sz="1150" b="0" i="1" dirty="0">
                <a:solidFill>
                  <a:srgbClr val="6E6E6E"/>
                </a:solidFill>
                <a:latin typeface="Calibri" pitchFamily="34" charset="0"/>
                <a:ea typeface="Calibri" pitchFamily="34" charset="-122"/>
                <a:cs typeface="Calibri" pitchFamily="34" charset="-120"/>
              </a:rPr>
              <a:t>H is the score of the stage actually tried, so the small step lets recent evidence weigh more</a:t>
            </a:r>
            <a:endParaRPr lang="en-US" sz="11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① : Parameter Tuning — Before and After</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4_6.png"/>
          <p:cNvPicPr>
            <a:picLocks noChangeAspect="1"/>
          </p:cNvPicPr>
          <p:nvPr/>
        </p:nvPicPr>
        <p:blipFill>
          <a:blip r:embed="rId5"/>
          <a:stretch>
            <a:fillRect/>
          </a:stretch>
        </p:blipFill>
        <p:spPr>
          <a:xfrm>
            <a:off x="411480" y="1498499"/>
            <a:ext cx="6400800" cy="2672281"/>
          </a:xfrm>
          <a:prstGeom prst="rect">
            <a:avLst/>
          </a:prstGeom>
        </p:spPr>
      </p:pic>
      <p:sp>
        <p:nvSpPr>
          <p:cNvPr id="7" name="Text 2"/>
          <p:cNvSpPr/>
          <p:nvPr/>
        </p:nvSpPr>
        <p:spPr>
          <a:xfrm>
            <a:off x="411480" y="4343400"/>
            <a:ext cx="6400800" cy="54864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Left: a consequent value takes one bounded step. Right: a shared term boundary shifts; both terms move together, so the partition stays valid.</a:t>
            </a:r>
            <a:endParaRPr lang="en-US" sz="1200" dirty="0"/>
          </a:p>
        </p:txBody>
      </p:sp>
      <p:sp>
        <p:nvSpPr>
          <p:cNvPr id="8" name="Shape 3"/>
          <p:cNvSpPr/>
          <p:nvPr/>
        </p:nvSpPr>
        <p:spPr>
          <a:xfrm>
            <a:off x="7040880" y="1325880"/>
            <a:ext cx="4663440" cy="1371600"/>
          </a:xfrm>
          <a:prstGeom prst="roundRect">
            <a:avLst>
              <a:gd name="adj" fmla="val 3333"/>
            </a:avLst>
          </a:prstGeom>
          <a:solidFill>
            <a:srgbClr val="FFFFFF"/>
          </a:solidFill>
          <a:ln w="15240">
            <a:solidFill>
              <a:srgbClr val="6E6E6E"/>
            </a:solidFill>
            <a:prstDash val="solid"/>
          </a:ln>
        </p:spPr>
        <p:txBody>
          <a:bodyPr/>
          <a:lstStyle/>
          <a:p>
            <a:endParaRPr lang="tr-TR"/>
          </a:p>
        </p:txBody>
      </p:sp>
      <p:sp>
        <p:nvSpPr>
          <p:cNvPr id="9" name="Text 4"/>
          <p:cNvSpPr/>
          <p:nvPr/>
        </p:nvSpPr>
        <p:spPr>
          <a:xfrm>
            <a:off x="7178040" y="1399032"/>
            <a:ext cx="4389120" cy="274320"/>
          </a:xfrm>
          <a:prstGeom prst="rect">
            <a:avLst/>
          </a:prstGeom>
          <a:noFill/>
          <a:ln/>
        </p:spPr>
        <p:txBody>
          <a:bodyPr wrap="square" lIns="0" tIns="0" rIns="0" bIns="0" rtlCol="0" anchor="ctr"/>
          <a:lstStyle/>
          <a:p>
            <a:pPr marL="0" indent="0">
              <a:buNone/>
            </a:pPr>
            <a:r>
              <a:rPr lang="en-US" sz="1250" b="1" dirty="0">
                <a:solidFill>
                  <a:srgbClr val="6E6E6E"/>
                </a:solidFill>
                <a:latin typeface="Calibri" pitchFamily="34" charset="0"/>
                <a:ea typeface="Calibri" pitchFamily="34" charset="-122"/>
                <a:cs typeface="Calibri" pitchFamily="34" charset="-120"/>
              </a:rPr>
              <a:t>BEFORE — rule R5 as seeded</a:t>
            </a:r>
            <a:endParaRPr lang="en-US" sz="1250" dirty="0"/>
          </a:p>
        </p:txBody>
      </p:sp>
      <p:sp>
        <p:nvSpPr>
          <p:cNvPr id="10" name="Text 5"/>
          <p:cNvSpPr/>
          <p:nvPr/>
        </p:nvSpPr>
        <p:spPr>
          <a:xfrm>
            <a:off x="7178040" y="1709928"/>
            <a:ext cx="4389120" cy="914400"/>
          </a:xfrm>
          <a:prstGeom prst="rect">
            <a:avLst/>
          </a:prstGeom>
          <a:noFill/>
          <a:ln/>
        </p:spPr>
        <p:txBody>
          <a:bodyPr wrap="square" lIns="0" tIns="0" rIns="0" bIns="0" rtlCol="0" anchor="t"/>
          <a:lstStyle/>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IF fire threat level is VERY HIGH</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THEN suppression effort = 1.00</a:t>
            </a:r>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     resource deployment = 0.80</a:t>
            </a:r>
            <a:endParaRPr lang="en-US" sz="1150" dirty="0"/>
          </a:p>
        </p:txBody>
      </p:sp>
      <p:sp>
        <p:nvSpPr>
          <p:cNvPr id="11" name="Shape 6"/>
          <p:cNvSpPr/>
          <p:nvPr/>
        </p:nvSpPr>
        <p:spPr>
          <a:xfrm>
            <a:off x="7040880" y="2880360"/>
            <a:ext cx="4663440" cy="1463040"/>
          </a:xfrm>
          <a:prstGeom prst="roundRect">
            <a:avLst>
              <a:gd name="adj" fmla="val 3125"/>
            </a:avLst>
          </a:prstGeom>
          <a:solidFill>
            <a:srgbClr val="FFFFFF"/>
          </a:solidFill>
          <a:ln w="15240">
            <a:solidFill>
              <a:srgbClr val="3E7C4F"/>
            </a:solidFill>
            <a:prstDash val="solid"/>
          </a:ln>
        </p:spPr>
        <p:txBody>
          <a:bodyPr/>
          <a:lstStyle/>
          <a:p>
            <a:endParaRPr lang="tr-TR"/>
          </a:p>
        </p:txBody>
      </p:sp>
      <p:sp>
        <p:nvSpPr>
          <p:cNvPr id="12" name="Text 7"/>
          <p:cNvSpPr/>
          <p:nvPr/>
        </p:nvSpPr>
        <p:spPr>
          <a:xfrm>
            <a:off x="7178040" y="2953512"/>
            <a:ext cx="4389120" cy="274320"/>
          </a:xfrm>
          <a:prstGeom prst="rect">
            <a:avLst/>
          </a:prstGeom>
          <a:noFill/>
          <a:ln/>
        </p:spPr>
        <p:txBody>
          <a:bodyPr wrap="square" lIns="0" tIns="0" rIns="0" bIns="0" rtlCol="0" anchor="ctr"/>
          <a:lstStyle/>
          <a:p>
            <a:pPr marL="0" indent="0">
              <a:buNone/>
            </a:pPr>
            <a:r>
              <a:rPr lang="en-US" sz="1250" b="1" dirty="0">
                <a:solidFill>
                  <a:srgbClr val="3E7C4F"/>
                </a:solidFill>
                <a:latin typeface="Calibri" pitchFamily="34" charset="0"/>
                <a:ea typeface="Calibri" pitchFamily="34" charset="-122"/>
                <a:cs typeface="Calibri" pitchFamily="34" charset="-120"/>
              </a:rPr>
              <a:t>AFTER — one accepted trial</a:t>
            </a:r>
            <a:endParaRPr lang="en-US" sz="1250" dirty="0"/>
          </a:p>
        </p:txBody>
      </p:sp>
      <p:sp>
        <p:nvSpPr>
          <p:cNvPr id="13" name="Text 8"/>
          <p:cNvSpPr/>
          <p:nvPr/>
        </p:nvSpPr>
        <p:spPr>
          <a:xfrm>
            <a:off x="7178040" y="3264408"/>
            <a:ext cx="4389120" cy="1005840"/>
          </a:xfrm>
          <a:prstGeom prst="rect">
            <a:avLst/>
          </a:prstGeom>
          <a:noFill/>
          <a:ln/>
        </p:spPr>
        <p:txBody>
          <a:bodyPr wrap="square" lIns="0" tIns="0" rIns="0" bIns="0" rtlCol="0" anchor="t"/>
          <a:lstStyle/>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IF fire threat level is VERY HIGH</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THEN suppression effort = 1.00 (at the upper clip)</a:t>
            </a:r>
            <a:endParaRPr lang="en-US" sz="1150" dirty="0"/>
          </a:p>
          <a:p>
            <a:pPr marL="0" indent="0">
              <a:lnSpc>
                <a:spcPct val="102000"/>
              </a:lnSpc>
              <a:spcAft>
                <a:spcPts val="300"/>
              </a:spcAft>
              <a:buNone/>
            </a:pPr>
            <a:r>
              <a:rPr lang="en-US" sz="1150" b="1" dirty="0">
                <a:solidFill>
                  <a:srgbClr val="222222"/>
                </a:solidFill>
                <a:latin typeface="Consolas" pitchFamily="34" charset="0"/>
                <a:ea typeface="Consolas" pitchFamily="34" charset="-122"/>
                <a:cs typeface="Consolas" pitchFamily="34" charset="-120"/>
              </a:rPr>
              <a:t> resource deployment = 0.85 (+0.05 step)</a:t>
            </a:r>
            <a:endParaRPr lang="en-US" sz="1150" dirty="0"/>
          </a:p>
        </p:txBody>
      </p:sp>
      <p:sp>
        <p:nvSpPr>
          <p:cNvPr id="14" name="Text 9"/>
          <p:cNvSpPr/>
          <p:nvPr/>
        </p:nvSpPr>
        <p:spPr>
          <a:xfrm>
            <a:off x="502920" y="4983480"/>
            <a:ext cx="11247120" cy="155448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trial acts on the two strongest-firing rules of the failed cycle. Each consequent moves by at most 0.05 and stays inside [0, 1].</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Two futures are then simulated from the same seed: one with the change, one without. The change is kept only if the physical forecast cost strictly falls; otherwise it is reverted.</a:t>
            </a:r>
            <a:endParaRPr lang="en-US" sz="1250" dirty="0"/>
          </a:p>
          <a:p>
            <a:pPr marL="152400" indent="-152400">
              <a:lnSpc>
                <a:spcPct val="104000"/>
              </a:lnSpc>
              <a:spcAft>
                <a:spcPts val="600"/>
              </a:spcAft>
              <a:buSzPct val="100000"/>
              <a:buChar char="•"/>
            </a:pPr>
            <a:r>
              <a:rPr lang="en-US" sz="1250" b="1" dirty="0">
                <a:solidFill>
                  <a:srgbClr val="222222"/>
                </a:solidFill>
                <a:highlight>
                  <a:srgbClr val="FFFF00"/>
                </a:highlight>
                <a:latin typeface="Calibri" pitchFamily="34" charset="0"/>
                <a:ea typeface="Calibri" pitchFamily="34" charset="-122"/>
                <a:cs typeface="Calibri" pitchFamily="34" charset="-120"/>
              </a:rPr>
              <a:t>Campaign record: 616 trials, 129 kept, 167 consequent updates in total.</a:t>
            </a:r>
            <a:endParaRPr lang="en-US" sz="1250" b="1" dirty="0">
              <a:highlight>
                <a:srgbClr val="FFFF00"/>
              </a:highlight>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② — Mode 1 : A Rule Is Written on an Empty Combination</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47a.png"/>
          <p:cNvPicPr>
            <a:picLocks noChangeAspect="1"/>
          </p:cNvPicPr>
          <p:nvPr/>
        </p:nvPicPr>
        <p:blipFill>
          <a:blip r:embed="rId5"/>
          <a:srcRect b="10000"/>
          <a:stretch>
            <a:fillRect/>
          </a:stretch>
        </p:blipFill>
        <p:spPr>
          <a:xfrm>
            <a:off x="558437" y="1371600"/>
            <a:ext cx="4598126" cy="3621024"/>
          </a:xfrm>
          <a:prstGeom prst="rect">
            <a:avLst/>
          </a:prstGeom>
        </p:spPr>
      </p:pic>
      <p:sp>
        <p:nvSpPr>
          <p:cNvPr id="7" name="Shape 2"/>
          <p:cNvSpPr/>
          <p:nvPr/>
        </p:nvSpPr>
        <p:spPr>
          <a:xfrm>
            <a:off x="5806440" y="1371600"/>
            <a:ext cx="5897880" cy="1737360"/>
          </a:xfrm>
          <a:prstGeom prst="roundRect">
            <a:avLst>
              <a:gd name="adj" fmla="val 2632"/>
            </a:avLst>
          </a:prstGeom>
          <a:solidFill>
            <a:srgbClr val="FFFFFF"/>
          </a:solidFill>
          <a:ln w="15240">
            <a:solidFill>
              <a:srgbClr val="6E6E6E"/>
            </a:solidFill>
            <a:prstDash val="solid"/>
          </a:ln>
        </p:spPr>
        <p:txBody>
          <a:bodyPr/>
          <a:lstStyle/>
          <a:p>
            <a:endParaRPr lang="tr-TR"/>
          </a:p>
        </p:txBody>
      </p:sp>
      <p:sp>
        <p:nvSpPr>
          <p:cNvPr id="8" name="Text 3"/>
          <p:cNvSpPr/>
          <p:nvPr/>
        </p:nvSpPr>
        <p:spPr>
          <a:xfrm>
            <a:off x="5943600" y="1444752"/>
            <a:ext cx="5623560" cy="274320"/>
          </a:xfrm>
          <a:prstGeom prst="rect">
            <a:avLst/>
          </a:prstGeom>
          <a:noFill/>
          <a:ln/>
        </p:spPr>
        <p:txBody>
          <a:bodyPr wrap="square" lIns="0" tIns="0" rIns="0" bIns="0" rtlCol="0" anchor="ctr"/>
          <a:lstStyle/>
          <a:p>
            <a:pPr marL="0" indent="0">
              <a:buNone/>
            </a:pPr>
            <a:r>
              <a:rPr lang="en-US" sz="1250" b="1" dirty="0">
                <a:solidFill>
                  <a:srgbClr val="6E6E6E"/>
                </a:solidFill>
                <a:latin typeface="Calibri" pitchFamily="34" charset="0"/>
                <a:ea typeface="Calibri" pitchFamily="34" charset="-122"/>
                <a:cs typeface="Calibri" pitchFamily="34" charset="-120"/>
              </a:rPr>
              <a:t>BEFORE — the combination is empty</a:t>
            </a:r>
            <a:endParaRPr lang="en-US" sz="1250" dirty="0"/>
          </a:p>
        </p:txBody>
      </p:sp>
      <p:sp>
        <p:nvSpPr>
          <p:cNvPr id="9" name="Text 4"/>
          <p:cNvSpPr/>
          <p:nvPr/>
        </p:nvSpPr>
        <p:spPr>
          <a:xfrm>
            <a:off x="5943600" y="1755648"/>
            <a:ext cx="5623560" cy="1280160"/>
          </a:xfrm>
          <a:prstGeom prst="rect">
            <a:avLst/>
          </a:prstGeom>
          <a:noFill/>
          <a:ln/>
        </p:spPr>
        <p:txBody>
          <a:bodyPr wrap="square" lIns="0" tIns="0" rIns="0" bIns="0" rtlCol="0" anchor="t"/>
          <a:lstStyle/>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reading: fire threat is HIGH AND</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 evacuation pressure is MEDIUM</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the cell (H, M) holds no rule;</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no rule fires above the floor -&gt; only the</a:t>
            </a:r>
            <a:endParaRPr lang="en-US" sz="1150" dirty="0"/>
          </a:p>
          <a:p>
            <a:pPr marL="0" indent="0">
              <a:lnSpc>
                <a:spcPct val="102000"/>
              </a:lnSpc>
              <a:spcAft>
                <a:spcPts val="300"/>
              </a:spcAft>
              <a:buNone/>
            </a:pPr>
            <a:r>
              <a:rPr lang="en-US" sz="1150" i="1" dirty="0">
                <a:solidFill>
                  <a:srgbClr val="222222"/>
                </a:solidFill>
                <a:latin typeface="Consolas" pitchFamily="34" charset="0"/>
                <a:ea typeface="Consolas" pitchFamily="34" charset="-122"/>
                <a:cs typeface="Consolas" pitchFamily="34" charset="-120"/>
              </a:rPr>
              <a:t>watchful baseline acts</a:t>
            </a:r>
            <a:endParaRPr lang="en-US" sz="1150" dirty="0"/>
          </a:p>
        </p:txBody>
      </p:sp>
      <p:sp>
        <p:nvSpPr>
          <p:cNvPr id="10" name="Shape 5"/>
          <p:cNvSpPr/>
          <p:nvPr/>
        </p:nvSpPr>
        <p:spPr>
          <a:xfrm>
            <a:off x="5806440" y="3291840"/>
            <a:ext cx="5897880" cy="1920240"/>
          </a:xfrm>
          <a:prstGeom prst="roundRect">
            <a:avLst>
              <a:gd name="adj" fmla="val 2381"/>
            </a:avLst>
          </a:prstGeom>
          <a:solidFill>
            <a:srgbClr val="FFFFFF"/>
          </a:solidFill>
          <a:ln w="15240">
            <a:solidFill>
              <a:srgbClr val="3E7C4F"/>
            </a:solidFill>
            <a:prstDash val="solid"/>
          </a:ln>
        </p:spPr>
        <p:txBody>
          <a:bodyPr/>
          <a:lstStyle/>
          <a:p>
            <a:endParaRPr lang="tr-TR"/>
          </a:p>
        </p:txBody>
      </p:sp>
      <p:sp>
        <p:nvSpPr>
          <p:cNvPr id="11" name="Text 6"/>
          <p:cNvSpPr/>
          <p:nvPr/>
        </p:nvSpPr>
        <p:spPr>
          <a:xfrm>
            <a:off x="5943600" y="3364992"/>
            <a:ext cx="5623560" cy="274320"/>
          </a:xfrm>
          <a:prstGeom prst="rect">
            <a:avLst/>
          </a:prstGeom>
          <a:noFill/>
          <a:ln/>
        </p:spPr>
        <p:txBody>
          <a:bodyPr wrap="square" lIns="0" tIns="0" rIns="0" bIns="0" rtlCol="0" anchor="ctr"/>
          <a:lstStyle/>
          <a:p>
            <a:pPr marL="0" indent="0">
              <a:buNone/>
            </a:pPr>
            <a:r>
              <a:rPr lang="en-US" sz="1250" b="1" dirty="0">
                <a:solidFill>
                  <a:srgbClr val="3E7C4F"/>
                </a:solidFill>
                <a:latin typeface="Calibri" pitchFamily="34" charset="0"/>
                <a:ea typeface="Calibri" pitchFamily="34" charset="-122"/>
                <a:cs typeface="Calibri" pitchFamily="34" charset="-120"/>
              </a:rPr>
              <a:t>AFTER — rule A1 is written on the cell</a:t>
            </a:r>
            <a:endParaRPr lang="en-US" sz="1250" dirty="0"/>
          </a:p>
        </p:txBody>
      </p:sp>
      <p:sp>
        <p:nvSpPr>
          <p:cNvPr id="12" name="Text 7"/>
          <p:cNvSpPr/>
          <p:nvPr/>
        </p:nvSpPr>
        <p:spPr>
          <a:xfrm>
            <a:off x="5943600" y="3675888"/>
            <a:ext cx="5623560" cy="1463040"/>
          </a:xfrm>
          <a:prstGeom prst="rect">
            <a:avLst/>
          </a:prstGeom>
          <a:noFill/>
          <a:ln/>
        </p:spPr>
        <p:txBody>
          <a:bodyPr wrap="square" lIns="0" tIns="0" rIns="0" bIns="0" rtlCol="0" anchor="t"/>
          <a:lstStyle/>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IF fire threat is HIGH AND</a:t>
            </a:r>
            <a:endParaRPr lang="en-US" sz="1150" dirty="0"/>
          </a:p>
          <a:p>
            <a:pPr>
              <a:lnSpc>
                <a:spcPct val="102000"/>
              </a:lnSpc>
              <a:spcAft>
                <a:spcPts val="300"/>
              </a:spcAft>
            </a:pPr>
            <a:r>
              <a:rPr lang="en-US" sz="1150" dirty="0">
                <a:solidFill>
                  <a:srgbClr val="222222"/>
                </a:solidFill>
                <a:latin typeface="Consolas" pitchFamily="34" charset="0"/>
                <a:ea typeface="Consolas" pitchFamily="34" charset="-122"/>
                <a:cs typeface="Consolas" pitchFamily="34" charset="-120"/>
              </a:rPr>
              <a:t> evacuation pressure is MEDIUM</a:t>
            </a:r>
            <a:endParaRPr lang="en-US" sz="1150" dirty="0"/>
          </a:p>
          <a:p>
            <a:pPr marL="0" indent="0">
              <a:lnSpc>
                <a:spcPct val="102000"/>
              </a:lnSpc>
              <a:spcAft>
                <a:spcPts val="300"/>
              </a:spcAft>
              <a:buNone/>
            </a:pPr>
            <a:r>
              <a:rPr lang="en-US" sz="1150" b="1" dirty="0">
                <a:solidFill>
                  <a:srgbClr val="222222"/>
                </a:solidFill>
                <a:latin typeface="Consolas" pitchFamily="34" charset="0"/>
                <a:ea typeface="Consolas" pitchFamily="34" charset="-122"/>
                <a:cs typeface="Consolas" pitchFamily="34" charset="-120"/>
              </a:rPr>
              <a:t>THEN suppression effort &lt;- activation of fire threat</a:t>
            </a:r>
            <a:endParaRPr lang="en-US" sz="1150" dirty="0"/>
          </a:p>
          <a:p>
            <a:pPr marL="0" indent="0">
              <a:lnSpc>
                <a:spcPct val="102000"/>
              </a:lnSpc>
              <a:spcAft>
                <a:spcPts val="300"/>
              </a:spcAft>
              <a:buNone/>
            </a:pPr>
            <a:r>
              <a:rPr lang="en-US" sz="1150" b="1" dirty="0">
                <a:solidFill>
                  <a:srgbClr val="222222"/>
                </a:solidFill>
                <a:latin typeface="Consolas" pitchFamily="34" charset="0"/>
                <a:ea typeface="Consolas" pitchFamily="34" charset="-122"/>
                <a:cs typeface="Consolas" pitchFamily="34" charset="-120"/>
              </a:rPr>
              <a:t> evacuation &lt;- activation of evacuation pressure</a:t>
            </a:r>
            <a:endParaRPr lang="en-US" sz="1150" dirty="0"/>
          </a:p>
        </p:txBody>
      </p:sp>
      <p:sp>
        <p:nvSpPr>
          <p:cNvPr id="13" name="Text 8"/>
          <p:cNvSpPr/>
          <p:nvPr/>
        </p:nvSpPr>
        <p:spPr>
          <a:xfrm>
            <a:off x="502920" y="5440893"/>
            <a:ext cx="11247120" cy="9601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consequents of the new rule are not guessed: each is set to what the strongest concept asks for </a:t>
            </a:r>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family that answers the concept receives the concept's activation as its intensity.</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Because the slot was empty, the rule is accepted if the forecast with it is not worse than without it. Adjusting its numbers later is the job of stage ①.</a:t>
            </a:r>
            <a:endParaRPr lang="en-US" sz="1250" dirty="0"/>
          </a:p>
        </p:txBody>
      </p:sp>
      <p:sp>
        <p:nvSpPr>
          <p:cNvPr id="17" name="Axis note">
            <a:extLst>
              <a:ext uri="{FF2B5EF4-FFF2-40B4-BE49-F238E27FC236}">
                <a16:creationId xmlns:a16="http://schemas.microsoft.com/office/drawing/2014/main" id="{D8F01694-76F5-5908-F3C7-7CF61F23402E}"/>
              </a:ext>
            </a:extLst>
          </p:cNvPr>
          <p:cNvSpPr/>
          <p:nvPr/>
        </p:nvSpPr>
        <p:spPr>
          <a:xfrm>
            <a:off x="2254102" y="5001768"/>
            <a:ext cx="666307" cy="420624"/>
          </a:xfrm>
          <a:prstGeom prst="rect">
            <a:avLst/>
          </a:prstGeom>
          <a:noFill/>
          <a:ln/>
        </p:spPr>
        <p:txBody>
          <a:bodyPr wrap="square" lIns="0" tIns="0" rIns="0" bIns="0" rtlCol="0" anchor="t"/>
          <a:lstStyle/>
          <a:p>
            <a:pPr marL="0" indent="0">
              <a:buNone/>
            </a:pPr>
            <a:r>
              <a:rPr lang="en-US" sz="1100" i="1" dirty="0">
                <a:solidFill>
                  <a:srgbClr val="6E6E6E"/>
                </a:solidFill>
                <a:latin typeface="Calibri" pitchFamily="34" charset="0"/>
                <a:ea typeface="Calibri" pitchFamily="34" charset="-122"/>
                <a:cs typeface="Calibri" pitchFamily="34" charset="-120"/>
              </a:rPr>
              <a:t>fire threat</a:t>
            </a:r>
            <a:endParaRPr lang="en-US" sz="1100" dirty="0"/>
          </a:p>
        </p:txBody>
      </p:sp>
      <p:sp>
        <p:nvSpPr>
          <p:cNvPr id="19" name="Axis note">
            <a:extLst>
              <a:ext uri="{FF2B5EF4-FFF2-40B4-BE49-F238E27FC236}">
                <a16:creationId xmlns:a16="http://schemas.microsoft.com/office/drawing/2014/main" id="{A7E197D4-A236-50FB-55C0-B6E45F52957C}"/>
              </a:ext>
            </a:extLst>
          </p:cNvPr>
          <p:cNvSpPr/>
          <p:nvPr/>
        </p:nvSpPr>
        <p:spPr>
          <a:xfrm rot="16200000">
            <a:off x="241712" y="2971800"/>
            <a:ext cx="1233376" cy="420624"/>
          </a:xfrm>
          <a:prstGeom prst="rect">
            <a:avLst/>
          </a:prstGeom>
          <a:noFill/>
          <a:ln/>
        </p:spPr>
        <p:txBody>
          <a:bodyPr wrap="square" lIns="0" tIns="0" rIns="0" bIns="0" rtlCol="0" anchor="t"/>
          <a:lstStyle/>
          <a:p>
            <a:pPr marL="0" indent="0">
              <a:buNone/>
            </a:pPr>
            <a:r>
              <a:rPr lang="en-US" sz="1100" i="1" dirty="0">
                <a:solidFill>
                  <a:srgbClr val="6E6E6E"/>
                </a:solidFill>
                <a:latin typeface="Calibri" pitchFamily="34" charset="0"/>
                <a:ea typeface="Calibri" pitchFamily="34" charset="-122"/>
                <a:cs typeface="Calibri" pitchFamily="34" charset="-120"/>
              </a:rPr>
              <a:t>evacuation pressure</a:t>
            </a:r>
            <a:endParaRPr lang="en-US" sz="11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② — Mode 2 : A Narrow Term Splits an Ambiguous Reading</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47b.png"/>
          <p:cNvPicPr>
            <a:picLocks noChangeAspect="1"/>
          </p:cNvPicPr>
          <p:nvPr/>
        </p:nvPicPr>
        <p:blipFill>
          <a:blip r:embed="rId5"/>
          <a:stretch>
            <a:fillRect/>
          </a:stretch>
        </p:blipFill>
        <p:spPr>
          <a:xfrm>
            <a:off x="437606" y="1371600"/>
            <a:ext cx="4839789" cy="4023360"/>
          </a:xfrm>
          <a:prstGeom prst="rect">
            <a:avLst/>
          </a:prstGeom>
        </p:spPr>
      </p:pic>
      <p:sp>
        <p:nvSpPr>
          <p:cNvPr id="7" name="Shape 2"/>
          <p:cNvSpPr/>
          <p:nvPr/>
        </p:nvSpPr>
        <p:spPr>
          <a:xfrm>
            <a:off x="5806440" y="1371600"/>
            <a:ext cx="5897880" cy="1737360"/>
          </a:xfrm>
          <a:prstGeom prst="roundRect">
            <a:avLst>
              <a:gd name="adj" fmla="val 2632"/>
            </a:avLst>
          </a:prstGeom>
          <a:solidFill>
            <a:srgbClr val="FFFFFF"/>
          </a:solidFill>
          <a:ln w="15240">
            <a:solidFill>
              <a:srgbClr val="6E6E6E"/>
            </a:solidFill>
            <a:prstDash val="solid"/>
          </a:ln>
        </p:spPr>
        <p:txBody>
          <a:bodyPr/>
          <a:lstStyle/>
          <a:p>
            <a:endParaRPr lang="tr-TR"/>
          </a:p>
        </p:txBody>
      </p:sp>
      <p:sp>
        <p:nvSpPr>
          <p:cNvPr id="8" name="Text 3"/>
          <p:cNvSpPr/>
          <p:nvPr/>
        </p:nvSpPr>
        <p:spPr>
          <a:xfrm>
            <a:off x="5943600" y="1444752"/>
            <a:ext cx="5623560" cy="274320"/>
          </a:xfrm>
          <a:prstGeom prst="rect">
            <a:avLst/>
          </a:prstGeom>
          <a:noFill/>
          <a:ln/>
        </p:spPr>
        <p:txBody>
          <a:bodyPr wrap="square" lIns="0" tIns="0" rIns="0" bIns="0" rtlCol="0" anchor="ctr"/>
          <a:lstStyle/>
          <a:p>
            <a:pPr marL="0" indent="0">
              <a:buNone/>
            </a:pPr>
            <a:r>
              <a:rPr lang="en-US" sz="1250" b="1" dirty="0">
                <a:solidFill>
                  <a:srgbClr val="6E6E6E"/>
                </a:solidFill>
                <a:latin typeface="Calibri" pitchFamily="34" charset="0"/>
                <a:ea typeface="Calibri" pitchFamily="34" charset="-122"/>
                <a:cs typeface="Calibri" pitchFamily="34" charset="-120"/>
              </a:rPr>
              <a:t>BEFORE — the reading is ambiguous</a:t>
            </a:r>
            <a:endParaRPr lang="en-US" sz="1250" dirty="0"/>
          </a:p>
        </p:txBody>
      </p:sp>
      <p:sp>
        <p:nvSpPr>
          <p:cNvPr id="9" name="Text 4"/>
          <p:cNvSpPr/>
          <p:nvPr/>
        </p:nvSpPr>
        <p:spPr>
          <a:xfrm>
            <a:off x="5943600" y="1755648"/>
            <a:ext cx="5623560" cy="1280160"/>
          </a:xfrm>
          <a:prstGeom prst="rect">
            <a:avLst/>
          </a:prstGeom>
          <a:noFill/>
          <a:ln/>
        </p:spPr>
        <p:txBody>
          <a:bodyPr wrap="square" lIns="0" tIns="0" rIns="0" bIns="0" rtlCol="0" anchor="t"/>
          <a:lstStyle/>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strongest concept reads x = 0.42</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membership in L = 0.53, in M = 0.47</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neither reaches the threshold 0.62;</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two different situations share one cell, and no</a:t>
            </a:r>
            <a:endParaRPr lang="en-US" sz="1150" dirty="0"/>
          </a:p>
          <a:p>
            <a:pPr marL="0" indent="0">
              <a:lnSpc>
                <a:spcPct val="102000"/>
              </a:lnSpc>
              <a:spcAft>
                <a:spcPts val="300"/>
              </a:spcAft>
              <a:buNone/>
            </a:pPr>
            <a:r>
              <a:rPr lang="en-US" sz="1150" i="1" dirty="0">
                <a:solidFill>
                  <a:srgbClr val="222222"/>
                </a:solidFill>
                <a:latin typeface="Consolas" pitchFamily="34" charset="0"/>
                <a:ea typeface="Consolas" pitchFamily="34" charset="-122"/>
                <a:cs typeface="Consolas" pitchFamily="34" charset="-120"/>
              </a:rPr>
              <a:t>change of consequents can separate them</a:t>
            </a:r>
            <a:endParaRPr lang="en-US" sz="1150" dirty="0"/>
          </a:p>
        </p:txBody>
      </p:sp>
      <p:sp>
        <p:nvSpPr>
          <p:cNvPr id="10" name="Shape 5"/>
          <p:cNvSpPr/>
          <p:nvPr/>
        </p:nvSpPr>
        <p:spPr>
          <a:xfrm>
            <a:off x="5806440" y="3291840"/>
            <a:ext cx="5897880" cy="1920240"/>
          </a:xfrm>
          <a:prstGeom prst="roundRect">
            <a:avLst>
              <a:gd name="adj" fmla="val 2381"/>
            </a:avLst>
          </a:prstGeom>
          <a:solidFill>
            <a:srgbClr val="FFFFFF"/>
          </a:solidFill>
          <a:ln w="15240">
            <a:solidFill>
              <a:srgbClr val="3E7C4F"/>
            </a:solidFill>
            <a:prstDash val="solid"/>
          </a:ln>
        </p:spPr>
        <p:txBody>
          <a:bodyPr/>
          <a:lstStyle/>
          <a:p>
            <a:endParaRPr lang="tr-TR"/>
          </a:p>
        </p:txBody>
      </p:sp>
      <p:sp>
        <p:nvSpPr>
          <p:cNvPr id="11" name="Text 6"/>
          <p:cNvSpPr/>
          <p:nvPr/>
        </p:nvSpPr>
        <p:spPr>
          <a:xfrm>
            <a:off x="5943600" y="3364992"/>
            <a:ext cx="5623560" cy="274320"/>
          </a:xfrm>
          <a:prstGeom prst="rect">
            <a:avLst/>
          </a:prstGeom>
          <a:noFill/>
          <a:ln/>
        </p:spPr>
        <p:txBody>
          <a:bodyPr wrap="square" lIns="0" tIns="0" rIns="0" bIns="0" rtlCol="0" anchor="ctr"/>
          <a:lstStyle/>
          <a:p>
            <a:pPr marL="0" indent="0">
              <a:buNone/>
            </a:pPr>
            <a:r>
              <a:rPr lang="en-US" sz="1250" b="1" dirty="0">
                <a:solidFill>
                  <a:srgbClr val="3E7C4F"/>
                </a:solidFill>
                <a:latin typeface="Calibri" pitchFamily="34" charset="0"/>
                <a:ea typeface="Calibri" pitchFamily="34" charset="-122"/>
                <a:cs typeface="Calibri" pitchFamily="34" charset="-120"/>
              </a:rPr>
              <a:t>AFTER — term X is inserted, then a rule is written</a:t>
            </a:r>
            <a:endParaRPr lang="en-US" sz="1250" dirty="0"/>
          </a:p>
        </p:txBody>
      </p:sp>
      <p:sp>
        <p:nvSpPr>
          <p:cNvPr id="12" name="Text 7"/>
          <p:cNvSpPr/>
          <p:nvPr/>
        </p:nvSpPr>
        <p:spPr>
          <a:xfrm>
            <a:off x="5943600" y="3675888"/>
            <a:ext cx="5623560" cy="1463040"/>
          </a:xfrm>
          <a:prstGeom prst="rect">
            <a:avLst/>
          </a:prstGeom>
          <a:noFill/>
          <a:ln/>
        </p:spPr>
        <p:txBody>
          <a:bodyPr wrap="square" lIns="0" tIns="0" rIns="0" bIns="0" rtlCol="0" anchor="t"/>
          <a:lstStyle/>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new term X: core 0.37-0.47, support 0.30-0.54,</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centred on the reading x = 0.42</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the concept now has 6 terms; the catalogue grows</a:t>
            </a:r>
            <a:endParaRPr lang="en-US" sz="1150" dirty="0"/>
          </a:p>
          <a:p>
            <a:pPr marL="0" indent="0">
              <a:lnSpc>
                <a:spcPct val="102000"/>
              </a:lnSpc>
              <a:spcAft>
                <a:spcPts val="300"/>
              </a:spcAft>
              <a:buNone/>
            </a:pPr>
            <a:r>
              <a:rPr lang="en-US" sz="1150" b="1" dirty="0">
                <a:solidFill>
                  <a:srgbClr val="222222"/>
                </a:solidFill>
                <a:latin typeface="Consolas" pitchFamily="34" charset="0"/>
                <a:ea typeface="Consolas" pitchFamily="34" charset="-122"/>
                <a:cs typeface="Consolas" pitchFamily="34" charset="-120"/>
              </a:rPr>
              <a:t>from 3125 to 3750 combinations</a:t>
            </a:r>
            <a:endParaRPr lang="en-US" sz="1150" dirty="0"/>
          </a:p>
          <a:p>
            <a:pPr marL="0" indent="0">
              <a:lnSpc>
                <a:spcPct val="102000"/>
              </a:lnSpc>
              <a:spcAft>
                <a:spcPts val="300"/>
              </a:spcAft>
              <a:buNone/>
            </a:pPr>
            <a:r>
              <a:rPr lang="en-US" sz="1150" b="1" dirty="0">
                <a:solidFill>
                  <a:srgbClr val="222222"/>
                </a:solidFill>
                <a:latin typeface="Consolas" pitchFamily="34" charset="0"/>
                <a:ea typeface="Consolas" pitchFamily="34" charset="-122"/>
                <a:cs typeface="Consolas" pitchFamily="34" charset="-120"/>
              </a:rPr>
              <a:t>a rule is then written on the refined cell (X,...)</a:t>
            </a:r>
            <a:endParaRPr lang="en-US" sz="1150" dirty="0"/>
          </a:p>
        </p:txBody>
      </p:sp>
      <p:sp>
        <p:nvSpPr>
          <p:cNvPr id="13" name="Text 8"/>
          <p:cNvSpPr/>
          <p:nvPr/>
        </p:nvSpPr>
        <p:spPr>
          <a:xfrm>
            <a:off x="502920" y="5577840"/>
            <a:ext cx="11247120" cy="9601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inserted term stays outside the Layer-3 aggregation: it is read on its own trapezoid, so the concept activations and the five-term algebra are unchanged. The growth stays on the rule side.</a:t>
            </a:r>
            <a:endParaRPr lang="en-US" sz="1250" dirty="0"/>
          </a:p>
          <a:p>
            <a:pPr marL="152400" indent="-152400">
              <a:lnSpc>
                <a:spcPct val="104000"/>
              </a:lnSpc>
              <a:spcAft>
                <a:spcPts val="600"/>
              </a:spcAft>
              <a:buSzPct val="100000"/>
              <a:buChar char="•"/>
            </a:pPr>
            <a:r>
              <a:rPr lang="en-US" sz="1250" b="1" dirty="0">
                <a:solidFill>
                  <a:srgbClr val="222222"/>
                </a:solidFill>
                <a:highlight>
                  <a:srgbClr val="FFFF00"/>
                </a:highlight>
                <a:latin typeface="Calibri" pitchFamily="34" charset="0"/>
                <a:ea typeface="Calibri" pitchFamily="34" charset="-122"/>
                <a:cs typeface="Calibri" pitchFamily="34" charset="-120"/>
              </a:rPr>
              <a:t>Both modes together, over the campaign: 359 trials, 40 rules, 4 term insertions; at most three trials per cycle.</a:t>
            </a:r>
            <a:endParaRPr lang="en-US" sz="1250" dirty="0">
              <a:highlight>
                <a:srgbClr val="FFFF00"/>
              </a:highlight>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B547B63-0545-B30F-46A8-683A3827E67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4320" y="1170432"/>
            <a:ext cx="4453128" cy="5541264"/>
          </a:xfrm>
          <a:prstGeom prst="rect">
            <a:avLst/>
          </a:prstGeom>
          <a:noFill/>
        </p:spPr>
      </p:pic>
      <p:sp>
        <p:nvSpPr>
          <p:cNvPr id="4"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 The Generative Stage, End to End</a:t>
            </a:r>
            <a:endParaRPr lang="en-US" sz="2500" dirty="0"/>
          </a:p>
        </p:txBody>
      </p:sp>
      <p:sp>
        <p:nvSpPr>
          <p:cNvPr id="8501" name="H 1 · THE TRIGGER"/>
          <p:cNvSpPr/>
          <p:nvPr/>
        </p:nvSpPr>
        <p:spPr>
          <a:xfrm>
            <a:off x="4983480" y="1225296"/>
            <a:ext cx="6766560" cy="237744"/>
          </a:xfrm>
          <a:prstGeom prst="rect">
            <a:avLst/>
          </a:prstGeom>
          <a:noFill/>
          <a:ln/>
        </p:spPr>
        <p:txBody>
          <a:bodyPr wrap="square" lIns="0" tIns="0" rIns="0" bIns="0" rtlCol="0" anchor="t"/>
          <a:lstStyle/>
          <a:p>
            <a:pPr marL="0" indent="0">
              <a:lnSpc>
                <a:spcPct val="102000"/>
              </a:lnSpc>
              <a:spcAft>
                <a:spcPts val="0"/>
              </a:spcAft>
              <a:buNone/>
            </a:pPr>
            <a:r>
              <a:rPr lang="en-US" sz="1200" b="1" i="0" dirty="0">
                <a:solidFill>
                  <a:srgbClr val="E31836"/>
                </a:solidFill>
                <a:latin typeface="Calibri" pitchFamily="34" charset="0"/>
                <a:ea typeface="Calibri" pitchFamily="34" charset="-122"/>
                <a:cs typeface="Calibri" pitchFamily="34" charset="-120"/>
              </a:rPr>
              <a:t>1 · THE TRIGGER</a:t>
            </a:r>
            <a:endParaRPr lang="en-US" sz="1200" dirty="0"/>
          </a:p>
        </p:txBody>
      </p:sp>
      <p:sp>
        <p:nvSpPr>
          <p:cNvPr id="8502" name="B 1 · THE TRIGGER"/>
          <p:cNvSpPr/>
          <p:nvPr/>
        </p:nvSpPr>
        <p:spPr>
          <a:xfrm>
            <a:off x="4983480" y="1499616"/>
            <a:ext cx="6766560" cy="960120"/>
          </a:xfrm>
          <a:prstGeom prst="rect">
            <a:avLst/>
          </a:prstGeom>
          <a:noFill/>
          <a:ln/>
        </p:spPr>
        <p:txBody>
          <a:bodyPr wrap="square" lIns="0" tIns="0" rIns="0" bIns="0" rtlCol="0" anchor="t"/>
          <a:lstStyle/>
          <a:p>
            <a:pPr marL="0" indent="0">
              <a:lnSpc>
                <a:spcPct val="102000"/>
              </a:lnSpc>
              <a:spcAft>
                <a:spcPts val="0"/>
              </a:spcAft>
              <a:buNone/>
            </a:pPr>
            <a:r>
              <a:rPr lang="en-US" sz="1200" b="0" i="0" dirty="0">
                <a:solidFill>
                  <a:srgbClr val="222222"/>
                </a:solidFill>
                <a:latin typeface="Calibri" pitchFamily="34" charset="0"/>
                <a:ea typeface="Calibri" pitchFamily="34" charset="-122"/>
                <a:cs typeface="Calibri" pitchFamily="34" charset="-120"/>
              </a:rPr>
              <a:t>Stages ① and ② have no repair left and forecast cost remains. The controller selects the generative stage: one invocation per decision cycle.</a:t>
            </a:r>
            <a:endParaRPr lang="en-US" sz="1200" dirty="0"/>
          </a:p>
        </p:txBody>
      </p:sp>
      <p:sp>
        <p:nvSpPr>
          <p:cNvPr id="8503" name="H 2 · THE PROPOSER"/>
          <p:cNvSpPr/>
          <p:nvPr/>
        </p:nvSpPr>
        <p:spPr>
          <a:xfrm>
            <a:off x="4983480" y="2304288"/>
            <a:ext cx="6766560" cy="237744"/>
          </a:xfrm>
          <a:prstGeom prst="rect">
            <a:avLst/>
          </a:prstGeom>
          <a:noFill/>
          <a:ln/>
        </p:spPr>
        <p:txBody>
          <a:bodyPr wrap="square" lIns="0" tIns="0" rIns="0" bIns="0" rtlCol="0" anchor="t"/>
          <a:lstStyle/>
          <a:p>
            <a:pPr marL="0" indent="0">
              <a:lnSpc>
                <a:spcPct val="102000"/>
              </a:lnSpc>
              <a:spcAft>
                <a:spcPts val="0"/>
              </a:spcAft>
              <a:buNone/>
            </a:pPr>
            <a:r>
              <a:rPr lang="en-US" sz="1200" b="1" i="0" dirty="0">
                <a:solidFill>
                  <a:srgbClr val="E31836"/>
                </a:solidFill>
                <a:latin typeface="Calibri" pitchFamily="34" charset="0"/>
                <a:ea typeface="Calibri" pitchFamily="34" charset="-122"/>
                <a:cs typeface="Calibri" pitchFamily="34" charset="-120"/>
              </a:rPr>
              <a:t>2 · THE PROPOSER</a:t>
            </a:r>
            <a:endParaRPr lang="en-US" sz="1200" dirty="0"/>
          </a:p>
        </p:txBody>
      </p:sp>
      <p:sp>
        <p:nvSpPr>
          <p:cNvPr id="8504" name="B 2 · THE PROPOSER"/>
          <p:cNvSpPr/>
          <p:nvPr/>
        </p:nvSpPr>
        <p:spPr>
          <a:xfrm>
            <a:off x="4983480" y="2578608"/>
            <a:ext cx="6766560" cy="960120"/>
          </a:xfrm>
          <a:prstGeom prst="rect">
            <a:avLst/>
          </a:prstGeom>
          <a:noFill/>
          <a:ln/>
        </p:spPr>
        <p:txBody>
          <a:bodyPr wrap="square" lIns="0" tIns="0" rIns="0" bIns="0" rtlCol="0" anchor="t"/>
          <a:lstStyle/>
          <a:p>
            <a:pPr marL="0" indent="0">
              <a:lnSpc>
                <a:spcPct val="102000"/>
              </a:lnSpc>
              <a:spcAft>
                <a:spcPts val="0"/>
              </a:spcAft>
              <a:buNone/>
            </a:pPr>
            <a:r>
              <a:rPr lang="en-US" sz="1200" b="0" i="0" dirty="0">
                <a:solidFill>
                  <a:srgbClr val="222222"/>
                </a:solidFill>
                <a:latin typeface="Calibri" pitchFamily="34" charset="0"/>
                <a:ea typeface="Calibri" pitchFamily="34" charset="-122"/>
                <a:cs typeface="Calibri" pitchFamily="34" charset="-120"/>
              </a:rPr>
              <a:t>A pretrained language model receives the situation, the complete vocabulary, and the verdicts of similar past cycles. It returns exactly one candidate: a rule, or a rule plus one new object (a concept, a macro, or an actuator). Its weights are never updated, and its reply has no authority.</a:t>
            </a:r>
            <a:endParaRPr lang="en-US" sz="1200" dirty="0"/>
          </a:p>
        </p:txBody>
      </p:sp>
      <p:sp>
        <p:nvSpPr>
          <p:cNvPr id="8505" name="H 3 · THE GATES"/>
          <p:cNvSpPr/>
          <p:nvPr/>
        </p:nvSpPr>
        <p:spPr>
          <a:xfrm>
            <a:off x="4983480" y="3675888"/>
            <a:ext cx="6766560" cy="237744"/>
          </a:xfrm>
          <a:prstGeom prst="rect">
            <a:avLst/>
          </a:prstGeom>
          <a:noFill/>
          <a:ln/>
        </p:spPr>
        <p:txBody>
          <a:bodyPr wrap="square" lIns="0" tIns="0" rIns="0" bIns="0" rtlCol="0" anchor="t"/>
          <a:lstStyle/>
          <a:p>
            <a:pPr marL="0" indent="0">
              <a:lnSpc>
                <a:spcPct val="102000"/>
              </a:lnSpc>
              <a:spcAft>
                <a:spcPts val="0"/>
              </a:spcAft>
              <a:buNone/>
            </a:pPr>
            <a:r>
              <a:rPr lang="en-US" sz="1200" b="1" i="0" dirty="0">
                <a:solidFill>
                  <a:srgbClr val="E31836"/>
                </a:solidFill>
                <a:latin typeface="Calibri" pitchFamily="34" charset="0"/>
                <a:ea typeface="Calibri" pitchFamily="34" charset="-122"/>
                <a:cs typeface="Calibri" pitchFamily="34" charset="-120"/>
              </a:rPr>
              <a:t>3 · THE GATES</a:t>
            </a:r>
            <a:endParaRPr lang="en-US" sz="1200" dirty="0"/>
          </a:p>
        </p:txBody>
      </p:sp>
      <p:sp>
        <p:nvSpPr>
          <p:cNvPr id="8506" name="B 3 · THE GATES"/>
          <p:cNvSpPr/>
          <p:nvPr/>
        </p:nvSpPr>
        <p:spPr>
          <a:xfrm>
            <a:off x="4983480" y="3950208"/>
            <a:ext cx="6766560" cy="960120"/>
          </a:xfrm>
          <a:prstGeom prst="rect">
            <a:avLst/>
          </a:prstGeom>
          <a:noFill/>
          <a:ln/>
        </p:spPr>
        <p:txBody>
          <a:bodyPr wrap="square" lIns="0" tIns="0" rIns="0" bIns="0" rtlCol="0" anchor="t"/>
          <a:lstStyle/>
          <a:p>
            <a:pPr marL="0" indent="0">
              <a:lnSpc>
                <a:spcPct val="102000"/>
              </a:lnSpc>
              <a:spcAft>
                <a:spcPts val="0"/>
              </a:spcAft>
              <a:buNone/>
            </a:pPr>
            <a:r>
              <a:rPr lang="en-US" sz="1200" b="0" i="0" dirty="0">
                <a:solidFill>
                  <a:srgbClr val="222222"/>
                </a:solidFill>
                <a:latin typeface="Calibri" pitchFamily="34" charset="0"/>
                <a:ea typeface="Calibri" pitchFamily="34" charset="-122"/>
                <a:cs typeface="Calibri" pitchFamily="34" charset="-120"/>
              </a:rPr>
              <a:t>Five algebraic checks (G1, G2, G2b, G2c, G2d) cost no simulation. Two forecast gates (G3, G4) each spend one simulated future, and the cycle budget allows exactly two. A package that grows the vocabulary also faces the payoff gates (G5, G5b).</a:t>
            </a:r>
            <a:endParaRPr lang="en-US" sz="1200" dirty="0"/>
          </a:p>
        </p:txBody>
      </p:sp>
      <p:sp>
        <p:nvSpPr>
          <p:cNvPr id="8507" name="H 4 · THE VERDICT"/>
          <p:cNvSpPr/>
          <p:nvPr/>
        </p:nvSpPr>
        <p:spPr>
          <a:xfrm>
            <a:off x="4983480" y="5047488"/>
            <a:ext cx="6766560" cy="237744"/>
          </a:xfrm>
          <a:prstGeom prst="rect">
            <a:avLst/>
          </a:prstGeom>
          <a:noFill/>
          <a:ln/>
        </p:spPr>
        <p:txBody>
          <a:bodyPr wrap="square" lIns="0" tIns="0" rIns="0" bIns="0" rtlCol="0" anchor="t"/>
          <a:lstStyle/>
          <a:p>
            <a:pPr marL="0" indent="0">
              <a:lnSpc>
                <a:spcPct val="102000"/>
              </a:lnSpc>
              <a:spcAft>
                <a:spcPts val="0"/>
              </a:spcAft>
              <a:buNone/>
            </a:pPr>
            <a:r>
              <a:rPr lang="en-US" sz="1200" b="1" i="0" dirty="0">
                <a:solidFill>
                  <a:srgbClr val="E31836"/>
                </a:solidFill>
                <a:latin typeface="Calibri" pitchFamily="34" charset="0"/>
                <a:ea typeface="Calibri" pitchFamily="34" charset="-122"/>
                <a:cs typeface="Calibri" pitchFamily="34" charset="-120"/>
              </a:rPr>
              <a:t>4 · THE VERDICT</a:t>
            </a:r>
            <a:endParaRPr lang="en-US" sz="1200" dirty="0"/>
          </a:p>
        </p:txBody>
      </p:sp>
      <p:sp>
        <p:nvSpPr>
          <p:cNvPr id="8508" name="B 4 · THE VERDICT"/>
          <p:cNvSpPr/>
          <p:nvPr/>
        </p:nvSpPr>
        <p:spPr>
          <a:xfrm>
            <a:off x="4983480" y="5321808"/>
            <a:ext cx="6766560" cy="960120"/>
          </a:xfrm>
          <a:prstGeom prst="rect">
            <a:avLst/>
          </a:prstGeom>
          <a:noFill/>
          <a:ln/>
        </p:spPr>
        <p:txBody>
          <a:bodyPr wrap="square" lIns="0" tIns="0" rIns="0" bIns="0" rtlCol="0" anchor="t"/>
          <a:lstStyle/>
          <a:p>
            <a:pPr marL="0" indent="0">
              <a:lnSpc>
                <a:spcPct val="102000"/>
              </a:lnSpc>
              <a:spcAft>
                <a:spcPts val="0"/>
              </a:spcAft>
              <a:buNone/>
            </a:pPr>
            <a:r>
              <a:rPr lang="en-US" sz="1200" b="0" i="0" dirty="0">
                <a:solidFill>
                  <a:srgbClr val="222222"/>
                </a:solidFill>
                <a:latin typeface="Calibri" pitchFamily="34" charset="0"/>
                <a:ea typeface="Calibri" pitchFamily="34" charset="-122"/>
                <a:cs typeface="Calibri" pitchFamily="34" charset="-120"/>
              </a:rPr>
              <a:t>An admitted candidate enters doctrine with full provenance. A rejected one is recorded with the failing gate named. Both verdicts go to the cycle chronicle and are retrieved into the next prompt, so a refused idea is not proposed twice.</a:t>
            </a:r>
            <a:endParaRPr lang="en-US" sz="1200" dirty="0"/>
          </a:p>
        </p:txBody>
      </p:sp>
      <p:sp>
        <p:nvSpPr>
          <p:cNvPr id="8509" name="Bottom line"/>
          <p:cNvSpPr/>
          <p:nvPr/>
        </p:nvSpPr>
        <p:spPr>
          <a:xfrm>
            <a:off x="4983480" y="6263640"/>
            <a:ext cx="6766560" cy="365760"/>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The model proposes. The gates decide. Nothing enters doctrine on the authority of the model.</a:t>
            </a:r>
            <a:endParaRPr lang="en-US" sz="1250" dirty="0"/>
          </a:p>
        </p:txBody>
      </p:sp>
    </p:spTree>
    <p:extLst>
      <p:ext uri="{BB962C8B-B14F-4D97-AF65-F5344CB8AC3E}">
        <p14:creationId xmlns:p14="http://schemas.microsoft.com/office/powerpoint/2010/main" val="29726152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 The Prompt, Exactly What the Model Is Given</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8502" name="Head prompt"/>
          <p:cNvSpPr/>
          <p:nvPr/>
        </p:nvSpPr>
        <p:spPr>
          <a:xfrm>
            <a:off x="7726680" y="1225296"/>
            <a:ext cx="3977640" cy="256032"/>
          </a:xfrm>
          <a:prstGeom prst="rect">
            <a:avLst/>
          </a:prstGeom>
          <a:noFill/>
          <a:ln/>
        </p:spPr>
        <p:txBody>
          <a:bodyPr wrap="square" lIns="0" tIns="0" rIns="0" bIns="0" rtlCol="0" anchor="t"/>
          <a:lstStyle/>
          <a:p>
            <a:pPr marL="0" indent="0">
              <a:lnSpc>
                <a:spcPct val="102000"/>
              </a:lnSpc>
              <a:spcAft>
                <a:spcPts val="0"/>
              </a:spcAft>
              <a:buNone/>
            </a:pPr>
            <a:r>
              <a:rPr lang="en-US" sz="1200" b="1" i="0" dirty="0">
                <a:solidFill>
                  <a:srgbClr val="E31836"/>
                </a:solidFill>
                <a:latin typeface="Calibri" pitchFamily="34" charset="0"/>
                <a:ea typeface="Calibri" pitchFamily="34" charset="-122"/>
                <a:cs typeface="Calibri" pitchFamily="34" charset="-120"/>
              </a:rPr>
              <a:t>IN THE PROMPT, EVERY CYCLE</a:t>
            </a:r>
            <a:endParaRPr lang="en-US" sz="1200" dirty="0"/>
          </a:p>
        </p:txBody>
      </p:sp>
      <p:sp>
        <p:nvSpPr>
          <p:cNvPr id="8503" name="Prompt list"/>
          <p:cNvSpPr/>
          <p:nvPr/>
        </p:nvSpPr>
        <p:spPr>
          <a:xfrm>
            <a:off x="7726680" y="1536192"/>
            <a:ext cx="3977640" cy="2651760"/>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1150" b="0" i="0" dirty="0">
                <a:solidFill>
                  <a:srgbClr val="222222"/>
                </a:solidFill>
                <a:latin typeface="Calibri" pitchFamily="34" charset="0"/>
                <a:ea typeface="Calibri" pitchFamily="34" charset="-122"/>
                <a:cs typeface="Calibri" pitchFamily="34" charset="-120"/>
              </a:rPr>
              <a:t>the gated concept activations, with their confidences</a:t>
            </a:r>
            <a:endParaRPr lang="en-US" sz="1150" dirty="0"/>
          </a:p>
          <a:p>
            <a:pPr marL="152400" indent="-152400">
              <a:lnSpc>
                <a:spcPct val="102000"/>
              </a:lnSpc>
              <a:spcAft>
                <a:spcPts val="300"/>
              </a:spcAft>
              <a:buSzPct val="100000"/>
              <a:buChar char="•"/>
            </a:pPr>
            <a:r>
              <a:rPr lang="en-US" sz="1150" b="0" i="0" dirty="0">
                <a:solidFill>
                  <a:srgbClr val="222222"/>
                </a:solidFill>
                <a:latin typeface="Calibri" pitchFamily="34" charset="0"/>
                <a:ea typeface="Calibri" pitchFamily="34" charset="-122"/>
                <a:cs typeface="Calibri" pitchFamily="34" charset="-120"/>
              </a:rPr>
              <a:t>the recent cost trajectory, and where residual cost sits on the map</a:t>
            </a:r>
            <a:endParaRPr lang="en-US" sz="1150" dirty="0"/>
          </a:p>
          <a:p>
            <a:pPr marL="152400" indent="-152400">
              <a:lnSpc>
                <a:spcPct val="102000"/>
              </a:lnSpc>
              <a:spcAft>
                <a:spcPts val="300"/>
              </a:spcAft>
              <a:buSzPct val="100000"/>
              <a:buChar char="•"/>
            </a:pPr>
            <a:r>
              <a:rPr lang="en-US" sz="1150" b="0" i="0" dirty="0">
                <a:solidFill>
                  <a:srgbClr val="222222"/>
                </a:solidFill>
                <a:latin typeface="Calibri" pitchFamily="34" charset="0"/>
                <a:ea typeface="Calibri" pitchFamily="34" charset="-122"/>
                <a:cs typeface="Calibri" pitchFamily="34" charset="-120"/>
              </a:rPr>
              <a:t>the complete current vocabulary: concepts, terms, interventions, and every learned object</a:t>
            </a:r>
            <a:endParaRPr lang="en-US" sz="1150" dirty="0"/>
          </a:p>
          <a:p>
            <a:pPr marL="152400" indent="-152400">
              <a:lnSpc>
                <a:spcPct val="102000"/>
              </a:lnSpc>
              <a:spcAft>
                <a:spcPts val="300"/>
              </a:spcAft>
              <a:buSzPct val="100000"/>
              <a:buChar char="•"/>
            </a:pPr>
            <a:r>
              <a:rPr lang="en-US" sz="1150" b="0" i="0" dirty="0">
                <a:solidFill>
                  <a:srgbClr val="222222"/>
                </a:solidFill>
                <a:latin typeface="Calibri" pitchFamily="34" charset="0"/>
                <a:ea typeface="Calibri" pitchFamily="34" charset="-122"/>
                <a:cs typeface="Calibri" pitchFamily="34" charset="-120"/>
              </a:rPr>
              <a:t>the actuator library, with map availability flags: no water, no drafting</a:t>
            </a:r>
            <a:endParaRPr lang="en-US" sz="1150" dirty="0"/>
          </a:p>
          <a:p>
            <a:pPr marL="152400" indent="-152400">
              <a:lnSpc>
                <a:spcPct val="102000"/>
              </a:lnSpc>
              <a:spcAft>
                <a:spcPts val="0"/>
              </a:spcAft>
              <a:buSzPct val="100000"/>
              <a:buChar char="•"/>
            </a:pPr>
            <a:r>
              <a:rPr lang="en-US" sz="1150" b="0" i="0" dirty="0">
                <a:solidFill>
                  <a:srgbClr val="222222"/>
                </a:solidFill>
                <a:latin typeface="Calibri" pitchFamily="34" charset="0"/>
                <a:ea typeface="Calibri" pitchFamily="34" charset="-122"/>
                <a:cs typeface="Calibri" pitchFamily="34" charset="-120"/>
              </a:rPr>
              <a:t>the nearest past cases from the chronicle, each with its verdict</a:t>
            </a:r>
            <a:endParaRPr lang="en-US" sz="1150" dirty="0"/>
          </a:p>
        </p:txBody>
      </p:sp>
      <p:sp>
        <p:nvSpPr>
          <p:cNvPr id="8504" name="Head reply"/>
          <p:cNvSpPr/>
          <p:nvPr/>
        </p:nvSpPr>
        <p:spPr>
          <a:xfrm>
            <a:off x="411480" y="4224528"/>
            <a:ext cx="11338560" cy="256032"/>
          </a:xfrm>
          <a:prstGeom prst="rect">
            <a:avLst/>
          </a:prstGeom>
          <a:noFill/>
          <a:ln/>
        </p:spPr>
        <p:txBody>
          <a:bodyPr wrap="square" lIns="0" tIns="0" rIns="0" bIns="0" rtlCol="0" anchor="t"/>
          <a:lstStyle/>
          <a:p>
            <a:pPr marL="0" indent="0">
              <a:lnSpc>
                <a:spcPct val="102000"/>
              </a:lnSpc>
              <a:spcAft>
                <a:spcPts val="0"/>
              </a:spcAft>
              <a:buNone/>
            </a:pPr>
            <a:r>
              <a:rPr lang="en-US" sz="1200" b="1" i="0" dirty="0">
                <a:solidFill>
                  <a:srgbClr val="E31836"/>
                </a:solidFill>
                <a:latin typeface="Calibri" pitchFamily="34" charset="0"/>
                <a:ea typeface="Calibri" pitchFamily="34" charset="-122"/>
                <a:cs typeface="Calibri" pitchFamily="34" charset="-120"/>
              </a:rPr>
              <a:t>THE REPLY, STATED MATHEMATICALLY</a:t>
            </a:r>
            <a:endParaRPr lang="en-US" sz="1200" dirty="0"/>
          </a:p>
        </p:txBody>
      </p:sp>
      <mc:AlternateContent xmlns:mc="http://schemas.openxmlformats.org/markup-compatibility/2006" xmlns:a14="http://schemas.microsoft.com/office/drawing/2010/main">
        <mc:Choice Requires="a14">
          <p:sp>
            <p:nvSpPr>
              <p:cNvPr id="8505" name="Eq propose"/>
              <p:cNvSpPr/>
              <p:nvPr/>
            </p:nvSpPr>
            <p:spPr>
              <a:xfrm>
                <a:off x="411480" y="4572000"/>
                <a:ext cx="2468880" cy="384048"/>
              </a:xfrm>
              <a:prstGeom prst="rect">
                <a:avLst/>
              </a:prstGeom>
              <a:noFill/>
              <a:ln/>
            </p:spPr>
            <p:txBody>
              <a:bodyPr wrap="square" lIns="0" tIns="0" rIns="0" bIns="0" rtlCol="0" anchor="t"/>
              <a:lstStyle/>
              <a:p>
                <a:pPr marL="0" indent="0">
                  <a:buNone/>
                </a:pPr>
                <a14:m>
                  <m:oMathPara xmlns:m="http://schemas.openxmlformats.org/officeDocument/2006/math">
                    <m:oMath>
                      <m:r>
                        <a:rPr lang="en-US" sz="1200">
                          <a:latin typeface="Cambria Math"/>
                        </a:rPr>
                        <m:t>𝑐</m:t>
                      </m:r>
                      <m:r>
                        <a:rPr lang="en-US" sz="1200">
                          <a:latin typeface="Cambria Math"/>
                        </a:rPr>
                        <m:t>∼</m:t>
                      </m:r>
                      <m:r>
                        <a:rPr lang="en-US" sz="1200">
                          <a:latin typeface="Cambria Math"/>
                        </a:rPr>
                        <m:t>𝑞</m:t>
                      </m:r>
                      <m:r>
                        <a:rPr lang="en-US" sz="1200">
                          <a:latin typeface="Cambria Math"/>
                        </a:rPr>
                        <m:t>(</m:t>
                      </m:r>
                      <m:r>
                        <a:rPr lang="en-US" sz="1200">
                          <a:latin typeface="Cambria Math"/>
                        </a:rPr>
                        <m:t>𝑐</m:t>
                      </m:r>
                      <m:r>
                        <a:rPr lang="en-US" sz="1200">
                          <a:latin typeface="Cambria Math"/>
                        </a:rPr>
                        <m:t>∣</m:t>
                      </m:r>
                      <m:sSub>
                        <m:sSubPr>
                          <m:ctrlPr>
                            <a:rPr lang="en-US" sz="1200">
                              <a:latin typeface="Cambria Math"/>
                            </a:rPr>
                          </m:ctrlPr>
                        </m:sSubPr>
                        <m:e>
                          <m:r>
                            <a:rPr lang="en-US" sz="1200">
                              <a:latin typeface="Cambria Math"/>
                            </a:rPr>
                            <m:t>𝑠</m:t>
                          </m:r>
                        </m:e>
                        <m:sub>
                          <m:r>
                            <a:rPr lang="en-US" sz="1200">
                              <a:latin typeface="Cambria Math"/>
                            </a:rPr>
                            <m:t>𝑘</m:t>
                          </m:r>
                        </m:sub>
                      </m:sSub>
                      <m:r>
                        <a:rPr lang="en-US" sz="1200">
                          <a:latin typeface="Cambria Math"/>
                        </a:rPr>
                        <m:t>, </m:t>
                      </m:r>
                      <m:sSub>
                        <m:sSubPr>
                          <m:ctrlPr>
                            <a:rPr lang="en-US" sz="1200">
                              <a:latin typeface="Cambria Math"/>
                            </a:rPr>
                          </m:ctrlPr>
                        </m:sSubPr>
                        <m:e>
                          <m:r>
                            <a:rPr lang="en-US" sz="1200">
                              <a:latin typeface="Cambria Math"/>
                            </a:rPr>
                            <m:t>𝑉</m:t>
                          </m:r>
                        </m:e>
                        <m:sub>
                          <m:r>
                            <a:rPr lang="en-US" sz="1200">
                              <a:latin typeface="Cambria Math"/>
                            </a:rPr>
                            <m:t>𝑘</m:t>
                          </m:r>
                        </m:sub>
                      </m:sSub>
                      <m:r>
                        <a:rPr lang="en-US" sz="1200">
                          <a:latin typeface="Cambria Math"/>
                        </a:rPr>
                        <m:t>)</m:t>
                      </m:r>
                    </m:oMath>
                  </m:oMathPara>
                </a14:m>
                <a:endParaRPr lang="en-US" sz="1400" dirty="0"/>
              </a:p>
            </p:txBody>
          </p:sp>
        </mc:Choice>
        <mc:Fallback xmlns="">
          <p:sp>
            <p:nvSpPr>
              <p:cNvPr id="8505" name="Eq propose"/>
              <p:cNvSpPr/>
              <p:nvPr/>
            </p:nvSpPr>
            <p:spPr>
              <a:xfrm>
                <a:off x="411480" y="4572000"/>
                <a:ext cx="2468880" cy="384048"/>
              </a:xfrm>
              <a:prstGeom prst="rect">
                <a:avLst/>
              </a:prstGeom>
              <a:noFill/>
              <a:ln/>
            </p:spPr>
            <p:txBody>
              <a:bodyPr wrap="square" lIns="0" tIns="0" rIns="0" bIns="0" rtlCol="0" anchor="t"/>
              <a:lstStyle/>
              <a:p>
                <a:pPr marL="0" indent="0">
                  <a:lnSpc>
                    <a:spcPct val="102000"/>
                  </a:lnSpc>
                  <a:spcAft>
                    <a:spcPts val="0"/>
                  </a:spcAft>
                  <a:buNone/>
                </a:pPr>
                <a:r>
                  <a:rPr lang="en-US" sz="1400" b="0" i="1" dirty="0">
                    <a:solidFill>
                      <a:srgbClr val="222222"/>
                    </a:solidFill>
                    <a:latin typeface="Calibri" pitchFamily="34" charset="0"/>
                    <a:ea typeface="Calibri" pitchFamily="34" charset="-122"/>
                    <a:cs typeface="Calibri" pitchFamily="34" charset="-120"/>
                  </a:rPr>
                  <a:t>c ~ q(c | s k, V k)</a:t>
                </a:r>
                <a:endParaRPr lang="en-US" sz="1400" dirty="0"/>
              </a:p>
            </p:txBody>
          </p:sp>
        </mc:Fallback>
      </mc:AlternateContent>
      <p:sp>
        <p:nvSpPr>
          <p:cNvPr id="8506" name="Eq caption"/>
          <p:cNvSpPr/>
          <p:nvPr/>
        </p:nvSpPr>
        <p:spPr>
          <a:xfrm>
            <a:off x="3108960" y="4572000"/>
            <a:ext cx="8641080" cy="548640"/>
          </a:xfrm>
          <a:prstGeom prst="rect">
            <a:avLst/>
          </a:prstGeom>
          <a:noFill/>
          <a:ln/>
        </p:spPr>
        <p:txBody>
          <a:bodyPr wrap="square" lIns="0" tIns="0" rIns="0" bIns="0" rtlCol="0" anchor="t"/>
          <a:lstStyle/>
          <a:p>
            <a:pPr marL="0" indent="0">
              <a:lnSpc>
                <a:spcPct val="102000"/>
              </a:lnSpc>
              <a:spcAft>
                <a:spcPts val="0"/>
              </a:spcAft>
              <a:buNone/>
            </a:pPr>
            <a:r>
              <a:rPr lang="en-US" sz="1150" b="0" i="0" dirty="0">
                <a:solidFill>
                  <a:srgbClr val="222222"/>
                </a:solidFill>
                <a:latin typeface="Calibri" pitchFamily="34" charset="0"/>
                <a:ea typeface="Calibri" pitchFamily="34" charset="-122"/>
                <a:cs typeface="Calibri" pitchFamily="34" charset="-120"/>
              </a:rPr>
              <a:t>one candidate is drawn per invocation. The model serves as a proposal distribution over the closed decision space, prompted in context; its weights are never updated.</a:t>
            </a:r>
            <a:endParaRPr lang="en-US" sz="1150" dirty="0"/>
          </a:p>
        </p:txBody>
      </p:sp>
      <p:sp>
        <p:nvSpPr>
          <p:cNvPr id="8507" name="Reply text"/>
          <p:cNvSpPr/>
          <p:nvPr/>
        </p:nvSpPr>
        <p:spPr>
          <a:xfrm>
            <a:off x="411480" y="5212080"/>
            <a:ext cx="11338560" cy="1417320"/>
          </a:xfrm>
          <a:prstGeom prst="rect">
            <a:avLst/>
          </a:prstGeom>
          <a:noFill/>
          <a:ln/>
        </p:spPr>
        <p:txBody>
          <a:bodyPr wrap="square" lIns="0" tIns="0" rIns="0" bIns="0" rtlCol="0" anchor="t"/>
          <a:lstStyle/>
          <a:p>
            <a:pPr marL="0" indent="0">
              <a:lnSpc>
                <a:spcPct val="102000"/>
              </a:lnSpc>
              <a:spcAft>
                <a:spcPts val="300"/>
              </a:spcAft>
              <a:buNone/>
            </a:pPr>
            <a:r>
              <a:rPr lang="en-US" sz="1150" b="0" i="0" dirty="0">
                <a:solidFill>
                  <a:srgbClr val="222222"/>
                </a:solidFill>
                <a:latin typeface="Calibri" pitchFamily="34" charset="0"/>
                <a:ea typeface="Calibri" pitchFamily="34" charset="-122"/>
                <a:cs typeface="Calibri" pitchFamily="34" charset="-120"/>
              </a:rPr>
              <a:t>The reply is one minified JSON object: at most 3 antecedents, at most 3 consequents, and optionally exactly one new object that the rule must use. Any name outside the vocabulary does not parse, so the admissible space is closed before the model ever answers.</a:t>
            </a:r>
            <a:endParaRPr lang="en-US" sz="1150" dirty="0"/>
          </a:p>
          <a:p>
            <a:pPr marL="0" indent="0">
              <a:lnSpc>
                <a:spcPct val="102000"/>
              </a:lnSpc>
              <a:spcAft>
                <a:spcPts val="300"/>
              </a:spcAft>
              <a:buNone/>
            </a:pPr>
            <a:r>
              <a:rPr lang="en-US" sz="1150" b="0" i="0" dirty="0">
                <a:solidFill>
                  <a:srgbClr val="222222"/>
                </a:solidFill>
                <a:latin typeface="Calibri" pitchFamily="34" charset="0"/>
                <a:ea typeface="Calibri" pitchFamily="34" charset="-122"/>
                <a:cs typeface="Calibri" pitchFamily="34" charset="-120"/>
              </a:rPr>
              <a:t>A fixed system instruction and a standing mission brief govern every call, under a 90 second budget: a slow call becomes a skipped stage, never a stalled decision cycle.</a:t>
            </a:r>
            <a:endParaRPr lang="en-US" sz="1150" dirty="0"/>
          </a:p>
          <a:p>
            <a:pPr marL="0" indent="0">
              <a:lnSpc>
                <a:spcPct val="102000"/>
              </a:lnSpc>
              <a:spcAft>
                <a:spcPts val="0"/>
              </a:spcAft>
              <a:buNone/>
            </a:pPr>
            <a:r>
              <a:rPr lang="en-US" sz="1200" b="1" i="0" dirty="0">
                <a:solidFill>
                  <a:srgbClr val="E31836"/>
                </a:solidFill>
                <a:latin typeface="Calibri" pitchFamily="34" charset="0"/>
                <a:ea typeface="Calibri" pitchFamily="34" charset="-122"/>
                <a:cs typeface="Calibri" pitchFamily="34" charset="-120"/>
              </a:rPr>
              <a:t>The prompt is deterministic engine output, and the reply is data to be verified. The intelligence the framework relies on is the gate chain, not the wording of the model.</a:t>
            </a:r>
            <a:endParaRPr lang="en-US" sz="1200" dirty="0"/>
          </a:p>
        </p:txBody>
      </p:sp>
      <p:pic>
        <p:nvPicPr>
          <p:cNvPr id="7" name="Picture 6">
            <a:extLst>
              <a:ext uri="{FF2B5EF4-FFF2-40B4-BE49-F238E27FC236}">
                <a16:creationId xmlns:a16="http://schemas.microsoft.com/office/drawing/2014/main" id="{EE43DE9C-33E8-8D90-BC4A-A4593B101B69}"/>
              </a:ext>
            </a:extLst>
          </p:cNvPr>
          <p:cNvPicPr>
            <a:picLocks noChangeAspect="1"/>
          </p:cNvPicPr>
          <p:nvPr/>
        </p:nvPicPr>
        <p:blipFill>
          <a:blip r:embed="rId5" cstate="print">
            <a:extLst>
              <a:ext uri="{28A0092B-C50C-407E-A947-70E740481C1C}">
                <a14:useLocalDpi xmlns:a14="http://schemas.microsoft.com/office/drawing/2010/main" val="0"/>
              </a:ext>
            </a:extLst>
          </a:blip>
          <a:srcRect r="2678" b="66065"/>
          <a:stretch>
            <a:fillRect/>
          </a:stretch>
        </p:blipFill>
        <p:spPr bwMode="auto">
          <a:xfrm>
            <a:off x="251460" y="1101971"/>
            <a:ext cx="6985768" cy="3031118"/>
          </a:xfrm>
          <a:prstGeom prst="rect">
            <a:avLst/>
          </a:prstGeom>
          <a:noFill/>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 One Invocation, Step by Step</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8501" name="Row 1"/>
          <p:cNvSpPr/>
          <p:nvPr/>
        </p:nvSpPr>
        <p:spPr>
          <a:xfrm>
            <a:off x="457200" y="1188720"/>
            <a:ext cx="11292840" cy="749808"/>
          </a:xfrm>
          <a:prstGeom prst="roundRect">
            <a:avLst>
              <a:gd name="adj" fmla="val 4000"/>
            </a:avLst>
          </a:prstGeom>
          <a:solidFill>
            <a:srgbClr val="F2F2F2"/>
          </a:solidFill>
          <a:ln>
            <a:noFill/>
          </a:ln>
        </p:spPr>
        <p:txBody>
          <a:bodyPr/>
          <a:lstStyle/>
          <a:p>
            <a:endParaRPr lang="en-US"/>
          </a:p>
        </p:txBody>
      </p:sp>
      <p:sp>
        <p:nvSpPr>
          <p:cNvPr id="8502" name="Num 1"/>
          <p:cNvSpPr/>
          <p:nvPr/>
        </p:nvSpPr>
        <p:spPr>
          <a:xfrm>
            <a:off x="694944" y="1307592"/>
            <a:ext cx="457200" cy="512064"/>
          </a:xfrm>
          <a:prstGeom prst="rect">
            <a:avLst/>
          </a:prstGeom>
          <a:noFill/>
          <a:ln/>
        </p:spPr>
        <p:txBody>
          <a:bodyPr wrap="square" lIns="0" tIns="0" rIns="0" bIns="0" rtlCol="0" anchor="t"/>
          <a:lstStyle/>
          <a:p>
            <a:pPr marL="0" indent="0">
              <a:lnSpc>
                <a:spcPct val="102000"/>
              </a:lnSpc>
              <a:spcAft>
                <a:spcPts val="0"/>
              </a:spcAft>
              <a:buNone/>
            </a:pPr>
            <a:r>
              <a:rPr lang="en-US" sz="1700" b="1" i="0" dirty="0">
                <a:solidFill>
                  <a:srgbClr val="E31836"/>
                </a:solidFill>
                <a:latin typeface="Calibri" pitchFamily="34" charset="0"/>
                <a:ea typeface="Calibri" pitchFamily="34" charset="-122"/>
                <a:cs typeface="Calibri" pitchFamily="34" charset="-120"/>
              </a:rPr>
              <a:t>1</a:t>
            </a:r>
            <a:endParaRPr lang="en-US" sz="1700" dirty="0"/>
          </a:p>
        </p:txBody>
      </p:sp>
      <p:sp>
        <p:nvSpPr>
          <p:cNvPr id="8503" name="Step 1"/>
          <p:cNvSpPr/>
          <p:nvPr/>
        </p:nvSpPr>
        <p:spPr>
          <a:xfrm>
            <a:off x="1325880" y="1280160"/>
            <a:ext cx="10195560" cy="585216"/>
          </a:xfrm>
          <a:prstGeom prst="rect">
            <a:avLst/>
          </a:prstGeom>
          <a:noFill/>
          <a:ln/>
        </p:spPr>
        <p:txBody>
          <a:bodyPr wrap="square" lIns="0" tIns="0" rIns="0" bIns="0" rtlCol="0" anchor="ctr"/>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SUMMARIZE : </a:t>
            </a:r>
            <a:r>
              <a:rPr lang="en-US" sz="1150" b="0" i="0" dirty="0">
                <a:solidFill>
                  <a:srgbClr val="222222"/>
                </a:solidFill>
                <a:latin typeface="Calibri" pitchFamily="34" charset="0"/>
                <a:ea typeface="Calibri" pitchFamily="34" charset="-122"/>
                <a:cs typeface="Calibri" pitchFamily="34" charset="-120"/>
              </a:rPr>
              <a:t>The engine assembles the deterministic prompt: the situation, the complete vocabulary, the actuator library with availability, and the nearest chronicle verdicts.</a:t>
            </a:r>
            <a:endParaRPr lang="en-US" sz="1150" dirty="0"/>
          </a:p>
        </p:txBody>
      </p:sp>
      <p:sp>
        <p:nvSpPr>
          <p:cNvPr id="8504" name="Row 2"/>
          <p:cNvSpPr/>
          <p:nvPr/>
        </p:nvSpPr>
        <p:spPr>
          <a:xfrm>
            <a:off x="457200" y="2029968"/>
            <a:ext cx="11292840" cy="749808"/>
          </a:xfrm>
          <a:prstGeom prst="roundRect">
            <a:avLst>
              <a:gd name="adj" fmla="val 4000"/>
            </a:avLst>
          </a:prstGeom>
          <a:solidFill>
            <a:srgbClr val="F2F2F2"/>
          </a:solidFill>
          <a:ln>
            <a:noFill/>
          </a:ln>
        </p:spPr>
        <p:txBody>
          <a:bodyPr/>
          <a:lstStyle/>
          <a:p>
            <a:endParaRPr lang="en-US"/>
          </a:p>
        </p:txBody>
      </p:sp>
      <p:sp>
        <p:nvSpPr>
          <p:cNvPr id="8505" name="Num 2"/>
          <p:cNvSpPr/>
          <p:nvPr/>
        </p:nvSpPr>
        <p:spPr>
          <a:xfrm>
            <a:off x="694944" y="2148840"/>
            <a:ext cx="457200" cy="512064"/>
          </a:xfrm>
          <a:prstGeom prst="rect">
            <a:avLst/>
          </a:prstGeom>
          <a:noFill/>
          <a:ln/>
        </p:spPr>
        <p:txBody>
          <a:bodyPr wrap="square" lIns="0" tIns="0" rIns="0" bIns="0" rtlCol="0" anchor="t"/>
          <a:lstStyle/>
          <a:p>
            <a:pPr marL="0" indent="0">
              <a:lnSpc>
                <a:spcPct val="102000"/>
              </a:lnSpc>
              <a:spcAft>
                <a:spcPts val="0"/>
              </a:spcAft>
              <a:buNone/>
            </a:pPr>
            <a:r>
              <a:rPr lang="en-US" sz="1700" b="1" i="0" dirty="0">
                <a:solidFill>
                  <a:srgbClr val="E31836"/>
                </a:solidFill>
                <a:latin typeface="Calibri" pitchFamily="34" charset="0"/>
                <a:ea typeface="Calibri" pitchFamily="34" charset="-122"/>
                <a:cs typeface="Calibri" pitchFamily="34" charset="-120"/>
              </a:rPr>
              <a:t>2</a:t>
            </a:r>
            <a:endParaRPr lang="en-US" sz="1700" dirty="0"/>
          </a:p>
        </p:txBody>
      </p:sp>
      <p:sp>
        <p:nvSpPr>
          <p:cNvPr id="8506" name="Step 2"/>
          <p:cNvSpPr/>
          <p:nvPr/>
        </p:nvSpPr>
        <p:spPr>
          <a:xfrm>
            <a:off x="1325880" y="2121408"/>
            <a:ext cx="10195560" cy="585216"/>
          </a:xfrm>
          <a:prstGeom prst="rect">
            <a:avLst/>
          </a:prstGeom>
          <a:noFill/>
          <a:ln/>
        </p:spPr>
        <p:txBody>
          <a:bodyPr wrap="square" lIns="0" tIns="0" rIns="0" bIns="0" rtlCol="0" anchor="ctr"/>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PROPOSE : </a:t>
            </a:r>
            <a:r>
              <a:rPr lang="en-US" sz="1150" b="0" i="0" dirty="0">
                <a:solidFill>
                  <a:srgbClr val="222222"/>
                </a:solidFill>
                <a:latin typeface="Calibri" pitchFamily="34" charset="0"/>
                <a:ea typeface="Calibri" pitchFamily="34" charset="-122"/>
                <a:cs typeface="Calibri" pitchFamily="34" charset="-120"/>
              </a:rPr>
              <a:t>One candidate is drawn from the model: one JSON rule, or one package with exactly one new object. The reply has no authority of its own.</a:t>
            </a:r>
            <a:endParaRPr lang="en-US" sz="1150" dirty="0"/>
          </a:p>
        </p:txBody>
      </p:sp>
      <p:sp>
        <p:nvSpPr>
          <p:cNvPr id="8507" name="Row 3"/>
          <p:cNvSpPr/>
          <p:nvPr/>
        </p:nvSpPr>
        <p:spPr>
          <a:xfrm>
            <a:off x="457200" y="2871216"/>
            <a:ext cx="11292840" cy="749808"/>
          </a:xfrm>
          <a:prstGeom prst="roundRect">
            <a:avLst>
              <a:gd name="adj" fmla="val 4000"/>
            </a:avLst>
          </a:prstGeom>
          <a:solidFill>
            <a:srgbClr val="F2F2F2"/>
          </a:solidFill>
          <a:ln>
            <a:noFill/>
          </a:ln>
        </p:spPr>
        <p:txBody>
          <a:bodyPr/>
          <a:lstStyle/>
          <a:p>
            <a:endParaRPr lang="en-US"/>
          </a:p>
        </p:txBody>
      </p:sp>
      <p:sp>
        <p:nvSpPr>
          <p:cNvPr id="8508" name="Num 3"/>
          <p:cNvSpPr/>
          <p:nvPr/>
        </p:nvSpPr>
        <p:spPr>
          <a:xfrm>
            <a:off x="694944" y="2990088"/>
            <a:ext cx="457200" cy="512064"/>
          </a:xfrm>
          <a:prstGeom prst="rect">
            <a:avLst/>
          </a:prstGeom>
          <a:noFill/>
          <a:ln/>
        </p:spPr>
        <p:txBody>
          <a:bodyPr wrap="square" lIns="0" tIns="0" rIns="0" bIns="0" rtlCol="0" anchor="t"/>
          <a:lstStyle/>
          <a:p>
            <a:pPr marL="0" indent="0">
              <a:lnSpc>
                <a:spcPct val="102000"/>
              </a:lnSpc>
              <a:spcAft>
                <a:spcPts val="0"/>
              </a:spcAft>
              <a:buNone/>
            </a:pPr>
            <a:r>
              <a:rPr lang="en-US" sz="1700" b="1" i="0" dirty="0">
                <a:solidFill>
                  <a:srgbClr val="E31836"/>
                </a:solidFill>
                <a:latin typeface="Calibri" pitchFamily="34" charset="0"/>
                <a:ea typeface="Calibri" pitchFamily="34" charset="-122"/>
                <a:cs typeface="Calibri" pitchFamily="34" charset="-120"/>
              </a:rPr>
              <a:t>3</a:t>
            </a:r>
            <a:endParaRPr lang="en-US" sz="1700" dirty="0"/>
          </a:p>
        </p:txBody>
      </p:sp>
      <p:sp>
        <p:nvSpPr>
          <p:cNvPr id="8509" name="Step 3"/>
          <p:cNvSpPr/>
          <p:nvPr/>
        </p:nvSpPr>
        <p:spPr>
          <a:xfrm>
            <a:off x="1325880" y="2962656"/>
            <a:ext cx="10195560" cy="585216"/>
          </a:xfrm>
          <a:prstGeom prst="rect">
            <a:avLst/>
          </a:prstGeom>
          <a:noFill/>
          <a:ln/>
        </p:spPr>
        <p:txBody>
          <a:bodyPr wrap="square" lIns="0" tIns="0" rIns="0" bIns="0" rtlCol="0" anchor="ctr"/>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SCREEN, AT ZERO COST : </a:t>
            </a:r>
            <a:r>
              <a:rPr lang="en-US" sz="1150" b="0" i="0" dirty="0">
                <a:solidFill>
                  <a:srgbClr val="222222"/>
                </a:solidFill>
                <a:latin typeface="Calibri" pitchFamily="34" charset="0"/>
                <a:ea typeface="Calibri" pitchFamily="34" charset="-122"/>
                <a:cs typeface="Calibri" pitchFamily="34" charset="-120"/>
              </a:rPr>
              <a:t>The six admissibility predicates are checked (G1, G2, G2b, G2c, G2d). A failure is returned to the model once, with the failing gate named. No simulation is spent.</a:t>
            </a:r>
            <a:endParaRPr lang="en-US" sz="1150" dirty="0"/>
          </a:p>
        </p:txBody>
      </p:sp>
      <p:sp>
        <p:nvSpPr>
          <p:cNvPr id="8510" name="Row 4"/>
          <p:cNvSpPr/>
          <p:nvPr/>
        </p:nvSpPr>
        <p:spPr>
          <a:xfrm>
            <a:off x="457200" y="3712464"/>
            <a:ext cx="11292840" cy="749808"/>
          </a:xfrm>
          <a:prstGeom prst="roundRect">
            <a:avLst>
              <a:gd name="adj" fmla="val 4000"/>
            </a:avLst>
          </a:prstGeom>
          <a:solidFill>
            <a:srgbClr val="F2F2F2"/>
          </a:solidFill>
          <a:ln>
            <a:noFill/>
          </a:ln>
        </p:spPr>
        <p:txBody>
          <a:bodyPr/>
          <a:lstStyle/>
          <a:p>
            <a:endParaRPr lang="en-US"/>
          </a:p>
        </p:txBody>
      </p:sp>
      <p:sp>
        <p:nvSpPr>
          <p:cNvPr id="8511" name="Num 4"/>
          <p:cNvSpPr/>
          <p:nvPr/>
        </p:nvSpPr>
        <p:spPr>
          <a:xfrm>
            <a:off x="694944" y="3831336"/>
            <a:ext cx="457200" cy="512064"/>
          </a:xfrm>
          <a:prstGeom prst="rect">
            <a:avLst/>
          </a:prstGeom>
          <a:noFill/>
          <a:ln/>
        </p:spPr>
        <p:txBody>
          <a:bodyPr wrap="square" lIns="0" tIns="0" rIns="0" bIns="0" rtlCol="0" anchor="t"/>
          <a:lstStyle/>
          <a:p>
            <a:pPr marL="0" indent="0">
              <a:lnSpc>
                <a:spcPct val="102000"/>
              </a:lnSpc>
              <a:spcAft>
                <a:spcPts val="0"/>
              </a:spcAft>
              <a:buNone/>
            </a:pPr>
            <a:r>
              <a:rPr lang="en-US" sz="1700" b="1" i="0" dirty="0">
                <a:solidFill>
                  <a:srgbClr val="E31836"/>
                </a:solidFill>
                <a:latin typeface="Calibri" pitchFamily="34" charset="0"/>
                <a:ea typeface="Calibri" pitchFamily="34" charset="-122"/>
                <a:cs typeface="Calibri" pitchFamily="34" charset="-120"/>
              </a:rPr>
              <a:t>4</a:t>
            </a:r>
            <a:endParaRPr lang="en-US" sz="1700" dirty="0"/>
          </a:p>
        </p:txBody>
      </p:sp>
      <p:sp>
        <p:nvSpPr>
          <p:cNvPr id="8512" name="Step 4"/>
          <p:cNvSpPr/>
          <p:nvPr/>
        </p:nvSpPr>
        <p:spPr>
          <a:xfrm>
            <a:off x="1325880" y="3803904"/>
            <a:ext cx="10195560" cy="585216"/>
          </a:xfrm>
          <a:prstGeom prst="rect">
            <a:avLst/>
          </a:prstGeom>
          <a:noFill/>
          <a:ln/>
        </p:spPr>
        <p:txBody>
          <a:bodyPr wrap="square" lIns="0" tIns="0" rIns="0" bIns="0" rtlCol="0" anchor="ctr"/>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FORECAST : </a:t>
            </a:r>
            <a:r>
              <a:rPr lang="en-US" sz="1150" b="0" i="0" dirty="0">
                <a:solidFill>
                  <a:srgbClr val="222222"/>
                </a:solidFill>
                <a:latin typeface="Calibri" pitchFamily="34" charset="0"/>
                <a:ea typeface="Calibri" pitchFamily="34" charset="-122"/>
                <a:cs typeface="Calibri" pitchFamily="34" charset="-120"/>
              </a:rPr>
              <a:t>The budget is spent: two reseeded rollouts on independent futures a and b (G3, G4). These are the only evaluations of the forecast physical cost.</a:t>
            </a:r>
            <a:endParaRPr lang="en-US" sz="1150" dirty="0"/>
          </a:p>
        </p:txBody>
      </p:sp>
      <p:sp>
        <p:nvSpPr>
          <p:cNvPr id="8513" name="Row 5"/>
          <p:cNvSpPr/>
          <p:nvPr/>
        </p:nvSpPr>
        <p:spPr>
          <a:xfrm>
            <a:off x="457200" y="4553712"/>
            <a:ext cx="11292840" cy="749808"/>
          </a:xfrm>
          <a:prstGeom prst="roundRect">
            <a:avLst>
              <a:gd name="adj" fmla="val 4000"/>
            </a:avLst>
          </a:prstGeom>
          <a:solidFill>
            <a:srgbClr val="F2F2F2"/>
          </a:solidFill>
          <a:ln>
            <a:noFill/>
          </a:ln>
        </p:spPr>
        <p:txBody>
          <a:bodyPr/>
          <a:lstStyle/>
          <a:p>
            <a:endParaRPr lang="en-US"/>
          </a:p>
        </p:txBody>
      </p:sp>
      <p:sp>
        <p:nvSpPr>
          <p:cNvPr id="8514" name="Num 5"/>
          <p:cNvSpPr/>
          <p:nvPr/>
        </p:nvSpPr>
        <p:spPr>
          <a:xfrm>
            <a:off x="694944" y="4672584"/>
            <a:ext cx="457200" cy="512064"/>
          </a:xfrm>
          <a:prstGeom prst="rect">
            <a:avLst/>
          </a:prstGeom>
          <a:noFill/>
          <a:ln/>
        </p:spPr>
        <p:txBody>
          <a:bodyPr wrap="square" lIns="0" tIns="0" rIns="0" bIns="0" rtlCol="0" anchor="t"/>
          <a:lstStyle/>
          <a:p>
            <a:pPr marL="0" indent="0">
              <a:lnSpc>
                <a:spcPct val="102000"/>
              </a:lnSpc>
              <a:spcAft>
                <a:spcPts val="0"/>
              </a:spcAft>
              <a:buNone/>
            </a:pPr>
            <a:r>
              <a:rPr lang="en-US" sz="1700" b="1" i="0" dirty="0">
                <a:solidFill>
                  <a:srgbClr val="E31836"/>
                </a:solidFill>
                <a:latin typeface="Calibri" pitchFamily="34" charset="0"/>
                <a:ea typeface="Calibri" pitchFamily="34" charset="-122"/>
                <a:cs typeface="Calibri" pitchFamily="34" charset="-120"/>
              </a:rPr>
              <a:t>5</a:t>
            </a:r>
            <a:endParaRPr lang="en-US" sz="1700" dirty="0"/>
          </a:p>
        </p:txBody>
      </p:sp>
      <p:sp>
        <p:nvSpPr>
          <p:cNvPr id="8515" name="Step 5"/>
          <p:cNvSpPr/>
          <p:nvPr/>
        </p:nvSpPr>
        <p:spPr>
          <a:xfrm>
            <a:off x="1325880" y="4645152"/>
            <a:ext cx="10195560" cy="585216"/>
          </a:xfrm>
          <a:prstGeom prst="rect">
            <a:avLst/>
          </a:prstGeom>
          <a:noFill/>
          <a:ln/>
        </p:spPr>
        <p:txBody>
          <a:bodyPr wrap="square" lIns="0" tIns="0" rIns="0" bIns="0" rtlCol="0" anchor="ctr"/>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ACCEPT : </a:t>
            </a:r>
            <a:r>
              <a:rPr lang="en-US" sz="1150" b="0" i="0" dirty="0">
                <a:solidFill>
                  <a:srgbClr val="222222"/>
                </a:solidFill>
                <a:latin typeface="Calibri" pitchFamily="34" charset="0"/>
                <a:ea typeface="Calibri" pitchFamily="34" charset="-122"/>
                <a:cs typeface="Calibri" pitchFamily="34" charset="-120"/>
              </a:rPr>
              <a:t>A rule needs a strict improvement on both futures. A package additionally faces the payoff margin (G5) and the ablation test (G5b).</a:t>
            </a:r>
            <a:endParaRPr lang="en-US" sz="1150" dirty="0"/>
          </a:p>
        </p:txBody>
      </p:sp>
      <p:sp>
        <p:nvSpPr>
          <p:cNvPr id="8516" name="Row 6"/>
          <p:cNvSpPr/>
          <p:nvPr/>
        </p:nvSpPr>
        <p:spPr>
          <a:xfrm>
            <a:off x="457200" y="5394960"/>
            <a:ext cx="11292840" cy="749808"/>
          </a:xfrm>
          <a:prstGeom prst="roundRect">
            <a:avLst>
              <a:gd name="adj" fmla="val 4000"/>
            </a:avLst>
          </a:prstGeom>
          <a:solidFill>
            <a:srgbClr val="F2F2F2"/>
          </a:solidFill>
          <a:ln>
            <a:noFill/>
          </a:ln>
        </p:spPr>
        <p:txBody>
          <a:bodyPr/>
          <a:lstStyle/>
          <a:p>
            <a:endParaRPr lang="en-US"/>
          </a:p>
        </p:txBody>
      </p:sp>
      <p:sp>
        <p:nvSpPr>
          <p:cNvPr id="8517" name="Num 6"/>
          <p:cNvSpPr/>
          <p:nvPr/>
        </p:nvSpPr>
        <p:spPr>
          <a:xfrm>
            <a:off x="694944" y="5513832"/>
            <a:ext cx="457200" cy="512064"/>
          </a:xfrm>
          <a:prstGeom prst="rect">
            <a:avLst/>
          </a:prstGeom>
          <a:noFill/>
          <a:ln/>
        </p:spPr>
        <p:txBody>
          <a:bodyPr wrap="square" lIns="0" tIns="0" rIns="0" bIns="0" rtlCol="0" anchor="t"/>
          <a:lstStyle/>
          <a:p>
            <a:pPr marL="0" indent="0">
              <a:lnSpc>
                <a:spcPct val="102000"/>
              </a:lnSpc>
              <a:spcAft>
                <a:spcPts val="0"/>
              </a:spcAft>
              <a:buNone/>
            </a:pPr>
            <a:r>
              <a:rPr lang="en-US" sz="1700" b="1" i="0" dirty="0">
                <a:solidFill>
                  <a:srgbClr val="E31836"/>
                </a:solidFill>
                <a:latin typeface="Calibri" pitchFamily="34" charset="0"/>
                <a:ea typeface="Calibri" pitchFamily="34" charset="-122"/>
                <a:cs typeface="Calibri" pitchFamily="34" charset="-120"/>
              </a:rPr>
              <a:t>6</a:t>
            </a:r>
            <a:endParaRPr lang="en-US" sz="1700" dirty="0"/>
          </a:p>
        </p:txBody>
      </p:sp>
      <p:sp>
        <p:nvSpPr>
          <p:cNvPr id="8518" name="Step 6"/>
          <p:cNvSpPr/>
          <p:nvPr/>
        </p:nvSpPr>
        <p:spPr>
          <a:xfrm>
            <a:off x="1325880" y="5486400"/>
            <a:ext cx="10195560" cy="585216"/>
          </a:xfrm>
          <a:prstGeom prst="rect">
            <a:avLst/>
          </a:prstGeom>
          <a:noFill/>
          <a:ln/>
        </p:spPr>
        <p:txBody>
          <a:bodyPr wrap="square" lIns="0" tIns="0" rIns="0" bIns="0" rtlCol="0" anchor="ctr"/>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RECORD, OR STOP : </a:t>
            </a:r>
            <a:r>
              <a:rPr lang="en-US" sz="1150" b="0" i="0" dirty="0">
                <a:solidFill>
                  <a:srgbClr val="222222"/>
                </a:solidFill>
                <a:latin typeface="Calibri" pitchFamily="34" charset="0"/>
                <a:ea typeface="Calibri" pitchFamily="34" charset="-122"/>
                <a:cs typeface="Calibri" pitchFamily="34" charset="-120"/>
              </a:rPr>
              <a:t>Admitted: the candidate enters doctrine with full provenance. Refused after a rollout: the stage ends for this cycle. Either way the chronicle records situation, proposal and verdict.</a:t>
            </a:r>
            <a:endParaRPr lang="en-US" sz="1150" dirty="0"/>
          </a:p>
        </p:txBody>
      </p:sp>
      <p:sp>
        <p:nvSpPr>
          <p:cNvPr id="8519" name="Clock line"/>
          <p:cNvSpPr/>
          <p:nvPr/>
        </p:nvSpPr>
        <p:spPr>
          <a:xfrm>
            <a:off x="502920" y="6400800"/>
            <a:ext cx="11201400" cy="347472"/>
          </a:xfrm>
          <a:prstGeom prst="rect">
            <a:avLst/>
          </a:prstGeom>
          <a:noFill/>
          <a:ln/>
        </p:spPr>
        <p:txBody>
          <a:bodyPr wrap="square" lIns="0" tIns="0" rIns="0" bIns="0" rtlCol="0" anchor="t"/>
          <a:lstStyle/>
          <a:p>
            <a:pPr marL="0" indent="0">
              <a:lnSpc>
                <a:spcPct val="102000"/>
              </a:lnSpc>
              <a:spcAft>
                <a:spcPts val="0"/>
              </a:spcAft>
              <a:buNone/>
            </a:pPr>
            <a:r>
              <a:rPr lang="en-US" sz="1150" b="1" i="0" dirty="0">
                <a:solidFill>
                  <a:srgbClr val="222222"/>
                </a:solidFill>
                <a:latin typeface="Calibri" pitchFamily="34" charset="0"/>
                <a:ea typeface="Calibri" pitchFamily="34" charset="-122"/>
                <a:cs typeface="Calibri" pitchFamily="34" charset="-120"/>
              </a:rPr>
              <a:t>Wall clock cap: 90 seconds. A slow model is a skipped stage, never a stalled decision cycle.</a:t>
            </a:r>
            <a:endParaRPr lang="en-US" sz="11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as a Formal Problem : What Any Solver Would Be Given</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8501" name="Lead"/>
          <p:cNvSpPr/>
          <p:nvPr/>
        </p:nvSpPr>
        <p:spPr>
          <a:xfrm>
            <a:off x="502920" y="1133856"/>
            <a:ext cx="11247120" cy="502920"/>
          </a:xfrm>
          <a:prstGeom prst="rect">
            <a:avLst/>
          </a:prstGeom>
          <a:noFill/>
          <a:ln/>
        </p:spPr>
        <p:txBody>
          <a:bodyPr wrap="square" lIns="0" tIns="0" rIns="0" bIns="0" rtlCol="0" anchor="t"/>
          <a:lstStyle/>
          <a:p>
            <a:pPr marL="0" indent="0">
              <a:lnSpc>
                <a:spcPct val="102000"/>
              </a:lnSpc>
              <a:spcAft>
                <a:spcPts val="0"/>
              </a:spcAft>
              <a:buNone/>
            </a:pPr>
            <a:r>
              <a:rPr lang="en-US" sz="1200" b="1" i="0" dirty="0">
                <a:solidFill>
                  <a:srgbClr val="222222"/>
                </a:solidFill>
                <a:latin typeface="Calibri" pitchFamily="34" charset="0"/>
                <a:ea typeface="Calibri" pitchFamily="34" charset="-122"/>
                <a:cs typeface="Calibri" pitchFamily="34" charset="-120"/>
              </a:rPr>
              <a:t>To hand this task to any solver, reinforcement learning, combinatorial optimization, or a language model, five things must be stated. All five are fixed by the framework; only the generator of candidates varies.</a:t>
            </a:r>
            <a:endParaRPr lang="en-US" sz="1200" dirty="0"/>
          </a:p>
        </p:txBody>
      </p:sp>
      <p:sp>
        <p:nvSpPr>
          <p:cNvPr id="8502" name="H state"/>
          <p:cNvSpPr/>
          <p:nvPr/>
        </p:nvSpPr>
        <p:spPr>
          <a:xfrm>
            <a:off x="457200" y="1755648"/>
            <a:ext cx="5486400" cy="237744"/>
          </a:xfrm>
          <a:prstGeom prst="rect">
            <a:avLst/>
          </a:prstGeom>
          <a:noFill/>
          <a:ln/>
        </p:spPr>
        <p:txBody>
          <a:bodyPr wrap="square" lIns="0" tIns="0" rIns="0" bIns="0" rtlCol="0" anchor="t"/>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1 · THE STATE, WHAT THE SOLVER SEES</a:t>
            </a:r>
            <a:endParaRPr lang="en-US" sz="1150" dirty="0"/>
          </a:p>
        </p:txBody>
      </p:sp>
      <p:sp>
        <p:nvSpPr>
          <p:cNvPr id="8503" name="B state"/>
          <p:cNvSpPr/>
          <p:nvPr/>
        </p:nvSpPr>
        <p:spPr>
          <a:xfrm>
            <a:off x="457200" y="2048256"/>
            <a:ext cx="5486400" cy="1463040"/>
          </a:xfrm>
          <a:prstGeom prst="rect">
            <a:avLst/>
          </a:prstGeom>
          <a:noFill/>
          <a:ln/>
        </p:spPr>
        <p:txBody>
          <a:bodyPr wrap="square" lIns="0" tIns="0" rIns="0" bIns="0" rtlCol="0" anchor="t"/>
          <a:lstStyle/>
          <a:p>
            <a:pPr marL="152400" indent="-152400">
              <a:lnSpc>
                <a:spcPct val="102000"/>
              </a:lnSpc>
              <a:spcAft>
                <a:spcPts val="170"/>
              </a:spcAft>
              <a:buSzPct val="100000"/>
              <a:buChar char="•"/>
            </a:pPr>
            <a:r>
              <a:rPr lang="en-US" sz="1100" b="0" i="0" dirty="0">
                <a:solidFill>
                  <a:srgbClr val="222222"/>
                </a:solidFill>
                <a:latin typeface="Calibri" pitchFamily="34" charset="0"/>
                <a:ea typeface="Calibri" pitchFamily="34" charset="-122"/>
                <a:cs typeface="Calibri" pitchFamily="34" charset="-120"/>
              </a:rPr>
              <a:t>gated concept activations, with their confidences</a:t>
            </a:r>
            <a:endParaRPr lang="en-US" sz="1100" dirty="0"/>
          </a:p>
          <a:p>
            <a:pPr marL="152400" indent="-152400">
              <a:lnSpc>
                <a:spcPct val="102000"/>
              </a:lnSpc>
              <a:spcAft>
                <a:spcPts val="170"/>
              </a:spcAft>
              <a:buSzPct val="100000"/>
              <a:buChar char="•"/>
            </a:pPr>
            <a:r>
              <a:rPr lang="en-US" sz="1100" b="0" i="0" dirty="0">
                <a:solidFill>
                  <a:srgbClr val="222222"/>
                </a:solidFill>
                <a:latin typeface="Calibri" pitchFamily="34" charset="0"/>
                <a:ea typeface="Calibri" pitchFamily="34" charset="-122"/>
                <a:cs typeface="Calibri" pitchFamily="34" charset="-120"/>
              </a:rPr>
              <a:t>the recent cost trajectory, and where residual cost sits on the map</a:t>
            </a:r>
            <a:endParaRPr lang="en-US" sz="1100" dirty="0"/>
          </a:p>
          <a:p>
            <a:pPr marL="152400" indent="-152400">
              <a:lnSpc>
                <a:spcPct val="102000"/>
              </a:lnSpc>
              <a:spcAft>
                <a:spcPts val="170"/>
              </a:spcAft>
              <a:buSzPct val="100000"/>
              <a:buChar char="•"/>
            </a:pPr>
            <a:r>
              <a:rPr lang="en-US" sz="1100" b="0" i="0" dirty="0">
                <a:solidFill>
                  <a:srgbClr val="222222"/>
                </a:solidFill>
                <a:latin typeface="Calibri" pitchFamily="34" charset="0"/>
                <a:ea typeface="Calibri" pitchFamily="34" charset="-122"/>
                <a:cs typeface="Calibri" pitchFamily="34" charset="-120"/>
              </a:rPr>
              <a:t>the vocabulary and the actuator library, with map availability</a:t>
            </a:r>
            <a:endParaRPr lang="en-US" sz="1100" dirty="0"/>
          </a:p>
          <a:p>
            <a:pPr marL="152400" indent="-152400">
              <a:lnSpc>
                <a:spcPct val="102000"/>
              </a:lnSpc>
              <a:spcAft>
                <a:spcPts val="170"/>
              </a:spcAft>
              <a:buSzPct val="100000"/>
              <a:buChar char="•"/>
            </a:pPr>
            <a:r>
              <a:rPr lang="en-US" sz="1100" b="0" i="0" dirty="0">
                <a:solidFill>
                  <a:srgbClr val="222222"/>
                </a:solidFill>
                <a:latin typeface="Calibri" pitchFamily="34" charset="0"/>
                <a:ea typeface="Calibri" pitchFamily="34" charset="-122"/>
                <a:cs typeface="Calibri" pitchFamily="34" charset="-120"/>
              </a:rPr>
              <a:t>the nearest past cases, each with its recorded verdict</a:t>
            </a:r>
            <a:endParaRPr lang="en-US" sz="1100" dirty="0"/>
          </a:p>
          <a:p>
            <a:pPr marL="0" indent="0">
              <a:lnSpc>
                <a:spcPct val="102000"/>
              </a:lnSpc>
              <a:spcAft>
                <a:spcPts val="0"/>
              </a:spcAft>
              <a:buNone/>
            </a:pPr>
            <a:r>
              <a:rPr lang="en-US" sz="1100" b="0" i="1" dirty="0">
                <a:solidFill>
                  <a:srgbClr val="6E6E6E"/>
                </a:solidFill>
                <a:latin typeface="Calibri" pitchFamily="34" charset="0"/>
                <a:ea typeface="Calibri" pitchFamily="34" charset="-122"/>
                <a:cs typeface="Calibri" pitchFamily="34" charset="-120"/>
              </a:rPr>
              <a:t>for the language model, this state is encoded verbatim as the prompt</a:t>
            </a:r>
            <a:endParaRPr lang="en-US" sz="1100" dirty="0"/>
          </a:p>
        </p:txBody>
      </p:sp>
      <p:sp>
        <p:nvSpPr>
          <p:cNvPr id="8504" name="H var"/>
          <p:cNvSpPr/>
          <p:nvPr/>
        </p:nvSpPr>
        <p:spPr>
          <a:xfrm>
            <a:off x="457200" y="3785616"/>
            <a:ext cx="5486400" cy="237744"/>
          </a:xfrm>
          <a:prstGeom prst="rect">
            <a:avLst/>
          </a:prstGeom>
          <a:noFill/>
          <a:ln/>
        </p:spPr>
        <p:txBody>
          <a:bodyPr wrap="square" lIns="0" tIns="0" rIns="0" bIns="0" rtlCol="0" anchor="t"/>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2 · THE DECISION VARIABLE, ONE CANDIDATE</a:t>
            </a:r>
            <a:endParaRPr lang="en-US" sz="1150" dirty="0"/>
          </a:p>
        </p:txBody>
      </p:sp>
      <p:sp>
        <p:nvSpPr>
          <p:cNvPr id="8505" name="B var"/>
          <p:cNvSpPr/>
          <p:nvPr/>
        </p:nvSpPr>
        <p:spPr>
          <a:xfrm>
            <a:off x="457200" y="4078224"/>
            <a:ext cx="5486400" cy="1920240"/>
          </a:xfrm>
          <a:prstGeom prst="rect">
            <a:avLst/>
          </a:prstGeom>
          <a:noFill/>
          <a:ln/>
        </p:spPr>
        <p:txBody>
          <a:bodyPr wrap="square" lIns="0" tIns="0" rIns="0" bIns="0" rtlCol="0" anchor="t"/>
          <a:lstStyle/>
          <a:p>
            <a:pPr marL="152400" indent="-152400">
              <a:lnSpc>
                <a:spcPct val="102000"/>
              </a:lnSpc>
              <a:spcAft>
                <a:spcPts val="170"/>
              </a:spcAft>
              <a:buSzPct val="100000"/>
              <a:buChar char="•"/>
            </a:pPr>
            <a:r>
              <a:rPr lang="en-US" sz="1100" b="0" i="0" dirty="0">
                <a:solidFill>
                  <a:srgbClr val="222222"/>
                </a:solidFill>
                <a:latin typeface="Calibri" pitchFamily="34" charset="0"/>
                <a:ea typeface="Calibri" pitchFamily="34" charset="-122"/>
                <a:cs typeface="Calibri" pitchFamily="34" charset="-120"/>
              </a:rPr>
              <a:t>a rule: up to 3 antecedents (concept, term) and up to 3 consequents (intervention, intensity in [0, 1])</a:t>
            </a:r>
            <a:endParaRPr lang="en-US" sz="1100" dirty="0"/>
          </a:p>
          <a:p>
            <a:pPr marL="152400" indent="-152400">
              <a:lnSpc>
                <a:spcPct val="102000"/>
              </a:lnSpc>
              <a:spcAft>
                <a:spcPts val="170"/>
              </a:spcAft>
              <a:buSzPct val="100000"/>
              <a:buChar char="•"/>
            </a:pPr>
            <a:r>
              <a:rPr lang="en-US" sz="1100" b="0" i="0" dirty="0">
                <a:solidFill>
                  <a:srgbClr val="222222"/>
                </a:solidFill>
                <a:latin typeface="Calibri" pitchFamily="34" charset="0"/>
                <a:ea typeface="Calibri" pitchFamily="34" charset="-122"/>
                <a:cs typeface="Calibri" pitchFamily="34" charset="-120"/>
              </a:rPr>
              <a:t>or a package: the rule plus exactly one new object, a concept (up to 4 weighted inputs), a macro (up to 3 weighted families), or an actuator (up to 3 clauses)</a:t>
            </a:r>
            <a:endParaRPr lang="en-US" sz="1100" dirty="0"/>
          </a:p>
          <a:p>
            <a:pPr marL="152400" indent="-152400">
              <a:lnSpc>
                <a:spcPct val="102000"/>
              </a:lnSpc>
              <a:spcAft>
                <a:spcPts val="0"/>
              </a:spcAft>
              <a:buSzPct val="100000"/>
              <a:buChar char="•"/>
            </a:pPr>
            <a:r>
              <a:rPr lang="en-US" sz="1100" b="0" i="0" dirty="0">
                <a:solidFill>
                  <a:srgbClr val="222222"/>
                </a:solidFill>
                <a:latin typeface="Calibri" pitchFamily="34" charset="0"/>
                <a:ea typeface="Calibri" pitchFamily="34" charset="-122"/>
                <a:cs typeface="Calibri" pitchFamily="34" charset="-120"/>
              </a:rPr>
              <a:t>the grammar is closed over the current vocabulary: any other reply does not parse</a:t>
            </a:r>
            <a:endParaRPr lang="en-US" sz="1100" dirty="0"/>
          </a:p>
        </p:txBody>
      </p:sp>
      <p:sp>
        <p:nvSpPr>
          <p:cNvPr id="8506" name="H obj"/>
          <p:cNvSpPr/>
          <p:nvPr/>
        </p:nvSpPr>
        <p:spPr>
          <a:xfrm>
            <a:off x="6263640" y="1755648"/>
            <a:ext cx="5486400" cy="237744"/>
          </a:xfrm>
          <a:prstGeom prst="rect">
            <a:avLst/>
          </a:prstGeom>
          <a:noFill/>
          <a:ln/>
        </p:spPr>
        <p:txBody>
          <a:bodyPr wrap="square" lIns="0" tIns="0" rIns="0" bIns="0" rtlCol="0" anchor="t"/>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3 · THE OBJECTIVE</a:t>
            </a:r>
            <a:endParaRPr lang="en-US" sz="1150" dirty="0"/>
          </a:p>
        </p:txBody>
      </p:sp>
      <mc:AlternateContent xmlns:mc="http://schemas.openxmlformats.org/markup-compatibility/2006" xmlns:a14="http://schemas.microsoft.com/office/drawing/2010/main">
        <mc:Choice Requires="a14">
          <p:sp>
            <p:nvSpPr>
              <p:cNvPr id="8507" name="Eq search"/>
              <p:cNvSpPr/>
              <p:nvPr/>
            </p:nvSpPr>
            <p:spPr>
              <a:xfrm>
                <a:off x="6263640" y="2029968"/>
                <a:ext cx="5486400" cy="457200"/>
              </a:xfrm>
              <a:prstGeom prst="rect">
                <a:avLst/>
              </a:prstGeom>
              <a:noFill/>
              <a:ln/>
            </p:spPr>
            <p:txBody>
              <a:bodyPr wrap="square" lIns="0" tIns="0" rIns="0" bIns="0" rtlCol="0" anchor="t"/>
              <a:lstStyle/>
              <a:p>
                <a:pPr marL="0" indent="0">
                  <a:buNone/>
                </a:pPr>
                <a14:m>
                  <m:oMathPara xmlns:m="http://schemas.openxmlformats.org/officeDocument/2006/math">
                    <m:oMath>
                      <m:sSup>
                        <m:sSupPr>
                          <m:ctrlPr>
                            <a:rPr lang="en-US" sz="1500">
                              <a:latin typeface="Cambria Math"/>
                            </a:rPr>
                          </m:ctrlPr>
                        </m:sSupPr>
                        <m:e>
                          <m:r>
                            <a:rPr lang="en-US" sz="1500">
                              <a:latin typeface="Cambria Math"/>
                            </a:rPr>
                            <m:t>𝑐</m:t>
                          </m:r>
                        </m:e>
                        <m:sup>
                          <m:r>
                            <a:rPr lang="en-US" sz="1500">
                              <a:latin typeface="Cambria Math"/>
                            </a:rPr>
                            <m:t>⋆</m:t>
                          </m:r>
                        </m:sup>
                      </m:sSup>
                      <m:r>
                        <a:rPr lang="en-US" sz="1500">
                          <a:latin typeface="Cambria Math"/>
                        </a:rPr>
                        <m:t> = </m:t>
                      </m:r>
                      <m:limLow>
                        <m:limLowPr>
                          <m:ctrlPr>
                            <a:rPr lang="en-US" sz="1500">
                              <a:latin typeface="Cambria Math"/>
                            </a:rPr>
                          </m:ctrlPr>
                        </m:limLowPr>
                        <m:e>
                          <m:r>
                            <a:rPr lang="en-US" sz="1500">
                              <a:latin typeface="Cambria Math"/>
                            </a:rPr>
                            <m:t>𝑎𝑟𝑔</m:t>
                          </m:r>
                          <m:r>
                            <a:rPr lang="en-US" sz="1500">
                              <a:latin typeface="Cambria Math"/>
                            </a:rPr>
                            <m:t> </m:t>
                          </m:r>
                          <m:r>
                            <a:rPr lang="en-US" sz="1500">
                              <a:latin typeface="Cambria Math"/>
                            </a:rPr>
                            <m:t>𝑚𝑖𝑛</m:t>
                          </m:r>
                        </m:e>
                        <m:lim>
                          <m:r>
                            <a:rPr lang="en-US" sz="1000">
                              <a:latin typeface="Cambria Math"/>
                            </a:rPr>
                            <m:t>𝑐</m:t>
                          </m:r>
                          <m:r>
                            <a:rPr lang="en-US" sz="1000">
                              <a:latin typeface="Cambria Math"/>
                            </a:rPr>
                            <m:t> ∈ </m:t>
                          </m:r>
                          <m:r>
                            <a:rPr lang="en-US" sz="1000">
                              <a:latin typeface="Cambria Math"/>
                            </a:rPr>
                            <m:t>𝒜</m:t>
                          </m:r>
                          <m:r>
                            <a:rPr lang="en-US" sz="1000">
                              <a:latin typeface="Cambria Math"/>
                            </a:rPr>
                            <m:t>(</m:t>
                          </m:r>
                          <m:sSub>
                            <m:sSubPr>
                              <m:ctrlPr>
                                <a:rPr lang="en-US" sz="1000">
                                  <a:latin typeface="Cambria Math"/>
                                </a:rPr>
                              </m:ctrlPr>
                            </m:sSubPr>
                            <m:e>
                              <m:r>
                                <a:rPr lang="en-US" sz="1000">
                                  <a:latin typeface="Cambria Math"/>
                                </a:rPr>
                                <m:t>𝑉</m:t>
                              </m:r>
                            </m:e>
                            <m:sub>
                              <m:r>
                                <a:rPr lang="en-US" sz="1000">
                                  <a:latin typeface="Cambria Math"/>
                                </a:rPr>
                                <m:t>𝑘</m:t>
                              </m:r>
                            </m:sub>
                          </m:sSub>
                          <m:r>
                            <a:rPr lang="en-US" sz="1000">
                              <a:latin typeface="Cambria Math"/>
                            </a:rPr>
                            <m:t>)</m:t>
                          </m:r>
                        </m:lim>
                      </m:limLow>
                      <m:r>
                        <a:rPr lang="en-US" sz="1500">
                          <a:latin typeface="Cambria Math"/>
                        </a:rPr>
                        <m:t> </m:t>
                      </m:r>
                      <m:r>
                        <a:rPr lang="en-US" sz="1500">
                          <a:latin typeface="Cambria Math"/>
                        </a:rPr>
                        <m:t>𝛥</m:t>
                      </m:r>
                      <m:sSub>
                        <m:sSubPr>
                          <m:ctrlPr>
                            <a:rPr lang="en-US" sz="1500" i="1">
                              <a:latin typeface="Cambria Math" panose="02040503050406030204" pitchFamily="18" charset="0"/>
                            </a:rPr>
                          </m:ctrlPr>
                        </m:sSubPr>
                        <m:e>
                          <m:acc>
                            <m:accPr>
                              <m:chr m:val="̂"/>
                              <m:ctrlPr>
                                <a:rPr lang="en-US" sz="1500">
                                  <a:latin typeface="Cambria Math"/>
                                </a:rPr>
                              </m:ctrlPr>
                            </m:accPr>
                            <m:e>
                              <m:r>
                                <a:rPr lang="en-US" sz="1500">
                                  <a:latin typeface="Cambria Math"/>
                                </a:rPr>
                                <m:t>𝐽</m:t>
                              </m:r>
                            </m:e>
                          </m:acc>
                        </m:e>
                        <m:sub>
                          <m:r>
                            <a:rPr lang="en-US" sz="1500">
                              <a:latin typeface="Cambria Math"/>
                            </a:rPr>
                            <m:t>𝑃ℎ𝑦</m:t>
                          </m:r>
                        </m:sub>
                      </m:sSub>
                      <m:r>
                        <a:rPr lang="en-US" sz="1500">
                          <a:latin typeface="Cambria Math"/>
                        </a:rPr>
                        <m:t>(</m:t>
                      </m:r>
                      <m:r>
                        <a:rPr lang="en-US" sz="1500">
                          <a:latin typeface="Cambria Math"/>
                        </a:rPr>
                        <m:t>𝑐</m:t>
                      </m:r>
                      <m:r>
                        <a:rPr lang="en-US" sz="1500">
                          <a:latin typeface="Cambria Math"/>
                        </a:rPr>
                        <m:t>)</m:t>
                      </m:r>
                    </m:oMath>
                  </m:oMathPara>
                </a14:m>
                <a:endParaRPr lang="en-US" sz="1300" dirty="0"/>
              </a:p>
            </p:txBody>
          </p:sp>
        </mc:Choice>
        <mc:Fallback xmlns="">
          <p:sp>
            <p:nvSpPr>
              <p:cNvPr id="8507" name="Eq search"/>
              <p:cNvSpPr/>
              <p:nvPr/>
            </p:nvSpPr>
            <p:spPr>
              <a:xfrm>
                <a:off x="6263640" y="2029968"/>
                <a:ext cx="5486400" cy="457200"/>
              </a:xfrm>
              <a:prstGeom prst="rect">
                <a:avLst/>
              </a:prstGeom>
              <a:noFill/>
              <a:ln/>
            </p:spPr>
            <p:txBody>
              <a:bodyPr wrap="square" lIns="0" tIns="0" rIns="0" bIns="0" rtlCol="0" anchor="t"/>
              <a:lstStyle/>
              <a:p>
                <a:pPr marL="0" indent="0">
                  <a:lnSpc>
                    <a:spcPct val="102000"/>
                  </a:lnSpc>
                  <a:spcAft>
                    <a:spcPts val="0"/>
                  </a:spcAft>
                  <a:buNone/>
                </a:pPr>
                <a:r>
                  <a:rPr lang="en-US" sz="1300" b="0" i="1" dirty="0">
                    <a:solidFill>
                      <a:srgbClr val="222222"/>
                    </a:solidFill>
                    <a:latin typeface="Calibri" pitchFamily="34" charset="0"/>
                    <a:ea typeface="Calibri" pitchFamily="34" charset="-122"/>
                    <a:cs typeface="Calibri" pitchFamily="34" charset="-120"/>
                  </a:rPr>
                  <a:t>c* = arg min over admissible c of Delta J Phy (c)</a:t>
                </a:r>
                <a:endParaRPr lang="en-US" sz="1300" dirty="0"/>
              </a:p>
            </p:txBody>
          </p:sp>
        </mc:Fallback>
      </mc:AlternateContent>
      <p:sp>
        <p:nvSpPr>
          <p:cNvPr id="8508" name="B obj"/>
          <p:cNvSpPr/>
          <p:nvPr/>
        </p:nvSpPr>
        <p:spPr>
          <a:xfrm>
            <a:off x="6263640" y="2560320"/>
            <a:ext cx="5486400" cy="685800"/>
          </a:xfrm>
          <a:prstGeom prst="rect">
            <a:avLst/>
          </a:prstGeom>
          <a:noFill/>
          <a:ln/>
        </p:spPr>
        <p:txBody>
          <a:bodyPr wrap="square" lIns="0" tIns="0" rIns="0" bIns="0" rtlCol="0" anchor="t"/>
          <a:lstStyle/>
          <a:p>
            <a:pPr marL="152400" indent="-152400">
              <a:lnSpc>
                <a:spcPct val="102000"/>
              </a:lnSpc>
              <a:spcAft>
                <a:spcPts val="0"/>
              </a:spcAft>
              <a:buSzPct val="100000"/>
              <a:buChar char="•"/>
            </a:pPr>
            <a:r>
              <a:rPr lang="en-US" sz="1100" b="0" i="0" dirty="0">
                <a:solidFill>
                  <a:srgbClr val="222222"/>
                </a:solidFill>
                <a:latin typeface="Calibri" pitchFamily="34" charset="0"/>
                <a:ea typeface="Calibri" pitchFamily="34" charset="-122"/>
                <a:cs typeface="Calibri" pitchFamily="34" charset="-120"/>
              </a:rPr>
              <a:t>the change in forecast burned area, asset loss and population exposure at the trial horizon; a black box, no gradient and no closed form, only the simulator</a:t>
            </a:r>
            <a:endParaRPr lang="en-US" sz="1100" dirty="0"/>
          </a:p>
        </p:txBody>
      </p:sp>
      <p:sp>
        <p:nvSpPr>
          <p:cNvPr id="8509" name="H cons"/>
          <p:cNvSpPr/>
          <p:nvPr/>
        </p:nvSpPr>
        <p:spPr>
          <a:xfrm>
            <a:off x="6263640" y="3401568"/>
            <a:ext cx="5486400" cy="237744"/>
          </a:xfrm>
          <a:prstGeom prst="rect">
            <a:avLst/>
          </a:prstGeom>
          <a:noFill/>
          <a:ln/>
        </p:spPr>
        <p:txBody>
          <a:bodyPr wrap="square" lIns="0" tIns="0" rIns="0" bIns="0" rtlCol="0" anchor="t"/>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4 · THE CONSTRAINTS, CHECKED FREE</a:t>
            </a:r>
            <a:endParaRPr lang="en-US" sz="1150" dirty="0"/>
          </a:p>
        </p:txBody>
      </p:sp>
      <p:sp>
        <p:nvSpPr>
          <p:cNvPr id="8510" name="B cons"/>
          <p:cNvSpPr/>
          <p:nvPr/>
        </p:nvSpPr>
        <p:spPr>
          <a:xfrm>
            <a:off x="6263640" y="3694176"/>
            <a:ext cx="5486400" cy="1234440"/>
          </a:xfrm>
          <a:prstGeom prst="rect">
            <a:avLst/>
          </a:prstGeom>
          <a:noFill/>
          <a:ln/>
        </p:spPr>
        <p:txBody>
          <a:bodyPr wrap="square" lIns="0" tIns="0" rIns="0" bIns="0" rtlCol="0" anchor="t"/>
          <a:lstStyle/>
          <a:p>
            <a:pPr marL="152400" indent="-152400">
              <a:lnSpc>
                <a:spcPct val="102000"/>
              </a:lnSpc>
              <a:spcAft>
                <a:spcPts val="170"/>
              </a:spcAft>
              <a:buSzPct val="100000"/>
              <a:buChar char="•"/>
            </a:pPr>
            <a:r>
              <a:rPr lang="en-US" sz="1100" b="0" i="0" dirty="0">
                <a:solidFill>
                  <a:srgbClr val="222222"/>
                </a:solidFill>
                <a:latin typeface="Calibri" pitchFamily="34" charset="0"/>
                <a:ea typeface="Calibri" pitchFamily="34" charset="-122"/>
                <a:cs typeface="Calibri" pitchFamily="34" charset="-120"/>
              </a:rPr>
              <a:t>format, closed vocabulary, arity and numeric ranges</a:t>
            </a:r>
            <a:endParaRPr lang="en-US" sz="1100" dirty="0"/>
          </a:p>
          <a:p>
            <a:pPr marL="152400" indent="-152400">
              <a:lnSpc>
                <a:spcPct val="102000"/>
              </a:lnSpc>
              <a:spcAft>
                <a:spcPts val="170"/>
              </a:spcAft>
              <a:buSzPct val="100000"/>
              <a:buChar char="•"/>
            </a:pPr>
            <a:r>
              <a:rPr lang="en-US" sz="1100" b="0" i="0" dirty="0">
                <a:solidFill>
                  <a:srgbClr val="222222"/>
                </a:solidFill>
                <a:latin typeface="Calibri" pitchFamily="34" charset="0"/>
                <a:ea typeface="Calibri" pitchFamily="34" charset="-122"/>
                <a:cs typeface="Calibri" pitchFamily="34" charset="-120"/>
              </a:rPr>
              <a:t>relevance: every antecedent must fire in the present situation</a:t>
            </a:r>
            <a:endParaRPr lang="en-US" sz="1100" dirty="0"/>
          </a:p>
          <a:p>
            <a:pPr marL="152400" indent="-152400">
              <a:lnSpc>
                <a:spcPct val="102000"/>
              </a:lnSpc>
              <a:spcAft>
                <a:spcPts val="170"/>
              </a:spcAft>
              <a:buSzPct val="100000"/>
              <a:buChar char="•"/>
            </a:pPr>
            <a:r>
              <a:rPr lang="en-US" sz="1100" b="0" i="0" dirty="0">
                <a:solidFill>
                  <a:srgbClr val="222222"/>
                </a:solidFill>
                <a:latin typeface="Calibri" pitchFamily="34" charset="0"/>
                <a:ea typeface="Calibri" pitchFamily="34" charset="-122"/>
                <a:cs typeface="Calibri" pitchFamily="34" charset="-120"/>
              </a:rPr>
              <a:t>economy: the ordered work must fit the funded budget</a:t>
            </a:r>
            <a:endParaRPr lang="en-US" sz="1100" dirty="0"/>
          </a:p>
          <a:p>
            <a:pPr marL="152400" indent="-152400">
              <a:lnSpc>
                <a:spcPct val="102000"/>
              </a:lnSpc>
              <a:spcAft>
                <a:spcPts val="0"/>
              </a:spcAft>
              <a:buSzPct val="100000"/>
              <a:buChar char="•"/>
            </a:pPr>
            <a:r>
              <a:rPr lang="en-US" sz="1100" b="0" i="0" dirty="0">
                <a:solidFill>
                  <a:srgbClr val="222222"/>
                </a:solidFill>
                <a:latin typeface="Calibri" pitchFamily="34" charset="0"/>
                <a:ea typeface="Calibri" pitchFamily="34" charset="-122"/>
                <a:cs typeface="Calibri" pitchFamily="34" charset="-120"/>
              </a:rPr>
              <a:t>novelty: a new concept must clear the cosine test against every existing one</a:t>
            </a:r>
            <a:endParaRPr lang="en-US" sz="1100" dirty="0"/>
          </a:p>
        </p:txBody>
      </p:sp>
      <p:sp>
        <p:nvSpPr>
          <p:cNvPr id="8511" name="H oracle"/>
          <p:cNvSpPr/>
          <p:nvPr/>
        </p:nvSpPr>
        <p:spPr>
          <a:xfrm>
            <a:off x="6263640" y="5138928"/>
            <a:ext cx="5486400" cy="237744"/>
          </a:xfrm>
          <a:prstGeom prst="rect">
            <a:avLst/>
          </a:prstGeom>
          <a:noFill/>
          <a:ln/>
        </p:spPr>
        <p:txBody>
          <a:bodyPr wrap="square" lIns="0" tIns="0" rIns="0" bIns="0" rtlCol="0" anchor="t"/>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5 · THE ORACLE AND THE BUDGET</a:t>
            </a:r>
            <a:endParaRPr lang="en-US" sz="1150" dirty="0"/>
          </a:p>
        </p:txBody>
      </p:sp>
      <p:sp>
        <p:nvSpPr>
          <p:cNvPr id="8512" name="B oracle"/>
          <p:cNvSpPr/>
          <p:nvPr/>
        </p:nvSpPr>
        <p:spPr>
          <a:xfrm>
            <a:off x="6263640" y="5431536"/>
            <a:ext cx="5486400" cy="731520"/>
          </a:xfrm>
          <a:prstGeom prst="rect">
            <a:avLst/>
          </a:prstGeom>
          <a:noFill/>
          <a:ln/>
        </p:spPr>
        <p:txBody>
          <a:bodyPr wrap="square" lIns="0" tIns="0" rIns="0" bIns="0" rtlCol="0" anchor="t"/>
          <a:lstStyle/>
          <a:p>
            <a:pPr marL="152400" indent="-152400">
              <a:lnSpc>
                <a:spcPct val="102000"/>
              </a:lnSpc>
              <a:spcAft>
                <a:spcPts val="170"/>
              </a:spcAft>
              <a:buSzPct val="100000"/>
              <a:buChar char="•"/>
            </a:pPr>
            <a:r>
              <a:rPr lang="en-US" sz="1100" b="0" i="0" dirty="0">
                <a:solidFill>
                  <a:srgbClr val="222222"/>
                </a:solidFill>
                <a:latin typeface="Calibri" pitchFamily="34" charset="0"/>
                <a:ea typeface="Calibri" pitchFamily="34" charset="-122"/>
                <a:cs typeface="Calibri" pitchFamily="34" charset="-120"/>
              </a:rPr>
              <a:t>the only evaluator is one reseeded rollout of the simulation core</a:t>
            </a:r>
            <a:endParaRPr lang="en-US" sz="1100" dirty="0"/>
          </a:p>
          <a:p>
            <a:pPr marL="152400" indent="-152400">
              <a:lnSpc>
                <a:spcPct val="102000"/>
              </a:lnSpc>
              <a:spcAft>
                <a:spcPts val="0"/>
              </a:spcAft>
              <a:buSzPct val="100000"/>
              <a:buChar char="•"/>
            </a:pPr>
            <a:r>
              <a:rPr lang="en-US" sz="1100" b="0" i="0" dirty="0">
                <a:solidFill>
                  <a:srgbClr val="222222"/>
                </a:solidFill>
                <a:latin typeface="Calibri" pitchFamily="34" charset="0"/>
                <a:ea typeface="Calibri" pitchFamily="34" charset="-122"/>
                <a:cs typeface="Calibri" pitchFamily="34" charset="-120"/>
              </a:rPr>
              <a:t>two rollouts per cycle, 90 seconds of wall clock</a:t>
            </a:r>
            <a:endParaRPr lang="en-US" sz="1100" dirty="0"/>
          </a:p>
        </p:txBody>
      </p:sp>
      <mc:AlternateContent xmlns:mc="http://schemas.openxmlformats.org/markup-compatibility/2006" xmlns:a14="http://schemas.microsoft.com/office/drawing/2010/main">
        <mc:Choice Requires="a14">
          <p:sp>
            <p:nvSpPr>
              <p:cNvPr id="8513" name="Eq propose"/>
              <p:cNvSpPr/>
              <p:nvPr/>
            </p:nvSpPr>
            <p:spPr>
              <a:xfrm>
                <a:off x="457200" y="6327648"/>
                <a:ext cx="2148840" cy="365760"/>
              </a:xfrm>
              <a:prstGeom prst="rect">
                <a:avLst/>
              </a:prstGeom>
              <a:noFill/>
              <a:ln/>
            </p:spPr>
            <p:txBody>
              <a:bodyPr wrap="square" lIns="0" tIns="0" rIns="0" bIns="0" rtlCol="0" anchor="t"/>
              <a:lstStyle/>
              <a:p>
                <a:pPr marL="0" indent="0">
                  <a:buNone/>
                </a:pPr>
                <a14:m>
                  <m:oMathPara xmlns:m="http://schemas.openxmlformats.org/officeDocument/2006/math">
                    <m:oMath>
                      <m:r>
                        <a:rPr lang="en-US" sz="1200">
                          <a:latin typeface="Cambria Math"/>
                        </a:rPr>
                        <m:t>𝑐</m:t>
                      </m:r>
                      <m:r>
                        <a:rPr lang="en-US" sz="1200">
                          <a:latin typeface="Cambria Math"/>
                        </a:rPr>
                        <m:t>∼</m:t>
                      </m:r>
                      <m:r>
                        <a:rPr lang="en-US" sz="1200">
                          <a:latin typeface="Cambria Math"/>
                        </a:rPr>
                        <m:t>𝑞</m:t>
                      </m:r>
                      <m:r>
                        <a:rPr lang="en-US" sz="1200">
                          <a:latin typeface="Cambria Math"/>
                        </a:rPr>
                        <m:t>(</m:t>
                      </m:r>
                      <m:r>
                        <a:rPr lang="en-US" sz="1200">
                          <a:latin typeface="Cambria Math"/>
                        </a:rPr>
                        <m:t>𝑐</m:t>
                      </m:r>
                      <m:r>
                        <a:rPr lang="en-US" sz="1200">
                          <a:latin typeface="Cambria Math"/>
                        </a:rPr>
                        <m:t>∣</m:t>
                      </m:r>
                      <m:sSub>
                        <m:sSubPr>
                          <m:ctrlPr>
                            <a:rPr lang="en-US" sz="1200">
                              <a:latin typeface="Cambria Math"/>
                            </a:rPr>
                          </m:ctrlPr>
                        </m:sSubPr>
                        <m:e>
                          <m:r>
                            <a:rPr lang="en-US" sz="1200">
                              <a:latin typeface="Cambria Math"/>
                            </a:rPr>
                            <m:t>𝑠</m:t>
                          </m:r>
                        </m:e>
                        <m:sub>
                          <m:r>
                            <a:rPr lang="en-US" sz="1200">
                              <a:latin typeface="Cambria Math"/>
                            </a:rPr>
                            <m:t>𝑘</m:t>
                          </m:r>
                        </m:sub>
                      </m:sSub>
                      <m:r>
                        <a:rPr lang="en-US" sz="1200">
                          <a:latin typeface="Cambria Math"/>
                        </a:rPr>
                        <m:t>, </m:t>
                      </m:r>
                      <m:sSub>
                        <m:sSubPr>
                          <m:ctrlPr>
                            <a:rPr lang="en-US" sz="1200">
                              <a:latin typeface="Cambria Math"/>
                            </a:rPr>
                          </m:ctrlPr>
                        </m:sSubPr>
                        <m:e>
                          <m:r>
                            <a:rPr lang="en-US" sz="1200">
                              <a:latin typeface="Cambria Math"/>
                            </a:rPr>
                            <m:t>𝑉</m:t>
                          </m:r>
                        </m:e>
                        <m:sub>
                          <m:r>
                            <a:rPr lang="en-US" sz="1200">
                              <a:latin typeface="Cambria Math"/>
                            </a:rPr>
                            <m:t>𝑘</m:t>
                          </m:r>
                        </m:sub>
                      </m:sSub>
                      <m:r>
                        <a:rPr lang="en-US" sz="1200">
                          <a:latin typeface="Cambria Math"/>
                        </a:rPr>
                        <m:t>)</m:t>
                      </m:r>
                    </m:oMath>
                  </m:oMathPara>
                </a14:m>
                <a:endParaRPr lang="en-US" sz="1300" dirty="0"/>
              </a:p>
            </p:txBody>
          </p:sp>
        </mc:Choice>
        <mc:Fallback xmlns="">
          <p:sp>
            <p:nvSpPr>
              <p:cNvPr id="8513" name="Eq propose"/>
              <p:cNvSpPr/>
              <p:nvPr/>
            </p:nvSpPr>
            <p:spPr>
              <a:xfrm>
                <a:off x="457200" y="6327648"/>
                <a:ext cx="2148840" cy="365760"/>
              </a:xfrm>
              <a:prstGeom prst="rect">
                <a:avLst/>
              </a:prstGeom>
              <a:noFill/>
              <a:ln/>
            </p:spPr>
            <p:txBody>
              <a:bodyPr wrap="square" lIns="0" tIns="0" rIns="0" bIns="0" rtlCol="0" anchor="t"/>
              <a:lstStyle/>
              <a:p>
                <a:pPr marL="0" indent="0">
                  <a:lnSpc>
                    <a:spcPct val="102000"/>
                  </a:lnSpc>
                  <a:spcAft>
                    <a:spcPts val="0"/>
                  </a:spcAft>
                  <a:buNone/>
                </a:pPr>
                <a:r>
                  <a:rPr lang="en-US" sz="1300" b="0" i="1" dirty="0">
                    <a:solidFill>
                      <a:srgbClr val="222222"/>
                    </a:solidFill>
                    <a:latin typeface="Calibri" pitchFamily="34" charset="0"/>
                    <a:ea typeface="Calibri" pitchFamily="34" charset="-122"/>
                    <a:cs typeface="Calibri" pitchFamily="34" charset="-120"/>
                  </a:rPr>
                  <a:t>c ~ q(c | s k, V k)</a:t>
                </a:r>
                <a:endParaRPr lang="en-US" sz="1300" dirty="0"/>
              </a:p>
            </p:txBody>
          </p:sp>
        </mc:Fallback>
      </mc:AlternateContent>
      <p:sp>
        <p:nvSpPr>
          <p:cNvPr id="8514" name="Bottom line"/>
          <p:cNvSpPr/>
          <p:nvPr/>
        </p:nvSpPr>
        <p:spPr>
          <a:xfrm>
            <a:off x="2788920" y="6217920"/>
            <a:ext cx="8961120" cy="621792"/>
          </a:xfrm>
          <a:prstGeom prst="rect">
            <a:avLst/>
          </a:prstGeom>
          <a:noFill/>
          <a:ln/>
        </p:spPr>
        <p:txBody>
          <a:bodyPr wrap="square" lIns="0" tIns="0" rIns="0" bIns="0" rtlCol="0" anchor="t"/>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An RL agent would learn a policy for this specification; an optimizer would search it. Here the language model implements only the sampler, and the gates implement the constraints and the objective, exactly. The proposer changes the candidates, never the test.</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 The Mathematics of Admission</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7" name="Picture 6">
            <a:extLst>
              <a:ext uri="{FF2B5EF4-FFF2-40B4-BE49-F238E27FC236}">
                <a16:creationId xmlns:a16="http://schemas.microsoft.com/office/drawing/2014/main" id="{F273D248-3BA0-2110-38B0-A00EFBC596F3}"/>
              </a:ext>
            </a:extLst>
          </p:cNvPr>
          <p:cNvPicPr>
            <a:picLocks noChangeAspect="1"/>
          </p:cNvPicPr>
          <p:nvPr/>
        </p:nvPicPr>
        <p:blipFill>
          <a:blip r:embed="rId5" cstate="print">
            <a:extLst>
              <a:ext uri="{28A0092B-C50C-407E-A947-70E740481C1C}">
                <a14:useLocalDpi xmlns:a14="http://schemas.microsoft.com/office/drawing/2010/main" val="0"/>
              </a:ext>
            </a:extLst>
          </a:blip>
          <a:srcRect t="33883"/>
          <a:stretch>
            <a:fillRect/>
          </a:stretch>
        </p:blipFill>
        <p:spPr bwMode="auto">
          <a:xfrm>
            <a:off x="104199" y="1265770"/>
            <a:ext cx="6370732" cy="5241355"/>
          </a:xfrm>
          <a:prstGeom prst="rect">
            <a:avLst/>
          </a:prstGeom>
          <a:noFill/>
        </p:spPr>
      </p:pic>
      <p:sp>
        <p:nvSpPr>
          <p:cNvPr id="9" name="H obj">
            <a:extLst>
              <a:ext uri="{FF2B5EF4-FFF2-40B4-BE49-F238E27FC236}">
                <a16:creationId xmlns:a16="http://schemas.microsoft.com/office/drawing/2014/main" id="{96862641-1690-6CD1-9C49-57B1ABF23E1D}"/>
              </a:ext>
            </a:extLst>
          </p:cNvPr>
          <p:cNvSpPr/>
          <p:nvPr/>
        </p:nvSpPr>
        <p:spPr>
          <a:xfrm>
            <a:off x="6689009" y="1115568"/>
            <a:ext cx="5285232" cy="237744"/>
          </a:xfrm>
          <a:prstGeom prst="rect">
            <a:avLst/>
          </a:prstGeom>
          <a:noFill/>
          <a:ln/>
        </p:spPr>
        <p:txBody>
          <a:bodyPr wrap="square" lIns="0" tIns="0" rIns="0" bIns="0" rtlCol="0" anchor="t"/>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THE OBJECTIVE, PRECISELY</a:t>
            </a:r>
            <a:endParaRPr lang="en-US" sz="1150" dirty="0"/>
          </a:p>
        </p:txBody>
      </p:sp>
      <mc:AlternateContent xmlns:mc="http://schemas.openxmlformats.org/markup-compatibility/2006" xmlns:a14="http://schemas.microsoft.com/office/drawing/2010/main">
        <mc:Choice Requires="a14">
          <p:sp>
            <p:nvSpPr>
              <p:cNvPr id="11" name="Eq search">
                <a:extLst>
                  <a:ext uri="{FF2B5EF4-FFF2-40B4-BE49-F238E27FC236}">
                    <a16:creationId xmlns:a16="http://schemas.microsoft.com/office/drawing/2014/main" id="{08324508-BD41-FB0C-5AA0-F8B899513431}"/>
                  </a:ext>
                </a:extLst>
              </p:cNvPr>
              <p:cNvSpPr/>
              <p:nvPr/>
            </p:nvSpPr>
            <p:spPr>
              <a:xfrm>
                <a:off x="6689009" y="1389888"/>
                <a:ext cx="5285232" cy="457200"/>
              </a:xfrm>
              <a:prstGeom prst="rect">
                <a:avLst/>
              </a:prstGeom>
              <a:noFill/>
              <a:ln/>
            </p:spPr>
            <p:txBody>
              <a:bodyPr wrap="square" lIns="0" tIns="0" rIns="0" bIns="0" rtlCol="0" anchor="t"/>
              <a:lstStyle/>
              <a:p>
                <a:pPr marL="0" indent="0">
                  <a:buNone/>
                </a:pPr>
                <a14:m>
                  <m:oMathPara xmlns:m="http://schemas.openxmlformats.org/officeDocument/2006/math">
                    <m:oMath>
                      <m:sSup>
                        <m:sSupPr>
                          <m:ctrlPr>
                            <a:rPr lang="en-US" sz="1500">
                              <a:latin typeface="Cambria Math"/>
                            </a:rPr>
                          </m:ctrlPr>
                        </m:sSupPr>
                        <m:e>
                          <m:r>
                            <a:rPr lang="en-US" sz="1500">
                              <a:latin typeface="Cambria Math"/>
                            </a:rPr>
                            <m:t>𝑐</m:t>
                          </m:r>
                        </m:e>
                        <m:sup>
                          <m:r>
                            <a:rPr lang="en-US" sz="1500">
                              <a:latin typeface="Cambria Math"/>
                            </a:rPr>
                            <m:t>⋆</m:t>
                          </m:r>
                        </m:sup>
                      </m:sSup>
                      <m:r>
                        <a:rPr lang="en-US" sz="1500">
                          <a:latin typeface="Cambria Math"/>
                        </a:rPr>
                        <m:t> = </m:t>
                      </m:r>
                      <m:limLow>
                        <m:limLowPr>
                          <m:ctrlPr>
                            <a:rPr lang="en-US" sz="1500">
                              <a:latin typeface="Cambria Math"/>
                            </a:rPr>
                          </m:ctrlPr>
                        </m:limLowPr>
                        <m:e>
                          <m:r>
                            <a:rPr lang="en-US" sz="1500">
                              <a:latin typeface="Cambria Math"/>
                            </a:rPr>
                            <m:t>𝑎𝑟𝑔</m:t>
                          </m:r>
                          <m:r>
                            <a:rPr lang="en-US" sz="1500">
                              <a:latin typeface="Cambria Math"/>
                            </a:rPr>
                            <m:t> </m:t>
                          </m:r>
                          <m:r>
                            <a:rPr lang="en-US" sz="1500">
                              <a:latin typeface="Cambria Math"/>
                            </a:rPr>
                            <m:t>𝑚𝑖𝑛</m:t>
                          </m:r>
                        </m:e>
                        <m:lim>
                          <m:r>
                            <a:rPr lang="en-US" sz="1000">
                              <a:latin typeface="Cambria Math"/>
                            </a:rPr>
                            <m:t>𝑐</m:t>
                          </m:r>
                          <m:r>
                            <a:rPr lang="en-US" sz="1000">
                              <a:latin typeface="Cambria Math"/>
                            </a:rPr>
                            <m:t> ∈ </m:t>
                          </m:r>
                          <m:r>
                            <a:rPr lang="en-US" sz="1000">
                              <a:latin typeface="Cambria Math"/>
                            </a:rPr>
                            <m:t>𝒜</m:t>
                          </m:r>
                          <m:r>
                            <a:rPr lang="en-US" sz="1000">
                              <a:latin typeface="Cambria Math"/>
                            </a:rPr>
                            <m:t>(</m:t>
                          </m:r>
                          <m:sSub>
                            <m:sSubPr>
                              <m:ctrlPr>
                                <a:rPr lang="en-US" sz="1000">
                                  <a:latin typeface="Cambria Math"/>
                                </a:rPr>
                              </m:ctrlPr>
                            </m:sSubPr>
                            <m:e>
                              <m:r>
                                <a:rPr lang="en-US" sz="1000">
                                  <a:latin typeface="Cambria Math"/>
                                </a:rPr>
                                <m:t>𝑉</m:t>
                              </m:r>
                            </m:e>
                            <m:sub>
                              <m:r>
                                <a:rPr lang="en-US" sz="1000">
                                  <a:latin typeface="Cambria Math"/>
                                </a:rPr>
                                <m:t>𝑘</m:t>
                              </m:r>
                            </m:sub>
                          </m:sSub>
                          <m:r>
                            <a:rPr lang="en-US" sz="1000">
                              <a:latin typeface="Cambria Math"/>
                            </a:rPr>
                            <m:t>)</m:t>
                          </m:r>
                        </m:lim>
                      </m:limLow>
                      <m:r>
                        <a:rPr lang="en-US" sz="1500">
                          <a:latin typeface="Cambria Math"/>
                        </a:rPr>
                        <m:t> </m:t>
                      </m:r>
                      <m:r>
                        <a:rPr lang="en-US" sz="1500">
                          <a:latin typeface="Cambria Math"/>
                        </a:rPr>
                        <m:t>𝛥</m:t>
                      </m:r>
                      <m:sSub>
                        <m:sSubPr>
                          <m:ctrlPr>
                            <a:rPr lang="en-US" sz="1500" i="1">
                              <a:latin typeface="Cambria Math" panose="02040503050406030204" pitchFamily="18" charset="0"/>
                            </a:rPr>
                          </m:ctrlPr>
                        </m:sSubPr>
                        <m:e>
                          <m:acc>
                            <m:accPr>
                              <m:chr m:val="̂"/>
                              <m:ctrlPr>
                                <a:rPr lang="en-US" sz="1500">
                                  <a:latin typeface="Cambria Math"/>
                                </a:rPr>
                              </m:ctrlPr>
                            </m:accPr>
                            <m:e>
                              <m:r>
                                <a:rPr lang="en-US" sz="1500">
                                  <a:latin typeface="Cambria Math"/>
                                </a:rPr>
                                <m:t>𝐽</m:t>
                              </m:r>
                            </m:e>
                          </m:acc>
                        </m:e>
                        <m:sub>
                          <m:r>
                            <a:rPr lang="en-US" sz="1500">
                              <a:latin typeface="Cambria Math"/>
                            </a:rPr>
                            <m:t>𝑃ℎ𝑦</m:t>
                          </m:r>
                        </m:sub>
                      </m:sSub>
                      <m:r>
                        <a:rPr lang="en-US" sz="1500">
                          <a:latin typeface="Cambria Math"/>
                        </a:rPr>
                        <m:t>(</m:t>
                      </m:r>
                      <m:r>
                        <a:rPr lang="en-US" sz="1500">
                          <a:latin typeface="Cambria Math"/>
                        </a:rPr>
                        <m:t>𝑐</m:t>
                      </m:r>
                      <m:r>
                        <a:rPr lang="en-US" sz="1500">
                          <a:latin typeface="Cambria Math"/>
                        </a:rPr>
                        <m:t>)</m:t>
                      </m:r>
                    </m:oMath>
                  </m:oMathPara>
                </a14:m>
                <a:endParaRPr lang="en-US" sz="1300" dirty="0"/>
              </a:p>
            </p:txBody>
          </p:sp>
        </mc:Choice>
        <mc:Fallback xmlns="">
          <p:sp>
            <p:nvSpPr>
              <p:cNvPr id="11" name="Eq search">
                <a:extLst>
                  <a:ext uri="{FF2B5EF4-FFF2-40B4-BE49-F238E27FC236}">
                    <a16:creationId xmlns:a16="http://schemas.microsoft.com/office/drawing/2014/main" id="{08324508-BD41-FB0C-5AA0-F8B899513431}"/>
                  </a:ext>
                </a:extLst>
              </p:cNvPr>
              <p:cNvSpPr>
                <a:spLocks noRot="1" noChangeAspect="1" noMove="1" noResize="1" noEditPoints="1" noAdjustHandles="1" noChangeArrowheads="1" noChangeShapeType="1" noTextEdit="1"/>
              </p:cNvSpPr>
              <p:nvPr/>
            </p:nvSpPr>
            <p:spPr>
              <a:xfrm>
                <a:off x="6689009" y="1389888"/>
                <a:ext cx="5285232" cy="457200"/>
              </a:xfrm>
              <a:prstGeom prst="rect">
                <a:avLst/>
              </a:prstGeom>
              <a:blipFill>
                <a:blip r:embed="rId6"/>
                <a:stretch>
                  <a:fillRect t="-9333"/>
                </a:stretch>
              </a:blipFill>
              <a:ln/>
            </p:spPr>
            <p:txBody>
              <a:bodyPr/>
              <a:lstStyle/>
              <a:p>
                <a:r>
                  <a:rPr lang="tr-TR">
                    <a:noFill/>
                  </a:rPr>
                  <a:t> </a:t>
                </a:r>
              </a:p>
            </p:txBody>
          </p:sp>
        </mc:Fallback>
      </mc:AlternateContent>
      <p:sp>
        <p:nvSpPr>
          <p:cNvPr id="13" name="B obj">
            <a:extLst>
              <a:ext uri="{FF2B5EF4-FFF2-40B4-BE49-F238E27FC236}">
                <a16:creationId xmlns:a16="http://schemas.microsoft.com/office/drawing/2014/main" id="{FDAF3BC7-4ED9-42BD-9F1A-4BBCB211B6AB}"/>
              </a:ext>
            </a:extLst>
          </p:cNvPr>
          <p:cNvSpPr/>
          <p:nvPr/>
        </p:nvSpPr>
        <p:spPr>
          <a:xfrm>
            <a:off x="6689009" y="1920240"/>
            <a:ext cx="5285232" cy="1188720"/>
          </a:xfrm>
          <a:prstGeom prst="rect">
            <a:avLst/>
          </a:prstGeom>
          <a:noFill/>
          <a:ln/>
        </p:spPr>
        <p:txBody>
          <a:bodyPr wrap="square" lIns="0" tIns="0" rIns="0" bIns="0" rtlCol="0" anchor="t"/>
          <a:lstStyle/>
          <a:p>
            <a:pPr marL="152400" indent="-152400">
              <a:lnSpc>
                <a:spcPct val="102000"/>
              </a:lnSpc>
              <a:spcAft>
                <a:spcPts val="160"/>
              </a:spcAft>
              <a:buSzPct val="100000"/>
              <a:buChar char="•"/>
            </a:pPr>
            <a:r>
              <a:rPr lang="en-US" sz="1050" b="0" i="0" dirty="0">
                <a:solidFill>
                  <a:srgbClr val="222222"/>
                </a:solidFill>
                <a:latin typeface="Calibri" pitchFamily="34" charset="0"/>
                <a:ea typeface="Calibri" pitchFamily="34" charset="-122"/>
                <a:cs typeface="Calibri" pitchFamily="34" charset="-120"/>
              </a:rPr>
              <a:t>J Phy = burned area + asset loss + population exposure, the physical part of the decision cost</a:t>
            </a:r>
            <a:endParaRPr lang="en-US" sz="1050" dirty="0"/>
          </a:p>
          <a:p>
            <a:pPr marL="152400" indent="-152400">
              <a:lnSpc>
                <a:spcPct val="102000"/>
              </a:lnSpc>
              <a:spcAft>
                <a:spcPts val="160"/>
              </a:spcAft>
              <a:buSzPct val="100000"/>
              <a:buChar char="•"/>
            </a:pPr>
            <a:r>
              <a:rPr lang="en-US" sz="1050" b="0" i="0" dirty="0">
                <a:solidFill>
                  <a:srgbClr val="222222"/>
                </a:solidFill>
                <a:latin typeface="Calibri" pitchFamily="34" charset="0"/>
                <a:ea typeface="Calibri" pitchFamily="34" charset="-122"/>
                <a:cs typeface="Calibri" pitchFamily="34" charset="-120"/>
              </a:rPr>
              <a:t>ΔJ Phy(c): the forecast with c minus the forecast without c, on a shadow copy of the simulator, at the trial horizon</a:t>
            </a:r>
            <a:endParaRPr lang="en-US" sz="1050" dirty="0"/>
          </a:p>
          <a:p>
            <a:pPr marL="152400" indent="-152400">
              <a:lnSpc>
                <a:spcPct val="102000"/>
              </a:lnSpc>
              <a:spcAft>
                <a:spcPts val="0"/>
              </a:spcAft>
              <a:buSzPct val="100000"/>
              <a:buChar char="•"/>
            </a:pPr>
            <a:r>
              <a:rPr lang="en-US" sz="1050" b="0" i="0" dirty="0">
                <a:solidFill>
                  <a:srgbClr val="222222"/>
                </a:solidFill>
                <a:latin typeface="Calibri" pitchFamily="34" charset="0"/>
                <a:ea typeface="Calibri" pitchFamily="34" charset="-122"/>
                <a:cs typeface="Calibri" pitchFamily="34" charset="-120"/>
              </a:rPr>
              <a:t>one evaluation = one reseeded rollout; the cycle budget allows exactly two</a:t>
            </a:r>
            <a:endParaRPr lang="en-US" sz="1050" dirty="0"/>
          </a:p>
        </p:txBody>
      </p:sp>
      <p:sp>
        <p:nvSpPr>
          <p:cNvPr id="15" name="H rule">
            <a:extLst>
              <a:ext uri="{FF2B5EF4-FFF2-40B4-BE49-F238E27FC236}">
                <a16:creationId xmlns:a16="http://schemas.microsoft.com/office/drawing/2014/main" id="{F58AEF9C-A8F8-DD7F-5C10-68582E3AF204}"/>
              </a:ext>
            </a:extLst>
          </p:cNvPr>
          <p:cNvSpPr/>
          <p:nvPr/>
        </p:nvSpPr>
        <p:spPr>
          <a:xfrm>
            <a:off x="6689009" y="3236976"/>
            <a:ext cx="5285232" cy="237744"/>
          </a:xfrm>
          <a:prstGeom prst="rect">
            <a:avLst/>
          </a:prstGeom>
          <a:noFill/>
          <a:ln/>
        </p:spPr>
        <p:txBody>
          <a:bodyPr wrap="square" lIns="0" tIns="0" rIns="0" bIns="0" rtlCol="0" anchor="t"/>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THE RULE TEST (G3, G4)</a:t>
            </a:r>
            <a:endParaRPr lang="en-US" sz="1150" dirty="0"/>
          </a:p>
        </p:txBody>
      </p:sp>
      <mc:AlternateContent xmlns:mc="http://schemas.openxmlformats.org/markup-compatibility/2006" xmlns:a14="http://schemas.microsoft.com/office/drawing/2010/main">
        <mc:Choice Requires="a14">
          <p:sp>
            <p:nvSpPr>
              <p:cNvPr id="17" name="Eq strict">
                <a:extLst>
                  <a:ext uri="{FF2B5EF4-FFF2-40B4-BE49-F238E27FC236}">
                    <a16:creationId xmlns:a16="http://schemas.microsoft.com/office/drawing/2014/main" id="{8DB483BC-C084-99AE-5B61-11AD8CC504E3}"/>
                  </a:ext>
                </a:extLst>
              </p:cNvPr>
              <p:cNvSpPr/>
              <p:nvPr/>
            </p:nvSpPr>
            <p:spPr>
              <a:xfrm>
                <a:off x="6689009" y="3511296"/>
                <a:ext cx="5285232" cy="384048"/>
              </a:xfrm>
              <a:prstGeom prst="rect">
                <a:avLst/>
              </a:prstGeom>
              <a:noFill/>
              <a:ln/>
            </p:spPr>
            <p:txBody>
              <a:bodyPr wrap="square" lIns="0" tIns="0" rIns="0" bIns="0" rtlCol="0" anchor="t"/>
              <a:lstStyle/>
              <a:p>
                <a:pPr marL="0" indent="0">
                  <a:buNone/>
                </a:pPr>
                <a14:m>
                  <m:oMathPara xmlns:m="http://schemas.openxmlformats.org/officeDocument/2006/math">
                    <m:oMath>
                      <m:r>
                        <a:rPr lang="en-US" sz="1300">
                          <a:latin typeface="Cambria Math"/>
                        </a:rPr>
                        <m:t>𝛥</m:t>
                      </m:r>
                      <m:sSubSup>
                        <m:sSubSupPr>
                          <m:ctrlPr>
                            <a:rPr lang="en-US" sz="1300" i="1">
                              <a:latin typeface="Cambria Math" panose="02040503050406030204" pitchFamily="18" charset="0"/>
                            </a:rPr>
                          </m:ctrlPr>
                        </m:sSubSupPr>
                        <m:e>
                          <m:acc>
                            <m:accPr>
                              <m:chr m:val="̂"/>
                              <m:ctrlPr>
                                <a:rPr lang="en-US" sz="1300">
                                  <a:latin typeface="Cambria Math"/>
                                </a:rPr>
                              </m:ctrlPr>
                            </m:accPr>
                            <m:e>
                              <m:r>
                                <a:rPr lang="en-US" sz="1300">
                                  <a:latin typeface="Cambria Math"/>
                                </a:rPr>
                                <m:t>𝐽</m:t>
                              </m:r>
                            </m:e>
                          </m:acc>
                        </m:e>
                        <m:sub>
                          <m:r>
                            <a:rPr lang="en-US" sz="1300">
                              <a:latin typeface="Cambria Math"/>
                            </a:rPr>
                            <m:t>𝑃ℎ𝑦</m:t>
                          </m:r>
                        </m:sub>
                        <m:sup>
                          <m:r>
                            <a:rPr lang="en-US" sz="1300">
                              <a:latin typeface="Cambria Math"/>
                            </a:rPr>
                            <m:t>(</m:t>
                          </m:r>
                          <m:r>
                            <a:rPr lang="en-US" sz="1300">
                              <a:latin typeface="Cambria Math"/>
                            </a:rPr>
                            <m:t>𝑎</m:t>
                          </m:r>
                          <m:r>
                            <a:rPr lang="en-US" sz="1300">
                              <a:latin typeface="Cambria Math"/>
                            </a:rPr>
                            <m:t>)</m:t>
                          </m:r>
                        </m:sup>
                      </m:sSubSup>
                      <m:r>
                        <a:rPr lang="en-US" sz="1300">
                          <a:latin typeface="Cambria Math"/>
                        </a:rPr>
                        <m:t>(</m:t>
                      </m:r>
                      <m:r>
                        <a:rPr lang="en-US" sz="1300">
                          <a:latin typeface="Cambria Math"/>
                        </a:rPr>
                        <m:t>𝑐</m:t>
                      </m:r>
                      <m:r>
                        <a:rPr lang="en-US" sz="1300">
                          <a:latin typeface="Cambria Math"/>
                        </a:rPr>
                        <m:t>) &lt; 0    ∧    </m:t>
                      </m:r>
                      <m:r>
                        <a:rPr lang="en-US" sz="1300">
                          <a:latin typeface="Cambria Math"/>
                        </a:rPr>
                        <m:t>𝛥</m:t>
                      </m:r>
                      <m:sSubSup>
                        <m:sSubSupPr>
                          <m:ctrlPr>
                            <a:rPr lang="en-US" sz="1300" i="1">
                              <a:latin typeface="Cambria Math" panose="02040503050406030204" pitchFamily="18" charset="0"/>
                            </a:rPr>
                          </m:ctrlPr>
                        </m:sSubSupPr>
                        <m:e>
                          <m:acc>
                            <m:accPr>
                              <m:chr m:val="̂"/>
                              <m:ctrlPr>
                                <a:rPr lang="en-US" sz="1300">
                                  <a:latin typeface="Cambria Math"/>
                                </a:rPr>
                              </m:ctrlPr>
                            </m:accPr>
                            <m:e>
                              <m:r>
                                <a:rPr lang="en-US" sz="1300">
                                  <a:latin typeface="Cambria Math"/>
                                </a:rPr>
                                <m:t>𝐽</m:t>
                              </m:r>
                            </m:e>
                          </m:acc>
                        </m:e>
                        <m:sub>
                          <m:r>
                            <a:rPr lang="en-US" sz="1300">
                              <a:latin typeface="Cambria Math"/>
                            </a:rPr>
                            <m:t>𝑃ℎ𝑦</m:t>
                          </m:r>
                        </m:sub>
                        <m:sup>
                          <m:r>
                            <a:rPr lang="en-US" sz="1300">
                              <a:latin typeface="Cambria Math"/>
                            </a:rPr>
                            <m:t>(</m:t>
                          </m:r>
                          <m:r>
                            <a:rPr lang="en-US" sz="1300">
                              <a:latin typeface="Cambria Math"/>
                            </a:rPr>
                            <m:t>𝑏</m:t>
                          </m:r>
                          <m:r>
                            <a:rPr lang="en-US" sz="1300">
                              <a:latin typeface="Cambria Math"/>
                            </a:rPr>
                            <m:t>)</m:t>
                          </m:r>
                        </m:sup>
                      </m:sSubSup>
                      <m:r>
                        <a:rPr lang="en-US" sz="1300">
                          <a:latin typeface="Cambria Math"/>
                        </a:rPr>
                        <m:t>(</m:t>
                      </m:r>
                      <m:r>
                        <a:rPr lang="en-US" sz="1300">
                          <a:latin typeface="Cambria Math"/>
                        </a:rPr>
                        <m:t>𝑐</m:t>
                      </m:r>
                      <m:r>
                        <a:rPr lang="en-US" sz="1300">
                          <a:latin typeface="Cambria Math"/>
                        </a:rPr>
                        <m:t>) &lt; 0</m:t>
                      </m:r>
                    </m:oMath>
                  </m:oMathPara>
                </a14:m>
                <a:endParaRPr lang="en-US" sz="1300" dirty="0"/>
              </a:p>
            </p:txBody>
          </p:sp>
        </mc:Choice>
        <mc:Fallback xmlns="">
          <p:sp>
            <p:nvSpPr>
              <p:cNvPr id="17" name="Eq strict">
                <a:extLst>
                  <a:ext uri="{FF2B5EF4-FFF2-40B4-BE49-F238E27FC236}">
                    <a16:creationId xmlns:a16="http://schemas.microsoft.com/office/drawing/2014/main" id="{8DB483BC-C084-99AE-5B61-11AD8CC504E3}"/>
                  </a:ext>
                </a:extLst>
              </p:cNvPr>
              <p:cNvSpPr>
                <a:spLocks noRot="1" noChangeAspect="1" noMove="1" noResize="1" noEditPoints="1" noAdjustHandles="1" noChangeArrowheads="1" noChangeShapeType="1" noTextEdit="1"/>
              </p:cNvSpPr>
              <p:nvPr/>
            </p:nvSpPr>
            <p:spPr>
              <a:xfrm>
                <a:off x="6689009" y="3511296"/>
                <a:ext cx="5285232" cy="384048"/>
              </a:xfrm>
              <a:prstGeom prst="rect">
                <a:avLst/>
              </a:prstGeom>
              <a:blipFill>
                <a:blip r:embed="rId7"/>
                <a:stretch>
                  <a:fillRect t="-1587"/>
                </a:stretch>
              </a:blipFill>
              <a:ln/>
            </p:spPr>
            <p:txBody>
              <a:bodyPr/>
              <a:lstStyle/>
              <a:p>
                <a:r>
                  <a:rPr lang="tr-TR">
                    <a:noFill/>
                  </a:rPr>
                  <a:t> </a:t>
                </a:r>
              </a:p>
            </p:txBody>
          </p:sp>
        </mc:Fallback>
      </mc:AlternateContent>
      <p:sp>
        <p:nvSpPr>
          <p:cNvPr id="19" name="B rule">
            <a:extLst>
              <a:ext uri="{FF2B5EF4-FFF2-40B4-BE49-F238E27FC236}">
                <a16:creationId xmlns:a16="http://schemas.microsoft.com/office/drawing/2014/main" id="{A9CB4E6E-D858-BEAB-AFFC-5255B1D713A2}"/>
              </a:ext>
            </a:extLst>
          </p:cNvPr>
          <p:cNvSpPr/>
          <p:nvPr/>
        </p:nvSpPr>
        <p:spPr>
          <a:xfrm>
            <a:off x="6689009" y="3950208"/>
            <a:ext cx="5285232" cy="685800"/>
          </a:xfrm>
          <a:prstGeom prst="rect">
            <a:avLst/>
          </a:prstGeom>
          <a:noFill/>
          <a:ln/>
        </p:spPr>
        <p:txBody>
          <a:bodyPr wrap="square" lIns="0" tIns="0" rIns="0" bIns="0" rtlCol="0" anchor="t"/>
          <a:lstStyle/>
          <a:p>
            <a:pPr marL="152400" indent="-152400">
              <a:lnSpc>
                <a:spcPct val="102000"/>
              </a:lnSpc>
              <a:spcAft>
                <a:spcPts val="160"/>
              </a:spcAft>
              <a:buSzPct val="100000"/>
              <a:buChar char="•"/>
            </a:pPr>
            <a:r>
              <a:rPr lang="en-US" sz="1050" b="0" i="0" dirty="0">
                <a:solidFill>
                  <a:srgbClr val="222222"/>
                </a:solidFill>
                <a:latin typeface="Calibri" pitchFamily="34" charset="0"/>
                <a:ea typeface="Calibri" pitchFamily="34" charset="-122"/>
                <a:cs typeface="Calibri" pitchFamily="34" charset="-120"/>
              </a:rPr>
              <a:t>seeds a and b draw two independent futures of weather and spread</a:t>
            </a:r>
            <a:endParaRPr lang="en-US" sz="1050" dirty="0"/>
          </a:p>
          <a:p>
            <a:pPr marL="152400" indent="-152400">
              <a:lnSpc>
                <a:spcPct val="102000"/>
              </a:lnSpc>
              <a:spcAft>
                <a:spcPts val="0"/>
              </a:spcAft>
              <a:buSzPct val="100000"/>
              <a:buChar char="•"/>
            </a:pPr>
            <a:r>
              <a:rPr lang="en-US" sz="1050" b="0" i="0" dirty="0">
                <a:solidFill>
                  <a:srgbClr val="222222"/>
                </a:solidFill>
                <a:latin typeface="Calibri" pitchFamily="34" charset="0"/>
                <a:ea typeface="Calibri" pitchFamily="34" charset="-122"/>
                <a:cs typeface="Calibri" pitchFamily="34" charset="-120"/>
              </a:rPr>
              <a:t>strict decrease on both: a gain that only one future flatters is refused</a:t>
            </a:r>
            <a:endParaRPr lang="en-US" sz="1050" dirty="0"/>
          </a:p>
        </p:txBody>
      </p:sp>
      <p:sp>
        <p:nvSpPr>
          <p:cNvPr id="21" name="H pkg">
            <a:extLst>
              <a:ext uri="{FF2B5EF4-FFF2-40B4-BE49-F238E27FC236}">
                <a16:creationId xmlns:a16="http://schemas.microsoft.com/office/drawing/2014/main" id="{997C3138-D208-D1EE-A855-0045D1134194}"/>
              </a:ext>
            </a:extLst>
          </p:cNvPr>
          <p:cNvSpPr/>
          <p:nvPr/>
        </p:nvSpPr>
        <p:spPr>
          <a:xfrm>
            <a:off x="6689009" y="4773168"/>
            <a:ext cx="5285232" cy="237744"/>
          </a:xfrm>
          <a:prstGeom prst="rect">
            <a:avLst/>
          </a:prstGeom>
          <a:noFill/>
          <a:ln/>
        </p:spPr>
        <p:txBody>
          <a:bodyPr wrap="square" lIns="0" tIns="0" rIns="0" bIns="0" rtlCol="0" anchor="t"/>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THE PACKAGE TEST (G5, G5b)</a:t>
            </a:r>
            <a:endParaRPr lang="en-US" sz="1150" dirty="0"/>
          </a:p>
        </p:txBody>
      </p:sp>
      <mc:AlternateContent xmlns:mc="http://schemas.openxmlformats.org/markup-compatibility/2006" xmlns:a14="http://schemas.microsoft.com/office/drawing/2010/main">
        <mc:Choice Requires="a14">
          <p:sp>
            <p:nvSpPr>
              <p:cNvPr id="23" name="Eq margin">
                <a:extLst>
                  <a:ext uri="{FF2B5EF4-FFF2-40B4-BE49-F238E27FC236}">
                    <a16:creationId xmlns:a16="http://schemas.microsoft.com/office/drawing/2014/main" id="{1FB8141F-9537-AC90-A59C-966195EDE452}"/>
                  </a:ext>
                </a:extLst>
              </p:cNvPr>
              <p:cNvSpPr/>
              <p:nvPr/>
            </p:nvSpPr>
            <p:spPr>
              <a:xfrm>
                <a:off x="6689009" y="5047488"/>
                <a:ext cx="2331720" cy="384048"/>
              </a:xfrm>
              <a:prstGeom prst="rect">
                <a:avLst/>
              </a:prstGeom>
              <a:noFill/>
              <a:ln/>
            </p:spPr>
            <p:txBody>
              <a:bodyPr wrap="square" lIns="0" tIns="0" rIns="0" bIns="0" rtlCol="0" anchor="t"/>
              <a:lstStyle/>
              <a:p>
                <a:pPr marL="0" indent="0">
                  <a:buNone/>
                </a:pPr>
                <a14:m>
                  <m:oMathPara xmlns:m="http://schemas.openxmlformats.org/officeDocument/2006/math">
                    <m:oMath>
                      <m:r>
                        <a:rPr lang="en-US" sz="1300">
                          <a:latin typeface="Cambria Math"/>
                        </a:rPr>
                        <m:t>𝛥</m:t>
                      </m:r>
                      <m:sSubSup>
                        <m:sSubSupPr>
                          <m:ctrlPr>
                            <a:rPr lang="en-US" sz="1300" i="1">
                              <a:latin typeface="Cambria Math" panose="02040503050406030204" pitchFamily="18" charset="0"/>
                            </a:rPr>
                          </m:ctrlPr>
                        </m:sSubSupPr>
                        <m:e>
                          <m:acc>
                            <m:accPr>
                              <m:chr m:val="̂"/>
                              <m:ctrlPr>
                                <a:rPr lang="en-US" sz="1300">
                                  <a:latin typeface="Cambria Math"/>
                                </a:rPr>
                              </m:ctrlPr>
                            </m:accPr>
                            <m:e>
                              <m:r>
                                <a:rPr lang="en-US" sz="1300">
                                  <a:latin typeface="Cambria Math"/>
                                </a:rPr>
                                <m:t>𝐽</m:t>
                              </m:r>
                            </m:e>
                          </m:acc>
                        </m:e>
                        <m:sub>
                          <m:r>
                            <a:rPr lang="en-US" sz="1300">
                              <a:latin typeface="Cambria Math"/>
                            </a:rPr>
                            <m:t>𝑃ℎ𝑦</m:t>
                          </m:r>
                        </m:sub>
                        <m:sup>
                          <m:r>
                            <a:rPr lang="en-US" sz="1300">
                              <a:latin typeface="Cambria Math"/>
                            </a:rPr>
                            <m:t>(</m:t>
                          </m:r>
                          <m:r>
                            <a:rPr lang="en-US" sz="1300">
                              <a:latin typeface="Cambria Math"/>
                            </a:rPr>
                            <m:t>𝑎</m:t>
                          </m:r>
                          <m:r>
                            <a:rPr lang="en-US" sz="1300">
                              <a:latin typeface="Cambria Math"/>
                            </a:rPr>
                            <m:t>,</m:t>
                          </m:r>
                          <m:r>
                            <a:rPr lang="en-US" sz="1300">
                              <a:latin typeface="Cambria Math"/>
                            </a:rPr>
                            <m:t>𝑏</m:t>
                          </m:r>
                          <m:r>
                            <a:rPr lang="en-US" sz="1300">
                              <a:latin typeface="Cambria Math"/>
                            </a:rPr>
                            <m:t>)</m:t>
                          </m:r>
                        </m:sup>
                      </m:sSubSup>
                      <m:r>
                        <a:rPr lang="en-US" sz="1300">
                          <a:latin typeface="Cambria Math"/>
                        </a:rPr>
                        <m:t>(</m:t>
                      </m:r>
                      <m:r>
                        <a:rPr lang="en-US" sz="1300">
                          <a:latin typeface="Cambria Math"/>
                        </a:rPr>
                        <m:t>𝑐</m:t>
                      </m:r>
                      <m:r>
                        <a:rPr lang="en-US" sz="1300">
                          <a:latin typeface="Cambria Math"/>
                        </a:rPr>
                        <m:t>) ≤ −</m:t>
                      </m:r>
                      <m:sSub>
                        <m:sSubPr>
                          <m:ctrlPr>
                            <a:rPr lang="en-US" sz="1300">
                              <a:latin typeface="Cambria Math"/>
                            </a:rPr>
                          </m:ctrlPr>
                        </m:sSubPr>
                        <m:e>
                          <m:r>
                            <a:rPr lang="en-US" sz="1300">
                              <a:latin typeface="Cambria Math"/>
                            </a:rPr>
                            <m:t>𝛿</m:t>
                          </m:r>
                        </m:e>
                        <m:sub>
                          <m:r>
                            <a:rPr lang="en-US" sz="1300">
                              <a:latin typeface="Cambria Math"/>
                            </a:rPr>
                            <m:t>𝑣</m:t>
                          </m:r>
                        </m:sub>
                      </m:sSub>
                    </m:oMath>
                  </m:oMathPara>
                </a14:m>
                <a:endParaRPr lang="en-US" sz="1300" dirty="0"/>
              </a:p>
            </p:txBody>
          </p:sp>
        </mc:Choice>
        <mc:Fallback xmlns="">
          <p:sp>
            <p:nvSpPr>
              <p:cNvPr id="23" name="Eq margin">
                <a:extLst>
                  <a:ext uri="{FF2B5EF4-FFF2-40B4-BE49-F238E27FC236}">
                    <a16:creationId xmlns:a16="http://schemas.microsoft.com/office/drawing/2014/main" id="{1FB8141F-9537-AC90-A59C-966195EDE452}"/>
                  </a:ext>
                </a:extLst>
              </p:cNvPr>
              <p:cNvSpPr>
                <a:spLocks noRot="1" noChangeAspect="1" noMove="1" noResize="1" noEditPoints="1" noAdjustHandles="1" noChangeArrowheads="1" noChangeShapeType="1" noTextEdit="1"/>
              </p:cNvSpPr>
              <p:nvPr/>
            </p:nvSpPr>
            <p:spPr>
              <a:xfrm>
                <a:off x="6689009" y="5047488"/>
                <a:ext cx="2331720" cy="384048"/>
              </a:xfrm>
              <a:prstGeom prst="rect">
                <a:avLst/>
              </a:prstGeom>
              <a:blipFill>
                <a:blip r:embed="rId8"/>
                <a:stretch>
                  <a:fillRect t="-1587"/>
                </a:stretch>
              </a:blipFill>
              <a:ln/>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25" name="Eq ablate">
                <a:extLst>
                  <a:ext uri="{FF2B5EF4-FFF2-40B4-BE49-F238E27FC236}">
                    <a16:creationId xmlns:a16="http://schemas.microsoft.com/office/drawing/2014/main" id="{A841EB77-DE08-E984-DCF2-0EF951EBC001}"/>
                  </a:ext>
                </a:extLst>
              </p:cNvPr>
              <p:cNvSpPr/>
              <p:nvPr/>
            </p:nvSpPr>
            <p:spPr>
              <a:xfrm>
                <a:off x="9157889" y="5047488"/>
                <a:ext cx="2788920" cy="384048"/>
              </a:xfrm>
              <a:prstGeom prst="rect">
                <a:avLst/>
              </a:prstGeom>
              <a:noFill/>
              <a:ln/>
            </p:spPr>
            <p:txBody>
              <a:bodyPr wrap="square" lIns="0" tIns="0" rIns="0" bIns="0" rtlCol="0" anchor="t"/>
              <a:lstStyle/>
              <a:p>
                <a:pPr marL="0" indent="0">
                  <a:buNone/>
                </a:pPr>
                <a14:m>
                  <m:oMathPara xmlns:m="http://schemas.openxmlformats.org/officeDocument/2006/math">
                    <m:oMath>
                      <m:r>
                        <a:rPr lang="en-US" sz="1300">
                          <a:latin typeface="Cambria Math"/>
                        </a:rPr>
                        <m:t>𝛥</m:t>
                      </m:r>
                      <m:sSubSup>
                        <m:sSubSupPr>
                          <m:ctrlPr>
                            <a:rPr lang="en-US" sz="1300" i="1">
                              <a:latin typeface="Cambria Math" panose="02040503050406030204" pitchFamily="18" charset="0"/>
                            </a:rPr>
                          </m:ctrlPr>
                        </m:sSubSupPr>
                        <m:e>
                          <m:acc>
                            <m:accPr>
                              <m:chr m:val="̂"/>
                              <m:ctrlPr>
                                <a:rPr lang="en-US" sz="1300">
                                  <a:latin typeface="Cambria Math"/>
                                </a:rPr>
                              </m:ctrlPr>
                            </m:accPr>
                            <m:e>
                              <m:r>
                                <a:rPr lang="en-US" sz="1300">
                                  <a:latin typeface="Cambria Math"/>
                                </a:rPr>
                                <m:t>𝐽</m:t>
                              </m:r>
                            </m:e>
                          </m:acc>
                        </m:e>
                        <m:sub>
                          <m:r>
                            <a:rPr lang="en-US" sz="1300">
                              <a:latin typeface="Cambria Math"/>
                            </a:rPr>
                            <m:t>𝑃ℎ𝑦</m:t>
                          </m:r>
                        </m:sub>
                        <m:sup>
                          <m:r>
                            <a:rPr lang="en-US" sz="1300">
                              <a:latin typeface="Cambria Math"/>
                            </a:rPr>
                            <m:t>(</m:t>
                          </m:r>
                          <m:r>
                            <a:rPr lang="en-US" sz="1300">
                              <a:latin typeface="Cambria Math"/>
                            </a:rPr>
                            <m:t>𝑎</m:t>
                          </m:r>
                          <m:r>
                            <a:rPr lang="en-US" sz="1300">
                              <a:latin typeface="Cambria Math"/>
                            </a:rPr>
                            <m:t>,</m:t>
                          </m:r>
                          <m:r>
                            <a:rPr lang="en-US" sz="1300">
                              <a:latin typeface="Cambria Math"/>
                            </a:rPr>
                            <m:t>𝑏</m:t>
                          </m:r>
                          <m:r>
                            <a:rPr lang="en-US" sz="1300">
                              <a:latin typeface="Cambria Math"/>
                            </a:rPr>
                            <m:t>)</m:t>
                          </m:r>
                        </m:sup>
                      </m:sSubSup>
                      <m:r>
                        <a:rPr lang="en-US" sz="1300">
                          <a:latin typeface="Cambria Math"/>
                        </a:rPr>
                        <m:t>(</m:t>
                      </m:r>
                      <m:r>
                        <a:rPr lang="en-US" sz="1300">
                          <a:latin typeface="Cambria Math"/>
                        </a:rPr>
                        <m:t>𝑐</m:t>
                      </m:r>
                      <m:r>
                        <a:rPr lang="en-US" sz="1300">
                          <a:latin typeface="Cambria Math"/>
                        </a:rPr>
                        <m:t> ∖ </m:t>
                      </m:r>
                      <m:r>
                        <a:rPr lang="en-US" sz="1300">
                          <a:latin typeface="Cambria Math"/>
                        </a:rPr>
                        <m:t>𝑜</m:t>
                      </m:r>
                      <m:r>
                        <a:rPr lang="en-US" sz="1300">
                          <a:latin typeface="Cambria Math"/>
                        </a:rPr>
                        <m:t>) &gt; </m:t>
                      </m:r>
                      <m:r>
                        <a:rPr lang="en-US" sz="1300">
                          <a:latin typeface="Cambria Math"/>
                        </a:rPr>
                        <m:t>𝛥</m:t>
                      </m:r>
                      <m:sSubSup>
                        <m:sSubSupPr>
                          <m:ctrlPr>
                            <a:rPr lang="en-US" sz="1300" i="1">
                              <a:latin typeface="Cambria Math" panose="02040503050406030204" pitchFamily="18" charset="0"/>
                            </a:rPr>
                          </m:ctrlPr>
                        </m:sSubSupPr>
                        <m:e>
                          <m:acc>
                            <m:accPr>
                              <m:chr m:val="̂"/>
                              <m:ctrlPr>
                                <a:rPr lang="en-US" sz="1300">
                                  <a:latin typeface="Cambria Math"/>
                                </a:rPr>
                              </m:ctrlPr>
                            </m:accPr>
                            <m:e>
                              <m:r>
                                <a:rPr lang="en-US" sz="1300">
                                  <a:latin typeface="Cambria Math"/>
                                </a:rPr>
                                <m:t>𝐽</m:t>
                              </m:r>
                            </m:e>
                          </m:acc>
                        </m:e>
                        <m:sub>
                          <m:r>
                            <a:rPr lang="en-US" sz="1300">
                              <a:latin typeface="Cambria Math"/>
                            </a:rPr>
                            <m:t>𝑃ℎ𝑦</m:t>
                          </m:r>
                        </m:sub>
                        <m:sup>
                          <m:r>
                            <a:rPr lang="en-US" sz="1300">
                              <a:latin typeface="Cambria Math"/>
                            </a:rPr>
                            <m:t>(</m:t>
                          </m:r>
                          <m:r>
                            <a:rPr lang="en-US" sz="1300">
                              <a:latin typeface="Cambria Math"/>
                            </a:rPr>
                            <m:t>𝑎</m:t>
                          </m:r>
                          <m:r>
                            <a:rPr lang="en-US" sz="1300">
                              <a:latin typeface="Cambria Math"/>
                            </a:rPr>
                            <m:t>,</m:t>
                          </m:r>
                          <m:r>
                            <a:rPr lang="en-US" sz="1300">
                              <a:latin typeface="Cambria Math"/>
                            </a:rPr>
                            <m:t>𝑏</m:t>
                          </m:r>
                          <m:r>
                            <a:rPr lang="en-US" sz="1300">
                              <a:latin typeface="Cambria Math"/>
                            </a:rPr>
                            <m:t>)</m:t>
                          </m:r>
                        </m:sup>
                      </m:sSubSup>
                      <m:r>
                        <a:rPr lang="en-US" sz="1300">
                          <a:latin typeface="Cambria Math"/>
                        </a:rPr>
                        <m:t>(</m:t>
                      </m:r>
                      <m:r>
                        <a:rPr lang="en-US" sz="1300">
                          <a:latin typeface="Cambria Math"/>
                        </a:rPr>
                        <m:t>𝑐</m:t>
                      </m:r>
                      <m:r>
                        <a:rPr lang="en-US" sz="1300">
                          <a:latin typeface="Cambria Math"/>
                        </a:rPr>
                        <m:t>)</m:t>
                      </m:r>
                    </m:oMath>
                  </m:oMathPara>
                </a14:m>
                <a:endParaRPr lang="en-US" sz="1300" dirty="0"/>
              </a:p>
            </p:txBody>
          </p:sp>
        </mc:Choice>
        <mc:Fallback xmlns="">
          <p:sp>
            <p:nvSpPr>
              <p:cNvPr id="25" name="Eq ablate">
                <a:extLst>
                  <a:ext uri="{FF2B5EF4-FFF2-40B4-BE49-F238E27FC236}">
                    <a16:creationId xmlns:a16="http://schemas.microsoft.com/office/drawing/2014/main" id="{A841EB77-DE08-E984-DCF2-0EF951EBC001}"/>
                  </a:ext>
                </a:extLst>
              </p:cNvPr>
              <p:cNvSpPr>
                <a:spLocks noRot="1" noChangeAspect="1" noMove="1" noResize="1" noEditPoints="1" noAdjustHandles="1" noChangeArrowheads="1" noChangeShapeType="1" noTextEdit="1"/>
              </p:cNvSpPr>
              <p:nvPr/>
            </p:nvSpPr>
            <p:spPr>
              <a:xfrm>
                <a:off x="9157889" y="5047488"/>
                <a:ext cx="2788920" cy="384048"/>
              </a:xfrm>
              <a:prstGeom prst="rect">
                <a:avLst/>
              </a:prstGeom>
              <a:blipFill>
                <a:blip r:embed="rId9"/>
                <a:stretch>
                  <a:fillRect t="-1587"/>
                </a:stretch>
              </a:blipFill>
              <a:ln/>
            </p:spPr>
            <p:txBody>
              <a:bodyPr/>
              <a:lstStyle/>
              <a:p>
                <a:r>
                  <a:rPr lang="tr-TR">
                    <a:noFill/>
                  </a:rPr>
                  <a:t> </a:t>
                </a:r>
              </a:p>
            </p:txBody>
          </p:sp>
        </mc:Fallback>
      </mc:AlternateContent>
      <p:sp>
        <p:nvSpPr>
          <p:cNvPr id="27" name="B pkg">
            <a:extLst>
              <a:ext uri="{FF2B5EF4-FFF2-40B4-BE49-F238E27FC236}">
                <a16:creationId xmlns:a16="http://schemas.microsoft.com/office/drawing/2014/main" id="{2661D1A9-84A5-84A0-48C1-69DAB634B50C}"/>
              </a:ext>
            </a:extLst>
          </p:cNvPr>
          <p:cNvSpPr/>
          <p:nvPr/>
        </p:nvSpPr>
        <p:spPr>
          <a:xfrm>
            <a:off x="6689009" y="5504688"/>
            <a:ext cx="5285232" cy="1097280"/>
          </a:xfrm>
          <a:prstGeom prst="rect">
            <a:avLst/>
          </a:prstGeom>
          <a:noFill/>
          <a:ln/>
        </p:spPr>
        <p:txBody>
          <a:bodyPr wrap="square" lIns="0" tIns="0" rIns="0" bIns="0" rtlCol="0" anchor="t"/>
          <a:lstStyle/>
          <a:p>
            <a:pPr marL="152400" indent="-152400">
              <a:lnSpc>
                <a:spcPct val="102000"/>
              </a:lnSpc>
              <a:spcAft>
                <a:spcPts val="160"/>
              </a:spcAft>
              <a:buSzPct val="100000"/>
              <a:buChar char="•"/>
            </a:pPr>
            <a:r>
              <a:rPr lang="en-US" sz="1050" b="0" i="0" dirty="0">
                <a:solidFill>
                  <a:srgbClr val="222222"/>
                </a:solidFill>
                <a:latin typeface="Calibri" pitchFamily="34" charset="0"/>
                <a:ea typeface="Calibri" pitchFamily="34" charset="-122"/>
                <a:cs typeface="Calibri" pitchFamily="34" charset="-120"/>
              </a:rPr>
              <a:t>G5: vocabulary growth must beat the margin δv = 0.0001 on both futures, not merely improve</a:t>
            </a:r>
            <a:endParaRPr lang="en-US" sz="1050" dirty="0"/>
          </a:p>
          <a:p>
            <a:pPr marL="152400" indent="-152400">
              <a:lnSpc>
                <a:spcPct val="102000"/>
              </a:lnSpc>
              <a:spcAft>
                <a:spcPts val="160"/>
              </a:spcAft>
              <a:buSzPct val="100000"/>
              <a:buChar char="•"/>
            </a:pPr>
            <a:r>
              <a:rPr lang="en-US" sz="1050" b="0" i="0" dirty="0">
                <a:solidFill>
                  <a:srgbClr val="222222"/>
                </a:solidFill>
                <a:latin typeface="Calibri" pitchFamily="34" charset="0"/>
                <a:ea typeface="Calibri" pitchFamily="34" charset="-122"/>
                <a:cs typeface="Calibri" pitchFamily="34" charset="-120"/>
              </a:rPr>
              <a:t>G5b: with the new object o struck out and the ordinary orders left standing, the cost must rise on both; never run for a concept</a:t>
            </a:r>
            <a:endParaRPr lang="en-US" sz="1050" dirty="0"/>
          </a:p>
          <a:p>
            <a:pPr marL="152400" indent="-152400">
              <a:lnSpc>
                <a:spcPct val="102000"/>
              </a:lnSpc>
              <a:spcAft>
                <a:spcPts val="0"/>
              </a:spcAft>
              <a:buSzPct val="100000"/>
              <a:buChar char="•"/>
            </a:pPr>
            <a:r>
              <a:rPr lang="en-US" sz="1050" b="1" i="0" dirty="0">
                <a:solidFill>
                  <a:srgbClr val="222222"/>
                </a:solidFill>
                <a:latin typeface="Calibri" pitchFamily="34" charset="0"/>
                <a:ea typeface="Calibri" pitchFamily="34" charset="-122"/>
                <a:cs typeface="Calibri" pitchFamily="34" charset="-120"/>
              </a:rPr>
              <a:t>G1 to G2d cost zero; only G3 to G5b spend the budget. Recorded: 232 proposals, 47 admissions</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 Four Products, and the Symptom Each One Answers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8501" name="Lead"/>
          <p:cNvSpPr/>
          <p:nvPr/>
        </p:nvSpPr>
        <p:spPr>
          <a:xfrm>
            <a:off x="502920" y="1115568"/>
            <a:ext cx="11247120" cy="320040"/>
          </a:xfrm>
          <a:prstGeom prst="rect">
            <a:avLst/>
          </a:prstGeom>
          <a:noFill/>
          <a:ln/>
        </p:spPr>
        <p:txBody>
          <a:bodyPr wrap="square" lIns="0" tIns="0" rIns="0" bIns="0" rtlCol="0" anchor="t"/>
          <a:lstStyle/>
          <a:p>
            <a:pPr marL="0" indent="0">
              <a:lnSpc>
                <a:spcPct val="102000"/>
              </a:lnSpc>
              <a:spcAft>
                <a:spcPts val="0"/>
              </a:spcAft>
              <a:buNone/>
            </a:pPr>
            <a:r>
              <a:rPr lang="en-US" sz="1200" b="1" i="0" dirty="0">
                <a:solidFill>
                  <a:srgbClr val="222222"/>
                </a:solidFill>
                <a:latin typeface="Calibri" pitchFamily="34" charset="0"/>
                <a:ea typeface="Calibri" pitchFamily="34" charset="-122"/>
                <a:cs typeface="Calibri" pitchFamily="34" charset="-120"/>
              </a:rPr>
              <a:t>One invocation returns exactly one candidate. The prompt states the symptom, the model chooses the form, and every form faces the same gates.</a:t>
            </a:r>
            <a:endParaRPr lang="en-US" sz="1200" dirty="0"/>
          </a:p>
        </p:txBody>
      </p:sp>
      <p:sp>
        <p:nvSpPr>
          <p:cNvPr id="8502" name="Box 1 · Plain rule"/>
          <p:cNvSpPr/>
          <p:nvPr/>
        </p:nvSpPr>
        <p:spPr>
          <a:xfrm>
            <a:off x="457200" y="1572768"/>
            <a:ext cx="5532120" cy="2331720"/>
          </a:xfrm>
          <a:prstGeom prst="roundRect">
            <a:avLst>
              <a:gd name="adj" fmla="val 4000"/>
            </a:avLst>
          </a:prstGeom>
          <a:solidFill>
            <a:srgbClr val="F2F2F2"/>
          </a:solidFill>
          <a:ln>
            <a:noFill/>
          </a:ln>
        </p:spPr>
        <p:txBody>
          <a:bodyPr/>
          <a:lstStyle/>
          <a:p>
            <a:endParaRPr lang="en-US"/>
          </a:p>
        </p:txBody>
      </p:sp>
      <p:sp>
        <p:nvSpPr>
          <p:cNvPr id="8503" name="N 1 · Plain rule"/>
          <p:cNvSpPr/>
          <p:nvPr/>
        </p:nvSpPr>
        <p:spPr>
          <a:xfrm>
            <a:off x="658368" y="1691640"/>
            <a:ext cx="5166360" cy="256032"/>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1 · Plain rule</a:t>
            </a:r>
            <a:endParaRPr lang="en-US" sz="1250" dirty="0"/>
          </a:p>
        </p:txBody>
      </p:sp>
      <p:sp>
        <p:nvSpPr>
          <p:cNvPr id="8504" name="T 1 · Plain rule"/>
          <p:cNvSpPr/>
          <p:nvPr/>
        </p:nvSpPr>
        <p:spPr>
          <a:xfrm>
            <a:off x="658368" y="2011680"/>
            <a:ext cx="5166360" cy="1828800"/>
          </a:xfrm>
          <a:prstGeom prst="rect">
            <a:avLst/>
          </a:prstGeom>
          <a:noFill/>
          <a:ln/>
        </p:spPr>
        <p:txBody>
          <a:bodyPr wrap="square" lIns="0" tIns="0" rIns="0" bIns="0" rtlCol="0" anchor="t"/>
          <a:lstStyle/>
          <a:p>
            <a:pPr marL="0" indent="0">
              <a:lnSpc>
                <a:spcPct val="102000"/>
              </a:lnSpc>
              <a:spcAft>
                <a:spcPts val="180"/>
              </a:spcAft>
              <a:buNone/>
            </a:pPr>
            <a:r>
              <a:rPr lang="en-US" sz="1050" b="1" i="0" dirty="0">
                <a:solidFill>
                  <a:srgbClr val="222222"/>
                </a:solidFill>
                <a:latin typeface="Calibri" pitchFamily="34" charset="0"/>
                <a:ea typeface="Calibri" pitchFamily="34" charset="-122"/>
                <a:cs typeface="Calibri" pitchFamily="34" charset="-120"/>
              </a:rPr>
              <a:t>When : </a:t>
            </a:r>
            <a:r>
              <a:rPr lang="en-US" sz="1050" b="0" i="0" dirty="0">
                <a:solidFill>
                  <a:srgbClr val="222222"/>
                </a:solidFill>
                <a:latin typeface="Calibri" pitchFamily="34" charset="0"/>
                <a:ea typeface="Calibri" pitchFamily="34" charset="-122"/>
                <a:cs typeface="Calibri" pitchFamily="34" charset="-120"/>
              </a:rPr>
              <a:t>the situation can be named with the existing concepts, and an existing intervention answers it.</a:t>
            </a:r>
            <a:endParaRPr lang="en-US" sz="1050" dirty="0"/>
          </a:p>
          <a:p>
            <a:pPr marL="0" indent="0">
              <a:lnSpc>
                <a:spcPct val="102000"/>
              </a:lnSpc>
              <a:spcAft>
                <a:spcPts val="180"/>
              </a:spcAft>
              <a:buNone/>
            </a:pPr>
            <a:r>
              <a:rPr lang="en-US" sz="1050" b="1" i="0" dirty="0">
                <a:solidFill>
                  <a:srgbClr val="222222"/>
                </a:solidFill>
                <a:latin typeface="Calibri" pitchFamily="34" charset="0"/>
                <a:ea typeface="Calibri" pitchFamily="34" charset="-122"/>
                <a:cs typeface="Calibri" pitchFamily="34" charset="-120"/>
              </a:rPr>
              <a:t>What : </a:t>
            </a:r>
            <a:r>
              <a:rPr lang="en-US" sz="1050" b="0" i="0" dirty="0">
                <a:solidFill>
                  <a:srgbClr val="222222"/>
                </a:solidFill>
                <a:latin typeface="Calibri" pitchFamily="34" charset="0"/>
                <a:ea typeface="Calibri" pitchFamily="34" charset="-122"/>
                <a:cs typeface="Calibri" pitchFamily="34" charset="-120"/>
              </a:rPr>
              <a:t>a new IF THEN rule on a combination no rule covers. The vocabulary does not change.</a:t>
            </a:r>
            <a:endParaRPr lang="en-US" sz="1050" dirty="0"/>
          </a:p>
          <a:p>
            <a:pPr marL="0" indent="0">
              <a:lnSpc>
                <a:spcPct val="102000"/>
              </a:lnSpc>
              <a:spcAft>
                <a:spcPts val="0"/>
              </a:spcAft>
              <a:buNone/>
            </a:pPr>
            <a:r>
              <a:rPr lang="en-US" sz="1050" b="1" i="0" dirty="0">
                <a:solidFill>
                  <a:srgbClr val="E31836"/>
                </a:solidFill>
                <a:latin typeface="Calibri" pitchFamily="34" charset="0"/>
                <a:ea typeface="Calibri" pitchFamily="34" charset="-122"/>
                <a:cs typeface="Calibri" pitchFamily="34" charset="-120"/>
              </a:rPr>
              <a:t>How : </a:t>
            </a:r>
            <a:r>
              <a:rPr lang="en-US" sz="1050" b="0" i="0" dirty="0">
                <a:solidFill>
                  <a:srgbClr val="222222"/>
                </a:solidFill>
                <a:latin typeface="Calibri" pitchFamily="34" charset="0"/>
                <a:ea typeface="Calibri" pitchFamily="34" charset="-122"/>
                <a:cs typeface="Calibri" pitchFamily="34" charset="-120"/>
              </a:rPr>
              <a:t>the model fills the IF THEN template with the dominant terms of the stated situation; after the gates pass, the engine writes it on the empty cell.</a:t>
            </a:r>
            <a:endParaRPr lang="en-US" sz="1050" dirty="0"/>
          </a:p>
        </p:txBody>
      </p:sp>
      <p:sp>
        <p:nvSpPr>
          <p:cNvPr id="8505" name="Box 2 · Macro intervention"/>
          <p:cNvSpPr/>
          <p:nvPr/>
        </p:nvSpPr>
        <p:spPr>
          <a:xfrm>
            <a:off x="6217920" y="1572768"/>
            <a:ext cx="5532120" cy="2331720"/>
          </a:xfrm>
          <a:prstGeom prst="roundRect">
            <a:avLst>
              <a:gd name="adj" fmla="val 4000"/>
            </a:avLst>
          </a:prstGeom>
          <a:solidFill>
            <a:srgbClr val="F2F2F2"/>
          </a:solidFill>
          <a:ln>
            <a:noFill/>
          </a:ln>
        </p:spPr>
        <p:txBody>
          <a:bodyPr/>
          <a:lstStyle/>
          <a:p>
            <a:endParaRPr lang="en-US"/>
          </a:p>
        </p:txBody>
      </p:sp>
      <p:sp>
        <p:nvSpPr>
          <p:cNvPr id="8506" name="N 2 · Macro intervention"/>
          <p:cNvSpPr/>
          <p:nvPr/>
        </p:nvSpPr>
        <p:spPr>
          <a:xfrm>
            <a:off x="6419088" y="1691640"/>
            <a:ext cx="5166360" cy="256032"/>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2 · Macro intervention</a:t>
            </a:r>
            <a:endParaRPr lang="en-US" sz="1250" dirty="0"/>
          </a:p>
        </p:txBody>
      </p:sp>
      <p:sp>
        <p:nvSpPr>
          <p:cNvPr id="8507" name="T 2 · Macro intervention"/>
          <p:cNvSpPr/>
          <p:nvPr/>
        </p:nvSpPr>
        <p:spPr>
          <a:xfrm>
            <a:off x="6419088" y="2011680"/>
            <a:ext cx="5166360" cy="1828800"/>
          </a:xfrm>
          <a:prstGeom prst="rect">
            <a:avLst/>
          </a:prstGeom>
          <a:noFill/>
          <a:ln/>
        </p:spPr>
        <p:txBody>
          <a:bodyPr wrap="square" lIns="0" tIns="0" rIns="0" bIns="0" rtlCol="0" anchor="t"/>
          <a:lstStyle/>
          <a:p>
            <a:pPr marL="0" indent="0">
              <a:lnSpc>
                <a:spcPct val="102000"/>
              </a:lnSpc>
              <a:spcAft>
                <a:spcPts val="180"/>
              </a:spcAft>
              <a:buNone/>
            </a:pPr>
            <a:r>
              <a:rPr lang="en-US" sz="1050" b="1" i="0" dirty="0">
                <a:solidFill>
                  <a:srgbClr val="222222"/>
                </a:solidFill>
                <a:latin typeface="Calibri" pitchFamily="34" charset="0"/>
                <a:ea typeface="Calibri" pitchFamily="34" charset="-122"/>
                <a:cs typeface="Calibri" pitchFamily="34" charset="-120"/>
              </a:rPr>
              <a:t>When : </a:t>
            </a:r>
            <a:r>
              <a:rPr lang="en-US" sz="1050" b="0" i="0" dirty="0">
                <a:solidFill>
                  <a:srgbClr val="222222"/>
                </a:solidFill>
                <a:latin typeface="Calibri" pitchFamily="34" charset="0"/>
                <a:ea typeface="Calibri" pitchFamily="34" charset="-122"/>
                <a:cs typeface="Calibri" pitchFamily="34" charset="-120"/>
              </a:rPr>
              <a:t>two or three families must act as one, in a fixed ratio, order after order.</a:t>
            </a:r>
            <a:endParaRPr lang="en-US" sz="1050" dirty="0"/>
          </a:p>
          <a:p>
            <a:pPr marL="0" indent="0">
              <a:lnSpc>
                <a:spcPct val="102000"/>
              </a:lnSpc>
              <a:spcAft>
                <a:spcPts val="180"/>
              </a:spcAft>
              <a:buNone/>
            </a:pPr>
            <a:r>
              <a:rPr lang="en-US" sz="1050" b="1" i="0" dirty="0">
                <a:solidFill>
                  <a:srgbClr val="222222"/>
                </a:solidFill>
                <a:latin typeface="Calibri" pitchFamily="34" charset="0"/>
                <a:ea typeface="Calibri" pitchFamily="34" charset="-122"/>
                <a:cs typeface="Calibri" pitchFamily="34" charset="-120"/>
              </a:rPr>
              <a:t>What : </a:t>
            </a:r>
            <a:r>
              <a:rPr lang="en-US" sz="1050" b="0" i="0" dirty="0">
                <a:solidFill>
                  <a:srgbClr val="222222"/>
                </a:solidFill>
                <a:latin typeface="Calibri" pitchFamily="34" charset="0"/>
                <a:ea typeface="Calibri" pitchFamily="34" charset="-122"/>
                <a:cs typeface="Calibri" pitchFamily="34" charset="-120"/>
              </a:rPr>
              <a:t>a named bundle of at most 3 base families with fixed weights.</a:t>
            </a:r>
            <a:endParaRPr lang="en-US" sz="1050" dirty="0"/>
          </a:p>
          <a:p>
            <a:pPr marL="0" indent="0">
              <a:lnSpc>
                <a:spcPct val="102000"/>
              </a:lnSpc>
              <a:spcAft>
                <a:spcPts val="0"/>
              </a:spcAft>
              <a:buNone/>
            </a:pPr>
            <a:r>
              <a:rPr lang="en-US" sz="1050" b="1" i="0" dirty="0">
                <a:solidFill>
                  <a:srgbClr val="E31836"/>
                </a:solidFill>
                <a:latin typeface="Calibri" pitchFamily="34" charset="0"/>
                <a:ea typeface="Calibri" pitchFamily="34" charset="-122"/>
                <a:cs typeface="Calibri" pitchFamily="34" charset="-120"/>
              </a:rPr>
              <a:t>How : </a:t>
            </a:r>
            <a:r>
              <a:rPr lang="en-US" sz="1050" b="0" i="0" dirty="0">
                <a:solidFill>
                  <a:srgbClr val="222222"/>
                </a:solidFill>
                <a:latin typeface="Calibri" pitchFamily="34" charset="0"/>
                <a:ea typeface="Calibri" pitchFamily="34" charset="-122"/>
                <a:cs typeface="Calibri" pitchFamily="34" charset="-120"/>
              </a:rPr>
              <a:t>the model names the bundle and fixes the weights; at execution the compiler multiplies the weights by the rule’s intensity and issues the base orders.</a:t>
            </a:r>
            <a:endParaRPr lang="en-US" sz="1050" dirty="0"/>
          </a:p>
        </p:txBody>
      </p:sp>
      <p:sp>
        <p:nvSpPr>
          <p:cNvPr id="8508" name="Box 3 · Intermediate concept"/>
          <p:cNvSpPr/>
          <p:nvPr/>
        </p:nvSpPr>
        <p:spPr>
          <a:xfrm>
            <a:off x="457200" y="4041648"/>
            <a:ext cx="5532120" cy="2331720"/>
          </a:xfrm>
          <a:prstGeom prst="roundRect">
            <a:avLst>
              <a:gd name="adj" fmla="val 4000"/>
            </a:avLst>
          </a:prstGeom>
          <a:solidFill>
            <a:srgbClr val="F2F2F2"/>
          </a:solidFill>
          <a:ln>
            <a:noFill/>
          </a:ln>
        </p:spPr>
        <p:txBody>
          <a:bodyPr/>
          <a:lstStyle/>
          <a:p>
            <a:endParaRPr lang="en-US"/>
          </a:p>
        </p:txBody>
      </p:sp>
      <p:sp>
        <p:nvSpPr>
          <p:cNvPr id="8509" name="N 3 · Intermediate concept"/>
          <p:cNvSpPr/>
          <p:nvPr/>
        </p:nvSpPr>
        <p:spPr>
          <a:xfrm>
            <a:off x="658368" y="4160520"/>
            <a:ext cx="5166360" cy="256032"/>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3 · Intermediate concept</a:t>
            </a:r>
            <a:endParaRPr lang="en-US" sz="1250" dirty="0"/>
          </a:p>
        </p:txBody>
      </p:sp>
      <p:sp>
        <p:nvSpPr>
          <p:cNvPr id="8510" name="T 3 · Intermediate concept"/>
          <p:cNvSpPr/>
          <p:nvPr/>
        </p:nvSpPr>
        <p:spPr>
          <a:xfrm>
            <a:off x="658368" y="4480560"/>
            <a:ext cx="5166360" cy="1828800"/>
          </a:xfrm>
          <a:prstGeom prst="rect">
            <a:avLst/>
          </a:prstGeom>
          <a:noFill/>
          <a:ln/>
        </p:spPr>
        <p:txBody>
          <a:bodyPr wrap="square" lIns="0" tIns="0" rIns="0" bIns="0" rtlCol="0" anchor="t"/>
          <a:lstStyle/>
          <a:p>
            <a:pPr marL="0" indent="0">
              <a:lnSpc>
                <a:spcPct val="102000"/>
              </a:lnSpc>
              <a:spcAft>
                <a:spcPts val="180"/>
              </a:spcAft>
              <a:buNone/>
            </a:pPr>
            <a:r>
              <a:rPr lang="en-US" sz="1050" b="1" i="0" dirty="0">
                <a:solidFill>
                  <a:srgbClr val="222222"/>
                </a:solidFill>
                <a:latin typeface="Calibri" pitchFamily="34" charset="0"/>
                <a:ea typeface="Calibri" pitchFamily="34" charset="-122"/>
                <a:cs typeface="Calibri" pitchFamily="34" charset="-120"/>
              </a:rPr>
              <a:t>When : </a:t>
            </a:r>
            <a:r>
              <a:rPr lang="en-US" sz="1050" b="0" i="0" dirty="0">
                <a:solidFill>
                  <a:srgbClr val="222222"/>
                </a:solidFill>
                <a:latin typeface="Calibri" pitchFamily="34" charset="0"/>
                <a:ea typeface="Calibri" pitchFamily="34" charset="-122"/>
                <a:cs typeface="Calibri" pitchFamily="34" charset="-120"/>
              </a:rPr>
              <a:t>the same kind of situation keeps recurring, and the five decision concepts cannot name it.</a:t>
            </a:r>
            <a:endParaRPr lang="en-US" sz="1050" dirty="0"/>
          </a:p>
          <a:p>
            <a:pPr marL="0" indent="0">
              <a:lnSpc>
                <a:spcPct val="102000"/>
              </a:lnSpc>
              <a:spcAft>
                <a:spcPts val="180"/>
              </a:spcAft>
              <a:buNone/>
            </a:pPr>
            <a:r>
              <a:rPr lang="en-US" sz="1050" b="1" i="0" dirty="0">
                <a:solidFill>
                  <a:srgbClr val="222222"/>
                </a:solidFill>
                <a:latin typeface="Calibri" pitchFamily="34" charset="0"/>
                <a:ea typeface="Calibri" pitchFamily="34" charset="-122"/>
                <a:cs typeface="Calibri" pitchFamily="34" charset="-120"/>
              </a:rPr>
              <a:t>What : </a:t>
            </a:r>
            <a:r>
              <a:rPr lang="en-US" sz="1050" b="0" i="0" dirty="0">
                <a:solidFill>
                  <a:srgbClr val="222222"/>
                </a:solidFill>
                <a:latin typeface="Calibri" pitchFamily="34" charset="0"/>
                <a:ea typeface="Calibri" pitchFamily="34" charset="-122"/>
                <a:cs typeface="Calibri" pitchFamily="34" charset="-120"/>
              </a:rPr>
              <a:t>a normalized blend of at most 4 existing inputs; later rules can cite it.</a:t>
            </a:r>
            <a:endParaRPr lang="en-US" sz="1050" dirty="0"/>
          </a:p>
          <a:p>
            <a:pPr marL="0" indent="0">
              <a:lnSpc>
                <a:spcPct val="102000"/>
              </a:lnSpc>
              <a:spcAft>
                <a:spcPts val="0"/>
              </a:spcAft>
              <a:buNone/>
            </a:pPr>
            <a:r>
              <a:rPr lang="en-US" sz="1050" b="1" i="0" dirty="0">
                <a:solidFill>
                  <a:srgbClr val="E31836"/>
                </a:solidFill>
                <a:latin typeface="Calibri" pitchFamily="34" charset="0"/>
                <a:ea typeface="Calibri" pitchFamily="34" charset="-122"/>
                <a:cs typeface="Calibri" pitchFamily="34" charset="-120"/>
              </a:rPr>
              <a:t>How : </a:t>
            </a:r>
            <a:r>
              <a:rPr lang="en-US" sz="1050" b="0" i="0" dirty="0">
                <a:solidFill>
                  <a:srgbClr val="222222"/>
                </a:solidFill>
                <a:latin typeface="Calibri" pitchFamily="34" charset="0"/>
                <a:ea typeface="Calibri" pitchFamily="34" charset="-122"/>
                <a:cs typeface="Calibri" pitchFamily="34" charset="-120"/>
              </a:rPr>
              <a:t>the model picks the inputs and the weights; the engine normalizes them, installs the node with five terms and a confidence gate, and the package’s rule cites it.</a:t>
            </a:r>
            <a:endParaRPr lang="en-US" sz="1050" dirty="0"/>
          </a:p>
        </p:txBody>
      </p:sp>
      <p:sp>
        <p:nvSpPr>
          <p:cNvPr id="8511" name="Box 4 · Clause actuator"/>
          <p:cNvSpPr/>
          <p:nvPr/>
        </p:nvSpPr>
        <p:spPr>
          <a:xfrm>
            <a:off x="6217920" y="4041648"/>
            <a:ext cx="5532120" cy="2331720"/>
          </a:xfrm>
          <a:prstGeom prst="roundRect">
            <a:avLst>
              <a:gd name="adj" fmla="val 4000"/>
            </a:avLst>
          </a:prstGeom>
          <a:solidFill>
            <a:srgbClr val="F2F2F2"/>
          </a:solidFill>
          <a:ln>
            <a:noFill/>
          </a:ln>
        </p:spPr>
        <p:txBody>
          <a:bodyPr/>
          <a:lstStyle/>
          <a:p>
            <a:endParaRPr lang="en-US"/>
          </a:p>
        </p:txBody>
      </p:sp>
      <p:sp>
        <p:nvSpPr>
          <p:cNvPr id="8512" name="N 4 · Clause actuator"/>
          <p:cNvSpPr/>
          <p:nvPr/>
        </p:nvSpPr>
        <p:spPr>
          <a:xfrm>
            <a:off x="6419088" y="4160520"/>
            <a:ext cx="5166360" cy="256032"/>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4 · Clause actuator</a:t>
            </a:r>
            <a:endParaRPr lang="en-US" sz="1250" dirty="0"/>
          </a:p>
        </p:txBody>
      </p:sp>
      <p:sp>
        <p:nvSpPr>
          <p:cNvPr id="8513" name="T 4 · Clause actuator"/>
          <p:cNvSpPr/>
          <p:nvPr/>
        </p:nvSpPr>
        <p:spPr>
          <a:xfrm>
            <a:off x="6419088" y="4480560"/>
            <a:ext cx="5166360" cy="1828800"/>
          </a:xfrm>
          <a:prstGeom prst="rect">
            <a:avLst/>
          </a:prstGeom>
          <a:noFill/>
          <a:ln/>
        </p:spPr>
        <p:txBody>
          <a:bodyPr wrap="square" lIns="0" tIns="0" rIns="0" bIns="0" rtlCol="0" anchor="t"/>
          <a:lstStyle/>
          <a:p>
            <a:pPr marL="0" indent="0">
              <a:lnSpc>
                <a:spcPct val="102000"/>
              </a:lnSpc>
              <a:spcAft>
                <a:spcPts val="180"/>
              </a:spcAft>
              <a:buNone/>
            </a:pPr>
            <a:r>
              <a:rPr lang="en-US" sz="1050" b="1" i="0" dirty="0">
                <a:solidFill>
                  <a:srgbClr val="222222"/>
                </a:solidFill>
                <a:latin typeface="Calibri" pitchFamily="34" charset="0"/>
                <a:ea typeface="Calibri" pitchFamily="34" charset="-122"/>
                <a:cs typeface="Calibri" pitchFamily="34" charset="-120"/>
              </a:rPr>
              <a:t>When : </a:t>
            </a:r>
            <a:r>
              <a:rPr lang="en-US" sz="1050" b="0" i="0" dirty="0">
                <a:solidFill>
                  <a:srgbClr val="222222"/>
                </a:solidFill>
                <a:latin typeface="Calibri" pitchFamily="34" charset="0"/>
                <a:ea typeface="Calibri" pitchFamily="34" charset="-122"/>
                <a:cs typeface="Calibri" pitchFamily="34" charset="-120"/>
              </a:rPr>
              <a:t>the tactic needs its own geometry, where on the map to act, which no blend expresses.</a:t>
            </a:r>
            <a:endParaRPr lang="en-US" sz="1050" dirty="0"/>
          </a:p>
          <a:p>
            <a:pPr marL="0" indent="0">
              <a:lnSpc>
                <a:spcPct val="102000"/>
              </a:lnSpc>
              <a:spcAft>
                <a:spcPts val="180"/>
              </a:spcAft>
              <a:buNone/>
            </a:pPr>
            <a:r>
              <a:rPr lang="en-US" sz="1050" b="1" i="0" dirty="0">
                <a:solidFill>
                  <a:srgbClr val="222222"/>
                </a:solidFill>
                <a:latin typeface="Calibri" pitchFamily="34" charset="0"/>
                <a:ea typeface="Calibri" pitchFamily="34" charset="-122"/>
                <a:cs typeface="Calibri" pitchFamily="34" charset="-120"/>
              </a:rPr>
              <a:t>What : </a:t>
            </a:r>
            <a:r>
              <a:rPr lang="en-US" sz="1050" b="0" i="0" dirty="0">
                <a:solidFill>
                  <a:srgbClr val="222222"/>
                </a:solidFill>
                <a:latin typeface="Calibri" pitchFamily="34" charset="0"/>
                <a:ea typeface="Calibri" pitchFamily="34" charset="-122"/>
                <a:cs typeface="Calibri" pitchFamily="34" charset="-120"/>
              </a:rPr>
              <a:t>at most 3 clauses: one verified effect, on one sector, over a range of cells, at an amount.</a:t>
            </a:r>
            <a:endParaRPr lang="en-US" sz="1050" dirty="0"/>
          </a:p>
          <a:p>
            <a:pPr marL="0" indent="0">
              <a:lnSpc>
                <a:spcPct val="102000"/>
              </a:lnSpc>
              <a:spcAft>
                <a:spcPts val="0"/>
              </a:spcAft>
              <a:buNone/>
            </a:pPr>
            <a:r>
              <a:rPr lang="en-US" sz="1050" b="1" i="0" dirty="0">
                <a:solidFill>
                  <a:srgbClr val="E31836"/>
                </a:solidFill>
                <a:latin typeface="Calibri" pitchFamily="34" charset="0"/>
                <a:ea typeface="Calibri" pitchFamily="34" charset="-122"/>
                <a:cs typeface="Calibri" pitchFamily="34" charset="-120"/>
              </a:rPr>
              <a:t>How : </a:t>
            </a:r>
            <a:r>
              <a:rPr lang="en-US" sz="1050" b="0" i="0" dirty="0">
                <a:solidFill>
                  <a:srgbClr val="222222"/>
                </a:solidFill>
                <a:latin typeface="Calibri" pitchFamily="34" charset="0"/>
                <a:ea typeface="Calibri" pitchFamily="34" charset="-122"/>
                <a:cs typeface="Calibri" pitchFamily="34" charset="-120"/>
              </a:rPr>
              <a:t>the model writes the clauses; the compiler resolves each sector on the live map into concrete cell orders before anything is simulated.</a:t>
            </a:r>
            <a:endParaRPr lang="en-US" sz="1050" dirty="0"/>
          </a:p>
        </p:txBody>
      </p:sp>
      <p:sp>
        <p:nvSpPr>
          <p:cNvPr id="8514" name="Bottom"/>
          <p:cNvSpPr/>
          <p:nvPr/>
        </p:nvSpPr>
        <p:spPr>
          <a:xfrm>
            <a:off x="502920" y="6492240"/>
            <a:ext cx="11247120" cy="320040"/>
          </a:xfrm>
          <a:prstGeom prst="rect">
            <a:avLst/>
          </a:prstGeom>
          <a:noFill/>
          <a:ln/>
        </p:spPr>
        <p:txBody>
          <a:bodyPr wrap="square" lIns="0" tIns="0" rIns="0" bIns="0" rtlCol="0" anchor="t"/>
          <a:lstStyle/>
          <a:p>
            <a:pPr marL="0" indent="0">
              <a:lnSpc>
                <a:spcPct val="102000"/>
              </a:lnSpc>
              <a:spcAft>
                <a:spcPts val="0"/>
              </a:spcAft>
              <a:buNone/>
            </a:pPr>
            <a:r>
              <a:rPr lang="en-US" sz="1100" b="0" i="1" dirty="0">
                <a:solidFill>
                  <a:srgbClr val="6E6E6E"/>
                </a:solidFill>
                <a:latin typeface="Calibri" pitchFamily="34" charset="0"/>
                <a:ea typeface="Calibri" pitchFamily="34" charset="-122"/>
                <a:cs typeface="Calibri" pitchFamily="34" charset="-120"/>
              </a:rPr>
              <a:t>Only the plain rule leaves the vocabulary unchanged. Each of the other three grows it by exactly one object, and the growth must pay for itself at the gates.</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Product (a) : Macro Intervention, a Named Bundle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fig49" descr="/tmp/thx/deck/figs/Figure4_9.png"/>
          <p:cNvPicPr>
            <a:picLocks noChangeAspect="1"/>
          </p:cNvPicPr>
          <p:nvPr/>
        </p:nvPicPr>
        <p:blipFill>
          <a:blip r:embed="rId5"/>
          <a:srcRect b="75500"/>
          <a:stretch/>
        </p:blipFill>
        <p:spPr>
          <a:xfrm>
            <a:off x="1097280" y="1188720"/>
            <a:ext cx="7863840" cy="3068230"/>
          </a:xfrm>
          <a:prstGeom prst="rect">
            <a:avLst/>
          </a:prstGeom>
        </p:spPr>
      </p:pic>
      <p:sp>
        <p:nvSpPr>
          <p:cNvPr id="8501" name="Macro text"/>
          <p:cNvSpPr/>
          <p:nvPr/>
        </p:nvSpPr>
        <p:spPr>
          <a:xfrm>
            <a:off x="777240" y="4434840"/>
            <a:ext cx="10607040" cy="2194560"/>
          </a:xfrm>
          <a:prstGeom prst="rect">
            <a:avLst/>
          </a:prstGeom>
          <a:noFill/>
          <a:ln/>
        </p:spPr>
        <p:txBody>
          <a:bodyPr wrap="square" lIns="0" tIns="0" rIns="0" bIns="0" rtlCol="0" anchor="t"/>
          <a:lstStyle/>
          <a:p>
            <a:pPr marL="0" indent="0">
              <a:lnSpc>
                <a:spcPct val="102000"/>
              </a:lnSpc>
              <a:spcAft>
                <a:spcPts val="220"/>
              </a:spcAft>
              <a:buNone/>
            </a:pPr>
            <a:r>
              <a:rPr lang="en-US" sz="1200" b="1" i="0" dirty="0">
                <a:solidFill>
                  <a:srgbClr val="222222"/>
                </a:solidFill>
                <a:latin typeface="Calibri" pitchFamily="34" charset="0"/>
                <a:ea typeface="Calibri" pitchFamily="34" charset="-122"/>
                <a:cs typeface="Calibri" pitchFamily="34" charset="-120"/>
              </a:rPr>
              <a:t>A macro gives one name to a fixed mixture of orders the framework can already give.</a:t>
            </a:r>
            <a:endParaRPr lang="en-US" sz="1200" dirty="0"/>
          </a:p>
          <a:p>
            <a:pPr marL="152400" indent="-152400">
              <a:lnSpc>
                <a:spcPct val="102000"/>
              </a:lnSpc>
              <a:spcAft>
                <a:spcPts val="220"/>
              </a:spcAft>
              <a:buSzPct val="100000"/>
              <a:buChar char="•"/>
            </a:pPr>
            <a:r>
              <a:rPr lang="en-US" sz="1100" b="0" i="0" dirty="0">
                <a:solidFill>
                  <a:srgbClr val="222222"/>
                </a:solidFill>
                <a:latin typeface="Calibri" pitchFamily="34" charset="0"/>
                <a:ea typeface="Calibri" pitchFamily="34" charset="-122"/>
                <a:cs typeface="Calibri" pitchFamily="34" charset="-120"/>
              </a:rPr>
              <a:t>Definition: backburn = containment line 0.6 + suppression effort 0.4. The weights are the definition, and they do not change.</a:t>
            </a:r>
            <a:endParaRPr lang="en-US" sz="1100" dirty="0"/>
          </a:p>
          <a:p>
            <a:pPr marL="152400" indent="-152400">
              <a:lnSpc>
                <a:spcPct val="102000"/>
              </a:lnSpc>
              <a:spcAft>
                <a:spcPts val="220"/>
              </a:spcAft>
              <a:buSzPct val="100000"/>
              <a:buChar char="•"/>
            </a:pPr>
            <a:r>
              <a:rPr lang="en-US" sz="1100" b="0" i="0" dirty="0">
                <a:solidFill>
                  <a:srgbClr val="222222"/>
                </a:solidFill>
                <a:latin typeface="Calibri" pitchFamily="34" charset="0"/>
                <a:ea typeface="Calibri" pitchFamily="34" charset="-122"/>
                <a:cs typeface="Calibri" pitchFamily="34" charset="-120"/>
              </a:rPr>
              <a:t>A rule orders the name with one intensity: THEN backburn at 0.8 expands into containment line 0.6 × 0.8 = 0.48 and suppression effort 0.4 × 0.8 = 0.32.</a:t>
            </a:r>
            <a:endParaRPr lang="en-US" sz="1100" dirty="0"/>
          </a:p>
          <a:p>
            <a:pPr marL="152400" indent="-152400">
              <a:lnSpc>
                <a:spcPct val="102000"/>
              </a:lnSpc>
              <a:spcAft>
                <a:spcPts val="220"/>
              </a:spcAft>
              <a:buSzPct val="100000"/>
              <a:buChar char="•"/>
            </a:pPr>
            <a:r>
              <a:rPr lang="en-US" sz="1100" b="0" i="0" dirty="0">
                <a:solidFill>
                  <a:srgbClr val="222222"/>
                </a:solidFill>
                <a:latin typeface="Calibri" pitchFamily="34" charset="0"/>
                <a:ea typeface="Calibri" pitchFamily="34" charset="-122"/>
                <a:cs typeface="Calibri" pitchFamily="34" charset="-120"/>
              </a:rPr>
              <a:t>Nothing new reaches the physics: the macro only fixes a ratio between existing orders.</a:t>
            </a:r>
            <a:endParaRPr lang="en-US" sz="1100" dirty="0"/>
          </a:p>
          <a:p>
            <a:pPr marL="152400" indent="-152400">
              <a:lnSpc>
                <a:spcPct val="102000"/>
              </a:lnSpc>
              <a:spcAft>
                <a:spcPts val="220"/>
              </a:spcAft>
              <a:buSzPct val="100000"/>
              <a:buChar char="•"/>
            </a:pPr>
            <a:r>
              <a:rPr lang="en-US" sz="1100" b="0" i="0" dirty="0">
                <a:solidFill>
                  <a:srgbClr val="222222"/>
                </a:solidFill>
                <a:latin typeface="Calibri" pitchFamily="34" charset="0"/>
                <a:ea typeface="Calibri" pitchFamily="34" charset="-122"/>
                <a:cs typeface="Calibri" pitchFamily="34" charset="-120"/>
              </a:rPr>
              <a:t>The new name must still pay: both payoff gates, G5 and G5b, apply to it like to every package.</a:t>
            </a:r>
            <a:endParaRPr lang="en-US" sz="1100" dirty="0"/>
          </a:p>
          <a:p>
            <a:pPr marL="152400" indent="-152400">
              <a:lnSpc>
                <a:spcPct val="102000"/>
              </a:lnSpc>
              <a:spcAft>
                <a:spcPts val="0"/>
              </a:spcAft>
              <a:buSzPct val="100000"/>
              <a:buChar char="•"/>
            </a:pPr>
            <a:r>
              <a:rPr lang="en-US" sz="1050" b="0" i="1" dirty="0">
                <a:solidFill>
                  <a:srgbClr val="6E6E6E"/>
                </a:solidFill>
                <a:latin typeface="Calibri" pitchFamily="34" charset="0"/>
                <a:ea typeface="Calibri" pitchFamily="34" charset="-122"/>
                <a:cs typeface="Calibri" pitchFamily="34" charset="-120"/>
              </a:rPr>
              <a:t>From the campaign: head_knockdown (drafting 1.0, suppression 0.9, retardant 0.6), wet_containment_line (drafting 1.0, containment line 0.8).</a:t>
            </a:r>
            <a:endParaRPr lang="en-US" sz="1050" dirty="0"/>
          </a:p>
        </p:txBody>
      </p:sp>
    </p:spTree>
    <p:extLst>
      <p:ext uri="{BB962C8B-B14F-4D97-AF65-F5344CB8AC3E}">
        <p14:creationId xmlns:p14="http://schemas.microsoft.com/office/powerpoint/2010/main" val="928673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Product (b) : Intermediate Concept, a New Node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fig49" descr="/tmp/thx/deck/figs/Figure4_9.png"/>
          <p:cNvPicPr>
            <a:picLocks noChangeAspect="1"/>
          </p:cNvPicPr>
          <p:nvPr/>
        </p:nvPicPr>
        <p:blipFill>
          <a:blip r:embed="rId5"/>
          <a:srcRect t="25000" b="40000"/>
          <a:stretch/>
        </p:blipFill>
        <p:spPr>
          <a:xfrm>
            <a:off x="411480" y="1371600"/>
            <a:ext cx="7315200" cy="4077382"/>
          </a:xfrm>
          <a:prstGeom prst="rect">
            <a:avLst/>
          </a:prstGeom>
        </p:spPr>
      </p:pic>
      <p:sp>
        <p:nvSpPr>
          <p:cNvPr id="8502" name="Concept text"/>
          <p:cNvSpPr/>
          <p:nvPr/>
        </p:nvSpPr>
        <p:spPr>
          <a:xfrm>
            <a:off x="7909560" y="1371600"/>
            <a:ext cx="3840480" cy="5120640"/>
          </a:xfrm>
          <a:prstGeom prst="rect">
            <a:avLst/>
          </a:prstGeom>
          <a:noFill/>
          <a:ln/>
        </p:spPr>
        <p:txBody>
          <a:bodyPr wrap="square" lIns="0" tIns="0" rIns="0" bIns="0" rtlCol="0" anchor="t"/>
          <a:lstStyle/>
          <a:p>
            <a:pPr marL="0" indent="0">
              <a:lnSpc>
                <a:spcPct val="102000"/>
              </a:lnSpc>
              <a:spcAft>
                <a:spcPts val="220"/>
              </a:spcAft>
              <a:buNone/>
            </a:pPr>
            <a:r>
              <a:rPr lang="en-US" sz="1150" b="1" i="0" dirty="0">
                <a:solidFill>
                  <a:srgbClr val="222222"/>
                </a:solidFill>
                <a:latin typeface="Calibri" pitchFamily="34" charset="0"/>
                <a:ea typeface="Calibri" pitchFamily="34" charset="-122"/>
                <a:cs typeface="Calibri" pitchFamily="34" charset="-120"/>
              </a:rPr>
              <a:t>A concept is a new node in the hierarchy, not a new action.</a:t>
            </a:r>
            <a:endParaRPr lang="en-US" sz="1150" dirty="0"/>
          </a:p>
          <a:p>
            <a:pPr marL="152400" indent="-152400">
              <a:lnSpc>
                <a:spcPct val="102000"/>
              </a:lnSpc>
              <a:spcAft>
                <a:spcPts val="220"/>
              </a:spcAft>
              <a:buSzPct val="100000"/>
              <a:buChar char="•"/>
            </a:pPr>
            <a:r>
              <a:rPr lang="en-US" sz="1100" b="0" i="0" dirty="0">
                <a:solidFill>
                  <a:srgbClr val="222222"/>
                </a:solidFill>
                <a:latin typeface="Calibri" pitchFamily="34" charset="0"/>
                <a:ea typeface="Calibri" pitchFamily="34" charset="-122"/>
                <a:cs typeface="Calibri" pitchFamily="34" charset="-120"/>
              </a:rPr>
              <a:t>It changes what the rules can look at, never what they can order.</a:t>
            </a:r>
            <a:endParaRPr lang="en-US" sz="1100" dirty="0"/>
          </a:p>
          <a:p>
            <a:pPr marL="152400" indent="-152400">
              <a:lnSpc>
                <a:spcPct val="102000"/>
              </a:lnSpc>
              <a:spcAft>
                <a:spcPts val="220"/>
              </a:spcAft>
              <a:buSzPct val="100000"/>
              <a:buChar char="•"/>
            </a:pPr>
            <a:r>
              <a:rPr lang="en-US" sz="1100" b="0" i="0" dirty="0">
                <a:solidFill>
                  <a:srgbClr val="222222"/>
                </a:solidFill>
                <a:latin typeface="Calibri" pitchFamily="34" charset="0"/>
                <a:ea typeface="Calibri" pitchFamily="34" charset="-122"/>
                <a:cs typeface="Calibri" pitchFamily="34" charset="-120"/>
              </a:rPr>
              <a:t>ember spotting risk = 0.40 spread potential + 0.35 weather severity + 0.25 fuel load; the weights are normalized to sum to 1.</a:t>
            </a:r>
            <a:endParaRPr lang="en-US" sz="1100" dirty="0"/>
          </a:p>
          <a:p>
            <a:pPr marL="152400" indent="-152400">
              <a:lnSpc>
                <a:spcPct val="102000"/>
              </a:lnSpc>
              <a:spcAft>
                <a:spcPts val="220"/>
              </a:spcAft>
              <a:buSzPct val="100000"/>
              <a:buChar char="•"/>
            </a:pPr>
            <a:r>
              <a:rPr lang="en-US" sz="1100" b="0" i="0" dirty="0">
                <a:solidFill>
                  <a:srgbClr val="222222"/>
                </a:solidFill>
                <a:latin typeface="Calibri" pitchFamily="34" charset="0"/>
                <a:ea typeface="Calibri" pitchFamily="34" charset="-122"/>
                <a:cs typeface="Calibri" pitchFamily="34" charset="-120"/>
              </a:rPr>
              <a:t>Installed, it behaves like a native concept: five terms and a confidence gate. Layer 3 is unchanged.</a:t>
            </a:r>
            <a:endParaRPr lang="en-US" sz="1100" dirty="0"/>
          </a:p>
          <a:p>
            <a:pPr marL="152400" indent="-152400">
              <a:lnSpc>
                <a:spcPct val="102000"/>
              </a:lnSpc>
              <a:spcAft>
                <a:spcPts val="220"/>
              </a:spcAft>
              <a:buSzPct val="100000"/>
              <a:buChar char="•"/>
            </a:pPr>
            <a:r>
              <a:rPr lang="en-US" sz="1100" b="0" i="0" dirty="0">
                <a:solidFill>
                  <a:srgbClr val="222222"/>
                </a:solidFill>
                <a:latin typeface="Calibri" pitchFamily="34" charset="0"/>
                <a:ea typeface="Calibri" pitchFamily="34" charset="-122"/>
                <a:cs typeface="Calibri" pitchFamily="34" charset="-120"/>
              </a:rPr>
              <a:t>G2b refuses a near copy of an existing concept.</a:t>
            </a:r>
            <a:endParaRPr lang="en-US" sz="1100" dirty="0"/>
          </a:p>
          <a:p>
            <a:pPr marL="152400" indent="-152400">
              <a:lnSpc>
                <a:spcPct val="102000"/>
              </a:lnSpc>
              <a:spcAft>
                <a:spcPts val="220"/>
              </a:spcAft>
              <a:buSzPct val="100000"/>
              <a:buChar char="•"/>
            </a:pPr>
            <a:r>
              <a:rPr lang="en-US" sz="1100" b="0" i="0" dirty="0">
                <a:solidFill>
                  <a:srgbClr val="222222"/>
                </a:solidFill>
                <a:latin typeface="Calibri" pitchFamily="34" charset="0"/>
                <a:ea typeface="Calibri" pitchFamily="34" charset="-122"/>
                <a:cs typeface="Calibri" pitchFamily="34" charset="-120"/>
              </a:rPr>
              <a:t>The rule arriving with the package must cite it, or nothing could ever test it.</a:t>
            </a:r>
            <a:endParaRPr lang="en-US" sz="1100" dirty="0"/>
          </a:p>
          <a:p>
            <a:pPr marL="152400" indent="-152400">
              <a:lnSpc>
                <a:spcPct val="102000"/>
              </a:lnSpc>
              <a:spcAft>
                <a:spcPts val="0"/>
              </a:spcAft>
              <a:buSzPct val="100000"/>
              <a:buChar char="•"/>
            </a:pPr>
            <a:r>
              <a:rPr lang="en-US" sz="1050" b="0" i="1" dirty="0">
                <a:solidFill>
                  <a:srgbClr val="6E6E6E"/>
                </a:solidFill>
                <a:latin typeface="Calibri" pitchFamily="34" charset="0"/>
                <a:ea typeface="Calibri" pitchFamily="34" charset="-122"/>
                <a:cs typeface="Calibri" pitchFamily="34" charset="-120"/>
              </a:rPr>
              <a:t>G5b is not run for a concept: the rule is written on the concept, so it cannot be struck out while its rule stands.</a:t>
            </a:r>
            <a:endParaRPr lang="en-US" sz="1050" dirty="0"/>
          </a:p>
        </p:txBody>
      </p:sp>
    </p:spTree>
    <p:extLst>
      <p:ext uri="{BB962C8B-B14F-4D97-AF65-F5344CB8AC3E}">
        <p14:creationId xmlns:p14="http://schemas.microsoft.com/office/powerpoint/2010/main" val="13358146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Product (c) : Clause Actuator, a Tactic with Geometry</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fig49" descr="/tmp/thx/deck/figs/Figure4_9.png"/>
          <p:cNvPicPr>
            <a:picLocks noChangeAspect="1"/>
          </p:cNvPicPr>
          <p:nvPr/>
        </p:nvPicPr>
        <p:blipFill>
          <a:blip r:embed="rId5"/>
          <a:srcRect t="61500"/>
          <a:stretch/>
        </p:blipFill>
        <p:spPr>
          <a:xfrm>
            <a:off x="411480" y="1371600"/>
            <a:ext cx="6766560" cy="4148736"/>
          </a:xfrm>
          <a:prstGeom prst="rect">
            <a:avLst/>
          </a:prstGeom>
        </p:spPr>
      </p:pic>
      <p:sp>
        <p:nvSpPr>
          <p:cNvPr id="8503" name="Actuator text"/>
          <p:cNvSpPr/>
          <p:nvPr/>
        </p:nvSpPr>
        <p:spPr>
          <a:xfrm>
            <a:off x="7360920" y="1371600"/>
            <a:ext cx="4389120" cy="5120640"/>
          </a:xfrm>
          <a:prstGeom prst="rect">
            <a:avLst/>
          </a:prstGeom>
          <a:noFill/>
          <a:ln/>
        </p:spPr>
        <p:txBody>
          <a:bodyPr wrap="square" lIns="0" tIns="0" rIns="0" bIns="0" rtlCol="0" anchor="t"/>
          <a:lstStyle/>
          <a:p>
            <a:pPr marL="0" indent="0">
              <a:lnSpc>
                <a:spcPct val="102000"/>
              </a:lnSpc>
              <a:spcAft>
                <a:spcPts val="220"/>
              </a:spcAft>
              <a:buNone/>
            </a:pPr>
            <a:r>
              <a:rPr lang="en-US" sz="1150" b="1" i="0" dirty="0">
                <a:solidFill>
                  <a:srgbClr val="222222"/>
                </a:solidFill>
                <a:latin typeface="Calibri" pitchFamily="34" charset="0"/>
                <a:ea typeface="Calibri" pitchFamily="34" charset="-122"/>
                <a:cs typeface="Calibri" pitchFamily="34" charset="-120"/>
              </a:rPr>
              <a:t>The only product that says where on the map an order acts.</a:t>
            </a:r>
            <a:endParaRPr lang="en-US" sz="1150" dirty="0"/>
          </a:p>
          <a:p>
            <a:pPr marL="152400" indent="-152400">
              <a:lnSpc>
                <a:spcPct val="102000"/>
              </a:lnSpc>
              <a:spcAft>
                <a:spcPts val="220"/>
              </a:spcAft>
              <a:buSzPct val="100000"/>
              <a:buChar char="•"/>
            </a:pPr>
            <a:r>
              <a:rPr lang="en-US" sz="1100" b="0" i="0" dirty="0">
                <a:solidFill>
                  <a:srgbClr val="222222"/>
                </a:solidFill>
                <a:latin typeface="Calibri" pitchFamily="34" charset="0"/>
                <a:ea typeface="Calibri" pitchFamily="34" charset="-122"/>
                <a:cs typeface="Calibri" pitchFamily="34" charset="-120"/>
              </a:rPr>
              <a:t>A clause = one verified effect, on one sector, over a band of cells from the front, at an amount. At most three clauses.</a:t>
            </a:r>
            <a:endParaRPr lang="en-US" sz="1100" dirty="0"/>
          </a:p>
          <a:p>
            <a:pPr marL="152400" indent="-152400">
              <a:lnSpc>
                <a:spcPct val="102000"/>
              </a:lnSpc>
              <a:spcAft>
                <a:spcPts val="220"/>
              </a:spcAft>
              <a:buSzPct val="100000"/>
              <a:buChar char="•"/>
            </a:pPr>
            <a:r>
              <a:rPr lang="en-US" sz="1100" b="0" i="0" dirty="0">
                <a:solidFill>
                  <a:srgbClr val="222222"/>
                </a:solidFill>
                <a:latin typeface="Calibri" pitchFamily="34" charset="0"/>
                <a:ea typeface="Calibri" pitchFamily="34" charset="-122"/>
                <a:cs typeface="Calibri" pitchFamily="34" charset="-120"/>
              </a:rPr>
              <a:t>First clause read out: draft on at_fire, cells 0 to 3, amount 1.0 multiplies the capacity already standing on the burning cells and the band around them.</a:t>
            </a:r>
            <a:endParaRPr lang="en-US" sz="1100" dirty="0"/>
          </a:p>
          <a:p>
            <a:pPr marL="152400" indent="-152400">
              <a:lnSpc>
                <a:spcPct val="102000"/>
              </a:lnSpc>
              <a:spcAft>
                <a:spcPts val="220"/>
              </a:spcAft>
              <a:buSzPct val="100000"/>
              <a:buChar char="•"/>
            </a:pPr>
            <a:r>
              <a:rPr lang="en-US" sz="1100" b="0" i="0" dirty="0">
                <a:solidFill>
                  <a:srgbClr val="222222"/>
                </a:solidFill>
                <a:latin typeface="Calibri" pitchFamily="34" charset="0"/>
                <a:ea typeface="Calibri" pitchFamily="34" charset="-122"/>
                <a:cs typeface="Calibri" pitchFamily="34" charset="-120"/>
              </a:rPr>
              <a:t>The compiler resolves every sector on the live map before anything is simulated.</a:t>
            </a:r>
            <a:endParaRPr lang="en-US" sz="1100" dirty="0"/>
          </a:p>
          <a:p>
            <a:pPr marL="152400" indent="-152400">
              <a:lnSpc>
                <a:spcPct val="102000"/>
              </a:lnSpc>
              <a:spcAft>
                <a:spcPts val="220"/>
              </a:spcAft>
              <a:buSzPct val="100000"/>
              <a:buChar char="•"/>
            </a:pPr>
            <a:r>
              <a:rPr lang="en-US" sz="1100" b="0" i="0" dirty="0">
                <a:solidFill>
                  <a:srgbClr val="222222"/>
                </a:solidFill>
                <a:latin typeface="Calibri" pitchFamily="34" charset="0"/>
                <a:ea typeface="Calibri" pitchFamily="34" charset="-122"/>
                <a:cs typeface="Calibri" pitchFamily="34" charset="-120"/>
              </a:rPr>
              <a:t>So an actuator cannot cut a line through a settlement or light a fire on water.</a:t>
            </a:r>
            <a:endParaRPr lang="en-US" sz="1100" dirty="0"/>
          </a:p>
          <a:p>
            <a:pPr marL="152400" indent="-152400">
              <a:lnSpc>
                <a:spcPct val="102000"/>
              </a:lnSpc>
              <a:spcAft>
                <a:spcPts val="0"/>
              </a:spcAft>
              <a:buSzPct val="100000"/>
              <a:buChar char="•"/>
            </a:pPr>
            <a:r>
              <a:rPr lang="en-US" sz="1050" b="0" i="1" dirty="0">
                <a:solidFill>
                  <a:srgbClr val="6E6E6E"/>
                </a:solidFill>
                <a:latin typeface="Calibri" pitchFamily="34" charset="0"/>
                <a:ea typeface="Calibri" pitchFamily="34" charset="-122"/>
                <a:cs typeface="Calibri" pitchFamily="34" charset="-120"/>
              </a:rPr>
              <a:t>New tactic, old physics: every clause invokes an effect the simulator already validates.</a:t>
            </a:r>
            <a:endParaRPr lang="en-US" sz="1050" dirty="0"/>
          </a:p>
        </p:txBody>
      </p:sp>
    </p:spTree>
    <p:extLst>
      <p:ext uri="{BB962C8B-B14F-4D97-AF65-F5344CB8AC3E}">
        <p14:creationId xmlns:p14="http://schemas.microsoft.com/office/powerpoint/2010/main" val="21992850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name="Slide 28">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3" name="Text 1"/>
          <p:cNvSpPr/>
          <p:nvPr/>
        </p:nvSpPr>
        <p:spPr>
          <a:xfrm>
            <a:off x="822960" y="2606040"/>
            <a:ext cx="10607040" cy="914400"/>
          </a:xfrm>
          <a:prstGeom prst="rect">
            <a:avLst/>
          </a:prstGeom>
          <a:noFill/>
          <a:ln/>
        </p:spPr>
        <p:txBody>
          <a:bodyPr wrap="square" lIns="0" tIns="0" rIns="0" bIns="0" rtlCol="0" anchor="ctr"/>
          <a:lstStyle/>
          <a:p>
            <a:pPr marL="0" indent="0">
              <a:buNone/>
            </a:pPr>
            <a:r>
              <a:rPr lang="tr-TR" sz="4800" b="1" dirty="0" err="1">
                <a:solidFill>
                  <a:srgbClr val="FFFFFF"/>
                </a:solidFill>
                <a:latin typeface="Cambria" pitchFamily="34" charset="0"/>
                <a:ea typeface="Cambria" pitchFamily="34" charset="-122"/>
                <a:cs typeface="Cambria" pitchFamily="34" charset="-120"/>
              </a:rPr>
              <a:t>Performance</a:t>
            </a:r>
            <a:endParaRPr lang="en-US" sz="4800" dirty="0"/>
          </a:p>
        </p:txBody>
      </p:sp>
      <p:pic>
        <p:nvPicPr>
          <p:cNvPr id="5"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6"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RUBRIC</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Eight Criteria, Fixed Before the Experiments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43584"/>
            <a:ext cx="11247120" cy="566928"/>
          </a:xfrm>
          <a:prstGeom prst="rect">
            <a:avLst/>
          </a:prstGeom>
          <a:noFill/>
          <a:ln/>
        </p:spPr>
        <p:txBody>
          <a:bodyPr wrap="square" lIns="0" tIns="0" rIns="0" bIns="0" rtlCol="0" anchor="t"/>
          <a:lstStyle/>
          <a:p>
            <a:pPr marL="0" indent="0">
              <a:lnSpc>
                <a:spcPct val="104000"/>
              </a:lnSpc>
              <a:buNone/>
            </a:pP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735979207"/>
              </p:ext>
            </p:extLst>
          </p:nvPr>
        </p:nvGraphicFramePr>
        <p:xfrm>
          <a:off x="502920" y="1243584"/>
          <a:ext cx="11035364" cy="4791456"/>
        </p:xfrm>
        <a:graphic>
          <a:graphicData uri="http://schemas.openxmlformats.org/drawingml/2006/table">
            <a:tbl>
              <a:tblPr/>
              <a:tblGrid>
                <a:gridCol w="3728164">
                  <a:extLst>
                    <a:ext uri="{9D8B030D-6E8A-4147-A177-3AD203B41FA5}">
                      <a16:colId xmlns:a16="http://schemas.microsoft.com/office/drawing/2014/main" val="20000"/>
                    </a:ext>
                  </a:extLst>
                </a:gridCol>
                <a:gridCol w="7307200">
                  <a:extLst>
                    <a:ext uri="{9D8B030D-6E8A-4147-A177-3AD203B41FA5}">
                      <a16:colId xmlns:a16="http://schemas.microsoft.com/office/drawing/2014/main" val="20001"/>
                    </a:ext>
                  </a:extLst>
                </a:gridCol>
              </a:tblGrid>
              <a:tr h="5323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asks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5323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S1 Predictive fidelity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the core reproduces observed fire behavior from real inputs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5323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S2 Decision quality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recommended interventions improve the outcome vs a no-tool alternative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5323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S3 Timeliness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decision latency compatible with operational tempo</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5323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S4 Robustness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graceful behavior under sensor loss, noise, communication failure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5323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S5 Uncertainty handling</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input uncertainty represented and propagated to the decision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5323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S6 Adaptability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the system extends its own knowledge when it does not cover the situation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5323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S7 Explainability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every recommendation traceable to its evidence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5323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S8 Scalability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cost grows manageably with domain size and number of regions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8" name="Text 3"/>
          <p:cNvSpPr/>
          <p:nvPr/>
        </p:nvSpPr>
        <p:spPr>
          <a:xfrm>
            <a:off x="502920" y="6263640"/>
            <a:ext cx="11247120" cy="36576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Sections: verification answers S1; sensitivity and the ladder answer S2–S5; the adaptation record answers S6–S7; tempo and scale answer S3 and S8. The audit returns as the closing table.</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SETUP</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Experimental Ground : Parameters and Assumptions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61872"/>
            <a:ext cx="56692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Shared parameters of all campaigns</a:t>
            </a:r>
            <a:endParaRPr lang="en-US" sz="1400" dirty="0"/>
          </a:p>
        </p:txBody>
      </p:sp>
      <mc:AlternateContent xmlns:mc="http://schemas.openxmlformats.org/markup-compatibility/2006">
        <mc:Choice xmlns:a14="http://schemas.microsoft.com/office/drawing/2010/main" Requires="a14">
          <p:graphicFrame>
            <p:nvGraphicFramePr>
              <p:cNvPr id="7" name="Table 0"/>
              <p:cNvGraphicFramePr>
                <a:graphicFrameLocks noGrp="1"/>
              </p:cNvGraphicFramePr>
              <p:nvPr>
                <p:extLst>
                  <p:ext uri="{D42A27DB-BD31-4B8C-83A1-F6EECF244321}">
                    <p14:modId xmlns:p14="http://schemas.microsoft.com/office/powerpoint/2010/main" val="2060033400"/>
                  </p:ext>
                </p:extLst>
              </p:nvPr>
            </p:nvGraphicFramePr>
            <p:xfrm>
              <a:off x="502920" y="1609344"/>
              <a:ext cx="5669280" cy="3456432"/>
            </p:xfrm>
            <a:graphic>
              <a:graphicData uri="http://schemas.openxmlformats.org/drawingml/2006/table">
                <a:tbl>
                  <a:tblPr/>
                  <a:tblGrid>
                    <a:gridCol w="32918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Parameter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 / range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Grid (synthetic)</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200 × 200 cells at 90 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Simulation step</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 – 30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Decision cycle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 – 20 min (default 12)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Satisficing bound </a:t>
                          </a:r>
                          <a14:m>
                            <m:oMath xmlns:m="http://schemas.openxmlformats.org/officeDocument/2006/math">
                              <m:sSub>
                                <m:sSubPr>
                                  <m:ctrlPr>
                                    <a:rPr lang="en-US" sz="1200">
                                      <a:latin typeface="Cambria Math"/>
                                    </a:rPr>
                                  </m:ctrlPr>
                                </m:sSubPr>
                                <m:e>
                                  <m:r>
                                    <a:rPr lang="en-US" sz="1200">
                                      <a:latin typeface="Cambria Math"/>
                                    </a:rPr>
                                    <m:t>𝐽</m:t>
                                  </m:r>
                                </m:e>
                                <m:sub>
                                  <m:r>
                                    <a:rPr lang="en-US" sz="1200">
                                      <a:latin typeface="Cambria Math"/>
                                    </a:rPr>
                                    <m:t>𝑇𝐻</m:t>
                                  </m:r>
                                </m:sub>
                              </m:sSub>
                            </m:oMath>
                          </a14:m>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Quality gate </a:t>
                          </a:r>
                          <a14:m>
                            <m:oMath xmlns:m="http://schemas.openxmlformats.org/officeDocument/2006/math">
                              <m:r>
                                <a:rPr lang="en-US" sz="1200">
                                  <a:latin typeface="Cambria Math"/>
                                </a:rPr>
                                <m:t>𝜂</m:t>
                              </m:r>
                            </m:oMath>
                          </a14:m>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Trial basis (shadow forecast)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 45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Monte Carlo runs per condition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50 (seeds 1–50)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Hardware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i9-10900K, 32 GB RAM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mc:Choice>
        <mc:Fallback>
          <p:graphicFrame>
            <p:nvGraphicFramePr>
              <p:cNvPr id="7" name="Table 0"/>
              <p:cNvGraphicFramePr>
                <a:graphicFrameLocks noGrp="1"/>
              </p:cNvGraphicFramePr>
              <p:nvPr>
                <p:extLst>
                  <p:ext uri="{D42A27DB-BD31-4B8C-83A1-F6EECF244321}">
                    <p14:modId xmlns:p14="http://schemas.microsoft.com/office/powerpoint/2010/main" val="2060033400"/>
                  </p:ext>
                </p:extLst>
              </p:nvPr>
            </p:nvGraphicFramePr>
            <p:xfrm>
              <a:off x="502920" y="1609344"/>
              <a:ext cx="5669280" cy="3456432"/>
            </p:xfrm>
            <a:graphic>
              <a:graphicData uri="http://schemas.openxmlformats.org/drawingml/2006/table">
                <a:tbl>
                  <a:tblPr/>
                  <a:tblGrid>
                    <a:gridCol w="32918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Parameter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 / range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Grid (synthetic)</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200 × 200 cells at 90 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Simulation step</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 – 30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Decision cycle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 – 20 min (default 12)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endParaRPr lang="tr-T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185" t="-401587" r="-72458" b="-403175"/>
                          </a:stretch>
                        </a:blipFill>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endParaRPr lang="tr-T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185" t="-501587" r="-72458" b="-303175"/>
                          </a:stretch>
                        </a:blipFill>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Trial basis (shadow forecast)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 45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Monte Carlo runs per condition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50 (seeds 1–50)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Hardware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i9-10900K, 32 GB RAM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mc:Fallback>
      </mc:AlternateContent>
      <p:sp>
        <p:nvSpPr>
          <p:cNvPr id="8" name="Text 3"/>
          <p:cNvSpPr/>
          <p:nvPr/>
        </p:nvSpPr>
        <p:spPr>
          <a:xfrm>
            <a:off x="6537960" y="1261872"/>
            <a:ext cx="5212080" cy="292608"/>
          </a:xfrm>
          <a:prstGeom prst="rect">
            <a:avLst/>
          </a:prstGeom>
          <a:noFill/>
          <a:ln/>
        </p:spPr>
        <p:txBody>
          <a:bodyPr wrap="square" lIns="0" tIns="0" rIns="0" bIns="0" rtlCol="0" anchor="ctr"/>
          <a:lstStyle/>
          <a:p>
            <a:pPr marL="0" indent="0">
              <a:buNone/>
            </a:pPr>
            <a:r>
              <a:rPr lang="en-US" sz="1600" b="1" dirty="0">
                <a:solidFill>
                  <a:srgbClr val="E31836"/>
                </a:solidFill>
                <a:latin typeface="Calibri" pitchFamily="34" charset="0"/>
                <a:ea typeface="Calibri" pitchFamily="34" charset="-122"/>
                <a:cs typeface="Calibri" pitchFamily="34" charset="-120"/>
              </a:rPr>
              <a:t>Two scenario families</a:t>
            </a:r>
            <a:endParaRPr lang="en-US" sz="1600" dirty="0"/>
          </a:p>
        </p:txBody>
      </p:sp>
      <p:sp>
        <p:nvSpPr>
          <p:cNvPr id="9" name="Text 4"/>
          <p:cNvSpPr/>
          <p:nvPr/>
        </p:nvSpPr>
        <p:spPr>
          <a:xfrm>
            <a:off x="6537960" y="1609344"/>
            <a:ext cx="5212080" cy="1371600"/>
          </a:xfrm>
          <a:prstGeom prst="rect">
            <a:avLst/>
          </a:prstGeom>
          <a:noFill/>
          <a:ln/>
        </p:spPr>
        <p:txBody>
          <a:bodyPr wrap="square" lIns="0" tIns="0" rIns="0" bIns="0" rtlCol="0" anchor="t"/>
          <a:lstStyle/>
          <a:p>
            <a:pPr marL="0" indent="0">
              <a:lnSpc>
                <a:spcPct val="104000"/>
              </a:lnSpc>
              <a:buNone/>
            </a:pPr>
            <a:r>
              <a:rPr lang="en-US" sz="1400" b="1" dirty="0">
                <a:solidFill>
                  <a:srgbClr val="000000"/>
                </a:solidFill>
                <a:latin typeface="Calibri" pitchFamily="34" charset="0"/>
                <a:ea typeface="Calibri" pitchFamily="34" charset="-122"/>
                <a:cs typeface="Calibri" pitchFamily="34" charset="-120"/>
              </a:rPr>
              <a:t>Synthetic: </a:t>
            </a:r>
            <a:r>
              <a:rPr lang="en-US" sz="1400" dirty="0">
                <a:solidFill>
                  <a:srgbClr val="222222"/>
                </a:solidFill>
                <a:latin typeface="Calibri" pitchFamily="34" charset="0"/>
                <a:ea typeface="Calibri" pitchFamily="34" charset="-122"/>
                <a:cs typeface="Calibri" pitchFamily="34" charset="-120"/>
              </a:rPr>
              <a:t>Procedurally generated worlds: terrain presets, seeded settlements and roads, capacity-limited bases; ignitions on the least reachable burnable cells.</a:t>
            </a:r>
          </a:p>
          <a:p>
            <a:pPr marL="0" indent="0">
              <a:lnSpc>
                <a:spcPct val="104000"/>
              </a:lnSpc>
              <a:buNone/>
            </a:pPr>
            <a:endParaRPr lang="en-US" sz="1400" b="1" dirty="0">
              <a:solidFill>
                <a:srgbClr val="222222"/>
              </a:solidFill>
              <a:latin typeface="Calibri" pitchFamily="34" charset="0"/>
              <a:ea typeface="Calibri" pitchFamily="34" charset="-122"/>
              <a:cs typeface="Calibri" pitchFamily="34" charset="-120"/>
            </a:endParaRPr>
          </a:p>
          <a:p>
            <a:pPr marL="0" indent="0">
              <a:lnSpc>
                <a:spcPct val="104000"/>
              </a:lnSpc>
              <a:buNone/>
            </a:pPr>
            <a:r>
              <a:rPr lang="en-US" sz="1400" b="1" dirty="0">
                <a:solidFill>
                  <a:srgbClr val="000000"/>
                </a:solidFill>
                <a:latin typeface="Calibri" pitchFamily="34" charset="0"/>
                <a:ea typeface="Calibri" pitchFamily="34" charset="-122"/>
                <a:cs typeface="Calibri" pitchFamily="34" charset="-120"/>
              </a:rPr>
              <a:t>Historical: </a:t>
            </a:r>
            <a:r>
              <a:rPr lang="en-US" sz="1400" dirty="0">
                <a:solidFill>
                  <a:srgbClr val="222222"/>
                </a:solidFill>
                <a:latin typeface="Calibri" pitchFamily="34" charset="0"/>
                <a:ea typeface="Calibri" pitchFamily="34" charset="-122"/>
                <a:cs typeface="Calibri" pitchFamily="34" charset="-120"/>
              </a:rPr>
              <a:t>Documented fires reconstructed on 90 m grids from real terrain, fuel, and weather data.</a:t>
            </a:r>
            <a:endParaRPr lang="en-US" sz="1400" dirty="0"/>
          </a:p>
        </p:txBody>
      </p:sp>
      <p:sp>
        <p:nvSpPr>
          <p:cNvPr id="10" name="Text 5"/>
          <p:cNvSpPr/>
          <p:nvPr/>
        </p:nvSpPr>
        <p:spPr>
          <a:xfrm>
            <a:off x="6537960" y="3063240"/>
            <a:ext cx="5212080" cy="292608"/>
          </a:xfrm>
          <a:prstGeom prst="rect">
            <a:avLst/>
          </a:prstGeom>
          <a:noFill/>
          <a:ln/>
        </p:spPr>
        <p:txBody>
          <a:bodyPr wrap="square" lIns="0" tIns="0" rIns="0" bIns="0" rtlCol="0" anchor="ctr"/>
          <a:lstStyle/>
          <a:p>
            <a:pPr marL="0" indent="0">
              <a:buNone/>
            </a:pPr>
            <a:r>
              <a:rPr lang="en-US" sz="1600" b="1" dirty="0">
                <a:solidFill>
                  <a:srgbClr val="E31836"/>
                </a:solidFill>
                <a:latin typeface="Calibri" pitchFamily="34" charset="0"/>
                <a:ea typeface="Calibri" pitchFamily="34" charset="-122"/>
                <a:cs typeface="Calibri" pitchFamily="34" charset="-120"/>
              </a:rPr>
              <a:t>Assumptions </a:t>
            </a:r>
            <a:endParaRPr lang="en-US" sz="1600" dirty="0"/>
          </a:p>
        </p:txBody>
      </p:sp>
      <p:sp>
        <p:nvSpPr>
          <p:cNvPr id="11" name="Text 6"/>
          <p:cNvSpPr/>
          <p:nvPr/>
        </p:nvSpPr>
        <p:spPr>
          <a:xfrm>
            <a:off x="6537960" y="3401568"/>
            <a:ext cx="5212080" cy="30175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Uniform precipitation; equilibrium dead-fuel moisture; fuel classes from a land-cover product</a:t>
            </a:r>
          </a:p>
          <a:p>
            <a:pPr marL="152400" indent="-152400">
              <a:lnSpc>
                <a:spcPct val="104000"/>
              </a:lnSpc>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Decisions on a fixed cycle; sensing and communication reliable unless an experiment perturbs them.</a:t>
            </a:r>
            <a:endParaRPr lang="en-US" sz="1400" dirty="0"/>
          </a:p>
          <a:p>
            <a:pPr marL="152400" indent="-152400">
              <a:lnSpc>
                <a:spcPct val="104000"/>
              </a:lnSpc>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Cost priorities that weight J are fixed and known for a run; generative changes act only after passing the gates.</a:t>
            </a:r>
            <a:endParaRPr lang="en-US" sz="1400" dirty="0"/>
          </a:p>
          <a:p>
            <a:pPr marL="152400" indent="-152400">
              <a:lnSpc>
                <a:spcPct val="104000"/>
              </a:lnSpc>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Evacuation is charged through the response capacity it consumes; exposure counts actively burning cells only.</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VERIFICATION</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Verification : Blind Hindcasts on Four Real Fires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8506" name="Hindcast maps"/>
          <p:cNvPicPr>
            <a:picLocks noChangeAspect="1"/>
          </p:cNvPicPr>
          <p:nvPr/>
        </p:nvPicPr>
        <p:blipFill>
          <a:blip r:embed="rId5"/>
          <a:stretch>
            <a:fillRect/>
          </a:stretch>
        </p:blipFill>
        <p:spPr>
          <a:xfrm>
            <a:off x="6903720" y="1325880"/>
            <a:ext cx="4754880" cy="3574631"/>
          </a:xfrm>
          <a:prstGeom prst="rect">
            <a:avLst/>
          </a:prstGeom>
        </p:spPr>
      </p:pic>
      <p:sp>
        <p:nvSpPr>
          <p:cNvPr id="8508" name="Results line"/>
          <p:cNvSpPr/>
          <p:nvPr/>
        </p:nvSpPr>
        <p:spPr>
          <a:xfrm>
            <a:off x="6903720" y="5120640"/>
            <a:ext cx="4651408" cy="822960"/>
          </a:xfrm>
          <a:prstGeom prst="rect">
            <a:avLst/>
          </a:prstGeom>
          <a:noFill/>
          <a:ln/>
        </p:spPr>
        <p:txBody>
          <a:bodyPr wrap="square" lIns="0" tIns="0" rIns="0" bIns="0" rtlCol="0" anchor="t"/>
          <a:lstStyle/>
          <a:p>
            <a:pPr marL="0" indent="0">
              <a:lnSpc>
                <a:spcPct val="102000"/>
              </a:lnSpc>
              <a:spcAft>
                <a:spcPts val="0"/>
              </a:spcAft>
              <a:buNone/>
            </a:pPr>
            <a:r>
              <a:rPr lang="en-US" sz="1300" b="1" i="0" dirty="0">
                <a:solidFill>
                  <a:srgbClr val="E31836"/>
                </a:solidFill>
                <a:latin typeface="Calibri" pitchFamily="34" charset="0"/>
                <a:ea typeface="Calibri" pitchFamily="34" charset="-122"/>
                <a:cs typeface="Calibri" pitchFamily="34" charset="-120"/>
              </a:rPr>
              <a:t>Overall agreement 86 to 94% · probability of detection 85 to 97% · front score 82 to 90% · arrival score 71 to 98%</a:t>
            </a:r>
            <a:endParaRPr lang="en-US" sz="1300" dirty="0"/>
          </a:p>
        </p:txBody>
      </p:sp>
      <p:pic>
        <p:nvPicPr>
          <p:cNvPr id="7" name="Picture 6">
            <a:extLst>
              <a:ext uri="{FF2B5EF4-FFF2-40B4-BE49-F238E27FC236}">
                <a16:creationId xmlns:a16="http://schemas.microsoft.com/office/drawing/2014/main" id="{7DF8B40B-A040-99E9-8C51-0FF767792360}"/>
              </a:ext>
            </a:extLst>
          </p:cNvPr>
          <p:cNvPicPr>
            <a:picLocks noChangeAspect="1"/>
          </p:cNvPicPr>
          <p:nvPr/>
        </p:nvPicPr>
        <p:blipFill>
          <a:blip r:embed="rId6"/>
          <a:srcRect b="9442"/>
          <a:stretch>
            <a:fillRect/>
          </a:stretch>
        </p:blipFill>
        <p:spPr>
          <a:xfrm>
            <a:off x="733563" y="3390499"/>
            <a:ext cx="5404585" cy="3296653"/>
          </a:xfrm>
          <a:prstGeom prst="rect">
            <a:avLst/>
          </a:prstGeom>
        </p:spPr>
      </p:pic>
      <p:graphicFrame>
        <p:nvGraphicFramePr>
          <p:cNvPr id="9" name="Table 0">
            <a:extLst>
              <a:ext uri="{FF2B5EF4-FFF2-40B4-BE49-F238E27FC236}">
                <a16:creationId xmlns:a16="http://schemas.microsoft.com/office/drawing/2014/main" id="{E4A63A30-D641-0683-C5C8-4117073FBCAB}"/>
              </a:ext>
            </a:extLst>
          </p:cNvPr>
          <p:cNvGraphicFramePr>
            <a:graphicFrameLocks noGrp="1"/>
          </p:cNvGraphicFramePr>
          <p:nvPr/>
        </p:nvGraphicFramePr>
        <p:xfrm>
          <a:off x="457199" y="1216152"/>
          <a:ext cx="5957315" cy="2066544"/>
        </p:xfrm>
        <a:graphic>
          <a:graphicData uri="http://schemas.openxmlformats.org/drawingml/2006/table">
            <a:tbl>
              <a:tblPr/>
              <a:tblGrid>
                <a:gridCol w="1985771">
                  <a:extLst>
                    <a:ext uri="{9D8B030D-6E8A-4147-A177-3AD203B41FA5}">
                      <a16:colId xmlns:a16="http://schemas.microsoft.com/office/drawing/2014/main" val="20000"/>
                    </a:ext>
                  </a:extLst>
                </a:gridCol>
                <a:gridCol w="2131072">
                  <a:extLst>
                    <a:ext uri="{9D8B030D-6E8A-4147-A177-3AD203B41FA5}">
                      <a16:colId xmlns:a16="http://schemas.microsoft.com/office/drawing/2014/main" val="20001"/>
                    </a:ext>
                  </a:extLst>
                </a:gridCol>
                <a:gridCol w="968670">
                  <a:extLst>
                    <a:ext uri="{9D8B030D-6E8A-4147-A177-3AD203B41FA5}">
                      <a16:colId xmlns:a16="http://schemas.microsoft.com/office/drawing/2014/main" val="20002"/>
                    </a:ext>
                  </a:extLst>
                </a:gridCol>
                <a:gridCol w="871802">
                  <a:extLst>
                    <a:ext uri="{9D8B030D-6E8A-4147-A177-3AD203B41FA5}">
                      <a16:colId xmlns:a16="http://schemas.microsoft.com/office/drawing/2014/main" val="20003"/>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Bounding box (°E, °N)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Start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Duration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Sc1 Kayadere (Çanakkale) 2023</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26.50–27.00 E, 39.90–40.20 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2023-08-22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48 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Sc2 Milas (Muğla) 2021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27.70–28.35 E, 36.95–37.35 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2021-08-01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72 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Sc3 Marmaris (Muğla) 2021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28.10–28.55 E, 36.75–37.05 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2021-07-29</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48 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Sc4 </a:t>
                      </a:r>
                      <a:r>
                        <a:rPr lang="en-US" sz="1200" b="1" dirty="0" err="1">
                          <a:solidFill>
                            <a:srgbClr val="E31836"/>
                          </a:solidFill>
                          <a:latin typeface="Calibri" pitchFamily="34" charset="0"/>
                          <a:ea typeface="Calibri" pitchFamily="34" charset="-122"/>
                          <a:cs typeface="Calibri" pitchFamily="34" charset="-120"/>
                        </a:rPr>
                        <a:t>Kayadere</a:t>
                      </a:r>
                      <a:r>
                        <a:rPr lang="en-US" sz="1200" b="1" dirty="0">
                          <a:solidFill>
                            <a:srgbClr val="E31836"/>
                          </a:solidFill>
                          <a:latin typeface="Calibri" pitchFamily="34" charset="0"/>
                          <a:ea typeface="Calibri" pitchFamily="34" charset="-122"/>
                          <a:cs typeface="Calibri" pitchFamily="34" charset="-120"/>
                        </a:rPr>
                        <a:t> (Çanakkale) 2023</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31.30–31.80 E, 36.72–37.08 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2021-07-28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48 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PARAMETER ANALYSES 1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Sensitivity Design : One Bias at a Time, 880 Runs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98448"/>
            <a:ext cx="11247120" cy="192024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Every parameter has a nominal value — the value the framework actually runs with. A bias is a controlled deviation from it: the question is not which value is best, but how much miscalibration the loop tolerates.</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two situational axes — fire load and resource level — are swept first to find an operating point where the layer is neither winning nor losing outright; the biases are applied around that point.</a:t>
            </a:r>
            <a:endParaRPr lang="en-US" sz="1250" dirty="0"/>
          </a:p>
        </p:txBody>
      </p:sp>
      <mc:AlternateContent xmlns:mc="http://schemas.openxmlformats.org/markup-compatibility/2006">
        <mc:Choice xmlns:a14="http://schemas.microsoft.com/office/drawing/2010/main" Requires="a14">
          <p:graphicFrame>
            <p:nvGraphicFramePr>
              <p:cNvPr id="8" name="Table 0"/>
              <p:cNvGraphicFramePr>
                <a:graphicFrameLocks noGrp="1"/>
              </p:cNvGraphicFramePr>
              <p:nvPr>
                <p:extLst>
                  <p:ext uri="{D42A27DB-BD31-4B8C-83A1-F6EECF244321}">
                    <p14:modId xmlns:p14="http://schemas.microsoft.com/office/powerpoint/2010/main" val="1123053219"/>
                  </p:ext>
                </p:extLst>
              </p:nvPr>
            </p:nvGraphicFramePr>
            <p:xfrm>
              <a:off x="502920" y="3291840"/>
              <a:ext cx="11247120" cy="2816352"/>
            </p:xfrm>
            <a:graphic>
              <a:graphicData uri="http://schemas.openxmlformats.org/drawingml/2006/table">
                <a:tbl>
                  <a:tblPr/>
                  <a:tblGrid>
                    <a:gridCol w="2743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6126480">
                      <a:extLst>
                        <a:ext uri="{9D8B030D-6E8A-4147-A177-3AD203B41FA5}">
                          <a16:colId xmlns:a16="http://schemas.microsoft.com/office/drawing/2014/main" val="20003"/>
                        </a:ext>
                      </a:extLst>
                    </a:gridCol>
                  </a:tblGrid>
                  <a:tr h="40233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Parameter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Nominal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Bias range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sets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Simultaneous ignitions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 12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fire load: fires started at step 0 on the least reachable cells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Resource level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0.10 – 1.00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scale on the pool; binds as a total budget across regions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Local regions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 16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sub-areas evaluated on their own, competing for the shared pool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No-harm horizon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45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45 – 90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lookahead over which candidate and no-action are compared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Satisficing bound </a:t>
                          </a:r>
                          <a14:m>
                            <m:oMath xmlns:m="http://schemas.openxmlformats.org/officeDocument/2006/math">
                              <m:sSub>
                                <m:sSubPr>
                                  <m:ctrlPr>
                                    <a:rPr lang="en-US" sz="1200">
                                      <a:latin typeface="Cambria Math"/>
                                    </a:rPr>
                                  </m:ctrlPr>
                                </m:sSubPr>
                                <m:e>
                                  <m:r>
                                    <a:rPr lang="en-US" sz="1200">
                                      <a:latin typeface="Cambria Math"/>
                                    </a:rPr>
                                    <m:t>𝐽</m:t>
                                  </m:r>
                                </m:e>
                                <m:sub>
                                  <m:r>
                                    <a:rPr lang="en-US" sz="1200">
                                      <a:latin typeface="Cambria Math"/>
                                    </a:rPr>
                                    <m:t>𝑇𝐻</m:t>
                                  </m:r>
                                </m:sub>
                              </m:sSub>
                            </m:oMath>
                          </a14:m>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0.15 – 0.60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cost at which standing orders are accepted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Quality gate </a:t>
                          </a:r>
                          <a14:m>
                            <m:oMath xmlns:m="http://schemas.openxmlformats.org/officeDocument/2006/math">
                              <m:r>
                                <a:rPr lang="en-US" sz="1200">
                                  <a:latin typeface="Cambria Math"/>
                                </a:rPr>
                                <m:t>𝜂</m:t>
                              </m:r>
                            </m:oMath>
                          </a14:m>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0.30 – 0.90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minimum quality for offensive orders at full strength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mc:Choice>
        <mc:Fallback>
          <p:graphicFrame>
            <p:nvGraphicFramePr>
              <p:cNvPr id="8" name="Table 0"/>
              <p:cNvGraphicFramePr>
                <a:graphicFrameLocks noGrp="1"/>
              </p:cNvGraphicFramePr>
              <p:nvPr>
                <p:extLst>
                  <p:ext uri="{D42A27DB-BD31-4B8C-83A1-F6EECF244321}">
                    <p14:modId xmlns:p14="http://schemas.microsoft.com/office/powerpoint/2010/main" val="1123053219"/>
                  </p:ext>
                </p:extLst>
              </p:nvPr>
            </p:nvGraphicFramePr>
            <p:xfrm>
              <a:off x="502920" y="3291840"/>
              <a:ext cx="11247120" cy="2816352"/>
            </p:xfrm>
            <a:graphic>
              <a:graphicData uri="http://schemas.openxmlformats.org/drawingml/2006/table">
                <a:tbl>
                  <a:tblPr/>
                  <a:tblGrid>
                    <a:gridCol w="2743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6126480">
                      <a:extLst>
                        <a:ext uri="{9D8B030D-6E8A-4147-A177-3AD203B41FA5}">
                          <a16:colId xmlns:a16="http://schemas.microsoft.com/office/drawing/2014/main" val="20003"/>
                        </a:ext>
                      </a:extLst>
                    </a:gridCol>
                  </a:tblGrid>
                  <a:tr h="40233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Parameter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Nominal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Bias range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sets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Simultaneous ignitions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 12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fire load: fires started at step 0 on the least reachable cells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Resource level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0.10 – 1.00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scale on the pool; binds as a total budget across regions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Local regions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 16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sub-areas evaluated on their own, competing for the shared pool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No-harm horizon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45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45 – 90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lookahead over which candidate and no-action are compared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endParaRPr lang="tr-T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222" t="-501515" r="-310667" b="-103030"/>
                          </a:stretch>
                        </a:blipFill>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0.15 – 0.60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cost at which standing orders are accepted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endParaRPr lang="tr-T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222" t="-601515" r="-310667" b="-3030"/>
                          </a:stretch>
                        </a:blipFill>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0.30 – 0.90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minimum quality for offensive orders at full strength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mc:Fallback>
      </mc:AlternateContent>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PARAMETER ANALYSES 2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Locating the Operating Point : Fire Load × Resource Pool</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ch5_31.png"/>
          <p:cNvPicPr>
            <a:picLocks noChangeAspect="1"/>
          </p:cNvPicPr>
          <p:nvPr/>
        </p:nvPicPr>
        <p:blipFill>
          <a:blip r:embed="rId5"/>
          <a:stretch>
            <a:fillRect/>
          </a:stretch>
        </p:blipFill>
        <p:spPr>
          <a:xfrm>
            <a:off x="1538532" y="943707"/>
            <a:ext cx="8285952" cy="5765329"/>
          </a:xfrm>
          <a:prstGeom prst="rect">
            <a:avLst/>
          </a:prstGeom>
        </p:spPr>
      </p:pic>
      <p:sp>
        <p:nvSpPr>
          <p:cNvPr id="9" name="Text 2">
            <a:extLst>
              <a:ext uri="{FF2B5EF4-FFF2-40B4-BE49-F238E27FC236}">
                <a16:creationId xmlns:a16="http://schemas.microsoft.com/office/drawing/2014/main" id="{1EE0FD8C-63BA-A366-8549-A96A9F6D5766}"/>
              </a:ext>
            </a:extLst>
          </p:cNvPr>
          <p:cNvSpPr/>
          <p:nvPr/>
        </p:nvSpPr>
        <p:spPr>
          <a:xfrm>
            <a:off x="7315200" y="1463040"/>
            <a:ext cx="4434840" cy="4937760"/>
          </a:xfrm>
          <a:prstGeom prst="rect">
            <a:avLst/>
          </a:prstGeom>
          <a:noFill/>
          <a:ln/>
        </p:spPr>
        <p:txBody>
          <a:bodyPr wrap="square" lIns="0" tIns="0" rIns="0" bIns="0" rtlCol="0" anchor="t"/>
          <a:lstStyle/>
          <a:p>
            <a:pPr marL="152400" indent="-152400">
              <a:lnSpc>
                <a:spcPct val="104000"/>
              </a:lnSpc>
              <a:spcAft>
                <a:spcPts val="600"/>
              </a:spcAft>
              <a:buSzPct val="100000"/>
              <a:buChar char="•"/>
            </a:pP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PARAMETER ANALYSES 3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Observation Coverage × Fire Load, per Resource Pool</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ch5_32.png"/>
          <p:cNvPicPr>
            <a:picLocks noChangeAspect="1"/>
          </p:cNvPicPr>
          <p:nvPr/>
        </p:nvPicPr>
        <p:blipFill>
          <a:blip r:embed="rId5"/>
          <a:stretch>
            <a:fillRect/>
          </a:stretch>
        </p:blipFill>
        <p:spPr>
          <a:xfrm>
            <a:off x="944527" y="1039606"/>
            <a:ext cx="4230251" cy="2520000"/>
          </a:xfrm>
          <a:prstGeom prst="rect">
            <a:avLst/>
          </a:prstGeom>
        </p:spPr>
      </p:pic>
      <p:pic>
        <p:nvPicPr>
          <p:cNvPr id="7" name="Image 3" descr="/tmp/thx/deck/figs/ch5_33.png"/>
          <p:cNvPicPr>
            <a:picLocks noChangeAspect="1"/>
          </p:cNvPicPr>
          <p:nvPr/>
        </p:nvPicPr>
        <p:blipFill>
          <a:blip r:embed="rId6"/>
          <a:stretch>
            <a:fillRect/>
          </a:stretch>
        </p:blipFill>
        <p:spPr>
          <a:xfrm>
            <a:off x="5876616" y="1146455"/>
            <a:ext cx="4413640" cy="2520000"/>
          </a:xfrm>
          <a:prstGeom prst="rect">
            <a:avLst/>
          </a:prstGeom>
        </p:spPr>
      </p:pic>
      <p:pic>
        <p:nvPicPr>
          <p:cNvPr id="8" name="Image 4" descr="/tmp/thx/deck/figs/ch5_34.png"/>
          <p:cNvPicPr>
            <a:picLocks noChangeAspect="1"/>
          </p:cNvPicPr>
          <p:nvPr/>
        </p:nvPicPr>
        <p:blipFill>
          <a:blip r:embed="rId7"/>
          <a:stretch>
            <a:fillRect/>
          </a:stretch>
        </p:blipFill>
        <p:spPr>
          <a:xfrm>
            <a:off x="944527" y="3666455"/>
            <a:ext cx="4222044" cy="2520000"/>
          </a:xfrm>
          <a:prstGeom prst="rect">
            <a:avLst/>
          </a:prstGeom>
        </p:spPr>
      </p:pic>
      <p:pic>
        <p:nvPicPr>
          <p:cNvPr id="9" name="Image 5" descr="/tmp/thx/deck/figs/ch5_35.png"/>
          <p:cNvPicPr>
            <a:picLocks noChangeAspect="1"/>
          </p:cNvPicPr>
          <p:nvPr/>
        </p:nvPicPr>
        <p:blipFill>
          <a:blip r:embed="rId8"/>
          <a:stretch>
            <a:fillRect/>
          </a:stretch>
        </p:blipFill>
        <p:spPr>
          <a:xfrm>
            <a:off x="5972575" y="3676788"/>
            <a:ext cx="4281176" cy="2520000"/>
          </a:xfrm>
          <a:prstGeom prst="rect">
            <a:avLst/>
          </a:prstGeom>
        </p:spPr>
      </p:pic>
      <p:sp>
        <p:nvSpPr>
          <p:cNvPr id="11" name="Text 3"/>
          <p:cNvSpPr/>
          <p:nvPr/>
        </p:nvSpPr>
        <p:spPr>
          <a:xfrm>
            <a:off x="7909560" y="1463040"/>
            <a:ext cx="3840480" cy="4937760"/>
          </a:xfrm>
          <a:prstGeom prst="rect">
            <a:avLst/>
          </a:prstGeom>
          <a:noFill/>
          <a:ln/>
        </p:spPr>
        <p:txBody>
          <a:bodyPr wrap="square" lIns="0" tIns="0" rIns="0" bIns="0" rtlCol="0" anchor="t"/>
          <a:lstStyle/>
          <a:p>
            <a:pPr marL="152400" indent="-152400">
              <a:lnSpc>
                <a:spcPct val="104000"/>
              </a:lnSpc>
              <a:spcAft>
                <a:spcPts val="600"/>
              </a:spcAft>
              <a:buSzPct val="100000"/>
              <a:buChar char="•"/>
            </a:pPr>
            <a:endParaRPr lang="en-US" sz="1200" dirty="0"/>
          </a:p>
        </p:txBody>
      </p:sp>
      <p:sp>
        <p:nvSpPr>
          <p:cNvPr id="13" name="TextBox 12">
            <a:extLst>
              <a:ext uri="{FF2B5EF4-FFF2-40B4-BE49-F238E27FC236}">
                <a16:creationId xmlns:a16="http://schemas.microsoft.com/office/drawing/2014/main" id="{81743C4E-FEF2-A990-75F7-9ABB2C0FA5B6}"/>
              </a:ext>
            </a:extLst>
          </p:cNvPr>
          <p:cNvSpPr txBox="1"/>
          <p:nvPr/>
        </p:nvSpPr>
        <p:spPr>
          <a:xfrm>
            <a:off x="2438400" y="1042227"/>
            <a:ext cx="993648" cy="276999"/>
          </a:xfrm>
          <a:prstGeom prst="rect">
            <a:avLst/>
          </a:prstGeom>
          <a:noFill/>
        </p:spPr>
        <p:txBody>
          <a:bodyPr wrap="square">
            <a:spAutoFit/>
          </a:bodyPr>
          <a:lstStyle/>
          <a:p>
            <a:r>
              <a:rPr lang="en-US" sz="1200" i="1" dirty="0">
                <a:solidFill>
                  <a:srgbClr val="6E6E6E"/>
                </a:solidFill>
                <a:latin typeface="Calibri" pitchFamily="34" charset="0"/>
                <a:ea typeface="Calibri" pitchFamily="34" charset="-122"/>
                <a:cs typeface="Calibri" pitchFamily="34" charset="-120"/>
              </a:rPr>
              <a:t>Pools 0.25</a:t>
            </a:r>
            <a:endParaRPr lang="tr-TR" dirty="0"/>
          </a:p>
        </p:txBody>
      </p:sp>
      <p:sp>
        <p:nvSpPr>
          <p:cNvPr id="14" name="TextBox 13">
            <a:extLst>
              <a:ext uri="{FF2B5EF4-FFF2-40B4-BE49-F238E27FC236}">
                <a16:creationId xmlns:a16="http://schemas.microsoft.com/office/drawing/2014/main" id="{5447BEA7-F4C5-DC28-A129-D12BF311FA71}"/>
              </a:ext>
            </a:extLst>
          </p:cNvPr>
          <p:cNvSpPr txBox="1"/>
          <p:nvPr/>
        </p:nvSpPr>
        <p:spPr>
          <a:xfrm>
            <a:off x="7468761" y="1042227"/>
            <a:ext cx="993648" cy="276999"/>
          </a:xfrm>
          <a:prstGeom prst="rect">
            <a:avLst/>
          </a:prstGeom>
          <a:noFill/>
        </p:spPr>
        <p:txBody>
          <a:bodyPr wrap="square">
            <a:spAutoFit/>
          </a:bodyPr>
          <a:lstStyle/>
          <a:p>
            <a:r>
              <a:rPr lang="en-US" sz="1200" i="1" dirty="0">
                <a:solidFill>
                  <a:srgbClr val="6E6E6E"/>
                </a:solidFill>
                <a:latin typeface="Calibri" pitchFamily="34" charset="0"/>
                <a:ea typeface="Calibri" pitchFamily="34" charset="-122"/>
                <a:cs typeface="Calibri" pitchFamily="34" charset="-120"/>
              </a:rPr>
              <a:t>Pools 0.5</a:t>
            </a:r>
            <a:endParaRPr lang="tr-TR" dirty="0"/>
          </a:p>
        </p:txBody>
      </p:sp>
      <p:sp>
        <p:nvSpPr>
          <p:cNvPr id="16" name="TextBox 15">
            <a:extLst>
              <a:ext uri="{FF2B5EF4-FFF2-40B4-BE49-F238E27FC236}">
                <a16:creationId xmlns:a16="http://schemas.microsoft.com/office/drawing/2014/main" id="{56775B02-80A4-04AE-2B04-D4674A82123A}"/>
              </a:ext>
            </a:extLst>
          </p:cNvPr>
          <p:cNvSpPr txBox="1"/>
          <p:nvPr/>
        </p:nvSpPr>
        <p:spPr>
          <a:xfrm>
            <a:off x="2405887" y="3655163"/>
            <a:ext cx="993648" cy="276999"/>
          </a:xfrm>
          <a:prstGeom prst="rect">
            <a:avLst/>
          </a:prstGeom>
          <a:noFill/>
        </p:spPr>
        <p:txBody>
          <a:bodyPr wrap="square">
            <a:spAutoFit/>
          </a:bodyPr>
          <a:lstStyle/>
          <a:p>
            <a:r>
              <a:rPr lang="en-US" sz="1200" i="1" dirty="0">
                <a:solidFill>
                  <a:srgbClr val="6E6E6E"/>
                </a:solidFill>
                <a:latin typeface="Calibri" pitchFamily="34" charset="0"/>
                <a:ea typeface="Calibri" pitchFamily="34" charset="-122"/>
                <a:cs typeface="Calibri" pitchFamily="34" charset="-120"/>
              </a:rPr>
              <a:t>Pools 0.75</a:t>
            </a:r>
            <a:endParaRPr lang="tr-TR" dirty="0"/>
          </a:p>
        </p:txBody>
      </p:sp>
      <p:sp>
        <p:nvSpPr>
          <p:cNvPr id="18" name="TextBox 17">
            <a:extLst>
              <a:ext uri="{FF2B5EF4-FFF2-40B4-BE49-F238E27FC236}">
                <a16:creationId xmlns:a16="http://schemas.microsoft.com/office/drawing/2014/main" id="{FAC9138C-5E98-2F53-6CB7-F081A19EBD3A}"/>
              </a:ext>
            </a:extLst>
          </p:cNvPr>
          <p:cNvSpPr txBox="1"/>
          <p:nvPr/>
        </p:nvSpPr>
        <p:spPr>
          <a:xfrm>
            <a:off x="7436248" y="3655163"/>
            <a:ext cx="993648" cy="276999"/>
          </a:xfrm>
          <a:prstGeom prst="rect">
            <a:avLst/>
          </a:prstGeom>
          <a:noFill/>
        </p:spPr>
        <p:txBody>
          <a:bodyPr wrap="square">
            <a:spAutoFit/>
          </a:bodyPr>
          <a:lstStyle/>
          <a:p>
            <a:r>
              <a:rPr lang="en-US" sz="1200" i="1" dirty="0">
                <a:solidFill>
                  <a:srgbClr val="6E6E6E"/>
                </a:solidFill>
                <a:latin typeface="Calibri" pitchFamily="34" charset="0"/>
                <a:ea typeface="Calibri" pitchFamily="34" charset="-122"/>
                <a:cs typeface="Calibri" pitchFamily="34" charset="-120"/>
              </a:rPr>
              <a:t>Pools 1</a:t>
            </a:r>
            <a:endParaRPr lang="tr-TR"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PARAMETER ANALYSES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Decision Cycle, Satisficing Bound, Quality Gate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61872"/>
            <a:ext cx="56692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Decision cycle — how long a plan may age</a:t>
            </a:r>
            <a:endParaRPr lang="en-US" sz="1400" dirty="0"/>
          </a:p>
        </p:txBody>
      </p:sp>
      <mc:AlternateContent xmlns:mc="http://schemas.openxmlformats.org/markup-compatibility/2006">
        <mc:Choice xmlns:a14="http://schemas.microsoft.com/office/drawing/2010/main" Requires="a14">
          <p:sp>
            <p:nvSpPr>
              <p:cNvPr id="7" name="Text 3"/>
              <p:cNvSpPr/>
              <p:nvPr/>
            </p:nvSpPr>
            <p:spPr>
              <a:xfrm>
                <a:off x="502920" y="1591056"/>
                <a:ext cx="5669280" cy="566928"/>
              </a:xfrm>
              <a:prstGeom prst="rect">
                <a:avLst/>
              </a:prstGeom>
              <a:noFill/>
              <a:ln/>
            </p:spPr>
            <p:txBody>
              <a:bodyPr wrap="square" lIns="0" tIns="0" rIns="0" bIns="0" rtlCol="0" anchor="ctr"/>
              <a:lstStyle/>
              <a:p>
                <a:pPr marL="0" indent="0" algn="ctr">
                  <a:buNone/>
                </a:pPr>
                <a14:m>
                  <m:oMathPara xmlns:m="http://schemas.openxmlformats.org/officeDocument/2006/math">
                    <m:oMath>
                      <m:r>
                        <a:rPr lang="en-US" sz="1400">
                          <a:latin typeface="Cambria Math"/>
                        </a:rPr>
                        <m:t>𝛥</m:t>
                      </m:r>
                      <m:sSub>
                        <m:sSubPr>
                          <m:ctrlPr>
                            <a:rPr lang="en-US" sz="1400">
                              <a:latin typeface="Cambria Math"/>
                            </a:rPr>
                          </m:ctrlPr>
                        </m:sSubPr>
                        <m:e>
                          <m:r>
                            <m:rPr>
                              <m:sty m:val="p"/>
                            </m:rPr>
                            <a:rPr lang="en-US" sz="1400">
                              <a:latin typeface="Cambria Math"/>
                            </a:rPr>
                            <m:t>t</m:t>
                          </m:r>
                        </m:e>
                        <m:sub>
                          <m:r>
                            <m:rPr>
                              <m:sty m:val="p"/>
                            </m:rPr>
                            <a:rPr lang="en-US" sz="1400">
                              <a:latin typeface="Cambria Math"/>
                            </a:rPr>
                            <m:t>decision</m:t>
                          </m:r>
                        </m:sub>
                      </m:sSub>
                      <m:r>
                        <a:rPr lang="en-US" sz="1400">
                          <a:latin typeface="Cambria Math"/>
                        </a:rPr>
                        <m:t>=</m:t>
                      </m:r>
                      <m:r>
                        <m:rPr>
                          <m:sty m:val="p"/>
                        </m:rPr>
                        <a:rPr lang="en-US" sz="1400">
                          <a:latin typeface="Cambria Math"/>
                        </a:rPr>
                        <m:t>max</m:t>
                      </m:r>
                      <m:d>
                        <m:dPr>
                          <m:ctrlPr>
                            <a:rPr lang="en-US" sz="1400">
                              <a:latin typeface="Cambria Math"/>
                            </a:rPr>
                          </m:ctrlPr>
                        </m:dPr>
                        <m:e>
                          <m:r>
                            <a:rPr lang="en-US" sz="1400">
                              <a:latin typeface="Cambria Math"/>
                            </a:rPr>
                            <m:t>𝛥</m:t>
                          </m:r>
                          <m:r>
                            <a:rPr lang="en-US" sz="1400">
                              <a:latin typeface="Cambria Math"/>
                            </a:rPr>
                            <m:t>𝑡</m:t>
                          </m:r>
                          <m:r>
                            <a:rPr lang="en-US" sz="1400">
                              <a:latin typeface="Cambria Math"/>
                            </a:rPr>
                            <m:t>,</m:t>
                          </m:r>
                          <m:r>
                            <m:rPr>
                              <m:sty m:val="p"/>
                            </m:rPr>
                            <a:rPr lang="en-US" sz="1400">
                              <a:latin typeface="Cambria Math"/>
                            </a:rPr>
                            <m:t>min</m:t>
                          </m:r>
                          <m:d>
                            <m:dPr>
                              <m:ctrlPr>
                                <a:rPr lang="en-US" sz="1400" i="1">
                                  <a:latin typeface="Cambria Math" panose="02040503050406030204" pitchFamily="18" charset="0"/>
                                </a:rPr>
                              </m:ctrlPr>
                            </m:dPr>
                            <m:e>
                              <m:f>
                                <m:fPr>
                                  <m:ctrlPr>
                                    <a:rPr lang="en-US" sz="1400" i="1">
                                      <a:latin typeface="Cambria Math" panose="02040503050406030204" pitchFamily="18" charset="0"/>
                                    </a:rPr>
                                  </m:ctrlPr>
                                </m:fPr>
                                <m:num>
                                  <m:sSub>
                                    <m:sSubPr>
                                      <m:ctrlPr>
                                        <a:rPr lang="en-US" sz="1400">
                                          <a:latin typeface="Cambria Math"/>
                                        </a:rPr>
                                      </m:ctrlPr>
                                    </m:sSubPr>
                                    <m:e>
                                      <m:r>
                                        <a:rPr lang="en-US" sz="1400">
                                          <a:latin typeface="Cambria Math"/>
                                        </a:rPr>
                                        <m:t>𝐶</m:t>
                                      </m:r>
                                    </m:e>
                                    <m:sub>
                                      <m:r>
                                        <a:rPr lang="en-US" sz="1400">
                                          <a:latin typeface="Cambria Math"/>
                                        </a:rPr>
                                        <m:t>𝑠𝑖𝑧𝑒</m:t>
                                      </m:r>
                                    </m:sub>
                                  </m:sSub>
                                </m:num>
                                <m:den>
                                  <m:r>
                                    <a:rPr lang="en-US" sz="1400">
                                      <a:latin typeface="Cambria Math"/>
                                    </a:rPr>
                                    <m:t>2</m:t>
                                  </m:r>
                                  <m:sSub>
                                    <m:sSubPr>
                                      <m:ctrlPr>
                                        <a:rPr lang="en-US" sz="1400">
                                          <a:latin typeface="Cambria Math"/>
                                        </a:rPr>
                                      </m:ctrlPr>
                                    </m:sSubPr>
                                    <m:e>
                                      <m:r>
                                        <a:rPr lang="en-US" sz="1400">
                                          <a:latin typeface="Cambria Math"/>
                                        </a:rPr>
                                        <m:t>𝑅</m:t>
                                      </m:r>
                                    </m:e>
                                    <m:sub>
                                      <m:r>
                                        <m:rPr>
                                          <m:sty m:val="p"/>
                                        </m:rPr>
                                        <a:rPr lang="en-US" sz="1400">
                                          <a:latin typeface="Cambria Math"/>
                                        </a:rPr>
                                        <m:t>spread</m:t>
                                      </m:r>
                                    </m:sub>
                                  </m:sSub>
                                </m:den>
                              </m:f>
                              <m:r>
                                <a:rPr lang="en-US" sz="1400">
                                  <a:latin typeface="Cambria Math"/>
                                </a:rPr>
                                <m:t>,</m:t>
                              </m:r>
                              <m:f>
                                <m:fPr>
                                  <m:ctrlPr>
                                    <a:rPr lang="en-US" sz="1400" i="1">
                                      <a:latin typeface="Cambria Math" panose="02040503050406030204" pitchFamily="18" charset="0"/>
                                    </a:rPr>
                                  </m:ctrlPr>
                                </m:fPr>
                                <m:num>
                                  <m:sSub>
                                    <m:sSubPr>
                                      <m:ctrlPr>
                                        <a:rPr lang="en-US" sz="1400">
                                          <a:latin typeface="Cambria Math"/>
                                        </a:rPr>
                                      </m:ctrlPr>
                                    </m:sSubPr>
                                    <m:e>
                                      <m:r>
                                        <a:rPr lang="en-US" sz="1400">
                                          <a:latin typeface="Cambria Math"/>
                                        </a:rPr>
                                        <m:t>𝜏</m:t>
                                      </m:r>
                                    </m:e>
                                    <m:sub>
                                      <m:r>
                                        <a:rPr lang="en-US" sz="1400">
                                          <a:latin typeface="Cambria Math"/>
                                        </a:rPr>
                                        <m:t>𝐻𝑜𝑟𝑖𝑧𝑜𝑛</m:t>
                                      </m:r>
                                    </m:sub>
                                  </m:sSub>
                                </m:num>
                                <m:den>
                                  <m:r>
                                    <a:rPr lang="en-US" sz="1400">
                                      <a:latin typeface="Cambria Math"/>
                                    </a:rPr>
                                    <m:t>5</m:t>
                                  </m:r>
                                </m:den>
                              </m:f>
                            </m:e>
                          </m:d>
                        </m:e>
                      </m:d>
                    </m:oMath>
                  </m:oMathPara>
                </a14:m>
                <a:endParaRPr lang="en-US" sz="1300" dirty="0"/>
              </a:p>
            </p:txBody>
          </p:sp>
        </mc:Choice>
        <mc:Fallback>
          <p:sp>
            <p:nvSpPr>
              <p:cNvPr id="7" name="Text 3"/>
              <p:cNvSpPr>
                <a:spLocks noRot="1" noChangeAspect="1" noMove="1" noResize="1" noEditPoints="1" noAdjustHandles="1" noChangeArrowheads="1" noChangeShapeType="1" noTextEdit="1"/>
              </p:cNvSpPr>
              <p:nvPr/>
            </p:nvSpPr>
            <p:spPr>
              <a:xfrm>
                <a:off x="502920" y="1591056"/>
                <a:ext cx="5669280" cy="566928"/>
              </a:xfrm>
              <a:prstGeom prst="rect">
                <a:avLst/>
              </a:prstGeom>
              <a:blipFill>
                <a:blip r:embed="rId5"/>
                <a:stretch>
                  <a:fillRect/>
                </a:stretch>
              </a:blipFill>
              <a:ln/>
            </p:spPr>
            <p:txBody>
              <a:bodyPr/>
              <a:lstStyle/>
              <a:p>
                <a:r>
                  <a:rPr lang="tr-TR">
                    <a:noFill/>
                  </a:rPr>
                  <a:t> </a:t>
                </a:r>
              </a:p>
            </p:txBody>
          </p:sp>
        </mc:Fallback>
      </mc:AlternateContent>
      <p:pic>
        <p:nvPicPr>
          <p:cNvPr id="9" name="Image 2" descr="/tmp/thx/deck/figs/ch5_38.png"/>
          <p:cNvPicPr>
            <a:picLocks noChangeAspect="1"/>
          </p:cNvPicPr>
          <p:nvPr/>
        </p:nvPicPr>
        <p:blipFill>
          <a:blip r:embed="rId6"/>
          <a:stretch>
            <a:fillRect/>
          </a:stretch>
        </p:blipFill>
        <p:spPr>
          <a:xfrm>
            <a:off x="457200" y="2633472"/>
            <a:ext cx="5270010" cy="3643786"/>
          </a:xfrm>
          <a:prstGeom prst="rect">
            <a:avLst/>
          </a:prstGeom>
        </p:spPr>
      </p:pic>
      <p:sp>
        <p:nvSpPr>
          <p:cNvPr id="10" name="Text 5"/>
          <p:cNvSpPr/>
          <p:nvPr/>
        </p:nvSpPr>
        <p:spPr>
          <a:xfrm>
            <a:off x="6537960" y="1261872"/>
            <a:ext cx="52120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Two thresholds, two rates</a:t>
            </a:r>
            <a:endParaRPr lang="en-US" sz="1400" dirty="0"/>
          </a:p>
        </p:txBody>
      </p:sp>
      <p:pic>
        <p:nvPicPr>
          <p:cNvPr id="11" name="Image 3" descr="/tmp/thx/deck/figs/ch5_39.png"/>
          <p:cNvPicPr>
            <a:picLocks noChangeAspect="1"/>
          </p:cNvPicPr>
          <p:nvPr/>
        </p:nvPicPr>
        <p:blipFill>
          <a:blip r:embed="rId7"/>
          <a:stretch>
            <a:fillRect/>
          </a:stretch>
        </p:blipFill>
        <p:spPr>
          <a:xfrm>
            <a:off x="7164959" y="1648662"/>
            <a:ext cx="3288792" cy="2355639"/>
          </a:xfrm>
          <a:prstGeom prst="rect">
            <a:avLst/>
          </a:prstGeom>
        </p:spPr>
      </p:pic>
      <p:pic>
        <p:nvPicPr>
          <p:cNvPr id="12" name="Image 4" descr="/tmp/thx/deck/figs/ch5_40.png"/>
          <p:cNvPicPr>
            <a:picLocks noChangeAspect="1"/>
          </p:cNvPicPr>
          <p:nvPr/>
        </p:nvPicPr>
        <p:blipFill>
          <a:blip r:embed="rId8"/>
          <a:stretch>
            <a:fillRect/>
          </a:stretch>
        </p:blipFill>
        <p:spPr>
          <a:xfrm>
            <a:off x="7055866" y="4042061"/>
            <a:ext cx="3506978" cy="2522918"/>
          </a:xfrm>
          <a:prstGeom prst="rect">
            <a:avLst/>
          </a:prstGeom>
        </p:spPr>
      </p:pic>
      <p:sp>
        <p:nvSpPr>
          <p:cNvPr id="13" name="Text 6"/>
          <p:cNvSpPr/>
          <p:nvPr/>
        </p:nvSpPr>
        <p:spPr>
          <a:xfrm>
            <a:off x="6537960" y="3657600"/>
            <a:ext cx="5212080" cy="2834640"/>
          </a:xfrm>
          <a:prstGeom prst="rect">
            <a:avLst/>
          </a:prstGeom>
          <a:noFill/>
          <a:ln/>
        </p:spPr>
        <p:txBody>
          <a:bodyPr wrap="square" lIns="0" tIns="0" rIns="0" bIns="0" rtlCol="0" anchor="t"/>
          <a:lstStyle/>
          <a:p>
            <a:pPr marL="152400" indent="-152400">
              <a:lnSpc>
                <a:spcPct val="104000"/>
              </a:lnSpc>
              <a:spcAft>
                <a:spcPts val="600"/>
              </a:spcAft>
              <a:buSzPct val="100000"/>
              <a:buChar char="•"/>
            </a:pPr>
            <a:endParaRPr lang="en-US" sz="1200" dirty="0"/>
          </a:p>
        </p:txBody>
      </p:sp>
      <p:sp>
        <p:nvSpPr>
          <p:cNvPr id="15" name="Text 4">
            <a:extLst>
              <a:ext uri="{FF2B5EF4-FFF2-40B4-BE49-F238E27FC236}">
                <a16:creationId xmlns:a16="http://schemas.microsoft.com/office/drawing/2014/main" id="{75F3E9DD-4832-1B76-00E4-5D1B2C8E5608}"/>
              </a:ext>
            </a:extLst>
          </p:cNvPr>
          <p:cNvSpPr/>
          <p:nvPr/>
        </p:nvSpPr>
        <p:spPr>
          <a:xfrm>
            <a:off x="502920" y="2212848"/>
            <a:ext cx="5669280" cy="1417320"/>
          </a:xfrm>
          <a:prstGeom prst="rect">
            <a:avLst/>
          </a:prstGeom>
          <a:noFill/>
          <a:ln/>
        </p:spPr>
        <p:txBody>
          <a:bodyPr wrap="square" lIns="0" tIns="0" rIns="0" bIns="0" rtlCol="0" anchor="t"/>
          <a:lstStyle/>
          <a:p>
            <a:pPr marL="0" indent="0">
              <a:lnSpc>
                <a:spcPct val="104000"/>
              </a:lnSpc>
              <a:buNone/>
            </a:pP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PERFORMANCE 1 OF 3</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Five Scenario Families : Landscape × Resource Sufficiency</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13" name="Table 0"/>
          <p:cNvGraphicFramePr>
            <a:graphicFrameLocks noGrp="1"/>
          </p:cNvGraphicFramePr>
          <p:nvPr/>
        </p:nvGraphicFramePr>
        <p:xfrm>
          <a:off x="502920" y="1064684"/>
          <a:ext cx="11247120" cy="2414016"/>
        </p:xfrm>
        <a:graphic>
          <a:graphicData uri="http://schemas.openxmlformats.org/drawingml/2006/table">
            <a:tbl>
              <a:tblPr/>
              <a:tblGrid>
                <a:gridCol w="5486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4023360">
                  <a:extLst>
                    <a:ext uri="{9D8B030D-6E8A-4147-A177-3AD203B41FA5}">
                      <a16:colId xmlns:a16="http://schemas.microsoft.com/office/drawing/2014/main" val="20004"/>
                    </a:ext>
                  </a:extLst>
                </a:gridCol>
              </a:tblGrid>
              <a:tr h="40233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Landscape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Resource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Ignitions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assesses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Remote forest (≈2 small settlements)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Sufficient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remote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baseline suppression competence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Remote forest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Limited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 remote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area protection under scarcity; allocation quality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S3</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WUI (≈15 settlements, high assets)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Sufficient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 near the interface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life/asset prioritization; evacuation discipline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WUI</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Limited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 near the interface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full operational stress; the demonstrative scenario</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 S4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 S4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 S4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S4 under degraded observation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7" name="Image 2" descr="/tmp/thx/deck/figs/ch5_41.png"/>
          <p:cNvPicPr>
            <a:picLocks noChangeAspect="1"/>
          </p:cNvPicPr>
          <p:nvPr/>
        </p:nvPicPr>
        <p:blipFill>
          <a:blip r:embed="rId5"/>
          <a:stretch>
            <a:fillRect/>
          </a:stretch>
        </p:blipFill>
        <p:spPr>
          <a:xfrm>
            <a:off x="502920" y="3794760"/>
            <a:ext cx="2651760" cy="2651760"/>
          </a:xfrm>
          <a:prstGeom prst="rect">
            <a:avLst/>
          </a:prstGeom>
        </p:spPr>
      </p:pic>
      <p:pic>
        <p:nvPicPr>
          <p:cNvPr id="8" name="Image 3" descr="/tmp/thx/deck/figs/ch5_42.png"/>
          <p:cNvPicPr>
            <a:picLocks noChangeAspect="1"/>
          </p:cNvPicPr>
          <p:nvPr/>
        </p:nvPicPr>
        <p:blipFill>
          <a:blip r:embed="rId6"/>
          <a:stretch>
            <a:fillRect/>
          </a:stretch>
        </p:blipFill>
        <p:spPr>
          <a:xfrm>
            <a:off x="3246120" y="3794760"/>
            <a:ext cx="2651760" cy="2651760"/>
          </a:xfrm>
          <a:prstGeom prst="rect">
            <a:avLst/>
          </a:prstGeom>
        </p:spPr>
      </p:pic>
      <p:pic>
        <p:nvPicPr>
          <p:cNvPr id="9" name="Image 4" descr="/tmp/thx/deck/figs/ch5_43.png"/>
          <p:cNvPicPr>
            <a:picLocks noChangeAspect="1"/>
          </p:cNvPicPr>
          <p:nvPr/>
        </p:nvPicPr>
        <p:blipFill>
          <a:blip r:embed="rId7"/>
          <a:stretch>
            <a:fillRect/>
          </a:stretch>
        </p:blipFill>
        <p:spPr>
          <a:xfrm>
            <a:off x="5989320" y="3794760"/>
            <a:ext cx="2651760" cy="2651760"/>
          </a:xfrm>
          <a:prstGeom prst="rect">
            <a:avLst/>
          </a:prstGeom>
        </p:spPr>
      </p:pic>
      <p:pic>
        <p:nvPicPr>
          <p:cNvPr id="10" name="Image 5" descr="/tmp/thx/deck/figs/ch5_44.png"/>
          <p:cNvPicPr>
            <a:picLocks noChangeAspect="1"/>
          </p:cNvPicPr>
          <p:nvPr/>
        </p:nvPicPr>
        <p:blipFill>
          <a:blip r:embed="rId8"/>
          <a:stretch>
            <a:fillRect/>
          </a:stretch>
        </p:blipFill>
        <p:spPr>
          <a:xfrm>
            <a:off x="8732520" y="3794760"/>
            <a:ext cx="2651760" cy="2651760"/>
          </a:xfrm>
          <a:prstGeom prst="rect">
            <a:avLst/>
          </a:prstGeom>
        </p:spPr>
      </p:pic>
      <p:sp>
        <p:nvSpPr>
          <p:cNvPr id="11" name="Text 2"/>
          <p:cNvSpPr/>
          <p:nvPr/>
        </p:nvSpPr>
        <p:spPr>
          <a:xfrm>
            <a:off x="502920" y="6489960"/>
            <a:ext cx="11247120" cy="32004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Representative worlds of S1 · S2 · S3 · S4. Weather is held at critical fire weather in all scenarios — dry fuels, strong wind — so the scenario axes remain the only controlled difference. Fifty worlds per scenario.</a:t>
            </a:r>
            <a:endParaRPr lang="en-US" sz="1200" dirty="0"/>
          </a:p>
        </p:txBody>
      </p:sp>
      <p:sp>
        <p:nvSpPr>
          <p:cNvPr id="12" name="Text 3"/>
          <p:cNvSpPr/>
          <p:nvPr/>
        </p:nvSpPr>
        <p:spPr>
          <a:xfrm>
            <a:off x="502920" y="3520440"/>
            <a:ext cx="11247120" cy="274320"/>
          </a:xfrm>
          <a:prstGeom prst="rect">
            <a:avLst/>
          </a:prstGeom>
          <a:noFill/>
          <a:ln/>
        </p:spPr>
        <p:txBody>
          <a:bodyPr wrap="square" lIns="0" tIns="0" rIns="0" bIns="0" rtlCol="0" anchor="t"/>
          <a:lstStyle/>
          <a:p>
            <a:pPr marL="0" indent="0">
              <a:lnSpc>
                <a:spcPct val="104000"/>
              </a:lnSpc>
              <a:buNone/>
            </a:pPr>
            <a:r>
              <a:rPr lang="en-US" sz="1200" dirty="0">
                <a:solidFill>
                  <a:srgbClr val="222222"/>
                </a:solidFill>
                <a:latin typeface="Calibri" pitchFamily="34" charset="0"/>
                <a:ea typeface="Calibri" pitchFamily="34" charset="-122"/>
                <a:cs typeface="Calibri" pitchFamily="34" charset="-120"/>
              </a:rPr>
              <a:t>Resource effectiveness exceeds 50% when sufficient, falls below 50% when limited.</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PERFORMANCE 2 OF 3</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Every Rung Pays; the Open Space Pays Most</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ch5_47.png"/>
          <p:cNvPicPr>
            <a:picLocks noChangeAspect="1"/>
          </p:cNvPicPr>
          <p:nvPr/>
        </p:nvPicPr>
        <p:blipFill>
          <a:blip r:embed="rId5"/>
          <a:stretch>
            <a:fillRect/>
          </a:stretch>
        </p:blipFill>
        <p:spPr>
          <a:xfrm>
            <a:off x="928204" y="1181480"/>
            <a:ext cx="3948597" cy="2880000"/>
          </a:xfrm>
          <a:prstGeom prst="rect">
            <a:avLst/>
          </a:prstGeom>
        </p:spPr>
      </p:pic>
      <p:sp>
        <p:nvSpPr>
          <p:cNvPr id="7" name="Text 2"/>
          <p:cNvSpPr/>
          <p:nvPr/>
        </p:nvSpPr>
        <p:spPr>
          <a:xfrm>
            <a:off x="7315200" y="1463040"/>
            <a:ext cx="4434840" cy="5029200"/>
          </a:xfrm>
          <a:prstGeom prst="rect">
            <a:avLst/>
          </a:prstGeom>
          <a:noFill/>
          <a:ln/>
        </p:spPr>
        <p:txBody>
          <a:bodyPr wrap="square" lIns="0" tIns="0" rIns="0" bIns="0" rtlCol="0" anchor="t"/>
          <a:lstStyle/>
          <a:p>
            <a:pPr marL="152400" indent="-152400">
              <a:lnSpc>
                <a:spcPct val="104000"/>
              </a:lnSpc>
              <a:spcAft>
                <a:spcPts val="600"/>
              </a:spcAft>
              <a:buSzPct val="100000"/>
              <a:buChar char="•"/>
            </a:pPr>
            <a:endParaRPr lang="en-US" sz="1200" dirty="0"/>
          </a:p>
        </p:txBody>
      </p:sp>
      <p:pic>
        <p:nvPicPr>
          <p:cNvPr id="10" name="Picture 35">
            <a:extLst>
              <a:ext uri="{FF2B5EF4-FFF2-40B4-BE49-F238E27FC236}">
                <a16:creationId xmlns:a16="http://schemas.microsoft.com/office/drawing/2014/main" id="{41FD778A-A39D-7A73-6E8F-566A9D27610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94320" y="1006653"/>
            <a:ext cx="4767000" cy="288000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0F048AE6-07DA-0A15-7ACA-CDF353E460D7}"/>
              </a:ext>
            </a:extLst>
          </p:cNvPr>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3009250" y="3930000"/>
            <a:ext cx="5387990" cy="2880000"/>
          </a:xfrm>
          <a:prstGeom prst="rect">
            <a:avLst/>
          </a:prstGeom>
          <a:noFill/>
          <a:ln>
            <a:noFill/>
          </a:ln>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PERFORMANCE 3 OF 3</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Adaptation Is Frequent; Acceptance Is Strict </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ch5_50.png"/>
          <p:cNvPicPr>
            <a:picLocks noChangeAspect="1"/>
          </p:cNvPicPr>
          <p:nvPr/>
        </p:nvPicPr>
        <p:blipFill>
          <a:blip r:embed="rId5"/>
          <a:stretch>
            <a:fillRect/>
          </a:stretch>
        </p:blipFill>
        <p:spPr>
          <a:xfrm>
            <a:off x="928719" y="1371600"/>
            <a:ext cx="10025793" cy="4296768"/>
          </a:xfrm>
          <a:prstGeom prst="rect">
            <a:avLst/>
          </a:prstGeom>
        </p:spPr>
      </p:pic>
      <p:sp>
        <p:nvSpPr>
          <p:cNvPr id="7" name="Text 2"/>
          <p:cNvSpPr/>
          <p:nvPr/>
        </p:nvSpPr>
        <p:spPr>
          <a:xfrm>
            <a:off x="2238295" y="5936592"/>
            <a:ext cx="7406640" cy="54864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Left: the two evolving-fuzzy funnels; right: the generative gate cascade. </a:t>
            </a:r>
          </a:p>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Low acceptance is the intended behavior of a gated design: trials are cheap and rejected safely on the forecast.</a:t>
            </a:r>
            <a:endParaRPr lang="en-US" sz="1200" dirty="0"/>
          </a:p>
        </p:txBody>
      </p:sp>
      <p:sp>
        <p:nvSpPr>
          <p:cNvPr id="8" name="Text 3"/>
          <p:cNvSpPr/>
          <p:nvPr/>
        </p:nvSpPr>
        <p:spPr>
          <a:xfrm>
            <a:off x="4313275" y="816535"/>
            <a:ext cx="3749040" cy="1662223"/>
          </a:xfrm>
          <a:prstGeom prst="rect">
            <a:avLst/>
          </a:prstGeom>
          <a:noFill/>
          <a:ln/>
        </p:spPr>
        <p:txBody>
          <a:bodyPr wrap="square" lIns="0" tIns="0" rIns="0" bIns="0" rtlCol="0" anchor="t"/>
          <a:lstStyle/>
          <a:p>
            <a:pPr marL="152400" indent="-152400">
              <a:lnSpc>
                <a:spcPct val="104000"/>
              </a:lnSpc>
              <a:spcAft>
                <a:spcPts val="600"/>
              </a:spcAft>
              <a:buSzPct val="100000"/>
              <a:buChar char="•"/>
            </a:pP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ADAPTATION DETAIL</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Stages ① ② : Every Edit Is a Recorded, Bounded Correction</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80160"/>
            <a:ext cx="11247120" cy="59436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In total: 167 consequent updates (103 escalations, 64 de-escalations), 5 membership-boundary shifts, 4 term insertions, 40 rules instantiated on empty cells. </a:t>
            </a:r>
            <a:r>
              <a:rPr lang="en-US" sz="1250" dirty="0">
                <a:solidFill>
                  <a:srgbClr val="222222"/>
                </a:solidFill>
                <a:latin typeface="Calibri" pitchFamily="34" charset="0"/>
                <a:ea typeface="Calibri" pitchFamily="34" charset="-122"/>
                <a:cs typeface="Calibri" pitchFamily="34" charset="-120"/>
              </a:rPr>
              <a:t>Each entry passed its own forecast test at the moment of acceptance; nothing is a slow parameter drift.</a:t>
            </a:r>
            <a:endParaRPr lang="en-US" sz="1250" dirty="0"/>
          </a:p>
        </p:txBody>
      </p:sp>
      <p:sp>
        <p:nvSpPr>
          <p:cNvPr id="7" name="Shape 3"/>
          <p:cNvSpPr/>
          <p:nvPr/>
        </p:nvSpPr>
        <p:spPr>
          <a:xfrm>
            <a:off x="502920" y="1965960"/>
            <a:ext cx="11247120" cy="841248"/>
          </a:xfrm>
          <a:prstGeom prst="roundRect">
            <a:avLst>
              <a:gd name="adj" fmla="val 5435"/>
            </a:avLst>
          </a:prstGeom>
          <a:solidFill>
            <a:srgbClr val="F2F2F2"/>
          </a:solidFill>
          <a:ln/>
        </p:spPr>
        <p:txBody>
          <a:bodyPr/>
          <a:lstStyle/>
          <a:p>
            <a:endParaRPr lang="tr-TR"/>
          </a:p>
        </p:txBody>
      </p:sp>
      <p:sp>
        <p:nvSpPr>
          <p:cNvPr id="8" name="Text 4"/>
          <p:cNvSpPr/>
          <p:nvPr/>
        </p:nvSpPr>
        <p:spPr>
          <a:xfrm>
            <a:off x="731520" y="2039112"/>
            <a:ext cx="10789920" cy="731520"/>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Consequent step — escalation (+0.05) — </a:t>
            </a:r>
            <a:r>
              <a:rPr lang="en-US" sz="1200" dirty="0">
                <a:solidFill>
                  <a:srgbClr val="222222"/>
                </a:solidFill>
                <a:latin typeface="Calibri" pitchFamily="34" charset="0"/>
                <a:ea typeface="Calibri" pitchFamily="34" charset="-122"/>
                <a:cs typeface="Calibri" pitchFamily="34" charset="-120"/>
              </a:rPr>
              <a:t>cost above the bound while the rule keeps firing: right actions, insufficient intensity</a:t>
            </a:r>
          </a:p>
          <a:p>
            <a:pPr marL="0" indent="0">
              <a:lnSpc>
                <a:spcPct val="104000"/>
              </a:lnSpc>
              <a:buNone/>
            </a:pPr>
            <a:endParaRPr lang="en-US" sz="1200" dirty="0">
              <a:solidFill>
                <a:srgbClr val="222222"/>
              </a:solidFill>
              <a:latin typeface="Calibri" pitchFamily="34" charset="0"/>
              <a:ea typeface="Calibri" pitchFamily="34" charset="-122"/>
              <a:cs typeface="Calibri" pitchFamily="34" charset="-120"/>
            </a:endParaRPr>
          </a:p>
          <a:p>
            <a:pPr marL="0" indent="0">
              <a:lnSpc>
                <a:spcPct val="104000"/>
              </a:lnSpc>
              <a:buNone/>
            </a:pPr>
            <a:r>
              <a:rPr lang="en-US" sz="1150" dirty="0">
                <a:solidFill>
                  <a:srgbClr val="000000"/>
                </a:solidFill>
                <a:latin typeface="Consolas" pitchFamily="34" charset="0"/>
                <a:ea typeface="Consolas" pitchFamily="34" charset="-122"/>
                <a:cs typeface="Consolas" pitchFamily="34" charset="-120"/>
              </a:rPr>
              <a:t>G5: downwind_retardant_shield 0.90 → 0.95; asset_protection 0.70 → 0.75; resource_deployment 0.70 → 0.75</a:t>
            </a:r>
            <a:endParaRPr lang="en-US" sz="1200" dirty="0"/>
          </a:p>
        </p:txBody>
      </p:sp>
      <p:sp>
        <p:nvSpPr>
          <p:cNvPr id="9" name="Shape 5"/>
          <p:cNvSpPr/>
          <p:nvPr/>
        </p:nvSpPr>
        <p:spPr>
          <a:xfrm>
            <a:off x="502920" y="2880360"/>
            <a:ext cx="11247120" cy="841248"/>
          </a:xfrm>
          <a:prstGeom prst="roundRect">
            <a:avLst>
              <a:gd name="adj" fmla="val 5435"/>
            </a:avLst>
          </a:prstGeom>
          <a:solidFill>
            <a:srgbClr val="F2F2F2"/>
          </a:solidFill>
          <a:ln/>
        </p:spPr>
        <p:txBody>
          <a:bodyPr/>
          <a:lstStyle/>
          <a:p>
            <a:endParaRPr lang="tr-TR"/>
          </a:p>
        </p:txBody>
      </p:sp>
      <p:sp>
        <p:nvSpPr>
          <p:cNvPr id="10" name="Text 6"/>
          <p:cNvSpPr/>
          <p:nvPr/>
        </p:nvSpPr>
        <p:spPr>
          <a:xfrm>
            <a:off x="731520" y="2953512"/>
            <a:ext cx="10789920" cy="731520"/>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Consequent step — de-escalation (−0.05) — </a:t>
            </a:r>
            <a:r>
              <a:rPr lang="en-US" sz="1200" dirty="0">
                <a:solidFill>
                  <a:srgbClr val="222222"/>
                </a:solidFill>
                <a:latin typeface="Calibri" pitchFamily="34" charset="0"/>
                <a:ea typeface="Calibri" pitchFamily="34" charset="-122"/>
                <a:cs typeface="Calibri" pitchFamily="34" charset="-120"/>
              </a:rPr>
              <a:t>response and delay dominate late in the incident: actions stronger than the remaining situation</a:t>
            </a:r>
          </a:p>
          <a:p>
            <a:pPr marL="0" indent="0">
              <a:lnSpc>
                <a:spcPct val="104000"/>
              </a:lnSpc>
              <a:buNone/>
            </a:pPr>
            <a:endParaRPr lang="en-US" sz="1200" dirty="0">
              <a:solidFill>
                <a:srgbClr val="222222"/>
              </a:solidFill>
              <a:latin typeface="Calibri" pitchFamily="34" charset="0"/>
              <a:ea typeface="Calibri" pitchFamily="34" charset="-122"/>
              <a:cs typeface="Calibri" pitchFamily="34" charset="-120"/>
            </a:endParaRPr>
          </a:p>
          <a:p>
            <a:pPr marL="0" indent="0">
              <a:lnSpc>
                <a:spcPct val="104000"/>
              </a:lnSpc>
              <a:buNone/>
            </a:pPr>
            <a:r>
              <a:rPr lang="en-US" sz="1150" dirty="0">
                <a:solidFill>
                  <a:srgbClr val="000000"/>
                </a:solidFill>
                <a:latin typeface="Consolas" pitchFamily="34" charset="0"/>
                <a:ea typeface="Consolas" pitchFamily="34" charset="-122"/>
                <a:cs typeface="Consolas" pitchFamily="34" charset="-120"/>
              </a:rPr>
              <a:t>G33: suppression_effort 0.90 → 0.85; water_drafting 0.80 → 0.75; containment_line 0.70 → 0.65</a:t>
            </a:r>
            <a:endParaRPr lang="en-US" sz="1200" dirty="0"/>
          </a:p>
        </p:txBody>
      </p:sp>
      <p:sp>
        <p:nvSpPr>
          <p:cNvPr id="11" name="Shape 7"/>
          <p:cNvSpPr/>
          <p:nvPr/>
        </p:nvSpPr>
        <p:spPr>
          <a:xfrm>
            <a:off x="502920" y="3794760"/>
            <a:ext cx="11247120" cy="841248"/>
          </a:xfrm>
          <a:prstGeom prst="roundRect">
            <a:avLst>
              <a:gd name="adj" fmla="val 5435"/>
            </a:avLst>
          </a:prstGeom>
          <a:solidFill>
            <a:srgbClr val="F2F2F2"/>
          </a:solidFill>
          <a:ln/>
        </p:spPr>
        <p:txBody>
          <a:bodyPr/>
          <a:lstStyle/>
          <a:p>
            <a:endParaRPr lang="tr-TR"/>
          </a:p>
        </p:txBody>
      </p:sp>
      <p:sp>
        <p:nvSpPr>
          <p:cNvPr id="12" name="Text 8"/>
          <p:cNvSpPr/>
          <p:nvPr/>
        </p:nvSpPr>
        <p:spPr>
          <a:xfrm>
            <a:off x="731520" y="3867912"/>
            <a:ext cx="10789920" cy="731520"/>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Membership-boundary shift — </a:t>
            </a:r>
            <a:r>
              <a:rPr lang="en-US" sz="1200" dirty="0">
                <a:solidFill>
                  <a:srgbClr val="222222"/>
                </a:solidFill>
                <a:latin typeface="Calibri" pitchFamily="34" charset="0"/>
                <a:ea typeface="Calibri" pitchFamily="34" charset="-122"/>
                <a:cs typeface="Calibri" pitchFamily="34" charset="-120"/>
              </a:rPr>
              <a:t>fire alive but no rule fires above the coverage threshold: rules must fire earlier or later</a:t>
            </a:r>
          </a:p>
          <a:p>
            <a:pPr marL="0" indent="0">
              <a:lnSpc>
                <a:spcPct val="104000"/>
              </a:lnSpc>
              <a:buNone/>
            </a:pPr>
            <a:endParaRPr lang="en-US" sz="1200" dirty="0">
              <a:solidFill>
                <a:srgbClr val="222222"/>
              </a:solidFill>
              <a:latin typeface="Calibri" pitchFamily="34" charset="0"/>
              <a:ea typeface="Calibri" pitchFamily="34" charset="-122"/>
              <a:cs typeface="Calibri" pitchFamily="34" charset="-120"/>
            </a:endParaRPr>
          </a:p>
          <a:p>
            <a:pPr marL="0" indent="0">
              <a:lnSpc>
                <a:spcPct val="104000"/>
              </a:lnSpc>
              <a:buNone/>
            </a:pPr>
            <a:r>
              <a:rPr lang="en-US" sz="1150" dirty="0" err="1">
                <a:solidFill>
                  <a:srgbClr val="000000"/>
                </a:solidFill>
                <a:latin typeface="Consolas" pitchFamily="34" charset="0"/>
                <a:ea typeface="Consolas" pitchFamily="34" charset="-122"/>
                <a:cs typeface="Consolas" pitchFamily="34" charset="-120"/>
              </a:rPr>
              <a:t>suppression_feasibility</a:t>
            </a:r>
            <a:r>
              <a:rPr lang="en-US" sz="1150" dirty="0">
                <a:solidFill>
                  <a:srgbClr val="000000"/>
                </a:solidFill>
                <a:latin typeface="Consolas" pitchFamily="34" charset="0"/>
                <a:ea typeface="Consolas" pitchFamily="34" charset="-122"/>
                <a:cs typeface="Consolas" pitchFamily="34" charset="-120"/>
              </a:rPr>
              <a:t>: shared edge moved inside the H–VH band (0.67 – 0.84)</a:t>
            </a:r>
            <a:endParaRPr lang="en-US" sz="1200" dirty="0"/>
          </a:p>
        </p:txBody>
      </p:sp>
      <p:sp>
        <p:nvSpPr>
          <p:cNvPr id="13" name="Shape 9"/>
          <p:cNvSpPr/>
          <p:nvPr/>
        </p:nvSpPr>
        <p:spPr>
          <a:xfrm>
            <a:off x="502920" y="4709160"/>
            <a:ext cx="11247120" cy="841248"/>
          </a:xfrm>
          <a:prstGeom prst="roundRect">
            <a:avLst>
              <a:gd name="adj" fmla="val 5435"/>
            </a:avLst>
          </a:prstGeom>
          <a:solidFill>
            <a:srgbClr val="F2F2F2"/>
          </a:solidFill>
          <a:ln/>
        </p:spPr>
        <p:txBody>
          <a:bodyPr/>
          <a:lstStyle/>
          <a:p>
            <a:endParaRPr lang="tr-TR"/>
          </a:p>
        </p:txBody>
      </p:sp>
      <p:sp>
        <p:nvSpPr>
          <p:cNvPr id="14" name="Text 10"/>
          <p:cNvSpPr/>
          <p:nvPr/>
        </p:nvSpPr>
        <p:spPr>
          <a:xfrm>
            <a:off x="731520" y="4782312"/>
            <a:ext cx="10789920" cy="731520"/>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Term insertion — </a:t>
            </a:r>
            <a:r>
              <a:rPr lang="en-US" sz="1200" dirty="0">
                <a:solidFill>
                  <a:srgbClr val="222222"/>
                </a:solidFill>
                <a:latin typeface="Calibri" pitchFamily="34" charset="0"/>
                <a:ea typeface="Calibri" pitchFamily="34" charset="-122"/>
                <a:cs typeface="Calibri" pitchFamily="34" charset="-120"/>
              </a:rPr>
              <a:t>a coverage gap survives boundary shifts: the partition lacks resolution</a:t>
            </a:r>
          </a:p>
          <a:p>
            <a:pPr marL="0" indent="0">
              <a:lnSpc>
                <a:spcPct val="104000"/>
              </a:lnSpc>
              <a:buNone/>
            </a:pPr>
            <a:endParaRPr lang="en-US" sz="1200" dirty="0">
              <a:solidFill>
                <a:srgbClr val="222222"/>
              </a:solidFill>
              <a:latin typeface="Calibri" pitchFamily="34" charset="0"/>
              <a:ea typeface="Calibri" pitchFamily="34" charset="-122"/>
              <a:cs typeface="Calibri" pitchFamily="34" charset="-120"/>
            </a:endParaRPr>
          </a:p>
          <a:p>
            <a:pPr marL="0" indent="0">
              <a:lnSpc>
                <a:spcPct val="104000"/>
              </a:lnSpc>
              <a:buNone/>
            </a:pPr>
            <a:r>
              <a:rPr lang="en-US" sz="1150" dirty="0" err="1">
                <a:solidFill>
                  <a:srgbClr val="000000"/>
                </a:solidFill>
                <a:latin typeface="Consolas" pitchFamily="34" charset="0"/>
                <a:ea typeface="Consolas" pitchFamily="34" charset="-122"/>
                <a:cs typeface="Consolas" pitchFamily="34" charset="-120"/>
              </a:rPr>
              <a:t>suppression_feasibility</a:t>
            </a:r>
            <a:r>
              <a:rPr lang="en-US" sz="1150" dirty="0">
                <a:solidFill>
                  <a:srgbClr val="000000"/>
                </a:solidFill>
                <a:latin typeface="Consolas" pitchFamily="34" charset="0"/>
                <a:ea typeface="Consolas" pitchFamily="34" charset="-122"/>
                <a:cs typeface="Consolas" pitchFamily="34" charset="-120"/>
              </a:rPr>
              <a:t>: new term inserted at 0.74, splitting the H–VH band</a:t>
            </a:r>
            <a:endParaRPr lang="en-US" sz="1200" dirty="0"/>
          </a:p>
        </p:txBody>
      </p:sp>
      <p:sp>
        <p:nvSpPr>
          <p:cNvPr id="15" name="Shape 11"/>
          <p:cNvSpPr/>
          <p:nvPr/>
        </p:nvSpPr>
        <p:spPr>
          <a:xfrm>
            <a:off x="502920" y="5623560"/>
            <a:ext cx="11247120" cy="841248"/>
          </a:xfrm>
          <a:prstGeom prst="roundRect">
            <a:avLst>
              <a:gd name="adj" fmla="val 5435"/>
            </a:avLst>
          </a:prstGeom>
          <a:solidFill>
            <a:srgbClr val="F2F2F2"/>
          </a:solidFill>
          <a:ln/>
        </p:spPr>
        <p:txBody>
          <a:bodyPr/>
          <a:lstStyle/>
          <a:p>
            <a:endParaRPr lang="tr-TR"/>
          </a:p>
        </p:txBody>
      </p:sp>
      <p:sp>
        <p:nvSpPr>
          <p:cNvPr id="16" name="Text 12"/>
          <p:cNvSpPr/>
          <p:nvPr/>
        </p:nvSpPr>
        <p:spPr>
          <a:xfrm>
            <a:off x="731520" y="5696712"/>
            <a:ext cx="10789920" cy="731520"/>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Rule instantiation — </a:t>
            </a:r>
            <a:r>
              <a:rPr lang="en-US" sz="1200" dirty="0">
                <a:solidFill>
                  <a:srgbClr val="222222"/>
                </a:solidFill>
                <a:latin typeface="Calibri" pitchFamily="34" charset="0"/>
                <a:ea typeface="Calibri" pitchFamily="34" charset="-122"/>
                <a:cs typeface="Calibri" pitchFamily="34" charset="-120"/>
              </a:rPr>
              <a:t>the reading falls into an uncovered antecedent cell while fire is alive</a:t>
            </a:r>
          </a:p>
          <a:p>
            <a:pPr marL="0" indent="0">
              <a:lnSpc>
                <a:spcPct val="104000"/>
              </a:lnSpc>
              <a:buNone/>
            </a:pPr>
            <a:endParaRPr lang="en-US" sz="1200" dirty="0">
              <a:solidFill>
                <a:srgbClr val="222222"/>
              </a:solidFill>
              <a:latin typeface="Calibri" pitchFamily="34" charset="0"/>
              <a:ea typeface="Calibri" pitchFamily="34" charset="-122"/>
              <a:cs typeface="Calibri" pitchFamily="34" charset="-120"/>
            </a:endParaRPr>
          </a:p>
          <a:p>
            <a:pPr marL="0" indent="0">
              <a:lnSpc>
                <a:spcPct val="104000"/>
              </a:lnSpc>
              <a:buNone/>
            </a:pPr>
            <a:r>
              <a:rPr lang="en-US" sz="1150" dirty="0">
                <a:solidFill>
                  <a:srgbClr val="000000"/>
                </a:solidFill>
                <a:latin typeface="Consolas" pitchFamily="34" charset="0"/>
                <a:ea typeface="Consolas" pitchFamily="34" charset="-122"/>
                <a:cs typeface="Consolas" pitchFamily="34" charset="-120"/>
              </a:rPr>
              <a:t>A1: IF suppression_feasibility VH ∧ asset_exposure_risk VH THEN asset_protection 0.56, resource_deployment 0.23</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GENERATIVE PRODUCTS 1 OF 3</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Stage-③ Ledger: Macros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7" name="Image 2" descr="/tmp/thx/deck/figs/ch5_52.png"/>
          <p:cNvPicPr>
            <a:picLocks noChangeAspect="1"/>
          </p:cNvPicPr>
          <p:nvPr/>
        </p:nvPicPr>
        <p:blipFill>
          <a:blip r:embed="rId5"/>
          <a:srcRect b="7832"/>
          <a:stretch>
            <a:fillRect/>
          </a:stretch>
        </p:blipFill>
        <p:spPr>
          <a:xfrm>
            <a:off x="2857748" y="1065479"/>
            <a:ext cx="5953098" cy="2743415"/>
          </a:xfrm>
          <a:prstGeom prst="rect">
            <a:avLst/>
          </a:prstGeom>
        </p:spPr>
      </p:pic>
      <p:graphicFrame>
        <p:nvGraphicFramePr>
          <p:cNvPr id="12" name="Table 0">
            <a:extLst>
              <a:ext uri="{FF2B5EF4-FFF2-40B4-BE49-F238E27FC236}">
                <a16:creationId xmlns:a16="http://schemas.microsoft.com/office/drawing/2014/main" id="{172B496C-7830-606E-B693-843856F92736}"/>
              </a:ext>
            </a:extLst>
          </p:cNvPr>
          <p:cNvGraphicFramePr>
            <a:graphicFrameLocks noGrp="1"/>
          </p:cNvGraphicFramePr>
          <p:nvPr>
            <p:extLst>
              <p:ext uri="{D42A27DB-BD31-4B8C-83A1-F6EECF244321}">
                <p14:modId xmlns:p14="http://schemas.microsoft.com/office/powerpoint/2010/main" val="65134947"/>
              </p:ext>
            </p:extLst>
          </p:nvPr>
        </p:nvGraphicFramePr>
        <p:xfrm>
          <a:off x="1787652" y="4254793"/>
          <a:ext cx="9166860" cy="2429076"/>
        </p:xfrm>
        <a:graphic>
          <a:graphicData uri="http://schemas.openxmlformats.org/drawingml/2006/table">
            <a:tbl>
              <a:tblPr/>
              <a:tblGrid>
                <a:gridCol w="519580">
                  <a:extLst>
                    <a:ext uri="{9D8B030D-6E8A-4147-A177-3AD203B41FA5}">
                      <a16:colId xmlns:a16="http://schemas.microsoft.com/office/drawing/2014/main" val="20000"/>
                    </a:ext>
                  </a:extLst>
                </a:gridCol>
                <a:gridCol w="4490648">
                  <a:extLst>
                    <a:ext uri="{9D8B030D-6E8A-4147-A177-3AD203B41FA5}">
                      <a16:colId xmlns:a16="http://schemas.microsoft.com/office/drawing/2014/main" val="20001"/>
                    </a:ext>
                  </a:extLst>
                </a:gridCol>
                <a:gridCol w="4156632">
                  <a:extLst>
                    <a:ext uri="{9D8B030D-6E8A-4147-A177-3AD203B41FA5}">
                      <a16:colId xmlns:a16="http://schemas.microsoft.com/office/drawing/2014/main" val="20002"/>
                    </a:ext>
                  </a:extLst>
                </a:gridCol>
              </a:tblGrid>
              <a:tr h="35249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Rule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IF (gated decision concepts)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THEN (intensities)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5249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suppression_feasibility VH ∧ intervention_urgency VH ∧ fire_threat_level 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downwind_containment_shield 0.9; retardant_drop 0.8; asset_protection 0.6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5249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fire_threat_level ≥ H ∧ suppression_feasibility VH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head_knockdown 0.95; resource_deployment 0.8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5249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G7</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suppression_feasibility VH ∧ fire_threat_level ≥ H ∧ evacuation_pressure VH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wet_containment_line 0.9; resource_deployment 0.8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5249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suppression_feasibility VH ∧ fire_threat_level 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counterfire_strip 0.9; resource_deployment 0.8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5249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interface_exposure VH ∧ suppression_feasibility VH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asset_protection 0.9; containment_line 0.8; resource_deployment 0.7</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4" name="TextBox 13">
            <a:extLst>
              <a:ext uri="{FF2B5EF4-FFF2-40B4-BE49-F238E27FC236}">
                <a16:creationId xmlns:a16="http://schemas.microsoft.com/office/drawing/2014/main" id="{EE6DAF39-538B-8F3B-B433-841DCC48E534}"/>
              </a:ext>
            </a:extLst>
          </p:cNvPr>
          <p:cNvSpPr txBox="1"/>
          <p:nvPr/>
        </p:nvSpPr>
        <p:spPr>
          <a:xfrm>
            <a:off x="502920" y="3854935"/>
            <a:ext cx="7420356" cy="307777"/>
          </a:xfrm>
          <a:prstGeom prst="rect">
            <a:avLst/>
          </a:prstGeom>
          <a:noFill/>
        </p:spPr>
        <p:txBody>
          <a:bodyPr wrap="square">
            <a:spAutoFit/>
          </a:bodyPr>
          <a:lstStyle/>
          <a:p>
            <a:pPr marL="0" indent="0">
              <a:buNone/>
            </a:pPr>
            <a:r>
              <a:rPr lang="en-US" sz="1400" b="1" dirty="0">
                <a:solidFill>
                  <a:srgbClr val="000000"/>
                </a:solidFill>
                <a:latin typeface="Cambria" pitchFamily="34" charset="0"/>
                <a:ea typeface="Cambria" pitchFamily="34" charset="-122"/>
                <a:cs typeface="Cambria" pitchFamily="34" charset="-120"/>
              </a:rPr>
              <a:t>Vocabulary Being Used, Not Merely Grown</a:t>
            </a:r>
            <a:endParaRPr lang="en-US" sz="1400" dirty="0"/>
          </a:p>
        </p:txBody>
      </p:sp>
      <p:sp>
        <p:nvSpPr>
          <p:cNvPr id="8517" name="Campaign label"/>
          <p:cNvSpPr/>
          <p:nvPr/>
        </p:nvSpPr>
        <p:spPr>
          <a:xfrm>
            <a:off x="457200" y="1188720"/>
            <a:ext cx="2240280" cy="2560320"/>
          </a:xfrm>
          <a:prstGeom prst="rect">
            <a:avLst/>
          </a:prstGeom>
          <a:noFill/>
          <a:ln/>
        </p:spPr>
        <p:txBody>
          <a:bodyPr wrap="square" lIns="0" tIns="0" rIns="0" bIns="0" rtlCol="0" anchor="t"/>
          <a:lstStyle/>
          <a:p>
            <a:pPr marL="0" indent="0">
              <a:lnSpc>
                <a:spcPct val="102000"/>
              </a:lnSpc>
              <a:spcAft>
                <a:spcPts val="250"/>
              </a:spcAft>
              <a:buNone/>
            </a:pPr>
            <a:r>
              <a:rPr lang="en-US" sz="1100" b="1" i="0" dirty="0">
                <a:solidFill>
                  <a:srgbClr val="E31836"/>
                </a:solidFill>
                <a:latin typeface="Calibri" pitchFamily="34" charset="0"/>
                <a:ea typeface="Calibri" pitchFamily="34" charset="-122"/>
                <a:cs typeface="Calibri" pitchFamily="34" charset="-120"/>
              </a:rPr>
              <a:t>MAIN CAMPAIGN</a:t>
            </a:r>
            <a:endParaRPr lang="en-US" sz="1100" dirty="0"/>
          </a:p>
          <a:p>
            <a:pPr marL="152400" indent="-152400">
              <a:lnSpc>
                <a:spcPct val="102000"/>
              </a:lnSpc>
              <a:spcAft>
                <a:spcPts val="200"/>
              </a:spcAft>
              <a:buSzPct val="100000"/>
              <a:buChar char="•"/>
            </a:pPr>
            <a:r>
              <a:rPr lang="en-US" sz="1100" b="0" i="0" dirty="0">
                <a:solidFill>
                  <a:srgbClr val="222222"/>
                </a:solidFill>
                <a:latin typeface="Calibri" pitchFamily="34" charset="0"/>
                <a:ea typeface="Calibri" pitchFamily="34" charset="-122"/>
                <a:cs typeface="Calibri" pitchFamily="34" charset="-120"/>
              </a:rPr>
              <a:t>232 proposals</a:t>
            </a:r>
            <a:endParaRPr lang="en-US" sz="1100" dirty="0"/>
          </a:p>
          <a:p>
            <a:pPr marL="152400" indent="-152400">
              <a:lnSpc>
                <a:spcPct val="102000"/>
              </a:lnSpc>
              <a:spcAft>
                <a:spcPts val="200"/>
              </a:spcAft>
              <a:buSzPct val="100000"/>
              <a:buChar char="•"/>
            </a:pPr>
            <a:r>
              <a:rPr lang="en-US" sz="1100" b="0" i="0" dirty="0">
                <a:solidFill>
                  <a:srgbClr val="222222"/>
                </a:solidFill>
                <a:latin typeface="Calibri" pitchFamily="34" charset="0"/>
                <a:ea typeface="Calibri" pitchFamily="34" charset="-122"/>
                <a:cs typeface="Calibri" pitchFamily="34" charset="-120"/>
              </a:rPr>
              <a:t>47 admitted: 36 rules + 11 packages</a:t>
            </a:r>
            <a:endParaRPr lang="en-US" sz="1100" dirty="0"/>
          </a:p>
          <a:p>
            <a:pPr marL="152400" indent="-152400">
              <a:lnSpc>
                <a:spcPct val="102000"/>
              </a:lnSpc>
              <a:spcAft>
                <a:spcPts val="0"/>
              </a:spcAft>
              <a:buSzPct val="100000"/>
              <a:buChar char="•"/>
            </a:pPr>
            <a:r>
              <a:rPr lang="en-US" sz="1100" b="0" i="0" dirty="0">
                <a:solidFill>
                  <a:srgbClr val="222222"/>
                </a:solidFill>
                <a:latin typeface="Calibri" pitchFamily="34" charset="0"/>
                <a:ea typeface="Calibri" pitchFamily="34" charset="-122"/>
                <a:cs typeface="Calibri" pitchFamily="34" charset="-120"/>
              </a:rPr>
              <a:t>the store keeps 7 macros + 1 concept</a:t>
            </a:r>
            <a:endParaRPr lang="en-US" sz="11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r>
              <a:rPr lang="en-US" sz="1300" b="1" kern="0" spc="200" dirty="0">
                <a:solidFill>
                  <a:srgbClr val="E31836"/>
                </a:solidFill>
                <a:latin typeface="Calibri" pitchFamily="34" charset="0"/>
                <a:ea typeface="Calibri" pitchFamily="34" charset="-122"/>
                <a:cs typeface="Calibri" pitchFamily="34" charset="-120"/>
              </a:rPr>
              <a:t>EVIDENCE : GENERATIVE PRODUCTS 2 OF 3</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r>
              <a:rPr lang="en-US" sz="2500" b="1" dirty="0">
                <a:solidFill>
                  <a:srgbClr val="000000"/>
                </a:solidFill>
                <a:latin typeface="Cambria" pitchFamily="34" charset="0"/>
                <a:ea typeface="Cambria" pitchFamily="34" charset="-122"/>
                <a:cs typeface="Cambria" pitchFamily="34" charset="-120"/>
              </a:rPr>
              <a:t>The Stage-③ Ledger: Admitted Actuators, Two Tactical Families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22" name="Table 0"/>
          <p:cNvGraphicFramePr>
            <a:graphicFrameLocks noGrp="1"/>
          </p:cNvGraphicFramePr>
          <p:nvPr/>
        </p:nvGraphicFramePr>
        <p:xfrm>
          <a:off x="457200" y="1371600"/>
          <a:ext cx="11292840" cy="3511296"/>
        </p:xfrm>
        <a:graphic>
          <a:graphicData uri="http://schemas.openxmlformats.org/drawingml/2006/table">
            <a:tbl>
              <a:tblPr/>
              <a:tblGrid>
                <a:gridCol w="2911043">
                  <a:extLst>
                    <a:ext uri="{9D8B030D-6E8A-4147-A177-3AD203B41FA5}">
                      <a16:colId xmlns:a16="http://schemas.microsoft.com/office/drawing/2014/main" val="20000"/>
                    </a:ext>
                  </a:extLst>
                </a:gridCol>
                <a:gridCol w="8381797">
                  <a:extLst>
                    <a:ext uri="{9D8B030D-6E8A-4147-A177-3AD203B41FA5}">
                      <a16:colId xmlns:a16="http://schemas.microsoft.com/office/drawing/2014/main" val="20002"/>
                    </a:ext>
                  </a:extLst>
                </a:gridCol>
              </a:tblGrid>
              <a:tr h="43891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Actuator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Clauses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3891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asset_shield_band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coat on assets [0, 6] at 1.0; coat on populated [0, 6] at 1.0; draft on assets [0, 8] at 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3891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asset_shield_belt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coat on assets [0, 4] at 1.0; coat on populated [0, 5] at 1.0; draft on at_fire [0, 6] at 0.8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3891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preemptive_asset_coat_ring</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coat on assets [0, 4] at 1.0; coat on populated [0, 4] at 1.0; coat on head [1, 6] at 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3891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preemptive_asset_coating</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coat on assets [0, 4] at 1.0; coat on populated [0, 3] at 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3891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forward_draft_relay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draft on at_fire [0, 3] at 1.0; draft on ring [0, 8] at 1.0; evacuate on populated [0, 15] at 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43891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lakeside_capacity_bridge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draft on at_fire [0, 3] at 1.0; draft on head [0, 8] at 1.0; evacuate on populated [0, 6] at 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43891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shoreline_capacity_bridge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draft on at_fire [0, 8] at 1.0; draft on ring [0, 15] at 1.0; evacuate on populated [0, 15] at 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1" name="Shape 2">
            <a:extLst>
              <a:ext uri="{FF2B5EF4-FFF2-40B4-BE49-F238E27FC236}">
                <a16:creationId xmlns:a16="http://schemas.microsoft.com/office/drawing/2014/main" id="{1F023362-0FD9-33A1-AEFE-CA00E24782E5}"/>
              </a:ext>
            </a:extLst>
          </p:cNvPr>
          <p:cNvSpPr/>
          <p:nvPr/>
        </p:nvSpPr>
        <p:spPr>
          <a:xfrm>
            <a:off x="457200" y="5257800"/>
            <a:ext cx="5532120" cy="1280160"/>
          </a:xfrm>
          <a:prstGeom prst="roundRect">
            <a:avLst>
              <a:gd name="adj" fmla="val 3571"/>
            </a:avLst>
          </a:prstGeom>
          <a:solidFill>
            <a:srgbClr val="F2F2F2"/>
          </a:solidFill>
          <a:ln/>
        </p:spPr>
        <p:txBody>
          <a:bodyPr/>
          <a:lstStyle/>
          <a:p>
            <a:endParaRPr lang="tr-TR"/>
          </a:p>
        </p:txBody>
      </p:sp>
      <p:sp>
        <p:nvSpPr>
          <p:cNvPr id="13" name="Text 3">
            <a:extLst>
              <a:ext uri="{FF2B5EF4-FFF2-40B4-BE49-F238E27FC236}">
                <a16:creationId xmlns:a16="http://schemas.microsoft.com/office/drawing/2014/main" id="{E1E99080-7ACE-C44C-AA51-F18A1F7F46AF}"/>
              </a:ext>
            </a:extLst>
          </p:cNvPr>
          <p:cNvSpPr/>
          <p:nvPr/>
        </p:nvSpPr>
        <p:spPr>
          <a:xfrm>
            <a:off x="685800" y="5376672"/>
            <a:ext cx="5074920" cy="1097280"/>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preventive coating. </a:t>
            </a:r>
            <a:r>
              <a:rPr lang="en-US" sz="1200" dirty="0">
                <a:solidFill>
                  <a:srgbClr val="222222"/>
                </a:solidFill>
                <a:latin typeface="Calibri" pitchFamily="34" charset="0"/>
                <a:ea typeface="Calibri" pitchFamily="34" charset="-122"/>
                <a:cs typeface="Calibri" pitchFamily="34" charset="-120"/>
              </a:rPr>
              <a:t>Coat assets and populated cells before the fire arrives: a tactic with no counterpart in the seed doctrine, whose asset protection raises a posture but lays no retardant.</a:t>
            </a:r>
            <a:endParaRPr lang="en-US" sz="1250" dirty="0"/>
          </a:p>
        </p:txBody>
      </p:sp>
      <p:sp>
        <p:nvSpPr>
          <p:cNvPr id="15" name="Shape 4">
            <a:extLst>
              <a:ext uri="{FF2B5EF4-FFF2-40B4-BE49-F238E27FC236}">
                <a16:creationId xmlns:a16="http://schemas.microsoft.com/office/drawing/2014/main" id="{14BBD3C1-467C-8238-8D42-54E833D211C3}"/>
              </a:ext>
            </a:extLst>
          </p:cNvPr>
          <p:cNvSpPr/>
          <p:nvPr/>
        </p:nvSpPr>
        <p:spPr>
          <a:xfrm>
            <a:off x="6217920" y="5257800"/>
            <a:ext cx="5532120" cy="1280160"/>
          </a:xfrm>
          <a:prstGeom prst="roundRect">
            <a:avLst>
              <a:gd name="adj" fmla="val 3571"/>
            </a:avLst>
          </a:prstGeom>
          <a:solidFill>
            <a:srgbClr val="F2F2F2"/>
          </a:solidFill>
          <a:ln/>
        </p:spPr>
        <p:txBody>
          <a:bodyPr/>
          <a:lstStyle/>
          <a:p>
            <a:endParaRPr lang="tr-TR"/>
          </a:p>
        </p:txBody>
      </p:sp>
      <p:sp>
        <p:nvSpPr>
          <p:cNvPr id="17" name="Text 5">
            <a:extLst>
              <a:ext uri="{FF2B5EF4-FFF2-40B4-BE49-F238E27FC236}">
                <a16:creationId xmlns:a16="http://schemas.microsoft.com/office/drawing/2014/main" id="{A978C0CA-441D-203C-9CFD-A515CA84724F}"/>
              </a:ext>
            </a:extLst>
          </p:cNvPr>
          <p:cNvSpPr/>
          <p:nvPr/>
        </p:nvSpPr>
        <p:spPr>
          <a:xfrm>
            <a:off x="6446520" y="5376672"/>
            <a:ext cx="5074920" cy="1097280"/>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drafting substitution. </a:t>
            </a:r>
            <a:r>
              <a:rPr lang="en-US" sz="1200" dirty="0">
                <a:solidFill>
                  <a:srgbClr val="222222"/>
                </a:solidFill>
                <a:latin typeface="Calibri" pitchFamily="34" charset="0"/>
                <a:ea typeface="Calibri" pitchFamily="34" charset="-122"/>
                <a:cs typeface="Calibri" pitchFamily="34" charset="-120"/>
              </a:rPr>
              <a:t>On an incident whose pool is spent, drafting raises the yield of crews already committed instead of asking for crews that are not — with evacuation behind them.</a:t>
            </a:r>
            <a:endParaRPr lang="en-US" sz="1250" dirty="0"/>
          </a:p>
        </p:txBody>
      </p:sp>
      <p:sp>
        <p:nvSpPr>
          <p:cNvPr id="8518" name="Campaign label"/>
          <p:cNvSpPr/>
          <p:nvPr/>
        </p:nvSpPr>
        <p:spPr>
          <a:xfrm>
            <a:off x="502920" y="1097280"/>
            <a:ext cx="11247120" cy="256032"/>
          </a:xfrm>
          <a:prstGeom prst="rect">
            <a:avLst/>
          </a:prstGeom>
          <a:noFill/>
          <a:ln/>
        </p:spPr>
        <p:txBody>
          <a:bodyPr wrap="square" lIns="0" tIns="0" rIns="0" bIns="0" rtlCol="0" anchor="t"/>
          <a:lstStyle/>
          <a:p>
            <a:pPr marL="0" indent="0">
              <a:lnSpc>
                <a:spcPct val="102000"/>
              </a:lnSpc>
              <a:spcAft>
                <a:spcPts val="0"/>
              </a:spcAft>
              <a:buNone/>
            </a:pPr>
            <a:r>
              <a:rPr lang="en-US" sz="1050" b="0" i="1" dirty="0">
                <a:solidFill>
                  <a:srgbClr val="6E6E6E"/>
                </a:solidFill>
                <a:latin typeface="Calibri" pitchFamily="34" charset="0"/>
                <a:ea typeface="Calibri" pitchFamily="34" charset="-122"/>
                <a:cs typeface="Calibri" pitchFamily="34" charset="-120"/>
              </a:rPr>
              <a:t>Second campaign, separate counts: 35 proposals, 19 admitted (6 rules, 5 concepts, 1 macro, 7 actuators).</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AA2D7-09AF-FF60-A392-5DF6AFDB342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59DEF7F-9399-EEE2-C7F1-32D69CD46B8D}"/>
              </a:ext>
            </a:extLst>
          </p:cNvPr>
          <p:cNvSpPr/>
          <p:nvPr/>
        </p:nvSpPr>
        <p:spPr>
          <a:xfrm>
            <a:off x="502920" y="237744"/>
            <a:ext cx="10058400" cy="292608"/>
          </a:xfrm>
          <a:prstGeom prst="rect">
            <a:avLst/>
          </a:prstGeom>
          <a:noFill/>
          <a:ln/>
        </p:spPr>
        <p:txBody>
          <a:bodyPr wrap="square" lIns="0" tIns="0" rIns="0" bIns="0" rtlCol="0" anchor="ctr"/>
          <a:lstStyle/>
          <a:p>
            <a:r>
              <a:rPr lang="en-US" sz="1300" b="1" kern="0" spc="200" dirty="0">
                <a:solidFill>
                  <a:srgbClr val="E31836"/>
                </a:solidFill>
                <a:latin typeface="Calibri" pitchFamily="34" charset="0"/>
                <a:ea typeface="Calibri" pitchFamily="34" charset="-122"/>
                <a:cs typeface="Calibri" pitchFamily="34" charset="-120"/>
              </a:rPr>
              <a:t>EVIDENCE : GENERATIVE PRODUCTS 3 OF 3</a:t>
            </a:r>
            <a:endParaRPr lang="en-US" sz="1300" dirty="0"/>
          </a:p>
        </p:txBody>
      </p:sp>
      <p:sp>
        <p:nvSpPr>
          <p:cNvPr id="3" name="Text 1">
            <a:extLst>
              <a:ext uri="{FF2B5EF4-FFF2-40B4-BE49-F238E27FC236}">
                <a16:creationId xmlns:a16="http://schemas.microsoft.com/office/drawing/2014/main" id="{6E7F7277-7E82-F766-138D-D9D2D7C67B38}"/>
              </a:ext>
            </a:extLst>
          </p:cNvPr>
          <p:cNvSpPr/>
          <p:nvPr/>
        </p:nvSpPr>
        <p:spPr>
          <a:xfrm>
            <a:off x="502920" y="493776"/>
            <a:ext cx="11247120" cy="621792"/>
          </a:xfrm>
          <a:prstGeom prst="rect">
            <a:avLst/>
          </a:prstGeom>
          <a:noFill/>
          <a:ln/>
        </p:spPr>
        <p:txBody>
          <a:bodyPr wrap="square" lIns="0" tIns="0" rIns="0" bIns="0" rtlCol="0" anchor="ctr"/>
          <a:lstStyle/>
          <a:p>
            <a:r>
              <a:rPr lang="en-US" sz="2500" b="1" dirty="0">
                <a:solidFill>
                  <a:srgbClr val="000000"/>
                </a:solidFill>
                <a:latin typeface="Cambria" pitchFamily="34" charset="0"/>
                <a:ea typeface="Cambria" pitchFamily="34" charset="-122"/>
                <a:cs typeface="Cambria" pitchFamily="34" charset="-120"/>
              </a:rPr>
              <a:t>The Stage-③ Ledger: Admitted Concepts</a:t>
            </a:r>
            <a:endParaRPr lang="en-US" sz="2500" dirty="0"/>
          </a:p>
        </p:txBody>
      </p:sp>
      <p:pic>
        <p:nvPicPr>
          <p:cNvPr id="4" name="Image 0" descr="/tmp/thx/deck/figs/metu_emblem.png">
            <a:extLst>
              <a:ext uri="{FF2B5EF4-FFF2-40B4-BE49-F238E27FC236}">
                <a16:creationId xmlns:a16="http://schemas.microsoft.com/office/drawing/2014/main" id="{583D1E7E-8279-F3C8-469D-FA8091C9B2B7}"/>
              </a:ext>
            </a:extLst>
          </p:cNvPr>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a:extLst>
              <a:ext uri="{FF2B5EF4-FFF2-40B4-BE49-F238E27FC236}">
                <a16:creationId xmlns:a16="http://schemas.microsoft.com/office/drawing/2014/main" id="{6A96ABF8-161F-8582-4012-10C710226D82}"/>
              </a:ext>
            </a:extLst>
          </p:cNvPr>
          <p:cNvPicPr>
            <a:picLocks noChangeAspect="1"/>
          </p:cNvPicPr>
          <p:nvPr/>
        </p:nvPicPr>
        <p:blipFill>
          <a:blip r:embed="rId4"/>
          <a:stretch>
            <a:fillRect/>
          </a:stretch>
        </p:blipFill>
        <p:spPr>
          <a:xfrm>
            <a:off x="11265408" y="186217"/>
            <a:ext cx="475488" cy="395662"/>
          </a:xfrm>
          <a:prstGeom prst="rect">
            <a:avLst/>
          </a:prstGeom>
        </p:spPr>
      </p:pic>
      <p:graphicFrame>
        <p:nvGraphicFramePr>
          <p:cNvPr id="8509" name="Concept table"/>
          <p:cNvGraphicFramePr>
            <a:graphicFrameLocks noGrp="1"/>
          </p:cNvGraphicFramePr>
          <p:nvPr/>
        </p:nvGraphicFramePr>
        <p:xfrm>
          <a:off x="457200" y="1298448"/>
          <a:ext cx="11292840" cy="2377440"/>
        </p:xfrm>
        <a:graphic>
          <a:graphicData uri="http://schemas.openxmlformats.org/drawingml/2006/table">
            <a:tbl>
              <a:tblPr firstRow="1"/>
              <a:tblGrid>
                <a:gridCol w="3017520"/>
                <a:gridCol w="5577840"/>
                <a:gridCol w="2697480"/>
              </a:tblGrid>
              <a:tr h="22860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Concept</a:t>
                      </a:r>
                    </a:p>
                  </a:txBody>
                  <a:tcPr marL="54864" marR="54864" marT="27432" marB="27432" anchor="ctr">
                    <a:lnB w="9525" cap="flat" cmpd="sng" algn="ctr">
                      <a:solidFill>
                        <a:srgbClr val="D0D0D0"/>
                      </a:solidFill>
                      <a:prstDash val="solid"/>
                    </a:lnB>
                    <a:solidFill>
                      <a:srgbClr val="22222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Definition (normalized weights)</a:t>
                      </a:r>
                    </a:p>
                  </a:txBody>
                  <a:tcPr marL="54864" marR="54864" marT="27432" marB="27432" anchor="ctr">
                    <a:lnB w="9525" cap="flat" cmpd="sng" algn="ctr">
                      <a:solidFill>
                        <a:srgbClr val="D0D0D0"/>
                      </a:solidFill>
                      <a:prstDash val="solid"/>
                    </a:lnB>
                    <a:solidFill>
                      <a:srgbClr val="222222"/>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Campaign · used by</a:t>
                      </a:r>
                    </a:p>
                  </a:txBody>
                  <a:tcPr marL="54864" marR="54864" marT="27432" marB="27432" anchor="ctr">
                    <a:lnB w="9525" cap="flat" cmpd="sng" algn="ctr">
                      <a:solidFill>
                        <a:srgbClr val="D0D0D0"/>
                      </a:solidFill>
                      <a:prstDash val="solid"/>
                    </a:lnB>
                    <a:solidFill>
                      <a:srgbClr val="222222"/>
                    </a:solidFill>
                  </a:tcPr>
                </a:tc>
              </a:tr>
              <a:tr h="365760">
                <a:tc>
                  <a:txBody>
                    <a:bodyPr/>
                    <a:lstStyle/>
                    <a:p>
                      <a:pPr marL="0" indent="0">
                        <a:buNone/>
                      </a:pPr>
                      <a:r>
                        <a:rPr lang="en-US" sz="1050" b="1" dirty="0">
                          <a:solidFill>
                            <a:srgbClr val="E31836"/>
                          </a:solidFill>
                          <a:latin typeface="Calibri" pitchFamily="34" charset="0"/>
                          <a:ea typeface="Calibri" pitchFamily="34" charset="-122"/>
                          <a:cs typeface="Calibri" pitchFamily="34" charset="-120"/>
                        </a:rPr>
                        <a:t>interface_exposure</a:t>
                      </a:r>
                    </a:p>
                  </a:txBody>
                  <a:tcPr marL="54864" marR="54864" marT="27432" marB="27432" anchor="ctr">
                    <a:lnB w="9525" cap="flat" cmpd="sng" algn="ctr">
                      <a:solidFill>
                        <a:srgbClr val="D0D0D0"/>
                      </a:solidFill>
                      <a:prstDash val="solid"/>
                    </a:lnB>
                    <a:noFill/>
                  </a:tcPr>
                </a:tc>
                <a:tc>
                  <a:txBody>
                    <a:bodyPr/>
                    <a:lstStyle/>
                    <a:p>
                      <a:pPr marL="0" indent="0">
                        <a:buNone/>
                      </a:pPr>
                      <a:r>
                        <a:rPr lang="en-US" sz="1050" b="0" dirty="0">
                          <a:solidFill>
                            <a:srgbClr val="222222"/>
                          </a:solidFill>
                          <a:latin typeface="Calibri" pitchFamily="34" charset="0"/>
                          <a:ea typeface="Calibri" pitchFamily="34" charset="-122"/>
                          <a:cs typeface="Calibri" pitchFamily="34" charset="-120"/>
                        </a:rPr>
                        <a:t>0.50 asset_exposure_risk + 0.50 evacuation_pressure</a:t>
                      </a:r>
                    </a:p>
                  </a:txBody>
                  <a:tcPr marL="54864" marR="54864" marT="27432" marB="27432" anchor="ctr">
                    <a:lnB w="9525" cap="flat" cmpd="sng" algn="ctr">
                      <a:solidFill>
                        <a:srgbClr val="D0D0D0"/>
                      </a:solidFill>
                      <a:prstDash val="solid"/>
                    </a:lnB>
                    <a:noFill/>
                  </a:tcPr>
                </a:tc>
                <a:tc>
                  <a:txBody>
                    <a:bodyPr/>
                    <a:lstStyle/>
                    <a:p>
                      <a:pPr marL="0" indent="0">
                        <a:buNone/>
                      </a:pPr>
                      <a:r>
                        <a:rPr lang="en-US" sz="1050" b="0" dirty="0">
                          <a:solidFill>
                            <a:srgbClr val="6E6E6E"/>
                          </a:solidFill>
                          <a:latin typeface="Calibri" pitchFamily="34" charset="0"/>
                          <a:ea typeface="Calibri" pitchFamily="34" charset="-122"/>
                          <a:cs typeface="Calibri" pitchFamily="34" charset="-120"/>
                        </a:rPr>
                        <a:t>main run · rule G14 fires on it</a:t>
                      </a:r>
                    </a:p>
                  </a:txBody>
                  <a:tcPr marL="54864" marR="54864" marT="27432" marB="27432" anchor="ctr">
                    <a:lnB w="9525" cap="flat" cmpd="sng" algn="ctr">
                      <a:solidFill>
                        <a:srgbClr val="D0D0D0"/>
                      </a:solidFill>
                      <a:prstDash val="solid"/>
                    </a:lnB>
                    <a:noFill/>
                  </a:tcPr>
                </a:tc>
              </a:tr>
              <a:tr h="365760">
                <a:tc>
                  <a:txBody>
                    <a:bodyPr/>
                    <a:lstStyle/>
                    <a:p>
                      <a:pPr marL="0" indent="0">
                        <a:buNone/>
                      </a:pPr>
                      <a:r>
                        <a:rPr lang="en-US" sz="1050" b="1" dirty="0">
                          <a:solidFill>
                            <a:srgbClr val="E31836"/>
                          </a:solidFill>
                          <a:latin typeface="Calibri" pitchFamily="34" charset="0"/>
                          <a:ea typeface="Calibri" pitchFamily="34" charset="-122"/>
                          <a:cs typeface="Calibri" pitchFamily="34" charset="-120"/>
                        </a:rPr>
                        <a:t>capacity_starved_head_pressure</a:t>
                      </a:r>
                    </a:p>
                  </a:txBody>
                  <a:tcPr marL="54864" marR="54864" marT="27432" marB="27432" anchor="ctr">
                    <a:lnB w="9525" cap="flat" cmpd="sng" algn="ctr">
                      <a:solidFill>
                        <a:srgbClr val="D0D0D0"/>
                      </a:solidFill>
                      <a:prstDash val="solid"/>
                    </a:lnB>
                    <a:noFill/>
                  </a:tcPr>
                </a:tc>
                <a:tc>
                  <a:txBody>
                    <a:bodyPr/>
                    <a:lstStyle/>
                    <a:p>
                      <a:pPr marL="0" indent="0">
                        <a:buNone/>
                      </a:pPr>
                      <a:r>
                        <a:rPr lang="en-US" sz="1050" b="0" dirty="0">
                          <a:solidFill>
                            <a:srgbClr val="222222"/>
                          </a:solidFill>
                          <a:latin typeface="Calibri" pitchFamily="34" charset="0"/>
                          <a:ea typeface="Calibri" pitchFamily="34" charset="-122"/>
                          <a:cs typeface="Calibri" pitchFamily="34" charset="-120"/>
                        </a:rPr>
                        <a:t>0.50 fire_threat_level + 0.30 intervention_urgency + 0.20 suppression_feasibility</a:t>
                      </a:r>
                    </a:p>
                  </a:txBody>
                  <a:tcPr marL="54864" marR="54864" marT="27432" marB="27432" anchor="ctr">
                    <a:lnB w="9525" cap="flat" cmpd="sng" algn="ctr">
                      <a:solidFill>
                        <a:srgbClr val="D0D0D0"/>
                      </a:solidFill>
                      <a:prstDash val="solid"/>
                    </a:lnB>
                    <a:noFill/>
                  </a:tcPr>
                </a:tc>
                <a:tc>
                  <a:txBody>
                    <a:bodyPr/>
                    <a:lstStyle/>
                    <a:p>
                      <a:pPr marL="0" indent="0">
                        <a:buNone/>
                      </a:pPr>
                      <a:r>
                        <a:rPr lang="en-US" sz="1050" b="0" dirty="0">
                          <a:solidFill>
                            <a:srgbClr val="6E6E6E"/>
                          </a:solidFill>
                          <a:latin typeface="Calibri" pitchFamily="34" charset="0"/>
                          <a:ea typeface="Calibri" pitchFamily="34" charset="-122"/>
                          <a:cs typeface="Calibri" pitchFamily="34" charset="-120"/>
                        </a:rPr>
                        <a:t>actuator run · its rule orders forward_draft_relay</a:t>
                      </a:r>
                    </a:p>
                  </a:txBody>
                  <a:tcPr marL="54864" marR="54864" marT="27432" marB="27432" anchor="ctr">
                    <a:lnB w="9525" cap="flat" cmpd="sng" algn="ctr">
                      <a:solidFill>
                        <a:srgbClr val="D0D0D0"/>
                      </a:solidFill>
                      <a:prstDash val="solid"/>
                    </a:lnB>
                    <a:noFill/>
                  </a:tcPr>
                </a:tc>
              </a:tr>
              <a:tr h="365760">
                <a:tc>
                  <a:txBody>
                    <a:bodyPr/>
                    <a:lstStyle/>
                    <a:p>
                      <a:pPr marL="0" indent="0">
                        <a:buNone/>
                      </a:pPr>
                      <a:r>
                        <a:rPr lang="en-US" sz="1050" b="1" dirty="0">
                          <a:solidFill>
                            <a:srgbClr val="E31836"/>
                          </a:solidFill>
                          <a:latin typeface="Calibri" pitchFamily="34" charset="0"/>
                          <a:ea typeface="Calibri" pitchFamily="34" charset="-122"/>
                          <a:cs typeface="Calibri" pitchFamily="34" charset="-120"/>
                        </a:rPr>
                        <a:t>head_run_pressure</a:t>
                      </a:r>
                    </a:p>
                  </a:txBody>
                  <a:tcPr marL="54864" marR="54864" marT="27432" marB="27432" anchor="ctr">
                    <a:lnB w="9525" cap="flat" cmpd="sng" algn="ctr">
                      <a:solidFill>
                        <a:srgbClr val="D0D0D0"/>
                      </a:solidFill>
                      <a:prstDash val="solid"/>
                    </a:lnB>
                    <a:noFill/>
                  </a:tcPr>
                </a:tc>
                <a:tc>
                  <a:txBody>
                    <a:bodyPr/>
                    <a:lstStyle/>
                    <a:p>
                      <a:pPr marL="0" indent="0">
                        <a:buNone/>
                      </a:pPr>
                      <a:r>
                        <a:rPr lang="en-US" sz="1050" b="0" dirty="0">
                          <a:solidFill>
                            <a:srgbClr val="222222"/>
                          </a:solidFill>
                          <a:latin typeface="Calibri" pitchFamily="34" charset="0"/>
                          <a:ea typeface="Calibri" pitchFamily="34" charset="-122"/>
                          <a:cs typeface="Calibri" pitchFamily="34" charset="-120"/>
                        </a:rPr>
                        <a:t>0.40 fire_threat_level + 0.30 intervention_urgency + 0.20 evacuation_pressure + 0.10 suppression_feasibility</a:t>
                      </a:r>
                    </a:p>
                  </a:txBody>
                  <a:tcPr marL="54864" marR="54864" marT="27432" marB="27432" anchor="ctr">
                    <a:lnB w="9525" cap="flat" cmpd="sng" algn="ctr">
                      <a:solidFill>
                        <a:srgbClr val="D0D0D0"/>
                      </a:solidFill>
                      <a:prstDash val="solid"/>
                    </a:lnB>
                    <a:noFill/>
                  </a:tcPr>
                </a:tc>
                <a:tc>
                  <a:txBody>
                    <a:bodyPr/>
                    <a:lstStyle/>
                    <a:p>
                      <a:pPr marL="0" indent="0">
                        <a:buNone/>
                      </a:pPr>
                      <a:r>
                        <a:rPr lang="en-US" sz="1050" b="0" dirty="0">
                          <a:solidFill>
                            <a:srgbClr val="6E6E6E"/>
                          </a:solidFill>
                          <a:latin typeface="Calibri" pitchFamily="34" charset="0"/>
                          <a:ea typeface="Calibri" pitchFamily="34" charset="-122"/>
                          <a:cs typeface="Calibri" pitchFamily="34" charset="-120"/>
                        </a:rPr>
                        <a:t>actuator run</a:t>
                      </a:r>
                    </a:p>
                  </a:txBody>
                  <a:tcPr marL="54864" marR="54864" marT="27432" marB="27432" anchor="ctr">
                    <a:lnB w="9525" cap="flat" cmpd="sng" algn="ctr">
                      <a:solidFill>
                        <a:srgbClr val="D0D0D0"/>
                      </a:solidFill>
                      <a:prstDash val="solid"/>
                    </a:lnB>
                    <a:noFill/>
                  </a:tcPr>
                </a:tc>
              </a:tr>
              <a:tr h="365760">
                <a:tc>
                  <a:txBody>
                    <a:bodyPr/>
                    <a:lstStyle/>
                    <a:p>
                      <a:pPr marL="0" indent="0">
                        <a:buNone/>
                      </a:pPr>
                      <a:r>
                        <a:rPr lang="en-US" sz="1050" b="1" dirty="0">
                          <a:solidFill>
                            <a:srgbClr val="E31836"/>
                          </a:solidFill>
                          <a:latin typeface="Calibri" pitchFamily="34" charset="0"/>
                          <a:ea typeface="Calibri" pitchFamily="34" charset="-122"/>
                          <a:cs typeface="Calibri" pitchFamily="34" charset="-120"/>
                        </a:rPr>
                        <a:t>village_interface_pressure</a:t>
                      </a:r>
                    </a:p>
                  </a:txBody>
                  <a:tcPr marL="54864" marR="54864" marT="27432" marB="27432" anchor="ctr">
                    <a:lnB w="9525" cap="flat" cmpd="sng" algn="ctr">
                      <a:solidFill>
                        <a:srgbClr val="D0D0D0"/>
                      </a:solidFill>
                      <a:prstDash val="solid"/>
                    </a:lnB>
                    <a:noFill/>
                  </a:tcPr>
                </a:tc>
                <a:tc>
                  <a:txBody>
                    <a:bodyPr/>
                    <a:lstStyle/>
                    <a:p>
                      <a:pPr marL="0" indent="0">
                        <a:buNone/>
                      </a:pPr>
                      <a:r>
                        <a:rPr lang="en-US" sz="1050" b="0" dirty="0">
                          <a:solidFill>
                            <a:srgbClr val="222222"/>
                          </a:solidFill>
                          <a:latin typeface="Calibri" pitchFamily="34" charset="0"/>
                          <a:ea typeface="Calibri" pitchFamily="34" charset="-122"/>
                          <a:cs typeface="Calibri" pitchFamily="34" charset="-120"/>
                        </a:rPr>
                        <a:t>0.40 intervention_urgency + 0.30 evacuation_pressure + 0.30 fire_threat_level</a:t>
                      </a:r>
                    </a:p>
                  </a:txBody>
                  <a:tcPr marL="54864" marR="54864" marT="27432" marB="27432" anchor="ctr">
                    <a:lnB w="9525" cap="flat" cmpd="sng" algn="ctr">
                      <a:solidFill>
                        <a:srgbClr val="D0D0D0"/>
                      </a:solidFill>
                      <a:prstDash val="solid"/>
                    </a:lnB>
                    <a:noFill/>
                  </a:tcPr>
                </a:tc>
                <a:tc>
                  <a:txBody>
                    <a:bodyPr/>
                    <a:lstStyle/>
                    <a:p>
                      <a:pPr marL="0" indent="0">
                        <a:buNone/>
                      </a:pPr>
                      <a:r>
                        <a:rPr lang="en-US" sz="1050" b="0" dirty="0">
                          <a:solidFill>
                            <a:srgbClr val="6E6E6E"/>
                          </a:solidFill>
                          <a:latin typeface="Calibri" pitchFamily="34" charset="0"/>
                          <a:ea typeface="Calibri" pitchFamily="34" charset="-122"/>
                          <a:cs typeface="Calibri" pitchFamily="34" charset="-120"/>
                        </a:rPr>
                        <a:t>actuator run</a:t>
                      </a:r>
                    </a:p>
                  </a:txBody>
                  <a:tcPr marL="54864" marR="54864" marT="27432" marB="27432" anchor="ctr">
                    <a:lnB w="9525" cap="flat" cmpd="sng" algn="ctr">
                      <a:solidFill>
                        <a:srgbClr val="D0D0D0"/>
                      </a:solidFill>
                      <a:prstDash val="solid"/>
                    </a:lnB>
                    <a:noFill/>
                  </a:tcPr>
                </a:tc>
              </a:tr>
            </a:tbl>
          </a:graphicData>
        </a:graphic>
      </p:graphicFrame>
      <p:sp>
        <p:nvSpPr>
          <p:cNvPr id="8510" name="Box buys"/>
          <p:cNvSpPr/>
          <p:nvPr/>
        </p:nvSpPr>
        <p:spPr>
          <a:xfrm>
            <a:off x="457200" y="4434840"/>
            <a:ext cx="5532120" cy="1600200"/>
          </a:xfrm>
          <a:prstGeom prst="roundRect">
            <a:avLst>
              <a:gd name="adj" fmla="val 4000"/>
            </a:avLst>
          </a:prstGeom>
          <a:solidFill>
            <a:srgbClr val="F2F2F2"/>
          </a:solidFill>
          <a:ln>
            <a:noFill/>
          </a:ln>
        </p:spPr>
        <p:txBody>
          <a:bodyPr/>
          <a:lstStyle/>
          <a:p>
            <a:endParaRPr lang="en-US"/>
          </a:p>
        </p:txBody>
      </p:sp>
      <p:sp>
        <p:nvSpPr>
          <p:cNvPr id="8511" name="H buys"/>
          <p:cNvSpPr/>
          <p:nvPr/>
        </p:nvSpPr>
        <p:spPr>
          <a:xfrm>
            <a:off x="658368" y="4572000"/>
            <a:ext cx="5138928" cy="256032"/>
          </a:xfrm>
          <a:prstGeom prst="rect">
            <a:avLst/>
          </a:prstGeom>
          <a:noFill/>
          <a:ln/>
        </p:spPr>
        <p:txBody>
          <a:bodyPr wrap="square" lIns="0" tIns="0" rIns="0" bIns="0" rtlCol="0" anchor="t"/>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what a concept buys</a:t>
            </a:r>
            <a:endParaRPr lang="en-US" sz="1150" dirty="0"/>
          </a:p>
        </p:txBody>
      </p:sp>
      <p:sp>
        <p:nvSpPr>
          <p:cNvPr id="8512" name="B buys"/>
          <p:cNvSpPr/>
          <p:nvPr/>
        </p:nvSpPr>
        <p:spPr>
          <a:xfrm>
            <a:off x="658368" y="4882896"/>
            <a:ext cx="5138928" cy="1051560"/>
          </a:xfrm>
          <a:prstGeom prst="rect">
            <a:avLst/>
          </a:prstGeom>
          <a:noFill/>
          <a:ln/>
        </p:spPr>
        <p:txBody>
          <a:bodyPr wrap="square" lIns="0" tIns="0" rIns="0" bIns="0" rtlCol="0" anchor="t"/>
          <a:lstStyle/>
          <a:p>
            <a:pPr marL="0" indent="0">
              <a:lnSpc>
                <a:spcPct val="102000"/>
              </a:lnSpc>
              <a:spcAft>
                <a:spcPts val="0"/>
              </a:spcAft>
              <a:buNone/>
            </a:pPr>
            <a:r>
              <a:rPr lang="en-US" sz="1100" b="0" i="0" dirty="0">
                <a:solidFill>
                  <a:srgbClr val="222222"/>
                </a:solidFill>
                <a:latin typeface="Calibri" pitchFamily="34" charset="0"/>
                <a:ea typeface="Calibri" pitchFamily="34" charset="-122"/>
                <a:cs typeface="Calibri" pitchFamily="34" charset="-120"/>
              </a:rPr>
              <a:t>One antecedent instead of three: a recurring compound situation gets a name. Installed, it behaves like a native concept, with five terms and a confidence gate, and later rules can cite it.</a:t>
            </a:r>
            <a:endParaRPr lang="en-US" sz="1100" dirty="0"/>
          </a:p>
        </p:txBody>
      </p:sp>
      <p:sp>
        <p:nvSpPr>
          <p:cNvPr id="8513" name="Box totals"/>
          <p:cNvSpPr/>
          <p:nvPr/>
        </p:nvSpPr>
        <p:spPr>
          <a:xfrm>
            <a:off x="6217920" y="4434840"/>
            <a:ext cx="5532120" cy="1600200"/>
          </a:xfrm>
          <a:prstGeom prst="roundRect">
            <a:avLst>
              <a:gd name="adj" fmla="val 4000"/>
            </a:avLst>
          </a:prstGeom>
          <a:solidFill>
            <a:srgbClr val="FBF1F1"/>
          </a:solidFill>
          <a:ln>
            <a:noFill/>
          </a:ln>
        </p:spPr>
        <p:txBody>
          <a:bodyPr/>
          <a:lstStyle/>
          <a:p>
            <a:endParaRPr lang="en-US"/>
          </a:p>
        </p:txBody>
      </p:sp>
      <p:sp>
        <p:nvSpPr>
          <p:cNvPr id="8514" name="H totals"/>
          <p:cNvSpPr/>
          <p:nvPr/>
        </p:nvSpPr>
        <p:spPr>
          <a:xfrm>
            <a:off x="6419088" y="4572000"/>
            <a:ext cx="5138928" cy="256032"/>
          </a:xfrm>
          <a:prstGeom prst="rect">
            <a:avLst/>
          </a:prstGeom>
          <a:noFill/>
          <a:ln/>
        </p:spPr>
        <p:txBody>
          <a:bodyPr wrap="square" lIns="0" tIns="0" rIns="0" bIns="0" rtlCol="0" anchor="t"/>
          <a:lstStyle/>
          <a:p>
            <a:pPr marL="0" indent="0">
              <a:lnSpc>
                <a:spcPct val="102000"/>
              </a:lnSpc>
              <a:spcAft>
                <a:spcPts val="0"/>
              </a:spcAft>
              <a:buNone/>
            </a:pPr>
            <a:r>
              <a:rPr lang="en-US" sz="1150" b="1" i="0" dirty="0">
                <a:solidFill>
                  <a:srgbClr val="E31836"/>
                </a:solidFill>
                <a:latin typeface="Calibri" pitchFamily="34" charset="0"/>
                <a:ea typeface="Calibri" pitchFamily="34" charset="-122"/>
                <a:cs typeface="Calibri" pitchFamily="34" charset="-120"/>
              </a:rPr>
              <a:t>the full generative record, two campaigns</a:t>
            </a:r>
            <a:endParaRPr lang="en-US" sz="1150" dirty="0"/>
          </a:p>
        </p:txBody>
      </p:sp>
      <p:sp>
        <p:nvSpPr>
          <p:cNvPr id="8515" name="B totals"/>
          <p:cNvSpPr/>
          <p:nvPr/>
        </p:nvSpPr>
        <p:spPr>
          <a:xfrm>
            <a:off x="6419088" y="4882896"/>
            <a:ext cx="5138928" cy="1051560"/>
          </a:xfrm>
          <a:prstGeom prst="rect">
            <a:avLst/>
          </a:prstGeom>
          <a:noFill/>
          <a:ln/>
        </p:spPr>
        <p:txBody>
          <a:bodyPr wrap="square" lIns="0" tIns="0" rIns="0" bIns="0" rtlCol="0" anchor="t"/>
          <a:lstStyle/>
          <a:p>
            <a:pPr marL="0" indent="0">
              <a:lnSpc>
                <a:spcPct val="102000"/>
              </a:lnSpc>
              <a:spcAft>
                <a:spcPts val="0"/>
              </a:spcAft>
              <a:buNone/>
            </a:pPr>
            <a:r>
              <a:rPr lang="en-US" sz="1100" b="0" i="0" dirty="0">
                <a:solidFill>
                  <a:srgbClr val="222222"/>
                </a:solidFill>
                <a:latin typeface="Calibri" pitchFamily="34" charset="0"/>
                <a:ea typeface="Calibri" pitchFamily="34" charset="-122"/>
                <a:cs typeface="Calibri" pitchFamily="34" charset="-120"/>
              </a:rPr>
              <a:t>Main run: 232 proposals, 47 admitted (36 rules + 11 packages); the store keeps 7 macros and 1 concept. Actuator run: 35 proposals, 19 admitted (6 rules, 5 concepts, 1 macro, 7 actuators). Each slide of this part quotes its own campaign.</a:t>
            </a:r>
            <a:endParaRPr lang="en-US" sz="1100" dirty="0"/>
          </a:p>
        </p:txBody>
      </p:sp>
      <p:sp>
        <p:nvSpPr>
          <p:cNvPr id="8516" name="Bottom"/>
          <p:cNvSpPr/>
          <p:nvPr/>
        </p:nvSpPr>
        <p:spPr>
          <a:xfrm>
            <a:off x="457200" y="6263640"/>
            <a:ext cx="11292840" cy="365760"/>
          </a:xfrm>
          <a:prstGeom prst="rect">
            <a:avLst/>
          </a:prstGeom>
          <a:noFill/>
          <a:ln/>
        </p:spPr>
        <p:txBody>
          <a:bodyPr wrap="square" lIns="0" tIns="0" rIns="0" bIns="0" rtlCol="0" anchor="t"/>
          <a:lstStyle/>
          <a:p>
            <a:pPr marL="0" indent="0">
              <a:lnSpc>
                <a:spcPct val="102000"/>
              </a:lnSpc>
              <a:spcAft>
                <a:spcPts val="0"/>
              </a:spcAft>
              <a:buNone/>
            </a:pPr>
            <a:r>
              <a:rPr lang="en-US" sz="1100" b="0" i="1" dirty="0">
                <a:solidFill>
                  <a:srgbClr val="6E6E6E"/>
                </a:solidFill>
                <a:latin typeface="Calibri" pitchFamily="34" charset="0"/>
                <a:ea typeface="Calibri" pitchFamily="34" charset="-122"/>
                <a:cs typeface="Calibri" pitchFamily="34" charset="-120"/>
              </a:rPr>
              <a:t>A concept changes what the rules can look at, never what they can order.</a:t>
            </a:r>
            <a:endParaRPr lang="en-US" sz="1100" dirty="0"/>
          </a:p>
        </p:txBody>
      </p:sp>
    </p:spTree>
    <p:extLst>
      <p:ext uri="{BB962C8B-B14F-4D97-AF65-F5344CB8AC3E}">
        <p14:creationId xmlns:p14="http://schemas.microsoft.com/office/powerpoint/2010/main" val="376121410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TRACEABILITY</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One Incident End to End; Every Order Explains Itself</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ch5_53.png"/>
          <p:cNvPicPr>
            <a:picLocks noChangeAspect="1"/>
          </p:cNvPicPr>
          <p:nvPr/>
        </p:nvPicPr>
        <p:blipFill>
          <a:blip r:embed="rId5"/>
          <a:stretch>
            <a:fillRect/>
          </a:stretch>
        </p:blipFill>
        <p:spPr>
          <a:xfrm>
            <a:off x="291780" y="1325880"/>
            <a:ext cx="10746868" cy="4489704"/>
          </a:xfrm>
          <a:prstGeom prst="rect">
            <a:avLst/>
          </a:prstGeom>
        </p:spPr>
      </p:pic>
      <p:sp>
        <p:nvSpPr>
          <p:cNvPr id="7" name="Text 2"/>
          <p:cNvSpPr/>
          <p:nvPr/>
        </p:nvSpPr>
        <p:spPr>
          <a:xfrm>
            <a:off x="547984" y="6071616"/>
            <a:ext cx="11292840" cy="54864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Upper: cumulative burned area flattening as the fire is held, active cells peaking and driven to near zero; lower: adaptation events by stage (accepted ▲, rejected ✕). </a:t>
            </a:r>
          </a:p>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Accepted trials cluster in the early minutes; later proposals are mostly rejected because little is left to improve.</a:t>
            </a:r>
            <a:endParaRPr lang="en-US" sz="1200" dirty="0"/>
          </a:p>
        </p:txBody>
      </p:sp>
      <p:sp>
        <p:nvSpPr>
          <p:cNvPr id="9" name="Text 4"/>
          <p:cNvSpPr/>
          <p:nvPr/>
        </p:nvSpPr>
        <p:spPr>
          <a:xfrm>
            <a:off x="731520" y="5212080"/>
            <a:ext cx="10789920" cy="1234440"/>
          </a:xfrm>
          <a:prstGeom prst="rect">
            <a:avLst/>
          </a:prstGeom>
          <a:noFill/>
          <a:ln/>
        </p:spPr>
        <p:txBody>
          <a:bodyPr wrap="square" lIns="0" tIns="0" rIns="0" bIns="0" rtlCol="0" anchor="t"/>
          <a:lstStyle/>
          <a:p>
            <a:pPr marL="0" indent="0">
              <a:lnSpc>
                <a:spcPct val="104000"/>
              </a:lnSpc>
              <a:buNone/>
            </a:pPr>
            <a:endParaRPr lang="en-US" sz="12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TEMPO &amp; SCALE</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Milliseconds Against a Twelve-Minute Cycle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ch5_55.png"/>
          <p:cNvPicPr>
            <a:picLocks noChangeAspect="1"/>
          </p:cNvPicPr>
          <p:nvPr/>
        </p:nvPicPr>
        <p:blipFill>
          <a:blip r:embed="rId5"/>
          <a:stretch>
            <a:fillRect/>
          </a:stretch>
        </p:blipFill>
        <p:spPr>
          <a:xfrm>
            <a:off x="2377440" y="1019968"/>
            <a:ext cx="7351776" cy="4560038"/>
          </a:xfrm>
          <a:prstGeom prst="rect">
            <a:avLst/>
          </a:prstGeom>
        </p:spPr>
      </p:pic>
      <p:sp>
        <p:nvSpPr>
          <p:cNvPr id="7" name="Text 2"/>
          <p:cNvSpPr/>
          <p:nvPr/>
        </p:nvSpPr>
        <p:spPr>
          <a:xfrm>
            <a:off x="502920" y="5736336"/>
            <a:ext cx="6126480" cy="36576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Cost of one decision as a share of the cycle, for 1–16 local regions at 2, 6, and 12-minute cycles.</a:t>
            </a:r>
            <a:endParaRPr lang="en-US" sz="1200" dirty="0"/>
          </a:p>
        </p:txBody>
      </p:sp>
      <p:sp>
        <p:nvSpPr>
          <p:cNvPr id="9" name="Text 3"/>
          <p:cNvSpPr/>
          <p:nvPr/>
        </p:nvSpPr>
        <p:spPr>
          <a:xfrm>
            <a:off x="6858000" y="3794760"/>
            <a:ext cx="4892040" cy="2743200"/>
          </a:xfrm>
          <a:prstGeom prst="rect">
            <a:avLst/>
          </a:prstGeom>
          <a:noFill/>
          <a:ln/>
        </p:spPr>
        <p:txBody>
          <a:bodyPr wrap="square" lIns="0" tIns="0" rIns="0" bIns="0" rtlCol="0" anchor="t"/>
          <a:lstStyle/>
          <a:p>
            <a:pPr marL="152400" indent="-152400">
              <a:lnSpc>
                <a:spcPct val="104000"/>
              </a:lnSpc>
              <a:spcAft>
                <a:spcPts val="600"/>
              </a:spcAft>
              <a:buSzPct val="100000"/>
              <a:buChar char="•"/>
            </a:pP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VERDICT : COMPLIANCE</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Rubric Returns : Four Met in Full, Four Bounded</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2404896563"/>
              </p:ext>
            </p:extLst>
          </p:nvPr>
        </p:nvGraphicFramePr>
        <p:xfrm>
          <a:off x="457200" y="1371600"/>
          <a:ext cx="11292840" cy="4773168"/>
        </p:xfrm>
        <a:graphic>
          <a:graphicData uri="http://schemas.openxmlformats.org/drawingml/2006/table">
            <a:tbl>
              <a:tblPr/>
              <a:tblGrid>
                <a:gridCol w="2103120">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8686800">
                  <a:extLst>
                    <a:ext uri="{9D8B030D-6E8A-4147-A177-3AD203B41FA5}">
                      <a16:colId xmlns:a16="http://schemas.microsoft.com/office/drawing/2014/main" val="20002"/>
                    </a:ext>
                  </a:extLst>
                </a:gridCol>
              </a:tblGrid>
              <a:tr h="530352">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Criterion</a:t>
                      </a:r>
                      <a:endParaRPr lang="en-US" sz="1200" dirty="0">
                        <a:solidFill>
                          <a:schemeClr val="bg1"/>
                        </a:solidFill>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endParaRPr lang="en-US" sz="1200" dirty="0">
                        <a:solidFill>
                          <a:schemeClr val="bg1"/>
                        </a:solidFill>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Evidence — and where it stops</a:t>
                      </a:r>
                      <a:endParaRPr lang="en-US" sz="1200" dirty="0">
                        <a:solidFill>
                          <a:schemeClr val="bg1"/>
                        </a:solidFill>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Predictive fidelity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rgbClr val="3E7C4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four blind hindcasts: 86–94% overall, POD 85–97%; final area overpredicted by design in the suppression-free core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Timeliness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rgbClr val="3E7C4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median 274 ms vs a 12-min cycle; first offensive order at 2 min in all ten worlds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Adaptability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rgbClr val="3E7C4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① 129/616, ② 40/359; ③ seven macros and one concept, each with a logged birth moment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Scalability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rgbClr val="3E7C4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0.02–0.16% of the cycle; ×16 agents → ×1.16–1.29; the cost follows cells, not agents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Decision quality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chemeClr val="accent6">
                              <a:lumMod val="50000"/>
                            </a:schemeClr>
                          </a:solidFill>
                          <a:latin typeface="Calibri" pitchFamily="34" charset="0"/>
                          <a:ea typeface="Calibri" pitchFamily="34" charset="-122"/>
                          <a:cs typeface="Calibri" pitchFamily="34" charset="-120"/>
                        </a:rPr>
                        <a:t>◐</a:t>
                      </a:r>
                      <a:endParaRPr lang="en-US" sz="1400" dirty="0">
                        <a:solidFill>
                          <a:schemeClr val="accent6">
                            <a:lumMod val="50000"/>
                          </a:schemeClr>
                        </a:solidFill>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220 → 39 ha (−82%), physical cost 0.506 → 0.090, lowest in every scenario — no baseline policy beyond no action is tested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Robustness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chemeClr val="accent6">
                              <a:lumMod val="50000"/>
                            </a:schemeClr>
                          </a:solidFill>
                          <a:latin typeface="Calibri" pitchFamily="34" charset="0"/>
                          <a:ea typeface="Calibri" pitchFamily="34" charset="-122"/>
                          <a:cs typeface="Calibri" pitchFamily="34" charset="-120"/>
                        </a:rPr>
                        <a:t>◐</a:t>
                      </a:r>
                      <a:endParaRPr lang="en-US" sz="1400" dirty="0">
                        <a:solidFill>
                          <a:schemeClr val="accent6">
                            <a:lumMod val="50000"/>
                          </a:schemeClr>
                        </a:solidFill>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S5: +10% burned area, still best of four — met for observation loss; sensor noise and communication failure untested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Uncertainty handling</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chemeClr val="accent6">
                              <a:lumMod val="50000"/>
                            </a:schemeClr>
                          </a:solidFill>
                          <a:latin typeface="Calibri" pitchFamily="34" charset="0"/>
                          <a:ea typeface="Calibri" pitchFamily="34" charset="-122"/>
                          <a:cs typeface="Calibri" pitchFamily="34" charset="-120"/>
                        </a:rPr>
                        <a:t>◐</a:t>
                      </a:r>
                      <a:endParaRPr lang="en-US" sz="1400" dirty="0">
                        <a:solidFill>
                          <a:schemeClr val="accent6">
                            <a:lumMod val="50000"/>
                          </a:schemeClr>
                        </a:solidFill>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every feature carries a confidence that gates its concept — ensemble propagation of weather and fuel uncertainty was not run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Explainability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chemeClr val="accent6">
                              <a:lumMod val="50000"/>
                            </a:schemeClr>
                          </a:solidFill>
                          <a:latin typeface="Calibri" pitchFamily="34" charset="0"/>
                          <a:ea typeface="Calibri" pitchFamily="34" charset="-122"/>
                          <a:cs typeface="Calibri" pitchFamily="34" charset="-120"/>
                        </a:rPr>
                        <a:t>◐</a:t>
                      </a:r>
                      <a:endParaRPr lang="en-US" sz="1400" dirty="0">
                        <a:solidFill>
                          <a:schemeClr val="accent6">
                            <a:lumMod val="50000"/>
                          </a:schemeClr>
                        </a:solidFill>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every edit, rejection, and object logged with deficit, gate, and consumer — operator-side interpretability not yet evaluated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Text 2"/>
          <p:cNvSpPr/>
          <p:nvPr/>
        </p:nvSpPr>
        <p:spPr>
          <a:xfrm>
            <a:off x="457200" y="6172200"/>
            <a:ext cx="11292840" cy="365760"/>
          </a:xfrm>
          <a:prstGeom prst="rect">
            <a:avLst/>
          </a:prstGeom>
          <a:noFill/>
          <a:ln/>
        </p:spPr>
        <p:txBody>
          <a:bodyPr wrap="square" lIns="0" tIns="0" rIns="0" bIns="0" rtlCol="0" anchor="t"/>
          <a:lstStyle/>
          <a:p>
            <a:pPr marL="0" indent="0">
              <a:lnSpc>
                <a:spcPct val="104000"/>
              </a:lnSpc>
              <a:buNone/>
            </a:pPr>
            <a:r>
              <a:rPr lang="en-US" sz="1250" b="1" i="1" dirty="0">
                <a:solidFill>
                  <a:srgbClr val="E31836"/>
                </a:solidFill>
                <a:latin typeface="Calibri" pitchFamily="34" charset="0"/>
                <a:ea typeface="Calibri" pitchFamily="34" charset="-122"/>
                <a:cs typeface="Calibri" pitchFamily="34" charset="-120"/>
              </a:rPr>
              <a:t>A rubric that reports only its successes carries no information: the four bounded criteria are stated here, not hidden in Chapter 6.</a:t>
            </a:r>
            <a:endParaRPr lang="en-US" sz="12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2" name="Text 0"/>
          <p:cNvSpPr/>
          <p:nvPr/>
        </p:nvSpPr>
        <p:spPr>
          <a:xfrm>
            <a:off x="822960" y="2194560"/>
            <a:ext cx="5486400" cy="365760"/>
          </a:xfrm>
          <a:prstGeom prst="rect">
            <a:avLst/>
          </a:prstGeom>
          <a:noFill/>
          <a:ln/>
        </p:spPr>
        <p:txBody>
          <a:bodyPr wrap="square" lIns="0" tIns="0" rIns="0" bIns="0" rtlCol="0" anchor="ctr"/>
          <a:lstStyle/>
          <a:p>
            <a:pPr marL="0" indent="0">
              <a:buNone/>
            </a:pPr>
            <a:r>
              <a:rPr lang="en-US" sz="1500" b="1" kern="0" spc="300" dirty="0">
                <a:solidFill>
                  <a:srgbClr val="E31836"/>
                </a:solidFill>
                <a:latin typeface="Calibri" pitchFamily="34" charset="0"/>
                <a:ea typeface="Calibri" pitchFamily="34" charset="-122"/>
                <a:cs typeface="Calibri" pitchFamily="34" charset="-120"/>
              </a:rPr>
              <a:t>PART </a:t>
            </a:r>
            <a:r>
              <a:rPr lang="tr-TR" sz="1500" b="1" kern="0" spc="300" dirty="0">
                <a:solidFill>
                  <a:srgbClr val="E31836"/>
                </a:solidFill>
                <a:latin typeface="Calibri" pitchFamily="34" charset="0"/>
                <a:ea typeface="Calibri" pitchFamily="34" charset="-122"/>
                <a:cs typeface="Calibri" pitchFamily="34" charset="-120"/>
              </a:rPr>
              <a:t>5</a:t>
            </a:r>
            <a:endParaRPr lang="en-US" sz="1500" dirty="0"/>
          </a:p>
        </p:txBody>
      </p:sp>
      <p:sp>
        <p:nvSpPr>
          <p:cNvPr id="3" name="Text 1"/>
          <p:cNvSpPr/>
          <p:nvPr/>
        </p:nvSpPr>
        <p:spPr>
          <a:xfrm>
            <a:off x="822960" y="2606040"/>
            <a:ext cx="10607040" cy="914400"/>
          </a:xfrm>
          <a:prstGeom prst="rect">
            <a:avLst/>
          </a:prstGeom>
          <a:noFill/>
          <a:ln/>
        </p:spPr>
        <p:txBody>
          <a:bodyPr wrap="square" lIns="0" tIns="0" rIns="0" bIns="0" rtlCol="0" anchor="ctr"/>
          <a:lstStyle/>
          <a:p>
            <a:pPr marL="0" indent="0">
              <a:buNone/>
            </a:pPr>
            <a:r>
              <a:rPr lang="tr-TR" sz="4800" b="1" dirty="0" err="1">
                <a:solidFill>
                  <a:srgbClr val="FFFFFF"/>
                </a:solidFill>
                <a:latin typeface="Cambria" pitchFamily="34" charset="0"/>
                <a:ea typeface="Cambria" pitchFamily="34" charset="-122"/>
                <a:cs typeface="Cambria" pitchFamily="34" charset="-120"/>
              </a:rPr>
              <a:t>Conclusion</a:t>
            </a:r>
            <a:r>
              <a:rPr lang="tr-TR" sz="4800" b="1" dirty="0">
                <a:solidFill>
                  <a:srgbClr val="FFFFFF"/>
                </a:solidFill>
                <a:latin typeface="Cambria" pitchFamily="34" charset="0"/>
                <a:ea typeface="Cambria" pitchFamily="34" charset="-122"/>
                <a:cs typeface="Cambria" pitchFamily="34" charset="-120"/>
              </a:rPr>
              <a:t> &amp; </a:t>
            </a:r>
            <a:r>
              <a:rPr lang="tr-TR" sz="4800" b="1" dirty="0" err="1">
                <a:solidFill>
                  <a:srgbClr val="FFFFFF"/>
                </a:solidFill>
                <a:latin typeface="Cambria" pitchFamily="34" charset="0"/>
                <a:ea typeface="Cambria" pitchFamily="34" charset="-122"/>
                <a:cs typeface="Cambria" pitchFamily="34" charset="-120"/>
              </a:rPr>
              <a:t>Future</a:t>
            </a:r>
            <a:r>
              <a:rPr lang="tr-TR" sz="4800" b="1" dirty="0">
                <a:solidFill>
                  <a:srgbClr val="FFFFFF"/>
                </a:solidFill>
                <a:latin typeface="Cambria" pitchFamily="34" charset="0"/>
                <a:ea typeface="Cambria" pitchFamily="34" charset="-122"/>
                <a:cs typeface="Cambria" pitchFamily="34" charset="-120"/>
              </a:rPr>
              <a:t> </a:t>
            </a:r>
            <a:r>
              <a:rPr lang="tr-TR" sz="4800" b="1" dirty="0" err="1">
                <a:solidFill>
                  <a:srgbClr val="FFFFFF"/>
                </a:solidFill>
                <a:latin typeface="Cambria" pitchFamily="34" charset="0"/>
                <a:ea typeface="Cambria" pitchFamily="34" charset="-122"/>
                <a:cs typeface="Cambria" pitchFamily="34" charset="-120"/>
              </a:rPr>
              <a:t>Work</a:t>
            </a:r>
            <a:endParaRPr lang="en-US" sz="4800" dirty="0"/>
          </a:p>
        </p:txBody>
      </p:sp>
      <p:pic>
        <p:nvPicPr>
          <p:cNvPr id="5"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6"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Tree>
    <p:extLst>
      <p:ext uri="{BB962C8B-B14F-4D97-AF65-F5344CB8AC3E}">
        <p14:creationId xmlns:p14="http://schemas.microsoft.com/office/powerpoint/2010/main" val="22591727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CONCLUSIONS</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Contributions : What Was Claimed, and What Delivered It</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8501" name="Box C1 · T"/>
          <p:cNvSpPr/>
          <p:nvPr/>
        </p:nvSpPr>
        <p:spPr>
          <a:xfrm>
            <a:off x="457200" y="1280160"/>
            <a:ext cx="11292840" cy="1572768"/>
          </a:xfrm>
          <a:prstGeom prst="roundRect">
            <a:avLst>
              <a:gd name="adj" fmla="val 4000"/>
            </a:avLst>
          </a:prstGeom>
          <a:solidFill>
            <a:srgbClr val="F2F2F2"/>
          </a:solidFill>
          <a:ln>
            <a:noFill/>
          </a:ln>
        </p:spPr>
        <p:txBody>
          <a:bodyPr/>
          <a:lstStyle/>
          <a:p>
            <a:endParaRPr lang="en-US" sz="2000"/>
          </a:p>
        </p:txBody>
      </p:sp>
      <p:sp>
        <p:nvSpPr>
          <p:cNvPr id="8502" name="H C1 · T"/>
          <p:cNvSpPr/>
          <p:nvPr/>
        </p:nvSpPr>
        <p:spPr>
          <a:xfrm>
            <a:off x="658368" y="1371600"/>
            <a:ext cx="10881360" cy="274320"/>
          </a:xfrm>
          <a:prstGeom prst="rect">
            <a:avLst/>
          </a:prstGeom>
          <a:noFill/>
          <a:ln/>
        </p:spPr>
        <p:txBody>
          <a:bodyPr wrap="square" lIns="0" tIns="0" rIns="0" bIns="0" rtlCol="0" anchor="t"/>
          <a:lstStyle/>
          <a:p>
            <a:pPr marL="0" indent="0">
              <a:lnSpc>
                <a:spcPct val="102000"/>
              </a:lnSpc>
              <a:spcAft>
                <a:spcPts val="0"/>
              </a:spcAft>
              <a:buNone/>
            </a:pPr>
            <a:r>
              <a:rPr lang="en-US" sz="1400" b="1" i="0" dirty="0">
                <a:solidFill>
                  <a:srgbClr val="E31836"/>
                </a:solidFill>
                <a:latin typeface="Calibri" pitchFamily="34" charset="0"/>
                <a:ea typeface="Calibri" pitchFamily="34" charset="-122"/>
                <a:cs typeface="Calibri" pitchFamily="34" charset="-120"/>
              </a:rPr>
              <a:t>C1 · The open, concept-driven decision space </a:t>
            </a:r>
            <a:r>
              <a:rPr lang="en-US" sz="1400" b="0" i="1" dirty="0">
                <a:solidFill>
                  <a:srgbClr val="6E6E6E"/>
                </a:solidFill>
                <a:latin typeface="Calibri" pitchFamily="34" charset="0"/>
                <a:ea typeface="Calibri" pitchFamily="34" charset="-122"/>
                <a:cs typeface="Calibri" pitchFamily="34" charset="-120"/>
              </a:rPr>
              <a:t>(answers G1, carries H1)</a:t>
            </a:r>
            <a:endParaRPr lang="en-US" sz="1400" dirty="0"/>
          </a:p>
        </p:txBody>
      </p:sp>
      <p:sp>
        <p:nvSpPr>
          <p:cNvPr id="8503" name="T C1 · T"/>
          <p:cNvSpPr/>
          <p:nvPr/>
        </p:nvSpPr>
        <p:spPr>
          <a:xfrm>
            <a:off x="658368" y="1719072"/>
            <a:ext cx="10881360" cy="1051560"/>
          </a:xfrm>
          <a:prstGeom prst="rect">
            <a:avLst/>
          </a:prstGeom>
          <a:noFill/>
          <a:ln/>
        </p:spPr>
        <p:txBody>
          <a:bodyPr wrap="square" lIns="0" tIns="0" rIns="0" bIns="0" rtlCol="0" anchor="t"/>
          <a:lstStyle/>
          <a:p>
            <a:pPr marL="0" indent="0">
              <a:lnSpc>
                <a:spcPct val="102000"/>
              </a:lnSpc>
              <a:spcAft>
                <a:spcPts val="170"/>
              </a:spcAft>
              <a:buNone/>
            </a:pPr>
            <a:r>
              <a:rPr lang="en-US" sz="1100" b="1" i="0" dirty="0">
                <a:solidFill>
                  <a:srgbClr val="222222"/>
                </a:solidFill>
                <a:latin typeface="Calibri" pitchFamily="34" charset="0"/>
                <a:ea typeface="Calibri" pitchFamily="34" charset="-122"/>
                <a:cs typeface="Calibri" pitchFamily="34" charset="-120"/>
              </a:rPr>
              <a:t>Delivered by : </a:t>
            </a:r>
            <a:r>
              <a:rPr lang="en-US" sz="1100" b="0" i="0" dirty="0">
                <a:solidFill>
                  <a:srgbClr val="222222"/>
                </a:solidFill>
                <a:latin typeface="Calibri" pitchFamily="34" charset="0"/>
                <a:ea typeface="Calibri" pitchFamily="34" charset="-122"/>
                <a:cs typeface="Calibri" pitchFamily="34" charset="-120"/>
              </a:rPr>
              <a:t>the four-layer agent and the three-stage adaptation ladder, every change behind the gates</a:t>
            </a:r>
            <a:endParaRPr lang="en-US" sz="1100" dirty="0"/>
          </a:p>
          <a:p>
            <a:pPr marL="0" indent="0">
              <a:lnSpc>
                <a:spcPct val="102000"/>
              </a:lnSpc>
              <a:spcAft>
                <a:spcPts val="0"/>
              </a:spcAft>
              <a:buNone/>
            </a:pPr>
            <a:r>
              <a:rPr lang="en-US" sz="1100" b="1" i="0" dirty="0">
                <a:solidFill>
                  <a:srgbClr val="222222"/>
                </a:solidFill>
                <a:latin typeface="Calibri" pitchFamily="34" charset="0"/>
                <a:ea typeface="Calibri" pitchFamily="34" charset="-122"/>
                <a:cs typeface="Calibri" pitchFamily="34" charset="-120"/>
              </a:rPr>
              <a:t>Shown by : </a:t>
            </a:r>
            <a:r>
              <a:rPr lang="en-US" sz="1100" b="0" i="0" dirty="0">
                <a:solidFill>
                  <a:srgbClr val="222222"/>
                </a:solidFill>
                <a:latin typeface="Calibri" pitchFamily="34" charset="0"/>
                <a:ea typeface="Calibri" pitchFamily="34" charset="-122"/>
                <a:cs typeface="Calibri" pitchFamily="34" charset="-120"/>
              </a:rPr>
              <a:t>five seed rules grew to 40 written rules, seven macros, one concept and seven actuators; 82% less burned area than free burn; 16 times the agents for at most 1.29 times the cost</a:t>
            </a:r>
            <a:endParaRPr lang="en-US" sz="1100" dirty="0"/>
          </a:p>
        </p:txBody>
      </p:sp>
      <p:sp>
        <p:nvSpPr>
          <p:cNvPr id="8504" name="Box C2 · U"/>
          <p:cNvSpPr/>
          <p:nvPr/>
        </p:nvSpPr>
        <p:spPr>
          <a:xfrm>
            <a:off x="457200" y="2999232"/>
            <a:ext cx="11292840" cy="1572768"/>
          </a:xfrm>
          <a:prstGeom prst="roundRect">
            <a:avLst>
              <a:gd name="adj" fmla="val 4000"/>
            </a:avLst>
          </a:prstGeom>
          <a:solidFill>
            <a:srgbClr val="F2F2F2"/>
          </a:solidFill>
          <a:ln>
            <a:noFill/>
          </a:ln>
        </p:spPr>
        <p:txBody>
          <a:bodyPr/>
          <a:lstStyle/>
          <a:p>
            <a:endParaRPr lang="en-US" sz="2000"/>
          </a:p>
        </p:txBody>
      </p:sp>
      <p:sp>
        <p:nvSpPr>
          <p:cNvPr id="8505" name="H C2 · U"/>
          <p:cNvSpPr/>
          <p:nvPr/>
        </p:nvSpPr>
        <p:spPr>
          <a:xfrm>
            <a:off x="658368" y="3090672"/>
            <a:ext cx="10881360" cy="274320"/>
          </a:xfrm>
          <a:prstGeom prst="rect">
            <a:avLst/>
          </a:prstGeom>
          <a:noFill/>
          <a:ln/>
        </p:spPr>
        <p:txBody>
          <a:bodyPr wrap="square" lIns="0" tIns="0" rIns="0" bIns="0" rtlCol="0" anchor="t"/>
          <a:lstStyle/>
          <a:p>
            <a:pPr marL="0" indent="0">
              <a:lnSpc>
                <a:spcPct val="102000"/>
              </a:lnSpc>
              <a:spcAft>
                <a:spcPts val="0"/>
              </a:spcAft>
              <a:buNone/>
            </a:pPr>
            <a:r>
              <a:rPr lang="en-US" sz="1400" b="1" i="0" dirty="0">
                <a:solidFill>
                  <a:srgbClr val="E31836"/>
                </a:solidFill>
                <a:latin typeface="Calibri" pitchFamily="34" charset="0"/>
                <a:ea typeface="Calibri" pitchFamily="34" charset="-122"/>
                <a:cs typeface="Calibri" pitchFamily="34" charset="-120"/>
              </a:rPr>
              <a:t>C2 · Uncertainty handling with built-in explanation </a:t>
            </a:r>
            <a:r>
              <a:rPr lang="en-US" sz="1400" b="0" i="1" dirty="0">
                <a:solidFill>
                  <a:srgbClr val="6E6E6E"/>
                </a:solidFill>
                <a:latin typeface="Calibri" pitchFamily="34" charset="0"/>
                <a:ea typeface="Calibri" pitchFamily="34" charset="-122"/>
                <a:cs typeface="Calibri" pitchFamily="34" charset="-120"/>
              </a:rPr>
              <a:t>(answers G2, carries H2)</a:t>
            </a:r>
            <a:endParaRPr lang="en-US" sz="1400" dirty="0"/>
          </a:p>
        </p:txBody>
      </p:sp>
      <p:sp>
        <p:nvSpPr>
          <p:cNvPr id="8506" name="T C2 · U"/>
          <p:cNvSpPr/>
          <p:nvPr/>
        </p:nvSpPr>
        <p:spPr>
          <a:xfrm>
            <a:off x="658368" y="3438144"/>
            <a:ext cx="10881360" cy="1051560"/>
          </a:xfrm>
          <a:prstGeom prst="rect">
            <a:avLst/>
          </a:prstGeom>
          <a:noFill/>
          <a:ln/>
        </p:spPr>
        <p:txBody>
          <a:bodyPr wrap="square" lIns="0" tIns="0" rIns="0" bIns="0" rtlCol="0" anchor="t"/>
          <a:lstStyle/>
          <a:p>
            <a:pPr marL="0" indent="0">
              <a:lnSpc>
                <a:spcPct val="102000"/>
              </a:lnSpc>
              <a:spcAft>
                <a:spcPts val="170"/>
              </a:spcAft>
              <a:buNone/>
            </a:pPr>
            <a:r>
              <a:rPr lang="en-US" sz="1100" b="1" i="0" dirty="0">
                <a:solidFill>
                  <a:srgbClr val="222222"/>
                </a:solidFill>
                <a:latin typeface="Calibri" pitchFamily="34" charset="0"/>
                <a:ea typeface="Calibri" pitchFamily="34" charset="-122"/>
                <a:cs typeface="Calibri" pitchFamily="34" charset="-120"/>
              </a:rPr>
              <a:t>Delivered by : </a:t>
            </a:r>
            <a:r>
              <a:rPr lang="en-US" sz="1100" b="0" i="0" dirty="0">
                <a:solidFill>
                  <a:srgbClr val="222222"/>
                </a:solidFill>
                <a:latin typeface="Calibri" pitchFamily="34" charset="0"/>
                <a:ea typeface="Calibri" pitchFamily="34" charset="-122"/>
                <a:cs typeface="Calibri" pitchFamily="34" charset="-120"/>
              </a:rPr>
              <a:t>per-feature confidence gates and the complete trace ledger, with no after-the-fact attribution</a:t>
            </a:r>
            <a:endParaRPr lang="en-US" sz="1100" dirty="0"/>
          </a:p>
          <a:p>
            <a:pPr marL="0" indent="0">
              <a:lnSpc>
                <a:spcPct val="102000"/>
              </a:lnSpc>
              <a:spcAft>
                <a:spcPts val="0"/>
              </a:spcAft>
              <a:buNone/>
            </a:pPr>
            <a:r>
              <a:rPr lang="en-US" sz="1100" b="1" i="0" dirty="0">
                <a:solidFill>
                  <a:srgbClr val="222222"/>
                </a:solidFill>
                <a:latin typeface="Calibri" pitchFamily="34" charset="0"/>
                <a:ea typeface="Calibri" pitchFamily="34" charset="-122"/>
                <a:cs typeface="Calibri" pitchFamily="34" charset="-120"/>
              </a:rPr>
              <a:t>Shown by : </a:t>
            </a:r>
            <a:r>
              <a:rPr lang="en-US" sz="1100" b="0" i="0" dirty="0">
                <a:solidFill>
                  <a:srgbClr val="222222"/>
                </a:solidFill>
                <a:latin typeface="Calibri" pitchFamily="34" charset="0"/>
                <a:ea typeface="Calibri" pitchFamily="34" charset="-122"/>
                <a:cs typeface="Calibri" pitchFamily="34" charset="-120"/>
              </a:rPr>
              <a:t>every order traces to its concepts, rules and confidences; under degraded observation the loop loses 10% and stays best of the four configurations</a:t>
            </a:r>
            <a:endParaRPr lang="en-US" sz="1100" dirty="0"/>
          </a:p>
        </p:txBody>
      </p:sp>
      <p:sp>
        <p:nvSpPr>
          <p:cNvPr id="8507" name="Box C3 · E"/>
          <p:cNvSpPr/>
          <p:nvPr/>
        </p:nvSpPr>
        <p:spPr>
          <a:xfrm>
            <a:off x="457200" y="4718304"/>
            <a:ext cx="11292840" cy="1572768"/>
          </a:xfrm>
          <a:prstGeom prst="roundRect">
            <a:avLst>
              <a:gd name="adj" fmla="val 4000"/>
            </a:avLst>
          </a:prstGeom>
          <a:solidFill>
            <a:srgbClr val="F2F2F2"/>
          </a:solidFill>
          <a:ln>
            <a:noFill/>
          </a:ln>
        </p:spPr>
        <p:txBody>
          <a:bodyPr/>
          <a:lstStyle/>
          <a:p>
            <a:endParaRPr lang="en-US" sz="2000"/>
          </a:p>
        </p:txBody>
      </p:sp>
      <p:sp>
        <p:nvSpPr>
          <p:cNvPr id="8508" name="H C3 · E"/>
          <p:cNvSpPr/>
          <p:nvPr/>
        </p:nvSpPr>
        <p:spPr>
          <a:xfrm>
            <a:off x="658368" y="4809744"/>
            <a:ext cx="10881360" cy="274320"/>
          </a:xfrm>
          <a:prstGeom prst="rect">
            <a:avLst/>
          </a:prstGeom>
          <a:noFill/>
          <a:ln/>
        </p:spPr>
        <p:txBody>
          <a:bodyPr wrap="square" lIns="0" tIns="0" rIns="0" bIns="0" rtlCol="0" anchor="t"/>
          <a:lstStyle/>
          <a:p>
            <a:pPr marL="0" indent="0">
              <a:lnSpc>
                <a:spcPct val="102000"/>
              </a:lnSpc>
              <a:spcAft>
                <a:spcPts val="0"/>
              </a:spcAft>
              <a:buNone/>
            </a:pPr>
            <a:r>
              <a:rPr lang="en-US" sz="1400" b="1" i="0" dirty="0">
                <a:solidFill>
                  <a:srgbClr val="E31836"/>
                </a:solidFill>
                <a:latin typeface="Calibri" pitchFamily="34" charset="0"/>
                <a:ea typeface="Calibri" pitchFamily="34" charset="-122"/>
                <a:cs typeface="Calibri" pitchFamily="34" charset="-120"/>
              </a:rPr>
              <a:t>C3 · End-to-end demonstration over separated cores </a:t>
            </a:r>
            <a:r>
              <a:rPr lang="en-US" sz="1400" b="0" i="1" dirty="0">
                <a:solidFill>
                  <a:srgbClr val="6E6E6E"/>
                </a:solidFill>
                <a:latin typeface="Calibri" pitchFamily="34" charset="0"/>
                <a:ea typeface="Calibri" pitchFamily="34" charset="-122"/>
                <a:cs typeface="Calibri" pitchFamily="34" charset="-120"/>
              </a:rPr>
              <a:t>(answers G3, carries H3)</a:t>
            </a:r>
            <a:endParaRPr lang="en-US" sz="1400" dirty="0"/>
          </a:p>
        </p:txBody>
      </p:sp>
      <p:sp>
        <p:nvSpPr>
          <p:cNvPr id="8509" name="T C3 · E"/>
          <p:cNvSpPr/>
          <p:nvPr/>
        </p:nvSpPr>
        <p:spPr>
          <a:xfrm>
            <a:off x="658368" y="5157216"/>
            <a:ext cx="10881360" cy="1051560"/>
          </a:xfrm>
          <a:prstGeom prst="rect">
            <a:avLst/>
          </a:prstGeom>
          <a:noFill/>
          <a:ln/>
        </p:spPr>
        <p:txBody>
          <a:bodyPr wrap="square" lIns="0" tIns="0" rIns="0" bIns="0" rtlCol="0" anchor="t"/>
          <a:lstStyle/>
          <a:p>
            <a:pPr marL="0" indent="0">
              <a:lnSpc>
                <a:spcPct val="102000"/>
              </a:lnSpc>
              <a:spcAft>
                <a:spcPts val="170"/>
              </a:spcAft>
              <a:buNone/>
            </a:pPr>
            <a:r>
              <a:rPr lang="en-US" sz="1100" b="1" i="0" dirty="0">
                <a:solidFill>
                  <a:srgbClr val="222222"/>
                </a:solidFill>
                <a:latin typeface="Calibri" pitchFamily="34" charset="0"/>
                <a:ea typeface="Calibri" pitchFamily="34" charset="-122"/>
                <a:cs typeface="Calibri" pitchFamily="34" charset="-120"/>
              </a:rPr>
              <a:t>Delivered by : </a:t>
            </a:r>
            <a:r>
              <a:rPr lang="en-US" sz="1100" b="0" i="0" dirty="0">
                <a:solidFill>
                  <a:srgbClr val="222222"/>
                </a:solidFill>
                <a:latin typeface="Calibri" pitchFamily="34" charset="0"/>
                <a:ea typeface="Calibri" pitchFamily="34" charset="-122"/>
                <a:cs typeface="Calibri" pitchFamily="34" charset="-120"/>
              </a:rPr>
              <a:t>a simulation core validated first and independently, read by the decision core only through observations</a:t>
            </a:r>
            <a:endParaRPr lang="en-US" sz="1100" dirty="0"/>
          </a:p>
          <a:p>
            <a:pPr marL="0" indent="0">
              <a:lnSpc>
                <a:spcPct val="102000"/>
              </a:lnSpc>
              <a:spcAft>
                <a:spcPts val="0"/>
              </a:spcAft>
              <a:buNone/>
            </a:pPr>
            <a:r>
              <a:rPr lang="en-US" sz="1100" b="1" i="0" dirty="0">
                <a:solidFill>
                  <a:srgbClr val="222222"/>
                </a:solidFill>
                <a:latin typeface="Calibri" pitchFamily="34" charset="0"/>
                <a:ea typeface="Calibri" pitchFamily="34" charset="-122"/>
                <a:cs typeface="Calibri" pitchFamily="34" charset="-120"/>
              </a:rPr>
              <a:t>Shown by : </a:t>
            </a:r>
            <a:r>
              <a:rPr lang="en-US" sz="1100" b="0" i="0" dirty="0">
                <a:solidFill>
                  <a:srgbClr val="222222"/>
                </a:solidFill>
                <a:latin typeface="Calibri" pitchFamily="34" charset="0"/>
                <a:ea typeface="Calibri" pitchFamily="34" charset="-122"/>
                <a:cs typeface="Calibri" pitchFamily="34" charset="-120"/>
              </a:rPr>
              <a:t>86 to 94% on four blind hindcasts; then ignition to containment at 220 to 39 ha, physical cost 0.506 to 0.090, at 274 ms per decision</a:t>
            </a:r>
            <a:endParaRPr lang="en-US" sz="1100" dirty="0"/>
          </a:p>
        </p:txBody>
      </p:sp>
      <p:sp>
        <p:nvSpPr>
          <p:cNvPr id="8510" name="Bottom"/>
          <p:cNvSpPr/>
          <p:nvPr/>
        </p:nvSpPr>
        <p:spPr>
          <a:xfrm>
            <a:off x="457200" y="6492240"/>
            <a:ext cx="11292840" cy="329184"/>
          </a:xfrm>
          <a:prstGeom prst="rect">
            <a:avLst/>
          </a:prstGeom>
          <a:noFill/>
          <a:ln/>
        </p:spPr>
        <p:txBody>
          <a:bodyPr wrap="square" lIns="0" tIns="0" rIns="0" bIns="0" rtlCol="0" anchor="t"/>
          <a:lstStyle/>
          <a:p>
            <a:pPr marL="0" indent="0">
              <a:lnSpc>
                <a:spcPct val="102000"/>
              </a:lnSpc>
              <a:spcAft>
                <a:spcPts val="0"/>
              </a:spcAft>
              <a:buNone/>
            </a:pPr>
            <a:r>
              <a:rPr lang="en-US" sz="1100" b="0" i="1" dirty="0">
                <a:solidFill>
                  <a:srgbClr val="6E6E6E"/>
                </a:solidFill>
                <a:latin typeface="Calibri" pitchFamily="34" charset="0"/>
                <a:ea typeface="Calibri" pitchFamily="34" charset="-122"/>
                <a:cs typeface="Calibri" pitchFamily="34" charset="-120"/>
              </a:rPr>
              <a:t>Each contribution is delivered against the criterion fixed for it in advance; the remaining limits mark the path of the future work.</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CONCLUSIONS</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Three Boundaries, Stated Directly</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8511" name="Box 1 · "/>
          <p:cNvSpPr/>
          <p:nvPr/>
        </p:nvSpPr>
        <p:spPr>
          <a:xfrm>
            <a:off x="457200" y="1417320"/>
            <a:ext cx="11292840" cy="1389888"/>
          </a:xfrm>
          <a:prstGeom prst="roundRect">
            <a:avLst>
              <a:gd name="adj" fmla="val 4000"/>
            </a:avLst>
          </a:prstGeom>
          <a:solidFill>
            <a:srgbClr val="F2F2F2"/>
          </a:solidFill>
          <a:ln>
            <a:noFill/>
          </a:ln>
        </p:spPr>
        <p:txBody>
          <a:bodyPr/>
          <a:lstStyle/>
          <a:p>
            <a:endParaRPr lang="en-US"/>
          </a:p>
        </p:txBody>
      </p:sp>
      <p:sp>
        <p:nvSpPr>
          <p:cNvPr id="8512" name="H 1 · "/>
          <p:cNvSpPr/>
          <p:nvPr/>
        </p:nvSpPr>
        <p:spPr>
          <a:xfrm>
            <a:off x="658368" y="1527048"/>
            <a:ext cx="10881360" cy="274320"/>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1 · The comparison base is internal.</a:t>
            </a:r>
            <a:endParaRPr lang="en-US" sz="1250" dirty="0"/>
          </a:p>
        </p:txBody>
      </p:sp>
      <p:sp>
        <p:nvSpPr>
          <p:cNvPr id="8513" name="B 1 · "/>
          <p:cNvSpPr/>
          <p:nvPr/>
        </p:nvSpPr>
        <p:spPr>
          <a:xfrm>
            <a:off x="658368" y="1874520"/>
            <a:ext cx="10881360" cy="868680"/>
          </a:xfrm>
          <a:prstGeom prst="rect">
            <a:avLst/>
          </a:prstGeom>
          <a:noFill/>
          <a:ln/>
        </p:spPr>
        <p:txBody>
          <a:bodyPr wrap="square" lIns="0" tIns="0" rIns="0" bIns="0" rtlCol="0" anchor="t"/>
          <a:lstStyle/>
          <a:p>
            <a:pPr marL="0" indent="0">
              <a:lnSpc>
                <a:spcPct val="102000"/>
              </a:lnSpc>
              <a:spcAft>
                <a:spcPts val="0"/>
              </a:spcAft>
              <a:buNone/>
            </a:pPr>
            <a:r>
              <a:rPr lang="en-US" sz="1100" b="0" i="0" dirty="0">
                <a:solidFill>
                  <a:srgbClr val="222222"/>
                </a:solidFill>
                <a:latin typeface="Calibri" pitchFamily="34" charset="0"/>
                <a:ea typeface="Calibri" pitchFamily="34" charset="-122"/>
                <a:cs typeface="Calibri" pitchFamily="34" charset="-120"/>
              </a:rPr>
              <a:t>Paired worlds isolate each capability step. No deployed tool generates interventions over an open space, so a like-for-like external target does not exist in the reviewed literature.</a:t>
            </a:r>
            <a:endParaRPr lang="en-US" sz="1100" dirty="0"/>
          </a:p>
        </p:txBody>
      </p:sp>
      <p:sp>
        <p:nvSpPr>
          <p:cNvPr id="8514" name="Box 2 · "/>
          <p:cNvSpPr/>
          <p:nvPr/>
        </p:nvSpPr>
        <p:spPr>
          <a:xfrm>
            <a:off x="457200" y="2990088"/>
            <a:ext cx="11292840" cy="1389888"/>
          </a:xfrm>
          <a:prstGeom prst="roundRect">
            <a:avLst>
              <a:gd name="adj" fmla="val 4000"/>
            </a:avLst>
          </a:prstGeom>
          <a:solidFill>
            <a:srgbClr val="F2F2F2"/>
          </a:solidFill>
          <a:ln>
            <a:noFill/>
          </a:ln>
        </p:spPr>
        <p:txBody>
          <a:bodyPr/>
          <a:lstStyle/>
          <a:p>
            <a:endParaRPr lang="en-US"/>
          </a:p>
        </p:txBody>
      </p:sp>
      <p:sp>
        <p:nvSpPr>
          <p:cNvPr id="8515" name="H 2 · "/>
          <p:cNvSpPr/>
          <p:nvPr/>
        </p:nvSpPr>
        <p:spPr>
          <a:xfrm>
            <a:off x="658368" y="3099816"/>
            <a:ext cx="10881360" cy="274320"/>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2 · The validation base is four fires.</a:t>
            </a:r>
            <a:endParaRPr lang="en-US" sz="1250" dirty="0"/>
          </a:p>
        </p:txBody>
      </p:sp>
      <p:sp>
        <p:nvSpPr>
          <p:cNvPr id="8516" name="B 2 · "/>
          <p:cNvSpPr/>
          <p:nvPr/>
        </p:nvSpPr>
        <p:spPr>
          <a:xfrm>
            <a:off x="658368" y="3447288"/>
            <a:ext cx="10881360" cy="868680"/>
          </a:xfrm>
          <a:prstGeom prst="rect">
            <a:avLst/>
          </a:prstGeom>
          <a:noFill/>
          <a:ln/>
        </p:spPr>
        <p:txBody>
          <a:bodyPr wrap="square" lIns="0" tIns="0" rIns="0" bIns="0" rtlCol="0" anchor="t"/>
          <a:lstStyle/>
          <a:p>
            <a:pPr marL="0" indent="0">
              <a:lnSpc>
                <a:spcPct val="102000"/>
              </a:lnSpc>
              <a:spcAft>
                <a:spcPts val="0"/>
              </a:spcAft>
              <a:buNone/>
            </a:pPr>
            <a:r>
              <a:rPr lang="en-US" sz="1100" b="0" i="0" dirty="0">
                <a:solidFill>
                  <a:srgbClr val="222222"/>
                </a:solidFill>
                <a:latin typeface="Calibri" pitchFamily="34" charset="0"/>
                <a:ea typeface="Calibri" pitchFamily="34" charset="-122"/>
                <a:cs typeface="Calibri" pitchFamily="34" charset="-120"/>
              </a:rPr>
              <a:t>The core is built as a faithful proxy for the decision layer, not as a contribution to fire science; testability was preferred over maximal fidelity. A broader case base is a natural extension.</a:t>
            </a:r>
            <a:endParaRPr lang="en-US" sz="1100" dirty="0"/>
          </a:p>
        </p:txBody>
      </p:sp>
      <p:sp>
        <p:nvSpPr>
          <p:cNvPr id="8517" name="Box 3 · "/>
          <p:cNvSpPr/>
          <p:nvPr/>
        </p:nvSpPr>
        <p:spPr>
          <a:xfrm>
            <a:off x="457200" y="4562856"/>
            <a:ext cx="11292840" cy="1389888"/>
          </a:xfrm>
          <a:prstGeom prst="roundRect">
            <a:avLst>
              <a:gd name="adj" fmla="val 4000"/>
            </a:avLst>
          </a:prstGeom>
          <a:solidFill>
            <a:srgbClr val="F2F2F2"/>
          </a:solidFill>
          <a:ln>
            <a:noFill/>
          </a:ln>
        </p:spPr>
        <p:txBody>
          <a:bodyPr/>
          <a:lstStyle/>
          <a:p>
            <a:endParaRPr lang="en-US"/>
          </a:p>
        </p:txBody>
      </p:sp>
      <p:sp>
        <p:nvSpPr>
          <p:cNvPr id="8518" name="H 3 · "/>
          <p:cNvSpPr/>
          <p:nvPr/>
        </p:nvSpPr>
        <p:spPr>
          <a:xfrm>
            <a:off x="658368" y="4672584"/>
            <a:ext cx="10881360" cy="274320"/>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3 · The proposer is not bitwise reproducible.</a:t>
            </a:r>
            <a:endParaRPr lang="en-US" sz="1250" dirty="0"/>
          </a:p>
        </p:txBody>
      </p:sp>
      <p:sp>
        <p:nvSpPr>
          <p:cNvPr id="8519" name="B 3 · "/>
          <p:cNvSpPr/>
          <p:nvPr/>
        </p:nvSpPr>
        <p:spPr>
          <a:xfrm>
            <a:off x="658368" y="5020056"/>
            <a:ext cx="10881360" cy="868680"/>
          </a:xfrm>
          <a:prstGeom prst="rect">
            <a:avLst/>
          </a:prstGeom>
          <a:noFill/>
          <a:ln/>
        </p:spPr>
        <p:txBody>
          <a:bodyPr wrap="square" lIns="0" tIns="0" rIns="0" bIns="0" rtlCol="0" anchor="t"/>
          <a:lstStyle/>
          <a:p>
            <a:pPr marL="0" indent="0">
              <a:lnSpc>
                <a:spcPct val="102000"/>
              </a:lnSpc>
              <a:spcAft>
                <a:spcPts val="0"/>
              </a:spcAft>
              <a:buNone/>
            </a:pPr>
            <a:r>
              <a:rPr lang="en-US" sz="1100" b="0" i="0" dirty="0">
                <a:solidFill>
                  <a:srgbClr val="222222"/>
                </a:solidFill>
                <a:latin typeface="Calibri" pitchFamily="34" charset="0"/>
                <a:ea typeface="Calibri" pitchFamily="34" charset="-122"/>
                <a:cs typeface="Calibri" pitchFamily="34" charset="-120"/>
              </a:rPr>
              <a:t>Individual model replies cannot be replayed exactly. The procedure is: pinned model, standing prompt, seed design, and every gate verdict logged; no admission rests on the model’s authority.</a:t>
            </a:r>
            <a:endParaRPr lang="en-US" sz="1100" dirty="0"/>
          </a:p>
        </p:txBody>
      </p:sp>
      <p:sp>
        <p:nvSpPr>
          <p:cNvPr id="8520" name="Bottom"/>
          <p:cNvSpPr/>
          <p:nvPr/>
        </p:nvSpPr>
        <p:spPr>
          <a:xfrm>
            <a:off x="457200" y="6263640"/>
            <a:ext cx="11292840" cy="365760"/>
          </a:xfrm>
          <a:prstGeom prst="rect">
            <a:avLst/>
          </a:prstGeom>
          <a:noFill/>
          <a:ln/>
        </p:spPr>
        <p:txBody>
          <a:bodyPr wrap="square" lIns="0" tIns="0" rIns="0" bIns="0" rtlCol="0" anchor="t"/>
          <a:lstStyle/>
          <a:p>
            <a:pPr marL="0" indent="0">
              <a:lnSpc>
                <a:spcPct val="102000"/>
              </a:lnSpc>
              <a:spcAft>
                <a:spcPts val="0"/>
              </a:spcAft>
              <a:buNone/>
            </a:pPr>
            <a:r>
              <a:rPr lang="en-US" sz="1100" b="0" i="1" dirty="0">
                <a:solidFill>
                  <a:srgbClr val="6E6E6E"/>
                </a:solidFill>
                <a:latin typeface="Calibri" pitchFamily="34" charset="0"/>
                <a:ea typeface="Calibri" pitchFamily="34" charset="-122"/>
                <a:cs typeface="Calibri" pitchFamily="34" charset="-120"/>
              </a:rPr>
              <a:t>Stated directly, because a rubric that reports only its successes carries no information.</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FUTURE WORK</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Future Work</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8521" name="Box 1 · "/>
          <p:cNvSpPr/>
          <p:nvPr/>
        </p:nvSpPr>
        <p:spPr>
          <a:xfrm>
            <a:off x="457200" y="1417320"/>
            <a:ext cx="11292840" cy="1078992"/>
          </a:xfrm>
          <a:prstGeom prst="roundRect">
            <a:avLst>
              <a:gd name="adj" fmla="val 4000"/>
            </a:avLst>
          </a:prstGeom>
          <a:solidFill>
            <a:srgbClr val="F2F2F2"/>
          </a:solidFill>
          <a:ln>
            <a:noFill/>
          </a:ln>
        </p:spPr>
        <p:txBody>
          <a:bodyPr/>
          <a:lstStyle/>
          <a:p>
            <a:endParaRPr lang="en-US"/>
          </a:p>
        </p:txBody>
      </p:sp>
      <p:sp>
        <p:nvSpPr>
          <p:cNvPr id="8522" name="H 1 · "/>
          <p:cNvSpPr/>
          <p:nvPr/>
        </p:nvSpPr>
        <p:spPr>
          <a:xfrm>
            <a:off x="658368" y="1508760"/>
            <a:ext cx="10881360" cy="274320"/>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1 · Operator study</a:t>
            </a:r>
            <a:endParaRPr lang="en-US" sz="1250" dirty="0"/>
          </a:p>
        </p:txBody>
      </p:sp>
      <p:sp>
        <p:nvSpPr>
          <p:cNvPr id="8523" name="B 1 · "/>
          <p:cNvSpPr/>
          <p:nvPr/>
        </p:nvSpPr>
        <p:spPr>
          <a:xfrm>
            <a:off x="658368" y="1837944"/>
            <a:ext cx="10881360" cy="566928"/>
          </a:xfrm>
          <a:prstGeom prst="rect">
            <a:avLst/>
          </a:prstGeom>
          <a:noFill/>
          <a:ln/>
        </p:spPr>
        <p:txBody>
          <a:bodyPr wrap="square" lIns="0" tIns="0" rIns="0" bIns="0" rtlCol="0" anchor="t"/>
          <a:lstStyle/>
          <a:p>
            <a:pPr marL="0" indent="0">
              <a:lnSpc>
                <a:spcPct val="102000"/>
              </a:lnSpc>
              <a:spcAft>
                <a:spcPts val="0"/>
              </a:spcAft>
              <a:buNone/>
            </a:pPr>
            <a:r>
              <a:rPr lang="en-US" sz="1100" b="0" i="0" dirty="0">
                <a:solidFill>
                  <a:srgbClr val="222222"/>
                </a:solidFill>
                <a:latin typeface="Calibri" pitchFamily="34" charset="0"/>
                <a:ea typeface="Calibri" pitchFamily="34" charset="-122"/>
                <a:cs typeface="Calibri" pitchFamily="34" charset="-120"/>
              </a:rPr>
              <a:t>put the trace in front of incident commanders: do they read it, trust it, act on it? A tabletop exercise, the same incident with and without the framework.</a:t>
            </a:r>
            <a:endParaRPr lang="en-US" sz="1100" dirty="0"/>
          </a:p>
        </p:txBody>
      </p:sp>
      <p:sp>
        <p:nvSpPr>
          <p:cNvPr id="8524" name="Box 2 · "/>
          <p:cNvSpPr/>
          <p:nvPr/>
        </p:nvSpPr>
        <p:spPr>
          <a:xfrm>
            <a:off x="457200" y="2660904"/>
            <a:ext cx="11292840" cy="1078992"/>
          </a:xfrm>
          <a:prstGeom prst="roundRect">
            <a:avLst>
              <a:gd name="adj" fmla="val 4000"/>
            </a:avLst>
          </a:prstGeom>
          <a:solidFill>
            <a:srgbClr val="F2F2F2"/>
          </a:solidFill>
          <a:ln>
            <a:noFill/>
          </a:ln>
        </p:spPr>
        <p:txBody>
          <a:bodyPr/>
          <a:lstStyle/>
          <a:p>
            <a:endParaRPr lang="en-US"/>
          </a:p>
        </p:txBody>
      </p:sp>
      <p:sp>
        <p:nvSpPr>
          <p:cNvPr id="8525" name="H 2 · "/>
          <p:cNvSpPr/>
          <p:nvPr/>
        </p:nvSpPr>
        <p:spPr>
          <a:xfrm>
            <a:off x="658368" y="2752344"/>
            <a:ext cx="10881360" cy="274320"/>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2 · Transfer to other hazards</a:t>
            </a:r>
            <a:endParaRPr lang="en-US" sz="1250" dirty="0"/>
          </a:p>
        </p:txBody>
      </p:sp>
      <p:sp>
        <p:nvSpPr>
          <p:cNvPr id="8526" name="B 2 · "/>
          <p:cNvSpPr/>
          <p:nvPr/>
        </p:nvSpPr>
        <p:spPr>
          <a:xfrm>
            <a:off x="658368" y="3081528"/>
            <a:ext cx="10881360" cy="566928"/>
          </a:xfrm>
          <a:prstGeom prst="rect">
            <a:avLst/>
          </a:prstGeom>
          <a:noFill/>
          <a:ln/>
        </p:spPr>
        <p:txBody>
          <a:bodyPr wrap="square" lIns="0" tIns="0" rIns="0" bIns="0" rtlCol="0" anchor="t"/>
          <a:lstStyle/>
          <a:p>
            <a:pPr marL="0" indent="0">
              <a:lnSpc>
                <a:spcPct val="102000"/>
              </a:lnSpc>
              <a:spcAft>
                <a:spcPts val="0"/>
              </a:spcAft>
              <a:buNone/>
            </a:pPr>
            <a:r>
              <a:rPr lang="en-US" sz="1100" b="0" i="0" dirty="0">
                <a:solidFill>
                  <a:srgbClr val="222222"/>
                </a:solidFill>
                <a:latin typeface="Calibri" pitchFamily="34" charset="0"/>
                <a:ea typeface="Calibri" pitchFamily="34" charset="-122"/>
                <a:cs typeface="Calibri" pitchFamily="34" charset="-120"/>
              </a:rPr>
              <a:t>keep the decision layer, swap the simulation core for floods, plumes, or search and rescue; the cost of rewriting the features and seed rules is itself the result.</a:t>
            </a:r>
            <a:endParaRPr lang="en-US" sz="1100" dirty="0"/>
          </a:p>
        </p:txBody>
      </p:sp>
      <p:sp>
        <p:nvSpPr>
          <p:cNvPr id="8527" name="Box 3 · "/>
          <p:cNvSpPr/>
          <p:nvPr/>
        </p:nvSpPr>
        <p:spPr>
          <a:xfrm>
            <a:off x="457200" y="3904488"/>
            <a:ext cx="11292840" cy="1078992"/>
          </a:xfrm>
          <a:prstGeom prst="roundRect">
            <a:avLst>
              <a:gd name="adj" fmla="val 4000"/>
            </a:avLst>
          </a:prstGeom>
          <a:solidFill>
            <a:srgbClr val="F2F2F2"/>
          </a:solidFill>
          <a:ln>
            <a:noFill/>
          </a:ln>
        </p:spPr>
        <p:txBody>
          <a:bodyPr/>
          <a:lstStyle/>
          <a:p>
            <a:endParaRPr lang="en-US"/>
          </a:p>
        </p:txBody>
      </p:sp>
      <p:sp>
        <p:nvSpPr>
          <p:cNvPr id="8528" name="H 3 · "/>
          <p:cNvSpPr/>
          <p:nvPr/>
        </p:nvSpPr>
        <p:spPr>
          <a:xfrm>
            <a:off x="658368" y="3995928"/>
            <a:ext cx="10881360" cy="274320"/>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3 · Ensemble uncertainty</a:t>
            </a:r>
            <a:endParaRPr lang="en-US" sz="1250" dirty="0"/>
          </a:p>
        </p:txBody>
      </p:sp>
      <p:sp>
        <p:nvSpPr>
          <p:cNvPr id="8529" name="B 3 · "/>
          <p:cNvSpPr/>
          <p:nvPr/>
        </p:nvSpPr>
        <p:spPr>
          <a:xfrm>
            <a:off x="658368" y="4325112"/>
            <a:ext cx="10881360" cy="566928"/>
          </a:xfrm>
          <a:prstGeom prst="rect">
            <a:avLst/>
          </a:prstGeom>
          <a:noFill/>
          <a:ln/>
        </p:spPr>
        <p:txBody>
          <a:bodyPr wrap="square" lIns="0" tIns="0" rIns="0" bIns="0" rtlCol="0" anchor="t"/>
          <a:lstStyle/>
          <a:p>
            <a:pPr marL="0" indent="0">
              <a:lnSpc>
                <a:spcPct val="102000"/>
              </a:lnSpc>
              <a:spcAft>
                <a:spcPts val="0"/>
              </a:spcAft>
              <a:buNone/>
            </a:pPr>
            <a:r>
              <a:rPr lang="en-US" sz="1100" b="0" i="0" dirty="0">
                <a:solidFill>
                  <a:srgbClr val="222222"/>
                </a:solidFill>
                <a:latin typeface="Calibri" pitchFamily="34" charset="0"/>
                <a:ea typeface="Calibri" pitchFamily="34" charset="-122"/>
                <a:cs typeface="Calibri" pitchFamily="34" charset="-120"/>
              </a:rPr>
              <a:t>run the closed loop over equally plausible forecasts and report the decisions that stay stable across the set.</a:t>
            </a:r>
            <a:endParaRPr lang="en-US" sz="1100" dirty="0"/>
          </a:p>
        </p:txBody>
      </p:sp>
      <p:sp>
        <p:nvSpPr>
          <p:cNvPr id="8530" name="Box 4 · "/>
          <p:cNvSpPr/>
          <p:nvPr/>
        </p:nvSpPr>
        <p:spPr>
          <a:xfrm>
            <a:off x="457200" y="5148072"/>
            <a:ext cx="11292840" cy="1078992"/>
          </a:xfrm>
          <a:prstGeom prst="roundRect">
            <a:avLst>
              <a:gd name="adj" fmla="val 4000"/>
            </a:avLst>
          </a:prstGeom>
          <a:solidFill>
            <a:srgbClr val="F2F2F2"/>
          </a:solidFill>
          <a:ln>
            <a:noFill/>
          </a:ln>
        </p:spPr>
        <p:txBody>
          <a:bodyPr/>
          <a:lstStyle/>
          <a:p>
            <a:endParaRPr lang="en-US"/>
          </a:p>
        </p:txBody>
      </p:sp>
      <p:sp>
        <p:nvSpPr>
          <p:cNvPr id="8531" name="H 4 · "/>
          <p:cNvSpPr/>
          <p:nvPr/>
        </p:nvSpPr>
        <p:spPr>
          <a:xfrm>
            <a:off x="658368" y="5239512"/>
            <a:ext cx="10881360" cy="274320"/>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4 · Domain scale</a:t>
            </a:r>
            <a:endParaRPr lang="en-US" sz="1250" dirty="0"/>
          </a:p>
        </p:txBody>
      </p:sp>
      <p:sp>
        <p:nvSpPr>
          <p:cNvPr id="8532" name="B 4 · "/>
          <p:cNvSpPr/>
          <p:nvPr/>
        </p:nvSpPr>
        <p:spPr>
          <a:xfrm>
            <a:off x="658368" y="5568696"/>
            <a:ext cx="10881360" cy="566928"/>
          </a:xfrm>
          <a:prstGeom prst="rect">
            <a:avLst/>
          </a:prstGeom>
          <a:noFill/>
          <a:ln/>
        </p:spPr>
        <p:txBody>
          <a:bodyPr wrap="square" lIns="0" tIns="0" rIns="0" bIns="0" rtlCol="0" anchor="t"/>
          <a:lstStyle/>
          <a:p>
            <a:pPr marL="0" indent="0">
              <a:lnSpc>
                <a:spcPct val="102000"/>
              </a:lnSpc>
              <a:spcAft>
                <a:spcPts val="0"/>
              </a:spcAft>
              <a:buNone/>
            </a:pPr>
            <a:r>
              <a:rPr lang="en-US" sz="1100" b="0" i="0" dirty="0">
                <a:solidFill>
                  <a:srgbClr val="222222"/>
                </a:solidFill>
                <a:latin typeface="Calibri" pitchFamily="34" charset="0"/>
                <a:ea typeface="Calibri" pitchFamily="34" charset="-122"/>
                <a:cs typeface="Calibri" pitchFamily="34" charset="-120"/>
              </a:rPr>
              <a:t>grow the map and the incident with the agents fixed, and state where the decision cycle stops being sufficient.</a:t>
            </a:r>
            <a:endParaRPr lang="en-US" sz="1100" dirty="0"/>
          </a:p>
        </p:txBody>
      </p:sp>
      <p:sp>
        <p:nvSpPr>
          <p:cNvPr id="8533" name="Bottom"/>
          <p:cNvSpPr/>
          <p:nvPr/>
        </p:nvSpPr>
        <p:spPr>
          <a:xfrm>
            <a:off x="457200" y="6446520"/>
            <a:ext cx="11292840" cy="365760"/>
          </a:xfrm>
          <a:prstGeom prst="rect">
            <a:avLst/>
          </a:prstGeom>
          <a:noFill/>
          <a:ln/>
        </p:spPr>
        <p:txBody>
          <a:bodyPr wrap="square" lIns="0" tIns="0" rIns="0" bIns="0" rtlCol="0" anchor="t"/>
          <a:lstStyle/>
          <a:p>
            <a:pPr marL="0" indent="0">
              <a:lnSpc>
                <a:spcPct val="102000"/>
              </a:lnSpc>
              <a:spcAft>
                <a:spcPts val="0"/>
              </a:spcAft>
              <a:buNone/>
            </a:pPr>
            <a:r>
              <a:rPr lang="en-US" sz="1100" b="0" i="1" dirty="0">
                <a:solidFill>
                  <a:srgbClr val="6E6E6E"/>
                </a:solidFill>
                <a:latin typeface="Calibri" pitchFamily="34" charset="0"/>
                <a:ea typeface="Calibri" pitchFamily="34" charset="-122"/>
                <a:cs typeface="Calibri" pitchFamily="34" charset="-120"/>
              </a:rPr>
              <a:t>None requires a change to the framework; each extends the evidence around it.</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43">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2" name="Text 0"/>
          <p:cNvSpPr/>
          <p:nvPr/>
        </p:nvSpPr>
        <p:spPr>
          <a:xfrm>
            <a:off x="822960" y="1371600"/>
            <a:ext cx="10058400"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3" name="Text 1"/>
          <p:cNvSpPr/>
          <p:nvPr/>
        </p:nvSpPr>
        <p:spPr>
          <a:xfrm>
            <a:off x="822960" y="2468880"/>
            <a:ext cx="10515600" cy="548640"/>
          </a:xfrm>
          <a:prstGeom prst="rect">
            <a:avLst/>
          </a:prstGeom>
          <a:noFill/>
          <a:ln/>
        </p:spPr>
        <p:txBody>
          <a:bodyPr wrap="square" lIns="0" tIns="0" rIns="0" bIns="0" rtlCol="0" anchor="ctr"/>
          <a:lstStyle/>
          <a:p>
            <a:pPr marL="0" indent="0">
              <a:buNone/>
            </a:pPr>
            <a:r>
              <a:rPr lang="en-US" sz="2000" i="1" dirty="0">
                <a:solidFill>
                  <a:srgbClr val="D9D9D9"/>
                </a:solidFill>
                <a:latin typeface="Cambria" pitchFamily="34" charset="0"/>
                <a:ea typeface="Cambria" pitchFamily="34" charset="-122"/>
                <a:cs typeface="Cambria" pitchFamily="34" charset="-120"/>
              </a:rPr>
              <a:t>DisasterAware : open where tactics live, closed where physics rules.</a:t>
            </a:r>
            <a:endParaRPr lang="en-US" sz="2000" dirty="0"/>
          </a:p>
        </p:txBody>
      </p:sp>
      <p:sp>
        <p:nvSpPr>
          <p:cNvPr id="4" name="Text 2"/>
          <p:cNvSpPr/>
          <p:nvPr/>
        </p:nvSpPr>
        <p:spPr>
          <a:xfrm>
            <a:off x="822960" y="3566160"/>
            <a:ext cx="7315200" cy="365760"/>
          </a:xfrm>
          <a:prstGeom prst="rect">
            <a:avLst/>
          </a:prstGeom>
          <a:noFill/>
          <a:ln/>
        </p:spPr>
        <p:txBody>
          <a:bodyPr wrap="square" lIns="0" tIns="0" rIns="0" bIns="0" rtlCol="0" anchor="ctr"/>
          <a:lstStyle/>
          <a:p>
            <a:pPr marL="0" indent="0">
              <a:buNone/>
            </a:pPr>
            <a:r>
              <a:rPr lang="en-US" sz="1400" b="1" kern="0" spc="200" dirty="0">
                <a:solidFill>
                  <a:srgbClr val="E31836"/>
                </a:solidFill>
                <a:latin typeface="Calibri" pitchFamily="34" charset="0"/>
                <a:ea typeface="Calibri" pitchFamily="34" charset="-122"/>
                <a:cs typeface="Calibri" pitchFamily="34" charset="-120"/>
              </a:rPr>
              <a:t>With gratitude to the examining committee and the thesis monitoring committee</a:t>
            </a:r>
            <a:endParaRPr lang="en-US" sz="1400" dirty="0"/>
          </a:p>
        </p:txBody>
      </p:sp>
      <p:sp>
        <p:nvSpPr>
          <p:cNvPr id="5" name="Text 3"/>
          <p:cNvSpPr/>
          <p:nvPr/>
        </p:nvSpPr>
        <p:spPr>
          <a:xfrm>
            <a:off x="822960" y="3977640"/>
            <a:ext cx="7772400" cy="1737360"/>
          </a:xfrm>
          <a:prstGeom prst="rect">
            <a:avLst/>
          </a:prstGeom>
          <a:noFill/>
          <a:ln/>
        </p:spPr>
        <p:txBody>
          <a:bodyPr wrap="square" lIns="0" tIns="0" rIns="0" bIns="0" rtlCol="0" anchor="ctr"/>
          <a:lstStyle/>
          <a:p>
            <a:pPr marL="0" indent="0">
              <a:lnSpc>
                <a:spcPct val="125000"/>
              </a:lnSpc>
              <a:buNone/>
            </a:pPr>
            <a:r>
              <a:rPr lang="en-US" sz="1700" dirty="0">
                <a:solidFill>
                  <a:srgbClr val="EDEDED"/>
                </a:solidFill>
                <a:latin typeface="Calibri" pitchFamily="34" charset="0"/>
                <a:ea typeface="Calibri" pitchFamily="34" charset="-122"/>
                <a:cs typeface="Calibri" pitchFamily="34" charset="-120"/>
              </a:rPr>
              <a:t>Prof. Dr. Mehmet Önder Efe  (Committee Chair)
Prof. Dr. Mehmet Kemal Leblebicioğlu  (Supervisor · Thesis Monitoring Committee)
Prof. Dr. Klaus Werner Schmidt
Assoc. Prof. Dr. Ahmet Güneş  (Thesis Monitoring Committee)
Assist. Prof. Dr. Kenan Ahıska  (Thesis Monitoring Committee)</a:t>
            </a:r>
            <a:endParaRPr lang="en-US" sz="1700" dirty="0"/>
          </a:p>
        </p:txBody>
      </p:sp>
      <p:sp>
        <p:nvSpPr>
          <p:cNvPr id="6" name="Text 4"/>
          <p:cNvSpPr/>
          <p:nvPr/>
        </p:nvSpPr>
        <p:spPr>
          <a:xfrm>
            <a:off x="822960" y="6035040"/>
            <a:ext cx="5486400" cy="365760"/>
          </a:xfrm>
          <a:prstGeom prst="rect">
            <a:avLst/>
          </a:prstGeom>
          <a:noFill/>
          <a:ln/>
        </p:spPr>
        <p:txBody>
          <a:bodyPr wrap="square" lIns="0" tIns="0" rIns="0" bIns="0" rtlCol="0" anchor="ctr"/>
          <a:lstStyle/>
          <a:p>
            <a:pPr marL="0" indent="0">
              <a:buNone/>
            </a:pPr>
            <a:r>
              <a:rPr lang="en-US" sz="1700" b="1" dirty="0">
                <a:solidFill>
                  <a:srgbClr val="E31836"/>
                </a:solidFill>
                <a:latin typeface="Calibri" pitchFamily="34" charset="0"/>
                <a:ea typeface="Calibri" pitchFamily="34" charset="-122"/>
                <a:cs typeface="Calibri" pitchFamily="34" charset="-120"/>
              </a:rPr>
              <a:t>Questions welcome.</a:t>
            </a:r>
            <a:endParaRPr lang="en-US" sz="1700" dirty="0"/>
          </a:p>
        </p:txBody>
      </p:sp>
      <p:pic>
        <p:nvPicPr>
          <p:cNvPr id="7"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8"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Local DSS and Global DSS : Many Regions, One Coordinator</a:t>
            </a:r>
            <a:r>
              <a:rPr lang="tr-TR" sz="2900" b="1" dirty="0">
                <a:solidFill>
                  <a:srgbClr val="000000"/>
                </a:solidFill>
                <a:latin typeface="Cambria" pitchFamily="34" charset="0"/>
                <a:ea typeface="Cambria" pitchFamily="34" charset="-122"/>
                <a:cs typeface="Cambria" pitchFamily="34" charset="-120"/>
              </a:rPr>
              <a:t/>
            </a:r>
            <a:r>
              <a:rPr lang="en-US" sz="2900" b="1" dirty="0">
                <a:solidFill>
                  <a:srgbClr val="000000"/>
                </a:solidFill>
                <a:latin typeface="Cambria" pitchFamily="34" charset="0"/>
                <a:ea typeface="Cambria" pitchFamily="34" charset="-122"/>
                <a:cs typeface="Cambria" pitchFamily="34" charset="-120"/>
              </a:rPr>
              <a:t/>
            </a:r>
            <a:endParaRPr lang="en-US" sz="2900" dirty="0"/>
          </a:p>
        </p:txBody>
      </p:sp>
      <p:pic>
        <p:nvPicPr>
          <p:cNvPr id="6" name="Image 1"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7" name="Image 2"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8501" name="H local"/>
          <p:cNvSpPr/>
          <p:nvPr/>
        </p:nvSpPr>
        <p:spPr>
          <a:xfrm>
            <a:off x="457200" y="1280160"/>
            <a:ext cx="5532120" cy="274320"/>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LOCAL DSS · ONE PER REGION</a:t>
            </a:r>
            <a:endParaRPr lang="en-US" sz="1250" dirty="0"/>
          </a:p>
        </p:txBody>
      </p:sp>
      <p:sp>
        <p:nvSpPr>
          <p:cNvPr id="8502" name="Box local"/>
          <p:cNvSpPr/>
          <p:nvPr/>
        </p:nvSpPr>
        <p:spPr>
          <a:xfrm>
            <a:off x="457200" y="1627632"/>
            <a:ext cx="5532120" cy="3108960"/>
          </a:xfrm>
          <a:prstGeom prst="roundRect">
            <a:avLst>
              <a:gd name="adj" fmla="val 4000"/>
            </a:avLst>
          </a:prstGeom>
          <a:solidFill>
            <a:srgbClr val="F2F2F2"/>
          </a:solidFill>
          <a:ln>
            <a:noFill/>
          </a:ln>
        </p:spPr>
        <p:txBody>
          <a:bodyPr/>
          <a:lstStyle/>
          <a:p>
            <a:endParaRPr lang="en-US"/>
          </a:p>
        </p:txBody>
      </p:sp>
      <p:sp>
        <p:nvSpPr>
          <p:cNvPr id="8503" name="B local"/>
          <p:cNvSpPr/>
          <p:nvPr/>
        </p:nvSpPr>
        <p:spPr>
          <a:xfrm>
            <a:off x="658368" y="1810512"/>
            <a:ext cx="5138928" cy="2743200"/>
          </a:xfrm>
          <a:prstGeom prst="rect">
            <a:avLst/>
          </a:prstGeom>
          <a:noFill/>
          <a:ln/>
        </p:spPr>
        <p:txBody>
          <a:bodyPr wrap="square" lIns="0" tIns="0" rIns="0" bIns="0" rtlCol="0" anchor="t"/>
          <a:lstStyle/>
          <a:p>
            <a:pPr marL="152400" indent="-152400">
              <a:lnSpc>
                <a:spcPct val="102000"/>
              </a:lnSpc>
              <a:spcAft>
                <a:spcPts val="340"/>
              </a:spcAft>
              <a:buSzPct val="100000"/>
              <a:buChar char="•"/>
            </a:pPr>
            <a:r>
              <a:rPr lang="en-US" sz="1150" b="0" i="0" dirty="0">
                <a:solidFill>
                  <a:srgbClr val="222222"/>
                </a:solidFill>
                <a:latin typeface="Calibri" pitchFamily="34" charset="0"/>
                <a:ea typeface="Calibri" pitchFamily="34" charset="-122"/>
                <a:cs typeface="Calibri" pitchFamily="34" charset="-120"/>
              </a:rPr>
              <a:t>Runs the full four-layer loop on its own region only.</a:t>
            </a:r>
            <a:endParaRPr lang="en-US" sz="1150" dirty="0"/>
          </a:p>
          <a:p>
            <a:pPr marL="152400" indent="-152400">
              <a:lnSpc>
                <a:spcPct val="102000"/>
              </a:lnSpc>
              <a:spcAft>
                <a:spcPts val="340"/>
              </a:spcAft>
              <a:buSzPct val="100000"/>
              <a:buChar char="•"/>
            </a:pPr>
            <a:r>
              <a:rPr lang="en-US" sz="1150" b="0" i="0" dirty="0">
                <a:solidFill>
                  <a:srgbClr val="222222"/>
                </a:solidFill>
                <a:latin typeface="Calibri" pitchFamily="34" charset="0"/>
                <a:ea typeface="Calibri" pitchFamily="34" charset="-122"/>
                <a:cs typeface="Calibri" pitchFamily="34" charset="-120"/>
              </a:rPr>
              <a:t>All inference happens here: features, concepts, rules, tests, adaptation.</a:t>
            </a:r>
            <a:endParaRPr lang="en-US" sz="1150" dirty="0"/>
          </a:p>
          <a:p>
            <a:pPr marL="152400" indent="-152400">
              <a:lnSpc>
                <a:spcPct val="102000"/>
              </a:lnSpc>
              <a:spcAft>
                <a:spcPts val="340"/>
              </a:spcAft>
              <a:buSzPct val="100000"/>
              <a:buChar char="•"/>
            </a:pPr>
            <a:r>
              <a:rPr lang="en-US" sz="1150" b="0" i="0" dirty="0">
                <a:solidFill>
                  <a:srgbClr val="222222"/>
                </a:solidFill>
                <a:latin typeface="Calibri" pitchFamily="34" charset="0"/>
                <a:ea typeface="Calibri" pitchFamily="34" charset="-122"/>
                <a:cs typeface="Calibri" pitchFamily="34" charset="-120"/>
              </a:rPr>
              <a:t>Sends up three compact quantities: its region priority, its resource request, and a confidence summary.</a:t>
            </a:r>
            <a:endParaRPr lang="en-US" sz="1150" dirty="0"/>
          </a:p>
          <a:p>
            <a:pPr marL="152400" indent="-152400">
              <a:lnSpc>
                <a:spcPct val="102000"/>
              </a:lnSpc>
              <a:spcAft>
                <a:spcPts val="0"/>
              </a:spcAft>
              <a:buSzPct val="100000"/>
              <a:buChar char="•"/>
            </a:pPr>
            <a:r>
              <a:rPr lang="en-US" sz="1150" b="0" i="0" dirty="0">
                <a:solidFill>
                  <a:srgbClr val="222222"/>
                </a:solidFill>
                <a:latin typeface="Calibri" pitchFamily="34" charset="0"/>
                <a:ea typeface="Calibri" pitchFamily="34" charset="-122"/>
                <a:cs typeface="Calibri" pitchFamily="34" charset="-120"/>
              </a:rPr>
              <a:t>Never sends raw sensor fields or rule activations.</a:t>
            </a:r>
            <a:endParaRPr lang="en-US" sz="1150" dirty="0"/>
          </a:p>
        </p:txBody>
      </p:sp>
      <p:sp>
        <p:nvSpPr>
          <p:cNvPr id="8504" name="H global"/>
          <p:cNvSpPr/>
          <p:nvPr/>
        </p:nvSpPr>
        <p:spPr>
          <a:xfrm>
            <a:off x="6217920" y="1280160"/>
            <a:ext cx="5532120" cy="274320"/>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GLOBAL DSS · EXACTLY ONE</a:t>
            </a:r>
            <a:endParaRPr lang="en-US" sz="1250" dirty="0"/>
          </a:p>
        </p:txBody>
      </p:sp>
      <p:sp>
        <p:nvSpPr>
          <p:cNvPr id="8505" name="Box global"/>
          <p:cNvSpPr/>
          <p:nvPr/>
        </p:nvSpPr>
        <p:spPr>
          <a:xfrm>
            <a:off x="6217920" y="1627632"/>
            <a:ext cx="5532120" cy="3108960"/>
          </a:xfrm>
          <a:prstGeom prst="roundRect">
            <a:avLst>
              <a:gd name="adj" fmla="val 4000"/>
            </a:avLst>
          </a:prstGeom>
          <a:solidFill>
            <a:srgbClr val="FBF1F1"/>
          </a:solidFill>
          <a:ln>
            <a:noFill/>
          </a:ln>
        </p:spPr>
        <p:txBody>
          <a:bodyPr/>
          <a:lstStyle/>
          <a:p>
            <a:endParaRPr lang="en-US"/>
          </a:p>
        </p:txBody>
      </p:sp>
      <p:sp>
        <p:nvSpPr>
          <p:cNvPr id="8506" name="B global"/>
          <p:cNvSpPr/>
          <p:nvPr/>
        </p:nvSpPr>
        <p:spPr>
          <a:xfrm>
            <a:off x="6419088" y="1810512"/>
            <a:ext cx="5138928" cy="2743200"/>
          </a:xfrm>
          <a:prstGeom prst="rect">
            <a:avLst/>
          </a:prstGeom>
          <a:noFill/>
          <a:ln/>
        </p:spPr>
        <p:txBody>
          <a:bodyPr wrap="square" lIns="0" tIns="0" rIns="0" bIns="0" rtlCol="0" anchor="t"/>
          <a:lstStyle/>
          <a:p>
            <a:pPr marL="152400" indent="-152400">
              <a:lnSpc>
                <a:spcPct val="102000"/>
              </a:lnSpc>
              <a:spcAft>
                <a:spcPts val="340"/>
              </a:spcAft>
              <a:buSzPct val="100000"/>
              <a:buChar char="•"/>
            </a:pPr>
            <a:r>
              <a:rPr lang="en-US" sz="1150" b="0" i="0" dirty="0">
                <a:solidFill>
                  <a:srgbClr val="222222"/>
                </a:solidFill>
                <a:latin typeface="Calibri" pitchFamily="34" charset="0"/>
                <a:ea typeface="Calibri" pitchFamily="34" charset="-122"/>
                <a:cs typeface="Calibri" pitchFamily="34" charset="-120"/>
              </a:rPr>
              <a:t>Performs no inference and writes no orders of its own.</a:t>
            </a:r>
            <a:endParaRPr lang="en-US" sz="1150" dirty="0"/>
          </a:p>
          <a:p>
            <a:pPr marL="152400" indent="-152400">
              <a:lnSpc>
                <a:spcPct val="102000"/>
              </a:lnSpc>
              <a:spcAft>
                <a:spcPts val="340"/>
              </a:spcAft>
              <a:buSzPct val="100000"/>
              <a:buChar char="•"/>
            </a:pPr>
            <a:r>
              <a:rPr lang="en-US" sz="1150" b="0" i="0" dirty="0">
                <a:solidFill>
                  <a:srgbClr val="222222"/>
                </a:solidFill>
                <a:latin typeface="Calibri" pitchFamily="34" charset="0"/>
                <a:ea typeface="Calibri" pitchFamily="34" charset="-122"/>
                <a:cs typeface="Calibri" pitchFamily="34" charset="-120"/>
              </a:rPr>
              <a:t>Ranks the regions by their reported priorities.</a:t>
            </a:r>
            <a:endParaRPr lang="en-US" sz="1150" dirty="0"/>
          </a:p>
          <a:p>
            <a:pPr marL="152400" indent="-152400">
              <a:lnSpc>
                <a:spcPct val="102000"/>
              </a:lnSpc>
              <a:spcAft>
                <a:spcPts val="340"/>
              </a:spcAft>
              <a:buSzPct val="100000"/>
              <a:buChar char="•"/>
            </a:pPr>
            <a:r>
              <a:rPr lang="en-US" sz="1150" b="0" i="0" dirty="0">
                <a:solidFill>
                  <a:srgbClr val="222222"/>
                </a:solidFill>
                <a:latin typeface="Calibri" pitchFamily="34" charset="0"/>
                <a:ea typeface="Calibri" pitchFamily="34" charset="-122"/>
                <a:cs typeface="Calibri" pitchFamily="34" charset="-120"/>
              </a:rPr>
              <a:t>Turns priorities into attention shares, allocates the shared resource pool, and sets the acceptance thresholds in force.</a:t>
            </a:r>
            <a:endParaRPr lang="en-US" sz="1150" dirty="0"/>
          </a:p>
          <a:p>
            <a:pPr marL="152400" indent="-152400">
              <a:lnSpc>
                <a:spcPct val="102000"/>
              </a:lnSpc>
              <a:spcAft>
                <a:spcPts val="0"/>
              </a:spcAft>
              <a:buSzPct val="100000"/>
              <a:buChar char="•"/>
            </a:pPr>
            <a:r>
              <a:rPr lang="en-US" sz="1150" b="0" i="0" dirty="0">
                <a:solidFill>
                  <a:srgbClr val="222222"/>
                </a:solidFill>
                <a:latin typeface="Calibri" pitchFamily="34" charset="0"/>
                <a:ea typeface="Calibri" pitchFamily="34" charset="-122"/>
                <a:cs typeface="Calibri" pitchFamily="34" charset="-120"/>
              </a:rPr>
              <a:t>Sends down three things: the allocation, the normalized priorities, the thresholds.</a:t>
            </a:r>
            <a:endParaRPr lang="en-US" sz="1150" dirty="0"/>
          </a:p>
        </p:txBody>
      </p:sp>
      <p:sp>
        <p:nvSpPr>
          <p:cNvPr id="8507" name="Channel"/>
          <p:cNvSpPr/>
          <p:nvPr/>
        </p:nvSpPr>
        <p:spPr>
          <a:xfrm>
            <a:off x="457200" y="4983480"/>
            <a:ext cx="11292840" cy="914400"/>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1150" b="0" i="0" dirty="0">
                <a:solidFill>
                  <a:srgbClr val="222222"/>
                </a:solidFill>
                <a:latin typeface="Calibri" pitchFamily="34" charset="0"/>
                <a:ea typeface="Calibri" pitchFamily="34" charset="-122"/>
                <a:cs typeface="Calibri" pitchFamily="34" charset="-120"/>
              </a:rPr>
              <a:t>The channel is narrow by design: three numbers up, three down. That keeps coordination auditable and the local decision path short.</a:t>
            </a:r>
            <a:endParaRPr lang="en-US" sz="1150" dirty="0"/>
          </a:p>
          <a:p>
            <a:pPr marL="152400" indent="-152400">
              <a:lnSpc>
                <a:spcPct val="102000"/>
              </a:lnSpc>
              <a:spcAft>
                <a:spcPts val="0"/>
              </a:spcAft>
              <a:buSzPct val="100000"/>
              <a:buChar char="•"/>
            </a:pPr>
            <a:r>
              <a:rPr lang="en-US" sz="1150" b="0" i="0" dirty="0">
                <a:solidFill>
                  <a:srgbClr val="222222"/>
                </a:solidFill>
                <a:latin typeface="Calibri" pitchFamily="34" charset="0"/>
                <a:ea typeface="Calibri" pitchFamily="34" charset="-122"/>
                <a:cs typeface="Calibri" pitchFamily="34" charset="-120"/>
              </a:rPr>
              <a:t>And it is why the framework scales: 16 times the agents cost at most 1.29 times the share of the cycle.</a:t>
            </a:r>
            <a:endParaRPr lang="en-US" sz="1150" dirty="0"/>
          </a:p>
        </p:txBody>
      </p:sp>
      <p:sp>
        <p:nvSpPr>
          <p:cNvPr id="8508" name="Bottom"/>
          <p:cNvSpPr/>
          <p:nvPr/>
        </p:nvSpPr>
        <p:spPr>
          <a:xfrm>
            <a:off x="457200" y="6126480"/>
            <a:ext cx="11292840" cy="411480"/>
          </a:xfrm>
          <a:prstGeom prst="rect">
            <a:avLst/>
          </a:prstGeom>
          <a:noFill/>
          <a:ln/>
        </p:spPr>
        <p:txBody>
          <a:bodyPr wrap="square" lIns="0" tIns="0" rIns="0" bIns="0" rtlCol="0" anchor="t"/>
          <a:lstStyle/>
          <a:p>
            <a:pPr marL="0" indent="0">
              <a:lnSpc>
                <a:spcPct val="102000"/>
              </a:lnSpc>
              <a:spcAft>
                <a:spcPts val="0"/>
              </a:spcAft>
              <a:buNone/>
            </a:pPr>
            <a:r>
              <a:rPr lang="en-US" sz="1250" b="1" i="0" dirty="0">
                <a:solidFill>
                  <a:srgbClr val="E31836"/>
                </a:solidFill>
                <a:latin typeface="Calibri" pitchFamily="34" charset="0"/>
                <a:ea typeface="Calibri" pitchFamily="34" charset="-122"/>
                <a:cs typeface="Calibri" pitchFamily="34" charset="-120"/>
              </a:rPr>
              <a:t>Decisions are made locally. The global layer only ranks and shares: it cannot invent an order, so it cannot break traceability.</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1866</TotalTime>
  <Words>23900</Words>
  <Application>Microsoft Office PowerPoint</Application>
  <PresentationFormat>Widescreen</PresentationFormat>
  <Paragraphs>1786</Paragraphs>
  <Slides>88</Slides>
  <Notes>88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88</vt:i4>
      </vt:variant>
    </vt:vector>
  </HeadingPairs>
  <TitlesOfParts>
    <vt:vector size="96" baseType="lpstr">
      <vt:lpstr>Arial</vt:lpstr>
      <vt:lpstr>Calibri</vt:lpstr>
      <vt:lpstr>Cambria</vt:lpstr>
      <vt:lpstr>Cambria Math</vt:lpstr>
      <vt:lpstr>Consolas</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cakman</dc:creator>
  <cp:lastModifiedBy>Çağlar Akman</cp:lastModifiedBy>
  <cp:revision>58</cp:revision>
  <dcterms:created xsi:type="dcterms:W3CDTF">2026-08-13T07:33:11Z</dcterms:created>
  <dcterms:modified xsi:type="dcterms:W3CDTF">2026-08-30T22:16:57Z</dcterms:modified>
</cp:coreProperties>
</file>