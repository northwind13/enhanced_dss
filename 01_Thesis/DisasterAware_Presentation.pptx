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bookmarkIdSeed="4">
  <p:sldMasterIdLst>
    <p:sldMasterId id="2147483648" r:id="rId1"/>
  </p:sldMasterIdLst>
  <p:notesMasterIdLst>
    <p:notesMasterId r:id="rId72"/>
  </p:notesMasterIdLst>
  <p:sldIdLst>
    <p:sldId id="256" r:id="rId2"/>
    <p:sldId id="257" r:id="rId3"/>
    <p:sldId id="343" r:id="rId4"/>
    <p:sldId id="437" r:id="rId5"/>
    <p:sldId id="439" r:id="rId6"/>
    <p:sldId id="440" r:id="rId7"/>
    <p:sldId id="259" r:id="rId8"/>
    <p:sldId id="2701" r:id="rId9"/>
    <p:sldId id="260" r:id="rId10"/>
    <p:sldId id="445" r:id="rId11"/>
    <p:sldId id="312" r:id="rId12"/>
    <p:sldId id="327" r:id="rId13"/>
    <p:sldId id="333" r:id="rId14"/>
    <p:sldId id="335" r:id="rId15"/>
    <p:sldId id="311" r:id="rId16"/>
    <p:sldId id="267" r:id="rId17"/>
    <p:sldId id="268" r:id="rId18"/>
    <p:sldId id="269" r:id="rId19"/>
    <p:sldId id="360" r:id="rId20"/>
    <p:sldId id="270" r:id="rId21"/>
    <p:sldId id="350" r:id="rId22"/>
    <p:sldId id="347" r:id="rId23"/>
    <p:sldId id="351" r:id="rId24"/>
    <p:sldId id="264" r:id="rId25"/>
    <p:sldId id="272" r:id="rId26"/>
    <p:sldId id="357" r:id="rId27"/>
    <p:sldId id="361" r:id="rId28"/>
    <p:sldId id="273" r:id="rId29"/>
    <p:sldId id="456" r:id="rId30"/>
    <p:sldId id="455" r:id="rId31"/>
    <p:sldId id="463" r:id="rId32"/>
    <p:sldId id="459" r:id="rId33"/>
    <p:sldId id="390" r:id="rId34"/>
    <p:sldId id="391" r:id="rId35"/>
    <p:sldId id="406" r:id="rId36"/>
    <p:sldId id="393" r:id="rId37"/>
    <p:sldId id="464" r:id="rId38"/>
    <p:sldId id="395" r:id="rId39"/>
    <p:sldId id="396" r:id="rId40"/>
    <p:sldId id="397" r:id="rId41"/>
    <p:sldId id="467" r:id="rId42"/>
    <p:sldId id="402" r:id="rId43"/>
    <p:sldId id="2702" r:id="rId77"/>
    <p:sldId id="468" r:id="rId44"/>
    <p:sldId id="2703" r:id="rId78"/>
    <p:sldId id="403" r:id="rId45"/>
    <p:sldId id="2601" r:id="rId46"/>
    <p:sldId id="2602" r:id="rId47"/>
    <p:sldId id="2704" r:id="rId79"/>
    <p:sldId id="2705" r:id="rId80"/>
    <p:sldId id="2700" r:id="rId48"/>
    <p:sldId id="283" r:id="rId49"/>
    <p:sldId id="407" r:id="rId50"/>
    <p:sldId id="408" r:id="rId51"/>
    <p:sldId id="2605" r:id="rId52"/>
    <p:sldId id="411" r:id="rId53"/>
    <p:sldId id="263" r:id="rId54"/>
    <p:sldId id="412" r:id="rId55"/>
    <p:sldId id="265" r:id="rId56"/>
    <p:sldId id="413" r:id="rId57"/>
    <p:sldId id="414" r:id="rId58"/>
    <p:sldId id="417" r:id="rId59"/>
    <p:sldId id="418" r:id="rId60"/>
    <p:sldId id="419" r:id="rId61"/>
    <p:sldId id="420" r:id="rId62"/>
    <p:sldId id="2606" r:id="rId63"/>
    <p:sldId id="421" r:id="rId64"/>
    <p:sldId id="422" r:id="rId65"/>
    <p:sldId id="279" r:id="rId66"/>
    <p:sldId id="423" r:id="rId67"/>
    <p:sldId id="282" r:id="rId68"/>
    <p:sldId id="284" r:id="rId70"/>
    <p:sldId id="298" r:id="rId7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863DE9D-30E2-480B-BF39-0A6E9CFB1129}">
          <p14:sldIdLst>
            <p14:sldId id="256"/>
            <p14:sldId id="257"/>
          </p14:sldIdLst>
        </p14:section>
        <p14:section name="P0_Intro" id="{02D1D83B-EE8A-4111-A042-81028A454229}">
          <p14:sldIdLst>
            <p14:sldId id="343"/>
            <p14:sldId id="437"/>
            <p14:sldId id="439"/>
            <p14:sldId id="440"/>
            <p14:sldId id="259"/>
            <p14:sldId id="2701"/>
          </p14:sldIdLst>
        </p14:section>
        <p14:section name="P1_Sim Core" id="{113E917D-4C26-47E8-8BB7-9FF40FC063AC}">
          <p14:sldIdLst>
            <p14:sldId id="260"/>
            <p14:sldId id="445"/>
            <p14:sldId id="312"/>
            <p14:sldId id="327"/>
            <p14:sldId id="333"/>
          </p14:sldIdLst>
        </p14:section>
        <p14:section name="P1_DSS Core" id="{29E88F0C-0302-4CA9-A84B-2500402F3493}">
          <p14:sldIdLst>
            <p14:sldId id="335"/>
            <p14:sldId id="311"/>
          </p14:sldIdLst>
        </p14:section>
        <p14:section name="DSS Framework" id="{5C40EE8D-38D0-4B91-B440-D3AEB790E3BB}">
          <p14:sldIdLst>
            <p14:sldId id="267"/>
            <p14:sldId id="268"/>
            <p14:sldId id="269"/>
            <p14:sldId id="360"/>
            <p14:sldId id="270"/>
            <p14:sldId id="350"/>
            <p14:sldId id="347"/>
            <p14:sldId id="351"/>
            <p14:sldId id="264"/>
            <p14:sldId id="272"/>
            <p14:sldId id="357"/>
            <p14:sldId id="361"/>
            <p14:sldId id="273"/>
            <p14:sldId id="456"/>
            <p14:sldId id="455"/>
            <p14:sldId id="463"/>
            <p14:sldId id="459"/>
            <p14:sldId id="390"/>
            <p14:sldId id="391"/>
            <p14:sldId id="406"/>
            <p14:sldId id="393"/>
            <p14:sldId id="464"/>
            <p14:sldId id="395"/>
            <p14:sldId id="396"/>
            <p14:sldId id="397"/>
            <p14:sldId id="467"/>
            <p14:sldId id="402"/>
            <p14:sldId id="468"/>
            <p14:sldId id="403"/>
            <p14:sldId id="2601"/>
            <p14:sldId id="2602"/>
            <p14:sldId id="2700"/>
            <p14:sldId id="283"/>
            <p14:sldId id="407"/>
            <p14:sldId id="408"/>
            <p14:sldId id="2605"/>
            <p14:sldId id="411"/>
            <p14:sldId id="263"/>
            <p14:sldId id="412"/>
            <p14:sldId id="265"/>
            <p14:sldId id="413"/>
            <p14:sldId id="414"/>
            <p14:sldId id="417"/>
            <p14:sldId id="418"/>
            <p14:sldId id="419"/>
            <p14:sldId id="420"/>
            <p14:sldId id="2606"/>
            <p14:sldId id="421"/>
            <p14:sldId id="422"/>
            <p14:sldId id="279"/>
          </p14:sldIdLst>
        </p14:section>
        <p14:section name="Conlusion" id="{CA4FBB32-262A-42DC-8590-E36286395F70}">
          <p14:sldIdLst>
            <p14:sldId id="423"/>
            <p14:sldId id="282"/>
            <p14:sldId id="424"/>
            <p14:sldId id="284"/>
            <p14:sldId id="29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3183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2159" autoAdjust="0"/>
  </p:normalViewPr>
  <p:slideViewPr>
    <p:cSldViewPr snapToGrid="0" snapToObjects="1">
      <p:cViewPr varScale="1">
        <p:scale>
          <a:sx n="70" d="100"/>
          <a:sy n="70" d="100"/>
        </p:scale>
        <p:origin x="2118" y="66"/>
      </p:cViewPr>
      <p:guideLst/>
    </p:cSldViewPr>
  </p:slideViewPr>
  <p:notesTextViewPr>
    <p:cViewPr>
      <p:scale>
        <a:sx n="150" d="100"/>
        <a:sy n="15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notesMaster" Target="notesMasters/notesMaster1.xml"/><Relationship Id="rId73" Type="http://schemas.openxmlformats.org/officeDocument/2006/relationships/presProps" Target="presProps.xml"/><Relationship Id="rId74" Type="http://schemas.openxmlformats.org/officeDocument/2006/relationships/viewProps" Target="viewProps.xml"/><Relationship Id="rId75" Type="http://schemas.openxmlformats.org/officeDocument/2006/relationships/theme" Target="theme/theme1.xml"/><Relationship Id="rId76" Type="http://schemas.openxmlformats.org/officeDocument/2006/relationships/tableStyles" Target="tableStyles.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s>
</file>

<file path=ppt/diagrams/colors1.xml><?xml version="1.0" encoding="utf-8"?>
<dgm:colorsDef xmlns:dgm="http://schemas.openxmlformats.org/drawingml/2006/diagram" xmlns:a="http://schemas.openxmlformats.org/drawingml/2006/main" uniqueId="urn:microsoft.com/office/officeart/2005/8/colors/accent0_1#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0NoLn">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NoLn">
    <dgm:fillClrLst meth="repeat">
      <a:schemeClr val="lt1"/>
    </dgm:fillClrLst>
    <dgm:linClrLst meth="repeat">
      <a:schemeClr val="dk1">
        <a:shade val="80000"/>
      </a:schemeClr>
    </dgm:linClrLst>
    <dgm:effectClrLst/>
    <dgm:txLinClrLst/>
    <dgm:txFillClrLst meth="repeat">
      <a:schemeClr val="dk1"/>
    </dgm:txFillClrLst>
    <dgm:txEffectClrLst/>
  </dgm:styleLbl>
  <dgm:styleLbl name="ltNode1NoLn">
    <dgm:fillClrLst meth="repeat">
      <a:schemeClr val="lt1">
        <a:tint val="75000"/>
      </a:schemeClr>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2NoLn">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NoLn">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NoLn">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meth="repeat">
      <a:schemeClr val="dk1"/>
    </dgm:txFillClrLst>
    <dgm:txEffectClrLst/>
  </dgm:styleLbl>
</dgm:colorsDef>
</file>

<file path=ppt/diagrams/data1.xml><?xml version="1.0" encoding="utf-8"?>
<dgm:dataModel xmlns:dgm="http://schemas.openxmlformats.org/drawingml/2006/diagram" xmlns:a="http://schemas.openxmlformats.org/drawingml/2006/main">
  <dgm:ptLst>
    <dgm:pt modelId="{588AEF6E-98DF-483E-932A-3CB5C9AE6CA2}" type="doc">
      <dgm:prSet loTypeId="urn:microsoft.com/office/officeart/2008/layout/LinedList" loCatId="list" qsTypeId="urn:microsoft.com/office/officeart/2005/8/quickstyle/simple1#1" qsCatId="simple" csTypeId="urn:microsoft.com/office/officeart/2005/8/colors/accent0_1#1" csCatId="mainScheme" phldr="1"/>
      <dgm:spPr/>
      <dgm:t>
        <a:bodyPr/>
        <a:lstStyle/>
        <a:p>
          <a:endParaRPr lang="tr-TR"/>
        </a:p>
      </dgm:t>
    </dgm:pt>
    <dgm:pt modelId="{28B353A4-0D62-403C-8102-3BB77C2693F9}">
      <dgm:prSet phldrT="[Text]"/>
      <dgm:spPr/>
      <dgm:t>
        <a:bodyPr/>
        <a:lstStyle/>
        <a:p>
          <a:r>
            <a:rPr lang="en-US" b="1"/>
            <a:t>Why did not FARSITE, Prometheus, or WRF-Fire</a:t>
          </a:r>
          <a:r>
            <a:rPr lang="tr-TR" b="1"/>
            <a:t> be used</a:t>
          </a:r>
          <a:r>
            <a:rPr lang="en-US" b="1"/>
            <a:t>? </a:t>
          </a:r>
          <a:endParaRPr lang="tr-TR"/>
        </a:p>
      </dgm:t>
    </dgm:pt>
    <dgm:pt modelId="{6CE3260D-010E-4E88-914F-C9EE2879885D}" type="parTrans" cxnId="{749E34B2-9BA1-461B-A9B5-421FF11D4BBA}">
      <dgm:prSet/>
      <dgm:spPr/>
      <dgm:t>
        <a:bodyPr/>
        <a:lstStyle/>
        <a:p>
          <a:endParaRPr lang="tr-TR"/>
        </a:p>
      </dgm:t>
    </dgm:pt>
    <dgm:pt modelId="{3A9FA300-4726-4436-9988-4D87D8CCBE30}" type="sibTrans" cxnId="{749E34B2-9BA1-461B-A9B5-421FF11D4BBA}">
      <dgm:prSet/>
      <dgm:spPr/>
      <dgm:t>
        <a:bodyPr/>
        <a:lstStyle/>
        <a:p>
          <a:endParaRPr lang="tr-TR"/>
        </a:p>
      </dgm:t>
    </dgm:pt>
    <dgm:pt modelId="{CEFABD33-057B-47FC-9C11-5B8F6763652D}">
      <dgm:prSet/>
      <dgm:spPr/>
      <dgm:t>
        <a:bodyPr/>
        <a:lstStyle/>
        <a:p>
          <a:r>
            <a:rPr lang="en-US" i="1" dirty="0"/>
            <a:t>same seed, same fire: exact repeats for fair comparisons</a:t>
          </a:r>
        </a:p>
      </dgm:t>
    </dgm:pt>
    <dgm:pt modelId="{028E5770-BA62-4DF1-AF0D-65BA8D8D3588}" type="parTrans" cxnId="{81E77596-E857-43A7-A33B-7FC7219B3E63}">
      <dgm:prSet/>
      <dgm:spPr/>
      <dgm:t>
        <a:bodyPr/>
        <a:lstStyle/>
        <a:p>
          <a:endParaRPr lang="tr-TR"/>
        </a:p>
      </dgm:t>
    </dgm:pt>
    <dgm:pt modelId="{ACC430B5-5B5D-4CE9-A6DB-7DD184141BB5}" type="sibTrans" cxnId="{81E77596-E857-43A7-A33B-7FC7219B3E63}">
      <dgm:prSet/>
      <dgm:spPr/>
      <dgm:t>
        <a:bodyPr/>
        <a:lstStyle/>
        <a:p>
          <a:endParaRPr lang="tr-TR"/>
        </a:p>
      </dgm:t>
    </dgm:pt>
    <dgm:pt modelId="{489BA0A3-8268-4F05-A3B1-7D96BE5A2C45}">
      <dgm:prSet/>
      <dgm:spPr/>
      <dgm:t>
        <a:bodyPr/>
        <a:lstStyle/>
        <a:p>
          <a:r>
            <a:rPr lang="en-US" i="1" dirty="0"/>
            <a:t>fast enough for thousands of what-if runs</a:t>
          </a:r>
        </a:p>
      </dgm:t>
    </dgm:pt>
    <dgm:pt modelId="{0C2F1337-1C45-499F-A1C6-6AE338109F32}" type="parTrans" cxnId="{000077D5-42E0-4A27-873E-1D6EF40EA35A}">
      <dgm:prSet/>
      <dgm:spPr/>
      <dgm:t>
        <a:bodyPr/>
        <a:lstStyle/>
        <a:p>
          <a:endParaRPr lang="tr-TR"/>
        </a:p>
      </dgm:t>
    </dgm:pt>
    <dgm:pt modelId="{6CE55725-73C3-4899-B374-8BC2A9F029E1}" type="sibTrans" cxnId="{000077D5-42E0-4A27-873E-1D6EF40EA35A}">
      <dgm:prSet/>
      <dgm:spPr/>
      <dgm:t>
        <a:bodyPr/>
        <a:lstStyle/>
        <a:p>
          <a:endParaRPr lang="tr-TR"/>
        </a:p>
      </dgm:t>
    </dgm:pt>
    <dgm:pt modelId="{EDA7D782-E7FD-430D-9F01-EB00F1260AE7}">
      <dgm:prSet/>
      <dgm:spPr/>
      <dgm:t>
        <a:bodyPr/>
        <a:lstStyle/>
        <a:p>
          <a:r>
            <a:rPr lang="en-US" i="1" dirty="0"/>
            <a:t>interventions only through a fixed, checkable interface</a:t>
          </a:r>
        </a:p>
      </dgm:t>
    </dgm:pt>
    <dgm:pt modelId="{B2388E44-74DC-4E8E-B606-2D293CAFADE0}" type="parTrans" cxnId="{C7732B07-793E-4131-85E7-911ADC304CAE}">
      <dgm:prSet/>
      <dgm:spPr/>
      <dgm:t>
        <a:bodyPr/>
        <a:lstStyle/>
        <a:p>
          <a:endParaRPr lang="tr-TR"/>
        </a:p>
      </dgm:t>
    </dgm:pt>
    <dgm:pt modelId="{C01C41DC-6727-493F-95DE-5A854AC51EF9}" type="sibTrans" cxnId="{C7732B07-793E-4131-85E7-911ADC304CAE}">
      <dgm:prSet/>
      <dgm:spPr/>
      <dgm:t>
        <a:bodyPr/>
        <a:lstStyle/>
        <a:p>
          <a:endParaRPr lang="tr-TR"/>
        </a:p>
      </dgm:t>
    </dgm:pt>
    <dgm:pt modelId="{C0D467FA-EE7B-4CBC-9166-7D07BE6AC8F0}">
      <dgm:prSet/>
      <dgm:spPr/>
      <dgm:t>
        <a:bodyPr/>
        <a:lstStyle/>
        <a:p>
          <a:r>
            <a:rPr lang="en-US" i="1" dirty="0"/>
            <a:t>fidelity validated: 86–94% agreement and POD 85–97%</a:t>
          </a:r>
        </a:p>
      </dgm:t>
    </dgm:pt>
    <dgm:pt modelId="{570F08C9-9BFB-46FC-AA36-14B0611881D0}" type="parTrans" cxnId="{23A2248D-8AA4-42A3-B59D-C1FBAAA6B891}">
      <dgm:prSet/>
      <dgm:spPr/>
      <dgm:t>
        <a:bodyPr/>
        <a:lstStyle/>
        <a:p>
          <a:endParaRPr lang="tr-TR"/>
        </a:p>
      </dgm:t>
    </dgm:pt>
    <dgm:pt modelId="{AC525587-9ED7-4692-A348-1358A8CDE95E}" type="sibTrans" cxnId="{23A2248D-8AA4-42A3-B59D-C1FBAAA6B891}">
      <dgm:prSet/>
      <dgm:spPr/>
      <dgm:t>
        <a:bodyPr/>
        <a:lstStyle/>
        <a:p>
          <a:endParaRPr lang="tr-TR"/>
        </a:p>
      </dgm:t>
    </dgm:pt>
    <dgm:pt modelId="{688F4445-F8C0-4B6C-9353-715512747F92}">
      <dgm:prSet/>
      <dgm:spPr/>
      <dgm:t>
        <a:bodyPr/>
        <a:lstStyle/>
        <a:p>
          <a:r>
            <a:rPr lang="en-US" i="1" dirty="0"/>
            <a:t>a higher-fidelity core can be integrated, the DSS stays untouched</a:t>
          </a:r>
        </a:p>
      </dgm:t>
    </dgm:pt>
    <dgm:pt modelId="{63D24A72-BEDE-40AC-8FDA-D2B54C4528A7}" type="parTrans" cxnId="{2F6EFC0E-F488-4C0C-B3D9-B5CE63130C3D}">
      <dgm:prSet/>
      <dgm:spPr/>
      <dgm:t>
        <a:bodyPr/>
        <a:lstStyle/>
        <a:p>
          <a:endParaRPr lang="tr-TR"/>
        </a:p>
      </dgm:t>
    </dgm:pt>
    <dgm:pt modelId="{F2A45977-DE03-47E3-B722-D6583E298633}" type="sibTrans" cxnId="{2F6EFC0E-F488-4C0C-B3D9-B5CE63130C3D}">
      <dgm:prSet/>
      <dgm:spPr/>
      <dgm:t>
        <a:bodyPr/>
        <a:lstStyle/>
        <a:p>
          <a:endParaRPr lang="tr-TR"/>
        </a:p>
      </dgm:t>
    </dgm:pt>
    <dgm:pt modelId="{0F96125B-6202-4A64-B6EF-D0E503D05149}" type="pres">
      <dgm:prSet presAssocID="{588AEF6E-98DF-483E-932A-3CB5C9AE6CA2}" presName="vert0" presStyleCnt="0">
        <dgm:presLayoutVars>
          <dgm:dir/>
          <dgm:animOne val="branch"/>
          <dgm:animLvl val="lvl"/>
        </dgm:presLayoutVars>
      </dgm:prSet>
      <dgm:spPr/>
    </dgm:pt>
    <dgm:pt modelId="{1398B239-6770-495E-AF2D-7EC137F6DEB5}" type="pres">
      <dgm:prSet presAssocID="{28B353A4-0D62-403C-8102-3BB77C2693F9}" presName="thickLine" presStyleLbl="alignNode1" presStyleIdx="0" presStyleCnt="1"/>
      <dgm:spPr/>
    </dgm:pt>
    <dgm:pt modelId="{04E330B0-CF7A-4710-A44F-AEBB0A37427F}" type="pres">
      <dgm:prSet presAssocID="{28B353A4-0D62-403C-8102-3BB77C2693F9}" presName="horz1" presStyleCnt="0"/>
      <dgm:spPr/>
    </dgm:pt>
    <dgm:pt modelId="{5648599F-F304-432C-B508-CCBA3FDA565D}" type="pres">
      <dgm:prSet presAssocID="{28B353A4-0D62-403C-8102-3BB77C2693F9}" presName="tx1" presStyleLbl="revTx" presStyleIdx="0" presStyleCnt="6"/>
      <dgm:spPr/>
    </dgm:pt>
    <dgm:pt modelId="{A62D08A6-56A0-4CCE-B944-BC1C32081C08}" type="pres">
      <dgm:prSet presAssocID="{28B353A4-0D62-403C-8102-3BB77C2693F9}" presName="vert1" presStyleCnt="0"/>
      <dgm:spPr/>
    </dgm:pt>
    <dgm:pt modelId="{ADF34DA7-0744-4367-ABA8-B0A538536971}" type="pres">
      <dgm:prSet presAssocID="{CEFABD33-057B-47FC-9C11-5B8F6763652D}" presName="vertSpace2a" presStyleCnt="0"/>
      <dgm:spPr/>
    </dgm:pt>
    <dgm:pt modelId="{0DC61A59-F5F8-45C0-B310-DD238CBCACDC}" type="pres">
      <dgm:prSet presAssocID="{CEFABD33-057B-47FC-9C11-5B8F6763652D}" presName="horz2" presStyleCnt="0"/>
      <dgm:spPr/>
    </dgm:pt>
    <dgm:pt modelId="{B0BDFEFB-6D49-4718-A284-B2A367C877E0}" type="pres">
      <dgm:prSet presAssocID="{CEFABD33-057B-47FC-9C11-5B8F6763652D}" presName="horzSpace2" presStyleCnt="0"/>
      <dgm:spPr/>
    </dgm:pt>
    <dgm:pt modelId="{612F87CD-5855-4D75-8520-0D11A364EDF7}" type="pres">
      <dgm:prSet presAssocID="{CEFABD33-057B-47FC-9C11-5B8F6763652D}" presName="tx2" presStyleLbl="revTx" presStyleIdx="1" presStyleCnt="6"/>
      <dgm:spPr/>
    </dgm:pt>
    <dgm:pt modelId="{CD1FF444-8C5E-40C0-9FA6-75EC4AB3D77A}" type="pres">
      <dgm:prSet presAssocID="{CEFABD33-057B-47FC-9C11-5B8F6763652D}" presName="vert2" presStyleCnt="0"/>
      <dgm:spPr/>
    </dgm:pt>
    <dgm:pt modelId="{482EE71B-1FB0-40BB-806D-EA9A3843B313}" type="pres">
      <dgm:prSet presAssocID="{CEFABD33-057B-47FC-9C11-5B8F6763652D}" presName="thinLine2b" presStyleLbl="callout" presStyleIdx="0" presStyleCnt="5"/>
      <dgm:spPr/>
    </dgm:pt>
    <dgm:pt modelId="{55142970-DD23-4B60-93AD-79ECDB93E349}" type="pres">
      <dgm:prSet presAssocID="{CEFABD33-057B-47FC-9C11-5B8F6763652D}" presName="vertSpace2b" presStyleCnt="0"/>
      <dgm:spPr/>
    </dgm:pt>
    <dgm:pt modelId="{0A9A95F1-F523-4058-B460-8BA6B31050EE}" type="pres">
      <dgm:prSet presAssocID="{489BA0A3-8268-4F05-A3B1-7D96BE5A2C45}" presName="horz2" presStyleCnt="0"/>
      <dgm:spPr/>
    </dgm:pt>
    <dgm:pt modelId="{E319AB3A-F40D-43B0-95A7-B2D5FCB5A02D}" type="pres">
      <dgm:prSet presAssocID="{489BA0A3-8268-4F05-A3B1-7D96BE5A2C45}" presName="horzSpace2" presStyleCnt="0"/>
      <dgm:spPr/>
    </dgm:pt>
    <dgm:pt modelId="{3FE0D26C-D06A-4410-A451-AC92FCED232C}" type="pres">
      <dgm:prSet presAssocID="{489BA0A3-8268-4F05-A3B1-7D96BE5A2C45}" presName="tx2" presStyleLbl="revTx" presStyleIdx="2" presStyleCnt="6"/>
      <dgm:spPr/>
    </dgm:pt>
    <dgm:pt modelId="{CAA2EC53-D289-4E64-B1C8-3D808C4F9CBD}" type="pres">
      <dgm:prSet presAssocID="{489BA0A3-8268-4F05-A3B1-7D96BE5A2C45}" presName="vert2" presStyleCnt="0"/>
      <dgm:spPr/>
    </dgm:pt>
    <dgm:pt modelId="{25C03B55-95D9-4FE0-9AF1-DB785606863C}" type="pres">
      <dgm:prSet presAssocID="{489BA0A3-8268-4F05-A3B1-7D96BE5A2C45}" presName="thinLine2b" presStyleLbl="callout" presStyleIdx="1" presStyleCnt="5"/>
      <dgm:spPr/>
    </dgm:pt>
    <dgm:pt modelId="{61E01C45-088A-4AA5-98AC-60784D298FC0}" type="pres">
      <dgm:prSet presAssocID="{489BA0A3-8268-4F05-A3B1-7D96BE5A2C45}" presName="vertSpace2b" presStyleCnt="0"/>
      <dgm:spPr/>
    </dgm:pt>
    <dgm:pt modelId="{F7BA0808-ACD9-4D0D-89C1-6BBEA925100A}" type="pres">
      <dgm:prSet presAssocID="{EDA7D782-E7FD-430D-9F01-EB00F1260AE7}" presName="horz2" presStyleCnt="0"/>
      <dgm:spPr/>
    </dgm:pt>
    <dgm:pt modelId="{0A0A34ED-5B71-4ECC-9B4F-E07644820D91}" type="pres">
      <dgm:prSet presAssocID="{EDA7D782-E7FD-430D-9F01-EB00F1260AE7}" presName="horzSpace2" presStyleCnt="0"/>
      <dgm:spPr/>
    </dgm:pt>
    <dgm:pt modelId="{91C4D8EB-8E88-4223-937C-A23B1049348D}" type="pres">
      <dgm:prSet presAssocID="{EDA7D782-E7FD-430D-9F01-EB00F1260AE7}" presName="tx2" presStyleLbl="revTx" presStyleIdx="3" presStyleCnt="6"/>
      <dgm:spPr/>
    </dgm:pt>
    <dgm:pt modelId="{17C2F185-3520-411F-85F2-D85DEBFA2E6B}" type="pres">
      <dgm:prSet presAssocID="{EDA7D782-E7FD-430D-9F01-EB00F1260AE7}" presName="vert2" presStyleCnt="0"/>
      <dgm:spPr/>
    </dgm:pt>
    <dgm:pt modelId="{DFD95A49-6E13-4479-9899-65D7813A8C3E}" type="pres">
      <dgm:prSet presAssocID="{EDA7D782-E7FD-430D-9F01-EB00F1260AE7}" presName="thinLine2b" presStyleLbl="callout" presStyleIdx="2" presStyleCnt="5"/>
      <dgm:spPr/>
    </dgm:pt>
    <dgm:pt modelId="{BAA19669-F1CA-4C58-A4E4-ACB1C8A11DF3}" type="pres">
      <dgm:prSet presAssocID="{EDA7D782-E7FD-430D-9F01-EB00F1260AE7}" presName="vertSpace2b" presStyleCnt="0"/>
      <dgm:spPr/>
    </dgm:pt>
    <dgm:pt modelId="{E89AC8A5-238E-4533-8733-6DF4EA774438}" type="pres">
      <dgm:prSet presAssocID="{C0D467FA-EE7B-4CBC-9166-7D07BE6AC8F0}" presName="horz2" presStyleCnt="0"/>
      <dgm:spPr/>
    </dgm:pt>
    <dgm:pt modelId="{35B946F5-D053-4025-BE6C-5F99F8DE3484}" type="pres">
      <dgm:prSet presAssocID="{C0D467FA-EE7B-4CBC-9166-7D07BE6AC8F0}" presName="horzSpace2" presStyleCnt="0"/>
      <dgm:spPr/>
    </dgm:pt>
    <dgm:pt modelId="{53B81751-C420-4874-95E8-3EA2CED960AF}" type="pres">
      <dgm:prSet presAssocID="{C0D467FA-EE7B-4CBC-9166-7D07BE6AC8F0}" presName="tx2" presStyleLbl="revTx" presStyleIdx="4" presStyleCnt="6"/>
      <dgm:spPr/>
    </dgm:pt>
    <dgm:pt modelId="{1E706854-79EF-4141-9697-81ACBC3AF1F7}" type="pres">
      <dgm:prSet presAssocID="{C0D467FA-EE7B-4CBC-9166-7D07BE6AC8F0}" presName="vert2" presStyleCnt="0"/>
      <dgm:spPr/>
    </dgm:pt>
    <dgm:pt modelId="{ED6E751F-71E9-411A-8CF3-18BA032F921A}" type="pres">
      <dgm:prSet presAssocID="{C0D467FA-EE7B-4CBC-9166-7D07BE6AC8F0}" presName="thinLine2b" presStyleLbl="callout" presStyleIdx="3" presStyleCnt="5"/>
      <dgm:spPr/>
    </dgm:pt>
    <dgm:pt modelId="{0E792B22-581A-4707-871A-ABCC9710DFB9}" type="pres">
      <dgm:prSet presAssocID="{C0D467FA-EE7B-4CBC-9166-7D07BE6AC8F0}" presName="vertSpace2b" presStyleCnt="0"/>
      <dgm:spPr/>
    </dgm:pt>
    <dgm:pt modelId="{C2EC6B52-6077-4BB0-A295-EC9C1AAD624D}" type="pres">
      <dgm:prSet presAssocID="{688F4445-F8C0-4B6C-9353-715512747F92}" presName="horz2" presStyleCnt="0"/>
      <dgm:spPr/>
    </dgm:pt>
    <dgm:pt modelId="{7EA465C4-0B9D-44C8-AE26-A2FBF04CE80E}" type="pres">
      <dgm:prSet presAssocID="{688F4445-F8C0-4B6C-9353-715512747F92}" presName="horzSpace2" presStyleCnt="0"/>
      <dgm:spPr/>
    </dgm:pt>
    <dgm:pt modelId="{05D4B853-BC4A-4447-88CC-DE4F018B5529}" type="pres">
      <dgm:prSet presAssocID="{688F4445-F8C0-4B6C-9353-715512747F92}" presName="tx2" presStyleLbl="revTx" presStyleIdx="5" presStyleCnt="6"/>
      <dgm:spPr/>
    </dgm:pt>
    <dgm:pt modelId="{E56F4B75-3CBD-4142-8312-5443918EA08C}" type="pres">
      <dgm:prSet presAssocID="{688F4445-F8C0-4B6C-9353-715512747F92}" presName="vert2" presStyleCnt="0"/>
      <dgm:spPr/>
    </dgm:pt>
    <dgm:pt modelId="{B5DDAB02-999F-4111-A359-6C8D6D7BB1EF}" type="pres">
      <dgm:prSet presAssocID="{688F4445-F8C0-4B6C-9353-715512747F92}" presName="thinLine2b" presStyleLbl="callout" presStyleIdx="4" presStyleCnt="5"/>
      <dgm:spPr/>
    </dgm:pt>
    <dgm:pt modelId="{B4A246F9-EC99-415E-8468-62D2913CD64C}" type="pres">
      <dgm:prSet presAssocID="{688F4445-F8C0-4B6C-9353-715512747F92}" presName="vertSpace2b" presStyleCnt="0"/>
      <dgm:spPr/>
    </dgm:pt>
  </dgm:ptLst>
  <dgm:cxnLst>
    <dgm:cxn modelId="{C7732B07-793E-4131-85E7-911ADC304CAE}" srcId="{28B353A4-0D62-403C-8102-3BB77C2693F9}" destId="{EDA7D782-E7FD-430D-9F01-EB00F1260AE7}" srcOrd="2" destOrd="0" parTransId="{B2388E44-74DC-4E8E-B606-2D293CAFADE0}" sibTransId="{C01C41DC-6727-493F-95DE-5A854AC51EF9}"/>
    <dgm:cxn modelId="{2F6EFC0E-F488-4C0C-B3D9-B5CE63130C3D}" srcId="{28B353A4-0D62-403C-8102-3BB77C2693F9}" destId="{688F4445-F8C0-4B6C-9353-715512747F92}" srcOrd="4" destOrd="0" parTransId="{63D24A72-BEDE-40AC-8FDA-D2B54C4528A7}" sibTransId="{F2A45977-DE03-47E3-B722-D6583E298633}"/>
    <dgm:cxn modelId="{524F8D3F-EFD7-4F8A-AC89-C4005FA772D6}" type="presOf" srcId="{28B353A4-0D62-403C-8102-3BB77C2693F9}" destId="{5648599F-F304-432C-B508-CCBA3FDA565D}" srcOrd="0" destOrd="0" presId="urn:microsoft.com/office/officeart/2008/layout/LinedList"/>
    <dgm:cxn modelId="{AB139086-FAC0-40E7-8FFC-D5B5807394A6}" type="presOf" srcId="{C0D467FA-EE7B-4CBC-9166-7D07BE6AC8F0}" destId="{53B81751-C420-4874-95E8-3EA2CED960AF}" srcOrd="0" destOrd="0" presId="urn:microsoft.com/office/officeart/2008/layout/LinedList"/>
    <dgm:cxn modelId="{23A2248D-8AA4-42A3-B59D-C1FBAAA6B891}" srcId="{28B353A4-0D62-403C-8102-3BB77C2693F9}" destId="{C0D467FA-EE7B-4CBC-9166-7D07BE6AC8F0}" srcOrd="3" destOrd="0" parTransId="{570F08C9-9BFB-46FC-AA36-14B0611881D0}" sibTransId="{AC525587-9ED7-4692-A348-1358A8CDE95E}"/>
    <dgm:cxn modelId="{504CE093-7468-4589-93CC-0E637C08F7A7}" type="presOf" srcId="{688F4445-F8C0-4B6C-9353-715512747F92}" destId="{05D4B853-BC4A-4447-88CC-DE4F018B5529}" srcOrd="0" destOrd="0" presId="urn:microsoft.com/office/officeart/2008/layout/LinedList"/>
    <dgm:cxn modelId="{81E77596-E857-43A7-A33B-7FC7219B3E63}" srcId="{28B353A4-0D62-403C-8102-3BB77C2693F9}" destId="{CEFABD33-057B-47FC-9C11-5B8F6763652D}" srcOrd="0" destOrd="0" parTransId="{028E5770-BA62-4DF1-AF0D-65BA8D8D3588}" sibTransId="{ACC430B5-5B5D-4CE9-A6DB-7DD184141BB5}"/>
    <dgm:cxn modelId="{E25795A7-B4E9-4563-9FB3-D61B6E916628}" type="presOf" srcId="{CEFABD33-057B-47FC-9C11-5B8F6763652D}" destId="{612F87CD-5855-4D75-8520-0D11A364EDF7}" srcOrd="0" destOrd="0" presId="urn:microsoft.com/office/officeart/2008/layout/LinedList"/>
    <dgm:cxn modelId="{E03345AF-55A6-4B85-80C4-2512F47FE28B}" type="presOf" srcId="{489BA0A3-8268-4F05-A3B1-7D96BE5A2C45}" destId="{3FE0D26C-D06A-4410-A451-AC92FCED232C}" srcOrd="0" destOrd="0" presId="urn:microsoft.com/office/officeart/2008/layout/LinedList"/>
    <dgm:cxn modelId="{749E34B2-9BA1-461B-A9B5-421FF11D4BBA}" srcId="{588AEF6E-98DF-483E-932A-3CB5C9AE6CA2}" destId="{28B353A4-0D62-403C-8102-3BB77C2693F9}" srcOrd="0" destOrd="0" parTransId="{6CE3260D-010E-4E88-914F-C9EE2879885D}" sibTransId="{3A9FA300-4726-4436-9988-4D87D8CCBE30}"/>
    <dgm:cxn modelId="{000077D5-42E0-4A27-873E-1D6EF40EA35A}" srcId="{28B353A4-0D62-403C-8102-3BB77C2693F9}" destId="{489BA0A3-8268-4F05-A3B1-7D96BE5A2C45}" srcOrd="1" destOrd="0" parTransId="{0C2F1337-1C45-499F-A1C6-6AE338109F32}" sibTransId="{6CE55725-73C3-4899-B374-8BC2A9F029E1}"/>
    <dgm:cxn modelId="{CDCCCADD-E93C-4271-975D-2964F72FCADB}" type="presOf" srcId="{EDA7D782-E7FD-430D-9F01-EB00F1260AE7}" destId="{91C4D8EB-8E88-4223-937C-A23B1049348D}" srcOrd="0" destOrd="0" presId="urn:microsoft.com/office/officeart/2008/layout/LinedList"/>
    <dgm:cxn modelId="{0A27D8E7-9321-4634-AC9B-C98C76F29591}" type="presOf" srcId="{588AEF6E-98DF-483E-932A-3CB5C9AE6CA2}" destId="{0F96125B-6202-4A64-B6EF-D0E503D05149}" srcOrd="0" destOrd="0" presId="urn:microsoft.com/office/officeart/2008/layout/LinedList"/>
    <dgm:cxn modelId="{D552D866-4423-443A-B385-185438507955}" type="presParOf" srcId="{0F96125B-6202-4A64-B6EF-D0E503D05149}" destId="{1398B239-6770-495E-AF2D-7EC137F6DEB5}" srcOrd="0" destOrd="0" presId="urn:microsoft.com/office/officeart/2008/layout/LinedList"/>
    <dgm:cxn modelId="{7CAF0056-EAAD-4A99-B4EB-82E7F621359B}" type="presParOf" srcId="{0F96125B-6202-4A64-B6EF-D0E503D05149}" destId="{04E330B0-CF7A-4710-A44F-AEBB0A37427F}" srcOrd="1" destOrd="0" presId="urn:microsoft.com/office/officeart/2008/layout/LinedList"/>
    <dgm:cxn modelId="{CDDB2079-DCB5-4900-8191-8494637E5E9E}" type="presParOf" srcId="{04E330B0-CF7A-4710-A44F-AEBB0A37427F}" destId="{5648599F-F304-432C-B508-CCBA3FDA565D}" srcOrd="0" destOrd="0" presId="urn:microsoft.com/office/officeart/2008/layout/LinedList"/>
    <dgm:cxn modelId="{BB0565CE-CB58-423D-82A2-F0ADF8D25465}" type="presParOf" srcId="{04E330B0-CF7A-4710-A44F-AEBB0A37427F}" destId="{A62D08A6-56A0-4CCE-B944-BC1C32081C08}" srcOrd="1" destOrd="0" presId="urn:microsoft.com/office/officeart/2008/layout/LinedList"/>
    <dgm:cxn modelId="{4A92F1F8-0C9B-4727-8A5E-D74024F3BF37}" type="presParOf" srcId="{A62D08A6-56A0-4CCE-B944-BC1C32081C08}" destId="{ADF34DA7-0744-4367-ABA8-B0A538536971}" srcOrd="0" destOrd="0" presId="urn:microsoft.com/office/officeart/2008/layout/LinedList"/>
    <dgm:cxn modelId="{66334017-AA13-4620-97AD-C80B4D2DAAF1}" type="presParOf" srcId="{A62D08A6-56A0-4CCE-B944-BC1C32081C08}" destId="{0DC61A59-F5F8-45C0-B310-DD238CBCACDC}" srcOrd="1" destOrd="0" presId="urn:microsoft.com/office/officeart/2008/layout/LinedList"/>
    <dgm:cxn modelId="{2A29FFF6-1675-4BCE-879F-B09274827AFA}" type="presParOf" srcId="{0DC61A59-F5F8-45C0-B310-DD238CBCACDC}" destId="{B0BDFEFB-6D49-4718-A284-B2A367C877E0}" srcOrd="0" destOrd="0" presId="urn:microsoft.com/office/officeart/2008/layout/LinedList"/>
    <dgm:cxn modelId="{4FFC3744-0A28-4411-A23E-EC4CD46421E4}" type="presParOf" srcId="{0DC61A59-F5F8-45C0-B310-DD238CBCACDC}" destId="{612F87CD-5855-4D75-8520-0D11A364EDF7}" srcOrd="1" destOrd="0" presId="urn:microsoft.com/office/officeart/2008/layout/LinedList"/>
    <dgm:cxn modelId="{5A50B5AC-7C2E-43B6-A03E-FC4776D9463B}" type="presParOf" srcId="{0DC61A59-F5F8-45C0-B310-DD238CBCACDC}" destId="{CD1FF444-8C5E-40C0-9FA6-75EC4AB3D77A}" srcOrd="2" destOrd="0" presId="urn:microsoft.com/office/officeart/2008/layout/LinedList"/>
    <dgm:cxn modelId="{4F6EB93F-0CD5-498D-81EE-56203C431ADD}" type="presParOf" srcId="{A62D08A6-56A0-4CCE-B944-BC1C32081C08}" destId="{482EE71B-1FB0-40BB-806D-EA9A3843B313}" srcOrd="2" destOrd="0" presId="urn:microsoft.com/office/officeart/2008/layout/LinedList"/>
    <dgm:cxn modelId="{341D4DCF-BF65-43DD-8814-D8C5542040E9}" type="presParOf" srcId="{A62D08A6-56A0-4CCE-B944-BC1C32081C08}" destId="{55142970-DD23-4B60-93AD-79ECDB93E349}" srcOrd="3" destOrd="0" presId="urn:microsoft.com/office/officeart/2008/layout/LinedList"/>
    <dgm:cxn modelId="{332E8180-A950-4D37-9F32-8C34143A5CB4}" type="presParOf" srcId="{A62D08A6-56A0-4CCE-B944-BC1C32081C08}" destId="{0A9A95F1-F523-4058-B460-8BA6B31050EE}" srcOrd="4" destOrd="0" presId="urn:microsoft.com/office/officeart/2008/layout/LinedList"/>
    <dgm:cxn modelId="{2EC4F1BF-F8FD-4811-9ECE-E3890E42DA12}" type="presParOf" srcId="{0A9A95F1-F523-4058-B460-8BA6B31050EE}" destId="{E319AB3A-F40D-43B0-95A7-B2D5FCB5A02D}" srcOrd="0" destOrd="0" presId="urn:microsoft.com/office/officeart/2008/layout/LinedList"/>
    <dgm:cxn modelId="{4A540448-B401-4A12-BC4C-0316C9EFE29C}" type="presParOf" srcId="{0A9A95F1-F523-4058-B460-8BA6B31050EE}" destId="{3FE0D26C-D06A-4410-A451-AC92FCED232C}" srcOrd="1" destOrd="0" presId="urn:microsoft.com/office/officeart/2008/layout/LinedList"/>
    <dgm:cxn modelId="{462D0D26-08A2-470B-98E8-27161B0F8C95}" type="presParOf" srcId="{0A9A95F1-F523-4058-B460-8BA6B31050EE}" destId="{CAA2EC53-D289-4E64-B1C8-3D808C4F9CBD}" srcOrd="2" destOrd="0" presId="urn:microsoft.com/office/officeart/2008/layout/LinedList"/>
    <dgm:cxn modelId="{2EC48C65-3519-42B8-BB2C-9D9CBC1527A9}" type="presParOf" srcId="{A62D08A6-56A0-4CCE-B944-BC1C32081C08}" destId="{25C03B55-95D9-4FE0-9AF1-DB785606863C}" srcOrd="5" destOrd="0" presId="urn:microsoft.com/office/officeart/2008/layout/LinedList"/>
    <dgm:cxn modelId="{31A45E0E-E72D-4F53-A08B-CCAA9C234E88}" type="presParOf" srcId="{A62D08A6-56A0-4CCE-B944-BC1C32081C08}" destId="{61E01C45-088A-4AA5-98AC-60784D298FC0}" srcOrd="6" destOrd="0" presId="urn:microsoft.com/office/officeart/2008/layout/LinedList"/>
    <dgm:cxn modelId="{DFD8A21F-D27D-4AC6-8B27-6596611D104D}" type="presParOf" srcId="{A62D08A6-56A0-4CCE-B944-BC1C32081C08}" destId="{F7BA0808-ACD9-4D0D-89C1-6BBEA925100A}" srcOrd="7" destOrd="0" presId="urn:microsoft.com/office/officeart/2008/layout/LinedList"/>
    <dgm:cxn modelId="{15C30620-6ECC-4C1D-87F2-00C5958D9E13}" type="presParOf" srcId="{F7BA0808-ACD9-4D0D-89C1-6BBEA925100A}" destId="{0A0A34ED-5B71-4ECC-9B4F-E07644820D91}" srcOrd="0" destOrd="0" presId="urn:microsoft.com/office/officeart/2008/layout/LinedList"/>
    <dgm:cxn modelId="{447D5351-CCBB-4E78-85B7-D03CC818AF1F}" type="presParOf" srcId="{F7BA0808-ACD9-4D0D-89C1-6BBEA925100A}" destId="{91C4D8EB-8E88-4223-937C-A23B1049348D}" srcOrd="1" destOrd="0" presId="urn:microsoft.com/office/officeart/2008/layout/LinedList"/>
    <dgm:cxn modelId="{FD7C7B25-BB76-4D24-9404-ACD6831D2800}" type="presParOf" srcId="{F7BA0808-ACD9-4D0D-89C1-6BBEA925100A}" destId="{17C2F185-3520-411F-85F2-D85DEBFA2E6B}" srcOrd="2" destOrd="0" presId="urn:microsoft.com/office/officeart/2008/layout/LinedList"/>
    <dgm:cxn modelId="{88CE3F55-829C-4519-9C4C-7087C952AB2B}" type="presParOf" srcId="{A62D08A6-56A0-4CCE-B944-BC1C32081C08}" destId="{DFD95A49-6E13-4479-9899-65D7813A8C3E}" srcOrd="8" destOrd="0" presId="urn:microsoft.com/office/officeart/2008/layout/LinedList"/>
    <dgm:cxn modelId="{A3D9784E-6387-43F1-B27A-945F62FBCC40}" type="presParOf" srcId="{A62D08A6-56A0-4CCE-B944-BC1C32081C08}" destId="{BAA19669-F1CA-4C58-A4E4-ACB1C8A11DF3}" srcOrd="9" destOrd="0" presId="urn:microsoft.com/office/officeart/2008/layout/LinedList"/>
    <dgm:cxn modelId="{8E390A68-1F75-4BEA-A9B5-7828053547EB}" type="presParOf" srcId="{A62D08A6-56A0-4CCE-B944-BC1C32081C08}" destId="{E89AC8A5-238E-4533-8733-6DF4EA774438}" srcOrd="10" destOrd="0" presId="urn:microsoft.com/office/officeart/2008/layout/LinedList"/>
    <dgm:cxn modelId="{5001D169-E525-423A-B54F-708B2A8729A7}" type="presParOf" srcId="{E89AC8A5-238E-4533-8733-6DF4EA774438}" destId="{35B946F5-D053-4025-BE6C-5F99F8DE3484}" srcOrd="0" destOrd="0" presId="urn:microsoft.com/office/officeart/2008/layout/LinedList"/>
    <dgm:cxn modelId="{24B68B6A-ED43-4A3E-BCCA-B43BB0FBE65F}" type="presParOf" srcId="{E89AC8A5-238E-4533-8733-6DF4EA774438}" destId="{53B81751-C420-4874-95E8-3EA2CED960AF}" srcOrd="1" destOrd="0" presId="urn:microsoft.com/office/officeart/2008/layout/LinedList"/>
    <dgm:cxn modelId="{736AD037-0D77-4C37-B0DD-A74B5954DC78}" type="presParOf" srcId="{E89AC8A5-238E-4533-8733-6DF4EA774438}" destId="{1E706854-79EF-4141-9697-81ACBC3AF1F7}" srcOrd="2" destOrd="0" presId="urn:microsoft.com/office/officeart/2008/layout/LinedList"/>
    <dgm:cxn modelId="{99ED5BEA-50C6-48E0-9FAF-465DAF44B354}" type="presParOf" srcId="{A62D08A6-56A0-4CCE-B944-BC1C32081C08}" destId="{ED6E751F-71E9-411A-8CF3-18BA032F921A}" srcOrd="11" destOrd="0" presId="urn:microsoft.com/office/officeart/2008/layout/LinedList"/>
    <dgm:cxn modelId="{9CF38677-2FDC-4B5B-B197-7815334DF222}" type="presParOf" srcId="{A62D08A6-56A0-4CCE-B944-BC1C32081C08}" destId="{0E792B22-581A-4707-871A-ABCC9710DFB9}" srcOrd="12" destOrd="0" presId="urn:microsoft.com/office/officeart/2008/layout/LinedList"/>
    <dgm:cxn modelId="{1E310A14-4783-48D3-ABEB-4FAE298E63DA}" type="presParOf" srcId="{A62D08A6-56A0-4CCE-B944-BC1C32081C08}" destId="{C2EC6B52-6077-4BB0-A295-EC9C1AAD624D}" srcOrd="13" destOrd="0" presId="urn:microsoft.com/office/officeart/2008/layout/LinedList"/>
    <dgm:cxn modelId="{F6D0B72B-4E95-42C6-942D-D2351D78EC05}" type="presParOf" srcId="{C2EC6B52-6077-4BB0-A295-EC9C1AAD624D}" destId="{7EA465C4-0B9D-44C8-AE26-A2FBF04CE80E}" srcOrd="0" destOrd="0" presId="urn:microsoft.com/office/officeart/2008/layout/LinedList"/>
    <dgm:cxn modelId="{BC7FF36B-B0CE-4275-AE90-DB078EAE70CA}" type="presParOf" srcId="{C2EC6B52-6077-4BB0-A295-EC9C1AAD624D}" destId="{05D4B853-BC4A-4447-88CC-DE4F018B5529}" srcOrd="1" destOrd="0" presId="urn:microsoft.com/office/officeart/2008/layout/LinedList"/>
    <dgm:cxn modelId="{15C339AD-FB3C-4779-A643-5406AE1A956B}" type="presParOf" srcId="{C2EC6B52-6077-4BB0-A295-EC9C1AAD624D}" destId="{E56F4B75-3CBD-4142-8312-5443918EA08C}" srcOrd="2" destOrd="0" presId="urn:microsoft.com/office/officeart/2008/layout/LinedList"/>
    <dgm:cxn modelId="{59789C76-EAA3-436A-B4BA-3DCBF0E8D3BF}" type="presParOf" srcId="{A62D08A6-56A0-4CCE-B944-BC1C32081C08}" destId="{B5DDAB02-999F-4111-A359-6C8D6D7BB1EF}" srcOrd="14" destOrd="0" presId="urn:microsoft.com/office/officeart/2008/layout/LinedList"/>
    <dgm:cxn modelId="{5F618F15-05FE-4249-92E4-CF0046CD9B60}" type="presParOf" srcId="{A62D08A6-56A0-4CCE-B944-BC1C32081C08}" destId="{B4A246F9-EC99-415E-8468-62D2913CD64C}" srcOrd="15" destOrd="0" presId="urn:microsoft.com/office/officeart/2008/layout/LinedList"/>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98B239-6770-495E-AF2D-7EC137F6DEB5}">
      <dsp:nvSpPr>
        <dsp:cNvPr id="0" name=""/>
        <dsp:cNvSpPr/>
      </dsp:nvSpPr>
      <dsp:spPr>
        <a:xfrm>
          <a:off x="0" y="0"/>
          <a:ext cx="6242393" cy="0"/>
        </a:xfrm>
        <a:prstGeom prst="line">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648599F-F304-432C-B508-CCBA3FDA565D}">
      <dsp:nvSpPr>
        <dsp:cNvPr id="0" name=""/>
        <dsp:cNvSpPr/>
      </dsp:nvSpPr>
      <dsp:spPr>
        <a:xfrm>
          <a:off x="0" y="0"/>
          <a:ext cx="1248478" cy="50604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a:t>Why did not FARSITE, Prometheus, or WRF-Fire</a:t>
          </a:r>
          <a:r>
            <a:rPr lang="tr-TR" sz="1600" b="1" kern="1200"/>
            <a:t> be used</a:t>
          </a:r>
          <a:r>
            <a:rPr lang="en-US" sz="1600" b="1" kern="1200"/>
            <a:t>? </a:t>
          </a:r>
          <a:endParaRPr lang="tr-TR" sz="1600" kern="1200"/>
        </a:p>
      </dsp:txBody>
      <dsp:txXfrm>
        <a:off x="0" y="0"/>
        <a:ext cx="1248478" cy="5060405"/>
      </dsp:txXfrm>
    </dsp:sp>
    <dsp:sp modelId="{612F87CD-5855-4D75-8520-0D11A364EDF7}">
      <dsp:nvSpPr>
        <dsp:cNvPr id="0" name=""/>
        <dsp:cNvSpPr/>
      </dsp:nvSpPr>
      <dsp:spPr>
        <a:xfrm>
          <a:off x="1342114" y="47688"/>
          <a:ext cx="4900278" cy="9537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i="1" kern="1200" dirty="0"/>
            <a:t>same seed, same fire: exact repeats for fair comparisons</a:t>
          </a:r>
        </a:p>
      </dsp:txBody>
      <dsp:txXfrm>
        <a:off x="1342114" y="47688"/>
        <a:ext cx="4900278" cy="953767"/>
      </dsp:txXfrm>
    </dsp:sp>
    <dsp:sp modelId="{482EE71B-1FB0-40BB-806D-EA9A3843B313}">
      <dsp:nvSpPr>
        <dsp:cNvPr id="0" name=""/>
        <dsp:cNvSpPr/>
      </dsp:nvSpPr>
      <dsp:spPr>
        <a:xfrm>
          <a:off x="1248478" y="1001456"/>
          <a:ext cx="4993914" cy="0"/>
        </a:xfrm>
        <a:prstGeom prst="line">
          <a:avLst/>
        </a:prstGeom>
        <a:solidFill>
          <a:schemeClr val="dk1">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FE0D26C-D06A-4410-A451-AC92FCED232C}">
      <dsp:nvSpPr>
        <dsp:cNvPr id="0" name=""/>
        <dsp:cNvSpPr/>
      </dsp:nvSpPr>
      <dsp:spPr>
        <a:xfrm>
          <a:off x="1342114" y="1049144"/>
          <a:ext cx="4900278" cy="9537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i="1" kern="1200" dirty="0"/>
            <a:t>fast enough for thousands of what-if runs</a:t>
          </a:r>
        </a:p>
      </dsp:txBody>
      <dsp:txXfrm>
        <a:off x="1342114" y="1049144"/>
        <a:ext cx="4900278" cy="953767"/>
      </dsp:txXfrm>
    </dsp:sp>
    <dsp:sp modelId="{25C03B55-95D9-4FE0-9AF1-DB785606863C}">
      <dsp:nvSpPr>
        <dsp:cNvPr id="0" name=""/>
        <dsp:cNvSpPr/>
      </dsp:nvSpPr>
      <dsp:spPr>
        <a:xfrm>
          <a:off x="1248478" y="2002912"/>
          <a:ext cx="4993914" cy="0"/>
        </a:xfrm>
        <a:prstGeom prst="line">
          <a:avLst/>
        </a:prstGeom>
        <a:solidFill>
          <a:schemeClr val="dk1">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1C4D8EB-8E88-4223-937C-A23B1049348D}">
      <dsp:nvSpPr>
        <dsp:cNvPr id="0" name=""/>
        <dsp:cNvSpPr/>
      </dsp:nvSpPr>
      <dsp:spPr>
        <a:xfrm>
          <a:off x="1342114" y="2050600"/>
          <a:ext cx="4900278" cy="9537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i="1" kern="1200" dirty="0"/>
            <a:t>interventions only through a fixed, checkable interface</a:t>
          </a:r>
        </a:p>
      </dsp:txBody>
      <dsp:txXfrm>
        <a:off x="1342114" y="2050600"/>
        <a:ext cx="4900278" cy="953767"/>
      </dsp:txXfrm>
    </dsp:sp>
    <dsp:sp modelId="{DFD95A49-6E13-4479-9899-65D7813A8C3E}">
      <dsp:nvSpPr>
        <dsp:cNvPr id="0" name=""/>
        <dsp:cNvSpPr/>
      </dsp:nvSpPr>
      <dsp:spPr>
        <a:xfrm>
          <a:off x="1248478" y="3004368"/>
          <a:ext cx="4993914" cy="0"/>
        </a:xfrm>
        <a:prstGeom prst="line">
          <a:avLst/>
        </a:prstGeom>
        <a:solidFill>
          <a:schemeClr val="dk1">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3B81751-C420-4874-95E8-3EA2CED960AF}">
      <dsp:nvSpPr>
        <dsp:cNvPr id="0" name=""/>
        <dsp:cNvSpPr/>
      </dsp:nvSpPr>
      <dsp:spPr>
        <a:xfrm>
          <a:off x="1342114" y="3052056"/>
          <a:ext cx="4900278" cy="9537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i="1" kern="1200" dirty="0"/>
            <a:t>fidelity validated: 86–94% agreement and POD 85–97%</a:t>
          </a:r>
        </a:p>
      </dsp:txBody>
      <dsp:txXfrm>
        <a:off x="1342114" y="3052056"/>
        <a:ext cx="4900278" cy="953767"/>
      </dsp:txXfrm>
    </dsp:sp>
    <dsp:sp modelId="{ED6E751F-71E9-411A-8CF3-18BA032F921A}">
      <dsp:nvSpPr>
        <dsp:cNvPr id="0" name=""/>
        <dsp:cNvSpPr/>
      </dsp:nvSpPr>
      <dsp:spPr>
        <a:xfrm>
          <a:off x="1248478" y="4005824"/>
          <a:ext cx="4993914" cy="0"/>
        </a:xfrm>
        <a:prstGeom prst="line">
          <a:avLst/>
        </a:prstGeom>
        <a:solidFill>
          <a:schemeClr val="dk1">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5D4B853-BC4A-4447-88CC-DE4F018B5529}">
      <dsp:nvSpPr>
        <dsp:cNvPr id="0" name=""/>
        <dsp:cNvSpPr/>
      </dsp:nvSpPr>
      <dsp:spPr>
        <a:xfrm>
          <a:off x="1342114" y="4053512"/>
          <a:ext cx="4900278" cy="9537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i="1" kern="1200" dirty="0"/>
            <a:t>a higher-fidelity core can be integrated, the DSS stays untouched</a:t>
          </a:r>
        </a:p>
      </dsp:txBody>
      <dsp:txXfrm>
        <a:off x="1342114" y="4053512"/>
        <a:ext cx="4900278" cy="953767"/>
      </dsp:txXfrm>
    </dsp:sp>
    <dsp:sp modelId="{B5DDAB02-999F-4111-A359-6C8D6D7BB1EF}">
      <dsp:nvSpPr>
        <dsp:cNvPr id="0" name=""/>
        <dsp:cNvSpPr/>
      </dsp:nvSpPr>
      <dsp:spPr>
        <a:xfrm>
          <a:off x="1248478" y="5007280"/>
          <a:ext cx="4993914" cy="0"/>
        </a:xfrm>
        <a:prstGeom prst="line">
          <a:avLst/>
        </a:prstGeom>
        <a:solidFill>
          <a:schemeClr val="dk1">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544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SPEECH (EN)</a:t>
            </a:r>
          </a:p>
          <a:p>
            <a:r>
              <a:t>Good morning.</a:t>
            </a:r>
          </a:p>
          <a:p>
            <a:r>
              <a:t>My name is Çağlar Akman.</a:t>
            </a:r>
          </a:p>
          <a:p>
            <a:r>
              <a:t>This is my PhD defense: DisasterAware, an AI-powered decision support system for wildfire response.</a:t>
            </a:r>
          </a:p>
          <a:p>
            <a:r>
              <a:t>In one sentence: it keeps the decision space open, so new actions can be created during a fire.</a:t>
            </a:r>
          </a:p>
          <a:p>
            <a:r>
              <a:t>And every decision stays verified and traceable.</a:t>
            </a:r>
          </a:p>
          <a:p>
            <a:endParaRPr/>
          </a:p>
          <a:p>
            <a:r>
              <a:rPr b="1"/>
              <a:t>KONUŞMA (TR)</a:t>
            </a:r>
          </a:p>
          <a:p>
            <a:r>
              <a:t>Günaydın.</a:t>
            </a:r>
          </a:p>
          <a:p>
            <a:r>
              <a:t>Ben Çağlar Akman.</a:t>
            </a:r>
          </a:p>
          <a:p>
            <a:r>
              <a:t>Bu doktora savunmam: DisasterAware, orman yangını müdahalesi için yapay zekâ destekli bir karar destek sistemi.</a:t>
            </a:r>
          </a:p>
          <a:p>
            <a:r>
              <a:t>Tek cümleyle: karar uzayını açık tutar, yangın sürerken yeni eylemler üretilebilir.</a:t>
            </a:r>
          </a:p>
          <a:p>
            <a:r>
              <a:t>Ve her karar doğrulanmış ve izlenebilir kalır.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SPEECH (EN)</a:t>
            </a:r>
          </a:p>
          <a:p>
            <a:r>
              <a:t>Let me show today's route. It follows the thesis argument.</a:t>
            </a:r>
          </a:p>
          <a:p>
            <a:r>
              <a:t>One: the problem and the gaps.</a:t>
            </a:r>
          </a:p>
          <a:p>
            <a:r>
              <a:t>Two: the simulation framework.</a:t>
            </a:r>
          </a:p>
          <a:p>
            <a:r>
              <a:t>Three: the DSS framework, four layers.</a:t>
            </a:r>
          </a:p>
          <a:p>
            <a:r>
              <a:t>Four: the open decision space. This is the main contribution.</a:t>
            </a:r>
          </a:p>
          <a:p>
            <a:r>
              <a:t>Five: the performance results.</a:t>
            </a:r>
          </a:p>
          <a:p>
            <a:r>
              <a:t>Then the demo and the conclusion.</a:t>
            </a:r>
          </a:p>
          <a:p>
            <a:endParaRPr/>
          </a:p>
          <a:p>
            <a:r>
              <a:rPr b="1"/>
              <a:t>KONUŞMA (TR)</a:t>
            </a:r>
          </a:p>
          <a:p>
            <a:r>
              <a:t>Bugünkü rota tezin argümanını izliyor.</a:t>
            </a:r>
          </a:p>
          <a:p>
            <a:r>
              <a:t>Bir: problem ve boşluklar.</a:t>
            </a:r>
          </a:p>
          <a:p>
            <a:r>
              <a:t>İki: simülasyon çerçevesi.</a:t>
            </a:r>
          </a:p>
          <a:p>
            <a:r>
              <a:t>Üç: dört katmanlı DSS çerçevesi.</a:t>
            </a:r>
          </a:p>
          <a:p>
            <a:r>
              <a:t>Dört: açık karar uzayı. Ana katkı bu.</a:t>
            </a:r>
          </a:p>
          <a:p>
            <a:r>
              <a:t>Beş: performans sonuçları.</a:t>
            </a:r>
          </a:p>
          <a:p>
            <a:r>
              <a:t>Sonra demo ve sonuç.</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SPEECH (EN)</a:t>
            </a:r>
          </a:p>
          <a:p>
            <a:r>
              <a:t>Let me start with why this problem matters.</a:t>
            </a:r>
          </a:p>
          <a:p>
            <a:endParaRPr/>
          </a:p>
          <a:p>
            <a:r>
              <a:rPr b="1"/>
              <a:t>KONUŞMA (TR)</a:t>
            </a:r>
          </a:p>
          <a:p>
            <a:r>
              <a:t>Bu problem neden önemli, onunla başlayayım.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6449913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DECA6-C81C-E58F-AAE5-FE48E26343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4EB24C-3365-6CA2-83D4-7C50BFC4B4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692E38-163F-9AE1-A688-FEFAFE003448}"/>
              </a:ext>
            </a:extLst>
          </p:cNvPr>
          <p:cNvSpPr>
            <a:spLocks noGrp="1"/>
          </p:cNvSpPr>
          <p:nvPr>
            <p:ph type="body" idx="1"/>
          </p:nvPr>
        </p:nvSpPr>
        <p:spPr/>
        <p:txBody>
          <a:bodyPr/>
          <a:lstStyle/>
          <a:p>
            <a:r>
              <a:rPr b="1"/>
              <a:t>SPEECH (EN)</a:t>
            </a:r>
          </a:p>
          <a:p>
            <a:r>
              <a:t>First, the motivation.</a:t>
            </a:r>
          </a:p>
          <a:p>
            <a:r>
              <a:t>I have worked on several EU projects: TeamAware, HIVEMIND and a maritime surveillance platform.</a:t>
            </a:r>
          </a:p>
          <a:p>
            <a:r>
              <a:t>All of them needed the same thing: an AI-enhanced decision support system.</a:t>
            </a:r>
          </a:p>
          <a:p>
            <a:r>
              <a:t>These projects are funded, so the need is real.</a:t>
            </a:r>
          </a:p>
          <a:p>
            <a:r>
              <a:t>The diagrams show the common shape: many sensors, a secure communication layer, and decision support on top.</a:t>
            </a:r>
          </a:p>
          <a:p>
            <a:r>
              <a:t>On the right you see reported disasters from 1970 to 2024.</a:t>
            </a:r>
          </a:p>
          <a:p>
            <a:r>
              <a:t>The number keeps rising, and weather and climate events dominate the rise.</a:t>
            </a:r>
          </a:p>
          <a:p>
            <a:r>
              <a:t>Among them, wildfire is the fastest moving one.</a:t>
            </a:r>
          </a:p>
          <a:p>
            <a:r>
              <a:t>For the last two years I have focused on wildfire management.</a:t>
            </a:r>
          </a:p>
          <a:p>
            <a:endParaRPr/>
          </a:p>
          <a:p>
            <a:r>
              <a:rPr b="1"/>
              <a:t>KONUŞMA (TR)</a:t>
            </a:r>
          </a:p>
          <a:p>
            <a:r>
              <a:t>Önce motivasyon.</a:t>
            </a:r>
          </a:p>
          <a:p>
            <a:r>
              <a:t>Birkaç AB projesinde çalıştım: TeamAware, HIVEMIND ve bir denizcilik gözetim platformu.</a:t>
            </a:r>
          </a:p>
          <a:p>
            <a:r>
              <a:t>Hepsinin ihtiyacı aynıydı: yapay zekâ destekli bir karar destek sistemi.</a:t>
            </a:r>
          </a:p>
          <a:p>
            <a:r>
              <a:t>Bu projeler fonlanıyor, yani ihtiyaç gerçek.</a:t>
            </a:r>
          </a:p>
          <a:p>
            <a:r>
              <a:t>Şemalar ortak yapıyı gösteriyor: çok sensör, güvenli iletişim katmanı, üstte karar desteği.</a:t>
            </a:r>
          </a:p>
          <a:p>
            <a:r>
              <a:t>Sağda 1970-2024 arasında rapor edilen afetler var.</a:t>
            </a:r>
          </a:p>
          <a:p>
            <a:r>
              <a:t>Sayı sürekli artıyor ve artışta hava ve iklim olayları baskın.</a:t>
            </a:r>
          </a:p>
          <a:p>
            <a:r>
              <a:t>İçlerinde en hızlı gelişeni orman yangını.</a:t>
            </a:r>
          </a:p>
          <a:p>
            <a:r>
              <a:t>Son iki yıldır orman yangını yönetimine odaklandım.</a:t>
            </a:r>
          </a:p>
        </p:txBody>
      </p:sp>
      <p:sp>
        <p:nvSpPr>
          <p:cNvPr id="4" name="Slide Number Placeholder 3">
            <a:extLst>
              <a:ext uri="{FF2B5EF4-FFF2-40B4-BE49-F238E27FC236}">
                <a16:creationId xmlns:a16="http://schemas.microsoft.com/office/drawing/2014/main" id="{9137B970-3BCD-6C92-FD56-1A9B87BE7B0B}"/>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2313807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CCFC6-5CF2-D8F0-7DD9-4789783DE8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D152EC-E964-1EC2-7B50-5EB2A4256B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E7E1E7-38FC-D659-2608-DC514E936F57}"/>
              </a:ext>
            </a:extLst>
          </p:cNvPr>
          <p:cNvSpPr>
            <a:spLocks noGrp="1"/>
          </p:cNvSpPr>
          <p:nvPr>
            <p:ph type="body" idx="1"/>
          </p:nvPr>
        </p:nvSpPr>
        <p:spPr/>
        <p:txBody>
          <a:bodyPr/>
          <a:lstStyle/>
          <a:p>
            <a:r>
              <a:rPr b="1"/>
              <a:t>SPEECH (EN)</a:t>
            </a:r>
          </a:p>
          <a:p>
            <a:r>
              <a:t>In this slide I show why I chose wildfire.</a:t>
            </a:r>
          </a:p>
          <a:p>
            <a:r>
              <a:t>Two axes: how fast the situation changes, and how incomplete the picture is.</a:t>
            </a:r>
          </a:p>
          <a:p>
            <a:r>
              <a:t>Industrial accident: fixed in place.</a:t>
            </a:r>
          </a:p>
          <a:p>
            <a:r>
              <a:t>Flood: follows the terrain, forecasts bound its path.</a:t>
            </a:r>
          </a:p>
          <a:p>
            <a:r>
              <a:t>Hurricane: tracked days ahead.</a:t>
            </a:r>
          </a:p>
          <a:p>
            <a:r>
              <a:t>Wildfire sits in the top right corner.</a:t>
            </a:r>
          </a:p>
          <a:p>
            <a:r>
              <a:t>The front moves with every wind shift. Observation is partial and delayed.</a:t>
            </a:r>
          </a:p>
          <a:p>
            <a:r>
              <a:t>A wildfire decision has minutes, not hours.</a:t>
            </a:r>
          </a:p>
          <a:p>
            <a:r>
              <a:t>So decisions must be generated, not looked up.</a:t>
            </a:r>
          </a:p>
          <a:p>
            <a:r>
              <a:t>The same properties make it a dual-use case for the defence sector.</a:t>
            </a:r>
          </a:p>
          <a:p>
            <a:endParaRPr/>
          </a:p>
          <a:p>
            <a:r>
              <a:rPr b="1"/>
              <a:t>KONUŞMA (TR)</a:t>
            </a:r>
          </a:p>
          <a:p>
            <a:r>
              <a:t>Bu slaytta orman yangınını neden seçtiğimi gösteriyorum.</a:t>
            </a:r>
          </a:p>
          <a:p>
            <a:r>
              <a:t>İki eksen: durum ne kadar hızlı değişiyor, resim ne kadar eksik.</a:t>
            </a:r>
          </a:p>
          <a:p>
            <a:r>
              <a:t>Endüstriyel kaza: yerinde sabit.</a:t>
            </a:r>
          </a:p>
          <a:p>
            <a:r>
              <a:t>Sel: araziyi izler, tahminler yolunu sınırlar.</a:t>
            </a:r>
          </a:p>
          <a:p>
            <a:r>
              <a:t>Kasırga: günler önceden izlenir.</a:t>
            </a:r>
          </a:p>
          <a:p>
            <a:r>
              <a:t>Orman yangını sağ üst köşede.</a:t>
            </a:r>
          </a:p>
          <a:p>
            <a:r>
              <a:t>Cephe her rüzgâr değişiminde hareket eder. Gözlem kısmi ve gecikmeli.</a:t>
            </a:r>
          </a:p>
          <a:p>
            <a:r>
              <a:t>Bir yangın kararı için saatler değil dakikalar vardır.</a:t>
            </a:r>
          </a:p>
          <a:p>
            <a:r>
              <a:t>Bu yüzden kararlar aranıp bulunmaz, üretilmek zorundadır.</a:t>
            </a:r>
          </a:p>
          <a:p>
            <a:r>
              <a:t>Aynı özellikler bunu savunma için de çift kullanımlı bir vaka yapar.</a:t>
            </a:r>
          </a:p>
        </p:txBody>
      </p:sp>
      <p:sp>
        <p:nvSpPr>
          <p:cNvPr id="4" name="Slide Number Placeholder 3">
            <a:extLst>
              <a:ext uri="{FF2B5EF4-FFF2-40B4-BE49-F238E27FC236}">
                <a16:creationId xmlns:a16="http://schemas.microsoft.com/office/drawing/2014/main" id="{9E0A7B6A-7084-5959-CD7B-5E0F7453E525}"/>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8899871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8AA7D-77C0-8FCC-B99D-42A9B24093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86B11C-0224-20A5-89A1-DEACD148B0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19D0D2-BBB5-DD89-148B-2A38299993F5}"/>
              </a:ext>
            </a:extLst>
          </p:cNvPr>
          <p:cNvSpPr>
            <a:spLocks noGrp="1"/>
          </p:cNvSpPr>
          <p:nvPr>
            <p:ph type="body" idx="1"/>
          </p:nvPr>
        </p:nvSpPr>
        <p:spPr/>
        <p:txBody>
          <a:bodyPr/>
          <a:lstStyle/>
          <a:p>
            <a:r>
              <a:rPr b="1"/>
              <a:t>SPEECH (EN)</a:t>
            </a:r>
          </a:p>
          <a:p>
            <a:r>
              <a:t>Today's systems use a closed decision space.</a:t>
            </a:r>
          </a:p>
          <a:p>
            <a:r>
              <a:t>Read the situation, pick the closest action from a fixed menu, actions A to D.</a:t>
            </a:r>
          </a:p>
          <a:p>
            <a:r>
              <a:t>The menu was written before the fire.</a:t>
            </a:r>
          </a:p>
          <a:p>
            <a:r>
              <a:t>A novel situation (a wind shift, a spot fire) has no match.</a:t>
            </a:r>
          </a:p>
          <a:p>
            <a:r>
              <a:t>Three operational facts:</a:t>
            </a:r>
          </a:p>
          <a:p>
            <a:r>
              <a:t>Fire moves faster than a fixed plan.</a:t>
            </a:r>
          </a:p>
          <a:p>
            <a:r>
              <a:t>Observations are incomplete, delayed, and uncertain.</a:t>
            </a:r>
          </a:p>
          <a:p>
            <a:r>
              <a:t>The commander needs a defensible order within the cycle.</a:t>
            </a:r>
          </a:p>
          <a:p>
            <a:r>
              <a:t>And one gap: existing systems confirm decisions, they do not generate or adapt them.</a:t>
            </a:r>
          </a:p>
          <a:p>
            <a:r>
              <a:t>A fixed menu cannot answer an evolving fire.</a:t>
            </a:r>
          </a:p>
          <a:p>
            <a:r>
              <a:t>So the question is: can a DSS keep its decision space open, its reasoning traceable, and its tempo operational, all at once?</a:t>
            </a:r>
          </a:p>
          <a:p>
            <a:endParaRPr/>
          </a:p>
          <a:p>
            <a:r>
              <a:rPr b="1"/>
              <a:t>KONUŞMA (TR)</a:t>
            </a:r>
          </a:p>
          <a:p>
            <a:r>
              <a:t>Bugünün sistemleri kapalı karar uzayı kullanır.</a:t>
            </a:r>
          </a:p>
          <a:p>
            <a:r>
              <a:t>Durumu oku, sabit menüden en yakın eylemi seç, A'dan D'ye.</a:t>
            </a:r>
          </a:p>
          <a:p>
            <a:r>
              <a:t>Menü yangından önce yazılmış.</a:t>
            </a:r>
          </a:p>
          <a:p>
            <a:r>
              <a:t>Yeni bir durumun (rüzgâr dönmesi, sıçrama yangını) eşleşmesi yok.</a:t>
            </a:r>
          </a:p>
          <a:p>
            <a:r>
              <a:t>Üç operasyonel gerçek:</a:t>
            </a:r>
          </a:p>
          <a:p>
            <a:r>
              <a:t>Yangın sabit plandan hızlı hareket eder.</a:t>
            </a:r>
          </a:p>
          <a:p>
            <a:r>
              <a:t>Gözlemler eksik, gecikmeli ve belirsiz.</a:t>
            </a:r>
          </a:p>
          <a:p>
            <a:r>
              <a:t>Komutan çevrim içinde savunulabilir bir emir ister.</a:t>
            </a:r>
          </a:p>
          <a:p>
            <a:r>
              <a:t>Ve bir boşluk: mevcut sistemler kararı onaylar, üretmez ve uyarlamaz.</a:t>
            </a:r>
          </a:p>
          <a:p>
            <a:r>
              <a:t>Sabit bir menü evrilen bir yangına cevap veremez.</a:t>
            </a:r>
          </a:p>
          <a:p>
            <a:r>
              <a:t>Soru şu: bir DSS karar uzayını açık, akıl yürütmesini izlenebilir, temposunu operasyonel tutabilir mi, hem de aynı anda?</a:t>
            </a:r>
          </a:p>
        </p:txBody>
      </p:sp>
      <p:sp>
        <p:nvSpPr>
          <p:cNvPr id="4" name="Slide Number Placeholder 3">
            <a:extLst>
              <a:ext uri="{FF2B5EF4-FFF2-40B4-BE49-F238E27FC236}">
                <a16:creationId xmlns:a16="http://schemas.microsoft.com/office/drawing/2014/main" id="{03417A3F-6303-ECD9-E829-D146F579D8E1}"/>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7401227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SPEECH (EN)</a:t>
            </a:r>
          </a:p>
          <a:p>
            <a:r>
              <a:t>Three gaps, three hypotheses, three contributions.</a:t>
            </a:r>
          </a:p>
          <a:p>
            <a:r>
              <a:t>Gap one: closed decision spaces.</a:t>
            </a:r>
          </a:p>
          <a:p>
            <a:r>
              <a:t>Answer C1: an open, concept-driven decision space. Ten features map to five concepts. The rule base evolves in three stages. Every change sits behind verification gates.</a:t>
            </a:r>
          </a:p>
          <a:p>
            <a:r>
              <a:t>Gap two: uncertainty is not represented.</a:t>
            </a:r>
          </a:p>
          <a:p>
            <a:r>
              <a:t>Answer C2: every feature carries a confidence. Confidence gates the concept activation. Every order traces to concepts, rules and confidences.</a:t>
            </a:r>
          </a:p>
          <a:p>
            <a:r>
              <a:t>Gap three: simulation and decision cores are fused.</a:t>
            </a:r>
          </a:p>
          <a:p>
            <a:r>
              <a:t>Answer C3: strictly separated cores. The simulation core is validated on real fires. It is coupled only through a typed interface.</a:t>
            </a:r>
          </a:p>
          <a:p>
            <a:endParaRPr/>
          </a:p>
          <a:p>
            <a:r>
              <a:rPr b="1"/>
              <a:t>KONUŞMA (TR)</a:t>
            </a:r>
          </a:p>
          <a:p>
            <a:r>
              <a:t>Üç boşluk, üç hipotez, üç katkı.</a:t>
            </a:r>
          </a:p>
          <a:p>
            <a:r>
              <a:t>Birinci boşluk: kapalı karar uzayları.</a:t>
            </a:r>
          </a:p>
          <a:p>
            <a:r>
              <a:t>Cevap C1: açık, kavram güdümlü karar uzayı. On özellik beş kavrama iner. Kural tabanı üç aşamada evrilir. Her değişiklik doğrulama kapılarının ardında.</a:t>
            </a:r>
          </a:p>
          <a:p>
            <a:r>
              <a:t>İkinci boşluk: belirsizlik temsil edilmiyor.</a:t>
            </a:r>
          </a:p>
          <a:p>
            <a:r>
              <a:t>Cevap C2: her özellik bir güven taşır. Güven, kavram aktivasyonunu kapılar. Her emir kavramlara, kurallara ve güvenlere izlenir.</a:t>
            </a:r>
          </a:p>
          <a:p>
            <a:r>
              <a:t>Üçüncü boşluk: simülasyon ve karar çekirdekleri iç içe.</a:t>
            </a:r>
          </a:p>
          <a:p>
            <a:r>
              <a:t>Cevap C3: kesin ayrılmış çekirdekler. Simülasyon çekirdeği gerçek yangınlarda doğrulandı. Yalnızca tipli bir arayüzle bağlı.</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b="1"/>
              <a:t>SPEECH (EN)</a:t>
            </a:r>
          </a:p>
          <a:p>
            <a:r>
              <a:t>Here is what you will hear, in order.</a:t>
            </a:r>
          </a:p>
          <a:p>
            <a:r>
              <a:t>One: the simulation framework. A cellular fire-spread core, validated on real fires.</a:t>
            </a:r>
          </a:p>
          <a:p>
            <a:r>
              <a:t>Two: the DSS framework. One agent, four layers.</a:t>
            </a:r>
          </a:p>
          <a:p>
            <a:r>
              <a:t>Three: the fuzzy inference. Five decision concepts, Takagi-Sugeno rules, cost and quality tests.</a:t>
            </a:r>
          </a:p>
          <a:p>
            <a:r>
              <a:t>Four: the open decision space. Rules tune themselves and grow. An LLM proposes new ones, all behind nine gates.</a:t>
            </a:r>
          </a:p>
          <a:p>
            <a:r>
              <a:t>Five: the evidence.</a:t>
            </a:r>
          </a:p>
          <a:p>
            <a:r>
              <a:t>Then the conclusion and your questions.</a:t>
            </a:r>
          </a:p>
          <a:p>
            <a:endParaRPr/>
          </a:p>
          <a:p>
            <a:r>
              <a:rPr b="1"/>
              <a:t>KONUŞMA (TR)</a:t>
            </a:r>
          </a:p>
          <a:p>
            <a:r>
              <a:t>Sırasıyla neler dinleyeceksiniz.</a:t>
            </a:r>
          </a:p>
          <a:p>
            <a:r>
              <a:t>Bir: simülasyon çerçevesi. Gerçek yangınlarda doğrulanmış hücresel bir yangın yayılım çekirdeği.</a:t>
            </a:r>
          </a:p>
          <a:p>
            <a:r>
              <a:t>İki: DSS çerçevesi. Bir ajan, dört katman.</a:t>
            </a:r>
          </a:p>
          <a:p>
            <a:r>
              <a:t>Üç: bulanık çıkarım. Beş karar kavramı, Takagi-Sugeno kuralları, maliyet ve kalite testleri.</a:t>
            </a:r>
          </a:p>
          <a:p>
            <a:r>
              <a:t>Dört: açık karar uzayı. Kurallar kendini ayarlar ve büyür. Bir LLM yeni kurallar önerir, hepsi dokuz kapının ardında.</a:t>
            </a:r>
          </a:p>
          <a:p>
            <a:r>
              <a:t>Beş: kanıt.</a:t>
            </a:r>
          </a:p>
          <a:p>
            <a:r>
              <a:t>Sonra sonuç ve sorularınız.</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SPEECH (EN)</a:t>
            </a:r>
          </a:p>
          <a:p>
            <a:r>
              <a:t>Part one: the simulation framework. The machine that produces the ground truth.</a:t>
            </a:r>
          </a:p>
          <a:p>
            <a:endParaRPr/>
          </a:p>
          <a:p>
            <a:r>
              <a:rPr b="1"/>
              <a:t>KONUŞMA (TR)</a:t>
            </a:r>
          </a:p>
          <a:p>
            <a:r>
              <a:t>Birinci bölüm: simülasyon çerçevesi. Zemin gerçeğini üreten makine.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SPEECH (EN)</a:t>
            </a:r>
          </a:p>
          <a:p>
            <a:r>
              <a:t>Two cores.</a:t>
            </a:r>
          </a:p>
          <a:p>
            <a:r>
              <a:t>The simulation core, in red, owns the physics.</a:t>
            </a:r>
          </a:p>
          <a:p>
            <a:r>
              <a:t>The DSS core, in green, only observes and orders. One arrow each way.</a:t>
            </a:r>
          </a:p>
          <a:p>
            <a:r>
              <a:t>External sources feed the physics: weather, terrain, fuel. And the DSS: values at risk and resources.</a:t>
            </a:r>
          </a:p>
          <a:p>
            <a:r>
              <a:t>Why not FARSITE, Prometheus or WRF-Fire?</a:t>
            </a:r>
          </a:p>
          <a:p>
            <a:r>
              <a:t>Same seed, same fire: exact repeats for fair comparisons.</a:t>
            </a:r>
          </a:p>
          <a:p>
            <a:r>
              <a:t>Fast enough for thousands of what-if runs.</a:t>
            </a:r>
          </a:p>
          <a:p>
            <a:r>
              <a:t>Interventions only through a fixed, checkable interface.</a:t>
            </a:r>
          </a:p>
          <a:p>
            <a:r>
              <a:t>Fidelity is still validated: 86 to 94 percent agreement.</a:t>
            </a:r>
          </a:p>
          <a:p>
            <a:r>
              <a:t>And a higher-fidelity core can be plugged in later. The DSS stays untouched.</a:t>
            </a:r>
          </a:p>
          <a:p>
            <a:endParaRPr/>
          </a:p>
          <a:p>
            <a:r>
              <a:rPr b="1"/>
              <a:t>KONUŞMA (TR)</a:t>
            </a:r>
          </a:p>
          <a:p>
            <a:r>
              <a:t>İki çekirdek.</a:t>
            </a:r>
          </a:p>
          <a:p>
            <a:r>
              <a:t>Kırmızı simülasyon çekirdeği fiziğin sahibi.</a:t>
            </a:r>
          </a:p>
          <a:p>
            <a:r>
              <a:t>Yeşil DSS çekirdeği yalnızca gözler ve emir verir. Her yönde tek ok.</a:t>
            </a:r>
          </a:p>
          <a:p>
            <a:r>
              <a:t>Dış kaynaklar fiziği besler: hava, arazi, yakıt. DSS'i de: risk altındaki değerler ve kaynaklar.</a:t>
            </a:r>
          </a:p>
          <a:p>
            <a:r>
              <a:t>Neden FARSITE, Prometheus ya da WRF-Fire değil?</a:t>
            </a:r>
          </a:p>
          <a:p>
            <a:r>
              <a:t>Aynı tohum, aynı yangın: adil karşılaştırma için birebir tekrar.</a:t>
            </a:r>
          </a:p>
          <a:p>
            <a:r>
              <a:t>Binlerce hızlı 'ya şöyle olsaydı' koşusu.</a:t>
            </a:r>
          </a:p>
          <a:p>
            <a:r>
              <a:t>Müdahaleler yalnızca sabit, denetlenebilir bir arayüzden.</a:t>
            </a:r>
          </a:p>
          <a:p>
            <a:r>
              <a:t>Sadakat yine de doğrulandı: yüzde 86-94 uyum.</a:t>
            </a:r>
          </a:p>
          <a:p>
            <a:r>
              <a:t>İleride daha yüksek sadakatli bir çekirdek takılabilir. DSS'e dokunmak gerekmez.</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6858256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SPEECH (EN)</a:t>
            </a:r>
          </a:p>
          <a:p>
            <a:r>
              <a:t>Let me show the input field.</a:t>
            </a:r>
          </a:p>
          <a:p>
            <a:r>
              <a:t>The next state of a cell is a function Φ of the current state and the input field.</a:t>
            </a:r>
          </a:p>
          <a:p>
            <a:r>
              <a:t>The input field has five members. This is the only door into the physics.</a:t>
            </a:r>
          </a:p>
          <a:p>
            <a:r>
              <a:t>Meteorology: temperature, humidity, wind, precipitation. Wind is the main driver.</a:t>
            </a:r>
          </a:p>
          <a:p>
            <a:r>
              <a:t>Topography: elevation, slope, aspect, access. Slope speeds uphill spread.</a:t>
            </a:r>
          </a:p>
          <a:p>
            <a:r>
              <a:t>Fuel: type, load and moisture.</a:t>
            </a:r>
          </a:p>
          <a:p>
            <a:r>
              <a:t>Ignition injection.</a:t>
            </a:r>
          </a:p>
          <a:p>
            <a:r>
              <a:t>And the fielded decision: capacity, travel time, efficiency, availability.</a:t>
            </a:r>
          </a:p>
          <a:p>
            <a:r>
              <a:t>That last one is the only channel through which the DSS touches the world.</a:t>
            </a:r>
          </a:p>
          <a:p>
            <a:r>
              <a:t>The table lists each parameter with its unit and its role.</a:t>
            </a:r>
          </a:p>
          <a:p>
            <a:endParaRPr/>
          </a:p>
          <a:p>
            <a:r>
              <a:rPr b="1"/>
              <a:t>KONUŞMA (TR)</a:t>
            </a:r>
          </a:p>
          <a:p>
            <a:r>
              <a:t>Girdi alanını göstereyim.</a:t>
            </a:r>
          </a:p>
          <a:p>
            <a:r>
              <a:t>Bir hücrenin bir sonraki durumu, mevcut durumun ve girdi alanının Φ fonksiyonu.</a:t>
            </a:r>
          </a:p>
          <a:p>
            <a:r>
              <a:t>Girdi alanının beş üyesi var. Fiziğe açılan tek kapı bu.</a:t>
            </a:r>
          </a:p>
          <a:p>
            <a:r>
              <a:t>Meteoroloji: sıcaklık, nem, rüzgâr, yağış. Ana sürücü rüzgâr.</a:t>
            </a:r>
          </a:p>
          <a:p>
            <a:r>
              <a:t>Topografya: yükseklik, eğim, bakı, erişim. Eğim yokuş yukarı yayılımı hızlandırır.</a:t>
            </a:r>
          </a:p>
          <a:p>
            <a:r>
              <a:t>Yakıt: tür, yük ve nem.</a:t>
            </a:r>
          </a:p>
          <a:p>
            <a:r>
              <a:t>Tutuşturma enjeksiyonu.</a:t>
            </a:r>
          </a:p>
          <a:p>
            <a:r>
              <a:t>Ve sahaya inen karar: kapasite, ulaşım süresi, verim, kullanılabilirlik.</a:t>
            </a:r>
          </a:p>
          <a:p>
            <a:r>
              <a:t>Bu sonuncusu DSS'in dünyaya dokunduğu tek kanal.</a:t>
            </a:r>
          </a:p>
          <a:p>
            <a:r>
              <a:t>Tablo her parametreyi birimi ve rolüyle listeliyor.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5378140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SPEECH (EN)</a:t>
            </a:r>
          </a:p>
          <a:p>
            <a:r>
              <a:t>The discretized world is a grid of cells.</a:t>
            </a:r>
          </a:p>
          <a:p>
            <a:r>
              <a:t>Each cell has four states: burning status, fuel mass, fire intensity, time since ignition.</a:t>
            </a:r>
          </a:p>
          <a:p>
            <a:r>
              <a:t>One operator Φ applies four evolutions, once per step.</a:t>
            </a:r>
          </a:p>
          <a:p>
            <a:r>
              <a:t>Burning: persistence plus propagation plus injection.</a:t>
            </a:r>
          </a:p>
          <a:p>
            <a:r>
              <a:t>Fuel: combustion minus suppression, floored at zero.</a:t>
            </a:r>
          </a:p>
          <a:p>
            <a:r>
              <a:t>Intensity: fuel, wind and slope, bounded.</a:t>
            </a:r>
          </a:p>
          <a:p>
            <a:r>
              <a:t>Ignition time: reset, advance, clear.</a:t>
            </a:r>
          </a:p>
          <a:p>
            <a:r>
              <a:t>Deterministic given the seed. So the same world can be replayed under different decisions.</a:t>
            </a:r>
          </a:p>
          <a:p>
            <a:endParaRPr/>
          </a:p>
          <a:p>
            <a:r>
              <a:rPr b="1"/>
              <a:t>KONUŞMA (TR)</a:t>
            </a:r>
          </a:p>
          <a:p>
            <a:r>
              <a:t>Ayrıklaştırılmış dünya bir hücre ızgarası.</a:t>
            </a:r>
          </a:p>
          <a:p>
            <a:r>
              <a:t>Her hücrenin dört durumu var: yanma durumu, yakıt kütlesi, yangın şiddeti, tutuşmadan beri süre.</a:t>
            </a:r>
          </a:p>
          <a:p>
            <a:r>
              <a:t>Tek operatör Φ, adımda bir kez dört evrim uygular.</a:t>
            </a:r>
          </a:p>
          <a:p>
            <a:r>
              <a:t>Yanma: sürme artı yayılım artı enjeksiyon.</a:t>
            </a:r>
          </a:p>
          <a:p>
            <a:r>
              <a:t>Yakıt: yanma eksi bastırma, sıfırda tabanlanır.</a:t>
            </a:r>
          </a:p>
          <a:p>
            <a:r>
              <a:t>Şiddet: yakıt, rüzgâr ve eğim, sınırlı.</a:t>
            </a:r>
          </a:p>
          <a:p>
            <a:r>
              <a:t>Tutuşma zamanı: sıfırla, ilerlet, temizle.</a:t>
            </a:r>
          </a:p>
          <a:p>
            <a:r>
              <a:t>Tohum verilince deterministik. Aynı dünya farklı kararlarla yeniden oynatılabilir.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5985534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SPEECH (EN)</a:t>
            </a:r>
          </a:p>
          <a:p>
            <a:r>
              <a:t>This slide has the four evolutions. Let me go fast.</a:t>
            </a:r>
          </a:p>
          <a:p>
            <a:r>
              <a:t>Top equation: a cell burns next step if it persists, fire arrives, an ember lands, or an ignition is injected.</a:t>
            </a:r>
          </a:p>
          <a:p>
            <a:r>
              <a:t>Left, persistence: deterministic. Fuel above threshold and moisture below extinction keeps it burning. Rain or fuel exhaustion puts it out.</a:t>
            </a:r>
          </a:p>
          <a:p>
            <a:r>
              <a:t>Propagation: stochastic and wind driven. Each burning neighbour adds spread rate times a direction factor. Upwind pushes, downwind clips to zero. Over the threshold, the cell ignites.</a:t>
            </a:r>
          </a:p>
          <a:p>
            <a:r>
              <a:t>Ember spotting: when hot and dry, an ember flies six cells downwind with probability 0.02.</a:t>
            </a:r>
          </a:p>
          <a:p>
            <a:r>
              <a:t>Right, fuel: it only falls. Suppression acts only by reducing fuel, scaled by capacity, availability, travel time and access.</a:t>
            </a:r>
          </a:p>
          <a:p>
            <a:r>
              <a:t>Intensity: a bounded mix of fuel, wind and slope. A priority signal, not flame physics.</a:t>
            </a:r>
          </a:p>
          <a:p>
            <a:r>
              <a:t>Time since ignition: reset on ignition, advance while burning, clear on extinction.</a:t>
            </a:r>
          </a:p>
          <a:p>
            <a:r>
              <a:t>Rothermel lives inside Ψ. Details are in Appendix A.</a:t>
            </a:r>
          </a:p>
          <a:p>
            <a:endParaRPr/>
          </a:p>
          <a:p>
            <a:r>
              <a:rPr b="1"/>
              <a:t>KONUŞMA (TR)</a:t>
            </a:r>
          </a:p>
          <a:p>
            <a:r>
              <a:t>Bu slaytta dört evrim var. Hızlı geçeyim.</a:t>
            </a:r>
          </a:p>
          <a:p>
            <a:r>
              <a:t>Üst denklem: bir hücre sürerse, ateş gelirse, kor düşerse ya da tutuşturma enjekte edilirse bir sonraki adımda yanar.</a:t>
            </a:r>
          </a:p>
          <a:p>
            <a:r>
              <a:t>Solda sürme: deterministik. Yakıt eşiğin üstünde ve nem sönme değerinin altındaysa yanmaya devam eder. Yağmur ya da yakıt tükenmesi söndürür.</a:t>
            </a:r>
          </a:p>
          <a:p>
            <a:r>
              <a:t>Yayılım: rastgele ve rüzgâr güdümlü. Yanan her komşu yayılım hızı çarpı yön faktörü katar. Rüzgâr üstü iter, rüzgâr altı sıfıra kırpılır. Eşik aşılınca hücre tutuşur.</a:t>
            </a:r>
          </a:p>
          <a:p>
            <a:r>
              <a:t>Kor sıçraması: sıcak ve kuruysa, 0.02 olasılıkla kor altı hücre rüzgâr altına uçar.</a:t>
            </a:r>
          </a:p>
          <a:p>
            <a:r>
              <a:t>Sağda yakıt: yalnızca azalır. Bastırma yalnızca yakıtı azaltarak etki eder; kapasite, kullanılabilirlik, ulaşım süresi ve erişimle ölçeklenir.</a:t>
            </a:r>
          </a:p>
          <a:p>
            <a:r>
              <a:t>Şiddet: yakıt, rüzgâr ve eğimin sınırlı karışımı. Alev fiziği değil, öncelik sinyali.</a:t>
            </a:r>
          </a:p>
          <a:p>
            <a:r>
              <a:t>Tutuşmadan beri süre: tutuşmada sıfırla, yanarken ilerlet, sönmede temizle.</a:t>
            </a:r>
          </a:p>
          <a:p>
            <a:r>
              <a:t>Rothermel Ψ'nin içinde. Ayrıntılar Ek A'da.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340313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400" b="1"/>
                  <a:t>SAY: Decisional context the physics never sees: value at risk.</a:t>
                </a:r>
              </a:p>
              <a:p>
                <a:r>
                  <a:rPr lang="en-US" sz="1400"/>
                  <a:t>- Buildings, critical facilities, population mark what matters.</a:t>
                </a:r>
              </a:p>
              <a:p>
                <a:endParaRPr lang="en-US" sz="1400"/>
              </a:p>
              <a:p>
                <a:r>
                  <a:rPr lang="en-US" sz="1400"/>
                  <a:t>SÖYLE: Fiziğin hiç görmediği karar bağlamı: risk altındaki değer.</a:t>
                </a:r>
              </a:p>
              <a:p>
                <a:r>
                  <a:rPr lang="en-US" sz="1400"/>
                  <a:t>- Binalar, kritik tesisler, nüfus neyin önemli olduğunu işaretler.</a:t>
                </a:r>
              </a:p>
              <a:p>
                <a:endParaRPr dirty="0"/>
              </a:p>
            </p:txBody>
          </p:sp>
        </mc:Choice>
        <mc:Fallback xmlns="">
          <p:sp>
            <p:nvSpPr>
              <p:cNvPr id="3" name="Notes Placeholder 2"/>
              <p:cNvSpPr>
                <a:spLocks noGrp="1"/>
              </p:cNvSpPr>
              <p:nvPr>
                <p:ph type="body" idx="1"/>
              </p:nvPr>
            </p:nvSpPr>
            <p:spPr/>
            <p:txBody>
              <a:bodyPr/>
              <a:lstStyle/>
              <a:p>
                <a:pPr marL="152400" indent="-152400">
                  <a:lnSpc>
                    <a:spcPct val="105000"/>
                  </a:lnSpc>
                  <a:spcAft>
                    <a:spcPts val="700"/>
                  </a:spcAft>
                  <a:buSzPct val="100000"/>
                  <a:buChar char="•"/>
                </a:pPr>
                <a:r>
                  <a:rPr lang="en-US" sz="1200" dirty="0">
                    <a:solidFill>
                      <a:srgbClr val="222222"/>
                    </a:solidFill>
                    <a:latin typeface="Calibri" pitchFamily="34" charset="0"/>
                    <a:ea typeface="Calibri" pitchFamily="34" charset="-122"/>
                    <a:cs typeface="Calibri" pitchFamily="34" charset="-120"/>
                  </a:rPr>
                  <a:t>Protection priority score: ranks every cell by its overall protection importance (normalized weighted sum)</a:t>
                </a:r>
                <a:endParaRPr lang="en-US" sz="1200" dirty="0"/>
              </a:p>
              <a:p>
                <a:pPr marL="152400" indent="-152400">
                  <a:lnSpc>
                    <a:spcPct val="105000"/>
                  </a:lnSpc>
                  <a:spcAft>
                    <a:spcPts val="700"/>
                  </a:spcAft>
                  <a:buSzPct val="100000"/>
                  <a:buChar char="•"/>
                </a:pPr>
                <a:r>
                  <a:rPr lang="en-US" sz="1200" dirty="0">
                    <a:solidFill>
                      <a:srgbClr val="222222"/>
                    </a:solidFill>
                    <a:latin typeface="Calibri" pitchFamily="34" charset="0"/>
                    <a:ea typeface="Calibri" pitchFamily="34" charset="-122"/>
                    <a:cs typeface="Calibri" pitchFamily="34" charset="-120"/>
                  </a:rPr>
                  <a:t>Buildings (wildland–urban zones) · critical facilities (hospitals, power, water) · population density (min-max normalized) · evacuation-route proximity (inverted, normalized)</a:t>
                </a:r>
                <a:endParaRPr lang="en-US" sz="1200" dirty="0"/>
              </a:p>
              <a:p>
                <a:pPr marL="152400" indent="-152400">
                  <a:lnSpc>
                    <a:spcPct val="105000"/>
                  </a:lnSpc>
                  <a:spcAft>
                    <a:spcPts val="700"/>
                  </a:spcAft>
                  <a:buSzPct val="100000"/>
                  <a:buChar char="•"/>
                </a:pPr>
                <a:r>
                  <a:rPr lang="en-US" sz="1200" b="1" dirty="0">
                    <a:solidFill>
                      <a:srgbClr val="222222"/>
                    </a:solidFill>
                    <a:latin typeface="Calibri" pitchFamily="34" charset="0"/>
                    <a:ea typeface="Calibri" pitchFamily="34" charset="-122"/>
                    <a:cs typeface="Calibri" pitchFamily="34" charset="-120"/>
                  </a:rPr>
                  <a:t>Weights sum to one; critical facilities carry the highest weight (cascading consequences), population second</a:t>
                </a:r>
                <a:endParaRPr lang="en-US" sz="1200" dirty="0"/>
              </a:p>
              <a:p>
                <a:endParaRPr lang="tr-TR" dirty="0"/>
              </a:p>
              <a:p>
                <a:r>
                  <a:rPr lang="en-US" sz="1800" dirty="0">
                    <a:effectLst/>
                    <a:latin typeface="Times New Roman" panose="02020603050405020304" pitchFamily="18" charset="0"/>
                    <a:ea typeface="Calibri" panose="020F0502020204030204" pitchFamily="34" charset="0"/>
                    <a:cs typeface="Arial" panose="020B0604020202020204" pitchFamily="34" charset="0"/>
                  </a:rPr>
                  <a:t> Critical facilities (</a:t>
                </a:r>
                <a:r>
                  <a:rPr lang="en-US" sz="1800" i="0">
                    <a:effectLst/>
                    <a:latin typeface="Cambria Math" panose="02040503050406030204" pitchFamily="18" charset="0"/>
                    <a:ea typeface="Calibri" panose="020F0502020204030204" pitchFamily="34" charset="0"/>
                    <a:cs typeface="Arial" panose="020B0604020202020204" pitchFamily="34" charset="0"/>
                  </a:rPr>
                  <a:t>𝑤</a:t>
                </a:r>
                <a:r>
                  <a:rPr lang="tr-TR" sz="1800" i="0">
                    <a:effectLst/>
                    <a:latin typeface="Cambria Math" panose="02040503050406030204" pitchFamily="18" charset="0"/>
                    <a:ea typeface="Calibri" panose="020F0502020204030204" pitchFamily="34" charset="0"/>
                    <a:cs typeface="Arial" panose="020B0604020202020204" pitchFamily="34" charset="0"/>
                  </a:rPr>
                  <a:t>_</a:t>
                </a:r>
                <a:r>
                  <a:rPr lang="en-US" sz="1800" i="0">
                    <a:effectLst/>
                    <a:latin typeface="Cambria Math" panose="02040503050406030204" pitchFamily="18" charset="0"/>
                    <a:ea typeface="Calibri" panose="020F0502020204030204" pitchFamily="34" charset="0"/>
                    <a:cs typeface="Arial" panose="020B0604020202020204" pitchFamily="34" charset="0"/>
                  </a:rPr>
                  <a:t>𝑐𝑟𝑖𝑡  = 0.40</a:t>
                </a:r>
                <a:r>
                  <a:rPr lang="en-US" sz="1800" dirty="0">
                    <a:effectLst/>
                    <a:latin typeface="Times New Roman" panose="02020603050405020304" pitchFamily="18" charset="0"/>
                    <a:ea typeface="Calibri" panose="020F0502020204030204" pitchFamily="34" charset="0"/>
                    <a:cs typeface="Arial" panose="020B0604020202020204" pitchFamily="34" charset="0"/>
                  </a:rPr>
                  <a:t>) receive the highest weight because their loss has cascading consequences (e.g., hospitals, power infrastructure, water supply). Population density (</a:t>
                </a:r>
                <a:r>
                  <a:rPr lang="en-US" sz="1800" i="0">
                    <a:effectLst/>
                    <a:latin typeface="Cambria Math" panose="02040503050406030204" pitchFamily="18" charset="0"/>
                    <a:ea typeface="Calibri" panose="020F0502020204030204" pitchFamily="34" charset="0"/>
                    <a:cs typeface="Arial" panose="020B0604020202020204" pitchFamily="34" charset="0"/>
                  </a:rPr>
                  <a:t>𝑤</a:t>
                </a:r>
                <a:r>
                  <a:rPr lang="tr-TR" sz="1800" i="0">
                    <a:effectLst/>
                    <a:latin typeface="Cambria Math" panose="02040503050406030204" pitchFamily="18" charset="0"/>
                    <a:ea typeface="Calibri" panose="020F0502020204030204" pitchFamily="34" charset="0"/>
                    <a:cs typeface="Arial" panose="020B0604020202020204" pitchFamily="34" charset="0"/>
                  </a:rPr>
                  <a:t>_</a:t>
                </a:r>
                <a:r>
                  <a:rPr lang="en-US" sz="1800" i="0">
                    <a:effectLst/>
                    <a:latin typeface="Cambria Math" panose="02040503050406030204" pitchFamily="18" charset="0"/>
                    <a:ea typeface="Calibri" panose="020F0502020204030204" pitchFamily="34" charset="0"/>
                    <a:cs typeface="Arial" panose="020B0604020202020204" pitchFamily="34" charset="0"/>
                  </a:rPr>
                  <a:t>𝑝𝑜𝑝  = 0.25</a:t>
                </a:r>
                <a:r>
                  <a:rPr lang="en-US" sz="1800" dirty="0">
                    <a:effectLst/>
                    <a:latin typeface="Times New Roman" panose="02020603050405020304" pitchFamily="18" charset="0"/>
                    <a:ea typeface="Calibri" panose="020F0502020204030204" pitchFamily="34" charset="0"/>
                    <a:cs typeface="Arial" panose="020B0604020202020204" pitchFamily="34" charset="0"/>
                  </a:rPr>
                  <a:t>) ranks second because human life exposure scales with density. Building footprint (</a:t>
                </a:r>
                <a:r>
                  <a:rPr lang="en-US" sz="1800" i="0">
                    <a:effectLst/>
                    <a:latin typeface="Cambria Math" panose="02040503050406030204" pitchFamily="18" charset="0"/>
                    <a:ea typeface="Calibri" panose="020F0502020204030204" pitchFamily="34" charset="0"/>
                    <a:cs typeface="Arial" panose="020B0604020202020204" pitchFamily="34" charset="0"/>
                  </a:rPr>
                  <a:t>𝑤</a:t>
                </a:r>
                <a:r>
                  <a:rPr lang="tr-TR" sz="1800" i="0">
                    <a:effectLst/>
                    <a:latin typeface="Cambria Math" panose="02040503050406030204" pitchFamily="18" charset="0"/>
                    <a:ea typeface="Calibri" panose="020F0502020204030204" pitchFamily="34" charset="0"/>
                    <a:cs typeface="Arial" panose="020B0604020202020204" pitchFamily="34" charset="0"/>
                  </a:rPr>
                  <a:t>_</a:t>
                </a:r>
                <a:r>
                  <a:rPr lang="en-US" sz="1800" i="0">
                    <a:effectLst/>
                    <a:latin typeface="Cambria Math" panose="02040503050406030204" pitchFamily="18" charset="0"/>
                    <a:ea typeface="Calibri" panose="020F0502020204030204" pitchFamily="34" charset="0"/>
                    <a:cs typeface="Arial" panose="020B0604020202020204" pitchFamily="34" charset="0"/>
                  </a:rPr>
                  <a:t>𝑏𝑙𝑑  = 0.20</a:t>
                </a:r>
                <a:r>
                  <a:rPr lang="en-US" sz="1800" dirty="0">
                    <a:effectLst/>
                    <a:latin typeface="Times New Roman" panose="02020603050405020304" pitchFamily="18" charset="0"/>
                    <a:ea typeface="Calibri" panose="020F0502020204030204" pitchFamily="34" charset="0"/>
                    <a:cs typeface="Arial" panose="020B0604020202020204" pitchFamily="34" charset="0"/>
                  </a:rPr>
                  <a:t>) captures structural asset density. Evacuation accessibility (</a:t>
                </a:r>
                <a:r>
                  <a:rPr lang="en-US" sz="1800" i="0">
                    <a:effectLst/>
                    <a:latin typeface="Cambria Math" panose="02040503050406030204" pitchFamily="18" charset="0"/>
                    <a:ea typeface="Calibri" panose="020F0502020204030204" pitchFamily="34" charset="0"/>
                    <a:cs typeface="Arial" panose="020B0604020202020204" pitchFamily="34" charset="0"/>
                  </a:rPr>
                  <a:t>𝑤</a:t>
                </a:r>
                <a:r>
                  <a:rPr lang="tr-TR" sz="1800" i="0">
                    <a:effectLst/>
                    <a:latin typeface="Cambria Math" panose="02040503050406030204" pitchFamily="18" charset="0"/>
                    <a:ea typeface="Calibri" panose="020F0502020204030204" pitchFamily="34" charset="0"/>
                    <a:cs typeface="Arial" panose="020B0604020202020204" pitchFamily="34" charset="0"/>
                  </a:rPr>
                  <a:t>_</a:t>
                </a:r>
                <a:r>
                  <a:rPr lang="en-US" sz="1800" i="0">
                    <a:effectLst/>
                    <a:latin typeface="Cambria Math" panose="02040503050406030204" pitchFamily="18" charset="0"/>
                    <a:ea typeface="Calibri" panose="020F0502020204030204" pitchFamily="34" charset="0"/>
                    <a:cs typeface="Arial" panose="020B0604020202020204" pitchFamily="34" charset="0"/>
                  </a:rPr>
                  <a:t>𝑒𝑣𝑎𝑐  = 0.15</a:t>
                </a:r>
                <a:r>
                  <a:rPr lang="en-US" sz="1800" dirty="0">
                    <a:effectLst/>
                    <a:latin typeface="Times New Roman" panose="02020603050405020304" pitchFamily="18" charset="0"/>
                    <a:ea typeface="Calibri" panose="020F0502020204030204" pitchFamily="34" charset="0"/>
                    <a:cs typeface="Arial" panose="020B0604020202020204" pitchFamily="34" charset="0"/>
                  </a:rPr>
                  <a:t>) receives the lowest weight because it represents a logistical constraint rather than a direct measure of asset value; however, it remains non-zero because locations with poor evacuation access require protective intervention earlier in the decision timeline</a:t>
                </a:r>
                <a:endParaRPr lang="en-US" dirty="0"/>
              </a:p>
            </p:txBody>
          </p:sp>
        </mc:Fallback>
      </mc:AlternateContent>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
        <p:nvSpPr>
          <p:cNvPr id="5" name="Notes Placeholder 2"/>
          <p:cNvSpPr>
            <a:spLocks noGrp="1"/>
          </p:cNvSpPr>
          <p:nvPr>
            <p:ph type="body" idx="1"/>
          </p:nvPr>
        </p:nvSpPr>
        <p:spPr/>
        <p:txBody>
          <a:bodyPr/>
          <a:lstStyle/>
          <a:p>
            <a:r>
              <a:rPr b="1"/>
              <a:t>SPEECH (EN)</a:t>
            </a:r>
          </a:p>
          <a:p>
            <a:r>
              <a:t>Now the DSS side of the same framework.</a:t>
            </a:r>
          </a:p>
          <a:p>
            <a:r>
              <a:t>The decisional context is read only by the DSS. The physics never sees it.</a:t>
            </a:r>
          </a:p>
          <a:p>
            <a:r>
              <a:t>Two members: value-at-risk priorities and the resource pool.</a:t>
            </a:r>
          </a:p>
          <a:p>
            <a:r>
              <a:t>Value at risk: building footprint, critical facilities, population density, access to evacuation.</a:t>
            </a:r>
          </a:p>
          <a:p>
            <a:r>
              <a:t>They combine into a protection priority. The formula is at the bottom.</a:t>
            </a:r>
          </a:p>
          <a:p>
            <a:r>
              <a:t>Resource pool: capacity, travel time, efficiency, availability.</a:t>
            </a:r>
          </a:p>
          <a:p>
            <a:r>
              <a:t>And note: U-Res equals U-DSS. The resource field the DSS reasons about is exactly the decision field the physics receives.</a:t>
            </a:r>
          </a:p>
          <a:p>
            <a:endParaRPr/>
          </a:p>
          <a:p>
            <a:r>
              <a:rPr b="1"/>
              <a:t>KONUŞMA (TR)</a:t>
            </a:r>
          </a:p>
          <a:p>
            <a:r>
              <a:t>Şimdi aynı çerçevenin DSS tarafı.</a:t>
            </a:r>
          </a:p>
          <a:p>
            <a:r>
              <a:t>Karar bağlamını yalnızca DSS okur. Fizik bunu hiç görmez.</a:t>
            </a:r>
          </a:p>
          <a:p>
            <a:r>
              <a:t>İki üye: risk altındaki değer öncelikleri ve kaynak havuzu.</a:t>
            </a:r>
          </a:p>
          <a:p>
            <a:r>
              <a:t>Risk altındaki değer: bina ayak izi, kritik tesisler, nüfus yoğunluğu, tahliyeye erişim.</a:t>
            </a:r>
          </a:p>
          <a:p>
            <a:r>
              <a:t>Bunlar bir koruma önceliğinde birleşir. Formül altta.</a:t>
            </a:r>
          </a:p>
          <a:p>
            <a:r>
              <a:t>Kaynak havuzu: kapasite, ulaşım süresi, verim, kullanılabilirlik.</a:t>
            </a:r>
          </a:p>
          <a:p>
            <a:r>
              <a:t>Ve dikkat: U-Res, U-DSS'e eşit. DSS'in akıl yürüttüğü kaynak alanı, fiziğin aldığı karar alanının ta kendisi.</a:t>
            </a:r>
          </a:p>
        </p:txBody>
      </p:sp>
    </p:spTree>
    <p:extLst>
      <p:ext uri="{BB962C8B-B14F-4D97-AF65-F5344CB8AC3E}">
        <p14:creationId xmlns:p14="http://schemas.microsoft.com/office/powerpoint/2010/main" val="781167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SPEECH (EN)</a:t>
            </a:r>
          </a:p>
          <a:p>
            <a:r>
              <a:t>This is the key idea of C2.</a:t>
            </a:r>
          </a:p>
          <a:p>
            <a:r>
              <a:t>The DSS never reads the true state.</a:t>
            </a:r>
          </a:p>
          <a:p>
            <a:r>
              <a:t>It sees an observation with a bounded error.</a:t>
            </a:r>
          </a:p>
          <a:p>
            <a:r>
              <a:t>The bound is set by confidence: one minus confidence, times the maximum error.</a:t>
            </a:r>
          </a:p>
          <a:p>
            <a:r>
              <a:t>Confidence is the minimum of four factors.</a:t>
            </a:r>
          </a:p>
          <a:p>
            <a:r>
              <a:t>Observability: can the quantity be sensed at all.</a:t>
            </a:r>
          </a:p>
          <a:p>
            <a:r>
              <a:t>Coverage: which sensors see the cell.</a:t>
            </a:r>
          </a:p>
          <a:p>
            <a:r>
              <a:t>Freshness: decays with report age, 90-minute half-life.</a:t>
            </a:r>
          </a:p>
          <a:p>
            <a:r>
              <a:t>Reliability: trust in the channel.</a:t>
            </a:r>
          </a:p>
          <a:p>
            <a:r>
              <a:t>Minimum, not average. The weakest factor rules. Conservative by design.</a:t>
            </a:r>
          </a:p>
          <a:p>
            <a:endParaRPr/>
          </a:p>
          <a:p>
            <a:r>
              <a:rPr b="1"/>
              <a:t>KONUŞMA (TR)</a:t>
            </a:r>
          </a:p>
          <a:p>
            <a:r>
              <a:t>C2'nin ana fikri bu.</a:t>
            </a:r>
          </a:p>
          <a:p>
            <a:r>
              <a:t>DSS gerçek durumu asla okumaz.</a:t>
            </a:r>
          </a:p>
          <a:p>
            <a:r>
              <a:t>Sınırlı hatalı bir gözlem görür.</a:t>
            </a:r>
          </a:p>
          <a:p>
            <a:r>
              <a:t>Sınırı güven belirler: bir eksi güven, çarpı azami hata.</a:t>
            </a:r>
          </a:p>
          <a:p>
            <a:r>
              <a:t>Güven dört faktörün minimumu.</a:t>
            </a:r>
          </a:p>
          <a:p>
            <a:r>
              <a:t>Gözlenebilirlik: büyüklük hiç algılanabiliyor mu.</a:t>
            </a:r>
          </a:p>
          <a:p>
            <a:r>
              <a:t>Kapsama: hücreyi hangi sensörler görüyor.</a:t>
            </a:r>
          </a:p>
          <a:p>
            <a:r>
              <a:t>Tazelik: rapor yaşıyla azalır, 90 dakika yarı ömür.</a:t>
            </a:r>
          </a:p>
          <a:p>
            <a:r>
              <a:t>Güvenilirlik: kanala duyulan güven.</a:t>
            </a:r>
          </a:p>
          <a:p>
            <a:r>
              <a:t>Ortalama değil minimum. En zayıf faktör belirler. Tasarım gereği temkinli.</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SPEECH (EN)</a:t>
            </a:r>
          </a:p>
          <a:p>
            <a:r>
              <a:t>Part two: the decision support framework.</a:t>
            </a:r>
          </a:p>
          <a:p>
            <a:endParaRPr/>
          </a:p>
          <a:p>
            <a:r>
              <a:rPr b="1"/>
              <a:t>KONUŞMA (TR)</a:t>
            </a:r>
          </a:p>
          <a:p>
            <a:r>
              <a:t>İkinci bölüm: karar destek çerçevesi.</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dirty="0"/>
              <a:t>SPEECH (EN)</a:t>
            </a:r>
          </a:p>
          <a:p>
            <a:r>
              <a:rPr dirty="0"/>
              <a:t>One agent, four layers, one loop.</a:t>
            </a:r>
          </a:p>
          <a:p>
            <a:r>
              <a:rPr dirty="0"/>
              <a:t>Layer one: input space, spatio-temporal measurements.</a:t>
            </a:r>
          </a:p>
          <a:p>
            <a:r>
              <a:rPr dirty="0"/>
              <a:t>Layer two: perception, features with confidence.</a:t>
            </a:r>
          </a:p>
          <a:p>
            <a:r>
              <a:rPr dirty="0"/>
              <a:t>Layer three: concept space, five decision concepts.</a:t>
            </a:r>
          </a:p>
          <a:p>
            <a:r>
              <a:rPr dirty="0"/>
              <a:t>Layer four: decision space, rules, tests, adaptation, fail-safe.</a:t>
            </a:r>
          </a:p>
          <a:p>
            <a:r>
              <a:rPr dirty="0"/>
              <a:t>N agents run in parallel, one per region. A global DSS only ranks and allocates.</a:t>
            </a:r>
          </a:p>
          <a:p>
            <a:r>
              <a:rPr dirty="0"/>
              <a:t>I will walk down the layers now.</a:t>
            </a:r>
          </a:p>
          <a:p>
            <a:endParaRPr dirty="0"/>
          </a:p>
          <a:p>
            <a:r>
              <a:rPr b="1" dirty="0"/>
              <a:t>KONUŞMA (TR)</a:t>
            </a:r>
          </a:p>
          <a:p>
            <a:r>
              <a:rPr dirty="0"/>
              <a:t>Bir </a:t>
            </a:r>
            <a:r>
              <a:rPr dirty="0" err="1"/>
              <a:t>ajan</a:t>
            </a:r>
            <a:r>
              <a:rPr dirty="0"/>
              <a:t>, </a:t>
            </a:r>
            <a:r>
              <a:rPr dirty="0" err="1"/>
              <a:t>dört</a:t>
            </a:r>
            <a:r>
              <a:rPr dirty="0"/>
              <a:t> </a:t>
            </a:r>
            <a:r>
              <a:rPr dirty="0" err="1"/>
              <a:t>katman</a:t>
            </a:r>
            <a:r>
              <a:rPr dirty="0"/>
              <a:t>, </a:t>
            </a:r>
            <a:r>
              <a:rPr dirty="0" err="1"/>
              <a:t>tek</a:t>
            </a:r>
            <a:r>
              <a:rPr dirty="0"/>
              <a:t> </a:t>
            </a:r>
            <a:r>
              <a:rPr dirty="0" err="1"/>
              <a:t>döngü</a:t>
            </a:r>
            <a:r>
              <a:rPr dirty="0"/>
              <a:t>.</a:t>
            </a:r>
          </a:p>
          <a:p>
            <a:r>
              <a:rPr dirty="0" err="1"/>
              <a:t>Birinci</a:t>
            </a:r>
            <a:r>
              <a:rPr dirty="0"/>
              <a:t> </a:t>
            </a:r>
            <a:r>
              <a:rPr dirty="0" err="1"/>
              <a:t>katman</a:t>
            </a:r>
            <a:r>
              <a:rPr dirty="0"/>
              <a:t>: </a:t>
            </a:r>
            <a:r>
              <a:rPr dirty="0" err="1"/>
              <a:t>girdi</a:t>
            </a:r>
            <a:r>
              <a:rPr dirty="0"/>
              <a:t> </a:t>
            </a:r>
            <a:r>
              <a:rPr dirty="0" err="1"/>
              <a:t>uzayı</a:t>
            </a:r>
            <a:r>
              <a:rPr dirty="0"/>
              <a:t>, </a:t>
            </a:r>
            <a:r>
              <a:rPr dirty="0" err="1"/>
              <a:t>mekân-zamansal</a:t>
            </a:r>
            <a:r>
              <a:rPr dirty="0"/>
              <a:t> </a:t>
            </a:r>
            <a:r>
              <a:rPr dirty="0" err="1"/>
              <a:t>ölçümler</a:t>
            </a:r>
            <a:r>
              <a:rPr dirty="0"/>
              <a:t>.</a:t>
            </a:r>
          </a:p>
          <a:p>
            <a:r>
              <a:rPr dirty="0" err="1"/>
              <a:t>İkinci</a:t>
            </a:r>
            <a:r>
              <a:rPr dirty="0"/>
              <a:t> </a:t>
            </a:r>
            <a:r>
              <a:rPr dirty="0" err="1"/>
              <a:t>katman</a:t>
            </a:r>
            <a:r>
              <a:rPr dirty="0"/>
              <a:t>: </a:t>
            </a:r>
            <a:r>
              <a:rPr dirty="0" err="1"/>
              <a:t>algı</a:t>
            </a:r>
            <a:r>
              <a:rPr dirty="0"/>
              <a:t>, </a:t>
            </a:r>
            <a:r>
              <a:rPr dirty="0" err="1"/>
              <a:t>güvenli</a:t>
            </a:r>
            <a:r>
              <a:rPr dirty="0"/>
              <a:t> </a:t>
            </a:r>
            <a:r>
              <a:rPr dirty="0" err="1"/>
              <a:t>özellikler</a:t>
            </a:r>
            <a:r>
              <a:rPr dirty="0"/>
              <a:t>.</a:t>
            </a:r>
          </a:p>
          <a:p>
            <a:r>
              <a:rPr dirty="0" err="1"/>
              <a:t>Üçüncü</a:t>
            </a:r>
            <a:r>
              <a:rPr dirty="0"/>
              <a:t> </a:t>
            </a:r>
            <a:r>
              <a:rPr dirty="0" err="1"/>
              <a:t>katman</a:t>
            </a:r>
            <a:r>
              <a:rPr dirty="0"/>
              <a:t>: </a:t>
            </a:r>
            <a:r>
              <a:rPr dirty="0" err="1"/>
              <a:t>kavram</a:t>
            </a:r>
            <a:r>
              <a:rPr dirty="0"/>
              <a:t> </a:t>
            </a:r>
            <a:r>
              <a:rPr dirty="0" err="1"/>
              <a:t>uzayı</a:t>
            </a:r>
            <a:r>
              <a:rPr dirty="0"/>
              <a:t>, </a:t>
            </a:r>
            <a:r>
              <a:rPr dirty="0" err="1"/>
              <a:t>beş</a:t>
            </a:r>
            <a:r>
              <a:rPr dirty="0"/>
              <a:t> </a:t>
            </a:r>
            <a:r>
              <a:rPr dirty="0" err="1"/>
              <a:t>karar</a:t>
            </a:r>
            <a:r>
              <a:rPr dirty="0"/>
              <a:t> </a:t>
            </a:r>
            <a:r>
              <a:rPr dirty="0" err="1"/>
              <a:t>kavramı</a:t>
            </a:r>
            <a:r>
              <a:rPr dirty="0"/>
              <a:t>.</a:t>
            </a:r>
          </a:p>
          <a:p>
            <a:r>
              <a:rPr dirty="0" err="1"/>
              <a:t>Dördüncü</a:t>
            </a:r>
            <a:r>
              <a:rPr dirty="0"/>
              <a:t> </a:t>
            </a:r>
            <a:r>
              <a:rPr dirty="0" err="1"/>
              <a:t>katman</a:t>
            </a:r>
            <a:r>
              <a:rPr dirty="0"/>
              <a:t>: </a:t>
            </a:r>
            <a:r>
              <a:rPr dirty="0" err="1"/>
              <a:t>karar</a:t>
            </a:r>
            <a:r>
              <a:rPr dirty="0"/>
              <a:t> </a:t>
            </a:r>
            <a:r>
              <a:rPr dirty="0" err="1"/>
              <a:t>uzayı</a:t>
            </a:r>
            <a:r>
              <a:rPr dirty="0"/>
              <a:t>, </a:t>
            </a:r>
            <a:r>
              <a:rPr dirty="0" err="1"/>
              <a:t>kurallar</a:t>
            </a:r>
            <a:r>
              <a:rPr dirty="0"/>
              <a:t>, </a:t>
            </a:r>
            <a:r>
              <a:rPr dirty="0" err="1"/>
              <a:t>testler</a:t>
            </a:r>
            <a:r>
              <a:rPr dirty="0"/>
              <a:t>, </a:t>
            </a:r>
            <a:r>
              <a:rPr dirty="0" err="1"/>
              <a:t>uyarlanma</a:t>
            </a:r>
            <a:r>
              <a:rPr dirty="0"/>
              <a:t>, </a:t>
            </a:r>
            <a:r>
              <a:rPr dirty="0" err="1"/>
              <a:t>güvenli</a:t>
            </a:r>
            <a:r>
              <a:rPr dirty="0"/>
              <a:t> mod.</a:t>
            </a:r>
          </a:p>
          <a:p>
            <a:r>
              <a:rPr dirty="0"/>
              <a:t>N </a:t>
            </a:r>
            <a:r>
              <a:rPr dirty="0" err="1"/>
              <a:t>ajan</a:t>
            </a:r>
            <a:r>
              <a:rPr dirty="0"/>
              <a:t> </a:t>
            </a:r>
            <a:r>
              <a:rPr dirty="0" err="1"/>
              <a:t>paralel</a:t>
            </a:r>
            <a:r>
              <a:rPr dirty="0"/>
              <a:t> </a:t>
            </a:r>
            <a:r>
              <a:rPr dirty="0" err="1"/>
              <a:t>koşar</a:t>
            </a:r>
            <a:r>
              <a:rPr dirty="0"/>
              <a:t>, </a:t>
            </a:r>
            <a:r>
              <a:rPr dirty="0" err="1"/>
              <a:t>bölge</a:t>
            </a:r>
            <a:r>
              <a:rPr dirty="0"/>
              <a:t> </a:t>
            </a:r>
            <a:r>
              <a:rPr dirty="0" err="1"/>
              <a:t>başına</a:t>
            </a:r>
            <a:r>
              <a:rPr dirty="0"/>
              <a:t> </a:t>
            </a:r>
            <a:r>
              <a:rPr dirty="0" err="1"/>
              <a:t>bir</a:t>
            </a:r>
            <a:r>
              <a:rPr dirty="0"/>
              <a:t>. </a:t>
            </a:r>
            <a:r>
              <a:rPr dirty="0" err="1"/>
              <a:t>Küresel</a:t>
            </a:r>
            <a:r>
              <a:rPr dirty="0"/>
              <a:t> DSS </a:t>
            </a:r>
            <a:r>
              <a:rPr dirty="0" err="1"/>
              <a:t>yalnızca</a:t>
            </a:r>
            <a:r>
              <a:rPr dirty="0"/>
              <a:t> </a:t>
            </a:r>
            <a:r>
              <a:rPr dirty="0" err="1"/>
              <a:t>sıralar</a:t>
            </a:r>
            <a:r>
              <a:rPr dirty="0"/>
              <a:t> ve </a:t>
            </a:r>
            <a:r>
              <a:rPr dirty="0" err="1"/>
              <a:t>paylaştırır</a:t>
            </a:r>
            <a:r>
              <a:rPr dirty="0"/>
              <a:t>.</a:t>
            </a:r>
          </a:p>
          <a:p>
            <a:r>
              <a:rPr dirty="0" err="1"/>
              <a:t>Şimdi</a:t>
            </a:r>
            <a:r>
              <a:rPr dirty="0"/>
              <a:t> </a:t>
            </a:r>
            <a:r>
              <a:rPr dirty="0" err="1"/>
              <a:t>katmanları</a:t>
            </a:r>
            <a:r>
              <a:rPr dirty="0"/>
              <a:t> </a:t>
            </a:r>
            <a:r>
              <a:rPr dirty="0" err="1"/>
              <a:t>sırayla</a:t>
            </a:r>
            <a:r>
              <a:rPr dirty="0"/>
              <a:t> </a:t>
            </a:r>
            <a:r>
              <a:rPr dirty="0" err="1"/>
              <a:t>ineceğim</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SPEECH (EN)</a:t>
            </a:r>
          </a:p>
          <a:p>
            <a:r>
              <a:t>Layer one: what the agent can know.</a:t>
            </a:r>
          </a:p>
          <a:p>
            <a:r>
              <a:t>About fifteen source families: sensors, UAV imagery, hot-spot detection, terrain, resources, stations, cameras, field data, fuel maps, forecasts, satellites, public calls, roads, value at risk.</a:t>
            </a:r>
          </a:p>
          <a:p>
            <a:r>
              <a:t>All of them are read as observations, never as ground truth.</a:t>
            </a:r>
          </a:p>
          <a:p>
            <a:r>
              <a:t>Every measurement is indexed by cell and step.</a:t>
            </a:r>
          </a:p>
          <a:p>
            <a:endParaRPr/>
          </a:p>
          <a:p>
            <a:r>
              <a:rPr b="1"/>
              <a:t>KONUŞMA (TR)</a:t>
            </a:r>
          </a:p>
          <a:p>
            <a:r>
              <a:t>Birinci katman: ajan neyi bilebilir.</a:t>
            </a:r>
          </a:p>
          <a:p>
            <a:r>
              <a:t>Yaklaşık on beş kaynak ailesi: sensörler, İHA görüntüleri, sıcak nokta tespiti, arazi, kaynaklar, istasyonlar, kameralar, saha verisi, yakıt haritaları, tahminler, uydular, halk ihbarları, yollar, risk altındaki değerler.</a:t>
            </a:r>
          </a:p>
          <a:p>
            <a:r>
              <a:t>Hepsi gözlem olarak okunur, asla zemin gerçeği olarak değil.</a:t>
            </a:r>
          </a:p>
          <a:p>
            <a:r>
              <a:t>Her ölçüm hücre ve adımla indekslenir.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SPEECH (EN)</a:t>
            </a:r>
          </a:p>
          <a:p>
            <a:r>
              <a:t>Back to the map: layer two, perception, is highlighted.</a:t>
            </a:r>
          </a:p>
          <a:p>
            <a:endParaRPr/>
          </a:p>
          <a:p>
            <a:r>
              <a:rPr b="1"/>
              <a:t>KONUŞMA (TR)</a:t>
            </a:r>
          </a:p>
          <a:p>
            <a:r>
              <a:t>Haritaya dönüyoruz: ikinci katman, algı, vurgulu.</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22745905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SPEECH (EN)</a:t>
            </a:r>
          </a:p>
          <a:p>
            <a:r>
              <a:t>Layer two: perception.</a:t>
            </a:r>
          </a:p>
          <a:p>
            <a:r>
              <a:t>The flow on the left: sources give an observation per cell. Layer two fuses them and extracts features. Confidence is the minimum of the four factors. Missing data uses a persistence prior.</a:t>
            </a:r>
          </a:p>
          <a:p>
            <a:r>
              <a:t>A feature is a function of the observation, scaled to zero-one.</a:t>
            </a:r>
          </a:p>
          <a:p>
            <a:r>
              <a:t>The green table has the five command questions:</a:t>
            </a:r>
          </a:p>
          <a:p>
            <a:r>
              <a:t>How severe is the threat here? Can we intervene here? How exposed are the assets? How urgent is action? Is evacuation pressure building?</a:t>
            </a:r>
          </a:p>
          <a:p>
            <a:r>
              <a:t>The features exist to answer these questions.</a:t>
            </a:r>
          </a:p>
          <a:p>
            <a:endParaRPr/>
          </a:p>
          <a:p>
            <a:r>
              <a:rPr b="1"/>
              <a:t>KONUŞMA (TR)</a:t>
            </a:r>
          </a:p>
          <a:p>
            <a:r>
              <a:t>İkinci katman: algı.</a:t>
            </a:r>
          </a:p>
          <a:p>
            <a:r>
              <a:t>Soldaki akış: kaynaklar hücre başına bir gözlem verir. İkinci katman bunları birleştirir ve özellikleri çıkarır. Güven dört faktörün minimumu. Eksik veri kalıcılık önseli kullanır.</a:t>
            </a:r>
          </a:p>
          <a:p>
            <a:r>
              <a:t>Bir özellik gözlemin sıfır-bir arasına ölçeklenmiş fonksiyonu.</a:t>
            </a:r>
          </a:p>
          <a:p>
            <a:r>
              <a:t>Yeşil tabloda beş komuta sorusu var:</a:t>
            </a:r>
          </a:p>
          <a:p>
            <a:r>
              <a:t>Tehdit burada ne kadar şiddetli? Burada müdahale edebilir miyiz? Varlıklar ne kadar açıkta? Eylem ne kadar acil? Tahliye baskısı artıyor mu?</a:t>
            </a:r>
          </a:p>
          <a:p>
            <a:r>
              <a:t>Özellikler bu soruları cevaplamak için var.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SPEECH (EN)</a:t>
            </a:r>
          </a:p>
          <a:p>
            <a:r>
              <a:t>On the map again: layer three, the concept space, is highlighted.</a:t>
            </a:r>
          </a:p>
          <a:p>
            <a:endParaRPr/>
          </a:p>
          <a:p>
            <a:r>
              <a:rPr b="1"/>
              <a:t>KONUŞMA (TR)</a:t>
            </a:r>
          </a:p>
          <a:p>
            <a:r>
              <a:t>Yine haritada: üçüncü katman, kavram uzayı, vurgulu.</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052470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SPEECH (EN)</a:t>
            </a:r>
          </a:p>
          <a:p>
            <a:r>
              <a:t>Layer three: killing the rule explosion.</a:t>
            </a:r>
          </a:p>
          <a:p>
            <a:r>
              <a:t>Flat rules over ten features with five terms: five to the tenth, 9.8 million combinations.</a:t>
            </a:r>
          </a:p>
          <a:p>
            <a:r>
              <a:t>Rules over five decision concepts: five to the fifth, 3,125.</a:t>
            </a:r>
          </a:p>
          <a:p>
            <a:r>
              <a:t>The figure: ten features feed six base concepts, then five decision concepts, then one coordination concept.</a:t>
            </a:r>
          </a:p>
          <a:p>
            <a:r>
              <a:t>The table pairs each command question with its concept: Fire Threat Level, Suppression Feasibility, Asset Exposure Risk, Intervention Urgency, Evacuation Pressure.</a:t>
            </a:r>
          </a:p>
          <a:p>
            <a:r>
              <a:t>Five concepts, five command questions.</a:t>
            </a:r>
          </a:p>
          <a:p>
            <a:endParaRPr/>
          </a:p>
          <a:p>
            <a:r>
              <a:rPr b="1"/>
              <a:t>KONUŞMA (TR)</a:t>
            </a:r>
          </a:p>
          <a:p>
            <a:r>
              <a:t>Üçüncü katman: kural patlamasını kesmek.</a:t>
            </a:r>
          </a:p>
          <a:p>
            <a:r>
              <a:t>Beş terimli on özellik üzerinde düz kurallar: beş üzeri on, 9.8 milyon kombinasyon.</a:t>
            </a:r>
          </a:p>
          <a:p>
            <a:r>
              <a:t>Beş karar kavramı üzerinde kurallar: beş üzeri beş, 3.125.</a:t>
            </a:r>
          </a:p>
          <a:p>
            <a:r>
              <a:t>Şekil: on özellik altı taban kavramı, sonra beş karar kavramını, sonra bir koordinasyon kavramını besler.</a:t>
            </a:r>
          </a:p>
          <a:p>
            <a:r>
              <a:t>Tablo her komuta sorusunu kavramıyla eşliyor: Yangın Tehdit Seviyesi, Bastırma Yapılabilirliği, Varlık Maruziyet Riski, Müdahale Aciliyeti, Tahliye Baskısı.</a:t>
            </a:r>
          </a:p>
          <a:p>
            <a:r>
              <a:t>Beş kavram, beş komuta sorusu.</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22292076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SPEECH (EN)</a:t>
            </a:r>
          </a:p>
          <a:p>
            <a:r>
              <a:t>In this slide you see the levels with their weights.</a:t>
            </a:r>
          </a:p>
          <a:p>
            <a:r>
              <a:t>Level one: six base concepts from the ten features. For example fire severity is 0.6 fire intensity plus 0.4 spread potential.</a:t>
            </a:r>
          </a:p>
          <a:p>
            <a:r>
              <a:t>Level two: fire threat level, asset exposure risk, suppression feasibility.</a:t>
            </a:r>
          </a:p>
          <a:p>
            <a:r>
              <a:t>Level three: intervention urgency and evacuation pressure.</a:t>
            </a:r>
          </a:p>
          <a:p>
            <a:r>
              <a:t>Level four: operational priority, used only for coordination.</a:t>
            </a:r>
          </a:p>
          <a:p>
            <a:r>
              <a:t>The equations at the bottom: each level is a weighted sum of the level below.</a:t>
            </a:r>
          </a:p>
          <a:p>
            <a:r>
              <a:t>I will not read every weight. They are fixed and documented.</a:t>
            </a:r>
          </a:p>
          <a:p>
            <a:endParaRPr/>
          </a:p>
          <a:p>
            <a:r>
              <a:rPr b="1"/>
              <a:t>KONUŞMA (TR)</a:t>
            </a:r>
          </a:p>
          <a:p>
            <a:r>
              <a:t>Bu slaytta seviyeler ve ağırlıkları var.</a:t>
            </a:r>
          </a:p>
          <a:p>
            <a:r>
              <a:t>Birinci seviye: on özellikten altı taban kavram. Örneğin yangın şiddeti 0.6 yangın yoğunluğu artı 0.4 yayılım potansiyeli.</a:t>
            </a:r>
          </a:p>
          <a:p>
            <a:r>
              <a:t>İkinci seviye: yangın tehdit seviyesi, varlık maruziyet riski, bastırma yapılabilirliği.</a:t>
            </a:r>
          </a:p>
          <a:p>
            <a:r>
              <a:t>Üçüncü seviye: müdahale aciliyeti ve tahliye baskısı.</a:t>
            </a:r>
          </a:p>
          <a:p>
            <a:r>
              <a:t>Dördüncü seviye: yalnızca koordinasyon için operasyonel öncelik.</a:t>
            </a:r>
          </a:p>
          <a:p>
            <a:r>
              <a:t>Alttaki denklemler: her seviye alt seviyenin ağırlıklı toplamı.</a:t>
            </a:r>
          </a:p>
          <a:p>
            <a:r>
              <a:t>Her ağırlığı okumayacağım. Sabitler ve belgelenmiş durumdalar.</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31199357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SPEECH (EN)</a:t>
            </a:r>
          </a:p>
          <a:p>
            <a:r>
              <a:t>This is C2 in action: confidence gating.</a:t>
            </a:r>
          </a:p>
          <a:p>
            <a:r>
              <a:t>The equation: effective activation equals confidence times the observed activation, plus one minus confidence times the decayed previous estimate.</a:t>
            </a:r>
          </a:p>
          <a:p>
            <a:r>
              <a:t>Plot a: confidence one, the observation passes. Confidence zero, we fall back to the prior. Linear in between.</a:t>
            </a:r>
          </a:p>
          <a:p>
            <a:r>
              <a:t>Example: at confidence 0.9 the value is 0.9 times 0.80 plus 0.1 times 0.648, that is 0.78.</a:t>
            </a:r>
          </a:p>
          <a:p>
            <a:r>
              <a:t>Plot b: observation lost. The activation decays by rho, 0.9 per step. It snaps back on the first fresh report.</a:t>
            </a:r>
          </a:p>
          <a:p>
            <a:endParaRPr/>
          </a:p>
          <a:p>
            <a:r>
              <a:rPr b="1"/>
              <a:t>KONUŞMA (TR)</a:t>
            </a:r>
          </a:p>
          <a:p>
            <a:r>
              <a:t>C2'nin çalışır hali: güven kapılama.</a:t>
            </a:r>
          </a:p>
          <a:p>
            <a:r>
              <a:t>Denklem: etkin aktivasyon eşittir güven çarpı gözlenen aktivasyon, artı bir eksi güven çarpı sönümlenmiş önceki tahmin.</a:t>
            </a:r>
          </a:p>
          <a:p>
            <a:r>
              <a:t>Grafik a: güven birken gözlem geçer. Güven sıfırken önsele dönülür. Arada doğrusal.</a:t>
            </a:r>
          </a:p>
          <a:p>
            <a:r>
              <a:t>Örnek: güven 0.9'da değer 0.9 çarpı 0.80 artı 0.1 çarpı 0.648, yani 0.78.</a:t>
            </a:r>
          </a:p>
          <a:p>
            <a:r>
              <a:t>Grafik b: gözlem kayboldu. Aktivasyon adım başına rho, 0.9 ile azalır. İlk taze raporda geri sıçrar.</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SPEECH (EN)</a:t>
            </a:r>
          </a:p>
          <a:p>
            <a:r>
              <a:t>One worked example, left to right.</a:t>
            </a:r>
          </a:p>
          <a:p>
            <a:r>
              <a:t>Three features come in: fire intensity 0.70, spread potential 0.62, temporal urgency 0.72.</a:t>
            </a:r>
          </a:p>
          <a:p>
            <a:r>
              <a:t>Fuzzification gives their memberships: 1.00, 0.47, 1.00.</a:t>
            </a:r>
          </a:p>
          <a:p>
            <a:r>
              <a:t>Level one: fire severity is 0.6 times 1.00 plus 0.4 times 0.47, which is 0.79.</a:t>
            </a:r>
          </a:p>
          <a:p>
            <a:r>
              <a:t>Level two: fire threat level 0.62.</a:t>
            </a:r>
          </a:p>
          <a:p>
            <a:r>
              <a:t>Level three: intervention urgency 0.71.</a:t>
            </a:r>
          </a:p>
          <a:p>
            <a:r>
              <a:t>The gated activation then becomes a rule antecedent.</a:t>
            </a:r>
          </a:p>
          <a:p>
            <a:r>
              <a:t>That is the whole pipeline: fuzzify, aggregate, gate.</a:t>
            </a:r>
          </a:p>
          <a:p>
            <a:endParaRPr/>
          </a:p>
          <a:p>
            <a:r>
              <a:rPr b="1"/>
              <a:t>KONUŞMA (TR)</a:t>
            </a:r>
          </a:p>
          <a:p>
            <a:r>
              <a:t>İşlenmiş bir örnek, soldan sağa.</a:t>
            </a:r>
          </a:p>
          <a:p>
            <a:r>
              <a:t>Üç özellik geliyor: yangın yoğunluğu 0.70, yayılım potansiyeli 0.62, zamansal aciliyet 0.72.</a:t>
            </a:r>
          </a:p>
          <a:p>
            <a:r>
              <a:t>Bulanıklaştırma üyeliklerini veriyor: 1.00, 0.47, 1.00.</a:t>
            </a:r>
          </a:p>
          <a:p>
            <a:r>
              <a:t>Birinci seviye: yangın şiddeti 0.6 çarpı 1.00 artı 0.4 çarpı 0.47, yani 0.79.</a:t>
            </a:r>
          </a:p>
          <a:p>
            <a:r>
              <a:t>İkinci seviye: yangın tehdit seviyesi 0.62.</a:t>
            </a:r>
          </a:p>
          <a:p>
            <a:r>
              <a:t>Üçüncü seviye: müdahale aciliyeti 0.71.</a:t>
            </a:r>
          </a:p>
          <a:p>
            <a:r>
              <a:t>Kapılanmış aktivasyon sonra bir kural öncülü olur.</a:t>
            </a:r>
          </a:p>
          <a:p>
            <a:r>
              <a:t>Bütün boru hattı bu: bulanıklaştır, topla, kapıla.</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SPEECH (EN)</a:t>
            </a:r>
          </a:p>
          <a:p>
            <a:r>
              <a:t>This slide is important. Why zero-order Takagi-Sugeno and not Mamdani?</a:t>
            </a:r>
          </a:p>
          <a:p>
            <a:r>
              <a:t>Mamdani, on the left: the consequent is a fuzzy set, 'then u is HIGH'.</a:t>
            </a:r>
          </a:p>
          <a:p>
            <a:r>
              <a:t>Output sets are clipped, aggregated, then defuzzified with a centroid integral.</a:t>
            </a:r>
          </a:p>
          <a:p>
            <a:r>
              <a:t>Strength: linguistic output. Cost: the integral blurs which rule ordered what. Tuning means reshaping whole sets.</a:t>
            </a:r>
          </a:p>
          <a:p>
            <a:r>
              <a:t>Takagi-Sugeno, on the right: the consequent is a number, 'then suppression equals 0.8'.</a:t>
            </a:r>
          </a:p>
          <a:p>
            <a:r>
              <a:t>The order is an activation-weighted average of singletons. No defuzzification.</a:t>
            </a:r>
          </a:p>
          <a:p>
            <a:r>
              <a:t>Unit-floored denominator: weak evidence gives weak action.</a:t>
            </a:r>
          </a:p>
          <a:p>
            <a:r>
              <a:t>Each rule's share stays visible. Traceable by construction.</a:t>
            </a:r>
          </a:p>
          <a:p>
            <a:r>
              <a:t>Four reasons why this follows from the framework:</a:t>
            </a:r>
          </a:p>
          <a:p>
            <a:r>
              <a:t>One: the outputs are already numbers, intensities in zero-one.</a:t>
            </a:r>
          </a:p>
          <a:p>
            <a:r>
              <a:t>Two: adaptation needs a number to move. Stage one moves exactly these singletons in 0.05 steps, testable and reversible.</a:t>
            </a:r>
          </a:p>
          <a:p>
            <a:r>
              <a:t>Three: traceability needs named rules with visible weights.</a:t>
            </a:r>
          </a:p>
          <a:p>
            <a:r>
              <a:t>Four: nothing linguistic is lost. The antecedent side stays fully fuzzy.</a:t>
            </a:r>
          </a:p>
          <a:p>
            <a:r>
              <a:t>So this is not a preference. It is what the framework requires.</a:t>
            </a:r>
          </a:p>
          <a:p>
            <a:endParaRPr/>
          </a:p>
          <a:p>
            <a:r>
              <a:rPr b="1"/>
              <a:t>KONUŞMA (TR)</a:t>
            </a:r>
          </a:p>
          <a:p>
            <a:r>
              <a:t>Bu slayt önemli. Neden Mamdani değil de sıfırıncı derece Takagi-Sugeno?</a:t>
            </a:r>
          </a:p>
          <a:p>
            <a:r>
              <a:t>Solda Mamdani: sonuç bir bulanık küme, 'o halde u YÜKSEK'.</a:t>
            </a:r>
          </a:p>
          <a:p>
            <a:r>
              <a:t>Çıktı kümeleri kırpılır, toplanır, ağırlık merkezi integraliyle durulaştırılır.</a:t>
            </a:r>
          </a:p>
          <a:p>
            <a:r>
              <a:t>Gücü: dilsel çıktı. Bedeli: integral hangi kuralın neyi emrettiğini bulanıklaştırır. Ayar bütün kümeleri yeniden şekillendirmek demek.</a:t>
            </a:r>
          </a:p>
          <a:p>
            <a:r>
              <a:t>Sağda Takagi-Sugeno: sonuç bir sayı, 'o halde bastırma 0.8'.</a:t>
            </a:r>
          </a:p>
          <a:p>
            <a:r>
              <a:t>Emir, tekil değerlerin aktivasyon ağırlıklı ortalaması. Durulaştırma yok.</a:t>
            </a:r>
          </a:p>
          <a:p>
            <a:r>
              <a:t>Paydası birde tabanlı: zayıf kanıt zayıf eylem verir.</a:t>
            </a:r>
          </a:p>
          <a:p>
            <a:r>
              <a:t>Her kuralın payı görünür kalır. Yapısal olarak izlenebilir.</a:t>
            </a:r>
          </a:p>
          <a:p>
            <a:r>
              <a:t>Bunun çerçevenin gereği olmasının dört nedeni:</a:t>
            </a:r>
          </a:p>
          <a:p>
            <a:r>
              <a:t>Bir: çıktılar zaten sayı, sıfır-bir arası şiddetler.</a:t>
            </a:r>
          </a:p>
          <a:p>
            <a:r>
              <a:t>İki: uyarlanma oynatacak bir sayı ister. Birinci aşama tam bu tekil değerleri 0.05'lik adımlarla oynatır, test edilir ve geri alınır.</a:t>
            </a:r>
          </a:p>
          <a:p>
            <a:r>
              <a:t>Üç: izlenebilirlik görünür ağırlıklı isimli kurallar ister.</a:t>
            </a:r>
          </a:p>
          <a:p>
            <a:r>
              <a:t>Dört: dilsel hiçbir şey kaybolmaz. Öncül tarafı tamamen bulanık kalır.</a:t>
            </a:r>
          </a:p>
          <a:p>
            <a:r>
              <a:t>Yani bu bir tercih değil. Çerçevenin gerektirdiği şey.</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5038437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SPEECH (EN)</a:t>
            </a:r>
          </a:p>
          <a:p>
            <a:r>
              <a:t>On the map one last time: layer four, the decision space, where the contribution lives.</a:t>
            </a:r>
          </a:p>
          <a:p>
            <a:endParaRPr/>
          </a:p>
          <a:p>
            <a:r>
              <a:rPr b="1"/>
              <a:t>KONUŞMA (TR)</a:t>
            </a:r>
          </a:p>
          <a:p>
            <a:r>
              <a:t>Haritada son kez: dördüncü katman, katkının yaşadığı karar uzayı.</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4817813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SPEECH (EN)</a:t>
            </a:r>
          </a:p>
          <a:p>
            <a:r>
              <a:t>Layer four: decide, price, test, adapt.</a:t>
            </a:r>
          </a:p>
          <a:p>
            <a:r>
              <a:t>The flowchart is the whole layer.</a:t>
            </a:r>
          </a:p>
          <a:p>
            <a:r>
              <a:t>Concepts fire the rules and give a candidate decision.</a:t>
            </a:r>
          </a:p>
          <a:p>
            <a:r>
              <a:t>Cost J and quality Q are evaluated per region.</a:t>
            </a:r>
          </a:p>
          <a:p>
            <a:r>
              <a:t>Cost passes and quality passes: apply as is.</a:t>
            </a:r>
          </a:p>
          <a:p>
            <a:r>
              <a:t>Quality fails: apply through the graduated fail-safe.</a:t>
            </a:r>
          </a:p>
          <a:p>
            <a:r>
              <a:t>Cost fails: the adaptation ladder. One, modify memberships and consequents. Two, add a term or split a region. Three, generate a new rule through nine gates.</a:t>
            </a:r>
          </a:p>
          <a:p>
            <a:r>
              <a:t>It runs once per cycle, in a fixed order.</a:t>
            </a:r>
          </a:p>
          <a:p>
            <a:r>
              <a:t>Life-safety orders are never reduced.</a:t>
            </a:r>
          </a:p>
          <a:p>
            <a:endParaRPr/>
          </a:p>
          <a:p>
            <a:r>
              <a:rPr b="1"/>
              <a:t>KONUŞMA (TR)</a:t>
            </a:r>
          </a:p>
          <a:p>
            <a:r>
              <a:t>Dördüncü katman: karar ver, fiyatla, test et, uyarla.</a:t>
            </a:r>
          </a:p>
          <a:p>
            <a:r>
              <a:t>Akış şeması katmanın tamamı.</a:t>
            </a:r>
          </a:p>
          <a:p>
            <a:r>
              <a:t>Kavramlar kuralları ateşler ve aday karar verir.</a:t>
            </a:r>
          </a:p>
          <a:p>
            <a:r>
              <a:t>Maliyet J ve kalite Q bölge başına değerlendirilir.</a:t>
            </a:r>
          </a:p>
          <a:p>
            <a:r>
              <a:t>Maliyet geçer, kalite geçer: olduğu gibi uygula.</a:t>
            </a:r>
          </a:p>
          <a:p>
            <a:r>
              <a:t>Kalite kalır: kademeli güvenli moddan uygula.</a:t>
            </a:r>
          </a:p>
          <a:p>
            <a:r>
              <a:t>Maliyet kalır: uyarlanma merdiveni. Bir, üyelikleri ve sonuçları değiştir. İki, terim ekle ya da bölge böl. Üç, dokuz kapıdan yeni kural üret.</a:t>
            </a:r>
          </a:p>
          <a:p>
            <a:r>
              <a:t>Çevrimde bir kez, sabit sırayla koşar.</a:t>
            </a:r>
          </a:p>
          <a:p>
            <a:r>
              <a:t>Can güvenliği emirleri asla azaltılmaz.</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SPEECH (EN)</a:t>
            </a:r>
          </a:p>
          <a:p>
            <a:r>
              <a:t>The vocabulary of action. Two lists.</a:t>
            </a:r>
          </a:p>
          <a:p>
            <a:r>
              <a:t>Six intervention families, the language of decisions: suppression effort, resource deployment, containment line, asset protection, evacuation, public warning.</a:t>
            </a:r>
          </a:p>
          <a:p>
            <a:r>
              <a:t>Seven physical effects, the only ways to touch the world: wet, clear, ignite, coat, evacuate, prime, draft.</a:t>
            </a:r>
          </a:p>
          <a:p>
            <a:r>
              <a:t>A decision is an intensity in zero-one on each name in the vocabulary.</a:t>
            </a:r>
          </a:p>
          <a:p>
            <a:r>
              <a:t>The basis is fixed. The vocabulary is open.</a:t>
            </a:r>
          </a:p>
          <a:p>
            <a:r>
              <a:t>Macros and actuators compose effects. They never invent physics.</a:t>
            </a:r>
          </a:p>
          <a:p>
            <a:endParaRPr/>
          </a:p>
          <a:p>
            <a:r>
              <a:rPr b="1"/>
              <a:t>KONUŞMA (TR)</a:t>
            </a:r>
          </a:p>
          <a:p>
            <a:r>
              <a:t>Eylem sözlüğü. İki liste.</a:t>
            </a:r>
          </a:p>
          <a:p>
            <a:r>
              <a:t>Altı müdahale ailesi, kararların dili: bastırma çabası, kaynak konuşlandırma, çevreleme hattı, varlık koruma, tahliye, kamu uyarısı.</a:t>
            </a:r>
          </a:p>
          <a:p>
            <a:r>
              <a:t>Yedi fiziksel etki, dünyaya dokunmanın tek yolları: wet, clear, ignite, coat, evacuate, prime, draft.</a:t>
            </a:r>
          </a:p>
          <a:p>
            <a:r>
              <a:t>Bir karar, sözlükteki her isim için sıfır-bir arası bir şiddet.</a:t>
            </a:r>
          </a:p>
          <a:p>
            <a:r>
              <a:t>Taban sabit. Sözlük açık.</a:t>
            </a:r>
          </a:p>
          <a:p>
            <a:r>
              <a:t>Makrolar ve aktüatörler etkileri birleştirir. Asla fizik icat etmez.</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D6CE3-1880-0CC7-AFD9-5CAE9FC1CD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3482C9-75D1-0C46-C42F-CBA3DF0902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558416-3185-7D49-FC4F-7CF04C22451E}"/>
              </a:ext>
            </a:extLst>
          </p:cNvPr>
          <p:cNvSpPr>
            <a:spLocks noGrp="1"/>
          </p:cNvSpPr>
          <p:nvPr>
            <p:ph type="body" idx="1"/>
          </p:nvPr>
        </p:nvSpPr>
        <p:spPr/>
        <p:txBody>
          <a:bodyPr/>
          <a:lstStyle/>
          <a:p>
            <a:r>
              <a:rPr b="1"/>
              <a:t>SPEECH (EN)</a:t>
            </a:r>
          </a:p>
          <a:p>
            <a:r>
              <a:t>Same map, next station: the cost and quality tests, in the grey box.</a:t>
            </a:r>
          </a:p>
          <a:p>
            <a:endParaRPr/>
          </a:p>
          <a:p>
            <a:r>
              <a:rPr b="1"/>
              <a:t>KONUŞMA (TR)</a:t>
            </a:r>
          </a:p>
          <a:p>
            <a:r>
              <a:t>Aynı harita, sonraki durak: gri kutudaki maliyet ve kalite testleri.</a:t>
            </a:r>
          </a:p>
        </p:txBody>
      </p:sp>
      <p:sp>
        <p:nvSpPr>
          <p:cNvPr id="4" name="Slide Number Placeholder 3">
            <a:extLst>
              <a:ext uri="{FF2B5EF4-FFF2-40B4-BE49-F238E27FC236}">
                <a16:creationId xmlns:a16="http://schemas.microsoft.com/office/drawing/2014/main" id="{F2A799F7-3876-BE74-DF99-D18588B6AFF5}"/>
              </a:ext>
            </a:extLst>
          </p:cNvPr>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300998642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976B6-7F32-C82D-474B-498B3CD3EB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4BD519-03C5-DDF0-0B5D-1EA9030B4F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2BE921-281D-B9B9-8438-61437716B88B}"/>
              </a:ext>
            </a:extLst>
          </p:cNvPr>
          <p:cNvSpPr>
            <a:spLocks noGrp="1"/>
          </p:cNvSpPr>
          <p:nvPr>
            <p:ph type="body" idx="1"/>
          </p:nvPr>
        </p:nvSpPr>
        <p:spPr/>
        <p:txBody>
          <a:bodyPr/>
          <a:lstStyle/>
          <a:p>
            <a:r>
              <a:rPr b="1"/>
              <a:t>SPEECH (EN)</a:t>
            </a:r>
          </a:p>
          <a:p>
            <a:r>
              <a:t>One cost, two readings.</a:t>
            </a:r>
          </a:p>
          <a:p>
            <a:r>
              <a:t>J-total is used by the acceptance test. It prices all five terms: burned area, asset loss, population exposure, response effort, response delay.</a:t>
            </a:r>
          </a:p>
          <a:p>
            <a:r>
              <a:t>Effort is priced on purpose. Otherwise 'maximum action everywhere' would be free.</a:t>
            </a:r>
          </a:p>
          <a:p>
            <a:r>
              <a:t>J-phys is used by every trial, every gate and the no-harm veto. Physics only.</a:t>
            </a:r>
          </a:p>
          <a:p>
            <a:r>
              <a:t>This closes the 'order less, look better' loophole.</a:t>
            </a:r>
          </a:p>
          <a:p>
            <a:r>
              <a:t>The no-harm veto asks: is acting better than doing nothing?</a:t>
            </a:r>
          </a:p>
          <a:p>
            <a:r>
              <a:t>The table shows the normalization. Every term is a ratio, so costs compare across scenarios.</a:t>
            </a:r>
          </a:p>
          <a:p>
            <a:r>
              <a:t>Weights: the three physical losses get one each. Effort and delay get 0.2. Small but never free.</a:t>
            </a:r>
          </a:p>
          <a:p>
            <a:endParaRPr/>
          </a:p>
          <a:p>
            <a:r>
              <a:rPr b="1"/>
              <a:t>KONUŞMA (TR)</a:t>
            </a:r>
          </a:p>
          <a:p>
            <a:r>
              <a:t>Tek maliyet, iki okuma.</a:t>
            </a:r>
          </a:p>
          <a:p>
            <a:r>
              <a:t>J-total kabul testinde kullanılır. Beş terimi de fiyatlar: yanan alan, varlık kaybı, nüfus maruziyeti, müdahale çabası, müdahale gecikmesi.</a:t>
            </a:r>
          </a:p>
          <a:p>
            <a:r>
              <a:t>Çaba bilerek fiyatlanır. Yoksa 'her yerde azami eylem' bedava olurdu.</a:t>
            </a:r>
          </a:p>
          <a:p>
            <a:r>
              <a:t>J-phys her denemede, her kapıda ve zarar-yok vetosunda kullanılır. Yalnızca fizik.</a:t>
            </a:r>
          </a:p>
          <a:p>
            <a:r>
              <a:t>Bu 'az emret, iyi görün' açığını kapatır.</a:t>
            </a:r>
          </a:p>
          <a:p>
            <a:r>
              <a:t>Zarar-yok vetosu sorar: eylemek hiçbir şey yapmamaktan iyi mi?</a:t>
            </a:r>
          </a:p>
          <a:p>
            <a:r>
              <a:t>Tablo normalizasyonu gösteriyor. Her terim oran, maliyetler senaryolar arasında karşılaştırılır.</a:t>
            </a:r>
          </a:p>
          <a:p>
            <a:r>
              <a:t>Ağırlıklar: üç fiziksel kayıp birer. Çaba ve gecikme 0.2. Küçük ama asla bedava değil.</a:t>
            </a:r>
          </a:p>
        </p:txBody>
      </p:sp>
      <p:sp>
        <p:nvSpPr>
          <p:cNvPr id="4" name="Slide Number Placeholder 3">
            <a:extLst>
              <a:ext uri="{FF2B5EF4-FFF2-40B4-BE49-F238E27FC236}">
                <a16:creationId xmlns:a16="http://schemas.microsoft.com/office/drawing/2014/main" id="{7957E6F7-E06B-872A-51D9-D747B3D021E1}"/>
              </a:ext>
            </a:extLst>
          </p:cNvPr>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318835221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SPEECH (EN)</a:t>
            </a:r>
          </a:p>
          <a:p>
            <a:r>
              <a:t>Two tests, two different failures.</a:t>
            </a:r>
          </a:p>
          <a:p>
            <a:r>
              <a:t>Test one, satisficing cost: is the outcome acceptable?</a:t>
            </a:r>
          </a:p>
          <a:p>
            <a:r>
              <a:t>The bound is the tighter of a ceiling, 0.35, and a five percent gain over doing nothing.</a:t>
            </a:r>
          </a:p>
          <a:p>
            <a:r>
              <a:t>Ceiling binds on large fires. Margin binds on small fires.</a:t>
            </a:r>
          </a:p>
          <a:p>
            <a:r>
              <a:t>Test two, quality: does the order serve the concepts that demand it?</a:t>
            </a:r>
          </a:p>
          <a:p>
            <a:r>
              <a:t>Each demanding concept pairs with its family: threat with suppression, assets with protection, urgency with deployment, evacuation with evacuation and warning.</a:t>
            </a:r>
          </a:p>
          <a:p>
            <a:r>
              <a:t>Accept when Q is at least 0.60.</a:t>
            </a:r>
          </a:p>
          <a:p>
            <a:r>
              <a:t>Why two stages? The failures are orthogonal.</a:t>
            </a:r>
          </a:p>
          <a:p>
            <a:r>
              <a:t>A cheap order can ignore an evacuation demand. Only Q catches it.</a:t>
            </a:r>
          </a:p>
          <a:p>
            <a:r>
              <a:t>A well-aimed order can be wasteful. Only J catches it.</a:t>
            </a:r>
          </a:p>
          <a:p>
            <a:r>
              <a:t>Cost failures call adaptation. Quality deficits call the fail-safe.</a:t>
            </a:r>
          </a:p>
          <a:p>
            <a:endParaRPr/>
          </a:p>
          <a:p>
            <a:r>
              <a:rPr b="1"/>
              <a:t>KONUŞMA (TR)</a:t>
            </a:r>
          </a:p>
          <a:p>
            <a:r>
              <a:t>İki test, iki farklı başarısızlık.</a:t>
            </a:r>
          </a:p>
          <a:p>
            <a:r>
              <a:t>Birinci test, tatmin edici maliyet: sonuç kabul edilebilir mi?</a:t>
            </a:r>
          </a:p>
          <a:p>
            <a:r>
              <a:t>Sınır, 0.35 tavanı ile eylemsizliğe göre yüzde beş kazancın sıkı olanı.</a:t>
            </a:r>
          </a:p>
          <a:p>
            <a:r>
              <a:t>Tavan büyük yangınlarda bağlar. Marj küçük yangınlarda bağlar.</a:t>
            </a:r>
          </a:p>
          <a:p>
            <a:r>
              <a:t>İkinci test, kalite: emir, onu talep eden kavramlara hizmet ediyor mu?</a:t>
            </a:r>
          </a:p>
          <a:p>
            <a:r>
              <a:t>Talep eden her kavram ailesiyle eşleşir: tehdit bastırmayla, varlık korumayla, aciliyet konuşlandırmayla, tahliye tahliye ve uyarıyla.</a:t>
            </a:r>
          </a:p>
          <a:p>
            <a:r>
              <a:t>Q en az 0.60 ise kabul.</a:t>
            </a:r>
          </a:p>
          <a:p>
            <a:r>
              <a:t>Neden iki aşama? Başarısızlıklar birbirine dik.</a:t>
            </a:r>
          </a:p>
          <a:p>
            <a:r>
              <a:t>Ucuz bir emir tahliye talebini görmezden gelebilir. Bunu yalnızca Q yakalar.</a:t>
            </a:r>
          </a:p>
          <a:p>
            <a:r>
              <a:t>İyi nişanlanmış bir emir israf olabilir. Bunu yalnızca J yakalar.</a:t>
            </a:r>
          </a:p>
          <a:p>
            <a:r>
              <a:t>Maliyet başarısızlığı uyarlanmayı çağırır. Kalite açığı güvenli modu çağırır.</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SPEECH (EN)</a:t>
            </a:r>
          </a:p>
          <a:p>
            <a:r>
              <a:t>The cost test with real numbers. Let me read the table quickly.</a:t>
            </a:r>
          </a:p>
          <a:p>
            <a:r>
              <a:t>Candidate versus no action: burned area 0.5218 versus 0.5376. Asset loss 0.2226 versus 0.3061.</a:t>
            </a:r>
          </a:p>
          <a:p>
            <a:r>
              <a:t>Response effort is higher for the candidate. Response delay is zero for no action, because nothing new is dispatched.</a:t>
            </a:r>
          </a:p>
          <a:p>
            <a:r>
              <a:t>Weighted sums: 0.8004 versus 0.8506. Total weight 3.4.</a:t>
            </a:r>
          </a:p>
          <a:p>
            <a:r>
              <a:t>No action: 0.8506 over 3.4 gives 0.2502.</a:t>
            </a:r>
          </a:p>
          <a:p>
            <a:r>
              <a:t>Candidate: 0.8004 over 3.4 gives 0.2354.</a:t>
            </a:r>
          </a:p>
          <a:p>
            <a:r>
              <a:t>Bound: the smaller of 0.35 and 0.95 times 0.2502, which is 0.2377. The margin binds.</a:t>
            </a:r>
          </a:p>
          <a:p>
            <a:r>
              <a:t>0.2354 is below 0.2377. Accepted on cost.</a:t>
            </a:r>
          </a:p>
          <a:p>
            <a:endParaRPr/>
          </a:p>
          <a:p>
            <a:r>
              <a:rPr b="1"/>
              <a:t>KONUŞMA (TR)</a:t>
            </a:r>
          </a:p>
          <a:p>
            <a:r>
              <a:t>Gerçek sayılarla maliyet testi. Tabloyu hızlıca okuyayım.</a:t>
            </a:r>
          </a:p>
          <a:p>
            <a:r>
              <a:t>Aday ve eylemsizlik: yanan alan 0.5218'e karşı 0.5376. Varlık kaybı 0.2226'ya karşı 0.3061.</a:t>
            </a:r>
          </a:p>
          <a:p>
            <a:r>
              <a:t>Aday için müdahale çabası daha yüksek. Eylemsizlikte gecikme sıfır, çünkü yeni bir şey gönderilmiyor.</a:t>
            </a:r>
          </a:p>
          <a:p>
            <a:r>
              <a:t>Ağırlıklı toplamlar: 0.8004'e karşı 0.8506. Toplam ağırlık 3.4.</a:t>
            </a:r>
          </a:p>
          <a:p>
            <a:r>
              <a:t>Eylemsizlik: 0.8506 bölü 3.4, 0.2502.</a:t>
            </a:r>
          </a:p>
          <a:p>
            <a:r>
              <a:t>Aday: 0.8004 bölü 3.4, 0.2354.</a:t>
            </a:r>
          </a:p>
          <a:p>
            <a:r>
              <a:t>Sınır: 0.35 ile 0.95 çarpı 0.2502 yani 0.2377'nin küçüğü. Marj bağlıyor.</a:t>
            </a:r>
          </a:p>
          <a:p>
            <a:r>
              <a:t>0.2354, 0.2377'nin altında. Maliyet üzerinden kabul.</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SPEECH (EN)</a:t>
            </a:r>
          </a:p>
          <a:p>
            <a:r>
              <a:t>The quality test, in two regions.</a:t>
            </a:r>
          </a:p>
          <a:p>
            <a:r>
              <a:t>The table: per region, the four demanding concepts, what they demand, what was ordered, and the gap.</a:t>
            </a:r>
          </a:p>
          <a:p>
            <a:r>
              <a:t>Ordering too much counts the same as too little.</a:t>
            </a:r>
          </a:p>
          <a:p>
            <a:r>
              <a:t>Region one: gaps 0.237, 0.492, 0.085, 0.497. Q is 0.672. Above 0.60, orders applied as written.</a:t>
            </a:r>
          </a:p>
          <a:p>
            <a:r>
              <a:t>Region two: Q is 0.516. Below 0.60, the fail-safe engages.</a:t>
            </a:r>
          </a:p>
          <a:p>
            <a:r>
              <a:t>Every offensive order is multiplied by 0.516 over 0.6, that is 0.86. Weakened, not cancelled.</a:t>
            </a:r>
          </a:p>
          <a:p>
            <a:r>
              <a:t>Evacuation and warning are never attenuated. Here none was ordered: demand 0.674, ordered zero.</a:t>
            </a:r>
          </a:p>
          <a:p>
            <a:r>
              <a:t>Only quality saw that gap. The cost test cannot, because unburnt assets carry no cost inside the horizon.</a:t>
            </a:r>
          </a:p>
          <a:p>
            <a:endParaRPr/>
          </a:p>
          <a:p>
            <a:r>
              <a:rPr b="1"/>
              <a:t>KONUŞMA (TR)</a:t>
            </a:r>
          </a:p>
          <a:p>
            <a:r>
              <a:t>Kalite testi, iki bölgede.</a:t>
            </a:r>
          </a:p>
          <a:p>
            <a:r>
              <a:t>Tablo: bölge başına dört talep eden kavram, ne talep edildi, ne emredildi ve fark.</a:t>
            </a:r>
          </a:p>
          <a:p>
            <a:r>
              <a:t>Fazla emretmek de az emretmek kadar sayılır.</a:t>
            </a:r>
          </a:p>
          <a:p>
            <a:r>
              <a:t>Birinci bölge: farklar 0.237, 0.492, 0.085, 0.497. Q 0.672. 0.60'ın üstünde, emirler yazıldığı gibi uygulanır.</a:t>
            </a:r>
          </a:p>
          <a:p>
            <a:r>
              <a:t>İkinci bölge: Q 0.516. 0.60'ın altında, güvenli mod devreye girer.</a:t>
            </a:r>
          </a:p>
          <a:p>
            <a:r>
              <a:t>Her saldırı emri 0.516 bölü 0.6, yani 0.86 ile çarpılır. Zayıflar, iptal edilmez.</a:t>
            </a:r>
          </a:p>
          <a:p>
            <a:r>
              <a:t>Tahliye ve uyarı asla kısılmaz. Burada hiç emredilmemiş: talep 0.674, emir sıfır.</a:t>
            </a:r>
          </a:p>
          <a:p>
            <a:r>
              <a:t>Bu açığı yalnızca kalite gördü. Maliyet testi göremez, çünkü yanmamış varlıklar ufuk içinde maliyet taşımaz.</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SPEECH (EN)</a:t>
            </a:r>
          </a:p>
          <a:p>
            <a:r>
              <a:t>Last station on the map: adaptation — the three stages in the grey box.</a:t>
            </a:r>
          </a:p>
          <a:p>
            <a:endParaRPr/>
          </a:p>
          <a:p>
            <a:r>
              <a:rPr b="1"/>
              <a:t>KONUŞMA (TR)</a:t>
            </a:r>
          </a:p>
          <a:p>
            <a:r>
              <a:t>Haritanın son durağı: uyarlanma — gri kutudaki üç aşama.</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93020353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SPEECH (EN)</a:t>
            </a:r>
          </a:p>
          <a:p>
            <a:r>
              <a:t>The whole starting doctrine is five seed rules.</a:t>
            </a:r>
          </a:p>
          <a:p>
            <a:r>
              <a:t>R1: asset exposure very high and feasibility low. Asset protection 0.9, containment 0.6.</a:t>
            </a:r>
          </a:p>
          <a:p>
            <a:r>
              <a:t>R2: evacuation pressure very high and feasibility very low. Evacuation 1.0, warning 1.0, deployment 0.7.</a:t>
            </a:r>
          </a:p>
          <a:p>
            <a:r>
              <a:t>R3: threat very high and feasibility very low. Containment 0.9, evacuation 0.6, warning 0.8.</a:t>
            </a:r>
          </a:p>
          <a:p>
            <a:r>
              <a:t>R4: urgency very high. Deployment 1.0, preemption across regions.</a:t>
            </a:r>
          </a:p>
          <a:p>
            <a:r>
              <a:t>R5: threat very high. Suppression 1.0, deployment 0.8.</a:t>
            </a:r>
          </a:p>
          <a:p>
            <a:r>
              <a:t>Why exactly five? Each demanding concept anchors at least one rule.</a:t>
            </a:r>
          </a:p>
          <a:p>
            <a:r>
              <a:t>Together they guarantee that some rule fires everywhere, with strength at least 0.05.</a:t>
            </a:r>
          </a:p>
          <a:p>
            <a:r>
              <a:t>Deliberately minimal. Everything else is earned by the adaptation ladder.</a:t>
            </a:r>
          </a:p>
          <a:p>
            <a:r>
              <a:t>The campaign grows it to 129 tuned trials, 40 instantiated and 47 admitted rules.</a:t>
            </a:r>
          </a:p>
          <a:p>
            <a:endParaRPr/>
          </a:p>
          <a:p>
            <a:r>
              <a:rPr b="1"/>
              <a:t>KONUŞMA (TR)</a:t>
            </a:r>
          </a:p>
          <a:p>
            <a:r>
              <a:t>Başlangıç doktrininin tamamı beş tohum kural.</a:t>
            </a:r>
          </a:p>
          <a:p>
            <a:r>
              <a:t>R1: varlık maruziyeti çok yüksek ve yapılabilirlik düşük. Varlık koruma 0.9, çevreleme 0.6.</a:t>
            </a:r>
          </a:p>
          <a:p>
            <a:r>
              <a:t>R2: tahliye baskısı çok yüksek ve yapılabilirlik çok düşük. Tahliye 1.0, uyarı 1.0, konuşlandırma 0.7.</a:t>
            </a:r>
          </a:p>
          <a:p>
            <a:r>
              <a:t>R3: tehdit çok yüksek ve yapılabilirlik çok düşük. Çevreleme 0.9, tahliye 0.6, uyarı 0.8.</a:t>
            </a:r>
          </a:p>
          <a:p>
            <a:r>
              <a:t>R4: aciliyet çok yüksek. Konuşlandırma 1.0, bölgeler arası öncelik.</a:t>
            </a:r>
          </a:p>
          <a:p>
            <a:r>
              <a:t>R5: tehdit çok yüksek. Bastırma 1.0, konuşlandırma 0.8.</a:t>
            </a:r>
          </a:p>
          <a:p>
            <a:r>
              <a:t>Neden tam beş? Talep eden her kavram en az bir kuralı taşır.</a:t>
            </a:r>
          </a:p>
          <a:p>
            <a:r>
              <a:t>Birlikte her yerde bir kuralın en az 0.05 güçle ateşlenmesini garanti ederler.</a:t>
            </a:r>
          </a:p>
          <a:p>
            <a:r>
              <a:t>Bilerek asgari. Gerisi uyarlanma merdiveniyle kazanılır.</a:t>
            </a:r>
          </a:p>
          <a:p>
            <a:r>
              <a:t>Kampanya bunu 129 ayarlanmış deneme, 40 örneklenmiş ve 47 kabul edilmiş kurala büyütüyor.</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SPEECH (EN)</a:t>
            </a:r>
          </a:p>
          <a:p>
            <a:r>
              <a:t>How is the adaptation stage selected?</a:t>
            </a:r>
          </a:p>
          <a:p>
            <a:r>
              <a:t>The cost test failed. Exactly one repair is tried.</a:t>
            </a:r>
          </a:p>
          <a:p>
            <a:r>
              <a:t>The situation is two facts: coverage, does any rule fire above the floor, and the cost deficit, how far above the bound.</a:t>
            </a:r>
          </a:p>
          <a:p>
            <a:r>
              <a:t>Three repairs: one, tune rules that fire. Two, add a term or split a region. Three, propose a new rule.</a:t>
            </a:r>
          </a:p>
          <a:p>
            <a:r>
              <a:t>The choice is epsilon-greedy: the stage with the best score H, or a random stage with probability 0.10.</a:t>
            </a:r>
          </a:p>
          <a:p>
            <a:r>
              <a:t>H is updated with a small step, alpha 0.05, toward the physical gain of the trial.</a:t>
            </a:r>
          </a:p>
          <a:p>
            <a:r>
              <a:t>The pink box is the safeguard.</a:t>
            </a:r>
          </a:p>
          <a:p>
            <a:r>
              <a:t>The controller chooses what to try. The gates decide what is kept.</a:t>
            </a:r>
          </a:p>
          <a:p>
            <a:r>
              <a:t>A bad score can waste a cycle. It can never insert a rule.</a:t>
            </a:r>
          </a:p>
          <a:p>
            <a:r>
              <a:t>Stage three costs a model call and two rollouts, so it is the last resort.</a:t>
            </a:r>
          </a:p>
          <a:p>
            <a:endParaRPr/>
          </a:p>
          <a:p>
            <a:r>
              <a:rPr b="1"/>
              <a:t>KONUŞMA (TR)</a:t>
            </a:r>
          </a:p>
          <a:p>
            <a:r>
              <a:t>Uyarlanma aşaması nasıl seçilir?</a:t>
            </a:r>
          </a:p>
          <a:p>
            <a:r>
              <a:t>Maliyet testi kaldı. Tam olarak bir onarım denenir.</a:t>
            </a:r>
          </a:p>
          <a:p>
            <a:r>
              <a:t>Durum iki olgu: kapsama, herhangi bir kural tabanın üstünde ateşleniyor mu, ve maliyet açığı, sınırın ne kadar üstünde.</a:t>
            </a:r>
          </a:p>
          <a:p>
            <a:r>
              <a:t>Üç onarım: bir, ateşlenen kuralları ayarla. İki, terim ekle ya da bölge böl. Üç, yeni kural öner.</a:t>
            </a:r>
          </a:p>
          <a:p>
            <a:r>
              <a:t>Seçim epsilon-açgözlü: H puanı en iyi aşama, ya da 0.10 olasılıkla rastgele bir aşama.</a:t>
            </a:r>
          </a:p>
          <a:p>
            <a:r>
              <a:t>H, denemenin fiziksel kazancına doğru küçük bir adımla, alfa 0.05 ile güncellenir.</a:t>
            </a:r>
          </a:p>
          <a:p>
            <a:r>
              <a:t>Pembe kutu emniyet.</a:t>
            </a:r>
          </a:p>
          <a:p>
            <a:r>
              <a:t>Kontrolcü neyin deneneceğini seçer. Neyin kalacağına kapılar karar verir.</a:t>
            </a:r>
          </a:p>
          <a:p>
            <a:r>
              <a:t>Kötü bir puan bir çevrimi boşa harcayabilir. Asla kural ekleyemez.</a:t>
            </a:r>
          </a:p>
          <a:p>
            <a:r>
              <a:t>Üçüncü aşama bir model çağrısı ve iki rollout'a mal olur, bu yüzden son çare.</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SPEECH (EN)</a:t>
            </a:r>
          </a:p>
          <a:p>
            <a:r>
              <a:t>Stage one: parameter tuning.</a:t>
            </a:r>
          </a:p>
          <a:p>
            <a:r>
              <a:t>Left figure: a consequent takes one bounded step of 0.05.</a:t>
            </a:r>
          </a:p>
          <a:p>
            <a:r>
              <a:t>Right figure: a shared term boundary shifts. Both terms move together, so the partition stays valid.</a:t>
            </a:r>
          </a:p>
          <a:p>
            <a:r>
              <a:t>Example: rule R5 as seeded, deployment 0.80. After one accepted trial, 0.85.</a:t>
            </a:r>
          </a:p>
          <a:p>
            <a:r>
              <a:t>The trial acts on the two strongest-firing rules.</a:t>
            </a:r>
          </a:p>
          <a:p>
            <a:r>
              <a:t>Two futures from the same seed, with and without the change.</a:t>
            </a:r>
          </a:p>
          <a:p>
            <a:r>
              <a:t>Kept only if the physical cost strictly falls. Otherwise reverted.</a:t>
            </a:r>
          </a:p>
          <a:p>
            <a:r>
              <a:t>Record: 616 trials, 129 kept, 167 consequent updates.</a:t>
            </a:r>
          </a:p>
          <a:p>
            <a:endParaRPr/>
          </a:p>
          <a:p>
            <a:r>
              <a:rPr b="1"/>
              <a:t>KONUŞMA (TR)</a:t>
            </a:r>
          </a:p>
          <a:p>
            <a:r>
              <a:t>Birinci aşama: parametre ayarı.</a:t>
            </a:r>
          </a:p>
          <a:p>
            <a:r>
              <a:t>Sol şekil: bir sonuç 0.05'lik sınırlı bir adım atar.</a:t>
            </a:r>
          </a:p>
          <a:p>
            <a:r>
              <a:t>Sağ şekil: ortak bir terim sınırı kayar. İki terim birlikte hareket eder, bölümleme geçerli kalır.</a:t>
            </a:r>
          </a:p>
          <a:p>
            <a:r>
              <a:t>Örnek: tohumlandığı haliyle R5, konuşlandırma 0.80. Kabul edilen bir denemeden sonra 0.85.</a:t>
            </a:r>
          </a:p>
          <a:p>
            <a:r>
              <a:t>Deneme en güçlü ateşlenen iki kurala etki eder.</a:t>
            </a:r>
          </a:p>
          <a:p>
            <a:r>
              <a:t>Aynı tohumdan iki gelecek, değişiklikli ve değişikliksiz.</a:t>
            </a:r>
          </a:p>
          <a:p>
            <a:r>
              <a:t>Yalnızca fiziksel maliyet kesin düşerse tutulur. Yoksa geri alınır.</a:t>
            </a:r>
          </a:p>
          <a:p>
            <a:r>
              <a:t>Kayıt: 616 deneme, 129 tutuldu, 167 sonuç güncellemesi.</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SPEECH (EN)</a:t>
            </a:r>
          </a:p>
          <a:p>
            <a:r>
              <a:t>Stage two, mode one: a rule is written on an empty combination.</a:t>
            </a:r>
          </a:p>
          <a:p>
            <a:r>
              <a:t>The grid: fire threat across, evacuation pressure down. Grey cells already hold a rule.</a:t>
            </a:r>
          </a:p>
          <a:p>
            <a:r>
              <a:t>The orange cell, high threat and medium evacuation pressure, is empty. The situation lands there.</a:t>
            </a:r>
          </a:p>
          <a:p>
            <a:r>
              <a:t>Before: no rule fires above the floor. Only the watchful baseline acts.</a:t>
            </a:r>
          </a:p>
          <a:p>
            <a:r>
              <a:t>After: rule A1 is written on the cell.</a:t>
            </a:r>
          </a:p>
          <a:p>
            <a:r>
              <a:t>Its consequents are not guessed. The answering family gets the strongest concept's activation.</a:t>
            </a:r>
          </a:p>
          <a:p>
            <a:r>
              <a:t>Because the slot was empty, the rule is accepted if the forecast with it is not worse.</a:t>
            </a:r>
          </a:p>
          <a:p>
            <a:r>
              <a:t>Its numbers are tuned later by stage one.</a:t>
            </a:r>
          </a:p>
          <a:p>
            <a:endParaRPr/>
          </a:p>
          <a:p>
            <a:r>
              <a:rPr b="1"/>
              <a:t>KONUŞMA (TR)</a:t>
            </a:r>
          </a:p>
          <a:p>
            <a:r>
              <a:t>İkinci aşama, birinci mod: boş bir kombinasyona kural yazılır.</a:t>
            </a:r>
          </a:p>
          <a:p>
            <a:r>
              <a:t>Izgara: yatayda yangın tehdidi, dikeyde tahliye baskısı. Gri hücrelerde zaten kural var.</a:t>
            </a:r>
          </a:p>
          <a:p>
            <a:r>
              <a:t>Turuncu hücre, yüksek tehdit ve orta tahliye baskısı, boş. Durum oraya düşüyor.</a:t>
            </a:r>
          </a:p>
          <a:p>
            <a:r>
              <a:t>Öncesi: hiçbir kural tabanın üstünde ateşlenmiyor. Yalnızca temkinli taban eyliyor.</a:t>
            </a:r>
          </a:p>
          <a:p>
            <a:r>
              <a:t>Sonrası: hücreye A1 kuralı yazılıyor.</a:t>
            </a:r>
          </a:p>
          <a:p>
            <a:r>
              <a:t>Sonuçları tahmin edilmez. Cevap veren aile en güçlü kavramın aktivasyonunu alır.</a:t>
            </a:r>
          </a:p>
          <a:p>
            <a:r>
              <a:t>Yuva boş olduğu için kural, onunla yapılan tahmin kötü değilse kabul edilir.</a:t>
            </a:r>
          </a:p>
          <a:p>
            <a:r>
              <a:t>Sayıları sonradan birinci aşama ayarlar.</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SPEECH (EN)</a:t>
            </a:r>
          </a:p>
          <a:p>
            <a:r>
              <a:t>Stage two, mode two: a narrow term splits an ambiguous reading.</a:t>
            </a:r>
          </a:p>
          <a:p>
            <a:r>
              <a:t>Upper plot: the reading is x equals 0.42. Membership in low 0.53, in medium 0.47. Neither reaches the threshold 0.62.</a:t>
            </a:r>
          </a:p>
          <a:p>
            <a:r>
              <a:t>Two different situations share one cell. No change of consequents can separate them.</a:t>
            </a:r>
          </a:p>
          <a:p>
            <a:r>
              <a:t>Lower plot: a new term X is inserted, centred on the reading.</a:t>
            </a:r>
          </a:p>
          <a:p>
            <a:r>
              <a:t>The concept now has six terms. The catalogue grows from 3,125 to 3,750.</a:t>
            </a:r>
          </a:p>
          <a:p>
            <a:r>
              <a:t>A rule is then written on the refined cell.</a:t>
            </a:r>
          </a:p>
          <a:p>
            <a:r>
              <a:t>The new term stays outside the layer-three aggregation, so the concept algebra is unchanged.</a:t>
            </a:r>
          </a:p>
          <a:p>
            <a:r>
              <a:t>Both modes together: 359 trials, 40 rules, 4 term insertions.</a:t>
            </a:r>
          </a:p>
          <a:p>
            <a:endParaRPr/>
          </a:p>
          <a:p>
            <a:r>
              <a:rPr b="1"/>
              <a:t>KONUŞMA (TR)</a:t>
            </a:r>
          </a:p>
          <a:p>
            <a:r>
              <a:t>İkinci aşama, ikinci mod: dar bir terim belirsiz bir okumayı böler.</a:t>
            </a:r>
          </a:p>
          <a:p>
            <a:r>
              <a:t>Üst grafik: okuma x eşittir 0.42. Düşükte üyelik 0.53, ortada 0.47. İkisi de 0.62 eşiğine ulaşmıyor.</a:t>
            </a:r>
          </a:p>
          <a:p>
            <a:r>
              <a:t>İki farklı durum tek hücreyi paylaşıyor. Hiçbir sonuç değişikliği onları ayıramıyor.</a:t>
            </a:r>
          </a:p>
          <a:p>
            <a:r>
              <a:t>Alt grafik: okumaya ortalanmış yeni bir X terimi ekleniyor.</a:t>
            </a:r>
          </a:p>
          <a:p>
            <a:r>
              <a:t>Kavramın artık altı terimi var. Katalog 3.125'ten 3.750'ye büyüyor.</a:t>
            </a:r>
          </a:p>
          <a:p>
            <a:r>
              <a:t>Sonra incelmiş hücreye kural yazılıyor.</a:t>
            </a:r>
          </a:p>
          <a:p>
            <a:r>
              <a:t>Yeni terim üçüncü katman toplulaştırmasının dışında kalır, kavram cebiri değişmez.</a:t>
            </a:r>
          </a:p>
          <a:p>
            <a:r>
              <a:t>İki mod birlikte: 359 deneme, 40 kural, 4 terim ekleme.</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SPEECH (EN)</a:t>
            </a:r>
          </a:p>
          <a:p>
            <a:r>
              <a:t>Stage three: the generative stage. This is the core contribution.</a:t>
            </a:r>
          </a:p>
          <a:p>
            <a:r>
              <a:t>The flow on the left: the chronicle records every cycle. The nearest past cases go into the prompt.</a:t>
            </a:r>
          </a:p>
          <a:p>
            <a:r>
              <a:t>One: the trigger. Stages one and two have nothing left, and cost remains. One invocation per cycle.</a:t>
            </a:r>
          </a:p>
          <a:p>
            <a:r>
              <a:t>Two: the proposer. A pretrained language model gets the situation, the vocabulary and past verdicts.</a:t>
            </a:r>
          </a:p>
          <a:p>
            <a:r>
              <a:t>It returns exactly one candidate: a rule, or a rule plus one new object.</a:t>
            </a:r>
          </a:p>
          <a:p>
            <a:r>
              <a:t>Its weights are never updated. Its reply has no authority.</a:t>
            </a:r>
          </a:p>
          <a:p>
            <a:r>
              <a:t>Three: the gates. Five algebraic checks at zero cost. Two forecast rollouts. Payoff gates for packages.</a:t>
            </a:r>
          </a:p>
          <a:p>
            <a:r>
              <a:t>Four: the verdict. Admitted, it enters doctrine with provenance. Rejected, the failing gate is named.</a:t>
            </a:r>
          </a:p>
          <a:p>
            <a:r>
              <a:t>Both go to the chronicle and into the next prompt. A refused idea is not proposed twice.</a:t>
            </a:r>
          </a:p>
          <a:p>
            <a:r>
              <a:t>Step by step it is: summarize, propose, screen for free, forecast, accept, record.</a:t>
            </a:r>
          </a:p>
          <a:p>
            <a:r>
              <a:t>Wall-clock cap 90 seconds. A slow model is a skipped stage, never a stalled cycle.</a:t>
            </a:r>
          </a:p>
          <a:p>
            <a:r>
              <a:t>The model proposes. The gates decide.</a:t>
            </a:r>
          </a:p>
          <a:p>
            <a:endParaRPr/>
          </a:p>
          <a:p>
            <a:r>
              <a:rPr b="1"/>
              <a:t>KONUŞMA (TR)</a:t>
            </a:r>
          </a:p>
          <a:p>
            <a:r>
              <a:t>Üçüncü aşama: üretken aşama. Ana katkı bu.</a:t>
            </a:r>
          </a:p>
          <a:p>
            <a:r>
              <a:t>Soldaki akış: günce her çevrimi kaydeder. En yakın geçmiş vakalar prompta girer.</a:t>
            </a:r>
          </a:p>
          <a:p>
            <a:r>
              <a:t>Bir: tetikleyici. Birinci ve ikinci aşamanın yapacağı kalmadı, maliyet sürüyor. Çevrim başına bir çağrı.</a:t>
            </a:r>
          </a:p>
          <a:p>
            <a:r>
              <a:t>İki: önerici. Önceden eğitilmiş bir dil modeli durumu, sözlüğü ve geçmiş hükümleri alır.</a:t>
            </a:r>
          </a:p>
          <a:p>
            <a:r>
              <a:t>Tam olarak bir aday döndürür: bir kural, ya da kural artı bir yeni nesne.</a:t>
            </a:r>
          </a:p>
          <a:p>
            <a:r>
              <a:t>Ağırlıkları asla güncellenmez. Cevabının yetkisi yoktur.</a:t>
            </a:r>
          </a:p>
          <a:p>
            <a:r>
              <a:t>Üç: kapılar. Sıfır maliyetli beş cebirsel kontrol. İki tahmin rollout'u. Paketler için getiri kapıları.</a:t>
            </a:r>
          </a:p>
          <a:p>
            <a:r>
              <a:t>Dört: hüküm. Kabul edilirse kökeniyle doktrine girer. Reddedilirse kalan kapı adlandırılır.</a:t>
            </a:r>
          </a:p>
          <a:p>
            <a:r>
              <a:t>İkisi de günceye ve bir sonraki prompta gider. Reddedilen fikir iki kez önerilmez.</a:t>
            </a:r>
          </a:p>
          <a:p>
            <a:r>
              <a:t>Adım adım: özetle, öner, bedava ele, tahmin et, kabul et, kaydet.</a:t>
            </a:r>
          </a:p>
          <a:p>
            <a:r>
              <a:t>Duvar saati sınırı 90 saniye. Yavaş model atlanan aşamadır, asla takılan çevrim değil.</a:t>
            </a:r>
          </a:p>
          <a:p>
            <a:r>
              <a:t>Model önerir. Kapılar karar verir.</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SPEECH (EN)</a:t>
            </a:r>
          </a:p>
          <a:p>
            <a:r>
              <a:t>Let me show exactly what the model is given.</a:t>
            </a:r>
          </a:p>
          <a:p>
            <a:r>
              <a:t>In the prompt, every cycle: gated activations with confidences, the cost trajectory, the complete vocabulary, the actuator library with availability flags, and the nearest past cases with verdicts.</a:t>
            </a:r>
          </a:p>
          <a:p>
            <a:r>
              <a:t>Mathematically: a candidate c is drawn from q of c given the state and the vocabulary. The model is a proposal distribution over a closed space.</a:t>
            </a:r>
          </a:p>
          <a:p>
            <a:r>
              <a:t>The reply is one JSON object: at most three antecedents, three consequents, optionally one new object.</a:t>
            </a:r>
          </a:p>
          <a:p>
            <a:r>
              <a:t>Unknown names do not parse. The admissible space is closed before the model answers.</a:t>
            </a:r>
          </a:p>
          <a:p>
            <a:r>
              <a:t>Fixed system instruction, standing brief, 90-second budget, and no tools: the model cannot search, compute or touch the simulator.</a:t>
            </a:r>
          </a:p>
          <a:p>
            <a:r>
              <a:t>The prompt is deterministic engine output. The reply is data to be verified.</a:t>
            </a:r>
          </a:p>
          <a:p>
            <a:r>
              <a:t>The intelligence is the gate chain, not the wording of the model. The next slide shows the eight steps.</a:t>
            </a:r>
          </a:p>
          <a:p/>
          <a:p>
            <a:r>
              <a:rPr b="1"/>
              <a:t>KONUŞMA (TR)</a:t>
            </a:r>
          </a:p>
          <a:p>
            <a:r>
              <a:t>Modele tam olarak ne verildiğini göstereyim.</a:t>
            </a:r>
          </a:p>
          <a:p>
            <a:r>
              <a:t>Her çevrimde promptta: güvenle kapılanmış aktivasyonlar, maliyet gidişatı, tam sözlük, uygunluk bayraklı aktüatör kütüphanesi ve hükümlü en yakın geçmiş vakalar.</a:t>
            </a:r>
          </a:p>
          <a:p>
            <a:r>
              <a:t>Matematiksel olarak: durum ve sözlük verildiğinde q'dan bir c adayı çekilir. Model, kapalı bir uzay üzerinde bir öneri dağılımı.</a:t>
            </a:r>
          </a:p>
          <a:p>
            <a:r>
              <a:t>Cevap tek bir JSON nesnesi: en fazla üç öncül, üç sonuç, isteğe bağlı bir yeni nesne.</a:t>
            </a:r>
          </a:p>
          <a:p>
            <a:r>
              <a:t>Bilinmeyen isimler ayrıştırılmaz. Kabul edilebilir uzay model cevap vermeden kapalı.</a:t>
            </a:r>
          </a:p>
          <a:p>
            <a:r>
              <a:t>Sabit sistem talimatı, kalıcı görev özeti, 90 saniye bütçe ve araç yok: model arama yapamaz, hesaplayamaz, simülatöre dokunamaz.</a:t>
            </a:r>
          </a:p>
          <a:p>
            <a:r>
              <a:t>Prompt deterministik motor çıktısı. Cevap doğrulanacak veri.</a:t>
            </a:r>
          </a:p>
          <a:p>
            <a:r>
              <a:t>Zekâ modelin ifadesinde değil, kapı zincirinde. Sonraki slayt sekiz adımı gösteriyor.</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SPEECH (EN)</a:t>
            </a:r>
          </a:p>
          <a:p>
            <a:r>
              <a:t>Why an LLM and not reinforcement learning or an optimizer?</a:t>
            </a:r>
          </a:p>
          <a:p>
            <a:r>
              <a:t>Stated as a formal problem, five things are fixed by the framework.</a:t>
            </a:r>
          </a:p>
          <a:p>
            <a:r>
              <a:t>The state: activations, cost trajectory, vocabulary, past cases. For the LLM this is the prompt.</a:t>
            </a:r>
          </a:p>
          <a:p>
            <a:r>
              <a:t>The decision variable: one candidate, with a closed grammar.</a:t>
            </a:r>
          </a:p>
          <a:p>
            <a:r>
              <a:t>The objective: the change in forecast physical cost. A black box, no gradient, only the simulator.</a:t>
            </a:r>
          </a:p>
          <a:p>
            <a:r>
              <a:t>The constraints, checked for free: format, relevance, economy, novelty.</a:t>
            </a:r>
          </a:p>
          <a:p>
            <a:r>
              <a:t>The oracle and budget: one reseeded rollout, two per cycle, 90 seconds.</a:t>
            </a:r>
          </a:p>
          <a:p>
            <a:r>
              <a:t>RL is sample-hungry in a non-stationary space. An optimizer would search millions of structures against two rollouts.</a:t>
            </a:r>
          </a:p>
          <a:p>
            <a:r>
              <a:t>Here the LLM is only the sampler. The gates implement the objective and constraints exactly.</a:t>
            </a:r>
          </a:p>
          <a:p>
            <a:r>
              <a:t>The proposer changes the candidates, never the test.</a:t>
            </a:r>
          </a:p>
          <a:p>
            <a:endParaRPr/>
          </a:p>
          <a:p>
            <a:r>
              <a:rPr b="1"/>
              <a:t>KONUŞMA (TR)</a:t>
            </a:r>
          </a:p>
          <a:p>
            <a:r>
              <a:t>Neden pekiştirmeli öğrenme ya da optimize edici değil de LLM?</a:t>
            </a:r>
          </a:p>
          <a:p>
            <a:r>
              <a:t>Biçimsel problem olarak beş şey çerçeve tarafından sabitlenir.</a:t>
            </a:r>
          </a:p>
          <a:p>
            <a:r>
              <a:t>Durum: aktivasyonlar, maliyet gidişatı, sözlük, geçmiş vakalar. LLM için bu prompt.</a:t>
            </a:r>
          </a:p>
          <a:p>
            <a:r>
              <a:t>Karar değişkeni: kapalı gramerli tek aday.</a:t>
            </a:r>
          </a:p>
          <a:p>
            <a:r>
              <a:t>Amaç: tahmin fiziksel maliyetindeki değişim. Kara kutu, gradyan yok, yalnızca simülatör.</a:t>
            </a:r>
          </a:p>
          <a:p>
            <a:r>
              <a:t>Bedava kontrol edilen kısıtlar: biçim, ilgililik, ekonomi, yenilik.</a:t>
            </a:r>
          </a:p>
          <a:p>
            <a:r>
              <a:t>Kâhin ve bütçe: bir yeniden tohumlanmış rollout, çevrim başına iki, 90 saniye.</a:t>
            </a:r>
          </a:p>
          <a:p>
            <a:r>
              <a:t>RL durağan olmayan uzayda örnek açlığı çeker. Optimize edici iki rollout'a karşı milyonlarca yapı arardı.</a:t>
            </a:r>
          </a:p>
          <a:p>
            <a:r>
              <a:t>Burada LLM yalnızca örnekleyici. Amacı ve kısıtları kapılar tam olarak uygular.</a:t>
            </a:r>
          </a:p>
          <a:p>
            <a:r>
              <a:t>Önerici adayları değiştirir, testi asla.</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SPEECH (EN)</a:t>
            </a:r>
          </a:p>
          <a:p>
            <a:r>
              <a:t>The mathematics of admission. The chain on the left is the gate sequence.</a:t>
            </a:r>
          </a:p>
          <a:p>
            <a:r>
              <a:t>G1 format. G2 constraints. G2b non-redundancy. G2c relevance. G2d pool economy. All free.</a:t>
            </a:r>
          </a:p>
          <a:p>
            <a:r>
              <a:t>G3 and G4: strict cost decrease on two independent futures. A gain that only one future flatters is refused.</a:t>
            </a:r>
          </a:p>
          <a:p>
            <a:r>
              <a:t>G5, packages only: growth must beat a margin on both futures.</a:t>
            </a:r>
          </a:p>
          <a:p>
            <a:r>
              <a:t>G5b, packages only: strike the new object out, and the cost must rise.</a:t>
            </a:r>
          </a:p>
          <a:p>
            <a:r>
              <a:t>A plain rule is admitted after G4. The failing gate is always named and recorded.</a:t>
            </a:r>
          </a:p>
          <a:p>
            <a:r>
              <a:t>Right: the objective, precisely. Minimize the change in physical cost over the admissible set.</a:t>
            </a:r>
          </a:p>
          <a:p>
            <a:r>
              <a:t>Main campaign: 232 proposals, 47 admissions.</a:t>
            </a:r>
          </a:p>
          <a:p>
            <a:r>
              <a:t>Admission is an inequality, not an opinion.</a:t>
            </a:r>
          </a:p>
          <a:p>
            <a:endParaRPr/>
          </a:p>
          <a:p>
            <a:r>
              <a:rPr b="1"/>
              <a:t>KONUŞMA (TR)</a:t>
            </a:r>
          </a:p>
          <a:p>
            <a:r>
              <a:t>Kabulün matematiği. Soldaki zincir kapı sırası.</a:t>
            </a:r>
          </a:p>
          <a:p>
            <a:r>
              <a:t>G1 biçim. G2 kısıtlar. G2b yedeksizlik. G2c ilgililik. G2d havuz ekonomisi. Hepsi bedava.</a:t>
            </a:r>
          </a:p>
          <a:p>
            <a:r>
              <a:t>G3 ve G4: iki bağımsız gelecekte kesin maliyet düşüşü. Yalnızca bir geleceğin pohpohladığı kazanç reddedilir.</a:t>
            </a:r>
          </a:p>
          <a:p>
            <a:r>
              <a:t>G5, yalnızca paketler: büyüme iki gelecekte de bir marjı geçmeli.</a:t>
            </a:r>
          </a:p>
          <a:p>
            <a:r>
              <a:t>G5b, yalnızca paketler: yeni nesneyi çıkar, maliyet yükselmeli.</a:t>
            </a:r>
          </a:p>
          <a:p>
            <a:r>
              <a:t>Düz kural G4'ten sonra kabul edilir. Kalan kapı her zaman adıyla kaydedilir.</a:t>
            </a:r>
          </a:p>
          <a:p>
            <a:r>
              <a:t>Sağda amaç, tam olarak: kabul edilebilir küme üzerinde fiziksel maliyet değişimini en aza indir.</a:t>
            </a:r>
          </a:p>
          <a:p>
            <a:r>
              <a:t>Ana kampanya: 232 öneri, 47 kabul.</a:t>
            </a:r>
          </a:p>
          <a:p>
            <a:r>
              <a:t>Kabul bir eşitsizliktir, kanaat değil.</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SPEECH (EN)</a:t>
            </a:r>
          </a:p>
          <a:p>
            <a:r>
              <a:t>Four products, and the symptom each one answers.</a:t>
            </a:r>
          </a:p>
          <a:p>
            <a:r>
              <a:t>One, a plain rule: a coverage gap. The vocabulary does not change.</a:t>
            </a:r>
          </a:p>
          <a:p>
            <a:r>
              <a:t>Two, a macro: two or three families must act in a fixed ratio.</a:t>
            </a:r>
          </a:p>
          <a:p>
            <a:r>
              <a:t>Three, an intermediate concept: a recurring situation the five concepts cannot name.</a:t>
            </a:r>
          </a:p>
          <a:p>
            <a:r>
              <a:t>Four, a clause actuator: a tactic that needs geometry, where on the map to act.</a:t>
            </a:r>
          </a:p>
          <a:p>
            <a:r>
              <a:t>Only the plain rule leaves the vocabulary unchanged.</a:t>
            </a:r>
          </a:p>
          <a:p>
            <a:r>
              <a:t>The other three grow it by exactly one object, and the growth must pay at the gates.</a:t>
            </a:r>
          </a:p>
          <a:p>
            <a:endParaRPr/>
          </a:p>
          <a:p>
            <a:r>
              <a:rPr b="1"/>
              <a:t>KONUŞMA (TR)</a:t>
            </a:r>
          </a:p>
          <a:p>
            <a:r>
              <a:t>Dört ürün ve her birinin cevap verdiği belirti.</a:t>
            </a:r>
          </a:p>
          <a:p>
            <a:r>
              <a:t>Bir, düz kural: kapsama açığı. Sözlük değişmez.</a:t>
            </a:r>
          </a:p>
          <a:p>
            <a:r>
              <a:t>İki, makro: iki ya da üç aile sabit oranda eylemeli.</a:t>
            </a:r>
          </a:p>
          <a:p>
            <a:r>
              <a:t>Üç, ara kavram: beş kavramın adlandıramadığı tekrar eden durum.</a:t>
            </a:r>
          </a:p>
          <a:p>
            <a:r>
              <a:t>Dört, clause aktüatörü: geometri isteyen taktik, haritada nerede eylenecek.</a:t>
            </a:r>
          </a:p>
          <a:p>
            <a:r>
              <a:t>Yalnızca düz kural sözlüğü değiştirmez.</a:t>
            </a:r>
          </a:p>
          <a:p>
            <a:r>
              <a:t>Diğer üçü sözlüğü tam olarak bir nesne büyütür ve büyüme kapılarda bedelini öder.</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SPEECH (EN)</a:t>
            </a:r>
          </a:p>
          <a:p>
            <a:r>
              <a:t>Three examples, one per product.</a:t>
            </a:r>
          </a:p>
          <a:p>
            <a:r>
              <a:t>Left, a macro: backburn equals containment line 0.6 plus suppression 0.4.</a:t>
            </a:r>
          </a:p>
          <a:p>
            <a:r>
              <a:t>A rule orders backburn at 0.8. It expands to 0.48 and 0.32.</a:t>
            </a:r>
          </a:p>
          <a:p>
            <a:r>
              <a:t>Nothing new reaches the physics. Only a fixed ratio between existing orders.</a:t>
            </a:r>
          </a:p>
          <a:p>
            <a:r>
              <a:t>Middle, a concept: ember spotting risk. A weighted blend of spread potential, weather severity and fuel load.</a:t>
            </a:r>
          </a:p>
          <a:p>
            <a:r>
              <a:t>This is the illustrative case of the design chapter. The concept the recorded run admitted is interface exposure, in the evidence part.</a:t>
            </a:r>
          </a:p>
          <a:p>
            <a:r>
              <a:t>It joins the hierarchy like a native concept, with five terms and a confidence gate.</a:t>
            </a:r>
          </a:p>
          <a:p>
            <a:r>
              <a:t>The rule in the same package cites it. A concept changes what rules can look at, never what they can order.</a:t>
            </a:r>
          </a:p>
          <a:p>
            <a:r>
              <a:t>Right, an actuator: lakeside capacity bridge. Three clauses: draft at the fire, draft at the head, evacuate the populated sector.</a:t>
            </a:r>
          </a:p>
          <a:p>
            <a:r>
              <a:t>The compiler resolves the sectors on the live map before simulation.</a:t>
            </a:r>
          </a:p>
          <a:p>
            <a:r>
              <a:t>So it cannot cut a line through a settlement or light a fire on water.</a:t>
            </a:r>
          </a:p>
          <a:p>
            <a:r>
              <a:t>New tactic, old physics. The next slide shows why the model proposed exactly this concept.</a:t>
            </a:r>
          </a:p>
          <a:p/>
          <a:p>
            <a:r>
              <a:rPr b="1"/>
              <a:t>KONUŞMA (TR)</a:t>
            </a:r>
          </a:p>
          <a:p>
            <a:r>
              <a:t>Üç örnek, her ürün için bir tane.</a:t>
            </a:r>
          </a:p>
          <a:p>
            <a:r>
              <a:t>Solda makro: backburn eşittir çevreleme hattı 0.6 artı bastırma 0.4.</a:t>
            </a:r>
          </a:p>
          <a:p>
            <a:r>
              <a:t>Bir kural backburn'ü 0.8'de emreder. 0.48 ve 0.32'ye açılır.</a:t>
            </a:r>
          </a:p>
          <a:p>
            <a:r>
              <a:t>Fiziğe yeni hiçbir şey ulaşmaz. Yalnızca mevcut emirler arasında sabit bir oran.</a:t>
            </a:r>
          </a:p>
          <a:p>
            <a:r>
              <a:t>Ortada kavram: kor sıçrama riski. Yayılım potansiyeli, hava şiddeti ve yakıt yükünün ağırlıklı karışımı.</a:t>
            </a:r>
          </a:p>
          <a:p>
            <a:r>
              <a:t>Bu, tasarım bölümündeki açıklayıcı örnek. Kayıtlı koşunun kabul ettiği kavram interface exposure; kanıt bölümünde.</a:t>
            </a:r>
          </a:p>
          <a:p>
            <a:r>
              <a:t>Beş terim ve güven kapısıyla yerli bir kavram gibi hiyerarşiye katılır.</a:t>
            </a:r>
          </a:p>
          <a:p>
            <a:r>
              <a:t>Aynı paketteki kural ona atıf yapar. Kavram, kuralların neye bakabileceğini değiştirir, neyi emredebileceğini asla.</a:t>
            </a:r>
          </a:p>
          <a:p>
            <a:r>
              <a:t>Sağda aktüatör: lakeside capacity bridge. Üç clause: yangında su çek, baş kısmında su çek, nüfuslu sektörü tahliye et.</a:t>
            </a:r>
          </a:p>
          <a:p>
            <a:r>
              <a:t>Derleyici sektörleri simülasyondan önce canlı haritada çözer.</a:t>
            </a:r>
          </a:p>
          <a:p>
            <a:r>
              <a:t>Bu yüzden yerleşim yerinden hat kesemez ya da su üstünde ateş yakamaz.</a:t>
            </a:r>
          </a:p>
          <a:p>
            <a:r>
              <a:t>Yeni taktik, eski fizik. Sonraki slayt modelin neden tam bu kavramı önerdiğini gösteriyor.</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59099338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SPEECH (EN)</a:t>
            </a:r>
          </a:p>
          <a:p>
            <a:r>
              <a:t>Many regions, one coordinator.</a:t>
            </a:r>
          </a:p>
          <a:p>
            <a:r>
              <a:t>Local DSS, one per region: runs the full four-layer loop on its own region. All inference lives here.</a:t>
            </a:r>
          </a:p>
          <a:p>
            <a:r>
              <a:t>It sends up three numbers: priority, resource request, confidence. Never raw sensor fields.</a:t>
            </a:r>
          </a:p>
          <a:p>
            <a:r>
              <a:t>Global DSS, exactly one: no inference, no orders of its own.</a:t>
            </a:r>
          </a:p>
          <a:p>
            <a:r>
              <a:t>It ranks regions, allocates the pool, sets thresholds. It sends down three numbers.</a:t>
            </a:r>
          </a:p>
          <a:p>
            <a:r>
              <a:t>The channel is narrow by design. That keeps coordination auditable.</a:t>
            </a:r>
          </a:p>
          <a:p>
            <a:r>
              <a:t>It is why sixteen times the agents cost at most 1.29 times the cycle share.</a:t>
            </a:r>
          </a:p>
          <a:p>
            <a:r>
              <a:t>Decisions are local. The global layer cannot invent an order, so it cannot break traceability.</a:t>
            </a:r>
          </a:p>
          <a:p>
            <a:endParaRPr/>
          </a:p>
          <a:p>
            <a:r>
              <a:rPr b="1"/>
              <a:t>KONUŞMA (TR)</a:t>
            </a:r>
          </a:p>
          <a:p>
            <a:r>
              <a:t>Çok bölge, tek koordinatör.</a:t>
            </a:r>
          </a:p>
          <a:p>
            <a:r>
              <a:t>Yerel DSS, bölge başına bir: dört katmanlı döngünün tamamını kendi bölgesinde koşar. Tüm çıkarım burada.</a:t>
            </a:r>
          </a:p>
          <a:p>
            <a:r>
              <a:t>Yukarı üç sayı gönderir: öncelik, kaynak talebi, güven. Asla ham sensör alanı değil.</a:t>
            </a:r>
          </a:p>
          <a:p>
            <a:r>
              <a:t>Küresel DSS, tam bir tane: çıkarım yok, kendi emri yok.</a:t>
            </a:r>
          </a:p>
          <a:p>
            <a:r>
              <a:t>Bölgeleri sıralar, havuzu paylaştırır, eşikleri belirler. Aşağı üç sayı gönderir.</a:t>
            </a:r>
          </a:p>
          <a:p>
            <a:r>
              <a:t>Kanal tasarım gereği dar. Bu koordinasyonu denetlenebilir tutar.</a:t>
            </a:r>
          </a:p>
          <a:p>
            <a:r>
              <a:t>On altı kat ajanın en fazla 1.29 kat çevrim payına mal olmasının nedeni bu.</a:t>
            </a:r>
          </a:p>
          <a:p>
            <a:r>
              <a:t>Kararlar yerel. Küresel katman emir icat edemez, dolayısıyla izlenebilirliği bozamaz.</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71888704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SPEECH (EN)</a:t>
            </a:r>
          </a:p>
          <a:p>
            <a:r>
              <a:t>Part three: performance.</a:t>
            </a:r>
          </a:p>
          <a:p>
            <a:r>
              <a:t>Is the simulator faithful? Does openness pay? What was built? Is it fast enough?</a:t>
            </a:r>
          </a:p>
          <a:p>
            <a:endParaRPr/>
          </a:p>
          <a:p>
            <a:r>
              <a:rPr b="1"/>
              <a:t>KONUŞMA (TR)</a:t>
            </a:r>
          </a:p>
          <a:p>
            <a:r>
              <a:t>Üçüncü bölüm: performans.</a:t>
            </a:r>
          </a:p>
          <a:p>
            <a:r>
              <a:t>Simülatör sadık mı? Açıklık kazandırıyor mu? Ne üretildi? Yeterince hızlı mı?</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SPEECH (EN)</a:t>
            </a:r>
          </a:p>
          <a:p>
            <a:r>
              <a:t>Eight criteria, fixed before any experiment.</a:t>
            </a:r>
          </a:p>
          <a:p>
            <a:r>
              <a:t>S1 predictive fidelity. S2 decision quality. S3 timeliness. S4 robustness.</a:t>
            </a:r>
          </a:p>
          <a:p>
            <a:r>
              <a:t>S5 uncertainty handling. S6 adaptability. S7 explainability. S8 scalability.</a:t>
            </a:r>
          </a:p>
          <a:p>
            <a:r>
              <a:t>Verification answers S1. Sensitivity and the ladder answer S2 to S5. The adaptation record answers S6 and S7. Tempo and scale answer S3 and S8.</a:t>
            </a:r>
          </a:p>
          <a:p>
            <a:r>
              <a:t>The audit returns as the closing table.</a:t>
            </a:r>
          </a:p>
          <a:p>
            <a:endParaRPr/>
          </a:p>
          <a:p>
            <a:r>
              <a:rPr b="1"/>
              <a:t>KONUŞMA (TR)</a:t>
            </a:r>
          </a:p>
          <a:p>
            <a:r>
              <a:t>Deneylerden önce sabitlenen sekiz kriter.</a:t>
            </a:r>
          </a:p>
          <a:p>
            <a:r>
              <a:t>S1 öngörü sadakati. S2 karar kalitesi. S3 zamanlılık. S4 dayanıklılık.</a:t>
            </a:r>
          </a:p>
          <a:p>
            <a:r>
              <a:t>S5 belirsizlik yönetimi. S6 uyarlanabilirlik. S7 açıklanabilirlik. S8 ölçeklenebilirlik.</a:t>
            </a:r>
          </a:p>
          <a:p>
            <a:r>
              <a:t>Doğrulama S1'i cevaplar. Duyarlılık ve merdiven S2'den S5'e. Uyarlanma kaydı S6 ve S7'yi. Tempo ve ölçek S3 ve S8'i.</a:t>
            </a:r>
          </a:p>
          <a:p>
            <a:r>
              <a:t>Denetim kapanış tablosu olarak geri döner.</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SPEECH (EN)</a:t>
            </a:r>
          </a:p>
          <a:p>
            <a:r>
              <a:t>The experimental ground.</a:t>
            </a:r>
          </a:p>
          <a:p>
            <a:r>
              <a:t>Grid 200 by 200 cells at 90 metres. Decision cycle 2 to 20 minutes, default 12.</a:t>
            </a:r>
          </a:p>
          <a:p>
            <a:r>
              <a:t>Satisficing bound 0.35. Quality gate 0.60. Shadow forecast at least 45 minutes.</a:t>
            </a:r>
          </a:p>
          <a:p>
            <a:r>
              <a:t>Fifty Monte Carlo runs per condition, seeds 1 to 50.</a:t>
            </a:r>
          </a:p>
          <a:p>
            <a:r>
              <a:t>Two scenario families: synthetic procedural worlds, and historical fires on real terrain and weather.</a:t>
            </a:r>
          </a:p>
          <a:p>
            <a:r>
              <a:t>Assumptions: uniform precipitation, equilibrium dead-fuel moisture, fixed cycle, reliable sensing unless perturbed.</a:t>
            </a:r>
          </a:p>
          <a:p>
            <a:r>
              <a:t>Generative changes act only after passing the gates.</a:t>
            </a:r>
          </a:p>
          <a:p>
            <a:endParaRPr/>
          </a:p>
          <a:p>
            <a:r>
              <a:rPr b="1"/>
              <a:t>KONUŞMA (TR)</a:t>
            </a:r>
          </a:p>
          <a:p>
            <a:r>
              <a:t>Deney zemini.</a:t>
            </a:r>
          </a:p>
          <a:p>
            <a:r>
              <a:t>Izgara 90 metrede 200'e 200 hücre. Karar çevrimi 2-20 dakika, varsayılan 12.</a:t>
            </a:r>
          </a:p>
          <a:p>
            <a:r>
              <a:t>Tatmin sınırı 0.35. Kalite kapısı 0.60. Gölge tahmin en az 45 dakika.</a:t>
            </a:r>
          </a:p>
          <a:p>
            <a:r>
              <a:t>Koşul başına elli Monte Carlo koşusu, tohum 1-50.</a:t>
            </a:r>
          </a:p>
          <a:p>
            <a:r>
              <a:t>İki senaryo ailesi: sentetik prosedürel dünyalar ve gerçek arazi ve havayla tarihsel yangınlar.</a:t>
            </a:r>
          </a:p>
          <a:p>
            <a:r>
              <a:t>Varsayımlar: tekdüze yağış, denge ölü yakıt nemi, sabit çevrim, bozulmadıkça güvenilir algılama.</a:t>
            </a:r>
          </a:p>
          <a:p>
            <a:r>
              <a:t>Üretken değişiklikler yalnızca kapılardan geçtikten sonra etkir.</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SPEECH (EN)</a:t>
            </a:r>
          </a:p>
          <a:p>
            <a:r>
              <a:t>Verification: blind hindcasts on four real fires.</a:t>
            </a:r>
          </a:p>
          <a:p>
            <a:r>
              <a:t>Kayadere 2023, Milas 2021, Marmaris 2021, and a fourth case. 48 to 72 hours each.</a:t>
            </a:r>
          </a:p>
          <a:p>
            <a:r>
              <a:t>Blind means: real inputs only, parameters frozen, public data.</a:t>
            </a:r>
          </a:p>
          <a:p>
            <a:r>
              <a:t>The maps show the simulated spread over the satellite image.</a:t>
            </a:r>
          </a:p>
          <a:p>
            <a:r>
              <a:t>The table on the right: front score 82 to 90 percent, arrival score 71 to 98, probability of detection 85 to 97.</a:t>
            </a:r>
          </a:p>
          <a:p>
            <a:r>
              <a:t>Overall success 86 to 94 percent.</a:t>
            </a:r>
          </a:p>
          <a:p>
            <a:r>
              <a:t>We score propagation, not final area. The free-burning core has no suppression, so it overpredicts area by design.</a:t>
            </a:r>
          </a:p>
          <a:p>
            <a:endParaRPr/>
          </a:p>
          <a:p>
            <a:r>
              <a:rPr b="1"/>
              <a:t>KONUŞMA (TR)</a:t>
            </a:r>
          </a:p>
          <a:p>
            <a:r>
              <a:t>Doğrulama: dört gerçek yangında kör hindcast.</a:t>
            </a:r>
          </a:p>
          <a:p>
            <a:r>
              <a:t>Kayadere 2023, Milas 2021, Marmaris 2021 ve bir dördüncü vaka. Her biri 48-72 saat.</a:t>
            </a:r>
          </a:p>
          <a:p>
            <a:r>
              <a:t>Kör demek: yalnızca gerçek girdiler, dondurulmuş parametreler, kamuya açık veri.</a:t>
            </a:r>
          </a:p>
          <a:p>
            <a:r>
              <a:t>Haritalar uydu görüntüsü üzerinde simüle edilmiş yayılımı gösteriyor.</a:t>
            </a:r>
          </a:p>
          <a:p>
            <a:r>
              <a:t>Sağdaki tablo: cephe puanı yüzde 82-90, varış puanı 71-98, tespit olasılığı 85-97.</a:t>
            </a:r>
          </a:p>
          <a:p>
            <a:r>
              <a:t>Genel başarı yüzde 86-94.</a:t>
            </a:r>
          </a:p>
          <a:p>
            <a:r>
              <a:t>Son alanı değil yayılımı puanlıyoruz. Bastırmasız çekirdek alanı bilerek fazla tahmin eder.</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SPEECH (EN)</a:t>
            </a:r>
          </a:p>
          <a:p>
            <a:r>
              <a:t>Sensitivity design: one bias at a time, 880 runs.</a:t>
            </a:r>
          </a:p>
          <a:p>
            <a:r>
              <a:t>Every parameter has a nominal value. A bias is a controlled deviation from it.</a:t>
            </a:r>
          </a:p>
          <a:p>
            <a:r>
              <a:t>The question is not which value is best, but how much miscalibration the loop tolerates.</a:t>
            </a:r>
          </a:p>
          <a:p>
            <a:r>
              <a:t>Fire load and resource level are swept first, to find an operating point where the layer neither wins nor loses outright.</a:t>
            </a:r>
          </a:p>
          <a:p>
            <a:r>
              <a:t>The table: ignitions 1 to 12, resource level 0.10 to 1.00, regions 1 to 16, no-harm horizon 45 to 90 minutes, bound 0.15 to 0.60, gate 0.30 to 0.90.</a:t>
            </a:r>
          </a:p>
          <a:p>
            <a:endParaRPr/>
          </a:p>
          <a:p>
            <a:r>
              <a:rPr b="1"/>
              <a:t>KONUŞMA (TR)</a:t>
            </a:r>
          </a:p>
          <a:p>
            <a:r>
              <a:t>Duyarlılık tasarımı: her seferinde tek sapma, 880 koşu.</a:t>
            </a:r>
          </a:p>
          <a:p>
            <a:r>
              <a:t>Her parametrenin bir nominal değeri var. Sapma ondan kontrollü bir uzaklaşma.</a:t>
            </a:r>
          </a:p>
          <a:p>
            <a:r>
              <a:t>Soru hangi değerin en iyi olduğu değil, döngünün ne kadar kalibrasyon hatasına dayandığı.</a:t>
            </a:r>
          </a:p>
          <a:p>
            <a:r>
              <a:t>Önce yangın yükü ve kaynak seviyesi taranır; katmanın ne düpedüz kazandığı ne kaybettiği bir çalışma noktası bulunur.</a:t>
            </a:r>
          </a:p>
          <a:p>
            <a:r>
              <a:t>Tablo: tutuşturma 1-12, kaynak seviyesi 0.10-1.00, bölge 1-16, zarar-yok ufku 45-90 dakika, sınır 0.15-0.60, kapı 0.30-0.90.</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SPEECH (EN)</a:t>
            </a:r>
          </a:p>
          <a:p>
            <a:r>
              <a:t>Locating the operating point.</a:t>
            </a:r>
          </a:p>
          <a:p>
            <a:r>
              <a:t>Fire load across: one to twelve ignitions. Resource pool down: 0.10 to 1.00.</a:t>
            </a:r>
          </a:p>
          <a:p>
            <a:r>
              <a:t>The colour is the physical cost as a share of free burn. Green is held, red is lost.</a:t>
            </a:r>
          </a:p>
          <a:p>
            <a:r>
              <a:t>One ignition is always held. A tenth pool with many ignitions is always lost.</a:t>
            </a:r>
          </a:p>
          <a:p>
            <a:r>
              <a:t>The circled cell, four ignitions on a quarter pool, sits in the decidable band.</a:t>
            </a:r>
          </a:p>
          <a:p>
            <a:r>
              <a:t>Only there can a parameter actually be seen.</a:t>
            </a:r>
          </a:p>
          <a:p>
            <a:endParaRPr/>
          </a:p>
          <a:p>
            <a:r>
              <a:rPr b="1"/>
              <a:t>KONUŞMA (TR)</a:t>
            </a:r>
          </a:p>
          <a:p>
            <a:r>
              <a:t>Çalışma noktasını bulmak.</a:t>
            </a:r>
          </a:p>
          <a:p>
            <a:r>
              <a:t>Yatayda yangın yükü: bir ile on iki tutuşturma. Dikeyde kaynak havuzu: 0.10-1.00.</a:t>
            </a:r>
          </a:p>
          <a:p>
            <a:r>
              <a:t>Renk, serbest yanmanın payı olarak fiziksel maliyet. Yeşil tutuldu, kırmızı kaybedildi.</a:t>
            </a:r>
          </a:p>
          <a:p>
            <a:r>
              <a:t>Tek tutuşturma her zaman tutulur. Onda birlik havuz çok tutuşturmayla her zaman kaybedilir.</a:t>
            </a:r>
          </a:p>
          <a:p>
            <a:r>
              <a:t>Daire içindeki hücre, çeyrek havuzda dört tutuşturma, karar verilebilir bantta.</a:t>
            </a:r>
          </a:p>
          <a:p>
            <a:r>
              <a:t>Bir parametre yalnızca orada gerçekten görülebilir.</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SPEECH (EN)</a:t>
            </a:r>
          </a:p>
          <a:p>
            <a:r>
              <a:t>Sensors versus fire load, one map per pool.</a:t>
            </a:r>
          </a:p>
          <a:p>
            <a:r>
              <a:t>At light load, observation decides. It saturates at about five sensors.</a:t>
            </a:r>
          </a:p>
          <a:p>
            <a:r>
              <a:t>At heavy load, resources decide. The bottom rows stay red whatever the coverage.</a:t>
            </a:r>
          </a:p>
          <a:p>
            <a:r>
              <a:t>Sensing and resources are not substitutes. Each binds in its own regime.</a:t>
            </a:r>
          </a:p>
          <a:p>
            <a:endParaRPr/>
          </a:p>
          <a:p>
            <a:r>
              <a:rPr b="1"/>
              <a:t>KONUŞMA (TR)</a:t>
            </a:r>
          </a:p>
          <a:p>
            <a:r>
              <a:t>Havuz başına bir harita, sensör sayısı ile yangın yükü.</a:t>
            </a:r>
          </a:p>
          <a:p>
            <a:r>
              <a:t>Hafif yükte gözlem belirler. Yaklaşık beş sensörde doyar.</a:t>
            </a:r>
          </a:p>
          <a:p>
            <a:r>
              <a:t>Ağır yükte kaynak belirler. Alt satırlar kapsama ne olursa olsun kırmızı kalır.</a:t>
            </a:r>
          </a:p>
          <a:p>
            <a:r>
              <a:t>Algılama ve kaynak birbirinin yerine geçmez. Her biri kendi rejiminde bağlar.</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400" b="1"/>
                  <a:t>SAY: All thresholds respond gradually, no cliffs.</a:t>
                </a:r>
              </a:p>
              <a:p>
                <a:endParaRPr lang="en-US" sz="1400" b="1"/>
              </a:p>
              <a:p>
                <a:r>
                  <a:rPr lang="en-US" sz="1400"/>
                  <a:t>SÖYLE: Tüm eşikler kademeli tepki verir, uçurum yok.</a:t>
                </a:r>
              </a:p>
              <a:p>
                <a:endParaRPr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EXPLAIN — The operational thresholds: the decision-cycle formula and its two bounds; the satisficing bound engages the ladder in 42 percent of cycles at 0.35 and saturates at 29.5 percent above 0.45; the quality gate acts only inside the band quality actually occupies (0.55-0.85). Steep directions: cycle and pool below half. Tolerant: coverage, ceiling above nominal, gate.</a:t>
                </a:r>
                <a:br>
                  <a:rPr lang="en-US" sz="1200" dirty="0"/>
                </a:br>
                <a:br>
                  <a:rPr lang="en-US" sz="1200" dirty="0"/>
                </a:br>
                <a:r>
                  <a:rPr lang="en-US" sz="1200" dirty="0">
                    <a:solidFill>
                      <a:srgbClr val="222222"/>
                    </a:solidFill>
                    <a:latin typeface="Calibri" pitchFamily="34" charset="0"/>
                    <a:ea typeface="Calibri" pitchFamily="34" charset="-122"/>
                    <a:cs typeface="Calibri" pitchFamily="34" charset="-120"/>
                  </a:rPr>
                  <a:t>Two bounds: the front advances at most half a cell between decisions, and the plan is revised at least five times inside the no-harm horizon; the result is floored at the integration step. </a:t>
                </a:r>
                <a:r>
                  <a:rPr lang="en-US" sz="1200" b="1" dirty="0">
                    <a:solidFill>
                      <a:srgbClr val="000000"/>
                    </a:solidFill>
                    <a:latin typeface="Calibri" pitchFamily="34" charset="0"/>
                    <a:ea typeface="Calibri" pitchFamily="34" charset="-122"/>
                    <a:cs typeface="Calibri" pitchFamily="34" charset="-120"/>
                  </a:rPr>
                  <a:t>Lengthening the cycle degrades the paired gain monotonically for both fire types — graded, not cliff-edged; the five-world half-width of 11.75 points bounds the effect size.</a:t>
                </a:r>
                <a:endParaRPr lang="en-US" sz="1200" dirty="0"/>
              </a:p>
              <a:p>
                <a:pPr marL="152400" indent="-152400">
                  <a:lnSpc>
                    <a:spcPct val="104000"/>
                  </a:lnSpc>
                  <a:spcAft>
                    <a:spcPts val="600"/>
                  </a:spcAft>
                  <a:buSzPct val="100000"/>
                  <a:buChar char="•"/>
                </a:pPr>
                <a:br>
                  <a:rPr lang="en-US" sz="1200" dirty="0"/>
                </a:br>
                <a:r>
                  <a:rPr lang="en-US" sz="1200" dirty="0">
                    <a:solidFill>
                      <a:srgbClr val="222222"/>
                    </a:solidFill>
                    <a:latin typeface="Calibri" pitchFamily="34" charset="0"/>
                    <a:ea typeface="Calibri" pitchFamily="34" charset="-122"/>
                    <a:cs typeface="Calibri" pitchFamily="34" charset="-120"/>
                  </a:rPr>
                  <a:t>The bound sets how often the adaptation ladder is engaged: 42.0% of cycles at the configured 0.35; flat at 29.5% above 0.45, where the relative margin against no action always binds instead.</a:t>
                </a:r>
                <a:endParaRPr lang="en-US" sz="1200" dirty="0"/>
              </a:p>
              <a:p>
                <a:pPr marL="152400" indent="-152400">
                  <a:lnSpc>
                    <a:spcPct val="104000"/>
                  </a:lnSpc>
                  <a:spcAft>
                    <a:spcPts val="600"/>
                  </a:spcAft>
                  <a:buSzPct val="100000"/>
                  <a:buChar char="•"/>
                </a:pPr>
                <a:r>
                  <a:rPr lang="en-US" sz="1200" dirty="0">
                    <a:solidFill>
                      <a:srgbClr val="222222"/>
                    </a:solidFill>
                    <a:latin typeface="Calibri" pitchFamily="34" charset="0"/>
                    <a:ea typeface="Calibri" pitchFamily="34" charset="-122"/>
                    <a:cs typeface="Calibri" pitchFamily="34" charset="-120"/>
                  </a:rPr>
                  <a:t>Between 0.35 and 0.45 the engagement falls ≈1.3 points per 0.01 of upward bias; below nominal it rises steeply — tolerant upward, proportional downward.</a:t>
                </a:r>
                <a:endParaRPr lang="en-US" sz="1200" dirty="0"/>
              </a:p>
              <a:p>
                <a:pPr marL="152400" indent="-152400">
                  <a:lnSpc>
                    <a:spcPct val="104000"/>
                  </a:lnSpc>
                  <a:spcAft>
                    <a:spcPts val="600"/>
                  </a:spcAft>
                  <a:buSzPct val="100000"/>
                  <a:buChar char="•"/>
                </a:pPr>
                <a:r>
                  <a:rPr lang="en-US" sz="1200" dirty="0">
                    <a:solidFill>
                      <a:srgbClr val="222222"/>
                    </a:solidFill>
                    <a:latin typeface="Calibri" pitchFamily="34" charset="0"/>
                    <a:ea typeface="Calibri" pitchFamily="34" charset="-122"/>
                    <a:cs typeface="Calibri" pitchFamily="34" charset="-120"/>
                  </a:rPr>
                  <a:t>Each threshold acts only where its quantity varies: the no-action forecast spans 0.06–0.46 (median 0.23), and decision quality stays in </a:t>
                </a:r>
                <a:r>
                  <a:rPr lang="en-US" sz="1200" i="0">
                    <a:latin typeface="Cambria Math"/>
                  </a:rPr>
                  <a:t>𝑄 ∈ [0.55, 0.85]</a:t>
                </a:r>
                <a:r>
                  <a:rPr lang="en-US" sz="1200" dirty="0">
                    <a:solidFill>
                      <a:srgbClr val="222222"/>
                    </a:solidFill>
                    <a:latin typeface="Calibri" pitchFamily="34" charset="0"/>
                    <a:ea typeface="Calibri" pitchFamily="34" charset="-122"/>
                    <a:cs typeface="Calibri" pitchFamily="34" charset="-120"/>
                  </a:rPr>
                  <a:t>.</a:t>
                </a:r>
                <a:endParaRPr lang="en-US" sz="1200" dirty="0"/>
              </a:p>
              <a:p>
                <a:pPr marL="152400" indent="-152400">
                  <a:lnSpc>
                    <a:spcPct val="104000"/>
                  </a:lnSpc>
                  <a:spcAft>
                    <a:spcPts val="600"/>
                  </a:spcAft>
                  <a:buSzPct val="100000"/>
                  <a:buChar char="•"/>
                </a:pPr>
                <a:r>
                  <a:rPr lang="en-US" sz="1200" b="1" dirty="0">
                    <a:solidFill>
                      <a:srgbClr val="222222"/>
                    </a:solidFill>
                    <a:latin typeface="Calibri" pitchFamily="34" charset="0"/>
                    <a:ea typeface="Calibri" pitchFamily="34" charset="-122"/>
                    <a:cs typeface="Calibri" pitchFamily="34" charset="-120"/>
                  </a:rPr>
                  <a:t>Summary — steep directions: the decision cycle and a pool below one half. Tolerant: coverage, the ceiling above nominal, the gate inside the occupied quality band.</a:t>
                </a:r>
                <a:endParaRPr lang="en-US" sz="1200" dirty="0"/>
              </a:p>
              <a:p>
                <a:endParaRPr lang="en-US" sz="1200" dirty="0"/>
              </a:p>
              <a:p>
                <a:endParaRPr lang="en-US" dirty="0"/>
              </a:p>
            </p:txBody>
          </p:sp>
        </mc:Fallback>
      </mc:AlternateContent>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
        <p:nvSpPr>
          <p:cNvPr id="5" name="Notes Placeholder 2"/>
          <p:cNvSpPr>
            <a:spLocks noGrp="1"/>
          </p:cNvSpPr>
          <p:nvPr>
            <p:ph type="body" idx="1"/>
          </p:nvPr>
        </p:nvSpPr>
        <p:spPr/>
        <p:txBody>
          <a:bodyPr/>
          <a:lstStyle/>
          <a:p>
            <a:r>
              <a:rPr b="1"/>
              <a:t>SPEECH (EN)</a:t>
            </a:r>
          </a:p>
          <a:p>
            <a:r>
              <a:t>Three more parameters.</a:t>
            </a:r>
          </a:p>
          <a:p>
            <a:r>
              <a:t>Left, the decision cycle. The gain is highest at short cycles. It turns negative beyond about twelve minutes for a complex fire.</a:t>
            </a:r>
          </a:p>
          <a:p>
            <a:r>
              <a:t>Right top, the satisficing bound. Operable between 0.05 and 0.45. Above that, the ceiling never binds.</a:t>
            </a:r>
          </a:p>
          <a:p>
            <a:r>
              <a:t>Right bottom, the quality gate. Operable between 0.55 and 0.85. Below, the fail-safe never engages. Above, everything is derated.</a:t>
            </a:r>
          </a:p>
          <a:p>
            <a:endParaRPr/>
          </a:p>
          <a:p>
            <a:r>
              <a:rPr b="1"/>
              <a:t>KONUŞMA (TR)</a:t>
            </a:r>
          </a:p>
          <a:p>
            <a:r>
              <a:t>Üç parametre daha.</a:t>
            </a:r>
          </a:p>
          <a:p>
            <a:r>
              <a:t>Solda karar çevrimi. Kazanç kısa çevrimlerde en yüksek. Karmaşık yangında yaklaşık on iki dakikanın ötesinde eksiye döner.</a:t>
            </a:r>
          </a:p>
          <a:p>
            <a:r>
              <a:t>Sağ üst, tatmin sınırı. 0.05-0.45 arasında çalışır. Üstünde tavan hiç bağlamaz.</a:t>
            </a:r>
          </a:p>
          <a:p>
            <a:r>
              <a:t>Sağ alt, kalite kapısı. 0.55-0.85 arasında çalışır. Altında güvenli mod hiç devreye girmez. Üstünde her şey kısılır.</a:t>
            </a:r>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dirty="0"/>
              <a:t>SPEECH (EN)</a:t>
            </a:r>
          </a:p>
          <a:p>
            <a:r>
              <a:rPr dirty="0"/>
              <a:t>Five scenario families.</a:t>
            </a:r>
          </a:p>
          <a:p>
            <a:r>
              <a:rPr dirty="0"/>
              <a:t>S1: remote forest, sufficient resources, one ignition. Baseline suppression.</a:t>
            </a:r>
          </a:p>
          <a:p>
            <a:r>
              <a:rPr dirty="0"/>
              <a:t>S2: remote forest, limited resources, three ignitions. Protection under scarcity.</a:t>
            </a:r>
          </a:p>
          <a:p>
            <a:r>
              <a:rPr dirty="0"/>
              <a:t>S3: wildland-urban interface, sufficient, two ignitions near the interface. Life and asset priority, evacuation.</a:t>
            </a:r>
          </a:p>
          <a:p>
            <a:r>
              <a:rPr dirty="0"/>
              <a:t>S4: interface, limited. Full stress. This is the demo scenario.</a:t>
            </a:r>
          </a:p>
          <a:p>
            <a:r>
              <a:rPr dirty="0"/>
              <a:t>S5: S4 with degraded observation.</a:t>
            </a:r>
          </a:p>
          <a:p>
            <a:r>
              <a:rPr dirty="0"/>
              <a:t>Critical fire weather everywhere. Fifty worlds per scenario.</a:t>
            </a:r>
          </a:p>
          <a:p>
            <a:r>
              <a:rPr dirty="0"/>
              <a:t>The maps are representative worlds of S1 to S4.</a:t>
            </a:r>
          </a:p>
          <a:p>
            <a:endParaRPr dirty="0"/>
          </a:p>
          <a:p>
            <a:r>
              <a:rPr b="1" dirty="0"/>
              <a:t>KONUŞMA (TR)</a:t>
            </a:r>
          </a:p>
          <a:p>
            <a:r>
              <a:rPr dirty="0" err="1"/>
              <a:t>Beş</a:t>
            </a:r>
            <a:r>
              <a:rPr dirty="0"/>
              <a:t> </a:t>
            </a:r>
            <a:r>
              <a:rPr dirty="0" err="1"/>
              <a:t>senaryo</a:t>
            </a:r>
            <a:r>
              <a:rPr dirty="0"/>
              <a:t> </a:t>
            </a:r>
            <a:r>
              <a:rPr dirty="0" err="1"/>
              <a:t>ailesi</a:t>
            </a:r>
            <a:r>
              <a:rPr dirty="0"/>
              <a:t>.</a:t>
            </a:r>
          </a:p>
          <a:p>
            <a:r>
              <a:rPr dirty="0"/>
              <a:t>S1: </a:t>
            </a:r>
            <a:r>
              <a:rPr dirty="0" err="1"/>
              <a:t>uzak</a:t>
            </a:r>
            <a:r>
              <a:rPr dirty="0"/>
              <a:t> </a:t>
            </a:r>
            <a:r>
              <a:rPr dirty="0" err="1"/>
              <a:t>orman</a:t>
            </a:r>
            <a:r>
              <a:rPr dirty="0"/>
              <a:t>, </a:t>
            </a:r>
            <a:r>
              <a:rPr dirty="0" err="1"/>
              <a:t>yeterli</a:t>
            </a:r>
            <a:r>
              <a:rPr dirty="0"/>
              <a:t> </a:t>
            </a:r>
            <a:r>
              <a:rPr dirty="0" err="1"/>
              <a:t>kaynak</a:t>
            </a:r>
            <a:r>
              <a:rPr dirty="0"/>
              <a:t>, </a:t>
            </a:r>
            <a:r>
              <a:rPr dirty="0" err="1"/>
              <a:t>bir</a:t>
            </a:r>
            <a:r>
              <a:rPr dirty="0"/>
              <a:t> </a:t>
            </a:r>
            <a:r>
              <a:rPr dirty="0" err="1"/>
              <a:t>tutuşturma</a:t>
            </a:r>
            <a:r>
              <a:rPr dirty="0"/>
              <a:t>. Temel </a:t>
            </a:r>
            <a:r>
              <a:rPr dirty="0" err="1"/>
              <a:t>bastırma</a:t>
            </a:r>
            <a:r>
              <a:rPr dirty="0"/>
              <a:t>.</a:t>
            </a:r>
          </a:p>
          <a:p>
            <a:r>
              <a:rPr dirty="0"/>
              <a:t>S2: </a:t>
            </a:r>
            <a:r>
              <a:rPr dirty="0" err="1"/>
              <a:t>uzak</a:t>
            </a:r>
            <a:r>
              <a:rPr dirty="0"/>
              <a:t> </a:t>
            </a:r>
            <a:r>
              <a:rPr dirty="0" err="1"/>
              <a:t>orman</a:t>
            </a:r>
            <a:r>
              <a:rPr dirty="0"/>
              <a:t>, </a:t>
            </a:r>
            <a:r>
              <a:rPr dirty="0" err="1"/>
              <a:t>kısıtlı</a:t>
            </a:r>
            <a:r>
              <a:rPr dirty="0"/>
              <a:t> </a:t>
            </a:r>
            <a:r>
              <a:rPr dirty="0" err="1"/>
              <a:t>kaynak</a:t>
            </a:r>
            <a:r>
              <a:rPr dirty="0"/>
              <a:t>, </a:t>
            </a:r>
            <a:r>
              <a:rPr dirty="0" err="1"/>
              <a:t>üç</a:t>
            </a:r>
            <a:r>
              <a:rPr dirty="0"/>
              <a:t> </a:t>
            </a:r>
            <a:r>
              <a:rPr dirty="0" err="1"/>
              <a:t>tutuşturma</a:t>
            </a:r>
            <a:r>
              <a:rPr dirty="0"/>
              <a:t>. </a:t>
            </a:r>
            <a:r>
              <a:rPr dirty="0" err="1"/>
              <a:t>Kıtlıkta</a:t>
            </a:r>
            <a:r>
              <a:rPr dirty="0"/>
              <a:t> </a:t>
            </a:r>
            <a:r>
              <a:rPr dirty="0" err="1"/>
              <a:t>koruma</a:t>
            </a:r>
            <a:r>
              <a:rPr dirty="0"/>
              <a:t>.</a:t>
            </a:r>
          </a:p>
          <a:p>
            <a:r>
              <a:rPr dirty="0"/>
              <a:t>S3: </a:t>
            </a:r>
            <a:r>
              <a:rPr dirty="0" err="1"/>
              <a:t>orman-yerleşim</a:t>
            </a:r>
            <a:r>
              <a:rPr dirty="0"/>
              <a:t> </a:t>
            </a:r>
            <a:r>
              <a:rPr dirty="0" err="1"/>
              <a:t>arayüzü</a:t>
            </a:r>
            <a:r>
              <a:rPr dirty="0"/>
              <a:t>, </a:t>
            </a:r>
            <a:r>
              <a:rPr dirty="0" err="1"/>
              <a:t>yeterli</a:t>
            </a:r>
            <a:r>
              <a:rPr dirty="0"/>
              <a:t>, </a:t>
            </a:r>
            <a:r>
              <a:rPr dirty="0" err="1"/>
              <a:t>arayüze</a:t>
            </a:r>
            <a:r>
              <a:rPr dirty="0"/>
              <a:t> </a:t>
            </a:r>
            <a:r>
              <a:rPr dirty="0" err="1"/>
              <a:t>yakın</a:t>
            </a:r>
            <a:r>
              <a:rPr dirty="0"/>
              <a:t> </a:t>
            </a:r>
            <a:r>
              <a:rPr dirty="0" err="1"/>
              <a:t>iki</a:t>
            </a:r>
            <a:r>
              <a:rPr dirty="0"/>
              <a:t> </a:t>
            </a:r>
            <a:r>
              <a:rPr dirty="0" err="1"/>
              <a:t>tutuşturma</a:t>
            </a:r>
            <a:r>
              <a:rPr dirty="0"/>
              <a:t>. Can ve </a:t>
            </a:r>
            <a:r>
              <a:rPr dirty="0" err="1"/>
              <a:t>varlık</a:t>
            </a:r>
            <a:r>
              <a:rPr dirty="0"/>
              <a:t> </a:t>
            </a:r>
            <a:r>
              <a:rPr dirty="0" err="1"/>
              <a:t>önceliği</a:t>
            </a:r>
            <a:r>
              <a:rPr dirty="0"/>
              <a:t>, </a:t>
            </a:r>
            <a:r>
              <a:rPr dirty="0" err="1"/>
              <a:t>tahliye</a:t>
            </a:r>
            <a:r>
              <a:rPr dirty="0"/>
              <a:t>.</a:t>
            </a:r>
          </a:p>
          <a:p>
            <a:r>
              <a:rPr dirty="0"/>
              <a:t>S4: </a:t>
            </a:r>
            <a:r>
              <a:rPr dirty="0" err="1"/>
              <a:t>arayüz</a:t>
            </a:r>
            <a:r>
              <a:rPr dirty="0"/>
              <a:t>, </a:t>
            </a:r>
            <a:r>
              <a:rPr dirty="0" err="1"/>
              <a:t>kısıtlı</a:t>
            </a:r>
            <a:r>
              <a:rPr dirty="0"/>
              <a:t>. Tam </a:t>
            </a:r>
            <a:r>
              <a:rPr dirty="0" err="1"/>
              <a:t>stres</a:t>
            </a:r>
            <a:r>
              <a:rPr dirty="0"/>
              <a:t>. </a:t>
            </a:r>
            <a:r>
              <a:rPr dirty="0" err="1"/>
              <a:t>Gösterim</a:t>
            </a:r>
            <a:r>
              <a:rPr dirty="0"/>
              <a:t> </a:t>
            </a:r>
            <a:r>
              <a:rPr dirty="0" err="1"/>
              <a:t>senaryosu</a:t>
            </a:r>
            <a:r>
              <a:rPr dirty="0"/>
              <a:t> bu.</a:t>
            </a:r>
          </a:p>
          <a:p>
            <a:r>
              <a:rPr dirty="0"/>
              <a:t>S5: </a:t>
            </a:r>
            <a:r>
              <a:rPr dirty="0" err="1"/>
              <a:t>bozuk</a:t>
            </a:r>
            <a:r>
              <a:rPr dirty="0"/>
              <a:t> </a:t>
            </a:r>
            <a:r>
              <a:rPr dirty="0" err="1"/>
              <a:t>gözlemle</a:t>
            </a:r>
            <a:r>
              <a:rPr dirty="0"/>
              <a:t> S4.</a:t>
            </a:r>
          </a:p>
          <a:p>
            <a:r>
              <a:rPr dirty="0"/>
              <a:t>Her </a:t>
            </a:r>
            <a:r>
              <a:rPr dirty="0" err="1"/>
              <a:t>yerde</a:t>
            </a:r>
            <a:r>
              <a:rPr dirty="0"/>
              <a:t> </a:t>
            </a:r>
            <a:r>
              <a:rPr dirty="0" err="1"/>
              <a:t>kritik</a:t>
            </a:r>
            <a:r>
              <a:rPr dirty="0"/>
              <a:t> </a:t>
            </a:r>
            <a:r>
              <a:rPr dirty="0" err="1"/>
              <a:t>yangın</a:t>
            </a:r>
            <a:r>
              <a:rPr dirty="0"/>
              <a:t> </a:t>
            </a:r>
            <a:r>
              <a:rPr dirty="0" err="1"/>
              <a:t>havası</a:t>
            </a:r>
            <a:r>
              <a:rPr dirty="0"/>
              <a:t>. </a:t>
            </a:r>
            <a:r>
              <a:rPr dirty="0" err="1"/>
              <a:t>Senaryo</a:t>
            </a:r>
            <a:r>
              <a:rPr dirty="0"/>
              <a:t> </a:t>
            </a:r>
            <a:r>
              <a:rPr dirty="0" err="1"/>
              <a:t>başına</a:t>
            </a:r>
            <a:r>
              <a:rPr dirty="0"/>
              <a:t> </a:t>
            </a:r>
            <a:r>
              <a:rPr dirty="0" err="1"/>
              <a:t>elli</a:t>
            </a:r>
            <a:r>
              <a:rPr dirty="0"/>
              <a:t> </a:t>
            </a:r>
            <a:r>
              <a:rPr dirty="0" err="1"/>
              <a:t>dünya</a:t>
            </a:r>
            <a:r>
              <a:rPr dirty="0"/>
              <a:t>.</a:t>
            </a:r>
          </a:p>
          <a:p>
            <a:r>
              <a:rPr dirty="0" err="1"/>
              <a:t>Haritalar</a:t>
            </a:r>
            <a:r>
              <a:rPr dirty="0"/>
              <a:t> S1'den S4'e </a:t>
            </a:r>
            <a:r>
              <a:rPr dirty="0" err="1"/>
              <a:t>temsili</a:t>
            </a:r>
            <a:r>
              <a:rPr dirty="0"/>
              <a:t> </a:t>
            </a:r>
            <a:r>
              <a:rPr dirty="0" err="1"/>
              <a:t>dünyalar</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dirty="0"/>
              <a:t>SPEECH (EN)</a:t>
            </a:r>
          </a:p>
          <a:p>
            <a:r>
              <a:rPr dirty="0"/>
              <a:t>Every rung pays. The open space pays most.</a:t>
            </a:r>
          </a:p>
          <a:p>
            <a:r>
              <a:rPr dirty="0"/>
              <a:t>Four configurations: no DSS, fixed seed rules, seed rules with evolving-fuzzy adaptation, and the full open space.</a:t>
            </a:r>
          </a:p>
          <a:p>
            <a:r>
              <a:rPr dirty="0"/>
              <a:t>Top left: burned area, burned forest and affected population as a share of the no-DSS run.</a:t>
            </a:r>
          </a:p>
          <a:p>
            <a:r>
              <a:rPr dirty="0"/>
              <a:t>In hectares: 220, then 84, then 78, then 39. That is 82 percent below free burn.</a:t>
            </a:r>
          </a:p>
          <a:p>
            <a:r>
              <a:rPr dirty="0"/>
              <a:t>Top right: physical cost. Roughly halved by the seed rules. Under a third with the open space.</a:t>
            </a:r>
          </a:p>
          <a:p>
            <a:r>
              <a:rPr dirty="0"/>
              <a:t>Bottom: the weighted cost terms. Response and delay appear only when the DSS acts.</a:t>
            </a:r>
          </a:p>
          <a:p>
            <a:r>
              <a:rPr dirty="0"/>
              <a:t>The open space still has the lowest total in every family, after charging its own effort.</a:t>
            </a:r>
          </a:p>
          <a:p>
            <a:endParaRPr dirty="0"/>
          </a:p>
          <a:p>
            <a:r>
              <a:rPr b="1" dirty="0"/>
              <a:t>KONUŞMA (TR)</a:t>
            </a:r>
          </a:p>
          <a:p>
            <a:r>
              <a:rPr dirty="0"/>
              <a:t>Her </a:t>
            </a:r>
            <a:r>
              <a:rPr dirty="0" err="1"/>
              <a:t>basamak</a:t>
            </a:r>
            <a:r>
              <a:rPr dirty="0"/>
              <a:t> </a:t>
            </a:r>
            <a:r>
              <a:rPr dirty="0" err="1"/>
              <a:t>kazandırır</a:t>
            </a:r>
            <a:r>
              <a:rPr dirty="0"/>
              <a:t>. </a:t>
            </a:r>
            <a:r>
              <a:rPr dirty="0" err="1"/>
              <a:t>En</a:t>
            </a:r>
            <a:r>
              <a:rPr dirty="0"/>
              <a:t> </a:t>
            </a:r>
            <a:r>
              <a:rPr dirty="0" err="1"/>
              <a:t>çok</a:t>
            </a:r>
            <a:r>
              <a:rPr dirty="0"/>
              <a:t> </a:t>
            </a:r>
            <a:r>
              <a:rPr dirty="0" err="1"/>
              <a:t>açık</a:t>
            </a:r>
            <a:r>
              <a:rPr dirty="0"/>
              <a:t> </a:t>
            </a:r>
            <a:r>
              <a:rPr dirty="0" err="1"/>
              <a:t>uzay</a:t>
            </a:r>
            <a:r>
              <a:rPr dirty="0"/>
              <a:t> </a:t>
            </a:r>
            <a:r>
              <a:rPr dirty="0" err="1"/>
              <a:t>kazandırır</a:t>
            </a:r>
            <a:r>
              <a:rPr dirty="0"/>
              <a:t>.</a:t>
            </a:r>
          </a:p>
          <a:p>
            <a:r>
              <a:rPr dirty="0" err="1"/>
              <a:t>Dört</a:t>
            </a:r>
            <a:r>
              <a:rPr dirty="0"/>
              <a:t> </a:t>
            </a:r>
            <a:r>
              <a:rPr dirty="0" err="1"/>
              <a:t>yapılandırma</a:t>
            </a:r>
            <a:r>
              <a:rPr dirty="0"/>
              <a:t>: DSS yok, </a:t>
            </a:r>
            <a:r>
              <a:rPr dirty="0" err="1"/>
              <a:t>sabit</a:t>
            </a:r>
            <a:r>
              <a:rPr dirty="0"/>
              <a:t> </a:t>
            </a:r>
            <a:r>
              <a:rPr dirty="0" err="1"/>
              <a:t>tohum</a:t>
            </a:r>
            <a:r>
              <a:rPr dirty="0"/>
              <a:t> </a:t>
            </a:r>
            <a:r>
              <a:rPr dirty="0" err="1"/>
              <a:t>kurallar</a:t>
            </a:r>
            <a:r>
              <a:rPr dirty="0"/>
              <a:t>, </a:t>
            </a:r>
            <a:r>
              <a:rPr dirty="0" err="1"/>
              <a:t>evrilen</a:t>
            </a:r>
            <a:r>
              <a:rPr dirty="0"/>
              <a:t> </a:t>
            </a:r>
            <a:r>
              <a:rPr dirty="0" err="1"/>
              <a:t>bulanık</a:t>
            </a:r>
            <a:r>
              <a:rPr dirty="0"/>
              <a:t> </a:t>
            </a:r>
            <a:r>
              <a:rPr dirty="0" err="1"/>
              <a:t>uyarlanmalı</a:t>
            </a:r>
            <a:r>
              <a:rPr dirty="0"/>
              <a:t> </a:t>
            </a:r>
            <a:r>
              <a:rPr dirty="0" err="1"/>
              <a:t>tohum</a:t>
            </a:r>
            <a:r>
              <a:rPr dirty="0"/>
              <a:t> </a:t>
            </a:r>
            <a:r>
              <a:rPr dirty="0" err="1"/>
              <a:t>kurallar</a:t>
            </a:r>
            <a:r>
              <a:rPr dirty="0"/>
              <a:t> ve tam </a:t>
            </a:r>
            <a:r>
              <a:rPr dirty="0" err="1"/>
              <a:t>açık</a:t>
            </a:r>
            <a:r>
              <a:rPr dirty="0"/>
              <a:t> </a:t>
            </a:r>
            <a:r>
              <a:rPr dirty="0" err="1"/>
              <a:t>uzay</a:t>
            </a:r>
            <a:r>
              <a:rPr dirty="0"/>
              <a:t>.</a:t>
            </a:r>
          </a:p>
          <a:p>
            <a:r>
              <a:rPr dirty="0"/>
              <a:t>Sol </a:t>
            </a:r>
            <a:r>
              <a:rPr dirty="0" err="1"/>
              <a:t>üst</a:t>
            </a:r>
            <a:r>
              <a:rPr dirty="0"/>
              <a:t>: </a:t>
            </a:r>
            <a:r>
              <a:rPr dirty="0" err="1"/>
              <a:t>DSS'siz</a:t>
            </a:r>
            <a:r>
              <a:rPr dirty="0"/>
              <a:t> </a:t>
            </a:r>
            <a:r>
              <a:rPr dirty="0" err="1"/>
              <a:t>koşunun</a:t>
            </a:r>
            <a:r>
              <a:rPr dirty="0"/>
              <a:t> </a:t>
            </a:r>
            <a:r>
              <a:rPr dirty="0" err="1"/>
              <a:t>payı</a:t>
            </a:r>
            <a:r>
              <a:rPr dirty="0"/>
              <a:t> </a:t>
            </a:r>
            <a:r>
              <a:rPr dirty="0" err="1"/>
              <a:t>olarak</a:t>
            </a:r>
            <a:r>
              <a:rPr dirty="0"/>
              <a:t> </a:t>
            </a:r>
            <a:r>
              <a:rPr dirty="0" err="1"/>
              <a:t>yanan</a:t>
            </a:r>
            <a:r>
              <a:rPr dirty="0"/>
              <a:t> </a:t>
            </a:r>
            <a:r>
              <a:rPr dirty="0" err="1"/>
              <a:t>alan</a:t>
            </a:r>
            <a:r>
              <a:rPr dirty="0"/>
              <a:t>, </a:t>
            </a:r>
            <a:r>
              <a:rPr dirty="0" err="1"/>
              <a:t>yanan</a:t>
            </a:r>
            <a:r>
              <a:rPr dirty="0"/>
              <a:t> </a:t>
            </a:r>
            <a:r>
              <a:rPr dirty="0" err="1"/>
              <a:t>orman</a:t>
            </a:r>
            <a:r>
              <a:rPr dirty="0"/>
              <a:t> ve </a:t>
            </a:r>
            <a:r>
              <a:rPr dirty="0" err="1"/>
              <a:t>etkilenen</a:t>
            </a:r>
            <a:r>
              <a:rPr dirty="0"/>
              <a:t> </a:t>
            </a:r>
            <a:r>
              <a:rPr dirty="0" err="1"/>
              <a:t>nüfus</a:t>
            </a:r>
            <a:r>
              <a:rPr dirty="0"/>
              <a:t>.</a:t>
            </a:r>
          </a:p>
          <a:p>
            <a:r>
              <a:rPr dirty="0" err="1"/>
              <a:t>Hektar</a:t>
            </a:r>
            <a:r>
              <a:rPr dirty="0"/>
              <a:t> </a:t>
            </a:r>
            <a:r>
              <a:rPr dirty="0" err="1"/>
              <a:t>olarak</a:t>
            </a:r>
            <a:r>
              <a:rPr dirty="0"/>
              <a:t>: 220, </a:t>
            </a:r>
            <a:r>
              <a:rPr dirty="0" err="1"/>
              <a:t>sonra</a:t>
            </a:r>
            <a:r>
              <a:rPr dirty="0"/>
              <a:t> 84, </a:t>
            </a:r>
            <a:r>
              <a:rPr dirty="0" err="1"/>
              <a:t>sonra</a:t>
            </a:r>
            <a:r>
              <a:rPr dirty="0"/>
              <a:t> 78, </a:t>
            </a:r>
            <a:r>
              <a:rPr dirty="0" err="1"/>
              <a:t>sonra</a:t>
            </a:r>
            <a:r>
              <a:rPr dirty="0"/>
              <a:t> 39. </a:t>
            </a:r>
            <a:r>
              <a:rPr dirty="0" err="1"/>
              <a:t>Serbest</a:t>
            </a:r>
            <a:r>
              <a:rPr dirty="0"/>
              <a:t> </a:t>
            </a:r>
            <a:r>
              <a:rPr dirty="0" err="1"/>
              <a:t>yanmanın</a:t>
            </a:r>
            <a:r>
              <a:rPr dirty="0"/>
              <a:t> </a:t>
            </a:r>
            <a:r>
              <a:rPr dirty="0" err="1"/>
              <a:t>yüzde</a:t>
            </a:r>
            <a:r>
              <a:rPr dirty="0"/>
              <a:t> 82 </a:t>
            </a:r>
            <a:r>
              <a:rPr dirty="0" err="1"/>
              <a:t>altı</a:t>
            </a:r>
            <a:r>
              <a:rPr dirty="0"/>
              <a:t>.</a:t>
            </a:r>
          </a:p>
          <a:p>
            <a:r>
              <a:rPr dirty="0" err="1"/>
              <a:t>Sağ</a:t>
            </a:r>
            <a:r>
              <a:rPr dirty="0"/>
              <a:t> </a:t>
            </a:r>
            <a:r>
              <a:rPr dirty="0" err="1"/>
              <a:t>üst</a:t>
            </a:r>
            <a:r>
              <a:rPr dirty="0"/>
              <a:t>: </a:t>
            </a:r>
            <a:r>
              <a:rPr dirty="0" err="1"/>
              <a:t>fiziksel</a:t>
            </a:r>
            <a:r>
              <a:rPr dirty="0"/>
              <a:t> </a:t>
            </a:r>
            <a:r>
              <a:rPr dirty="0" err="1"/>
              <a:t>maliyet</a:t>
            </a:r>
            <a:r>
              <a:rPr dirty="0"/>
              <a:t>. </a:t>
            </a:r>
            <a:r>
              <a:rPr dirty="0" err="1"/>
              <a:t>Tohum</a:t>
            </a:r>
            <a:r>
              <a:rPr dirty="0"/>
              <a:t> </a:t>
            </a:r>
            <a:r>
              <a:rPr dirty="0" err="1"/>
              <a:t>kurallarla</a:t>
            </a:r>
            <a:r>
              <a:rPr dirty="0"/>
              <a:t> </a:t>
            </a:r>
            <a:r>
              <a:rPr dirty="0" err="1"/>
              <a:t>kabaca</a:t>
            </a:r>
            <a:r>
              <a:rPr dirty="0"/>
              <a:t> </a:t>
            </a:r>
            <a:r>
              <a:rPr dirty="0" err="1"/>
              <a:t>yarıya</a:t>
            </a:r>
            <a:r>
              <a:rPr dirty="0"/>
              <a:t>. </a:t>
            </a:r>
            <a:r>
              <a:rPr dirty="0" err="1"/>
              <a:t>Açık</a:t>
            </a:r>
            <a:r>
              <a:rPr dirty="0"/>
              <a:t> </a:t>
            </a:r>
            <a:r>
              <a:rPr dirty="0" err="1"/>
              <a:t>uzayla</a:t>
            </a:r>
            <a:r>
              <a:rPr dirty="0"/>
              <a:t> </a:t>
            </a:r>
            <a:r>
              <a:rPr dirty="0" err="1"/>
              <a:t>üçte</a:t>
            </a:r>
            <a:r>
              <a:rPr dirty="0"/>
              <a:t> </a:t>
            </a:r>
            <a:r>
              <a:rPr dirty="0" err="1"/>
              <a:t>birin</a:t>
            </a:r>
            <a:r>
              <a:rPr dirty="0"/>
              <a:t> </a:t>
            </a:r>
            <a:r>
              <a:rPr dirty="0" err="1"/>
              <a:t>altına</a:t>
            </a:r>
            <a:r>
              <a:rPr dirty="0"/>
              <a:t>.</a:t>
            </a:r>
          </a:p>
          <a:p>
            <a:r>
              <a:rPr dirty="0" err="1"/>
              <a:t>Altta</a:t>
            </a:r>
            <a:r>
              <a:rPr dirty="0"/>
              <a:t>: </a:t>
            </a:r>
            <a:r>
              <a:rPr dirty="0" err="1"/>
              <a:t>ağırlıklı</a:t>
            </a:r>
            <a:r>
              <a:rPr dirty="0"/>
              <a:t> </a:t>
            </a:r>
            <a:r>
              <a:rPr dirty="0" err="1"/>
              <a:t>maliyet</a:t>
            </a:r>
            <a:r>
              <a:rPr dirty="0"/>
              <a:t> </a:t>
            </a:r>
            <a:r>
              <a:rPr dirty="0" err="1"/>
              <a:t>terimleri</a:t>
            </a:r>
            <a:r>
              <a:rPr dirty="0"/>
              <a:t>. </a:t>
            </a:r>
            <a:r>
              <a:rPr dirty="0" err="1"/>
              <a:t>Müdahale</a:t>
            </a:r>
            <a:r>
              <a:rPr dirty="0"/>
              <a:t> ve </a:t>
            </a:r>
            <a:r>
              <a:rPr dirty="0" err="1"/>
              <a:t>gecikme</a:t>
            </a:r>
            <a:r>
              <a:rPr dirty="0"/>
              <a:t> </a:t>
            </a:r>
            <a:r>
              <a:rPr dirty="0" err="1"/>
              <a:t>yalnızca</a:t>
            </a:r>
            <a:r>
              <a:rPr dirty="0"/>
              <a:t> DSS </a:t>
            </a:r>
            <a:r>
              <a:rPr dirty="0" err="1"/>
              <a:t>eylediğinde</a:t>
            </a:r>
            <a:r>
              <a:rPr dirty="0"/>
              <a:t> </a:t>
            </a:r>
            <a:r>
              <a:rPr dirty="0" err="1"/>
              <a:t>beliriyor</a:t>
            </a:r>
            <a:r>
              <a:rPr dirty="0"/>
              <a:t>.</a:t>
            </a:r>
          </a:p>
          <a:p>
            <a:r>
              <a:rPr dirty="0" err="1"/>
              <a:t>Açık</a:t>
            </a:r>
            <a:r>
              <a:rPr dirty="0"/>
              <a:t> </a:t>
            </a:r>
            <a:r>
              <a:rPr dirty="0" err="1"/>
              <a:t>uzay</a:t>
            </a:r>
            <a:r>
              <a:rPr dirty="0"/>
              <a:t>, </a:t>
            </a:r>
            <a:r>
              <a:rPr dirty="0" err="1"/>
              <a:t>kendi</a:t>
            </a:r>
            <a:r>
              <a:rPr dirty="0"/>
              <a:t> </a:t>
            </a:r>
            <a:r>
              <a:rPr dirty="0" err="1"/>
              <a:t>çabası</a:t>
            </a:r>
            <a:r>
              <a:rPr dirty="0"/>
              <a:t> </a:t>
            </a:r>
            <a:r>
              <a:rPr dirty="0" err="1"/>
              <a:t>fiyatlandıktan</a:t>
            </a:r>
            <a:r>
              <a:rPr dirty="0"/>
              <a:t> </a:t>
            </a:r>
            <a:r>
              <a:rPr dirty="0" err="1"/>
              <a:t>sonra</a:t>
            </a:r>
            <a:r>
              <a:rPr dirty="0"/>
              <a:t> bile her </a:t>
            </a:r>
            <a:r>
              <a:rPr dirty="0" err="1"/>
              <a:t>ailede</a:t>
            </a:r>
            <a:r>
              <a:rPr dirty="0"/>
              <a:t> </a:t>
            </a:r>
            <a:r>
              <a:rPr dirty="0" err="1"/>
              <a:t>en</a:t>
            </a:r>
            <a:r>
              <a:rPr dirty="0"/>
              <a:t> </a:t>
            </a:r>
            <a:r>
              <a:rPr dirty="0" err="1"/>
              <a:t>düşük</a:t>
            </a:r>
            <a:r>
              <a:rPr dirty="0"/>
              <a:t> </a:t>
            </a:r>
            <a:r>
              <a:rPr dirty="0" err="1"/>
              <a:t>toplama</a:t>
            </a:r>
            <a:r>
              <a:rPr dirty="0"/>
              <a:t> </a:t>
            </a:r>
            <a:r>
              <a:rPr dirty="0" err="1"/>
              <a:t>sahip</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SPEECH (EN)</a:t>
            </a:r>
          </a:p>
          <a:p>
            <a:r>
              <a:t>Adaptation is frequent. Acceptance is strict. That is the design.</a:t>
            </a:r>
          </a:p>
          <a:p>
            <a:r>
              <a:t>Left: stage one, 129 of 616 accepted. Stage two, 40 of 359.</a:t>
            </a:r>
          </a:p>
          <a:p>
            <a:r>
              <a:t>Right: the generative cascade. 232 proposals. 48 rejected at G1 and G2. 20 transport failures. 94 rejected at G3, the forecast. 4 at G4. 19 at G5.</a:t>
            </a:r>
          </a:p>
          <a:p>
            <a:r>
              <a:t>47 admitted: 36 rules and 11 packages.</a:t>
            </a:r>
          </a:p>
          <a:p>
            <a:r>
              <a:t>Over the campaign: 151,745 orders fielded, 5,502 withheld, 113 no-harm vetoes.</a:t>
            </a:r>
          </a:p>
          <a:p>
            <a:r>
              <a:t>Trials are cheap. They are rejected safely on the forecast, before anything reaches the field.</a:t>
            </a:r>
          </a:p>
          <a:p>
            <a:endParaRPr/>
          </a:p>
          <a:p>
            <a:r>
              <a:rPr b="1"/>
              <a:t>KONUŞMA (TR)</a:t>
            </a:r>
          </a:p>
          <a:p>
            <a:r>
              <a:t>Uyarlanma sık. Kabul katı. Tasarım bu.</a:t>
            </a:r>
          </a:p>
          <a:p>
            <a:r>
              <a:t>Solda: birinci aşama, 616'da 129 kabul. İkinci aşama, 359'da 40.</a:t>
            </a:r>
          </a:p>
          <a:p>
            <a:r>
              <a:t>Sağda: üretken kaskad. 232 öneri. 48'i G1 ve G2'de reddedildi. 20 iletim hatası. 94'ü tahmin kapısı G3'te. 4'ü G4'te. 19'u G5'te.</a:t>
            </a:r>
          </a:p>
          <a:p>
            <a:r>
              <a:t>47 kabul: 36 kural ve 11 paket.</a:t>
            </a:r>
          </a:p>
          <a:p>
            <a:r>
              <a:t>Kampanya boyunca: 151.745 emir sahaya indi, 5.502 geri tutuldu, 113 zarar-yok vetosu.</a:t>
            </a:r>
          </a:p>
          <a:p>
            <a:r>
              <a:t>Denemeler ucuz. Sahaya bir şey ulaşmadan tahmin üzerinde güvenle reddedilir.</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SPEECH (EN)</a:t>
            </a:r>
          </a:p>
          <a:p>
            <a:r>
              <a:t>Every edit is a recorded, bounded correction.</a:t>
            </a:r>
          </a:p>
          <a:p>
            <a:r>
              <a:t>167 consequent updates: 103 up, 64 down. 5 boundary shifts. 4 term insertions. 40 new rules.</a:t>
            </a:r>
          </a:p>
          <a:p>
            <a:r>
              <a:t>Escalation: cost above the bound while the rule keeps firing. Right action, too weak.</a:t>
            </a:r>
          </a:p>
          <a:p>
            <a:r>
              <a:t>De-escalation: response and delay dominate late. Action stronger than what is left.</a:t>
            </a:r>
          </a:p>
          <a:p>
            <a:r>
              <a:t>Boundary shift: fire alive, no rule above the coverage threshold.</a:t>
            </a:r>
          </a:p>
          <a:p>
            <a:r>
              <a:t>Term insertion: a coverage gap survives the shifts.</a:t>
            </a:r>
          </a:p>
          <a:p>
            <a:r>
              <a:t>Rule instantiation: the reading falls into an uncovered cell.</a:t>
            </a:r>
          </a:p>
          <a:p>
            <a:r>
              <a:t>Each entry passed its own forecast test. Nothing drifts silently.</a:t>
            </a:r>
          </a:p>
          <a:p>
            <a:endParaRPr/>
          </a:p>
          <a:p>
            <a:r>
              <a:rPr b="1"/>
              <a:t>KONUŞMA (TR)</a:t>
            </a:r>
          </a:p>
          <a:p>
            <a:r>
              <a:t>Her düzenleme kayıtlı, sınırlı bir düzeltme.</a:t>
            </a:r>
          </a:p>
          <a:p>
            <a:r>
              <a:t>167 sonuç güncellemesi: 103 artırma, 64 azaltma. 5 sınır kayması. 4 terim ekleme. 40 yeni kural.</a:t>
            </a:r>
          </a:p>
          <a:p>
            <a:r>
              <a:t>Artırma: kural ateşlenirken maliyet sınırın üstünde. Doğru eylem, çok zayıf.</a:t>
            </a:r>
          </a:p>
          <a:p>
            <a:r>
              <a:t>Azaltma: geç safhada müdahale ve gecikme baskın. Eylem kalandan daha güçlü.</a:t>
            </a:r>
          </a:p>
          <a:p>
            <a:r>
              <a:t>Sınır kayması: yangın canlı, kapsama eşiğinin üstünde kural yok.</a:t>
            </a:r>
          </a:p>
          <a:p>
            <a:r>
              <a:t>Terim ekleme: kapsama açığı kaymalara rağmen sürüyor.</a:t>
            </a:r>
          </a:p>
          <a:p>
            <a:r>
              <a:t>Kural yazma: okuma kapsanmayan hücreye düşüyor.</a:t>
            </a:r>
          </a:p>
          <a:p>
            <a:r>
              <a:t>Her kayıt kendi tahmin testini geçti. Hiçbir şey sessizce kaymaz.</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SPEECH (EN)</a:t>
            </a:r>
          </a:p>
          <a:p>
            <a:r>
              <a:t>The stage-three ledger: macros.</a:t>
            </a:r>
          </a:p>
          <a:p>
            <a:r>
              <a:t>Main campaign: 232 proposals, 47 admitted. The store keeps 7 macros and 1 concept.</a:t>
            </a:r>
          </a:p>
          <a:p>
            <a:r>
              <a:t>The heat map shows the composition of the generated macros over the base channels.</a:t>
            </a:r>
          </a:p>
          <a:p>
            <a:r>
              <a:t>The table shows the vocabulary being used, not merely grown.</a:t>
            </a:r>
          </a:p>
          <a:p>
            <a:r>
              <a:t>Generated rules order the generated macros by name: downwind containment shield, head knockdown, wet containment line, counterfire strip.</a:t>
            </a:r>
          </a:p>
          <a:p>
            <a:r>
              <a:t>G14 is the composed case: a generated rule firing on a generated concept, interface exposure.</a:t>
            </a:r>
          </a:p>
          <a:p>
            <a:endParaRPr/>
          </a:p>
          <a:p>
            <a:r>
              <a:rPr b="1"/>
              <a:t>KONUŞMA (TR)</a:t>
            </a:r>
          </a:p>
          <a:p>
            <a:r>
              <a:t>Üçüncü aşama defteri: makrolar.</a:t>
            </a:r>
          </a:p>
          <a:p>
            <a:r>
              <a:t>Ana kampanya: 232 öneri, 47 kabul. Depoda 7 makro ve 1 kavram.</a:t>
            </a:r>
          </a:p>
          <a:p>
            <a:r>
              <a:t>Isı haritası üretilen makroların taban kanallar üzerindeki bileşimini gösteriyor.</a:t>
            </a:r>
          </a:p>
          <a:p>
            <a:r>
              <a:t>Tablo sözlüğün yalnızca büyümediğini, kullanıldığını gösteriyor.</a:t>
            </a:r>
          </a:p>
          <a:p>
            <a:r>
              <a:t>Üretilmiş kurallar üretilmiş makroları adıyla emrediyor: downwind containment shield, head knockdown, wet containment line, counterfire strip.</a:t>
            </a:r>
          </a:p>
          <a:p>
            <a:r>
              <a:t>G14 bileşik vaka: üretilmiş bir kavram olan interface exposure üzerinde ateşlenen üretilmiş bir kural.</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SPEECH (EN)</a:t>
            </a:r>
          </a:p>
          <a:p>
            <a:r>
              <a:t>Admitted actuators, two tactical families.</a:t>
            </a:r>
          </a:p>
          <a:p>
            <a:r>
              <a:t>A second campaign: 35 proposals, 19 admitted. 6 rules, 5 concepts, 1 macro, 7 actuators.</a:t>
            </a:r>
          </a:p>
          <a:p>
            <a:r>
              <a:t>The table lists the seven actuators with their clauses.</a:t>
            </a:r>
          </a:p>
          <a:p>
            <a:r>
              <a:t>Preventive coating: coat assets and populated cells before the fire arrives. The seed doctrine had no such tactic.</a:t>
            </a:r>
          </a:p>
          <a:p>
            <a:r>
              <a:t>Drafting substitution: when the pool is spent, raise the yield of crews already committed. Evacuation behind them.</a:t>
            </a:r>
          </a:p>
          <a:p>
            <a:r>
              <a:t>One detail: lakeside capacity bridge was re-ordered at minute 114 by an unrelated rule. The gain was real.</a:t>
            </a:r>
          </a:p>
          <a:p>
            <a:endParaRPr/>
          </a:p>
          <a:p>
            <a:r>
              <a:rPr b="1"/>
              <a:t>KONUŞMA (TR)</a:t>
            </a:r>
          </a:p>
          <a:p>
            <a:r>
              <a:t>Kabul edilen aktüatörler, iki taktik aile.</a:t>
            </a:r>
          </a:p>
          <a:p>
            <a:r>
              <a:t>İkinci kampanya: 35 öneri, 19 kabul. 6 kural, 5 kavram, 1 makro, 7 aktüatör.</a:t>
            </a:r>
          </a:p>
          <a:p>
            <a:r>
              <a:t>Tablo yedi aktüatörü clause'larıyla listeliyor.</a:t>
            </a:r>
          </a:p>
          <a:p>
            <a:r>
              <a:t>Önleyici kaplama: yangın gelmeden varlıkları ve nüfuslu hücreleri kapla. Tohum doktrininde böyle bir taktik yoktu.</a:t>
            </a:r>
          </a:p>
          <a:p>
            <a:r>
              <a:t>Su çekme ikamesi: havuz tükenince zaten görevlendirilmiş ekiplerin verimini artır. Arkalarında tahliye.</a:t>
            </a:r>
          </a:p>
          <a:p>
            <a:r>
              <a:t>Bir ayrıntı: lakeside capacity bridge 114. dakikada ilgisiz bir kural tarafından yeniden emredildi. Kazanç gerçekti.</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9D92A-850D-C08C-01F5-2197889290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921BB1-E7FD-1181-370A-2F256B7939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58CCE0-C5DC-C052-F8B2-4E7A2D7CC6F4}"/>
              </a:ext>
            </a:extLst>
          </p:cNvPr>
          <p:cNvSpPr>
            <a:spLocks noGrp="1"/>
          </p:cNvSpPr>
          <p:nvPr>
            <p:ph type="body" idx="1"/>
          </p:nvPr>
        </p:nvSpPr>
        <p:spPr/>
        <p:txBody>
          <a:bodyPr/>
          <a:lstStyle/>
          <a:p>
            <a:r>
              <a:rPr b="1"/>
              <a:t>SPEECH (EN)</a:t>
            </a:r>
          </a:p>
          <a:p>
            <a:r>
              <a:t>Admitted concepts, both campaigns in one table.</a:t>
            </a:r>
          </a:p>
          <a:p>
            <a:r>
              <a:t>Interface exposure: half asset exposure, half evacuation pressure. Rule G14 fires on it.</a:t>
            </a:r>
          </a:p>
          <a:p>
            <a:r>
              <a:t>Capacity-starved head pressure, head run pressure, village interface pressure: from the actuator run.</a:t>
            </a:r>
          </a:p>
          <a:p>
            <a:r>
              <a:t>What a concept buys: one antecedent instead of three. A recurring compound situation gets a name.</a:t>
            </a:r>
          </a:p>
          <a:p>
            <a:r>
              <a:t>Totals: main run 232 to 47. Actuator run 35 to 19.</a:t>
            </a:r>
          </a:p>
          <a:p>
            <a:r>
              <a:t>A concept changes what the rules can look at, never what they can order.</a:t>
            </a:r>
          </a:p>
          <a:p>
            <a:endParaRPr/>
          </a:p>
          <a:p>
            <a:r>
              <a:rPr b="1"/>
              <a:t>KONUŞMA (TR)</a:t>
            </a:r>
          </a:p>
          <a:p>
            <a:r>
              <a:t>Kabul edilen kavramlar, iki kampanya tek tabloda.</a:t>
            </a:r>
          </a:p>
          <a:p>
            <a:r>
              <a:t>Interface exposure: yarı varlık maruziyeti, yarı tahliye baskısı. G14 kuralı onun üzerinde ateşleniyor.</a:t>
            </a:r>
          </a:p>
          <a:p>
            <a:r>
              <a:t>Capacity-starved head pressure, head run pressure, village interface pressure: aktüatör koşusundan.</a:t>
            </a:r>
          </a:p>
          <a:p>
            <a:r>
              <a:t>Kavram ne kazandırır: üç yerine tek öncül. Tekrar eden bileşik bir durum ad alır.</a:t>
            </a:r>
          </a:p>
          <a:p>
            <a:r>
              <a:t>Toplamlar: ana koşu 232'den 47'ye. Aktüatör koşusu 35'ten 19'a.</a:t>
            </a:r>
          </a:p>
          <a:p>
            <a:r>
              <a:t>Kavram, kuralların neye bakabileceğini değiştirir, neyi emredebileceğini asla.</a:t>
            </a:r>
          </a:p>
        </p:txBody>
      </p:sp>
      <p:sp>
        <p:nvSpPr>
          <p:cNvPr id="4" name="Slide Number Placeholder 3">
            <a:extLst>
              <a:ext uri="{FF2B5EF4-FFF2-40B4-BE49-F238E27FC236}">
                <a16:creationId xmlns:a16="http://schemas.microsoft.com/office/drawing/2014/main" id="{37CA9A2A-78E7-5DFD-A021-07F4C94E44D9}"/>
              </a:ext>
            </a:extLst>
          </p:cNvPr>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95215941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SPEECH (EN)</a:t>
            </a:r>
          </a:p>
          <a:p>
            <a:r>
              <a:t>One incident, end to end.</a:t>
            </a:r>
          </a:p>
          <a:p>
            <a:r>
              <a:t>Upper panel: the red line is cumulative burned area. It rises and flattens at about 0.65 as the fire is held.</a:t>
            </a:r>
          </a:p>
          <a:p>
            <a:r>
              <a:t>The blue line is active burning cells. It peaks near 350, drops at minute 60, and goes to zero.</a:t>
            </a:r>
          </a:p>
          <a:p>
            <a:r>
              <a:t>Lower panel: adaptation events by stage. Triangles accepted, crosses rejected.</a:t>
            </a:r>
          </a:p>
          <a:p>
            <a:r>
              <a:t>Accepted trials cluster in the early minutes.</a:t>
            </a:r>
          </a:p>
          <a:p>
            <a:r>
              <a:t>After minute 70 almost every proposal is rejected. Little is left to improve.</a:t>
            </a:r>
          </a:p>
          <a:p>
            <a:r>
              <a:t>Every order in this run traces to its concepts, rules and confidences.</a:t>
            </a:r>
          </a:p>
          <a:p>
            <a:endParaRPr/>
          </a:p>
          <a:p>
            <a:r>
              <a:rPr b="1"/>
              <a:t>KONUŞMA (TR)</a:t>
            </a:r>
          </a:p>
          <a:p>
            <a:r>
              <a:t>Baştan sona tek olay.</a:t>
            </a:r>
          </a:p>
          <a:p>
            <a:r>
              <a:t>Üst panel: kırmızı çizgi birikimli yanan alan. Yükselir ve yangın tutuldukça yaklaşık 0.65'te düzleşir.</a:t>
            </a:r>
          </a:p>
          <a:p>
            <a:r>
              <a:t>Mavi çizgi aktif yanan hücreler. 350 civarında tepe yapar, 60. dakikada düşer, sıfıra iner.</a:t>
            </a:r>
          </a:p>
          <a:p>
            <a:r>
              <a:t>Alt panel: aşamalara göre uyarlanma olayları. Üçgen kabul, çarpı ret.</a:t>
            </a:r>
          </a:p>
          <a:p>
            <a:r>
              <a:t>Kabuller erken dakikalarda kümelenir.</a:t>
            </a:r>
          </a:p>
          <a:p>
            <a:r>
              <a:t>70. dakikadan sonra neredeyse her öneri reddedilir. İyileştirilecek az şey kalmıştır.</a:t>
            </a:r>
          </a:p>
          <a:p>
            <a:r>
              <a:t>Bu koşudaki her emir kavramlarına, kurallarına ve güvenlerine izlenebilir.</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SPEECH (EN)</a:t>
            </a:r>
          </a:p>
          <a:p>
            <a:r>
              <a:t>Milliseconds against a twelve-minute cycle.</a:t>
            </a:r>
          </a:p>
          <a:p>
            <a:r>
              <a:t>The chart: cost of one decision as a share of the cycle, on a log axis, for 1 to 16 regions.</a:t>
            </a:r>
          </a:p>
          <a:p>
            <a:r>
              <a:t>The median decision takes 274 milliseconds. That is 0.04 percent of a twelve-minute cycle.</a:t>
            </a:r>
          </a:p>
          <a:p>
            <a:r>
              <a:t>Sixteen regions cost 1.16 to 1.29 times one region.</a:t>
            </a:r>
          </a:p>
          <a:p>
            <a:r>
              <a:t>Even at a two-minute cycle a decision takes under a fifth of one percent of its time.</a:t>
            </a:r>
          </a:p>
          <a:p>
            <a:r>
              <a:t>The cost follows the number of cells, not the number of agents.</a:t>
            </a:r>
          </a:p>
          <a:p>
            <a:endParaRPr/>
          </a:p>
          <a:p>
            <a:r>
              <a:rPr b="1"/>
              <a:t>KONUŞMA (TR)</a:t>
            </a:r>
          </a:p>
          <a:p>
            <a:r>
              <a:t>On iki dakikalık çevrime karşı milisaniyeler.</a:t>
            </a:r>
          </a:p>
          <a:p>
            <a:r>
              <a:t>Grafik: bir kararın maliyeti çevrimin payı olarak, log eksende, 1-16 bölge için.</a:t>
            </a:r>
          </a:p>
          <a:p>
            <a:r>
              <a:t>Medyan karar 274 milisaniye. On iki dakikalık çevrimin yüzde 0.04'ü.</a:t>
            </a:r>
          </a:p>
          <a:p>
            <a:r>
              <a:t>On altı bölge, tek bölgenin 1.16-1.29 katı.</a:t>
            </a:r>
          </a:p>
          <a:p>
            <a:r>
              <a:t>İki dakikalık çevrimde bile karar süresinin yüzde birinin beşte birinden azını alır.</a:t>
            </a:r>
          </a:p>
          <a:p>
            <a:r>
              <a:t>Maliyet ajan sayısını değil hücre sayısını izler.</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dirty="0"/>
              <a:t>SPEECH (EN)</a:t>
            </a:r>
          </a:p>
          <a:p>
            <a:r>
              <a:rPr dirty="0"/>
              <a:t>The rubric returns. Four met in full, four bounded.</a:t>
            </a:r>
          </a:p>
          <a:p>
            <a:r>
              <a:rPr dirty="0"/>
              <a:t>Met: predictive fidelity, 86 to 94 percent on blind hindcasts.</a:t>
            </a:r>
          </a:p>
          <a:p>
            <a:r>
              <a:rPr dirty="0"/>
              <a:t>Timeliness: 274 milliseconds, first offensive order at two minutes.</a:t>
            </a:r>
          </a:p>
          <a:p>
            <a:r>
              <a:t>Adaptability: 129 of 616, 40 of 359, seven macros and one concept.</a:t>
            </a:r>
          </a:p>
          <a:p>
            <a:r>
              <a:rPr dirty="0"/>
              <a:t>Scalability: 0.02 to 0.16 percent of the cycle.</a:t>
            </a:r>
          </a:p>
          <a:p>
            <a:r>
              <a:rPr dirty="0"/>
              <a:t>Bounded, and I say so directly:</a:t>
            </a:r>
          </a:p>
          <a:p>
            <a:r>
              <a:rPr dirty="0"/>
              <a:t>Decision quality: no external baseline beyond no action.</a:t>
            </a:r>
          </a:p>
          <a:p>
            <a:r>
              <a:rPr dirty="0"/>
              <a:t>Robustness: observation loss tested, noise and communication failure not.</a:t>
            </a:r>
          </a:p>
          <a:p>
            <a:r>
              <a:rPr dirty="0"/>
              <a:t>Uncertainty: no ensemble propagation of weather.</a:t>
            </a:r>
          </a:p>
          <a:p>
            <a:r>
              <a:rPr dirty="0"/>
              <a:t>Explainability: operator-side interpretability not yet evaluated.</a:t>
            </a:r>
          </a:p>
          <a:p>
            <a:r>
              <a:rPr dirty="0"/>
              <a:t>A rubric that reports only its successes carries no information.</a:t>
            </a:r>
          </a:p>
          <a:p>
            <a:endParaRPr dirty="0"/>
          </a:p>
          <a:p>
            <a:r>
              <a:rPr b="1" dirty="0"/>
              <a:t>KONUŞMA (TR)</a:t>
            </a:r>
          </a:p>
          <a:p>
            <a:r>
              <a:rPr dirty="0"/>
              <a:t>Rubrik </a:t>
            </a:r>
            <a:r>
              <a:rPr dirty="0" err="1"/>
              <a:t>geri</a:t>
            </a:r>
            <a:r>
              <a:rPr dirty="0"/>
              <a:t> </a:t>
            </a:r>
            <a:r>
              <a:rPr dirty="0" err="1"/>
              <a:t>dönüyor</a:t>
            </a:r>
            <a:r>
              <a:rPr dirty="0"/>
              <a:t>. </a:t>
            </a:r>
            <a:r>
              <a:rPr dirty="0" err="1"/>
              <a:t>Dördü</a:t>
            </a:r>
            <a:r>
              <a:rPr dirty="0"/>
              <a:t> tam, </a:t>
            </a:r>
            <a:r>
              <a:rPr dirty="0" err="1"/>
              <a:t>dördü</a:t>
            </a:r>
            <a:r>
              <a:rPr dirty="0"/>
              <a:t> </a:t>
            </a:r>
            <a:r>
              <a:rPr dirty="0" err="1"/>
              <a:t>sınırlı</a:t>
            </a:r>
            <a:r>
              <a:rPr dirty="0"/>
              <a:t>.</a:t>
            </a:r>
          </a:p>
          <a:p>
            <a:r>
              <a:rPr dirty="0" err="1"/>
              <a:t>Karşılanan</a:t>
            </a:r>
            <a:r>
              <a:rPr dirty="0"/>
              <a:t>: </a:t>
            </a:r>
            <a:r>
              <a:rPr dirty="0" err="1"/>
              <a:t>öngörü</a:t>
            </a:r>
            <a:r>
              <a:rPr dirty="0"/>
              <a:t> </a:t>
            </a:r>
            <a:r>
              <a:rPr dirty="0" err="1"/>
              <a:t>sadakati</a:t>
            </a:r>
            <a:r>
              <a:rPr dirty="0"/>
              <a:t>, </a:t>
            </a:r>
            <a:r>
              <a:rPr dirty="0" err="1"/>
              <a:t>kör</a:t>
            </a:r>
            <a:r>
              <a:rPr dirty="0"/>
              <a:t> </a:t>
            </a:r>
            <a:r>
              <a:rPr dirty="0" err="1"/>
              <a:t>hindcast'lerde</a:t>
            </a:r>
            <a:r>
              <a:rPr dirty="0"/>
              <a:t> </a:t>
            </a:r>
            <a:r>
              <a:rPr dirty="0" err="1"/>
              <a:t>yüzde</a:t>
            </a:r>
            <a:r>
              <a:rPr dirty="0"/>
              <a:t> 86-94.</a:t>
            </a:r>
          </a:p>
          <a:p>
            <a:r>
              <a:rPr dirty="0" err="1"/>
              <a:t>Zamanlılık</a:t>
            </a:r>
            <a:r>
              <a:rPr dirty="0"/>
              <a:t>: 274 </a:t>
            </a:r>
            <a:r>
              <a:rPr dirty="0" err="1"/>
              <a:t>milisaniye</a:t>
            </a:r>
            <a:r>
              <a:rPr dirty="0"/>
              <a:t>, ilk </a:t>
            </a:r>
            <a:r>
              <a:rPr dirty="0" err="1"/>
              <a:t>saldırı</a:t>
            </a:r>
            <a:r>
              <a:rPr dirty="0"/>
              <a:t> </a:t>
            </a:r>
            <a:r>
              <a:rPr dirty="0" err="1"/>
              <a:t>emri</a:t>
            </a:r>
            <a:r>
              <a:rPr dirty="0"/>
              <a:t> </a:t>
            </a:r>
            <a:r>
              <a:rPr dirty="0" err="1"/>
              <a:t>ikinci</a:t>
            </a:r>
            <a:r>
              <a:rPr dirty="0"/>
              <a:t> </a:t>
            </a:r>
            <a:r>
              <a:rPr dirty="0" err="1"/>
              <a:t>dakikada</a:t>
            </a:r>
            <a:r>
              <a:rPr dirty="0"/>
              <a:t>.</a:t>
            </a:r>
          </a:p>
          <a:p>
            <a:r>
              <a:rPr dirty="0" err="1"/>
              <a:t>Uyarlanabilirlik</a:t>
            </a:r>
            <a:r>
              <a:rPr dirty="0"/>
              <a:t>: 616'da 129, 359'da 40, </a:t>
            </a:r>
            <a:r>
              <a:rPr dirty="0" err="1"/>
              <a:t>yedi</a:t>
            </a:r>
            <a:r>
              <a:rPr dirty="0"/>
              <a:t> </a:t>
            </a:r>
            <a:r>
              <a:rPr dirty="0" err="1"/>
              <a:t>makro</a:t>
            </a:r>
            <a:r>
              <a:rPr dirty="0"/>
              <a:t> ve </a:t>
            </a:r>
            <a:r>
              <a:rPr dirty="0" err="1"/>
              <a:t>bir</a:t>
            </a:r>
            <a:r>
              <a:rPr dirty="0"/>
              <a:t> </a:t>
            </a:r>
            <a:r>
              <a:rPr dirty="0" err="1"/>
              <a:t>kavram</a:t>
            </a:r>
            <a:r>
              <a:rPr dirty="0"/>
              <a:t>.</a:t>
            </a:r>
          </a:p>
          <a:p>
            <a:r>
              <a:rPr dirty="0" err="1"/>
              <a:t>Ölçeklenebilirlik</a:t>
            </a:r>
            <a:r>
              <a:rPr dirty="0"/>
              <a:t>: </a:t>
            </a:r>
            <a:r>
              <a:rPr dirty="0" err="1"/>
              <a:t>çevrimin</a:t>
            </a:r>
            <a:r>
              <a:rPr dirty="0"/>
              <a:t> </a:t>
            </a:r>
            <a:r>
              <a:rPr dirty="0" err="1"/>
              <a:t>yüzde</a:t>
            </a:r>
            <a:r>
              <a:rPr dirty="0"/>
              <a:t> 0.02-0.16'sı.</a:t>
            </a:r>
          </a:p>
          <a:p>
            <a:r>
              <a:rPr dirty="0" err="1"/>
              <a:t>Sınırlı</a:t>
            </a:r>
            <a:r>
              <a:rPr dirty="0"/>
              <a:t> </a:t>
            </a:r>
            <a:r>
              <a:rPr dirty="0" err="1"/>
              <a:t>olanlar</a:t>
            </a:r>
            <a:r>
              <a:rPr dirty="0"/>
              <a:t>, </a:t>
            </a:r>
            <a:r>
              <a:rPr dirty="0" err="1"/>
              <a:t>açıkça</a:t>
            </a:r>
            <a:r>
              <a:rPr dirty="0"/>
              <a:t> </a:t>
            </a:r>
            <a:r>
              <a:rPr dirty="0" err="1"/>
              <a:t>söylüyorum</a:t>
            </a:r>
            <a:r>
              <a:rPr dirty="0"/>
              <a:t>:</a:t>
            </a:r>
          </a:p>
          <a:p>
            <a:r>
              <a:rPr dirty="0" err="1"/>
              <a:t>Karar</a:t>
            </a:r>
            <a:r>
              <a:rPr dirty="0"/>
              <a:t> </a:t>
            </a:r>
            <a:r>
              <a:rPr dirty="0" err="1"/>
              <a:t>kalitesi</a:t>
            </a:r>
            <a:r>
              <a:rPr dirty="0"/>
              <a:t>: </a:t>
            </a:r>
            <a:r>
              <a:rPr dirty="0" err="1"/>
              <a:t>eylemsizlik</a:t>
            </a:r>
            <a:r>
              <a:rPr dirty="0"/>
              <a:t> </a:t>
            </a:r>
            <a:r>
              <a:rPr dirty="0" err="1"/>
              <a:t>dışında</a:t>
            </a:r>
            <a:r>
              <a:rPr dirty="0"/>
              <a:t> </a:t>
            </a:r>
            <a:r>
              <a:rPr dirty="0" err="1"/>
              <a:t>dış</a:t>
            </a:r>
            <a:r>
              <a:rPr dirty="0"/>
              <a:t> </a:t>
            </a:r>
            <a:r>
              <a:rPr dirty="0" err="1"/>
              <a:t>taban</a:t>
            </a:r>
            <a:r>
              <a:rPr dirty="0"/>
              <a:t> yok.</a:t>
            </a:r>
          </a:p>
          <a:p>
            <a:r>
              <a:rPr dirty="0" err="1"/>
              <a:t>Dayanıklılık</a:t>
            </a:r>
            <a:r>
              <a:rPr dirty="0"/>
              <a:t>: </a:t>
            </a:r>
            <a:r>
              <a:rPr dirty="0" err="1"/>
              <a:t>gözlem</a:t>
            </a:r>
            <a:r>
              <a:rPr dirty="0"/>
              <a:t> </a:t>
            </a:r>
            <a:r>
              <a:rPr dirty="0" err="1"/>
              <a:t>kaybı</a:t>
            </a:r>
            <a:r>
              <a:rPr dirty="0"/>
              <a:t> test </a:t>
            </a:r>
            <a:r>
              <a:rPr dirty="0" err="1"/>
              <a:t>edildi</a:t>
            </a:r>
            <a:r>
              <a:rPr dirty="0"/>
              <a:t>, </a:t>
            </a:r>
            <a:r>
              <a:rPr dirty="0" err="1"/>
              <a:t>gürültü</a:t>
            </a:r>
            <a:r>
              <a:rPr dirty="0"/>
              <a:t> ve </a:t>
            </a:r>
            <a:r>
              <a:rPr dirty="0" err="1"/>
              <a:t>iletişim</a:t>
            </a:r>
            <a:r>
              <a:rPr dirty="0"/>
              <a:t> </a:t>
            </a:r>
            <a:r>
              <a:rPr dirty="0" err="1"/>
              <a:t>arızası</a:t>
            </a:r>
            <a:r>
              <a:rPr dirty="0"/>
              <a:t> </a:t>
            </a:r>
            <a:r>
              <a:rPr dirty="0" err="1"/>
              <a:t>edilmedi</a:t>
            </a:r>
            <a:r>
              <a:rPr dirty="0"/>
              <a:t>.</a:t>
            </a:r>
          </a:p>
          <a:p>
            <a:r>
              <a:rPr dirty="0" err="1"/>
              <a:t>Belirsizlik</a:t>
            </a:r>
            <a:r>
              <a:rPr dirty="0"/>
              <a:t>: </a:t>
            </a:r>
            <a:r>
              <a:rPr dirty="0" err="1"/>
              <a:t>hava</a:t>
            </a:r>
            <a:r>
              <a:rPr dirty="0"/>
              <a:t> </a:t>
            </a:r>
            <a:r>
              <a:rPr dirty="0" err="1"/>
              <a:t>için</a:t>
            </a:r>
            <a:r>
              <a:rPr dirty="0"/>
              <a:t> </a:t>
            </a:r>
            <a:r>
              <a:rPr dirty="0" err="1"/>
              <a:t>topluluk</a:t>
            </a:r>
            <a:r>
              <a:rPr dirty="0"/>
              <a:t> </a:t>
            </a:r>
            <a:r>
              <a:rPr dirty="0" err="1"/>
              <a:t>yayılımı</a:t>
            </a:r>
            <a:r>
              <a:rPr dirty="0"/>
              <a:t> yok.</a:t>
            </a:r>
          </a:p>
          <a:p>
            <a:r>
              <a:rPr dirty="0" err="1"/>
              <a:t>Açıklanabilirlik</a:t>
            </a:r>
            <a:r>
              <a:rPr dirty="0"/>
              <a:t>: </a:t>
            </a:r>
            <a:r>
              <a:rPr dirty="0" err="1"/>
              <a:t>operatör</a:t>
            </a:r>
            <a:r>
              <a:rPr dirty="0"/>
              <a:t> </a:t>
            </a:r>
            <a:r>
              <a:rPr dirty="0" err="1"/>
              <a:t>tarafı</a:t>
            </a:r>
            <a:r>
              <a:rPr dirty="0"/>
              <a:t> </a:t>
            </a:r>
            <a:r>
              <a:rPr dirty="0" err="1"/>
              <a:t>yorumlanabilirlik</a:t>
            </a:r>
            <a:r>
              <a:rPr dirty="0"/>
              <a:t> </a:t>
            </a:r>
            <a:r>
              <a:rPr dirty="0" err="1"/>
              <a:t>henüz</a:t>
            </a:r>
            <a:r>
              <a:rPr dirty="0"/>
              <a:t> </a:t>
            </a:r>
            <a:r>
              <a:rPr dirty="0" err="1"/>
              <a:t>değerlendirilmedi</a:t>
            </a:r>
            <a:r>
              <a:rPr dirty="0"/>
              <a:t>.</a:t>
            </a:r>
          </a:p>
          <a:p>
            <a:r>
              <a:rPr dirty="0" err="1"/>
              <a:t>Yalnızca</a:t>
            </a:r>
            <a:r>
              <a:rPr dirty="0"/>
              <a:t> </a:t>
            </a:r>
            <a:r>
              <a:rPr dirty="0" err="1"/>
              <a:t>başarılarını</a:t>
            </a:r>
            <a:r>
              <a:rPr dirty="0"/>
              <a:t> </a:t>
            </a:r>
            <a:r>
              <a:rPr dirty="0" err="1"/>
              <a:t>bildiren</a:t>
            </a:r>
            <a:r>
              <a:rPr dirty="0"/>
              <a:t> </a:t>
            </a:r>
            <a:r>
              <a:rPr dirty="0" err="1"/>
              <a:t>bir</a:t>
            </a:r>
            <a:r>
              <a:rPr dirty="0"/>
              <a:t> </a:t>
            </a:r>
            <a:r>
              <a:rPr dirty="0" err="1"/>
              <a:t>rubrik</a:t>
            </a:r>
            <a:r>
              <a:rPr dirty="0"/>
              <a:t> </a:t>
            </a:r>
            <a:r>
              <a:rPr dirty="0" err="1"/>
              <a:t>bilgi</a:t>
            </a:r>
            <a:r>
              <a:rPr dirty="0"/>
              <a:t> </a:t>
            </a:r>
            <a:r>
              <a:rPr dirty="0" err="1"/>
              <a:t>taşımaz</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SPEECH (EN)</a:t>
            </a:r>
          </a:p>
          <a:p>
            <a:r>
              <a:t>Conclusions and future work.</a:t>
            </a:r>
          </a:p>
          <a:p>
            <a:endParaRPr/>
          </a:p>
          <a:p>
            <a:r>
              <a:rPr b="1"/>
              <a:t>KONUŞMA (TR)</a:t>
            </a:r>
          </a:p>
          <a:p>
            <a:r>
              <a:t>Sonuçlar ve gelecek çalışmalar.</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5358792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SPEECH (EN)</a:t>
            </a:r>
          </a:p>
          <a:p>
            <a:r>
              <a:t>The three contributions, delivered.</a:t>
            </a:r>
          </a:p>
          <a:p>
            <a:r>
              <a:t>C1, the open decision space. Delivered by the four-layer agent and the three-stage ladder, every change behind the gates.</a:t>
            </a:r>
          </a:p>
          <a:p>
            <a:r>
              <a:t>Shown by: five seed rules grew to 40 rules, 7 macros, 1 concept, 7 actuators. 82 percent less burned area. Sixteen times the agents for 1.29 times the cost.</a:t>
            </a:r>
          </a:p>
          <a:p>
            <a:r>
              <a:t>C2, uncertainty with built-in explanation. Delivered by per-feature confidence gates and the trace ledger.</a:t>
            </a:r>
          </a:p>
          <a:p>
            <a:r>
              <a:t>Shown by: every order traces to concepts, rules and confidences. Under degraded observation the loop loses only ten percent and stays best of four.</a:t>
            </a:r>
          </a:p>
          <a:p>
            <a:r>
              <a:t>C3, separated cores. Delivered by a simulation core validated first, read only through observations.</a:t>
            </a:r>
          </a:p>
          <a:p>
            <a:r>
              <a:t>Shown by: 86 to 94 percent on blind hindcasts, then ignition to containment at 274 milliseconds per decision.</a:t>
            </a:r>
          </a:p>
          <a:p>
            <a:endParaRPr/>
          </a:p>
          <a:p>
            <a:r>
              <a:rPr b="1"/>
              <a:t>KONUŞMA (TR)</a:t>
            </a:r>
          </a:p>
          <a:p>
            <a:r>
              <a:t>Üç katkı, teslim edildi.</a:t>
            </a:r>
          </a:p>
          <a:p>
            <a:r>
              <a:t>C1, açık karar uzayı. Dört katmanlı ajan ve üç aşamalı merdivenle, her değişiklik kapıların ardında.</a:t>
            </a:r>
          </a:p>
          <a:p>
            <a:r>
              <a:t>Gösteren: beş tohum kural 40 kurala, 7 makroya, 1 kavrama, 7 aktüatöre büyüdü. Yüzde 82 az yanan alan. 1.29 kat maliyete on altı kat ajan.</a:t>
            </a:r>
          </a:p>
          <a:p>
            <a:r>
              <a:t>C2, yerleşik açıklamalı belirsizlik. Özellik başına güven kapıları ve iz defteriyle.</a:t>
            </a:r>
          </a:p>
          <a:p>
            <a:r>
              <a:t>Gösteren: her emir kavramlara, kurallara ve güvenlere izlenir. Bozuk gözlemde döngü yalnızca yüzde on kaybeder, dördün en iyisi kalır.</a:t>
            </a:r>
          </a:p>
          <a:p>
            <a:r>
              <a:t>C3, ayrılmış çekirdekler. Önce doğrulanan, yalnızca gözlemlerle okunan bir simülasyon çekirdeğiyle.</a:t>
            </a:r>
          </a:p>
          <a:p>
            <a:r>
              <a:t>Gösteren: kör hindcast'lerde yüzde 86-94, sonra karar başına 274 milisaniyeyle tutuşmadan çevrelemeye.</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SPEECH (EN)</a:t>
            </a:r>
          </a:p>
          <a:p>
            <a:r>
              <a:t>Future work, four studies.</a:t>
            </a:r>
          </a:p>
          <a:p>
            <a:r>
              <a:t>One: an operator study with incident commanders. Do they read the trace, trust it, act on it? A tabletop, the same incident with and without the tool.</a:t>
            </a:r>
          </a:p>
          <a:p>
            <a:r>
              <a:t>Two: transfer to other hazards. Keep the decision layer, swap the simulation core for floods, plumes or search and rescue. The rewriting cost is itself the result.</a:t>
            </a:r>
          </a:p>
          <a:p>
            <a:r>
              <a:t>Three: other sectors, other ontologies. Keep the machinery, rewrite the vocabulary. Features, concepts, interventions and verified effects are re-declared for defence, maritime surveillance or industrial safety. The gates and the fail-safe stay as they are.</a:t>
            </a:r>
          </a:p>
          <a:p>
            <a:r>
              <a:t>Four: incident scale, not map size. Hold the agents fixed and grow the incident itself: more cells, more fronts, longer duration. State where the twelve-minute cycle stops sufficing.</a:t>
            </a:r>
          </a:p>
          <a:p>
            <a:r>
              <a:t>None requires a change to the decision layer. Each extends the evidence around it.</a:t>
            </a:r>
          </a:p>
          <a:p/>
          <a:p>
            <a:r>
              <a:rPr b="1"/>
              <a:t>KONUŞMA (TR)</a:t>
            </a:r>
          </a:p>
          <a:p>
            <a:r>
              <a:t>Gelecek çalışmalar, dört çalışma.</a:t>
            </a:r>
          </a:p>
          <a:p>
            <a:r>
              <a:t>Bir: olay komutanlarıyla operatör çalışması. İzi okuyorlar mı, güveniyorlar mı, ona göre davranıyorlar mı? Masa başı tatbikat, aynı olay araçla ve araçsız.</a:t>
            </a:r>
          </a:p>
          <a:p>
            <a:r>
              <a:t>İki: diğer afetlere aktarım. Karar katmanını koru, simülasyon çekirdeğini sel, duman ya da arama kurtarma ile değiştir. Yeniden yazma maliyeti sonucun kendisi.</a:t>
            </a:r>
          </a:p>
          <a:p>
            <a:r>
              <a:t>Üç: başka sektörler, başka ontolojiler. Mekanizmayı koru, sözlüğü yeniden yaz. Özellikler, kavramlar, müdahaleler ve doğrulanmış etkiler savunma, deniz gözetimi ya da endüstriyel güvenlik için yeniden tanımlanır. Kapılar ve güvenli mod olduğu gibi kalır.</a:t>
            </a:r>
          </a:p>
          <a:p>
            <a:r>
              <a:t>Dört: harita boyutu değil, olay ölçeği. Ajanları sabit tut, olayın kendisini büyüt: daha çok hücre, daha çok cephe, daha uzun süre. On iki dakikalık çevrimin nerede yetmediğini söyle.</a:t>
            </a:r>
          </a:p>
          <a:p>
            <a:r>
              <a:t>Hiçbiri karar katmanında değişiklik gerektirmiyor. Her biri çevresindeki kanıtı genişletiyor.</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SPEECH (EN)</a:t>
            </a:r>
          </a:p>
          <a:p>
            <a:r>
              <a:t>DisasterAware: open where tactics live, closed where physics rules.</a:t>
            </a:r>
          </a:p>
          <a:p>
            <a:r>
              <a:t>Thank you to the examining committee and the thesis monitoring committee.</a:t>
            </a:r>
          </a:p>
          <a:p>
            <a:r>
              <a:t>Questions are welcome.</a:t>
            </a:r>
          </a:p>
          <a:p>
            <a:endParaRPr/>
          </a:p>
          <a:p>
            <a:r>
              <a:rPr b="1"/>
              <a:t>KONUŞMA (TR)</a:t>
            </a:r>
          </a:p>
          <a:p>
            <a:r>
              <a:t>DisasterAware: taktiğin yaşadığı yerde açık, fiziğin hüküm sürdüğü yerde kapalı.</a:t>
            </a:r>
          </a:p>
          <a:p>
            <a:r>
              <a:t>Sınav jürisine ve tez izleme komitesine teşekkür ederim.</a:t>
            </a:r>
          </a:p>
          <a:p>
            <a:r>
              <a:t>Sorularınızı bekliyorum.</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b="1"/>
              <a:t>SPEECH (EN)</a:t>
            </a:r>
          </a:p>
          <a:p>
            <a:r>
              <a:t>Let me show how one proposal is actually produced.</a:t>
            </a:r>
          </a:p>
          <a:p>
            <a:r>
              <a:t>First: the model has no tools. No search, no calculator, no access to the simulator. Every tool is on the engine side.</a:t>
            </a:r>
          </a:p>
          <a:p>
            <a:r>
              <a:t>One, the trigger: cost above the bound, or fire alive and no rule firing. The bandit selects stage three after one and two earned nothing.</a:t>
            </a:r>
          </a:p>
          <a:p>
            <a:r>
              <a:t>Two, the situation summary: concept readings with confidences, the cost trajectory, where residual cost sits on the map, the pool, the map affordances.</a:t>
            </a:r>
          </a:p>
          <a:p>
            <a:r>
              <a:t>Three, chronicle retrieval: the nearest past cycles with their verdicts. A refused idea is not proposed twice.</a:t>
            </a:r>
          </a:p>
          <a:p>
            <a:r>
              <a:t>Four, prompt assembly: system instruction, mission brief, situation, vocabulary, past cases.</a:t>
            </a:r>
          </a:p>
          <a:p>
            <a:r>
              <a:t>Five, the only model step. Weights frozen, no fine-tuning. It predicts the next tokens and returns one JSON within ninety seconds.</a:t>
            </a:r>
          </a:p>
          <a:p>
            <a:r>
              <a:t>Six, the free gates: format, vocabulary, non-redundancy, relevance, pool economy. Zero rollouts.</a:t>
            </a:r>
          </a:p>
          <a:p>
            <a:r>
              <a:t>Seven, the shadow rollouts: two independent futures, the physical cost must fall on both.</a:t>
            </a:r>
          </a:p>
          <a:p>
            <a:r>
              <a:t>Eight, the verdict, admitted or rejected with the gate named. Both feed the next prompt.</a:t>
            </a:r>
          </a:p>
          <a:p>
            <a:r>
              <a:t>Inside step five: pretraining read the fire literature. The prompt narrows that knowledge to one closed form, so the reply is a filled template.</a:t>
            </a:r>
          </a:p>
          <a:p>
            <a:r>
              <a:t>The reply is a guess with a good prior and no authority. The gates, which contain no model, decide whether it pays.</a:t>
            </a:r>
          </a:p>
          <a:p>
            <a:r>
              <a:t>One model step out of eight. The other seven are deterministic code.</a:t>
            </a:r>
          </a:p>
          <a:p/>
          <a:p>
            <a:r>
              <a:rPr b="1"/>
              <a:t>KONUŞMA (TR)</a:t>
            </a:r>
          </a:p>
          <a:p>
            <a:r>
              <a:t>Bir önerinin gerçekte nasıl üretildiğini göstereyim.</a:t>
            </a:r>
          </a:p>
          <a:p>
            <a:r>
              <a:t>Önce: modelin aracı yok. Arama yok, hesap makinesi yok, simülatöre erişim yok. Bütün araçlar motor tarafında.</a:t>
            </a:r>
          </a:p>
          <a:p>
            <a:r>
              <a:t>Bir, tetik: maliyet sınırın üstünde ya da yangın canlı ve hiçbir kural ateşlemiyor. Bandit, bir ve iki kazandırmayınca üçüncü aşamayı seçer.</a:t>
            </a:r>
          </a:p>
          <a:p>
            <a:r>
              <a:t>İki, durum özeti: güvenleriyle kavram okumaları, maliyet gidişatı, artık maliyetin haritadaki yeri, havuz, harita olanakları.</a:t>
            </a:r>
          </a:p>
          <a:p>
            <a:r>
              <a:t>Üç, chronicle'dan getirme: en yakın geçmiş çevrimler hükümleriyle. Reddedilen fikir ikinci kez önerilmez.</a:t>
            </a:r>
          </a:p>
          <a:p>
            <a:r>
              <a:t>Dört, promptun kurulması: sistem talimatı, görev özeti, durum, sözlük, geçmiş vakalar.</a:t>
            </a:r>
          </a:p>
          <a:p>
            <a:r>
              <a:t>Beş, tek model adımı. Ağırlıklar donuk, ince ayar yok. Sonraki tokenları tahmin eder ve doksan saniye içinde tek JSON döndürür.</a:t>
            </a:r>
          </a:p>
          <a:p>
            <a:r>
              <a:t>Altı, bedava kapılar: biçim, sözlük, yinelenmezlik, ilgililik, havuz ekonomisi. Sıfır rollout.</a:t>
            </a:r>
          </a:p>
          <a:p>
            <a:r>
              <a:t>Yedi, gölge rollout'lar: iki bağımsız gelecek, fiziksel maliyet ikisinde de düşmeli.</a:t>
            </a:r>
          </a:p>
          <a:p>
            <a:r>
              <a:t>Sekiz, hüküm; kabul ya da kapının adıyla red. İkisi de sonraki prompta girer.</a:t>
            </a:r>
          </a:p>
          <a:p>
            <a:r>
              <a:t>Beşinci adımın içi: ön eğitim yangın literatürünü okumuştur. Prompt bu bilgiyi tek bir kapalı forma daraltır; cevap doldurulmuş bir şablondur.</a:t>
            </a:r>
          </a:p>
          <a:p>
            <a:r>
              <a:t>Cevap, iyi bir ön bilgiyle yapılmış yetkisiz bir tahmindir. Model içermeyen kapılar kazandırıp kazandırmadığına karar verir.</a:t>
            </a:r>
          </a:p>
          <a:p>
            <a:r>
              <a:t>Sekiz adımdan biri model. Diğer yedisi deterministik kod.</a:t>
            </a:r>
          </a:p>
        </p:txBody>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b="1"/>
              <a:t>SPEECH (EN)</a:t>
            </a:r>
          </a:p>
          <a:p>
            <a:r>
              <a:t>Why a language model? The same problem, three solvers.</a:t>
            </a:r>
          </a:p>
          <a:p>
            <a:r>
              <a:t>The budget is fixed: a black-box objective, two rollouts per cycle, 232 calls in a campaign, a vocabulary that grows on every admission.</a:t>
            </a:r>
          </a:p>
          <a:p>
            <a:r>
              <a:t>An optimizer starts with no knowledge and needs thousands of rollouts per structure.</a:t>
            </a:r>
          </a:p>
          <a:p>
            <a:r>
              <a:t>Most of the space is flat: an empty sector, wet fuel, a spent pool all return the same forecast, so mutation gets no signal. It starves on two rollouts a cycle.</a:t>
            </a:r>
          </a:p>
          <a:p>
            <a:r>
              <a:t>Reinforcement learning also starts from nothing and relearns what a fire officer already knows.</a:t>
            </a:r>
          </a:p>
          <a:p>
            <a:r>
              <a:t>It needs tens of thousands of episodes, and every admission changes the action space. The output is a policy, not a readable rule.</a:t>
            </a:r>
          </a:p>
          <a:p>
            <a:r>
              <a:t>RL is the right tool where I use it: the stage selector, three actions, a bandit. Not for structure generation.</a:t>
            </a:r>
          </a:p>
          <a:p>
            <a:r>
              <a:t>The language model is pretrained on the fire literature. The prior comes for free.</a:t>
            </a:r>
          </a:p>
          <a:p>
            <a:r>
              <a:t>Two rollouts per cycle are enough: 20 percent acceptance in the main run, 54 in the actuator run.</a:t>
            </a:r>
          </a:p>
          <a:p>
            <a:r>
              <a:t>A new name is one more line in the prompt, no retraining. The output is named and readable.</a:t>
            </a:r>
          </a:p>
          <a:p>
            <a:r>
              <a:t>The verdict: a knowledgeable sampler, not an optimizer. The gates do the optimizing.</a:t>
            </a:r>
          </a:p>
          <a:p>
            <a:r>
              <a:t>An optimizer would need thousands of rollouts to learn what a fire officer knows. RL would relearn it every time the vocabulary grows. The model brings it for free, and the simulator decides.</a:t>
            </a:r>
          </a:p>
          <a:p/>
          <a:p>
            <a:r>
              <a:rPr b="1"/>
              <a:t>KONUŞMA (TR)</a:t>
            </a:r>
          </a:p>
          <a:p>
            <a:r>
              <a:t>Neden dil modeli? Aynı problem, üç çözücü.</a:t>
            </a:r>
          </a:p>
          <a:p>
            <a:r>
              <a:t>Bütçe sabit: kara kutu amaç, çevrim başına iki rollout, kampanyada 232 çağrı, her kabulde büyüyen sözlük.</a:t>
            </a:r>
          </a:p>
          <a:p>
            <a:r>
              <a:t>Optimize edici bilgisiz başlar ve yapı başına binlerce rollout ister.</a:t>
            </a:r>
          </a:p>
          <a:p>
            <a:r>
              <a:t>Uzayın çoğu düz: boş sektör, ıslak yakıt, tükenmiş havuz aynı tahmini döndürür; mutasyon sinyal alamaz. Çevrim başına iki rollout ile aç kalır.</a:t>
            </a:r>
          </a:p>
          <a:p>
            <a:r>
              <a:t>Pekiştirmeli öğrenme de sıfırdan başlar ve bir yangın subayının zaten bildiğini yeniden öğrenir.</a:t>
            </a:r>
          </a:p>
          <a:p>
            <a:r>
              <a:t>On binlerce bölüm ister ve her kabul eylem uzayını değiştirir. Çıktı okunabilir bir kural değil, politikadır.</a:t>
            </a:r>
          </a:p>
          <a:p>
            <a:r>
              <a:t>RL doğru araç, ama kullandığım yerde: aşama seçici, üç eylem, bandit. Yapı üretimi için değil.</a:t>
            </a:r>
          </a:p>
          <a:p>
            <a:r>
              <a:t>Dil modeli yangın literatürüyle önceden eğitilmiş. Ön bilgi bedava gelir.</a:t>
            </a:r>
          </a:p>
          <a:p>
            <a:r>
              <a:t>Çevrim başına iki rollout yeter: ana koşuda yüzde 20, aktüatör koşusunda yüzde 54 kabul.</a:t>
            </a:r>
          </a:p>
          <a:p>
            <a:r>
              <a:t>Yeni isim prompta bir satır daha, yeniden eğitim yok. Çıktı isimli ve okunabilir.</a:t>
            </a:r>
          </a:p>
          <a:p>
            <a:r>
              <a:t>Hüküm: bilgili bir örnekleyici, optimize edici değil. Optimizasyonu kapılar yapar.</a:t>
            </a:r>
          </a:p>
          <a:p>
            <a:r>
              <a:t>Optimize edici, yangın subayının bildiğini öğrenmek için binlerce rollout isterdi. RL sözlük her büyüdüğünde yeniden öğrenirdi. Model bunu bedava getirir; simülatör karar verir.</a:t>
            </a:r>
          </a:p>
        </p:txBody>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b="1"/>
              <a:t>SPEECH (EN)</a:t>
            </a:r>
          </a:p>
          <a:p>
            <a:r>
              <a:t>Why this concept and not another? Ember spotting risk, step by step.</a:t>
            </a:r>
          </a:p>
          <a:p>
            <a:r>
              <a:t>This is the illustrative case of Figure 4.9b; the recorded run admitted interface exposure, in the evidence part.</a:t>
            </a:r>
          </a:p>
          <a:p>
            <a:r>
              <a:t>Left, what the prompt states. Residual cost: burned cells ahead of the head, across the line. In the core only spotting does that.</a:t>
            </a:r>
          </a:p>
          <a:p>
            <a:r>
              <a:t>Readings: spread potential high, weather severity very high, fuel load high. No concept reads the three together.</a:t>
            </a:r>
          </a:p>
          <a:p>
            <a:r>
              <a:t>Chronicle: plain rules here were refused at G2, the cell is occupied. Stages one and two were tried, cost remains.</a:t>
            </a:r>
          </a:p>
          <a:p>
            <a:r>
              <a:t>The brief says: a new concept when the five concepts cannot name a recurring situation.</a:t>
            </a:r>
          </a:p>
          <a:p>
            <a:r>
              <a:t>Middle, the model's step. Its prior: spotting is intensity times wind and dryness times receptive fuel.</a:t>
            </a:r>
          </a:p>
          <a:p>
            <a:r>
              <a:t>It maps that onto the listed features and returns one JSON: 0.40, 0.35, 0.25, and a rule that fires on it.</a:t>
            </a:r>
          </a:p>
          <a:p>
            <a:r>
              <a:t>The weights are a prior, not an optimum. The direction is what the gates test.</a:t>
            </a:r>
          </a:p>
          <a:p>
            <a:r>
              <a:t>Right, the gates. G2b: cosine against spread hazard below 0.95, a new direction. G2c: the rule fires now.</a:t>
            </a:r>
          </a:p>
          <a:p>
            <a:r>
              <a:t>G3 and G4: the forecast cost falls in two futures. G5: by more than the margin.</a:t>
            </a:r>
          </a:p>
          <a:p>
            <a:r>
              <a:t>Ten other concepts could have been proposed. This one survived because a rule on it lowered the forecast in two different futures.</a:t>
            </a:r>
          </a:p>
          <a:p/>
          <a:p>
            <a:r>
              <a:rPr b="1"/>
              <a:t>KONUŞMA (TR)</a:t>
            </a:r>
          </a:p>
          <a:p>
            <a:r>
              <a:t>Neden başka bir kavram değil de bu? Kor sıçrama riski, adım adım.</a:t>
            </a:r>
          </a:p>
          <a:p>
            <a:r>
              <a:t>Bu, Şekil 4.9b'deki açıklayıcı örnek; kayıtlı koşuda kabul edilen kavram interface exposure, kanıt bölümünde.</a:t>
            </a:r>
          </a:p>
          <a:p>
            <a:r>
              <a:t>Solda promptun söyledikleri. Artık maliyet: baş kısmının önünde, hattın ötesinde yanan hücreler. Çekirdekte bunu yalnızca sıçrama yapar.</a:t>
            </a:r>
          </a:p>
          <a:p>
            <a:r>
              <a:t>Okumalar: yayılım potansiyeli yüksek, hava şiddeti çok yüksek, yakıt yükü yüksek. Üçünü birlikte okuyan kavram yok.</a:t>
            </a:r>
          </a:p>
          <a:p>
            <a:r>
              <a:t>Chronicle: buradaki düz kurallar G2'de reddedildi, hücre dolu. Bir ve iki denendi, maliyet duruyor.</a:t>
            </a:r>
          </a:p>
          <a:p>
            <a:r>
              <a:t>Görev özeti: beş kavram tekrar eden bir durumu adlandıramıyorsa yeni bir kavram.</a:t>
            </a:r>
          </a:p>
          <a:p>
            <a:r>
              <a:t>Ortada modelin adımı. Ön bilgisi: sıçrama, şiddet çarpı rüzgâr ve kuruluk çarpı alıcı yakıt.</a:t>
            </a:r>
          </a:p>
          <a:p>
            <a:r>
              <a:t>Bunu listelenen özelliklere eşler ve tek JSON döndürür: 0.40, 0.35, 0.25 ve üzerinde ateşleyen bir kural.</a:t>
            </a:r>
          </a:p>
          <a:p>
            <a:r>
              <a:t>Ağırlıklar ön bilgi, optimum değil. Kapıların sınadığı şey yön.</a:t>
            </a:r>
          </a:p>
          <a:p>
            <a:r>
              <a:t>Sağda kapılar. G2b: spread hazard ile kosinüs 0.95'in altında, yeni bir yön. G2c: kural şimdi ateşler.</a:t>
            </a:r>
          </a:p>
          <a:p>
            <a:r>
              <a:t>G3 ve G4: tahmini maliyet iki gelecekte düşer. G5: marjdan fazla.</a:t>
            </a:r>
          </a:p>
          <a:p>
            <a:r>
              <a:t>On başka kavram önerilebilirdi. Bu kaldı, çünkü üzerine yazılan kural iki farklı gelecekte tahmini düşürdü.</a:t>
            </a:r>
          </a:p>
        </p:txBody>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b="1"/>
              <a:t>SPEECH (EN)</a:t>
            </a:r>
          </a:p>
          <a:p>
            <a:r>
              <a:t>Had I built the proposer myself, this is how it would look. The gates never change.</a:t>
            </a:r>
          </a:p>
          <a:p>
            <a:r>
              <a:t>The model: Llama 3.1 8B Instruct. Open weights, 4-bit, one 24 gigabyte GPU, on premise.</a:t>
            </a:r>
          </a:p>
          <a:p>
            <a:r>
              <a:t>Decoding is grammar-constrained over the live vocabulary: G1 cannot fail, an unknown name cannot be generated.</a:t>
            </a:r>
          </a:p>
          <a:p>
            <a:r>
              <a:t>Temperature zero and a fixed seed replay a reply bit for bit. That closes the reproducibility limit.</a:t>
            </a:r>
          </a:p>
          <a:p>
            <a:r>
              <a:t>About three seconds per reply against a ninety second budget. Same prompt, same JSON, same gates: a drop-in part.</a:t>
            </a:r>
          </a:p>
          <a:p>
            <a:r>
              <a:t>The training loop, where the gates become the reward.</a:t>
            </a:r>
          </a:p>
          <a:p>
            <a:r>
              <a:t>Data: campaigns on hundreds of procedural worlds; the chronicle gives situation, JSON, verdict and delta J.</a:t>
            </a:r>
          </a:p>
          <a:p>
            <a:r>
              <a:t>SFT with LoRA on admitted proposals. Then DPO on admitted versus rejected pairs, or GRPO with the gate chain as the verifiable reward.</a:t>
            </a:r>
          </a:p>
          <a:p>
            <a:r>
              <a:t>Evaluation on held-out worlds: acceptance rate, delta J, redundancy, diversity, latency.</a:t>
            </a:r>
          </a:p>
          <a:p>
            <a:r>
              <a:t>Two safeguards: rollouts inside the reward, so passing the free gates alone earns nothing; and G2b with a temperature above zero, so the model does not collapse onto three favourites.</a:t>
            </a:r>
          </a:p>
          <a:p>
            <a:r>
              <a:t>Why eight billion: one to three billion learns the JSON, not the fire. Seventy billion needs four GPUs for a few points of acceptance.</a:t>
            </a:r>
          </a:p>
          <a:p>
            <a:r>
              <a:t>Scale buys the prior, fine-tuning buys the format. Knowledge from pretraining, discipline from the gates, specialization from the incident record.</a:t>
            </a:r>
          </a:p>
          <a:p/>
          <a:p>
            <a:r>
              <a:rPr b="1"/>
              <a:t>KONUŞMA (TR)</a:t>
            </a:r>
          </a:p>
          <a:p>
            <a:r>
              <a:t>Önericiyi kendim yapsaydım böyle olurdu. Kapılar hiç değişmez.</a:t>
            </a:r>
          </a:p>
          <a:p>
            <a:r>
              <a:t>Model: Llama 3.1 8B Instruct. Açık ağırlıklar, 4 bit, tek 24 gigabaytlık GPU, yerinde.</a:t>
            </a:r>
          </a:p>
          <a:p>
            <a:r>
              <a:t>Üretim canlı sözlük üzerinde gramerle kısıtlı: G1 başarısız olamaz, bilinmeyen isim üretilemez.</a:t>
            </a:r>
          </a:p>
          <a:p>
            <a:r>
              <a:t>Sıcaklık sıfır ve sabit tohum cevabı bit bit yeniden üretir. Tekrarlanabilirlik sınırı kapanır.</a:t>
            </a:r>
          </a:p>
          <a:p>
            <a:r>
              <a:t>Doksan saniyelik bütçeye karşı cevap başına yaklaşık üç saniye. Aynı prompt, aynı JSON, aynı kapılar: takılıp çıkarılabilir parça.</a:t>
            </a:r>
          </a:p>
          <a:p>
            <a:r>
              <a:t>Eğitim döngüsü; kapıların ödüle dönüştüğü yer.</a:t>
            </a:r>
          </a:p>
          <a:p>
            <a:r>
              <a:t>Veri: yüzlerce prosedürel dünyada kampanyalar; chronicle durumu, JSON'u, hükmü ve delta J'yi verir.</a:t>
            </a:r>
          </a:p>
          <a:p>
            <a:r>
              <a:t>Kabul edilen önerilerle LoRA ile SFT. Sonra kabul-red çiftleriyle DPO ya da kapı zincirini doğrulanabilir ödül alan GRPO.</a:t>
            </a:r>
          </a:p>
          <a:p>
            <a:r>
              <a:t>Ayrılmış dünyalarda değerlendirme: kabul oranı, delta J, yinelenme, çeşitlilik, gecikme.</a:t>
            </a:r>
          </a:p>
          <a:p>
            <a:r>
              <a:t>İki güvence: ödülün içinde rollout'lar, yalnızca bedava kapıları geçmek kazandırmaz; G2b ve sıfırın üstünde sıcaklık, model üç gözdeye çökmez.</a:t>
            </a:r>
          </a:p>
          <a:p>
            <a:r>
              <a:t>Neden sekiz milyar: bir ila üç milyar JSON'u öğrenir, yangını değil. Yetmiş milyar birkaç puan kabul için dört GPU ister.</a:t>
            </a:r>
          </a:p>
          <a:p>
            <a:r>
              <a:t>Ölçek ön bilgiyi, ince ayar biçimi satın alır. Bilgi ön eğitimden, disiplin kapılardan, uzmanlaşma olay kaydından.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jpe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jpeg"/><Relationship Id="rId9" Type="http://schemas.openxmlformats.org/officeDocument/2006/relationships/image" Target="../media/image7.jpeg"/><Relationship Id="rId10"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8.png"/><Relationship Id="rId6"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10.png"/><Relationship Id="rId7"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1.png"/><Relationship Id="rId6" Type="http://schemas.openxmlformats.org/officeDocument/2006/relationships/diagramData" Target="../diagrams/data1.xml"/><Relationship Id="rId7" Type="http://schemas.openxmlformats.org/officeDocument/2006/relationships/diagramLayout" Target="../diagrams/layout1.xml"/><Relationship Id="rId8" Type="http://schemas.openxmlformats.org/officeDocument/2006/relationships/diagramQuickStyle" Target="../diagrams/quickStyle1.xml"/><Relationship Id="rId9" Type="http://schemas.openxmlformats.org/officeDocument/2006/relationships/diagramColors" Target="../diagrams/colors1.xml"/><Relationship Id="rId10" Type="http://schemas.microsoft.com/office/2007/relationships/diagramDrawing" Target="../diagrams/drawing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3.png"/><Relationship Id="rId6" Type="http://schemas.openxmlformats.org/officeDocument/2006/relationships/image" Target="../media/image11.png"/><Relationship Id="rId11" Type="http://schemas.openxmlformats.org/officeDocument/2006/relationships/image" Target="../media/image19.png"/><Relationship Id="rId12"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6.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2.png"/><Relationship Id="rId6" Type="http://schemas.openxmlformats.org/officeDocument/2006/relationships/image" Target="../media/image30.png"/><Relationship Id="rId7" Type="http://schemas.openxmlformats.org/officeDocument/2006/relationships/image" Target="../media/image31.png"/><Relationship Id="rId8" Type="http://schemas.openxmlformats.org/officeDocument/2006/relationships/image" Target="../media/image32.png"/><Relationship Id="rId9" Type="http://schemas.openxmlformats.org/officeDocument/2006/relationships/image" Target="../media/image3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1.png"/><Relationship Id="rId6" Type="http://schemas.openxmlformats.org/officeDocument/2006/relationships/image" Target="../media/image340.png"/><Relationship Id="rId7" Type="http://schemas.openxmlformats.org/officeDocument/2006/relationships/image" Target="../media/image21.png"/><Relationship Id="rId8" Type="http://schemas.openxmlformats.org/officeDocument/2006/relationships/image" Target="../media/image22.png"/><Relationship Id="rId9" Type="http://schemas.openxmlformats.org/officeDocument/2006/relationships/image" Target="../media/image23.png"/><Relationship Id="rId10" Type="http://schemas.openxmlformats.org/officeDocument/2006/relationships/image" Target="../media/image230.png"/><Relationship Id="rId11"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1.png"/><Relationship Id="rId8" Type="http://schemas.openxmlformats.org/officeDocument/2006/relationships/image" Target="../media/image370.png"/><Relationship Id="rId10" Type="http://schemas.openxmlformats.org/officeDocument/2006/relationships/image" Target="../media/image45.png"/><Relationship Id="rId11" Type="http://schemas.openxmlformats.org/officeDocument/2006/relationships/image" Target="../media/image46.png"/><Relationship Id="rId12" Type="http://schemas.openxmlformats.org/officeDocument/2006/relationships/image" Target="../media/image47.png"/><Relationship Id="rId13"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5.png"/><Relationship Id="rId4" Type="http://schemas.openxmlformats.org/officeDocument/2006/relationships/image" Target="../media/image1.png"/><Relationship Id="rId5"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5.png"/><Relationship Id="rId4" Type="http://schemas.openxmlformats.org/officeDocument/2006/relationships/image" Target="../media/image1.png"/><Relationship Id="rId5"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5.png"/><Relationship Id="rId4" Type="http://schemas.openxmlformats.org/officeDocument/2006/relationships/image" Target="../media/image53.png"/><Relationship Id="rId5" Type="http://schemas.openxmlformats.org/officeDocument/2006/relationships/image" Target="../media/image54.png"/><Relationship Id="rId6" Type="http://schemas.openxmlformats.org/officeDocument/2006/relationships/image" Target="../media/image55.png"/><Relationship Id="rId7" Type="http://schemas.openxmlformats.org/officeDocument/2006/relationships/image" Target="../media/image37.png"/><Relationship Id="rId8" Type="http://schemas.openxmlformats.org/officeDocument/2006/relationships/image" Target="../media/image1.png"/><Relationship Id="rId9"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5.png"/><Relationship Id="rId4" Type="http://schemas.openxmlformats.org/officeDocument/2006/relationships/image" Target="../media/image1.png"/><Relationship Id="rId5"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1.png"/><Relationship Id="rId6" Type="http://schemas.openxmlformats.org/officeDocument/2006/relationships/image" Target="../media/image2.png"/><Relationship Id="rId7"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7.png"/><Relationship Id="rId6" Type="http://schemas.openxmlformats.org/officeDocument/2006/relationships/image" Target="../media/image61.png"/><Relationship Id="rId7" Type="http://schemas.openxmlformats.org/officeDocument/2006/relationships/image" Target="../media/image67.png"/><Relationship Id="rId8"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2.png"/><Relationship Id="rId6" Type="http://schemas.openxmlformats.org/officeDocument/2006/relationships/image" Target="../media/image75.png"/><Relationship Id="rId7" Type="http://schemas.openxmlformats.org/officeDocument/2006/relationships/image" Target="../media/image76.png"/><Relationship Id="rId8"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9.png"/><Relationship Id="rId4" Type="http://schemas.openxmlformats.org/officeDocument/2006/relationships/image" Target="../media/image68.png"/><Relationship Id="rId5" Type="http://schemas.openxmlformats.org/officeDocument/2006/relationships/image" Target="../media/image69.png"/><Relationship Id="rId6" Type="http://schemas.openxmlformats.org/officeDocument/2006/relationships/image" Target="../media/image1.png"/><Relationship Id="rId7"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90.png"/><Relationship Id="rId6" Type="http://schemas.openxmlformats.org/officeDocument/2006/relationships/image" Target="../media/image70.png"/><Relationship Id="rId7" Type="http://schemas.openxmlformats.org/officeDocument/2006/relationships/image" Target="../media/image71.png"/><Relationship Id="rId8" Type="http://schemas.openxmlformats.org/officeDocument/2006/relationships/image" Target="../media/image72.png"/><Relationship Id="rId9" Type="http://schemas.openxmlformats.org/officeDocument/2006/relationships/image" Target="../media/image7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5.png"/><Relationship Id="rId4" Type="http://schemas.openxmlformats.org/officeDocument/2006/relationships/image" Target="../media/image1.png"/><Relationship Id="rId5"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png"/><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5.png"/><Relationship Id="rId4" Type="http://schemas.openxmlformats.org/officeDocument/2006/relationships/image" Target="../media/image1.png"/><Relationship Id="rId5"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60.png"/><Relationship Id="rId6" Type="http://schemas.openxmlformats.org/officeDocument/2006/relationships/image" Target="../media/image74.png"/><Relationship Id="rId7" Type="http://schemas.openxmlformats.org/officeDocument/2006/relationships/image" Target="../media/image77.png"/><Relationship Id="rId8" Type="http://schemas.openxmlformats.org/officeDocument/2006/relationships/image" Target="../media/image7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88.png"/><Relationship Id="rId7" Type="http://schemas.openxmlformats.org/officeDocument/2006/relationships/image" Target="../media/image9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92.png"/><Relationship Id="rId6" Type="http://schemas.openxmlformats.org/officeDocument/2006/relationships/image" Target="../media/image9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png"/><Relationship Id="rId4" Type="http://schemas.openxmlformats.org/officeDocument/2006/relationships/image" Target="../media/image2.png"/><Relationship Id="rId6" Type="http://schemas.openxmlformats.org/officeDocument/2006/relationships/image" Target="../media/image82.png"/><Relationship Id="rId7" Type="http://schemas.openxmlformats.org/officeDocument/2006/relationships/image" Target="../media/image83.png"/><Relationship Id="rId8" Type="http://schemas.openxmlformats.org/officeDocument/2006/relationships/image" Target="../media/image8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4.png"/><Relationship Id="rId4" Type="http://schemas.openxmlformats.org/officeDocument/2006/relationships/image" Target="../media/image1.png"/><Relationship Id="rId5"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png"/><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97.png"/><Relationship Id="rId6" Type="http://schemas.openxmlformats.org/officeDocument/2006/relationships/image" Target="../media/image98.png"/><Relationship Id="rId7" Type="http://schemas.openxmlformats.org/officeDocument/2006/relationships/image" Target="../media/image99.png"/><Relationship Id="rId9" Type="http://schemas.openxmlformats.org/officeDocument/2006/relationships/image" Target="../media/image10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3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png"/><Relationship Id="rId4" Type="http://schemas.openxmlformats.org/officeDocument/2006/relationships/image" Target="../media/image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9.png"/><Relationship Id="rId6" Type="http://schemas.openxmlformats.org/officeDocument/2006/relationships/image" Target="../media/image106.png"/><Relationship Id="rId7" Type="http://schemas.openxmlformats.org/officeDocument/2006/relationships/image" Target="../media/image51.png"/><Relationship Id="rId8" Type="http://schemas.openxmlformats.org/officeDocument/2006/relationships/image" Target="../media/image107.png"/><Relationship Id="rId9" Type="http://schemas.openxmlformats.org/officeDocument/2006/relationships/image" Target="../media/image108.png"/><Relationship Id="rId10" Type="http://schemas.openxmlformats.org/officeDocument/2006/relationships/image" Target="../media/image10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png"/><Relationship Id="rId4" Type="http://schemas.openxmlformats.org/officeDocument/2006/relationships/image" Target="../media/image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4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1.png"/><Relationship Id="rId4" Type="http://schemas.openxmlformats.org/officeDocument/2006/relationships/image" Target="../media/image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1.png"/><Relationship Id="rId4" Type="http://schemas.openxmlformats.org/officeDocument/2006/relationships/image" Target="../media/image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1.png"/><Relationship Id="rId4" Type="http://schemas.openxmlformats.org/officeDocument/2006/relationships/image" Target="../media/image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1.png"/><Relationship Id="rId4" Type="http://schemas.openxmlformats.org/officeDocument/2006/relationships/image" Target="../media/image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41.png"/><Relationship Id="rId6" Type="http://schemas.openxmlformats.org/officeDocument/2006/relationships/image" Target="../media/image42.emf"/></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1.png"/><Relationship Id="rId4" Type="http://schemas.openxmlformats.org/officeDocument/2006/relationships/image" Target="../media/image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4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44.png"/><Relationship Id="rId6" Type="http://schemas.openxmlformats.org/officeDocument/2006/relationships/image" Target="../media/image48.png"/><Relationship Id="rId7" Type="http://schemas.openxmlformats.org/officeDocument/2006/relationships/image" Target="../media/image49.png"/><Relationship Id="rId8" Type="http://schemas.openxmlformats.org/officeDocument/2006/relationships/image" Target="../media/image5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20.png"/><Relationship Id="rId6" Type="http://schemas.openxmlformats.org/officeDocument/2006/relationships/image" Target="../media/image52.png"/><Relationship Id="rId7" Type="http://schemas.openxmlformats.org/officeDocument/2006/relationships/image" Target="../media/image56.png"/><Relationship Id="rId8" Type="http://schemas.openxmlformats.org/officeDocument/2006/relationships/image" Target="../media/image5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58.png"/><Relationship Id="rId6" Type="http://schemas.openxmlformats.org/officeDocument/2006/relationships/image" Target="../media/image59.png"/><Relationship Id="rId7" Type="http://schemas.openxmlformats.org/officeDocument/2006/relationships/image" Target="../media/image60.png"/><Relationship Id="rId8" Type="http://schemas.openxmlformats.org/officeDocument/2006/relationships/image" Target="../media/image6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7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8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1.png"/><Relationship Id="rId4" Type="http://schemas.openxmlformats.org/officeDocument/2006/relationships/image" Target="../media/image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8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image" Target="../media/image1.png"/><Relationship Id="rId4" Type="http://schemas.openxmlformats.org/officeDocument/2006/relationships/image" Target="../media/image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1.png"/><Relationship Id="rId4" Type="http://schemas.openxmlformats.org/officeDocument/2006/relationships/image" Target="../media/image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85.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86.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image" Target="../media/image1.png"/><Relationship Id="rId4" Type="http://schemas.openxmlformats.org/officeDocument/2006/relationships/image" Target="../media/image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3" Type="http://schemas.openxmlformats.org/officeDocument/2006/relationships/image" Target="../media/image1.png"/><Relationship Id="rId4" Type="http://schemas.openxmlformats.org/officeDocument/2006/relationships/image" Target="../media/image2.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 Id="rId3" Type="http://schemas.openxmlformats.org/officeDocument/2006/relationships/image" Target="../media/image1.png"/><Relationship Id="rId4" Type="http://schemas.openxmlformats.org/officeDocument/2006/relationships/image" Target="../media/image2.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 Id="rId3" Type="http://schemas.openxmlformats.org/officeDocument/2006/relationships/image" Target="../media/image1.png"/><Relationship Id="rId4" Type="http://schemas.openxmlformats.org/officeDocument/2006/relationships/image" Target="../media/image2.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 Id="rId3" Type="http://schemas.openxmlformats.org/officeDocument/2006/relationships/image" Target="../media/image1.png"/><Relationship Id="rId4" Type="http://schemas.openxmlformats.org/officeDocument/2006/relationships/image" Target="../media/image2.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7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tx1"/>
        </a:solidFill>
        <a:effectLst/>
      </p:bgPr>
    </p:bg>
    <p:spTree>
      <p:nvGrpSpPr>
        <p:cNvPr id="1" name=""/>
        <p:cNvGrpSpPr/>
        <p:nvPr/>
      </p:nvGrpSpPr>
      <p:grpSpPr>
        <a:xfrm>
          <a:off x="0" y="0"/>
          <a:ext cx="0" cy="0"/>
          <a:chOff x="0" y="0"/>
          <a:chExt cx="0" cy="0"/>
        </a:xfrm>
      </p:grpSpPr>
      <p:pic>
        <p:nvPicPr>
          <p:cNvPr id="2" name="Image 0" descr="/tmp/thx/deck/figs/metu_emblem.png"/>
          <p:cNvPicPr>
            <a:picLocks noChangeAspect="1"/>
          </p:cNvPicPr>
          <p:nvPr/>
        </p:nvPicPr>
        <p:blipFill>
          <a:blip r:embed="rId3"/>
          <a:stretch>
            <a:fillRect/>
          </a:stretch>
        </p:blipFill>
        <p:spPr>
          <a:xfrm>
            <a:off x="9464040" y="461518"/>
            <a:ext cx="1188720" cy="997204"/>
          </a:xfrm>
          <a:prstGeom prst="rect">
            <a:avLst/>
          </a:prstGeom>
        </p:spPr>
      </p:pic>
      <p:pic>
        <p:nvPicPr>
          <p:cNvPr id="3" name="Image 1" descr="/tmp/thx/deck/figs/eee_logo.png"/>
          <p:cNvPicPr>
            <a:picLocks noChangeAspect="1"/>
          </p:cNvPicPr>
          <p:nvPr/>
        </p:nvPicPr>
        <p:blipFill>
          <a:blip r:embed="rId4"/>
          <a:stretch>
            <a:fillRect/>
          </a:stretch>
        </p:blipFill>
        <p:spPr>
          <a:xfrm>
            <a:off x="10744200" y="465543"/>
            <a:ext cx="1188720" cy="989154"/>
          </a:xfrm>
          <a:prstGeom prst="rect">
            <a:avLst/>
          </a:prstGeom>
        </p:spPr>
      </p:pic>
      <p:sp>
        <p:nvSpPr>
          <p:cNvPr id="4" name="Text 0"/>
          <p:cNvSpPr/>
          <p:nvPr/>
        </p:nvSpPr>
        <p:spPr>
          <a:xfrm>
            <a:off x="822960" y="868680"/>
            <a:ext cx="5486400" cy="320040"/>
          </a:xfrm>
          <a:prstGeom prst="rect">
            <a:avLst/>
          </a:prstGeom>
          <a:noFill/>
          <a:ln/>
        </p:spPr>
        <p:txBody>
          <a:bodyPr wrap="square" lIns="0" tIns="0" rIns="0" bIns="0" rtlCol="0" anchor="ctr"/>
          <a:lstStyle/>
          <a:p>
            <a:pPr marL="0" indent="0">
              <a:buNone/>
            </a:pPr>
            <a:r>
              <a:rPr lang="en-US" sz="1500" b="1" kern="0" spc="300" dirty="0">
                <a:solidFill>
                  <a:srgbClr val="E31836"/>
                </a:solidFill>
                <a:latin typeface="Calibri" pitchFamily="34" charset="0"/>
                <a:ea typeface="Calibri" pitchFamily="34" charset="-122"/>
                <a:cs typeface="Calibri" pitchFamily="34" charset="-120"/>
              </a:rPr>
              <a:t>PhD Thesis Defense</a:t>
            </a:r>
            <a:endParaRPr lang="en-US" sz="1500" dirty="0"/>
          </a:p>
        </p:txBody>
      </p:sp>
      <p:sp>
        <p:nvSpPr>
          <p:cNvPr id="5" name="Text 1"/>
          <p:cNvSpPr/>
          <p:nvPr/>
        </p:nvSpPr>
        <p:spPr>
          <a:xfrm>
            <a:off x="822960" y="1280160"/>
            <a:ext cx="10515600" cy="914400"/>
          </a:xfrm>
          <a:prstGeom prst="rect">
            <a:avLst/>
          </a:prstGeom>
          <a:noFill/>
          <a:ln/>
        </p:spPr>
        <p:txBody>
          <a:bodyPr wrap="square" lIns="0" tIns="0" rIns="0" bIns="0"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DisasterAware</a:t>
            </a:r>
            <a:endParaRPr lang="en-US" sz="5400" dirty="0"/>
          </a:p>
        </p:txBody>
      </p:sp>
      <p:sp>
        <p:nvSpPr>
          <p:cNvPr id="6" name="Text 2"/>
          <p:cNvSpPr/>
          <p:nvPr/>
        </p:nvSpPr>
        <p:spPr>
          <a:xfrm>
            <a:off x="822960" y="2331720"/>
            <a:ext cx="10515600" cy="914400"/>
          </a:xfrm>
          <a:prstGeom prst="rect">
            <a:avLst/>
          </a:prstGeom>
          <a:noFill/>
          <a:ln/>
        </p:spPr>
        <p:txBody>
          <a:bodyPr wrap="square" lIns="0" tIns="0" rIns="0" bIns="0" rtlCol="0" anchor="ctr"/>
          <a:lstStyle/>
          <a:p>
            <a:pPr marL="0" indent="0">
              <a:buNone/>
            </a:pPr>
            <a:r>
              <a:rPr lang="en-US" sz="2100" i="1" dirty="0">
                <a:solidFill>
                  <a:srgbClr val="D9D9D9"/>
                </a:solidFill>
                <a:latin typeface="Cambria" pitchFamily="34" charset="0"/>
                <a:ea typeface="Cambria" pitchFamily="34" charset="-122"/>
                <a:cs typeface="Cambria" pitchFamily="34" charset="-120"/>
              </a:rPr>
              <a:t>AI-Powered Decision Support System for Wildfire Disaster Response</a:t>
            </a:r>
            <a:r>
              <a:rPr lang="tr-TR" sz="2100" i="1" dirty="0">
                <a:solidFill>
                  <a:srgbClr val="D9D9D9"/>
                </a:solidFill>
                <a:latin typeface="Cambria" pitchFamily="34" charset="0"/>
                <a:ea typeface="Cambria" pitchFamily="34" charset="-122"/>
                <a:cs typeface="Cambria" pitchFamily="34" charset="-120"/>
              </a:rPr>
              <a:t> </a:t>
            </a:r>
            <a:r>
              <a:rPr lang="en-US" sz="2100" i="1" dirty="0">
                <a:solidFill>
                  <a:srgbClr val="D9D9D9"/>
                </a:solidFill>
                <a:latin typeface="Cambria" pitchFamily="34" charset="0"/>
                <a:ea typeface="Cambria" pitchFamily="34" charset="-122"/>
                <a:cs typeface="Cambria" pitchFamily="34" charset="-120"/>
              </a:rPr>
              <a:t>and Management</a:t>
            </a:r>
            <a:endParaRPr lang="en-US" sz="2100" dirty="0"/>
          </a:p>
        </p:txBody>
      </p:sp>
      <p:sp>
        <p:nvSpPr>
          <p:cNvPr id="7" name="Text 3"/>
          <p:cNvSpPr/>
          <p:nvPr/>
        </p:nvSpPr>
        <p:spPr>
          <a:xfrm>
            <a:off x="822960" y="3977640"/>
            <a:ext cx="7772400" cy="1737360"/>
          </a:xfrm>
          <a:prstGeom prst="rect">
            <a:avLst/>
          </a:prstGeom>
          <a:noFill/>
          <a:ln/>
        </p:spPr>
        <p:txBody>
          <a:bodyPr wrap="square" lIns="0" tIns="0" rIns="0" bIns="0" rtlCol="0" anchor="t"/>
          <a:lstStyle/>
          <a:p>
            <a:pPr marL="0" indent="0">
              <a:buNone/>
            </a:pPr>
            <a:r>
              <a:rPr lang="en-US" sz="2200" b="1" dirty="0">
                <a:solidFill>
                  <a:srgbClr val="FFFFFF"/>
                </a:solidFill>
                <a:latin typeface="Calibri" pitchFamily="34" charset="0"/>
                <a:ea typeface="Calibri" pitchFamily="34" charset="-122"/>
                <a:cs typeface="Calibri" pitchFamily="34" charset="-120"/>
              </a:rPr>
              <a:t>Çağlar </a:t>
            </a:r>
            <a:r>
              <a:rPr lang="en-US" sz="2200" b="1" dirty="0" err="1">
                <a:solidFill>
                  <a:srgbClr val="FFFFFF"/>
                </a:solidFill>
                <a:latin typeface="Calibri" pitchFamily="34" charset="0"/>
                <a:ea typeface="Calibri" pitchFamily="34" charset="-122"/>
                <a:cs typeface="Calibri" pitchFamily="34" charset="-120"/>
              </a:rPr>
              <a:t>Akman</a:t>
            </a:r>
            <a:endParaRPr lang="tr-TR" sz="2200" b="1" dirty="0">
              <a:solidFill>
                <a:srgbClr val="FFFFFF"/>
              </a:solidFill>
              <a:latin typeface="Calibri" pitchFamily="34" charset="0"/>
              <a:ea typeface="Calibri" pitchFamily="34" charset="-122"/>
              <a:cs typeface="Calibri" pitchFamily="34" charset="-120"/>
            </a:endParaRPr>
          </a:p>
          <a:p>
            <a:pPr marL="0" indent="0">
              <a:buNone/>
            </a:pPr>
            <a:endParaRPr lang="tr-TR" sz="2200" b="1" dirty="0">
              <a:solidFill>
                <a:srgbClr val="FFFFFF"/>
              </a:solidFill>
              <a:latin typeface="Calibri" pitchFamily="34" charset="0"/>
              <a:ea typeface="Calibri" pitchFamily="34" charset="-122"/>
              <a:cs typeface="Calibri" pitchFamily="34" charset="-120"/>
            </a:endParaRPr>
          </a:p>
          <a:p>
            <a:pPr marL="0" indent="0">
              <a:buNone/>
            </a:pPr>
            <a:r>
              <a:rPr lang="en-US" sz="1500" dirty="0">
                <a:solidFill>
                  <a:srgbClr val="B3B3B3"/>
                </a:solidFill>
                <a:latin typeface="Calibri" pitchFamily="34" charset="0"/>
                <a:ea typeface="Calibri" pitchFamily="34" charset="-122"/>
                <a:cs typeface="Calibri" pitchFamily="34" charset="-120"/>
              </a:rPr>
              <a:t>Department of Electrical and Electronics Engineering
Middle East Technical University</a:t>
            </a:r>
            <a:endParaRPr lang="tr-TR" sz="1500" dirty="0">
              <a:solidFill>
                <a:srgbClr val="B3B3B3"/>
              </a:solidFill>
              <a:latin typeface="Calibri" pitchFamily="34" charset="0"/>
              <a:ea typeface="Calibri" pitchFamily="34" charset="-122"/>
              <a:cs typeface="Calibri" pitchFamily="34" charset="-120"/>
            </a:endParaRPr>
          </a:p>
          <a:p>
            <a:pPr marL="0" indent="0">
              <a:buNone/>
            </a:pPr>
            <a:endParaRPr lang="tr-TR" sz="1500" dirty="0">
              <a:solidFill>
                <a:srgbClr val="B3B3B3"/>
              </a:solidFill>
              <a:latin typeface="Calibri" pitchFamily="34" charset="0"/>
              <a:ea typeface="Calibri" pitchFamily="34" charset="-122"/>
              <a:cs typeface="Calibri" pitchFamily="34" charset="-120"/>
            </a:endParaRPr>
          </a:p>
          <a:p>
            <a:pPr marL="0" indent="0">
              <a:buNone/>
            </a:pPr>
            <a:r>
              <a:rPr lang="en-US" sz="1500" dirty="0">
                <a:solidFill>
                  <a:srgbClr val="D9D9D9"/>
                </a:solidFill>
                <a:latin typeface="Calibri" pitchFamily="34" charset="0"/>
                <a:ea typeface="Calibri" pitchFamily="34" charset="-122"/>
                <a:cs typeface="Calibri" pitchFamily="34" charset="-120"/>
              </a:rPr>
              <a:t>Supervisor: Prof. Dr. Mehmet Kemal Leblebicioğlu</a:t>
            </a:r>
            <a:endParaRPr lang="en-US" sz="2200" dirty="0"/>
          </a:p>
        </p:txBody>
      </p:sp>
      <p:sp>
        <p:nvSpPr>
          <p:cNvPr id="8" name="Text 4"/>
          <p:cNvSpPr/>
          <p:nvPr/>
        </p:nvSpPr>
        <p:spPr>
          <a:xfrm>
            <a:off x="822960" y="5943600"/>
            <a:ext cx="2743200" cy="365760"/>
          </a:xfrm>
          <a:prstGeom prst="rect">
            <a:avLst/>
          </a:prstGeom>
          <a:noFill/>
          <a:ln/>
        </p:spPr>
        <p:txBody>
          <a:bodyPr wrap="square" lIns="0" tIns="0" rIns="0" bIns="0" rtlCol="0" anchor="ctr"/>
          <a:lstStyle/>
          <a:p>
            <a:pPr marL="0" indent="0">
              <a:buNone/>
            </a:pPr>
            <a:r>
              <a:rPr lang="en-US" sz="1500" dirty="0">
                <a:solidFill>
                  <a:srgbClr val="B3B3B3"/>
                </a:solidFill>
                <a:latin typeface="Calibri" pitchFamily="34" charset="0"/>
                <a:ea typeface="Calibri" pitchFamily="34" charset="-122"/>
                <a:cs typeface="Calibri" pitchFamily="34" charset="-120"/>
              </a:rPr>
              <a:t>August 2026</a:t>
            </a:r>
            <a:endParaRPr lang="en-US" sz="15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256032"/>
            <a:ext cx="91440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OUTLINE</a:t>
            </a:r>
            <a:endParaRPr lang="en-US" sz="1300" dirty="0"/>
          </a:p>
        </p:txBody>
      </p:sp>
      <p:sp>
        <p:nvSpPr>
          <p:cNvPr id="3" name="Text 1"/>
          <p:cNvSpPr/>
          <p:nvPr/>
        </p:nvSpPr>
        <p:spPr>
          <a:xfrm>
            <a:off x="502920" y="512064"/>
            <a:ext cx="11247120" cy="731520"/>
          </a:xfrm>
          <a:prstGeom prst="rect">
            <a:avLst/>
          </a:prstGeom>
          <a:noFill/>
          <a:ln/>
        </p:spPr>
        <p:txBody>
          <a:bodyPr wrap="square" lIns="0" tIns="0" rIns="0" bIns="0" rtlCol="0" anchor="ctr"/>
          <a:lstStyle/>
          <a:p>
            <a:pPr marL="0" indent="0">
              <a:buNone/>
            </a:pPr>
            <a:r>
              <a:rPr lang="en-US" sz="2900" b="1" dirty="0">
                <a:solidFill>
                  <a:srgbClr val="000000"/>
                </a:solidFill>
                <a:latin typeface="Cambria" pitchFamily="34" charset="0"/>
                <a:ea typeface="Cambria" pitchFamily="34" charset="-122"/>
                <a:cs typeface="Cambria" pitchFamily="34" charset="-120"/>
              </a:rPr>
              <a:t>Today's Route Follows the Thesis Argument</a:t>
            </a:r>
            <a:endParaRPr lang="en-US" sz="2900" dirty="0"/>
          </a:p>
        </p:txBody>
      </p:sp>
      <p:sp>
        <p:nvSpPr>
          <p:cNvPr id="4" name="Shape 2"/>
          <p:cNvSpPr/>
          <p:nvPr/>
        </p:nvSpPr>
        <p:spPr>
          <a:xfrm>
            <a:off x="685800" y="1527048"/>
            <a:ext cx="566928" cy="566928"/>
          </a:xfrm>
          <a:prstGeom prst="ellipse">
            <a:avLst/>
          </a:prstGeom>
          <a:solidFill>
            <a:srgbClr val="000000"/>
          </a:solidFill>
          <a:ln/>
        </p:spPr>
        <p:txBody>
          <a:bodyPr/>
          <a:lstStyle/>
          <a:p>
            <a:endParaRPr lang="tr-TR"/>
          </a:p>
        </p:txBody>
      </p:sp>
      <p:sp>
        <p:nvSpPr>
          <p:cNvPr id="5" name="Text 3"/>
          <p:cNvSpPr/>
          <p:nvPr/>
        </p:nvSpPr>
        <p:spPr>
          <a:xfrm>
            <a:off x="685800" y="1527048"/>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6" name="Text 4"/>
          <p:cNvSpPr/>
          <p:nvPr/>
        </p:nvSpPr>
        <p:spPr>
          <a:xfrm>
            <a:off x="1508760" y="1481328"/>
            <a:ext cx="2860040" cy="685800"/>
          </a:xfrm>
          <a:prstGeom prst="rect">
            <a:avLst/>
          </a:prstGeom>
          <a:noFill/>
          <a:ln/>
        </p:spPr>
        <p:txBody>
          <a:bodyPr wrap="square" lIns="0" tIns="0" rIns="0" bIns="0" rtlCol="0" anchor="ctr"/>
          <a:lstStyle/>
          <a:p>
            <a:pPr marL="0" indent="0">
              <a:buNone/>
            </a:pPr>
            <a:r>
              <a:rPr lang="en-US" sz="2100" b="1" dirty="0">
                <a:solidFill>
                  <a:srgbClr val="000000"/>
                </a:solidFill>
                <a:latin typeface="Calibri" pitchFamily="34" charset="0"/>
                <a:ea typeface="Calibri" pitchFamily="34" charset="-122"/>
                <a:cs typeface="Calibri" pitchFamily="34" charset="-120"/>
              </a:rPr>
              <a:t>Problem &amp; Gaps</a:t>
            </a:r>
            <a:endParaRPr lang="en-US" sz="2100" dirty="0"/>
          </a:p>
        </p:txBody>
      </p:sp>
      <p:sp>
        <p:nvSpPr>
          <p:cNvPr id="7" name="Shape 5"/>
          <p:cNvSpPr/>
          <p:nvPr/>
        </p:nvSpPr>
        <p:spPr>
          <a:xfrm>
            <a:off x="685800" y="2368296"/>
            <a:ext cx="566928" cy="566928"/>
          </a:xfrm>
          <a:prstGeom prst="ellipse">
            <a:avLst/>
          </a:prstGeom>
          <a:solidFill>
            <a:srgbClr val="000000"/>
          </a:solidFill>
          <a:ln/>
        </p:spPr>
        <p:txBody>
          <a:bodyPr/>
          <a:lstStyle/>
          <a:p>
            <a:endParaRPr lang="tr-TR"/>
          </a:p>
        </p:txBody>
      </p:sp>
      <p:sp>
        <p:nvSpPr>
          <p:cNvPr id="8" name="Text 6"/>
          <p:cNvSpPr/>
          <p:nvPr/>
        </p:nvSpPr>
        <p:spPr>
          <a:xfrm>
            <a:off x="685800" y="2368296"/>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9" name="Text 7"/>
          <p:cNvSpPr/>
          <p:nvPr/>
        </p:nvSpPr>
        <p:spPr>
          <a:xfrm>
            <a:off x="1508760" y="2322576"/>
            <a:ext cx="2860040" cy="685800"/>
          </a:xfrm>
          <a:prstGeom prst="rect">
            <a:avLst/>
          </a:prstGeom>
          <a:noFill/>
          <a:ln/>
        </p:spPr>
        <p:txBody>
          <a:bodyPr wrap="square" lIns="0" tIns="0" rIns="0" bIns="0" rtlCol="0" anchor="ctr"/>
          <a:lstStyle/>
          <a:p>
            <a:pPr marL="0" indent="0">
              <a:buNone/>
            </a:pPr>
            <a:r>
              <a:rPr lang="en-US" sz="2100" b="1" dirty="0">
                <a:solidFill>
                  <a:srgbClr val="000000"/>
                </a:solidFill>
                <a:latin typeface="Calibri" pitchFamily="34" charset="0"/>
                <a:ea typeface="Calibri" pitchFamily="34" charset="-122"/>
                <a:cs typeface="Calibri" pitchFamily="34" charset="-120"/>
              </a:rPr>
              <a:t>Simulation Framework</a:t>
            </a:r>
            <a:endParaRPr lang="en-US" sz="2100" dirty="0"/>
          </a:p>
        </p:txBody>
      </p:sp>
      <p:sp>
        <p:nvSpPr>
          <p:cNvPr id="10" name="Shape 8"/>
          <p:cNvSpPr/>
          <p:nvPr/>
        </p:nvSpPr>
        <p:spPr>
          <a:xfrm>
            <a:off x="685800" y="3209544"/>
            <a:ext cx="566928" cy="566928"/>
          </a:xfrm>
          <a:prstGeom prst="ellipse">
            <a:avLst/>
          </a:prstGeom>
          <a:solidFill>
            <a:srgbClr val="000000"/>
          </a:solidFill>
          <a:ln/>
        </p:spPr>
        <p:txBody>
          <a:bodyPr/>
          <a:lstStyle/>
          <a:p>
            <a:endParaRPr lang="tr-TR"/>
          </a:p>
        </p:txBody>
      </p:sp>
      <p:sp>
        <p:nvSpPr>
          <p:cNvPr id="11" name="Text 9"/>
          <p:cNvSpPr/>
          <p:nvPr/>
        </p:nvSpPr>
        <p:spPr>
          <a:xfrm>
            <a:off x="685800" y="3209544"/>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2" name="Text 10"/>
          <p:cNvSpPr/>
          <p:nvPr/>
        </p:nvSpPr>
        <p:spPr>
          <a:xfrm>
            <a:off x="1508760" y="3163824"/>
            <a:ext cx="2860040" cy="685800"/>
          </a:xfrm>
          <a:prstGeom prst="rect">
            <a:avLst/>
          </a:prstGeom>
          <a:noFill/>
          <a:ln/>
        </p:spPr>
        <p:txBody>
          <a:bodyPr wrap="square" lIns="0" tIns="0" rIns="0" bIns="0" rtlCol="0" anchor="ctr"/>
          <a:lstStyle/>
          <a:p>
            <a:pPr marL="0" indent="0">
              <a:buNone/>
            </a:pPr>
            <a:r>
              <a:rPr lang="en-US" sz="2100" b="1" dirty="0">
                <a:solidFill>
                  <a:srgbClr val="000000"/>
                </a:solidFill>
                <a:latin typeface="Calibri" pitchFamily="34" charset="0"/>
                <a:ea typeface="Calibri" pitchFamily="34" charset="-122"/>
                <a:cs typeface="Calibri" pitchFamily="34" charset="-120"/>
              </a:rPr>
              <a:t>DSS Framework</a:t>
            </a:r>
            <a:endParaRPr lang="en-US" sz="2100" dirty="0"/>
          </a:p>
        </p:txBody>
      </p:sp>
      <p:sp>
        <p:nvSpPr>
          <p:cNvPr id="13" name="Shape 11"/>
          <p:cNvSpPr/>
          <p:nvPr/>
        </p:nvSpPr>
        <p:spPr>
          <a:xfrm>
            <a:off x="685800" y="4050792"/>
            <a:ext cx="566928" cy="566928"/>
          </a:xfrm>
          <a:prstGeom prst="ellipse">
            <a:avLst/>
          </a:prstGeom>
          <a:solidFill>
            <a:srgbClr val="000000"/>
          </a:solidFill>
          <a:ln/>
        </p:spPr>
        <p:txBody>
          <a:bodyPr/>
          <a:lstStyle/>
          <a:p>
            <a:endParaRPr lang="tr-TR"/>
          </a:p>
        </p:txBody>
      </p:sp>
      <p:sp>
        <p:nvSpPr>
          <p:cNvPr id="14" name="Text 12"/>
          <p:cNvSpPr/>
          <p:nvPr/>
        </p:nvSpPr>
        <p:spPr>
          <a:xfrm>
            <a:off x="685800" y="4050792"/>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15" name="Text 13"/>
          <p:cNvSpPr/>
          <p:nvPr/>
        </p:nvSpPr>
        <p:spPr>
          <a:xfrm>
            <a:off x="1508760" y="4005072"/>
            <a:ext cx="2860040" cy="685800"/>
          </a:xfrm>
          <a:prstGeom prst="rect">
            <a:avLst/>
          </a:prstGeom>
          <a:noFill/>
          <a:ln/>
        </p:spPr>
        <p:txBody>
          <a:bodyPr wrap="square" lIns="0" tIns="0" rIns="0" bIns="0" rtlCol="0" anchor="ctr"/>
          <a:lstStyle/>
          <a:p>
            <a:pPr marL="0" indent="0">
              <a:buNone/>
            </a:pPr>
            <a:r>
              <a:rPr lang="en-US" sz="2100" b="1" dirty="0">
                <a:solidFill>
                  <a:srgbClr val="000000"/>
                </a:solidFill>
                <a:latin typeface="Calibri" pitchFamily="34" charset="0"/>
                <a:ea typeface="Calibri" pitchFamily="34" charset="-122"/>
                <a:cs typeface="Calibri" pitchFamily="34" charset="-120"/>
              </a:rPr>
              <a:t>Open Decision Space</a:t>
            </a:r>
            <a:endParaRPr lang="en-US" sz="2100" dirty="0"/>
          </a:p>
        </p:txBody>
      </p:sp>
      <p:sp>
        <p:nvSpPr>
          <p:cNvPr id="16" name="Shape 14"/>
          <p:cNvSpPr/>
          <p:nvPr/>
        </p:nvSpPr>
        <p:spPr>
          <a:xfrm>
            <a:off x="685800" y="4892040"/>
            <a:ext cx="566928" cy="566928"/>
          </a:xfrm>
          <a:prstGeom prst="ellipse">
            <a:avLst/>
          </a:prstGeom>
          <a:solidFill>
            <a:srgbClr val="000000"/>
          </a:solidFill>
          <a:ln/>
        </p:spPr>
        <p:txBody>
          <a:bodyPr/>
          <a:lstStyle/>
          <a:p>
            <a:endParaRPr lang="tr-TR"/>
          </a:p>
        </p:txBody>
      </p:sp>
      <p:sp>
        <p:nvSpPr>
          <p:cNvPr id="17" name="Text 15"/>
          <p:cNvSpPr/>
          <p:nvPr/>
        </p:nvSpPr>
        <p:spPr>
          <a:xfrm>
            <a:off x="685800" y="4892040"/>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18" name="Text 16"/>
          <p:cNvSpPr/>
          <p:nvPr/>
        </p:nvSpPr>
        <p:spPr>
          <a:xfrm>
            <a:off x="1508760" y="4846320"/>
            <a:ext cx="2860041" cy="685800"/>
          </a:xfrm>
          <a:prstGeom prst="rect">
            <a:avLst/>
          </a:prstGeom>
          <a:noFill/>
          <a:ln/>
        </p:spPr>
        <p:txBody>
          <a:bodyPr wrap="square" lIns="0" tIns="0" rIns="0" bIns="0" rtlCol="0" anchor="ctr"/>
          <a:lstStyle/>
          <a:p>
            <a:pPr marL="0" indent="0">
              <a:buNone/>
            </a:pPr>
            <a:r>
              <a:rPr lang="tr-TR" sz="2100" b="1" dirty="0" err="1">
                <a:solidFill>
                  <a:srgbClr val="000000"/>
                </a:solidFill>
                <a:latin typeface="Calibri" pitchFamily="34" charset="0"/>
                <a:ea typeface="Calibri" pitchFamily="34" charset="-122"/>
                <a:cs typeface="Calibri" pitchFamily="34" charset="-120"/>
              </a:rPr>
              <a:t>Performance</a:t>
            </a:r>
            <a:r>
              <a:rPr lang="tr-TR" sz="2100" b="1" dirty="0">
                <a:solidFill>
                  <a:srgbClr val="000000"/>
                </a:solidFill>
                <a:latin typeface="Calibri" pitchFamily="34" charset="0"/>
                <a:ea typeface="Calibri" pitchFamily="34" charset="-122"/>
                <a:cs typeface="Calibri" pitchFamily="34" charset="-120"/>
              </a:rPr>
              <a:t> </a:t>
            </a:r>
            <a:r>
              <a:rPr lang="tr-TR" sz="2100" b="1" dirty="0" err="1">
                <a:solidFill>
                  <a:srgbClr val="000000"/>
                </a:solidFill>
                <a:latin typeface="Calibri" pitchFamily="34" charset="0"/>
                <a:ea typeface="Calibri" pitchFamily="34" charset="-122"/>
                <a:cs typeface="Calibri" pitchFamily="34" charset="-120"/>
              </a:rPr>
              <a:t>Results</a:t>
            </a:r>
            <a:endParaRPr lang="en-US" sz="2100" dirty="0"/>
          </a:p>
        </p:txBody>
      </p:sp>
      <p:sp>
        <p:nvSpPr>
          <p:cNvPr id="19" name="Shape 17"/>
          <p:cNvSpPr/>
          <p:nvPr/>
        </p:nvSpPr>
        <p:spPr>
          <a:xfrm>
            <a:off x="685800" y="5733288"/>
            <a:ext cx="566928" cy="566928"/>
          </a:xfrm>
          <a:prstGeom prst="ellipse">
            <a:avLst/>
          </a:prstGeom>
          <a:solidFill>
            <a:srgbClr val="E31836"/>
          </a:solidFill>
          <a:ln/>
        </p:spPr>
        <p:txBody>
          <a:bodyPr/>
          <a:lstStyle/>
          <a:p>
            <a:endParaRPr lang="tr-TR"/>
          </a:p>
        </p:txBody>
      </p:sp>
      <p:sp>
        <p:nvSpPr>
          <p:cNvPr id="21" name="Text 19"/>
          <p:cNvSpPr/>
          <p:nvPr/>
        </p:nvSpPr>
        <p:spPr>
          <a:xfrm>
            <a:off x="1508760" y="5687568"/>
            <a:ext cx="2860039" cy="685800"/>
          </a:xfrm>
          <a:prstGeom prst="rect">
            <a:avLst/>
          </a:prstGeom>
          <a:noFill/>
          <a:ln/>
        </p:spPr>
        <p:txBody>
          <a:bodyPr wrap="square" lIns="0" tIns="0" rIns="0" bIns="0" rtlCol="0" anchor="ctr"/>
          <a:lstStyle/>
          <a:p>
            <a:pPr marL="0" indent="0">
              <a:buNone/>
            </a:pPr>
            <a:r>
              <a:rPr lang="tr-TR" sz="2100" b="1" dirty="0">
                <a:solidFill>
                  <a:srgbClr val="000000"/>
                </a:solidFill>
                <a:latin typeface="Calibri" pitchFamily="34" charset="0"/>
                <a:ea typeface="Calibri" pitchFamily="34" charset="-122"/>
                <a:cs typeface="Calibri" pitchFamily="34" charset="-120"/>
              </a:rPr>
              <a:t>Demo &amp; </a:t>
            </a:r>
            <a:r>
              <a:rPr lang="tr-TR" sz="2100" b="1" dirty="0" err="1">
                <a:solidFill>
                  <a:srgbClr val="000000"/>
                </a:solidFill>
                <a:latin typeface="Calibri" pitchFamily="34" charset="0"/>
                <a:ea typeface="Calibri" pitchFamily="34" charset="-122"/>
                <a:cs typeface="Calibri" pitchFamily="34" charset="-120"/>
              </a:rPr>
              <a:t>Conclusion</a:t>
            </a:r>
            <a:endParaRPr lang="en-US" sz="2100" dirty="0"/>
          </a:p>
        </p:txBody>
      </p:sp>
      <p:pic>
        <p:nvPicPr>
          <p:cNvPr id="22"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23"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p:sp>
        <p:nvSpPr>
          <p:cNvPr id="26" name="TextBox 25">
            <a:extLst>
              <a:ext uri="{FF2B5EF4-FFF2-40B4-BE49-F238E27FC236}">
                <a16:creationId xmlns:a16="http://schemas.microsoft.com/office/drawing/2014/main" id="{222C2336-5CF6-4DCB-9ABA-0AD0605BD085}"/>
              </a:ext>
            </a:extLst>
          </p:cNvPr>
          <p:cNvSpPr txBox="1"/>
          <p:nvPr/>
        </p:nvSpPr>
        <p:spPr>
          <a:xfrm>
            <a:off x="4368800" y="1639562"/>
            <a:ext cx="7701280" cy="369332"/>
          </a:xfrm>
          <a:prstGeom prst="rect">
            <a:avLst/>
          </a:prstGeom>
          <a:noFill/>
        </p:spPr>
        <p:txBody>
          <a:bodyPr wrap="square">
            <a:spAutoFit/>
          </a:bodyPr>
          <a:lstStyle/>
          <a:p>
            <a:r>
              <a:rPr lang="en-US" sz="2000">
                <a:solidFill>
                  <a:srgbClr val="222222"/>
                </a:solidFill>
                <a:latin typeface="Calibri" pitchFamily="34" charset="0"/>
                <a:ea typeface="Calibri" pitchFamily="34" charset="-122"/>
                <a:cs typeface="Calibri" pitchFamily="34" charset="-120"/>
              </a:rPr>
              <a:t>Gaps · Hypotheses · Contributions</a:t>
            </a:r>
            <a:endParaRPr lang="tr-TR" sz="2000" dirty="0"/>
          </a:p>
        </p:txBody>
      </p:sp>
      <p:sp>
        <p:nvSpPr>
          <p:cNvPr id="28" name="TextBox 27">
            <a:extLst>
              <a:ext uri="{FF2B5EF4-FFF2-40B4-BE49-F238E27FC236}">
                <a16:creationId xmlns:a16="http://schemas.microsoft.com/office/drawing/2014/main" id="{E7493BC8-2230-44E8-A167-837D738D5BAA}"/>
              </a:ext>
            </a:extLst>
          </p:cNvPr>
          <p:cNvSpPr txBox="1"/>
          <p:nvPr/>
        </p:nvSpPr>
        <p:spPr>
          <a:xfrm>
            <a:off x="4368800" y="2483596"/>
            <a:ext cx="7701280" cy="369332"/>
          </a:xfrm>
          <a:prstGeom prst="rect">
            <a:avLst/>
          </a:prstGeom>
          <a:noFill/>
        </p:spPr>
        <p:txBody>
          <a:bodyPr wrap="square">
            <a:spAutoFit/>
          </a:bodyPr>
          <a:lstStyle/>
          <a:p>
            <a:r>
              <a:rPr lang="en-US" sz="2000">
                <a:solidFill>
                  <a:srgbClr val="222222"/>
                </a:solidFill>
                <a:latin typeface="Calibri" pitchFamily="34" charset="0"/>
                <a:ea typeface="Calibri" pitchFamily="34" charset="-122"/>
                <a:cs typeface="Calibri" pitchFamily="34" charset="-120"/>
              </a:rPr>
              <a:t>Data layers · Hybrid spread model · Separated cores</a:t>
            </a:r>
            <a:endParaRPr lang="tr-TR" sz="2000" dirty="0"/>
          </a:p>
        </p:txBody>
      </p:sp>
      <p:sp>
        <p:nvSpPr>
          <p:cNvPr id="30" name="TextBox 29">
            <a:extLst>
              <a:ext uri="{FF2B5EF4-FFF2-40B4-BE49-F238E27FC236}">
                <a16:creationId xmlns:a16="http://schemas.microsoft.com/office/drawing/2014/main" id="{9679F0AF-D0F3-4590-A30A-6FD35722E889}"/>
              </a:ext>
            </a:extLst>
          </p:cNvPr>
          <p:cNvSpPr txBox="1"/>
          <p:nvPr/>
        </p:nvSpPr>
        <p:spPr>
          <a:xfrm>
            <a:off x="4368800" y="3319272"/>
            <a:ext cx="7701280" cy="369332"/>
          </a:xfrm>
          <a:prstGeom prst="rect">
            <a:avLst/>
          </a:prstGeom>
          <a:noFill/>
        </p:spPr>
        <p:txBody>
          <a:bodyPr wrap="square">
            <a:spAutoFit/>
          </a:bodyPr>
          <a:lstStyle/>
          <a:p>
            <a:r>
              <a:rPr lang="en-US" sz="2000">
                <a:solidFill>
                  <a:srgbClr val="222222"/>
                </a:solidFill>
                <a:latin typeface="Calibri" pitchFamily="34" charset="0"/>
                <a:ea typeface="Calibri" pitchFamily="34" charset="-122"/>
                <a:cs typeface="Calibri" pitchFamily="34" charset="-120"/>
              </a:rPr>
              <a:t>Inputs · Perception · Concepts · Decision</a:t>
            </a:r>
            <a:endParaRPr lang="tr-TR" sz="2000" dirty="0"/>
          </a:p>
        </p:txBody>
      </p:sp>
      <p:sp>
        <p:nvSpPr>
          <p:cNvPr id="32" name="TextBox 31">
            <a:extLst>
              <a:ext uri="{FF2B5EF4-FFF2-40B4-BE49-F238E27FC236}">
                <a16:creationId xmlns:a16="http://schemas.microsoft.com/office/drawing/2014/main" id="{9BFDEC13-1299-4E16-8B2F-CCE7634BFF4F}"/>
              </a:ext>
            </a:extLst>
          </p:cNvPr>
          <p:cNvSpPr txBox="1"/>
          <p:nvPr/>
        </p:nvSpPr>
        <p:spPr>
          <a:xfrm>
            <a:off x="4368801" y="4164657"/>
            <a:ext cx="7701280" cy="369332"/>
          </a:xfrm>
          <a:prstGeom prst="rect">
            <a:avLst/>
          </a:prstGeom>
          <a:noFill/>
        </p:spPr>
        <p:txBody>
          <a:bodyPr wrap="square">
            <a:spAutoFit/>
          </a:bodyPr>
          <a:lstStyle/>
          <a:p>
            <a:r>
              <a:rPr lang="en-US" sz="2000" err="1">
                <a:solidFill>
                  <a:srgbClr val="222222"/>
                </a:solidFill>
                <a:latin typeface="Calibri" pitchFamily="34" charset="0"/>
                <a:ea typeface="Calibri" pitchFamily="34" charset="-122"/>
                <a:cs typeface="Calibri" pitchFamily="34" charset="-120"/>
              </a:rPr>
              <a:t>evFIS growth · Generative proposals · Verification gates</a:t>
            </a:r>
            <a:endParaRPr lang="tr-TR" sz="2000" dirty="0"/>
          </a:p>
        </p:txBody>
      </p:sp>
      <p:sp>
        <p:nvSpPr>
          <p:cNvPr id="34" name="TextBox 33">
            <a:extLst>
              <a:ext uri="{FF2B5EF4-FFF2-40B4-BE49-F238E27FC236}">
                <a16:creationId xmlns:a16="http://schemas.microsoft.com/office/drawing/2014/main" id="{50CF5718-C3AD-4960-8682-DDE754BA2B87}"/>
              </a:ext>
            </a:extLst>
          </p:cNvPr>
          <p:cNvSpPr txBox="1"/>
          <p:nvPr/>
        </p:nvSpPr>
        <p:spPr>
          <a:xfrm>
            <a:off x="4368799" y="4990838"/>
            <a:ext cx="7701279" cy="369332"/>
          </a:xfrm>
          <a:prstGeom prst="rect">
            <a:avLst/>
          </a:prstGeom>
          <a:noFill/>
        </p:spPr>
        <p:txBody>
          <a:bodyPr wrap="square">
            <a:spAutoFit/>
          </a:bodyPr>
          <a:lstStyle/>
          <a:p>
            <a:r>
              <a:rPr lang="tr-TR" sz="2000">
                <a:solidFill>
                  <a:srgbClr val="222222"/>
                </a:solidFill>
                <a:latin typeface="Calibri" pitchFamily="34" charset="0"/>
                <a:ea typeface="Calibri" pitchFamily="34" charset="-122"/>
                <a:cs typeface="Calibri" pitchFamily="34" charset="-120"/>
              </a:rPr>
              <a:t>Validity · Sensitivity · Ladder · Products · Cost &amp; scale</a:t>
            </a:r>
            <a:endParaRPr lang="tr-TR" sz="2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3" name="Text 1"/>
          <p:cNvSpPr/>
          <p:nvPr/>
        </p:nvSpPr>
        <p:spPr>
          <a:xfrm>
            <a:off x="822960" y="2606040"/>
            <a:ext cx="10607040" cy="914400"/>
          </a:xfrm>
          <a:prstGeom prst="rect">
            <a:avLst/>
          </a:prstGeom>
          <a:noFill/>
          <a:ln/>
        </p:spPr>
        <p:txBody>
          <a:bodyPr wrap="square" lIns="0" tIns="0" rIns="0" bIns="0" rtlCol="0" anchor="ctr"/>
          <a:lstStyle/>
          <a:p>
            <a:pPr marL="0" indent="0">
              <a:buNone/>
            </a:pPr>
            <a:r>
              <a:rPr lang="tr-TR" sz="4800" b="1" dirty="0" err="1">
                <a:solidFill>
                  <a:srgbClr val="FFFFFF"/>
                </a:solidFill>
                <a:latin typeface="Cambria" pitchFamily="34" charset="0"/>
                <a:ea typeface="Cambria" pitchFamily="34" charset="-122"/>
                <a:cs typeface="Cambria" pitchFamily="34" charset="-120"/>
              </a:rPr>
              <a:t>Introduction</a:t>
            </a:r>
            <a:endParaRPr lang="en-US" sz="4800" dirty="0"/>
          </a:p>
        </p:txBody>
      </p:sp>
      <p:pic>
        <p:nvPicPr>
          <p:cNvPr id="5"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6"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p:spTree>
    <p:extLst>
      <p:ext uri="{BB962C8B-B14F-4D97-AF65-F5344CB8AC3E}">
        <p14:creationId xmlns:p14="http://schemas.microsoft.com/office/powerpoint/2010/main" val="18605080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D8D6C-AA53-30E1-AB1B-17394E0C881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D957ABC-BA20-6D99-5EA2-F9C122C75E2E}"/>
              </a:ext>
            </a:extLst>
          </p:cNvPr>
          <p:cNvSpPr/>
          <p:nvPr/>
        </p:nvSpPr>
        <p:spPr>
          <a:xfrm>
            <a:off x="502920" y="256032"/>
            <a:ext cx="9144000" cy="292608"/>
          </a:xfrm>
          <a:prstGeom prst="rect">
            <a:avLst/>
          </a:prstGeom>
          <a:noFill/>
          <a:ln/>
        </p:spPr>
        <p:txBody>
          <a:bodyPr wrap="square" lIns="0" tIns="0" rIns="0" bIns="0" rtlCol="0" anchor="ctr"/>
          <a:lstStyle/>
          <a:p>
            <a:pPr marL="0" indent="0">
              <a:buNone/>
            </a:pPr>
            <a:r>
              <a:rPr lang="en-US" sz="1300" b="1" kern="0" spc="200">
                <a:solidFill>
                  <a:srgbClr val="E31836"/>
                </a:solidFill>
                <a:latin typeface="Calibri" pitchFamily="34" charset="0"/>
                <a:ea typeface="Calibri" pitchFamily="34" charset="-122"/>
                <a:cs typeface="Calibri" pitchFamily="34" charset="-120"/>
              </a:rPr>
              <a:t>MOTIVATION</a:t>
            </a:r>
            <a:endParaRPr lang="en-US" sz="1300" dirty="0"/>
          </a:p>
        </p:txBody>
      </p:sp>
      <p:pic>
        <p:nvPicPr>
          <p:cNvPr id="9" name="Image 1" descr="/tmp/thx/deck/figs/metu_emblem.png">
            <a:extLst>
              <a:ext uri="{FF2B5EF4-FFF2-40B4-BE49-F238E27FC236}">
                <a16:creationId xmlns:a16="http://schemas.microsoft.com/office/drawing/2014/main" id="{FCDB866F-7C64-953F-9E1A-3CAF25B3A050}"/>
              </a:ext>
            </a:extLst>
          </p:cNvPr>
          <p:cNvPicPr>
            <a:picLocks noChangeAspect="1"/>
          </p:cNvPicPr>
          <p:nvPr/>
        </p:nvPicPr>
        <p:blipFill>
          <a:blip r:embed="rId3"/>
          <a:stretch>
            <a:fillRect/>
          </a:stretch>
        </p:blipFill>
        <p:spPr>
          <a:xfrm>
            <a:off x="10716768" y="184607"/>
            <a:ext cx="475488" cy="398882"/>
          </a:xfrm>
          <a:prstGeom prst="rect">
            <a:avLst/>
          </a:prstGeom>
        </p:spPr>
      </p:pic>
      <p:pic>
        <p:nvPicPr>
          <p:cNvPr id="10" name="Image 2" descr="/tmp/thx/deck/figs/eee_logo.png">
            <a:extLst>
              <a:ext uri="{FF2B5EF4-FFF2-40B4-BE49-F238E27FC236}">
                <a16:creationId xmlns:a16="http://schemas.microsoft.com/office/drawing/2014/main" id="{7762843B-5B80-1DFD-2512-E08457544543}"/>
              </a:ext>
            </a:extLst>
          </p:cNvPr>
          <p:cNvPicPr>
            <a:picLocks noChangeAspect="1"/>
          </p:cNvPicPr>
          <p:nvPr/>
        </p:nvPicPr>
        <p:blipFill>
          <a:blip r:embed="rId4"/>
          <a:stretch>
            <a:fillRect/>
          </a:stretch>
        </p:blipFill>
        <p:spPr>
          <a:xfrm>
            <a:off x="11265408" y="186217"/>
            <a:ext cx="475488" cy="395662"/>
          </a:xfrm>
          <a:prstGeom prst="rect">
            <a:avLst/>
          </a:prstGeom>
        </p:spPr>
      </p:pic>
      <p:pic>
        <p:nvPicPr>
          <p:cNvPr id="25" name="Picture 24">
            <a:extLst>
              <a:ext uri="{FF2B5EF4-FFF2-40B4-BE49-F238E27FC236}">
                <a16:creationId xmlns:a16="http://schemas.microsoft.com/office/drawing/2014/main" id="{B642DDF3-93FB-79A7-4FB3-455550836789}"/>
              </a:ext>
            </a:extLst>
          </p:cNvPr>
          <p:cNvPicPr>
            <a:picLocks noChangeAspect="1"/>
          </p:cNvPicPr>
          <p:nvPr/>
        </p:nvPicPr>
        <p:blipFill>
          <a:blip r:embed="rId5"/>
          <a:stretch>
            <a:fillRect/>
          </a:stretch>
        </p:blipFill>
        <p:spPr>
          <a:xfrm>
            <a:off x="3324629" y="2443569"/>
            <a:ext cx="2620651" cy="2153196"/>
          </a:xfrm>
          <a:prstGeom prst="rect">
            <a:avLst/>
          </a:prstGeom>
        </p:spPr>
      </p:pic>
      <p:pic>
        <p:nvPicPr>
          <p:cNvPr id="26" name="Picture 25">
            <a:extLst>
              <a:ext uri="{FF2B5EF4-FFF2-40B4-BE49-F238E27FC236}">
                <a16:creationId xmlns:a16="http://schemas.microsoft.com/office/drawing/2014/main" id="{F022C1EF-150A-AE05-C4A0-374AA5D8F8B4}"/>
              </a:ext>
            </a:extLst>
          </p:cNvPr>
          <p:cNvPicPr>
            <a:picLocks noChangeAspect="1"/>
          </p:cNvPicPr>
          <p:nvPr/>
        </p:nvPicPr>
        <p:blipFill>
          <a:blip r:embed="rId6"/>
          <a:stretch>
            <a:fillRect/>
          </a:stretch>
        </p:blipFill>
        <p:spPr>
          <a:xfrm>
            <a:off x="350520" y="2563219"/>
            <a:ext cx="2849880" cy="2153196"/>
          </a:xfrm>
          <a:prstGeom prst="rect">
            <a:avLst/>
          </a:prstGeom>
        </p:spPr>
      </p:pic>
      <p:grpSp>
        <p:nvGrpSpPr>
          <p:cNvPr id="30" name="Group 29">
            <a:extLst>
              <a:ext uri="{FF2B5EF4-FFF2-40B4-BE49-F238E27FC236}">
                <a16:creationId xmlns:a16="http://schemas.microsoft.com/office/drawing/2014/main" id="{A4E7ED66-AED3-6390-AD9D-154F75C54ABB}"/>
              </a:ext>
            </a:extLst>
          </p:cNvPr>
          <p:cNvGrpSpPr/>
          <p:nvPr/>
        </p:nvGrpSpPr>
        <p:grpSpPr>
          <a:xfrm>
            <a:off x="2302125" y="1140621"/>
            <a:ext cx="1074030" cy="1145308"/>
            <a:chOff x="287810" y="1499616"/>
            <a:chExt cx="2237563" cy="2386059"/>
          </a:xfrm>
        </p:grpSpPr>
        <p:pic>
          <p:nvPicPr>
            <p:cNvPr id="19" name="Picture 18" descr="HIVEMIND (HORIZON EUROPE Program) — Software Engineering and AI-Based  Systems Group — UPC. Universitat Politècnica de Catalunya">
              <a:extLst>
                <a:ext uri="{FF2B5EF4-FFF2-40B4-BE49-F238E27FC236}">
                  <a16:creationId xmlns:a16="http://schemas.microsoft.com/office/drawing/2014/main" id="{C7AED5D8-AF21-3FAB-D69F-C59B745763DC}"/>
                </a:ext>
              </a:extLst>
            </p:cNvPr>
            <p:cNvPicPr>
              <a:picLocks noChangeAspect="1"/>
            </p:cNvPicPr>
            <p:nvPr/>
          </p:nvPicPr>
          <p:blipFill>
            <a:blip r:embed="rId7"/>
            <a:stretch>
              <a:fillRect/>
            </a:stretch>
          </p:blipFill>
          <p:spPr>
            <a:xfrm>
              <a:off x="825684" y="1991133"/>
              <a:ext cx="1119594" cy="699746"/>
            </a:xfrm>
            <a:prstGeom prst="rect">
              <a:avLst/>
            </a:prstGeom>
          </p:spPr>
        </p:pic>
        <p:pic>
          <p:nvPicPr>
            <p:cNvPr id="23" name="Picture 22">
              <a:extLst>
                <a:ext uri="{FF2B5EF4-FFF2-40B4-BE49-F238E27FC236}">
                  <a16:creationId xmlns:a16="http://schemas.microsoft.com/office/drawing/2014/main" id="{11303585-27B9-E910-7A51-A9EDE16D51AE}"/>
                </a:ext>
              </a:extLst>
            </p:cNvPr>
            <p:cNvPicPr>
              <a:picLocks noChangeAspect="1"/>
            </p:cNvPicPr>
            <p:nvPr/>
          </p:nvPicPr>
          <p:blipFill>
            <a:blip r:embed="rId8"/>
            <a:stretch>
              <a:fillRect/>
            </a:stretch>
          </p:blipFill>
          <p:spPr>
            <a:xfrm>
              <a:off x="825684" y="2873994"/>
              <a:ext cx="1119594" cy="1011681"/>
            </a:xfrm>
            <a:prstGeom prst="rect">
              <a:avLst/>
            </a:prstGeom>
          </p:spPr>
        </p:pic>
        <p:pic>
          <p:nvPicPr>
            <p:cNvPr id="27" name="Picture 26" descr="TeamAware (@TeamAware_EU) / X">
              <a:extLst>
                <a:ext uri="{FF2B5EF4-FFF2-40B4-BE49-F238E27FC236}">
                  <a16:creationId xmlns:a16="http://schemas.microsoft.com/office/drawing/2014/main" id="{5809192E-1F68-D0EA-144B-44B4DDD45A19}"/>
                </a:ext>
              </a:extLst>
            </p:cNvPr>
            <p:cNvPicPr>
              <a:picLocks noChangeAspect="1"/>
            </p:cNvPicPr>
            <p:nvPr/>
          </p:nvPicPr>
          <p:blipFill>
            <a:blip r:embed="rId9"/>
            <a:srcRect t="40485" b="40315"/>
            <a:stretch>
              <a:fillRect/>
            </a:stretch>
          </p:blipFill>
          <p:spPr>
            <a:xfrm>
              <a:off x="287810" y="1499616"/>
              <a:ext cx="2237563" cy="429612"/>
            </a:xfrm>
            <a:prstGeom prst="rect">
              <a:avLst/>
            </a:prstGeom>
          </p:spPr>
        </p:pic>
      </p:grpSp>
      <p:sp>
        <p:nvSpPr>
          <p:cNvPr id="29" name="Text 1">
            <a:extLst>
              <a:ext uri="{FF2B5EF4-FFF2-40B4-BE49-F238E27FC236}">
                <a16:creationId xmlns:a16="http://schemas.microsoft.com/office/drawing/2014/main" id="{B4BAEC63-5BD5-6619-7C8A-77D95B109D55}"/>
              </a:ext>
            </a:extLst>
          </p:cNvPr>
          <p:cNvSpPr/>
          <p:nvPr/>
        </p:nvSpPr>
        <p:spPr>
          <a:xfrm>
            <a:off x="502920" y="512064"/>
            <a:ext cx="11247120" cy="731520"/>
          </a:xfrm>
          <a:prstGeom prst="rect">
            <a:avLst/>
          </a:prstGeom>
          <a:noFill/>
          <a:ln/>
        </p:spPr>
        <p:txBody>
          <a:bodyPr wrap="square" lIns="0" tIns="0" rIns="0" bIns="0" rtlCol="0" anchor="ctr"/>
          <a:lstStyle/>
          <a:p>
            <a:pPr marL="0" indent="0">
              <a:buNone/>
            </a:pPr>
            <a:r>
              <a:rPr lang="en-US" sz="2900" b="1">
                <a:solidFill>
                  <a:srgbClr val="000000"/>
                </a:solidFill>
                <a:latin typeface="Cambria" pitchFamily="34" charset="0"/>
                <a:ea typeface="Cambria" pitchFamily="34" charset="-122"/>
                <a:cs typeface="Cambria" pitchFamily="34" charset="-120"/>
              </a:rPr>
              <a:t>AI Enhanced Decision Support Systems, and Why Wildfire</a:t>
            </a:r>
            <a:endParaRPr lang="en-US" sz="2900" dirty="0"/>
          </a:p>
        </p:txBody>
      </p:sp>
      <p:pic>
        <p:nvPicPr>
          <p:cNvPr id="9001" name="Image 0" descr="/tmp/thx/deck/figs/Figure1_1.png">
            <a:extLst>
              <a:ext uri="{FF2B5EF4-FFF2-40B4-BE49-F238E27FC236}">
                <a16:creationId xmlns:a16="http://schemas.microsoft.com/office/drawing/2014/main" id="{96D70A4F-8403-81D7-F23C-D0F0E2335FCB}"/>
              </a:ext>
            </a:extLst>
          </p:cNvPr>
          <p:cNvPicPr>
            <a:picLocks noChangeAspect="1"/>
          </p:cNvPicPr>
          <p:nvPr/>
        </p:nvPicPr>
        <p:blipFill>
          <a:blip r:embed="rId10"/>
          <a:stretch>
            <a:fillRect/>
          </a:stretch>
        </p:blipFill>
        <p:spPr>
          <a:xfrm>
            <a:off x="6172200" y="1325880"/>
            <a:ext cx="5669280" cy="4005072"/>
          </a:xfrm>
          <a:prstGeom prst="rect">
            <a:avLst/>
          </a:prstGeom>
        </p:spPr>
      </p:pic>
      <p:sp>
        <p:nvSpPr>
          <p:cNvPr id="9002" name="Text 2">
            <a:extLst>
              <a:ext uri="{FF2B5EF4-FFF2-40B4-BE49-F238E27FC236}">
                <a16:creationId xmlns:a16="http://schemas.microsoft.com/office/drawing/2014/main" id="{0D80ED46-7532-D25F-E240-B53B49071F07}"/>
              </a:ext>
            </a:extLst>
          </p:cNvPr>
          <p:cNvSpPr/>
          <p:nvPr/>
        </p:nvSpPr>
        <p:spPr>
          <a:xfrm>
            <a:off x="6172200" y="5394960"/>
            <a:ext cx="5669280" cy="365760"/>
          </a:xfrm>
          <a:prstGeom prst="rect">
            <a:avLst/>
          </a:prstGeom>
          <a:noFill/>
          <a:ln/>
        </p:spPr>
        <p:txBody>
          <a:bodyPr wrap="square" lIns="0" tIns="0" rIns="0" bIns="0" rtlCol="0" anchor="ctr"/>
          <a:lstStyle/>
          <a:p>
            <a:pPr marL="0" indent="0" algn="ctr">
              <a:buNone/>
            </a:pPr>
            <a:r>
              <a:rPr lang="en-US" sz="1400" i="1">
                <a:solidFill>
                  <a:srgbClr val="6E6E6E"/>
                </a:solidFill>
                <a:latin typeface="Calibri" pitchFamily="34" charset="0"/>
                <a:ea typeface="Calibri" pitchFamily="34" charset="-122"/>
                <a:cs typeface="Calibri" pitchFamily="34" charset="-120"/>
              </a:rPr>
              <a:t>Reported disasters 1970–2024: weather &amp; climate events dominate the rise</a:t>
            </a:r>
            <a:endParaRPr lang="en-US" sz="1400" dirty="0"/>
          </a:p>
        </p:txBody>
      </p:sp>
      <p:sp>
        <p:nvSpPr>
          <p:cNvPr id="9003" name="Text 2">
            <a:extLst>
              <a:ext uri="{FF2B5EF4-FFF2-40B4-BE49-F238E27FC236}">
                <a16:creationId xmlns:a16="http://schemas.microsoft.com/office/drawing/2014/main" id="{0D80ED46-7532-D25F-E240-B53B49071F07}"/>
              </a:ext>
            </a:extLst>
          </p:cNvPr>
          <p:cNvSpPr/>
          <p:nvPr/>
        </p:nvSpPr>
        <p:spPr>
          <a:xfrm>
            <a:off x="320040" y="5394960"/>
            <a:ext cx="5486400" cy="365760"/>
          </a:xfrm>
          <a:prstGeom prst="rect">
            <a:avLst/>
          </a:prstGeom>
          <a:noFill/>
          <a:ln/>
        </p:spPr>
        <p:txBody>
          <a:bodyPr wrap="square" lIns="0" tIns="0" rIns="0" bIns="0" rtlCol="0" anchor="ctr"/>
          <a:lstStyle/>
          <a:p>
            <a:pPr marL="0" indent="0" algn="ctr">
              <a:buNone/>
            </a:pPr>
            <a:r>
              <a:rPr lang="en-US" sz="1300" i="1">
                <a:solidFill>
                  <a:srgbClr val="6E6E6E"/>
                </a:solidFill>
                <a:latin typeface="Calibri" pitchFamily="34" charset="0"/>
                <a:ea typeface="Calibri" pitchFamily="34" charset="-122"/>
                <a:cs typeface="Calibri" pitchFamily="34" charset="-120"/>
              </a:rPr>
              <a:t>EU projects: TeamAware, HIVEMIND, maritime surveillance</a:t>
            </a:r>
            <a:endParaRPr lang="en-US" sz="1300" dirty="0"/>
          </a:p>
        </p:txBody>
      </p:sp>
    </p:spTree>
    <p:extLst>
      <p:ext uri="{BB962C8B-B14F-4D97-AF65-F5344CB8AC3E}">
        <p14:creationId xmlns:p14="http://schemas.microsoft.com/office/powerpoint/2010/main" val="19406021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39D08-8015-3845-AF8A-2FE09C7FA77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84802D8-58DA-0430-0CD6-2626567F49B4}"/>
              </a:ext>
            </a:extLst>
          </p:cNvPr>
          <p:cNvSpPr/>
          <p:nvPr/>
        </p:nvSpPr>
        <p:spPr>
          <a:xfrm>
            <a:off x="502920" y="256032"/>
            <a:ext cx="91440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MOTIVATION</a:t>
            </a:r>
            <a:endParaRPr lang="en-US" sz="1300" dirty="0"/>
          </a:p>
        </p:txBody>
      </p:sp>
      <p:sp>
        <p:nvSpPr>
          <p:cNvPr id="3" name="Text 1">
            <a:extLst>
              <a:ext uri="{FF2B5EF4-FFF2-40B4-BE49-F238E27FC236}">
                <a16:creationId xmlns:a16="http://schemas.microsoft.com/office/drawing/2014/main" id="{C0E4255D-2A9A-F5AB-B81E-7ED4CD2BFF4B}"/>
              </a:ext>
            </a:extLst>
          </p:cNvPr>
          <p:cNvSpPr/>
          <p:nvPr/>
        </p:nvSpPr>
        <p:spPr>
          <a:xfrm>
            <a:off x="502920" y="512064"/>
            <a:ext cx="11247120" cy="731520"/>
          </a:xfrm>
          <a:prstGeom prst="rect">
            <a:avLst/>
          </a:prstGeom>
          <a:noFill/>
          <a:ln/>
        </p:spPr>
        <p:txBody>
          <a:bodyPr wrap="square" lIns="0" tIns="0" rIns="0" bIns="0" rtlCol="0" anchor="ctr"/>
          <a:lstStyle/>
          <a:p>
            <a:pPr marL="0" indent="0">
              <a:buNone/>
            </a:pPr>
            <a:r>
              <a:rPr lang="en-US" sz="2900" b="1" dirty="0">
                <a:solidFill>
                  <a:srgbClr val="000000"/>
                </a:solidFill>
                <a:latin typeface="Cambria" pitchFamily="34" charset="0"/>
                <a:ea typeface="Cambria" pitchFamily="34" charset="-122"/>
                <a:cs typeface="Cambria" pitchFamily="34" charset="-120"/>
              </a:rPr>
              <a:t>Wildfire Decisions Outpace the Tools That Support Them</a:t>
            </a:r>
            <a:endParaRPr lang="en-US" sz="2900" dirty="0"/>
          </a:p>
        </p:txBody>
      </p:sp>
      <p:pic>
        <p:nvPicPr>
          <p:cNvPr id="9" name="Image 1" descr="/tmp/thx/deck/figs/metu_emblem.png">
            <a:extLst>
              <a:ext uri="{FF2B5EF4-FFF2-40B4-BE49-F238E27FC236}">
                <a16:creationId xmlns:a16="http://schemas.microsoft.com/office/drawing/2014/main" id="{44D0717B-81DA-437B-2F57-17990FAA2EB5}"/>
              </a:ext>
            </a:extLst>
          </p:cNvPr>
          <p:cNvPicPr>
            <a:picLocks noChangeAspect="1"/>
          </p:cNvPicPr>
          <p:nvPr/>
        </p:nvPicPr>
        <p:blipFill>
          <a:blip r:embed="rId3"/>
          <a:stretch>
            <a:fillRect/>
          </a:stretch>
        </p:blipFill>
        <p:spPr>
          <a:xfrm>
            <a:off x="10716768" y="184607"/>
            <a:ext cx="475488" cy="398882"/>
          </a:xfrm>
          <a:prstGeom prst="rect">
            <a:avLst/>
          </a:prstGeom>
        </p:spPr>
      </p:pic>
      <p:pic>
        <p:nvPicPr>
          <p:cNvPr id="10" name="Image 2" descr="/tmp/thx/deck/figs/eee_logo.png">
            <a:extLst>
              <a:ext uri="{FF2B5EF4-FFF2-40B4-BE49-F238E27FC236}">
                <a16:creationId xmlns:a16="http://schemas.microsoft.com/office/drawing/2014/main" id="{B2D99549-A460-A04E-0D0C-2D5C6E381783}"/>
              </a:ext>
            </a:extLst>
          </p:cNvPr>
          <p:cNvPicPr>
            <a:picLocks noChangeAspect="1"/>
          </p:cNvPicPr>
          <p:nvPr/>
        </p:nvPicPr>
        <p:blipFill>
          <a:blip r:embed="rId4"/>
          <a:stretch>
            <a:fillRect/>
          </a:stretch>
        </p:blipFill>
        <p:spPr>
          <a:xfrm>
            <a:off x="11265408" y="186217"/>
            <a:ext cx="475488" cy="395662"/>
          </a:xfrm>
          <a:prstGeom prst="rect">
            <a:avLst/>
          </a:prstGeom>
        </p:spPr>
      </p:pic>
      <p:pic>
        <p:nvPicPr>
          <p:cNvPr id="11" name="Image 0" descr="/tmp/thx/deck/figs/Figure1_1.png">
            <a:extLst>
              <a:ext uri="{FF2B5EF4-FFF2-40B4-BE49-F238E27FC236}">
                <a16:creationId xmlns:a16="http://schemas.microsoft.com/office/drawing/2014/main" id="{54FF5DC6-724B-9BED-7D95-2338937C60D6}"/>
              </a:ext>
            </a:extLst>
          </p:cNvPr>
          <p:cNvPicPr>
            <a:picLocks noChangeAspect="1"/>
          </p:cNvPicPr>
          <p:nvPr/>
        </p:nvPicPr>
        <p:blipFill>
          <a:blip r:embed="rId5"/>
          <a:stretch>
            <a:fillRect/>
          </a:stretch>
        </p:blipFill>
        <p:spPr>
          <a:xfrm>
            <a:off x="344565" y="1056673"/>
            <a:ext cx="2240280" cy="1581242"/>
          </a:xfrm>
          <a:prstGeom prst="rect">
            <a:avLst/>
          </a:prstGeom>
        </p:spPr>
      </p:pic>
      <p:pic>
        <p:nvPicPr>
          <p:cNvPr id="12" name="Picture 11">
            <a:extLst>
              <a:ext uri="{FF2B5EF4-FFF2-40B4-BE49-F238E27FC236}">
                <a16:creationId xmlns:a16="http://schemas.microsoft.com/office/drawing/2014/main" id="{7070E6D1-3105-AF1A-7ED3-D56AB1B1D406}"/>
              </a:ext>
            </a:extLst>
          </p:cNvPr>
          <p:cNvPicPr>
            <a:picLocks noChangeAspect="1"/>
          </p:cNvPicPr>
          <p:nvPr/>
        </p:nvPicPr>
        <p:blipFill>
          <a:blip r:embed="rId6"/>
          <a:stretch>
            <a:fillRect/>
          </a:stretch>
        </p:blipFill>
        <p:spPr>
          <a:xfrm>
            <a:off x="3047999" y="1185007"/>
            <a:ext cx="9144001" cy="5321995"/>
          </a:xfrm>
          <a:prstGeom prst="rect">
            <a:avLst/>
          </a:prstGeom>
        </p:spPr>
      </p:pic>
      <p:cxnSp>
        <p:nvCxnSpPr>
          <p:cNvPr id="13" name="Straight Connector 12">
            <a:extLst>
              <a:ext uri="{FF2B5EF4-FFF2-40B4-BE49-F238E27FC236}">
                <a16:creationId xmlns:a16="http://schemas.microsoft.com/office/drawing/2014/main" id="{424D9BC5-C0CD-A71C-2BD0-53CEC44B6A92}"/>
              </a:ext>
            </a:extLst>
          </p:cNvPr>
          <p:cNvCxnSpPr/>
          <p:nvPr/>
        </p:nvCxnSpPr>
        <p:spPr>
          <a:xfrm>
            <a:off x="2876550" y="1056673"/>
            <a:ext cx="0" cy="5391752"/>
          </a:xfrm>
          <a:prstGeom prst="line">
            <a:avLst/>
          </a:prstGeom>
          <a:ln w="28575"/>
          <a:effectLst>
            <a:glow rad="63500">
              <a:schemeClr val="accent3">
                <a:satMod val="175000"/>
                <a:alpha val="40000"/>
              </a:schemeClr>
            </a:glow>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94294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CF681-F7A9-E402-32E1-19250BC8897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84EE99D-162F-ABE5-5EC8-E96E2D448999}"/>
              </a:ext>
            </a:extLst>
          </p:cNvPr>
          <p:cNvSpPr/>
          <p:nvPr/>
        </p:nvSpPr>
        <p:spPr>
          <a:xfrm>
            <a:off x="502920" y="256032"/>
            <a:ext cx="91440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MOTIVATION</a:t>
            </a:r>
            <a:endParaRPr lang="en-US" sz="1300" dirty="0"/>
          </a:p>
        </p:txBody>
      </p:sp>
      <p:sp>
        <p:nvSpPr>
          <p:cNvPr id="3" name="Text 1">
            <a:extLst>
              <a:ext uri="{FF2B5EF4-FFF2-40B4-BE49-F238E27FC236}">
                <a16:creationId xmlns:a16="http://schemas.microsoft.com/office/drawing/2014/main" id="{46F2E41C-E6C5-C3A6-EA22-B2A39ECAD070}"/>
              </a:ext>
            </a:extLst>
          </p:cNvPr>
          <p:cNvSpPr/>
          <p:nvPr/>
        </p:nvSpPr>
        <p:spPr>
          <a:xfrm>
            <a:off x="502920" y="512064"/>
            <a:ext cx="11247120" cy="731520"/>
          </a:xfrm>
          <a:prstGeom prst="rect">
            <a:avLst/>
          </a:prstGeom>
          <a:noFill/>
          <a:ln/>
        </p:spPr>
        <p:txBody>
          <a:bodyPr wrap="square" lIns="0" tIns="0" rIns="0" bIns="0" rtlCol="0" anchor="ctr"/>
          <a:lstStyle/>
          <a:p>
            <a:pPr marL="0" indent="0">
              <a:buNone/>
            </a:pPr>
            <a:r>
              <a:rPr lang="en-US" sz="2900" b="1" dirty="0">
                <a:solidFill>
                  <a:srgbClr val="000000"/>
                </a:solidFill>
                <a:latin typeface="Cambria" pitchFamily="34" charset="0"/>
                <a:ea typeface="Cambria" pitchFamily="34" charset="-122"/>
                <a:cs typeface="Cambria" pitchFamily="34" charset="-120"/>
              </a:rPr>
              <a:t>Wildfire Decisions Outpace the Tools That Support Them</a:t>
            </a:r>
            <a:endParaRPr lang="en-US" sz="2900" dirty="0"/>
          </a:p>
        </p:txBody>
      </p:sp>
      <p:pic>
        <p:nvPicPr>
          <p:cNvPr id="4" name="Image 0" descr="/tmp/thx/deck/figs/Figure1_1.png">
            <a:extLst>
              <a:ext uri="{FF2B5EF4-FFF2-40B4-BE49-F238E27FC236}">
                <a16:creationId xmlns:a16="http://schemas.microsoft.com/office/drawing/2014/main" id="{1C77F895-47D3-1525-4104-014E0C5FE2CA}"/>
              </a:ext>
            </a:extLst>
          </p:cNvPr>
          <p:cNvPicPr>
            <a:picLocks noChangeAspect="1"/>
          </p:cNvPicPr>
          <p:nvPr/>
        </p:nvPicPr>
        <p:blipFill>
          <a:blip r:embed="rId3"/>
          <a:stretch>
            <a:fillRect/>
          </a:stretch>
        </p:blipFill>
        <p:spPr>
          <a:xfrm>
            <a:off x="266842" y="1056673"/>
            <a:ext cx="2240280" cy="1581242"/>
          </a:xfrm>
          <a:prstGeom prst="rect">
            <a:avLst/>
          </a:prstGeom>
        </p:spPr>
      </p:pic>
      <p:pic>
        <p:nvPicPr>
          <p:cNvPr id="9" name="Image 1" descr="/tmp/thx/deck/figs/metu_emblem.png">
            <a:extLst>
              <a:ext uri="{FF2B5EF4-FFF2-40B4-BE49-F238E27FC236}">
                <a16:creationId xmlns:a16="http://schemas.microsoft.com/office/drawing/2014/main" id="{FBDBD71C-BB25-927E-372A-6F98F05A395A}"/>
              </a:ext>
            </a:extLst>
          </p:cNvPr>
          <p:cNvPicPr>
            <a:picLocks noChangeAspect="1"/>
          </p:cNvPicPr>
          <p:nvPr/>
        </p:nvPicPr>
        <p:blipFill>
          <a:blip r:embed="rId4"/>
          <a:stretch>
            <a:fillRect/>
          </a:stretch>
        </p:blipFill>
        <p:spPr>
          <a:xfrm>
            <a:off x="10716768" y="184607"/>
            <a:ext cx="475488" cy="398882"/>
          </a:xfrm>
          <a:prstGeom prst="rect">
            <a:avLst/>
          </a:prstGeom>
        </p:spPr>
      </p:pic>
      <p:pic>
        <p:nvPicPr>
          <p:cNvPr id="10" name="Image 2" descr="/tmp/thx/deck/figs/eee_logo.png">
            <a:extLst>
              <a:ext uri="{FF2B5EF4-FFF2-40B4-BE49-F238E27FC236}">
                <a16:creationId xmlns:a16="http://schemas.microsoft.com/office/drawing/2014/main" id="{DE16E0B9-B0D4-CC21-B253-99EBAEDC9A60}"/>
              </a:ext>
            </a:extLst>
          </p:cNvPr>
          <p:cNvPicPr>
            <a:picLocks noChangeAspect="1"/>
          </p:cNvPicPr>
          <p:nvPr/>
        </p:nvPicPr>
        <p:blipFill>
          <a:blip r:embed="rId5"/>
          <a:stretch>
            <a:fillRect/>
          </a:stretch>
        </p:blipFill>
        <p:spPr>
          <a:xfrm>
            <a:off x="11265408" y="186217"/>
            <a:ext cx="475488" cy="395662"/>
          </a:xfrm>
          <a:prstGeom prst="rect">
            <a:avLst/>
          </a:prstGeom>
        </p:spPr>
      </p:pic>
      <p:pic>
        <p:nvPicPr>
          <p:cNvPr id="11" name="Picture 10">
            <a:extLst>
              <a:ext uri="{FF2B5EF4-FFF2-40B4-BE49-F238E27FC236}">
                <a16:creationId xmlns:a16="http://schemas.microsoft.com/office/drawing/2014/main" id="{51D4EF33-1AAE-90AD-739F-182A8EABE085}"/>
              </a:ext>
            </a:extLst>
          </p:cNvPr>
          <p:cNvPicPr>
            <a:picLocks noChangeAspect="1"/>
          </p:cNvPicPr>
          <p:nvPr/>
        </p:nvPicPr>
        <p:blipFill>
          <a:blip r:embed="rId6"/>
          <a:stretch>
            <a:fillRect/>
          </a:stretch>
        </p:blipFill>
        <p:spPr>
          <a:xfrm>
            <a:off x="4084754" y="1243584"/>
            <a:ext cx="6854505" cy="5069807"/>
          </a:xfrm>
          <a:prstGeom prst="rect">
            <a:avLst/>
          </a:prstGeom>
        </p:spPr>
      </p:pic>
      <p:pic>
        <p:nvPicPr>
          <p:cNvPr id="13" name="Picture 12">
            <a:extLst>
              <a:ext uri="{FF2B5EF4-FFF2-40B4-BE49-F238E27FC236}">
                <a16:creationId xmlns:a16="http://schemas.microsoft.com/office/drawing/2014/main" id="{F124A01D-B06F-759A-2A94-9274A8F97164}"/>
              </a:ext>
            </a:extLst>
          </p:cNvPr>
          <p:cNvPicPr>
            <a:picLocks noChangeAspect="1"/>
          </p:cNvPicPr>
          <p:nvPr/>
        </p:nvPicPr>
        <p:blipFill>
          <a:blip r:embed="rId7"/>
          <a:stretch>
            <a:fillRect/>
          </a:stretch>
        </p:blipFill>
        <p:spPr>
          <a:xfrm>
            <a:off x="0" y="2637915"/>
            <a:ext cx="2773964" cy="1614504"/>
          </a:xfrm>
          <a:prstGeom prst="rect">
            <a:avLst/>
          </a:prstGeom>
        </p:spPr>
      </p:pic>
      <p:sp>
        <p:nvSpPr>
          <p:cNvPr id="14" name="TextBox 13">
            <a:extLst>
              <a:ext uri="{FF2B5EF4-FFF2-40B4-BE49-F238E27FC236}">
                <a16:creationId xmlns:a16="http://schemas.microsoft.com/office/drawing/2014/main" id="{3BED4C27-2D2A-E691-677F-7AC34D393538}"/>
              </a:ext>
            </a:extLst>
          </p:cNvPr>
          <p:cNvSpPr txBox="1"/>
          <p:nvPr/>
        </p:nvSpPr>
        <p:spPr>
          <a:xfrm>
            <a:off x="5497033" y="6345936"/>
            <a:ext cx="4501938" cy="369332"/>
          </a:xfrm>
          <a:prstGeom prst="rect">
            <a:avLst/>
          </a:prstGeom>
          <a:noFill/>
        </p:spPr>
        <p:txBody>
          <a:bodyPr wrap="none" rtlCol="0">
            <a:spAutoFit/>
          </a:bodyPr>
          <a:lstStyle/>
          <a:p>
            <a:r>
              <a:rPr lang="en-US" sz="2200" b="1">
                <a:solidFill>
                  <a:srgbClr val="C00000"/>
                </a:solidFill>
              </a:rPr>
              <a:t>A fixed menu cannot answer an evolving fire!</a:t>
            </a:r>
            <a:endParaRPr lang="tr-TR" sz="2200" b="1" dirty="0">
              <a:solidFill>
                <a:srgbClr val="C00000"/>
              </a:solidFill>
            </a:endParaRPr>
          </a:p>
        </p:txBody>
      </p:sp>
      <p:cxnSp>
        <p:nvCxnSpPr>
          <p:cNvPr id="15" name="Straight Connector 14">
            <a:extLst>
              <a:ext uri="{FF2B5EF4-FFF2-40B4-BE49-F238E27FC236}">
                <a16:creationId xmlns:a16="http://schemas.microsoft.com/office/drawing/2014/main" id="{DAC30EC4-CA53-5347-6992-9727FAE78BF4}"/>
              </a:ext>
            </a:extLst>
          </p:cNvPr>
          <p:cNvCxnSpPr/>
          <p:nvPr/>
        </p:nvCxnSpPr>
        <p:spPr>
          <a:xfrm>
            <a:off x="2876550" y="1056673"/>
            <a:ext cx="0" cy="5391752"/>
          </a:xfrm>
          <a:prstGeom prst="line">
            <a:avLst/>
          </a:prstGeom>
          <a:ln w="28575"/>
          <a:effectLst>
            <a:glow rad="63500">
              <a:schemeClr val="accent3">
                <a:satMod val="175000"/>
                <a:alpha val="40000"/>
              </a:schemeClr>
            </a:glow>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79052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256032"/>
            <a:ext cx="91440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PROBLEM → CLAIMS → ANSWERS</a:t>
            </a:r>
            <a:endParaRPr lang="en-US" sz="1300" dirty="0"/>
          </a:p>
        </p:txBody>
      </p:sp>
      <p:sp>
        <p:nvSpPr>
          <p:cNvPr id="3" name="Text 1"/>
          <p:cNvSpPr/>
          <p:nvPr/>
        </p:nvSpPr>
        <p:spPr>
          <a:xfrm>
            <a:off x="502920" y="512064"/>
            <a:ext cx="11247120" cy="731520"/>
          </a:xfrm>
          <a:prstGeom prst="rect">
            <a:avLst/>
          </a:prstGeom>
          <a:noFill/>
          <a:ln/>
        </p:spPr>
        <p:txBody>
          <a:bodyPr wrap="square" lIns="0" tIns="0" rIns="0" bIns="0" rtlCol="0" anchor="ctr"/>
          <a:lstStyle/>
          <a:p>
            <a:pPr marL="0" indent="0">
              <a:buNone/>
            </a:pPr>
            <a:r>
              <a:rPr lang="en-US" sz="2800" b="1" dirty="0">
                <a:solidFill>
                  <a:srgbClr val="000000"/>
                </a:solidFill>
                <a:latin typeface="Cambria" pitchFamily="34" charset="0"/>
                <a:ea typeface="Cambria" pitchFamily="34" charset="-122"/>
                <a:cs typeface="Cambria" pitchFamily="34" charset="-120"/>
              </a:rPr>
              <a:t>Three Gaps, Three Hypotheses, Three Contributions</a:t>
            </a:r>
            <a:endParaRPr lang="en-US" sz="2800" dirty="0"/>
          </a:p>
        </p:txBody>
      </p:sp>
      <p:sp>
        <p:nvSpPr>
          <p:cNvPr id="4" name="Shape 2"/>
          <p:cNvSpPr/>
          <p:nvPr/>
        </p:nvSpPr>
        <p:spPr>
          <a:xfrm>
            <a:off x="502920" y="1371600"/>
            <a:ext cx="11201400" cy="777240"/>
          </a:xfrm>
          <a:prstGeom prst="roundRect">
            <a:avLst>
              <a:gd name="adj" fmla="val 7059"/>
            </a:avLst>
          </a:prstGeom>
          <a:solidFill>
            <a:srgbClr val="FDE8EB"/>
          </a:solidFill>
          <a:ln/>
        </p:spPr>
        <p:txBody>
          <a:bodyPr/>
          <a:lstStyle/>
          <a:p>
            <a:endParaRPr lang="tr-TR"/>
          </a:p>
        </p:txBody>
      </p:sp>
      <p:sp>
        <p:nvSpPr>
          <p:cNvPr id="5" name="Text 3"/>
          <p:cNvSpPr/>
          <p:nvPr/>
        </p:nvSpPr>
        <p:spPr>
          <a:xfrm>
            <a:off x="731520" y="1426464"/>
            <a:ext cx="10789920" cy="685800"/>
          </a:xfrm>
          <a:prstGeom prst="rect">
            <a:avLst/>
          </a:prstGeom>
          <a:noFill/>
          <a:ln/>
        </p:spPr>
        <p:txBody>
          <a:bodyPr wrap="square" lIns="0" tIns="0" rIns="0" bIns="0" rtlCol="0" anchor="ctr"/>
          <a:lstStyle/>
          <a:p>
            <a:pPr marL="0" indent="0">
              <a:buNone/>
            </a:pPr>
            <a:r>
              <a:rPr lang="en-US" sz="1600" b="1" dirty="0">
                <a:solidFill>
                  <a:srgbClr val="E31836"/>
                </a:solidFill>
                <a:latin typeface="Calibri" pitchFamily="34" charset="0"/>
                <a:ea typeface="Calibri" pitchFamily="34" charset="-122"/>
                <a:cs typeface="Calibri" pitchFamily="34" charset="-120"/>
              </a:rPr>
              <a:t>Research Question: can one distributed, concept-driven fuzzy DSS — rules evolving adaptively and generatively under satisficing verification — close all three gaps?</a:t>
            </a:r>
            <a:endParaRPr lang="en-US" sz="1600" dirty="0"/>
          </a:p>
        </p:txBody>
      </p:sp>
      <p:pic>
        <p:nvPicPr>
          <p:cNvPr id="28"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29"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p:sp>
        <p:nvSpPr>
          <p:cNvPr id="31" name="Text 4">
            <a:extLst>
              <a:ext uri="{FF2B5EF4-FFF2-40B4-BE49-F238E27FC236}">
                <a16:creationId xmlns:a16="http://schemas.microsoft.com/office/drawing/2014/main" id="{2D0A9EF6-9BDB-A1DD-AF38-F40F78750867}"/>
              </a:ext>
            </a:extLst>
          </p:cNvPr>
          <p:cNvSpPr/>
          <p:nvPr/>
        </p:nvSpPr>
        <p:spPr>
          <a:xfrm>
            <a:off x="502920" y="2292926"/>
            <a:ext cx="3675888" cy="2743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kern="0" spc="200" dirty="0">
                <a:solidFill>
                  <a:srgbClr val="E31836"/>
                </a:solidFill>
                <a:latin typeface="Calibri" pitchFamily="34" charset="0"/>
                <a:ea typeface="Calibri" pitchFamily="34" charset="-122"/>
                <a:cs typeface="Calibri" pitchFamily="34" charset="-120"/>
              </a:rPr>
              <a:t>GAP / PROBLEM</a:t>
            </a:r>
            <a:endParaRPr lang="en-US" sz="1300" dirty="0"/>
          </a:p>
        </p:txBody>
      </p:sp>
      <p:sp>
        <p:nvSpPr>
          <p:cNvPr id="32" name="Text 5">
            <a:extLst>
              <a:ext uri="{FF2B5EF4-FFF2-40B4-BE49-F238E27FC236}">
                <a16:creationId xmlns:a16="http://schemas.microsoft.com/office/drawing/2014/main" id="{D3A57F30-E515-FA86-A018-BE8339ACE3D8}"/>
              </a:ext>
            </a:extLst>
          </p:cNvPr>
          <p:cNvSpPr/>
          <p:nvPr/>
        </p:nvSpPr>
        <p:spPr>
          <a:xfrm>
            <a:off x="4315968" y="2292926"/>
            <a:ext cx="3675888" cy="2743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kern="0" spc="200" dirty="0">
                <a:solidFill>
                  <a:srgbClr val="E31836"/>
                </a:solidFill>
                <a:latin typeface="Calibri" pitchFamily="34" charset="0"/>
                <a:ea typeface="Calibri" pitchFamily="34" charset="-122"/>
                <a:cs typeface="Calibri" pitchFamily="34" charset="-120"/>
              </a:rPr>
              <a:t>HYPOTHESIS</a:t>
            </a:r>
            <a:endParaRPr lang="en-US" sz="1300" dirty="0"/>
          </a:p>
        </p:txBody>
      </p:sp>
      <p:sp>
        <p:nvSpPr>
          <p:cNvPr id="33" name="Text 6">
            <a:extLst>
              <a:ext uri="{FF2B5EF4-FFF2-40B4-BE49-F238E27FC236}">
                <a16:creationId xmlns:a16="http://schemas.microsoft.com/office/drawing/2014/main" id="{449A3E0D-C5D5-1728-EC26-BBE6F27BBFDD}"/>
              </a:ext>
            </a:extLst>
          </p:cNvPr>
          <p:cNvSpPr/>
          <p:nvPr/>
        </p:nvSpPr>
        <p:spPr>
          <a:xfrm>
            <a:off x="8129016" y="2292926"/>
            <a:ext cx="3675888" cy="2743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kern="0" spc="200" dirty="0">
                <a:solidFill>
                  <a:srgbClr val="E31836"/>
                </a:solidFill>
                <a:latin typeface="Calibri" pitchFamily="34" charset="0"/>
                <a:ea typeface="Calibri" pitchFamily="34" charset="-122"/>
                <a:cs typeface="Calibri" pitchFamily="34" charset="-120"/>
              </a:rPr>
              <a:t>CONTRIBUTION</a:t>
            </a:r>
            <a:endParaRPr lang="en-US" sz="1300" dirty="0"/>
          </a:p>
        </p:txBody>
      </p:sp>
      <p:sp>
        <p:nvSpPr>
          <p:cNvPr id="34" name="Shape 7">
            <a:extLst>
              <a:ext uri="{FF2B5EF4-FFF2-40B4-BE49-F238E27FC236}">
                <a16:creationId xmlns:a16="http://schemas.microsoft.com/office/drawing/2014/main" id="{07D351E5-4DA1-BB70-2BFB-C9EE9886C0AC}"/>
              </a:ext>
            </a:extLst>
          </p:cNvPr>
          <p:cNvSpPr/>
          <p:nvPr/>
        </p:nvSpPr>
        <p:spPr>
          <a:xfrm>
            <a:off x="502920" y="2612966"/>
            <a:ext cx="3675888" cy="1207008"/>
          </a:xfrm>
          <a:prstGeom prst="roundRect">
            <a:avLst>
              <a:gd name="adj" fmla="val 4545"/>
            </a:avLst>
          </a:prstGeom>
          <a:solidFill>
            <a:srgbClr val="F2F2F2"/>
          </a:solidFill>
          <a:ln/>
        </p:spPr>
        <p:txBody>
          <a:bodyPr/>
          <a:lstStyle/>
          <a:p>
            <a:endParaRPr lang="tr-TR"/>
          </a:p>
        </p:txBody>
      </p:sp>
      <p:sp>
        <p:nvSpPr>
          <p:cNvPr id="35" name="Text 8">
            <a:extLst>
              <a:ext uri="{FF2B5EF4-FFF2-40B4-BE49-F238E27FC236}">
                <a16:creationId xmlns:a16="http://schemas.microsoft.com/office/drawing/2014/main" id="{39A99677-B6B6-1988-062F-E60C2C90D27D}"/>
              </a:ext>
            </a:extLst>
          </p:cNvPr>
          <p:cNvSpPr/>
          <p:nvPr/>
        </p:nvSpPr>
        <p:spPr>
          <a:xfrm>
            <a:off x="630936" y="2667830"/>
            <a:ext cx="3419856" cy="109728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98000"/>
              </a:lnSpc>
              <a:buNone/>
            </a:pPr>
            <a:r>
              <a:rPr lang="en-US" sz="1500" b="1">
                <a:solidFill>
                  <a:srgbClr val="000000"/>
                </a:solidFill>
                <a:latin typeface="Calibri" pitchFamily="34" charset="0"/>
                <a:ea typeface="Calibri" pitchFamily="34" charset="-122"/>
                <a:cs typeface="Calibri" pitchFamily="34" charset="-120"/>
              </a:rPr>
              <a:t>G1 : Closed decision spaces</a:t>
            </a:r>
            <a:endParaRPr lang="en-US" sz="1500" dirty="0"/>
          </a:p>
          <a:p>
            <a:pPr marL="285750" indent="-285750">
              <a:lnSpc>
                <a:spcPct val="98000"/>
              </a:lnSpc>
              <a:spcBef>
                <a:spcPts val="400"/>
              </a:spcBef>
              <a:buFont typeface="Wingdings" panose="05000000000000000000" pitchFamily="2" charset="2"/>
              <a:buChar char="ü"/>
            </a:pPr>
            <a:r>
              <a:rPr lang="en-US" sz="1350">
                <a:solidFill>
                  <a:srgbClr val="222222"/>
                </a:solidFill>
                <a:latin typeface="Calibri" pitchFamily="34" charset="0"/>
                <a:ea typeface="Calibri" pitchFamily="34" charset="-122"/>
                <a:cs typeface="Calibri" pitchFamily="34" charset="-120"/>
              </a:rPr>
              <a:t>fixed menu of alternatives</a:t>
            </a:r>
          </a:p>
          <a:p>
            <a:pPr marL="285750" indent="-285750">
              <a:lnSpc>
                <a:spcPct val="98000"/>
              </a:lnSpc>
              <a:spcBef>
                <a:spcPts val="400"/>
              </a:spcBef>
              <a:buFont typeface="Wingdings" panose="05000000000000000000" pitchFamily="2" charset="2"/>
              <a:buChar char="ü"/>
            </a:pPr>
            <a:r>
              <a:rPr lang="en-US" sz="1350">
                <a:solidFill>
                  <a:srgbClr val="222222"/>
                </a:solidFill>
                <a:latin typeface="Calibri" pitchFamily="34" charset="0"/>
                <a:ea typeface="Calibri" pitchFamily="34" charset="-122"/>
                <a:cs typeface="Calibri" pitchFamily="34" charset="-120"/>
              </a:rPr>
              <a:t>no new action mid-incident</a:t>
            </a:r>
          </a:p>
        </p:txBody>
      </p:sp>
      <p:sp>
        <p:nvSpPr>
          <p:cNvPr id="36" name="Shape 9">
            <a:extLst>
              <a:ext uri="{FF2B5EF4-FFF2-40B4-BE49-F238E27FC236}">
                <a16:creationId xmlns:a16="http://schemas.microsoft.com/office/drawing/2014/main" id="{EE5DFA3B-870F-00E6-9ED6-E313FD9B01AD}"/>
              </a:ext>
            </a:extLst>
          </p:cNvPr>
          <p:cNvSpPr/>
          <p:nvPr/>
        </p:nvSpPr>
        <p:spPr>
          <a:xfrm>
            <a:off x="4315968" y="2612966"/>
            <a:ext cx="3675888" cy="1207008"/>
          </a:xfrm>
          <a:prstGeom prst="roundRect">
            <a:avLst>
              <a:gd name="adj" fmla="val 4545"/>
            </a:avLst>
          </a:prstGeom>
          <a:solidFill>
            <a:srgbClr val="F2F2F2"/>
          </a:solidFill>
          <a:ln/>
        </p:spPr>
        <p:txBody>
          <a:bodyPr/>
          <a:lstStyle/>
          <a:p>
            <a:endParaRPr lang="tr-TR"/>
          </a:p>
        </p:txBody>
      </p:sp>
      <p:sp>
        <p:nvSpPr>
          <p:cNvPr id="37" name="Text 10">
            <a:extLst>
              <a:ext uri="{FF2B5EF4-FFF2-40B4-BE49-F238E27FC236}">
                <a16:creationId xmlns:a16="http://schemas.microsoft.com/office/drawing/2014/main" id="{0EA67489-E4C2-A8AF-78BB-D72CE89C3EAA}"/>
              </a:ext>
            </a:extLst>
          </p:cNvPr>
          <p:cNvSpPr/>
          <p:nvPr/>
        </p:nvSpPr>
        <p:spPr>
          <a:xfrm>
            <a:off x="4443984" y="2667830"/>
            <a:ext cx="3419856" cy="109728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98000"/>
              </a:lnSpc>
              <a:buNone/>
            </a:pPr>
            <a:r>
              <a:rPr lang="en-US" sz="1500" b="1">
                <a:solidFill>
                  <a:srgbClr val="000000"/>
                </a:solidFill>
                <a:latin typeface="Calibri" pitchFamily="34" charset="0"/>
                <a:ea typeface="Calibri" pitchFamily="34" charset="-122"/>
                <a:cs typeface="Calibri" pitchFamily="34" charset="-120"/>
              </a:rPr>
              <a:t>H1 : Open and timely</a:t>
            </a:r>
            <a:endParaRPr lang="en-US" sz="1500" dirty="0"/>
          </a:p>
          <a:p>
            <a:pPr marL="285750" indent="-285750">
              <a:lnSpc>
                <a:spcPct val="98000"/>
              </a:lnSpc>
              <a:spcBef>
                <a:spcPts val="400"/>
              </a:spcBef>
              <a:buFont typeface="Wingdings" panose="05000000000000000000" pitchFamily="2" charset="2"/>
              <a:buChar char="ü"/>
            </a:pPr>
            <a:r>
              <a:rPr lang="en-US" sz="1350">
                <a:solidFill>
                  <a:srgbClr val="222222"/>
                </a:solidFill>
                <a:latin typeface="Calibri" pitchFamily="34" charset="0"/>
                <a:ea typeface="Calibri" pitchFamily="34" charset="-122"/>
                <a:cs typeface="Calibri" pitchFamily="34" charset="-120"/>
              </a:rPr>
              <a:t>distributed, concept-based</a:t>
            </a:r>
          </a:p>
          <a:p>
            <a:pPr marL="285750" indent="-285750">
              <a:lnSpc>
                <a:spcPct val="98000"/>
              </a:lnSpc>
              <a:spcBef>
                <a:spcPts val="400"/>
              </a:spcBef>
              <a:buFont typeface="Wingdings" panose="05000000000000000000" pitchFamily="2" charset="2"/>
              <a:buChar char="ü"/>
            </a:pPr>
            <a:r>
              <a:rPr lang="en-US" sz="1350">
                <a:solidFill>
                  <a:srgbClr val="222222"/>
                </a:solidFill>
                <a:latin typeface="Calibri" pitchFamily="34" charset="0"/>
                <a:ea typeface="Calibri" pitchFamily="34" charset="-122"/>
                <a:cs typeface="Calibri" pitchFamily="34" charset="-120"/>
              </a:rPr>
              <a:t>adaptive interventions, open space</a:t>
            </a:r>
          </a:p>
          <a:p>
            <a:pPr marL="285750" indent="-285750">
              <a:lnSpc>
                <a:spcPct val="98000"/>
              </a:lnSpc>
              <a:spcBef>
                <a:spcPts val="400"/>
              </a:spcBef>
              <a:buFont typeface="Wingdings" panose="05000000000000000000" pitchFamily="2" charset="2"/>
              <a:buChar char="ü"/>
            </a:pPr>
            <a:r>
              <a:rPr lang="en-US" sz="1350">
                <a:solidFill>
                  <a:srgbClr val="222222"/>
                </a:solidFill>
                <a:latin typeface="Calibri" pitchFamily="34" charset="0"/>
                <a:ea typeface="Calibri" pitchFamily="34" charset="-122"/>
                <a:cs typeface="Calibri" pitchFamily="34" charset="-120"/>
              </a:rPr>
              <a:t>within the decision cycle</a:t>
            </a:r>
          </a:p>
        </p:txBody>
      </p:sp>
      <p:sp>
        <p:nvSpPr>
          <p:cNvPr id="38" name="Shape 11">
            <a:extLst>
              <a:ext uri="{FF2B5EF4-FFF2-40B4-BE49-F238E27FC236}">
                <a16:creationId xmlns:a16="http://schemas.microsoft.com/office/drawing/2014/main" id="{D0C179A7-BAF2-E3A8-13AF-D5C8BE928AEF}"/>
              </a:ext>
            </a:extLst>
          </p:cNvPr>
          <p:cNvSpPr/>
          <p:nvPr/>
        </p:nvSpPr>
        <p:spPr>
          <a:xfrm>
            <a:off x="8129016" y="2612966"/>
            <a:ext cx="3675888" cy="1207008"/>
          </a:xfrm>
          <a:prstGeom prst="roundRect">
            <a:avLst>
              <a:gd name="adj" fmla="val 4545"/>
            </a:avLst>
          </a:prstGeom>
          <a:solidFill>
            <a:srgbClr val="FDE8EB"/>
          </a:solidFill>
          <a:ln/>
        </p:spPr>
        <p:txBody>
          <a:bodyPr/>
          <a:lstStyle/>
          <a:p>
            <a:endParaRPr lang="tr-TR"/>
          </a:p>
        </p:txBody>
      </p:sp>
      <p:sp>
        <p:nvSpPr>
          <p:cNvPr id="39" name="Text 12">
            <a:extLst>
              <a:ext uri="{FF2B5EF4-FFF2-40B4-BE49-F238E27FC236}">
                <a16:creationId xmlns:a16="http://schemas.microsoft.com/office/drawing/2014/main" id="{BFB4EDB6-ECDA-60C6-5995-78FD5BA177DF}"/>
              </a:ext>
            </a:extLst>
          </p:cNvPr>
          <p:cNvSpPr/>
          <p:nvPr/>
        </p:nvSpPr>
        <p:spPr>
          <a:xfrm>
            <a:off x="8257032" y="2667830"/>
            <a:ext cx="3547872" cy="109728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98000"/>
              </a:lnSpc>
              <a:buNone/>
            </a:pPr>
            <a:r>
              <a:rPr lang="en-US" sz="1500" b="1" dirty="0">
                <a:solidFill>
                  <a:srgbClr val="000000"/>
                </a:solidFill>
                <a:latin typeface="Calibri" pitchFamily="34" charset="0"/>
                <a:ea typeface="Calibri" pitchFamily="34" charset="-122"/>
                <a:cs typeface="Calibri" pitchFamily="34" charset="-120"/>
              </a:rPr>
              <a:t>C1 : Open, concept-driven decision space</a:t>
            </a:r>
            <a:endParaRPr lang="en-US" sz="1500" dirty="0"/>
          </a:p>
          <a:p>
            <a:pPr marL="285750" indent="-285750">
              <a:lnSpc>
                <a:spcPct val="98000"/>
              </a:lnSpc>
              <a:spcBef>
                <a:spcPts val="400"/>
              </a:spcBef>
              <a:buFont typeface="Wingdings" panose="05000000000000000000" pitchFamily="2" charset="2"/>
              <a:buChar char="ü"/>
            </a:pPr>
            <a:r>
              <a:rPr lang="en-US" sz="1350" b="1" dirty="0">
                <a:solidFill>
                  <a:srgbClr val="C8102E"/>
                </a:solidFill>
                <a:latin typeface="Calibri" pitchFamily="34" charset="0"/>
                <a:ea typeface="Calibri" pitchFamily="34" charset="-122"/>
                <a:cs typeface="Calibri" pitchFamily="34" charset="-120"/>
              </a:rPr>
              <a:t>10 features → 5 concepts</a:t>
            </a:r>
          </a:p>
          <a:p>
            <a:pPr marL="285750" indent="-285750">
              <a:lnSpc>
                <a:spcPct val="98000"/>
              </a:lnSpc>
              <a:spcBef>
                <a:spcPts val="400"/>
              </a:spcBef>
              <a:buFont typeface="Wingdings" panose="05000000000000000000" pitchFamily="2" charset="2"/>
              <a:buChar char="ü"/>
            </a:pPr>
            <a:r>
              <a:rPr lang="en-US" sz="1350" dirty="0">
                <a:solidFill>
                  <a:srgbClr val="222222"/>
                </a:solidFill>
                <a:latin typeface="Calibri" pitchFamily="34" charset="0"/>
                <a:ea typeface="Calibri" pitchFamily="34" charset="-122"/>
                <a:cs typeface="Calibri" pitchFamily="34" charset="-120"/>
              </a:rPr>
              <a:t>rule base evolves in 3 stages</a:t>
            </a:r>
            <a:r>
              <a:rPr lang="tr-TR" sz="1350" dirty="0">
                <a:solidFill>
                  <a:srgbClr val="222222"/>
                </a:solidFill>
                <a:latin typeface="Calibri" pitchFamily="34" charset="0"/>
                <a:ea typeface="Calibri" pitchFamily="34" charset="-122"/>
                <a:cs typeface="Calibri" pitchFamily="34" charset="-120"/>
              </a:rPr>
              <a:t> (</a:t>
            </a:r>
            <a:r>
              <a:rPr lang="en-US" sz="1350" dirty="0">
                <a:solidFill>
                  <a:srgbClr val="222222"/>
                </a:solidFill>
                <a:latin typeface="Calibri" pitchFamily="34" charset="0"/>
                <a:ea typeface="Calibri" pitchFamily="34" charset="-122"/>
                <a:cs typeface="Calibri" pitchFamily="34" charset="-120"/>
              </a:rPr>
              <a:t>rules · macros · actuators · concepts</a:t>
            </a:r>
            <a:r>
              <a:rPr lang="tr-TR" sz="1350" dirty="0">
                <a:solidFill>
                  <a:srgbClr val="222222"/>
                </a:solidFill>
                <a:latin typeface="Calibri" pitchFamily="34" charset="0"/>
                <a:ea typeface="Calibri" pitchFamily="34" charset="-122"/>
                <a:cs typeface="Calibri" pitchFamily="34" charset="-120"/>
              </a:rPr>
              <a:t>)</a:t>
            </a:r>
            <a:endParaRPr lang="en-US" sz="1350" dirty="0">
              <a:solidFill>
                <a:srgbClr val="222222"/>
              </a:solidFill>
              <a:latin typeface="Calibri" pitchFamily="34" charset="0"/>
              <a:ea typeface="Calibri" pitchFamily="34" charset="-122"/>
              <a:cs typeface="Calibri" pitchFamily="34" charset="-120"/>
            </a:endParaRPr>
          </a:p>
          <a:p>
            <a:pPr marL="285750" indent="-285750">
              <a:lnSpc>
                <a:spcPct val="98000"/>
              </a:lnSpc>
              <a:spcBef>
                <a:spcPts val="400"/>
              </a:spcBef>
              <a:buFont typeface="Wingdings" panose="05000000000000000000" pitchFamily="2" charset="2"/>
              <a:buChar char="ü"/>
            </a:pPr>
            <a:r>
              <a:rPr lang="en-US" sz="1350" dirty="0">
                <a:solidFill>
                  <a:srgbClr val="222222"/>
                </a:solidFill>
                <a:latin typeface="Calibri" pitchFamily="34" charset="0"/>
                <a:ea typeface="Calibri" pitchFamily="34" charset="-122"/>
                <a:cs typeface="Calibri" pitchFamily="34" charset="-120"/>
              </a:rPr>
              <a:t>every change behind gates</a:t>
            </a:r>
          </a:p>
        </p:txBody>
      </p:sp>
      <p:sp>
        <p:nvSpPr>
          <p:cNvPr id="40" name="Shape 13">
            <a:extLst>
              <a:ext uri="{FF2B5EF4-FFF2-40B4-BE49-F238E27FC236}">
                <a16:creationId xmlns:a16="http://schemas.microsoft.com/office/drawing/2014/main" id="{B395F7AB-9CEB-B7B6-E938-AEF4EA82A641}"/>
              </a:ext>
            </a:extLst>
          </p:cNvPr>
          <p:cNvSpPr/>
          <p:nvPr/>
        </p:nvSpPr>
        <p:spPr>
          <a:xfrm>
            <a:off x="502920" y="3938846"/>
            <a:ext cx="3675888" cy="1207008"/>
          </a:xfrm>
          <a:prstGeom prst="roundRect">
            <a:avLst>
              <a:gd name="adj" fmla="val 4545"/>
            </a:avLst>
          </a:prstGeom>
          <a:solidFill>
            <a:srgbClr val="F2F2F2"/>
          </a:solidFill>
          <a:ln/>
        </p:spPr>
        <p:txBody>
          <a:bodyPr/>
          <a:lstStyle/>
          <a:p>
            <a:endParaRPr lang="tr-TR"/>
          </a:p>
        </p:txBody>
      </p:sp>
      <p:sp>
        <p:nvSpPr>
          <p:cNvPr id="41" name="Text 14">
            <a:extLst>
              <a:ext uri="{FF2B5EF4-FFF2-40B4-BE49-F238E27FC236}">
                <a16:creationId xmlns:a16="http://schemas.microsoft.com/office/drawing/2014/main" id="{F431A73D-D47A-CA04-CF0A-A5732800A2A2}"/>
              </a:ext>
            </a:extLst>
          </p:cNvPr>
          <p:cNvSpPr/>
          <p:nvPr/>
        </p:nvSpPr>
        <p:spPr>
          <a:xfrm>
            <a:off x="630936" y="3993710"/>
            <a:ext cx="3419856" cy="109728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98000"/>
              </a:lnSpc>
              <a:buNone/>
            </a:pPr>
            <a:r>
              <a:rPr lang="en-US" sz="1500" b="1">
                <a:solidFill>
                  <a:srgbClr val="000000"/>
                </a:solidFill>
                <a:latin typeface="Calibri" pitchFamily="34" charset="0"/>
                <a:ea typeface="Calibri" pitchFamily="34" charset="-122"/>
                <a:cs typeface="Calibri" pitchFamily="34" charset="-120"/>
              </a:rPr>
              <a:t>G2 : Unrepresented uncertainty</a:t>
            </a:r>
            <a:endParaRPr lang="en-US" sz="1500" dirty="0"/>
          </a:p>
          <a:p>
            <a:pPr marL="285750" indent="-285750">
              <a:lnSpc>
                <a:spcPct val="98000"/>
              </a:lnSpc>
              <a:spcBef>
                <a:spcPts val="400"/>
              </a:spcBef>
              <a:buFont typeface="Wingdings" panose="05000000000000000000" pitchFamily="2" charset="2"/>
              <a:buChar char="ü"/>
            </a:pPr>
            <a:r>
              <a:rPr lang="en-US" sz="1350">
                <a:solidFill>
                  <a:srgbClr val="222222"/>
                </a:solidFill>
                <a:latin typeface="Calibri" pitchFamily="34" charset="0"/>
                <a:ea typeface="Calibri" pitchFamily="34" charset="-122"/>
                <a:cs typeface="Calibri" pitchFamily="34" charset="-120"/>
              </a:rPr>
              <a:t>degraded observations treated as exact</a:t>
            </a:r>
          </a:p>
          <a:p>
            <a:pPr marL="285750" indent="-285750">
              <a:lnSpc>
                <a:spcPct val="98000"/>
              </a:lnSpc>
              <a:spcBef>
                <a:spcPts val="400"/>
              </a:spcBef>
              <a:buFont typeface="Wingdings" panose="05000000000000000000" pitchFamily="2" charset="2"/>
              <a:buChar char="ü"/>
            </a:pPr>
            <a:r>
              <a:rPr lang="en-US" sz="1350">
                <a:solidFill>
                  <a:srgbClr val="222222"/>
                </a:solidFill>
                <a:latin typeface="Calibri" pitchFamily="34" charset="0"/>
                <a:ea typeface="Calibri" pitchFamily="34" charset="-122"/>
                <a:cs typeface="Calibri" pitchFamily="34" charset="-120"/>
              </a:rPr>
              <a:t>explanations only after the fact</a:t>
            </a:r>
          </a:p>
        </p:txBody>
      </p:sp>
      <p:sp>
        <p:nvSpPr>
          <p:cNvPr id="42" name="Shape 15">
            <a:extLst>
              <a:ext uri="{FF2B5EF4-FFF2-40B4-BE49-F238E27FC236}">
                <a16:creationId xmlns:a16="http://schemas.microsoft.com/office/drawing/2014/main" id="{7157F100-AFA4-F650-8935-FA0B3AA07DC6}"/>
              </a:ext>
            </a:extLst>
          </p:cNvPr>
          <p:cNvSpPr/>
          <p:nvPr/>
        </p:nvSpPr>
        <p:spPr>
          <a:xfrm>
            <a:off x="4315968" y="3938846"/>
            <a:ext cx="3675888" cy="1207008"/>
          </a:xfrm>
          <a:prstGeom prst="roundRect">
            <a:avLst>
              <a:gd name="adj" fmla="val 4545"/>
            </a:avLst>
          </a:prstGeom>
          <a:solidFill>
            <a:srgbClr val="F2F2F2"/>
          </a:solidFill>
          <a:ln/>
        </p:spPr>
        <p:txBody>
          <a:bodyPr/>
          <a:lstStyle/>
          <a:p>
            <a:endParaRPr lang="tr-TR"/>
          </a:p>
        </p:txBody>
      </p:sp>
      <p:sp>
        <p:nvSpPr>
          <p:cNvPr id="43" name="Text 16">
            <a:extLst>
              <a:ext uri="{FF2B5EF4-FFF2-40B4-BE49-F238E27FC236}">
                <a16:creationId xmlns:a16="http://schemas.microsoft.com/office/drawing/2014/main" id="{C814A28E-923B-E14C-A7AA-ADED322397EF}"/>
              </a:ext>
            </a:extLst>
          </p:cNvPr>
          <p:cNvSpPr/>
          <p:nvPr/>
        </p:nvSpPr>
        <p:spPr>
          <a:xfrm>
            <a:off x="4443984" y="3993710"/>
            <a:ext cx="3419856" cy="109728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98000"/>
              </a:lnSpc>
              <a:buNone/>
            </a:pPr>
            <a:r>
              <a:rPr lang="en-US" sz="1500" b="1">
                <a:solidFill>
                  <a:srgbClr val="000000"/>
                </a:solidFill>
                <a:latin typeface="Calibri" pitchFamily="34" charset="0"/>
                <a:ea typeface="Calibri" pitchFamily="34" charset="-122"/>
                <a:cs typeface="Calibri" pitchFamily="34" charset="-120"/>
              </a:rPr>
              <a:t>H2 : Traceable by construction</a:t>
            </a:r>
            <a:endParaRPr lang="en-US" sz="1500" dirty="0"/>
          </a:p>
          <a:p>
            <a:pPr marL="285750" indent="-285750">
              <a:lnSpc>
                <a:spcPct val="98000"/>
              </a:lnSpc>
              <a:spcBef>
                <a:spcPts val="400"/>
              </a:spcBef>
              <a:buFont typeface="Wingdings" panose="05000000000000000000" pitchFamily="2" charset="2"/>
              <a:buChar char="ü"/>
            </a:pPr>
            <a:r>
              <a:rPr lang="en-US" sz="1350">
                <a:solidFill>
                  <a:srgbClr val="222222"/>
                </a:solidFill>
                <a:latin typeface="Calibri" pitchFamily="34" charset="0"/>
                <a:ea typeface="Calibri" pitchFamily="34" charset="-122"/>
                <a:cs typeface="Calibri" pitchFamily="34" charset="-120"/>
              </a:rPr>
              <a:t>confidence-weighted observations</a:t>
            </a:r>
          </a:p>
          <a:p>
            <a:pPr marL="285750" indent="-285750">
              <a:lnSpc>
                <a:spcPct val="98000"/>
              </a:lnSpc>
              <a:spcBef>
                <a:spcPts val="400"/>
              </a:spcBef>
              <a:buFont typeface="Wingdings" panose="05000000000000000000" pitchFamily="2" charset="2"/>
              <a:buChar char="ü"/>
            </a:pPr>
            <a:r>
              <a:rPr lang="en-US" sz="1350">
                <a:solidFill>
                  <a:srgbClr val="222222"/>
                </a:solidFill>
                <a:latin typeface="Calibri" pitchFamily="34" charset="0"/>
                <a:ea typeface="Calibri" pitchFamily="34" charset="-122"/>
                <a:cs typeface="Calibri" pitchFamily="34" charset="-120"/>
              </a:rPr>
              <a:t>decisions traceable by construction</a:t>
            </a:r>
          </a:p>
        </p:txBody>
      </p:sp>
      <p:sp>
        <p:nvSpPr>
          <p:cNvPr id="44" name="Shape 17">
            <a:extLst>
              <a:ext uri="{FF2B5EF4-FFF2-40B4-BE49-F238E27FC236}">
                <a16:creationId xmlns:a16="http://schemas.microsoft.com/office/drawing/2014/main" id="{5F90A48B-C2D1-C099-4664-968F76513986}"/>
              </a:ext>
            </a:extLst>
          </p:cNvPr>
          <p:cNvSpPr/>
          <p:nvPr/>
        </p:nvSpPr>
        <p:spPr>
          <a:xfrm>
            <a:off x="8129016" y="3938846"/>
            <a:ext cx="3675888" cy="1207008"/>
          </a:xfrm>
          <a:prstGeom prst="roundRect">
            <a:avLst>
              <a:gd name="adj" fmla="val 4545"/>
            </a:avLst>
          </a:prstGeom>
          <a:solidFill>
            <a:srgbClr val="FDE8EB"/>
          </a:solidFill>
          <a:ln/>
        </p:spPr>
        <p:txBody>
          <a:bodyPr/>
          <a:lstStyle/>
          <a:p>
            <a:endParaRPr lang="tr-TR"/>
          </a:p>
        </p:txBody>
      </p:sp>
      <p:sp>
        <p:nvSpPr>
          <p:cNvPr id="45" name="Text 18">
            <a:extLst>
              <a:ext uri="{FF2B5EF4-FFF2-40B4-BE49-F238E27FC236}">
                <a16:creationId xmlns:a16="http://schemas.microsoft.com/office/drawing/2014/main" id="{8F3C13B3-B7DF-CA98-7ACE-83B95912B178}"/>
              </a:ext>
            </a:extLst>
          </p:cNvPr>
          <p:cNvSpPr/>
          <p:nvPr/>
        </p:nvSpPr>
        <p:spPr>
          <a:xfrm>
            <a:off x="8257032" y="3993710"/>
            <a:ext cx="3419856" cy="109728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98000"/>
              </a:lnSpc>
              <a:buNone/>
            </a:pPr>
            <a:r>
              <a:rPr lang="en-US" sz="1500" b="1" dirty="0">
                <a:solidFill>
                  <a:srgbClr val="000000"/>
                </a:solidFill>
                <a:latin typeface="Calibri" pitchFamily="34" charset="0"/>
                <a:ea typeface="Calibri" pitchFamily="34" charset="-122"/>
                <a:cs typeface="Calibri" pitchFamily="34" charset="-120"/>
              </a:rPr>
              <a:t>C2 : Epistemic encoding &amp; traceability</a:t>
            </a:r>
            <a:endParaRPr lang="en-US" sz="1500" dirty="0"/>
          </a:p>
          <a:p>
            <a:pPr marL="285750" indent="-285750">
              <a:lnSpc>
                <a:spcPct val="98000"/>
              </a:lnSpc>
              <a:spcBef>
                <a:spcPts val="400"/>
              </a:spcBef>
              <a:buFont typeface="Wingdings" panose="05000000000000000000" pitchFamily="2" charset="2"/>
              <a:buChar char="ü"/>
            </a:pPr>
            <a:r>
              <a:rPr lang="en-US" sz="1350" dirty="0">
                <a:solidFill>
                  <a:srgbClr val="222222"/>
                </a:solidFill>
                <a:latin typeface="Calibri" pitchFamily="34" charset="0"/>
                <a:ea typeface="Calibri" pitchFamily="34" charset="-122"/>
                <a:cs typeface="Calibri" pitchFamily="34" charset="-120"/>
              </a:rPr>
              <a:t>each feature carries a confidence</a:t>
            </a:r>
          </a:p>
          <a:p>
            <a:pPr marL="285750" indent="-285750">
              <a:lnSpc>
                <a:spcPct val="98000"/>
              </a:lnSpc>
              <a:spcBef>
                <a:spcPts val="400"/>
              </a:spcBef>
              <a:buFont typeface="Wingdings" panose="05000000000000000000" pitchFamily="2" charset="2"/>
              <a:buChar char="ü"/>
            </a:pPr>
            <a:r>
              <a:rPr lang="en-US" sz="1350" dirty="0">
                <a:solidFill>
                  <a:srgbClr val="222222"/>
                </a:solidFill>
                <a:latin typeface="Calibri" pitchFamily="34" charset="0"/>
                <a:ea typeface="Calibri" pitchFamily="34" charset="-122"/>
                <a:cs typeface="Calibri" pitchFamily="34" charset="-120"/>
              </a:rPr>
              <a:t>confidence gates concept activation</a:t>
            </a:r>
          </a:p>
          <a:p>
            <a:pPr marL="285750" indent="-285750">
              <a:lnSpc>
                <a:spcPct val="98000"/>
              </a:lnSpc>
              <a:spcBef>
                <a:spcPts val="400"/>
              </a:spcBef>
              <a:buFont typeface="Wingdings" panose="05000000000000000000" pitchFamily="2" charset="2"/>
              <a:buChar char="ü"/>
            </a:pPr>
            <a:r>
              <a:rPr lang="en-US" sz="1350" dirty="0">
                <a:solidFill>
                  <a:srgbClr val="222222"/>
                </a:solidFill>
                <a:latin typeface="Calibri" pitchFamily="34" charset="0"/>
                <a:ea typeface="Calibri" pitchFamily="34" charset="-122"/>
                <a:cs typeface="Calibri" pitchFamily="34" charset="-120"/>
              </a:rPr>
              <a:t>every order → concepts, rules, confidences</a:t>
            </a:r>
          </a:p>
        </p:txBody>
      </p:sp>
      <p:sp>
        <p:nvSpPr>
          <p:cNvPr id="46" name="Shape 19">
            <a:extLst>
              <a:ext uri="{FF2B5EF4-FFF2-40B4-BE49-F238E27FC236}">
                <a16:creationId xmlns:a16="http://schemas.microsoft.com/office/drawing/2014/main" id="{3BB742CD-1BB8-C117-5238-E0BEF06498A1}"/>
              </a:ext>
            </a:extLst>
          </p:cNvPr>
          <p:cNvSpPr/>
          <p:nvPr/>
        </p:nvSpPr>
        <p:spPr>
          <a:xfrm>
            <a:off x="502920" y="5264726"/>
            <a:ext cx="3675888" cy="1207008"/>
          </a:xfrm>
          <a:prstGeom prst="roundRect">
            <a:avLst>
              <a:gd name="adj" fmla="val 4545"/>
            </a:avLst>
          </a:prstGeom>
          <a:solidFill>
            <a:srgbClr val="F2F2F2"/>
          </a:solidFill>
          <a:ln/>
        </p:spPr>
        <p:txBody>
          <a:bodyPr/>
          <a:lstStyle/>
          <a:p>
            <a:endParaRPr lang="tr-TR"/>
          </a:p>
        </p:txBody>
      </p:sp>
      <p:sp>
        <p:nvSpPr>
          <p:cNvPr id="47" name="Text 20">
            <a:extLst>
              <a:ext uri="{FF2B5EF4-FFF2-40B4-BE49-F238E27FC236}">
                <a16:creationId xmlns:a16="http://schemas.microsoft.com/office/drawing/2014/main" id="{84777060-06C9-3630-17FA-E3A5C8D5BAD6}"/>
              </a:ext>
            </a:extLst>
          </p:cNvPr>
          <p:cNvSpPr/>
          <p:nvPr/>
        </p:nvSpPr>
        <p:spPr>
          <a:xfrm>
            <a:off x="630936" y="5319590"/>
            <a:ext cx="3419856" cy="109728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98000"/>
              </a:lnSpc>
              <a:buNone/>
            </a:pPr>
            <a:r>
              <a:rPr lang="en-US" sz="1500" b="1">
                <a:solidFill>
                  <a:srgbClr val="000000"/>
                </a:solidFill>
                <a:latin typeface="Calibri" pitchFamily="34" charset="0"/>
                <a:ea typeface="Calibri" pitchFamily="34" charset="-122"/>
                <a:cs typeface="Calibri" pitchFamily="34" charset="-120"/>
              </a:rPr>
              <a:t>G3 : Coupled simulation &amp; decision cores</a:t>
            </a:r>
            <a:endParaRPr lang="en-US" sz="1500" dirty="0"/>
          </a:p>
          <a:p>
            <a:pPr marL="285750" indent="-285750">
              <a:lnSpc>
                <a:spcPct val="98000"/>
              </a:lnSpc>
              <a:spcBef>
                <a:spcPts val="400"/>
              </a:spcBef>
              <a:buFont typeface="Wingdings" panose="05000000000000000000" pitchFamily="2" charset="2"/>
              <a:buChar char="ü"/>
            </a:pPr>
            <a:r>
              <a:rPr lang="en-US" sz="1350">
                <a:solidFill>
                  <a:srgbClr val="222222"/>
                </a:solidFill>
                <a:latin typeface="Calibri" pitchFamily="34" charset="0"/>
                <a:ea typeface="Calibri" pitchFamily="34" charset="-122"/>
                <a:cs typeface="Calibri" pitchFamily="34" charset="-120"/>
              </a:rPr>
              <a:t>fire model and decision logic fused</a:t>
            </a:r>
          </a:p>
          <a:p>
            <a:pPr marL="285750" indent="-285750">
              <a:lnSpc>
                <a:spcPct val="98000"/>
              </a:lnSpc>
              <a:spcBef>
                <a:spcPts val="400"/>
              </a:spcBef>
              <a:buFont typeface="Wingdings" panose="05000000000000000000" pitchFamily="2" charset="2"/>
              <a:buChar char="ü"/>
            </a:pPr>
            <a:r>
              <a:rPr lang="en-US" sz="1350">
                <a:solidFill>
                  <a:srgbClr val="222222"/>
                </a:solidFill>
                <a:latin typeface="Calibri" pitchFamily="34" charset="0"/>
                <a:ea typeface="Calibri" pitchFamily="34" charset="-122"/>
                <a:cs typeface="Calibri" pitchFamily="34" charset="-120"/>
              </a:rPr>
              <a:t>neither validated independently</a:t>
            </a:r>
          </a:p>
        </p:txBody>
      </p:sp>
      <p:sp>
        <p:nvSpPr>
          <p:cNvPr id="48" name="Shape 21">
            <a:extLst>
              <a:ext uri="{FF2B5EF4-FFF2-40B4-BE49-F238E27FC236}">
                <a16:creationId xmlns:a16="http://schemas.microsoft.com/office/drawing/2014/main" id="{50C5944D-B245-E29F-4B65-04C172E0C87E}"/>
              </a:ext>
            </a:extLst>
          </p:cNvPr>
          <p:cNvSpPr/>
          <p:nvPr/>
        </p:nvSpPr>
        <p:spPr>
          <a:xfrm>
            <a:off x="4315968" y="5264726"/>
            <a:ext cx="3675888" cy="1207008"/>
          </a:xfrm>
          <a:prstGeom prst="roundRect">
            <a:avLst>
              <a:gd name="adj" fmla="val 4545"/>
            </a:avLst>
          </a:prstGeom>
          <a:solidFill>
            <a:srgbClr val="F2F2F2"/>
          </a:solidFill>
          <a:ln/>
        </p:spPr>
        <p:txBody>
          <a:bodyPr/>
          <a:lstStyle/>
          <a:p>
            <a:endParaRPr lang="tr-TR"/>
          </a:p>
        </p:txBody>
      </p:sp>
      <p:sp>
        <p:nvSpPr>
          <p:cNvPr id="49" name="Text 22">
            <a:extLst>
              <a:ext uri="{FF2B5EF4-FFF2-40B4-BE49-F238E27FC236}">
                <a16:creationId xmlns:a16="http://schemas.microsoft.com/office/drawing/2014/main" id="{47903BC2-F8E2-FDF3-6965-1E43CC7D7E5D}"/>
              </a:ext>
            </a:extLst>
          </p:cNvPr>
          <p:cNvSpPr/>
          <p:nvPr/>
        </p:nvSpPr>
        <p:spPr>
          <a:xfrm>
            <a:off x="4443984" y="5319590"/>
            <a:ext cx="3419856" cy="109728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98000"/>
              </a:lnSpc>
              <a:buNone/>
            </a:pPr>
            <a:r>
              <a:rPr lang="en-US" sz="1500" b="1">
                <a:solidFill>
                  <a:srgbClr val="000000"/>
                </a:solidFill>
                <a:latin typeface="Calibri" pitchFamily="34" charset="0"/>
                <a:ea typeface="Calibri" pitchFamily="34" charset="-122"/>
                <a:cs typeface="Calibri" pitchFamily="34" charset="-120"/>
              </a:rPr>
              <a:t>H3 : Verified action only</a:t>
            </a:r>
            <a:endParaRPr lang="en-US" sz="1500" dirty="0"/>
          </a:p>
          <a:p>
            <a:pPr marL="285750" indent="-285750">
              <a:lnSpc>
                <a:spcPct val="98000"/>
              </a:lnSpc>
              <a:spcBef>
                <a:spcPts val="400"/>
              </a:spcBef>
              <a:buFont typeface="Wingdings" panose="05000000000000000000" pitchFamily="2" charset="2"/>
              <a:buChar char="ü"/>
            </a:pPr>
            <a:r>
              <a:rPr lang="en-US" sz="1350">
                <a:solidFill>
                  <a:srgbClr val="222222"/>
                </a:solidFill>
                <a:latin typeface="Calibri" pitchFamily="34" charset="0"/>
                <a:ea typeface="Calibri" pitchFamily="34" charset="-122"/>
                <a:cs typeface="Calibri" pitchFamily="34" charset="-120"/>
              </a:rPr>
              <a:t>separated cores, one workflow</a:t>
            </a:r>
          </a:p>
          <a:p>
            <a:pPr marL="285750" indent="-285750">
              <a:lnSpc>
                <a:spcPct val="98000"/>
              </a:lnSpc>
              <a:spcBef>
                <a:spcPts val="400"/>
              </a:spcBef>
              <a:buFont typeface="Wingdings" panose="05000000000000000000" pitchFamily="2" charset="2"/>
              <a:buChar char="ü"/>
            </a:pPr>
            <a:r>
              <a:rPr lang="en-US" sz="1350">
                <a:solidFill>
                  <a:srgbClr val="222222"/>
                </a:solidFill>
                <a:latin typeface="Calibri" pitchFamily="34" charset="0"/>
                <a:ea typeface="Calibri" pitchFamily="34" charset="-122"/>
                <a:cs typeface="Calibri" pitchFamily="34" charset="-120"/>
              </a:rPr>
              <a:t>only gate-passing interventions execute</a:t>
            </a:r>
          </a:p>
        </p:txBody>
      </p:sp>
      <p:sp>
        <p:nvSpPr>
          <p:cNvPr id="50" name="Shape 23">
            <a:extLst>
              <a:ext uri="{FF2B5EF4-FFF2-40B4-BE49-F238E27FC236}">
                <a16:creationId xmlns:a16="http://schemas.microsoft.com/office/drawing/2014/main" id="{D71FC773-ABE5-F745-58C7-CA0AFDEEB171}"/>
              </a:ext>
            </a:extLst>
          </p:cNvPr>
          <p:cNvSpPr/>
          <p:nvPr/>
        </p:nvSpPr>
        <p:spPr>
          <a:xfrm>
            <a:off x="8129016" y="5264726"/>
            <a:ext cx="3675888" cy="1207008"/>
          </a:xfrm>
          <a:prstGeom prst="roundRect">
            <a:avLst>
              <a:gd name="adj" fmla="val 4545"/>
            </a:avLst>
          </a:prstGeom>
          <a:solidFill>
            <a:srgbClr val="FDE8EB"/>
          </a:solidFill>
          <a:ln/>
        </p:spPr>
        <p:txBody>
          <a:bodyPr/>
          <a:lstStyle/>
          <a:p>
            <a:endParaRPr lang="tr-TR"/>
          </a:p>
        </p:txBody>
      </p:sp>
      <p:sp>
        <p:nvSpPr>
          <p:cNvPr id="51" name="Text 24">
            <a:extLst>
              <a:ext uri="{FF2B5EF4-FFF2-40B4-BE49-F238E27FC236}">
                <a16:creationId xmlns:a16="http://schemas.microsoft.com/office/drawing/2014/main" id="{E0579C63-2757-397A-1716-B37A164B3059}"/>
              </a:ext>
            </a:extLst>
          </p:cNvPr>
          <p:cNvSpPr/>
          <p:nvPr/>
        </p:nvSpPr>
        <p:spPr>
          <a:xfrm>
            <a:off x="8257032" y="5319590"/>
            <a:ext cx="3419856" cy="109728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98000"/>
              </a:lnSpc>
              <a:buNone/>
            </a:pPr>
            <a:r>
              <a:rPr lang="en-US" sz="1500" b="1">
                <a:solidFill>
                  <a:srgbClr val="000000"/>
                </a:solidFill>
                <a:latin typeface="Calibri" pitchFamily="34" charset="0"/>
                <a:ea typeface="Calibri" pitchFamily="34" charset="-122"/>
                <a:cs typeface="Calibri" pitchFamily="34" charset="-120"/>
              </a:rPr>
              <a:t>C3 : Separated, validated cores</a:t>
            </a:r>
            <a:endParaRPr lang="en-US" sz="1500" dirty="0"/>
          </a:p>
          <a:p>
            <a:pPr marL="285750" indent="-285750">
              <a:lnSpc>
                <a:spcPct val="98000"/>
              </a:lnSpc>
              <a:spcBef>
                <a:spcPts val="400"/>
              </a:spcBef>
              <a:buFont typeface="Wingdings" panose="05000000000000000000" pitchFamily="2" charset="2"/>
              <a:buChar char="ü"/>
            </a:pPr>
            <a:r>
              <a:rPr lang="en-US" sz="1350">
                <a:solidFill>
                  <a:srgbClr val="222222"/>
                </a:solidFill>
                <a:latin typeface="Calibri" pitchFamily="34" charset="0"/>
                <a:ea typeface="Calibri" pitchFamily="34" charset="-122"/>
                <a:cs typeface="Calibri" pitchFamily="34" charset="-120"/>
              </a:rPr>
              <a:t>simulation core validated on real fires</a:t>
            </a:r>
          </a:p>
          <a:p>
            <a:pPr marL="285750" indent="-285750">
              <a:lnSpc>
                <a:spcPct val="98000"/>
              </a:lnSpc>
              <a:spcBef>
                <a:spcPts val="400"/>
              </a:spcBef>
              <a:buFont typeface="Wingdings" panose="05000000000000000000" pitchFamily="2" charset="2"/>
              <a:buChar char="ü"/>
            </a:pPr>
            <a:r>
              <a:rPr lang="en-US" sz="1350">
                <a:solidFill>
                  <a:srgbClr val="222222"/>
                </a:solidFill>
                <a:latin typeface="Calibri" pitchFamily="34" charset="0"/>
                <a:ea typeface="Calibri" pitchFamily="34" charset="-122"/>
                <a:cs typeface="Calibri" pitchFamily="34" charset="-120"/>
              </a:rPr>
              <a:t>coupled only through a typed interface</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56032"/>
            <a:ext cx="9144000" cy="292608"/>
          </a:xfrm>
          <a:prstGeom prst="rect">
            <a:avLst/>
          </a:prstGeom>
          <a:noFill/>
          <a:ln/>
        </p:spPr>
        <p:txBody>
          <a:bodyPr wrap="square" lIns="0" tIns="0" rIns="0" bIns="0" rtlCol="0" anchor="ctr"/>
          <a:lstStyle/>
          <a:p>
            <a:pPr marL="0" indent="0">
              <a:buNone/>
            </a:pPr>
            <a:r>
              <a:rPr lang="en-US" sz="1300" b="1" kern="0" spc="200">
                <a:solidFill>
                  <a:srgbClr val="E31836"/>
                </a:solidFill>
                <a:latin typeface="Calibri" pitchFamily="34" charset="0"/>
                <a:ea typeface="Calibri" pitchFamily="34" charset="-122"/>
                <a:cs typeface="Calibri" pitchFamily="34" charset="-120"/>
              </a:rPr>
              <a:t>INTRODUCTION : ROADMAP</a:t>
            </a:r>
            <a:endParaRPr lang="en-US" sz="1300" dirty="0"/>
          </a:p>
        </p:txBody>
      </p:sp>
      <p:sp>
        <p:nvSpPr>
          <p:cNvPr id="3" name="Text 1"/>
          <p:cNvSpPr/>
          <p:nvPr/>
        </p:nvSpPr>
        <p:spPr>
          <a:xfrm>
            <a:off x="502920" y="512064"/>
            <a:ext cx="11247120" cy="731520"/>
          </a:xfrm>
          <a:prstGeom prst="rect">
            <a:avLst/>
          </a:prstGeom>
          <a:noFill/>
          <a:ln/>
        </p:spPr>
        <p:txBody>
          <a:bodyPr wrap="square" lIns="0" tIns="0" rIns="0" bIns="0" rtlCol="0" anchor="ctr"/>
          <a:lstStyle/>
          <a:p>
            <a:pPr marL="0" indent="0">
              <a:buNone/>
            </a:pPr>
            <a:r>
              <a:rPr lang="en-US" sz="2900" b="1">
                <a:solidFill>
                  <a:srgbClr val="000000"/>
                </a:solidFill>
                <a:latin typeface="Cambria" pitchFamily="34" charset="0"/>
                <a:ea typeface="Cambria" pitchFamily="34" charset="-122"/>
                <a:cs typeface="Cambria" pitchFamily="34" charset="-120"/>
              </a:rPr>
              <a:t>What You Will Hear Today</a:t>
            </a:r>
            <a:endParaRPr lang="en-US" sz="2900" dirty="0"/>
          </a:p>
        </p:txBody>
      </p:sp>
      <p:sp>
        <p:nvSpPr>
          <p:cNvPr id="4" name="Shape 2"/>
          <p:cNvSpPr/>
          <p:nvPr/>
        </p:nvSpPr>
        <p:spPr>
          <a:xfrm>
            <a:off x="685800" y="1527048"/>
            <a:ext cx="566928" cy="566928"/>
          </a:xfrm>
          <a:prstGeom prst="ellipse">
            <a:avLst/>
          </a:prstGeom>
          <a:solidFill>
            <a:srgbClr val="000000"/>
          </a:solidFill>
          <a:ln/>
        </p:spPr>
        <p:txBody>
          <a:bodyPr/>
          <a:lstStyle/>
          <a:p>
            <a:endParaRPr lang="tr-TR"/>
          </a:p>
        </p:txBody>
      </p:sp>
      <p:sp>
        <p:nvSpPr>
          <p:cNvPr id="5" name="Text 3"/>
          <p:cNvSpPr/>
          <p:nvPr/>
        </p:nvSpPr>
        <p:spPr>
          <a:xfrm>
            <a:off x="685800" y="1527048"/>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6" name="Text 4"/>
          <p:cNvSpPr/>
          <p:nvPr/>
        </p:nvSpPr>
        <p:spPr>
          <a:xfrm>
            <a:off x="1508760" y="1481328"/>
            <a:ext cx="2860040" cy="685800"/>
          </a:xfrm>
          <a:prstGeom prst="rect">
            <a:avLst/>
          </a:prstGeom>
          <a:noFill/>
          <a:ln/>
        </p:spPr>
        <p:txBody>
          <a:bodyPr wrap="square" lIns="0" tIns="0" rIns="0" bIns="0" rtlCol="0" anchor="ctr"/>
          <a:lstStyle/>
          <a:p>
            <a:pPr marL="0" indent="0">
              <a:buNone/>
            </a:pPr>
            <a:r>
              <a:rPr lang="en-US" sz="2100" b="1">
                <a:solidFill>
                  <a:srgbClr val="000000"/>
                </a:solidFill>
                <a:latin typeface="Calibri" pitchFamily="34" charset="0"/>
                <a:ea typeface="Calibri" pitchFamily="34" charset="-122"/>
                <a:cs typeface="Calibri" pitchFamily="34" charset="-120"/>
              </a:rPr>
              <a:t>Simulation framework</a:t>
            </a:r>
            <a:endParaRPr lang="en-US" sz="2100" dirty="0"/>
          </a:p>
        </p:txBody>
      </p:sp>
      <p:sp>
        <p:nvSpPr>
          <p:cNvPr id="7" name="Shape 5"/>
          <p:cNvSpPr/>
          <p:nvPr/>
        </p:nvSpPr>
        <p:spPr>
          <a:xfrm>
            <a:off x="685800" y="2368296"/>
            <a:ext cx="566928" cy="566928"/>
          </a:xfrm>
          <a:prstGeom prst="ellipse">
            <a:avLst/>
          </a:prstGeom>
          <a:solidFill>
            <a:srgbClr val="000000"/>
          </a:solidFill>
          <a:ln/>
        </p:spPr>
        <p:txBody>
          <a:bodyPr/>
          <a:lstStyle/>
          <a:p>
            <a:endParaRPr lang="tr-TR"/>
          </a:p>
        </p:txBody>
      </p:sp>
      <p:sp>
        <p:nvSpPr>
          <p:cNvPr id="8" name="Text 6"/>
          <p:cNvSpPr/>
          <p:nvPr/>
        </p:nvSpPr>
        <p:spPr>
          <a:xfrm>
            <a:off x="685800" y="2368296"/>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9" name="Text 7"/>
          <p:cNvSpPr/>
          <p:nvPr/>
        </p:nvSpPr>
        <p:spPr>
          <a:xfrm>
            <a:off x="1508760" y="2322576"/>
            <a:ext cx="2860040" cy="685800"/>
          </a:xfrm>
          <a:prstGeom prst="rect">
            <a:avLst/>
          </a:prstGeom>
          <a:noFill/>
          <a:ln/>
        </p:spPr>
        <p:txBody>
          <a:bodyPr wrap="square" lIns="0" tIns="0" rIns="0" bIns="0" rtlCol="0" anchor="ctr"/>
          <a:lstStyle/>
          <a:p>
            <a:pPr marL="0" indent="0">
              <a:buNone/>
            </a:pPr>
            <a:r>
              <a:rPr lang="en-US" sz="2100" b="1">
                <a:solidFill>
                  <a:srgbClr val="000000"/>
                </a:solidFill>
                <a:latin typeface="Calibri" pitchFamily="34" charset="0"/>
                <a:ea typeface="Calibri" pitchFamily="34" charset="-122"/>
                <a:cs typeface="Calibri" pitchFamily="34" charset="-120"/>
              </a:rPr>
              <a:t>DSS framework</a:t>
            </a:r>
            <a:endParaRPr lang="en-US" sz="2100" dirty="0"/>
          </a:p>
        </p:txBody>
      </p:sp>
      <p:sp>
        <p:nvSpPr>
          <p:cNvPr id="10" name="Shape 8"/>
          <p:cNvSpPr/>
          <p:nvPr/>
        </p:nvSpPr>
        <p:spPr>
          <a:xfrm>
            <a:off x="685800" y="3209544"/>
            <a:ext cx="566928" cy="566928"/>
          </a:xfrm>
          <a:prstGeom prst="ellipse">
            <a:avLst/>
          </a:prstGeom>
          <a:solidFill>
            <a:srgbClr val="000000"/>
          </a:solidFill>
          <a:ln/>
        </p:spPr>
        <p:txBody>
          <a:bodyPr/>
          <a:lstStyle/>
          <a:p>
            <a:endParaRPr lang="tr-TR"/>
          </a:p>
        </p:txBody>
      </p:sp>
      <p:sp>
        <p:nvSpPr>
          <p:cNvPr id="11" name="Text 9"/>
          <p:cNvSpPr/>
          <p:nvPr/>
        </p:nvSpPr>
        <p:spPr>
          <a:xfrm>
            <a:off x="685800" y="3209544"/>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2" name="Text 10"/>
          <p:cNvSpPr/>
          <p:nvPr/>
        </p:nvSpPr>
        <p:spPr>
          <a:xfrm>
            <a:off x="1508760" y="3163824"/>
            <a:ext cx="2860040" cy="685800"/>
          </a:xfrm>
          <a:prstGeom prst="rect">
            <a:avLst/>
          </a:prstGeom>
          <a:noFill/>
          <a:ln/>
        </p:spPr>
        <p:txBody>
          <a:bodyPr wrap="square" lIns="0" tIns="0" rIns="0" bIns="0" rtlCol="0" anchor="ctr"/>
          <a:lstStyle/>
          <a:p>
            <a:pPr marL="0" indent="0">
              <a:buNone/>
            </a:pPr>
            <a:r>
              <a:rPr lang="en-US" sz="2100" b="1">
                <a:solidFill>
                  <a:srgbClr val="000000"/>
                </a:solidFill>
                <a:latin typeface="Calibri" pitchFamily="34" charset="0"/>
                <a:ea typeface="Calibri" pitchFamily="34" charset="-122"/>
                <a:cs typeface="Calibri" pitchFamily="34" charset="-120"/>
              </a:rPr>
              <a:t>Fuzzy inference</a:t>
            </a:r>
            <a:endParaRPr lang="en-US" sz="2100" dirty="0"/>
          </a:p>
        </p:txBody>
      </p:sp>
      <p:sp>
        <p:nvSpPr>
          <p:cNvPr id="13" name="Shape 11"/>
          <p:cNvSpPr/>
          <p:nvPr/>
        </p:nvSpPr>
        <p:spPr>
          <a:xfrm>
            <a:off x="685800" y="4050792"/>
            <a:ext cx="566928" cy="566928"/>
          </a:xfrm>
          <a:prstGeom prst="ellipse">
            <a:avLst/>
          </a:prstGeom>
          <a:solidFill>
            <a:srgbClr val="000000"/>
          </a:solidFill>
          <a:ln/>
        </p:spPr>
        <p:txBody>
          <a:bodyPr/>
          <a:lstStyle/>
          <a:p>
            <a:endParaRPr lang="tr-TR"/>
          </a:p>
        </p:txBody>
      </p:sp>
      <p:sp>
        <p:nvSpPr>
          <p:cNvPr id="14" name="Text 12"/>
          <p:cNvSpPr/>
          <p:nvPr/>
        </p:nvSpPr>
        <p:spPr>
          <a:xfrm>
            <a:off x="685800" y="4050792"/>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15" name="Text 13"/>
          <p:cNvSpPr/>
          <p:nvPr/>
        </p:nvSpPr>
        <p:spPr>
          <a:xfrm>
            <a:off x="1508760" y="4005072"/>
            <a:ext cx="2860040" cy="685800"/>
          </a:xfrm>
          <a:prstGeom prst="rect">
            <a:avLst/>
          </a:prstGeom>
          <a:noFill/>
          <a:ln/>
        </p:spPr>
        <p:txBody>
          <a:bodyPr wrap="square" lIns="0" tIns="0" rIns="0" bIns="0" rtlCol="0" anchor="ctr"/>
          <a:lstStyle/>
          <a:p>
            <a:pPr marL="0" indent="0">
              <a:buNone/>
            </a:pPr>
            <a:r>
              <a:rPr lang="en-US" sz="2100" b="1">
                <a:solidFill>
                  <a:srgbClr val="000000"/>
                </a:solidFill>
                <a:latin typeface="Calibri" pitchFamily="34" charset="0"/>
                <a:ea typeface="Calibri" pitchFamily="34" charset="-122"/>
                <a:cs typeface="Calibri" pitchFamily="34" charset="-120"/>
              </a:rPr>
              <a:t>Open decision space</a:t>
            </a:r>
            <a:endParaRPr lang="en-US" sz="2100" dirty="0"/>
          </a:p>
        </p:txBody>
      </p:sp>
      <p:sp>
        <p:nvSpPr>
          <p:cNvPr id="16" name="Shape 14"/>
          <p:cNvSpPr/>
          <p:nvPr/>
        </p:nvSpPr>
        <p:spPr>
          <a:xfrm>
            <a:off x="685800" y="4892040"/>
            <a:ext cx="566928" cy="566928"/>
          </a:xfrm>
          <a:prstGeom prst="ellipse">
            <a:avLst/>
          </a:prstGeom>
          <a:solidFill>
            <a:srgbClr val="000000"/>
          </a:solidFill>
          <a:ln/>
        </p:spPr>
        <p:txBody>
          <a:bodyPr/>
          <a:lstStyle/>
          <a:p>
            <a:endParaRPr lang="tr-TR"/>
          </a:p>
        </p:txBody>
      </p:sp>
      <p:sp>
        <p:nvSpPr>
          <p:cNvPr id="17" name="Text 15"/>
          <p:cNvSpPr/>
          <p:nvPr/>
        </p:nvSpPr>
        <p:spPr>
          <a:xfrm>
            <a:off x="685800" y="4892040"/>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18" name="Text 16"/>
          <p:cNvSpPr/>
          <p:nvPr/>
        </p:nvSpPr>
        <p:spPr>
          <a:xfrm>
            <a:off x="1508760" y="4846320"/>
            <a:ext cx="2860041" cy="685800"/>
          </a:xfrm>
          <a:prstGeom prst="rect">
            <a:avLst/>
          </a:prstGeom>
          <a:noFill/>
          <a:ln/>
        </p:spPr>
        <p:txBody>
          <a:bodyPr wrap="square" lIns="0" tIns="0" rIns="0" bIns="0" rtlCol="0" anchor="ctr"/>
          <a:lstStyle/>
          <a:p>
            <a:pPr marL="0" indent="0">
              <a:buNone/>
            </a:pPr>
            <a:r>
              <a:rPr lang="tr-TR" sz="2100" b="1" err="1">
                <a:solidFill>
                  <a:srgbClr val="000000"/>
                </a:solidFill>
                <a:latin typeface="Calibri" pitchFamily="34" charset="0"/>
                <a:ea typeface="Calibri" pitchFamily="34" charset="-122"/>
                <a:cs typeface="Calibri" pitchFamily="34" charset="-120"/>
              </a:rPr>
              <a:t>Evidence</a:t>
            </a:r>
            <a:endParaRPr lang="en-US" sz="2100" dirty="0"/>
          </a:p>
        </p:txBody>
      </p:sp>
      <p:sp>
        <p:nvSpPr>
          <p:cNvPr id="19" name="Shape 17"/>
          <p:cNvSpPr/>
          <p:nvPr/>
        </p:nvSpPr>
        <p:spPr>
          <a:xfrm>
            <a:off x="685800" y="5733288"/>
            <a:ext cx="566928" cy="566928"/>
          </a:xfrm>
          <a:prstGeom prst="ellipse">
            <a:avLst/>
          </a:prstGeom>
          <a:solidFill>
            <a:srgbClr val="E31836"/>
          </a:solidFill>
          <a:ln/>
        </p:spPr>
        <p:txBody>
          <a:bodyPr/>
          <a:lstStyle/>
          <a:p>
            <a:endParaRPr lang="tr-TR"/>
          </a:p>
        </p:txBody>
      </p:sp>
      <p:sp>
        <p:nvSpPr>
          <p:cNvPr id="21" name="Text 19"/>
          <p:cNvSpPr/>
          <p:nvPr/>
        </p:nvSpPr>
        <p:spPr>
          <a:xfrm>
            <a:off x="1508760" y="5687568"/>
            <a:ext cx="2860039" cy="685800"/>
          </a:xfrm>
          <a:prstGeom prst="rect">
            <a:avLst/>
          </a:prstGeom>
          <a:noFill/>
          <a:ln/>
        </p:spPr>
        <p:txBody>
          <a:bodyPr wrap="square" lIns="0" tIns="0" rIns="0" bIns="0" rtlCol="0" anchor="ctr"/>
          <a:lstStyle/>
          <a:p>
            <a:pPr marL="0" indent="0">
              <a:buNone/>
            </a:pPr>
            <a:r>
              <a:rPr lang="tr-TR" sz="2100" b="1">
                <a:solidFill>
                  <a:srgbClr val="000000"/>
                </a:solidFill>
                <a:latin typeface="Calibri" pitchFamily="34" charset="0"/>
                <a:ea typeface="Calibri" pitchFamily="34" charset="-122"/>
                <a:cs typeface="Calibri" pitchFamily="34" charset="-120"/>
              </a:rPr>
              <a:t>Conclusion</a:t>
            </a:r>
            <a:endParaRPr lang="en-US" sz="2100" dirty="0"/>
          </a:p>
        </p:txBody>
      </p:sp>
      <p:sp>
        <p:nvSpPr>
          <p:cNvPr id="26" name="TextBox 25">
            <a:extLst>
              <a:ext uri="{FF2B5EF4-FFF2-40B4-BE49-F238E27FC236}">
                <a16:creationId xmlns:a16="http://schemas.microsoft.com/office/drawing/2014/main" id="{222C2336-5CF6-4DCB-9ABA-0AD0605BD085}"/>
              </a:ext>
            </a:extLst>
          </p:cNvPr>
          <p:cNvSpPr txBox="1"/>
          <p:nvPr/>
        </p:nvSpPr>
        <p:spPr>
          <a:xfrm>
            <a:off x="4368800" y="1639562"/>
            <a:ext cx="7701280" cy="369332"/>
          </a:xfrm>
          <a:prstGeom prst="rect">
            <a:avLst/>
          </a:prstGeom>
          <a:noFill/>
        </p:spPr>
        <p:txBody>
          <a:bodyPr wrap="square">
            <a:spAutoFit/>
          </a:bodyPr>
          <a:lstStyle/>
          <a:p>
            <a:r>
              <a:rPr lang="en-US" sz="1700">
                <a:solidFill>
                  <a:srgbClr val="222222"/>
                </a:solidFill>
                <a:latin typeface="Calibri" pitchFamily="34" charset="0"/>
                <a:ea typeface="Calibri" pitchFamily="34" charset="-122"/>
                <a:cs typeface="Calibri" pitchFamily="34" charset="-120"/>
              </a:rPr>
              <a:t>a cellular fire-spread core, validated on real fires — the DSS touches it only through one typed interface</a:t>
            </a:r>
            <a:endParaRPr lang="tr-TR" sz="1700" dirty="0"/>
          </a:p>
        </p:txBody>
      </p:sp>
      <p:sp>
        <p:nvSpPr>
          <p:cNvPr id="28" name="TextBox 27">
            <a:extLst>
              <a:ext uri="{FF2B5EF4-FFF2-40B4-BE49-F238E27FC236}">
                <a16:creationId xmlns:a16="http://schemas.microsoft.com/office/drawing/2014/main" id="{E7493BC8-2230-44E8-A167-837D738D5BAA}"/>
              </a:ext>
            </a:extLst>
          </p:cNvPr>
          <p:cNvSpPr txBox="1"/>
          <p:nvPr/>
        </p:nvSpPr>
        <p:spPr>
          <a:xfrm>
            <a:off x="4368800" y="2483596"/>
            <a:ext cx="7701280" cy="369332"/>
          </a:xfrm>
          <a:prstGeom prst="rect">
            <a:avLst/>
          </a:prstGeom>
          <a:noFill/>
        </p:spPr>
        <p:txBody>
          <a:bodyPr wrap="square">
            <a:spAutoFit/>
          </a:bodyPr>
          <a:lstStyle/>
          <a:p>
            <a:r>
              <a:rPr lang="en-US" sz="1700">
                <a:solidFill>
                  <a:srgbClr val="222222"/>
                </a:solidFill>
                <a:latin typeface="Calibri" pitchFamily="34" charset="0"/>
                <a:ea typeface="Calibri" pitchFamily="34" charset="-122"/>
                <a:cs typeface="Calibri" pitchFamily="34" charset="-120"/>
              </a:rPr>
              <a:t>one agent, four layers: inputs → perception with confidence → concepts → decision</a:t>
            </a:r>
            <a:endParaRPr lang="tr-TR" sz="1700" dirty="0"/>
          </a:p>
        </p:txBody>
      </p:sp>
      <p:sp>
        <p:nvSpPr>
          <p:cNvPr id="30" name="TextBox 29">
            <a:extLst>
              <a:ext uri="{FF2B5EF4-FFF2-40B4-BE49-F238E27FC236}">
                <a16:creationId xmlns:a16="http://schemas.microsoft.com/office/drawing/2014/main" id="{9679F0AF-D0F3-4590-A30A-6FD35722E889}"/>
              </a:ext>
            </a:extLst>
          </p:cNvPr>
          <p:cNvSpPr txBox="1"/>
          <p:nvPr/>
        </p:nvSpPr>
        <p:spPr>
          <a:xfrm>
            <a:off x="4368800" y="3319272"/>
            <a:ext cx="7701280" cy="369332"/>
          </a:xfrm>
          <a:prstGeom prst="rect">
            <a:avLst/>
          </a:prstGeom>
          <a:noFill/>
        </p:spPr>
        <p:txBody>
          <a:bodyPr wrap="square">
            <a:spAutoFit/>
          </a:bodyPr>
          <a:lstStyle/>
          <a:p>
            <a:r>
              <a:rPr lang="en-US" sz="1700">
                <a:solidFill>
                  <a:srgbClr val="222222"/>
                </a:solidFill>
                <a:latin typeface="Calibri" pitchFamily="34" charset="0"/>
                <a:ea typeface="Calibri" pitchFamily="34" charset="-122"/>
                <a:cs typeface="Calibri" pitchFamily="34" charset="-120"/>
              </a:rPr>
              <a:t>five decision concepts · Takagi–Sugeno rules · cost &amp; quality tests · graduated fail-safe</a:t>
            </a:r>
            <a:endParaRPr lang="tr-TR" sz="1700" dirty="0"/>
          </a:p>
        </p:txBody>
      </p:sp>
      <p:sp>
        <p:nvSpPr>
          <p:cNvPr id="32" name="TextBox 31">
            <a:extLst>
              <a:ext uri="{FF2B5EF4-FFF2-40B4-BE49-F238E27FC236}">
                <a16:creationId xmlns:a16="http://schemas.microsoft.com/office/drawing/2014/main" id="{9BFDEC13-1299-4E16-8B2F-CCE7634BFF4F}"/>
              </a:ext>
            </a:extLst>
          </p:cNvPr>
          <p:cNvSpPr txBox="1"/>
          <p:nvPr/>
        </p:nvSpPr>
        <p:spPr>
          <a:xfrm>
            <a:off x="4368801" y="4164657"/>
            <a:ext cx="7701280" cy="369332"/>
          </a:xfrm>
          <a:prstGeom prst="rect">
            <a:avLst/>
          </a:prstGeom>
          <a:noFill/>
        </p:spPr>
        <p:txBody>
          <a:bodyPr wrap="square">
            <a:spAutoFit/>
          </a:bodyPr>
          <a:lstStyle/>
          <a:p>
            <a:r>
              <a:rPr lang="en-US" sz="1700" err="1">
                <a:solidFill>
                  <a:srgbClr val="222222"/>
                </a:solidFill>
                <a:latin typeface="Calibri" pitchFamily="34" charset="0"/>
                <a:ea typeface="Calibri" pitchFamily="34" charset="-122"/>
                <a:cs typeface="Calibri" pitchFamily="34" charset="-120"/>
              </a:rPr>
              <a:t>rules tune themselves and grow; an LLM proposes new ones — all behind nine verification gates</a:t>
            </a:r>
            <a:endParaRPr lang="tr-TR" sz="1700" dirty="0"/>
          </a:p>
        </p:txBody>
      </p:sp>
      <p:sp>
        <p:nvSpPr>
          <p:cNvPr id="34" name="TextBox 33">
            <a:extLst>
              <a:ext uri="{FF2B5EF4-FFF2-40B4-BE49-F238E27FC236}">
                <a16:creationId xmlns:a16="http://schemas.microsoft.com/office/drawing/2014/main" id="{50CF5718-C3AD-4960-8682-DDE754BA2B87}"/>
              </a:ext>
            </a:extLst>
          </p:cNvPr>
          <p:cNvSpPr txBox="1"/>
          <p:nvPr/>
        </p:nvSpPr>
        <p:spPr>
          <a:xfrm>
            <a:off x="4368799" y="4990838"/>
            <a:ext cx="7701279" cy="369332"/>
          </a:xfrm>
          <a:prstGeom prst="rect">
            <a:avLst/>
          </a:prstGeom>
          <a:noFill/>
        </p:spPr>
        <p:txBody>
          <a:bodyPr wrap="square">
            <a:spAutoFit/>
          </a:bodyPr>
          <a:lstStyle/>
          <a:p>
            <a:r>
              <a:rPr lang="tr-TR" sz="1700">
                <a:solidFill>
                  <a:srgbClr val="222222"/>
                </a:solidFill>
                <a:latin typeface="Calibri" pitchFamily="34" charset="0"/>
                <a:ea typeface="Calibri" pitchFamily="34" charset="-122"/>
                <a:cs typeface="Calibri" pitchFamily="34" charset="-120"/>
              </a:rPr>
              <a:t>blind hindcasts · sensitivity · improvement ladder · generated products · tempo &amp; scale</a:t>
            </a:r>
            <a:endParaRPr lang="tr-TR" sz="1700" dirty="0"/>
          </a:p>
        </p:txBody>
      </p:sp>
      <p:pic>
        <p:nvPicPr>
          <p:cNvPr id="35" name="Picture 34" descr="image.png"/>
          <p:cNvPicPr>
            <a:picLocks noChangeAspect="1"/>
          </p:cNvPicPr>
          <p:nvPr/>
        </p:nvPicPr>
        <p:blipFill>
          <a:blip r:embed="rId3"/>
          <a:stretch>
            <a:fillRect/>
          </a:stretch>
        </p:blipFill>
        <p:spPr>
          <a:xfrm>
            <a:off x="10716768" y="184607"/>
            <a:ext cx="475488" cy="398882"/>
          </a:xfrm>
          <a:prstGeom prst="rect">
            <a:avLst/>
          </a:prstGeom>
        </p:spPr>
      </p:pic>
      <p:pic>
        <p:nvPicPr>
          <p:cNvPr id="36" name="Picture 35" descr="image.png"/>
          <p:cNvPicPr>
            <a:picLocks noChangeAspect="1"/>
          </p:cNvPicPr>
          <p:nvPr/>
        </p:nvPicPr>
        <p:blipFill>
          <a:blip r:embed="rId4"/>
          <a:stretch>
            <a:fillRect/>
          </a:stretch>
        </p:blipFill>
        <p:spPr>
          <a:xfrm>
            <a:off x="11265408" y="186217"/>
            <a:ext cx="475488" cy="395662"/>
          </a:xfrm>
          <a:prstGeom prst="rect">
            <a:avLst/>
          </a:prstGeom>
        </p:spPr>
      </p:pic>
      <p:sp>
        <p:nvSpPr>
          <p:cNvPr id="40" name="TextBox 40">
            <a:extLst>
              <a:ext uri="{FF2B5EF4-FFF2-40B4-BE49-F238E27FC236}">
                <a16:creationId xmlns:a16="http://schemas.microsoft.com/office/drawing/2014/main" id="{50CF5718-C3AD-4960-8682-DDE754BA2B87}"/>
              </a:ext>
            </a:extLst>
          </p:cNvPr>
          <p:cNvSpPr txBox="1"/>
          <p:nvPr/>
        </p:nvSpPr>
        <p:spPr>
          <a:xfrm>
            <a:off x="4368799" y="5832086"/>
            <a:ext cx="7701279" cy="369332"/>
          </a:xfrm>
          <a:prstGeom prst="rect">
            <a:avLst/>
          </a:prstGeom>
          <a:noFill/>
        </p:spPr>
        <p:txBody>
          <a:bodyPr wrap="square">
            <a:spAutoFit/>
          </a:bodyPr>
          <a:lstStyle/>
          <a:p>
            <a:r>
              <a:rPr lang="tr-TR" sz="1700">
                <a:solidFill>
                  <a:srgbClr val="222222"/>
                </a:solidFill>
                <a:latin typeface="Calibri" pitchFamily="34" charset="0"/>
                <a:ea typeface="Calibri" pitchFamily="34" charset="-122"/>
                <a:cs typeface="Calibri" pitchFamily="34" charset="-120"/>
              </a:rPr>
              <a:t>contributions, boundaries, future work — then your questions</a:t>
            </a:r>
            <a:endParaRPr lang="tr-TR" sz="1700" dirty="0"/>
          </a:p>
        </p:txBody>
      </p:sp>
    </p:spTree>
    <p:extLst>
      <p:ext uri="{BB962C8B-B14F-4D97-AF65-F5344CB8AC3E}">
        <p14:creationId xmlns:p14="http://schemas.microsoft.com/office/powerpoint/2010/main" val="6211132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bg>
      <p:bgPr>
        <a:solidFill>
          <a:schemeClr val="tx1">
            <a:lumMod val="65000"/>
            <a:lumOff val="35000"/>
          </a:schemeClr>
        </a:solidFill>
        <a:effectLst/>
      </p:bgPr>
    </p:bg>
    <p:spTree>
      <p:nvGrpSpPr>
        <p:cNvPr id="1" name=""/>
        <p:cNvGrpSpPr/>
        <p:nvPr/>
      </p:nvGrpSpPr>
      <p:grpSpPr>
        <a:xfrm>
          <a:off x="0" y="0"/>
          <a:ext cx="0" cy="0"/>
          <a:chOff x="0" y="0"/>
          <a:chExt cx="0" cy="0"/>
        </a:xfrm>
      </p:grpSpPr>
      <p:sp>
        <p:nvSpPr>
          <p:cNvPr id="3" name="Text 1"/>
          <p:cNvSpPr/>
          <p:nvPr/>
        </p:nvSpPr>
        <p:spPr>
          <a:xfrm>
            <a:off x="822960" y="2606040"/>
            <a:ext cx="10607040" cy="91440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Simulation Framework</a:t>
            </a:r>
          </a:p>
          <a:p>
            <a:r>
              <a:rPr lang="en-US" sz="3200" b="1" dirty="0">
                <a:solidFill>
                  <a:srgbClr val="FFFFFF"/>
                </a:solidFill>
                <a:latin typeface="Cambria" pitchFamily="34" charset="0"/>
                <a:ea typeface="Cambria" pitchFamily="34" charset="-122"/>
                <a:cs typeface="Cambria" pitchFamily="34" charset="-120"/>
              </a:rPr>
              <a:t>(Fire Spread Core)</a:t>
            </a:r>
          </a:p>
        </p:txBody>
      </p:sp>
      <p:pic>
        <p:nvPicPr>
          <p:cNvPr id="5"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6"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p:sp>
        <p:nvSpPr>
          <p:cNvPr id="8" name="Text 0">
            <a:extLst>
              <a:ext uri="{FF2B5EF4-FFF2-40B4-BE49-F238E27FC236}">
                <a16:creationId xmlns:a16="http://schemas.microsoft.com/office/drawing/2014/main" id="{D4B4FCD8-97CF-129E-4322-6349A2F138E8}"/>
              </a:ext>
            </a:extLst>
          </p:cNvPr>
          <p:cNvSpPr/>
          <p:nvPr/>
        </p:nvSpPr>
        <p:spPr>
          <a:xfrm>
            <a:off x="822960" y="2194560"/>
            <a:ext cx="5486400" cy="365760"/>
          </a:xfrm>
          <a:prstGeom prst="rect">
            <a:avLst/>
          </a:prstGeom>
          <a:noFill/>
          <a:ln/>
        </p:spPr>
        <p:txBody>
          <a:bodyPr wrap="square" lIns="0" tIns="0" rIns="0" bIns="0" rtlCol="0" anchor="ctr"/>
          <a:lstStyle/>
          <a:p>
            <a:pPr marL="0" indent="0">
              <a:buNone/>
            </a:pPr>
            <a:r>
              <a:rPr lang="en-US" sz="1500" b="1" kern="0" spc="300" dirty="0">
                <a:solidFill>
                  <a:srgbClr val="E31836"/>
                </a:solidFill>
                <a:latin typeface="Calibri" pitchFamily="34" charset="0"/>
                <a:ea typeface="Calibri" pitchFamily="34" charset="-122"/>
                <a:cs typeface="Calibri" pitchFamily="34" charset="-120"/>
              </a:rPr>
              <a:t>PART 1</a:t>
            </a:r>
            <a:endParaRPr lang="en-US" sz="15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56032"/>
            <a:ext cx="91440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SIMULATION FRAMEWORK : ARCHITECTURE</a:t>
            </a:r>
            <a:endParaRPr lang="en-US" sz="1300" dirty="0"/>
          </a:p>
        </p:txBody>
      </p:sp>
      <p:sp>
        <p:nvSpPr>
          <p:cNvPr id="3" name="Text 1"/>
          <p:cNvSpPr/>
          <p:nvPr/>
        </p:nvSpPr>
        <p:spPr>
          <a:xfrm>
            <a:off x="502920" y="512064"/>
            <a:ext cx="11247120" cy="731520"/>
          </a:xfrm>
          <a:prstGeom prst="rect">
            <a:avLst/>
          </a:prstGeom>
          <a:noFill/>
          <a:ln/>
        </p:spPr>
        <p:txBody>
          <a:bodyPr wrap="square" lIns="0" tIns="0" rIns="0" bIns="0" rtlCol="0" anchor="ctr"/>
          <a:lstStyle/>
          <a:p>
            <a:r>
              <a:rPr lang="en-US" sz="2900" b="1" dirty="0">
                <a:solidFill>
                  <a:srgbClr val="000000"/>
                </a:solidFill>
                <a:latin typeface="Cambria" pitchFamily="34" charset="0"/>
                <a:ea typeface="Cambria" pitchFamily="34" charset="-122"/>
                <a:cs typeface="Cambria" pitchFamily="34" charset="-120"/>
              </a:rPr>
              <a:t>Sim &amp; DSS Cores</a:t>
            </a:r>
            <a:endParaRPr lang="en-US" sz="3200" i="1" u="sng" dirty="0"/>
          </a:p>
        </p:txBody>
      </p:sp>
      <p:sp>
        <p:nvSpPr>
          <p:cNvPr id="5" name="Text 2"/>
          <p:cNvSpPr/>
          <p:nvPr/>
        </p:nvSpPr>
        <p:spPr>
          <a:xfrm>
            <a:off x="1767840" y="2084832"/>
            <a:ext cx="3840480" cy="4389120"/>
          </a:xfrm>
          <a:prstGeom prst="rect">
            <a:avLst/>
          </a:prstGeom>
          <a:noFill/>
          <a:ln/>
        </p:spPr>
        <p:txBody>
          <a:bodyPr wrap="square" lIns="0" tIns="0" rIns="0" bIns="0" rtlCol="0" anchor="t"/>
          <a:lstStyle/>
          <a:p>
            <a:endParaRPr lang="en-US" sz="1400" dirty="0"/>
          </a:p>
        </p:txBody>
      </p:sp>
      <p:pic>
        <p:nvPicPr>
          <p:cNvPr id="6" name="Image 1"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7" name="Image 2" descr="/tmp/thx/deck/figs/eee_logo.png"/>
          <p:cNvPicPr>
            <a:picLocks noChangeAspect="1"/>
          </p:cNvPicPr>
          <p:nvPr/>
        </p:nvPicPr>
        <p:blipFill>
          <a:blip r:embed="rId4"/>
          <a:stretch>
            <a:fillRect/>
          </a:stretch>
        </p:blipFill>
        <p:spPr>
          <a:xfrm>
            <a:off x="11265408" y="186217"/>
            <a:ext cx="475488" cy="395662"/>
          </a:xfrm>
          <a:prstGeom prst="rect">
            <a:avLst/>
          </a:prstGeom>
        </p:spPr>
      </p:pic>
      <p:pic>
        <p:nvPicPr>
          <p:cNvPr id="12" name="Image 2" descr="/tmp/thx/deck/figs/Figure3_1.png">
            <a:extLst>
              <a:ext uri="{FF2B5EF4-FFF2-40B4-BE49-F238E27FC236}">
                <a16:creationId xmlns:a16="http://schemas.microsoft.com/office/drawing/2014/main" id="{1151D842-AAB1-20F3-8FD7-5AF74053D941}"/>
              </a:ext>
            </a:extLst>
          </p:cNvPr>
          <p:cNvPicPr>
            <a:picLocks noChangeAspect="1"/>
          </p:cNvPicPr>
          <p:nvPr/>
        </p:nvPicPr>
        <p:blipFill>
          <a:blip r:embed="rId5"/>
          <a:stretch>
            <a:fillRect/>
          </a:stretch>
        </p:blipFill>
        <p:spPr>
          <a:xfrm>
            <a:off x="365760" y="1815950"/>
            <a:ext cx="5074920" cy="4323379"/>
          </a:xfrm>
          <a:prstGeom prst="rect">
            <a:avLst/>
          </a:prstGeom>
        </p:spPr>
      </p:pic>
      <p:graphicFrame>
        <p:nvGraphicFramePr>
          <p:cNvPr id="13" name="Diagram 12">
            <a:extLst>
              <a:ext uri="{FF2B5EF4-FFF2-40B4-BE49-F238E27FC236}">
                <a16:creationId xmlns:a16="http://schemas.microsoft.com/office/drawing/2014/main" id="{8310A2BD-12C6-AD5B-B068-1AC6CED5BE6C}"/>
              </a:ext>
            </a:extLst>
          </p:cNvPr>
          <p:cNvGraphicFramePr/>
          <p:nvPr>
            <p:extLst>
              <p:ext uri="{D42A27DB-BD31-4B8C-83A1-F6EECF244321}">
                <p14:modId xmlns:p14="http://schemas.microsoft.com/office/powerpoint/2010/main" val="3478138317"/>
              </p:ext>
            </p:extLst>
          </p:nvPr>
        </p:nvGraphicFramePr>
        <p:xfrm>
          <a:off x="5583847" y="1639957"/>
          <a:ext cx="6242393" cy="5060405"/>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12890031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56032"/>
            <a:ext cx="91440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SIMULATION FRAMEWORK : ARCHITECTURE</a:t>
            </a:r>
            <a:endParaRPr lang="en-US" sz="1300" dirty="0"/>
          </a:p>
        </p:txBody>
      </p:sp>
      <p:sp>
        <p:nvSpPr>
          <p:cNvPr id="3" name="Text 1"/>
          <p:cNvSpPr/>
          <p:nvPr/>
        </p:nvSpPr>
        <p:spPr>
          <a:xfrm>
            <a:off x="502920" y="512064"/>
            <a:ext cx="11247120" cy="731520"/>
          </a:xfrm>
          <a:prstGeom prst="rect">
            <a:avLst/>
          </a:prstGeom>
          <a:noFill/>
          <a:ln/>
        </p:spPr>
        <p:txBody>
          <a:bodyPr wrap="square" lIns="0" tIns="0" rIns="0" bIns="0" rtlCol="0" anchor="ctr"/>
          <a:lstStyle/>
          <a:p>
            <a:pPr marL="0" indent="0">
              <a:buNone/>
            </a:pPr>
            <a:r>
              <a:rPr lang="en-US" sz="2700" b="1" dirty="0">
                <a:solidFill>
                  <a:srgbClr val="000000"/>
                </a:solidFill>
                <a:latin typeface="Cambria" pitchFamily="34" charset="0"/>
                <a:ea typeface="Cambria" pitchFamily="34" charset="-122"/>
                <a:cs typeface="Cambria" pitchFamily="34" charset="-120"/>
              </a:rPr>
              <a:t>The Simulation Input Field</a:t>
            </a:r>
            <a:endParaRPr lang="en-US" sz="2700" dirty="0"/>
          </a:p>
        </p:txBody>
      </p:sp>
      <p:pic>
        <p:nvPicPr>
          <p:cNvPr id="4"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5"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mc:AlternateContent xmlns:mc="http://schemas.openxmlformats.org/markup-compatibility/2006" xmlns:a14="http://schemas.microsoft.com/office/drawing/2010/main">
        <mc:Choice Requires="a14">
          <p:sp>
            <p:nvSpPr>
              <p:cNvPr id="25" name="Text 5">
                <a:extLst>
                  <a:ext uri="{FF2B5EF4-FFF2-40B4-BE49-F238E27FC236}">
                    <a16:creationId xmlns:a16="http://schemas.microsoft.com/office/drawing/2014/main" id="{EC65DB17-2507-4A91-9DDF-59F3BB29910E}"/>
                  </a:ext>
                </a:extLst>
              </p:cNvPr>
              <p:cNvSpPr/>
              <p:nvPr/>
            </p:nvSpPr>
            <p:spPr>
              <a:xfrm>
                <a:off x="6790414" y="2340663"/>
                <a:ext cx="3931920" cy="457200"/>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sSub>
                        <m:sSubPr>
                          <m:ctrlPr>
                            <a:rPr lang="en-US" sz="1500" i="1">
                              <a:latin typeface="Cambria Math" panose="02040503050406030204" pitchFamily="18" charset="0"/>
                            </a:rPr>
                          </m:ctrlPr>
                        </m:sSubPr>
                        <m:e>
                          <m:r>
                            <a:rPr lang="en-US" sz="1500">
                              <a:latin typeface="Cambria Math"/>
                            </a:rPr>
                            <m:t>ℱ</m:t>
                          </m:r>
                        </m:e>
                        <m:sub>
                          <m:r>
                            <a:rPr lang="en-US" sz="1500">
                              <a:latin typeface="Cambria Math"/>
                            </a:rPr>
                            <m:t>𝑖𝑛</m:t>
                          </m:r>
                          <m:r>
                            <a:rPr lang="en-US" sz="1500">
                              <a:latin typeface="Cambria Math"/>
                            </a:rPr>
                            <m:t>,</m:t>
                          </m:r>
                          <m:r>
                            <a:rPr lang="en-US" sz="1500">
                              <a:latin typeface="Cambria Math"/>
                            </a:rPr>
                            <m:t>𝑘</m:t>
                          </m:r>
                        </m:sub>
                      </m:sSub>
                      <m:r>
                        <a:rPr lang="en-US" sz="1500">
                          <a:latin typeface="Cambria Math"/>
                        </a:rPr>
                        <m:t>=</m:t>
                      </m:r>
                      <m:d>
                        <m:dPr>
                          <m:begChr m:val="{"/>
                          <m:endChr m:val="}"/>
                          <m:ctrlPr>
                            <a:rPr lang="en-US" sz="1500" b="1" i="1">
                              <a:latin typeface="Cambria Math" panose="02040503050406030204" pitchFamily="18" charset="0"/>
                            </a:rPr>
                          </m:ctrlPr>
                        </m:dPr>
                        <m:e>
                          <m:sSub>
                            <m:sSubPr>
                              <m:ctrlPr>
                                <a:rPr lang="en-US" sz="1500" i="1">
                                  <a:latin typeface="Cambria Math" panose="02040503050406030204" pitchFamily="18" charset="0"/>
                                </a:rPr>
                              </m:ctrlPr>
                            </m:sSubPr>
                            <m:e>
                              <m:r>
                                <a:rPr lang="en-US" sz="1500" b="0" i="1">
                                  <a:latin typeface="Cambria Math"/>
                                </a:rPr>
                                <m:t>𝑈</m:t>
                              </m:r>
                            </m:e>
                            <m:sub>
                              <m:r>
                                <a:rPr lang="en-US" sz="1500" b="0" i="1">
                                  <a:latin typeface="Cambria Math"/>
                                </a:rPr>
                                <m:t>𝑀𝑒𝑡𝑒𝑜</m:t>
                              </m:r>
                              <m:r>
                                <a:rPr lang="en-US" sz="1500" b="0">
                                  <a:latin typeface="Cambria Math"/>
                                </a:rPr>
                                <m:t>,</m:t>
                              </m:r>
                              <m:r>
                                <a:rPr lang="en-US" sz="1500" b="0" i="1">
                                  <a:latin typeface="Cambria Math"/>
                                </a:rPr>
                                <m:t>𝑘</m:t>
                              </m:r>
                            </m:sub>
                          </m:sSub>
                          <m:r>
                            <a:rPr lang="en-US" sz="1500" b="1">
                              <a:latin typeface="Cambria Math"/>
                            </a:rPr>
                            <m:t>,</m:t>
                          </m:r>
                          <m:sSub>
                            <m:sSubPr>
                              <m:ctrlPr>
                                <a:rPr lang="en-US" sz="1500" i="1">
                                  <a:latin typeface="Cambria Math" panose="02040503050406030204" pitchFamily="18" charset="0"/>
                                </a:rPr>
                              </m:ctrlPr>
                            </m:sSubPr>
                            <m:e>
                              <m:r>
                                <a:rPr lang="en-US" sz="1500">
                                  <a:latin typeface="Cambria Math"/>
                                </a:rPr>
                                <m:t>𝑈</m:t>
                              </m:r>
                            </m:e>
                            <m:sub>
                              <m:r>
                                <a:rPr lang="en-US" sz="1500">
                                  <a:latin typeface="Cambria Math"/>
                                </a:rPr>
                                <m:t>𝐺𝑒𝑜</m:t>
                              </m:r>
                            </m:sub>
                          </m:sSub>
                          <m:r>
                            <a:rPr lang="en-US" sz="1500">
                              <a:latin typeface="Cambria Math"/>
                            </a:rPr>
                            <m:t>, </m:t>
                          </m:r>
                          <m:sSub>
                            <m:sSubPr>
                              <m:ctrlPr>
                                <a:rPr lang="en-US" sz="1500" i="1">
                                  <a:latin typeface="Cambria Math" panose="02040503050406030204" pitchFamily="18" charset="0"/>
                                </a:rPr>
                              </m:ctrlPr>
                            </m:sSubPr>
                            <m:e>
                              <m:sSub>
                                <m:sSubPr>
                                  <m:ctrlPr>
                                    <a:rPr lang="en-US" sz="1500" i="1">
                                      <a:latin typeface="Cambria Math" panose="02040503050406030204" pitchFamily="18" charset="0"/>
                                    </a:rPr>
                                  </m:ctrlPr>
                                </m:sSubPr>
                                <m:e>
                                  <m:r>
                                    <a:rPr lang="en-US" sz="1500">
                                      <a:latin typeface="Cambria Math"/>
                                    </a:rPr>
                                    <m:t>𝑈</m:t>
                                  </m:r>
                                </m:e>
                                <m:sub>
                                  <m:r>
                                    <a:rPr lang="en-US" sz="1500">
                                      <a:latin typeface="Cambria Math"/>
                                    </a:rPr>
                                    <m:t>𝐹𝑢𝑒𝑙</m:t>
                                  </m:r>
                                  <m:r>
                                    <m:rPr>
                                      <m:nor/>
                                    </m:rPr>
                                    <a:rPr lang="en-US" sz="1500" i="0">
                                      <a:latin typeface="Cambria Math"/>
                                    </a:rPr>
                                    <m:t>,</m:t>
                                  </m:r>
                                  <m:r>
                                    <a:rPr lang="tr-TR" sz="1500" b="0" i="1" smtClean="0">
                                      <a:latin typeface="Cambria Math" panose="02040503050406030204" pitchFamily="18" charset="0"/>
                                    </a:rPr>
                                    <m:t>𝑘</m:t>
                                  </m:r>
                                </m:sub>
                              </m:sSub>
                              <m:r>
                                <a:rPr lang="tr-TR" sz="1500" b="1" i="1">
                                  <a:latin typeface="Cambria Math" panose="02040503050406030204" pitchFamily="18" charset="0"/>
                                </a:rPr>
                                <m:t>,</m:t>
                              </m:r>
                              <m:sSub>
                                <m:sSubPr>
                                  <m:ctrlPr>
                                    <a:rPr lang="en-US" sz="1500" i="1">
                                      <a:latin typeface="Cambria Math" panose="02040503050406030204" pitchFamily="18" charset="0"/>
                                    </a:rPr>
                                  </m:ctrlPr>
                                </m:sSubPr>
                                <m:e>
                                  <m:r>
                                    <a:rPr lang="en-US" sz="1500">
                                      <a:latin typeface="Cambria Math"/>
                                    </a:rPr>
                                    <m:t>𝑈</m:t>
                                  </m:r>
                                </m:e>
                                <m:sub>
                                  <m:r>
                                    <a:rPr lang="en-US" sz="1500">
                                      <a:latin typeface="Cambria Math"/>
                                    </a:rPr>
                                    <m:t>𝐼𝑔𝑛</m:t>
                                  </m:r>
                                  <m:r>
                                    <a:rPr lang="en-US" sz="1500">
                                      <a:latin typeface="Cambria Math"/>
                                    </a:rPr>
                                    <m:t>,</m:t>
                                  </m:r>
                                  <m:r>
                                    <a:rPr lang="en-US" sz="1500">
                                      <a:latin typeface="Cambria Math"/>
                                    </a:rPr>
                                    <m:t>𝑘</m:t>
                                  </m:r>
                                </m:sub>
                              </m:sSub>
                              <m:r>
                                <a:rPr lang="en-US" sz="1500">
                                  <a:latin typeface="Cambria Math"/>
                                </a:rPr>
                                <m:t>, </m:t>
                              </m:r>
                              <m:r>
                                <a:rPr lang="en-US" sz="1500">
                                  <a:latin typeface="Cambria Math"/>
                                </a:rPr>
                                <m:t>𝑈</m:t>
                              </m:r>
                            </m:e>
                            <m:sub>
                              <m:r>
                                <a:rPr lang="en-US" sz="1500">
                                  <a:latin typeface="Cambria Math"/>
                                </a:rPr>
                                <m:t>𝐷𝑆𝑆</m:t>
                              </m:r>
                              <m:r>
                                <a:rPr lang="en-US" sz="1500">
                                  <a:latin typeface="Cambria Math"/>
                                </a:rPr>
                                <m:t>,</m:t>
                              </m:r>
                              <m:r>
                                <a:rPr lang="en-US" sz="1500">
                                  <a:latin typeface="Cambria Math"/>
                                </a:rPr>
                                <m:t>𝑘</m:t>
                              </m:r>
                            </m:sub>
                          </m:sSub>
                        </m:e>
                      </m:d>
                    </m:oMath>
                  </m:oMathPara>
                </a14:m>
                <a:endParaRPr lang="en-US" sz="1600" dirty="0"/>
              </a:p>
            </p:txBody>
          </p:sp>
        </mc:Choice>
        <mc:Fallback xmlns="">
          <p:sp>
            <p:nvSpPr>
              <p:cNvPr id="25" name="Text 5">
                <a:extLst>
                  <a:ext uri="{FF2B5EF4-FFF2-40B4-BE49-F238E27FC236}">
                    <a16:creationId xmlns:a16="http://schemas.microsoft.com/office/drawing/2014/main" id="{EC65DB17-2507-4A91-9DDF-59F3BB29910E}"/>
                  </a:ext>
                </a:extLst>
              </p:cNvPr>
              <p:cNvSpPr>
                <a:spLocks noRot="1" noChangeAspect="1" noMove="1" noResize="1" noEditPoints="1" noAdjustHandles="1" noChangeArrowheads="1" noChangeShapeType="1" noTextEdit="1"/>
              </p:cNvSpPr>
              <p:nvPr/>
            </p:nvSpPr>
            <p:spPr>
              <a:xfrm>
                <a:off x="6790414" y="2340663"/>
                <a:ext cx="3931920" cy="457200"/>
              </a:xfrm>
              <a:prstGeom prst="rect">
                <a:avLst/>
              </a:prstGeom>
              <a:blipFill>
                <a:blip r:embed="rId5"/>
                <a:stretch>
                  <a:fillRect/>
                </a:stretch>
              </a:blipFill>
              <a:ln/>
            </p:spPr>
            <p:txBody>
              <a:bodyPr/>
              <a:lstStyle/>
              <a:p>
                <a:r>
                  <a:rPr lang="tr-TR">
                    <a:noFill/>
                  </a:rPr>
                  <a:t> </a:t>
                </a:r>
              </a:p>
            </p:txBody>
          </p:sp>
        </mc:Fallback>
      </mc:AlternateContent>
      <p:pic>
        <p:nvPicPr>
          <p:cNvPr id="8" name="Image 2" descr="/tmp/thx/deck/figs/Figure3_1.png">
            <a:extLst>
              <a:ext uri="{FF2B5EF4-FFF2-40B4-BE49-F238E27FC236}">
                <a16:creationId xmlns:a16="http://schemas.microsoft.com/office/drawing/2014/main" id="{7D9FF66F-28B2-E695-FB9C-866BADB1D5E6}"/>
              </a:ext>
            </a:extLst>
          </p:cNvPr>
          <p:cNvPicPr>
            <a:picLocks noChangeAspect="1"/>
          </p:cNvPicPr>
          <p:nvPr/>
        </p:nvPicPr>
        <p:blipFill>
          <a:blip r:embed="rId6"/>
          <a:stretch>
            <a:fillRect/>
          </a:stretch>
        </p:blipFill>
        <p:spPr>
          <a:xfrm>
            <a:off x="365760" y="1815950"/>
            <a:ext cx="5074920" cy="4323379"/>
          </a:xfrm>
          <a:prstGeom prst="rect">
            <a:avLst/>
          </a:prstGeom>
        </p:spPr>
      </p:pic>
      <p:sp>
        <p:nvSpPr>
          <p:cNvPr id="20" name="Text 2">
            <a:extLst>
              <a:ext uri="{FF2B5EF4-FFF2-40B4-BE49-F238E27FC236}">
                <a16:creationId xmlns:a16="http://schemas.microsoft.com/office/drawing/2014/main" id="{A5CE2CB9-5F18-874B-4705-90094CFD5C18}"/>
              </a:ext>
            </a:extLst>
          </p:cNvPr>
          <p:cNvSpPr/>
          <p:nvPr/>
        </p:nvSpPr>
        <p:spPr>
          <a:xfrm>
            <a:off x="5715000" y="1371600"/>
            <a:ext cx="6035040" cy="320040"/>
          </a:xfrm>
          <a:prstGeom prst="rect">
            <a:avLst/>
          </a:prstGeom>
          <a:noFill/>
          <a:ln/>
        </p:spPr>
        <p:txBody>
          <a:bodyPr wrap="square" lIns="0" tIns="0" rIns="0" bIns="0" rtlCol="0" anchor="t"/>
          <a:lstStyle/>
          <a:p>
            <a:pPr marL="0" indent="0">
              <a:lnSpc>
                <a:spcPct val="104000"/>
              </a:lnSpc>
              <a:buNone/>
            </a:pPr>
            <a:r>
              <a:rPr lang="en-US" sz="1500" b="1" dirty="0">
                <a:solidFill>
                  <a:srgbClr val="222222"/>
                </a:solidFill>
                <a:latin typeface="Calibri" pitchFamily="34" charset="0"/>
                <a:ea typeface="Calibri" pitchFamily="34" charset="-122"/>
                <a:cs typeface="Calibri" pitchFamily="34" charset="-120"/>
              </a:rPr>
              <a:t>State Transition</a:t>
            </a:r>
            <a:endParaRPr lang="en-US" sz="1500" dirty="0"/>
          </a:p>
        </p:txBody>
      </p:sp>
      <mc:AlternateContent xmlns:mc="http://schemas.openxmlformats.org/markup-compatibility/2006" xmlns:a14="http://schemas.microsoft.com/office/drawing/2010/main">
        <mc:Choice Requires="a14">
          <p:sp>
            <p:nvSpPr>
              <p:cNvPr id="26" name="Text 3">
                <a:extLst>
                  <a:ext uri="{FF2B5EF4-FFF2-40B4-BE49-F238E27FC236}">
                    <a16:creationId xmlns:a16="http://schemas.microsoft.com/office/drawing/2014/main" id="{09B13EAE-4C99-2C5C-13D1-EE917153D460}"/>
                  </a:ext>
                </a:extLst>
              </p:cNvPr>
              <p:cNvSpPr/>
              <p:nvPr/>
            </p:nvSpPr>
            <p:spPr>
              <a:xfrm>
                <a:off x="5738854" y="1700784"/>
                <a:ext cx="6035040" cy="457200"/>
              </a:xfrm>
              <a:prstGeom prst="rect">
                <a:avLst/>
              </a:prstGeom>
              <a:noFill/>
              <a:ln/>
            </p:spPr>
            <p:txBody>
              <a:bodyPr wrap="square" lIns="0" tIns="0" rIns="0" bIns="0"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sz="1600">
                              <a:latin typeface="Cambria Math"/>
                            </a:rPr>
                            <m:t>𝑘</m:t>
                          </m:r>
                          <m:r>
                            <a:rPr lang="en-US" sz="1600">
                              <a:latin typeface="Cambria Math"/>
                            </a:rPr>
                            <m:t>+1</m:t>
                          </m:r>
                        </m:sub>
                      </m:sSub>
                      <m:d>
                        <m:dPr>
                          <m:ctrlPr>
                            <a:rPr lang="en-US" sz="1600" i="1">
                              <a:latin typeface="Cambria Math" panose="02040503050406030204" pitchFamily="18" charset="0"/>
                            </a:rPr>
                          </m:ctrlPr>
                        </m:dPr>
                        <m:e>
                          <m:r>
                            <a:rPr lang="en-US" sz="1600">
                              <a:latin typeface="Cambria Math"/>
                            </a:rPr>
                            <m:t>𝑥</m:t>
                          </m:r>
                          <m:r>
                            <a:rPr lang="en-US" sz="1600">
                              <a:latin typeface="Cambria Math"/>
                            </a:rPr>
                            <m:t>,</m:t>
                          </m:r>
                          <m:r>
                            <a:rPr lang="en-US" sz="1600">
                              <a:latin typeface="Cambria Math"/>
                            </a:rPr>
                            <m:t>𝑦</m:t>
                          </m:r>
                        </m:e>
                      </m:d>
                      <m:r>
                        <a:rPr lang="en-US" sz="1600">
                          <a:latin typeface="Cambria Math"/>
                        </a:rPr>
                        <m:t>=</m:t>
                      </m:r>
                      <m:r>
                        <m:rPr>
                          <m:sty m:val="p"/>
                        </m:rPr>
                        <a:rPr lang="en-US" sz="1600">
                          <a:latin typeface="Cambria Math"/>
                        </a:rPr>
                        <m:t>Φ</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sz="1600">
                                  <a:latin typeface="Cambria Math"/>
                                </a:rPr>
                                <m:t>𝑘</m:t>
                              </m:r>
                            </m:sub>
                          </m:sSub>
                          <m:d>
                            <m:dPr>
                              <m:ctrlPr>
                                <a:rPr lang="en-US" sz="1600" i="1">
                                  <a:latin typeface="Cambria Math" panose="02040503050406030204" pitchFamily="18" charset="0"/>
                                </a:rPr>
                              </m:ctrlPr>
                            </m:dPr>
                            <m:e>
                              <m:r>
                                <a:rPr lang="en-US" sz="1600">
                                  <a:latin typeface="Cambria Math"/>
                                </a:rPr>
                                <m:t>𝑥</m:t>
                              </m:r>
                              <m:r>
                                <a:rPr lang="en-US" sz="1600">
                                  <a:latin typeface="Cambria Math"/>
                                </a:rPr>
                                <m:t>,</m:t>
                              </m:r>
                              <m:r>
                                <a:rPr lang="en-US" sz="1600">
                                  <a:latin typeface="Cambria Math"/>
                                </a:rPr>
                                <m:t>𝑦</m:t>
                              </m:r>
                            </m:e>
                          </m:d>
                          <m:r>
                            <a:rPr lang="en-US" sz="1600">
                              <a:latin typeface="Cambria Math"/>
                            </a:rPr>
                            <m:t>,</m:t>
                          </m:r>
                          <m:sSub>
                            <m:sSubPr>
                              <m:ctrlPr>
                                <a:rPr lang="en-US" sz="1600" i="1">
                                  <a:latin typeface="Cambria Math" panose="02040503050406030204" pitchFamily="18" charset="0"/>
                                </a:rPr>
                              </m:ctrlPr>
                            </m:sSubPr>
                            <m:e>
                              <m:r>
                                <a:rPr lang="en-US" sz="1600">
                                  <a:latin typeface="Cambria Math"/>
                                </a:rPr>
                                <m:t>ℱ</m:t>
                              </m:r>
                            </m:e>
                            <m:sub>
                              <m:r>
                                <a:rPr lang="en-US" sz="1600">
                                  <a:latin typeface="Cambria Math"/>
                                </a:rPr>
                                <m:t>𝑖𝑛</m:t>
                              </m:r>
                              <m:r>
                                <a:rPr lang="en-US" sz="1600">
                                  <a:latin typeface="Cambria Math"/>
                                </a:rPr>
                                <m:t>,</m:t>
                              </m:r>
                              <m:r>
                                <a:rPr lang="en-US" sz="1600">
                                  <a:latin typeface="Cambria Math"/>
                                </a:rPr>
                                <m:t>𝑘</m:t>
                              </m:r>
                            </m:sub>
                          </m:sSub>
                        </m:e>
                      </m:d>
                    </m:oMath>
                  </m:oMathPara>
                </a14:m>
                <a:endParaRPr lang="en-US" sz="1600" dirty="0"/>
              </a:p>
            </p:txBody>
          </p:sp>
        </mc:Choice>
        <mc:Fallback xmlns="">
          <p:sp>
            <p:nvSpPr>
              <p:cNvPr id="26" name="Text 3">
                <a:extLst>
                  <a:ext uri="{FF2B5EF4-FFF2-40B4-BE49-F238E27FC236}">
                    <a16:creationId xmlns:a16="http://schemas.microsoft.com/office/drawing/2014/main" id="{09B13EAE-4C99-2C5C-13D1-EE917153D460}"/>
                  </a:ext>
                </a:extLst>
              </p:cNvPr>
              <p:cNvSpPr>
                <a:spLocks noRot="1" noChangeAspect="1" noMove="1" noResize="1" noEditPoints="1" noAdjustHandles="1" noChangeArrowheads="1" noChangeShapeType="1" noTextEdit="1"/>
              </p:cNvSpPr>
              <p:nvPr/>
            </p:nvSpPr>
            <p:spPr>
              <a:xfrm>
                <a:off x="5738854" y="1700784"/>
                <a:ext cx="6035040" cy="457200"/>
              </a:xfrm>
              <a:prstGeom prst="rect">
                <a:avLst/>
              </a:prstGeom>
              <a:blipFill>
                <a:blip r:embed="rId11"/>
                <a:stretch>
                  <a:fillRect/>
                </a:stretch>
              </a:blipFill>
              <a:ln/>
            </p:spPr>
            <p:txBody>
              <a:bodyPr/>
              <a:lstStyle/>
              <a:p>
                <a:r>
                  <a:rPr lang="tr-TR">
                    <a:noFill/>
                  </a:rPr>
                  <a:t> </a:t>
                </a:r>
              </a:p>
            </p:txBody>
          </p:sp>
        </mc:Fallback>
      </mc:AlternateContent>
      <p:sp>
        <p:nvSpPr>
          <p:cNvPr id="28" name="Text 4">
            <a:extLst>
              <a:ext uri="{FF2B5EF4-FFF2-40B4-BE49-F238E27FC236}">
                <a16:creationId xmlns:a16="http://schemas.microsoft.com/office/drawing/2014/main" id="{67FF3C21-09CA-4F4D-C654-DC7B1525562C}"/>
              </a:ext>
            </a:extLst>
          </p:cNvPr>
          <p:cNvSpPr/>
          <p:nvPr/>
        </p:nvSpPr>
        <p:spPr>
          <a:xfrm>
            <a:off x="5738854" y="2112063"/>
            <a:ext cx="6035040" cy="320040"/>
          </a:xfrm>
          <a:prstGeom prst="rect">
            <a:avLst/>
          </a:prstGeom>
          <a:noFill/>
          <a:ln/>
        </p:spPr>
        <p:txBody>
          <a:bodyPr wrap="square" lIns="0" tIns="0" rIns="0" bIns="0" rtlCol="0" anchor="t"/>
          <a:lstStyle/>
          <a:p>
            <a:pPr marL="0" indent="0">
              <a:lnSpc>
                <a:spcPct val="104000"/>
              </a:lnSpc>
              <a:buNone/>
            </a:pPr>
            <a:r>
              <a:rPr lang="en-US" sz="1500" b="1" dirty="0">
                <a:solidFill>
                  <a:srgbClr val="222222"/>
                </a:solidFill>
                <a:latin typeface="Calibri" pitchFamily="34" charset="0"/>
                <a:ea typeface="Calibri" pitchFamily="34" charset="-122"/>
                <a:cs typeface="Calibri" pitchFamily="34" charset="-120"/>
              </a:rPr>
              <a:t>Input Field</a:t>
            </a:r>
            <a:endParaRPr lang="en-US" sz="1500" dirty="0"/>
          </a:p>
        </p:txBody>
      </p:sp>
      <mc:AlternateContent xmlns:mc="http://schemas.openxmlformats.org/markup-compatibility/2006" xmlns:a14="http://schemas.microsoft.com/office/drawing/2010/main">
        <mc:Choice Requires="a14">
          <p:graphicFrame>
            <p:nvGraphicFramePr>
              <p:cNvPr id="30" name="Table 29">
                <a:extLst>
                  <a:ext uri="{FF2B5EF4-FFF2-40B4-BE49-F238E27FC236}">
                    <a16:creationId xmlns:a16="http://schemas.microsoft.com/office/drawing/2014/main" id="{6395385F-9C52-B2C6-103E-1CBA827464B2}"/>
                  </a:ext>
                </a:extLst>
              </p:cNvPr>
              <p:cNvGraphicFramePr>
                <a:graphicFrameLocks noGrp="1"/>
              </p:cNvGraphicFramePr>
              <p:nvPr>
                <p:extLst>
                  <p:ext uri="{D42A27DB-BD31-4B8C-83A1-F6EECF244321}">
                    <p14:modId xmlns:p14="http://schemas.microsoft.com/office/powerpoint/2010/main" val="28312795"/>
                  </p:ext>
                </p:extLst>
              </p:nvPr>
            </p:nvGraphicFramePr>
            <p:xfrm>
              <a:off x="5715000" y="2843382"/>
              <a:ext cx="6375400" cy="3963669"/>
            </p:xfrm>
            <a:graphic>
              <a:graphicData uri="http://schemas.openxmlformats.org/drawingml/2006/table">
                <a:tbl>
                  <a:tblPr firstRow="1" bandRow="1">
                    <a:tableStyleId>{93296810-A885-4BE3-A3E7-6D5BEEA58F35}</a:tableStyleId>
                  </a:tblPr>
                  <a:tblGrid>
                    <a:gridCol w="1713109">
                      <a:extLst>
                        <a:ext uri="{9D8B030D-6E8A-4147-A177-3AD203B41FA5}">
                          <a16:colId xmlns:a16="http://schemas.microsoft.com/office/drawing/2014/main" val="2864274145"/>
                        </a:ext>
                      </a:extLst>
                    </a:gridCol>
                    <a:gridCol w="1315818">
                      <a:extLst>
                        <a:ext uri="{9D8B030D-6E8A-4147-A177-3AD203B41FA5}">
                          <a16:colId xmlns:a16="http://schemas.microsoft.com/office/drawing/2014/main" val="3760314938"/>
                        </a:ext>
                      </a:extLst>
                    </a:gridCol>
                    <a:gridCol w="1752623">
                      <a:extLst>
                        <a:ext uri="{9D8B030D-6E8A-4147-A177-3AD203B41FA5}">
                          <a16:colId xmlns:a16="http://schemas.microsoft.com/office/drawing/2014/main" val="2786632141"/>
                        </a:ext>
                      </a:extLst>
                    </a:gridCol>
                    <a:gridCol w="1593850">
                      <a:extLst>
                        <a:ext uri="{9D8B030D-6E8A-4147-A177-3AD203B41FA5}">
                          <a16:colId xmlns:a16="http://schemas.microsoft.com/office/drawing/2014/main" val="3874300014"/>
                        </a:ext>
                      </a:extLst>
                    </a:gridCol>
                  </a:tblGrid>
                  <a:tr h="327023">
                    <a:tc>
                      <a:txBody>
                        <a:bodyPr/>
                        <a:lstStyle/>
                        <a:p>
                          <a:pPr algn="just">
                            <a:lnSpc>
                              <a:spcPct val="150000"/>
                            </a:lnSpc>
                          </a:pPr>
                          <a14:m>
                            <m:oMath xmlns:m="http://schemas.openxmlformats.org/officeDocument/2006/math">
                              <m:sSub>
                                <m:sSubPr>
                                  <m:ctrlPr>
                                    <a:rPr lang="en-US" sz="1400" i="1" smtClean="0">
                                      <a:latin typeface="Cambria Math" panose="02040503050406030204" pitchFamily="18" charset="0"/>
                                    </a:rPr>
                                  </m:ctrlPr>
                                </m:sSubPr>
                                <m:e>
                                  <m:r>
                                    <a:rPr lang="en-US" sz="1400" b="0" i="1">
                                      <a:latin typeface="Cambria Math"/>
                                    </a:rPr>
                                    <m:t>𝑈</m:t>
                                  </m:r>
                                </m:e>
                                <m:sub>
                                  <m:r>
                                    <a:rPr lang="en-US" sz="1400" b="0" i="1">
                                      <a:latin typeface="Cambria Math"/>
                                    </a:rPr>
                                    <m:t>𝑀𝑒𝑡𝑒𝑜</m:t>
                                  </m:r>
                                  <m:r>
                                    <a:rPr lang="en-US" sz="1400" b="0">
                                      <a:latin typeface="Cambria Math"/>
                                    </a:rPr>
                                    <m:t>,</m:t>
                                  </m:r>
                                  <m:r>
                                    <a:rPr lang="en-US" sz="1400" b="0" i="1">
                                      <a:latin typeface="Cambria Math"/>
                                    </a:rPr>
                                    <m:t>𝑘</m:t>
                                  </m:r>
                                </m:sub>
                              </m:sSub>
                            </m:oMath>
                          </a14:m>
                          <a:r>
                            <a:rPr lang="en-US" sz="1300" dirty="0">
                              <a:effectLst/>
                            </a:rPr>
                            <a:t> </a:t>
                          </a:r>
                          <a:endParaRPr lang="tr-TR" sz="1300" dirty="0">
                            <a:effectLst/>
                            <a:latin typeface="Times New Roman" panose="02020603050405020304" pitchFamily="18" charset="0"/>
                            <a:ea typeface="Calibri" panose="020F0502020204030204" pitchFamily="34" charset="0"/>
                            <a:cs typeface="Arial" panose="020B0604020202020204" pitchFamily="34" charset="0"/>
                          </a:endParaRPr>
                        </a:p>
                      </a:txBody>
                      <a:tcPr marL="54048" marR="54048" marT="0" marB="0"/>
                    </a:tc>
                    <a:tc>
                      <a:txBody>
                        <a:bodyPr/>
                        <a:lstStyle/>
                        <a:p>
                          <a:pPr algn="just">
                            <a:lnSpc>
                              <a:spcPct val="150000"/>
                            </a:lnSpc>
                          </a:pPr>
                          <a14:m>
                            <m:oMath xmlns:m="http://schemas.openxmlformats.org/officeDocument/2006/math">
                              <m:sSub>
                                <m:sSubPr>
                                  <m:ctrlPr>
                                    <a:rPr lang="en-US" sz="1400" i="1" smtClean="0">
                                      <a:latin typeface="Cambria Math" panose="02040503050406030204" pitchFamily="18" charset="0"/>
                                    </a:rPr>
                                  </m:ctrlPr>
                                </m:sSubPr>
                                <m:e>
                                  <m:r>
                                    <a:rPr lang="en-US" sz="1400">
                                      <a:latin typeface="Cambria Math"/>
                                    </a:rPr>
                                    <m:t>𝑈</m:t>
                                  </m:r>
                                </m:e>
                                <m:sub>
                                  <m:r>
                                    <a:rPr lang="en-US" sz="1400">
                                      <a:latin typeface="Cambria Math"/>
                                    </a:rPr>
                                    <m:t>𝐺𝑒𝑜</m:t>
                                  </m:r>
                                </m:sub>
                              </m:sSub>
                            </m:oMath>
                          </a14:m>
                          <a:r>
                            <a:rPr lang="en-US" sz="1300" dirty="0">
                              <a:effectLst/>
                            </a:rPr>
                            <a:t> </a:t>
                          </a:r>
                          <a:endParaRPr lang="tr-TR" sz="13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pPr>
                          <a14:m>
                            <m:oMath xmlns:m="http://schemas.openxmlformats.org/officeDocument/2006/math">
                              <m:sSub>
                                <m:sSubPr>
                                  <m:ctrlPr>
                                    <a:rPr lang="en-US" sz="1400" i="1" smtClean="0">
                                      <a:latin typeface="Cambria Math" panose="02040503050406030204" pitchFamily="18" charset="0"/>
                                    </a:rPr>
                                  </m:ctrlPr>
                                </m:sSubPr>
                                <m:e>
                                  <m:r>
                                    <a:rPr lang="en-US" sz="1400">
                                      <a:latin typeface="Cambria Math"/>
                                    </a:rPr>
                                    <m:t>𝑈</m:t>
                                  </m:r>
                                </m:e>
                                <m:sub>
                                  <m:r>
                                    <a:rPr lang="en-US" sz="1400">
                                      <a:latin typeface="Cambria Math"/>
                                    </a:rPr>
                                    <m:t>𝐹𝑢𝑒𝑙</m:t>
                                  </m:r>
                                  <m:r>
                                    <m:rPr>
                                      <m:nor/>
                                    </m:rPr>
                                    <a:rPr lang="en-US" sz="1400" i="0">
                                      <a:latin typeface="Cambria Math"/>
                                    </a:rPr>
                                    <m:t>,</m:t>
                                  </m:r>
                                  <m:r>
                                    <a:rPr lang="tr-TR" sz="1400" b="0" i="1" smtClean="0">
                                      <a:latin typeface="Cambria Math" panose="02040503050406030204" pitchFamily="18" charset="0"/>
                                    </a:rPr>
                                    <m:t>𝑘</m:t>
                                  </m:r>
                                </m:sub>
                              </m:sSub>
                            </m:oMath>
                          </a14:m>
                          <a:r>
                            <a:rPr lang="en-US" sz="1300" dirty="0">
                              <a:effectLst/>
                            </a:rPr>
                            <a:t> </a:t>
                          </a:r>
                          <a:endParaRPr lang="tr-TR" sz="13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pPr>
                          <a14:m>
                            <m:oMath xmlns:m="http://schemas.openxmlformats.org/officeDocument/2006/math">
                              <m:sSub>
                                <m:sSubPr>
                                  <m:ctrlPr>
                                    <a:rPr lang="en-US" sz="1200" i="1" smtClean="0">
                                      <a:latin typeface="Cambria Math" panose="02040503050406030204" pitchFamily="18" charset="0"/>
                                    </a:rPr>
                                  </m:ctrlPr>
                                </m:sSubPr>
                                <m:e>
                                  <m:r>
                                    <a:rPr lang="en-US" sz="1200">
                                      <a:latin typeface="Cambria Math"/>
                                    </a:rPr>
                                    <m:t>𝑈</m:t>
                                  </m:r>
                                </m:e>
                                <m:sub>
                                  <m:r>
                                    <a:rPr lang="tr-TR" sz="1200" b="1" i="0" smtClean="0">
                                      <a:latin typeface="Cambria Math" panose="02040503050406030204" pitchFamily="18" charset="0"/>
                                    </a:rPr>
                                    <m:t>𝐃𝐒𝐒</m:t>
                                  </m:r>
                                  <m:r>
                                    <m:rPr>
                                      <m:nor/>
                                    </m:rPr>
                                    <a:rPr lang="en-US" sz="1200" i="0">
                                      <a:latin typeface="Cambria Math"/>
                                    </a:rPr>
                                    <m:t>,</m:t>
                                  </m:r>
                                  <m:r>
                                    <a:rPr lang="tr-TR" sz="1200" b="0" i="1" smtClean="0">
                                      <a:latin typeface="Cambria Math" panose="02040503050406030204" pitchFamily="18" charset="0"/>
                                    </a:rPr>
                                    <m:t>𝑘</m:t>
                                  </m:r>
                                </m:sub>
                              </m:sSub>
                            </m:oMath>
                          </a14:m>
                          <a:r>
                            <a:rPr lang="en-US" sz="1200" dirty="0">
                              <a:effectLst/>
                            </a:rPr>
                            <a:t> </a:t>
                          </a:r>
                          <a:r>
                            <a:rPr lang="en-US" sz="1300" dirty="0">
                              <a:effectLst/>
                            </a:rPr>
                            <a:t> </a:t>
                          </a:r>
                          <a:endParaRPr lang="tr-TR" sz="1300" dirty="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extLst>
                      <a:ext uri="{0D108BD9-81ED-4DB2-BD59-A6C34878D82A}">
                        <a16:rowId xmlns:a16="http://schemas.microsoft.com/office/drawing/2014/main" val="879300485"/>
                      </a:ext>
                    </a:extLst>
                  </a:tr>
                  <a:tr h="586876">
                    <a:tc>
                      <a:txBody>
                        <a:bodyPr/>
                        <a:lstStyle/>
                        <a:p>
                          <a:pPr algn="just">
                            <a:lnSpc>
                              <a:spcPct val="100000"/>
                            </a:lnSpc>
                          </a:pPr>
                          <a:r>
                            <a:rPr lang="en-US" sz="1300" dirty="0">
                              <a:effectLst/>
                            </a:rPr>
                            <a:t>Air Temperature </a:t>
                          </a:r>
                          <a:endParaRPr lang="tr-TR" sz="1300" dirty="0">
                            <a:effectLst/>
                          </a:endParaRPr>
                        </a:p>
                        <a:p>
                          <a:pPr algn="just">
                            <a:lnSpc>
                              <a:spcPct val="100000"/>
                            </a:lnSpc>
                          </a:pPr>
                          <a14:m>
                            <m:oMathPara xmlns:m="http://schemas.openxmlformats.org/officeDocument/2006/math">
                              <m:oMathParaPr>
                                <m:jc m:val="centerGroup"/>
                              </m:oMathParaPr>
                              <m:oMath xmlns:m="http://schemas.openxmlformats.org/officeDocument/2006/math">
                                <m:sSub>
                                  <m:sSubPr>
                                    <m:ctrlPr>
                                      <a:rPr lang="en-US" sz="1300" i="1">
                                        <a:effectLst/>
                                        <a:latin typeface="Cambria Math" panose="02040503050406030204" pitchFamily="18" charset="0"/>
                                      </a:rPr>
                                    </m:ctrlPr>
                                  </m:sSubPr>
                                  <m:e>
                                    <m:r>
                                      <a:rPr lang="en-US" sz="1300">
                                        <a:effectLst/>
                                        <a:latin typeface="Cambria Math" panose="02040503050406030204" pitchFamily="18" charset="0"/>
                                      </a:rPr>
                                      <m:t>𝑾</m:t>
                                    </m:r>
                                  </m:e>
                                  <m:sub>
                                    <m:r>
                                      <m:rPr>
                                        <m:nor/>
                                      </m:rPr>
                                      <a:rPr lang="en-US" sz="1300" i="0">
                                        <a:effectLst/>
                                      </a:rPr>
                                      <m:t>temp</m:t>
                                    </m:r>
                                    <m:r>
                                      <m:rPr>
                                        <m:nor/>
                                      </m:rPr>
                                      <a:rPr lang="en-US" sz="1300" i="0">
                                        <a:effectLst/>
                                      </a:rPr>
                                      <m:t>,</m:t>
                                    </m:r>
                                    <m:r>
                                      <m:rPr>
                                        <m:nor/>
                                      </m:rPr>
                                      <a:rPr lang="en-US" sz="1300" i="0">
                                        <a:effectLst/>
                                      </a:rPr>
                                      <m:t>k</m:t>
                                    </m:r>
                                  </m:sub>
                                </m:sSub>
                                <m:d>
                                  <m:dPr>
                                    <m:ctrlPr>
                                      <a:rPr lang="en-US" sz="1300" i="1">
                                        <a:effectLst/>
                                        <a:latin typeface="Cambria Math" panose="02040503050406030204" pitchFamily="18" charset="0"/>
                                      </a:rPr>
                                    </m:ctrlPr>
                                  </m:dPr>
                                  <m:e>
                                    <m:r>
                                      <a:rPr lang="en-US" sz="1300">
                                        <a:effectLst/>
                                        <a:latin typeface="Cambria Math" panose="02040503050406030204" pitchFamily="18" charset="0"/>
                                      </a:rPr>
                                      <m:t>𝒙</m:t>
                                    </m:r>
                                    <m:r>
                                      <a:rPr lang="en-US" sz="1300">
                                        <a:effectLst/>
                                        <a:latin typeface="Cambria Math" panose="02040503050406030204" pitchFamily="18" charset="0"/>
                                      </a:rPr>
                                      <m:t>,</m:t>
                                    </m:r>
                                    <m:r>
                                      <a:rPr lang="en-US" sz="1300">
                                        <a:effectLst/>
                                        <a:latin typeface="Cambria Math" panose="02040503050406030204" pitchFamily="18" charset="0"/>
                                      </a:rPr>
                                      <m:t>𝒚</m:t>
                                    </m:r>
                                  </m:e>
                                </m:d>
                              </m:oMath>
                            </m:oMathPara>
                          </a14:m>
                          <a:endParaRPr lang="tr-TR" sz="1300" dirty="0">
                            <a:effectLst/>
                            <a:latin typeface="Times New Roman" panose="02020603050405020304" pitchFamily="18" charset="0"/>
                            <a:ea typeface="Calibri" panose="020F0502020204030204" pitchFamily="34" charset="0"/>
                            <a:cs typeface="Arial" panose="020B0604020202020204" pitchFamily="34" charset="0"/>
                          </a:endParaRPr>
                        </a:p>
                      </a:txBody>
                      <a:tcPr marL="54048" marR="54048" marT="0" marB="0"/>
                    </a:tc>
                    <a:tc>
                      <a:txBody>
                        <a:bodyPr/>
                        <a:lstStyle/>
                        <a:p>
                          <a:pPr algn="just">
                            <a:lnSpc>
                              <a:spcPct val="150000"/>
                            </a:lnSpc>
                          </a:pPr>
                          <a:r>
                            <a:rPr lang="en-US" sz="1300" dirty="0">
                              <a:effectLst/>
                            </a:rPr>
                            <a:t>Elevation </a:t>
                          </a:r>
                          <a14:m>
                            <m:oMath xmlns:m="http://schemas.openxmlformats.org/officeDocument/2006/math">
                              <m:sSub>
                                <m:sSubPr>
                                  <m:ctrlPr>
                                    <a:rPr lang="en-US" sz="1300" i="1">
                                      <a:effectLst/>
                                      <a:latin typeface="Cambria Math" panose="02040503050406030204" pitchFamily="18" charset="0"/>
                                    </a:rPr>
                                  </m:ctrlPr>
                                </m:sSubPr>
                                <m:e>
                                  <m:r>
                                    <a:rPr lang="en-US" sz="1300">
                                      <a:effectLst/>
                                      <a:latin typeface="Cambria Math" panose="02040503050406030204" pitchFamily="18" charset="0"/>
                                    </a:rPr>
                                    <m:t>𝑮</m:t>
                                  </m:r>
                                </m:e>
                                <m:sub>
                                  <m:r>
                                    <m:rPr>
                                      <m:nor/>
                                    </m:rPr>
                                    <a:rPr lang="en-US" sz="1300" i="0">
                                      <a:effectLst/>
                                    </a:rPr>
                                    <m:t>elev</m:t>
                                  </m:r>
                                </m:sub>
                              </m:sSub>
                              <m:d>
                                <m:dPr>
                                  <m:ctrlPr>
                                    <a:rPr lang="en-US" sz="1300" i="1">
                                      <a:effectLst/>
                                      <a:latin typeface="Cambria Math" panose="02040503050406030204" pitchFamily="18" charset="0"/>
                                    </a:rPr>
                                  </m:ctrlPr>
                                </m:dPr>
                                <m:e>
                                  <m:r>
                                    <a:rPr lang="en-US" sz="1300">
                                      <a:effectLst/>
                                      <a:latin typeface="Cambria Math" panose="02040503050406030204" pitchFamily="18" charset="0"/>
                                    </a:rPr>
                                    <m:t>𝒙</m:t>
                                  </m:r>
                                  <m:r>
                                    <a:rPr lang="en-US" sz="1300">
                                      <a:effectLst/>
                                      <a:latin typeface="Cambria Math" panose="02040503050406030204" pitchFamily="18" charset="0"/>
                                    </a:rPr>
                                    <m:t>,</m:t>
                                  </m:r>
                                  <m:r>
                                    <a:rPr lang="en-US" sz="1300">
                                      <a:effectLst/>
                                      <a:latin typeface="Cambria Math" panose="02040503050406030204" pitchFamily="18" charset="0"/>
                                    </a:rPr>
                                    <m:t>𝒚</m:t>
                                  </m:r>
                                </m:e>
                              </m:d>
                            </m:oMath>
                          </a14:m>
                          <a:endParaRPr lang="tr-TR" sz="13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pPr>
                          <a:r>
                            <a:rPr lang="en-US" sz="1300" dirty="0">
                              <a:effectLst/>
                            </a:rPr>
                            <a:t>Fuel Type</a:t>
                          </a:r>
                          <a:r>
                            <a:rPr lang="tr-TR" sz="1300" dirty="0">
                              <a:effectLst/>
                            </a:rPr>
                            <a:t> </a:t>
                          </a:r>
                          <a:r>
                            <a:rPr lang="en-US" sz="1300" dirty="0">
                              <a:effectLst/>
                            </a:rPr>
                            <a:t> </a:t>
                          </a:r>
                          <a:endParaRPr lang="en-US" sz="1300" i="1" dirty="0">
                            <a:effectLst/>
                            <a:latin typeface="Cambria Math" panose="02040503050406030204" pitchFamily="18" charset="0"/>
                          </a:endParaRPr>
                        </a:p>
                        <a:p>
                          <a:pPr algn="just">
                            <a:lnSpc>
                              <a:spcPct val="150000"/>
                            </a:lnSpc>
                          </a:pPr>
                          <a14:m>
                            <m:oMathPara xmlns:m="http://schemas.openxmlformats.org/officeDocument/2006/math">
                              <m:oMathParaPr>
                                <m:jc m:val="centerGroup"/>
                              </m:oMathParaPr>
                              <m:oMath xmlns:m="http://schemas.openxmlformats.org/officeDocument/2006/math">
                                <m:sSub>
                                  <m:sSubPr>
                                    <m:ctrlPr>
                                      <a:rPr lang="en-US" sz="1300" i="1">
                                        <a:effectLst/>
                                        <a:latin typeface="Cambria Math" panose="02040503050406030204" pitchFamily="18" charset="0"/>
                                      </a:rPr>
                                    </m:ctrlPr>
                                  </m:sSubPr>
                                  <m:e>
                                    <m:r>
                                      <a:rPr lang="en-US" sz="1300">
                                        <a:effectLst/>
                                        <a:latin typeface="Cambria Math" panose="02040503050406030204" pitchFamily="18" charset="0"/>
                                      </a:rPr>
                                      <m:t>𝑭</m:t>
                                    </m:r>
                                  </m:e>
                                  <m:sub>
                                    <m:r>
                                      <m:rPr>
                                        <m:nor/>
                                      </m:rPr>
                                      <a:rPr lang="en-US" sz="1300" i="0">
                                        <a:effectLst/>
                                      </a:rPr>
                                      <m:t>type</m:t>
                                    </m:r>
                                  </m:sub>
                                </m:sSub>
                                <m:d>
                                  <m:dPr>
                                    <m:ctrlPr>
                                      <a:rPr lang="en-US" sz="1300" i="1">
                                        <a:effectLst/>
                                        <a:latin typeface="Cambria Math" panose="02040503050406030204" pitchFamily="18" charset="0"/>
                                      </a:rPr>
                                    </m:ctrlPr>
                                  </m:dPr>
                                  <m:e>
                                    <m:r>
                                      <a:rPr lang="en-US" sz="1300">
                                        <a:effectLst/>
                                        <a:latin typeface="Cambria Math" panose="02040503050406030204" pitchFamily="18" charset="0"/>
                                      </a:rPr>
                                      <m:t>𝒙</m:t>
                                    </m:r>
                                    <m:r>
                                      <a:rPr lang="en-US" sz="1300">
                                        <a:effectLst/>
                                        <a:latin typeface="Cambria Math" panose="02040503050406030204" pitchFamily="18" charset="0"/>
                                      </a:rPr>
                                      <m:t>,</m:t>
                                    </m:r>
                                    <m:r>
                                      <a:rPr lang="en-US" sz="1300">
                                        <a:effectLst/>
                                        <a:latin typeface="Cambria Math" panose="02040503050406030204" pitchFamily="18" charset="0"/>
                                      </a:rPr>
                                      <m:t>𝒚</m:t>
                                    </m:r>
                                  </m:e>
                                </m:d>
                              </m:oMath>
                            </m:oMathPara>
                          </a14:m>
                          <a:endParaRPr lang="tr-TR" sz="13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l">
                            <a:lnSpc>
                              <a:spcPct val="150000"/>
                            </a:lnSpc>
                          </a:pPr>
                          <a:r>
                            <a:rPr lang="en-US" sz="1300" dirty="0">
                              <a:effectLst/>
                            </a:rPr>
                            <a:t>Suppression Capacity</a:t>
                          </a:r>
                        </a:p>
                        <a:p>
                          <a:pPr algn="ctr">
                            <a:lnSpc>
                              <a:spcPct val="150000"/>
                            </a:lnSpc>
                          </a:pPr>
                          <a:r>
                            <a:rPr lang="en-US" sz="1300" dirty="0">
                              <a:effectLst/>
                            </a:rPr>
                            <a:t> </a:t>
                          </a:r>
                          <a14:m>
                            <m:oMath xmlns:m="http://schemas.openxmlformats.org/officeDocument/2006/math">
                              <m:sSub>
                                <m:sSubPr>
                                  <m:ctrlPr>
                                    <a:rPr lang="en-US" sz="1300" i="1">
                                      <a:effectLst/>
                                      <a:latin typeface="Cambria Math" panose="02040503050406030204" pitchFamily="18" charset="0"/>
                                    </a:rPr>
                                  </m:ctrlPr>
                                </m:sSubPr>
                                <m:e>
                                  <m:bar>
                                    <m:barPr>
                                      <m:pos m:val="top"/>
                                      <m:ctrlPr>
                                        <a:rPr lang="en-US" sz="1300" i="1">
                                          <a:effectLst/>
                                          <a:latin typeface="Cambria Math" panose="02040503050406030204" pitchFamily="18" charset="0"/>
                                        </a:rPr>
                                      </m:ctrlPr>
                                    </m:barPr>
                                    <m:e>
                                      <m:r>
                                        <a:rPr lang="en-US" sz="1300">
                                          <a:effectLst/>
                                          <a:latin typeface="Cambria Math" panose="02040503050406030204" pitchFamily="18" charset="0"/>
                                        </a:rPr>
                                        <m:t>𝑹</m:t>
                                      </m:r>
                                    </m:e>
                                  </m:bar>
                                </m:e>
                                <m:sub>
                                  <m:r>
                                    <m:rPr>
                                      <m:nor/>
                                    </m:rPr>
                                    <a:rPr lang="en-US" sz="1300" i="0">
                                      <a:effectLst/>
                                    </a:rPr>
                                    <m:t>cap</m:t>
                                  </m:r>
                                  <m:r>
                                    <m:rPr>
                                      <m:nor/>
                                    </m:rPr>
                                    <a:rPr lang="en-US" sz="1300" i="0">
                                      <a:effectLst/>
                                    </a:rPr>
                                    <m:t>,</m:t>
                                  </m:r>
                                  <m:r>
                                    <m:rPr>
                                      <m:nor/>
                                    </m:rPr>
                                    <a:rPr lang="en-US" sz="1300" i="0">
                                      <a:effectLst/>
                                    </a:rPr>
                                    <m:t>k</m:t>
                                  </m:r>
                                </m:sub>
                              </m:sSub>
                              <m:d>
                                <m:dPr>
                                  <m:ctrlPr>
                                    <a:rPr lang="en-US" sz="1300" i="1">
                                      <a:effectLst/>
                                      <a:latin typeface="Cambria Math" panose="02040503050406030204" pitchFamily="18" charset="0"/>
                                    </a:rPr>
                                  </m:ctrlPr>
                                </m:dPr>
                                <m:e>
                                  <m:r>
                                    <a:rPr lang="en-US" sz="1300">
                                      <a:effectLst/>
                                      <a:latin typeface="Cambria Math" panose="02040503050406030204" pitchFamily="18" charset="0"/>
                                    </a:rPr>
                                    <m:t>𝒙</m:t>
                                  </m:r>
                                  <m:r>
                                    <a:rPr lang="en-US" sz="1300">
                                      <a:effectLst/>
                                      <a:latin typeface="Cambria Math" panose="02040503050406030204" pitchFamily="18" charset="0"/>
                                    </a:rPr>
                                    <m:t>,</m:t>
                                  </m:r>
                                  <m:r>
                                    <a:rPr lang="en-US" sz="1300">
                                      <a:effectLst/>
                                      <a:latin typeface="Cambria Math" panose="02040503050406030204" pitchFamily="18" charset="0"/>
                                    </a:rPr>
                                    <m:t>𝒚</m:t>
                                  </m:r>
                                </m:e>
                              </m:d>
                            </m:oMath>
                          </a14:m>
                          <a:endParaRPr lang="tr-TR" sz="1300" dirty="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extLst>
                      <a:ext uri="{0D108BD9-81ED-4DB2-BD59-A6C34878D82A}">
                        <a16:rowId xmlns:a16="http://schemas.microsoft.com/office/drawing/2014/main" val="2552558262"/>
                      </a:ext>
                    </a:extLst>
                  </a:tr>
                  <a:tr h="579593">
                    <a:tc>
                      <a:txBody>
                        <a:bodyPr/>
                        <a:lstStyle/>
                        <a:p>
                          <a:pPr algn="just">
                            <a:lnSpc>
                              <a:spcPct val="100000"/>
                            </a:lnSpc>
                          </a:pPr>
                          <a:r>
                            <a:rPr lang="en-US" sz="1300" dirty="0">
                              <a:effectLst/>
                            </a:rPr>
                            <a:t>Relative Humidity </a:t>
                          </a:r>
                          <a:r>
                            <a:rPr lang="tr-TR" sz="1300" dirty="0">
                              <a:effectLst/>
                            </a:rPr>
                            <a:t> </a:t>
                          </a:r>
                        </a:p>
                        <a:p>
                          <a:pPr algn="just">
                            <a:lnSpc>
                              <a:spcPct val="100000"/>
                            </a:lnSpc>
                          </a:pPr>
                          <a14:m>
                            <m:oMathPara xmlns:m="http://schemas.openxmlformats.org/officeDocument/2006/math">
                              <m:oMathParaPr>
                                <m:jc m:val="centerGroup"/>
                              </m:oMathParaPr>
                              <m:oMath xmlns:m="http://schemas.openxmlformats.org/officeDocument/2006/math">
                                <m:sSub>
                                  <m:sSubPr>
                                    <m:ctrlPr>
                                      <a:rPr lang="en-US" sz="1300" i="1">
                                        <a:effectLst/>
                                        <a:latin typeface="Cambria Math" panose="02040503050406030204" pitchFamily="18" charset="0"/>
                                      </a:rPr>
                                    </m:ctrlPr>
                                  </m:sSubPr>
                                  <m:e>
                                    <m:r>
                                      <a:rPr lang="en-US" sz="1300">
                                        <a:effectLst/>
                                        <a:latin typeface="Cambria Math" panose="02040503050406030204" pitchFamily="18" charset="0"/>
                                      </a:rPr>
                                      <m:t>𝑾</m:t>
                                    </m:r>
                                  </m:e>
                                  <m:sub>
                                    <m:r>
                                      <m:rPr>
                                        <m:nor/>
                                      </m:rPr>
                                      <a:rPr lang="en-US" sz="1300" i="0">
                                        <a:effectLst/>
                                      </a:rPr>
                                      <m:t>rh</m:t>
                                    </m:r>
                                    <m:r>
                                      <m:rPr>
                                        <m:nor/>
                                      </m:rPr>
                                      <a:rPr lang="en-US" sz="1300" i="0">
                                        <a:effectLst/>
                                      </a:rPr>
                                      <m:t>,</m:t>
                                    </m:r>
                                    <m:r>
                                      <m:rPr>
                                        <m:nor/>
                                      </m:rPr>
                                      <a:rPr lang="en-US" sz="1300" i="0">
                                        <a:effectLst/>
                                      </a:rPr>
                                      <m:t>k</m:t>
                                    </m:r>
                                  </m:sub>
                                </m:sSub>
                                <m:d>
                                  <m:dPr>
                                    <m:ctrlPr>
                                      <a:rPr lang="en-US" sz="1300" i="1">
                                        <a:effectLst/>
                                        <a:latin typeface="Cambria Math" panose="02040503050406030204" pitchFamily="18" charset="0"/>
                                      </a:rPr>
                                    </m:ctrlPr>
                                  </m:dPr>
                                  <m:e>
                                    <m:r>
                                      <a:rPr lang="en-US" sz="1300">
                                        <a:effectLst/>
                                        <a:latin typeface="Cambria Math" panose="02040503050406030204" pitchFamily="18" charset="0"/>
                                      </a:rPr>
                                      <m:t>𝒙</m:t>
                                    </m:r>
                                    <m:r>
                                      <a:rPr lang="en-US" sz="1300">
                                        <a:effectLst/>
                                        <a:latin typeface="Cambria Math" panose="02040503050406030204" pitchFamily="18" charset="0"/>
                                      </a:rPr>
                                      <m:t>,</m:t>
                                    </m:r>
                                    <m:r>
                                      <a:rPr lang="en-US" sz="1300">
                                        <a:effectLst/>
                                        <a:latin typeface="Cambria Math" panose="02040503050406030204" pitchFamily="18" charset="0"/>
                                      </a:rPr>
                                      <m:t>𝒚</m:t>
                                    </m:r>
                                  </m:e>
                                </m:d>
                              </m:oMath>
                            </m:oMathPara>
                          </a14:m>
                          <a:endParaRPr lang="tr-TR" sz="1300" dirty="0">
                            <a:effectLst/>
                            <a:latin typeface="Times New Roman" panose="02020603050405020304" pitchFamily="18" charset="0"/>
                            <a:ea typeface="Calibri" panose="020F0502020204030204" pitchFamily="34" charset="0"/>
                            <a:cs typeface="Arial" panose="020B0604020202020204" pitchFamily="34" charset="0"/>
                          </a:endParaRPr>
                        </a:p>
                      </a:txBody>
                      <a:tcPr marL="54048" marR="54048" marT="0" marB="0"/>
                    </a:tc>
                    <a:tc>
                      <a:txBody>
                        <a:bodyPr/>
                        <a:lstStyle/>
                        <a:p>
                          <a:pPr algn="just">
                            <a:lnSpc>
                              <a:spcPct val="150000"/>
                            </a:lnSpc>
                          </a:pPr>
                          <a:r>
                            <a:rPr lang="en-US" sz="1300" dirty="0">
                              <a:effectLst/>
                            </a:rPr>
                            <a:t>Slope </a:t>
                          </a:r>
                          <a14:m>
                            <m:oMath xmlns:m="http://schemas.openxmlformats.org/officeDocument/2006/math">
                              <m:sSub>
                                <m:sSubPr>
                                  <m:ctrlPr>
                                    <a:rPr lang="en-US" sz="1300" i="1">
                                      <a:effectLst/>
                                      <a:latin typeface="Cambria Math" panose="02040503050406030204" pitchFamily="18" charset="0"/>
                                    </a:rPr>
                                  </m:ctrlPr>
                                </m:sSubPr>
                                <m:e>
                                  <m:r>
                                    <a:rPr lang="en-US" sz="1300">
                                      <a:effectLst/>
                                      <a:latin typeface="Cambria Math" panose="02040503050406030204" pitchFamily="18" charset="0"/>
                                    </a:rPr>
                                    <m:t>𝑮</m:t>
                                  </m:r>
                                </m:e>
                                <m:sub>
                                  <m:r>
                                    <m:rPr>
                                      <m:nor/>
                                    </m:rPr>
                                    <a:rPr lang="en-US" sz="1300" i="0">
                                      <a:effectLst/>
                                    </a:rPr>
                                    <m:t>slope</m:t>
                                  </m:r>
                                </m:sub>
                              </m:sSub>
                              <m:d>
                                <m:dPr>
                                  <m:ctrlPr>
                                    <a:rPr lang="en-US" sz="1300" i="1">
                                      <a:effectLst/>
                                      <a:latin typeface="Cambria Math" panose="02040503050406030204" pitchFamily="18" charset="0"/>
                                    </a:rPr>
                                  </m:ctrlPr>
                                </m:dPr>
                                <m:e>
                                  <m:r>
                                    <a:rPr lang="en-US" sz="1300">
                                      <a:effectLst/>
                                      <a:latin typeface="Cambria Math" panose="02040503050406030204" pitchFamily="18" charset="0"/>
                                    </a:rPr>
                                    <m:t>𝒙</m:t>
                                  </m:r>
                                  <m:r>
                                    <a:rPr lang="en-US" sz="1300">
                                      <a:effectLst/>
                                      <a:latin typeface="Cambria Math" panose="02040503050406030204" pitchFamily="18" charset="0"/>
                                    </a:rPr>
                                    <m:t>,</m:t>
                                  </m:r>
                                  <m:r>
                                    <a:rPr lang="en-US" sz="1300">
                                      <a:effectLst/>
                                      <a:latin typeface="Cambria Math" panose="02040503050406030204" pitchFamily="18" charset="0"/>
                                    </a:rPr>
                                    <m:t>𝒚</m:t>
                                  </m:r>
                                </m:e>
                              </m:d>
                            </m:oMath>
                          </a14:m>
                          <a:endParaRPr lang="tr-TR" sz="13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pPr>
                          <a:r>
                            <a:rPr lang="en-US" sz="1300" dirty="0">
                              <a:effectLst/>
                            </a:rPr>
                            <a:t>Fuel Load</a:t>
                          </a:r>
                          <a:r>
                            <a:rPr lang="tr-TR" sz="1300" dirty="0">
                              <a:effectLst/>
                            </a:rPr>
                            <a:t> </a:t>
                          </a:r>
                          <a:r>
                            <a:rPr lang="en-US" sz="1300" dirty="0">
                              <a:effectLst/>
                            </a:rPr>
                            <a:t> </a:t>
                          </a:r>
                          <a:endParaRPr lang="en-US" sz="1300" i="1" dirty="0">
                            <a:effectLst/>
                            <a:latin typeface="Cambria Math" panose="02040503050406030204" pitchFamily="18" charset="0"/>
                          </a:endParaRPr>
                        </a:p>
                        <a:p>
                          <a:pPr algn="just">
                            <a:lnSpc>
                              <a:spcPct val="150000"/>
                            </a:lnSpc>
                          </a:pPr>
                          <a14:m>
                            <m:oMathPara xmlns:m="http://schemas.openxmlformats.org/officeDocument/2006/math">
                              <m:oMathParaPr>
                                <m:jc m:val="centerGroup"/>
                              </m:oMathParaPr>
                              <m:oMath xmlns:m="http://schemas.openxmlformats.org/officeDocument/2006/math">
                                <m:sSub>
                                  <m:sSubPr>
                                    <m:ctrlPr>
                                      <a:rPr lang="en-US" sz="1300" i="1">
                                        <a:effectLst/>
                                        <a:latin typeface="Cambria Math" panose="02040503050406030204" pitchFamily="18" charset="0"/>
                                      </a:rPr>
                                    </m:ctrlPr>
                                  </m:sSubPr>
                                  <m:e>
                                    <m:r>
                                      <a:rPr lang="en-US" sz="1300">
                                        <a:effectLst/>
                                        <a:latin typeface="Cambria Math" panose="02040503050406030204" pitchFamily="18" charset="0"/>
                                      </a:rPr>
                                      <m:t>𝑭</m:t>
                                    </m:r>
                                  </m:e>
                                  <m:sub>
                                    <m:r>
                                      <m:rPr>
                                        <m:nor/>
                                      </m:rPr>
                                      <a:rPr lang="en-US" sz="1300" i="0">
                                        <a:effectLst/>
                                      </a:rPr>
                                      <m:t>load</m:t>
                                    </m:r>
                                    <m:r>
                                      <m:rPr>
                                        <m:nor/>
                                      </m:rPr>
                                      <a:rPr lang="en-US" sz="1300" i="0">
                                        <a:effectLst/>
                                      </a:rPr>
                                      <m:t>,0</m:t>
                                    </m:r>
                                  </m:sub>
                                </m:sSub>
                                <m:d>
                                  <m:dPr>
                                    <m:ctrlPr>
                                      <a:rPr lang="en-US" sz="1300" i="1">
                                        <a:effectLst/>
                                        <a:latin typeface="Cambria Math" panose="02040503050406030204" pitchFamily="18" charset="0"/>
                                      </a:rPr>
                                    </m:ctrlPr>
                                  </m:dPr>
                                  <m:e>
                                    <m:r>
                                      <a:rPr lang="en-US" sz="1300">
                                        <a:effectLst/>
                                        <a:latin typeface="Cambria Math" panose="02040503050406030204" pitchFamily="18" charset="0"/>
                                      </a:rPr>
                                      <m:t>𝒙</m:t>
                                    </m:r>
                                    <m:r>
                                      <a:rPr lang="en-US" sz="1300">
                                        <a:effectLst/>
                                        <a:latin typeface="Cambria Math" panose="02040503050406030204" pitchFamily="18" charset="0"/>
                                      </a:rPr>
                                      <m:t>,</m:t>
                                    </m:r>
                                    <m:r>
                                      <a:rPr lang="en-US" sz="1300">
                                        <a:effectLst/>
                                        <a:latin typeface="Cambria Math" panose="02040503050406030204" pitchFamily="18" charset="0"/>
                                      </a:rPr>
                                      <m:t>𝒚</m:t>
                                    </m:r>
                                  </m:e>
                                </m:d>
                              </m:oMath>
                            </m:oMathPara>
                          </a14:m>
                          <a:endParaRPr lang="tr-TR" sz="13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l">
                            <a:lnSpc>
                              <a:spcPct val="150000"/>
                            </a:lnSpc>
                          </a:pPr>
                          <a:r>
                            <a:rPr lang="en-US" sz="1300" dirty="0">
                              <a:effectLst/>
                            </a:rPr>
                            <a:t>Travel Time</a:t>
                          </a:r>
                        </a:p>
                        <a:p>
                          <a:pPr algn="ctr">
                            <a:lnSpc>
                              <a:spcPct val="150000"/>
                            </a:lnSpc>
                          </a:pPr>
                          <a:r>
                            <a:rPr lang="en-US" sz="1300" dirty="0">
                              <a:effectLst/>
                            </a:rPr>
                            <a:t> </a:t>
                          </a:r>
                          <a14:m>
                            <m:oMath xmlns:m="http://schemas.openxmlformats.org/officeDocument/2006/math">
                              <m:sSub>
                                <m:sSubPr>
                                  <m:ctrlPr>
                                    <a:rPr lang="en-US" sz="1300" i="1">
                                      <a:effectLst/>
                                      <a:latin typeface="Cambria Math" panose="02040503050406030204" pitchFamily="18" charset="0"/>
                                    </a:rPr>
                                  </m:ctrlPr>
                                </m:sSubPr>
                                <m:e>
                                  <m:bar>
                                    <m:barPr>
                                      <m:pos m:val="top"/>
                                      <m:ctrlPr>
                                        <a:rPr lang="en-US" sz="1300" i="1">
                                          <a:effectLst/>
                                          <a:latin typeface="Cambria Math" panose="02040503050406030204" pitchFamily="18" charset="0"/>
                                        </a:rPr>
                                      </m:ctrlPr>
                                    </m:barPr>
                                    <m:e>
                                      <m:r>
                                        <a:rPr lang="en-US" sz="1300">
                                          <a:effectLst/>
                                          <a:latin typeface="Cambria Math" panose="02040503050406030204" pitchFamily="18" charset="0"/>
                                        </a:rPr>
                                        <m:t>𝑹</m:t>
                                      </m:r>
                                    </m:e>
                                  </m:bar>
                                </m:e>
                                <m:sub>
                                  <m:r>
                                    <m:rPr>
                                      <m:nor/>
                                    </m:rPr>
                                    <a:rPr lang="en-US" sz="1300" i="0">
                                      <a:effectLst/>
                                    </a:rPr>
                                    <m:t>time</m:t>
                                  </m:r>
                                  <m:r>
                                    <m:rPr>
                                      <m:nor/>
                                    </m:rPr>
                                    <a:rPr lang="en-US" sz="1300" i="0">
                                      <a:effectLst/>
                                    </a:rPr>
                                    <m:t>,</m:t>
                                  </m:r>
                                  <m:r>
                                    <m:rPr>
                                      <m:nor/>
                                    </m:rPr>
                                    <a:rPr lang="en-US" sz="1300" i="0">
                                      <a:effectLst/>
                                    </a:rPr>
                                    <m:t>k</m:t>
                                  </m:r>
                                </m:sub>
                              </m:sSub>
                              <m:d>
                                <m:dPr>
                                  <m:ctrlPr>
                                    <a:rPr lang="en-US" sz="1300" i="1">
                                      <a:effectLst/>
                                      <a:latin typeface="Cambria Math" panose="02040503050406030204" pitchFamily="18" charset="0"/>
                                    </a:rPr>
                                  </m:ctrlPr>
                                </m:dPr>
                                <m:e>
                                  <m:r>
                                    <a:rPr lang="en-US" sz="1300">
                                      <a:effectLst/>
                                      <a:latin typeface="Cambria Math" panose="02040503050406030204" pitchFamily="18" charset="0"/>
                                    </a:rPr>
                                    <m:t>𝒙</m:t>
                                  </m:r>
                                  <m:r>
                                    <a:rPr lang="en-US" sz="1300">
                                      <a:effectLst/>
                                      <a:latin typeface="Cambria Math" panose="02040503050406030204" pitchFamily="18" charset="0"/>
                                    </a:rPr>
                                    <m:t>,</m:t>
                                  </m:r>
                                  <m:r>
                                    <a:rPr lang="en-US" sz="1300">
                                      <a:effectLst/>
                                      <a:latin typeface="Cambria Math" panose="02040503050406030204" pitchFamily="18" charset="0"/>
                                    </a:rPr>
                                    <m:t>𝒚</m:t>
                                  </m:r>
                                </m:e>
                              </m:d>
                            </m:oMath>
                          </a14:m>
                          <a:endParaRPr lang="tr-TR" sz="1300" dirty="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extLst>
                      <a:ext uri="{0D108BD9-81ED-4DB2-BD59-A6C34878D82A}">
                        <a16:rowId xmlns:a16="http://schemas.microsoft.com/office/drawing/2014/main" val="3261552996"/>
                      </a:ext>
                    </a:extLst>
                  </a:tr>
                  <a:tr h="580270">
                    <a:tc>
                      <a:txBody>
                        <a:bodyPr/>
                        <a:lstStyle/>
                        <a:p>
                          <a:pPr algn="just">
                            <a:lnSpc>
                              <a:spcPct val="100000"/>
                            </a:lnSpc>
                          </a:pPr>
                          <a:r>
                            <a:rPr lang="en-US" sz="1300" dirty="0">
                              <a:effectLst/>
                            </a:rPr>
                            <a:t>Wind Speed </a:t>
                          </a:r>
                          <a:r>
                            <a:rPr lang="tr-TR" sz="1300" dirty="0">
                              <a:effectLst/>
                            </a:rPr>
                            <a:t> </a:t>
                          </a:r>
                          <a:endParaRPr lang="tr-TR" sz="1300" i="1" dirty="0">
                            <a:effectLst/>
                            <a:latin typeface="Cambria Math" panose="02040503050406030204" pitchFamily="18" charset="0"/>
                          </a:endParaRPr>
                        </a:p>
                        <a:p>
                          <a:pPr algn="just">
                            <a:lnSpc>
                              <a:spcPct val="100000"/>
                            </a:lnSpc>
                          </a:pPr>
                          <a14:m>
                            <m:oMathPara xmlns:m="http://schemas.openxmlformats.org/officeDocument/2006/math">
                              <m:oMathParaPr>
                                <m:jc m:val="centerGroup"/>
                              </m:oMathParaPr>
                              <m:oMath xmlns:m="http://schemas.openxmlformats.org/officeDocument/2006/math">
                                <m:sSub>
                                  <m:sSubPr>
                                    <m:ctrlPr>
                                      <a:rPr lang="en-US" sz="1300" i="1">
                                        <a:effectLst/>
                                        <a:latin typeface="Cambria Math" panose="02040503050406030204" pitchFamily="18" charset="0"/>
                                      </a:rPr>
                                    </m:ctrlPr>
                                  </m:sSubPr>
                                  <m:e>
                                    <m:r>
                                      <a:rPr lang="en-US" sz="1300">
                                        <a:effectLst/>
                                        <a:latin typeface="Cambria Math" panose="02040503050406030204" pitchFamily="18" charset="0"/>
                                      </a:rPr>
                                      <m:t>𝑾</m:t>
                                    </m:r>
                                  </m:e>
                                  <m:sub>
                                    <m:r>
                                      <m:rPr>
                                        <m:nor/>
                                      </m:rPr>
                                      <a:rPr lang="en-US" sz="1300" i="0">
                                        <a:effectLst/>
                                      </a:rPr>
                                      <m:t>ws</m:t>
                                    </m:r>
                                    <m:r>
                                      <m:rPr>
                                        <m:nor/>
                                      </m:rPr>
                                      <a:rPr lang="en-US" sz="1300" i="0">
                                        <a:effectLst/>
                                      </a:rPr>
                                      <m:t>,</m:t>
                                    </m:r>
                                    <m:r>
                                      <m:rPr>
                                        <m:nor/>
                                      </m:rPr>
                                      <a:rPr lang="en-US" sz="1300" i="0">
                                        <a:effectLst/>
                                      </a:rPr>
                                      <m:t>k</m:t>
                                    </m:r>
                                  </m:sub>
                                </m:sSub>
                                <m:d>
                                  <m:dPr>
                                    <m:ctrlPr>
                                      <a:rPr lang="en-US" sz="1300" i="1">
                                        <a:effectLst/>
                                        <a:latin typeface="Cambria Math" panose="02040503050406030204" pitchFamily="18" charset="0"/>
                                      </a:rPr>
                                    </m:ctrlPr>
                                  </m:dPr>
                                  <m:e>
                                    <m:r>
                                      <a:rPr lang="en-US" sz="1300">
                                        <a:effectLst/>
                                        <a:latin typeface="Cambria Math" panose="02040503050406030204" pitchFamily="18" charset="0"/>
                                      </a:rPr>
                                      <m:t>𝒙</m:t>
                                    </m:r>
                                    <m:r>
                                      <a:rPr lang="en-US" sz="1300">
                                        <a:effectLst/>
                                        <a:latin typeface="Cambria Math" panose="02040503050406030204" pitchFamily="18" charset="0"/>
                                      </a:rPr>
                                      <m:t>,</m:t>
                                    </m:r>
                                    <m:r>
                                      <a:rPr lang="en-US" sz="1300">
                                        <a:effectLst/>
                                        <a:latin typeface="Cambria Math" panose="02040503050406030204" pitchFamily="18" charset="0"/>
                                      </a:rPr>
                                      <m:t>𝒚</m:t>
                                    </m:r>
                                  </m:e>
                                </m:d>
                              </m:oMath>
                            </m:oMathPara>
                          </a14:m>
                          <a:endParaRPr lang="tr-TR" sz="1300" dirty="0">
                            <a:effectLst/>
                            <a:latin typeface="Times New Roman" panose="02020603050405020304" pitchFamily="18" charset="0"/>
                            <a:ea typeface="Calibri" panose="020F0502020204030204" pitchFamily="34" charset="0"/>
                            <a:cs typeface="Arial" panose="020B0604020202020204" pitchFamily="34" charset="0"/>
                          </a:endParaRPr>
                        </a:p>
                      </a:txBody>
                      <a:tcPr marL="54048" marR="54048" marT="0" marB="0"/>
                    </a:tc>
                    <a:tc>
                      <a:txBody>
                        <a:bodyPr/>
                        <a:lstStyle/>
                        <a:p>
                          <a:pPr algn="just">
                            <a:lnSpc>
                              <a:spcPct val="150000"/>
                            </a:lnSpc>
                          </a:pPr>
                          <a:r>
                            <a:rPr lang="en-US" sz="1300" dirty="0">
                              <a:effectLst/>
                            </a:rPr>
                            <a:t>Aspect </a:t>
                          </a:r>
                          <a14:m>
                            <m:oMath xmlns:m="http://schemas.openxmlformats.org/officeDocument/2006/math">
                              <m:sSub>
                                <m:sSubPr>
                                  <m:ctrlPr>
                                    <a:rPr lang="en-US" sz="1300" i="1">
                                      <a:effectLst/>
                                      <a:latin typeface="Cambria Math" panose="02040503050406030204" pitchFamily="18" charset="0"/>
                                    </a:rPr>
                                  </m:ctrlPr>
                                </m:sSubPr>
                                <m:e>
                                  <m:r>
                                    <a:rPr lang="en-US" sz="1300">
                                      <a:effectLst/>
                                      <a:latin typeface="Cambria Math" panose="02040503050406030204" pitchFamily="18" charset="0"/>
                                    </a:rPr>
                                    <m:t>𝑮</m:t>
                                  </m:r>
                                </m:e>
                                <m:sub>
                                  <m:r>
                                    <m:rPr>
                                      <m:nor/>
                                    </m:rPr>
                                    <a:rPr lang="en-US" sz="1300" i="0">
                                      <a:effectLst/>
                                    </a:rPr>
                                    <m:t>aspect</m:t>
                                  </m:r>
                                </m:sub>
                              </m:sSub>
                              <m:d>
                                <m:dPr>
                                  <m:ctrlPr>
                                    <a:rPr lang="en-US" sz="1300" i="1">
                                      <a:effectLst/>
                                      <a:latin typeface="Cambria Math" panose="02040503050406030204" pitchFamily="18" charset="0"/>
                                    </a:rPr>
                                  </m:ctrlPr>
                                </m:dPr>
                                <m:e>
                                  <m:r>
                                    <a:rPr lang="en-US" sz="1300">
                                      <a:effectLst/>
                                      <a:latin typeface="Cambria Math" panose="02040503050406030204" pitchFamily="18" charset="0"/>
                                    </a:rPr>
                                    <m:t>𝒙</m:t>
                                  </m:r>
                                  <m:r>
                                    <a:rPr lang="en-US" sz="1300">
                                      <a:effectLst/>
                                      <a:latin typeface="Cambria Math" panose="02040503050406030204" pitchFamily="18" charset="0"/>
                                    </a:rPr>
                                    <m:t>,</m:t>
                                  </m:r>
                                  <m:r>
                                    <a:rPr lang="en-US" sz="1300">
                                      <a:effectLst/>
                                      <a:latin typeface="Cambria Math" panose="02040503050406030204" pitchFamily="18" charset="0"/>
                                    </a:rPr>
                                    <m:t>𝒚</m:t>
                                  </m:r>
                                </m:e>
                              </m:d>
                            </m:oMath>
                          </a14:m>
                          <a:endParaRPr lang="tr-TR" sz="13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pPr>
                          <a:r>
                            <a:rPr lang="en-US" sz="1300" dirty="0">
                              <a:effectLst/>
                            </a:rPr>
                            <a:t>Fuel Moisture</a:t>
                          </a:r>
                          <a:r>
                            <a:rPr lang="tr-TR" sz="1300" dirty="0">
                              <a:effectLst/>
                            </a:rPr>
                            <a:t> </a:t>
                          </a:r>
                          <a:endParaRPr lang="en-US" sz="1300" i="1" dirty="0">
                            <a:effectLst/>
                            <a:latin typeface="Cambria Math" panose="02040503050406030204" pitchFamily="18" charset="0"/>
                          </a:endParaRPr>
                        </a:p>
                        <a:p>
                          <a:pPr algn="just">
                            <a:lnSpc>
                              <a:spcPct val="150000"/>
                            </a:lnSpc>
                          </a:pPr>
                          <a14:m>
                            <m:oMathPara xmlns:m="http://schemas.openxmlformats.org/officeDocument/2006/math">
                              <m:oMathParaPr>
                                <m:jc m:val="centerGroup"/>
                              </m:oMathParaPr>
                              <m:oMath xmlns:m="http://schemas.openxmlformats.org/officeDocument/2006/math">
                                <m:sSub>
                                  <m:sSubPr>
                                    <m:ctrlPr>
                                      <a:rPr lang="en-US" sz="1300" i="1">
                                        <a:effectLst/>
                                        <a:latin typeface="Cambria Math" panose="02040503050406030204" pitchFamily="18" charset="0"/>
                                      </a:rPr>
                                    </m:ctrlPr>
                                  </m:sSubPr>
                                  <m:e>
                                    <m:r>
                                      <a:rPr lang="en-US" sz="1300">
                                        <a:effectLst/>
                                        <a:latin typeface="Cambria Math" panose="02040503050406030204" pitchFamily="18" charset="0"/>
                                      </a:rPr>
                                      <m:t>𝑭</m:t>
                                    </m:r>
                                  </m:e>
                                  <m:sub>
                                    <m:r>
                                      <m:rPr>
                                        <m:nor/>
                                      </m:rPr>
                                      <a:rPr lang="en-US" sz="1300" i="0">
                                        <a:effectLst/>
                                      </a:rPr>
                                      <m:t>moist</m:t>
                                    </m:r>
                                    <m:r>
                                      <m:rPr>
                                        <m:nor/>
                                      </m:rPr>
                                      <a:rPr lang="en-US" sz="1300" i="0">
                                        <a:effectLst/>
                                      </a:rPr>
                                      <m:t>,</m:t>
                                    </m:r>
                                    <m:r>
                                      <m:rPr>
                                        <m:nor/>
                                      </m:rPr>
                                      <a:rPr lang="en-US" sz="1300" i="0">
                                        <a:effectLst/>
                                      </a:rPr>
                                      <m:t>k</m:t>
                                    </m:r>
                                  </m:sub>
                                </m:sSub>
                                <m:d>
                                  <m:dPr>
                                    <m:ctrlPr>
                                      <a:rPr lang="en-US" sz="1300" i="1">
                                        <a:effectLst/>
                                        <a:latin typeface="Cambria Math" panose="02040503050406030204" pitchFamily="18" charset="0"/>
                                      </a:rPr>
                                    </m:ctrlPr>
                                  </m:dPr>
                                  <m:e>
                                    <m:r>
                                      <a:rPr lang="en-US" sz="1300">
                                        <a:effectLst/>
                                        <a:latin typeface="Cambria Math" panose="02040503050406030204" pitchFamily="18" charset="0"/>
                                      </a:rPr>
                                      <m:t>𝒙</m:t>
                                    </m:r>
                                    <m:r>
                                      <a:rPr lang="en-US" sz="1300">
                                        <a:effectLst/>
                                        <a:latin typeface="Cambria Math" panose="02040503050406030204" pitchFamily="18" charset="0"/>
                                      </a:rPr>
                                      <m:t>,</m:t>
                                    </m:r>
                                    <m:r>
                                      <a:rPr lang="en-US" sz="1300">
                                        <a:effectLst/>
                                        <a:latin typeface="Cambria Math" panose="02040503050406030204" pitchFamily="18" charset="0"/>
                                      </a:rPr>
                                      <m:t>𝒚</m:t>
                                    </m:r>
                                  </m:e>
                                </m:d>
                              </m:oMath>
                            </m:oMathPara>
                          </a14:m>
                          <a:endParaRPr lang="tr-TR" sz="13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l">
                            <a:lnSpc>
                              <a:spcPct val="150000"/>
                            </a:lnSpc>
                          </a:pPr>
                          <a:r>
                            <a:rPr lang="en-US" sz="1300" dirty="0">
                              <a:effectLst/>
                            </a:rPr>
                            <a:t>Suppression Efficiency</a:t>
                          </a:r>
                        </a:p>
                        <a:p>
                          <a:pPr algn="ctr">
                            <a:lnSpc>
                              <a:spcPct val="150000"/>
                            </a:lnSpc>
                          </a:pPr>
                          <a:r>
                            <a:rPr lang="en-US" sz="1300" dirty="0">
                              <a:effectLst/>
                            </a:rPr>
                            <a:t> </a:t>
                          </a:r>
                          <a14:m>
                            <m:oMath xmlns:m="http://schemas.openxmlformats.org/officeDocument/2006/math">
                              <m:sSub>
                                <m:sSubPr>
                                  <m:ctrlPr>
                                    <a:rPr lang="en-US" sz="1300" i="1">
                                      <a:effectLst/>
                                      <a:latin typeface="Cambria Math" panose="02040503050406030204" pitchFamily="18" charset="0"/>
                                    </a:rPr>
                                  </m:ctrlPr>
                                </m:sSubPr>
                                <m:e>
                                  <m:bar>
                                    <m:barPr>
                                      <m:pos m:val="top"/>
                                      <m:ctrlPr>
                                        <a:rPr lang="en-US" sz="1300" i="1">
                                          <a:effectLst/>
                                          <a:latin typeface="Cambria Math" panose="02040503050406030204" pitchFamily="18" charset="0"/>
                                        </a:rPr>
                                      </m:ctrlPr>
                                    </m:barPr>
                                    <m:e>
                                      <m:r>
                                        <a:rPr lang="en-US" sz="1300">
                                          <a:effectLst/>
                                          <a:latin typeface="Cambria Math" panose="02040503050406030204" pitchFamily="18" charset="0"/>
                                        </a:rPr>
                                        <m:t>𝑹</m:t>
                                      </m:r>
                                    </m:e>
                                  </m:bar>
                                </m:e>
                                <m:sub>
                                  <m:r>
                                    <m:rPr>
                                      <m:nor/>
                                    </m:rPr>
                                    <a:rPr lang="en-US" sz="1300" i="0">
                                      <a:effectLst/>
                                    </a:rPr>
                                    <m:t>eff</m:t>
                                  </m:r>
                                  <m:r>
                                    <m:rPr>
                                      <m:nor/>
                                    </m:rPr>
                                    <a:rPr lang="en-US" sz="1300" i="0">
                                      <a:effectLst/>
                                    </a:rPr>
                                    <m:t>,</m:t>
                                  </m:r>
                                  <m:r>
                                    <m:rPr>
                                      <m:nor/>
                                    </m:rPr>
                                    <a:rPr lang="en-US" sz="1300" i="0">
                                      <a:effectLst/>
                                    </a:rPr>
                                    <m:t>k</m:t>
                                  </m:r>
                                </m:sub>
                              </m:sSub>
                              <m:d>
                                <m:dPr>
                                  <m:ctrlPr>
                                    <a:rPr lang="en-US" sz="1300" i="1">
                                      <a:effectLst/>
                                      <a:latin typeface="Cambria Math" panose="02040503050406030204" pitchFamily="18" charset="0"/>
                                    </a:rPr>
                                  </m:ctrlPr>
                                </m:dPr>
                                <m:e>
                                  <m:r>
                                    <a:rPr lang="en-US" sz="1300">
                                      <a:effectLst/>
                                      <a:latin typeface="Cambria Math" panose="02040503050406030204" pitchFamily="18" charset="0"/>
                                    </a:rPr>
                                    <m:t>𝒙</m:t>
                                  </m:r>
                                  <m:r>
                                    <a:rPr lang="en-US" sz="1300">
                                      <a:effectLst/>
                                      <a:latin typeface="Cambria Math" panose="02040503050406030204" pitchFamily="18" charset="0"/>
                                    </a:rPr>
                                    <m:t>,</m:t>
                                  </m:r>
                                  <m:r>
                                    <a:rPr lang="en-US" sz="1300">
                                      <a:effectLst/>
                                      <a:latin typeface="Cambria Math" panose="02040503050406030204" pitchFamily="18" charset="0"/>
                                    </a:rPr>
                                    <m:t>𝒚</m:t>
                                  </m:r>
                                </m:e>
                              </m:d>
                            </m:oMath>
                          </a14:m>
                          <a:endParaRPr lang="tr-TR" sz="1300" dirty="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extLst>
                      <a:ext uri="{0D108BD9-81ED-4DB2-BD59-A6C34878D82A}">
                        <a16:rowId xmlns:a16="http://schemas.microsoft.com/office/drawing/2014/main" val="3150261034"/>
                      </a:ext>
                    </a:extLst>
                  </a:tr>
                  <a:tr h="579593">
                    <a:tc>
                      <a:txBody>
                        <a:bodyPr/>
                        <a:lstStyle/>
                        <a:p>
                          <a:pPr algn="just">
                            <a:lnSpc>
                              <a:spcPct val="100000"/>
                            </a:lnSpc>
                          </a:pPr>
                          <a:r>
                            <a:rPr lang="en-US" sz="1300" dirty="0">
                              <a:effectLst/>
                            </a:rPr>
                            <a:t>Wind Direction </a:t>
                          </a:r>
                          <a:r>
                            <a:rPr lang="tr-TR" sz="1300" dirty="0">
                              <a:effectLst/>
                            </a:rPr>
                            <a:t> </a:t>
                          </a:r>
                          <a:endParaRPr lang="tr-TR" sz="1300" i="1" dirty="0">
                            <a:effectLst/>
                            <a:latin typeface="Cambria Math" panose="02040503050406030204" pitchFamily="18" charset="0"/>
                          </a:endParaRPr>
                        </a:p>
                        <a:p>
                          <a:pPr algn="just">
                            <a:lnSpc>
                              <a:spcPct val="100000"/>
                            </a:lnSpc>
                          </a:pPr>
                          <a14:m>
                            <m:oMathPara xmlns:m="http://schemas.openxmlformats.org/officeDocument/2006/math">
                              <m:oMathParaPr>
                                <m:jc m:val="centerGroup"/>
                              </m:oMathParaPr>
                              <m:oMath xmlns:m="http://schemas.openxmlformats.org/officeDocument/2006/math">
                                <m:sSub>
                                  <m:sSubPr>
                                    <m:ctrlPr>
                                      <a:rPr lang="en-US" sz="1300" i="1">
                                        <a:effectLst/>
                                        <a:latin typeface="Cambria Math" panose="02040503050406030204" pitchFamily="18" charset="0"/>
                                      </a:rPr>
                                    </m:ctrlPr>
                                  </m:sSubPr>
                                  <m:e>
                                    <m:r>
                                      <a:rPr lang="en-US" sz="1300">
                                        <a:effectLst/>
                                        <a:latin typeface="Cambria Math" panose="02040503050406030204" pitchFamily="18" charset="0"/>
                                      </a:rPr>
                                      <m:t>𝑾</m:t>
                                    </m:r>
                                  </m:e>
                                  <m:sub>
                                    <m:r>
                                      <m:rPr>
                                        <m:nor/>
                                      </m:rPr>
                                      <a:rPr lang="en-US" sz="1300" i="0">
                                        <a:effectLst/>
                                      </a:rPr>
                                      <m:t>wd</m:t>
                                    </m:r>
                                    <m:r>
                                      <m:rPr>
                                        <m:nor/>
                                      </m:rPr>
                                      <a:rPr lang="en-US" sz="1300" i="0">
                                        <a:effectLst/>
                                      </a:rPr>
                                      <m:t>,</m:t>
                                    </m:r>
                                    <m:r>
                                      <m:rPr>
                                        <m:nor/>
                                      </m:rPr>
                                      <a:rPr lang="en-US" sz="1300" i="0">
                                        <a:effectLst/>
                                      </a:rPr>
                                      <m:t>k</m:t>
                                    </m:r>
                                  </m:sub>
                                </m:sSub>
                                <m:d>
                                  <m:dPr>
                                    <m:ctrlPr>
                                      <a:rPr lang="en-US" sz="1300" i="1">
                                        <a:effectLst/>
                                        <a:latin typeface="Cambria Math" panose="02040503050406030204" pitchFamily="18" charset="0"/>
                                      </a:rPr>
                                    </m:ctrlPr>
                                  </m:dPr>
                                  <m:e>
                                    <m:r>
                                      <a:rPr lang="en-US" sz="1300">
                                        <a:effectLst/>
                                        <a:latin typeface="Cambria Math" panose="02040503050406030204" pitchFamily="18" charset="0"/>
                                      </a:rPr>
                                      <m:t>𝒙</m:t>
                                    </m:r>
                                    <m:r>
                                      <a:rPr lang="en-US" sz="1300">
                                        <a:effectLst/>
                                        <a:latin typeface="Cambria Math" panose="02040503050406030204" pitchFamily="18" charset="0"/>
                                      </a:rPr>
                                      <m:t>,</m:t>
                                    </m:r>
                                    <m:r>
                                      <a:rPr lang="en-US" sz="1300">
                                        <a:effectLst/>
                                        <a:latin typeface="Cambria Math" panose="02040503050406030204" pitchFamily="18" charset="0"/>
                                      </a:rPr>
                                      <m:t>𝒚</m:t>
                                    </m:r>
                                  </m:e>
                                </m:d>
                              </m:oMath>
                            </m:oMathPara>
                          </a14:m>
                          <a:endParaRPr lang="tr-TR" sz="1300" dirty="0">
                            <a:effectLst/>
                            <a:latin typeface="Times New Roman" panose="02020603050405020304" pitchFamily="18" charset="0"/>
                            <a:ea typeface="Calibri" panose="020F0502020204030204" pitchFamily="34" charset="0"/>
                            <a:cs typeface="Arial" panose="020B0604020202020204" pitchFamily="34" charset="0"/>
                          </a:endParaRPr>
                        </a:p>
                      </a:txBody>
                      <a:tcPr marL="54048" marR="54048" marT="0" marB="0"/>
                    </a:tc>
                    <a:tc>
                      <a:txBody>
                        <a:bodyPr/>
                        <a:lstStyle/>
                        <a:p>
                          <a:pPr algn="just">
                            <a:lnSpc>
                              <a:spcPct val="150000"/>
                            </a:lnSpc>
                          </a:pPr>
                          <a:r>
                            <a:rPr lang="en-US" sz="1300" dirty="0">
                              <a:effectLst/>
                            </a:rPr>
                            <a:t>Accessibility</a:t>
                          </a:r>
                          <a:r>
                            <a:rPr lang="tr-TR" sz="1300" dirty="0">
                              <a:effectLst/>
                            </a:rPr>
                            <a:t> </a:t>
                          </a:r>
                          <a14:m>
                            <m:oMath xmlns:m="http://schemas.openxmlformats.org/officeDocument/2006/math">
                              <m:sSub>
                                <m:sSubPr>
                                  <m:ctrlPr>
                                    <a:rPr lang="en-US" sz="1300" i="1">
                                      <a:effectLst/>
                                      <a:latin typeface="Cambria Math" panose="02040503050406030204" pitchFamily="18" charset="0"/>
                                    </a:rPr>
                                  </m:ctrlPr>
                                </m:sSubPr>
                                <m:e>
                                  <m:r>
                                    <a:rPr lang="en-US" sz="1300">
                                      <a:effectLst/>
                                      <a:latin typeface="Cambria Math" panose="02040503050406030204" pitchFamily="18" charset="0"/>
                                    </a:rPr>
                                    <m:t>𝑮</m:t>
                                  </m:r>
                                </m:e>
                                <m:sub>
                                  <m:r>
                                    <m:rPr>
                                      <m:nor/>
                                    </m:rPr>
                                    <a:rPr lang="en-US" sz="1300" i="0">
                                      <a:effectLst/>
                                    </a:rPr>
                                    <m:t>access</m:t>
                                  </m:r>
                                </m:sub>
                              </m:sSub>
                              <m:d>
                                <m:dPr>
                                  <m:ctrlPr>
                                    <a:rPr lang="en-US" sz="1300" i="1">
                                      <a:effectLst/>
                                      <a:latin typeface="Cambria Math" panose="02040503050406030204" pitchFamily="18" charset="0"/>
                                    </a:rPr>
                                  </m:ctrlPr>
                                </m:dPr>
                                <m:e>
                                  <m:r>
                                    <a:rPr lang="en-US" sz="1300">
                                      <a:effectLst/>
                                      <a:latin typeface="Cambria Math" panose="02040503050406030204" pitchFamily="18" charset="0"/>
                                    </a:rPr>
                                    <m:t>𝒙</m:t>
                                  </m:r>
                                  <m:r>
                                    <a:rPr lang="en-US" sz="1300">
                                      <a:effectLst/>
                                      <a:latin typeface="Cambria Math" panose="02040503050406030204" pitchFamily="18" charset="0"/>
                                    </a:rPr>
                                    <m:t>,</m:t>
                                  </m:r>
                                  <m:r>
                                    <a:rPr lang="en-US" sz="1300">
                                      <a:effectLst/>
                                      <a:latin typeface="Cambria Math" panose="02040503050406030204" pitchFamily="18" charset="0"/>
                                    </a:rPr>
                                    <m:t>𝒚</m:t>
                                  </m:r>
                                </m:e>
                              </m:d>
                            </m:oMath>
                          </a14:m>
                          <a:endParaRPr lang="tr-TR" sz="13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nSpc>
                              <a:spcPct val="115000"/>
                            </a:lnSpc>
                            <a:spcAft>
                              <a:spcPts val="800"/>
                            </a:spcAft>
                            <a:buNone/>
                          </a:pPr>
                          <a:endParaRPr lang="tr-TR" sz="13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l">
                            <a:lnSpc>
                              <a:spcPct val="150000"/>
                            </a:lnSpc>
                          </a:pPr>
                          <a:r>
                            <a:rPr lang="en-US" sz="1300" dirty="0">
                              <a:effectLst/>
                            </a:rPr>
                            <a:t>Resource Availability</a:t>
                          </a:r>
                        </a:p>
                        <a:p>
                          <a:pPr algn="ctr">
                            <a:lnSpc>
                              <a:spcPct val="150000"/>
                            </a:lnSpc>
                          </a:pPr>
                          <a:r>
                            <a:rPr lang="en-US" sz="1300" dirty="0">
                              <a:effectLst/>
                            </a:rPr>
                            <a:t> </a:t>
                          </a:r>
                          <a14:m>
                            <m:oMath xmlns:m="http://schemas.openxmlformats.org/officeDocument/2006/math">
                              <m:sSub>
                                <m:sSubPr>
                                  <m:ctrlPr>
                                    <a:rPr lang="en-US" sz="1300" i="1">
                                      <a:effectLst/>
                                      <a:latin typeface="Cambria Math" panose="02040503050406030204" pitchFamily="18" charset="0"/>
                                    </a:rPr>
                                  </m:ctrlPr>
                                </m:sSubPr>
                                <m:e>
                                  <m:bar>
                                    <m:barPr>
                                      <m:pos m:val="top"/>
                                      <m:ctrlPr>
                                        <a:rPr lang="en-US" sz="1300" i="1">
                                          <a:effectLst/>
                                          <a:latin typeface="Cambria Math" panose="02040503050406030204" pitchFamily="18" charset="0"/>
                                        </a:rPr>
                                      </m:ctrlPr>
                                    </m:barPr>
                                    <m:e>
                                      <m:r>
                                        <a:rPr lang="en-US" sz="1300">
                                          <a:effectLst/>
                                          <a:latin typeface="Cambria Math" panose="02040503050406030204" pitchFamily="18" charset="0"/>
                                        </a:rPr>
                                        <m:t>𝑹</m:t>
                                      </m:r>
                                    </m:e>
                                  </m:bar>
                                </m:e>
                                <m:sub>
                                  <m:r>
                                    <m:rPr>
                                      <m:nor/>
                                    </m:rPr>
                                    <a:rPr lang="en-US" sz="1300" i="0">
                                      <a:effectLst/>
                                    </a:rPr>
                                    <m:t>avail</m:t>
                                  </m:r>
                                  <m:r>
                                    <m:rPr>
                                      <m:nor/>
                                    </m:rPr>
                                    <a:rPr lang="en-US" sz="1300" i="0">
                                      <a:effectLst/>
                                    </a:rPr>
                                    <m:t>,</m:t>
                                  </m:r>
                                  <m:r>
                                    <m:rPr>
                                      <m:nor/>
                                    </m:rPr>
                                    <a:rPr lang="en-US" sz="1300" i="0">
                                      <a:effectLst/>
                                    </a:rPr>
                                    <m:t>k</m:t>
                                  </m:r>
                                </m:sub>
                              </m:sSub>
                              <m:d>
                                <m:dPr>
                                  <m:ctrlPr>
                                    <a:rPr lang="en-US" sz="1300" i="1">
                                      <a:effectLst/>
                                      <a:latin typeface="Cambria Math" panose="02040503050406030204" pitchFamily="18" charset="0"/>
                                    </a:rPr>
                                  </m:ctrlPr>
                                </m:dPr>
                                <m:e>
                                  <m:r>
                                    <a:rPr lang="en-US" sz="1300">
                                      <a:effectLst/>
                                      <a:latin typeface="Cambria Math" panose="02040503050406030204" pitchFamily="18" charset="0"/>
                                    </a:rPr>
                                    <m:t>𝒙</m:t>
                                  </m:r>
                                  <m:r>
                                    <a:rPr lang="en-US" sz="1300">
                                      <a:effectLst/>
                                      <a:latin typeface="Cambria Math" panose="02040503050406030204" pitchFamily="18" charset="0"/>
                                    </a:rPr>
                                    <m:t>,</m:t>
                                  </m:r>
                                  <m:r>
                                    <a:rPr lang="en-US" sz="1300">
                                      <a:effectLst/>
                                      <a:latin typeface="Cambria Math" panose="02040503050406030204" pitchFamily="18" charset="0"/>
                                    </a:rPr>
                                    <m:t>𝒚</m:t>
                                  </m:r>
                                </m:e>
                              </m:d>
                            </m:oMath>
                          </a14:m>
                          <a:endParaRPr lang="tr-TR" sz="1300" dirty="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extLst>
                      <a:ext uri="{0D108BD9-81ED-4DB2-BD59-A6C34878D82A}">
                        <a16:rowId xmlns:a16="http://schemas.microsoft.com/office/drawing/2014/main" val="2109213521"/>
                      </a:ext>
                    </a:extLst>
                  </a:tr>
                  <a:tr h="387017">
                    <a:tc>
                      <a:txBody>
                        <a:bodyPr/>
                        <a:lstStyle/>
                        <a:p>
                          <a:pPr algn="just">
                            <a:lnSpc>
                              <a:spcPct val="100000"/>
                            </a:lnSpc>
                          </a:pPr>
                          <a:r>
                            <a:rPr lang="en-US" sz="1300" dirty="0">
                              <a:effectLst/>
                            </a:rPr>
                            <a:t>Wind Gust Speed</a:t>
                          </a:r>
                          <a:r>
                            <a:rPr lang="tr-TR" sz="1300" dirty="0">
                              <a:effectLst/>
                            </a:rPr>
                            <a:t> </a:t>
                          </a:r>
                          <a:endParaRPr lang="tr-TR" sz="1300" i="1" dirty="0">
                            <a:effectLst/>
                            <a:latin typeface="Cambria Math" panose="02040503050406030204" pitchFamily="18" charset="0"/>
                          </a:endParaRPr>
                        </a:p>
                        <a:p>
                          <a:pPr algn="just">
                            <a:lnSpc>
                              <a:spcPct val="100000"/>
                            </a:lnSpc>
                          </a:pPr>
                          <a14:m>
                            <m:oMathPara xmlns:m="http://schemas.openxmlformats.org/officeDocument/2006/math">
                              <m:oMathParaPr>
                                <m:jc m:val="centerGroup"/>
                              </m:oMathParaPr>
                              <m:oMath xmlns:m="http://schemas.openxmlformats.org/officeDocument/2006/math">
                                <m:sSub>
                                  <m:sSubPr>
                                    <m:ctrlPr>
                                      <a:rPr lang="en-US" sz="1300" i="1">
                                        <a:effectLst/>
                                        <a:latin typeface="Cambria Math" panose="02040503050406030204" pitchFamily="18" charset="0"/>
                                      </a:rPr>
                                    </m:ctrlPr>
                                  </m:sSubPr>
                                  <m:e>
                                    <m:r>
                                      <a:rPr lang="en-US" sz="1300">
                                        <a:effectLst/>
                                        <a:latin typeface="Cambria Math" panose="02040503050406030204" pitchFamily="18" charset="0"/>
                                      </a:rPr>
                                      <m:t>𝑾</m:t>
                                    </m:r>
                                  </m:e>
                                  <m:sub>
                                    <m:r>
                                      <m:rPr>
                                        <m:nor/>
                                      </m:rPr>
                                      <a:rPr lang="en-US" sz="1300" i="0">
                                        <a:effectLst/>
                                      </a:rPr>
                                      <m:t>gust</m:t>
                                    </m:r>
                                    <m:r>
                                      <m:rPr>
                                        <m:nor/>
                                      </m:rPr>
                                      <a:rPr lang="en-US" sz="1300" i="0">
                                        <a:effectLst/>
                                      </a:rPr>
                                      <m:t>,</m:t>
                                    </m:r>
                                    <m:r>
                                      <m:rPr>
                                        <m:nor/>
                                      </m:rPr>
                                      <a:rPr lang="en-US" sz="1300" i="0">
                                        <a:effectLst/>
                                      </a:rPr>
                                      <m:t>k</m:t>
                                    </m:r>
                                  </m:sub>
                                </m:sSub>
                                <m:d>
                                  <m:dPr>
                                    <m:ctrlPr>
                                      <a:rPr lang="en-US" sz="1300" i="1">
                                        <a:effectLst/>
                                        <a:latin typeface="Cambria Math" panose="02040503050406030204" pitchFamily="18" charset="0"/>
                                      </a:rPr>
                                    </m:ctrlPr>
                                  </m:dPr>
                                  <m:e>
                                    <m:r>
                                      <a:rPr lang="en-US" sz="1300">
                                        <a:effectLst/>
                                        <a:latin typeface="Cambria Math" panose="02040503050406030204" pitchFamily="18" charset="0"/>
                                      </a:rPr>
                                      <m:t>𝒙</m:t>
                                    </m:r>
                                    <m:r>
                                      <a:rPr lang="en-US" sz="1300">
                                        <a:effectLst/>
                                        <a:latin typeface="Cambria Math" panose="02040503050406030204" pitchFamily="18" charset="0"/>
                                      </a:rPr>
                                      <m:t>,</m:t>
                                    </m:r>
                                    <m:r>
                                      <a:rPr lang="en-US" sz="1300">
                                        <a:effectLst/>
                                        <a:latin typeface="Cambria Math" panose="02040503050406030204" pitchFamily="18" charset="0"/>
                                      </a:rPr>
                                      <m:t>𝒚</m:t>
                                    </m:r>
                                  </m:e>
                                </m:d>
                              </m:oMath>
                            </m:oMathPara>
                          </a14:m>
                          <a:endParaRPr lang="tr-TR" sz="1300" dirty="0">
                            <a:effectLst/>
                            <a:latin typeface="Times New Roman" panose="02020603050405020304" pitchFamily="18" charset="0"/>
                            <a:ea typeface="Calibri" panose="020F0502020204030204" pitchFamily="34" charset="0"/>
                            <a:cs typeface="Arial" panose="020B0604020202020204" pitchFamily="34" charset="0"/>
                          </a:endParaRPr>
                        </a:p>
                      </a:txBody>
                      <a:tcPr marL="54048" marR="54048" marT="0" marB="0"/>
                    </a:tc>
                    <a:tc>
                      <a:txBody>
                        <a:bodyPr/>
                        <a:lstStyle/>
                        <a:p>
                          <a:pPr algn="just">
                            <a:lnSpc>
                              <a:spcPct val="150000"/>
                            </a:lnSpc>
                          </a:pPr>
                          <a:r>
                            <a:rPr lang="en-US" sz="1300" dirty="0">
                              <a:effectLst/>
                            </a:rPr>
                            <a:t>Parameter </a:t>
                          </a:r>
                          <a:endParaRPr lang="tr-TR" sz="13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nSpc>
                              <a:spcPct val="115000"/>
                            </a:lnSpc>
                            <a:spcAft>
                              <a:spcPts val="800"/>
                            </a:spcAft>
                            <a:buNone/>
                          </a:pPr>
                          <a:endParaRPr lang="tr-TR" sz="13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endParaRPr lang="tr-TR" sz="13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756361723"/>
                      </a:ext>
                    </a:extLst>
                  </a:tr>
                  <a:tr h="410164">
                    <a:tc>
                      <a:txBody>
                        <a:bodyPr/>
                        <a:lstStyle/>
                        <a:p>
                          <a:pPr algn="just">
                            <a:lnSpc>
                              <a:spcPct val="100000"/>
                            </a:lnSpc>
                          </a:pPr>
                          <a:r>
                            <a:rPr lang="en-US" sz="1300" dirty="0">
                              <a:effectLst/>
                            </a:rPr>
                            <a:t>Precipitation</a:t>
                          </a:r>
                          <a:r>
                            <a:rPr lang="tr-TR" sz="1300" dirty="0">
                              <a:effectLst/>
                            </a:rPr>
                            <a:t> </a:t>
                          </a:r>
                          <a:endParaRPr lang="tr-TR" sz="1300" i="1" dirty="0">
                            <a:effectLst/>
                            <a:latin typeface="Cambria Math" panose="02040503050406030204" pitchFamily="18" charset="0"/>
                          </a:endParaRPr>
                        </a:p>
                        <a:p>
                          <a:pPr algn="just">
                            <a:lnSpc>
                              <a:spcPct val="100000"/>
                            </a:lnSpc>
                          </a:pPr>
                          <a14:m>
                            <m:oMathPara xmlns:m="http://schemas.openxmlformats.org/officeDocument/2006/math">
                              <m:oMathParaPr>
                                <m:jc m:val="centerGroup"/>
                              </m:oMathParaPr>
                              <m:oMath xmlns:m="http://schemas.openxmlformats.org/officeDocument/2006/math">
                                <m:sSub>
                                  <m:sSubPr>
                                    <m:ctrlPr>
                                      <a:rPr lang="en-US" sz="1300" i="1">
                                        <a:effectLst/>
                                        <a:latin typeface="Cambria Math" panose="02040503050406030204" pitchFamily="18" charset="0"/>
                                      </a:rPr>
                                    </m:ctrlPr>
                                  </m:sSubPr>
                                  <m:e>
                                    <m:r>
                                      <a:rPr lang="en-US" sz="1300">
                                        <a:effectLst/>
                                        <a:latin typeface="Cambria Math" panose="02040503050406030204" pitchFamily="18" charset="0"/>
                                      </a:rPr>
                                      <m:t>𝑾</m:t>
                                    </m:r>
                                  </m:e>
                                  <m:sub>
                                    <m:r>
                                      <m:rPr>
                                        <m:nor/>
                                      </m:rPr>
                                      <a:rPr lang="en-US" sz="1300" i="0">
                                        <a:effectLst/>
                                      </a:rPr>
                                      <m:t>prec</m:t>
                                    </m:r>
                                    <m:r>
                                      <m:rPr>
                                        <m:nor/>
                                      </m:rPr>
                                      <a:rPr lang="en-US" sz="1300" i="0">
                                        <a:effectLst/>
                                      </a:rPr>
                                      <m:t>,</m:t>
                                    </m:r>
                                    <m:r>
                                      <m:rPr>
                                        <m:nor/>
                                      </m:rPr>
                                      <a:rPr lang="en-US" sz="1300" i="0">
                                        <a:effectLst/>
                                      </a:rPr>
                                      <m:t>k</m:t>
                                    </m:r>
                                  </m:sub>
                                </m:sSub>
                              </m:oMath>
                            </m:oMathPara>
                          </a14:m>
                          <a:endParaRPr lang="tr-TR" sz="1300" dirty="0">
                            <a:effectLst/>
                            <a:latin typeface="Times New Roman" panose="02020603050405020304" pitchFamily="18" charset="0"/>
                            <a:ea typeface="Calibri" panose="020F0502020204030204" pitchFamily="34" charset="0"/>
                            <a:cs typeface="Arial" panose="020B0604020202020204" pitchFamily="34" charset="0"/>
                          </a:endParaRPr>
                        </a:p>
                      </a:txBody>
                      <a:tcPr marL="54048" marR="54048" marT="0" marB="0"/>
                    </a:tc>
                    <a:tc>
                      <a:txBody>
                        <a:bodyPr/>
                        <a:lstStyle/>
                        <a:p>
                          <a:pPr algn="just">
                            <a:lnSpc>
                              <a:spcPct val="150000"/>
                            </a:lnSpc>
                          </a:pPr>
                          <a:r>
                            <a:rPr lang="en-US" sz="1300" dirty="0">
                              <a:effectLst/>
                            </a:rPr>
                            <a:t>Elevation </a:t>
                          </a:r>
                          <a14:m>
                            <m:oMath xmlns:m="http://schemas.openxmlformats.org/officeDocument/2006/math">
                              <m:sSub>
                                <m:sSubPr>
                                  <m:ctrlPr>
                                    <a:rPr lang="en-US" sz="1300" i="1">
                                      <a:effectLst/>
                                      <a:latin typeface="Cambria Math" panose="02040503050406030204" pitchFamily="18" charset="0"/>
                                    </a:rPr>
                                  </m:ctrlPr>
                                </m:sSubPr>
                                <m:e>
                                  <m:r>
                                    <a:rPr lang="en-US" sz="1300">
                                      <a:effectLst/>
                                      <a:latin typeface="Cambria Math" panose="02040503050406030204" pitchFamily="18" charset="0"/>
                                    </a:rPr>
                                    <m:t>𝑮</m:t>
                                  </m:r>
                                </m:e>
                                <m:sub>
                                  <m:r>
                                    <m:rPr>
                                      <m:nor/>
                                    </m:rPr>
                                    <a:rPr lang="en-US" sz="1300" i="0">
                                      <a:effectLst/>
                                    </a:rPr>
                                    <m:t>elev</m:t>
                                  </m:r>
                                </m:sub>
                              </m:sSub>
                              <m:d>
                                <m:dPr>
                                  <m:ctrlPr>
                                    <a:rPr lang="en-US" sz="1300" i="1">
                                      <a:effectLst/>
                                      <a:latin typeface="Cambria Math" panose="02040503050406030204" pitchFamily="18" charset="0"/>
                                    </a:rPr>
                                  </m:ctrlPr>
                                </m:dPr>
                                <m:e>
                                  <m:r>
                                    <a:rPr lang="en-US" sz="1300">
                                      <a:effectLst/>
                                      <a:latin typeface="Cambria Math" panose="02040503050406030204" pitchFamily="18" charset="0"/>
                                    </a:rPr>
                                    <m:t>𝒙</m:t>
                                  </m:r>
                                  <m:r>
                                    <a:rPr lang="en-US" sz="1300">
                                      <a:effectLst/>
                                      <a:latin typeface="Cambria Math" panose="02040503050406030204" pitchFamily="18" charset="0"/>
                                    </a:rPr>
                                    <m:t>,</m:t>
                                  </m:r>
                                  <m:r>
                                    <a:rPr lang="en-US" sz="1300">
                                      <a:effectLst/>
                                      <a:latin typeface="Cambria Math" panose="02040503050406030204" pitchFamily="18" charset="0"/>
                                    </a:rPr>
                                    <m:t>𝒚</m:t>
                                  </m:r>
                                </m:e>
                              </m:d>
                            </m:oMath>
                          </a14:m>
                          <a:endParaRPr lang="tr-TR" sz="13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nSpc>
                              <a:spcPct val="115000"/>
                            </a:lnSpc>
                            <a:spcAft>
                              <a:spcPts val="800"/>
                            </a:spcAft>
                            <a:buNone/>
                          </a:pPr>
                          <a:endParaRPr lang="tr-TR" sz="13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endParaRPr lang="tr-TR" sz="13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852586988"/>
                      </a:ext>
                    </a:extLst>
                  </a:tr>
                </a:tbl>
              </a:graphicData>
            </a:graphic>
          </p:graphicFrame>
        </mc:Choice>
        <mc:Fallback xmlns="">
          <p:graphicFrame>
            <p:nvGraphicFramePr>
              <p:cNvPr id="30" name="Table 29">
                <a:extLst>
                  <a:ext uri="{FF2B5EF4-FFF2-40B4-BE49-F238E27FC236}">
                    <a16:creationId xmlns:a16="http://schemas.microsoft.com/office/drawing/2014/main" id="{6395385F-9C52-B2C6-103E-1CBA827464B2}"/>
                  </a:ext>
                </a:extLst>
              </p:cNvPr>
              <p:cNvGraphicFramePr>
                <a:graphicFrameLocks noGrp="1"/>
              </p:cNvGraphicFramePr>
              <p:nvPr>
                <p:extLst>
                  <p:ext uri="{D42A27DB-BD31-4B8C-83A1-F6EECF244321}">
                    <p14:modId xmlns:p14="http://schemas.microsoft.com/office/powerpoint/2010/main" val="28312795"/>
                  </p:ext>
                </p:extLst>
              </p:nvPr>
            </p:nvGraphicFramePr>
            <p:xfrm>
              <a:off x="5715000" y="2843382"/>
              <a:ext cx="6375400" cy="3963669"/>
            </p:xfrm>
            <a:graphic>
              <a:graphicData uri="http://schemas.openxmlformats.org/drawingml/2006/table">
                <a:tbl>
                  <a:tblPr firstRow="1" bandRow="1">
                    <a:tableStyleId>{93296810-A885-4BE3-A3E7-6D5BEEA58F35}</a:tableStyleId>
                  </a:tblPr>
                  <a:tblGrid>
                    <a:gridCol w="1713109">
                      <a:extLst>
                        <a:ext uri="{9D8B030D-6E8A-4147-A177-3AD203B41FA5}">
                          <a16:colId xmlns:a16="http://schemas.microsoft.com/office/drawing/2014/main" val="2864274145"/>
                        </a:ext>
                      </a:extLst>
                    </a:gridCol>
                    <a:gridCol w="1315818">
                      <a:extLst>
                        <a:ext uri="{9D8B030D-6E8A-4147-A177-3AD203B41FA5}">
                          <a16:colId xmlns:a16="http://schemas.microsoft.com/office/drawing/2014/main" val="3760314938"/>
                        </a:ext>
                      </a:extLst>
                    </a:gridCol>
                    <a:gridCol w="1752623">
                      <a:extLst>
                        <a:ext uri="{9D8B030D-6E8A-4147-A177-3AD203B41FA5}">
                          <a16:colId xmlns:a16="http://schemas.microsoft.com/office/drawing/2014/main" val="2786632141"/>
                        </a:ext>
                      </a:extLst>
                    </a:gridCol>
                    <a:gridCol w="1593850">
                      <a:extLst>
                        <a:ext uri="{9D8B030D-6E8A-4147-A177-3AD203B41FA5}">
                          <a16:colId xmlns:a16="http://schemas.microsoft.com/office/drawing/2014/main" val="3874300014"/>
                        </a:ext>
                      </a:extLst>
                    </a:gridCol>
                  </a:tblGrid>
                  <a:tr h="327023">
                    <a:tc>
                      <a:txBody>
                        <a:bodyPr/>
                        <a:lstStyle/>
                        <a:p>
                          <a:endParaRPr lang="tr-TR"/>
                        </a:p>
                      </a:txBody>
                      <a:tcPr marL="54048" marR="54048" marT="0" marB="0">
                        <a:blipFill>
                          <a:blip r:embed="rId12"/>
                          <a:stretch>
                            <a:fillRect l="-356" t="-1852" r="-274021" b="-1120370"/>
                          </a:stretch>
                        </a:blipFill>
                      </a:tcPr>
                    </a:tc>
                    <a:tc>
                      <a:txBody>
                        <a:bodyPr/>
                        <a:lstStyle/>
                        <a:p>
                          <a:endParaRPr lang="tr-TR"/>
                        </a:p>
                      </a:txBody>
                      <a:tcPr marL="68580" marR="68580" marT="0" marB="0">
                        <a:blipFill>
                          <a:blip r:embed="rId12"/>
                          <a:stretch>
                            <a:fillRect l="-130556" t="-1852" r="-256481" b="-1120370"/>
                          </a:stretch>
                        </a:blipFill>
                      </a:tcPr>
                    </a:tc>
                    <a:tc>
                      <a:txBody>
                        <a:bodyPr/>
                        <a:lstStyle/>
                        <a:p>
                          <a:endParaRPr lang="tr-TR"/>
                        </a:p>
                      </a:txBody>
                      <a:tcPr marL="68580" marR="68580" marT="0" marB="0">
                        <a:blipFill>
                          <a:blip r:embed="rId12"/>
                          <a:stretch>
                            <a:fillRect l="-172917" t="-1852" r="-92361" b="-1120370"/>
                          </a:stretch>
                        </a:blipFill>
                      </a:tcPr>
                    </a:tc>
                    <a:tc>
                      <a:txBody>
                        <a:bodyPr/>
                        <a:lstStyle/>
                        <a:p>
                          <a:endParaRPr lang="tr-TR"/>
                        </a:p>
                      </a:txBody>
                      <a:tcPr marL="17780" marR="17780" marT="0" marB="0">
                        <a:blipFill>
                          <a:blip r:embed="rId12"/>
                          <a:stretch>
                            <a:fillRect l="-300000" t="-1852" r="-1527" b="-1120370"/>
                          </a:stretch>
                        </a:blipFill>
                      </a:tcPr>
                    </a:tc>
                    <a:extLst>
                      <a:ext uri="{0D108BD9-81ED-4DB2-BD59-A6C34878D82A}">
                        <a16:rowId xmlns:a16="http://schemas.microsoft.com/office/drawing/2014/main" val="879300485"/>
                      </a:ext>
                    </a:extLst>
                  </a:tr>
                  <a:tr h="660083">
                    <a:tc>
                      <a:txBody>
                        <a:bodyPr/>
                        <a:lstStyle/>
                        <a:p>
                          <a:endParaRPr lang="tr-TR"/>
                        </a:p>
                      </a:txBody>
                      <a:tcPr marL="54048" marR="54048" marT="0" marB="0">
                        <a:blipFill>
                          <a:blip r:embed="rId12"/>
                          <a:stretch>
                            <a:fillRect l="-356" t="-50926" r="-274021" b="-460185"/>
                          </a:stretch>
                        </a:blipFill>
                      </a:tcPr>
                    </a:tc>
                    <a:tc>
                      <a:txBody>
                        <a:bodyPr/>
                        <a:lstStyle/>
                        <a:p>
                          <a:endParaRPr lang="tr-TR"/>
                        </a:p>
                      </a:txBody>
                      <a:tcPr marL="68580" marR="68580" marT="0" marB="0">
                        <a:blipFill>
                          <a:blip r:embed="rId12"/>
                          <a:stretch>
                            <a:fillRect l="-130556" t="-50926" r="-256481" b="-460185"/>
                          </a:stretch>
                        </a:blipFill>
                      </a:tcPr>
                    </a:tc>
                    <a:tc>
                      <a:txBody>
                        <a:bodyPr/>
                        <a:lstStyle/>
                        <a:p>
                          <a:endParaRPr lang="tr-TR"/>
                        </a:p>
                      </a:txBody>
                      <a:tcPr marL="68580" marR="68580" marT="0" marB="0">
                        <a:blipFill>
                          <a:blip r:embed="rId12"/>
                          <a:stretch>
                            <a:fillRect l="-172917" t="-50926" r="-92361" b="-460185"/>
                          </a:stretch>
                        </a:blipFill>
                      </a:tcPr>
                    </a:tc>
                    <a:tc>
                      <a:txBody>
                        <a:bodyPr/>
                        <a:lstStyle/>
                        <a:p>
                          <a:endParaRPr lang="tr-TR"/>
                        </a:p>
                      </a:txBody>
                      <a:tcPr marL="17780" marR="17780" marT="0" marB="0">
                        <a:blipFill>
                          <a:blip r:embed="rId12"/>
                          <a:stretch>
                            <a:fillRect l="-300000" t="-50926" r="-1527" b="-460185"/>
                          </a:stretch>
                        </a:blipFill>
                      </a:tcPr>
                    </a:tc>
                    <a:extLst>
                      <a:ext uri="{0D108BD9-81ED-4DB2-BD59-A6C34878D82A}">
                        <a16:rowId xmlns:a16="http://schemas.microsoft.com/office/drawing/2014/main" val="2552558262"/>
                      </a:ext>
                    </a:extLst>
                  </a:tr>
                  <a:tr h="651891">
                    <a:tc>
                      <a:txBody>
                        <a:bodyPr/>
                        <a:lstStyle/>
                        <a:p>
                          <a:endParaRPr lang="tr-TR"/>
                        </a:p>
                      </a:txBody>
                      <a:tcPr marL="54048" marR="54048" marT="0" marB="0">
                        <a:blipFill>
                          <a:blip r:embed="rId12"/>
                          <a:stretch>
                            <a:fillRect l="-356" t="-152336" r="-274021" b="-364486"/>
                          </a:stretch>
                        </a:blipFill>
                      </a:tcPr>
                    </a:tc>
                    <a:tc>
                      <a:txBody>
                        <a:bodyPr/>
                        <a:lstStyle/>
                        <a:p>
                          <a:endParaRPr lang="tr-TR"/>
                        </a:p>
                      </a:txBody>
                      <a:tcPr marL="68580" marR="68580" marT="0" marB="0">
                        <a:blipFill>
                          <a:blip r:embed="rId12"/>
                          <a:stretch>
                            <a:fillRect l="-130556" t="-152336" r="-256481" b="-364486"/>
                          </a:stretch>
                        </a:blipFill>
                      </a:tcPr>
                    </a:tc>
                    <a:tc>
                      <a:txBody>
                        <a:bodyPr/>
                        <a:lstStyle/>
                        <a:p>
                          <a:endParaRPr lang="tr-TR"/>
                        </a:p>
                      </a:txBody>
                      <a:tcPr marL="68580" marR="68580" marT="0" marB="0">
                        <a:blipFill>
                          <a:blip r:embed="rId12"/>
                          <a:stretch>
                            <a:fillRect l="-172917" t="-152336" r="-92361" b="-364486"/>
                          </a:stretch>
                        </a:blipFill>
                      </a:tcPr>
                    </a:tc>
                    <a:tc>
                      <a:txBody>
                        <a:bodyPr/>
                        <a:lstStyle/>
                        <a:p>
                          <a:endParaRPr lang="tr-TR"/>
                        </a:p>
                      </a:txBody>
                      <a:tcPr marL="17780" marR="17780" marT="0" marB="0">
                        <a:blipFill>
                          <a:blip r:embed="rId12"/>
                          <a:stretch>
                            <a:fillRect l="-300000" t="-152336" r="-1527" b="-364486"/>
                          </a:stretch>
                        </a:blipFill>
                      </a:tcPr>
                    </a:tc>
                    <a:extLst>
                      <a:ext uri="{0D108BD9-81ED-4DB2-BD59-A6C34878D82A}">
                        <a16:rowId xmlns:a16="http://schemas.microsoft.com/office/drawing/2014/main" val="3261552996"/>
                      </a:ext>
                    </a:extLst>
                  </a:tr>
                  <a:tr h="652653">
                    <a:tc>
                      <a:txBody>
                        <a:bodyPr/>
                        <a:lstStyle/>
                        <a:p>
                          <a:endParaRPr lang="tr-TR"/>
                        </a:p>
                      </a:txBody>
                      <a:tcPr marL="54048" marR="54048" marT="0" marB="0">
                        <a:blipFill>
                          <a:blip r:embed="rId12"/>
                          <a:stretch>
                            <a:fillRect l="-356" t="-252336" r="-274021" b="-264486"/>
                          </a:stretch>
                        </a:blipFill>
                      </a:tcPr>
                    </a:tc>
                    <a:tc>
                      <a:txBody>
                        <a:bodyPr/>
                        <a:lstStyle/>
                        <a:p>
                          <a:endParaRPr lang="tr-TR"/>
                        </a:p>
                      </a:txBody>
                      <a:tcPr marL="68580" marR="68580" marT="0" marB="0">
                        <a:blipFill>
                          <a:blip r:embed="rId12"/>
                          <a:stretch>
                            <a:fillRect l="-130556" t="-252336" r="-256481" b="-264486"/>
                          </a:stretch>
                        </a:blipFill>
                      </a:tcPr>
                    </a:tc>
                    <a:tc>
                      <a:txBody>
                        <a:bodyPr/>
                        <a:lstStyle/>
                        <a:p>
                          <a:endParaRPr lang="tr-TR"/>
                        </a:p>
                      </a:txBody>
                      <a:tcPr marL="68580" marR="68580" marT="0" marB="0">
                        <a:blipFill>
                          <a:blip r:embed="rId12"/>
                          <a:stretch>
                            <a:fillRect l="-172917" t="-252336" r="-92361" b="-264486"/>
                          </a:stretch>
                        </a:blipFill>
                      </a:tcPr>
                    </a:tc>
                    <a:tc>
                      <a:txBody>
                        <a:bodyPr/>
                        <a:lstStyle/>
                        <a:p>
                          <a:endParaRPr lang="tr-TR"/>
                        </a:p>
                      </a:txBody>
                      <a:tcPr marL="17780" marR="17780" marT="0" marB="0">
                        <a:blipFill>
                          <a:blip r:embed="rId12"/>
                          <a:stretch>
                            <a:fillRect l="-300000" t="-252336" r="-1527" b="-264486"/>
                          </a:stretch>
                        </a:blipFill>
                      </a:tcPr>
                    </a:tc>
                    <a:extLst>
                      <a:ext uri="{0D108BD9-81ED-4DB2-BD59-A6C34878D82A}">
                        <a16:rowId xmlns:a16="http://schemas.microsoft.com/office/drawing/2014/main" val="3150261034"/>
                      </a:ext>
                    </a:extLst>
                  </a:tr>
                  <a:tr h="651891">
                    <a:tc>
                      <a:txBody>
                        <a:bodyPr/>
                        <a:lstStyle/>
                        <a:p>
                          <a:endParaRPr lang="tr-TR"/>
                        </a:p>
                      </a:txBody>
                      <a:tcPr marL="54048" marR="54048" marT="0" marB="0">
                        <a:blipFill>
                          <a:blip r:embed="rId12"/>
                          <a:stretch>
                            <a:fillRect l="-356" t="-352336" r="-274021" b="-164486"/>
                          </a:stretch>
                        </a:blipFill>
                      </a:tcPr>
                    </a:tc>
                    <a:tc>
                      <a:txBody>
                        <a:bodyPr/>
                        <a:lstStyle/>
                        <a:p>
                          <a:endParaRPr lang="tr-TR"/>
                        </a:p>
                      </a:txBody>
                      <a:tcPr marL="68580" marR="68580" marT="0" marB="0">
                        <a:blipFill>
                          <a:blip r:embed="rId12"/>
                          <a:stretch>
                            <a:fillRect l="-130556" t="-352336" r="-256481" b="-164486"/>
                          </a:stretch>
                        </a:blipFill>
                      </a:tcPr>
                    </a:tc>
                    <a:tc>
                      <a:txBody>
                        <a:bodyPr/>
                        <a:lstStyle/>
                        <a:p>
                          <a:pPr>
                            <a:lnSpc>
                              <a:spcPct val="115000"/>
                            </a:lnSpc>
                            <a:spcAft>
                              <a:spcPts val="800"/>
                            </a:spcAft>
                            <a:buNone/>
                          </a:pPr>
                          <a:endParaRPr lang="tr-TR" sz="13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endParaRPr lang="tr-TR"/>
                        </a:p>
                      </a:txBody>
                      <a:tcPr marL="17780" marR="17780" marT="0" marB="0">
                        <a:blipFill>
                          <a:blip r:embed="rId12"/>
                          <a:stretch>
                            <a:fillRect l="-300000" t="-352336" r="-1527" b="-164486"/>
                          </a:stretch>
                        </a:blipFill>
                      </a:tcPr>
                    </a:tc>
                    <a:extLst>
                      <a:ext uri="{0D108BD9-81ED-4DB2-BD59-A6C34878D82A}">
                        <a16:rowId xmlns:a16="http://schemas.microsoft.com/office/drawing/2014/main" val="2109213521"/>
                      </a:ext>
                    </a:extLst>
                  </a:tr>
                  <a:tr h="435356">
                    <a:tc>
                      <a:txBody>
                        <a:bodyPr/>
                        <a:lstStyle/>
                        <a:p>
                          <a:endParaRPr lang="tr-TR"/>
                        </a:p>
                      </a:txBody>
                      <a:tcPr marL="54048" marR="54048" marT="0" marB="0">
                        <a:blipFill>
                          <a:blip r:embed="rId12"/>
                          <a:stretch>
                            <a:fillRect l="-356" t="-672222" r="-274021" b="-144444"/>
                          </a:stretch>
                        </a:blipFill>
                      </a:tcPr>
                    </a:tc>
                    <a:tc>
                      <a:txBody>
                        <a:bodyPr/>
                        <a:lstStyle/>
                        <a:p>
                          <a:pPr algn="just">
                            <a:lnSpc>
                              <a:spcPct val="150000"/>
                            </a:lnSpc>
                          </a:pPr>
                          <a:r>
                            <a:rPr lang="en-US" sz="1300" dirty="0">
                              <a:effectLst/>
                            </a:rPr>
                            <a:t>Parameter </a:t>
                          </a:r>
                          <a:endParaRPr lang="tr-TR" sz="13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nSpc>
                              <a:spcPct val="115000"/>
                            </a:lnSpc>
                            <a:spcAft>
                              <a:spcPts val="800"/>
                            </a:spcAft>
                            <a:buNone/>
                          </a:pPr>
                          <a:endParaRPr lang="tr-TR" sz="13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endParaRPr lang="tr-TR" sz="13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756361723"/>
                      </a:ext>
                    </a:extLst>
                  </a:tr>
                  <a:tr h="584772">
                    <a:tc>
                      <a:txBody>
                        <a:bodyPr/>
                        <a:lstStyle/>
                        <a:p>
                          <a:endParaRPr lang="tr-TR"/>
                        </a:p>
                      </a:txBody>
                      <a:tcPr marL="54048" marR="54048" marT="0" marB="0">
                        <a:blipFill>
                          <a:blip r:embed="rId12"/>
                          <a:stretch>
                            <a:fillRect l="-356" t="-579167" r="-274021" b="-8333"/>
                          </a:stretch>
                        </a:blipFill>
                      </a:tcPr>
                    </a:tc>
                    <a:tc>
                      <a:txBody>
                        <a:bodyPr/>
                        <a:lstStyle/>
                        <a:p>
                          <a:endParaRPr lang="tr-TR"/>
                        </a:p>
                      </a:txBody>
                      <a:tcPr marL="68580" marR="68580" marT="0" marB="0">
                        <a:blipFill>
                          <a:blip r:embed="rId12"/>
                          <a:stretch>
                            <a:fillRect l="-130556" t="-579167" r="-256481" b="-8333"/>
                          </a:stretch>
                        </a:blipFill>
                      </a:tcPr>
                    </a:tc>
                    <a:tc>
                      <a:txBody>
                        <a:bodyPr/>
                        <a:lstStyle/>
                        <a:p>
                          <a:pPr>
                            <a:lnSpc>
                              <a:spcPct val="115000"/>
                            </a:lnSpc>
                            <a:spcAft>
                              <a:spcPts val="800"/>
                            </a:spcAft>
                            <a:buNone/>
                          </a:pPr>
                          <a:endParaRPr lang="tr-TR" sz="13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endParaRPr lang="tr-TR" sz="13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852586988"/>
                      </a:ext>
                    </a:extLst>
                  </a:tr>
                </a:tbl>
              </a:graphicData>
            </a:graphic>
          </p:graphicFrame>
        </mc:Fallback>
      </mc:AlternateContent>
    </p:spTree>
    <p:extLst>
      <p:ext uri="{BB962C8B-B14F-4D97-AF65-F5344CB8AC3E}">
        <p14:creationId xmlns:p14="http://schemas.microsoft.com/office/powerpoint/2010/main" val="6125931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56032"/>
            <a:ext cx="91440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SIMULATION FRAMEWORK : SIMULATION CORE</a:t>
            </a:r>
            <a:r>
              <a:rPr lang="tr-TR" sz="1300" b="1" kern="0" spc="200" dirty="0">
                <a:solidFill>
                  <a:srgbClr val="E31836"/>
                </a:solidFill>
                <a:latin typeface="Calibri" pitchFamily="34" charset="0"/>
                <a:ea typeface="Calibri" pitchFamily="34" charset="-122"/>
                <a:cs typeface="Calibri" pitchFamily="34" charset="-120"/>
              </a:rPr>
              <a:t> </a:t>
            </a:r>
            <a:endParaRPr lang="en-US" sz="1300" dirty="0"/>
          </a:p>
        </p:txBody>
      </p:sp>
      <p:sp>
        <p:nvSpPr>
          <p:cNvPr id="3" name="Text 1"/>
          <p:cNvSpPr/>
          <p:nvPr/>
        </p:nvSpPr>
        <p:spPr>
          <a:xfrm>
            <a:off x="502920" y="512064"/>
            <a:ext cx="11247120" cy="731520"/>
          </a:xfrm>
          <a:prstGeom prst="rect">
            <a:avLst/>
          </a:prstGeom>
          <a:noFill/>
          <a:ln/>
        </p:spPr>
        <p:txBody>
          <a:bodyPr wrap="square" lIns="0" tIns="0" rIns="0" bIns="0" rtlCol="0" anchor="ctr"/>
          <a:lstStyle/>
          <a:p>
            <a:pPr marL="0" indent="0">
              <a:buNone/>
            </a:pPr>
            <a:r>
              <a:rPr lang="en-US" sz="2900" b="1" dirty="0">
                <a:solidFill>
                  <a:srgbClr val="000000"/>
                </a:solidFill>
                <a:latin typeface="Cambria" pitchFamily="34" charset="0"/>
                <a:ea typeface="Cambria" pitchFamily="34" charset="-122"/>
                <a:cs typeface="Cambria" pitchFamily="34" charset="-120"/>
              </a:rPr>
              <a:t>Per-Cell State, </a:t>
            </a:r>
            <a:r>
              <a:rPr lang="tr-TR" sz="2900" b="1" dirty="0" err="1">
                <a:solidFill>
                  <a:srgbClr val="000000"/>
                </a:solidFill>
                <a:latin typeface="Cambria" pitchFamily="34" charset="0"/>
                <a:ea typeface="Cambria" pitchFamily="34" charset="-122"/>
                <a:cs typeface="Cambria" pitchFamily="34" charset="-120"/>
              </a:rPr>
              <a:t>State</a:t>
            </a:r>
            <a:r>
              <a:rPr lang="en-US" sz="2900" b="1" dirty="0">
                <a:solidFill>
                  <a:srgbClr val="000000"/>
                </a:solidFill>
                <a:latin typeface="Cambria" pitchFamily="34" charset="0"/>
                <a:ea typeface="Cambria" pitchFamily="34" charset="-122"/>
                <a:cs typeface="Cambria" pitchFamily="34" charset="-120"/>
              </a:rPr>
              <a:t> Transition</a:t>
            </a:r>
            <a:endParaRPr lang="en-US" sz="2900" dirty="0"/>
          </a:p>
        </p:txBody>
      </p:sp>
      <p:pic>
        <p:nvPicPr>
          <p:cNvPr id="9" name="Image 4"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10" name="Image 5" descr="/tmp/thx/deck/figs/eee_logo.png"/>
          <p:cNvPicPr>
            <a:picLocks noChangeAspect="1"/>
          </p:cNvPicPr>
          <p:nvPr/>
        </p:nvPicPr>
        <p:blipFill>
          <a:blip r:embed="rId4"/>
          <a:stretch>
            <a:fillRect/>
          </a:stretch>
        </p:blipFill>
        <p:spPr>
          <a:xfrm>
            <a:off x="11265408" y="186217"/>
            <a:ext cx="475488" cy="395662"/>
          </a:xfrm>
          <a:prstGeom prst="rect">
            <a:avLst/>
          </a:prstGeom>
        </p:spPr>
      </p:pic>
      <p:sp>
        <p:nvSpPr>
          <p:cNvPr id="17" name="Text 2">
            <a:extLst>
              <a:ext uri="{FF2B5EF4-FFF2-40B4-BE49-F238E27FC236}">
                <a16:creationId xmlns:a16="http://schemas.microsoft.com/office/drawing/2014/main" id="{45C70648-CC1E-4509-8471-E814689E4369}"/>
              </a:ext>
            </a:extLst>
          </p:cNvPr>
          <p:cNvSpPr/>
          <p:nvPr/>
        </p:nvSpPr>
        <p:spPr>
          <a:xfrm>
            <a:off x="6410960" y="1235675"/>
            <a:ext cx="5486400" cy="310896"/>
          </a:xfrm>
          <a:prstGeom prst="rect">
            <a:avLst/>
          </a:prstGeom>
          <a:noFill/>
          <a:ln/>
        </p:spPr>
        <p:txBody>
          <a:bodyPr wrap="square" lIns="0" tIns="0" rIns="0" bIns="0" rtlCol="0" anchor="ctr"/>
          <a:lstStyle/>
          <a:p>
            <a:pPr marL="0" indent="0">
              <a:buNone/>
            </a:pPr>
            <a:r>
              <a:rPr lang="en-US" sz="1600" b="1" dirty="0">
                <a:solidFill>
                  <a:srgbClr val="E31836"/>
                </a:solidFill>
                <a:latin typeface="Calibri" pitchFamily="34" charset="0"/>
                <a:ea typeface="Calibri" pitchFamily="34" charset="-122"/>
                <a:cs typeface="Calibri" pitchFamily="34" charset="-120"/>
              </a:rPr>
              <a:t>The discretized world</a:t>
            </a:r>
            <a:endParaRPr lang="en-US" sz="1600" dirty="0"/>
          </a:p>
        </p:txBody>
      </p:sp>
      <mc:AlternateContent xmlns:mc="http://schemas.openxmlformats.org/markup-compatibility/2006" xmlns:a14="http://schemas.microsoft.com/office/drawing/2010/main">
        <mc:Choice Requires="a14">
          <p:sp>
            <p:nvSpPr>
              <p:cNvPr id="18" name="Text 3">
                <a:extLst>
                  <a:ext uri="{FF2B5EF4-FFF2-40B4-BE49-F238E27FC236}">
                    <a16:creationId xmlns:a16="http://schemas.microsoft.com/office/drawing/2014/main" id="{70A29A39-4D26-46DC-A2DE-98E7CDB82810}"/>
                  </a:ext>
                </a:extLst>
              </p:cNvPr>
              <p:cNvSpPr/>
              <p:nvPr/>
            </p:nvSpPr>
            <p:spPr>
              <a:xfrm>
                <a:off x="6416431" y="1421892"/>
                <a:ext cx="3230490" cy="502920"/>
              </a:xfrm>
              <a:prstGeom prst="rect">
                <a:avLst/>
              </a:prstGeom>
              <a:noFill/>
              <a:ln/>
            </p:spPr>
            <p:txBody>
              <a:bodyPr wrap="square" lIns="0" tIns="0" rIns="0" bIns="0" rtlCol="0" anchor="ctr"/>
              <a:lstStyle/>
              <a:p>
                <a:pPr marL="0" indent="0" algn="ctr">
                  <a:buNone/>
                </a:pPr>
                <a14:m>
                  <m:oMathPara xmlns:m="http://schemas.openxmlformats.org/officeDocument/2006/math">
                    <m:oMathParaPr>
                      <m:jc m:val="centerGroup"/>
                    </m:oMathParaPr>
                    <m:oMath xmlns:m="http://schemas.openxmlformats.org/officeDocument/2006/math">
                      <m:r>
                        <a:rPr lang="en-US" sz="1400">
                          <a:latin typeface="Cambria Math"/>
                        </a:rPr>
                        <m:t>𝒢</m:t>
                      </m:r>
                      <m:r>
                        <a:rPr lang="en-US" sz="1400">
                          <a:latin typeface="Cambria Math"/>
                        </a:rPr>
                        <m:t>=</m:t>
                      </m:r>
                      <m:d>
                        <m:dPr>
                          <m:begChr m:val="{"/>
                          <m:endChr m:val="}"/>
                          <m:sepChr m:val="∣"/>
                          <m:ctrlPr>
                            <a:rPr lang="en-US" sz="1400" i="1">
                              <a:latin typeface="Cambria Math" panose="02040503050406030204" pitchFamily="18" charset="0"/>
                            </a:rPr>
                          </m:ctrlPr>
                        </m:dPr>
                        <m:e>
                          <m:d>
                            <m:dPr>
                              <m:ctrlPr>
                                <a:rPr lang="en-US" sz="1400" i="1">
                                  <a:latin typeface="Cambria Math" panose="02040503050406030204" pitchFamily="18" charset="0"/>
                                </a:rPr>
                              </m:ctrlPr>
                            </m:dPr>
                            <m:e>
                              <m:r>
                                <a:rPr lang="en-US" sz="1400">
                                  <a:latin typeface="Cambria Math"/>
                                </a:rPr>
                                <m:t>𝑥</m:t>
                              </m:r>
                              <m:r>
                                <a:rPr lang="en-US" sz="1400">
                                  <a:latin typeface="Cambria Math"/>
                                </a:rPr>
                                <m:t>,</m:t>
                              </m:r>
                              <m:r>
                                <a:rPr lang="en-US" sz="1400">
                                  <a:latin typeface="Cambria Math"/>
                                </a:rPr>
                                <m:t>𝑦</m:t>
                              </m:r>
                            </m:e>
                          </m:d>
                        </m:e>
                        <m:e>
                          <m:r>
                            <a:rPr lang="en-US" sz="1400">
                              <a:latin typeface="Cambria Math"/>
                            </a:rPr>
                            <m:t>𝑥</m:t>
                          </m:r>
                          <m:r>
                            <a:rPr lang="en-US" sz="1400">
                              <a:latin typeface="Cambria Math"/>
                            </a:rPr>
                            <m:t>=1,…,</m:t>
                          </m:r>
                          <m:sSub>
                            <m:sSubPr>
                              <m:ctrlPr>
                                <a:rPr lang="en-US" sz="1400" i="1">
                                  <a:latin typeface="Cambria Math" panose="02040503050406030204" pitchFamily="18" charset="0"/>
                                </a:rPr>
                              </m:ctrlPr>
                            </m:sSubPr>
                            <m:e>
                              <m:r>
                                <a:rPr lang="en-US" sz="1400">
                                  <a:latin typeface="Cambria Math"/>
                                </a:rPr>
                                <m:t>𝑁</m:t>
                              </m:r>
                            </m:e>
                            <m:sub>
                              <m:r>
                                <a:rPr lang="en-US" sz="1400">
                                  <a:latin typeface="Cambria Math"/>
                                </a:rPr>
                                <m:t>𝑥</m:t>
                              </m:r>
                            </m:sub>
                          </m:sSub>
                          <m:r>
                            <a:rPr lang="en-US" sz="1400">
                              <a:latin typeface="Cambria Math"/>
                            </a:rPr>
                            <m:t>,</m:t>
                          </m:r>
                          <m:r>
                            <m:rPr>
                              <m:nor/>
                            </m:rPr>
                            <a:rPr lang="en-US" sz="1400" i="0">
                              <a:latin typeface="Cambria Math"/>
                            </a:rPr>
                            <m:t> </m:t>
                          </m:r>
                          <m:r>
                            <a:rPr lang="en-US" sz="1400">
                              <a:latin typeface="Cambria Math"/>
                            </a:rPr>
                            <m:t>𝑦</m:t>
                          </m:r>
                          <m:r>
                            <a:rPr lang="en-US" sz="1400">
                              <a:latin typeface="Cambria Math"/>
                            </a:rPr>
                            <m:t>=1,…,</m:t>
                          </m:r>
                          <m:sSub>
                            <m:sSubPr>
                              <m:ctrlPr>
                                <a:rPr lang="en-US" sz="1400" i="1">
                                  <a:latin typeface="Cambria Math" panose="02040503050406030204" pitchFamily="18" charset="0"/>
                                </a:rPr>
                              </m:ctrlPr>
                            </m:sSubPr>
                            <m:e>
                              <m:r>
                                <a:rPr lang="en-US" sz="1400">
                                  <a:latin typeface="Cambria Math"/>
                                </a:rPr>
                                <m:t>𝑁</m:t>
                              </m:r>
                            </m:e>
                            <m:sub>
                              <m:r>
                                <a:rPr lang="en-US" sz="1400">
                                  <a:latin typeface="Cambria Math"/>
                                </a:rPr>
                                <m:t>𝑦</m:t>
                              </m:r>
                            </m:sub>
                          </m:sSub>
                        </m:e>
                      </m:d>
                    </m:oMath>
                  </m:oMathPara>
                </a14:m>
                <a:endParaRPr lang="en-US" sz="1400" dirty="0"/>
              </a:p>
            </p:txBody>
          </p:sp>
        </mc:Choice>
        <mc:Fallback xmlns="">
          <p:sp>
            <p:nvSpPr>
              <p:cNvPr id="18" name="Text 3">
                <a:extLst>
                  <a:ext uri="{FF2B5EF4-FFF2-40B4-BE49-F238E27FC236}">
                    <a16:creationId xmlns:a16="http://schemas.microsoft.com/office/drawing/2014/main" id="{70A29A39-4D26-46DC-A2DE-98E7CDB82810}"/>
                  </a:ext>
                </a:extLst>
              </p:cNvPr>
              <p:cNvSpPr>
                <a:spLocks noRot="1" noChangeAspect="1" noMove="1" noResize="1" noEditPoints="1" noAdjustHandles="1" noChangeArrowheads="1" noChangeShapeType="1" noTextEdit="1"/>
              </p:cNvSpPr>
              <p:nvPr/>
            </p:nvSpPr>
            <p:spPr>
              <a:xfrm>
                <a:off x="6416431" y="1421892"/>
                <a:ext cx="3230490" cy="502920"/>
              </a:xfrm>
              <a:prstGeom prst="rect">
                <a:avLst/>
              </a:prstGeom>
              <a:blipFill>
                <a:blip r:embed="rId5"/>
                <a:stretch>
                  <a:fillRect l="-2264"/>
                </a:stretch>
              </a:blipFill>
              <a:ln/>
            </p:spPr>
            <p:txBody>
              <a:bodyPr/>
              <a:lstStyle/>
              <a:p>
                <a:r>
                  <a:rPr lang="tr-TR">
                    <a:noFill/>
                  </a:rPr>
                  <a:t/>
                </a:r>
              </a:p>
            </p:txBody>
          </p:sp>
        </mc:Fallback>
      </mc:AlternateContent>
      <mc:AlternateContent xmlns:mc="http://schemas.openxmlformats.org/markup-compatibility/2006" xmlns:a14="http://schemas.microsoft.com/office/drawing/2010/main">
        <mc:Choice Requires="a14">
          <p:sp>
            <p:nvSpPr>
              <p:cNvPr id="19" name="Text 4">
                <a:extLst>
                  <a:ext uri="{FF2B5EF4-FFF2-40B4-BE49-F238E27FC236}">
                    <a16:creationId xmlns:a16="http://schemas.microsoft.com/office/drawing/2014/main" id="{9FA6B694-0BE1-456B-84DE-EAFCE5827742}"/>
                  </a:ext>
                </a:extLst>
              </p:cNvPr>
              <p:cNvSpPr/>
              <p:nvPr/>
            </p:nvSpPr>
            <p:spPr>
              <a:xfrm>
                <a:off x="9646529" y="1418489"/>
                <a:ext cx="2256302" cy="502920"/>
              </a:xfrm>
              <a:prstGeom prst="rect">
                <a:avLst/>
              </a:prstGeom>
              <a:noFill/>
              <a:ln/>
            </p:spPr>
            <p:txBody>
              <a:bodyPr wrap="square" lIns="0" tIns="0" rIns="0" bIns="0"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n-US" sz="1300" i="1">
                              <a:latin typeface="Cambria Math" panose="02040503050406030204" pitchFamily="18" charset="0"/>
                            </a:rPr>
                          </m:ctrlPr>
                        </m:sSubPr>
                        <m:e>
                          <m:r>
                            <a:rPr lang="en-US" sz="1300">
                              <a:latin typeface="Cambria Math"/>
                            </a:rPr>
                            <m:t>𝑆</m:t>
                          </m:r>
                        </m:e>
                        <m:sub>
                          <m:r>
                            <a:rPr lang="en-US" sz="1300">
                              <a:latin typeface="Cambria Math"/>
                            </a:rPr>
                            <m:t>𝑘</m:t>
                          </m:r>
                        </m:sub>
                      </m:sSub>
                      <m:r>
                        <m:rPr>
                          <m:aln/>
                        </m:rPr>
                        <a:rPr lang="en-US" sz="1300">
                          <a:latin typeface="Cambria Math"/>
                        </a:rPr>
                        <m:t>=</m:t>
                      </m:r>
                      <m:d>
                        <m:dPr>
                          <m:begChr m:val="{"/>
                          <m:endChr m:val="}"/>
                          <m:ctrlPr>
                            <a:rPr lang="en-US" sz="1300" i="1">
                              <a:latin typeface="Cambria Math" panose="02040503050406030204" pitchFamily="18" charset="0"/>
                            </a:rPr>
                          </m:ctrlPr>
                        </m:dPr>
                        <m:e>
                          <m:sSub>
                            <m:sSubPr>
                              <m:ctrlPr>
                                <a:rPr lang="en-US" sz="1300" i="1">
                                  <a:latin typeface="Cambria Math" panose="02040503050406030204" pitchFamily="18" charset="0"/>
                                </a:rPr>
                              </m:ctrlPr>
                            </m:sSubPr>
                            <m:e>
                              <m:r>
                                <a:rPr lang="en-US" sz="1300">
                                  <a:latin typeface="Cambria Math"/>
                                </a:rPr>
                                <m:t>𝑠</m:t>
                              </m:r>
                            </m:e>
                            <m:sub>
                              <m:r>
                                <a:rPr lang="en-US" sz="1300">
                                  <a:latin typeface="Cambria Math"/>
                                </a:rPr>
                                <m:t>𝑘</m:t>
                              </m:r>
                            </m:sub>
                          </m:sSub>
                          <m:d>
                            <m:dPr>
                              <m:ctrlPr>
                                <a:rPr lang="en-US" sz="1300" i="1">
                                  <a:latin typeface="Cambria Math" panose="02040503050406030204" pitchFamily="18" charset="0"/>
                                </a:rPr>
                              </m:ctrlPr>
                            </m:dPr>
                            <m:e>
                              <m:r>
                                <a:rPr lang="en-US" sz="1300">
                                  <a:latin typeface="Cambria Math"/>
                                </a:rPr>
                                <m:t>𝑥</m:t>
                              </m:r>
                              <m:r>
                                <a:rPr lang="en-US" sz="1300">
                                  <a:latin typeface="Cambria Math"/>
                                </a:rPr>
                                <m:t>,</m:t>
                              </m:r>
                              <m:r>
                                <a:rPr lang="en-US" sz="1300">
                                  <a:latin typeface="Cambria Math"/>
                                </a:rPr>
                                <m:t>𝑦</m:t>
                              </m:r>
                            </m:e>
                          </m:d>
                          <m:r>
                            <a:rPr lang="en-US" sz="1300">
                              <a:latin typeface="Cambria Math"/>
                            </a:rPr>
                            <m:t>|(</m:t>
                          </m:r>
                          <m:r>
                            <a:rPr lang="en-US" sz="1300">
                              <a:latin typeface="Cambria Math"/>
                            </a:rPr>
                            <m:t>𝑥</m:t>
                          </m:r>
                          <m:r>
                            <a:rPr lang="en-US" sz="1300">
                              <a:latin typeface="Cambria Math"/>
                            </a:rPr>
                            <m:t>,</m:t>
                          </m:r>
                          <m:r>
                            <a:rPr lang="en-US" sz="1300">
                              <a:latin typeface="Cambria Math"/>
                            </a:rPr>
                            <m:t>𝑦</m:t>
                          </m:r>
                          <m:r>
                            <a:rPr lang="en-US" sz="1300">
                              <a:latin typeface="Cambria Math"/>
                            </a:rPr>
                            <m:t>)∈</m:t>
                          </m:r>
                          <m:r>
                            <a:rPr lang="en-US" sz="1300">
                              <a:latin typeface="Cambria Math"/>
                            </a:rPr>
                            <m:t>𝒢</m:t>
                          </m:r>
                        </m:e>
                      </m:d>
                    </m:oMath>
                  </m:oMathPara>
                </a14:m>
                <a:endParaRPr lang="en-US" sz="1400" dirty="0"/>
              </a:p>
            </p:txBody>
          </p:sp>
        </mc:Choice>
        <mc:Fallback xmlns="">
          <p:sp>
            <p:nvSpPr>
              <p:cNvPr id="19" name="Text 4">
                <a:extLst>
                  <a:ext uri="{FF2B5EF4-FFF2-40B4-BE49-F238E27FC236}">
                    <a16:creationId xmlns:a16="http://schemas.microsoft.com/office/drawing/2014/main" id="{9FA6B694-0BE1-456B-84DE-EAFCE5827742}"/>
                  </a:ext>
                </a:extLst>
              </p:cNvPr>
              <p:cNvSpPr>
                <a:spLocks noRot="1" noChangeAspect="1" noMove="1" noResize="1" noEditPoints="1" noAdjustHandles="1" noChangeArrowheads="1" noChangeShapeType="1" noTextEdit="1"/>
              </p:cNvSpPr>
              <p:nvPr/>
            </p:nvSpPr>
            <p:spPr>
              <a:xfrm>
                <a:off x="9646529" y="1418489"/>
                <a:ext cx="2256302" cy="502920"/>
              </a:xfrm>
              <a:prstGeom prst="rect">
                <a:avLst/>
              </a:prstGeom>
              <a:blipFill>
                <a:blip r:embed="rId6"/>
                <a:stretch>
                  <a:fillRect/>
                </a:stretch>
              </a:blipFill>
              <a:ln/>
            </p:spPr>
            <p:txBody>
              <a:bodyPr/>
              <a:lstStyle/>
              <a:p>
                <a:r>
                  <a:rPr lang="tr-TR">
                    <a:noFill/>
                  </a:rPr>
                  <a:t/>
                </a:r>
              </a:p>
            </p:txBody>
          </p:sp>
        </mc:Fallback>
      </mc:AlternateContent>
      <mc:AlternateContent xmlns:mc="http://schemas.openxmlformats.org/markup-compatibility/2006" xmlns:a14="http://schemas.microsoft.com/office/drawing/2010/main">
        <mc:Choice Requires="a14">
          <p:sp>
            <p:nvSpPr>
              <p:cNvPr id="20" name="Text 5">
                <a:extLst>
                  <a:ext uri="{FF2B5EF4-FFF2-40B4-BE49-F238E27FC236}">
                    <a16:creationId xmlns:a16="http://schemas.microsoft.com/office/drawing/2014/main" id="{9D2C264E-24E0-4A8F-897E-1DA6215BFBED}"/>
                  </a:ext>
                </a:extLst>
              </p:cNvPr>
              <p:cNvSpPr/>
              <p:nvPr/>
            </p:nvSpPr>
            <p:spPr>
              <a:xfrm>
                <a:off x="6400800" y="1823970"/>
                <a:ext cx="1740095" cy="1737360"/>
              </a:xfrm>
              <a:prstGeom prst="rect">
                <a:avLst/>
              </a:prstGeom>
              <a:noFill/>
              <a:ln/>
            </p:spPr>
            <p:txBody>
              <a:bodyPr wrap="square" lIns="0" tIns="0" rIns="0" bIns="0"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n-US" sz="1300" i="1">
                              <a:latin typeface="Cambria Math" panose="02040503050406030204" pitchFamily="18" charset="0"/>
                            </a:rPr>
                          </m:ctrlPr>
                        </m:sSubPr>
                        <m:e>
                          <m:r>
                            <a:rPr lang="en-US" sz="1300">
                              <a:latin typeface="Cambria Math"/>
                            </a:rPr>
                            <m:t>𝑠</m:t>
                          </m:r>
                        </m:e>
                        <m:sub>
                          <m:r>
                            <a:rPr lang="en-US" sz="1300">
                              <a:latin typeface="Cambria Math"/>
                            </a:rPr>
                            <m:t>𝑘</m:t>
                          </m:r>
                        </m:sub>
                      </m:sSub>
                      <m:r>
                        <m:rPr>
                          <m:aln/>
                        </m:rPr>
                        <a:rPr lang="en-US" sz="1300">
                          <a:latin typeface="Cambria Math"/>
                        </a:rPr>
                        <m:t>=</m:t>
                      </m:r>
                      <m:d>
                        <m:dPr>
                          <m:begChr m:val="["/>
                          <m:endChr m:val="]"/>
                          <m:ctrlPr>
                            <a:rPr lang="en-US" i="1">
                              <a:latin typeface="Cambria Math" panose="02040503050406030204" pitchFamily="18" charset="0"/>
                            </a:rPr>
                          </m:ctrlPr>
                        </m:dPr>
                        <m:e>
                          <m:eqArr>
                            <m:eqArrPr>
                              <m:ctrlPr>
                                <a:rPr lang="en-US" i="1">
                                  <a:latin typeface="Cambria Math" panose="02040503050406030204" pitchFamily="18" charset="0"/>
                                </a:rPr>
                              </m:ctrlPr>
                            </m:eqArrPr>
                            <m:e>
                              <m:sSub>
                                <m:sSubPr>
                                  <m:ctrlPr>
                                    <a:rPr lang="en-US" sz="1300" i="1">
                                      <a:latin typeface="Cambria Math" panose="02040503050406030204" pitchFamily="18" charset="0"/>
                                    </a:rPr>
                                  </m:ctrlPr>
                                </m:sSubPr>
                                <m:e>
                                  <m:r>
                                    <a:rPr lang="en-US" sz="1300">
                                      <a:latin typeface="Cambria Math"/>
                                    </a:rPr>
                                    <m:t>𝐵</m:t>
                                  </m:r>
                                </m:e>
                                <m:sub>
                                  <m:r>
                                    <a:rPr lang="en-US" sz="1300">
                                      <a:latin typeface="Cambria Math"/>
                                    </a:rPr>
                                    <m:t>𝑘</m:t>
                                  </m:r>
                                </m:sub>
                              </m:sSub>
                              <m:d>
                                <m:dPr>
                                  <m:ctrlPr>
                                    <a:rPr lang="en-US" sz="1300" i="1">
                                      <a:latin typeface="Cambria Math" panose="02040503050406030204" pitchFamily="18" charset="0"/>
                                    </a:rPr>
                                  </m:ctrlPr>
                                </m:dPr>
                                <m:e>
                                  <m:r>
                                    <a:rPr lang="en-US" sz="1300">
                                      <a:latin typeface="Cambria Math"/>
                                    </a:rPr>
                                    <m:t>𝑥</m:t>
                                  </m:r>
                                  <m:r>
                                    <a:rPr lang="en-US" sz="1300">
                                      <a:latin typeface="Cambria Math"/>
                                    </a:rPr>
                                    <m:t>,</m:t>
                                  </m:r>
                                  <m:r>
                                    <a:rPr lang="en-US" sz="1300">
                                      <a:latin typeface="Cambria Math"/>
                                    </a:rPr>
                                    <m:t>𝑦</m:t>
                                  </m:r>
                                </m:e>
                              </m:d>
                            </m:e>
                            <m:e>
                              <m:sSub>
                                <m:sSubPr>
                                  <m:ctrlPr>
                                    <a:rPr lang="en-US" sz="1300" i="1">
                                      <a:latin typeface="Cambria Math" panose="02040503050406030204" pitchFamily="18" charset="0"/>
                                    </a:rPr>
                                  </m:ctrlPr>
                                </m:sSubPr>
                                <m:e>
                                  <m:r>
                                    <a:rPr lang="en-US" sz="1300">
                                      <a:latin typeface="Cambria Math"/>
                                    </a:rPr>
                                    <m:t>𝐹</m:t>
                                  </m:r>
                                </m:e>
                                <m:sub>
                                  <m:r>
                                    <a:rPr lang="en-US" sz="1300">
                                      <a:latin typeface="Cambria Math"/>
                                    </a:rPr>
                                    <m:t>𝑙𝑜𝑎𝑑</m:t>
                                  </m:r>
                                  <m:r>
                                    <a:rPr lang="en-US" sz="1300">
                                      <a:latin typeface="Cambria Math"/>
                                    </a:rPr>
                                    <m:t>,</m:t>
                                  </m:r>
                                  <m:r>
                                    <a:rPr lang="en-US" sz="1300">
                                      <a:latin typeface="Cambria Math"/>
                                    </a:rPr>
                                    <m:t>𝑘</m:t>
                                  </m:r>
                                </m:sub>
                              </m:sSub>
                              <m:d>
                                <m:dPr>
                                  <m:ctrlPr>
                                    <a:rPr lang="en-US" sz="1300" i="1">
                                      <a:latin typeface="Cambria Math" panose="02040503050406030204" pitchFamily="18" charset="0"/>
                                    </a:rPr>
                                  </m:ctrlPr>
                                </m:dPr>
                                <m:e>
                                  <m:r>
                                    <a:rPr lang="en-US" sz="1300">
                                      <a:latin typeface="Cambria Math"/>
                                    </a:rPr>
                                    <m:t>𝑥</m:t>
                                  </m:r>
                                  <m:r>
                                    <a:rPr lang="en-US" sz="1300">
                                      <a:latin typeface="Cambria Math"/>
                                    </a:rPr>
                                    <m:t>,</m:t>
                                  </m:r>
                                  <m:r>
                                    <a:rPr lang="en-US" sz="1300">
                                      <a:latin typeface="Cambria Math"/>
                                    </a:rPr>
                                    <m:t>𝑦</m:t>
                                  </m:r>
                                </m:e>
                              </m:d>
                            </m:e>
                            <m:e>
                              <m:sSub>
                                <m:sSubPr>
                                  <m:ctrlPr>
                                    <a:rPr lang="en-US" sz="1300" i="1">
                                      <a:latin typeface="Cambria Math" panose="02040503050406030204" pitchFamily="18" charset="0"/>
                                    </a:rPr>
                                  </m:ctrlPr>
                                </m:sSubPr>
                                <m:e>
                                  <m:r>
                                    <a:rPr lang="en-US" sz="1300">
                                      <a:latin typeface="Cambria Math"/>
                                    </a:rPr>
                                    <m:t>𝐼</m:t>
                                  </m:r>
                                </m:e>
                                <m:sub>
                                  <m:r>
                                    <a:rPr lang="en-US" sz="1300">
                                      <a:latin typeface="Cambria Math"/>
                                    </a:rPr>
                                    <m:t>𝑘</m:t>
                                  </m:r>
                                </m:sub>
                              </m:sSub>
                              <m:d>
                                <m:dPr>
                                  <m:ctrlPr>
                                    <a:rPr lang="en-US" sz="1300" i="1">
                                      <a:latin typeface="Cambria Math" panose="02040503050406030204" pitchFamily="18" charset="0"/>
                                    </a:rPr>
                                  </m:ctrlPr>
                                </m:dPr>
                                <m:e>
                                  <m:r>
                                    <a:rPr lang="en-US" sz="1300">
                                      <a:latin typeface="Cambria Math"/>
                                    </a:rPr>
                                    <m:t>𝑥</m:t>
                                  </m:r>
                                  <m:r>
                                    <a:rPr lang="en-US" sz="1300">
                                      <a:latin typeface="Cambria Math"/>
                                    </a:rPr>
                                    <m:t>,</m:t>
                                  </m:r>
                                  <m:r>
                                    <a:rPr lang="en-US" sz="1300">
                                      <a:latin typeface="Cambria Math"/>
                                    </a:rPr>
                                    <m:t>𝑦</m:t>
                                  </m:r>
                                </m:e>
                              </m:d>
                            </m:e>
                            <m:e>
                              <m:sSub>
                                <m:sSubPr>
                                  <m:ctrlPr>
                                    <a:rPr lang="en-US" sz="1300" i="1">
                                      <a:latin typeface="Cambria Math" panose="02040503050406030204" pitchFamily="18" charset="0"/>
                                    </a:rPr>
                                  </m:ctrlPr>
                                </m:sSubPr>
                                <m:e>
                                  <m:r>
                                    <a:rPr lang="en-US" sz="1300">
                                      <a:latin typeface="Cambria Math"/>
                                    </a:rPr>
                                    <m:t>𝜏</m:t>
                                  </m:r>
                                </m:e>
                                <m:sub>
                                  <m:r>
                                    <a:rPr lang="en-US" sz="1300">
                                      <a:latin typeface="Cambria Math"/>
                                    </a:rPr>
                                    <m:t>𝑘</m:t>
                                  </m:r>
                                </m:sub>
                              </m:sSub>
                              <m:d>
                                <m:dPr>
                                  <m:ctrlPr>
                                    <a:rPr lang="en-US" sz="1300" i="1">
                                      <a:latin typeface="Cambria Math" panose="02040503050406030204" pitchFamily="18" charset="0"/>
                                    </a:rPr>
                                  </m:ctrlPr>
                                </m:dPr>
                                <m:e>
                                  <m:r>
                                    <a:rPr lang="en-US" sz="1300">
                                      <a:latin typeface="Cambria Math"/>
                                    </a:rPr>
                                    <m:t>𝑥</m:t>
                                  </m:r>
                                  <m:r>
                                    <a:rPr lang="en-US" sz="1300">
                                      <a:latin typeface="Cambria Math"/>
                                    </a:rPr>
                                    <m:t>,</m:t>
                                  </m:r>
                                  <m:r>
                                    <a:rPr lang="en-US" sz="1300">
                                      <a:latin typeface="Cambria Math"/>
                                    </a:rPr>
                                    <m:t>𝑦</m:t>
                                  </m:r>
                                </m:e>
                              </m:d>
                            </m:e>
                          </m:eqArr>
                        </m:e>
                      </m:d>
                    </m:oMath>
                  </m:oMathPara>
                </a14:m>
                <a:endParaRPr lang="en-US" sz="1400" dirty="0"/>
              </a:p>
            </p:txBody>
          </p:sp>
        </mc:Choice>
        <mc:Fallback xmlns="">
          <p:sp>
            <p:nvSpPr>
              <p:cNvPr id="20" name="Text 5">
                <a:extLst>
                  <a:ext uri="{FF2B5EF4-FFF2-40B4-BE49-F238E27FC236}">
                    <a16:creationId xmlns:a16="http://schemas.microsoft.com/office/drawing/2014/main" id="{9D2C264E-24E0-4A8F-897E-1DA6215BFBED}"/>
                  </a:ext>
                </a:extLst>
              </p:cNvPr>
              <p:cNvSpPr>
                <a:spLocks noRot="1" noChangeAspect="1" noMove="1" noResize="1" noEditPoints="1" noAdjustHandles="1" noChangeArrowheads="1" noChangeShapeType="1" noTextEdit="1"/>
              </p:cNvSpPr>
              <p:nvPr/>
            </p:nvSpPr>
            <p:spPr>
              <a:xfrm>
                <a:off x="6400800" y="1823970"/>
                <a:ext cx="1740095" cy="1737360"/>
              </a:xfrm>
              <a:prstGeom prst="rect">
                <a:avLst/>
              </a:prstGeom>
              <a:blipFill>
                <a:blip r:embed="rId7"/>
                <a:stretch>
                  <a:fillRect/>
                </a:stretch>
              </a:blipFill>
              <a:ln/>
            </p:spPr>
            <p:txBody>
              <a:bodyPr/>
              <a:lstStyle/>
              <a:p>
                <a:r>
                  <a:rPr lang="tr-TR">
                    <a:noFill/>
                  </a:rPr>
                  <a:t/>
                </a:r>
              </a:p>
            </p:txBody>
          </p:sp>
        </mc:Fallback>
      </mc:AlternateContent>
      <p:sp>
        <p:nvSpPr>
          <p:cNvPr id="21" name="Text 6">
            <a:extLst>
              <a:ext uri="{FF2B5EF4-FFF2-40B4-BE49-F238E27FC236}">
                <a16:creationId xmlns:a16="http://schemas.microsoft.com/office/drawing/2014/main" id="{8A6C24BA-3D61-47EA-A778-653EAD9582B7}"/>
              </a:ext>
            </a:extLst>
          </p:cNvPr>
          <p:cNvSpPr/>
          <p:nvPr/>
        </p:nvSpPr>
        <p:spPr>
          <a:xfrm>
            <a:off x="8099474" y="2136161"/>
            <a:ext cx="4092526" cy="1277425"/>
          </a:xfrm>
          <a:prstGeom prst="rect">
            <a:avLst/>
          </a:prstGeom>
          <a:noFill/>
          <a:ln/>
        </p:spPr>
        <p:txBody>
          <a:bodyPr wrap="square" lIns="0" tIns="0" rIns="0" bIns="0" rtlCol="0" anchor="t"/>
          <a:lstStyle/>
          <a:p>
            <a:pPr marL="152400" indent="-152400">
              <a:lnSpc>
                <a:spcPct val="105000"/>
              </a:lnSpc>
              <a:spcAft>
                <a:spcPts val="700"/>
              </a:spcAft>
              <a:buSzPct val="100000"/>
              <a:buChar char="•"/>
            </a:pPr>
            <a:r>
              <a:rPr lang="en-US" sz="1600">
                <a:solidFill>
                  <a:srgbClr val="222222"/>
                </a:solidFill>
                <a:latin typeface="Calibri" pitchFamily="34" charset="0"/>
                <a:ea typeface="Calibri" pitchFamily="34" charset="-122"/>
                <a:cs typeface="Calibri" pitchFamily="34" charset="-120"/>
              </a:rPr>
              <a:t>Burning status (0/1)</a:t>
            </a:r>
            <a:endParaRPr lang="en-US" sz="1600" dirty="0"/>
          </a:p>
          <a:p>
            <a:pPr marL="152400" indent="-152400">
              <a:lnSpc>
                <a:spcPct val="105000"/>
              </a:lnSpc>
              <a:spcAft>
                <a:spcPts val="700"/>
              </a:spcAft>
              <a:buSzPct val="100000"/>
              <a:buChar char="•"/>
            </a:pPr>
            <a:r>
              <a:rPr lang="en-US" sz="1600">
                <a:solidFill>
                  <a:srgbClr val="222222"/>
                </a:solidFill>
                <a:latin typeface="Calibri" pitchFamily="34" charset="0"/>
                <a:ea typeface="Calibri" pitchFamily="34" charset="-122"/>
                <a:cs typeface="Calibri" pitchFamily="34" charset="-120"/>
              </a:rPr>
              <a:t>Fuel mass remaining</a:t>
            </a:r>
            <a:endParaRPr lang="en-US" sz="1600" dirty="0"/>
          </a:p>
          <a:p>
            <a:pPr marL="152400" indent="-152400">
              <a:lnSpc>
                <a:spcPct val="105000"/>
              </a:lnSpc>
              <a:spcAft>
                <a:spcPts val="700"/>
              </a:spcAft>
              <a:buSzPct val="100000"/>
              <a:buChar char="•"/>
            </a:pPr>
            <a:r>
              <a:rPr lang="en-US" sz="1600">
                <a:solidFill>
                  <a:srgbClr val="222222"/>
                </a:solidFill>
                <a:latin typeface="Calibri" pitchFamily="34" charset="0"/>
                <a:ea typeface="Calibri" pitchFamily="34" charset="-122"/>
                <a:cs typeface="Calibri" pitchFamily="34" charset="-120"/>
              </a:rPr>
              <a:t>Fire intensity (bounded proxy)</a:t>
            </a:r>
            <a:endParaRPr lang="en-US" sz="1600" dirty="0"/>
          </a:p>
          <a:p>
            <a:pPr marL="152400" indent="-152400">
              <a:lnSpc>
                <a:spcPct val="105000"/>
              </a:lnSpc>
              <a:spcAft>
                <a:spcPts val="700"/>
              </a:spcAft>
              <a:buSzPct val="100000"/>
              <a:buChar char="•"/>
            </a:pPr>
            <a:r>
              <a:rPr lang="en-US" sz="1600">
                <a:solidFill>
                  <a:srgbClr val="222222"/>
                </a:solidFill>
                <a:latin typeface="Calibri" pitchFamily="34" charset="0"/>
                <a:ea typeface="Calibri" pitchFamily="34" charset="-122"/>
                <a:cs typeface="Calibri" pitchFamily="34" charset="-120"/>
              </a:rPr>
              <a:t>Time since ignition</a:t>
            </a:r>
            <a:endParaRPr lang="en-US" sz="1600" dirty="0"/>
          </a:p>
        </p:txBody>
      </p:sp>
      <p:sp>
        <p:nvSpPr>
          <p:cNvPr id="22" name="Text 7">
            <a:extLst>
              <a:ext uri="{FF2B5EF4-FFF2-40B4-BE49-F238E27FC236}">
                <a16:creationId xmlns:a16="http://schemas.microsoft.com/office/drawing/2014/main" id="{92B814D4-9276-4488-9661-AE240F4EC8A1}"/>
              </a:ext>
            </a:extLst>
          </p:cNvPr>
          <p:cNvSpPr/>
          <p:nvPr/>
        </p:nvSpPr>
        <p:spPr>
          <a:xfrm>
            <a:off x="6416431" y="3490426"/>
            <a:ext cx="5440680" cy="310896"/>
          </a:xfrm>
          <a:prstGeom prst="rect">
            <a:avLst/>
          </a:prstGeom>
          <a:noFill/>
          <a:ln/>
        </p:spPr>
        <p:txBody>
          <a:bodyPr wrap="square" lIns="0" tIns="0" rIns="0" bIns="0" rtlCol="0" anchor="ctr"/>
          <a:lstStyle/>
          <a:p>
            <a:pPr marL="0" indent="0">
              <a:buNone/>
            </a:pPr>
            <a:r>
              <a:rPr lang="en-US" sz="1600" b="1" dirty="0">
                <a:solidFill>
                  <a:srgbClr val="E31836"/>
                </a:solidFill>
                <a:latin typeface="Calibri" pitchFamily="34" charset="0"/>
                <a:ea typeface="Calibri" pitchFamily="34" charset="-122"/>
                <a:cs typeface="Calibri" pitchFamily="34" charset="-120"/>
              </a:rPr>
              <a:t>One deterministic-plus-stochastic step</a:t>
            </a:r>
            <a:endParaRPr lang="en-US" sz="1600" dirty="0"/>
          </a:p>
        </p:txBody>
      </p:sp>
      <mc:AlternateContent xmlns:mc="http://schemas.openxmlformats.org/markup-compatibility/2006" xmlns:a14="http://schemas.microsoft.com/office/drawing/2010/main">
        <mc:Choice Requires="a14">
          <p:sp>
            <p:nvSpPr>
              <p:cNvPr id="23" name="Text 8">
                <a:extLst>
                  <a:ext uri="{FF2B5EF4-FFF2-40B4-BE49-F238E27FC236}">
                    <a16:creationId xmlns:a16="http://schemas.microsoft.com/office/drawing/2014/main" id="{46FD9A28-DCBD-4208-9E7E-867E8C30D071}"/>
                  </a:ext>
                </a:extLst>
              </p:cNvPr>
              <p:cNvSpPr/>
              <p:nvPr/>
            </p:nvSpPr>
            <p:spPr>
              <a:xfrm>
                <a:off x="6400800" y="3670561"/>
                <a:ext cx="5440680" cy="548640"/>
              </a:xfrm>
              <a:prstGeom prst="rect">
                <a:avLst/>
              </a:prstGeom>
              <a:noFill/>
              <a:ln/>
            </p:spPr>
            <p:txBody>
              <a:bodyPr wrap="square" lIns="0" tIns="0" rIns="0" bIns="0"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n-US" sz="1600" i="1">
                              <a:latin typeface="Cambria Math" panose="02040503050406030204" pitchFamily="18" charset="0"/>
                            </a:rPr>
                          </m:ctrlPr>
                        </m:sSubPr>
                        <m:e>
                          <m:r>
                            <a:rPr lang="en-US" sz="1600">
                              <a:latin typeface="Cambria Math"/>
                            </a:rPr>
                            <m:t>𝑆</m:t>
                          </m:r>
                        </m:e>
                        <m:sub>
                          <m:r>
                            <a:rPr lang="en-US" sz="1600">
                              <a:latin typeface="Cambria Math"/>
                            </a:rPr>
                            <m:t>𝑘</m:t>
                          </m:r>
                          <m:r>
                            <a:rPr lang="en-US" sz="1600">
                              <a:latin typeface="Cambria Math"/>
                            </a:rPr>
                            <m:t>+1</m:t>
                          </m:r>
                        </m:sub>
                      </m:sSub>
                      <m:d>
                        <m:dPr>
                          <m:ctrlPr>
                            <a:rPr lang="en-US" sz="1600" i="1">
                              <a:latin typeface="Cambria Math" panose="02040503050406030204" pitchFamily="18" charset="0"/>
                            </a:rPr>
                          </m:ctrlPr>
                        </m:dPr>
                        <m:e>
                          <m:r>
                            <a:rPr lang="en-US" sz="1600">
                              <a:latin typeface="Cambria Math"/>
                            </a:rPr>
                            <m:t>𝑥</m:t>
                          </m:r>
                          <m:r>
                            <a:rPr lang="en-US" sz="1600">
                              <a:latin typeface="Cambria Math"/>
                            </a:rPr>
                            <m:t>,</m:t>
                          </m:r>
                          <m:r>
                            <a:rPr lang="en-US" sz="1600">
                              <a:latin typeface="Cambria Math"/>
                            </a:rPr>
                            <m:t>𝑦</m:t>
                          </m:r>
                        </m:e>
                      </m:d>
                      <m:r>
                        <a:rPr lang="en-US" sz="1600">
                          <a:latin typeface="Cambria Math"/>
                        </a:rPr>
                        <m:t>=</m:t>
                      </m:r>
                      <m:r>
                        <m:rPr>
                          <m:sty m:val="p"/>
                        </m:rPr>
                        <a:rPr lang="en-US" sz="1600">
                          <a:latin typeface="Cambria Math"/>
                        </a:rPr>
                        <m:t>Φ</m:t>
                      </m:r>
                      <m:d>
                        <m:dPr>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a:rPr lang="en-US" sz="1600">
                                  <a:latin typeface="Cambria Math"/>
                                </a:rPr>
                                <m:t>𝑆</m:t>
                              </m:r>
                            </m:e>
                            <m:sub>
                              <m:r>
                                <a:rPr lang="en-US" sz="1600">
                                  <a:latin typeface="Cambria Math"/>
                                </a:rPr>
                                <m:t>𝑘</m:t>
                              </m:r>
                            </m:sub>
                          </m:sSub>
                          <m:d>
                            <m:dPr>
                              <m:ctrlPr>
                                <a:rPr lang="en-US" sz="1600" i="1">
                                  <a:latin typeface="Cambria Math" panose="02040503050406030204" pitchFamily="18" charset="0"/>
                                </a:rPr>
                              </m:ctrlPr>
                            </m:dPr>
                            <m:e>
                              <m:r>
                                <a:rPr lang="en-US" sz="1600">
                                  <a:latin typeface="Cambria Math"/>
                                </a:rPr>
                                <m:t>𝑥</m:t>
                              </m:r>
                              <m:r>
                                <a:rPr lang="en-US" sz="1600">
                                  <a:latin typeface="Cambria Math"/>
                                </a:rPr>
                                <m:t>,</m:t>
                              </m:r>
                              <m:r>
                                <a:rPr lang="en-US" sz="1600">
                                  <a:latin typeface="Cambria Math"/>
                                </a:rPr>
                                <m:t>𝑦</m:t>
                              </m:r>
                            </m:e>
                          </m:d>
                          <m:r>
                            <a:rPr lang="en-US" sz="1600">
                              <a:latin typeface="Cambria Math"/>
                            </a:rPr>
                            <m:t>,</m:t>
                          </m:r>
                          <m:sSub>
                            <m:sSubPr>
                              <m:ctrlPr>
                                <a:rPr lang="en-US" sz="1600" i="1">
                                  <a:latin typeface="Cambria Math" panose="02040503050406030204" pitchFamily="18" charset="0"/>
                                </a:rPr>
                              </m:ctrlPr>
                            </m:sSubPr>
                            <m:e>
                              <m:r>
                                <a:rPr lang="en-US" sz="1600">
                                  <a:latin typeface="Cambria Math"/>
                                </a:rPr>
                                <m:t>ℱ</m:t>
                              </m:r>
                            </m:e>
                            <m:sub>
                              <m:r>
                                <a:rPr lang="en-US" sz="1600">
                                  <a:latin typeface="Cambria Math"/>
                                </a:rPr>
                                <m:t>𝑖𝑛</m:t>
                              </m:r>
                              <m:r>
                                <a:rPr lang="en-US" sz="1600">
                                  <a:latin typeface="Cambria Math"/>
                                </a:rPr>
                                <m:t>,</m:t>
                              </m:r>
                              <m:r>
                                <a:rPr lang="en-US" sz="1600">
                                  <a:latin typeface="Cambria Math"/>
                                </a:rPr>
                                <m:t>𝑘</m:t>
                              </m:r>
                            </m:sub>
                          </m:sSub>
                        </m:e>
                      </m:d>
                    </m:oMath>
                  </m:oMathPara>
                </a14:m>
                <a:endParaRPr lang="en-US" sz="1400" dirty="0"/>
              </a:p>
            </p:txBody>
          </p:sp>
        </mc:Choice>
        <mc:Fallback xmlns="">
          <p:sp>
            <p:nvSpPr>
              <p:cNvPr id="23" name="Text 8">
                <a:extLst>
                  <a:ext uri="{FF2B5EF4-FFF2-40B4-BE49-F238E27FC236}">
                    <a16:creationId xmlns:a16="http://schemas.microsoft.com/office/drawing/2014/main" id="{46FD9A28-DCBD-4208-9E7E-867E8C30D071}"/>
                  </a:ext>
                </a:extLst>
              </p:cNvPr>
              <p:cNvSpPr>
                <a:spLocks noRot="1" noChangeAspect="1" noMove="1" noResize="1" noEditPoints="1" noAdjustHandles="1" noChangeArrowheads="1" noChangeShapeType="1" noTextEdit="1"/>
              </p:cNvSpPr>
              <p:nvPr/>
            </p:nvSpPr>
            <p:spPr>
              <a:xfrm>
                <a:off x="6400800" y="3670561"/>
                <a:ext cx="5440680" cy="548640"/>
              </a:xfrm>
              <a:prstGeom prst="rect">
                <a:avLst/>
              </a:prstGeom>
              <a:blipFill>
                <a:blip r:embed="rId8"/>
                <a:stretch>
                  <a:fillRect/>
                </a:stretch>
              </a:blipFill>
              <a:ln/>
            </p:spPr>
            <p:txBody>
              <a:bodyPr/>
              <a:lstStyle/>
              <a:p>
                <a:r>
                  <a:rPr lang="tr-TR">
                    <a:noFill/>
                  </a:rPr>
                  <a:t/>
                </a:r>
              </a:p>
            </p:txBody>
          </p:sp>
        </mc:Fallback>
      </mc:AlternateContent>
      <p:sp>
        <p:nvSpPr>
          <p:cNvPr id="24" name="Text 9">
            <a:extLst>
              <a:ext uri="{FF2B5EF4-FFF2-40B4-BE49-F238E27FC236}">
                <a16:creationId xmlns:a16="http://schemas.microsoft.com/office/drawing/2014/main" id="{47A6F6AC-071B-43F1-A75A-D9ED93AE5CEE}"/>
              </a:ext>
            </a:extLst>
          </p:cNvPr>
          <p:cNvSpPr/>
          <p:nvPr/>
        </p:nvSpPr>
        <p:spPr>
          <a:xfrm>
            <a:off x="6400800" y="4198627"/>
            <a:ext cx="5440680" cy="2596896"/>
          </a:xfrm>
          <a:prstGeom prst="rect">
            <a:avLst/>
          </a:prstGeom>
          <a:noFill/>
          <a:ln/>
        </p:spPr>
        <p:txBody>
          <a:bodyPr wrap="square" lIns="0" tIns="0" rIns="0" bIns="0" rtlCol="0" anchor="t"/>
          <a:lstStyle/>
          <a:p>
            <a:pPr algn="just">
              <a:lnSpc>
                <a:spcPct val="105000"/>
              </a:lnSpc>
              <a:spcAft>
                <a:spcPts val="700"/>
              </a:spcAft>
              <a:buSzPct val="100000"/>
            </a:pPr>
            <a:r>
              <a:rPr lang="en-US" sz="1500">
                <a:solidFill>
                  <a:srgbClr val="222222"/>
                </a:solidFill>
                <a:latin typeface="Calibri" pitchFamily="34" charset="0"/>
                <a:ea typeface="Calibri" pitchFamily="34" charset="-122"/>
                <a:cs typeface="Calibri" pitchFamily="34" charset="-120"/>
              </a:rPr>
              <a:t>Φ: four evolutions per cell, per step</a:t>
            </a:r>
            <a:endParaRPr lang="en-US" sz="1500" dirty="0"/>
          </a:p>
          <a:p>
            <a:pPr algn="just">
              <a:lnSpc>
                <a:spcPct val="105000"/>
              </a:lnSpc>
              <a:spcAft>
                <a:spcPts val="700"/>
              </a:spcAft>
              <a:buSzPct val="100000"/>
            </a:pPr>
            <a:r>
              <a:rPr lang="en-US" sz="1500">
                <a:solidFill>
                  <a:srgbClr val="222222"/>
                </a:solidFill>
                <a:latin typeface="Calibri" pitchFamily="34" charset="0"/>
                <a:ea typeface="Calibri" pitchFamily="34" charset="-122"/>
                <a:cs typeface="Calibri" pitchFamily="34" charset="-120"/>
              </a:rPr>
              <a:t>① Burning: persistence ⊕ propagation ⊕ injection</a:t>
            </a:r>
            <a:endParaRPr lang="en-US" sz="1500" dirty="0"/>
          </a:p>
          <a:p>
            <a:pPr algn="just">
              <a:lnSpc>
                <a:spcPct val="105000"/>
              </a:lnSpc>
              <a:spcAft>
                <a:spcPts val="700"/>
              </a:spcAft>
              <a:buSzPct val="100000"/>
            </a:pPr>
            <a:r>
              <a:rPr lang="en-US" sz="1500">
                <a:solidFill>
                  <a:srgbClr val="222222"/>
                </a:solidFill>
                <a:latin typeface="Calibri" pitchFamily="34" charset="0"/>
                <a:ea typeface="Calibri" pitchFamily="34" charset="-122"/>
                <a:cs typeface="Calibri" pitchFamily="34" charset="-120"/>
              </a:rPr>
              <a:t>② Fuel: combustion − suppression, floored at 0</a:t>
            </a:r>
            <a:endParaRPr lang="en-US" sz="1500" dirty="0"/>
          </a:p>
          <a:p>
            <a:pPr algn="just">
              <a:lnSpc>
                <a:spcPct val="105000"/>
              </a:lnSpc>
              <a:spcAft>
                <a:spcPts val="700"/>
              </a:spcAft>
              <a:buSzPct val="100000"/>
            </a:pPr>
            <a:r>
              <a:rPr lang="en-US" sz="1500">
                <a:solidFill>
                  <a:srgbClr val="222222"/>
                </a:solidFill>
                <a:latin typeface="Calibri" pitchFamily="34" charset="0"/>
                <a:ea typeface="Calibri" pitchFamily="34" charset="-122"/>
                <a:cs typeface="Calibri" pitchFamily="34" charset="-120"/>
              </a:rPr>
              <a:t>③ Intensity: fuel × wind × slope, bounded</a:t>
            </a:r>
            <a:endParaRPr lang="en-US" sz="1500" dirty="0"/>
          </a:p>
          <a:p>
            <a:pPr algn="just">
              <a:lnSpc>
                <a:spcPct val="105000"/>
              </a:lnSpc>
              <a:spcAft>
                <a:spcPts val="700"/>
              </a:spcAft>
              <a:buSzPct val="100000"/>
            </a:pPr>
            <a:r>
              <a:rPr lang="en-US" sz="1500">
                <a:solidFill>
                  <a:srgbClr val="222222"/>
                </a:solidFill>
                <a:latin typeface="Calibri" pitchFamily="34" charset="0"/>
                <a:ea typeface="Calibri" pitchFamily="34" charset="-122"/>
                <a:cs typeface="Calibri" pitchFamily="34" charset="-120"/>
              </a:rPr>
              <a:t>④ Ignition time: reset · advance · clear</a:t>
            </a:r>
            <a:endParaRPr lang="en-US" sz="1500" dirty="0"/>
          </a:p>
          <a:p>
            <a:pPr algn="just">
              <a:lnSpc>
                <a:spcPct val="105000"/>
              </a:lnSpc>
              <a:spcAft>
                <a:spcPts val="700"/>
              </a:spcAft>
              <a:buSzPct val="100000"/>
            </a:pPr>
            <a:r>
              <a:rPr lang="en-US" sz="1500" b="1">
                <a:solidFill>
                  <a:srgbClr val="222222"/>
                </a:solidFill>
                <a:latin typeface="Calibri" pitchFamily="34" charset="0"/>
                <a:ea typeface="Calibri" pitchFamily="34" charset="-122"/>
                <a:cs typeface="Calibri" pitchFamily="34" charset="-120"/>
              </a:rPr>
              <a:t>Deterministic given the seed → exact replay</a:t>
            </a:r>
            <a:endParaRPr lang="en-US" sz="1500" dirty="0"/>
          </a:p>
        </p:txBody>
      </p:sp>
      <p:pic>
        <p:nvPicPr>
          <p:cNvPr id="5" name="Image 2" descr="/tmp/thx/deck/figs/Figure3_1.png">
            <a:extLst>
              <a:ext uri="{FF2B5EF4-FFF2-40B4-BE49-F238E27FC236}">
                <a16:creationId xmlns:a16="http://schemas.microsoft.com/office/drawing/2014/main" id="{04FBCE9D-5C91-E41D-CAD7-5C37E05A9191}"/>
              </a:ext>
            </a:extLst>
          </p:cNvPr>
          <p:cNvPicPr>
            <a:picLocks noChangeAspect="1"/>
          </p:cNvPicPr>
          <p:nvPr/>
        </p:nvPicPr>
        <p:blipFill>
          <a:blip r:embed="rId9"/>
          <a:stretch>
            <a:fillRect/>
          </a:stretch>
        </p:blipFill>
        <p:spPr>
          <a:xfrm>
            <a:off x="365760" y="1815950"/>
            <a:ext cx="5074920" cy="4323379"/>
          </a:xfrm>
          <a:prstGeom prst="rect">
            <a:avLst/>
          </a:prstGeom>
        </p:spPr>
      </p:pic>
      <p:sp>
        <p:nvSpPr>
          <p:cNvPr id="15" name="Text 2">
            <a:extLst>
              <a:ext uri="{FF2B5EF4-FFF2-40B4-BE49-F238E27FC236}">
                <a16:creationId xmlns:a16="http://schemas.microsoft.com/office/drawing/2014/main" id="{5FB46A57-1140-40ED-ACA4-AC9FB38F665D}"/>
              </a:ext>
            </a:extLst>
          </p:cNvPr>
          <p:cNvSpPr/>
          <p:nvPr/>
        </p:nvSpPr>
        <p:spPr>
          <a:xfrm>
            <a:off x="6416431" y="1887861"/>
            <a:ext cx="5486400" cy="310896"/>
          </a:xfrm>
          <a:prstGeom prst="rect">
            <a:avLst/>
          </a:prstGeom>
          <a:noFill/>
          <a:ln/>
        </p:spPr>
        <p:txBody>
          <a:bodyPr wrap="square" lIns="0" tIns="0" rIns="0" bIns="0" rtlCol="0" anchor="ctr"/>
          <a:lstStyle/>
          <a:p>
            <a:pPr marL="0" indent="0">
              <a:buNone/>
            </a:pPr>
            <a:r>
              <a:rPr lang="tr-TR" sz="1600" b="1" dirty="0">
                <a:solidFill>
                  <a:srgbClr val="E31836"/>
                </a:solidFill>
                <a:latin typeface="Calibri" pitchFamily="34" charset="0"/>
                <a:ea typeface="Calibri" pitchFamily="34" charset="-122"/>
                <a:cs typeface="Calibri" pitchFamily="34" charset="-120"/>
              </a:rPr>
              <a:t>Per-</a:t>
            </a:r>
            <a:r>
              <a:rPr lang="tr-TR" sz="1600" b="1" dirty="0" err="1">
                <a:solidFill>
                  <a:srgbClr val="E31836"/>
                </a:solidFill>
                <a:latin typeface="Calibri" pitchFamily="34" charset="0"/>
                <a:ea typeface="Calibri" pitchFamily="34" charset="-122"/>
                <a:cs typeface="Calibri" pitchFamily="34" charset="-120"/>
              </a:rPr>
              <a:t>cell</a:t>
            </a:r>
            <a:r>
              <a:rPr lang="tr-TR" sz="1600" b="1" dirty="0">
                <a:solidFill>
                  <a:srgbClr val="E31836"/>
                </a:solidFill>
                <a:latin typeface="Calibri" pitchFamily="34" charset="0"/>
                <a:ea typeface="Calibri" pitchFamily="34" charset="-122"/>
                <a:cs typeface="Calibri" pitchFamily="34" charset="-120"/>
              </a:rPr>
              <a:t> </a:t>
            </a:r>
            <a:r>
              <a:rPr lang="tr-TR" sz="1600" b="1" dirty="0" err="1">
                <a:solidFill>
                  <a:srgbClr val="E31836"/>
                </a:solidFill>
                <a:latin typeface="Calibri" pitchFamily="34" charset="0"/>
                <a:ea typeface="Calibri" pitchFamily="34" charset="-122"/>
                <a:cs typeface="Calibri" pitchFamily="34" charset="-120"/>
              </a:rPr>
              <a:t>state</a:t>
            </a:r>
            <a:endParaRPr lang="en-US" sz="1600" dirty="0"/>
          </a:p>
        </p:txBody>
      </p:sp>
    </p:spTree>
    <p:extLst>
      <p:ext uri="{BB962C8B-B14F-4D97-AF65-F5344CB8AC3E}">
        <p14:creationId xmlns:p14="http://schemas.microsoft.com/office/powerpoint/2010/main" val="2165222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56032"/>
            <a:ext cx="91440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SIMULATION FRAMEWORK : SIMULATION CORE</a:t>
            </a:r>
            <a:endParaRPr lang="en-US" sz="1300" dirty="0"/>
          </a:p>
        </p:txBody>
      </p:sp>
      <p:sp>
        <p:nvSpPr>
          <p:cNvPr id="3" name="Text 1"/>
          <p:cNvSpPr/>
          <p:nvPr/>
        </p:nvSpPr>
        <p:spPr>
          <a:xfrm>
            <a:off x="502920" y="512064"/>
            <a:ext cx="11247120" cy="731520"/>
          </a:xfrm>
          <a:prstGeom prst="rect">
            <a:avLst/>
          </a:prstGeom>
          <a:noFill/>
          <a:ln/>
        </p:spPr>
        <p:txBody>
          <a:bodyPr wrap="square" lIns="0" tIns="0" rIns="0" bIns="0" rtlCol="0" anchor="ctr"/>
          <a:lstStyle/>
          <a:p>
            <a:pPr marL="0" indent="0">
              <a:buNone/>
            </a:pPr>
            <a:r>
              <a:rPr lang="en-US" sz="2900" b="1">
                <a:solidFill>
                  <a:srgbClr val="000000"/>
                </a:solidFill>
                <a:latin typeface="Cambria" pitchFamily="34" charset="0"/>
                <a:ea typeface="Cambria" pitchFamily="34" charset="-122"/>
                <a:cs typeface="Cambria" pitchFamily="34" charset="-120"/>
              </a:rPr>
              <a:t>Per-Cell State, State Transition ①②③④</a:t>
            </a:r>
            <a:endParaRPr lang="en-US" sz="2900" dirty="0"/>
          </a:p>
        </p:txBody>
      </p:sp>
      <p:pic>
        <p:nvPicPr>
          <p:cNvPr id="9" name="Image 4"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10" name="Image 5" descr="/tmp/thx/deck/figs/eee_logo.png"/>
          <p:cNvPicPr>
            <a:picLocks noChangeAspect="1"/>
          </p:cNvPicPr>
          <p:nvPr/>
        </p:nvPicPr>
        <p:blipFill>
          <a:blip r:embed="rId4"/>
          <a:stretch>
            <a:fillRect/>
          </a:stretch>
        </p:blipFill>
        <p:spPr>
          <a:xfrm>
            <a:off x="11265408" y="186217"/>
            <a:ext cx="475488" cy="395662"/>
          </a:xfrm>
          <a:prstGeom prst="rect">
            <a:avLst/>
          </a:prstGeom>
        </p:spPr>
      </p:pic>
      <mc:AlternateContent xmlns:mc="http://schemas.openxmlformats.org/markup-compatibility/2006">
        <mc:Choice xmlns:a14="http://schemas.microsoft.com/office/drawing/2010/main" Requires="a14">
          <p:sp>
            <p:nvSpPr>
              <p:cNvPr id="35" name="Text 2">
                <a:extLst>
                  <a:ext uri="{FF2B5EF4-FFF2-40B4-BE49-F238E27FC236}">
                    <a16:creationId xmlns:a16="http://schemas.microsoft.com/office/drawing/2014/main" id="{D365A081-EC97-4F4F-8394-5A3EB4A35E2D}"/>
                  </a:ext>
                </a:extLst>
              </p:cNvPr>
              <p:cNvSpPr/>
              <p:nvPr/>
            </p:nvSpPr>
            <p:spPr>
              <a:xfrm>
                <a:off x="622173" y="5266944"/>
                <a:ext cx="5149977" cy="548640"/>
              </a:xfrm>
              <a:prstGeom prst="rect">
                <a:avLst/>
              </a:prstGeom>
              <a:noFill/>
              <a:ln/>
            </p:spPr>
            <p:txBody>
              <a:bodyPr wrap="square" lIns="0" tIns="0" rIns="0" bIns="0"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n-US" sz="1400" i="1">
                              <a:latin typeface="Cambria Math" panose="02040503050406030204" pitchFamily="18" charset="0"/>
                            </a:rPr>
                          </m:ctrlPr>
                        </m:sSubPr>
                        <m:e>
                          <m:r>
                            <a:rPr lang="en-US" sz="1400">
                              <a:latin typeface="Cambria Math"/>
                            </a:rPr>
                            <m:t>𝐵</m:t>
                          </m:r>
                        </m:e>
                        <m:sub>
                          <m:r>
                            <a:rPr lang="en-US" sz="1400">
                              <a:latin typeface="Cambria Math"/>
                            </a:rPr>
                            <m:t>𝑘</m:t>
                          </m:r>
                          <m:r>
                            <a:rPr lang="en-US" sz="1400">
                              <a:latin typeface="Cambria Math"/>
                            </a:rPr>
                            <m:t>+1</m:t>
                          </m:r>
                        </m:sub>
                      </m:sSub>
                      <m:d>
                        <m:dPr>
                          <m:ctrlPr>
                            <a:rPr lang="en-US" sz="1400" i="1">
                              <a:latin typeface="Cambria Math" panose="02040503050406030204" pitchFamily="18" charset="0"/>
                            </a:rPr>
                          </m:ctrlPr>
                        </m:dPr>
                        <m:e>
                          <m:r>
                            <a:rPr lang="en-US" sz="1400">
                              <a:latin typeface="Cambria Math"/>
                            </a:rPr>
                            <m:t>𝑥</m:t>
                          </m:r>
                          <m:r>
                            <a:rPr lang="en-US" sz="1400">
                              <a:latin typeface="Cambria Math"/>
                            </a:rPr>
                            <m:t>,</m:t>
                          </m:r>
                          <m:r>
                            <a:rPr lang="en-US" sz="1400">
                              <a:latin typeface="Cambria Math"/>
                            </a:rPr>
                            <m:t>𝑦</m:t>
                          </m:r>
                        </m:e>
                      </m:d>
                      <m:r>
                        <a:rPr lang="en-US" sz="1400">
                          <a:latin typeface="Cambria Math"/>
                        </a:rPr>
                        <m:t>=</m:t>
                      </m:r>
                      <m:func>
                        <m:funcPr>
                          <m:ctrlPr>
                            <a:rPr lang="en-US" sz="1400" i="1">
                              <a:latin typeface="Cambria Math" panose="02040503050406030204" pitchFamily="18" charset="0"/>
                            </a:rPr>
                          </m:ctrlPr>
                        </m:funcPr>
                        <m:fName>
                          <m:r>
                            <m:rPr>
                              <m:sty m:val="p"/>
                            </m:rPr>
                            <a:rPr lang="en-US" sz="1400">
                              <a:latin typeface="Cambria Math"/>
                            </a:rPr>
                            <m:t>max</m:t>
                          </m:r>
                        </m:fName>
                        <m:e>
                          <m:d>
                            <m:dPr>
                              <m:ctrlPr>
                                <a:rPr lang="en-US" sz="1400" i="1">
                                  <a:latin typeface="Cambria Math" panose="02040503050406030204" pitchFamily="18" charset="0"/>
                                </a:rPr>
                              </m:ctrlPr>
                            </m:dPr>
                            <m:e>
                              <m:sSubSup>
                                <m:sSubSupPr>
                                  <m:ctrlPr>
                                    <a:rPr lang="en-US" sz="1400" i="1">
                                      <a:latin typeface="Cambria Math" panose="02040503050406030204" pitchFamily="18" charset="0"/>
                                    </a:rPr>
                                  </m:ctrlPr>
                                </m:sSubSupPr>
                                <m:e>
                                  <m:r>
                                    <a:rPr lang="en-US" sz="1400">
                                      <a:latin typeface="Cambria Math"/>
                                    </a:rPr>
                                    <m:t>𝐵</m:t>
                                  </m:r>
                                </m:e>
                                <m:sub>
                                  <m:r>
                                    <a:rPr lang="en-US" sz="1400">
                                      <a:latin typeface="Cambria Math"/>
                                    </a:rPr>
                                    <m:t>𝑘</m:t>
                                  </m:r>
                                  <m:r>
                                    <a:rPr lang="en-US" sz="1400">
                                      <a:latin typeface="Cambria Math"/>
                                    </a:rPr>
                                    <m:t>+1</m:t>
                                  </m:r>
                                </m:sub>
                                <m:sup>
                                  <m:r>
                                    <a:rPr lang="en-US" sz="1400">
                                      <a:latin typeface="Cambria Math"/>
                                    </a:rPr>
                                    <m:t>𝑝𝑒𝑟𝑠</m:t>
                                  </m:r>
                                </m:sup>
                              </m:sSubSup>
                              <m:d>
                                <m:dPr>
                                  <m:ctrlPr>
                                    <a:rPr lang="en-US" sz="1400" i="1">
                                      <a:latin typeface="Cambria Math" panose="02040503050406030204" pitchFamily="18" charset="0"/>
                                    </a:rPr>
                                  </m:ctrlPr>
                                </m:dPr>
                                <m:e>
                                  <m:r>
                                    <a:rPr lang="en-US" sz="1400">
                                      <a:latin typeface="Cambria Math"/>
                                    </a:rPr>
                                    <m:t>𝑥</m:t>
                                  </m:r>
                                  <m:r>
                                    <a:rPr lang="en-US" sz="1400">
                                      <a:latin typeface="Cambria Math"/>
                                    </a:rPr>
                                    <m:t>,</m:t>
                                  </m:r>
                                  <m:r>
                                    <a:rPr lang="en-US" sz="1400">
                                      <a:latin typeface="Cambria Math"/>
                                    </a:rPr>
                                    <m:t>𝑦</m:t>
                                  </m:r>
                                </m:e>
                              </m:d>
                              <m:r>
                                <a:rPr lang="en-US" sz="1400">
                                  <a:latin typeface="Cambria Math"/>
                                </a:rPr>
                                <m:t>,</m:t>
                              </m:r>
                              <m:sSubSup>
                                <m:sSubSupPr>
                                  <m:ctrlPr>
                                    <a:rPr lang="en-US" sz="1400" i="1">
                                      <a:latin typeface="Cambria Math" panose="02040503050406030204" pitchFamily="18" charset="0"/>
                                    </a:rPr>
                                  </m:ctrlPr>
                                </m:sSubSupPr>
                                <m:e>
                                  <m:r>
                                    <a:rPr lang="en-US" sz="1400">
                                      <a:latin typeface="Cambria Math"/>
                                    </a:rPr>
                                    <m:t>𝐵</m:t>
                                  </m:r>
                                </m:e>
                                <m:sub>
                                  <m:r>
                                    <a:rPr lang="en-US" sz="1400">
                                      <a:latin typeface="Cambria Math"/>
                                    </a:rPr>
                                    <m:t>𝑘</m:t>
                                  </m:r>
                                  <m:r>
                                    <a:rPr lang="en-US" sz="1400">
                                      <a:latin typeface="Cambria Math"/>
                                    </a:rPr>
                                    <m:t>+1</m:t>
                                  </m:r>
                                </m:sub>
                                <m:sup>
                                  <m:r>
                                    <a:rPr lang="en-US" sz="1400">
                                      <a:latin typeface="Cambria Math"/>
                                    </a:rPr>
                                    <m:t>𝑝𝑟𝑜𝑝</m:t>
                                  </m:r>
                                </m:sup>
                              </m:sSubSup>
                              <m:d>
                                <m:dPr>
                                  <m:ctrlPr>
                                    <a:rPr lang="en-US" sz="1400" i="1">
                                      <a:latin typeface="Cambria Math" panose="02040503050406030204" pitchFamily="18" charset="0"/>
                                    </a:rPr>
                                  </m:ctrlPr>
                                </m:dPr>
                                <m:e>
                                  <m:r>
                                    <a:rPr lang="en-US" sz="1400">
                                      <a:latin typeface="Cambria Math"/>
                                    </a:rPr>
                                    <m:t>𝑥</m:t>
                                  </m:r>
                                  <m:r>
                                    <a:rPr lang="en-US" sz="1400">
                                      <a:latin typeface="Cambria Math"/>
                                    </a:rPr>
                                    <m:t>,</m:t>
                                  </m:r>
                                  <m:r>
                                    <a:rPr lang="en-US" sz="1400">
                                      <a:latin typeface="Cambria Math"/>
                                    </a:rPr>
                                    <m:t>𝑦</m:t>
                                  </m:r>
                                </m:e>
                              </m:d>
                              <m:r>
                                <a:rPr lang="en-US" sz="1400">
                                  <a:latin typeface="Cambria Math"/>
                                </a:rPr>
                                <m:t>,</m:t>
                              </m:r>
                              <m:sSubSup>
                                <m:sSubSupPr>
                                  <m:ctrlPr>
                                    <a:rPr lang="en-US" sz="1400" i="1">
                                      <a:latin typeface="Cambria Math" panose="02040503050406030204" pitchFamily="18" charset="0"/>
                                    </a:rPr>
                                  </m:ctrlPr>
                                </m:sSubSupPr>
                                <m:e>
                                  <m:r>
                                    <a:rPr lang="en-US" sz="1400">
                                      <a:latin typeface="Cambria Math"/>
                                    </a:rPr>
                                    <m:t>𝐵</m:t>
                                  </m:r>
                                </m:e>
                                <m:sub>
                                  <m:r>
                                    <a:rPr lang="en-US" sz="1400">
                                      <a:latin typeface="Cambria Math"/>
                                    </a:rPr>
                                    <m:t>𝑘</m:t>
                                  </m:r>
                                  <m:r>
                                    <a:rPr lang="en-US" sz="1400">
                                      <a:latin typeface="Cambria Math"/>
                                    </a:rPr>
                                    <m:t>+1</m:t>
                                  </m:r>
                                </m:sub>
                                <m:sup>
                                  <m:r>
                                    <a:rPr lang="en-US" sz="1400">
                                      <a:latin typeface="Cambria Math"/>
                                    </a:rPr>
                                    <m:t>𝑠𝑝𝑜𝑡</m:t>
                                  </m:r>
                                </m:sup>
                              </m:sSubSup>
                              <m:d>
                                <m:dPr>
                                  <m:ctrlPr>
                                    <a:rPr lang="en-US" sz="1400" i="1">
                                      <a:latin typeface="Cambria Math" panose="02040503050406030204" pitchFamily="18" charset="0"/>
                                    </a:rPr>
                                  </m:ctrlPr>
                                </m:dPr>
                                <m:e>
                                  <m:r>
                                    <a:rPr lang="en-US" sz="1400">
                                      <a:latin typeface="Cambria Math"/>
                                    </a:rPr>
                                    <m:t>𝑥</m:t>
                                  </m:r>
                                  <m:r>
                                    <a:rPr lang="en-US" sz="1400">
                                      <a:latin typeface="Cambria Math"/>
                                    </a:rPr>
                                    <m:t>,</m:t>
                                  </m:r>
                                  <m:r>
                                    <a:rPr lang="en-US" sz="1400">
                                      <a:latin typeface="Cambria Math"/>
                                    </a:rPr>
                                    <m:t>𝑦</m:t>
                                  </m:r>
                                </m:e>
                              </m:d>
                              <m:r>
                                <a:rPr lang="en-US" sz="1400">
                                  <a:latin typeface="Cambria Math"/>
                                </a:rPr>
                                <m:t>,</m:t>
                              </m:r>
                              <m:sSub>
                                <m:sSubPr>
                                  <m:ctrlPr>
                                    <a:rPr lang="en-US" sz="1400" i="1">
                                      <a:latin typeface="Cambria Math" panose="02040503050406030204" pitchFamily="18" charset="0"/>
                                    </a:rPr>
                                  </m:ctrlPr>
                                </m:sSubPr>
                                <m:e>
                                  <m:r>
                                    <a:rPr lang="en-US" sz="1400">
                                      <a:latin typeface="Cambria Math"/>
                                    </a:rPr>
                                    <m:t>𝐼</m:t>
                                  </m:r>
                                </m:e>
                                <m:sub>
                                  <m:r>
                                    <a:rPr lang="en-US" sz="1400">
                                      <a:latin typeface="Cambria Math"/>
                                    </a:rPr>
                                    <m:t>𝐼𝑔𝑛</m:t>
                                  </m:r>
                                  <m:r>
                                    <a:rPr lang="en-US" sz="1400">
                                      <a:latin typeface="Cambria Math"/>
                                    </a:rPr>
                                    <m:t>,</m:t>
                                  </m:r>
                                  <m:r>
                                    <a:rPr lang="en-US" sz="1400">
                                      <a:latin typeface="Cambria Math"/>
                                    </a:rPr>
                                    <m:t>𝑘</m:t>
                                  </m:r>
                                </m:sub>
                              </m:sSub>
                              <m:d>
                                <m:dPr>
                                  <m:ctrlPr>
                                    <a:rPr lang="en-US" sz="1400" i="1">
                                      <a:latin typeface="Cambria Math" panose="02040503050406030204" pitchFamily="18" charset="0"/>
                                    </a:rPr>
                                  </m:ctrlPr>
                                </m:dPr>
                                <m:e>
                                  <m:r>
                                    <a:rPr lang="en-US" sz="1400">
                                      <a:latin typeface="Cambria Math"/>
                                    </a:rPr>
                                    <m:t>𝑥</m:t>
                                  </m:r>
                                  <m:r>
                                    <a:rPr lang="en-US" sz="1400">
                                      <a:latin typeface="Cambria Math"/>
                                    </a:rPr>
                                    <m:t>,</m:t>
                                  </m:r>
                                  <m:r>
                                    <a:rPr lang="en-US" sz="1400">
                                      <a:latin typeface="Cambria Math"/>
                                    </a:rPr>
                                    <m:t>𝑦</m:t>
                                  </m:r>
                                </m:e>
                              </m:d>
                            </m:e>
                          </m:d>
                        </m:e>
                      </m:func>
                    </m:oMath>
                  </m:oMathPara>
                </a14:m>
                <a:endParaRPr lang="en-US" sz="1400" dirty="0"/>
              </a:p>
            </p:txBody>
          </p:sp>
        </mc:Choice>
        <mc:Fallback>
          <p:sp>
            <p:nvSpPr>
              <p:cNvPr id="35" name="Text 2">
                <a:extLst>
                  <a:ext uri="{FF2B5EF4-FFF2-40B4-BE49-F238E27FC236}">
                    <a16:creationId xmlns:a16="http://schemas.microsoft.com/office/drawing/2014/main" id="{D365A081-EC97-4F4F-8394-5A3EB4A35E2D}"/>
                  </a:ext>
                </a:extLst>
              </p:cNvPr>
              <p:cNvSpPr>
                <a:spLocks noRot="1" noChangeAspect="1" noMove="1" noResize="1" noEditPoints="1" noAdjustHandles="1" noChangeArrowheads="1" noChangeShapeType="1" noTextEdit="1"/>
              </p:cNvSpPr>
              <p:nvPr/>
            </p:nvSpPr>
            <p:spPr>
              <a:xfrm>
                <a:off x="622173" y="5266944"/>
                <a:ext cx="5149977" cy="548640"/>
              </a:xfrm>
              <a:prstGeom prst="rect">
                <a:avLst/>
              </a:prstGeom>
              <a:blipFill>
                <a:blip r:embed="rId5"/>
                <a:stretch>
                  <a:fillRect l="-828"/>
                </a:stretch>
              </a:blipFill>
              <a:ln/>
            </p:spPr>
            <p:txBody>
              <a:bodyPr/>
              <a:lstStyle/>
              <a:p>
                <a:r>
                  <a:rPr lang="tr-TR">
                    <a:noFill/>
                  </a:rPr>
                  <a:t> </a:t>
                </a:r>
              </a:p>
            </p:txBody>
          </p:sp>
        </mc:Fallback>
      </mc:AlternateContent>
      <p:sp>
        <p:nvSpPr>
          <p:cNvPr id="37" name="Text 4">
            <a:extLst>
              <a:ext uri="{FF2B5EF4-FFF2-40B4-BE49-F238E27FC236}">
                <a16:creationId xmlns:a16="http://schemas.microsoft.com/office/drawing/2014/main" id="{1071B7E4-5B74-4EEF-BFEF-ED97C8C36C96}"/>
              </a:ext>
            </a:extLst>
          </p:cNvPr>
          <p:cNvSpPr/>
          <p:nvPr/>
        </p:nvSpPr>
        <p:spPr>
          <a:xfrm>
            <a:off x="411480" y="1828800"/>
            <a:ext cx="5486400" cy="292608"/>
          </a:xfrm>
          <a:prstGeom prst="rect">
            <a:avLst/>
          </a:prstGeom>
          <a:noFill/>
          <a:ln/>
        </p:spPr>
        <p:txBody>
          <a:bodyPr wrap="square" lIns="0" tIns="0" rIns="0" bIns="0" rtlCol="0" anchor="ctr"/>
          <a:lstStyle/>
          <a:p>
            <a:pPr marL="0" indent="0">
              <a:buNone/>
            </a:pPr>
            <a:r>
              <a:rPr lang="en-US" sz="1600" b="1" dirty="0">
                <a:solidFill>
                  <a:srgbClr val="E31836"/>
                </a:solidFill>
                <a:latin typeface="Calibri" pitchFamily="34" charset="0"/>
                <a:ea typeface="Calibri" pitchFamily="34" charset="-122"/>
                <a:cs typeface="Calibri" pitchFamily="34" charset="-120"/>
              </a:rPr>
              <a:t>①</a:t>
            </a:r>
            <a:r>
              <a:rPr lang="en-US" sz="1600" b="1" dirty="0">
                <a:solidFill>
                  <a:srgbClr val="FF0000"/>
                </a:solidFill>
                <a:latin typeface="Calibri" pitchFamily="34" charset="0"/>
                <a:ea typeface="Calibri" pitchFamily="34" charset="-122"/>
                <a:cs typeface="Calibri" pitchFamily="34" charset="-120"/>
              </a:rPr>
              <a:t> </a:t>
            </a:r>
            <a:r>
              <a:rPr lang="en-US" sz="1500" b="1" dirty="0">
                <a:solidFill>
                  <a:srgbClr val="E31836"/>
                </a:solidFill>
                <a:latin typeface="Calibri" pitchFamily="34" charset="0"/>
                <a:ea typeface="Calibri" pitchFamily="34" charset="-122"/>
                <a:cs typeface="Calibri" pitchFamily="34" charset="-120"/>
              </a:rPr>
              <a:t>Deterministic persistence</a:t>
            </a:r>
            <a:endParaRPr lang="en-US" sz="1500" dirty="0"/>
          </a:p>
        </p:txBody>
      </p:sp>
      <p:sp>
        <p:nvSpPr>
          <p:cNvPr id="40" name="Text 7">
            <a:extLst>
              <a:ext uri="{FF2B5EF4-FFF2-40B4-BE49-F238E27FC236}">
                <a16:creationId xmlns:a16="http://schemas.microsoft.com/office/drawing/2014/main" id="{E6ACF31A-B270-4D04-A29A-B3BD79B5027F}"/>
              </a:ext>
            </a:extLst>
          </p:cNvPr>
          <p:cNvSpPr/>
          <p:nvPr/>
        </p:nvSpPr>
        <p:spPr>
          <a:xfrm>
            <a:off x="411480" y="3063240"/>
            <a:ext cx="5486400" cy="292608"/>
          </a:xfrm>
          <a:prstGeom prst="rect">
            <a:avLst/>
          </a:prstGeom>
          <a:noFill/>
          <a:ln/>
        </p:spPr>
        <p:txBody>
          <a:bodyPr wrap="square" lIns="0" tIns="0" rIns="0" bIns="0" rtlCol="0" anchor="ctr"/>
          <a:lstStyle/>
          <a:p>
            <a:pPr marL="0" indent="0">
              <a:buNone/>
            </a:pPr>
            <a:r>
              <a:rPr lang="en-US" sz="1500" b="1" dirty="0">
                <a:solidFill>
                  <a:srgbClr val="E31836"/>
                </a:solidFill>
                <a:latin typeface="Calibri" pitchFamily="34" charset="0"/>
                <a:ea typeface="Calibri" pitchFamily="34" charset="-122"/>
                <a:cs typeface="Calibri" pitchFamily="34" charset="-120"/>
              </a:rPr>
              <a:t>Stochastic, wind-anisotropic propagation</a:t>
            </a:r>
            <a:endParaRPr lang="en-US" sz="1500" dirty="0"/>
          </a:p>
        </p:txBody>
      </p:sp>
      <mc:AlternateContent xmlns:mc="http://schemas.openxmlformats.org/markup-compatibility/2006" xmlns:a14="http://schemas.microsoft.com/office/drawing/2010/main">
        <mc:Choice Requires="a14">
          <p:sp>
            <p:nvSpPr>
              <p:cNvPr id="5" name="Text 5">
                <a:extLst>
                  <a:ext uri="{FF2B5EF4-FFF2-40B4-BE49-F238E27FC236}">
                    <a16:creationId xmlns:a16="http://schemas.microsoft.com/office/drawing/2014/main" id="{26B125F4-1B12-8ED6-EB47-01F4F29046CF}"/>
                  </a:ext>
                </a:extLst>
              </p:cNvPr>
              <p:cNvSpPr/>
              <p:nvPr/>
            </p:nvSpPr>
            <p:spPr>
              <a:xfrm>
                <a:off x="411480" y="2121408"/>
                <a:ext cx="5486400" cy="868680"/>
              </a:xfrm>
              <a:prstGeom prst="rect">
                <a:avLst/>
              </a:prstGeom>
              <a:noFill/>
              <a:ln/>
            </p:spPr>
            <p:txBody>
              <a:bodyPr wrap="square" lIns="0" tIns="0" rIns="0" bIns="0" rtlCol="0" anchor="ctr"/>
              <a:lstStyle/>
              <a:p>
                <a:pPr marL="0" indent="0" algn="ctr">
                  <a:buNone/>
                </a:pPr>
                <a14:m>
                  <m:oMathPara xmlns:m="http://schemas.openxmlformats.org/officeDocument/2006/math">
                    <m:oMathParaPr>
                      <m:jc m:val="centerGroup"/>
                    </m:oMathParaPr>
                    <m:oMath xmlns:m="http://schemas.openxmlformats.org/officeDocument/2006/math">
                      <m:sSubSup>
                        <m:sSubSupPr>
                          <m:ctrlPr>
                            <a:rPr lang="en-US" sz="1300" i="1">
                              <a:latin typeface="Cambria Math" panose="02040503050406030204" pitchFamily="18" charset="0"/>
                            </a:rPr>
                          </m:ctrlPr>
                        </m:sSubSupPr>
                        <m:e>
                          <m:r>
                            <a:rPr lang="en-US" sz="1300">
                              <a:latin typeface="Cambria Math"/>
                            </a:rPr>
                            <m:t>𝐵</m:t>
                          </m:r>
                        </m:e>
                        <m:sub>
                          <m:r>
                            <a:rPr lang="en-US" sz="1300">
                              <a:latin typeface="Cambria Math"/>
                            </a:rPr>
                            <m:t>𝑘</m:t>
                          </m:r>
                          <m:r>
                            <a:rPr lang="en-US" sz="1300">
                              <a:latin typeface="Cambria Math"/>
                            </a:rPr>
                            <m:t>+1</m:t>
                          </m:r>
                        </m:sub>
                        <m:sup>
                          <m:r>
                            <a:rPr lang="en-US" sz="1300">
                              <a:latin typeface="Cambria Math"/>
                            </a:rPr>
                            <m:t>𝑝𝑒𝑟𝑠</m:t>
                          </m:r>
                        </m:sup>
                      </m:sSubSup>
                      <m:d>
                        <m:dPr>
                          <m:ctrlPr>
                            <a:rPr lang="en-US" sz="1300" i="1">
                              <a:latin typeface="Cambria Math" panose="02040503050406030204" pitchFamily="18" charset="0"/>
                            </a:rPr>
                          </m:ctrlPr>
                        </m:dPr>
                        <m:e>
                          <m:r>
                            <a:rPr lang="en-US" sz="1300">
                              <a:latin typeface="Cambria Math"/>
                            </a:rPr>
                            <m:t>𝑥</m:t>
                          </m:r>
                          <m:r>
                            <a:rPr lang="en-US" sz="1300">
                              <a:latin typeface="Cambria Math"/>
                            </a:rPr>
                            <m:t>,</m:t>
                          </m:r>
                          <m:r>
                            <a:rPr lang="en-US" sz="1300">
                              <a:latin typeface="Cambria Math"/>
                            </a:rPr>
                            <m:t>𝑦</m:t>
                          </m:r>
                        </m:e>
                      </m:d>
                      <m:r>
                        <a:rPr lang="en-US" sz="1300">
                          <a:latin typeface="Cambria Math"/>
                        </a:rPr>
                        <m:t>=</m:t>
                      </m:r>
                      <m:sSub>
                        <m:sSubPr>
                          <m:ctrlPr>
                            <a:rPr lang="en-US" sz="1300" i="1">
                              <a:latin typeface="Cambria Math" panose="02040503050406030204" pitchFamily="18" charset="0"/>
                            </a:rPr>
                          </m:ctrlPr>
                        </m:sSubPr>
                        <m:e>
                          <m:r>
                            <a:rPr lang="en-US" sz="1300">
                              <a:latin typeface="Cambria Math"/>
                            </a:rPr>
                            <m:t>𝐵</m:t>
                          </m:r>
                        </m:e>
                        <m:sub>
                          <m:r>
                            <a:rPr lang="en-US" sz="1300">
                              <a:latin typeface="Cambria Math"/>
                            </a:rPr>
                            <m:t>𝑘</m:t>
                          </m:r>
                        </m:sub>
                      </m:sSub>
                      <m:d>
                        <m:dPr>
                          <m:ctrlPr>
                            <a:rPr lang="en-US" sz="1300" i="1">
                              <a:latin typeface="Cambria Math" panose="02040503050406030204" pitchFamily="18" charset="0"/>
                            </a:rPr>
                          </m:ctrlPr>
                        </m:dPr>
                        <m:e>
                          <m:r>
                            <a:rPr lang="en-US" sz="1300">
                              <a:latin typeface="Cambria Math"/>
                            </a:rPr>
                            <m:t>𝑥</m:t>
                          </m:r>
                          <m:r>
                            <a:rPr lang="en-US" sz="1300">
                              <a:latin typeface="Cambria Math"/>
                            </a:rPr>
                            <m:t>,</m:t>
                          </m:r>
                          <m:r>
                            <a:rPr lang="en-US" sz="1300">
                              <a:latin typeface="Cambria Math"/>
                            </a:rPr>
                            <m:t>𝑦</m:t>
                          </m:r>
                        </m:e>
                      </m:d>
                      <m:r>
                        <a:rPr lang="en-US" sz="1300">
                          <a:latin typeface="Cambria Math"/>
                        </a:rPr>
                        <m:t>⋅</m:t>
                      </m:r>
                      <m:r>
                        <a:rPr lang="en-US" sz="1300">
                          <a:latin typeface="Cambria Math"/>
                        </a:rPr>
                        <m:t>𝟏</m:t>
                      </m:r>
                      <m:d>
                        <m:dPr>
                          <m:begChr m:val="["/>
                          <m:endChr m:val="]"/>
                          <m:ctrlPr>
                            <a:rPr lang="en-US" sz="1300" i="1">
                              <a:latin typeface="Cambria Math" panose="02040503050406030204" pitchFamily="18" charset="0"/>
                            </a:rPr>
                          </m:ctrlPr>
                        </m:dPr>
                        <m:e>
                          <m:sSub>
                            <m:sSubPr>
                              <m:ctrlPr>
                                <a:rPr lang="en-US" sz="1300" i="1">
                                  <a:latin typeface="Cambria Math" panose="02040503050406030204" pitchFamily="18" charset="0"/>
                                </a:rPr>
                              </m:ctrlPr>
                            </m:sSubPr>
                            <m:e>
                              <m:r>
                                <a:rPr lang="en-US" sz="1300">
                                  <a:latin typeface="Cambria Math"/>
                                </a:rPr>
                                <m:t>𝐹</m:t>
                              </m:r>
                            </m:e>
                            <m:sub>
                              <m:r>
                                <a:rPr lang="en-US" sz="1300">
                                  <a:latin typeface="Cambria Math"/>
                                </a:rPr>
                                <m:t>𝑙𝑜𝑎𝑑</m:t>
                              </m:r>
                              <m:r>
                                <a:rPr lang="en-US" sz="1300">
                                  <a:latin typeface="Cambria Math"/>
                                </a:rPr>
                                <m:t>,</m:t>
                              </m:r>
                              <m:r>
                                <a:rPr lang="en-US" sz="1300">
                                  <a:latin typeface="Cambria Math"/>
                                </a:rPr>
                                <m:t>𝑘</m:t>
                              </m:r>
                            </m:sub>
                          </m:sSub>
                          <m:d>
                            <m:dPr>
                              <m:ctrlPr>
                                <a:rPr lang="en-US" sz="1300" i="1">
                                  <a:latin typeface="Cambria Math" panose="02040503050406030204" pitchFamily="18" charset="0"/>
                                </a:rPr>
                              </m:ctrlPr>
                            </m:dPr>
                            <m:e>
                              <m:r>
                                <a:rPr lang="en-US" sz="1300">
                                  <a:latin typeface="Cambria Math"/>
                                </a:rPr>
                                <m:t>𝑥</m:t>
                              </m:r>
                              <m:r>
                                <a:rPr lang="en-US" sz="1300">
                                  <a:latin typeface="Cambria Math"/>
                                </a:rPr>
                                <m:t>,</m:t>
                              </m:r>
                              <m:r>
                                <a:rPr lang="en-US" sz="1300">
                                  <a:latin typeface="Cambria Math"/>
                                </a:rPr>
                                <m:t>𝑦</m:t>
                              </m:r>
                            </m:e>
                          </m:d>
                          <m:r>
                            <a:rPr lang="en-US" sz="1300">
                              <a:latin typeface="Cambria Math"/>
                            </a:rPr>
                            <m:t>&gt;</m:t>
                          </m:r>
                          <m:sSub>
                            <m:sSubPr>
                              <m:ctrlPr>
                                <a:rPr lang="en-US" sz="1300" i="1">
                                  <a:latin typeface="Cambria Math" panose="02040503050406030204" pitchFamily="18" charset="0"/>
                                </a:rPr>
                              </m:ctrlPr>
                            </m:sSubPr>
                            <m:e>
                              <m:r>
                                <a:rPr lang="en-US" sz="1300">
                                  <a:latin typeface="Cambria Math"/>
                                </a:rPr>
                                <m:t>𝜀</m:t>
                              </m:r>
                            </m:e>
                            <m:sub>
                              <m:r>
                                <a:rPr lang="en-US" sz="1300">
                                  <a:latin typeface="Cambria Math"/>
                                </a:rPr>
                                <m:t>𝑓𝑢𝑒</m:t>
                              </m:r>
                              <m:sSub>
                                <m:sSubPr>
                                  <m:ctrlPr>
                                    <a:rPr lang="en-US" sz="1300" i="1">
                                      <a:latin typeface="Cambria Math" panose="02040503050406030204" pitchFamily="18" charset="0"/>
                                    </a:rPr>
                                  </m:ctrlPr>
                                </m:sSubPr>
                                <m:e>
                                  <m:r>
                                    <a:rPr lang="en-US" sz="1300">
                                      <a:latin typeface="Cambria Math"/>
                                    </a:rPr>
                                    <m:t>𝑙</m:t>
                                  </m:r>
                                </m:e>
                                <m:sub>
                                  <m:r>
                                    <a:rPr lang="en-US" sz="1300">
                                      <a:latin typeface="Cambria Math"/>
                                    </a:rPr>
                                    <m:t>𝑙𝑜𝑎𝑑</m:t>
                                  </m:r>
                                </m:sub>
                              </m:sSub>
                            </m:sub>
                          </m:sSub>
                          <m:r>
                            <a:rPr lang="en-US" sz="1300">
                              <a:latin typeface="Cambria Math"/>
                            </a:rPr>
                            <m:t> </m:t>
                          </m:r>
                        </m:e>
                      </m:d>
                      <m:r>
                        <a:rPr lang="en-US" sz="1300">
                          <a:latin typeface="Cambria Math"/>
                        </a:rPr>
                        <m:t>⋅</m:t>
                      </m:r>
                      <m:r>
                        <a:rPr lang="en-US" sz="1300">
                          <a:latin typeface="Cambria Math"/>
                        </a:rPr>
                        <m:t>𝟏</m:t>
                      </m:r>
                      <m:d>
                        <m:dPr>
                          <m:begChr m:val="["/>
                          <m:endChr m:val="]"/>
                          <m:ctrlPr>
                            <a:rPr lang="en-US" sz="1300" i="1">
                              <a:latin typeface="Cambria Math" panose="02040503050406030204" pitchFamily="18" charset="0"/>
                            </a:rPr>
                          </m:ctrlPr>
                        </m:dPr>
                        <m:e>
                          <m:sSub>
                            <m:sSubPr>
                              <m:ctrlPr>
                                <a:rPr lang="en-US" sz="1300" i="1">
                                  <a:latin typeface="Cambria Math" panose="02040503050406030204" pitchFamily="18" charset="0"/>
                                </a:rPr>
                              </m:ctrlPr>
                            </m:sSubPr>
                            <m:e>
                              <m:r>
                                <a:rPr lang="en-US" sz="1300">
                                  <a:latin typeface="Cambria Math"/>
                                </a:rPr>
                                <m:t>𝐹</m:t>
                              </m:r>
                            </m:e>
                            <m:sub>
                              <m:r>
                                <a:rPr lang="en-US" sz="1300">
                                  <a:latin typeface="Cambria Math"/>
                                </a:rPr>
                                <m:t>𝑚𝑜𝑖𝑠𝑡</m:t>
                              </m:r>
                              <m:r>
                                <a:rPr lang="en-US" sz="1300">
                                  <a:latin typeface="Cambria Math"/>
                                </a:rPr>
                                <m:t>,</m:t>
                              </m:r>
                              <m:r>
                                <a:rPr lang="en-US" sz="1300">
                                  <a:latin typeface="Cambria Math"/>
                                </a:rPr>
                                <m:t>𝑘</m:t>
                              </m:r>
                            </m:sub>
                          </m:sSub>
                          <m:d>
                            <m:dPr>
                              <m:ctrlPr>
                                <a:rPr lang="en-US" sz="1300" i="1">
                                  <a:latin typeface="Cambria Math" panose="02040503050406030204" pitchFamily="18" charset="0"/>
                                </a:rPr>
                              </m:ctrlPr>
                            </m:dPr>
                            <m:e>
                              <m:r>
                                <a:rPr lang="en-US" sz="1300">
                                  <a:latin typeface="Cambria Math"/>
                                </a:rPr>
                                <m:t>𝑥</m:t>
                              </m:r>
                              <m:r>
                                <a:rPr lang="en-US" sz="1300">
                                  <a:latin typeface="Cambria Math"/>
                                </a:rPr>
                                <m:t>,</m:t>
                              </m:r>
                              <m:r>
                                <a:rPr lang="en-US" sz="1300">
                                  <a:latin typeface="Cambria Math"/>
                                </a:rPr>
                                <m:t>𝑦</m:t>
                              </m:r>
                            </m:e>
                          </m:d>
                          <m:r>
                            <a:rPr lang="en-US" sz="1300">
                              <a:latin typeface="Cambria Math"/>
                            </a:rPr>
                            <m:t>&lt;</m:t>
                          </m:r>
                          <m:sSub>
                            <m:sSubPr>
                              <m:ctrlPr>
                                <a:rPr lang="en-US" sz="1300" i="1">
                                  <a:latin typeface="Cambria Math" panose="02040503050406030204" pitchFamily="18" charset="0"/>
                                </a:rPr>
                              </m:ctrlPr>
                            </m:sSubPr>
                            <m:e>
                              <m:r>
                                <a:rPr lang="en-US" sz="1300">
                                  <a:latin typeface="Cambria Math"/>
                                </a:rPr>
                                <m:t>𝑚</m:t>
                              </m:r>
                            </m:e>
                            <m:sub>
                              <m:r>
                                <a:rPr lang="en-US" sz="1300">
                                  <a:latin typeface="Cambria Math"/>
                                </a:rPr>
                                <m:t>𝑒𝑥𝑡</m:t>
                              </m:r>
                            </m:sub>
                          </m:sSub>
                          <m:d>
                            <m:dPr>
                              <m:ctrlPr>
                                <a:rPr lang="en-US" sz="1300" i="1">
                                  <a:latin typeface="Cambria Math" panose="02040503050406030204" pitchFamily="18" charset="0"/>
                                </a:rPr>
                              </m:ctrlPr>
                            </m:dPr>
                            <m:e>
                              <m:sSub>
                                <m:sSubPr>
                                  <m:ctrlPr>
                                    <a:rPr lang="en-US" sz="1300" i="1">
                                      <a:latin typeface="Cambria Math" panose="02040503050406030204" pitchFamily="18" charset="0"/>
                                    </a:rPr>
                                  </m:ctrlPr>
                                </m:sSubPr>
                                <m:e>
                                  <m:r>
                                    <a:rPr lang="en-US" sz="1300">
                                      <a:latin typeface="Cambria Math"/>
                                    </a:rPr>
                                    <m:t>𝐹</m:t>
                                  </m:r>
                                </m:e>
                                <m:sub>
                                  <m:r>
                                    <a:rPr lang="en-US" sz="1300">
                                      <a:latin typeface="Cambria Math"/>
                                    </a:rPr>
                                    <m:t>𝑡𝑦𝑝𝑒</m:t>
                                  </m:r>
                                </m:sub>
                              </m:sSub>
                              <m:d>
                                <m:dPr>
                                  <m:ctrlPr>
                                    <a:rPr lang="en-US" sz="1300" i="1">
                                      <a:latin typeface="Cambria Math" panose="02040503050406030204" pitchFamily="18" charset="0"/>
                                    </a:rPr>
                                  </m:ctrlPr>
                                </m:dPr>
                                <m:e>
                                  <m:r>
                                    <a:rPr lang="en-US" sz="1300">
                                      <a:latin typeface="Cambria Math"/>
                                    </a:rPr>
                                    <m:t>𝑥</m:t>
                                  </m:r>
                                  <m:r>
                                    <a:rPr lang="en-US" sz="1300">
                                      <a:latin typeface="Cambria Math"/>
                                    </a:rPr>
                                    <m:t>,</m:t>
                                  </m:r>
                                  <m:r>
                                    <a:rPr lang="en-US" sz="1300">
                                      <a:latin typeface="Cambria Math"/>
                                    </a:rPr>
                                    <m:t>𝑦</m:t>
                                  </m:r>
                                </m:e>
                              </m:d>
                            </m:e>
                          </m:d>
                        </m:e>
                      </m:d>
                    </m:oMath>
                  </m:oMathPara>
                </a14:m>
                <a:endParaRPr lang="en-US" sz="1400" dirty="0"/>
              </a:p>
            </p:txBody>
          </p:sp>
        </mc:Choice>
        <mc:Fallback xmlns="">
          <p:sp>
            <p:nvSpPr>
              <p:cNvPr id="5" name="Text 5">
                <a:extLst>
                  <a:ext uri="{FF2B5EF4-FFF2-40B4-BE49-F238E27FC236}">
                    <a16:creationId xmlns:a16="http://schemas.microsoft.com/office/drawing/2014/main" id="{26B125F4-1B12-8ED6-EB47-01F4F29046CF}"/>
                  </a:ext>
                </a:extLst>
              </p:cNvPr>
              <p:cNvSpPr>
                <a:spLocks noRot="1" noChangeAspect="1" noMove="1" noResize="1" noEditPoints="1" noAdjustHandles="1" noChangeArrowheads="1" noChangeShapeType="1" noTextEdit="1"/>
              </p:cNvSpPr>
              <p:nvPr/>
            </p:nvSpPr>
            <p:spPr>
              <a:xfrm>
                <a:off x="411480" y="2121408"/>
                <a:ext cx="5486400" cy="868680"/>
              </a:xfrm>
              <a:prstGeom prst="rect">
                <a:avLst/>
              </a:prstGeom>
              <a:blipFill>
                <a:blip r:embed="rId6"/>
                <a:stretch>
                  <a:fillRect/>
                </a:stretch>
              </a:blipFill>
              <a:ln/>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1" name="Text 8">
                <a:extLst>
                  <a:ext uri="{FF2B5EF4-FFF2-40B4-BE49-F238E27FC236}">
                    <a16:creationId xmlns:a16="http://schemas.microsoft.com/office/drawing/2014/main" id="{F8A64832-CA9B-0238-400D-D104BADE89F3}"/>
                  </a:ext>
                </a:extLst>
              </p:cNvPr>
              <p:cNvSpPr/>
              <p:nvPr/>
            </p:nvSpPr>
            <p:spPr>
              <a:xfrm>
                <a:off x="411480" y="3364992"/>
                <a:ext cx="5486400" cy="731520"/>
              </a:xfrm>
              <a:prstGeom prst="rect">
                <a:avLst/>
              </a:prstGeom>
              <a:noFill/>
              <a:ln/>
            </p:spPr>
            <p:txBody>
              <a:bodyPr wrap="square" lIns="0" tIns="0" rIns="0" bIns="0"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n-US" sz="1300" i="1">
                              <a:latin typeface="Cambria Math" panose="02040503050406030204" pitchFamily="18" charset="0"/>
                            </a:rPr>
                          </m:ctrlPr>
                        </m:sSubPr>
                        <m:e>
                          <m:r>
                            <m:rPr>
                              <m:sty m:val="p"/>
                            </m:rPr>
                            <a:rPr lang="en-US" sz="1300">
                              <a:latin typeface="Cambria Math"/>
                            </a:rPr>
                            <m:t>Ψ</m:t>
                          </m:r>
                        </m:e>
                        <m:sub>
                          <m:r>
                            <a:rPr lang="en-US" sz="1300">
                              <a:latin typeface="Cambria Math"/>
                            </a:rPr>
                            <m:t>𝑘</m:t>
                          </m:r>
                        </m:sub>
                      </m:sSub>
                      <m:d>
                        <m:dPr>
                          <m:ctrlPr>
                            <a:rPr lang="en-US" sz="1300" i="1">
                              <a:latin typeface="Cambria Math" panose="02040503050406030204" pitchFamily="18" charset="0"/>
                            </a:rPr>
                          </m:ctrlPr>
                        </m:dPr>
                        <m:e>
                          <m:r>
                            <a:rPr lang="en-US" sz="1300">
                              <a:latin typeface="Cambria Math"/>
                            </a:rPr>
                            <m:t>𝑥</m:t>
                          </m:r>
                          <m:r>
                            <a:rPr lang="en-US" sz="1300">
                              <a:latin typeface="Cambria Math"/>
                            </a:rPr>
                            <m:t>,</m:t>
                          </m:r>
                          <m:r>
                            <a:rPr lang="en-US" sz="1300">
                              <a:latin typeface="Cambria Math"/>
                            </a:rPr>
                            <m:t>𝑦</m:t>
                          </m:r>
                        </m:e>
                      </m:d>
                      <m:r>
                        <a:rPr lang="en-US" sz="1300">
                          <a:latin typeface="Cambria Math"/>
                        </a:rPr>
                        <m:t>=</m:t>
                      </m:r>
                      <m:f>
                        <m:fPr>
                          <m:ctrlPr>
                            <a:rPr lang="en-US" sz="1300" i="1">
                              <a:latin typeface="Cambria Math" panose="02040503050406030204" pitchFamily="18" charset="0"/>
                            </a:rPr>
                          </m:ctrlPr>
                        </m:fPr>
                        <m:num>
                          <m:r>
                            <a:rPr lang="en-US" sz="1300">
                              <a:latin typeface="Cambria Math"/>
                            </a:rPr>
                            <m:t>1</m:t>
                          </m:r>
                        </m:num>
                        <m:den>
                          <m:r>
                            <a:rPr lang="en-US" sz="1300">
                              <a:latin typeface="Cambria Math"/>
                            </a:rPr>
                            <m:t>8</m:t>
                          </m:r>
                        </m:den>
                      </m:f>
                      <m:nary>
                        <m:naryPr>
                          <m:chr m:val="∑"/>
                          <m:limLoc m:val="undOvr"/>
                          <m:ctrlPr>
                            <a:rPr lang="en-US" sz="1300" i="1">
                              <a:latin typeface="Cambria Math" panose="02040503050406030204" pitchFamily="18" charset="0"/>
                            </a:rPr>
                          </m:ctrlPr>
                        </m:naryPr>
                        <m:sub>
                          <m:d>
                            <m:dPr>
                              <m:ctrlPr>
                                <a:rPr lang="en-US" sz="1300" i="1">
                                  <a:latin typeface="Cambria Math" panose="02040503050406030204" pitchFamily="18" charset="0"/>
                                </a:rPr>
                              </m:ctrlPr>
                            </m:dPr>
                            <m:e>
                              <m:r>
                                <a:rPr lang="en-US" sz="1300">
                                  <a:latin typeface="Cambria Math"/>
                                </a:rPr>
                                <m:t>𝑖</m:t>
                              </m:r>
                              <m:r>
                                <a:rPr lang="en-US" sz="1300">
                                  <a:latin typeface="Cambria Math"/>
                                </a:rPr>
                                <m:t>,</m:t>
                              </m:r>
                              <m:r>
                                <a:rPr lang="en-US" sz="1300">
                                  <a:latin typeface="Cambria Math"/>
                                </a:rPr>
                                <m:t>𝑗</m:t>
                              </m:r>
                              <m:r>
                                <a:rPr lang="en-US" sz="1300">
                                  <a:latin typeface="Cambria Math"/>
                                </a:rPr>
                                <m:t>)∈</m:t>
                              </m:r>
                              <m:sSup>
                                <m:sSupPr>
                                  <m:ctrlPr>
                                    <a:rPr lang="en-US" sz="1300" i="1">
                                      <a:latin typeface="Cambria Math" panose="02040503050406030204" pitchFamily="18" charset="0"/>
                                    </a:rPr>
                                  </m:ctrlPr>
                                </m:sSupPr>
                                <m:e>
                                  <m:r>
                                    <a:rPr lang="en-US" sz="1300">
                                      <a:latin typeface="Cambria Math"/>
                                    </a:rPr>
                                    <m:t>𝒩</m:t>
                                  </m:r>
                                </m:e>
                                <m:sup>
                                  <m:r>
                                    <a:rPr lang="en-US" sz="1300">
                                      <a:latin typeface="Cambria Math"/>
                                    </a:rPr>
                                    <m:t>8</m:t>
                                  </m:r>
                                </m:sup>
                              </m:sSup>
                              <m:r>
                                <a:rPr lang="en-US" sz="1300">
                                  <a:latin typeface="Cambria Math"/>
                                </a:rPr>
                                <m:t>(</m:t>
                              </m:r>
                              <m:r>
                                <a:rPr lang="en-US" sz="1300">
                                  <a:latin typeface="Cambria Math"/>
                                </a:rPr>
                                <m:t>𝑥</m:t>
                              </m:r>
                              <m:r>
                                <a:rPr lang="en-US" sz="1300">
                                  <a:latin typeface="Cambria Math"/>
                                </a:rPr>
                                <m:t>,</m:t>
                              </m:r>
                              <m:r>
                                <a:rPr lang="en-US" sz="1300">
                                  <a:latin typeface="Cambria Math"/>
                                </a:rPr>
                                <m:t>𝑦</m:t>
                              </m:r>
                            </m:e>
                          </m:d>
                        </m:sub>
                        <m:sup/>
                        <m:e>
                          <m:sSub>
                            <m:sSubPr>
                              <m:ctrlPr>
                                <a:rPr lang="en-US" sz="1300" i="1">
                                  <a:latin typeface="Cambria Math" panose="02040503050406030204" pitchFamily="18" charset="0"/>
                                </a:rPr>
                              </m:ctrlPr>
                            </m:sSubPr>
                            <m:e>
                              <m:r>
                                <a:rPr lang="en-US" sz="1300">
                                  <a:latin typeface="Cambria Math"/>
                                </a:rPr>
                                <m:t>𝐵</m:t>
                              </m:r>
                            </m:e>
                            <m:sub>
                              <m:r>
                                <a:rPr lang="en-US" sz="1300">
                                  <a:latin typeface="Cambria Math"/>
                                </a:rPr>
                                <m:t>𝑘</m:t>
                              </m:r>
                            </m:sub>
                          </m:sSub>
                        </m:e>
                      </m:nary>
                      <m:d>
                        <m:dPr>
                          <m:ctrlPr>
                            <a:rPr lang="en-US" sz="1300" i="1">
                              <a:latin typeface="Cambria Math" panose="02040503050406030204" pitchFamily="18" charset="0"/>
                            </a:rPr>
                          </m:ctrlPr>
                        </m:dPr>
                        <m:e>
                          <m:r>
                            <a:rPr lang="en-US" sz="1300">
                              <a:latin typeface="Cambria Math"/>
                            </a:rPr>
                            <m:t>𝑖</m:t>
                          </m:r>
                          <m:r>
                            <a:rPr lang="en-US" sz="1300">
                              <a:latin typeface="Cambria Math"/>
                            </a:rPr>
                            <m:t>,</m:t>
                          </m:r>
                          <m:r>
                            <a:rPr lang="en-US" sz="1300">
                              <a:latin typeface="Cambria Math"/>
                            </a:rPr>
                            <m:t>𝑗</m:t>
                          </m:r>
                        </m:e>
                      </m:d>
                      <m:r>
                        <a:rPr lang="en-US" sz="1300">
                          <a:latin typeface="Cambria Math"/>
                        </a:rPr>
                        <m:t>⋅</m:t>
                      </m:r>
                      <m:sSub>
                        <m:sSubPr>
                          <m:ctrlPr>
                            <a:rPr lang="en-US" sz="1300" i="1">
                              <a:latin typeface="Cambria Math" panose="02040503050406030204" pitchFamily="18" charset="0"/>
                            </a:rPr>
                          </m:ctrlPr>
                        </m:sSubPr>
                        <m:e>
                          <m:r>
                            <a:rPr lang="en-US" sz="1300">
                              <a:latin typeface="Cambria Math"/>
                            </a:rPr>
                            <m:t>𝑅</m:t>
                          </m:r>
                        </m:e>
                        <m:sub>
                          <m:r>
                            <a:rPr lang="en-US" sz="1300">
                              <a:latin typeface="Cambria Math"/>
                            </a:rPr>
                            <m:t>𝑠𝑝𝑟𝑒𝑎𝑑</m:t>
                          </m:r>
                          <m:r>
                            <a:rPr lang="en-US" sz="1300">
                              <a:latin typeface="Cambria Math"/>
                            </a:rPr>
                            <m:t>,</m:t>
                          </m:r>
                          <m:r>
                            <a:rPr lang="en-US" sz="1300">
                              <a:latin typeface="Cambria Math"/>
                            </a:rPr>
                            <m:t>𝑘</m:t>
                          </m:r>
                        </m:sub>
                      </m:sSub>
                      <m:d>
                        <m:dPr>
                          <m:ctrlPr>
                            <a:rPr lang="en-US" sz="1300" i="1">
                              <a:latin typeface="Cambria Math" panose="02040503050406030204" pitchFamily="18" charset="0"/>
                            </a:rPr>
                          </m:ctrlPr>
                        </m:dPr>
                        <m:e>
                          <m:r>
                            <a:rPr lang="en-US" sz="1300">
                              <a:latin typeface="Cambria Math"/>
                            </a:rPr>
                            <m:t>𝑖</m:t>
                          </m:r>
                          <m:r>
                            <a:rPr lang="en-US" sz="1300">
                              <a:latin typeface="Cambria Math"/>
                            </a:rPr>
                            <m:t>,</m:t>
                          </m:r>
                          <m:r>
                            <a:rPr lang="en-US" sz="1300">
                              <a:latin typeface="Cambria Math"/>
                            </a:rPr>
                            <m:t>𝑗</m:t>
                          </m:r>
                        </m:e>
                      </m:d>
                      <m:r>
                        <a:rPr lang="en-US" sz="1300">
                          <a:latin typeface="Cambria Math"/>
                        </a:rPr>
                        <m:t>⋅ </m:t>
                      </m:r>
                      <m:sSubSup>
                        <m:sSubSupPr>
                          <m:ctrlPr>
                            <a:rPr lang="en-US" sz="1300" i="1">
                              <a:latin typeface="Cambria Math" panose="02040503050406030204" pitchFamily="18" charset="0"/>
                            </a:rPr>
                          </m:ctrlPr>
                        </m:sSubSupPr>
                        <m:e>
                          <m:r>
                            <a:rPr lang="en-US" sz="1300">
                              <a:latin typeface="Cambria Math"/>
                            </a:rPr>
                            <m:t>𝑔</m:t>
                          </m:r>
                        </m:e>
                        <m:sub>
                          <m:r>
                            <a:rPr lang="en-US" sz="1300">
                              <a:latin typeface="Cambria Math"/>
                            </a:rPr>
                            <m:t>𝑑𝑖𝑟</m:t>
                          </m:r>
                          <m:r>
                            <a:rPr lang="en-US" sz="1300">
                              <a:latin typeface="Cambria Math"/>
                            </a:rPr>
                            <m:t>,</m:t>
                          </m:r>
                          <m:r>
                            <a:rPr lang="en-US" sz="1300">
                              <a:latin typeface="Cambria Math"/>
                            </a:rPr>
                            <m:t>𝑘</m:t>
                          </m:r>
                        </m:sub>
                        <m:sup>
                          <m:d>
                            <m:dPr>
                              <m:ctrlPr>
                                <a:rPr lang="en-US" sz="1300" i="1">
                                  <a:latin typeface="Cambria Math" panose="02040503050406030204" pitchFamily="18" charset="0"/>
                                </a:rPr>
                              </m:ctrlPr>
                            </m:dPr>
                            <m:e>
                              <m:r>
                                <a:rPr lang="en-US" sz="1300">
                                  <a:latin typeface="Cambria Math"/>
                                </a:rPr>
                                <m:t>𝑖</m:t>
                              </m:r>
                              <m:r>
                                <a:rPr lang="en-US" sz="1300">
                                  <a:latin typeface="Cambria Math"/>
                                </a:rPr>
                                <m:t>,</m:t>
                              </m:r>
                              <m:r>
                                <a:rPr lang="en-US" sz="1300">
                                  <a:latin typeface="Cambria Math"/>
                                </a:rPr>
                                <m:t>𝑗</m:t>
                              </m:r>
                              <m:r>
                                <a:rPr lang="en-US" sz="1300">
                                  <a:latin typeface="Cambria Math"/>
                                </a:rPr>
                                <m:t>)→(</m:t>
                              </m:r>
                              <m:r>
                                <a:rPr lang="en-US" sz="1300">
                                  <a:latin typeface="Cambria Math"/>
                                </a:rPr>
                                <m:t>𝑥</m:t>
                              </m:r>
                              <m:r>
                                <a:rPr lang="en-US" sz="1300">
                                  <a:latin typeface="Cambria Math"/>
                                </a:rPr>
                                <m:t>,</m:t>
                              </m:r>
                              <m:r>
                                <a:rPr lang="en-US" sz="1300">
                                  <a:latin typeface="Cambria Math"/>
                                </a:rPr>
                                <m:t>𝑦</m:t>
                              </m:r>
                            </m:e>
                          </m:d>
                        </m:sup>
                      </m:sSubSup>
                    </m:oMath>
                  </m:oMathPara>
                </a14:m>
                <a:endParaRPr lang="en-US" sz="1400" dirty="0"/>
              </a:p>
            </p:txBody>
          </p:sp>
        </mc:Choice>
        <mc:Fallback xmlns="">
          <p:sp>
            <p:nvSpPr>
              <p:cNvPr id="11" name="Text 8">
                <a:extLst>
                  <a:ext uri="{FF2B5EF4-FFF2-40B4-BE49-F238E27FC236}">
                    <a16:creationId xmlns:a16="http://schemas.microsoft.com/office/drawing/2014/main" id="{F8A64832-CA9B-0238-400D-D104BADE89F3}"/>
                  </a:ext>
                </a:extLst>
              </p:cNvPr>
              <p:cNvSpPr>
                <a:spLocks noRot="1" noChangeAspect="1" noMove="1" noResize="1" noEditPoints="1" noAdjustHandles="1" noChangeArrowheads="1" noChangeShapeType="1" noTextEdit="1"/>
              </p:cNvSpPr>
              <p:nvPr/>
            </p:nvSpPr>
            <p:spPr>
              <a:xfrm>
                <a:off x="411480" y="3364992"/>
                <a:ext cx="5486400" cy="731520"/>
              </a:xfrm>
              <a:prstGeom prst="rect">
                <a:avLst/>
              </a:prstGeom>
              <a:blipFill>
                <a:blip r:embed="rId7"/>
                <a:stretch>
                  <a:fillRect/>
                </a:stretch>
              </a:blipFill>
              <a:ln/>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3" name="Text 9">
                <a:extLst>
                  <a:ext uri="{FF2B5EF4-FFF2-40B4-BE49-F238E27FC236}">
                    <a16:creationId xmlns:a16="http://schemas.microsoft.com/office/drawing/2014/main" id="{6B86A72E-5AB2-EFEE-0BD9-E0397A64F801}"/>
                  </a:ext>
                </a:extLst>
              </p:cNvPr>
              <p:cNvSpPr/>
              <p:nvPr/>
            </p:nvSpPr>
            <p:spPr>
              <a:xfrm>
                <a:off x="411480" y="4133087"/>
                <a:ext cx="5486400" cy="548640"/>
              </a:xfrm>
              <a:prstGeom prst="rect">
                <a:avLst/>
              </a:prstGeom>
              <a:noFill/>
              <a:ln/>
            </p:spPr>
            <p:txBody>
              <a:bodyPr wrap="square" lIns="0" tIns="0" rIns="0" bIns="0" rtlCol="0" anchor="ctr"/>
              <a:lstStyle/>
              <a:p>
                <a:pPr marL="0" indent="0" algn="ctr">
                  <a:buNone/>
                </a:pPr>
                <a14:m>
                  <m:oMathPara xmlns:m="http://schemas.openxmlformats.org/officeDocument/2006/math">
                    <m:oMathParaPr>
                      <m:jc m:val="centerGroup"/>
                    </m:oMathParaPr>
                    <m:oMath xmlns:m="http://schemas.openxmlformats.org/officeDocument/2006/math">
                      <m:sSubSup>
                        <m:sSubSupPr>
                          <m:ctrlPr>
                            <a:rPr lang="en-US" sz="1300" i="1">
                              <a:latin typeface="Cambria Math" panose="02040503050406030204" pitchFamily="18" charset="0"/>
                            </a:rPr>
                          </m:ctrlPr>
                        </m:sSubSupPr>
                        <m:e>
                          <m:r>
                            <a:rPr lang="en-US" sz="1300">
                              <a:latin typeface="Cambria Math"/>
                            </a:rPr>
                            <m:t>𝑔</m:t>
                          </m:r>
                        </m:e>
                        <m:sub>
                          <m:r>
                            <a:rPr lang="en-US" sz="1300">
                              <a:latin typeface="Cambria Math"/>
                            </a:rPr>
                            <m:t>𝑑𝑖𝑟</m:t>
                          </m:r>
                          <m:r>
                            <a:rPr lang="en-US" sz="1300">
                              <a:latin typeface="Cambria Math"/>
                            </a:rPr>
                            <m:t>,</m:t>
                          </m:r>
                          <m:r>
                            <a:rPr lang="en-US" sz="1300">
                              <a:latin typeface="Cambria Math"/>
                            </a:rPr>
                            <m:t>𝑘</m:t>
                          </m:r>
                        </m:sub>
                        <m:sup>
                          <m:d>
                            <m:dPr>
                              <m:ctrlPr>
                                <a:rPr lang="en-US" sz="1300" i="1">
                                  <a:latin typeface="Cambria Math" panose="02040503050406030204" pitchFamily="18" charset="0"/>
                                </a:rPr>
                              </m:ctrlPr>
                            </m:dPr>
                            <m:e>
                              <m:r>
                                <a:rPr lang="en-US" sz="1300">
                                  <a:latin typeface="Cambria Math"/>
                                </a:rPr>
                                <m:t>𝑖</m:t>
                              </m:r>
                              <m:r>
                                <a:rPr lang="en-US" sz="1300">
                                  <a:latin typeface="Cambria Math"/>
                                </a:rPr>
                                <m:t>,</m:t>
                              </m:r>
                              <m:r>
                                <a:rPr lang="en-US" sz="1300">
                                  <a:latin typeface="Cambria Math"/>
                                </a:rPr>
                                <m:t>𝑗</m:t>
                              </m:r>
                              <m:r>
                                <a:rPr lang="en-US" sz="1300">
                                  <a:latin typeface="Cambria Math"/>
                                </a:rPr>
                                <m:t>)→(</m:t>
                              </m:r>
                              <m:r>
                                <a:rPr lang="en-US" sz="1300">
                                  <a:latin typeface="Cambria Math"/>
                                </a:rPr>
                                <m:t>𝑥</m:t>
                              </m:r>
                              <m:r>
                                <a:rPr lang="en-US" sz="1300">
                                  <a:latin typeface="Cambria Math"/>
                                </a:rPr>
                                <m:t>,</m:t>
                              </m:r>
                              <m:r>
                                <a:rPr lang="en-US" sz="1300">
                                  <a:latin typeface="Cambria Math"/>
                                </a:rPr>
                                <m:t>𝑦</m:t>
                              </m:r>
                            </m:e>
                          </m:d>
                        </m:sup>
                      </m:sSubSup>
                      <m:r>
                        <a:rPr lang="en-US" sz="1300">
                          <a:latin typeface="Cambria Math"/>
                        </a:rPr>
                        <m:t>=</m:t>
                      </m:r>
                      <m:func>
                        <m:funcPr>
                          <m:ctrlPr>
                            <a:rPr lang="en-US" sz="1300" i="1">
                              <a:latin typeface="Cambria Math" panose="02040503050406030204" pitchFamily="18" charset="0"/>
                            </a:rPr>
                          </m:ctrlPr>
                        </m:funcPr>
                        <m:fName>
                          <m:r>
                            <m:rPr>
                              <m:sty m:val="p"/>
                            </m:rPr>
                            <a:rPr lang="en-US" sz="1300">
                              <a:latin typeface="Cambria Math"/>
                            </a:rPr>
                            <m:t>max</m:t>
                          </m:r>
                        </m:fName>
                        <m:e>
                          <m:d>
                            <m:dPr>
                              <m:ctrlPr>
                                <a:rPr lang="en-US" sz="1300" i="1">
                                  <a:latin typeface="Cambria Math" panose="02040503050406030204" pitchFamily="18" charset="0"/>
                                </a:rPr>
                              </m:ctrlPr>
                            </m:dPr>
                            <m:e>
                              <m:r>
                                <a:rPr lang="en-US" sz="1300">
                                  <a:latin typeface="Cambria Math"/>
                                </a:rPr>
                                <m:t>0,</m:t>
                              </m:r>
                              <m:func>
                                <m:funcPr>
                                  <m:ctrlPr>
                                    <a:rPr lang="en-US" sz="1300" i="1">
                                      <a:latin typeface="Cambria Math" panose="02040503050406030204" pitchFamily="18" charset="0"/>
                                    </a:rPr>
                                  </m:ctrlPr>
                                </m:funcPr>
                                <m:fName>
                                  <m:r>
                                    <a:rPr lang="en-US" sz="1300">
                                      <a:latin typeface="Cambria Math"/>
                                    </a:rPr>
                                    <m:t>𝑐𝑜𝑠</m:t>
                                  </m:r>
                                </m:fName>
                                <m:e>
                                  <m:d>
                                    <m:dPr>
                                      <m:ctrlPr>
                                        <a:rPr lang="en-US" sz="1300" i="1">
                                          <a:latin typeface="Cambria Math" panose="02040503050406030204" pitchFamily="18" charset="0"/>
                                        </a:rPr>
                                      </m:ctrlPr>
                                    </m:dPr>
                                    <m:e>
                                      <m:sSub>
                                        <m:sSubPr>
                                          <m:ctrlPr>
                                            <a:rPr lang="en-US" sz="1300" i="1">
                                              <a:latin typeface="Cambria Math" panose="02040503050406030204" pitchFamily="18" charset="0"/>
                                            </a:rPr>
                                          </m:ctrlPr>
                                        </m:sSubPr>
                                        <m:e>
                                          <m:r>
                                            <a:rPr lang="en-US" sz="1300">
                                              <a:latin typeface="Cambria Math"/>
                                            </a:rPr>
                                            <m:t>𝑊</m:t>
                                          </m:r>
                                        </m:e>
                                        <m:sub>
                                          <m:r>
                                            <a:rPr lang="en-US" sz="1300">
                                              <a:latin typeface="Cambria Math"/>
                                            </a:rPr>
                                            <m:t>𝑤𝑑</m:t>
                                          </m:r>
                                          <m:r>
                                            <a:rPr lang="en-US" sz="1300">
                                              <a:latin typeface="Cambria Math"/>
                                            </a:rPr>
                                            <m:t>,</m:t>
                                          </m:r>
                                          <m:r>
                                            <a:rPr lang="en-US" sz="1300">
                                              <a:latin typeface="Cambria Math"/>
                                            </a:rPr>
                                            <m:t>𝑘</m:t>
                                          </m:r>
                                        </m:sub>
                                      </m:sSub>
                                      <m:d>
                                        <m:dPr>
                                          <m:ctrlPr>
                                            <a:rPr lang="en-US" sz="1300" i="1">
                                              <a:latin typeface="Cambria Math" panose="02040503050406030204" pitchFamily="18" charset="0"/>
                                            </a:rPr>
                                          </m:ctrlPr>
                                        </m:dPr>
                                        <m:e>
                                          <m:r>
                                            <a:rPr lang="en-US" sz="1300">
                                              <a:latin typeface="Cambria Math"/>
                                            </a:rPr>
                                            <m:t>𝑖</m:t>
                                          </m:r>
                                          <m:r>
                                            <a:rPr lang="en-US" sz="1300">
                                              <a:latin typeface="Cambria Math"/>
                                            </a:rPr>
                                            <m:t>,</m:t>
                                          </m:r>
                                          <m:r>
                                            <a:rPr lang="en-US" sz="1300">
                                              <a:latin typeface="Cambria Math"/>
                                            </a:rPr>
                                            <m:t>𝑗</m:t>
                                          </m:r>
                                        </m:e>
                                      </m:d>
                                      <m:r>
                                        <a:rPr lang="en-US" sz="1300">
                                          <a:latin typeface="Cambria Math"/>
                                        </a:rPr>
                                        <m:t>−</m:t>
                                      </m:r>
                                      <m:sSub>
                                        <m:sSubPr>
                                          <m:ctrlPr>
                                            <a:rPr lang="en-US" sz="1300" i="1">
                                              <a:latin typeface="Cambria Math" panose="02040503050406030204" pitchFamily="18" charset="0"/>
                                            </a:rPr>
                                          </m:ctrlPr>
                                        </m:sSubPr>
                                        <m:e>
                                          <m:r>
                                            <a:rPr lang="en-US" sz="1300">
                                              <a:latin typeface="Cambria Math"/>
                                            </a:rPr>
                                            <m:t>𝜑</m:t>
                                          </m:r>
                                        </m:e>
                                        <m:sub>
                                          <m:d>
                                            <m:dPr>
                                              <m:ctrlPr>
                                                <a:rPr lang="en-US" sz="1300" i="1">
                                                  <a:latin typeface="Cambria Math" panose="02040503050406030204" pitchFamily="18" charset="0"/>
                                                </a:rPr>
                                              </m:ctrlPr>
                                            </m:dPr>
                                            <m:e>
                                              <m:r>
                                                <a:rPr lang="en-US" sz="1300">
                                                  <a:latin typeface="Cambria Math"/>
                                                </a:rPr>
                                                <m:t>𝑖</m:t>
                                              </m:r>
                                              <m:r>
                                                <a:rPr lang="en-US" sz="1300">
                                                  <a:latin typeface="Cambria Math"/>
                                                </a:rPr>
                                                <m:t>,</m:t>
                                              </m:r>
                                              <m:r>
                                                <a:rPr lang="en-US" sz="1300">
                                                  <a:latin typeface="Cambria Math"/>
                                                </a:rPr>
                                                <m:t>𝑗</m:t>
                                              </m:r>
                                              <m:r>
                                                <a:rPr lang="en-US" sz="1300">
                                                  <a:latin typeface="Cambria Math"/>
                                                </a:rPr>
                                                <m:t>)→(</m:t>
                                              </m:r>
                                              <m:r>
                                                <a:rPr lang="en-US" sz="1300">
                                                  <a:latin typeface="Cambria Math"/>
                                                </a:rPr>
                                                <m:t>𝑥</m:t>
                                              </m:r>
                                              <m:r>
                                                <a:rPr lang="en-US" sz="1300">
                                                  <a:latin typeface="Cambria Math"/>
                                                </a:rPr>
                                                <m:t>,</m:t>
                                              </m:r>
                                              <m:r>
                                                <a:rPr lang="en-US" sz="1300">
                                                  <a:latin typeface="Cambria Math"/>
                                                </a:rPr>
                                                <m:t>𝑦</m:t>
                                              </m:r>
                                            </m:e>
                                          </m:d>
                                        </m:sub>
                                      </m:sSub>
                                    </m:e>
                                  </m:d>
                                </m:e>
                              </m:func>
                            </m:e>
                          </m:d>
                        </m:e>
                      </m:func>
                    </m:oMath>
                  </m:oMathPara>
                </a14:m>
                <a:endParaRPr lang="en-US" sz="1400" dirty="0"/>
              </a:p>
            </p:txBody>
          </p:sp>
        </mc:Choice>
        <mc:Fallback xmlns="">
          <p:sp>
            <p:nvSpPr>
              <p:cNvPr id="13" name="Text 9">
                <a:extLst>
                  <a:ext uri="{FF2B5EF4-FFF2-40B4-BE49-F238E27FC236}">
                    <a16:creationId xmlns:a16="http://schemas.microsoft.com/office/drawing/2014/main" id="{6B86A72E-5AB2-EFEE-0BD9-E0397A64F801}"/>
                  </a:ext>
                </a:extLst>
              </p:cNvPr>
              <p:cNvSpPr>
                <a:spLocks noRot="1" noChangeAspect="1" noMove="1" noResize="1" noEditPoints="1" noAdjustHandles="1" noChangeArrowheads="1" noChangeShapeType="1" noTextEdit="1"/>
              </p:cNvSpPr>
              <p:nvPr/>
            </p:nvSpPr>
            <p:spPr>
              <a:xfrm>
                <a:off x="411480" y="4133087"/>
                <a:ext cx="5486400" cy="548640"/>
              </a:xfrm>
              <a:prstGeom prst="rect">
                <a:avLst/>
              </a:prstGeom>
              <a:blipFill>
                <a:blip r:embed="rId8"/>
                <a:stretch>
                  <a:fillRect/>
                </a:stretch>
              </a:blipFill>
              <a:ln/>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5" name="Text 10">
                <a:extLst>
                  <a:ext uri="{FF2B5EF4-FFF2-40B4-BE49-F238E27FC236}">
                    <a16:creationId xmlns:a16="http://schemas.microsoft.com/office/drawing/2014/main" id="{8BAA87D5-2DDB-D923-294D-3AD06D17E5FE}"/>
                  </a:ext>
                </a:extLst>
              </p:cNvPr>
              <p:cNvSpPr/>
              <p:nvPr/>
            </p:nvSpPr>
            <p:spPr>
              <a:xfrm>
                <a:off x="411480" y="4709160"/>
                <a:ext cx="5486400" cy="457200"/>
              </a:xfrm>
              <a:prstGeom prst="rect">
                <a:avLst/>
              </a:prstGeom>
              <a:noFill/>
              <a:ln/>
            </p:spPr>
            <p:txBody>
              <a:bodyPr wrap="square" lIns="0" tIns="0" rIns="0" bIns="0" rtlCol="0" anchor="ctr"/>
              <a:lstStyle/>
              <a:p>
                <a:pPr marL="0" indent="0" algn="ctr">
                  <a:buNone/>
                </a:pPr>
                <a14:m>
                  <m:oMathPara xmlns:m="http://schemas.openxmlformats.org/officeDocument/2006/math">
                    <m:oMathParaPr>
                      <m:jc m:val="centerGroup"/>
                    </m:oMathParaPr>
                    <m:oMath xmlns:m="http://schemas.openxmlformats.org/officeDocument/2006/math">
                      <m:sSubSup>
                        <m:sSubSupPr>
                          <m:ctrlPr>
                            <a:rPr lang="en-US" sz="1400" i="1">
                              <a:latin typeface="Cambria Math" panose="02040503050406030204" pitchFamily="18" charset="0"/>
                            </a:rPr>
                          </m:ctrlPr>
                        </m:sSubSupPr>
                        <m:e>
                          <m:r>
                            <a:rPr lang="en-US" sz="1400">
                              <a:latin typeface="Cambria Math"/>
                            </a:rPr>
                            <m:t>𝐵</m:t>
                          </m:r>
                        </m:e>
                        <m:sub>
                          <m:r>
                            <a:rPr lang="en-US" sz="1400">
                              <a:latin typeface="Cambria Math"/>
                            </a:rPr>
                            <m:t>𝑘</m:t>
                          </m:r>
                          <m:r>
                            <a:rPr lang="en-US" sz="1400">
                              <a:latin typeface="Cambria Math"/>
                            </a:rPr>
                            <m:t>+1</m:t>
                          </m:r>
                        </m:sub>
                        <m:sup>
                          <m:r>
                            <a:rPr lang="en-US" sz="1400">
                              <a:latin typeface="Cambria Math"/>
                            </a:rPr>
                            <m:t>𝑝𝑟𝑜𝑝</m:t>
                          </m:r>
                        </m:sup>
                      </m:sSubSup>
                      <m:d>
                        <m:dPr>
                          <m:ctrlPr>
                            <a:rPr lang="en-US" sz="1400" i="1">
                              <a:latin typeface="Cambria Math" panose="02040503050406030204" pitchFamily="18" charset="0"/>
                            </a:rPr>
                          </m:ctrlPr>
                        </m:dPr>
                        <m:e>
                          <m:r>
                            <a:rPr lang="en-US" sz="1400">
                              <a:latin typeface="Cambria Math"/>
                            </a:rPr>
                            <m:t>𝑥</m:t>
                          </m:r>
                          <m:r>
                            <a:rPr lang="en-US" sz="1400">
                              <a:latin typeface="Cambria Math"/>
                            </a:rPr>
                            <m:t>,</m:t>
                          </m:r>
                          <m:r>
                            <a:rPr lang="en-US" sz="1400">
                              <a:latin typeface="Cambria Math"/>
                            </a:rPr>
                            <m:t>𝑦</m:t>
                          </m:r>
                        </m:e>
                      </m:d>
                      <m:r>
                        <a:rPr lang="en-US" sz="1400">
                          <a:latin typeface="Cambria Math"/>
                        </a:rPr>
                        <m:t>=</m:t>
                      </m:r>
                      <m:r>
                        <a:rPr lang="en-US" sz="1400">
                          <a:latin typeface="Cambria Math"/>
                        </a:rPr>
                        <m:t>𝟏</m:t>
                      </m:r>
                      <m:d>
                        <m:dPr>
                          <m:begChr m:val="["/>
                          <m:endChr m:val="]"/>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m:rPr>
                                  <m:sty m:val="p"/>
                                </m:rPr>
                                <a:rPr lang="en-US" sz="1400">
                                  <a:latin typeface="Cambria Math"/>
                                </a:rPr>
                                <m:t>Ψ</m:t>
                              </m:r>
                            </m:e>
                            <m:sub>
                              <m:r>
                                <a:rPr lang="en-US" sz="1400">
                                  <a:latin typeface="Cambria Math"/>
                                </a:rPr>
                                <m:t>𝑘</m:t>
                              </m:r>
                            </m:sub>
                          </m:sSub>
                          <m:d>
                            <m:dPr>
                              <m:ctrlPr>
                                <a:rPr lang="en-US" sz="1400" i="1">
                                  <a:latin typeface="Cambria Math" panose="02040503050406030204" pitchFamily="18" charset="0"/>
                                </a:rPr>
                              </m:ctrlPr>
                            </m:dPr>
                            <m:e>
                              <m:r>
                                <a:rPr lang="en-US" sz="1400">
                                  <a:latin typeface="Cambria Math"/>
                                </a:rPr>
                                <m:t>𝑥</m:t>
                              </m:r>
                              <m:r>
                                <a:rPr lang="en-US" sz="1400">
                                  <a:latin typeface="Cambria Math"/>
                                </a:rPr>
                                <m:t>,</m:t>
                              </m:r>
                              <m:r>
                                <a:rPr lang="en-US" sz="1400">
                                  <a:latin typeface="Cambria Math"/>
                                </a:rPr>
                                <m:t>𝑦</m:t>
                              </m:r>
                            </m:e>
                          </m:d>
                          <m:r>
                            <a:rPr lang="en-US" sz="1400">
                              <a:latin typeface="Cambria Math"/>
                            </a:rPr>
                            <m:t>&gt; </m:t>
                          </m:r>
                          <m:sSub>
                            <m:sSubPr>
                              <m:ctrlPr>
                                <a:rPr lang="en-US" sz="1400" i="1">
                                  <a:latin typeface="Cambria Math" panose="02040503050406030204" pitchFamily="18" charset="0"/>
                                </a:rPr>
                              </m:ctrlPr>
                            </m:sSubPr>
                            <m:e>
                              <m:r>
                                <m:rPr>
                                  <m:sty m:val="p"/>
                                </m:rPr>
                                <a:rPr lang="en-US" sz="1400">
                                  <a:latin typeface="Cambria Math"/>
                                </a:rPr>
                                <m:t>Θ</m:t>
                              </m:r>
                            </m:e>
                            <m:sub>
                              <m:r>
                                <a:rPr lang="en-US" sz="1400">
                                  <a:latin typeface="Cambria Math"/>
                                </a:rPr>
                                <m:t>𝑖𝑔𝑛</m:t>
                              </m:r>
                            </m:sub>
                          </m:sSub>
                        </m:e>
                      </m:d>
                    </m:oMath>
                  </m:oMathPara>
                </a14:m>
                <a:endParaRPr lang="en-US" sz="1400" dirty="0"/>
              </a:p>
            </p:txBody>
          </p:sp>
        </mc:Choice>
        <mc:Fallback xmlns="">
          <p:sp>
            <p:nvSpPr>
              <p:cNvPr id="15" name="Text 10">
                <a:extLst>
                  <a:ext uri="{FF2B5EF4-FFF2-40B4-BE49-F238E27FC236}">
                    <a16:creationId xmlns:a16="http://schemas.microsoft.com/office/drawing/2014/main" id="{8BAA87D5-2DDB-D923-294D-3AD06D17E5FE}"/>
                  </a:ext>
                </a:extLst>
              </p:cNvPr>
              <p:cNvSpPr>
                <a:spLocks noRot="1" noChangeAspect="1" noMove="1" noResize="1" noEditPoints="1" noAdjustHandles="1" noChangeArrowheads="1" noChangeShapeType="1" noTextEdit="1"/>
              </p:cNvSpPr>
              <p:nvPr/>
            </p:nvSpPr>
            <p:spPr>
              <a:xfrm>
                <a:off x="411480" y="4709160"/>
                <a:ext cx="5486400" cy="457200"/>
              </a:xfrm>
              <a:prstGeom prst="rect">
                <a:avLst/>
              </a:prstGeom>
              <a:blipFill>
                <a:blip r:embed="rId9"/>
                <a:stretch>
                  <a:fillRect/>
                </a:stretch>
              </a:blipFill>
              <a:ln/>
            </p:spPr>
            <p:txBody>
              <a:bodyPr/>
              <a:lstStyle/>
              <a:p>
                <a:r>
                  <a:rPr lang="tr-TR">
                    <a:noFill/>
                  </a:rPr>
                  <a:t> </a:t>
                </a:r>
              </a:p>
            </p:txBody>
          </p:sp>
        </mc:Fallback>
      </mc:AlternateContent>
      <p:sp>
        <p:nvSpPr>
          <p:cNvPr id="19" name="RothermelBadge">
            <a:extLst>
              <a:ext uri="{FF2B5EF4-FFF2-40B4-BE49-F238E27FC236}">
                <a16:creationId xmlns:a16="http://schemas.microsoft.com/office/drawing/2014/main" id="{43B00B46-99A3-CAD1-BAF3-E815EB028205}"/>
              </a:ext>
            </a:extLst>
          </p:cNvPr>
          <p:cNvSpPr txBox="1"/>
          <p:nvPr/>
        </p:nvSpPr>
        <p:spPr>
          <a:xfrm>
            <a:off x="411480" y="6236208"/>
            <a:ext cx="10799064" cy="457200"/>
          </a:xfrm>
          <a:prstGeom prst="roundRect">
            <a:avLst>
              <a:gd name="adj" fmla="val 12000"/>
            </a:avLst>
          </a:prstGeom>
          <a:solidFill>
            <a:srgbClr val="FDE8EB"/>
          </a:solidFill>
          <a:ln w="12700">
            <a:solidFill>
              <a:srgbClr val="E31836"/>
            </a:solidFill>
          </a:ln>
        </p:spPr>
        <p:txBody>
          <a:bodyPr lIns="182880" rIns="182880" anchor="ctr"/>
          <a:lstStyle/>
          <a:p>
            <a:r>
              <a:rPr lang="en-US" sz="1250" b="1">
                <a:solidFill>
                  <a:srgbClr val="E31836"/>
                </a:solidFill>
                <a:latin typeface="Calibri"/>
              </a:rPr>
              <a:t>Rothermel lives inside Ψ: fuel base rate × moisture damping × tanh(wind) × slope × aspect–wind alignment (Rothermel, 1972) · Appendix A</a:t>
            </a:r>
          </a:p>
        </p:txBody>
      </p:sp>
      <p:sp>
        <p:nvSpPr>
          <p:cNvPr id="9004" name="Text 2"/>
          <p:cNvSpPr/>
          <p:nvPr/>
        </p:nvSpPr>
        <p:spPr>
          <a:xfrm>
            <a:off x="6309360" y="1828800"/>
            <a:ext cx="4206240" cy="292608"/>
          </a:xfrm>
          <a:prstGeom prst="rect">
            <a:avLst/>
          </a:prstGeom>
          <a:noFill/>
          <a:ln/>
        </p:spPr>
        <p:txBody>
          <a:bodyPr wrap="square" lIns="0" tIns="0" rIns="0" bIns="0" rtlCol="0" anchor="ctr"/>
          <a:lstStyle/>
          <a:p>
            <a:pPr marL="0" indent="0">
              <a:buNone/>
            </a:pPr>
            <a:r>
              <a:rPr lang="en-US" sz="1500" b="1" dirty="0">
                <a:solidFill>
                  <a:srgbClr val="E31836"/>
                </a:solidFill>
                <a:latin typeface="Calibri" pitchFamily="34" charset="0"/>
                <a:ea typeface="Calibri" pitchFamily="34" charset="-122"/>
                <a:cs typeface="Calibri" pitchFamily="34" charset="-120"/>
              </a:rPr>
              <a:t>② Fuel mass — combustion and suppression</a:t>
            </a:r>
            <a:endParaRPr lang="en-US" sz="1500" dirty="0"/>
          </a:p>
        </p:txBody>
      </p:sp>
      <mc:AlternateContent xmlns:mc="http://schemas.openxmlformats.org/markup-compatibility/2006" xmlns:a14="http://schemas.microsoft.com/office/drawing/2010/main">
        <mc:Choice Requires="a14">
          <p:sp>
            <p:nvSpPr>
              <p:cNvPr id="9005" name="Text 3"/>
              <p:cNvSpPr/>
              <p:nvPr/>
            </p:nvSpPr>
            <p:spPr>
              <a:xfrm>
                <a:off x="6309360" y="2121408"/>
                <a:ext cx="5440680" cy="1005840"/>
              </a:xfrm>
              <a:prstGeom prst="rect">
                <a:avLst/>
              </a:prstGeom>
              <a:noFill/>
              <a:ln/>
            </p:spPr>
            <p:txBody>
              <a:bodyPr wrap="square" lIns="0" tIns="0" rIns="0" bIns="0"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n-US" sz="1250" i="1">
                              <a:latin typeface="Cambria Math" panose="02040503050406030204" pitchFamily="18" charset="0"/>
                            </a:rPr>
                          </m:ctrlPr>
                        </m:sSubPr>
                        <m:e>
                          <m:r>
                            <a:rPr lang="en-US" sz="1250">
                              <a:latin typeface="Cambria Math"/>
                            </a:rPr>
                            <m:t>𝐹</m:t>
                          </m:r>
                        </m:e>
                        <m:sub>
                          <m:r>
                            <a:rPr lang="en-US" sz="1250">
                              <a:latin typeface="Cambria Math"/>
                            </a:rPr>
                            <m:t>𝑙𝑜𝑎𝑑</m:t>
                          </m:r>
                          <m:r>
                            <a:rPr lang="en-US" sz="1250">
                              <a:latin typeface="Cambria Math"/>
                            </a:rPr>
                            <m:t>,</m:t>
                          </m:r>
                          <m:r>
                            <a:rPr lang="en-US" sz="1250">
                              <a:latin typeface="Cambria Math"/>
                            </a:rPr>
                            <m:t>𝑘</m:t>
                          </m:r>
                          <m:r>
                            <a:rPr lang="en-US" sz="1250">
                              <a:latin typeface="Cambria Math"/>
                            </a:rPr>
                            <m:t>+1</m:t>
                          </m:r>
                        </m:sub>
                      </m:sSub>
                      <m:d>
                        <m:dPr>
                          <m:ctrlPr>
                            <a:rPr lang="en-US" sz="1250" i="1">
                              <a:latin typeface="Cambria Math" panose="02040503050406030204" pitchFamily="18" charset="0"/>
                            </a:rPr>
                          </m:ctrlPr>
                        </m:dPr>
                        <m:e>
                          <m:r>
                            <a:rPr lang="en-US" sz="1250">
                              <a:latin typeface="Cambria Math"/>
                            </a:rPr>
                            <m:t>𝑥</m:t>
                          </m:r>
                          <m:r>
                            <a:rPr lang="en-US" sz="1250">
                              <a:latin typeface="Cambria Math"/>
                            </a:rPr>
                            <m:t>,</m:t>
                          </m:r>
                          <m:r>
                            <a:rPr lang="en-US" sz="1250">
                              <a:latin typeface="Cambria Math"/>
                            </a:rPr>
                            <m:t>𝑦</m:t>
                          </m:r>
                        </m:e>
                      </m:d>
                      <m:r>
                        <a:rPr lang="en-US" sz="1250">
                          <a:latin typeface="Cambria Math"/>
                        </a:rPr>
                        <m:t>=</m:t>
                      </m:r>
                      <m:func>
                        <m:funcPr>
                          <m:ctrlPr>
                            <a:rPr lang="en-US" sz="1250" i="1">
                              <a:latin typeface="Cambria Math" panose="02040503050406030204" pitchFamily="18" charset="0"/>
                            </a:rPr>
                          </m:ctrlPr>
                        </m:funcPr>
                        <m:fName>
                          <m:r>
                            <m:rPr>
                              <m:sty m:val="p"/>
                            </m:rPr>
                            <a:rPr lang="en-US" sz="1250">
                              <a:latin typeface="Cambria Math"/>
                            </a:rPr>
                            <m:t>max</m:t>
                          </m:r>
                        </m:fName>
                        <m:e>
                          <m:d>
                            <m:dPr>
                              <m:ctrlPr>
                                <a:rPr lang="en-US" i="1">
                                  <a:latin typeface="Cambria Math" panose="02040503050406030204" pitchFamily="18" charset="0"/>
                                </a:rPr>
                              </m:ctrlPr>
                            </m:dPr>
                            <m:e>
                              <m:eqArr>
                                <m:eqArrPr>
                                  <m:ctrlPr>
                                    <a:rPr lang="en-US" i="1">
                                      <a:latin typeface="Cambria Math" panose="02040503050406030204" pitchFamily="18" charset="0"/>
                                    </a:rPr>
                                  </m:ctrlPr>
                                </m:eqArrPr>
                                <m:e>
                                  <m:r>
                                    <a:rPr lang="en-US" sz="1250">
                                      <a:latin typeface="Cambria Math"/>
                                    </a:rPr>
                                    <m:t>0, </m:t>
                                  </m:r>
                                  <m:d>
                                    <m:dPr>
                                      <m:ctrlPr>
                                        <a:rPr lang="en-US" i="1">
                                          <a:latin typeface="Cambria Math" panose="02040503050406030204" pitchFamily="18" charset="0"/>
                                        </a:rPr>
                                      </m:ctrlPr>
                                    </m:dPr>
                                    <m:e>
                                      <m:eqArr>
                                        <m:eqArrPr>
                                          <m:ctrlPr>
                                            <a:rPr lang="en-US" i="1">
                                              <a:latin typeface="Cambria Math" panose="02040503050406030204" pitchFamily="18" charset="0"/>
                                            </a:rPr>
                                          </m:ctrlPr>
                                        </m:eqArrPr>
                                        <m:e>
                                          <m:sSub>
                                            <m:sSubPr>
                                              <m:ctrlPr>
                                                <a:rPr lang="en-US" sz="1250" i="1">
                                                  <a:latin typeface="Cambria Math" panose="02040503050406030204" pitchFamily="18" charset="0"/>
                                                </a:rPr>
                                              </m:ctrlPr>
                                            </m:sSubPr>
                                            <m:e>
                                              <m:r>
                                                <a:rPr lang="en-US" sz="1250">
                                                  <a:latin typeface="Cambria Math"/>
                                                </a:rPr>
                                                <m:t>𝐹</m:t>
                                              </m:r>
                                            </m:e>
                                            <m:sub>
                                              <m:r>
                                                <a:rPr lang="en-US" sz="1250">
                                                  <a:latin typeface="Cambria Math"/>
                                                </a:rPr>
                                                <m:t>𝑙𝑜𝑎𝑑</m:t>
                                              </m:r>
                                              <m:r>
                                                <a:rPr lang="en-US" sz="1250">
                                                  <a:latin typeface="Cambria Math"/>
                                                </a:rPr>
                                                <m:t>,</m:t>
                                              </m:r>
                                              <m:r>
                                                <a:rPr lang="en-US" sz="1250">
                                                  <a:latin typeface="Cambria Math"/>
                                                </a:rPr>
                                                <m:t>𝑘</m:t>
                                              </m:r>
                                            </m:sub>
                                          </m:sSub>
                                          <m:d>
                                            <m:dPr>
                                              <m:ctrlPr>
                                                <a:rPr lang="en-US" sz="1250" i="1">
                                                  <a:latin typeface="Cambria Math" panose="02040503050406030204" pitchFamily="18" charset="0"/>
                                                </a:rPr>
                                              </m:ctrlPr>
                                            </m:dPr>
                                            <m:e>
                                              <m:r>
                                                <a:rPr lang="en-US" sz="1250">
                                                  <a:latin typeface="Cambria Math"/>
                                                </a:rPr>
                                                <m:t>𝑥</m:t>
                                              </m:r>
                                              <m:r>
                                                <a:rPr lang="en-US" sz="1250">
                                                  <a:latin typeface="Cambria Math"/>
                                                </a:rPr>
                                                <m:t>,</m:t>
                                              </m:r>
                                              <m:r>
                                                <a:rPr lang="en-US" sz="1250">
                                                  <a:latin typeface="Cambria Math"/>
                                                </a:rPr>
                                                <m:t>𝑦</m:t>
                                              </m:r>
                                            </m:e>
                                          </m:d>
                                        </m:e>
                                        <m:e>
                                          <m:r>
                                            <a:rPr lang="en-US" sz="1250">
                                              <a:latin typeface="Cambria Math"/>
                                            </a:rPr>
                                            <m:t>−</m:t>
                                          </m:r>
                                          <m:sSub>
                                            <m:sSubPr>
                                              <m:ctrlPr>
                                                <a:rPr lang="en-US" sz="1250" i="1">
                                                  <a:latin typeface="Cambria Math" panose="02040503050406030204" pitchFamily="18" charset="0"/>
                                                </a:rPr>
                                              </m:ctrlPr>
                                            </m:sSubPr>
                                            <m:e>
                                              <m:r>
                                                <a:rPr lang="en-US" sz="1250">
                                                  <a:latin typeface="Cambria Math"/>
                                                </a:rPr>
                                                <m:t>𝐹</m:t>
                                              </m:r>
                                            </m:e>
                                            <m:sub>
                                              <m:r>
                                                <a:rPr lang="en-US" sz="1250">
                                                  <a:latin typeface="Cambria Math"/>
                                                </a:rPr>
                                                <m:t>𝑙𝑜𝑎𝑑</m:t>
                                              </m:r>
                                              <m:r>
                                                <a:rPr lang="en-US" sz="1250">
                                                  <a:latin typeface="Cambria Math"/>
                                                </a:rPr>
                                                <m:t>,</m:t>
                                              </m:r>
                                              <m:r>
                                                <a:rPr lang="en-US" sz="1250">
                                                  <a:latin typeface="Cambria Math"/>
                                                </a:rPr>
                                                <m:t>𝑘</m:t>
                                              </m:r>
                                            </m:sub>
                                          </m:sSub>
                                          <m:d>
                                            <m:dPr>
                                              <m:ctrlPr>
                                                <a:rPr lang="en-US" sz="1250" i="1">
                                                  <a:latin typeface="Cambria Math" panose="02040503050406030204" pitchFamily="18" charset="0"/>
                                                </a:rPr>
                                              </m:ctrlPr>
                                            </m:dPr>
                                            <m:e>
                                              <m:r>
                                                <a:rPr lang="en-US" sz="1250">
                                                  <a:latin typeface="Cambria Math"/>
                                                </a:rPr>
                                                <m:t>𝑥</m:t>
                                              </m:r>
                                              <m:r>
                                                <a:rPr lang="en-US" sz="1250">
                                                  <a:latin typeface="Cambria Math"/>
                                                </a:rPr>
                                                <m:t>,</m:t>
                                              </m:r>
                                              <m:r>
                                                <a:rPr lang="en-US" sz="1250">
                                                  <a:latin typeface="Cambria Math"/>
                                                </a:rPr>
                                                <m:t>𝑦</m:t>
                                              </m:r>
                                            </m:e>
                                          </m:d>
                                          <m:r>
                                            <a:rPr lang="en-US" sz="1250">
                                              <a:latin typeface="Cambria Math"/>
                                            </a:rPr>
                                            <m:t> </m:t>
                                          </m:r>
                                          <m:sSub>
                                            <m:sSubPr>
                                              <m:ctrlPr>
                                                <a:rPr lang="en-US" sz="1250" i="1">
                                                  <a:latin typeface="Cambria Math" panose="02040503050406030204" pitchFamily="18" charset="0"/>
                                                </a:rPr>
                                              </m:ctrlPr>
                                            </m:sSubPr>
                                            <m:e>
                                              <m:r>
                                                <a:rPr lang="en-US" sz="1250">
                                                  <a:latin typeface="Cambria Math"/>
                                                </a:rPr>
                                                <m:t>𝐵</m:t>
                                              </m:r>
                                            </m:e>
                                            <m:sub>
                                              <m:r>
                                                <a:rPr lang="en-US" sz="1250">
                                                  <a:latin typeface="Cambria Math"/>
                                                </a:rPr>
                                                <m:t>𝑘</m:t>
                                              </m:r>
                                            </m:sub>
                                          </m:sSub>
                                          <m:d>
                                            <m:dPr>
                                              <m:ctrlPr>
                                                <a:rPr lang="en-US" sz="1250" i="1">
                                                  <a:latin typeface="Cambria Math" panose="02040503050406030204" pitchFamily="18" charset="0"/>
                                                </a:rPr>
                                              </m:ctrlPr>
                                            </m:dPr>
                                            <m:e>
                                              <m:r>
                                                <a:rPr lang="en-US" sz="1250">
                                                  <a:latin typeface="Cambria Math"/>
                                                </a:rPr>
                                                <m:t>𝑥</m:t>
                                              </m:r>
                                              <m:r>
                                                <a:rPr lang="en-US" sz="1250">
                                                  <a:latin typeface="Cambria Math"/>
                                                </a:rPr>
                                                <m:t>,</m:t>
                                              </m:r>
                                              <m:r>
                                                <a:rPr lang="en-US" sz="1250">
                                                  <a:latin typeface="Cambria Math"/>
                                                </a:rPr>
                                                <m:t>𝑦</m:t>
                                              </m:r>
                                            </m:e>
                                          </m:d>
                                          <m:r>
                                            <a:rPr lang="en-US" sz="1250">
                                              <a:latin typeface="Cambria Math"/>
                                            </a:rPr>
                                            <m:t>  </m:t>
                                          </m:r>
                                          <m:sSub>
                                            <m:sSubPr>
                                              <m:ctrlPr>
                                                <a:rPr lang="en-US" sz="1250" i="1">
                                                  <a:latin typeface="Cambria Math" panose="02040503050406030204" pitchFamily="18" charset="0"/>
                                                </a:rPr>
                                              </m:ctrlPr>
                                            </m:sSubPr>
                                            <m:e>
                                              <m:r>
                                                <a:rPr lang="en-US" sz="1250">
                                                  <a:latin typeface="Cambria Math"/>
                                                </a:rPr>
                                                <m:t>𝐹</m:t>
                                              </m:r>
                                            </m:e>
                                            <m:sub>
                                              <m:r>
                                                <a:rPr lang="en-US" sz="1250">
                                                  <a:latin typeface="Cambria Math"/>
                                                </a:rPr>
                                                <m:t>𝑏𝑢𝑟𝑛</m:t>
                                              </m:r>
                                              <m:r>
                                                <a:rPr lang="en-US" sz="1250">
                                                  <a:latin typeface="Cambria Math"/>
                                                </a:rPr>
                                                <m:t>,</m:t>
                                              </m:r>
                                              <m:r>
                                                <a:rPr lang="en-US" sz="1250">
                                                  <a:latin typeface="Cambria Math"/>
                                                </a:rPr>
                                                <m:t>𝑘</m:t>
                                              </m:r>
                                            </m:sub>
                                          </m:sSub>
                                          <m:d>
                                            <m:dPr>
                                              <m:ctrlPr>
                                                <a:rPr lang="en-US" sz="1250" i="1">
                                                  <a:latin typeface="Cambria Math" panose="02040503050406030204" pitchFamily="18" charset="0"/>
                                                </a:rPr>
                                              </m:ctrlPr>
                                            </m:dPr>
                                            <m:e>
                                              <m:r>
                                                <a:rPr lang="en-US" sz="1250">
                                                  <a:latin typeface="Cambria Math"/>
                                                </a:rPr>
                                                <m:t>𝑥</m:t>
                                              </m:r>
                                              <m:r>
                                                <a:rPr lang="en-US" sz="1250">
                                                  <a:latin typeface="Cambria Math"/>
                                                </a:rPr>
                                                <m:t>,</m:t>
                                              </m:r>
                                              <m:r>
                                                <a:rPr lang="en-US" sz="1250">
                                                  <a:latin typeface="Cambria Math"/>
                                                </a:rPr>
                                                <m:t>𝑦</m:t>
                                              </m:r>
                                            </m:e>
                                          </m:d>
                                        </m:e>
                                        <m:e>
                                          <m:r>
                                            <a:rPr lang="en-US" sz="1250">
                                              <a:latin typeface="Cambria Math"/>
                                            </a:rPr>
                                            <m:t>−</m:t>
                                          </m:r>
                                          <m:sSub>
                                            <m:sSubPr>
                                              <m:ctrlPr>
                                                <a:rPr lang="en-US" sz="1250" i="1">
                                                  <a:latin typeface="Cambria Math" panose="02040503050406030204" pitchFamily="18" charset="0"/>
                                                </a:rPr>
                                              </m:ctrlPr>
                                            </m:sSubPr>
                                            <m:e>
                                              <m:r>
                                                <a:rPr lang="en-US" sz="1250">
                                                  <a:latin typeface="Cambria Math"/>
                                                </a:rPr>
                                                <m:t>𝐹</m:t>
                                              </m:r>
                                            </m:e>
                                            <m:sub>
                                              <m:r>
                                                <a:rPr lang="en-US" sz="1250">
                                                  <a:latin typeface="Cambria Math"/>
                                                </a:rPr>
                                                <m:t>𝑟𝑒𝑑</m:t>
                                              </m:r>
                                              <m:r>
                                                <a:rPr lang="en-US" sz="1250">
                                                  <a:latin typeface="Cambria Math"/>
                                                </a:rPr>
                                                <m:t>,</m:t>
                                              </m:r>
                                              <m:r>
                                                <a:rPr lang="en-US" sz="1250">
                                                  <a:latin typeface="Cambria Math"/>
                                                </a:rPr>
                                                <m:t>𝑘</m:t>
                                              </m:r>
                                            </m:sub>
                                          </m:sSub>
                                          <m:d>
                                            <m:dPr>
                                              <m:ctrlPr>
                                                <a:rPr lang="en-US" sz="1250" i="1">
                                                  <a:latin typeface="Cambria Math" panose="02040503050406030204" pitchFamily="18" charset="0"/>
                                                </a:rPr>
                                              </m:ctrlPr>
                                            </m:dPr>
                                            <m:e>
                                              <m:r>
                                                <a:rPr lang="en-US" sz="1250">
                                                  <a:latin typeface="Cambria Math"/>
                                                </a:rPr>
                                                <m:t>𝑥</m:t>
                                              </m:r>
                                              <m:r>
                                                <a:rPr lang="en-US" sz="1250">
                                                  <a:latin typeface="Cambria Math"/>
                                                </a:rPr>
                                                <m:t>,</m:t>
                                              </m:r>
                                              <m:r>
                                                <a:rPr lang="en-US" sz="1250">
                                                  <a:latin typeface="Cambria Math"/>
                                                </a:rPr>
                                                <m:t>𝑦</m:t>
                                              </m:r>
                                            </m:e>
                                          </m:d>
                                        </m:e>
                                      </m:eqArr>
                                    </m:e>
                                  </m:d>
                                </m:e>
                              </m:eqArr>
                            </m:e>
                          </m:d>
                        </m:e>
                      </m:func>
                    </m:oMath>
                  </m:oMathPara>
                </a14:m>
                <a:endParaRPr lang="en-US" sz="1400" dirty="0"/>
              </a:p>
            </p:txBody>
          </p:sp>
        </mc:Choice>
        <mc:Fallback xmlns="">
          <p:sp>
            <p:nvSpPr>
              <p:cNvPr id="9005" name="Text 3"/>
              <p:cNvSpPr/>
              <p:nvPr/>
            </p:nvSpPr>
            <p:spPr>
              <a:xfrm>
                <a:off x="6309360" y="2121408"/>
                <a:ext cx="5440680" cy="1005840"/>
              </a:xfrm>
              <a:prstGeom prst="rect">
                <a:avLst/>
              </a:prstGeom>
              <a:noFill/>
              <a:ln/>
            </p:spPr>
            <p:txBody>
              <a:bodyPr wrap="square" lIns="0" tIns="0" rIns="0" bIns="0" rtlCol="0" anchor="ctr"/>
              <a:lstStyle/>
              <a:p>
                <a:pPr marL="0" indent="0" algn="ctr">
                  <a:buNone/>
                </a:pPr>
                <a:r>
                  <a:rPr lang="en-US" sz="1250" i="1">
                    <a:latin typeface="Cambria Math"/>
                  </a:rPr>
                  <a:t>𝐹𝑙𝑜𝑎𝑑,𝑘+1𝑥,𝑦=max0, 𝐹𝑙𝑜𝑎𝑑,𝑘𝑥,𝑦−𝐹𝑙𝑜𝑎𝑑,𝑘𝑥,𝑦 𝐵𝑘𝑥,𝑦  𝐹𝑏𝑢𝑟𝑛,𝑘𝑥,𝑦−𝐹𝑟𝑒𝑑,𝑘𝑥,𝑦</a:t>
                </a:r>
                <a:endParaRPr lang="en-US" sz="1400" dirty="0"/>
              </a:p>
            </p:txBody>
          </p:sp>
        </mc:Fallback>
      </mc:AlternateContent>
      <mc:AlternateContent xmlns:mc="http://schemas.openxmlformats.org/markup-compatibility/2006" xmlns:a14="http://schemas.microsoft.com/office/drawing/2010/main">
        <mc:Choice Requires="a14">
          <p:sp>
            <p:nvSpPr>
              <p:cNvPr id="9007" name="Text 5"/>
              <p:cNvSpPr/>
              <p:nvPr/>
            </p:nvSpPr>
            <p:spPr>
              <a:xfrm>
                <a:off x="6309360" y="3154680"/>
                <a:ext cx="5440680" cy="822960"/>
              </a:xfrm>
              <a:prstGeom prst="rect">
                <a:avLst/>
              </a:prstGeom>
              <a:noFill/>
              <a:ln/>
            </p:spPr>
            <p:txBody>
              <a:bodyPr wrap="square" lIns="0" tIns="0" rIns="0" bIns="0"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n-US" sz="1250" i="1">
                              <a:latin typeface="Cambria Math" panose="02040503050406030204" pitchFamily="18" charset="0"/>
                            </a:rPr>
                          </m:ctrlPr>
                        </m:sSubPr>
                        <m:e>
                          <m:r>
                            <a:rPr lang="en-US" sz="1250">
                              <a:latin typeface="Cambria Math"/>
                            </a:rPr>
                            <m:t>𝐹</m:t>
                          </m:r>
                        </m:e>
                        <m:sub>
                          <m:r>
                            <a:rPr lang="en-US" sz="1250">
                              <a:latin typeface="Cambria Math"/>
                            </a:rPr>
                            <m:t>𝑟𝑒𝑑</m:t>
                          </m:r>
                          <m:r>
                            <a:rPr lang="en-US" sz="1250">
                              <a:latin typeface="Cambria Math"/>
                            </a:rPr>
                            <m:t>,</m:t>
                          </m:r>
                          <m:r>
                            <a:rPr lang="en-US" sz="1250">
                              <a:latin typeface="Cambria Math"/>
                            </a:rPr>
                            <m:t>𝑘</m:t>
                          </m:r>
                        </m:sub>
                      </m:sSub>
                      <m:d>
                        <m:dPr>
                          <m:ctrlPr>
                            <a:rPr lang="en-US" sz="1250" i="1">
                              <a:latin typeface="Cambria Math" panose="02040503050406030204" pitchFamily="18" charset="0"/>
                            </a:rPr>
                          </m:ctrlPr>
                        </m:dPr>
                        <m:e>
                          <m:r>
                            <a:rPr lang="en-US" sz="1250">
                              <a:latin typeface="Cambria Math"/>
                            </a:rPr>
                            <m:t>𝑥</m:t>
                          </m:r>
                          <m:r>
                            <a:rPr lang="en-US" sz="1250">
                              <a:latin typeface="Cambria Math"/>
                            </a:rPr>
                            <m:t>,</m:t>
                          </m:r>
                          <m:r>
                            <a:rPr lang="en-US" sz="1250">
                              <a:latin typeface="Cambria Math"/>
                            </a:rPr>
                            <m:t>𝑦</m:t>
                          </m:r>
                        </m:e>
                      </m:d>
                      <m:r>
                        <a:rPr lang="en-US" sz="1250">
                          <a:latin typeface="Cambria Math"/>
                        </a:rPr>
                        <m:t>=</m:t>
                      </m:r>
                      <m:sSub>
                        <m:sSubPr>
                          <m:ctrlPr>
                            <a:rPr lang="en-US" sz="1250" i="1">
                              <a:latin typeface="Cambria Math" panose="02040503050406030204" pitchFamily="18" charset="0"/>
                            </a:rPr>
                          </m:ctrlPr>
                        </m:sSubPr>
                        <m:e>
                          <m:r>
                            <a:rPr lang="en-US" sz="1250">
                              <a:latin typeface="Cambria Math"/>
                            </a:rPr>
                            <m:t>𝑓</m:t>
                          </m:r>
                        </m:e>
                        <m:sub>
                          <m:r>
                            <a:rPr lang="en-US" sz="1250">
                              <a:latin typeface="Cambria Math"/>
                            </a:rPr>
                            <m:t>𝑠𝑢𝑝𝑝</m:t>
                          </m:r>
                        </m:sub>
                      </m:sSub>
                      <m:r>
                        <a:rPr lang="en-US" sz="1250">
                          <a:latin typeface="Cambria Math"/>
                        </a:rPr>
                        <m:t> </m:t>
                      </m:r>
                      <m:d>
                        <m:dPr>
                          <m:ctrlPr>
                            <a:rPr lang="en-US" i="1">
                              <a:latin typeface="Cambria Math" panose="02040503050406030204" pitchFamily="18" charset="0"/>
                            </a:rPr>
                          </m:ctrlPr>
                        </m:dPr>
                        <m:e>
                          <m:eqArr>
                            <m:eqArrPr>
                              <m:ctrlPr>
                                <a:rPr lang="en-US" i="1">
                                  <a:latin typeface="Cambria Math" panose="02040503050406030204" pitchFamily="18" charset="0"/>
                                </a:rPr>
                              </m:ctrlPr>
                            </m:eqArrPr>
                            <m:e>
                              <m:sSub>
                                <m:sSubPr>
                                  <m:ctrlPr>
                                    <a:rPr lang="en-US" sz="1250" i="1">
                                      <a:latin typeface="Cambria Math" panose="02040503050406030204" pitchFamily="18" charset="0"/>
                                    </a:rPr>
                                  </m:ctrlPr>
                                </m:sSubPr>
                                <m:e>
                                  <m:r>
                                    <a:rPr lang="en-US" sz="1250">
                                      <a:latin typeface="Cambria Math"/>
                                    </a:rPr>
                                    <m:t>𝑅</m:t>
                                  </m:r>
                                </m:e>
                                <m:sub>
                                  <m:r>
                                    <a:rPr lang="en-US" sz="1250">
                                      <a:latin typeface="Cambria Math"/>
                                    </a:rPr>
                                    <m:t>𝑐𝑎𝑝</m:t>
                                  </m:r>
                                  <m:r>
                                    <a:rPr lang="en-US" sz="1250">
                                      <a:latin typeface="Cambria Math"/>
                                    </a:rPr>
                                    <m:t>,</m:t>
                                  </m:r>
                                  <m:r>
                                    <a:rPr lang="en-US" sz="1250">
                                      <a:latin typeface="Cambria Math"/>
                                    </a:rPr>
                                    <m:t>𝑘</m:t>
                                  </m:r>
                                </m:sub>
                              </m:sSub>
                              <m:d>
                                <m:dPr>
                                  <m:ctrlPr>
                                    <a:rPr lang="en-US" sz="1250" i="1">
                                      <a:latin typeface="Cambria Math" panose="02040503050406030204" pitchFamily="18" charset="0"/>
                                    </a:rPr>
                                  </m:ctrlPr>
                                </m:dPr>
                                <m:e>
                                  <m:r>
                                    <a:rPr lang="en-US" sz="1250">
                                      <a:latin typeface="Cambria Math"/>
                                    </a:rPr>
                                    <m:t>𝑥</m:t>
                                  </m:r>
                                  <m:r>
                                    <a:rPr lang="en-US" sz="1250">
                                      <a:latin typeface="Cambria Math"/>
                                    </a:rPr>
                                    <m:t>,</m:t>
                                  </m:r>
                                  <m:r>
                                    <a:rPr lang="en-US" sz="1250">
                                      <a:latin typeface="Cambria Math"/>
                                    </a:rPr>
                                    <m:t>𝑦</m:t>
                                  </m:r>
                                </m:e>
                              </m:d>
                              <m:r>
                                <a:rPr lang="en-US" sz="1250">
                                  <a:latin typeface="Cambria Math"/>
                                </a:rPr>
                                <m:t>,</m:t>
                              </m:r>
                              <m:sSub>
                                <m:sSubPr>
                                  <m:ctrlPr>
                                    <a:rPr lang="en-US" sz="1250" i="1">
                                      <a:latin typeface="Cambria Math" panose="02040503050406030204" pitchFamily="18" charset="0"/>
                                    </a:rPr>
                                  </m:ctrlPr>
                                </m:sSubPr>
                                <m:e>
                                  <m:r>
                                    <a:rPr lang="en-US" sz="1250">
                                      <a:latin typeface="Cambria Math"/>
                                    </a:rPr>
                                    <m:t>𝑅</m:t>
                                  </m:r>
                                </m:e>
                                <m:sub>
                                  <m:r>
                                    <a:rPr lang="en-US" sz="1250">
                                      <a:latin typeface="Cambria Math"/>
                                    </a:rPr>
                                    <m:t>𝑎𝑣𝑎𝑖𝑙</m:t>
                                  </m:r>
                                  <m:r>
                                    <a:rPr lang="en-US" sz="1250">
                                      <a:latin typeface="Cambria Math"/>
                                    </a:rPr>
                                    <m:t>,</m:t>
                                  </m:r>
                                  <m:r>
                                    <a:rPr lang="en-US" sz="1250">
                                      <a:latin typeface="Cambria Math"/>
                                    </a:rPr>
                                    <m:t>𝑘</m:t>
                                  </m:r>
                                </m:sub>
                              </m:sSub>
                              <m:d>
                                <m:dPr>
                                  <m:ctrlPr>
                                    <a:rPr lang="en-US" sz="1250" i="1">
                                      <a:latin typeface="Cambria Math" panose="02040503050406030204" pitchFamily="18" charset="0"/>
                                    </a:rPr>
                                  </m:ctrlPr>
                                </m:dPr>
                                <m:e>
                                  <m:r>
                                    <a:rPr lang="en-US" sz="1250">
                                      <a:latin typeface="Cambria Math"/>
                                    </a:rPr>
                                    <m:t>𝑥</m:t>
                                  </m:r>
                                  <m:r>
                                    <a:rPr lang="en-US" sz="1250">
                                      <a:latin typeface="Cambria Math"/>
                                    </a:rPr>
                                    <m:t>,</m:t>
                                  </m:r>
                                  <m:r>
                                    <a:rPr lang="en-US" sz="1250">
                                      <a:latin typeface="Cambria Math"/>
                                    </a:rPr>
                                    <m:t>𝑦</m:t>
                                  </m:r>
                                </m:e>
                              </m:d>
                              <m:r>
                                <a:rPr lang="en-US" sz="1250">
                                  <a:latin typeface="Cambria Math"/>
                                </a:rPr>
                                <m:t>,</m:t>
                              </m:r>
                              <m:sSub>
                                <m:sSubPr>
                                  <m:ctrlPr>
                                    <a:rPr lang="en-US" sz="1250" i="1">
                                      <a:latin typeface="Cambria Math" panose="02040503050406030204" pitchFamily="18" charset="0"/>
                                    </a:rPr>
                                  </m:ctrlPr>
                                </m:sSubPr>
                                <m:e>
                                  <m:r>
                                    <a:rPr lang="en-US" sz="1250">
                                      <a:latin typeface="Cambria Math"/>
                                    </a:rPr>
                                    <m:t>𝑅</m:t>
                                  </m:r>
                                </m:e>
                                <m:sub>
                                  <m:r>
                                    <a:rPr lang="en-US" sz="1250">
                                      <a:latin typeface="Cambria Math"/>
                                    </a:rPr>
                                    <m:t>𝑒𝑓𝑓</m:t>
                                  </m:r>
                                  <m:r>
                                    <a:rPr lang="en-US" sz="1250">
                                      <a:latin typeface="Cambria Math"/>
                                    </a:rPr>
                                    <m:t>,</m:t>
                                  </m:r>
                                  <m:r>
                                    <a:rPr lang="en-US" sz="1250">
                                      <a:latin typeface="Cambria Math"/>
                                    </a:rPr>
                                    <m:t>𝑘</m:t>
                                  </m:r>
                                </m:sub>
                              </m:sSub>
                              <m:d>
                                <m:dPr>
                                  <m:ctrlPr>
                                    <a:rPr lang="en-US" sz="1250" i="1">
                                      <a:latin typeface="Cambria Math" panose="02040503050406030204" pitchFamily="18" charset="0"/>
                                    </a:rPr>
                                  </m:ctrlPr>
                                </m:dPr>
                                <m:e>
                                  <m:r>
                                    <a:rPr lang="en-US" sz="1250">
                                      <a:latin typeface="Cambria Math"/>
                                    </a:rPr>
                                    <m:t>𝑥</m:t>
                                  </m:r>
                                  <m:r>
                                    <a:rPr lang="en-US" sz="1250">
                                      <a:latin typeface="Cambria Math"/>
                                    </a:rPr>
                                    <m:t>,</m:t>
                                  </m:r>
                                  <m:r>
                                    <a:rPr lang="en-US" sz="1250">
                                      <a:latin typeface="Cambria Math"/>
                                    </a:rPr>
                                    <m:t>𝑦</m:t>
                                  </m:r>
                                </m:e>
                              </m:d>
                              <m:r>
                                <a:rPr lang="en-US" sz="1250">
                                  <a:latin typeface="Cambria Math"/>
                                </a:rPr>
                                <m:t>,</m:t>
                              </m:r>
                            </m:e>
                            <m:e>
                              <m:sSub>
                                <m:sSubPr>
                                  <m:ctrlPr>
                                    <a:rPr lang="en-US" sz="1250" i="1">
                                      <a:latin typeface="Cambria Math" panose="02040503050406030204" pitchFamily="18" charset="0"/>
                                    </a:rPr>
                                  </m:ctrlPr>
                                </m:sSubPr>
                                <m:e>
                                  <m:r>
                                    <a:rPr lang="en-US" sz="1250">
                                      <a:latin typeface="Cambria Math"/>
                                    </a:rPr>
                                    <m:t>𝑅</m:t>
                                  </m:r>
                                </m:e>
                                <m:sub>
                                  <m:r>
                                    <a:rPr lang="en-US" sz="1250">
                                      <a:latin typeface="Cambria Math"/>
                                    </a:rPr>
                                    <m:t>𝑡𝑖𝑚𝑒</m:t>
                                  </m:r>
                                  <m:r>
                                    <a:rPr lang="en-US" sz="1250">
                                      <a:latin typeface="Cambria Math"/>
                                    </a:rPr>
                                    <m:t>,</m:t>
                                  </m:r>
                                  <m:r>
                                    <a:rPr lang="en-US" sz="1250">
                                      <a:latin typeface="Cambria Math"/>
                                    </a:rPr>
                                    <m:t>𝑘</m:t>
                                  </m:r>
                                </m:sub>
                              </m:sSub>
                              <m:d>
                                <m:dPr>
                                  <m:ctrlPr>
                                    <a:rPr lang="en-US" sz="1250" i="1">
                                      <a:latin typeface="Cambria Math" panose="02040503050406030204" pitchFamily="18" charset="0"/>
                                    </a:rPr>
                                  </m:ctrlPr>
                                </m:dPr>
                                <m:e>
                                  <m:r>
                                    <a:rPr lang="en-US" sz="1250">
                                      <a:latin typeface="Cambria Math"/>
                                    </a:rPr>
                                    <m:t>𝑥</m:t>
                                  </m:r>
                                  <m:r>
                                    <a:rPr lang="en-US" sz="1250">
                                      <a:latin typeface="Cambria Math"/>
                                    </a:rPr>
                                    <m:t>,</m:t>
                                  </m:r>
                                  <m:r>
                                    <a:rPr lang="en-US" sz="1250">
                                      <a:latin typeface="Cambria Math"/>
                                    </a:rPr>
                                    <m:t>𝑦</m:t>
                                  </m:r>
                                </m:e>
                              </m:d>
                              <m:r>
                                <a:rPr lang="en-US" sz="1250">
                                  <a:latin typeface="Cambria Math"/>
                                </a:rPr>
                                <m:t>,</m:t>
                              </m:r>
                              <m:sSub>
                                <m:sSubPr>
                                  <m:ctrlPr>
                                    <a:rPr lang="en-US" sz="1250" i="1">
                                      <a:latin typeface="Cambria Math" panose="02040503050406030204" pitchFamily="18" charset="0"/>
                                    </a:rPr>
                                  </m:ctrlPr>
                                </m:sSubPr>
                                <m:e>
                                  <m:r>
                                    <a:rPr lang="en-US" sz="1250">
                                      <a:latin typeface="Cambria Math"/>
                                    </a:rPr>
                                    <m:t>𝐺</m:t>
                                  </m:r>
                                </m:e>
                                <m:sub>
                                  <m:r>
                                    <a:rPr lang="en-US" sz="1250">
                                      <a:latin typeface="Cambria Math"/>
                                    </a:rPr>
                                    <m:t>𝑎𝑐𝑐𝑒𝑠𝑠</m:t>
                                  </m:r>
                                </m:sub>
                              </m:sSub>
                              <m:d>
                                <m:dPr>
                                  <m:ctrlPr>
                                    <a:rPr lang="en-US" sz="1250" i="1">
                                      <a:latin typeface="Cambria Math" panose="02040503050406030204" pitchFamily="18" charset="0"/>
                                    </a:rPr>
                                  </m:ctrlPr>
                                </m:dPr>
                                <m:e>
                                  <m:r>
                                    <a:rPr lang="en-US" sz="1250">
                                      <a:latin typeface="Cambria Math"/>
                                    </a:rPr>
                                    <m:t>𝑥</m:t>
                                  </m:r>
                                  <m:r>
                                    <a:rPr lang="en-US" sz="1250">
                                      <a:latin typeface="Cambria Math"/>
                                    </a:rPr>
                                    <m:t>,</m:t>
                                  </m:r>
                                  <m:r>
                                    <a:rPr lang="en-US" sz="1250">
                                      <a:latin typeface="Cambria Math"/>
                                    </a:rPr>
                                    <m:t>𝑦</m:t>
                                  </m:r>
                                </m:e>
                              </m:d>
                            </m:e>
                          </m:eqArr>
                        </m:e>
                      </m:d>
                    </m:oMath>
                  </m:oMathPara>
                </a14:m>
                <a:endParaRPr lang="en-US" sz="1400" dirty="0"/>
              </a:p>
            </p:txBody>
          </p:sp>
        </mc:Choice>
        <mc:Fallback xmlns="">
          <p:sp>
            <p:nvSpPr>
              <p:cNvPr id="9007" name="Text 5"/>
              <p:cNvSpPr/>
              <p:nvPr/>
            </p:nvSpPr>
            <p:spPr>
              <a:xfrm>
                <a:off x="6309360" y="3154680"/>
                <a:ext cx="5440680" cy="822960"/>
              </a:xfrm>
              <a:prstGeom prst="rect">
                <a:avLst/>
              </a:prstGeom>
              <a:noFill/>
              <a:ln/>
            </p:spPr>
            <p:txBody>
              <a:bodyPr wrap="square" lIns="0" tIns="0" rIns="0" bIns="0" rtlCol="0" anchor="ctr"/>
              <a:lstStyle/>
              <a:p>
                <a:pPr marL="0" indent="0" algn="ctr">
                  <a:buNone/>
                </a:pPr>
                <a:r>
                  <a:rPr lang="en-US" sz="1250" i="1">
                    <a:latin typeface="Cambria Math"/>
                  </a:rPr>
                  <a:t>𝐹𝑟𝑒𝑑,𝑘𝑥,𝑦=𝑓𝑠𝑢𝑝𝑝 𝑅𝑐𝑎𝑝,𝑘𝑥,𝑦,𝑅𝑎𝑣𝑎𝑖𝑙,𝑘𝑥,𝑦,𝑅𝑒𝑓𝑓,𝑘𝑥,𝑦,𝑅𝑡𝑖𝑚𝑒,𝑘𝑥,𝑦,𝐺𝑎𝑐𝑐𝑒𝑠𝑠𝑥,𝑦</a:t>
                </a:r>
                <a:endParaRPr lang="en-US" sz="1400" dirty="0"/>
              </a:p>
            </p:txBody>
          </p:sp>
        </mc:Fallback>
      </mc:AlternateContent>
      <p:sp>
        <p:nvSpPr>
          <p:cNvPr id="9009" name="Text 7"/>
          <p:cNvSpPr/>
          <p:nvPr/>
        </p:nvSpPr>
        <p:spPr>
          <a:xfrm>
            <a:off x="6309360" y="4023360"/>
            <a:ext cx="4206240" cy="292608"/>
          </a:xfrm>
          <a:prstGeom prst="rect">
            <a:avLst/>
          </a:prstGeom>
          <a:noFill/>
          <a:ln/>
        </p:spPr>
        <p:txBody>
          <a:bodyPr wrap="square" lIns="0" tIns="0" rIns="0" bIns="0" rtlCol="0" anchor="ctr"/>
          <a:lstStyle/>
          <a:p>
            <a:pPr marL="0" indent="0">
              <a:buNone/>
            </a:pPr>
            <a:r>
              <a:rPr lang="en-US" sz="1500" b="1" dirty="0">
                <a:solidFill>
                  <a:srgbClr val="E31836"/>
                </a:solidFill>
                <a:latin typeface="Calibri" pitchFamily="34" charset="0"/>
                <a:ea typeface="Calibri" pitchFamily="34" charset="-122"/>
                <a:cs typeface="Calibri" pitchFamily="34" charset="-120"/>
              </a:rPr>
              <a:t>③ Fire intensity — bounded proxy</a:t>
            </a:r>
            <a:endParaRPr lang="en-US" sz="1500" dirty="0"/>
          </a:p>
        </p:txBody>
      </p:sp>
      <mc:AlternateContent xmlns:mc="http://schemas.openxmlformats.org/markup-compatibility/2006" xmlns:a14="http://schemas.microsoft.com/office/drawing/2010/main">
        <mc:Choice Requires="a14">
          <p:sp>
            <p:nvSpPr>
              <p:cNvPr id="9010" name="Text 8"/>
              <p:cNvSpPr/>
              <p:nvPr/>
            </p:nvSpPr>
            <p:spPr>
              <a:xfrm>
                <a:off x="6309360" y="4315968"/>
                <a:ext cx="5440680" cy="502920"/>
              </a:xfrm>
              <a:prstGeom prst="rect">
                <a:avLst/>
              </a:prstGeom>
              <a:noFill/>
              <a:ln/>
            </p:spPr>
            <p:txBody>
              <a:bodyPr wrap="square" lIns="0" tIns="0" rIns="0" bIns="0"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n-US" sz="1300" i="1">
                              <a:latin typeface="Cambria Math" panose="02040503050406030204" pitchFamily="18" charset="0"/>
                            </a:rPr>
                          </m:ctrlPr>
                        </m:sSubPr>
                        <m:e>
                          <m:r>
                            <a:rPr lang="en-US" sz="1300">
                              <a:latin typeface="Cambria Math"/>
                            </a:rPr>
                            <m:t>𝐼</m:t>
                          </m:r>
                        </m:e>
                        <m:sub>
                          <m:r>
                            <a:rPr lang="en-US" sz="1300">
                              <a:latin typeface="Cambria Math"/>
                            </a:rPr>
                            <m:t>𝑘</m:t>
                          </m:r>
                          <m:r>
                            <a:rPr lang="en-US" sz="1300">
                              <a:latin typeface="Cambria Math"/>
                            </a:rPr>
                            <m:t>+1</m:t>
                          </m:r>
                        </m:sub>
                      </m:sSub>
                      <m:d>
                        <m:dPr>
                          <m:ctrlPr>
                            <a:rPr lang="en-US" sz="1300" i="1">
                              <a:latin typeface="Cambria Math" panose="02040503050406030204" pitchFamily="18" charset="0"/>
                            </a:rPr>
                          </m:ctrlPr>
                        </m:dPr>
                        <m:e>
                          <m:r>
                            <m:rPr>
                              <m:sty m:val="p"/>
                            </m:rPr>
                            <a:rPr lang="en-US" sz="1300">
                              <a:latin typeface="Cambria Math"/>
                            </a:rPr>
                            <m:t>x</m:t>
                          </m:r>
                          <m:r>
                            <a:rPr lang="en-US" sz="1300">
                              <a:latin typeface="Cambria Math"/>
                            </a:rPr>
                            <m:t>,</m:t>
                          </m:r>
                          <m:r>
                            <m:rPr>
                              <m:sty m:val="p"/>
                            </m:rPr>
                            <a:rPr lang="en-US" sz="1300">
                              <a:latin typeface="Cambria Math"/>
                            </a:rPr>
                            <m:t>y</m:t>
                          </m:r>
                        </m:e>
                      </m:d>
                      <m:r>
                        <a:rPr lang="en-US" sz="1300">
                          <a:latin typeface="Cambria Math"/>
                        </a:rPr>
                        <m:t>=</m:t>
                      </m:r>
                      <m:sSub>
                        <m:sSubPr>
                          <m:ctrlPr>
                            <a:rPr lang="en-US" sz="1300" i="1">
                              <a:latin typeface="Cambria Math" panose="02040503050406030204" pitchFamily="18" charset="0"/>
                            </a:rPr>
                          </m:ctrlPr>
                        </m:sSubPr>
                        <m:e>
                          <m:r>
                            <a:rPr lang="en-US" sz="1300">
                              <a:latin typeface="Cambria Math"/>
                            </a:rPr>
                            <m:t>𝑓</m:t>
                          </m:r>
                        </m:e>
                        <m:sub>
                          <m:r>
                            <a:rPr lang="en-US" sz="1300">
                              <a:latin typeface="Cambria Math"/>
                            </a:rPr>
                            <m:t>𝑖𝑛𝑡𝑒𝑛𝑠𝑖𝑡𝑦</m:t>
                          </m:r>
                        </m:sub>
                      </m:sSub>
                      <m:d>
                        <m:dPr>
                          <m:ctrlPr>
                            <a:rPr lang="en-US" sz="1300" i="1">
                              <a:latin typeface="Cambria Math" panose="02040503050406030204" pitchFamily="18" charset="0"/>
                            </a:rPr>
                          </m:ctrlPr>
                        </m:dPr>
                        <m:e>
                          <m:sSub>
                            <m:sSubPr>
                              <m:ctrlPr>
                                <a:rPr lang="en-US" sz="1300" i="1">
                                  <a:latin typeface="Cambria Math" panose="02040503050406030204" pitchFamily="18" charset="0"/>
                                </a:rPr>
                              </m:ctrlPr>
                            </m:sSubPr>
                            <m:e>
                              <m:r>
                                <a:rPr lang="en-US" sz="1300">
                                  <a:latin typeface="Cambria Math"/>
                                </a:rPr>
                                <m:t>𝐹</m:t>
                              </m:r>
                            </m:e>
                            <m:sub>
                              <m:r>
                                <a:rPr lang="en-US" sz="1300">
                                  <a:latin typeface="Cambria Math"/>
                                </a:rPr>
                                <m:t>𝑙𝑜𝑎𝑑</m:t>
                              </m:r>
                              <m:r>
                                <a:rPr lang="en-US" sz="1300">
                                  <a:latin typeface="Cambria Math"/>
                                </a:rPr>
                                <m:t>,</m:t>
                              </m:r>
                              <m:r>
                                <a:rPr lang="en-US" sz="1300">
                                  <a:latin typeface="Cambria Math"/>
                                </a:rPr>
                                <m:t>𝑘</m:t>
                              </m:r>
                            </m:sub>
                          </m:sSub>
                          <m:d>
                            <m:dPr>
                              <m:ctrlPr>
                                <a:rPr lang="en-US" sz="1300" i="1">
                                  <a:latin typeface="Cambria Math" panose="02040503050406030204" pitchFamily="18" charset="0"/>
                                </a:rPr>
                              </m:ctrlPr>
                            </m:dPr>
                            <m:e>
                              <m:r>
                                <a:rPr lang="en-US" sz="1300">
                                  <a:latin typeface="Cambria Math"/>
                                </a:rPr>
                                <m:t>𝑥</m:t>
                              </m:r>
                              <m:r>
                                <a:rPr lang="en-US" sz="1300">
                                  <a:latin typeface="Cambria Math"/>
                                </a:rPr>
                                <m:t>,</m:t>
                              </m:r>
                              <m:r>
                                <a:rPr lang="en-US" sz="1300">
                                  <a:latin typeface="Cambria Math"/>
                                </a:rPr>
                                <m:t>𝑦</m:t>
                              </m:r>
                            </m:e>
                          </m:d>
                          <m:r>
                            <a:rPr lang="en-US" sz="1300">
                              <a:latin typeface="Cambria Math"/>
                            </a:rPr>
                            <m:t>,</m:t>
                          </m:r>
                          <m:sSub>
                            <m:sSubPr>
                              <m:ctrlPr>
                                <a:rPr lang="en-US" sz="1300" i="1">
                                  <a:latin typeface="Cambria Math" panose="02040503050406030204" pitchFamily="18" charset="0"/>
                                </a:rPr>
                              </m:ctrlPr>
                            </m:sSubPr>
                            <m:e>
                              <m:r>
                                <a:rPr lang="en-US" sz="1300">
                                  <a:latin typeface="Cambria Math"/>
                                </a:rPr>
                                <m:t>𝑊</m:t>
                              </m:r>
                            </m:e>
                            <m:sub>
                              <m:r>
                                <a:rPr lang="en-US" sz="1300">
                                  <a:latin typeface="Cambria Math"/>
                                </a:rPr>
                                <m:t>𝑤𝑠</m:t>
                              </m:r>
                              <m:r>
                                <a:rPr lang="en-US" sz="1300">
                                  <a:latin typeface="Cambria Math"/>
                                </a:rPr>
                                <m:t>,</m:t>
                              </m:r>
                              <m:r>
                                <a:rPr lang="en-US" sz="1300">
                                  <a:latin typeface="Cambria Math"/>
                                </a:rPr>
                                <m:t>𝑘</m:t>
                              </m:r>
                            </m:sub>
                          </m:sSub>
                          <m:d>
                            <m:dPr>
                              <m:ctrlPr>
                                <a:rPr lang="en-US" sz="1300" i="1">
                                  <a:latin typeface="Cambria Math" panose="02040503050406030204" pitchFamily="18" charset="0"/>
                                </a:rPr>
                              </m:ctrlPr>
                            </m:dPr>
                            <m:e>
                              <m:r>
                                <a:rPr lang="en-US" sz="1300">
                                  <a:latin typeface="Cambria Math"/>
                                </a:rPr>
                                <m:t>𝑥</m:t>
                              </m:r>
                              <m:r>
                                <a:rPr lang="en-US" sz="1300">
                                  <a:latin typeface="Cambria Math"/>
                                </a:rPr>
                                <m:t>,</m:t>
                              </m:r>
                              <m:r>
                                <a:rPr lang="en-US" sz="1300">
                                  <a:latin typeface="Cambria Math"/>
                                </a:rPr>
                                <m:t>𝑦</m:t>
                              </m:r>
                            </m:e>
                          </m:d>
                          <m:r>
                            <a:rPr lang="en-US" sz="1300">
                              <a:latin typeface="Cambria Math"/>
                            </a:rPr>
                            <m:t>,</m:t>
                          </m:r>
                          <m:sSub>
                            <m:sSubPr>
                              <m:ctrlPr>
                                <a:rPr lang="en-US" sz="1300" i="1">
                                  <a:latin typeface="Cambria Math" panose="02040503050406030204" pitchFamily="18" charset="0"/>
                                </a:rPr>
                              </m:ctrlPr>
                            </m:sSubPr>
                            <m:e>
                              <m:r>
                                <a:rPr lang="en-US" sz="1300">
                                  <a:latin typeface="Cambria Math"/>
                                </a:rPr>
                                <m:t>𝐺</m:t>
                              </m:r>
                            </m:e>
                            <m:sub>
                              <m:r>
                                <a:rPr lang="en-US" sz="1300">
                                  <a:latin typeface="Cambria Math"/>
                                </a:rPr>
                                <m:t>𝑠𝑙𝑜𝑝𝑒</m:t>
                              </m:r>
                            </m:sub>
                          </m:sSub>
                          <m:d>
                            <m:dPr>
                              <m:ctrlPr>
                                <a:rPr lang="en-US" sz="1300" i="1">
                                  <a:latin typeface="Cambria Math" panose="02040503050406030204" pitchFamily="18" charset="0"/>
                                </a:rPr>
                              </m:ctrlPr>
                            </m:dPr>
                            <m:e>
                              <m:r>
                                <a:rPr lang="en-US" sz="1300">
                                  <a:latin typeface="Cambria Math"/>
                                </a:rPr>
                                <m:t>𝑥</m:t>
                              </m:r>
                              <m:r>
                                <a:rPr lang="en-US" sz="1300">
                                  <a:latin typeface="Cambria Math"/>
                                </a:rPr>
                                <m:t>,</m:t>
                              </m:r>
                              <m:r>
                                <a:rPr lang="en-US" sz="1300">
                                  <a:latin typeface="Cambria Math"/>
                                </a:rPr>
                                <m:t>𝑦</m:t>
                              </m:r>
                            </m:e>
                          </m:d>
                        </m:e>
                      </m:d>
                    </m:oMath>
                  </m:oMathPara>
                </a14:m>
                <a:endParaRPr lang="en-US" sz="1400" dirty="0"/>
              </a:p>
            </p:txBody>
          </p:sp>
        </mc:Choice>
        <mc:Fallback xmlns="">
          <p:sp>
            <p:nvSpPr>
              <p:cNvPr id="9010" name="Text 8"/>
              <p:cNvSpPr/>
              <p:nvPr/>
            </p:nvSpPr>
            <p:spPr>
              <a:xfrm>
                <a:off x="6309360" y="4315968"/>
                <a:ext cx="5440680" cy="502920"/>
              </a:xfrm>
              <a:prstGeom prst="rect">
                <a:avLst/>
              </a:prstGeom>
              <a:noFill/>
              <a:ln/>
            </p:spPr>
            <p:txBody>
              <a:bodyPr wrap="square" lIns="0" tIns="0" rIns="0" bIns="0" rtlCol="0" anchor="ctr"/>
              <a:lstStyle/>
              <a:p>
                <a:pPr marL="0" indent="0" algn="ctr">
                  <a:buNone/>
                </a:pPr>
                <a:r>
                  <a:rPr lang="en-US" sz="1300" i="1">
                    <a:latin typeface="Cambria Math"/>
                  </a:rPr>
                  <a:t>𝐼𝑘+1x,y=𝑓𝑖𝑛𝑡𝑒𝑛𝑠𝑖𝑡𝑦𝐹𝑙𝑜𝑎𝑑,𝑘𝑥,𝑦,𝑊𝑤𝑠,𝑘𝑥,𝑦,𝐺𝑠𝑙𝑜𝑝𝑒𝑥,𝑦</a:t>
                </a:r>
                <a:endParaRPr lang="en-US" sz="1400" dirty="0"/>
              </a:p>
            </p:txBody>
          </p:sp>
        </mc:Fallback>
      </mc:AlternateContent>
      <p:sp>
        <p:nvSpPr>
          <p:cNvPr id="9012" name="Text 10"/>
          <p:cNvSpPr/>
          <p:nvPr/>
        </p:nvSpPr>
        <p:spPr>
          <a:xfrm>
            <a:off x="6309360" y="4892040"/>
            <a:ext cx="4206240" cy="292608"/>
          </a:xfrm>
          <a:prstGeom prst="rect">
            <a:avLst/>
          </a:prstGeom>
          <a:noFill/>
          <a:ln/>
        </p:spPr>
        <p:txBody>
          <a:bodyPr wrap="square" lIns="0" tIns="0" rIns="0" bIns="0" rtlCol="0" anchor="ctr"/>
          <a:lstStyle/>
          <a:p>
            <a:pPr marL="0" indent="0">
              <a:buNone/>
            </a:pPr>
            <a:r>
              <a:rPr lang="en-US" sz="1500" b="1" dirty="0">
                <a:solidFill>
                  <a:srgbClr val="E31836"/>
                </a:solidFill>
                <a:latin typeface="Calibri" pitchFamily="34" charset="0"/>
                <a:ea typeface="Calibri" pitchFamily="34" charset="-122"/>
                <a:cs typeface="Calibri" pitchFamily="34" charset="-120"/>
              </a:rPr>
              <a:t>④ Time since ignition — bookkeeping</a:t>
            </a:r>
            <a:endParaRPr lang="en-US" sz="1500" dirty="0"/>
          </a:p>
        </p:txBody>
      </p:sp>
      <mc:AlternateContent xmlns:mc="http://schemas.openxmlformats.org/markup-compatibility/2006" xmlns:a14="http://schemas.microsoft.com/office/drawing/2010/main">
        <mc:Choice Requires="a14">
          <p:sp>
            <p:nvSpPr>
              <p:cNvPr id="9013" name="Text 11"/>
              <p:cNvSpPr/>
              <p:nvPr/>
            </p:nvSpPr>
            <p:spPr>
              <a:xfrm>
                <a:off x="6309360" y="5184648"/>
                <a:ext cx="5440680" cy="960120"/>
              </a:xfrm>
              <a:prstGeom prst="rect">
                <a:avLst/>
              </a:prstGeom>
              <a:noFill/>
              <a:ln/>
            </p:spPr>
            <p:txBody>
              <a:bodyPr wrap="square" lIns="0" tIns="0" rIns="0" bIns="0"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n-US" sz="1300" i="1">
                              <a:latin typeface="Cambria Math" panose="02040503050406030204" pitchFamily="18" charset="0"/>
                            </a:rPr>
                          </m:ctrlPr>
                        </m:sSubPr>
                        <m:e>
                          <m:r>
                            <a:rPr lang="en-US" sz="1300">
                              <a:latin typeface="Cambria Math"/>
                            </a:rPr>
                            <m:t>𝜏</m:t>
                          </m:r>
                        </m:e>
                        <m:sub>
                          <m:r>
                            <a:rPr lang="en-US" sz="1300">
                              <a:latin typeface="Cambria Math"/>
                            </a:rPr>
                            <m:t>𝑘</m:t>
                          </m:r>
                          <m:r>
                            <a:rPr lang="en-US" sz="1300">
                              <a:latin typeface="Cambria Math"/>
                            </a:rPr>
                            <m:t>+1</m:t>
                          </m:r>
                        </m:sub>
                      </m:sSub>
                      <m:d>
                        <m:dPr>
                          <m:ctrlPr>
                            <a:rPr lang="en-US" sz="1300" i="1">
                              <a:latin typeface="Cambria Math" panose="02040503050406030204" pitchFamily="18" charset="0"/>
                            </a:rPr>
                          </m:ctrlPr>
                        </m:dPr>
                        <m:e>
                          <m:r>
                            <a:rPr lang="en-US" sz="1300">
                              <a:latin typeface="Cambria Math"/>
                            </a:rPr>
                            <m:t>𝑥</m:t>
                          </m:r>
                          <m:r>
                            <a:rPr lang="en-US" sz="1300">
                              <a:latin typeface="Cambria Math"/>
                            </a:rPr>
                            <m:t>,</m:t>
                          </m:r>
                          <m:r>
                            <a:rPr lang="en-US" sz="1300">
                              <a:latin typeface="Cambria Math"/>
                            </a:rPr>
                            <m:t>𝑦</m:t>
                          </m:r>
                        </m:e>
                      </m:d>
                      <m:r>
                        <a:rPr lang="en-US" sz="1300">
                          <a:latin typeface="Cambria Math"/>
                        </a:rPr>
                        <m:t>=</m:t>
                      </m:r>
                      <m:d>
                        <m:dPr>
                          <m:begChr m:val="{"/>
                          <m:endChr m:val=""/>
                          <m:ctrlPr>
                            <a:rPr lang="en-US" i="1">
                              <a:latin typeface="Cambria Math" panose="02040503050406030204" pitchFamily="18" charset="0"/>
                            </a:rPr>
                          </m:ctrlPr>
                        </m:dPr>
                        <m:e>
                          <m:m>
                            <m:mPr>
                              <m:mcs>
                                <m:mc>
                                  <m:mcPr>
                                    <m:count m:val="2"/>
                                    <m:mcJc m:val="center"/>
                                  </m:mcPr>
                                </m:mc>
                              </m:mcs>
                              <m:ctrlPr>
                                <a:rPr lang="en-US" i="1">
                                  <a:latin typeface="Cambria Math" panose="02040503050406030204" pitchFamily="18" charset="0"/>
                                </a:rPr>
                              </m:ctrlPr>
                            </m:mPr>
                            <m:mr>
                              <m:e>
                                <m:r>
                                  <a:rPr lang="en-US" sz="1300">
                                    <a:latin typeface="Cambria Math"/>
                                  </a:rPr>
                                  <m:t>0,</m:t>
                                </m:r>
                              </m:e>
                              <m:e>
                                <m:sSub>
                                  <m:sSubPr>
                                    <m:ctrlPr>
                                      <a:rPr lang="en-US" sz="1300" i="1">
                                        <a:latin typeface="Cambria Math" panose="02040503050406030204" pitchFamily="18" charset="0"/>
                                      </a:rPr>
                                    </m:ctrlPr>
                                  </m:sSubPr>
                                  <m:e>
                                    <m:r>
                                      <a:rPr lang="en-US" sz="1300">
                                        <a:latin typeface="Cambria Math"/>
                                      </a:rPr>
                                      <m:t>𝐵</m:t>
                                    </m:r>
                                  </m:e>
                                  <m:sub>
                                    <m:r>
                                      <a:rPr lang="en-US" sz="1300">
                                        <a:latin typeface="Cambria Math"/>
                                      </a:rPr>
                                      <m:t>𝑘</m:t>
                                    </m:r>
                                    <m:r>
                                      <a:rPr lang="en-US" sz="1300">
                                        <a:latin typeface="Cambria Math"/>
                                      </a:rPr>
                                      <m:t>+1</m:t>
                                    </m:r>
                                  </m:sub>
                                </m:sSub>
                                <m:r>
                                  <a:rPr lang="en-US" sz="1300">
                                    <a:latin typeface="Cambria Math"/>
                                  </a:rPr>
                                  <m:t>=1∧</m:t>
                                </m:r>
                                <m:sSub>
                                  <m:sSubPr>
                                    <m:ctrlPr>
                                      <a:rPr lang="en-US" sz="1300" i="1">
                                        <a:latin typeface="Cambria Math" panose="02040503050406030204" pitchFamily="18" charset="0"/>
                                      </a:rPr>
                                    </m:ctrlPr>
                                  </m:sSubPr>
                                  <m:e>
                                    <m:r>
                                      <a:rPr lang="en-US" sz="1300">
                                        <a:latin typeface="Cambria Math"/>
                                      </a:rPr>
                                      <m:t>𝐵</m:t>
                                    </m:r>
                                  </m:e>
                                  <m:sub>
                                    <m:r>
                                      <a:rPr lang="en-US" sz="1300">
                                        <a:latin typeface="Cambria Math"/>
                                      </a:rPr>
                                      <m:t>𝑘</m:t>
                                    </m:r>
                                  </m:sub>
                                </m:sSub>
                                <m:r>
                                  <a:rPr lang="en-US" sz="1300">
                                    <a:latin typeface="Cambria Math"/>
                                  </a:rPr>
                                  <m:t>=0</m:t>
                                </m:r>
                              </m:e>
                            </m:mr>
                            <m:mr>
                              <m:e>
                                <m:sSub>
                                  <m:sSubPr>
                                    <m:ctrlPr>
                                      <a:rPr lang="en-US" sz="1300" i="1">
                                        <a:latin typeface="Cambria Math" panose="02040503050406030204" pitchFamily="18" charset="0"/>
                                      </a:rPr>
                                    </m:ctrlPr>
                                  </m:sSubPr>
                                  <m:e>
                                    <m:r>
                                      <a:rPr lang="en-US" sz="1300">
                                        <a:latin typeface="Cambria Math"/>
                                      </a:rPr>
                                      <m:t>𝜏</m:t>
                                    </m:r>
                                  </m:e>
                                  <m:sub>
                                    <m:r>
                                      <a:rPr lang="en-US" sz="1300">
                                        <a:latin typeface="Cambria Math"/>
                                      </a:rPr>
                                      <m:t>𝑘</m:t>
                                    </m:r>
                                  </m:sub>
                                </m:sSub>
                                <m:r>
                                  <a:rPr lang="en-US" sz="1300">
                                    <a:latin typeface="Cambria Math"/>
                                  </a:rPr>
                                  <m:t>+</m:t>
                                </m:r>
                                <m:r>
                                  <m:rPr>
                                    <m:sty m:val="p"/>
                                  </m:rPr>
                                  <a:rPr lang="en-US" sz="1300">
                                    <a:latin typeface="Cambria Math"/>
                                  </a:rPr>
                                  <m:t>Δ</m:t>
                                </m:r>
                                <m:r>
                                  <a:rPr lang="en-US" sz="1300">
                                    <a:latin typeface="Cambria Math"/>
                                  </a:rPr>
                                  <m:t>𝑡</m:t>
                                </m:r>
                                <m:r>
                                  <a:rPr lang="en-US" sz="1300">
                                    <a:latin typeface="Cambria Math"/>
                                  </a:rPr>
                                  <m:t>,</m:t>
                                </m:r>
                              </m:e>
                              <m:e>
                                <m:sSub>
                                  <m:sSubPr>
                                    <m:ctrlPr>
                                      <a:rPr lang="en-US" sz="1300" i="1">
                                        <a:latin typeface="Cambria Math" panose="02040503050406030204" pitchFamily="18" charset="0"/>
                                      </a:rPr>
                                    </m:ctrlPr>
                                  </m:sSubPr>
                                  <m:e>
                                    <m:r>
                                      <a:rPr lang="en-US" sz="1300">
                                        <a:latin typeface="Cambria Math"/>
                                      </a:rPr>
                                      <m:t>𝐵</m:t>
                                    </m:r>
                                  </m:e>
                                  <m:sub>
                                    <m:r>
                                      <a:rPr lang="en-US" sz="1300">
                                        <a:latin typeface="Cambria Math"/>
                                      </a:rPr>
                                      <m:t>𝑘</m:t>
                                    </m:r>
                                    <m:r>
                                      <a:rPr lang="en-US" sz="1300">
                                        <a:latin typeface="Cambria Math"/>
                                      </a:rPr>
                                      <m:t>+1</m:t>
                                    </m:r>
                                  </m:sub>
                                </m:sSub>
                                <m:r>
                                  <a:rPr lang="en-US" sz="1300">
                                    <a:latin typeface="Cambria Math"/>
                                  </a:rPr>
                                  <m:t>=1∧</m:t>
                                </m:r>
                                <m:sSub>
                                  <m:sSubPr>
                                    <m:ctrlPr>
                                      <a:rPr lang="en-US" sz="1300" i="1">
                                        <a:latin typeface="Cambria Math" panose="02040503050406030204" pitchFamily="18" charset="0"/>
                                      </a:rPr>
                                    </m:ctrlPr>
                                  </m:sSubPr>
                                  <m:e>
                                    <m:r>
                                      <a:rPr lang="en-US" sz="1300">
                                        <a:latin typeface="Cambria Math"/>
                                      </a:rPr>
                                      <m:t>𝐵</m:t>
                                    </m:r>
                                  </m:e>
                                  <m:sub>
                                    <m:r>
                                      <a:rPr lang="en-US" sz="1300">
                                        <a:latin typeface="Cambria Math"/>
                                      </a:rPr>
                                      <m:t>𝑘</m:t>
                                    </m:r>
                                  </m:sub>
                                </m:sSub>
                                <m:r>
                                  <a:rPr lang="en-US" sz="1300">
                                    <a:latin typeface="Cambria Math"/>
                                  </a:rPr>
                                  <m:t>=1</m:t>
                                </m:r>
                              </m:e>
                            </m:mr>
                            <m:mr>
                              <m:e>
                                <m:r>
                                  <a:rPr lang="en-US" sz="1300">
                                    <a:latin typeface="Cambria Math"/>
                                  </a:rPr>
                                  <m:t>0,</m:t>
                                </m:r>
                              </m:e>
                              <m:e>
                                <m:sSub>
                                  <m:sSubPr>
                                    <m:ctrlPr>
                                      <a:rPr lang="en-US" sz="1300" i="1">
                                        <a:latin typeface="Cambria Math" panose="02040503050406030204" pitchFamily="18" charset="0"/>
                                      </a:rPr>
                                    </m:ctrlPr>
                                  </m:sSubPr>
                                  <m:e>
                                    <m:r>
                                      <a:rPr lang="en-US" sz="1300">
                                        <a:latin typeface="Cambria Math"/>
                                      </a:rPr>
                                      <m:t>𝐵</m:t>
                                    </m:r>
                                  </m:e>
                                  <m:sub>
                                    <m:r>
                                      <a:rPr lang="en-US" sz="1300">
                                        <a:latin typeface="Cambria Math"/>
                                      </a:rPr>
                                      <m:t>𝑘</m:t>
                                    </m:r>
                                    <m:r>
                                      <a:rPr lang="en-US" sz="1300">
                                        <a:latin typeface="Cambria Math"/>
                                      </a:rPr>
                                      <m:t>+1</m:t>
                                    </m:r>
                                  </m:sub>
                                </m:sSub>
                                <m:r>
                                  <a:rPr lang="en-US" sz="1300">
                                    <a:latin typeface="Cambria Math"/>
                                  </a:rPr>
                                  <m:t>=0</m:t>
                                </m:r>
                              </m:e>
                            </m:mr>
                          </m:m>
                        </m:e>
                      </m:d>
                    </m:oMath>
                  </m:oMathPara>
                </a14:m>
                <a:endParaRPr lang="en-US" sz="1400" dirty="0"/>
              </a:p>
            </p:txBody>
          </p:sp>
        </mc:Choice>
        <mc:Fallback xmlns="">
          <p:sp>
            <p:nvSpPr>
              <p:cNvPr id="9013" name="Text 11"/>
              <p:cNvSpPr/>
              <p:nvPr/>
            </p:nvSpPr>
            <p:spPr>
              <a:xfrm>
                <a:off x="6309360" y="5184648"/>
                <a:ext cx="5440680" cy="960120"/>
              </a:xfrm>
              <a:prstGeom prst="rect">
                <a:avLst/>
              </a:prstGeom>
              <a:noFill/>
              <a:ln/>
            </p:spPr>
            <p:txBody>
              <a:bodyPr wrap="square" lIns="0" tIns="0" rIns="0" bIns="0" rtlCol="0" anchor="ctr"/>
              <a:lstStyle/>
              <a:p>
                <a:pPr marL="0" indent="0" algn="ctr">
                  <a:buNone/>
                </a:pPr>
                <a:r>
                  <a:rPr lang="en-US" sz="1300" i="1">
                    <a:latin typeface="Cambria Math"/>
                  </a:rPr>
                  <a:t>𝜏𝑘+1𝑥,𝑦=0,𝐵𝑘+1=1∧𝐵𝑘=0𝜏𝑘+Δ𝑡,𝐵𝑘+1=1∧𝐵𝑘=10,𝐵𝑘+1=0</a:t>
                </a:r>
                <a:endParaRPr lang="en-US" sz="1400" dirty="0"/>
              </a:p>
            </p:txBody>
          </p:sp>
        </mc:Fallback>
      </mc:AlternateContent>
    </p:spTree>
    <p:extLst>
      <p:ext uri="{BB962C8B-B14F-4D97-AF65-F5344CB8AC3E}">
        <p14:creationId xmlns:p14="http://schemas.microsoft.com/office/powerpoint/2010/main" val="1794984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56032"/>
            <a:ext cx="91440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SIMULATION FRAMEWORK : ARCHITECTURE</a:t>
            </a:r>
            <a:endParaRPr lang="en-US" sz="1300" dirty="0"/>
          </a:p>
        </p:txBody>
      </p:sp>
      <p:sp>
        <p:nvSpPr>
          <p:cNvPr id="3" name="Text 1"/>
          <p:cNvSpPr/>
          <p:nvPr/>
        </p:nvSpPr>
        <p:spPr>
          <a:xfrm>
            <a:off x="502920" y="512064"/>
            <a:ext cx="11247120" cy="731520"/>
          </a:xfrm>
          <a:prstGeom prst="rect">
            <a:avLst/>
          </a:prstGeom>
          <a:noFill/>
          <a:ln/>
        </p:spPr>
        <p:txBody>
          <a:bodyPr wrap="square" lIns="0" tIns="0" rIns="0" bIns="0" rtlCol="0" anchor="ctr"/>
          <a:lstStyle/>
          <a:p>
            <a:pPr marL="0" indent="0">
              <a:buNone/>
            </a:pPr>
            <a:r>
              <a:rPr lang="tr-TR" sz="2700" b="1" dirty="0">
                <a:solidFill>
                  <a:srgbClr val="000000"/>
                </a:solidFill>
                <a:latin typeface="Cambria" pitchFamily="34" charset="0"/>
                <a:ea typeface="Cambria" pitchFamily="34" charset="-122"/>
                <a:cs typeface="Cambria" pitchFamily="34" charset="-120"/>
              </a:rPr>
              <a:t>DSS – </a:t>
            </a:r>
            <a:r>
              <a:rPr lang="tr-TR" sz="2700" b="1" dirty="0" err="1">
                <a:solidFill>
                  <a:srgbClr val="000000"/>
                </a:solidFill>
                <a:latin typeface="Cambria" pitchFamily="34" charset="0"/>
                <a:ea typeface="Cambria" pitchFamily="34" charset="-122"/>
                <a:cs typeface="Cambria" pitchFamily="34" charset="-120"/>
              </a:rPr>
              <a:t>Input</a:t>
            </a:r>
            <a:r>
              <a:rPr lang="tr-TR" sz="2700" b="1" dirty="0">
                <a:solidFill>
                  <a:srgbClr val="000000"/>
                </a:solidFill>
                <a:latin typeface="Cambria" pitchFamily="34" charset="0"/>
                <a:ea typeface="Cambria" pitchFamily="34" charset="-122"/>
                <a:cs typeface="Cambria" pitchFamily="34" charset="-120"/>
              </a:rPr>
              <a:t> </a:t>
            </a:r>
            <a:r>
              <a:rPr lang="tr-TR" sz="2700" b="1" dirty="0" err="1">
                <a:solidFill>
                  <a:srgbClr val="000000"/>
                </a:solidFill>
                <a:latin typeface="Cambria" pitchFamily="34" charset="0"/>
                <a:ea typeface="Cambria" pitchFamily="34" charset="-122"/>
                <a:cs typeface="Cambria" pitchFamily="34" charset="-120"/>
              </a:rPr>
              <a:t>Field</a:t>
            </a:r>
            <a:r>
              <a:rPr lang="tr-TR" sz="2700" b="1" dirty="0">
                <a:solidFill>
                  <a:srgbClr val="000000"/>
                </a:solidFill>
                <a:latin typeface="Cambria" pitchFamily="34" charset="0"/>
                <a:ea typeface="Cambria" pitchFamily="34" charset="-122"/>
                <a:cs typeface="Cambria" pitchFamily="34" charset="-120"/>
              </a:rPr>
              <a:t> </a:t>
            </a:r>
            <a:endParaRPr lang="en-US" sz="2700" dirty="0"/>
          </a:p>
        </p:txBody>
      </p:sp>
      <p:pic>
        <p:nvPicPr>
          <p:cNvPr id="4"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5"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p:pic>
        <p:nvPicPr>
          <p:cNvPr id="6" name="Image 2" descr="/tmp/thx/deck/figs/Figure3_1.png"/>
          <p:cNvPicPr>
            <a:picLocks noChangeAspect="1"/>
          </p:cNvPicPr>
          <p:nvPr/>
        </p:nvPicPr>
        <p:blipFill>
          <a:blip r:embed="rId5"/>
          <a:stretch>
            <a:fillRect/>
          </a:stretch>
        </p:blipFill>
        <p:spPr>
          <a:xfrm>
            <a:off x="365760" y="1815950"/>
            <a:ext cx="5074920" cy="4323379"/>
          </a:xfrm>
          <a:prstGeom prst="rect">
            <a:avLst/>
          </a:prstGeom>
        </p:spPr>
      </p:pic>
      <p:sp>
        <p:nvSpPr>
          <p:cNvPr id="7" name="Text 2"/>
          <p:cNvSpPr/>
          <p:nvPr/>
        </p:nvSpPr>
        <p:spPr>
          <a:xfrm>
            <a:off x="5829300" y="1097280"/>
            <a:ext cx="6035040" cy="320040"/>
          </a:xfrm>
          <a:prstGeom prst="rect">
            <a:avLst/>
          </a:prstGeom>
          <a:noFill/>
          <a:ln/>
        </p:spPr>
        <p:txBody>
          <a:bodyPr wrap="square" lIns="0" tIns="0" rIns="0" bIns="0" rtlCol="0" anchor="t"/>
          <a:lstStyle/>
          <a:p>
            <a:pPr marL="0" indent="0" algn="just">
              <a:lnSpc>
                <a:spcPct val="104000"/>
              </a:lnSpc>
              <a:buNone/>
            </a:pPr>
            <a:r>
              <a:rPr lang="en-US" sz="1600" b="1">
                <a:solidFill>
                  <a:srgbClr val="222222"/>
                </a:solidFill>
                <a:latin typeface="Calibri" pitchFamily="34" charset="0"/>
                <a:ea typeface="Calibri" pitchFamily="34" charset="-122"/>
                <a:cs typeface="Calibri" pitchFamily="34" charset="-120"/>
              </a:rPr>
              <a:t>• Decisional context — read only by the DSS, invisible to the physics:</a:t>
            </a:r>
            <a:endParaRPr lang="en-US" sz="1600" dirty="0"/>
          </a:p>
        </p:txBody>
      </p:sp>
      <mc:AlternateContent xmlns:mc="http://schemas.openxmlformats.org/markup-compatibility/2006" xmlns:a14="http://schemas.microsoft.com/office/drawing/2010/main">
        <mc:Choice Requires="a14">
          <p:sp>
            <p:nvSpPr>
              <p:cNvPr id="8" name="Text 3"/>
              <p:cNvSpPr/>
              <p:nvPr/>
            </p:nvSpPr>
            <p:spPr>
              <a:xfrm>
                <a:off x="5752904" y="1380744"/>
                <a:ext cx="6035040" cy="384048"/>
              </a:xfrm>
              <a:prstGeom prst="rect">
                <a:avLst/>
              </a:prstGeom>
              <a:noFill/>
              <a:ln/>
            </p:spPr>
            <p:txBody>
              <a:bodyPr wrap="square" lIns="0" tIns="0" rIns="0" bIns="0"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n-US" sz="1500" i="1">
                              <a:latin typeface="Cambria Math" panose="02040503050406030204" pitchFamily="18" charset="0"/>
                            </a:rPr>
                          </m:ctrlPr>
                        </m:sSubPr>
                        <m:e>
                          <m:r>
                            <a:rPr lang="en-US" sz="1500">
                              <a:latin typeface="Cambria Math"/>
                            </a:rPr>
                            <m:t>ℱ</m:t>
                          </m:r>
                        </m:e>
                        <m:sub>
                          <m:r>
                            <a:rPr lang="en-US" sz="1500">
                              <a:latin typeface="Cambria Math"/>
                            </a:rPr>
                            <m:t>𝐷𝑆𝑆</m:t>
                          </m:r>
                          <m:r>
                            <a:rPr lang="en-US" sz="1500">
                              <a:latin typeface="Cambria Math"/>
                            </a:rPr>
                            <m:t>,</m:t>
                          </m:r>
                          <m:r>
                            <a:rPr lang="en-US" sz="1500">
                              <a:latin typeface="Cambria Math"/>
                            </a:rPr>
                            <m:t>𝑘</m:t>
                          </m:r>
                        </m:sub>
                      </m:sSub>
                      <m:r>
                        <a:rPr lang="en-US" sz="1500">
                          <a:latin typeface="Cambria Math"/>
                        </a:rPr>
                        <m:t>={</m:t>
                      </m:r>
                      <m:sSub>
                        <m:sSubPr>
                          <m:ctrlPr>
                            <a:rPr lang="en-US" sz="1500" b="1" i="1">
                              <a:latin typeface="Cambria Math" panose="02040503050406030204" pitchFamily="18" charset="0"/>
                            </a:rPr>
                          </m:ctrlPr>
                        </m:sSubPr>
                        <m:e>
                          <m:r>
                            <a:rPr lang="en-US" sz="1500" b="1" i="1">
                              <a:latin typeface="Cambria Math"/>
                            </a:rPr>
                            <m:t>𝐔</m:t>
                          </m:r>
                        </m:e>
                        <m:sub>
                          <m:r>
                            <a:rPr lang="en-US" sz="1500" b="1" i="1">
                              <a:latin typeface="Cambria Math"/>
                            </a:rPr>
                            <m:t>𝐕𝐚𝐥</m:t>
                          </m:r>
                          <m:r>
                            <a:rPr lang="en-US" sz="1500" b="1">
                              <a:latin typeface="Cambria Math"/>
                            </a:rPr>
                            <m:t>,</m:t>
                          </m:r>
                          <m:r>
                            <a:rPr lang="en-US" sz="1500" b="1" i="1">
                              <a:latin typeface="Cambria Math"/>
                            </a:rPr>
                            <m:t>𝐤</m:t>
                          </m:r>
                        </m:sub>
                      </m:sSub>
                      <m:r>
                        <a:rPr lang="en-US" sz="1500">
                          <a:latin typeface="Cambria Math"/>
                        </a:rPr>
                        <m:t>, </m:t>
                      </m:r>
                      <m:sSub>
                        <m:sSubPr>
                          <m:ctrlPr>
                            <a:rPr lang="en-US" sz="1500" i="1">
                              <a:latin typeface="Cambria Math" panose="02040503050406030204" pitchFamily="18" charset="0"/>
                            </a:rPr>
                          </m:ctrlPr>
                        </m:sSubPr>
                        <m:e>
                          <m:r>
                            <a:rPr lang="en-US" sz="1500">
                              <a:latin typeface="Cambria Math"/>
                            </a:rPr>
                            <m:t>𝑈</m:t>
                          </m:r>
                        </m:e>
                        <m:sub>
                          <m:r>
                            <a:rPr lang="en-US" sz="1500">
                              <a:latin typeface="Cambria Math"/>
                            </a:rPr>
                            <m:t>𝑅𝑒𝑠</m:t>
                          </m:r>
                          <m:r>
                            <a:rPr lang="en-US" sz="1500">
                              <a:latin typeface="Cambria Math"/>
                            </a:rPr>
                            <m:t>,</m:t>
                          </m:r>
                          <m:r>
                            <a:rPr lang="en-US" sz="1500">
                              <a:latin typeface="Cambria Math"/>
                            </a:rPr>
                            <m:t>𝑘</m:t>
                          </m:r>
                        </m:sub>
                      </m:sSub>
                      <m:r>
                        <a:rPr lang="en-US" sz="1500">
                          <a:latin typeface="Cambria Math"/>
                        </a:rPr>
                        <m:t>}</m:t>
                      </m:r>
                    </m:oMath>
                  </m:oMathPara>
                </a14:m>
                <a:endParaRPr lang="en-US" sz="1600" dirty="0"/>
              </a:p>
            </p:txBody>
          </p:sp>
        </mc:Choice>
        <mc:Fallback xmlns="">
          <p:sp>
            <p:nvSpPr>
              <p:cNvPr id="8" name="Text 3"/>
              <p:cNvSpPr>
                <a:spLocks noRot="1" noChangeAspect="1" noMove="1" noResize="1" noEditPoints="1" noAdjustHandles="1" noChangeArrowheads="1" noChangeShapeType="1" noTextEdit="1"/>
              </p:cNvSpPr>
              <p:nvPr/>
            </p:nvSpPr>
            <p:spPr>
              <a:xfrm>
                <a:off x="5752904" y="1380744"/>
                <a:ext cx="6035040" cy="384048"/>
              </a:xfrm>
              <a:prstGeom prst="rect">
                <a:avLst/>
              </a:prstGeom>
              <a:blipFill>
                <a:blip r:embed="rId6"/>
                <a:stretch>
                  <a:fillRect b="-4762"/>
                </a:stretch>
              </a:blipFill>
              <a:ln/>
            </p:spPr>
            <p:txBody>
              <a:bodyPr/>
              <a:lstStyle/>
              <a:p>
                <a:r>
                  <a:rPr lang="tr-TR">
                    <a:noFill/>
                  </a:rPr>
                  <a:t/>
                </a:r>
              </a:p>
            </p:txBody>
          </p:sp>
        </mc:Fallback>
      </mc:AlternateContent>
      <mc:AlternateContent xmlns:mc="http://schemas.openxmlformats.org/markup-compatibility/2006" xmlns:a14="http://schemas.microsoft.com/office/drawing/2010/main">
        <mc:Choice Requires="a14">
          <p:sp>
            <p:nvSpPr>
              <p:cNvPr id="9" name="Text 4"/>
              <p:cNvSpPr/>
              <p:nvPr/>
            </p:nvSpPr>
            <p:spPr>
              <a:xfrm>
                <a:off x="5981504" y="1828800"/>
                <a:ext cx="5806440" cy="292608"/>
              </a:xfrm>
              <a:prstGeom prst="rect">
                <a:avLst/>
              </a:prstGeom>
              <a:noFill/>
              <a:ln/>
            </p:spPr>
            <p:txBody>
              <a:bodyPr wrap="square" lIns="0" tIns="0" rIns="0" bIns="0" rtlCol="0" anchor="t"/>
              <a:lstStyle/>
              <a:p>
                <a:pPr marL="0" indent="0">
                  <a:lnSpc>
                    <a:spcPct val="104000"/>
                  </a:lnSpc>
                  <a:buNone/>
                </a:pPr>
                <a14:m>
                  <m:oMath xmlns:m="http://schemas.openxmlformats.org/officeDocument/2006/math">
                    <m:sSub>
                      <m:sSubPr>
                        <m:ctrlPr>
                          <a:rPr lang="en-US" sz="1300" i="1">
                            <a:latin typeface="Cambria Math" panose="02040503050406030204" pitchFamily="18" charset="0"/>
                          </a:rPr>
                        </m:ctrlPr>
                      </m:sSubPr>
                      <m:e>
                        <m:r>
                          <a:rPr lang="en-US" sz="1300" b="0" i="1">
                            <a:latin typeface="Cambria Math"/>
                          </a:rPr>
                          <m:t>𝑈</m:t>
                        </m:r>
                      </m:e>
                      <m:sub>
                        <m:r>
                          <a:rPr lang="en-US" sz="1300" b="0" i="1">
                            <a:latin typeface="Cambria Math"/>
                          </a:rPr>
                          <m:t>𝑉𝑎𝑙</m:t>
                        </m:r>
                        <m:r>
                          <a:rPr lang="en-US" sz="1300" b="0">
                            <a:latin typeface="Cambria Math"/>
                          </a:rPr>
                          <m:t>,</m:t>
                        </m:r>
                        <m:r>
                          <a:rPr lang="en-US" sz="1300" b="0" i="1">
                            <a:latin typeface="Cambria Math"/>
                          </a:rPr>
                          <m:t>𝑘</m:t>
                        </m:r>
                      </m:sub>
                    </m:sSub>
                    <m:r>
                      <a:rPr lang="en-US" sz="1300" b="0">
                        <a:latin typeface="Cambria Math"/>
                      </a:rPr>
                      <m:t>(</m:t>
                    </m:r>
                    <m:r>
                      <a:rPr lang="en-US" sz="1300" b="0" i="1">
                        <a:latin typeface="Cambria Math"/>
                      </a:rPr>
                      <m:t>𝑥</m:t>
                    </m:r>
                    <m:r>
                      <a:rPr lang="en-US" sz="1300" b="0">
                        <a:latin typeface="Cambria Math"/>
                      </a:rPr>
                      <m:t>,</m:t>
                    </m:r>
                    <m:r>
                      <a:rPr lang="en-US" sz="1300" b="0" i="1">
                        <a:latin typeface="Cambria Math"/>
                      </a:rPr>
                      <m:t>𝑦</m:t>
                    </m:r>
                    <m:r>
                      <a:rPr lang="en-US" sz="1300" b="0">
                        <a:latin typeface="Cambria Math"/>
                      </a:rPr>
                      <m:t>)</m:t>
                    </m:r>
                  </m:oMath>
                </a14:m>
                <a:r>
                  <a:rPr lang="en-US" sz="1350" dirty="0">
                    <a:solidFill>
                      <a:srgbClr val="222222"/>
                    </a:solidFill>
                    <a:latin typeface="Calibri" pitchFamily="34" charset="0"/>
                    <a:ea typeface="Calibri" pitchFamily="34" charset="-122"/>
                    <a:cs typeface="Calibri" pitchFamily="34" charset="-120"/>
                  </a:rPr>
                  <a:t> — value-at-risk priorities</a:t>
                </a:r>
                <a:endParaRPr lang="en-US" sz="1350" dirty="0"/>
              </a:p>
            </p:txBody>
          </p:sp>
        </mc:Choice>
        <mc:Fallback xmlns="">
          <p:sp>
            <p:nvSpPr>
              <p:cNvPr id="9" name="Text 4"/>
              <p:cNvSpPr>
                <a:spLocks noRot="1" noChangeAspect="1" noMove="1" noResize="1" noEditPoints="1" noAdjustHandles="1" noChangeArrowheads="1" noChangeShapeType="1" noTextEdit="1"/>
              </p:cNvSpPr>
              <p:nvPr/>
            </p:nvSpPr>
            <p:spPr>
              <a:xfrm>
                <a:off x="5981504" y="1828800"/>
                <a:ext cx="5806440" cy="292608"/>
              </a:xfrm>
              <a:prstGeom prst="rect">
                <a:avLst/>
              </a:prstGeom>
              <a:blipFill>
                <a:blip r:embed="rId7"/>
                <a:stretch>
                  <a:fillRect l="-944" t="-18750" b="-6250"/>
                </a:stretch>
              </a:blipFill>
              <a:ln/>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1" name="Text 6"/>
              <p:cNvSpPr/>
              <p:nvPr/>
            </p:nvSpPr>
            <p:spPr>
              <a:xfrm>
                <a:off x="5981504" y="2061625"/>
                <a:ext cx="5806440" cy="320040"/>
              </a:xfrm>
              <a:prstGeom prst="rect">
                <a:avLst/>
              </a:prstGeom>
              <a:noFill/>
              <a:ln/>
            </p:spPr>
            <p:txBody>
              <a:bodyPr wrap="square" lIns="0" tIns="0" rIns="0" bIns="0" rtlCol="0" anchor="t"/>
              <a:lstStyle/>
              <a:p>
                <a:pPr marL="0" indent="0">
                  <a:lnSpc>
                    <a:spcPct val="104000"/>
                  </a:lnSpc>
                  <a:buNone/>
                </a:pPr>
                <a14:m>
                  <m:oMath xmlns:m="http://schemas.openxmlformats.org/officeDocument/2006/math">
                    <m:sSub>
                      <m:sSubPr>
                        <m:ctrlPr>
                          <a:rPr lang="en-US" sz="1300" i="1">
                            <a:latin typeface="Cambria Math" panose="02040503050406030204" pitchFamily="18" charset="0"/>
                          </a:rPr>
                        </m:ctrlPr>
                      </m:sSubPr>
                      <m:e>
                        <m:r>
                          <a:rPr lang="en-US" sz="1300">
                            <a:latin typeface="Cambria Math"/>
                          </a:rPr>
                          <m:t>𝑈</m:t>
                        </m:r>
                      </m:e>
                      <m:sub>
                        <m:r>
                          <a:rPr lang="en-US" sz="1300">
                            <a:latin typeface="Cambria Math"/>
                          </a:rPr>
                          <m:t>𝑅𝑒𝑠</m:t>
                        </m:r>
                        <m:r>
                          <a:rPr lang="en-US" sz="1300">
                            <a:latin typeface="Cambria Math"/>
                          </a:rPr>
                          <m:t>,</m:t>
                        </m:r>
                        <m:r>
                          <a:rPr lang="en-US" sz="1300">
                            <a:latin typeface="Cambria Math"/>
                          </a:rPr>
                          <m:t>𝑘</m:t>
                        </m:r>
                      </m:sub>
                    </m:sSub>
                    <m:r>
                      <a:rPr lang="en-US" sz="1300">
                        <a:latin typeface="Cambria Math"/>
                      </a:rPr>
                      <m:t>(</m:t>
                    </m:r>
                    <m:r>
                      <a:rPr lang="en-US" sz="1300">
                        <a:latin typeface="Cambria Math"/>
                      </a:rPr>
                      <m:t>𝑥</m:t>
                    </m:r>
                    <m:r>
                      <a:rPr lang="en-US" sz="1300">
                        <a:latin typeface="Cambria Math"/>
                      </a:rPr>
                      <m:t>,</m:t>
                    </m:r>
                    <m:r>
                      <a:rPr lang="en-US" sz="1300">
                        <a:latin typeface="Cambria Math"/>
                      </a:rPr>
                      <m:t>𝑦</m:t>
                    </m:r>
                    <m:r>
                      <a:rPr lang="en-US" sz="1300">
                        <a:latin typeface="Cambria Math"/>
                      </a:rPr>
                      <m:t>)</m:t>
                    </m:r>
                  </m:oMath>
                </a14:m>
                <a:r>
                  <a:rPr lang="en-US" sz="1350" dirty="0">
                    <a:solidFill>
                      <a:srgbClr val="222222"/>
                    </a:solidFill>
                    <a:latin typeface="Calibri" pitchFamily="34" charset="0"/>
                    <a:ea typeface="Calibri" pitchFamily="34" charset="-122"/>
                    <a:cs typeface="Calibri" pitchFamily="34" charset="-120"/>
                  </a:rPr>
                  <a:t> — resource pool</a:t>
                </a:r>
                <a:endParaRPr lang="en-US" sz="1350" dirty="0"/>
              </a:p>
            </p:txBody>
          </p:sp>
        </mc:Choice>
        <mc:Fallback xmlns="">
          <p:sp>
            <p:nvSpPr>
              <p:cNvPr id="11" name="Text 6"/>
              <p:cNvSpPr>
                <a:spLocks noRot="1" noChangeAspect="1" noMove="1" noResize="1" noEditPoints="1" noAdjustHandles="1" noChangeArrowheads="1" noChangeShapeType="1" noTextEdit="1"/>
              </p:cNvSpPr>
              <p:nvPr/>
            </p:nvSpPr>
            <p:spPr>
              <a:xfrm>
                <a:off x="5981504" y="2061625"/>
                <a:ext cx="5806440" cy="320040"/>
              </a:xfrm>
              <a:prstGeom prst="rect">
                <a:avLst/>
              </a:prstGeom>
              <a:blipFill>
                <a:blip r:embed="rId8"/>
                <a:stretch>
                  <a:fillRect l="-944" t="-16981"/>
                </a:stretch>
              </a:blipFill>
              <a:ln/>
            </p:spPr>
            <p:txBody>
              <a:bodyPr/>
              <a:lstStyle/>
              <a:p>
                <a:r>
                  <a:rPr lang="tr-TR">
                    <a:noFill/>
                  </a:rPr>
                  <a:t> </a:t>
                </a:r>
              </a:p>
            </p:txBody>
          </p:sp>
        </mc:Fallback>
      </mc:AlternateContent>
      <mc:AlternateContent xmlns:mc="http://schemas.openxmlformats.org/markup-compatibility/2006" xmlns:a14="http://schemas.microsoft.com/office/drawing/2010/main">
        <mc:Choice Requires="a14">
          <p:graphicFrame>
            <p:nvGraphicFramePr>
              <p:cNvPr id="10" name="Table 9">
                <a:extLst>
                  <a:ext uri="{FF2B5EF4-FFF2-40B4-BE49-F238E27FC236}">
                    <a16:creationId xmlns:a16="http://schemas.microsoft.com/office/drawing/2014/main" id="{098AF497-9BAD-4DBD-9FCA-7A884A1A2873}"/>
                  </a:ext>
                </a:extLst>
              </p:cNvPr>
              <p:cNvGraphicFramePr>
                <a:graphicFrameLocks noGrp="1"/>
              </p:cNvGraphicFramePr>
              <p:nvPr>
                <p:extLst>
                  <p:ext uri="{D42A27DB-BD31-4B8C-83A1-F6EECF244321}">
                    <p14:modId xmlns:p14="http://schemas.microsoft.com/office/powerpoint/2010/main" val="2022686265"/>
                  </p:ext>
                </p:extLst>
              </p:nvPr>
            </p:nvGraphicFramePr>
            <p:xfrm>
              <a:off x="5920801" y="2339510"/>
              <a:ext cx="5582351" cy="3697341"/>
            </p:xfrm>
            <a:graphic>
              <a:graphicData uri="http://schemas.openxmlformats.org/drawingml/2006/table">
                <a:tbl>
                  <a:tblPr firstRow="1" bandRow="1">
                    <a:tableStyleId>{93296810-A885-4BE3-A3E7-6D5BEEA58F35}</a:tableStyleId>
                  </a:tblPr>
                  <a:tblGrid>
                    <a:gridCol w="2541028">
                      <a:extLst>
                        <a:ext uri="{9D8B030D-6E8A-4147-A177-3AD203B41FA5}">
                          <a16:colId xmlns:a16="http://schemas.microsoft.com/office/drawing/2014/main" val="277425698"/>
                        </a:ext>
                      </a:extLst>
                    </a:gridCol>
                    <a:gridCol w="3041323">
                      <a:extLst>
                        <a:ext uri="{9D8B030D-6E8A-4147-A177-3AD203B41FA5}">
                          <a16:colId xmlns:a16="http://schemas.microsoft.com/office/drawing/2014/main" val="3088005188"/>
                        </a:ext>
                      </a:extLst>
                    </a:gridCol>
                  </a:tblGrid>
                  <a:tr h="305995">
                    <a:tc>
                      <a:txBody>
                        <a:bodyPr/>
                        <a:lstStyle/>
                        <a:p>
                          <a:pPr algn="ctr">
                            <a:lnSpc>
                              <a:spcPct val="150000"/>
                            </a:lnSpc>
                          </a:pPr>
                          <a14:m>
                            <m:oMath xmlns:m="http://schemas.openxmlformats.org/officeDocument/2006/math">
                              <m:sSub>
                                <m:sSubPr>
                                  <m:ctrlPr>
                                    <a:rPr lang="en-US" sz="1400" b="1" i="1" smtClean="0">
                                      <a:latin typeface="Cambria Math" panose="02040503050406030204" pitchFamily="18" charset="0"/>
                                    </a:rPr>
                                  </m:ctrlPr>
                                </m:sSubPr>
                                <m:e>
                                  <m:r>
                                    <a:rPr lang="en-US" sz="1400" b="1" i="1">
                                      <a:latin typeface="Cambria Math"/>
                                    </a:rPr>
                                    <m:t>𝑼</m:t>
                                  </m:r>
                                </m:e>
                                <m:sub>
                                  <m:r>
                                    <a:rPr lang="en-US" sz="1400" b="1" i="1">
                                      <a:latin typeface="Cambria Math"/>
                                    </a:rPr>
                                    <m:t>𝑽𝒂𝒍</m:t>
                                  </m:r>
                                  <m:r>
                                    <a:rPr lang="en-US" sz="1400" b="1" i="1">
                                      <a:latin typeface="Cambria Math"/>
                                    </a:rPr>
                                    <m:t>,</m:t>
                                  </m:r>
                                  <m:r>
                                    <a:rPr lang="en-US" sz="1400" b="1" i="1">
                                      <a:latin typeface="Cambria Math"/>
                                    </a:rPr>
                                    <m:t>𝒌</m:t>
                                  </m:r>
                                </m:sub>
                              </m:sSub>
                            </m:oMath>
                          </a14:m>
                          <a:r>
                            <a:rPr lang="en-US" sz="1300" i="1" dirty="0">
                              <a:effectLst/>
                            </a:rPr>
                            <a:t> </a:t>
                          </a:r>
                          <a:endParaRPr lang="tr-TR" sz="1300" i="1" dirty="0">
                            <a:effectLst/>
                            <a:latin typeface="Times New Roman" panose="02020603050405020304" pitchFamily="18" charset="0"/>
                            <a:ea typeface="Calibri" panose="020F0502020204030204" pitchFamily="34" charset="0"/>
                            <a:cs typeface="Arial" panose="020B0604020202020204" pitchFamily="34" charset="0"/>
                          </a:endParaRPr>
                        </a:p>
                      </a:txBody>
                      <a:tcPr marL="62697" marR="62697" marT="0" marB="0"/>
                    </a:tc>
                    <a:tc>
                      <a:txBody>
                        <a:bodyPr/>
                        <a:lstStyle/>
                        <a:p>
                          <a:pPr algn="ctr">
                            <a:lnSpc>
                              <a:spcPct val="150000"/>
                            </a:lnSpc>
                          </a:pPr>
                          <a14:m>
                            <m:oMath xmlns:m="http://schemas.openxmlformats.org/officeDocument/2006/math">
                              <m:sSub>
                                <m:sSubPr>
                                  <m:ctrlPr>
                                    <a:rPr lang="en-US" sz="1400" i="1" smtClean="0">
                                      <a:latin typeface="Cambria Math" panose="02040503050406030204" pitchFamily="18" charset="0"/>
                                    </a:rPr>
                                  </m:ctrlPr>
                                </m:sSubPr>
                                <m:e>
                                  <m:r>
                                    <a:rPr lang="en-US" sz="1400">
                                      <a:latin typeface="Cambria Math"/>
                                    </a:rPr>
                                    <m:t>𝑈</m:t>
                                  </m:r>
                                </m:e>
                                <m:sub>
                                  <m:r>
                                    <a:rPr lang="en-US" sz="1400">
                                      <a:latin typeface="Cambria Math"/>
                                    </a:rPr>
                                    <m:t>𝑅𝑒𝑠</m:t>
                                  </m:r>
                                  <m:r>
                                    <a:rPr lang="en-US" sz="1400">
                                      <a:latin typeface="Cambria Math"/>
                                    </a:rPr>
                                    <m:t>,</m:t>
                                  </m:r>
                                  <m:r>
                                    <a:rPr lang="en-US" sz="1400">
                                      <a:latin typeface="Cambria Math"/>
                                    </a:rPr>
                                    <m:t>𝑘</m:t>
                                  </m:r>
                                </m:sub>
                              </m:sSub>
                            </m:oMath>
                          </a14:m>
                          <a:r>
                            <a:rPr lang="en-US" sz="1300" dirty="0">
                              <a:effectLst/>
                            </a:rPr>
                            <a:t> </a:t>
                          </a:r>
                          <a:endParaRPr lang="tr-TR" sz="1300" dirty="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extLst>
                      <a:ext uri="{0D108BD9-81ED-4DB2-BD59-A6C34878D82A}">
                        <a16:rowId xmlns:a16="http://schemas.microsoft.com/office/drawing/2014/main" val="3105288991"/>
                      </a:ext>
                    </a:extLst>
                  </a:tr>
                  <a:tr h="622190">
                    <a:tc>
                      <a:txBody>
                        <a:bodyPr/>
                        <a:lstStyle/>
                        <a:p>
                          <a:pPr algn="just">
                            <a:lnSpc>
                              <a:spcPct val="150000"/>
                            </a:lnSpc>
                          </a:pPr>
                          <a:r>
                            <a:rPr lang="en-US" sz="1300" dirty="0">
                              <a:effectLst/>
                            </a:rPr>
                            <a:t>Building Footprint</a:t>
                          </a:r>
                          <a:r>
                            <a:rPr lang="tr-TR" sz="1300" dirty="0">
                              <a:effectLst/>
                            </a:rPr>
                            <a:t> </a:t>
                          </a:r>
                        </a:p>
                        <a:p>
                          <a:pPr algn="just">
                            <a:lnSpc>
                              <a:spcPct val="150000"/>
                            </a:lnSpc>
                          </a:pPr>
                          <a14:m>
                            <m:oMathPara xmlns:m="http://schemas.openxmlformats.org/officeDocument/2006/math">
                              <m:oMathParaPr>
                                <m:jc m:val="centerGroup"/>
                              </m:oMathParaPr>
                              <m:oMath xmlns:m="http://schemas.openxmlformats.org/officeDocument/2006/math">
                                <m:sSub>
                                  <m:sSubPr>
                                    <m:ctrlPr>
                                      <a:rPr lang="en-US" sz="1300" i="1">
                                        <a:effectLst/>
                                        <a:latin typeface="Cambria Math" panose="02040503050406030204" pitchFamily="18" charset="0"/>
                                      </a:rPr>
                                    </m:ctrlPr>
                                  </m:sSubPr>
                                  <m:e>
                                    <m:r>
                                      <a:rPr lang="en-US" sz="1300">
                                        <a:effectLst/>
                                        <a:latin typeface="Cambria Math" panose="02040503050406030204" pitchFamily="18" charset="0"/>
                                      </a:rPr>
                                      <m:t>𝑽</m:t>
                                    </m:r>
                                  </m:e>
                                  <m:sub>
                                    <m:r>
                                      <m:rPr>
                                        <m:nor/>
                                      </m:rPr>
                                      <a:rPr lang="en-US" sz="1300" i="0">
                                        <a:effectLst/>
                                      </a:rPr>
                                      <m:t>bld</m:t>
                                    </m:r>
                                  </m:sub>
                                </m:sSub>
                                <m:d>
                                  <m:dPr>
                                    <m:ctrlPr>
                                      <a:rPr lang="en-US" sz="1300" i="1">
                                        <a:effectLst/>
                                        <a:latin typeface="Cambria Math" panose="02040503050406030204" pitchFamily="18" charset="0"/>
                                      </a:rPr>
                                    </m:ctrlPr>
                                  </m:dPr>
                                  <m:e>
                                    <m:r>
                                      <a:rPr lang="en-US" sz="1300">
                                        <a:effectLst/>
                                        <a:latin typeface="Cambria Math" panose="02040503050406030204" pitchFamily="18" charset="0"/>
                                      </a:rPr>
                                      <m:t>𝒙</m:t>
                                    </m:r>
                                    <m:r>
                                      <a:rPr lang="en-US" sz="1300">
                                        <a:effectLst/>
                                        <a:latin typeface="Cambria Math" panose="02040503050406030204" pitchFamily="18" charset="0"/>
                                      </a:rPr>
                                      <m:t>,</m:t>
                                    </m:r>
                                    <m:r>
                                      <a:rPr lang="en-US" sz="1300">
                                        <a:effectLst/>
                                        <a:latin typeface="Cambria Math" panose="02040503050406030204" pitchFamily="18" charset="0"/>
                                      </a:rPr>
                                      <m:t>𝒚</m:t>
                                    </m:r>
                                  </m:e>
                                </m:d>
                              </m:oMath>
                            </m:oMathPara>
                          </a14:m>
                          <a:endParaRPr lang="tr-TR" sz="1300" dirty="0">
                            <a:effectLst/>
                            <a:latin typeface="Times New Roman" panose="02020603050405020304" pitchFamily="18" charset="0"/>
                            <a:ea typeface="Calibri" panose="020F0502020204030204" pitchFamily="34" charset="0"/>
                            <a:cs typeface="Arial" panose="020B0604020202020204" pitchFamily="34" charset="0"/>
                          </a:endParaRPr>
                        </a:p>
                      </a:txBody>
                      <a:tcPr marL="62697" marR="62697" marT="0" marB="0"/>
                    </a:tc>
                    <a:tc>
                      <a:txBody>
                        <a:bodyPr/>
                        <a:lstStyle/>
                        <a:p>
                          <a:pPr algn="just">
                            <a:lnSpc>
                              <a:spcPct val="150000"/>
                            </a:lnSpc>
                          </a:pPr>
                          <a:r>
                            <a:rPr lang="en-US" sz="1300" dirty="0">
                              <a:effectLst/>
                            </a:rPr>
                            <a:t>Suppression Capacity </a:t>
                          </a:r>
                          <a:endParaRPr lang="tr-TR" sz="1300" dirty="0">
                            <a:effectLst/>
                          </a:endParaRPr>
                        </a:p>
                        <a:p>
                          <a:pPr algn="just">
                            <a:lnSpc>
                              <a:spcPct val="150000"/>
                            </a:lnSpc>
                          </a:pPr>
                          <a14:m>
                            <m:oMathPara xmlns:m="http://schemas.openxmlformats.org/officeDocument/2006/math">
                              <m:oMathParaPr>
                                <m:jc m:val="centerGroup"/>
                              </m:oMathParaPr>
                              <m:oMath xmlns:m="http://schemas.openxmlformats.org/officeDocument/2006/math">
                                <m:sSub>
                                  <m:sSubPr>
                                    <m:ctrlPr>
                                      <a:rPr lang="en-US" sz="1300" i="1">
                                        <a:effectLst/>
                                        <a:latin typeface="Cambria Math" panose="02040503050406030204" pitchFamily="18" charset="0"/>
                                      </a:rPr>
                                    </m:ctrlPr>
                                  </m:sSubPr>
                                  <m:e>
                                    <m:bar>
                                      <m:barPr>
                                        <m:pos m:val="top"/>
                                        <m:ctrlPr>
                                          <a:rPr lang="en-US" sz="1300" i="1">
                                            <a:effectLst/>
                                            <a:latin typeface="Cambria Math" panose="02040503050406030204" pitchFamily="18" charset="0"/>
                                          </a:rPr>
                                        </m:ctrlPr>
                                      </m:barPr>
                                      <m:e>
                                        <m:r>
                                          <a:rPr lang="en-US" sz="1300">
                                            <a:effectLst/>
                                            <a:latin typeface="Cambria Math" panose="02040503050406030204" pitchFamily="18" charset="0"/>
                                          </a:rPr>
                                          <m:t>𝑹</m:t>
                                        </m:r>
                                      </m:e>
                                    </m:bar>
                                  </m:e>
                                  <m:sub>
                                    <m:r>
                                      <m:rPr>
                                        <m:nor/>
                                      </m:rPr>
                                      <a:rPr lang="en-US" sz="1300" i="0">
                                        <a:effectLst/>
                                      </a:rPr>
                                      <m:t>cap</m:t>
                                    </m:r>
                                    <m:r>
                                      <m:rPr>
                                        <m:nor/>
                                      </m:rPr>
                                      <a:rPr lang="en-US" sz="1300" i="0">
                                        <a:effectLst/>
                                      </a:rPr>
                                      <m:t>,</m:t>
                                    </m:r>
                                    <m:r>
                                      <m:rPr>
                                        <m:nor/>
                                      </m:rPr>
                                      <a:rPr lang="en-US" sz="1300" i="0">
                                        <a:effectLst/>
                                      </a:rPr>
                                      <m:t>k</m:t>
                                    </m:r>
                                  </m:sub>
                                </m:sSub>
                                <m:d>
                                  <m:dPr>
                                    <m:ctrlPr>
                                      <a:rPr lang="en-US" sz="1300" i="1">
                                        <a:effectLst/>
                                        <a:latin typeface="Cambria Math" panose="02040503050406030204" pitchFamily="18" charset="0"/>
                                      </a:rPr>
                                    </m:ctrlPr>
                                  </m:dPr>
                                  <m:e>
                                    <m:r>
                                      <a:rPr lang="en-US" sz="1300">
                                        <a:effectLst/>
                                        <a:latin typeface="Cambria Math" panose="02040503050406030204" pitchFamily="18" charset="0"/>
                                      </a:rPr>
                                      <m:t>𝒙</m:t>
                                    </m:r>
                                    <m:r>
                                      <a:rPr lang="en-US" sz="1300">
                                        <a:effectLst/>
                                        <a:latin typeface="Cambria Math" panose="02040503050406030204" pitchFamily="18" charset="0"/>
                                      </a:rPr>
                                      <m:t>,</m:t>
                                    </m:r>
                                    <m:r>
                                      <a:rPr lang="en-US" sz="1300">
                                        <a:effectLst/>
                                        <a:latin typeface="Cambria Math" panose="02040503050406030204" pitchFamily="18" charset="0"/>
                                      </a:rPr>
                                      <m:t>𝒚</m:t>
                                    </m:r>
                                  </m:e>
                                </m:d>
                              </m:oMath>
                            </m:oMathPara>
                          </a14:m>
                          <a:endParaRPr lang="tr-TR" sz="1300" dirty="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extLst>
                      <a:ext uri="{0D108BD9-81ED-4DB2-BD59-A6C34878D82A}">
                        <a16:rowId xmlns:a16="http://schemas.microsoft.com/office/drawing/2014/main" val="4289072623"/>
                      </a:ext>
                    </a:extLst>
                  </a:tr>
                  <a:tr h="454433">
                    <a:tc>
                      <a:txBody>
                        <a:bodyPr/>
                        <a:lstStyle/>
                        <a:p>
                          <a:pPr algn="just">
                            <a:lnSpc>
                              <a:spcPct val="150000"/>
                            </a:lnSpc>
                          </a:pPr>
                          <a:r>
                            <a:rPr lang="en-US" sz="1300" dirty="0">
                              <a:effectLst/>
                            </a:rPr>
                            <a:t>Critical Facility Index </a:t>
                          </a:r>
                          <a:endParaRPr lang="tr-TR" sz="1300" dirty="0">
                            <a:effectLst/>
                          </a:endParaRPr>
                        </a:p>
                        <a:p>
                          <a:pPr algn="just">
                            <a:lnSpc>
                              <a:spcPct val="150000"/>
                            </a:lnSpc>
                          </a:pPr>
                          <a14:m>
                            <m:oMathPara xmlns:m="http://schemas.openxmlformats.org/officeDocument/2006/math">
                              <m:oMathParaPr>
                                <m:jc m:val="centerGroup"/>
                              </m:oMathParaPr>
                              <m:oMath xmlns:m="http://schemas.openxmlformats.org/officeDocument/2006/math">
                                <m:sSub>
                                  <m:sSubPr>
                                    <m:ctrlPr>
                                      <a:rPr lang="en-US" sz="1300" i="1">
                                        <a:effectLst/>
                                        <a:latin typeface="Cambria Math" panose="02040503050406030204" pitchFamily="18" charset="0"/>
                                      </a:rPr>
                                    </m:ctrlPr>
                                  </m:sSubPr>
                                  <m:e>
                                    <m:r>
                                      <a:rPr lang="en-US" sz="1300">
                                        <a:effectLst/>
                                        <a:latin typeface="Cambria Math" panose="02040503050406030204" pitchFamily="18" charset="0"/>
                                      </a:rPr>
                                      <m:t>𝑽</m:t>
                                    </m:r>
                                  </m:e>
                                  <m:sub>
                                    <m:r>
                                      <m:rPr>
                                        <m:nor/>
                                      </m:rPr>
                                      <a:rPr lang="en-US" sz="1300" i="0">
                                        <a:effectLst/>
                                      </a:rPr>
                                      <m:t>crit</m:t>
                                    </m:r>
                                  </m:sub>
                                </m:sSub>
                                <m:d>
                                  <m:dPr>
                                    <m:ctrlPr>
                                      <a:rPr lang="en-US" sz="1300" i="1">
                                        <a:effectLst/>
                                        <a:latin typeface="Cambria Math" panose="02040503050406030204" pitchFamily="18" charset="0"/>
                                      </a:rPr>
                                    </m:ctrlPr>
                                  </m:dPr>
                                  <m:e>
                                    <m:r>
                                      <a:rPr lang="en-US" sz="1300">
                                        <a:effectLst/>
                                        <a:latin typeface="Cambria Math" panose="02040503050406030204" pitchFamily="18" charset="0"/>
                                      </a:rPr>
                                      <m:t>𝒙</m:t>
                                    </m:r>
                                    <m:r>
                                      <a:rPr lang="en-US" sz="1300">
                                        <a:effectLst/>
                                        <a:latin typeface="Cambria Math" panose="02040503050406030204" pitchFamily="18" charset="0"/>
                                      </a:rPr>
                                      <m:t>,</m:t>
                                    </m:r>
                                    <m:r>
                                      <a:rPr lang="en-US" sz="1300">
                                        <a:effectLst/>
                                        <a:latin typeface="Cambria Math" panose="02040503050406030204" pitchFamily="18" charset="0"/>
                                      </a:rPr>
                                      <m:t>𝒚</m:t>
                                    </m:r>
                                  </m:e>
                                </m:d>
                              </m:oMath>
                            </m:oMathPara>
                          </a14:m>
                          <a:endParaRPr lang="tr-TR" sz="1300" dirty="0">
                            <a:effectLst/>
                            <a:latin typeface="Times New Roman" panose="02020603050405020304" pitchFamily="18" charset="0"/>
                            <a:ea typeface="Calibri" panose="020F0502020204030204" pitchFamily="34" charset="0"/>
                            <a:cs typeface="Arial" panose="020B0604020202020204" pitchFamily="34" charset="0"/>
                          </a:endParaRPr>
                        </a:p>
                      </a:txBody>
                      <a:tcPr marL="62697" marR="62697" marT="0" marB="0"/>
                    </a:tc>
                    <a:tc>
                      <a:txBody>
                        <a:bodyPr/>
                        <a:lstStyle/>
                        <a:p>
                          <a:pPr algn="just">
                            <a:lnSpc>
                              <a:spcPct val="150000"/>
                            </a:lnSpc>
                          </a:pPr>
                          <a:r>
                            <a:rPr lang="en-US" sz="1300" dirty="0">
                              <a:effectLst/>
                            </a:rPr>
                            <a:t>Travel Time </a:t>
                          </a:r>
                          <a:endParaRPr lang="tr-TR" sz="1300" dirty="0">
                            <a:effectLst/>
                          </a:endParaRPr>
                        </a:p>
                        <a:p>
                          <a:pPr algn="just">
                            <a:lnSpc>
                              <a:spcPct val="150000"/>
                            </a:lnSpc>
                          </a:pPr>
                          <a14:m>
                            <m:oMathPara xmlns:m="http://schemas.openxmlformats.org/officeDocument/2006/math">
                              <m:oMathParaPr>
                                <m:jc m:val="centerGroup"/>
                              </m:oMathParaPr>
                              <m:oMath xmlns:m="http://schemas.openxmlformats.org/officeDocument/2006/math">
                                <m:sSub>
                                  <m:sSubPr>
                                    <m:ctrlPr>
                                      <a:rPr lang="en-US" sz="1300" i="1">
                                        <a:effectLst/>
                                        <a:latin typeface="Cambria Math" panose="02040503050406030204" pitchFamily="18" charset="0"/>
                                      </a:rPr>
                                    </m:ctrlPr>
                                  </m:sSubPr>
                                  <m:e>
                                    <m:bar>
                                      <m:barPr>
                                        <m:pos m:val="top"/>
                                        <m:ctrlPr>
                                          <a:rPr lang="en-US" sz="1300" i="1">
                                            <a:effectLst/>
                                            <a:latin typeface="Cambria Math" panose="02040503050406030204" pitchFamily="18" charset="0"/>
                                          </a:rPr>
                                        </m:ctrlPr>
                                      </m:barPr>
                                      <m:e>
                                        <m:r>
                                          <a:rPr lang="en-US" sz="1300">
                                            <a:effectLst/>
                                            <a:latin typeface="Cambria Math" panose="02040503050406030204" pitchFamily="18" charset="0"/>
                                          </a:rPr>
                                          <m:t>𝑹</m:t>
                                        </m:r>
                                      </m:e>
                                    </m:bar>
                                  </m:e>
                                  <m:sub>
                                    <m:r>
                                      <m:rPr>
                                        <m:nor/>
                                      </m:rPr>
                                      <a:rPr lang="en-US" sz="1300" i="0">
                                        <a:effectLst/>
                                      </a:rPr>
                                      <m:t>time</m:t>
                                    </m:r>
                                    <m:r>
                                      <m:rPr>
                                        <m:nor/>
                                      </m:rPr>
                                      <a:rPr lang="en-US" sz="1300" i="0">
                                        <a:effectLst/>
                                      </a:rPr>
                                      <m:t>,</m:t>
                                    </m:r>
                                    <m:r>
                                      <m:rPr>
                                        <m:nor/>
                                      </m:rPr>
                                      <a:rPr lang="en-US" sz="1300" i="0">
                                        <a:effectLst/>
                                      </a:rPr>
                                      <m:t>k</m:t>
                                    </m:r>
                                  </m:sub>
                                </m:sSub>
                                <m:d>
                                  <m:dPr>
                                    <m:ctrlPr>
                                      <a:rPr lang="en-US" sz="1300" i="1">
                                        <a:effectLst/>
                                        <a:latin typeface="Cambria Math" panose="02040503050406030204" pitchFamily="18" charset="0"/>
                                      </a:rPr>
                                    </m:ctrlPr>
                                  </m:dPr>
                                  <m:e>
                                    <m:r>
                                      <a:rPr lang="en-US" sz="1300">
                                        <a:effectLst/>
                                        <a:latin typeface="Cambria Math" panose="02040503050406030204" pitchFamily="18" charset="0"/>
                                      </a:rPr>
                                      <m:t>𝒙</m:t>
                                    </m:r>
                                    <m:r>
                                      <a:rPr lang="en-US" sz="1300">
                                        <a:effectLst/>
                                        <a:latin typeface="Cambria Math" panose="02040503050406030204" pitchFamily="18" charset="0"/>
                                      </a:rPr>
                                      <m:t>,</m:t>
                                    </m:r>
                                    <m:r>
                                      <a:rPr lang="en-US" sz="1300">
                                        <a:effectLst/>
                                        <a:latin typeface="Cambria Math" panose="02040503050406030204" pitchFamily="18" charset="0"/>
                                      </a:rPr>
                                      <m:t>𝒚</m:t>
                                    </m:r>
                                  </m:e>
                                </m:d>
                              </m:oMath>
                            </m:oMathPara>
                          </a14:m>
                          <a:endParaRPr lang="tr-TR" sz="1300" dirty="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extLst>
                      <a:ext uri="{0D108BD9-81ED-4DB2-BD59-A6C34878D82A}">
                        <a16:rowId xmlns:a16="http://schemas.microsoft.com/office/drawing/2014/main" val="361369388"/>
                      </a:ext>
                    </a:extLst>
                  </a:tr>
                  <a:tr h="466538">
                    <a:tc>
                      <a:txBody>
                        <a:bodyPr/>
                        <a:lstStyle/>
                        <a:p>
                          <a:pPr algn="just">
                            <a:lnSpc>
                              <a:spcPct val="150000"/>
                            </a:lnSpc>
                          </a:pPr>
                          <a:r>
                            <a:rPr lang="en-US" sz="1300" dirty="0">
                              <a:effectLst/>
                            </a:rPr>
                            <a:t>Population Density</a:t>
                          </a:r>
                          <a:endParaRPr lang="tr-TR" sz="1300" b="1" i="0" dirty="0">
                            <a:effectLst/>
                            <a:latin typeface="Cambria Math" panose="02040503050406030204" pitchFamily="18" charset="0"/>
                          </a:endParaRPr>
                        </a:p>
                        <a:p>
                          <a:pPr algn="just">
                            <a:lnSpc>
                              <a:spcPct val="150000"/>
                            </a:lnSpc>
                          </a:pPr>
                          <a14:m>
                            <m:oMathPara xmlns:m="http://schemas.openxmlformats.org/officeDocument/2006/math">
                              <m:oMathParaPr>
                                <m:jc m:val="centerGroup"/>
                              </m:oMathParaPr>
                              <m:oMath xmlns:m="http://schemas.openxmlformats.org/officeDocument/2006/math">
                                <m:r>
                                  <a:rPr lang="tr-TR" sz="1300" b="1" i="0" smtClean="0">
                                    <a:effectLst/>
                                    <a:latin typeface="Cambria Math" panose="02040503050406030204" pitchFamily="18" charset="0"/>
                                  </a:rPr>
                                  <m:t> </m:t>
                                </m:r>
                                <m:sSub>
                                  <m:sSubPr>
                                    <m:ctrlPr>
                                      <a:rPr lang="en-US" sz="1300" i="1">
                                        <a:effectLst/>
                                        <a:latin typeface="Cambria Math" panose="02040503050406030204" pitchFamily="18" charset="0"/>
                                      </a:rPr>
                                    </m:ctrlPr>
                                  </m:sSubPr>
                                  <m:e>
                                    <m:r>
                                      <a:rPr lang="en-US" sz="1300">
                                        <a:effectLst/>
                                        <a:latin typeface="Cambria Math" panose="02040503050406030204" pitchFamily="18" charset="0"/>
                                      </a:rPr>
                                      <m:t>𝑽</m:t>
                                    </m:r>
                                  </m:e>
                                  <m:sub>
                                    <m:r>
                                      <m:rPr>
                                        <m:nor/>
                                      </m:rPr>
                                      <a:rPr lang="en-US" sz="1300" i="0">
                                        <a:effectLst/>
                                      </a:rPr>
                                      <m:t>pop</m:t>
                                    </m:r>
                                  </m:sub>
                                </m:sSub>
                                <m:d>
                                  <m:dPr>
                                    <m:ctrlPr>
                                      <a:rPr lang="en-US" sz="1300" i="1">
                                        <a:effectLst/>
                                        <a:latin typeface="Cambria Math" panose="02040503050406030204" pitchFamily="18" charset="0"/>
                                      </a:rPr>
                                    </m:ctrlPr>
                                  </m:dPr>
                                  <m:e>
                                    <m:r>
                                      <a:rPr lang="en-US" sz="1300">
                                        <a:effectLst/>
                                        <a:latin typeface="Cambria Math" panose="02040503050406030204" pitchFamily="18" charset="0"/>
                                      </a:rPr>
                                      <m:t>𝒙</m:t>
                                    </m:r>
                                    <m:r>
                                      <a:rPr lang="en-US" sz="1300">
                                        <a:effectLst/>
                                        <a:latin typeface="Cambria Math" panose="02040503050406030204" pitchFamily="18" charset="0"/>
                                      </a:rPr>
                                      <m:t>,</m:t>
                                    </m:r>
                                    <m:r>
                                      <a:rPr lang="en-US" sz="1300">
                                        <a:effectLst/>
                                        <a:latin typeface="Cambria Math" panose="02040503050406030204" pitchFamily="18" charset="0"/>
                                      </a:rPr>
                                      <m:t>𝒚</m:t>
                                    </m:r>
                                  </m:e>
                                </m:d>
                              </m:oMath>
                            </m:oMathPara>
                          </a14:m>
                          <a:endParaRPr lang="tr-TR" sz="1300" dirty="0">
                            <a:effectLst/>
                            <a:latin typeface="Times New Roman" panose="02020603050405020304" pitchFamily="18" charset="0"/>
                            <a:ea typeface="Calibri" panose="020F0502020204030204" pitchFamily="34" charset="0"/>
                            <a:cs typeface="Arial" panose="020B0604020202020204" pitchFamily="34" charset="0"/>
                          </a:endParaRPr>
                        </a:p>
                      </a:txBody>
                      <a:tcPr marL="62697" marR="62697" marT="0" marB="0"/>
                    </a:tc>
                    <a:tc>
                      <a:txBody>
                        <a:bodyPr/>
                        <a:lstStyle/>
                        <a:p>
                          <a:pPr algn="just">
                            <a:lnSpc>
                              <a:spcPct val="150000"/>
                            </a:lnSpc>
                          </a:pPr>
                          <a:r>
                            <a:rPr lang="en-US" sz="1300" dirty="0">
                              <a:effectLst/>
                            </a:rPr>
                            <a:t>Suppression Efficiency </a:t>
                          </a:r>
                          <a:endParaRPr lang="tr-TR" sz="1300" dirty="0">
                            <a:effectLst/>
                          </a:endParaRPr>
                        </a:p>
                        <a:p>
                          <a:pPr algn="just">
                            <a:lnSpc>
                              <a:spcPct val="150000"/>
                            </a:lnSpc>
                          </a:pPr>
                          <a14:m>
                            <m:oMathPara xmlns:m="http://schemas.openxmlformats.org/officeDocument/2006/math">
                              <m:oMathParaPr>
                                <m:jc m:val="centerGroup"/>
                              </m:oMathParaPr>
                              <m:oMath xmlns:m="http://schemas.openxmlformats.org/officeDocument/2006/math">
                                <m:sSub>
                                  <m:sSubPr>
                                    <m:ctrlPr>
                                      <a:rPr lang="en-US" sz="1300" i="1">
                                        <a:effectLst/>
                                        <a:latin typeface="Cambria Math" panose="02040503050406030204" pitchFamily="18" charset="0"/>
                                      </a:rPr>
                                    </m:ctrlPr>
                                  </m:sSubPr>
                                  <m:e>
                                    <m:bar>
                                      <m:barPr>
                                        <m:pos m:val="top"/>
                                        <m:ctrlPr>
                                          <a:rPr lang="en-US" sz="1300" i="1">
                                            <a:effectLst/>
                                            <a:latin typeface="Cambria Math" panose="02040503050406030204" pitchFamily="18" charset="0"/>
                                          </a:rPr>
                                        </m:ctrlPr>
                                      </m:barPr>
                                      <m:e>
                                        <m:r>
                                          <a:rPr lang="en-US" sz="1300">
                                            <a:effectLst/>
                                            <a:latin typeface="Cambria Math" panose="02040503050406030204" pitchFamily="18" charset="0"/>
                                          </a:rPr>
                                          <m:t>𝑹</m:t>
                                        </m:r>
                                      </m:e>
                                    </m:bar>
                                  </m:e>
                                  <m:sub>
                                    <m:r>
                                      <m:rPr>
                                        <m:nor/>
                                      </m:rPr>
                                      <a:rPr lang="en-US" sz="1300" i="0">
                                        <a:effectLst/>
                                      </a:rPr>
                                      <m:t>eff</m:t>
                                    </m:r>
                                    <m:r>
                                      <m:rPr>
                                        <m:nor/>
                                      </m:rPr>
                                      <a:rPr lang="en-US" sz="1300" i="0">
                                        <a:effectLst/>
                                      </a:rPr>
                                      <m:t>,</m:t>
                                    </m:r>
                                    <m:r>
                                      <m:rPr>
                                        <m:nor/>
                                      </m:rPr>
                                      <a:rPr lang="en-US" sz="1300" i="0">
                                        <a:effectLst/>
                                      </a:rPr>
                                      <m:t>k</m:t>
                                    </m:r>
                                  </m:sub>
                                </m:sSub>
                                <m:d>
                                  <m:dPr>
                                    <m:ctrlPr>
                                      <a:rPr lang="en-US" sz="1300" i="1">
                                        <a:effectLst/>
                                        <a:latin typeface="Cambria Math" panose="02040503050406030204" pitchFamily="18" charset="0"/>
                                      </a:rPr>
                                    </m:ctrlPr>
                                  </m:dPr>
                                  <m:e>
                                    <m:r>
                                      <a:rPr lang="en-US" sz="1300">
                                        <a:effectLst/>
                                        <a:latin typeface="Cambria Math" panose="02040503050406030204" pitchFamily="18" charset="0"/>
                                      </a:rPr>
                                      <m:t>𝒙</m:t>
                                    </m:r>
                                    <m:r>
                                      <a:rPr lang="en-US" sz="1300">
                                        <a:effectLst/>
                                        <a:latin typeface="Cambria Math" panose="02040503050406030204" pitchFamily="18" charset="0"/>
                                      </a:rPr>
                                      <m:t>,</m:t>
                                    </m:r>
                                    <m:r>
                                      <a:rPr lang="en-US" sz="1300">
                                        <a:effectLst/>
                                        <a:latin typeface="Cambria Math" panose="02040503050406030204" pitchFamily="18" charset="0"/>
                                      </a:rPr>
                                      <m:t>𝒚</m:t>
                                    </m:r>
                                  </m:e>
                                </m:d>
                              </m:oMath>
                            </m:oMathPara>
                          </a14:m>
                          <a:endParaRPr lang="tr-TR" sz="1300" dirty="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extLst>
                      <a:ext uri="{0D108BD9-81ED-4DB2-BD59-A6C34878D82A}">
                        <a16:rowId xmlns:a16="http://schemas.microsoft.com/office/drawing/2014/main" val="2764470451"/>
                      </a:ext>
                    </a:extLst>
                  </a:tr>
                  <a:tr h="594264">
                    <a:tc>
                      <a:txBody>
                        <a:bodyPr/>
                        <a:lstStyle/>
                        <a:p>
                          <a:pPr algn="just">
                            <a:lnSpc>
                              <a:spcPct val="150000"/>
                            </a:lnSpc>
                          </a:pPr>
                          <a:r>
                            <a:rPr lang="en-US" sz="1300" dirty="0">
                              <a:effectLst/>
                            </a:rPr>
                            <a:t>Access to Evacuation </a:t>
                          </a:r>
                          <a:endParaRPr lang="tr-TR" sz="1300" dirty="0">
                            <a:effectLst/>
                          </a:endParaRPr>
                        </a:p>
                        <a:p>
                          <a:pPr algn="just">
                            <a:lnSpc>
                              <a:spcPct val="150000"/>
                            </a:lnSpc>
                          </a:pPr>
                          <a14:m>
                            <m:oMathPara xmlns:m="http://schemas.openxmlformats.org/officeDocument/2006/math">
                              <m:oMathParaPr>
                                <m:jc m:val="centerGroup"/>
                              </m:oMathParaPr>
                              <m:oMath xmlns:m="http://schemas.openxmlformats.org/officeDocument/2006/math">
                                <m:sSub>
                                  <m:sSubPr>
                                    <m:ctrlPr>
                                      <a:rPr lang="en-US" sz="1300" i="1">
                                        <a:effectLst/>
                                        <a:latin typeface="Cambria Math" panose="02040503050406030204" pitchFamily="18" charset="0"/>
                                      </a:rPr>
                                    </m:ctrlPr>
                                  </m:sSubPr>
                                  <m:e>
                                    <m:r>
                                      <a:rPr lang="en-US" sz="1300">
                                        <a:effectLst/>
                                        <a:latin typeface="Cambria Math" panose="02040503050406030204" pitchFamily="18" charset="0"/>
                                      </a:rPr>
                                      <m:t>𝑽</m:t>
                                    </m:r>
                                  </m:e>
                                  <m:sub>
                                    <m:r>
                                      <m:rPr>
                                        <m:nor/>
                                      </m:rPr>
                                      <a:rPr lang="en-US" sz="1300" i="0">
                                        <a:effectLst/>
                                      </a:rPr>
                                      <m:t>evac</m:t>
                                    </m:r>
                                  </m:sub>
                                </m:sSub>
                                <m:d>
                                  <m:dPr>
                                    <m:ctrlPr>
                                      <a:rPr lang="en-US" sz="1300" i="1">
                                        <a:effectLst/>
                                        <a:latin typeface="Cambria Math" panose="02040503050406030204" pitchFamily="18" charset="0"/>
                                      </a:rPr>
                                    </m:ctrlPr>
                                  </m:dPr>
                                  <m:e>
                                    <m:r>
                                      <a:rPr lang="en-US" sz="1300">
                                        <a:effectLst/>
                                        <a:latin typeface="Cambria Math" panose="02040503050406030204" pitchFamily="18" charset="0"/>
                                      </a:rPr>
                                      <m:t>𝒙</m:t>
                                    </m:r>
                                    <m:r>
                                      <a:rPr lang="en-US" sz="1300">
                                        <a:effectLst/>
                                        <a:latin typeface="Cambria Math" panose="02040503050406030204" pitchFamily="18" charset="0"/>
                                      </a:rPr>
                                      <m:t>,</m:t>
                                    </m:r>
                                    <m:r>
                                      <a:rPr lang="en-US" sz="1300">
                                        <a:effectLst/>
                                        <a:latin typeface="Cambria Math" panose="02040503050406030204" pitchFamily="18" charset="0"/>
                                      </a:rPr>
                                      <m:t>𝒚</m:t>
                                    </m:r>
                                  </m:e>
                                </m:d>
                              </m:oMath>
                            </m:oMathPara>
                          </a14:m>
                          <a:endParaRPr lang="tr-TR" sz="1300" dirty="0">
                            <a:effectLst/>
                            <a:latin typeface="Times New Roman" panose="02020603050405020304" pitchFamily="18" charset="0"/>
                            <a:ea typeface="Calibri" panose="020F0502020204030204" pitchFamily="34" charset="0"/>
                            <a:cs typeface="Arial" panose="020B0604020202020204" pitchFamily="34" charset="0"/>
                          </a:endParaRPr>
                        </a:p>
                      </a:txBody>
                      <a:tcPr marL="62697" marR="62697" marT="0" marB="0"/>
                    </a:tc>
                    <a:tc>
                      <a:txBody>
                        <a:bodyPr/>
                        <a:lstStyle/>
                        <a:p>
                          <a:pPr algn="just">
                            <a:lnSpc>
                              <a:spcPct val="150000"/>
                            </a:lnSpc>
                          </a:pPr>
                          <a:r>
                            <a:rPr lang="en-US" sz="1300" dirty="0">
                              <a:effectLst/>
                            </a:rPr>
                            <a:t>Resource Availability </a:t>
                          </a:r>
                          <a:endParaRPr lang="tr-TR" sz="1300" dirty="0">
                            <a:effectLst/>
                          </a:endParaRPr>
                        </a:p>
                        <a:p>
                          <a:pPr algn="just">
                            <a:lnSpc>
                              <a:spcPct val="150000"/>
                            </a:lnSpc>
                          </a:pPr>
                          <a14:m>
                            <m:oMathPara xmlns:m="http://schemas.openxmlformats.org/officeDocument/2006/math">
                              <m:oMathParaPr>
                                <m:jc m:val="centerGroup"/>
                              </m:oMathParaPr>
                              <m:oMath xmlns:m="http://schemas.openxmlformats.org/officeDocument/2006/math">
                                <m:sSub>
                                  <m:sSubPr>
                                    <m:ctrlPr>
                                      <a:rPr lang="en-US" sz="1300" i="1">
                                        <a:effectLst/>
                                        <a:latin typeface="Cambria Math" panose="02040503050406030204" pitchFamily="18" charset="0"/>
                                      </a:rPr>
                                    </m:ctrlPr>
                                  </m:sSubPr>
                                  <m:e>
                                    <m:bar>
                                      <m:barPr>
                                        <m:pos m:val="top"/>
                                        <m:ctrlPr>
                                          <a:rPr lang="en-US" sz="1300" i="1">
                                            <a:effectLst/>
                                            <a:latin typeface="Cambria Math" panose="02040503050406030204" pitchFamily="18" charset="0"/>
                                          </a:rPr>
                                        </m:ctrlPr>
                                      </m:barPr>
                                      <m:e>
                                        <m:r>
                                          <a:rPr lang="en-US" sz="1300">
                                            <a:effectLst/>
                                            <a:latin typeface="Cambria Math" panose="02040503050406030204" pitchFamily="18" charset="0"/>
                                          </a:rPr>
                                          <m:t>𝑹</m:t>
                                        </m:r>
                                      </m:e>
                                    </m:bar>
                                  </m:e>
                                  <m:sub>
                                    <m:r>
                                      <m:rPr>
                                        <m:nor/>
                                      </m:rPr>
                                      <a:rPr lang="en-US" sz="1300" i="0">
                                        <a:effectLst/>
                                      </a:rPr>
                                      <m:t>avail</m:t>
                                    </m:r>
                                    <m:r>
                                      <m:rPr>
                                        <m:nor/>
                                      </m:rPr>
                                      <a:rPr lang="en-US" sz="1300" i="0">
                                        <a:effectLst/>
                                      </a:rPr>
                                      <m:t>,</m:t>
                                    </m:r>
                                    <m:r>
                                      <m:rPr>
                                        <m:nor/>
                                      </m:rPr>
                                      <a:rPr lang="en-US" sz="1300" i="0">
                                        <a:effectLst/>
                                      </a:rPr>
                                      <m:t>k</m:t>
                                    </m:r>
                                  </m:sub>
                                </m:sSub>
                                <m:d>
                                  <m:dPr>
                                    <m:ctrlPr>
                                      <a:rPr lang="en-US" sz="1300" i="1">
                                        <a:effectLst/>
                                        <a:latin typeface="Cambria Math" panose="02040503050406030204" pitchFamily="18" charset="0"/>
                                      </a:rPr>
                                    </m:ctrlPr>
                                  </m:dPr>
                                  <m:e>
                                    <m:r>
                                      <a:rPr lang="en-US" sz="1300">
                                        <a:effectLst/>
                                        <a:latin typeface="Cambria Math" panose="02040503050406030204" pitchFamily="18" charset="0"/>
                                      </a:rPr>
                                      <m:t>𝒙</m:t>
                                    </m:r>
                                    <m:r>
                                      <a:rPr lang="en-US" sz="1300">
                                        <a:effectLst/>
                                        <a:latin typeface="Cambria Math" panose="02040503050406030204" pitchFamily="18" charset="0"/>
                                      </a:rPr>
                                      <m:t>,</m:t>
                                    </m:r>
                                    <m:r>
                                      <a:rPr lang="en-US" sz="1300">
                                        <a:effectLst/>
                                        <a:latin typeface="Cambria Math" panose="02040503050406030204" pitchFamily="18" charset="0"/>
                                      </a:rPr>
                                      <m:t>𝒚</m:t>
                                    </m:r>
                                  </m:e>
                                </m:d>
                              </m:oMath>
                            </m:oMathPara>
                          </a14:m>
                          <a:endParaRPr lang="tr-TR" sz="1300" dirty="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extLst>
                      <a:ext uri="{0D108BD9-81ED-4DB2-BD59-A6C34878D82A}">
                        <a16:rowId xmlns:a16="http://schemas.microsoft.com/office/drawing/2014/main" val="2028413603"/>
                      </a:ext>
                    </a:extLst>
                  </a:tr>
                  <a:tr h="479229">
                    <a:tc>
                      <a:txBody>
                        <a:bodyPr/>
                        <a:lstStyle/>
                        <a:p>
                          <a:pPr algn="just">
                            <a:lnSpc>
                              <a:spcPct val="150000"/>
                            </a:lnSpc>
                          </a:pPr>
                          <a:r>
                            <a:rPr lang="en-US" sz="1300" dirty="0">
                              <a:effectLst/>
                            </a:rPr>
                            <a:t>Protection Priority</a:t>
                          </a:r>
                          <a:endParaRPr lang="tr-TR" sz="1300" dirty="0">
                            <a:effectLst/>
                          </a:endParaRPr>
                        </a:p>
                        <a:p>
                          <a:pPr algn="just">
                            <a:lnSpc>
                              <a:spcPct val="150000"/>
                            </a:lnSpc>
                          </a:pPr>
                          <a14:m>
                            <m:oMathPara xmlns:m="http://schemas.openxmlformats.org/officeDocument/2006/math">
                              <m:oMathParaPr>
                                <m:jc m:val="centerGroup"/>
                              </m:oMathParaPr>
                              <m:oMath xmlns:m="http://schemas.openxmlformats.org/officeDocument/2006/math">
                                <m:sSub>
                                  <m:sSubPr>
                                    <m:ctrlPr>
                                      <a:rPr lang="en-US" sz="1300" i="1">
                                        <a:effectLst/>
                                        <a:latin typeface="Cambria Math" panose="02040503050406030204" pitchFamily="18" charset="0"/>
                                      </a:rPr>
                                    </m:ctrlPr>
                                  </m:sSubPr>
                                  <m:e>
                                    <m:r>
                                      <a:rPr lang="en-US" sz="1300">
                                        <a:effectLst/>
                                        <a:latin typeface="Cambria Math" panose="02040503050406030204" pitchFamily="18" charset="0"/>
                                      </a:rPr>
                                      <m:t>𝑽</m:t>
                                    </m:r>
                                  </m:e>
                                  <m:sub>
                                    <m:r>
                                      <m:rPr>
                                        <m:nor/>
                                      </m:rPr>
                                      <a:rPr lang="en-US" sz="1300" i="0">
                                        <a:effectLst/>
                                      </a:rPr>
                                      <m:t>prio</m:t>
                                    </m:r>
                                  </m:sub>
                                </m:sSub>
                                <m:d>
                                  <m:dPr>
                                    <m:ctrlPr>
                                      <a:rPr lang="en-US" sz="1300" i="1">
                                        <a:effectLst/>
                                        <a:latin typeface="Cambria Math" panose="02040503050406030204" pitchFamily="18" charset="0"/>
                                      </a:rPr>
                                    </m:ctrlPr>
                                  </m:dPr>
                                  <m:e>
                                    <m:r>
                                      <a:rPr lang="en-US" sz="1300">
                                        <a:effectLst/>
                                        <a:latin typeface="Cambria Math" panose="02040503050406030204" pitchFamily="18" charset="0"/>
                                      </a:rPr>
                                      <m:t>𝒙</m:t>
                                    </m:r>
                                    <m:r>
                                      <a:rPr lang="en-US" sz="1300">
                                        <a:effectLst/>
                                        <a:latin typeface="Cambria Math" panose="02040503050406030204" pitchFamily="18" charset="0"/>
                                      </a:rPr>
                                      <m:t>,</m:t>
                                    </m:r>
                                    <m:r>
                                      <a:rPr lang="en-US" sz="1300">
                                        <a:effectLst/>
                                        <a:latin typeface="Cambria Math" panose="02040503050406030204" pitchFamily="18" charset="0"/>
                                      </a:rPr>
                                      <m:t>𝒚</m:t>
                                    </m:r>
                                  </m:e>
                                </m:d>
                              </m:oMath>
                            </m:oMathPara>
                          </a14:m>
                          <a:endParaRPr lang="tr-TR" sz="1300" dirty="0">
                            <a:effectLst/>
                            <a:latin typeface="Times New Roman" panose="02020603050405020304" pitchFamily="18" charset="0"/>
                            <a:ea typeface="Calibri" panose="020F0502020204030204" pitchFamily="34" charset="0"/>
                            <a:cs typeface="Arial" panose="020B0604020202020204" pitchFamily="34" charset="0"/>
                          </a:endParaRPr>
                        </a:p>
                      </a:txBody>
                      <a:tcPr marL="62697" marR="62697" marT="0" marB="0"/>
                    </a:tc>
                    <a:tc>
                      <a:txBody>
                        <a:bodyPr/>
                        <a:lstStyle/>
                        <a:p>
                          <a:pPr algn="just">
                            <a:lnSpc>
                              <a:spcPct val="150000"/>
                            </a:lnSpc>
                          </a:pPr>
                          <a:endParaRPr lang="tr-TR" sz="1300" dirty="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extLst>
                      <a:ext uri="{0D108BD9-81ED-4DB2-BD59-A6C34878D82A}">
                        <a16:rowId xmlns:a16="http://schemas.microsoft.com/office/drawing/2014/main" val="3142714893"/>
                      </a:ext>
                    </a:extLst>
                  </a:tr>
                </a:tbl>
              </a:graphicData>
            </a:graphic>
          </p:graphicFrame>
        </mc:Choice>
        <mc:Fallback xmlns="">
          <p:graphicFrame>
            <p:nvGraphicFramePr>
              <p:cNvPr id="10" name="Table 9">
                <a:extLst>
                  <a:ext uri="{FF2B5EF4-FFF2-40B4-BE49-F238E27FC236}">
                    <a16:creationId xmlns:a16="http://schemas.microsoft.com/office/drawing/2014/main" id="{098AF497-9BAD-4DBD-9FCA-7A884A1A2873}"/>
                  </a:ext>
                </a:extLst>
              </p:cNvPr>
              <p:cNvGraphicFramePr>
                <a:graphicFrameLocks noGrp="1"/>
              </p:cNvGraphicFramePr>
              <p:nvPr>
                <p:extLst>
                  <p:ext uri="{D42A27DB-BD31-4B8C-83A1-F6EECF244321}">
                    <p14:modId xmlns:p14="http://schemas.microsoft.com/office/powerpoint/2010/main" val="2022686265"/>
                  </p:ext>
                </p:extLst>
              </p:nvPr>
            </p:nvGraphicFramePr>
            <p:xfrm>
              <a:off x="5920801" y="2339510"/>
              <a:ext cx="5582351" cy="3697341"/>
            </p:xfrm>
            <a:graphic>
              <a:graphicData uri="http://schemas.openxmlformats.org/drawingml/2006/table">
                <a:tbl>
                  <a:tblPr firstRow="1" bandRow="1">
                    <a:tableStyleId>{93296810-A885-4BE3-A3E7-6D5BEEA58F35}</a:tableStyleId>
                  </a:tblPr>
                  <a:tblGrid>
                    <a:gridCol w="2541028">
                      <a:extLst>
                        <a:ext uri="{9D8B030D-6E8A-4147-A177-3AD203B41FA5}">
                          <a16:colId xmlns:a16="http://schemas.microsoft.com/office/drawing/2014/main" val="277425698"/>
                        </a:ext>
                      </a:extLst>
                    </a:gridCol>
                    <a:gridCol w="3041323">
                      <a:extLst>
                        <a:ext uri="{9D8B030D-6E8A-4147-A177-3AD203B41FA5}">
                          <a16:colId xmlns:a16="http://schemas.microsoft.com/office/drawing/2014/main" val="3088005188"/>
                        </a:ext>
                      </a:extLst>
                    </a:gridCol>
                  </a:tblGrid>
                  <a:tr h="305995">
                    <a:tc>
                      <a:txBody>
                        <a:bodyPr/>
                        <a:lstStyle/>
                        <a:p>
                          <a:endParaRPr lang="tr-TR"/>
                        </a:p>
                      </a:txBody>
                      <a:tcPr marL="62697" marR="62697" marT="0" marB="0">
                        <a:blipFill>
                          <a:blip r:embed="rId9"/>
                          <a:stretch>
                            <a:fillRect l="-240" t="-2000" r="-120863" b="-1130000"/>
                          </a:stretch>
                        </a:blipFill>
                      </a:tcPr>
                    </a:tc>
                    <a:tc>
                      <a:txBody>
                        <a:bodyPr/>
                        <a:lstStyle/>
                        <a:p>
                          <a:endParaRPr lang="tr-TR"/>
                        </a:p>
                      </a:txBody>
                      <a:tcPr marL="17780" marR="17780" marT="0" marB="0">
                        <a:blipFill>
                          <a:blip r:embed="rId9"/>
                          <a:stretch>
                            <a:fillRect l="-83768" t="-2000" r="-1002" b="-1130000"/>
                          </a:stretch>
                        </a:blipFill>
                      </a:tcPr>
                    </a:tc>
                    <a:extLst>
                      <a:ext uri="{0D108BD9-81ED-4DB2-BD59-A6C34878D82A}">
                        <a16:rowId xmlns:a16="http://schemas.microsoft.com/office/drawing/2014/main" val="3105288991"/>
                      </a:ext>
                    </a:extLst>
                  </a:tr>
                  <a:tr h="693039">
                    <a:tc>
                      <a:txBody>
                        <a:bodyPr/>
                        <a:lstStyle/>
                        <a:p>
                          <a:endParaRPr lang="tr-TR"/>
                        </a:p>
                      </a:txBody>
                      <a:tcPr marL="62697" marR="62697" marT="0" marB="0">
                        <a:blipFill>
                          <a:blip r:embed="rId9"/>
                          <a:stretch>
                            <a:fillRect l="-240" t="-44737" r="-120863" b="-395614"/>
                          </a:stretch>
                        </a:blipFill>
                      </a:tcPr>
                    </a:tc>
                    <a:tc>
                      <a:txBody>
                        <a:bodyPr/>
                        <a:lstStyle/>
                        <a:p>
                          <a:endParaRPr lang="tr-TR"/>
                        </a:p>
                      </a:txBody>
                      <a:tcPr marL="17780" marR="17780" marT="0" marB="0">
                        <a:blipFill>
                          <a:blip r:embed="rId9"/>
                          <a:stretch>
                            <a:fillRect l="-83768" t="-44737" r="-1002" b="-395614"/>
                          </a:stretch>
                        </a:blipFill>
                      </a:tcPr>
                    </a:tc>
                    <a:extLst>
                      <a:ext uri="{0D108BD9-81ED-4DB2-BD59-A6C34878D82A}">
                        <a16:rowId xmlns:a16="http://schemas.microsoft.com/office/drawing/2014/main" val="4289072623"/>
                      </a:ext>
                    </a:extLst>
                  </a:tr>
                  <a:tr h="684086">
                    <a:tc>
                      <a:txBody>
                        <a:bodyPr/>
                        <a:lstStyle/>
                        <a:p>
                          <a:endParaRPr lang="tr-TR"/>
                        </a:p>
                      </a:txBody>
                      <a:tcPr marL="62697" marR="62697" marT="0" marB="0">
                        <a:blipFill>
                          <a:blip r:embed="rId9"/>
                          <a:stretch>
                            <a:fillRect l="-240" t="-146018" r="-120863" b="-299115"/>
                          </a:stretch>
                        </a:blipFill>
                      </a:tcPr>
                    </a:tc>
                    <a:tc>
                      <a:txBody>
                        <a:bodyPr/>
                        <a:lstStyle/>
                        <a:p>
                          <a:endParaRPr lang="tr-TR"/>
                        </a:p>
                      </a:txBody>
                      <a:tcPr marL="17780" marR="17780" marT="0" marB="0">
                        <a:blipFill>
                          <a:blip r:embed="rId9"/>
                          <a:stretch>
                            <a:fillRect l="-83768" t="-146018" r="-1002" b="-299115"/>
                          </a:stretch>
                        </a:blipFill>
                      </a:tcPr>
                    </a:tc>
                    <a:extLst>
                      <a:ext uri="{0D108BD9-81ED-4DB2-BD59-A6C34878D82A}">
                        <a16:rowId xmlns:a16="http://schemas.microsoft.com/office/drawing/2014/main" val="361369388"/>
                      </a:ext>
                    </a:extLst>
                  </a:tr>
                  <a:tr h="684975">
                    <a:tc>
                      <a:txBody>
                        <a:bodyPr/>
                        <a:lstStyle/>
                        <a:p>
                          <a:endParaRPr lang="tr-TR"/>
                        </a:p>
                      </a:txBody>
                      <a:tcPr marL="62697" marR="62697" marT="0" marB="0">
                        <a:blipFill>
                          <a:blip r:embed="rId9"/>
                          <a:stretch>
                            <a:fillRect l="-240" t="-248214" r="-120863" b="-201786"/>
                          </a:stretch>
                        </a:blipFill>
                      </a:tcPr>
                    </a:tc>
                    <a:tc>
                      <a:txBody>
                        <a:bodyPr/>
                        <a:lstStyle/>
                        <a:p>
                          <a:endParaRPr lang="tr-TR"/>
                        </a:p>
                      </a:txBody>
                      <a:tcPr marL="17780" marR="17780" marT="0" marB="0">
                        <a:blipFill>
                          <a:blip r:embed="rId9"/>
                          <a:stretch>
                            <a:fillRect l="-83768" t="-248214" r="-1002" b="-201786"/>
                          </a:stretch>
                        </a:blipFill>
                      </a:tcPr>
                    </a:tc>
                    <a:extLst>
                      <a:ext uri="{0D108BD9-81ED-4DB2-BD59-A6C34878D82A}">
                        <a16:rowId xmlns:a16="http://schemas.microsoft.com/office/drawing/2014/main" val="2764470451"/>
                      </a:ext>
                    </a:extLst>
                  </a:tr>
                  <a:tr h="684086">
                    <a:tc>
                      <a:txBody>
                        <a:bodyPr/>
                        <a:lstStyle/>
                        <a:p>
                          <a:endParaRPr lang="tr-TR"/>
                        </a:p>
                      </a:txBody>
                      <a:tcPr marL="62697" marR="62697" marT="0" marB="0">
                        <a:blipFill>
                          <a:blip r:embed="rId9"/>
                          <a:stretch>
                            <a:fillRect l="-240" t="-345133" r="-120863" b="-100000"/>
                          </a:stretch>
                        </a:blipFill>
                      </a:tcPr>
                    </a:tc>
                    <a:tc>
                      <a:txBody>
                        <a:bodyPr/>
                        <a:lstStyle/>
                        <a:p>
                          <a:endParaRPr lang="tr-TR"/>
                        </a:p>
                      </a:txBody>
                      <a:tcPr marL="17780" marR="17780" marT="0" marB="0">
                        <a:blipFill>
                          <a:blip r:embed="rId9"/>
                          <a:stretch>
                            <a:fillRect l="-83768" t="-345133" r="-1002" b="-100000"/>
                          </a:stretch>
                        </a:blipFill>
                      </a:tcPr>
                    </a:tc>
                    <a:extLst>
                      <a:ext uri="{0D108BD9-81ED-4DB2-BD59-A6C34878D82A}">
                        <a16:rowId xmlns:a16="http://schemas.microsoft.com/office/drawing/2014/main" val="2028413603"/>
                      </a:ext>
                    </a:extLst>
                  </a:tr>
                  <a:tr h="645160">
                    <a:tc>
                      <a:txBody>
                        <a:bodyPr/>
                        <a:lstStyle/>
                        <a:p>
                          <a:endParaRPr lang="tr-TR"/>
                        </a:p>
                      </a:txBody>
                      <a:tcPr marL="62697" marR="62697" marT="0" marB="0">
                        <a:blipFill>
                          <a:blip r:embed="rId9"/>
                          <a:stretch>
                            <a:fillRect l="-240" t="-474528" r="-120863" b="-6604"/>
                          </a:stretch>
                        </a:blipFill>
                      </a:tcPr>
                    </a:tc>
                    <a:tc>
                      <a:txBody>
                        <a:bodyPr/>
                        <a:lstStyle/>
                        <a:p>
                          <a:pPr algn="just">
                            <a:lnSpc>
                              <a:spcPct val="150000"/>
                            </a:lnSpc>
                          </a:pPr>
                          <a:endParaRPr lang="tr-TR" sz="1300" dirty="0">
                            <a:effectLst/>
                            <a:latin typeface="Times New Roman" panose="02020603050405020304" pitchFamily="18" charset="0"/>
                            <a:ea typeface="Calibri" panose="020F0502020204030204" pitchFamily="34" charset="0"/>
                            <a:cs typeface="Arial" panose="020B0604020202020204" pitchFamily="34" charset="0"/>
                          </a:endParaRPr>
                        </a:p>
                      </a:txBody>
                      <a:tcPr marL="17780" marR="17780" marT="0" marB="0"/>
                    </a:tc>
                    <a:extLst>
                      <a:ext uri="{0D108BD9-81ED-4DB2-BD59-A6C34878D82A}">
                        <a16:rowId xmlns:a16="http://schemas.microsoft.com/office/drawing/2014/main" val="3142714893"/>
                      </a:ext>
                    </a:extLst>
                  </a:tr>
                </a:tbl>
              </a:graphicData>
            </a:graphic>
          </p:graphicFrame>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28030C30-86CC-4B35-ACF5-CB70621AC381}"/>
                  </a:ext>
                </a:extLst>
              </p:cNvPr>
              <p:cNvSpPr txBox="1"/>
              <p:nvPr/>
            </p:nvSpPr>
            <p:spPr>
              <a:xfrm>
                <a:off x="5562207" y="6041021"/>
                <a:ext cx="6187833" cy="347724"/>
              </a:xfrm>
              <a:prstGeom prst="rect">
                <a:avLst/>
              </a:prstGeom>
              <a:noFill/>
            </p:spPr>
            <p:txBody>
              <a:bodyPr wrap="square">
                <a:spAutoFit/>
              </a:bodyPr>
              <a:lstStyle/>
              <a:p>
                <a:pPr marL="0" indent="0" algn="ctr">
                  <a:buNone/>
                </a:pPr>
                <a14:m>
                  <m:oMathPara xmlns:m="http://schemas.openxmlformats.org/officeDocument/2006/math">
                    <m:oMathParaPr>
                      <m:jc m:val="centerGroup"/>
                    </m:oMathParaPr>
                    <m:oMath xmlns:m="http://schemas.openxmlformats.org/officeDocument/2006/math">
                      <m:sSub>
                        <m:sSubPr>
                          <m:ctrlPr>
                            <a:rPr lang="en-US" sz="1400" b="1" i="1">
                              <a:latin typeface="Cambria Math" panose="02040503050406030204" pitchFamily="18" charset="0"/>
                            </a:rPr>
                          </m:ctrlPr>
                        </m:sSubPr>
                        <m:e>
                          <m:r>
                            <a:rPr lang="en-US" sz="1400" b="1" i="1">
                              <a:latin typeface="Cambria Math"/>
                            </a:rPr>
                            <m:t>𝐕</m:t>
                          </m:r>
                        </m:e>
                        <m:sub>
                          <m:r>
                            <a:rPr lang="en-US" sz="1400" b="1" i="1">
                              <a:latin typeface="Cambria Math"/>
                            </a:rPr>
                            <m:t>𝐩𝐫𝐢𝐨</m:t>
                          </m:r>
                        </m:sub>
                      </m:sSub>
                      <m:r>
                        <a:rPr lang="en-US" sz="1400" b="1">
                          <a:latin typeface="Cambria Math"/>
                        </a:rPr>
                        <m:t> = </m:t>
                      </m:r>
                      <m:sSub>
                        <m:sSubPr>
                          <m:ctrlPr>
                            <a:rPr lang="en-US" sz="1400" b="1" i="1">
                              <a:latin typeface="Cambria Math" panose="02040503050406030204" pitchFamily="18" charset="0"/>
                            </a:rPr>
                          </m:ctrlPr>
                        </m:sSubPr>
                        <m:e>
                          <m:r>
                            <a:rPr lang="en-US" sz="1400" b="1" i="1">
                              <a:latin typeface="Cambria Math"/>
                            </a:rPr>
                            <m:t>𝐰</m:t>
                          </m:r>
                        </m:e>
                        <m:sub>
                          <m:r>
                            <a:rPr lang="en-US" sz="1400" b="1" i="1">
                              <a:latin typeface="Cambria Math"/>
                            </a:rPr>
                            <m:t>𝐛𝐥𝐝</m:t>
                          </m:r>
                        </m:sub>
                      </m:sSub>
                      <m:r>
                        <a:rPr lang="en-US" sz="1400" b="1">
                          <a:latin typeface="Cambria Math"/>
                        </a:rPr>
                        <m:t> · </m:t>
                      </m:r>
                      <m:sSub>
                        <m:sSubPr>
                          <m:ctrlPr>
                            <a:rPr lang="en-US" sz="1400" b="1" i="1">
                              <a:latin typeface="Cambria Math" panose="02040503050406030204" pitchFamily="18" charset="0"/>
                            </a:rPr>
                          </m:ctrlPr>
                        </m:sSubPr>
                        <m:e>
                          <m:r>
                            <a:rPr lang="en-US" sz="1400" b="1" i="1">
                              <a:latin typeface="Cambria Math"/>
                            </a:rPr>
                            <m:t>𝐕</m:t>
                          </m:r>
                        </m:e>
                        <m:sub>
                          <m:r>
                            <a:rPr lang="en-US" sz="1400" b="1" i="1">
                              <a:latin typeface="Cambria Math"/>
                            </a:rPr>
                            <m:t>𝐛𝐥𝐝</m:t>
                          </m:r>
                        </m:sub>
                      </m:sSub>
                      <m:r>
                        <a:rPr lang="en-US" sz="1400" b="1">
                          <a:latin typeface="Cambria Math"/>
                        </a:rPr>
                        <m:t> + </m:t>
                      </m:r>
                      <m:sSub>
                        <m:sSubPr>
                          <m:ctrlPr>
                            <a:rPr lang="en-US" sz="1400" b="1" i="1">
                              <a:latin typeface="Cambria Math" panose="02040503050406030204" pitchFamily="18" charset="0"/>
                            </a:rPr>
                          </m:ctrlPr>
                        </m:sSubPr>
                        <m:e>
                          <m:r>
                            <a:rPr lang="en-US" sz="1400" b="1" i="1">
                              <a:latin typeface="Cambria Math"/>
                            </a:rPr>
                            <m:t>𝐰</m:t>
                          </m:r>
                        </m:e>
                        <m:sub>
                          <m:r>
                            <a:rPr lang="en-US" sz="1400" b="1" i="1">
                              <a:latin typeface="Cambria Math"/>
                            </a:rPr>
                            <m:t>𝐜𝐫𝐢𝐭</m:t>
                          </m:r>
                        </m:sub>
                      </m:sSub>
                      <m:r>
                        <a:rPr lang="en-US" sz="1400" b="1">
                          <a:latin typeface="Cambria Math"/>
                        </a:rPr>
                        <m:t> · </m:t>
                      </m:r>
                      <m:sSub>
                        <m:sSubPr>
                          <m:ctrlPr>
                            <a:rPr lang="en-US" sz="1400" b="1" i="1">
                              <a:latin typeface="Cambria Math" panose="02040503050406030204" pitchFamily="18" charset="0"/>
                            </a:rPr>
                          </m:ctrlPr>
                        </m:sSubPr>
                        <m:e>
                          <m:r>
                            <a:rPr lang="en-US" sz="1400" b="1" i="1">
                              <a:latin typeface="Cambria Math"/>
                            </a:rPr>
                            <m:t>𝐕</m:t>
                          </m:r>
                        </m:e>
                        <m:sub>
                          <m:r>
                            <a:rPr lang="en-US" sz="1400" b="1" i="1">
                              <a:latin typeface="Cambria Math"/>
                            </a:rPr>
                            <m:t>𝐜𝐫𝐢𝐭</m:t>
                          </m:r>
                        </m:sub>
                      </m:sSub>
                      <m:r>
                        <a:rPr lang="en-US" sz="1400" b="1">
                          <a:latin typeface="Cambria Math"/>
                        </a:rPr>
                        <m:t> + </m:t>
                      </m:r>
                      <m:sSub>
                        <m:sSubPr>
                          <m:ctrlPr>
                            <a:rPr lang="en-US" sz="1400" b="1" i="1">
                              <a:latin typeface="Cambria Math" panose="02040503050406030204" pitchFamily="18" charset="0"/>
                            </a:rPr>
                          </m:ctrlPr>
                        </m:sSubPr>
                        <m:e>
                          <m:r>
                            <a:rPr lang="en-US" sz="1400" b="1" i="1">
                              <a:latin typeface="Cambria Math"/>
                            </a:rPr>
                            <m:t>𝐰</m:t>
                          </m:r>
                        </m:e>
                        <m:sub>
                          <m:r>
                            <a:rPr lang="en-US" sz="1400" b="1" i="1">
                              <a:latin typeface="Cambria Math"/>
                            </a:rPr>
                            <m:t>𝐩𝐨𝐩</m:t>
                          </m:r>
                        </m:sub>
                      </m:sSub>
                      <m:r>
                        <a:rPr lang="en-US" sz="1400" b="1">
                          <a:latin typeface="Cambria Math"/>
                        </a:rPr>
                        <m:t> · </m:t>
                      </m:r>
                      <m:sSubSup>
                        <m:sSubSupPr>
                          <m:ctrlPr>
                            <a:rPr lang="en-US" sz="1400" b="1" i="1">
                              <a:latin typeface="Cambria Math" panose="02040503050406030204" pitchFamily="18" charset="0"/>
                            </a:rPr>
                          </m:ctrlPr>
                        </m:sSubSupPr>
                        <m:e>
                          <m:r>
                            <a:rPr lang="en-US" sz="1400" b="1" i="1">
                              <a:latin typeface="Cambria Math"/>
                            </a:rPr>
                            <m:t>𝐕</m:t>
                          </m:r>
                        </m:e>
                        <m:sub>
                          <m:r>
                            <a:rPr lang="en-US" sz="1400" b="1" i="1">
                              <a:latin typeface="Cambria Math"/>
                            </a:rPr>
                            <m:t>𝐩𝐨𝐩</m:t>
                          </m:r>
                        </m:sub>
                        <m:sup/>
                      </m:sSubSup>
                      <m:r>
                        <a:rPr lang="en-US" sz="1400" b="1">
                          <a:latin typeface="Cambria Math"/>
                        </a:rPr>
                        <m:t> + </m:t>
                      </m:r>
                      <m:sSub>
                        <m:sSubPr>
                          <m:ctrlPr>
                            <a:rPr lang="en-US" sz="1400" b="1" i="1">
                              <a:latin typeface="Cambria Math" panose="02040503050406030204" pitchFamily="18" charset="0"/>
                            </a:rPr>
                          </m:ctrlPr>
                        </m:sSubPr>
                        <m:e>
                          <m:r>
                            <a:rPr lang="en-US" sz="1400" b="1" i="1">
                              <a:latin typeface="Cambria Math"/>
                            </a:rPr>
                            <m:t>𝐰</m:t>
                          </m:r>
                        </m:e>
                        <m:sub>
                          <m:r>
                            <a:rPr lang="en-US" sz="1400" b="1" i="1">
                              <a:latin typeface="Cambria Math"/>
                            </a:rPr>
                            <m:t>𝐞𝐯𝐚𝐜</m:t>
                          </m:r>
                        </m:sub>
                      </m:sSub>
                      <m:r>
                        <a:rPr lang="en-US" sz="1400" b="1">
                          <a:latin typeface="Cambria Math"/>
                        </a:rPr>
                        <m:t> · </m:t>
                      </m:r>
                      <m:sSubSup>
                        <m:sSubSupPr>
                          <m:ctrlPr>
                            <a:rPr lang="en-US" sz="1400" b="1" i="1">
                              <a:latin typeface="Cambria Math" panose="02040503050406030204" pitchFamily="18" charset="0"/>
                            </a:rPr>
                          </m:ctrlPr>
                        </m:sSubSupPr>
                        <m:e>
                          <m:r>
                            <a:rPr lang="en-US" sz="1400" b="1" i="1">
                              <a:latin typeface="Cambria Math"/>
                            </a:rPr>
                            <m:t>𝐕</m:t>
                          </m:r>
                        </m:e>
                        <m:sub>
                          <m:r>
                            <a:rPr lang="en-US" sz="1400" b="1" i="1">
                              <a:latin typeface="Cambria Math"/>
                            </a:rPr>
                            <m:t>𝐞𝐯𝐚𝐜</m:t>
                          </m:r>
                        </m:sub>
                        <m:sup/>
                      </m:sSubSup>
                    </m:oMath>
                  </m:oMathPara>
                </a14:m>
                <a:endParaRPr lang="en-US" sz="1400" b="1" dirty="0"/>
              </a:p>
            </p:txBody>
          </p:sp>
        </mc:Choice>
        <mc:Fallback xmlns="">
          <p:sp>
            <p:nvSpPr>
              <p:cNvPr id="13" name="TextBox 12">
                <a:extLst>
                  <a:ext uri="{FF2B5EF4-FFF2-40B4-BE49-F238E27FC236}">
                    <a16:creationId xmlns:a16="http://schemas.microsoft.com/office/drawing/2014/main" id="{28030C30-86CC-4B35-ACF5-CB70621AC381}"/>
                  </a:ext>
                </a:extLst>
              </p:cNvPr>
              <p:cNvSpPr txBox="1">
                <a:spLocks noRot="1" noChangeAspect="1" noMove="1" noResize="1" noEditPoints="1" noAdjustHandles="1" noChangeArrowheads="1" noChangeShapeType="1" noTextEdit="1"/>
              </p:cNvSpPr>
              <p:nvPr/>
            </p:nvSpPr>
            <p:spPr>
              <a:xfrm>
                <a:off x="5562207" y="6041021"/>
                <a:ext cx="6187833" cy="347724"/>
              </a:xfrm>
              <a:prstGeom prst="rect">
                <a:avLst/>
              </a:prstGeom>
              <a:blipFill>
                <a:blip r:embed="rId10"/>
                <a:stretch>
                  <a:fillRect b="-3509"/>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8ECACA57-B78D-4A73-BE14-F9918EA7ADD1}"/>
                  </a:ext>
                </a:extLst>
              </p:cNvPr>
              <p:cNvSpPr txBox="1"/>
              <p:nvPr/>
            </p:nvSpPr>
            <p:spPr>
              <a:xfrm>
                <a:off x="7080235" y="6415897"/>
                <a:ext cx="2915920" cy="396006"/>
              </a:xfrm>
              <a:prstGeom prst="rect">
                <a:avLst/>
              </a:prstGeom>
              <a:noFill/>
            </p:spPr>
            <p:txBody>
              <a:bodyPr wrap="square">
                <a:spAutoFit/>
              </a:bodyPr>
              <a:lstStyle/>
              <a:p>
                <a14:m>
                  <m:oMath xmlns:m="http://schemas.openxmlformats.org/officeDocument/2006/math">
                    <m:sSub>
                      <m:sSubPr>
                        <m:ctrlPr>
                          <a:rPr lang="en-US" sz="1800" b="1" i="1">
                            <a:latin typeface="Cambria Math" panose="02040503050406030204" pitchFamily="18" charset="0"/>
                          </a:rPr>
                        </m:ctrlPr>
                      </m:sSubPr>
                      <m:e>
                        <m:r>
                          <a:rPr lang="en-US" sz="1800" b="1" i="1">
                            <a:latin typeface="Cambria Math"/>
                          </a:rPr>
                          <m:t>𝑼</m:t>
                        </m:r>
                      </m:e>
                      <m:sub>
                        <m:r>
                          <a:rPr lang="en-US" sz="1800" b="1" i="1">
                            <a:latin typeface="Cambria Math"/>
                          </a:rPr>
                          <m:t>𝑹𝒆𝒔</m:t>
                        </m:r>
                        <m:r>
                          <a:rPr lang="en-US" sz="1800" b="1" i="1">
                            <a:latin typeface="Cambria Math"/>
                          </a:rPr>
                          <m:t>,</m:t>
                        </m:r>
                        <m:r>
                          <a:rPr lang="en-US" sz="1800" b="1" i="1">
                            <a:latin typeface="Cambria Math"/>
                          </a:rPr>
                          <m:t>𝒌</m:t>
                        </m:r>
                      </m:sub>
                    </m:sSub>
                    <m:d>
                      <m:dPr>
                        <m:ctrlPr>
                          <a:rPr lang="en-US" sz="1800" b="1" i="1">
                            <a:latin typeface="Cambria Math" panose="02040503050406030204" pitchFamily="18" charset="0"/>
                          </a:rPr>
                        </m:ctrlPr>
                      </m:dPr>
                      <m:e>
                        <m:r>
                          <a:rPr lang="en-US" sz="1800" b="1" i="1">
                            <a:latin typeface="Cambria Math"/>
                          </a:rPr>
                          <m:t>𝒙</m:t>
                        </m:r>
                        <m:r>
                          <a:rPr lang="en-US" sz="1800" b="1" i="1">
                            <a:latin typeface="Cambria Math"/>
                          </a:rPr>
                          <m:t>,</m:t>
                        </m:r>
                        <m:r>
                          <a:rPr lang="en-US" sz="1800" b="1" i="1">
                            <a:latin typeface="Cambria Math"/>
                          </a:rPr>
                          <m:t>𝒚</m:t>
                        </m:r>
                      </m:e>
                    </m:d>
                    <m:r>
                      <a:rPr lang="en-US" sz="1800" b="1" i="1" smtClean="0">
                        <a:latin typeface="Cambria Math" panose="02040503050406030204" pitchFamily="18" charset="0"/>
                        <a:ea typeface="Cambria Math" panose="02040503050406030204" pitchFamily="18" charset="0"/>
                      </a:rPr>
                      <m:t>≡</m:t>
                    </m:r>
                    <m:sSub>
                      <m:sSubPr>
                        <m:ctrlPr>
                          <a:rPr lang="tr-TR" sz="1800" b="1" i="1" smtClean="0">
                            <a:latin typeface="Cambria Math" panose="02040503050406030204" pitchFamily="18" charset="0"/>
                            <a:ea typeface="Cambria Math" panose="02040503050406030204" pitchFamily="18" charset="0"/>
                          </a:rPr>
                        </m:ctrlPr>
                      </m:sSubPr>
                      <m:e>
                        <m:r>
                          <a:rPr lang="tr-TR" sz="1800" b="1" i="1" smtClean="0">
                            <a:latin typeface="Cambria Math" panose="02040503050406030204" pitchFamily="18" charset="0"/>
                            <a:ea typeface="Cambria Math" panose="02040503050406030204" pitchFamily="18" charset="0"/>
                          </a:rPr>
                          <m:t>𝑼</m:t>
                        </m:r>
                      </m:e>
                      <m:sub>
                        <m:r>
                          <a:rPr lang="tr-TR" sz="1800" b="1" i="1" smtClean="0">
                            <a:latin typeface="Cambria Math" panose="02040503050406030204" pitchFamily="18" charset="0"/>
                            <a:ea typeface="Cambria Math" panose="02040503050406030204" pitchFamily="18" charset="0"/>
                          </a:rPr>
                          <m:t>𝑫𝑺𝑺</m:t>
                        </m:r>
                        <m:r>
                          <a:rPr lang="tr-TR" sz="1800" b="1" i="1" smtClean="0">
                            <a:latin typeface="Cambria Math" panose="02040503050406030204" pitchFamily="18" charset="0"/>
                            <a:ea typeface="Cambria Math" panose="02040503050406030204" pitchFamily="18" charset="0"/>
                          </a:rPr>
                          <m:t>,</m:t>
                        </m:r>
                        <m:r>
                          <a:rPr lang="tr-TR" sz="1800" b="1" i="1" smtClean="0">
                            <a:latin typeface="Cambria Math" panose="02040503050406030204" pitchFamily="18" charset="0"/>
                            <a:ea typeface="Cambria Math" panose="02040503050406030204" pitchFamily="18" charset="0"/>
                          </a:rPr>
                          <m:t>𝒌</m:t>
                        </m:r>
                      </m:sub>
                    </m:sSub>
                    <m:r>
                      <a:rPr lang="tr-TR" sz="1800" b="1" i="1" smtClean="0">
                        <a:latin typeface="Cambria Math" panose="02040503050406030204" pitchFamily="18" charset="0"/>
                        <a:ea typeface="Cambria Math" panose="02040503050406030204" pitchFamily="18" charset="0"/>
                      </a:rPr>
                      <m:t> (</m:t>
                    </m:r>
                    <m:r>
                      <a:rPr lang="tr-TR" sz="1800" b="1" i="1" smtClean="0">
                        <a:latin typeface="Cambria Math" panose="02040503050406030204" pitchFamily="18" charset="0"/>
                        <a:ea typeface="Cambria Math" panose="02040503050406030204" pitchFamily="18" charset="0"/>
                      </a:rPr>
                      <m:t>𝒙</m:t>
                    </m:r>
                    <m:r>
                      <a:rPr lang="tr-TR" sz="1800" b="1" i="1" smtClean="0">
                        <a:latin typeface="Cambria Math" panose="02040503050406030204" pitchFamily="18" charset="0"/>
                        <a:ea typeface="Cambria Math" panose="02040503050406030204" pitchFamily="18" charset="0"/>
                      </a:rPr>
                      <m:t>,</m:t>
                    </m:r>
                    <m:r>
                      <a:rPr lang="tr-TR" sz="1800" b="1" i="1" smtClean="0">
                        <a:latin typeface="Cambria Math" panose="02040503050406030204" pitchFamily="18" charset="0"/>
                        <a:ea typeface="Cambria Math" panose="02040503050406030204" pitchFamily="18" charset="0"/>
                      </a:rPr>
                      <m:t>𝒚</m:t>
                    </m:r>
                    <m:r>
                      <a:rPr lang="tr-TR" sz="1800" b="1" i="1" smtClean="0">
                        <a:latin typeface="Cambria Math" panose="02040503050406030204" pitchFamily="18" charset="0"/>
                        <a:ea typeface="Cambria Math" panose="02040503050406030204" pitchFamily="18" charset="0"/>
                      </a:rPr>
                      <m:t>)</m:t>
                    </m:r>
                  </m:oMath>
                </a14:m>
                <a:r>
                  <a:rPr lang="en-US" sz="1800" b="1" i="1" dirty="0">
                    <a:solidFill>
                      <a:srgbClr val="222222"/>
                    </a:solidFill>
                    <a:latin typeface="Calibri" pitchFamily="34" charset="0"/>
                    <a:ea typeface="Calibri" pitchFamily="34" charset="-122"/>
                    <a:cs typeface="Calibri" pitchFamily="34" charset="-120"/>
                  </a:rPr>
                  <a:t> </a:t>
                </a:r>
                <a:endParaRPr lang="tr-TR" i="1" dirty="0"/>
              </a:p>
            </p:txBody>
          </p:sp>
        </mc:Choice>
        <mc:Fallback xmlns="">
          <p:sp>
            <p:nvSpPr>
              <p:cNvPr id="14" name="TextBox 13">
                <a:extLst>
                  <a:ext uri="{FF2B5EF4-FFF2-40B4-BE49-F238E27FC236}">
                    <a16:creationId xmlns:a16="http://schemas.microsoft.com/office/drawing/2014/main" id="{8ECACA57-B78D-4A73-BE14-F9918EA7ADD1}"/>
                  </a:ext>
                </a:extLst>
              </p:cNvPr>
              <p:cNvSpPr txBox="1">
                <a:spLocks noRot="1" noChangeAspect="1" noMove="1" noResize="1" noEditPoints="1" noAdjustHandles="1" noChangeArrowheads="1" noChangeShapeType="1" noTextEdit="1"/>
              </p:cNvSpPr>
              <p:nvPr/>
            </p:nvSpPr>
            <p:spPr>
              <a:xfrm>
                <a:off x="7080235" y="6415897"/>
                <a:ext cx="2915920" cy="396006"/>
              </a:xfrm>
              <a:prstGeom prst="rect">
                <a:avLst/>
              </a:prstGeom>
              <a:blipFill>
                <a:blip r:embed="rId11"/>
                <a:stretch>
                  <a:fillRect b="-7692"/>
                </a:stretch>
              </a:blipFill>
            </p:spPr>
            <p:txBody>
              <a:bodyPr/>
              <a:lstStyle/>
              <a:p>
                <a:r>
                  <a:rPr lang="tr-TR">
                    <a:noFill/>
                  </a:rPr>
                  <a:t> </a:t>
                </a:r>
              </a:p>
            </p:txBody>
          </p:sp>
        </mc:Fallback>
      </mc:AlternateContent>
    </p:spTree>
    <p:extLst>
      <p:ext uri="{BB962C8B-B14F-4D97-AF65-F5344CB8AC3E}">
        <p14:creationId xmlns:p14="http://schemas.microsoft.com/office/powerpoint/2010/main" val="760329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56032"/>
            <a:ext cx="91440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SIMULATION FRAMEWORK : ARCHITECTURE</a:t>
            </a:r>
            <a:endParaRPr lang="en-US" sz="1300" dirty="0"/>
          </a:p>
        </p:txBody>
      </p:sp>
      <p:sp>
        <p:nvSpPr>
          <p:cNvPr id="3" name="Text 1"/>
          <p:cNvSpPr/>
          <p:nvPr/>
        </p:nvSpPr>
        <p:spPr>
          <a:xfrm>
            <a:off x="502920" y="512064"/>
            <a:ext cx="11247120" cy="731520"/>
          </a:xfrm>
          <a:prstGeom prst="rect">
            <a:avLst/>
          </a:prstGeom>
          <a:noFill/>
          <a:ln/>
        </p:spPr>
        <p:txBody>
          <a:bodyPr wrap="square" lIns="0" tIns="0" rIns="0" bIns="0" rtlCol="0" anchor="ctr"/>
          <a:lstStyle/>
          <a:p>
            <a:pPr marL="0" indent="0">
              <a:buNone/>
            </a:pPr>
            <a:r>
              <a:rPr lang="tr-TR" sz="2700" b="1" dirty="0">
                <a:solidFill>
                  <a:srgbClr val="000000"/>
                </a:solidFill>
                <a:latin typeface="Cambria" pitchFamily="34" charset="0"/>
                <a:ea typeface="Cambria" pitchFamily="34" charset="-122"/>
                <a:cs typeface="Cambria" pitchFamily="34" charset="-120"/>
              </a:rPr>
              <a:t>DSS – </a:t>
            </a:r>
            <a:r>
              <a:rPr lang="en-US" sz="2700" b="1" dirty="0">
                <a:solidFill>
                  <a:srgbClr val="000000"/>
                </a:solidFill>
                <a:latin typeface="Cambria" pitchFamily="34" charset="0"/>
                <a:ea typeface="Cambria" pitchFamily="34" charset="-122"/>
                <a:cs typeface="Cambria" pitchFamily="34" charset="-120"/>
              </a:rPr>
              <a:t>Observation and Decision Return</a:t>
            </a:r>
            <a:endParaRPr lang="en-US" sz="2700" dirty="0"/>
          </a:p>
        </p:txBody>
      </p:sp>
      <p:pic>
        <p:nvPicPr>
          <p:cNvPr id="4"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5"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p:pic>
        <p:nvPicPr>
          <p:cNvPr id="6" name="Image 2" descr="/tmp/thx/deck/figs/Figure3_1.png"/>
          <p:cNvPicPr>
            <a:picLocks noChangeAspect="1"/>
          </p:cNvPicPr>
          <p:nvPr/>
        </p:nvPicPr>
        <p:blipFill>
          <a:blip r:embed="rId5"/>
          <a:stretch>
            <a:fillRect/>
          </a:stretch>
        </p:blipFill>
        <p:spPr>
          <a:xfrm>
            <a:off x="365760" y="1815950"/>
            <a:ext cx="5074920" cy="4323379"/>
          </a:xfrm>
          <a:prstGeom prst="rect">
            <a:avLst/>
          </a:prstGeom>
        </p:spPr>
      </p:pic>
      <p:sp>
        <p:nvSpPr>
          <p:cNvPr id="7" name="Text 2"/>
          <p:cNvSpPr/>
          <p:nvPr/>
        </p:nvSpPr>
        <p:spPr>
          <a:xfrm>
            <a:off x="5715000" y="1371600"/>
            <a:ext cx="6035040" cy="320040"/>
          </a:xfrm>
          <a:prstGeom prst="rect">
            <a:avLst/>
          </a:prstGeom>
          <a:noFill/>
          <a:ln/>
        </p:spPr>
        <p:txBody>
          <a:bodyPr wrap="square" lIns="0" tIns="0" rIns="0" bIns="0" rtlCol="0" anchor="t"/>
          <a:lstStyle/>
          <a:p>
            <a:pPr marL="0" indent="0" algn="just">
              <a:lnSpc>
                <a:spcPct val="104000"/>
              </a:lnSpc>
              <a:buNone/>
            </a:pPr>
            <a:r>
              <a:rPr lang="en-US" sz="1500" b="1">
                <a:solidFill>
                  <a:srgbClr val="222222"/>
                </a:solidFill>
                <a:latin typeface="Calibri" pitchFamily="34" charset="0"/>
                <a:ea typeface="Calibri" pitchFamily="34" charset="-122"/>
                <a:cs typeface="Calibri" pitchFamily="34" charset="-120"/>
              </a:rPr>
              <a:t>• Decisional context — DSS-only, invisible to the physics:</a:t>
            </a:r>
            <a:endParaRPr lang="en-US" sz="1500" dirty="0"/>
          </a:p>
        </p:txBody>
      </p:sp>
      <mc:AlternateContent xmlns:mc="http://schemas.openxmlformats.org/markup-compatibility/2006" xmlns:a14="http://schemas.microsoft.com/office/drawing/2010/main">
        <mc:Choice Requires="a14">
          <p:sp>
            <p:nvSpPr>
              <p:cNvPr id="8" name="Text 3"/>
              <p:cNvSpPr/>
              <p:nvPr/>
            </p:nvSpPr>
            <p:spPr>
              <a:xfrm>
                <a:off x="5715000" y="1700784"/>
                <a:ext cx="6035040" cy="384048"/>
              </a:xfrm>
              <a:prstGeom prst="rect">
                <a:avLst/>
              </a:prstGeom>
              <a:noFill/>
              <a:ln/>
            </p:spPr>
            <p:txBody>
              <a:bodyPr wrap="square" lIns="0" tIns="0" rIns="0" bIns="0"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n-US" sz="1500" i="1">
                              <a:latin typeface="Cambria Math" panose="02040503050406030204" pitchFamily="18" charset="0"/>
                            </a:rPr>
                          </m:ctrlPr>
                        </m:sSubPr>
                        <m:e>
                          <m:r>
                            <a:rPr lang="en-US" sz="1500">
                              <a:latin typeface="Cambria Math"/>
                            </a:rPr>
                            <m:t>ℱ</m:t>
                          </m:r>
                        </m:e>
                        <m:sub>
                          <m:r>
                            <a:rPr lang="en-US" sz="1500">
                              <a:latin typeface="Cambria Math"/>
                            </a:rPr>
                            <m:t>𝐷𝑆𝑆</m:t>
                          </m:r>
                          <m:r>
                            <a:rPr lang="en-US" sz="1500">
                              <a:latin typeface="Cambria Math"/>
                            </a:rPr>
                            <m:t>,</m:t>
                          </m:r>
                          <m:r>
                            <a:rPr lang="en-US" sz="1500">
                              <a:latin typeface="Cambria Math"/>
                            </a:rPr>
                            <m:t>𝑘</m:t>
                          </m:r>
                        </m:sub>
                      </m:sSub>
                      <m:r>
                        <a:rPr lang="en-US" sz="1500">
                          <a:latin typeface="Cambria Math"/>
                        </a:rPr>
                        <m:t>={</m:t>
                      </m:r>
                      <m:sSub>
                        <m:sSubPr>
                          <m:ctrlPr>
                            <a:rPr lang="en-US" sz="1500" i="1">
                              <a:latin typeface="Cambria Math" panose="02040503050406030204" pitchFamily="18" charset="0"/>
                            </a:rPr>
                          </m:ctrlPr>
                        </m:sSubPr>
                        <m:e>
                          <m:r>
                            <a:rPr lang="en-US" sz="1500">
                              <a:latin typeface="Cambria Math"/>
                            </a:rPr>
                            <m:t>𝑈</m:t>
                          </m:r>
                        </m:e>
                        <m:sub>
                          <m:r>
                            <a:rPr lang="en-US" sz="1500">
                              <a:latin typeface="Cambria Math"/>
                            </a:rPr>
                            <m:t>𝑉𝑎𝑙</m:t>
                          </m:r>
                          <m:r>
                            <a:rPr lang="en-US" sz="1500">
                              <a:latin typeface="Cambria Math"/>
                            </a:rPr>
                            <m:t>,</m:t>
                          </m:r>
                          <m:r>
                            <a:rPr lang="en-US" sz="1500">
                              <a:latin typeface="Cambria Math"/>
                            </a:rPr>
                            <m:t>𝑘</m:t>
                          </m:r>
                        </m:sub>
                      </m:sSub>
                      <m:r>
                        <a:rPr lang="en-US" sz="1500">
                          <a:latin typeface="Cambria Math"/>
                        </a:rPr>
                        <m:t>, </m:t>
                      </m:r>
                      <m:sSub>
                        <m:sSubPr>
                          <m:ctrlPr>
                            <a:rPr lang="en-US" sz="1500" i="1">
                              <a:latin typeface="Cambria Math" panose="02040503050406030204" pitchFamily="18" charset="0"/>
                            </a:rPr>
                          </m:ctrlPr>
                        </m:sSubPr>
                        <m:e>
                          <m:r>
                            <a:rPr lang="en-US" sz="1500">
                              <a:latin typeface="Cambria Math"/>
                            </a:rPr>
                            <m:t>𝑈</m:t>
                          </m:r>
                        </m:e>
                        <m:sub>
                          <m:r>
                            <a:rPr lang="en-US" sz="1500">
                              <a:latin typeface="Cambria Math"/>
                            </a:rPr>
                            <m:t>𝑅𝑒𝑠</m:t>
                          </m:r>
                          <m:r>
                            <a:rPr lang="en-US" sz="1500">
                              <a:latin typeface="Cambria Math"/>
                            </a:rPr>
                            <m:t>,</m:t>
                          </m:r>
                          <m:r>
                            <a:rPr lang="en-US" sz="1500">
                              <a:latin typeface="Cambria Math"/>
                            </a:rPr>
                            <m:t>𝑘</m:t>
                          </m:r>
                        </m:sub>
                      </m:sSub>
                      <m:r>
                        <a:rPr lang="en-US" sz="1500">
                          <a:latin typeface="Cambria Math"/>
                        </a:rPr>
                        <m:t>}</m:t>
                      </m:r>
                    </m:oMath>
                  </m:oMathPara>
                </a14:m>
                <a:endParaRPr lang="en-US" sz="1600" dirty="0"/>
              </a:p>
            </p:txBody>
          </p:sp>
        </mc:Choice>
        <mc:Fallback xmlns="">
          <p:sp>
            <p:nvSpPr>
              <p:cNvPr id="8" name="Text 3"/>
              <p:cNvSpPr>
                <a:spLocks noRot="1" noChangeAspect="1" noMove="1" noResize="1" noEditPoints="1" noAdjustHandles="1" noChangeArrowheads="1" noChangeShapeType="1" noTextEdit="1"/>
              </p:cNvSpPr>
              <p:nvPr/>
            </p:nvSpPr>
            <p:spPr>
              <a:xfrm>
                <a:off x="5715000" y="1700784"/>
                <a:ext cx="6035040" cy="384048"/>
              </a:xfrm>
              <a:prstGeom prst="rect">
                <a:avLst/>
              </a:prstGeom>
              <a:noFill/>
              <a:ln/>
            </p:spPr>
            <p:txBody>
              <a:bodyPr/>
              <a:lstStyle/>
              <a:p>
                <a:r>
                  <a:rPr lang="tr-TR">
                    <a:noFill/>
                  </a:rPr>
                  <a:t/>
                </a:r>
              </a:p>
            </p:txBody>
          </p:sp>
        </mc:Fallback>
      </mc:AlternateContent>
      <mc:AlternateContent xmlns:mc="http://schemas.openxmlformats.org/markup-compatibility/2006" xmlns:a14="http://schemas.microsoft.com/office/drawing/2010/main">
        <mc:Choice Requires="a14">
          <p:sp>
            <p:nvSpPr>
              <p:cNvPr id="9" name="Text 4"/>
              <p:cNvSpPr/>
              <p:nvPr/>
            </p:nvSpPr>
            <p:spPr>
              <a:xfrm>
                <a:off x="5943600" y="2139696"/>
                <a:ext cx="5806440" cy="292608"/>
              </a:xfrm>
              <a:prstGeom prst="rect">
                <a:avLst/>
              </a:prstGeom>
              <a:noFill/>
              <a:ln/>
            </p:spPr>
            <p:txBody>
              <a:bodyPr wrap="square" lIns="0" tIns="0" rIns="0" bIns="0" rtlCol="0" anchor="t"/>
              <a:lstStyle/>
              <a:p>
                <a:pPr marL="0" indent="0">
                  <a:lnSpc>
                    <a:spcPct val="104000"/>
                  </a:lnSpc>
                  <a:buNone/>
                </a:pPr>
                <a14:m>
                  <m:oMath xmlns:m="http://schemas.openxmlformats.org/officeDocument/2006/math">
                    <m:sSub>
                      <m:sSubPr>
                        <m:ctrlPr>
                          <a:rPr lang="en-US" sz="1300" i="1">
                            <a:latin typeface="Cambria Math" panose="02040503050406030204" pitchFamily="18" charset="0"/>
                          </a:rPr>
                        </m:ctrlPr>
                      </m:sSubPr>
                      <m:e>
                        <m:r>
                          <a:rPr lang="en-US" sz="1300">
                            <a:latin typeface="Cambria Math"/>
                          </a:rPr>
                          <m:t>𝑈</m:t>
                        </m:r>
                      </m:e>
                      <m:sub>
                        <m:r>
                          <a:rPr lang="en-US" sz="1300">
                            <a:latin typeface="Cambria Math"/>
                          </a:rPr>
                          <m:t>𝑉𝑎𝑙</m:t>
                        </m:r>
                        <m:r>
                          <a:rPr lang="en-US" sz="1300">
                            <a:latin typeface="Cambria Math"/>
                          </a:rPr>
                          <m:t>,</m:t>
                        </m:r>
                        <m:r>
                          <a:rPr lang="en-US" sz="1300">
                            <a:latin typeface="Cambria Math"/>
                          </a:rPr>
                          <m:t>𝑘</m:t>
                        </m:r>
                      </m:sub>
                    </m:sSub>
                    <m:r>
                      <a:rPr lang="en-US" sz="1300">
                        <a:latin typeface="Cambria Math"/>
                      </a:rPr>
                      <m:t>(</m:t>
                    </m:r>
                    <m:r>
                      <a:rPr lang="en-US" sz="1300">
                        <a:latin typeface="Cambria Math"/>
                      </a:rPr>
                      <m:t>𝑥</m:t>
                    </m:r>
                    <m:r>
                      <a:rPr lang="en-US" sz="1300">
                        <a:latin typeface="Cambria Math"/>
                      </a:rPr>
                      <m:t>,</m:t>
                    </m:r>
                    <m:r>
                      <a:rPr lang="en-US" sz="1300">
                        <a:latin typeface="Cambria Math"/>
                      </a:rPr>
                      <m:t>𝑦</m:t>
                    </m:r>
                    <m:r>
                      <a:rPr lang="en-US" sz="1300">
                        <a:latin typeface="Cambria Math"/>
                      </a:rPr>
                      <m:t>)</m:t>
                    </m:r>
                  </m:oMath>
                </a14:m>
                <a:r>
                  <a:rPr lang="en-US" sz="1350" dirty="0">
                    <a:solidFill>
                      <a:srgbClr val="222222"/>
                    </a:solidFill>
                    <a:latin typeface="Calibri" pitchFamily="34" charset="0"/>
                    <a:ea typeface="Calibri" pitchFamily="34" charset="-122"/>
                    <a:cs typeface="Calibri" pitchFamily="34" charset="-120"/>
                  </a:rPr>
                  <a:t> — value-at-risk priorities:</a:t>
                </a:r>
                <a:endParaRPr lang="en-US" sz="1350" dirty="0"/>
              </a:p>
            </p:txBody>
          </p:sp>
        </mc:Choice>
        <mc:Fallback xmlns="">
          <p:sp>
            <p:nvSpPr>
              <p:cNvPr id="9" name="Text 4"/>
              <p:cNvSpPr>
                <a:spLocks noRot="1" noChangeAspect="1" noMove="1" noResize="1" noEditPoints="1" noAdjustHandles="1" noChangeArrowheads="1" noChangeShapeType="1" noTextEdit="1"/>
              </p:cNvSpPr>
              <p:nvPr/>
            </p:nvSpPr>
            <p:spPr>
              <a:xfrm>
                <a:off x="5943600" y="2139696"/>
                <a:ext cx="5806440" cy="292608"/>
              </a:xfrm>
              <a:prstGeom prst="rect">
                <a:avLst/>
              </a:prstGeom>
              <a:noFill/>
              <a:ln/>
            </p:spPr>
            <p:txBody>
              <a:bodyPr/>
              <a:lstStyle/>
              <a:p>
                <a:r>
                  <a:rPr lang="tr-TR">
                    <a:noFill/>
                  </a:rPr>
                  <a:t/>
                </a:r>
              </a:p>
            </p:txBody>
          </p:sp>
        </mc:Fallback>
      </mc:AlternateContent>
      <mc:AlternateContent xmlns:mc="http://schemas.openxmlformats.org/markup-compatibility/2006" xmlns:a14="http://schemas.microsoft.com/office/drawing/2010/main">
        <mc:Choice Requires="a14">
          <p:sp>
            <p:nvSpPr>
              <p:cNvPr id="11" name="Text 6"/>
              <p:cNvSpPr/>
              <p:nvPr/>
            </p:nvSpPr>
            <p:spPr>
              <a:xfrm>
                <a:off x="5943600" y="2532888"/>
                <a:ext cx="5806440" cy="320040"/>
              </a:xfrm>
              <a:prstGeom prst="rect">
                <a:avLst/>
              </a:prstGeom>
              <a:noFill/>
              <a:ln/>
            </p:spPr>
            <p:txBody>
              <a:bodyPr wrap="square" lIns="0" tIns="0" rIns="0" bIns="0" rtlCol="0" anchor="t"/>
              <a:lstStyle/>
              <a:p>
                <a:pPr marL="0" indent="0">
                  <a:lnSpc>
                    <a:spcPct val="104000"/>
                  </a:lnSpc>
                  <a:buNone/>
                </a:pPr>
                <a14:m>
                  <m:oMath xmlns:m="http://schemas.openxmlformats.org/officeDocument/2006/math">
                    <m:sSub>
                      <m:sSubPr>
                        <m:ctrlPr>
                          <a:rPr lang="en-US" sz="1300" i="1">
                            <a:latin typeface="Cambria Math" panose="02040503050406030204" pitchFamily="18" charset="0"/>
                          </a:rPr>
                        </m:ctrlPr>
                      </m:sSubPr>
                      <m:e>
                        <m:r>
                          <a:rPr lang="en-US" sz="1300">
                            <a:latin typeface="Cambria Math"/>
                          </a:rPr>
                          <m:t>𝑈</m:t>
                        </m:r>
                      </m:e>
                      <m:sub>
                        <m:r>
                          <a:rPr lang="en-US" sz="1300">
                            <a:latin typeface="Cambria Math"/>
                          </a:rPr>
                          <m:t>𝑅𝑒𝑠</m:t>
                        </m:r>
                        <m:r>
                          <a:rPr lang="en-US" sz="1300">
                            <a:latin typeface="Cambria Math"/>
                          </a:rPr>
                          <m:t>,</m:t>
                        </m:r>
                        <m:r>
                          <a:rPr lang="en-US" sz="1300">
                            <a:latin typeface="Cambria Math"/>
                          </a:rPr>
                          <m:t>𝑘</m:t>
                        </m:r>
                      </m:sub>
                    </m:sSub>
                    <m:r>
                      <a:rPr lang="en-US" sz="1300">
                        <a:latin typeface="Cambria Math"/>
                      </a:rPr>
                      <m:t>(</m:t>
                    </m:r>
                    <m:r>
                      <a:rPr lang="en-US" sz="1300">
                        <a:latin typeface="Cambria Math"/>
                      </a:rPr>
                      <m:t>𝑥</m:t>
                    </m:r>
                    <m:r>
                      <a:rPr lang="en-US" sz="1300">
                        <a:latin typeface="Cambria Math"/>
                      </a:rPr>
                      <m:t>,</m:t>
                    </m:r>
                    <m:r>
                      <a:rPr lang="en-US" sz="1300">
                        <a:latin typeface="Cambria Math"/>
                      </a:rPr>
                      <m:t>𝑦</m:t>
                    </m:r>
                    <m:r>
                      <a:rPr lang="en-US" sz="1300">
                        <a:latin typeface="Cambria Math"/>
                      </a:rPr>
                      <m:t>)</m:t>
                    </m:r>
                  </m:oMath>
                </a14:m>
                <a:r>
                  <a:rPr lang="en-US" sz="1350" dirty="0">
                    <a:solidFill>
                      <a:srgbClr val="222222"/>
                    </a:solidFill>
                    <a:latin typeface="Calibri" pitchFamily="34" charset="0"/>
                    <a:ea typeface="Calibri" pitchFamily="34" charset="-122"/>
                    <a:cs typeface="Calibri" pitchFamily="34" charset="-120"/>
                  </a:rPr>
                  <a:t> — resource pool: capacity, availability, effectiveness, travel time</a:t>
                </a:r>
                <a:endParaRPr lang="en-US" sz="1350" dirty="0"/>
              </a:p>
            </p:txBody>
          </p:sp>
        </mc:Choice>
        <mc:Fallback xmlns="">
          <p:sp>
            <p:nvSpPr>
              <p:cNvPr id="11" name="Text 6"/>
              <p:cNvSpPr>
                <a:spLocks noRot="1" noChangeAspect="1" noMove="1" noResize="1" noEditPoints="1" noAdjustHandles="1" noChangeArrowheads="1" noChangeShapeType="1" noTextEdit="1"/>
              </p:cNvSpPr>
              <p:nvPr/>
            </p:nvSpPr>
            <p:spPr>
              <a:xfrm>
                <a:off x="5943600" y="2532888"/>
                <a:ext cx="5806440" cy="320040"/>
              </a:xfrm>
              <a:prstGeom prst="rect">
                <a:avLst/>
              </a:prstGeom>
              <a:blipFill>
                <a:blip r:embed="rId8"/>
                <a:stretch>
                  <a:fillRect l="-944" b="-17308"/>
                </a:stretch>
              </a:blipFill>
              <a:ln/>
            </p:spPr>
            <p:txBody>
              <a:bodyPr/>
              <a:lstStyle/>
              <a:p>
                <a:r>
                  <a:rPr lang="tr-TR">
                    <a:noFill/>
                  </a:rPr>
                  <a:t/>
                </a:r>
              </a:p>
            </p:txBody>
          </p:sp>
        </mc:Fallback>
      </mc:AlternateContent>
      <mc:AlternateContent xmlns:mc="http://schemas.openxmlformats.org/markup-compatibility/2006" xmlns:a14="http://schemas.microsoft.com/office/drawing/2010/main">
        <mc:Choice Requires="a14">
          <p:sp>
            <p:nvSpPr>
              <p:cNvPr id="12" name="Text 7"/>
              <p:cNvSpPr/>
              <p:nvPr/>
            </p:nvSpPr>
            <p:spPr>
              <a:xfrm>
                <a:off x="5715000" y="3012948"/>
                <a:ext cx="6035040" cy="502920"/>
              </a:xfrm>
              <a:prstGeom prst="rect">
                <a:avLst/>
              </a:prstGeom>
              <a:noFill/>
              <a:ln/>
            </p:spPr>
            <p:txBody>
              <a:bodyPr wrap="square" lIns="0" tIns="0" rIns="0" bIns="0" rtlCol="0" anchor="t"/>
              <a:lstStyle/>
              <a:p>
                <a:pPr marL="0" indent="0" algn="just">
                  <a:lnSpc>
                    <a:spcPct val="104000"/>
                  </a:lnSpc>
                  <a:buNone/>
                </a:pPr>
                <a:r>
                  <a:rPr lang="en-US" sz="1500" b="1">
                    <a:solidFill>
                      <a:srgbClr val="222222"/>
                    </a:solidFill>
                    <a:latin typeface="Calibri" pitchFamily="34" charset="0"/>
                    <a:ea typeface="Calibri" pitchFamily="34" charset="-122"/>
                    <a:cs typeface="Calibri" pitchFamily="34" charset="-120"/>
                  </a:rPr>
                  <a:t>• The DSS never reads the true state </a:t>
                </a:r>
                <a14:m>
                  <m:oMath xmlns:m="http://schemas.openxmlformats.org/officeDocument/2006/math">
                    <m:sSub>
                      <m:sSubPr>
                        <m:ctrlPr>
                          <a:rPr lang="en-US" sz="1400" i="1">
                            <a:latin typeface="Cambria Math" panose="02040503050406030204" pitchFamily="18" charset="0"/>
                          </a:rPr>
                        </m:ctrlPr>
                      </m:sSubPr>
                      <m:e>
                        <m:r>
                          <a:rPr lang="en-US" sz="1400">
                            <a:latin typeface="Cambria Math"/>
                          </a:rPr>
                          <m:t>𝑆</m:t>
                        </m:r>
                      </m:e>
                      <m:sub>
                        <m:r>
                          <a:rPr lang="en-US" sz="1400">
                            <a:latin typeface="Cambria Math"/>
                          </a:rPr>
                          <m:t>𝑘</m:t>
                        </m:r>
                      </m:sub>
                    </m:sSub>
                    <m:r>
                      <a:rPr lang="tr-TR" sz="1400" b="1" i="0" smtClean="0">
                        <a:latin typeface="Cambria Math" panose="02040503050406030204" pitchFamily="18" charset="0"/>
                      </a:rPr>
                      <m:t>;</m:t>
                    </m:r>
                  </m:oMath>
                </a14:m>
                <a:r>
                  <a:rPr lang="en-US" sz="1500" b="1">
                    <a:solidFill>
                      <a:srgbClr val="222222"/>
                    </a:solidFill>
                    <a:latin typeface="Calibri" pitchFamily="34" charset="0"/>
                    <a:ea typeface="Calibri" pitchFamily="34" charset="-122"/>
                    <a:cs typeface="Calibri" pitchFamily="34" charset="-120"/>
                  </a:rPr>
                  <a:t> — only a bounded-error observation:</a:t>
                </a:r>
                <a:endParaRPr lang="en-US" sz="1500" dirty="0"/>
              </a:p>
            </p:txBody>
          </p:sp>
        </mc:Choice>
        <mc:Fallback xmlns="">
          <p:sp>
            <p:nvSpPr>
              <p:cNvPr id="12" name="Text 7"/>
              <p:cNvSpPr/>
              <p:nvPr/>
            </p:nvSpPr>
            <p:spPr>
              <a:xfrm>
                <a:off x="5715000" y="3012948"/>
                <a:ext cx="6035040" cy="502920"/>
              </a:xfrm>
              <a:prstGeom prst="rect">
                <a:avLst/>
              </a:prstGeom>
              <a:noFill/>
              <a:ln/>
            </p:spPr>
            <p:txBody>
              <a:bodyPr wrap="square" lIns="0" tIns="0" rIns="0" bIns="0" rtlCol="0" anchor="t"/>
              <a:lstStyle/>
              <a:p>
                <a:pPr marL="0" indent="0" algn="just">
                  <a:lnSpc>
                    <a:spcPct val="104000"/>
                  </a:lnSpc>
                  <a:buNone/>
                </a:pPr>
                <a:r>
                  <a:rPr lang="en-US" sz="1500" b="1">
                    <a:solidFill>
                      <a:srgbClr val="222222"/>
                    </a:solidFill>
                    <a:latin typeface="Calibri" pitchFamily="34" charset="0"/>
                    <a:ea typeface="Calibri" pitchFamily="34" charset="-122"/>
                    <a:cs typeface="Calibri" pitchFamily="34" charset="-120"/>
                  </a:rPr>
                  <a:t xml:space="preserve">• The DSS never reads the true state </a:t>
                </a:r>
                <a:r>
                  <a:rPr lang="en-US" sz="1400" i="1">
                    <a:latin typeface="Cambria Math"/>
                  </a:rPr>
                  <a:t>𝑆𝑘;</a:t>
                </a:r>
                <a:r>
                  <a:rPr lang="en-US" sz="1500" b="1">
                    <a:solidFill>
                      <a:srgbClr val="222222"/>
                    </a:solidFill>
                    <a:latin typeface="Calibri" pitchFamily="34" charset="0"/>
                    <a:ea typeface="Calibri" pitchFamily="34" charset="-122"/>
                    <a:cs typeface="Calibri" pitchFamily="34" charset="-120"/>
                  </a:rPr>
                  <a:t xml:space="preserve"> — only a bounded-error observation:</a:t>
                </a:r>
                <a:endParaRPr lang="en-US" sz="1500" dirty="0"/>
              </a:p>
            </p:txBody>
          </p:sp>
        </mc:Fallback>
      </mc:AlternateContent>
      <mc:AlternateContent xmlns:mc="http://schemas.openxmlformats.org/markup-compatibility/2006" xmlns:a14="http://schemas.microsoft.com/office/drawing/2010/main">
        <mc:Choice Requires="a14">
          <p:sp>
            <p:nvSpPr>
              <p:cNvPr id="13" name="Text 8"/>
              <p:cNvSpPr/>
              <p:nvPr/>
            </p:nvSpPr>
            <p:spPr>
              <a:xfrm>
                <a:off x="7090719" y="3547872"/>
                <a:ext cx="3811743" cy="384048"/>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sSubSup>
                        <m:sSubSupPr>
                          <m:ctrlPr>
                            <a:rPr lang="en-US" sz="1400" i="1">
                              <a:latin typeface="Cambria Math" panose="02040503050406030204" pitchFamily="18" charset="0"/>
                            </a:rPr>
                          </m:ctrlPr>
                        </m:sSubSupPr>
                        <m:e>
                          <m:r>
                            <a:rPr lang="en-US" sz="1400">
                              <a:latin typeface="Cambria Math"/>
                            </a:rPr>
                            <m:t>𝑂</m:t>
                          </m:r>
                        </m:e>
                        <m:sub>
                          <m:r>
                            <a:rPr lang="en-US" sz="1400">
                              <a:latin typeface="Cambria Math"/>
                            </a:rPr>
                            <m:t>𝑘</m:t>
                          </m:r>
                        </m:sub>
                        <m:sup>
                          <m:r>
                            <a:rPr lang="en-US" sz="1400">
                              <a:latin typeface="Cambria Math"/>
                            </a:rPr>
                            <m:t>𝑖</m:t>
                          </m:r>
                        </m:sup>
                      </m:sSubSup>
                      <m:d>
                        <m:dPr>
                          <m:ctrlPr>
                            <a:rPr lang="en-US" sz="1400" i="1">
                              <a:latin typeface="Cambria Math" panose="02040503050406030204" pitchFamily="18" charset="0"/>
                            </a:rPr>
                          </m:ctrlPr>
                        </m:dPr>
                        <m:e>
                          <m:r>
                            <a:rPr lang="en-US" sz="1400">
                              <a:latin typeface="Cambria Math"/>
                            </a:rPr>
                            <m:t>𝑥</m:t>
                          </m:r>
                          <m:r>
                            <a:rPr lang="en-US" sz="1400">
                              <a:latin typeface="Cambria Math"/>
                            </a:rPr>
                            <m:t>,</m:t>
                          </m:r>
                          <m:r>
                            <a:rPr lang="en-US" sz="1400">
                              <a:latin typeface="Cambria Math"/>
                            </a:rPr>
                            <m:t>𝑦</m:t>
                          </m:r>
                        </m:e>
                      </m:d>
                      <m:r>
                        <a:rPr lang="en-US" sz="1400">
                          <a:latin typeface="Cambria Math"/>
                        </a:rPr>
                        <m:t>=</m:t>
                      </m:r>
                      <m:sSup>
                        <m:sSupPr>
                          <m:ctrlPr>
                            <a:rPr lang="en-US" sz="1400" i="1">
                              <a:latin typeface="Cambria Math" panose="02040503050406030204" pitchFamily="18" charset="0"/>
                            </a:rPr>
                          </m:ctrlPr>
                        </m:sSupPr>
                        <m:e>
                          <m:r>
                            <a:rPr lang="en-US" sz="1400">
                              <a:latin typeface="Cambria Math"/>
                            </a:rPr>
                            <m:t>h</m:t>
                          </m:r>
                        </m:e>
                        <m:sup>
                          <m:r>
                            <a:rPr lang="en-US" sz="1400">
                              <a:latin typeface="Cambria Math"/>
                            </a:rPr>
                            <m:t>𝑖</m:t>
                          </m:r>
                        </m:sup>
                      </m:sSup>
                      <m:d>
                        <m:dPr>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a:rPr lang="en-US" sz="1400">
                                  <a:latin typeface="Cambria Math"/>
                                </a:rPr>
                                <m:t>𝑆</m:t>
                              </m:r>
                            </m:e>
                            <m:sub>
                              <m:r>
                                <a:rPr lang="en-US" sz="1400">
                                  <a:latin typeface="Cambria Math"/>
                                </a:rPr>
                                <m:t>𝑘</m:t>
                              </m:r>
                            </m:sub>
                          </m:sSub>
                          <m:d>
                            <m:dPr>
                              <m:ctrlPr>
                                <a:rPr lang="en-US" sz="1400" i="1">
                                  <a:latin typeface="Cambria Math" panose="02040503050406030204" pitchFamily="18" charset="0"/>
                                </a:rPr>
                              </m:ctrlPr>
                            </m:dPr>
                            <m:e>
                              <m:r>
                                <a:rPr lang="en-US" sz="1400">
                                  <a:latin typeface="Cambria Math"/>
                                </a:rPr>
                                <m:t>𝑥</m:t>
                              </m:r>
                              <m:r>
                                <a:rPr lang="en-US" sz="1400">
                                  <a:latin typeface="Cambria Math"/>
                                </a:rPr>
                                <m:t>,</m:t>
                              </m:r>
                              <m:r>
                                <a:rPr lang="en-US" sz="1400">
                                  <a:latin typeface="Cambria Math"/>
                                </a:rPr>
                                <m:t>𝑦</m:t>
                              </m:r>
                            </m:e>
                          </m:d>
                          <m:r>
                            <a:rPr lang="en-US" sz="1400">
                              <a:latin typeface="Cambria Math"/>
                            </a:rPr>
                            <m:t>, </m:t>
                          </m:r>
                          <m:sSubSup>
                            <m:sSubSupPr>
                              <m:ctrlPr>
                                <a:rPr lang="en-US" sz="1400" i="1">
                                  <a:latin typeface="Cambria Math" panose="02040503050406030204" pitchFamily="18" charset="0"/>
                                </a:rPr>
                              </m:ctrlPr>
                            </m:sSubSupPr>
                            <m:e>
                              <m:r>
                                <a:rPr lang="en-US" sz="1400">
                                  <a:latin typeface="Cambria Math"/>
                                </a:rPr>
                                <m:t>𝜀</m:t>
                              </m:r>
                            </m:e>
                            <m:sub>
                              <m:r>
                                <a:rPr lang="en-US" sz="1400">
                                  <a:latin typeface="Cambria Math"/>
                                </a:rPr>
                                <m:t>𝑘</m:t>
                              </m:r>
                            </m:sub>
                            <m:sup>
                              <m:r>
                                <a:rPr lang="en-US" sz="1400">
                                  <a:latin typeface="Cambria Math"/>
                                </a:rPr>
                                <m:t>𝑖</m:t>
                              </m:r>
                            </m:sup>
                          </m:sSubSup>
                          <m:d>
                            <m:dPr>
                              <m:ctrlPr>
                                <a:rPr lang="en-US" sz="1400" i="1">
                                  <a:latin typeface="Cambria Math" panose="02040503050406030204" pitchFamily="18" charset="0"/>
                                </a:rPr>
                              </m:ctrlPr>
                            </m:dPr>
                            <m:e>
                              <m:r>
                                <a:rPr lang="en-US" sz="1400">
                                  <a:latin typeface="Cambria Math"/>
                                </a:rPr>
                                <m:t>𝑥</m:t>
                              </m:r>
                              <m:r>
                                <a:rPr lang="en-US" sz="1400">
                                  <a:latin typeface="Cambria Math"/>
                                </a:rPr>
                                <m:t>,</m:t>
                              </m:r>
                              <m:r>
                                <a:rPr lang="en-US" sz="1400">
                                  <a:latin typeface="Cambria Math"/>
                                </a:rPr>
                                <m:t>𝑦</m:t>
                              </m:r>
                            </m:e>
                          </m:d>
                        </m:e>
                      </m:d>
                      <m:r>
                        <a:rPr lang="en-US" sz="1400">
                          <a:latin typeface="Cambria Math"/>
                        </a:rPr>
                        <m:t>, </m:t>
                      </m:r>
                      <m:d>
                        <m:dPr>
                          <m:ctrlPr>
                            <a:rPr lang="en-US" sz="1400" i="1">
                              <a:latin typeface="Cambria Math" panose="02040503050406030204" pitchFamily="18" charset="0"/>
                            </a:rPr>
                          </m:ctrlPr>
                        </m:dPr>
                        <m:e>
                          <m:r>
                            <a:rPr lang="en-US" sz="1400">
                              <a:latin typeface="Cambria Math"/>
                            </a:rPr>
                            <m:t>𝑥</m:t>
                          </m:r>
                          <m:r>
                            <a:rPr lang="en-US" sz="1400">
                              <a:latin typeface="Cambria Math"/>
                            </a:rPr>
                            <m:t>,</m:t>
                          </m:r>
                          <m:r>
                            <a:rPr lang="en-US" sz="1400">
                              <a:latin typeface="Cambria Math"/>
                            </a:rPr>
                            <m:t>𝑦</m:t>
                          </m:r>
                        </m:e>
                      </m:d>
                      <m:r>
                        <a:rPr lang="en-US" sz="1400">
                          <a:latin typeface="Cambria Math"/>
                        </a:rPr>
                        <m:t>∈</m:t>
                      </m:r>
                      <m:sSup>
                        <m:sSupPr>
                          <m:ctrlPr>
                            <a:rPr lang="en-US" sz="1400" i="1">
                              <a:latin typeface="Cambria Math" panose="02040503050406030204" pitchFamily="18" charset="0"/>
                            </a:rPr>
                          </m:ctrlPr>
                        </m:sSupPr>
                        <m:e>
                          <m:r>
                            <a:rPr lang="en-US" sz="1400">
                              <a:latin typeface="Cambria Math"/>
                            </a:rPr>
                            <m:t>𝒢</m:t>
                          </m:r>
                        </m:e>
                        <m:sup>
                          <m:r>
                            <a:rPr lang="en-US" sz="1400">
                              <a:latin typeface="Cambria Math"/>
                            </a:rPr>
                            <m:t>𝑖</m:t>
                          </m:r>
                        </m:sup>
                      </m:sSup>
                    </m:oMath>
                  </m:oMathPara>
                </a14:m>
                <a:endParaRPr lang="en-US" sz="1400" dirty="0"/>
              </a:p>
            </p:txBody>
          </p:sp>
        </mc:Choice>
        <mc:Fallback xmlns="">
          <p:sp>
            <p:nvSpPr>
              <p:cNvPr id="13" name="Text 8"/>
              <p:cNvSpPr>
                <a:spLocks noRot="1" noChangeAspect="1" noMove="1" noResize="1" noEditPoints="1" noAdjustHandles="1" noChangeArrowheads="1" noChangeShapeType="1" noTextEdit="1"/>
              </p:cNvSpPr>
              <p:nvPr/>
            </p:nvSpPr>
            <p:spPr>
              <a:xfrm>
                <a:off x="7090719" y="3547872"/>
                <a:ext cx="3811743" cy="384048"/>
              </a:xfrm>
              <a:prstGeom prst="rect">
                <a:avLst/>
              </a:prstGeom>
              <a:blipFill>
                <a:blip r:embed="rId10"/>
                <a:stretch>
                  <a:fillRect b="-4762"/>
                </a:stretch>
              </a:blipFill>
              <a:ln/>
            </p:spPr>
            <p:txBody>
              <a:bodyPr/>
              <a:lstStyle/>
              <a:p>
                <a:r>
                  <a:rPr lang="tr-TR">
                    <a:noFill/>
                  </a:rPr>
                  <a:t/>
                </a:r>
              </a:p>
            </p:txBody>
          </p:sp>
        </mc:Fallback>
      </mc:AlternateContent>
      <mc:AlternateContent xmlns:mc="http://schemas.openxmlformats.org/markup-compatibility/2006" xmlns:a14="http://schemas.microsoft.com/office/drawing/2010/main">
        <mc:Choice Requires="a14">
          <p:sp>
            <p:nvSpPr>
              <p:cNvPr id="14" name="Text 9"/>
              <p:cNvSpPr/>
              <p:nvPr/>
            </p:nvSpPr>
            <p:spPr>
              <a:xfrm>
                <a:off x="7223760" y="4304488"/>
                <a:ext cx="3017520" cy="384048"/>
              </a:xfrm>
              <a:prstGeom prst="rect">
                <a:avLst/>
              </a:prstGeom>
              <a:noFill/>
              <a:ln/>
            </p:spPr>
            <p:txBody>
              <a:bodyPr wrap="square" lIns="0" tIns="0" rIns="0" bIns="0" rtlCol="0" anchor="ctr"/>
              <a:lstStyle/>
              <a:p>
                <a:pPr marL="0" indent="0" algn="ctr">
                  <a:buNone/>
                </a:pPr>
                <a14:m>
                  <m:oMathPara xmlns:m="http://schemas.openxmlformats.org/officeDocument/2006/math">
                    <m:oMathParaPr>
                      <m:jc m:val="centerGroup"/>
                    </m:oMathParaPr>
                    <m:oMath xmlns:m="http://schemas.openxmlformats.org/officeDocument/2006/math">
                      <m:r>
                        <a:rPr lang="en-US" sz="1300">
                          <a:latin typeface="Cambria Math"/>
                        </a:rPr>
                        <m:t>|</m:t>
                      </m:r>
                      <m:sSubSup>
                        <m:sSubSupPr>
                          <m:ctrlPr>
                            <a:rPr lang="en-US" sz="1300" i="1">
                              <a:latin typeface="Cambria Math" panose="02040503050406030204" pitchFamily="18" charset="0"/>
                            </a:rPr>
                          </m:ctrlPr>
                        </m:sSubSupPr>
                        <m:e>
                          <m:r>
                            <a:rPr lang="en-US" sz="1300">
                              <a:latin typeface="Cambria Math"/>
                            </a:rPr>
                            <m:t>𝜀</m:t>
                          </m:r>
                        </m:e>
                        <m:sub>
                          <m:r>
                            <a:rPr lang="en-US" sz="1300">
                              <a:latin typeface="Cambria Math"/>
                            </a:rPr>
                            <m:t>𝑘</m:t>
                          </m:r>
                        </m:sub>
                        <m:sup>
                          <m:r>
                            <a:rPr lang="en-US" sz="1300">
                              <a:latin typeface="Cambria Math"/>
                            </a:rPr>
                            <m:t>𝑖</m:t>
                          </m:r>
                        </m:sup>
                      </m:sSubSup>
                      <m:d>
                        <m:dPr>
                          <m:ctrlPr>
                            <a:rPr lang="en-US" sz="1300" i="1">
                              <a:latin typeface="Cambria Math" panose="02040503050406030204" pitchFamily="18" charset="0"/>
                            </a:rPr>
                          </m:ctrlPr>
                        </m:dPr>
                        <m:e>
                          <m:r>
                            <a:rPr lang="en-US" sz="1300">
                              <a:latin typeface="Cambria Math"/>
                            </a:rPr>
                            <m:t>𝑥</m:t>
                          </m:r>
                          <m:r>
                            <a:rPr lang="en-US" sz="1300">
                              <a:latin typeface="Cambria Math"/>
                            </a:rPr>
                            <m:t>,</m:t>
                          </m:r>
                          <m:r>
                            <a:rPr lang="en-US" sz="1300">
                              <a:latin typeface="Cambria Math"/>
                            </a:rPr>
                            <m:t>𝑦</m:t>
                          </m:r>
                        </m:e>
                      </m:d>
                      <m:r>
                        <a:rPr lang="en-US" sz="1300">
                          <a:latin typeface="Cambria Math"/>
                        </a:rPr>
                        <m:t>|≤(1−</m:t>
                      </m:r>
                      <m:sSubSup>
                        <m:sSubSupPr>
                          <m:ctrlPr>
                            <a:rPr lang="en-US" sz="1300" i="1">
                              <a:latin typeface="Cambria Math" panose="02040503050406030204" pitchFamily="18" charset="0"/>
                            </a:rPr>
                          </m:ctrlPr>
                        </m:sSubSupPr>
                        <m:e>
                          <m:r>
                            <a:rPr lang="en-US" sz="1300">
                              <a:latin typeface="Cambria Math"/>
                            </a:rPr>
                            <m:t>𝛾</m:t>
                          </m:r>
                        </m:e>
                        <m:sub>
                          <m:r>
                            <a:rPr lang="en-US" sz="1300">
                              <a:latin typeface="Cambria Math"/>
                            </a:rPr>
                            <m:t>𝑘</m:t>
                          </m:r>
                        </m:sub>
                        <m:sup>
                          <m:r>
                            <a:rPr lang="en-US" sz="1300">
                              <a:latin typeface="Cambria Math"/>
                            </a:rPr>
                            <m:t>𝑖</m:t>
                          </m:r>
                        </m:sup>
                      </m:sSubSup>
                      <m:d>
                        <m:dPr>
                          <m:ctrlPr>
                            <a:rPr lang="en-US" sz="1300" i="1">
                              <a:latin typeface="Cambria Math" panose="02040503050406030204" pitchFamily="18" charset="0"/>
                            </a:rPr>
                          </m:ctrlPr>
                        </m:dPr>
                        <m:e>
                          <m:r>
                            <a:rPr lang="en-US" sz="1300">
                              <a:latin typeface="Cambria Math"/>
                            </a:rPr>
                            <m:t>𝑥</m:t>
                          </m:r>
                          <m:r>
                            <a:rPr lang="en-US" sz="1300">
                              <a:latin typeface="Cambria Math"/>
                            </a:rPr>
                            <m:t>,</m:t>
                          </m:r>
                          <m:r>
                            <a:rPr lang="en-US" sz="1300">
                              <a:latin typeface="Cambria Math"/>
                            </a:rPr>
                            <m:t>𝑦</m:t>
                          </m:r>
                        </m:e>
                      </m:d>
                      <m:r>
                        <a:rPr lang="en-US" sz="1300">
                          <a:latin typeface="Cambria Math"/>
                        </a:rPr>
                        <m:t>)⋅</m:t>
                      </m:r>
                      <m:sSub>
                        <m:sSubPr>
                          <m:ctrlPr>
                            <a:rPr lang="en-US" sz="1300" i="1">
                              <a:latin typeface="Cambria Math" panose="02040503050406030204" pitchFamily="18" charset="0"/>
                            </a:rPr>
                          </m:ctrlPr>
                        </m:sSubPr>
                        <m:e>
                          <m:r>
                            <a:rPr lang="en-US" sz="1300">
                              <a:latin typeface="Cambria Math"/>
                            </a:rPr>
                            <m:t>𝜀</m:t>
                          </m:r>
                        </m:e>
                        <m:sub>
                          <m:r>
                            <a:rPr lang="en-US" sz="1300">
                              <a:latin typeface="Cambria Math"/>
                            </a:rPr>
                            <m:t>𝑚𝑎𝑥</m:t>
                          </m:r>
                        </m:sub>
                      </m:sSub>
                    </m:oMath>
                  </m:oMathPara>
                </a14:m>
                <a:endParaRPr lang="en-US" sz="1600" dirty="0"/>
              </a:p>
            </p:txBody>
          </p:sp>
        </mc:Choice>
        <mc:Fallback xmlns="">
          <p:sp>
            <p:nvSpPr>
              <p:cNvPr id="14" name="Text 9"/>
              <p:cNvSpPr>
                <a:spLocks noRot="1" noChangeAspect="1" noMove="1" noResize="1" noEditPoints="1" noAdjustHandles="1" noChangeArrowheads="1" noChangeShapeType="1" noTextEdit="1"/>
              </p:cNvSpPr>
              <p:nvPr/>
            </p:nvSpPr>
            <p:spPr>
              <a:xfrm>
                <a:off x="7223760" y="4304488"/>
                <a:ext cx="3017520" cy="384048"/>
              </a:xfrm>
              <a:prstGeom prst="rect">
                <a:avLst/>
              </a:prstGeom>
              <a:blipFill>
                <a:blip r:embed="rId11"/>
                <a:stretch>
                  <a:fillRect/>
                </a:stretch>
              </a:blipFill>
              <a:ln/>
            </p:spPr>
            <p:txBody>
              <a:bodyPr/>
              <a:lstStyle/>
              <a:p>
                <a:r>
                  <a:rPr lang="tr-TR">
                    <a:noFill/>
                  </a:rPr>
                  <a:t/>
                </a:r>
              </a:p>
            </p:txBody>
          </p:sp>
        </mc:Fallback>
      </mc:AlternateContent>
      <mc:AlternateContent xmlns:mc="http://schemas.openxmlformats.org/markup-compatibility/2006" xmlns:a14="http://schemas.microsoft.com/office/drawing/2010/main">
        <mc:Choice Requires="a14">
          <p:sp>
            <p:nvSpPr>
              <p:cNvPr id="19" name="Text 5">
                <a:extLst>
                  <a:ext uri="{FF2B5EF4-FFF2-40B4-BE49-F238E27FC236}">
                    <a16:creationId xmlns:a16="http://schemas.microsoft.com/office/drawing/2014/main" id="{A1B6E5EE-B28C-41C6-9CC2-19940B1EF136}"/>
                  </a:ext>
                </a:extLst>
              </p:cNvPr>
              <p:cNvSpPr/>
              <p:nvPr/>
            </p:nvSpPr>
            <p:spPr>
              <a:xfrm>
                <a:off x="5943600" y="3890112"/>
                <a:ext cx="5486400" cy="502920"/>
              </a:xfrm>
              <a:prstGeom prst="rect">
                <a:avLst/>
              </a:prstGeom>
              <a:noFill/>
              <a:ln/>
            </p:spPr>
            <p:txBody>
              <a:bodyPr wrap="square" lIns="0" tIns="0" rIns="0" bIns="0" rtlCol="0" anchor="ctr"/>
              <a:lstStyle/>
              <a:p>
                <a:pPr marL="0" indent="0" algn="ctr">
                  <a:buNone/>
                </a:pPr>
                <a14:m>
                  <m:oMathPara xmlns:m="http://schemas.openxmlformats.org/officeDocument/2006/math">
                    <m:oMathParaPr>
                      <m:jc m:val="centerGroup"/>
                    </m:oMathParaPr>
                    <m:oMath xmlns:m="http://schemas.openxmlformats.org/officeDocument/2006/math">
                      <m:sSubSup>
                        <m:sSubSupPr>
                          <m:ctrlPr>
                            <a:rPr lang="en-US" sz="1400" i="1">
                              <a:latin typeface="Cambria Math" panose="02040503050406030204" pitchFamily="18" charset="0"/>
                            </a:rPr>
                          </m:ctrlPr>
                        </m:sSubSupPr>
                        <m:e>
                          <m:r>
                            <a:rPr lang="en-US" sz="1400">
                              <a:latin typeface="Cambria Math"/>
                            </a:rPr>
                            <m:t>𝛾</m:t>
                          </m:r>
                        </m:e>
                        <m:sub>
                          <m:r>
                            <a:rPr lang="en-US" sz="1400">
                              <a:latin typeface="Cambria Math"/>
                            </a:rPr>
                            <m:t>𝑘</m:t>
                          </m:r>
                        </m:sub>
                        <m:sup>
                          <m:r>
                            <a:rPr lang="en-US" sz="1400">
                              <a:latin typeface="Cambria Math"/>
                            </a:rPr>
                            <m:t>𝑖</m:t>
                          </m:r>
                        </m:sup>
                      </m:sSubSup>
                      <m:d>
                        <m:dPr>
                          <m:ctrlPr>
                            <a:rPr lang="en-US" sz="1400" i="1">
                              <a:latin typeface="Cambria Math" panose="02040503050406030204" pitchFamily="18" charset="0"/>
                            </a:rPr>
                          </m:ctrlPr>
                        </m:dPr>
                        <m:e>
                          <m:r>
                            <a:rPr lang="en-US" sz="1400">
                              <a:latin typeface="Cambria Math"/>
                            </a:rPr>
                            <m:t>𝑥</m:t>
                          </m:r>
                          <m:r>
                            <a:rPr lang="en-US" sz="1400">
                              <a:latin typeface="Cambria Math"/>
                            </a:rPr>
                            <m:t>,</m:t>
                          </m:r>
                          <m:r>
                            <a:rPr lang="en-US" sz="1400">
                              <a:latin typeface="Cambria Math"/>
                            </a:rPr>
                            <m:t>𝑦</m:t>
                          </m:r>
                        </m:e>
                      </m:d>
                      <m:r>
                        <a:rPr lang="en-US" sz="1400">
                          <a:latin typeface="Cambria Math"/>
                        </a:rPr>
                        <m:t>=</m:t>
                      </m:r>
                      <m:r>
                        <a:rPr lang="en-US" sz="1400">
                          <a:latin typeface="Cambria Math"/>
                        </a:rPr>
                        <m:t>𝑚𝑖𝑛</m:t>
                      </m:r>
                      <m:r>
                        <a:rPr lang="en-US" sz="1400">
                          <a:latin typeface="Cambria Math"/>
                        </a:rPr>
                        <m:t>⁡{</m:t>
                      </m:r>
                      <m:sSub>
                        <m:sSubPr>
                          <m:ctrlPr>
                            <a:rPr lang="en-US" sz="1400" i="1">
                              <a:latin typeface="Cambria Math" panose="02040503050406030204" pitchFamily="18" charset="0"/>
                            </a:rPr>
                          </m:ctrlPr>
                        </m:sSubPr>
                        <m:e>
                          <m:r>
                            <a:rPr lang="en-US" sz="1400">
                              <a:latin typeface="Cambria Math"/>
                            </a:rPr>
                            <m:t>𝛾</m:t>
                          </m:r>
                        </m:e>
                        <m:sub>
                          <m:r>
                            <a:rPr lang="en-US" sz="1400">
                              <a:latin typeface="Cambria Math"/>
                            </a:rPr>
                            <m:t>𝑜𝑏𝑠</m:t>
                          </m:r>
                        </m:sub>
                      </m:sSub>
                      <m:r>
                        <a:rPr lang="en-US" sz="1400">
                          <a:latin typeface="Cambria Math"/>
                        </a:rPr>
                        <m:t>,</m:t>
                      </m:r>
                      <m:sSub>
                        <m:sSubPr>
                          <m:ctrlPr>
                            <a:rPr lang="en-US" sz="1400" i="1">
                              <a:latin typeface="Cambria Math" panose="02040503050406030204" pitchFamily="18" charset="0"/>
                            </a:rPr>
                          </m:ctrlPr>
                        </m:sSubPr>
                        <m:e>
                          <m:r>
                            <a:rPr lang="en-US" sz="1400">
                              <a:latin typeface="Cambria Math"/>
                            </a:rPr>
                            <m:t>𝛾</m:t>
                          </m:r>
                        </m:e>
                        <m:sub>
                          <m:r>
                            <a:rPr lang="en-US" sz="1400">
                              <a:latin typeface="Cambria Math"/>
                            </a:rPr>
                            <m:t>𝑐𝑜𝑣</m:t>
                          </m:r>
                        </m:sub>
                      </m:sSub>
                      <m:r>
                        <a:rPr lang="en-US" sz="1400">
                          <a:latin typeface="Cambria Math"/>
                        </a:rPr>
                        <m:t>,</m:t>
                      </m:r>
                      <m:sSub>
                        <m:sSubPr>
                          <m:ctrlPr>
                            <a:rPr lang="en-US" sz="1400" i="1">
                              <a:latin typeface="Cambria Math" panose="02040503050406030204" pitchFamily="18" charset="0"/>
                            </a:rPr>
                          </m:ctrlPr>
                        </m:sSubPr>
                        <m:e>
                          <m:r>
                            <a:rPr lang="en-US" sz="1400">
                              <a:latin typeface="Cambria Math"/>
                            </a:rPr>
                            <m:t>𝛾</m:t>
                          </m:r>
                        </m:e>
                        <m:sub>
                          <m:r>
                            <a:rPr lang="en-US" sz="1400">
                              <a:latin typeface="Cambria Math"/>
                            </a:rPr>
                            <m:t>𝑓𝑟𝑒</m:t>
                          </m:r>
                        </m:sub>
                      </m:sSub>
                      <m:r>
                        <a:rPr lang="en-US" sz="1400">
                          <a:latin typeface="Cambria Math"/>
                        </a:rPr>
                        <m:t>,</m:t>
                      </m:r>
                      <m:sSub>
                        <m:sSubPr>
                          <m:ctrlPr>
                            <a:rPr lang="en-US" sz="1400" i="1">
                              <a:latin typeface="Cambria Math" panose="02040503050406030204" pitchFamily="18" charset="0"/>
                            </a:rPr>
                          </m:ctrlPr>
                        </m:sSubPr>
                        <m:e>
                          <m:r>
                            <a:rPr lang="en-US" sz="1400">
                              <a:latin typeface="Cambria Math"/>
                            </a:rPr>
                            <m:t>𝛾</m:t>
                          </m:r>
                        </m:e>
                        <m:sub>
                          <m:r>
                            <a:rPr lang="en-US" sz="1400">
                              <a:latin typeface="Cambria Math"/>
                            </a:rPr>
                            <m:t>𝑟𝑒𝑙</m:t>
                          </m:r>
                        </m:sub>
                      </m:sSub>
                      <m:r>
                        <a:rPr lang="en-US" sz="1400">
                          <a:latin typeface="Cambria Math"/>
                        </a:rPr>
                        <m:t>}</m:t>
                      </m:r>
                    </m:oMath>
                  </m:oMathPara>
                </a14:m>
                <a:endParaRPr lang="en-US" sz="1400" dirty="0"/>
              </a:p>
            </p:txBody>
          </p:sp>
        </mc:Choice>
        <mc:Fallback xmlns="">
          <p:sp>
            <p:nvSpPr>
              <p:cNvPr id="19" name="Text 5">
                <a:extLst>
                  <a:ext uri="{FF2B5EF4-FFF2-40B4-BE49-F238E27FC236}">
                    <a16:creationId xmlns:a16="http://schemas.microsoft.com/office/drawing/2014/main" id="{A1B6E5EE-B28C-41C6-9CC2-19940B1EF136}"/>
                  </a:ext>
                </a:extLst>
              </p:cNvPr>
              <p:cNvSpPr>
                <a:spLocks noRot="1" noChangeAspect="1" noMove="1" noResize="1" noEditPoints="1" noAdjustHandles="1" noChangeArrowheads="1" noChangeShapeType="1" noTextEdit="1"/>
              </p:cNvSpPr>
              <p:nvPr/>
            </p:nvSpPr>
            <p:spPr>
              <a:xfrm>
                <a:off x="5943600" y="3890112"/>
                <a:ext cx="5486400" cy="502920"/>
              </a:xfrm>
              <a:prstGeom prst="rect">
                <a:avLst/>
              </a:prstGeom>
              <a:blipFill>
                <a:blip r:embed="rId12"/>
                <a:stretch>
                  <a:fillRect/>
                </a:stretch>
              </a:blipFill>
              <a:ln/>
            </p:spPr>
            <p:txBody>
              <a:bodyPr/>
              <a:lstStyle/>
              <a:p>
                <a:r>
                  <a:rPr lang="tr-TR">
                    <a:noFill/>
                  </a:rPr>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9798830C-A0BC-6CD5-384D-25B38D620A19}"/>
                  </a:ext>
                </a:extLst>
              </p:cNvPr>
              <p:cNvSpPr txBox="1"/>
              <p:nvPr/>
            </p:nvSpPr>
            <p:spPr>
              <a:xfrm>
                <a:off x="5986855" y="4686662"/>
                <a:ext cx="6096000" cy="1573316"/>
              </a:xfrm>
              <a:prstGeom prst="rect">
                <a:avLst/>
              </a:prstGeom>
              <a:noFill/>
            </p:spPr>
            <p:txBody>
              <a:bodyPr wrap="square">
                <a:spAutoFit/>
              </a:bodyPr>
              <a:lstStyle/>
              <a:p>
                <a:pPr marL="152400" indent="-152400">
                  <a:lnSpc>
                    <a:spcPct val="105000"/>
                  </a:lnSpc>
                  <a:spcAft>
                    <a:spcPts val="700"/>
                  </a:spcAft>
                  <a:buSzPct val="100000"/>
                  <a:buChar char="•"/>
                </a:pPr>
                <a14:m>
                  <m:oMath xmlns:m="http://schemas.openxmlformats.org/officeDocument/2006/math">
                    <m:sSub>
                      <m:sSubPr>
                        <m:ctrlPr>
                          <a:rPr lang="en-US" sz="1200" i="1">
                            <a:latin typeface="Cambria Math" panose="02040503050406030204" pitchFamily="18" charset="0"/>
                          </a:rPr>
                        </m:ctrlPr>
                      </m:sSubPr>
                      <m:e>
                        <m:r>
                          <a:rPr lang="en-US" sz="1200">
                            <a:latin typeface="Cambria Math"/>
                          </a:rPr>
                          <m:t>𝛾</m:t>
                        </m:r>
                      </m:e>
                      <m:sub>
                        <m:r>
                          <a:rPr lang="en-US" sz="1200">
                            <a:latin typeface="Cambria Math"/>
                          </a:rPr>
                          <m:t>𝑜𝑏𝑠</m:t>
                        </m:r>
                      </m:sub>
                    </m:sSub>
                    <m:r>
                      <a:rPr lang="en-US" sz="1200" i="1">
                        <a:latin typeface="Cambria Math" panose="02040503050406030204" pitchFamily="18" charset="0"/>
                      </a:rPr>
                      <m:t> </m:t>
                    </m:r>
                    <m:r>
                      <a:rPr lang="en-US" sz="1200" b="0" i="1" smtClean="0">
                        <a:latin typeface="Cambria Math" panose="02040503050406030204" pitchFamily="18" charset="0"/>
                      </a:rPr>
                      <m:t>: </m:t>
                    </m:r>
                  </m:oMath>
                </a14:m>
                <a:r>
                  <a:rPr lang="en-US" sz="1400" dirty="0">
                    <a:solidFill>
                      <a:srgbClr val="222222"/>
                    </a:solidFill>
                    <a:latin typeface="Calibri" pitchFamily="34" charset="0"/>
                    <a:ea typeface="Calibri" pitchFamily="34" charset="-122"/>
                    <a:cs typeface="Calibri" pitchFamily="34" charset="-120"/>
                  </a:rPr>
                  <a:t>can the quantity be sensed at all</a:t>
                </a:r>
                <a:endParaRPr lang="en-US" sz="1400" dirty="0"/>
              </a:p>
              <a:p>
                <a:pPr marL="152400" indent="-152400">
                  <a:lnSpc>
                    <a:spcPct val="105000"/>
                  </a:lnSpc>
                  <a:spcAft>
                    <a:spcPts val="700"/>
                  </a:spcAft>
                  <a:buSzPct val="100000"/>
                  <a:buChar char="•"/>
                </a:pPr>
                <a14:m>
                  <m:oMath xmlns:m="http://schemas.openxmlformats.org/officeDocument/2006/math">
                    <m:sSub>
                      <m:sSubPr>
                        <m:ctrlPr>
                          <a:rPr lang="en-US" sz="1200" i="1">
                            <a:latin typeface="Cambria Math" panose="02040503050406030204" pitchFamily="18" charset="0"/>
                          </a:rPr>
                        </m:ctrlPr>
                      </m:sSubPr>
                      <m:e>
                        <m:r>
                          <a:rPr lang="en-US" sz="1200">
                            <a:latin typeface="Cambria Math"/>
                          </a:rPr>
                          <m:t>𝛾</m:t>
                        </m:r>
                      </m:e>
                      <m:sub>
                        <m:r>
                          <a:rPr lang="en-US" sz="1200">
                            <a:latin typeface="Cambria Math"/>
                          </a:rPr>
                          <m:t>𝑐𝑜𝑣</m:t>
                        </m:r>
                      </m:sub>
                    </m:sSub>
                    <m:r>
                      <a:rPr lang="en-US" sz="1200" i="1">
                        <a:latin typeface="Cambria Math" panose="02040503050406030204" pitchFamily="18" charset="0"/>
                      </a:rPr>
                      <m:t> </m:t>
                    </m:r>
                    <m:r>
                      <a:rPr lang="en-US" sz="1200" b="0" i="1" smtClean="0">
                        <a:latin typeface="Cambria Math" panose="02040503050406030204" pitchFamily="18" charset="0"/>
                      </a:rPr>
                      <m:t>: </m:t>
                    </m:r>
                  </m:oMath>
                </a14:m>
                <a:r>
                  <a:rPr lang="en-US" sz="1400" dirty="0">
                    <a:solidFill>
                      <a:srgbClr val="222222"/>
                    </a:solidFill>
                    <a:latin typeface="Calibri" pitchFamily="34" charset="0"/>
                    <a:ea typeface="Calibri" pitchFamily="34" charset="-122"/>
                    <a:cs typeface="Calibri" pitchFamily="34" charset="-120"/>
                  </a:rPr>
                  <a:t>sensor footprints covering the cell</a:t>
                </a:r>
                <a:endParaRPr lang="en-US" sz="1400" dirty="0"/>
              </a:p>
              <a:p>
                <a:pPr marL="152400" indent="-152400">
                  <a:lnSpc>
                    <a:spcPct val="105000"/>
                  </a:lnSpc>
                  <a:spcAft>
                    <a:spcPts val="700"/>
                  </a:spcAft>
                  <a:buSzPct val="100000"/>
                  <a:buChar char="•"/>
                </a:pPr>
                <a14:m>
                  <m:oMath xmlns:m="http://schemas.openxmlformats.org/officeDocument/2006/math">
                    <m:sSub>
                      <m:sSubPr>
                        <m:ctrlPr>
                          <a:rPr lang="en-US" sz="1200" i="1">
                            <a:latin typeface="Cambria Math" panose="02040503050406030204" pitchFamily="18" charset="0"/>
                          </a:rPr>
                        </m:ctrlPr>
                      </m:sSubPr>
                      <m:e>
                        <m:r>
                          <a:rPr lang="en-US" sz="1200">
                            <a:latin typeface="Cambria Math"/>
                          </a:rPr>
                          <m:t>𝛾</m:t>
                        </m:r>
                      </m:e>
                      <m:sub>
                        <m:r>
                          <a:rPr lang="en-US" sz="1200">
                            <a:latin typeface="Cambria Math"/>
                          </a:rPr>
                          <m:t>𝑓𝑟𝑒</m:t>
                        </m:r>
                      </m:sub>
                    </m:sSub>
                    <m:r>
                      <a:rPr lang="en-US" sz="1200" i="1">
                        <a:latin typeface="Cambria Math" panose="02040503050406030204" pitchFamily="18" charset="0"/>
                      </a:rPr>
                      <m:t> </m:t>
                    </m:r>
                  </m:oMath>
                </a14:m>
                <a:r>
                  <a:rPr lang="en-US" sz="1400" dirty="0">
                    <a:solidFill>
                      <a:srgbClr val="222222"/>
                    </a:solidFill>
                    <a:latin typeface="Calibri" pitchFamily="34" charset="0"/>
                    <a:ea typeface="Calibri" pitchFamily="34" charset="-122"/>
                    <a:cs typeface="Calibri" pitchFamily="34" charset="-120"/>
                  </a:rPr>
                  <a:t>: decays with report age </a:t>
                </a:r>
                <a:endParaRPr lang="en-US" sz="1400" dirty="0"/>
              </a:p>
              <a:p>
                <a:pPr marL="152400" indent="-152400">
                  <a:lnSpc>
                    <a:spcPct val="105000"/>
                  </a:lnSpc>
                  <a:spcAft>
                    <a:spcPts val="700"/>
                  </a:spcAft>
                  <a:buSzPct val="100000"/>
                  <a:buChar char="•"/>
                </a:pPr>
                <a14:m>
                  <m:oMath xmlns:m="http://schemas.openxmlformats.org/officeDocument/2006/math">
                    <m:sSub>
                      <m:sSubPr>
                        <m:ctrlPr>
                          <a:rPr lang="en-US" sz="1200" i="1">
                            <a:latin typeface="Cambria Math" panose="02040503050406030204" pitchFamily="18" charset="0"/>
                          </a:rPr>
                        </m:ctrlPr>
                      </m:sSubPr>
                      <m:e>
                        <m:r>
                          <a:rPr lang="en-US" sz="1200">
                            <a:latin typeface="Cambria Math"/>
                          </a:rPr>
                          <m:t>𝛾</m:t>
                        </m:r>
                      </m:e>
                      <m:sub>
                        <m:r>
                          <a:rPr lang="en-US" sz="1200">
                            <a:latin typeface="Cambria Math"/>
                          </a:rPr>
                          <m:t>𝑟𝑒𝑙</m:t>
                        </m:r>
                      </m:sub>
                    </m:sSub>
                    <m:r>
                      <a:rPr lang="en-US" sz="1200" i="1">
                        <a:latin typeface="Cambria Math" panose="02040503050406030204" pitchFamily="18" charset="0"/>
                      </a:rPr>
                      <m:t> </m:t>
                    </m:r>
                  </m:oMath>
                </a14:m>
                <a:r>
                  <a:rPr lang="en-US" sz="1400" dirty="0">
                    <a:solidFill>
                      <a:srgbClr val="222222"/>
                    </a:solidFill>
                    <a:latin typeface="Calibri" pitchFamily="34" charset="0"/>
                    <a:ea typeface="Calibri" pitchFamily="34" charset="-122"/>
                    <a:cs typeface="Calibri" pitchFamily="34" charset="-120"/>
                  </a:rPr>
                  <a:t>: trust in the reporting channel</a:t>
                </a:r>
                <a:endParaRPr lang="en-US" sz="1400" dirty="0"/>
              </a:p>
              <a:p>
                <a:pPr marL="152400" indent="-152400">
                  <a:lnSpc>
                    <a:spcPct val="105000"/>
                  </a:lnSpc>
                  <a:spcAft>
                    <a:spcPts val="700"/>
                  </a:spcAft>
                  <a:buSzPct val="100000"/>
                  <a:buChar char="•"/>
                </a:pPr>
                <a:r>
                  <a:rPr lang="en-US" sz="1400" b="1" dirty="0">
                    <a:solidFill>
                      <a:srgbClr val="222222"/>
                    </a:solidFill>
                    <a:latin typeface="Calibri" pitchFamily="34" charset="0"/>
                    <a:ea typeface="Calibri" pitchFamily="34" charset="-122"/>
                    <a:cs typeface="Calibri" pitchFamily="34" charset="-120"/>
                  </a:rPr>
                  <a:t>Minimum, not average </a:t>
                </a:r>
                <a:r>
                  <a:rPr lang="tr-TR" sz="1400" b="1" dirty="0">
                    <a:solidFill>
                      <a:srgbClr val="222222"/>
                    </a:solidFill>
                    <a:latin typeface="Calibri" pitchFamily="34" charset="0"/>
                    <a:ea typeface="Calibri" pitchFamily="34" charset="-122"/>
                    <a:cs typeface="Calibri" pitchFamily="34" charset="-120"/>
                  </a:rPr>
                  <a:t>(</a:t>
                </a:r>
                <a:r>
                  <a:rPr lang="en-US" sz="1400" b="1" dirty="0">
                    <a:solidFill>
                      <a:srgbClr val="222222"/>
                    </a:solidFill>
                    <a:latin typeface="Calibri" pitchFamily="34" charset="0"/>
                    <a:ea typeface="Calibri" pitchFamily="34" charset="-122"/>
                    <a:cs typeface="Calibri" pitchFamily="34" charset="-120"/>
                  </a:rPr>
                  <a:t>the weakest factor rules</a:t>
                </a:r>
                <a:r>
                  <a:rPr lang="tr-TR" sz="1400" b="1" dirty="0">
                    <a:solidFill>
                      <a:srgbClr val="222222"/>
                    </a:solidFill>
                    <a:latin typeface="Calibri" pitchFamily="34" charset="0"/>
                    <a:ea typeface="Calibri" pitchFamily="34" charset="-122"/>
                    <a:cs typeface="Calibri" pitchFamily="34" charset="-120"/>
                  </a:rPr>
                  <a:t>)</a:t>
                </a:r>
                <a:endParaRPr lang="en-US" sz="1400" dirty="0"/>
              </a:p>
            </p:txBody>
          </p:sp>
        </mc:Choice>
        <mc:Fallback xmlns="">
          <p:sp>
            <p:nvSpPr>
              <p:cNvPr id="15" name="TextBox 14">
                <a:extLst>
                  <a:ext uri="{FF2B5EF4-FFF2-40B4-BE49-F238E27FC236}">
                    <a16:creationId xmlns:a16="http://schemas.microsoft.com/office/drawing/2014/main" id="{9798830C-A0BC-6CD5-384D-25B38D620A19}"/>
                  </a:ext>
                </a:extLst>
              </p:cNvPr>
              <p:cNvSpPr txBox="1">
                <a:spLocks noRot="1" noChangeAspect="1" noMove="1" noResize="1" noEditPoints="1" noAdjustHandles="1" noChangeArrowheads="1" noChangeShapeType="1" noTextEdit="1"/>
              </p:cNvSpPr>
              <p:nvPr/>
            </p:nvSpPr>
            <p:spPr>
              <a:xfrm>
                <a:off x="5986855" y="4686662"/>
                <a:ext cx="6096000" cy="1573316"/>
              </a:xfrm>
              <a:prstGeom prst="rect">
                <a:avLst/>
              </a:prstGeom>
              <a:blipFill>
                <a:blip r:embed="rId13"/>
                <a:stretch>
                  <a:fillRect l="-300" t="-388" b="-3488"/>
                </a:stretch>
              </a:blipFill>
            </p:spPr>
            <p:txBody>
              <a:bodyPr/>
              <a:lstStyle/>
              <a:p>
                <a:r>
                  <a:rPr lang="tr-TR">
                    <a:noFill/>
                  </a:rPr>
                  <a:t> </a:t>
                </a:r>
              </a:p>
            </p:txBody>
          </p:sp>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chemeClr val="tx1">
            <a:lumMod val="65000"/>
            <a:lumOff val="35000"/>
          </a:schemeClr>
        </a:solidFill>
        <a:effectLst/>
      </p:bgPr>
    </p:bg>
    <p:spTree>
      <p:nvGrpSpPr>
        <p:cNvPr id="1" name=""/>
        <p:cNvGrpSpPr/>
        <p:nvPr/>
      </p:nvGrpSpPr>
      <p:grpSpPr>
        <a:xfrm>
          <a:off x="0" y="0"/>
          <a:ext cx="0" cy="0"/>
          <a:chOff x="0" y="0"/>
          <a:chExt cx="0" cy="0"/>
        </a:xfrm>
      </p:grpSpPr>
      <p:sp>
        <p:nvSpPr>
          <p:cNvPr id="3" name="Text 1"/>
          <p:cNvSpPr/>
          <p:nvPr/>
        </p:nvSpPr>
        <p:spPr>
          <a:xfrm>
            <a:off x="822960" y="2606040"/>
            <a:ext cx="10607040" cy="91440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Decision Support System Framework</a:t>
            </a:r>
            <a:endParaRPr lang="en-US" sz="4800" dirty="0"/>
          </a:p>
        </p:txBody>
      </p:sp>
      <p:pic>
        <p:nvPicPr>
          <p:cNvPr id="5"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6"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p:sp>
        <p:nvSpPr>
          <p:cNvPr id="7" name="Text 0">
            <a:extLst>
              <a:ext uri="{FF2B5EF4-FFF2-40B4-BE49-F238E27FC236}">
                <a16:creationId xmlns:a16="http://schemas.microsoft.com/office/drawing/2014/main" id="{4A2C8C4E-16CC-462B-AA9E-D887B1B12B53}"/>
              </a:ext>
            </a:extLst>
          </p:cNvPr>
          <p:cNvSpPr/>
          <p:nvPr/>
        </p:nvSpPr>
        <p:spPr>
          <a:xfrm>
            <a:off x="822960" y="2194560"/>
            <a:ext cx="5486400" cy="365760"/>
          </a:xfrm>
          <a:prstGeom prst="rect">
            <a:avLst/>
          </a:prstGeom>
          <a:noFill/>
          <a:ln/>
        </p:spPr>
        <p:txBody>
          <a:bodyPr wrap="square" lIns="0" tIns="0" rIns="0" bIns="0" rtlCol="0" anchor="ctr"/>
          <a:lstStyle/>
          <a:p>
            <a:pPr marL="0" indent="0">
              <a:buNone/>
            </a:pPr>
            <a:r>
              <a:rPr lang="en-US" sz="1500" b="1" kern="0" spc="300" dirty="0">
                <a:solidFill>
                  <a:srgbClr val="E31836"/>
                </a:solidFill>
                <a:latin typeface="Calibri" pitchFamily="34" charset="0"/>
                <a:ea typeface="Calibri" pitchFamily="34" charset="-122"/>
                <a:cs typeface="Calibri" pitchFamily="34" charset="-120"/>
              </a:rPr>
              <a:t>PART </a:t>
            </a:r>
            <a:r>
              <a:rPr lang="tr-TR" sz="1500" b="1" kern="0" spc="300" dirty="0">
                <a:solidFill>
                  <a:srgbClr val="E31836"/>
                </a:solidFill>
                <a:latin typeface="Calibri" pitchFamily="34" charset="0"/>
                <a:ea typeface="Calibri" pitchFamily="34" charset="-122"/>
                <a:cs typeface="Calibri" pitchFamily="34" charset="-120"/>
              </a:rPr>
              <a:t>2</a:t>
            </a:r>
            <a:endParaRPr lang="en-US" sz="15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8" name="Text 0">
            <a:extLst>
              <a:ext uri="{FF2B5EF4-FFF2-40B4-BE49-F238E27FC236}">
                <a16:creationId xmlns:a16="http://schemas.microsoft.com/office/drawing/2014/main" id="{83494070-794E-40D0-B900-8FEC20DB4917}"/>
              </a:ext>
            </a:extLst>
          </p:cNvPr>
          <p:cNvSpPr/>
          <p:nvPr/>
        </p:nvSpPr>
        <p:spPr>
          <a:xfrm>
            <a:off x="502920" y="256032"/>
            <a:ext cx="91440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DSS FRAMEWORK</a:t>
            </a:r>
            <a:endParaRPr lang="en-US" sz="1300" dirty="0"/>
          </a:p>
        </p:txBody>
      </p:sp>
      <p:sp>
        <p:nvSpPr>
          <p:cNvPr id="9" name="Text 1">
            <a:extLst>
              <a:ext uri="{FF2B5EF4-FFF2-40B4-BE49-F238E27FC236}">
                <a16:creationId xmlns:a16="http://schemas.microsoft.com/office/drawing/2014/main" id="{B37314B2-5271-4D4C-9902-BA2A51E3D3E8}"/>
              </a:ext>
            </a:extLst>
          </p:cNvPr>
          <p:cNvSpPr/>
          <p:nvPr/>
        </p:nvSpPr>
        <p:spPr>
          <a:xfrm>
            <a:off x="502920" y="512064"/>
            <a:ext cx="11247120" cy="731520"/>
          </a:xfrm>
          <a:prstGeom prst="rect">
            <a:avLst/>
          </a:prstGeom>
          <a:noFill/>
          <a:ln/>
        </p:spPr>
        <p:txBody>
          <a:bodyPr wrap="square" lIns="0" tIns="0" rIns="0" bIns="0" rtlCol="0" anchor="ctr"/>
          <a:lstStyle/>
          <a:p>
            <a:pPr marL="0" indent="0">
              <a:buNone/>
            </a:pPr>
            <a:r>
              <a:rPr lang="en-US" sz="2900" b="1" dirty="0">
                <a:solidFill>
                  <a:srgbClr val="000000"/>
                </a:solidFill>
                <a:latin typeface="Cambria" pitchFamily="34" charset="0"/>
                <a:ea typeface="Cambria" pitchFamily="34" charset="-122"/>
                <a:cs typeface="Cambria" pitchFamily="34" charset="-120"/>
              </a:rPr>
              <a:t>One Agent, Four Layers, One Loop</a:t>
            </a:r>
            <a:endParaRPr lang="en-US" sz="2900" dirty="0"/>
          </a:p>
        </p:txBody>
      </p:sp>
      <p:pic>
        <p:nvPicPr>
          <p:cNvPr id="10" name="Image 0" descr="/tmp/thx/deck/figs/Figure4_1.png">
            <a:extLst>
              <a:ext uri="{FF2B5EF4-FFF2-40B4-BE49-F238E27FC236}">
                <a16:creationId xmlns:a16="http://schemas.microsoft.com/office/drawing/2014/main" id="{0582396C-F5CF-46B3-B6F7-BD25FD3DBF59}"/>
              </a:ext>
            </a:extLst>
          </p:cNvPr>
          <p:cNvPicPr>
            <a:picLocks noChangeAspect="1"/>
          </p:cNvPicPr>
          <p:nvPr/>
        </p:nvPicPr>
        <p:blipFill>
          <a:blip r:embed="rId3"/>
          <a:stretch>
            <a:fillRect/>
          </a:stretch>
        </p:blipFill>
        <p:spPr>
          <a:xfrm>
            <a:off x="1695072" y="1371600"/>
            <a:ext cx="3102096" cy="5212080"/>
          </a:xfrm>
          <a:prstGeom prst="rect">
            <a:avLst/>
          </a:prstGeom>
        </p:spPr>
      </p:pic>
      <p:sp>
        <p:nvSpPr>
          <p:cNvPr id="11" name="Text 2">
            <a:extLst>
              <a:ext uri="{FF2B5EF4-FFF2-40B4-BE49-F238E27FC236}">
                <a16:creationId xmlns:a16="http://schemas.microsoft.com/office/drawing/2014/main" id="{D5563D18-07CA-4460-865B-7DC41A0D1346}"/>
              </a:ext>
            </a:extLst>
          </p:cNvPr>
          <p:cNvSpPr/>
          <p:nvPr/>
        </p:nvSpPr>
        <p:spPr>
          <a:xfrm>
            <a:off x="6263640" y="1737360"/>
            <a:ext cx="5486400" cy="4572000"/>
          </a:xfrm>
          <a:prstGeom prst="rect">
            <a:avLst/>
          </a:prstGeom>
          <a:noFill/>
          <a:ln/>
        </p:spPr>
        <p:txBody>
          <a:bodyPr wrap="square" lIns="0" tIns="0" rIns="0" bIns="0" rtlCol="0" anchor="t"/>
          <a:lstStyle/>
          <a:p>
            <a:pPr marL="152400" indent="-152400">
              <a:lnSpc>
                <a:spcPct val="105000"/>
              </a:lnSpc>
              <a:spcAft>
                <a:spcPts val="1000"/>
              </a:spcAft>
              <a:buSzPct val="100000"/>
              <a:buChar char="•"/>
            </a:pPr>
            <a:r>
              <a:rPr lang="en-US" sz="1900">
                <a:solidFill>
                  <a:srgbClr val="222222"/>
                </a:solidFill>
                <a:highlight>
                  <a:srgbClr val="C0C0C0"/>
                </a:highlight>
                <a:latin typeface="Calibri" pitchFamily="34" charset="0"/>
                <a:ea typeface="Calibri" pitchFamily="34" charset="-122"/>
                <a:cs typeface="Calibri" pitchFamily="34" charset="-120"/>
              </a:rPr>
              <a:t>Layer 1 · Input space — spatio-temporal measurements</a:t>
            </a:r>
            <a:endParaRPr lang="en-US" sz="1900" dirty="0">
              <a:highlight>
                <a:srgbClr val="C0C0C0"/>
              </a:highlight>
            </a:endParaRPr>
          </a:p>
          <a:p>
            <a:pPr marL="152400" indent="-152400">
              <a:lnSpc>
                <a:spcPct val="105000"/>
              </a:lnSpc>
              <a:spcAft>
                <a:spcPts val="1000"/>
              </a:spcAft>
              <a:buSzPct val="100000"/>
              <a:buChar char="•"/>
            </a:pPr>
            <a:r>
              <a:rPr lang="en-US" sz="1900">
                <a:solidFill>
                  <a:srgbClr val="222222"/>
                </a:solidFill>
                <a:latin typeface="Calibri" pitchFamily="34" charset="0"/>
                <a:ea typeface="Calibri" pitchFamily="34" charset="-122"/>
                <a:cs typeface="Calibri" pitchFamily="34" charset="-120"/>
              </a:rPr>
              <a:t>Layer 2 · Perception — features with confidence</a:t>
            </a:r>
            <a:endParaRPr lang="en-US" sz="1900" dirty="0"/>
          </a:p>
          <a:p>
            <a:pPr marL="152400" indent="-152400">
              <a:lnSpc>
                <a:spcPct val="105000"/>
              </a:lnSpc>
              <a:spcAft>
                <a:spcPts val="1000"/>
              </a:spcAft>
              <a:buSzPct val="100000"/>
              <a:buChar char="•"/>
            </a:pPr>
            <a:r>
              <a:rPr lang="en-US" sz="1900">
                <a:solidFill>
                  <a:srgbClr val="222222"/>
                </a:solidFill>
                <a:latin typeface="Calibri" pitchFamily="34" charset="0"/>
                <a:ea typeface="Calibri" pitchFamily="34" charset="-122"/>
                <a:cs typeface="Calibri" pitchFamily="34" charset="-120"/>
              </a:rPr>
              <a:t>Layer 3 · Concept space — five decision concepts</a:t>
            </a:r>
            <a:endParaRPr lang="en-US" sz="1900" dirty="0"/>
          </a:p>
          <a:p>
            <a:pPr marL="152400" indent="-152400">
              <a:lnSpc>
                <a:spcPct val="105000"/>
              </a:lnSpc>
              <a:spcAft>
                <a:spcPts val="1000"/>
              </a:spcAft>
              <a:buSzPct val="100000"/>
              <a:buChar char="•"/>
            </a:pPr>
            <a:r>
              <a:rPr lang="en-US" sz="1900">
                <a:solidFill>
                  <a:srgbClr val="222222"/>
                </a:solidFill>
                <a:latin typeface="Calibri" pitchFamily="34" charset="0"/>
                <a:ea typeface="Calibri" pitchFamily="34" charset="-122"/>
                <a:cs typeface="Calibri" pitchFamily="34" charset="-120"/>
              </a:rPr>
              <a:t>Layer 4 · Decision space — rules, tests, adaptation, fail-safe</a:t>
            </a:r>
            <a:endParaRPr lang="en-US" sz="1900" dirty="0"/>
          </a:p>
          <a:p>
            <a:pPr marL="152400" indent="-152400">
              <a:lnSpc>
                <a:spcPct val="105000"/>
              </a:lnSpc>
              <a:spcAft>
                <a:spcPts val="1000"/>
              </a:spcAft>
              <a:buSzPct val="100000"/>
              <a:buChar char="•"/>
            </a:pPr>
            <a:r>
              <a:rPr lang="en-US" sz="1900" b="1">
                <a:solidFill>
                  <a:srgbClr val="222222"/>
                </a:solidFill>
                <a:latin typeface="Calibri" pitchFamily="34" charset="0"/>
                <a:ea typeface="Calibri" pitchFamily="34" charset="-122"/>
                <a:cs typeface="Calibri" pitchFamily="34" charset="-120"/>
              </a:rPr>
              <a:t>N agents in parallel; a Global DSS only ranks &amp; allocates</a:t>
            </a:r>
            <a:endParaRPr lang="en-US" sz="1900" dirty="0"/>
          </a:p>
        </p:txBody>
      </p:sp>
      <p:pic>
        <p:nvPicPr>
          <p:cNvPr id="12" name="Image 1" descr="/tmp/thx/deck/figs/metu_emblem.png">
            <a:extLst>
              <a:ext uri="{FF2B5EF4-FFF2-40B4-BE49-F238E27FC236}">
                <a16:creationId xmlns:a16="http://schemas.microsoft.com/office/drawing/2014/main" id="{D25CAC0E-141A-419D-946C-3D82897B69FA}"/>
              </a:ext>
            </a:extLst>
          </p:cNvPr>
          <p:cNvPicPr>
            <a:picLocks noChangeAspect="1"/>
          </p:cNvPicPr>
          <p:nvPr/>
        </p:nvPicPr>
        <p:blipFill>
          <a:blip r:embed="rId4"/>
          <a:stretch>
            <a:fillRect/>
          </a:stretch>
        </p:blipFill>
        <p:spPr>
          <a:xfrm>
            <a:off x="10716768" y="184607"/>
            <a:ext cx="475488" cy="398882"/>
          </a:xfrm>
          <a:prstGeom prst="rect">
            <a:avLst/>
          </a:prstGeom>
        </p:spPr>
      </p:pic>
      <p:pic>
        <p:nvPicPr>
          <p:cNvPr id="13" name="Image 2" descr="/tmp/thx/deck/figs/eee_logo.png">
            <a:extLst>
              <a:ext uri="{FF2B5EF4-FFF2-40B4-BE49-F238E27FC236}">
                <a16:creationId xmlns:a16="http://schemas.microsoft.com/office/drawing/2014/main" id="{8EA3951E-C2CA-4A5F-BADF-B8F821DA6F97}"/>
              </a:ext>
            </a:extLst>
          </p:cNvPr>
          <p:cNvPicPr>
            <a:picLocks noChangeAspect="1"/>
          </p:cNvPicPr>
          <p:nvPr/>
        </p:nvPicPr>
        <p:blipFill>
          <a:blip r:embed="rId5"/>
          <a:stretch>
            <a:fillRect/>
          </a:stretch>
        </p:blipFill>
        <p:spPr>
          <a:xfrm>
            <a:off x="11265408" y="186217"/>
            <a:ext cx="475488" cy="39566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256032"/>
            <a:ext cx="91440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DSS FRAMEWORK : LAYER 1 OF 4</a:t>
            </a:r>
            <a:endParaRPr lang="en-US" sz="1300" dirty="0"/>
          </a:p>
        </p:txBody>
      </p:sp>
      <p:sp>
        <p:nvSpPr>
          <p:cNvPr id="3" name="Text 1"/>
          <p:cNvSpPr/>
          <p:nvPr/>
        </p:nvSpPr>
        <p:spPr>
          <a:xfrm>
            <a:off x="502920" y="512064"/>
            <a:ext cx="11247120" cy="731520"/>
          </a:xfrm>
          <a:prstGeom prst="rect">
            <a:avLst/>
          </a:prstGeom>
          <a:noFill/>
          <a:ln/>
        </p:spPr>
        <p:txBody>
          <a:bodyPr wrap="square" lIns="0" tIns="0" rIns="0" bIns="0" rtlCol="0" anchor="ctr"/>
          <a:lstStyle/>
          <a:p>
            <a:pPr marL="0" indent="0">
              <a:buNone/>
            </a:pPr>
            <a:r>
              <a:rPr lang="en-US" sz="2900" b="1" dirty="0">
                <a:solidFill>
                  <a:srgbClr val="000000"/>
                </a:solidFill>
                <a:latin typeface="Cambria" pitchFamily="34" charset="0"/>
                <a:ea typeface="Cambria" pitchFamily="34" charset="-122"/>
                <a:cs typeface="Cambria" pitchFamily="34" charset="-120"/>
              </a:rPr>
              <a:t>Layer 1 : Input Space</a:t>
            </a:r>
            <a:r>
              <a:rPr lang="tr-TR" sz="2900" b="1" dirty="0">
                <a:solidFill>
                  <a:srgbClr val="000000"/>
                </a:solidFill>
                <a:latin typeface="Cambria" pitchFamily="34" charset="0"/>
                <a:ea typeface="Cambria" pitchFamily="34" charset="-122"/>
                <a:cs typeface="Cambria" pitchFamily="34" charset="-120"/>
              </a:rPr>
              <a:t> - </a:t>
            </a:r>
            <a:r>
              <a:rPr lang="en-US" sz="2900" b="1" dirty="0">
                <a:solidFill>
                  <a:srgbClr val="000000"/>
                </a:solidFill>
                <a:latin typeface="Cambria" pitchFamily="34" charset="0"/>
                <a:ea typeface="Cambria" pitchFamily="34" charset="-122"/>
                <a:cs typeface="Cambria" pitchFamily="34" charset="-120"/>
              </a:rPr>
              <a:t>What the Agent Can Know</a:t>
            </a:r>
            <a:endParaRPr lang="en-US" sz="2900" dirty="0"/>
          </a:p>
        </p:txBody>
      </p:sp>
      <p:sp>
        <p:nvSpPr>
          <p:cNvPr id="5" name="Text 2"/>
          <p:cNvSpPr/>
          <p:nvPr/>
        </p:nvSpPr>
        <p:spPr>
          <a:xfrm>
            <a:off x="685800" y="4663440"/>
            <a:ext cx="10881360" cy="1920240"/>
          </a:xfrm>
          <a:prstGeom prst="rect">
            <a:avLst/>
          </a:prstGeom>
          <a:noFill/>
          <a:ln/>
        </p:spPr>
        <p:txBody>
          <a:bodyPr wrap="square" lIns="0" tIns="0" rIns="0" bIns="0" rtlCol="0" anchor="t"/>
          <a:lstStyle/>
          <a:p>
            <a:pPr marL="152400" indent="-152400">
              <a:lnSpc>
                <a:spcPct val="105000"/>
              </a:lnSpc>
              <a:spcAft>
                <a:spcPts val="1000"/>
              </a:spcAft>
              <a:buSzPct val="100000"/>
              <a:buChar char="•"/>
            </a:pPr>
            <a:r>
              <a:rPr lang="tr-TR" sz="1800" dirty="0">
                <a:solidFill>
                  <a:srgbClr val="222222"/>
                </a:solidFill>
                <a:latin typeface="Calibri" pitchFamily="34" charset="0"/>
                <a:ea typeface="Calibri" pitchFamily="34" charset="-122"/>
                <a:cs typeface="Calibri" pitchFamily="34" charset="-120"/>
              </a:rPr>
              <a:t>~15 </a:t>
            </a:r>
            <a:r>
              <a:rPr lang="tr-TR" sz="1800" dirty="0" err="1">
                <a:solidFill>
                  <a:srgbClr val="222222"/>
                </a:solidFill>
                <a:latin typeface="Calibri" pitchFamily="34" charset="0"/>
                <a:ea typeface="Calibri" pitchFamily="34" charset="-122"/>
                <a:cs typeface="Calibri" pitchFamily="34" charset="-120"/>
              </a:rPr>
              <a:t>source</a:t>
            </a:r>
            <a:r>
              <a:rPr lang="tr-TR" sz="1800" dirty="0">
                <a:solidFill>
                  <a:srgbClr val="222222"/>
                </a:solidFill>
                <a:latin typeface="Calibri" pitchFamily="34" charset="0"/>
                <a:ea typeface="Calibri" pitchFamily="34" charset="-122"/>
                <a:cs typeface="Calibri" pitchFamily="34" charset="-120"/>
              </a:rPr>
              <a:t> </a:t>
            </a:r>
            <a:r>
              <a:rPr lang="tr-TR" sz="1800" dirty="0" err="1">
                <a:solidFill>
                  <a:srgbClr val="222222"/>
                </a:solidFill>
                <a:latin typeface="Calibri" pitchFamily="34" charset="0"/>
                <a:ea typeface="Calibri" pitchFamily="34" charset="-122"/>
                <a:cs typeface="Calibri" pitchFamily="34" charset="-120"/>
              </a:rPr>
              <a:t>families</a:t>
            </a:r>
            <a:r>
              <a:rPr lang="tr-TR" sz="1800" dirty="0">
                <a:solidFill>
                  <a:srgbClr val="222222"/>
                </a:solidFill>
                <a:latin typeface="Calibri" pitchFamily="34" charset="0"/>
                <a:ea typeface="Calibri" pitchFamily="34" charset="-122"/>
                <a:cs typeface="Calibri" pitchFamily="34" charset="-120"/>
              </a:rPr>
              <a:t>: </a:t>
            </a:r>
            <a:r>
              <a:rPr lang="tr-TR" sz="1800" dirty="0" err="1">
                <a:solidFill>
                  <a:srgbClr val="222222"/>
                </a:solidFill>
                <a:latin typeface="Calibri" pitchFamily="34" charset="0"/>
                <a:ea typeface="Calibri" pitchFamily="34" charset="-122"/>
                <a:cs typeface="Calibri" pitchFamily="34" charset="-120"/>
              </a:rPr>
              <a:t>stations</a:t>
            </a:r>
            <a:r>
              <a:rPr lang="tr-TR" sz="1800" dirty="0">
                <a:solidFill>
                  <a:srgbClr val="222222"/>
                </a:solidFill>
                <a:latin typeface="Calibri" pitchFamily="34" charset="0"/>
                <a:ea typeface="Calibri" pitchFamily="34" charset="-122"/>
                <a:cs typeface="Calibri" pitchFamily="34" charset="-120"/>
              </a:rPr>
              <a:t>, </a:t>
            </a:r>
            <a:r>
              <a:rPr lang="tr-TR" sz="1800" dirty="0" err="1">
                <a:solidFill>
                  <a:srgbClr val="222222"/>
                </a:solidFill>
                <a:latin typeface="Calibri" pitchFamily="34" charset="0"/>
                <a:ea typeface="Calibri" pitchFamily="34" charset="-122"/>
                <a:cs typeface="Calibri" pitchFamily="34" charset="-120"/>
              </a:rPr>
              <a:t>forecasts</a:t>
            </a:r>
            <a:r>
              <a:rPr lang="tr-TR" sz="1800" dirty="0">
                <a:solidFill>
                  <a:srgbClr val="222222"/>
                </a:solidFill>
                <a:latin typeface="Calibri" pitchFamily="34" charset="0"/>
                <a:ea typeface="Calibri" pitchFamily="34" charset="-122"/>
                <a:cs typeface="Calibri" pitchFamily="34" charset="-120"/>
              </a:rPr>
              <a:t>, </a:t>
            </a:r>
            <a:r>
              <a:rPr lang="tr-TR" sz="1800" dirty="0" err="1">
                <a:solidFill>
                  <a:srgbClr val="222222"/>
                </a:solidFill>
                <a:latin typeface="Calibri" pitchFamily="34" charset="0"/>
                <a:ea typeface="Calibri" pitchFamily="34" charset="-122"/>
                <a:cs typeface="Calibri" pitchFamily="34" charset="-120"/>
              </a:rPr>
              <a:t>imagery</a:t>
            </a:r>
            <a:r>
              <a:rPr lang="tr-TR" sz="1800" dirty="0">
                <a:solidFill>
                  <a:srgbClr val="222222"/>
                </a:solidFill>
                <a:latin typeface="Calibri" pitchFamily="34" charset="0"/>
                <a:ea typeface="Calibri" pitchFamily="34" charset="-122"/>
                <a:cs typeface="Calibri" pitchFamily="34" charset="-120"/>
              </a:rPr>
              <a:t>, </a:t>
            </a:r>
            <a:r>
              <a:rPr lang="tr-TR" sz="1800" dirty="0" err="1">
                <a:solidFill>
                  <a:srgbClr val="222222"/>
                </a:solidFill>
                <a:latin typeface="Calibri" pitchFamily="34" charset="0"/>
                <a:ea typeface="Calibri" pitchFamily="34" charset="-122"/>
                <a:cs typeface="Calibri" pitchFamily="34" charset="-120"/>
              </a:rPr>
              <a:t>detections</a:t>
            </a:r>
            <a:r>
              <a:rPr lang="tr-TR" sz="1800" dirty="0">
                <a:solidFill>
                  <a:srgbClr val="222222"/>
                </a:solidFill>
                <a:latin typeface="Calibri" pitchFamily="34" charset="0"/>
                <a:ea typeface="Calibri" pitchFamily="34" charset="-122"/>
                <a:cs typeface="Calibri" pitchFamily="34" charset="-120"/>
              </a:rPr>
              <a:t>, </a:t>
            </a:r>
            <a:r>
              <a:rPr lang="tr-TR" sz="1800" dirty="0" err="1">
                <a:solidFill>
                  <a:srgbClr val="222222"/>
                </a:solidFill>
                <a:latin typeface="Calibri" pitchFamily="34" charset="0"/>
                <a:ea typeface="Calibri" pitchFamily="34" charset="-122"/>
                <a:cs typeface="Calibri" pitchFamily="34" charset="-120"/>
              </a:rPr>
              <a:t>terrain</a:t>
            </a:r>
            <a:r>
              <a:rPr lang="tr-TR" sz="1800" dirty="0">
                <a:solidFill>
                  <a:srgbClr val="222222"/>
                </a:solidFill>
                <a:latin typeface="Calibri" pitchFamily="34" charset="0"/>
                <a:ea typeface="Calibri" pitchFamily="34" charset="-122"/>
                <a:cs typeface="Calibri" pitchFamily="34" charset="-120"/>
              </a:rPr>
              <a:t>, </a:t>
            </a:r>
            <a:r>
              <a:rPr lang="tr-TR" sz="1800" dirty="0" err="1">
                <a:solidFill>
                  <a:srgbClr val="222222"/>
                </a:solidFill>
                <a:latin typeface="Calibri" pitchFamily="34" charset="0"/>
                <a:ea typeface="Calibri" pitchFamily="34" charset="-122"/>
                <a:cs typeface="Calibri" pitchFamily="34" charset="-120"/>
              </a:rPr>
              <a:t>fuel</a:t>
            </a:r>
            <a:r>
              <a:rPr lang="tr-TR" sz="1800" dirty="0">
                <a:solidFill>
                  <a:srgbClr val="222222"/>
                </a:solidFill>
                <a:latin typeface="Calibri" pitchFamily="34" charset="0"/>
                <a:ea typeface="Calibri" pitchFamily="34" charset="-122"/>
                <a:cs typeface="Calibri" pitchFamily="34" charset="-120"/>
              </a:rPr>
              <a:t>, </a:t>
            </a:r>
            <a:r>
              <a:rPr lang="tr-TR" sz="1800" dirty="0" err="1">
                <a:solidFill>
                  <a:srgbClr val="222222"/>
                </a:solidFill>
                <a:latin typeface="Calibri" pitchFamily="34" charset="0"/>
                <a:ea typeface="Calibri" pitchFamily="34" charset="-122"/>
                <a:cs typeface="Calibri" pitchFamily="34" charset="-120"/>
              </a:rPr>
              <a:t>roads</a:t>
            </a:r>
            <a:r>
              <a:rPr lang="tr-TR" sz="1800" dirty="0">
                <a:solidFill>
                  <a:srgbClr val="222222"/>
                </a:solidFill>
                <a:latin typeface="Calibri" pitchFamily="34" charset="0"/>
                <a:ea typeface="Calibri" pitchFamily="34" charset="-122"/>
                <a:cs typeface="Calibri" pitchFamily="34" charset="-120"/>
              </a:rPr>
              <a:t>, </a:t>
            </a:r>
            <a:r>
              <a:rPr lang="tr-TR" sz="1800" dirty="0" err="1">
                <a:solidFill>
                  <a:srgbClr val="222222"/>
                </a:solidFill>
                <a:latin typeface="Calibri" pitchFamily="34" charset="0"/>
                <a:ea typeface="Calibri" pitchFamily="34" charset="-122"/>
                <a:cs typeface="Calibri" pitchFamily="34" charset="-120"/>
              </a:rPr>
              <a:t>value</a:t>
            </a:r>
            <a:r>
              <a:rPr lang="tr-TR" sz="1800" dirty="0">
                <a:solidFill>
                  <a:srgbClr val="222222"/>
                </a:solidFill>
                <a:latin typeface="Calibri" pitchFamily="34" charset="0"/>
                <a:ea typeface="Calibri" pitchFamily="34" charset="-122"/>
                <a:cs typeface="Calibri" pitchFamily="34" charset="-120"/>
              </a:rPr>
              <a:t>-at-risk, </a:t>
            </a:r>
            <a:r>
              <a:rPr lang="tr-TR" sz="1800" dirty="0" err="1">
                <a:solidFill>
                  <a:srgbClr val="222222"/>
                </a:solidFill>
                <a:latin typeface="Calibri" pitchFamily="34" charset="0"/>
                <a:ea typeface="Calibri" pitchFamily="34" charset="-122"/>
                <a:cs typeface="Calibri" pitchFamily="34" charset="-120"/>
              </a:rPr>
              <a:t>resources</a:t>
            </a:r>
            <a:r>
              <a:rPr lang="tr-TR" sz="1800" dirty="0">
                <a:solidFill>
                  <a:srgbClr val="222222"/>
                </a:solidFill>
                <a:latin typeface="Calibri" pitchFamily="34" charset="0"/>
                <a:ea typeface="Calibri" pitchFamily="34" charset="-122"/>
                <a:cs typeface="Calibri" pitchFamily="34" charset="-120"/>
              </a:rPr>
              <a:t>, </a:t>
            </a:r>
            <a:r>
              <a:rPr lang="tr-TR" sz="1800" dirty="0" err="1">
                <a:solidFill>
                  <a:srgbClr val="222222"/>
                </a:solidFill>
                <a:latin typeface="Calibri" pitchFamily="34" charset="0"/>
                <a:ea typeface="Calibri" pitchFamily="34" charset="-122"/>
                <a:cs typeface="Calibri" pitchFamily="34" charset="-120"/>
              </a:rPr>
              <a:t>field</a:t>
            </a:r>
            <a:r>
              <a:rPr lang="tr-TR" sz="1800" dirty="0">
                <a:solidFill>
                  <a:srgbClr val="222222"/>
                </a:solidFill>
                <a:latin typeface="Calibri" pitchFamily="34" charset="0"/>
                <a:ea typeface="Calibri" pitchFamily="34" charset="-122"/>
                <a:cs typeface="Calibri" pitchFamily="34" charset="-120"/>
              </a:rPr>
              <a:t> </a:t>
            </a:r>
            <a:r>
              <a:rPr lang="tr-TR" sz="1800" dirty="0" err="1">
                <a:solidFill>
                  <a:srgbClr val="222222"/>
                </a:solidFill>
                <a:latin typeface="Calibri" pitchFamily="34" charset="0"/>
                <a:ea typeface="Calibri" pitchFamily="34" charset="-122"/>
                <a:cs typeface="Calibri" pitchFamily="34" charset="-120"/>
              </a:rPr>
              <a:t>reports</a:t>
            </a:r>
            <a:endParaRPr lang="en-US" sz="1800" i="1" dirty="0"/>
          </a:p>
          <a:p>
            <a:pPr marL="152400" indent="-152400">
              <a:lnSpc>
                <a:spcPct val="105000"/>
              </a:lnSpc>
              <a:spcAft>
                <a:spcPts val="1000"/>
              </a:spcAft>
              <a:buSzPct val="100000"/>
              <a:buChar char="•"/>
            </a:pPr>
            <a:r>
              <a:rPr lang="en-US" sz="1800" b="1" dirty="0">
                <a:solidFill>
                  <a:srgbClr val="222222"/>
                </a:solidFill>
                <a:latin typeface="Calibri" pitchFamily="34" charset="0"/>
                <a:ea typeface="Calibri" pitchFamily="34" charset="-122"/>
                <a:cs typeface="Calibri" pitchFamily="34" charset="-120"/>
              </a:rPr>
              <a:t>Read as observations — never as ground truth</a:t>
            </a:r>
            <a:endParaRPr lang="en-US" sz="1800" dirty="0"/>
          </a:p>
          <a:p>
            <a:pPr marL="152400" indent="-152400">
              <a:lnSpc>
                <a:spcPct val="105000"/>
              </a:lnSpc>
              <a:spcAft>
                <a:spcPts val="1000"/>
              </a:spcAft>
              <a:buSzPct val="100000"/>
              <a:buChar char="•"/>
            </a:pPr>
            <a:r>
              <a:rPr lang="en-US" sz="1800" b="1" dirty="0">
                <a:solidFill>
                  <a:srgbClr val="222222"/>
                </a:solidFill>
                <a:latin typeface="Calibri" pitchFamily="34" charset="0"/>
                <a:ea typeface="Calibri" pitchFamily="34" charset="-122"/>
                <a:cs typeface="Calibri" pitchFamily="34" charset="-120"/>
              </a:rPr>
              <a:t>Every measurement indexed by cell (x, y) and step k</a:t>
            </a:r>
            <a:endParaRPr lang="en-US" sz="1800" dirty="0"/>
          </a:p>
        </p:txBody>
      </p:sp>
      <p:pic>
        <p:nvPicPr>
          <p:cNvPr id="6" name="Image 1"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7" name="Image 2" descr="/tmp/thx/deck/figs/eee_logo.png"/>
          <p:cNvPicPr>
            <a:picLocks noChangeAspect="1"/>
          </p:cNvPicPr>
          <p:nvPr/>
        </p:nvPicPr>
        <p:blipFill>
          <a:blip r:embed="rId4"/>
          <a:stretch>
            <a:fillRect/>
          </a:stretch>
        </p:blipFill>
        <p:spPr>
          <a:xfrm>
            <a:off x="11265408" y="186217"/>
            <a:ext cx="475488" cy="395662"/>
          </a:xfrm>
          <a:prstGeom prst="rect">
            <a:avLst/>
          </a:prstGeom>
        </p:spPr>
      </p:pic>
      <p:pic>
        <p:nvPicPr>
          <p:cNvPr id="9" name="Image 0" descr="/tmp/thx/deck/figs/Figure4_1.png">
            <a:extLst>
              <a:ext uri="{FF2B5EF4-FFF2-40B4-BE49-F238E27FC236}">
                <a16:creationId xmlns:a16="http://schemas.microsoft.com/office/drawing/2014/main" id="{A2CA2966-2BC2-465E-937C-6E9CBD1B4E11}"/>
              </a:ext>
            </a:extLst>
          </p:cNvPr>
          <p:cNvPicPr>
            <a:picLocks noChangeAspect="1"/>
          </p:cNvPicPr>
          <p:nvPr/>
        </p:nvPicPr>
        <p:blipFill rotWithShape="1">
          <a:blip r:embed="rId5"/>
          <a:srcRect r="14164" b="84597"/>
          <a:stretch/>
        </p:blipFill>
        <p:spPr>
          <a:xfrm>
            <a:off x="1247600" y="1371600"/>
            <a:ext cx="9550103" cy="287938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56032"/>
            <a:ext cx="91440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DSS FRAMEWORK</a:t>
            </a:r>
            <a:endParaRPr lang="en-US" sz="1300" dirty="0"/>
          </a:p>
        </p:txBody>
      </p:sp>
      <p:sp>
        <p:nvSpPr>
          <p:cNvPr id="3" name="Text 1"/>
          <p:cNvSpPr/>
          <p:nvPr/>
        </p:nvSpPr>
        <p:spPr>
          <a:xfrm>
            <a:off x="502920" y="512064"/>
            <a:ext cx="11247120" cy="731520"/>
          </a:xfrm>
          <a:prstGeom prst="rect">
            <a:avLst/>
          </a:prstGeom>
          <a:noFill/>
          <a:ln/>
        </p:spPr>
        <p:txBody>
          <a:bodyPr wrap="square" lIns="0" tIns="0" rIns="0" bIns="0" rtlCol="0" anchor="ctr"/>
          <a:lstStyle/>
          <a:p>
            <a:pPr marL="0" indent="0">
              <a:buNone/>
            </a:pPr>
            <a:r>
              <a:rPr lang="en-US" sz="2900" b="1" dirty="0">
                <a:solidFill>
                  <a:srgbClr val="000000"/>
                </a:solidFill>
                <a:latin typeface="Cambria" pitchFamily="34" charset="0"/>
                <a:ea typeface="Cambria" pitchFamily="34" charset="-122"/>
                <a:cs typeface="Cambria" pitchFamily="34" charset="-120"/>
              </a:rPr>
              <a:t>One Agent, Four Layers, One Loop</a:t>
            </a:r>
            <a:endParaRPr lang="en-US" sz="2900" dirty="0"/>
          </a:p>
        </p:txBody>
      </p:sp>
      <p:pic>
        <p:nvPicPr>
          <p:cNvPr id="4" name="Image 0" descr="/tmp/thx/deck/figs/Figure4_1.png"/>
          <p:cNvPicPr>
            <a:picLocks noChangeAspect="1"/>
          </p:cNvPicPr>
          <p:nvPr/>
        </p:nvPicPr>
        <p:blipFill>
          <a:blip r:embed="rId3"/>
          <a:stretch>
            <a:fillRect/>
          </a:stretch>
        </p:blipFill>
        <p:spPr>
          <a:xfrm>
            <a:off x="1695072" y="1371600"/>
            <a:ext cx="3102096" cy="5212080"/>
          </a:xfrm>
          <a:prstGeom prst="rect">
            <a:avLst/>
          </a:prstGeom>
        </p:spPr>
      </p:pic>
      <p:sp>
        <p:nvSpPr>
          <p:cNvPr id="5" name="Text 2"/>
          <p:cNvSpPr/>
          <p:nvPr/>
        </p:nvSpPr>
        <p:spPr>
          <a:xfrm>
            <a:off x="6263640" y="1737360"/>
            <a:ext cx="5486400" cy="4572000"/>
          </a:xfrm>
          <a:prstGeom prst="rect">
            <a:avLst/>
          </a:prstGeom>
          <a:noFill/>
          <a:ln/>
        </p:spPr>
        <p:txBody>
          <a:bodyPr wrap="square" lIns="0" tIns="0" rIns="0" bIns="0" rtlCol="0" anchor="t"/>
          <a:lstStyle/>
          <a:p>
            <a:pPr marL="152400" indent="-152400">
              <a:lnSpc>
                <a:spcPct val="105000"/>
              </a:lnSpc>
              <a:spcAft>
                <a:spcPts val="1000"/>
              </a:spcAft>
              <a:buSzPct val="100000"/>
              <a:buChar char="•"/>
            </a:pPr>
            <a:r>
              <a:rPr lang="en-US" sz="1900">
                <a:solidFill>
                  <a:srgbClr val="222222"/>
                </a:solidFill>
                <a:latin typeface="Calibri" pitchFamily="34" charset="0"/>
                <a:ea typeface="Calibri" pitchFamily="34" charset="-122"/>
                <a:cs typeface="Calibri" pitchFamily="34" charset="-120"/>
              </a:rPr>
              <a:t>Layer 1 · Input space — spatio-temporal measurements</a:t>
            </a:r>
            <a:endParaRPr lang="en-US" sz="1900" dirty="0"/>
          </a:p>
          <a:p>
            <a:pPr marL="152400" indent="-152400">
              <a:lnSpc>
                <a:spcPct val="105000"/>
              </a:lnSpc>
              <a:spcAft>
                <a:spcPts val="1000"/>
              </a:spcAft>
              <a:buSzPct val="100000"/>
              <a:buChar char="•"/>
            </a:pPr>
            <a:r>
              <a:rPr lang="en-US" sz="1900">
                <a:solidFill>
                  <a:srgbClr val="222222"/>
                </a:solidFill>
                <a:highlight>
                  <a:srgbClr val="C0C0C0"/>
                </a:highlight>
                <a:latin typeface="Calibri" pitchFamily="34" charset="0"/>
                <a:ea typeface="Calibri" pitchFamily="34" charset="-122"/>
                <a:cs typeface="Calibri" pitchFamily="34" charset="-120"/>
              </a:rPr>
              <a:t>Layer 2 · Perception — features with confidence</a:t>
            </a:r>
            <a:endParaRPr lang="en-US" sz="1900" dirty="0">
              <a:highlight>
                <a:srgbClr val="C0C0C0"/>
              </a:highlight>
            </a:endParaRPr>
          </a:p>
          <a:p>
            <a:pPr marL="152400" indent="-152400">
              <a:lnSpc>
                <a:spcPct val="105000"/>
              </a:lnSpc>
              <a:spcAft>
                <a:spcPts val="1000"/>
              </a:spcAft>
              <a:buSzPct val="100000"/>
              <a:buChar char="•"/>
            </a:pPr>
            <a:r>
              <a:rPr lang="en-US" sz="1900">
                <a:solidFill>
                  <a:srgbClr val="222222"/>
                </a:solidFill>
                <a:latin typeface="Calibri" pitchFamily="34" charset="0"/>
                <a:ea typeface="Calibri" pitchFamily="34" charset="-122"/>
                <a:cs typeface="Calibri" pitchFamily="34" charset="-120"/>
              </a:rPr>
              <a:t>Layer 3 · Concept space — five decision concepts</a:t>
            </a:r>
            <a:endParaRPr lang="en-US" sz="1900" dirty="0"/>
          </a:p>
          <a:p>
            <a:pPr marL="152400" indent="-152400">
              <a:lnSpc>
                <a:spcPct val="105000"/>
              </a:lnSpc>
              <a:spcAft>
                <a:spcPts val="1000"/>
              </a:spcAft>
              <a:buSzPct val="100000"/>
              <a:buChar char="•"/>
            </a:pPr>
            <a:r>
              <a:rPr lang="en-US" sz="1900">
                <a:solidFill>
                  <a:srgbClr val="222222"/>
                </a:solidFill>
                <a:latin typeface="Calibri" pitchFamily="34" charset="0"/>
                <a:ea typeface="Calibri" pitchFamily="34" charset="-122"/>
                <a:cs typeface="Calibri" pitchFamily="34" charset="-120"/>
              </a:rPr>
              <a:t>Layer 4 · Decision space — rules, tests, adaptation, fail-safe</a:t>
            </a:r>
            <a:endParaRPr lang="en-US" sz="1900" dirty="0"/>
          </a:p>
          <a:p>
            <a:pPr marL="152400" indent="-152400">
              <a:lnSpc>
                <a:spcPct val="105000"/>
              </a:lnSpc>
              <a:spcAft>
                <a:spcPts val="1000"/>
              </a:spcAft>
              <a:buSzPct val="100000"/>
              <a:buChar char="•"/>
            </a:pPr>
            <a:r>
              <a:rPr lang="en-US" sz="1900" b="1">
                <a:solidFill>
                  <a:srgbClr val="222222"/>
                </a:solidFill>
                <a:latin typeface="Calibri" pitchFamily="34" charset="0"/>
                <a:ea typeface="Calibri" pitchFamily="34" charset="-122"/>
                <a:cs typeface="Calibri" pitchFamily="34" charset="-120"/>
              </a:rPr>
              <a:t>N agents in parallel; a Global DSS only ranks &amp; allocates</a:t>
            </a:r>
            <a:endParaRPr lang="en-US" sz="1900" dirty="0"/>
          </a:p>
        </p:txBody>
      </p:sp>
      <p:pic>
        <p:nvPicPr>
          <p:cNvPr id="6" name="Image 1" descr="/tmp/thx/deck/figs/metu_emblem.png"/>
          <p:cNvPicPr>
            <a:picLocks noChangeAspect="1"/>
          </p:cNvPicPr>
          <p:nvPr/>
        </p:nvPicPr>
        <p:blipFill>
          <a:blip r:embed="rId4"/>
          <a:stretch>
            <a:fillRect/>
          </a:stretch>
        </p:blipFill>
        <p:spPr>
          <a:xfrm>
            <a:off x="10716768" y="184607"/>
            <a:ext cx="475488" cy="398882"/>
          </a:xfrm>
          <a:prstGeom prst="rect">
            <a:avLst/>
          </a:prstGeom>
        </p:spPr>
      </p:pic>
      <p:pic>
        <p:nvPicPr>
          <p:cNvPr id="7" name="Image 2" descr="/tmp/thx/deck/figs/eee_logo.png"/>
          <p:cNvPicPr>
            <a:picLocks noChangeAspect="1"/>
          </p:cNvPicPr>
          <p:nvPr/>
        </p:nvPicPr>
        <p:blipFill>
          <a:blip r:embed="rId5"/>
          <a:stretch>
            <a:fillRect/>
          </a:stretch>
        </p:blipFill>
        <p:spPr>
          <a:xfrm>
            <a:off x="11265408" y="186217"/>
            <a:ext cx="475488" cy="395662"/>
          </a:xfrm>
          <a:prstGeom prst="rect">
            <a:avLst/>
          </a:prstGeom>
        </p:spPr>
      </p:pic>
    </p:spTree>
    <p:extLst>
      <p:ext uri="{BB962C8B-B14F-4D97-AF65-F5344CB8AC3E}">
        <p14:creationId xmlns:p14="http://schemas.microsoft.com/office/powerpoint/2010/main" val="32291926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13" name="Image 0" descr="/tmp/thx/deck/figs/Figure4_1.png">
            <a:extLst>
              <a:ext uri="{FF2B5EF4-FFF2-40B4-BE49-F238E27FC236}">
                <a16:creationId xmlns:a16="http://schemas.microsoft.com/office/drawing/2014/main" id="{E41E7CAB-6CFD-414D-9826-B113269865A7}"/>
              </a:ext>
            </a:extLst>
          </p:cNvPr>
          <p:cNvPicPr>
            <a:picLocks noChangeAspect="1"/>
          </p:cNvPicPr>
          <p:nvPr/>
        </p:nvPicPr>
        <p:blipFill rotWithShape="1">
          <a:blip r:embed="rId3"/>
          <a:srcRect l="1" t="168" r="14263" b="59109"/>
          <a:stretch>
            <a:fillRect/>
          </a:stretch>
        </p:blipFill>
        <p:spPr>
          <a:xfrm>
            <a:off x="0" y="1243584"/>
            <a:ext cx="6200775" cy="5175462"/>
          </a:xfrm>
          <a:prstGeom prst="rect">
            <a:avLst/>
          </a:prstGeom>
        </p:spPr>
      </p:pic>
      <p:sp>
        <p:nvSpPr>
          <p:cNvPr id="2" name="Text 0"/>
          <p:cNvSpPr/>
          <p:nvPr/>
        </p:nvSpPr>
        <p:spPr>
          <a:xfrm>
            <a:off x="502920" y="256032"/>
            <a:ext cx="91440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DSS FRAMEWORK : LAYER 2 OF 4</a:t>
            </a:r>
            <a:endParaRPr lang="en-US" sz="1300" dirty="0"/>
          </a:p>
        </p:txBody>
      </p:sp>
      <p:sp>
        <p:nvSpPr>
          <p:cNvPr id="3" name="Text 1"/>
          <p:cNvSpPr/>
          <p:nvPr/>
        </p:nvSpPr>
        <p:spPr>
          <a:xfrm>
            <a:off x="502920" y="512064"/>
            <a:ext cx="11247120" cy="731520"/>
          </a:xfrm>
          <a:prstGeom prst="rect">
            <a:avLst/>
          </a:prstGeom>
          <a:noFill/>
          <a:ln/>
        </p:spPr>
        <p:txBody>
          <a:bodyPr wrap="square" lIns="0" tIns="0" rIns="0" bIns="0" rtlCol="0" anchor="ctr"/>
          <a:lstStyle/>
          <a:p>
            <a:pPr marL="0" indent="0">
              <a:buNone/>
            </a:pPr>
            <a:r>
              <a:rPr lang="en-US" sz="2900" b="1" dirty="0">
                <a:solidFill>
                  <a:srgbClr val="000000"/>
                </a:solidFill>
                <a:latin typeface="Cambria" pitchFamily="34" charset="0"/>
                <a:ea typeface="Cambria" pitchFamily="34" charset="-122"/>
                <a:cs typeface="Cambria" pitchFamily="34" charset="-120"/>
              </a:rPr>
              <a:t>Layer 2 : Perception</a:t>
            </a:r>
            <a:r>
              <a:rPr lang="tr-TR" sz="2900" b="1" dirty="0">
                <a:solidFill>
                  <a:srgbClr val="000000"/>
                </a:solidFill>
                <a:latin typeface="Cambria" pitchFamily="34" charset="0"/>
                <a:ea typeface="Cambria" pitchFamily="34" charset="-122"/>
                <a:cs typeface="Cambria" pitchFamily="34" charset="-120"/>
              </a:rPr>
              <a:t> – </a:t>
            </a:r>
            <a:r>
              <a:rPr lang="en-US" sz="2900" b="1" dirty="0">
                <a:solidFill>
                  <a:srgbClr val="000000"/>
                </a:solidFill>
                <a:latin typeface="Cambria" pitchFamily="34" charset="0"/>
                <a:ea typeface="Cambria" pitchFamily="34" charset="-122"/>
                <a:cs typeface="Cambria" pitchFamily="34" charset="-120"/>
              </a:rPr>
              <a:t>Observation</a:t>
            </a:r>
            <a:endParaRPr lang="en-US" sz="2900" dirty="0"/>
          </a:p>
        </p:txBody>
      </p:sp>
      <mc:AlternateContent xmlns:mc="http://schemas.openxmlformats.org/markup-compatibility/2006" xmlns:a14="http://schemas.microsoft.com/office/drawing/2010/main">
        <mc:Choice Requires="a14">
          <p:sp>
            <p:nvSpPr>
              <p:cNvPr id="5" name="Equation 37"/>
              <p:cNvSpPr txBox="1"/>
              <p:nvPr/>
            </p:nvSpPr>
            <p:spPr>
              <a:xfrm>
                <a:off x="6809276" y="1358963"/>
                <a:ext cx="5074920" cy="281306"/>
              </a:xfrm>
              <a:prstGeom prst="rect">
                <a:avLst/>
              </a:prstGeom>
              <a:noFill/>
            </p:spPr>
            <p:txBody>
              <a:bodyPr wrap="square" lIns="0" tIns="0" rIns="0" bIns="0" anchor="ctr">
                <a:noAutofit/>
              </a:bodyPr>
              <a:lstStyle/>
              <a:p>
                <a:pPr algn="ctr"/>
                <a14:m>
                  <m:oMath xmlns:m="http://schemas.openxmlformats.org/officeDocument/2006/math">
                    <m:sSubSup>
                      <m:sSubSupPr>
                        <m:ctrlPr>
                          <a:rPr lang="en-US" i="1">
                            <a:latin typeface="Cambria Math" panose="02040503050406030204" pitchFamily="18" charset="0"/>
                          </a:rPr>
                        </m:ctrlPr>
                      </m:sSubSupPr>
                      <m:e>
                        <m:r>
                          <a:rPr lang="en-US">
                            <a:latin typeface="Cambria Math"/>
                          </a:rPr>
                          <m:t>𝑂</m:t>
                        </m:r>
                      </m:e>
                      <m:sub>
                        <m:r>
                          <a:rPr lang="en-US">
                            <a:latin typeface="Cambria Math"/>
                          </a:rPr>
                          <m:t>𝑘</m:t>
                        </m:r>
                      </m:sub>
                      <m:sup>
                        <m:r>
                          <a:rPr lang="en-US">
                            <a:latin typeface="Cambria Math"/>
                          </a:rPr>
                          <m:t>𝑖</m:t>
                        </m:r>
                      </m:sup>
                    </m:sSubSup>
                    <m:d>
                      <m:dPr>
                        <m:ctrlPr>
                          <a:rPr lang="en-US" i="1">
                            <a:latin typeface="Cambria Math" panose="02040503050406030204" pitchFamily="18" charset="0"/>
                          </a:rPr>
                        </m:ctrlPr>
                      </m:dPr>
                      <m:e>
                        <m:r>
                          <a:rPr lang="en-US">
                            <a:latin typeface="Cambria Math"/>
                          </a:rPr>
                          <m:t>𝑥</m:t>
                        </m:r>
                        <m:r>
                          <a:rPr lang="en-US">
                            <a:latin typeface="Cambria Math"/>
                          </a:rPr>
                          <m:t>,</m:t>
                        </m:r>
                        <m:r>
                          <a:rPr lang="en-US">
                            <a:latin typeface="Cambria Math"/>
                          </a:rPr>
                          <m:t>𝑦</m:t>
                        </m:r>
                      </m:e>
                    </m:d>
                    <m:r>
                      <a:rPr lang="en-US">
                        <a:latin typeface="Cambria Math"/>
                      </a:rPr>
                      <m:t>=</m:t>
                    </m:r>
                    <m:sSup>
                      <m:sSupPr>
                        <m:ctrlPr>
                          <a:rPr lang="en-US" i="1">
                            <a:latin typeface="Cambria Math" panose="02040503050406030204" pitchFamily="18" charset="0"/>
                          </a:rPr>
                        </m:ctrlPr>
                      </m:sSupPr>
                      <m:e>
                        <m:r>
                          <a:rPr lang="en-US">
                            <a:latin typeface="Cambria Math"/>
                          </a:rPr>
                          <m:t>h</m:t>
                        </m:r>
                      </m:e>
                      <m:sup>
                        <m:r>
                          <a:rPr lang="en-US">
                            <a:latin typeface="Cambria Math"/>
                          </a:rPr>
                          <m:t>𝑖</m:t>
                        </m:r>
                      </m:sup>
                    </m:sSup>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a:latin typeface="Cambria Math"/>
                              </a:rPr>
                              <m:t>𝑆</m:t>
                            </m:r>
                          </m:e>
                          <m:sub>
                            <m:r>
                              <a:rPr lang="en-US">
                                <a:latin typeface="Cambria Math"/>
                              </a:rPr>
                              <m:t>𝑘</m:t>
                            </m:r>
                          </m:sub>
                        </m:sSub>
                        <m:d>
                          <m:dPr>
                            <m:ctrlPr>
                              <a:rPr lang="en-US" i="1">
                                <a:latin typeface="Cambria Math" panose="02040503050406030204" pitchFamily="18" charset="0"/>
                              </a:rPr>
                            </m:ctrlPr>
                          </m:dPr>
                          <m:e>
                            <m:r>
                              <a:rPr lang="en-US">
                                <a:latin typeface="Cambria Math"/>
                              </a:rPr>
                              <m:t>𝑥</m:t>
                            </m:r>
                            <m:r>
                              <a:rPr lang="en-US">
                                <a:latin typeface="Cambria Math"/>
                              </a:rPr>
                              <m:t>,</m:t>
                            </m:r>
                            <m:r>
                              <a:rPr lang="en-US">
                                <a:latin typeface="Cambria Math"/>
                              </a:rPr>
                              <m:t>𝑦</m:t>
                            </m:r>
                          </m:e>
                        </m:d>
                        <m:r>
                          <a:rPr lang="en-US">
                            <a:latin typeface="Cambria Math"/>
                          </a:rPr>
                          <m:t>, </m:t>
                        </m:r>
                        <m:sSubSup>
                          <m:sSubSupPr>
                            <m:ctrlPr>
                              <a:rPr lang="en-US" i="1">
                                <a:latin typeface="Cambria Math" panose="02040503050406030204" pitchFamily="18" charset="0"/>
                              </a:rPr>
                            </m:ctrlPr>
                          </m:sSubSupPr>
                          <m:e>
                            <m:r>
                              <a:rPr lang="en-US">
                                <a:latin typeface="Cambria Math"/>
                              </a:rPr>
                              <m:t>𝜀</m:t>
                            </m:r>
                          </m:e>
                          <m:sub>
                            <m:r>
                              <a:rPr lang="en-US">
                                <a:latin typeface="Cambria Math"/>
                              </a:rPr>
                              <m:t>𝑘</m:t>
                            </m:r>
                          </m:sub>
                          <m:sup>
                            <m:r>
                              <a:rPr lang="en-US">
                                <a:latin typeface="Cambria Math"/>
                              </a:rPr>
                              <m:t>𝑖</m:t>
                            </m:r>
                          </m:sup>
                        </m:sSubSup>
                        <m:d>
                          <m:dPr>
                            <m:ctrlPr>
                              <a:rPr lang="en-US" i="1">
                                <a:latin typeface="Cambria Math" panose="02040503050406030204" pitchFamily="18" charset="0"/>
                              </a:rPr>
                            </m:ctrlPr>
                          </m:dPr>
                          <m:e>
                            <m:r>
                              <a:rPr lang="en-US">
                                <a:latin typeface="Cambria Math"/>
                              </a:rPr>
                              <m:t>𝑥</m:t>
                            </m:r>
                            <m:r>
                              <a:rPr lang="en-US">
                                <a:latin typeface="Cambria Math"/>
                              </a:rPr>
                              <m:t>,</m:t>
                            </m:r>
                            <m:r>
                              <a:rPr lang="en-US">
                                <a:latin typeface="Cambria Math"/>
                              </a:rPr>
                              <m:t>𝑦</m:t>
                            </m:r>
                          </m:e>
                        </m:d>
                      </m:e>
                    </m:d>
                    <m:r>
                      <a:rPr lang="en-US">
                        <a:latin typeface="Cambria Math"/>
                      </a:rPr>
                      <m:t>, </m:t>
                    </m:r>
                    <m:d>
                      <m:dPr>
                        <m:ctrlPr>
                          <a:rPr lang="en-US" i="1">
                            <a:latin typeface="Cambria Math" panose="02040503050406030204" pitchFamily="18" charset="0"/>
                          </a:rPr>
                        </m:ctrlPr>
                      </m:dPr>
                      <m:e>
                        <m:r>
                          <a:rPr lang="en-US">
                            <a:latin typeface="Cambria Math"/>
                          </a:rPr>
                          <m:t>𝑥</m:t>
                        </m:r>
                        <m:r>
                          <a:rPr lang="en-US">
                            <a:latin typeface="Cambria Math"/>
                          </a:rPr>
                          <m:t>,</m:t>
                        </m:r>
                        <m:r>
                          <a:rPr lang="en-US">
                            <a:latin typeface="Cambria Math"/>
                          </a:rPr>
                          <m:t>𝑦</m:t>
                        </m:r>
                      </m:e>
                    </m:d>
                    <m:r>
                      <a:rPr lang="en-US">
                        <a:latin typeface="Cambria Math"/>
                      </a:rPr>
                      <m:t>∈</m:t>
                    </m:r>
                    <m:sSup>
                      <m:sSupPr>
                        <m:ctrlPr>
                          <a:rPr lang="en-US" i="1">
                            <a:latin typeface="Cambria Math" panose="02040503050406030204" pitchFamily="18" charset="0"/>
                          </a:rPr>
                        </m:ctrlPr>
                      </m:sSupPr>
                      <m:e>
                        <m:r>
                          <a:rPr lang="en-US">
                            <a:latin typeface="Cambria Math"/>
                          </a:rPr>
                          <m:t>𝒢</m:t>
                        </m:r>
                      </m:e>
                      <m:sup>
                        <m:r>
                          <a:rPr lang="en-US">
                            <a:latin typeface="Cambria Math"/>
                          </a:rPr>
                          <m:t>𝑖</m:t>
                        </m:r>
                      </m:sup>
                    </m:sSup>
                  </m:oMath>
                </a14:m>
                <a:r>
                  <a:rPr lang="en-US" dirty="0">
                    <a:solidFill>
                      <a:srgbClr val="6E6E6E"/>
                    </a:solidFill>
                  </a:rPr>
                  <a:t> </a:t>
                </a:r>
              </a:p>
            </p:txBody>
          </p:sp>
        </mc:Choice>
        <mc:Fallback xmlns="">
          <p:sp>
            <p:nvSpPr>
              <p:cNvPr id="5" name="Equation 37"/>
              <p:cNvSpPr txBox="1">
                <a:spLocks noRot="1" noChangeAspect="1" noMove="1" noResize="1" noEditPoints="1" noAdjustHandles="1" noChangeArrowheads="1" noChangeShapeType="1" noTextEdit="1"/>
              </p:cNvSpPr>
              <p:nvPr/>
            </p:nvSpPr>
            <p:spPr>
              <a:xfrm>
                <a:off x="6809276" y="1358963"/>
                <a:ext cx="5074920" cy="281306"/>
              </a:xfrm>
              <a:prstGeom prst="rect">
                <a:avLst/>
              </a:prstGeom>
              <a:blipFill>
                <a:blip r:embed="rId4"/>
                <a:stretch>
                  <a:fillRect t="-30435" b="-47826"/>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6" name="Equation 38"/>
              <p:cNvSpPr txBox="1"/>
              <p:nvPr/>
            </p:nvSpPr>
            <p:spPr>
              <a:xfrm>
                <a:off x="7022609" y="2415376"/>
                <a:ext cx="4648254" cy="277505"/>
              </a:xfrm>
              <a:prstGeom prst="rect">
                <a:avLst/>
              </a:prstGeom>
              <a:noFill/>
            </p:spPr>
            <p:txBody>
              <a:bodyPr wrap="square" lIns="0" tIns="0" rIns="0" bIns="0" anchor="ctr">
                <a:noAutofit/>
              </a:bodyPr>
              <a:lstStyle/>
              <a:p>
                <a:pPr algn="ctr"/>
                <a14:m>
                  <m:oMathPara xmlns:m="http://schemas.openxmlformats.org/officeDocument/2006/math">
                    <m:oMathParaPr>
                      <m:jc m:val="centerGroup"/>
                    </m:oMathParaPr>
                    <m:oMath xmlns:m="http://schemas.openxmlformats.org/officeDocument/2006/math">
                      <m:sSubSup>
                        <m:sSubSupPr>
                          <m:ctrlPr>
                            <a:rPr lang="en-US" i="1">
                              <a:latin typeface="Cambria Math" panose="02040503050406030204" pitchFamily="18" charset="0"/>
                            </a:rPr>
                          </m:ctrlPr>
                        </m:sSubSupPr>
                        <m:e>
                          <m:r>
                            <a:rPr lang="en-US">
                              <a:latin typeface="Cambria Math"/>
                            </a:rPr>
                            <m:t>𝛾</m:t>
                          </m:r>
                        </m:e>
                        <m:sub>
                          <m:r>
                            <a:rPr lang="en-US">
                              <a:latin typeface="Cambria Math"/>
                            </a:rPr>
                            <m:t>𝑘</m:t>
                          </m:r>
                        </m:sub>
                        <m:sup>
                          <m:r>
                            <a:rPr lang="en-US">
                              <a:latin typeface="Cambria Math"/>
                            </a:rPr>
                            <m:t>𝑖</m:t>
                          </m:r>
                        </m:sup>
                      </m:sSubSup>
                      <m:d>
                        <m:dPr>
                          <m:ctrlPr>
                            <a:rPr lang="en-US" i="1">
                              <a:latin typeface="Cambria Math" panose="02040503050406030204" pitchFamily="18" charset="0"/>
                            </a:rPr>
                          </m:ctrlPr>
                        </m:dPr>
                        <m:e>
                          <m:r>
                            <a:rPr lang="en-US">
                              <a:latin typeface="Cambria Math"/>
                            </a:rPr>
                            <m:t>𝑥</m:t>
                          </m:r>
                          <m:r>
                            <a:rPr lang="en-US">
                              <a:latin typeface="Cambria Math"/>
                            </a:rPr>
                            <m:t>,</m:t>
                          </m:r>
                          <m:r>
                            <a:rPr lang="en-US">
                              <a:latin typeface="Cambria Math"/>
                            </a:rPr>
                            <m:t>𝑦</m:t>
                          </m:r>
                        </m:e>
                      </m:d>
                      <m:r>
                        <a:rPr lang="en-US">
                          <a:latin typeface="Cambria Math"/>
                        </a:rPr>
                        <m:t>=</m:t>
                      </m:r>
                      <m:func>
                        <m:funcPr>
                          <m:ctrlPr>
                            <a:rPr lang="en-US" b="0" i="1" smtClean="0">
                              <a:latin typeface="Cambria Math" panose="02040503050406030204" pitchFamily="18" charset="0"/>
                            </a:rPr>
                          </m:ctrlPr>
                        </m:funcPr>
                        <m:fName>
                          <m:r>
                            <a:rPr lang="en-US" b="0" i="1" smtClean="0">
                              <a:latin typeface="Cambria Math" panose="02040503050406030204" pitchFamily="18" charset="0"/>
                            </a:rPr>
                            <m:t>𝑚𝑖</m:t>
                          </m:r>
                          <m:r>
                            <a:rPr lang="en-US">
                              <a:latin typeface="Cambria Math"/>
                            </a:rPr>
                            <m:t>𝑛</m:t>
                          </m:r>
                        </m:fName>
                        <m:e>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a:latin typeface="Cambria Math"/>
                                    </a:rPr>
                                    <m:t>𝛾</m:t>
                                  </m:r>
                                </m:e>
                                <m:sub>
                                  <m:r>
                                    <a:rPr lang="en-US">
                                      <a:latin typeface="Cambria Math"/>
                                    </a:rPr>
                                    <m:t>𝑜𝑏𝑠</m:t>
                                  </m:r>
                                </m:sub>
                              </m:sSub>
                              <m:r>
                                <a:rPr lang="en-US">
                                  <a:latin typeface="Cambria Math"/>
                                </a:rPr>
                                <m:t>,</m:t>
                              </m:r>
                              <m:sSub>
                                <m:sSubPr>
                                  <m:ctrlPr>
                                    <a:rPr lang="en-US" i="1">
                                      <a:latin typeface="Cambria Math" panose="02040503050406030204" pitchFamily="18" charset="0"/>
                                    </a:rPr>
                                  </m:ctrlPr>
                                </m:sSubPr>
                                <m:e>
                                  <m:r>
                                    <a:rPr lang="en-US">
                                      <a:latin typeface="Cambria Math"/>
                                    </a:rPr>
                                    <m:t>𝛾</m:t>
                                  </m:r>
                                </m:e>
                                <m:sub>
                                  <m:r>
                                    <a:rPr lang="en-US">
                                      <a:latin typeface="Cambria Math"/>
                                    </a:rPr>
                                    <m:t>𝑐𝑜𝑣</m:t>
                                  </m:r>
                                </m:sub>
                              </m:sSub>
                              <m:r>
                                <a:rPr lang="en-US">
                                  <a:latin typeface="Cambria Math"/>
                                </a:rPr>
                                <m:t>,</m:t>
                              </m:r>
                              <m:sSub>
                                <m:sSubPr>
                                  <m:ctrlPr>
                                    <a:rPr lang="en-US" i="1">
                                      <a:latin typeface="Cambria Math" panose="02040503050406030204" pitchFamily="18" charset="0"/>
                                    </a:rPr>
                                  </m:ctrlPr>
                                </m:sSubPr>
                                <m:e>
                                  <m:r>
                                    <a:rPr lang="en-US">
                                      <a:latin typeface="Cambria Math"/>
                                    </a:rPr>
                                    <m:t>𝛾</m:t>
                                  </m:r>
                                </m:e>
                                <m:sub>
                                  <m:r>
                                    <a:rPr lang="en-US">
                                      <a:latin typeface="Cambria Math"/>
                                    </a:rPr>
                                    <m:t>𝑓𝑟𝑒</m:t>
                                  </m:r>
                                </m:sub>
                              </m:sSub>
                              <m:r>
                                <a:rPr lang="en-US">
                                  <a:latin typeface="Cambria Math"/>
                                </a:rPr>
                                <m:t>,</m:t>
                              </m:r>
                              <m:sSub>
                                <m:sSubPr>
                                  <m:ctrlPr>
                                    <a:rPr lang="en-US" i="1">
                                      <a:latin typeface="Cambria Math" panose="02040503050406030204" pitchFamily="18" charset="0"/>
                                    </a:rPr>
                                  </m:ctrlPr>
                                </m:sSubPr>
                                <m:e>
                                  <m:r>
                                    <a:rPr lang="en-US">
                                      <a:latin typeface="Cambria Math"/>
                                    </a:rPr>
                                    <m:t>𝛾</m:t>
                                  </m:r>
                                </m:e>
                                <m:sub>
                                  <m:r>
                                    <a:rPr lang="en-US">
                                      <a:latin typeface="Cambria Math"/>
                                    </a:rPr>
                                    <m:t>𝑟𝑒𝑙</m:t>
                                  </m:r>
                                </m:sub>
                              </m:sSub>
                            </m:e>
                          </m:d>
                        </m:e>
                      </m:func>
                    </m:oMath>
                  </m:oMathPara>
                </a14:m>
                <a:endParaRPr lang="en-US" dirty="0"/>
              </a:p>
            </p:txBody>
          </p:sp>
        </mc:Choice>
        <mc:Fallback xmlns="">
          <p:sp>
            <p:nvSpPr>
              <p:cNvPr id="6" name="Equation 38"/>
              <p:cNvSpPr txBox="1">
                <a:spLocks noRot="1" noChangeAspect="1" noMove="1" noResize="1" noEditPoints="1" noAdjustHandles="1" noChangeArrowheads="1" noChangeShapeType="1" noTextEdit="1"/>
              </p:cNvSpPr>
              <p:nvPr/>
            </p:nvSpPr>
            <p:spPr>
              <a:xfrm>
                <a:off x="7022609" y="2415376"/>
                <a:ext cx="4648254" cy="277505"/>
              </a:xfrm>
              <a:prstGeom prst="rect">
                <a:avLst/>
              </a:prstGeom>
              <a:blipFill>
                <a:blip r:embed="rId5"/>
                <a:stretch>
                  <a:fillRect t="-10870" b="-36957"/>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7" name="Equation 39"/>
              <p:cNvSpPr txBox="1"/>
              <p:nvPr/>
            </p:nvSpPr>
            <p:spPr>
              <a:xfrm>
                <a:off x="6809276" y="1887170"/>
                <a:ext cx="5074920" cy="281306"/>
              </a:xfrm>
              <a:prstGeom prst="rect">
                <a:avLst/>
              </a:prstGeom>
              <a:noFill/>
            </p:spPr>
            <p:txBody>
              <a:bodyPr wrap="square" lIns="0" tIns="0" rIns="0" bIns="0" anchor="ctr">
                <a:noAutofit/>
              </a:bodyPr>
              <a:lstStyle/>
              <a:p>
                <a:pPr algn="ctr"/>
                <a14:m>
                  <m:oMath xmlns:m="http://schemas.openxmlformats.org/officeDocument/2006/math">
                    <m:r>
                      <a:rPr lang="en-US" smtClean="0">
                        <a:latin typeface="Cambria Math"/>
                      </a:rPr>
                      <m:t>|</m:t>
                    </m:r>
                    <m:sSubSup>
                      <m:sSubSupPr>
                        <m:ctrlPr>
                          <a:rPr lang="en-US" i="1">
                            <a:latin typeface="Cambria Math" panose="02040503050406030204" pitchFamily="18" charset="0"/>
                          </a:rPr>
                        </m:ctrlPr>
                      </m:sSubSupPr>
                      <m:e>
                        <m:r>
                          <a:rPr lang="en-US">
                            <a:latin typeface="Cambria Math"/>
                          </a:rPr>
                          <m:t>𝜀</m:t>
                        </m:r>
                      </m:e>
                      <m:sub>
                        <m:r>
                          <a:rPr lang="en-US">
                            <a:latin typeface="Cambria Math"/>
                          </a:rPr>
                          <m:t>𝑘</m:t>
                        </m:r>
                      </m:sub>
                      <m:sup>
                        <m:r>
                          <a:rPr lang="en-US">
                            <a:latin typeface="Cambria Math"/>
                          </a:rPr>
                          <m:t>𝑖</m:t>
                        </m:r>
                      </m:sup>
                    </m:sSubSup>
                    <m:d>
                      <m:dPr>
                        <m:ctrlPr>
                          <a:rPr lang="en-US" i="1">
                            <a:latin typeface="Cambria Math" panose="02040503050406030204" pitchFamily="18" charset="0"/>
                          </a:rPr>
                        </m:ctrlPr>
                      </m:dPr>
                      <m:e>
                        <m:r>
                          <a:rPr lang="en-US">
                            <a:latin typeface="Cambria Math"/>
                          </a:rPr>
                          <m:t>𝑥</m:t>
                        </m:r>
                        <m:r>
                          <a:rPr lang="en-US">
                            <a:latin typeface="Cambria Math"/>
                          </a:rPr>
                          <m:t>,</m:t>
                        </m:r>
                        <m:r>
                          <a:rPr lang="en-US">
                            <a:latin typeface="Cambria Math"/>
                          </a:rPr>
                          <m:t>𝑦</m:t>
                        </m:r>
                      </m:e>
                    </m:d>
                    <m:r>
                      <a:rPr lang="en-US">
                        <a:latin typeface="Cambria Math"/>
                      </a:rPr>
                      <m:t>|≤(1−</m:t>
                    </m:r>
                    <m:sSubSup>
                      <m:sSubSupPr>
                        <m:ctrlPr>
                          <a:rPr lang="en-US" i="1">
                            <a:latin typeface="Cambria Math" panose="02040503050406030204" pitchFamily="18" charset="0"/>
                          </a:rPr>
                        </m:ctrlPr>
                      </m:sSubSupPr>
                      <m:e>
                        <m:r>
                          <a:rPr lang="en-US">
                            <a:latin typeface="Cambria Math"/>
                          </a:rPr>
                          <m:t>𝛾</m:t>
                        </m:r>
                      </m:e>
                      <m:sub>
                        <m:r>
                          <a:rPr lang="en-US">
                            <a:latin typeface="Cambria Math"/>
                          </a:rPr>
                          <m:t>𝑘</m:t>
                        </m:r>
                      </m:sub>
                      <m:sup>
                        <m:r>
                          <a:rPr lang="en-US">
                            <a:latin typeface="Cambria Math"/>
                          </a:rPr>
                          <m:t>𝑖</m:t>
                        </m:r>
                      </m:sup>
                    </m:sSubSup>
                    <m:d>
                      <m:dPr>
                        <m:ctrlPr>
                          <a:rPr lang="en-US" i="1">
                            <a:latin typeface="Cambria Math" panose="02040503050406030204" pitchFamily="18" charset="0"/>
                          </a:rPr>
                        </m:ctrlPr>
                      </m:dPr>
                      <m:e>
                        <m:r>
                          <a:rPr lang="en-US">
                            <a:latin typeface="Cambria Math"/>
                          </a:rPr>
                          <m:t>𝑥</m:t>
                        </m:r>
                        <m:r>
                          <a:rPr lang="en-US">
                            <a:latin typeface="Cambria Math"/>
                          </a:rPr>
                          <m:t>,</m:t>
                        </m:r>
                        <m:r>
                          <a:rPr lang="en-US">
                            <a:latin typeface="Cambria Math"/>
                          </a:rPr>
                          <m:t>𝑦</m:t>
                        </m:r>
                      </m:e>
                    </m:d>
                    <m:r>
                      <a:rPr lang="en-US">
                        <a:latin typeface="Cambria Math"/>
                      </a:rPr>
                      <m:t>)⋅</m:t>
                    </m:r>
                    <m:sSub>
                      <m:sSubPr>
                        <m:ctrlPr>
                          <a:rPr lang="en-US" i="1">
                            <a:latin typeface="Cambria Math" panose="02040503050406030204" pitchFamily="18" charset="0"/>
                          </a:rPr>
                        </m:ctrlPr>
                      </m:sSubPr>
                      <m:e>
                        <m:r>
                          <a:rPr lang="en-US">
                            <a:latin typeface="Cambria Math"/>
                          </a:rPr>
                          <m:t>𝜀</m:t>
                        </m:r>
                      </m:e>
                      <m:sub>
                        <m:r>
                          <a:rPr lang="en-US">
                            <a:latin typeface="Cambria Math"/>
                          </a:rPr>
                          <m:t>𝑚𝑎𝑥</m:t>
                        </m:r>
                      </m:sub>
                    </m:sSub>
                  </m:oMath>
                </a14:m>
                <a:r>
                  <a:rPr lang="en-US" dirty="0">
                    <a:solidFill>
                      <a:srgbClr val="6E6E6E"/>
                    </a:solidFill>
                  </a:rPr>
                  <a:t> </a:t>
                </a:r>
              </a:p>
            </p:txBody>
          </p:sp>
        </mc:Choice>
        <mc:Fallback xmlns="">
          <p:sp>
            <p:nvSpPr>
              <p:cNvPr id="7" name="Equation 39"/>
              <p:cNvSpPr txBox="1">
                <a:spLocks noRot="1" noChangeAspect="1" noMove="1" noResize="1" noEditPoints="1" noAdjustHandles="1" noChangeArrowheads="1" noChangeShapeType="1" noTextEdit="1"/>
              </p:cNvSpPr>
              <p:nvPr/>
            </p:nvSpPr>
            <p:spPr>
              <a:xfrm>
                <a:off x="6809276" y="1887170"/>
                <a:ext cx="5074920" cy="281306"/>
              </a:xfrm>
              <a:prstGeom prst="rect">
                <a:avLst/>
              </a:prstGeom>
              <a:blipFill>
                <a:blip r:embed="rId6"/>
                <a:stretch>
                  <a:fillRect t="-6522" b="-36957"/>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8" name="Equation 40"/>
              <p:cNvSpPr txBox="1"/>
              <p:nvPr/>
            </p:nvSpPr>
            <p:spPr>
              <a:xfrm>
                <a:off x="6828136" y="6402666"/>
                <a:ext cx="5074920" cy="277505"/>
              </a:xfrm>
              <a:prstGeom prst="rect">
                <a:avLst/>
              </a:prstGeom>
              <a:noFill/>
            </p:spPr>
            <p:txBody>
              <a:bodyPr wrap="square" lIns="0" tIns="0" rIns="0" bIns="0" anchor="ctr">
                <a:noAutofit/>
              </a:bodyPr>
              <a:lstStyle/>
              <a:p>
                <a:pPr algn="ctr"/>
                <a14:m>
                  <m:oMathPara xmlns:m="http://schemas.openxmlformats.org/officeDocument/2006/math">
                    <m:oMathParaPr>
                      <m:jc m:val="centerGroup"/>
                    </m:oMathParaPr>
                    <m:oMath xmlns:m="http://schemas.openxmlformats.org/officeDocument/2006/math">
                      <m:sSubSup>
                        <m:sSubSupPr>
                          <m:ctrlPr>
                            <a:rPr lang="en-US" i="1">
                              <a:latin typeface="Cambria Math" panose="02040503050406030204" pitchFamily="18" charset="0"/>
                            </a:rPr>
                          </m:ctrlPr>
                        </m:sSubSupPr>
                        <m:e>
                          <m:r>
                            <a:rPr lang="en-US">
                              <a:latin typeface="Cambria Math"/>
                            </a:rPr>
                            <m:t>𝑧</m:t>
                          </m:r>
                        </m:e>
                        <m:sub>
                          <m:r>
                            <a:rPr lang="en-US">
                              <a:latin typeface="Cambria Math"/>
                            </a:rPr>
                            <m:t>𝑓</m:t>
                          </m:r>
                          <m:r>
                            <a:rPr lang="en-US">
                              <a:latin typeface="Cambria Math"/>
                            </a:rPr>
                            <m:t>,</m:t>
                          </m:r>
                          <m:r>
                            <a:rPr lang="en-US">
                              <a:latin typeface="Cambria Math"/>
                            </a:rPr>
                            <m:t>𝑘</m:t>
                          </m:r>
                        </m:sub>
                        <m:sup>
                          <m:r>
                            <a:rPr lang="en-US">
                              <a:latin typeface="Cambria Math"/>
                            </a:rPr>
                            <m:t>𝑖</m:t>
                          </m:r>
                        </m:sup>
                      </m:sSubSup>
                      <m:r>
                        <a:rPr lang="en-US">
                          <a:latin typeface="Cambria Math"/>
                        </a:rPr>
                        <m:t>=</m:t>
                      </m:r>
                      <m:sSub>
                        <m:sSubPr>
                          <m:ctrlPr>
                            <a:rPr lang="en-US" i="1">
                              <a:latin typeface="Cambria Math" panose="02040503050406030204" pitchFamily="18" charset="0"/>
                            </a:rPr>
                          </m:ctrlPr>
                        </m:sSubPr>
                        <m:e>
                          <m:r>
                            <a:rPr lang="en-US">
                              <a:latin typeface="Cambria Math"/>
                            </a:rPr>
                            <m:t>𝜉</m:t>
                          </m:r>
                        </m:e>
                        <m:sub>
                          <m:r>
                            <a:rPr lang="en-US">
                              <a:latin typeface="Cambria Math"/>
                            </a:rPr>
                            <m:t>𝑓</m:t>
                          </m:r>
                        </m:sub>
                      </m:sSub>
                      <m:d>
                        <m:dPr>
                          <m:ctrlPr>
                            <a:rPr lang="en-US" i="1">
                              <a:latin typeface="Cambria Math" panose="02040503050406030204" pitchFamily="18" charset="0"/>
                            </a:rPr>
                          </m:ctrlPr>
                        </m:dPr>
                        <m:e>
                          <m:sSubSup>
                            <m:sSubSupPr>
                              <m:ctrlPr>
                                <a:rPr lang="en-US" i="1">
                                  <a:latin typeface="Cambria Math" panose="02040503050406030204" pitchFamily="18" charset="0"/>
                                </a:rPr>
                              </m:ctrlPr>
                            </m:sSubSupPr>
                            <m:e>
                              <m:r>
                                <a:rPr lang="en-US">
                                  <a:latin typeface="Cambria Math"/>
                                </a:rPr>
                                <m:t>𝑂</m:t>
                              </m:r>
                            </m:e>
                            <m:sub>
                              <m:r>
                                <a:rPr lang="en-US">
                                  <a:latin typeface="Cambria Math"/>
                                </a:rPr>
                                <m:t>𝑘</m:t>
                              </m:r>
                            </m:sub>
                            <m:sup>
                              <m:r>
                                <a:rPr lang="en-US">
                                  <a:latin typeface="Cambria Math"/>
                                </a:rPr>
                                <m:t>𝑖</m:t>
                              </m:r>
                            </m:sup>
                          </m:sSubSup>
                        </m:e>
                      </m:d>
                      <m:r>
                        <a:rPr lang="en-US">
                          <a:latin typeface="Cambria Math"/>
                        </a:rPr>
                        <m:t>∈[0,1], </m:t>
                      </m:r>
                      <m:r>
                        <a:rPr lang="en-US">
                          <a:latin typeface="Cambria Math"/>
                        </a:rPr>
                        <m:t>𝑓</m:t>
                      </m:r>
                      <m:r>
                        <a:rPr lang="en-US">
                          <a:latin typeface="Cambria Math"/>
                        </a:rPr>
                        <m:t>=1,…,</m:t>
                      </m:r>
                      <m:sSub>
                        <m:sSubPr>
                          <m:ctrlPr>
                            <a:rPr lang="en-US" i="1">
                              <a:latin typeface="Cambria Math" panose="02040503050406030204" pitchFamily="18" charset="0"/>
                            </a:rPr>
                          </m:ctrlPr>
                        </m:sSubPr>
                        <m:e>
                          <m:r>
                            <a:rPr lang="en-US">
                              <a:latin typeface="Cambria Math"/>
                            </a:rPr>
                            <m:t>𝑁</m:t>
                          </m:r>
                        </m:e>
                        <m:sub>
                          <m:r>
                            <a:rPr lang="en-US">
                              <a:latin typeface="Cambria Math"/>
                            </a:rPr>
                            <m:t>𝑓𝑒𝑎𝑡𝑢𝑟𝑒</m:t>
                          </m:r>
                        </m:sub>
                      </m:sSub>
                    </m:oMath>
                  </m:oMathPara>
                </a14:m>
                <a:endParaRPr lang="en-US" dirty="0">
                  <a:solidFill>
                    <a:srgbClr val="6E6E6E"/>
                  </a:solidFill>
                </a:endParaRPr>
              </a:p>
            </p:txBody>
          </p:sp>
        </mc:Choice>
        <mc:Fallback xmlns="">
          <p:sp>
            <p:nvSpPr>
              <p:cNvPr id="8" name="Equation 40"/>
              <p:cNvSpPr txBox="1">
                <a:spLocks noRot="1" noChangeAspect="1" noMove="1" noResize="1" noEditPoints="1" noAdjustHandles="1" noChangeArrowheads="1" noChangeShapeType="1" noTextEdit="1"/>
              </p:cNvSpPr>
              <p:nvPr/>
            </p:nvSpPr>
            <p:spPr>
              <a:xfrm>
                <a:off x="6828136" y="6402666"/>
                <a:ext cx="5074920" cy="277505"/>
              </a:xfrm>
              <a:prstGeom prst="rect">
                <a:avLst/>
              </a:prstGeom>
              <a:blipFill>
                <a:blip r:embed="rId7"/>
                <a:stretch>
                  <a:fillRect t="-28261" b="-47826"/>
                </a:stretch>
              </a:blipFill>
            </p:spPr>
            <p:txBody>
              <a:bodyPr/>
              <a:lstStyle/>
              <a:p>
                <a:r>
                  <a:rPr lang="tr-TR">
                    <a:noFill/>
                  </a:rPr>
                  <a:t> </a:t>
                </a:r>
              </a:p>
            </p:txBody>
          </p:sp>
        </mc:Fallback>
      </mc:AlternateContent>
      <p:pic>
        <p:nvPicPr>
          <p:cNvPr id="10" name="Image 5" descr="/tmp/thx/deck/figs/metu_emblem.png"/>
          <p:cNvPicPr>
            <a:picLocks noChangeAspect="1"/>
          </p:cNvPicPr>
          <p:nvPr/>
        </p:nvPicPr>
        <p:blipFill>
          <a:blip r:embed="rId8"/>
          <a:stretch>
            <a:fillRect/>
          </a:stretch>
        </p:blipFill>
        <p:spPr>
          <a:xfrm>
            <a:off x="10716768" y="184607"/>
            <a:ext cx="475488" cy="398882"/>
          </a:xfrm>
          <a:prstGeom prst="rect">
            <a:avLst/>
          </a:prstGeom>
        </p:spPr>
      </p:pic>
      <p:pic>
        <p:nvPicPr>
          <p:cNvPr id="11" name="Image 6" descr="/tmp/thx/deck/figs/eee_logo.png"/>
          <p:cNvPicPr>
            <a:picLocks noChangeAspect="1"/>
          </p:cNvPicPr>
          <p:nvPr/>
        </p:nvPicPr>
        <p:blipFill>
          <a:blip r:embed="rId9"/>
          <a:stretch>
            <a:fillRect/>
          </a:stretch>
        </p:blipFill>
        <p:spPr>
          <a:xfrm>
            <a:off x="11265408" y="186217"/>
            <a:ext cx="475488" cy="395662"/>
          </a:xfrm>
          <a:prstGeom prst="rect">
            <a:avLst/>
          </a:prstGeom>
        </p:spPr>
      </p:pic>
      <p:graphicFrame>
        <p:nvGraphicFramePr>
          <p:cNvPr id="12" name="Table 11">
            <a:extLst>
              <a:ext uri="{FF2B5EF4-FFF2-40B4-BE49-F238E27FC236}">
                <a16:creationId xmlns:a16="http://schemas.microsoft.com/office/drawing/2014/main" id="{AF9F2C5D-3696-4119-BFED-DD418ACD02E6}"/>
              </a:ext>
            </a:extLst>
          </p:cNvPr>
          <p:cNvGraphicFramePr>
            <a:graphicFrameLocks noGrp="1"/>
          </p:cNvGraphicFramePr>
          <p:nvPr>
            <p:extLst>
              <p:ext uri="{D42A27DB-BD31-4B8C-83A1-F6EECF244321}">
                <p14:modId xmlns:p14="http://schemas.microsoft.com/office/powerpoint/2010/main" val="998628141"/>
              </p:ext>
            </p:extLst>
          </p:nvPr>
        </p:nvGraphicFramePr>
        <p:xfrm>
          <a:off x="7520076" y="4427103"/>
          <a:ext cx="3653320" cy="1837566"/>
        </p:xfrm>
        <a:graphic>
          <a:graphicData uri="http://schemas.openxmlformats.org/drawingml/2006/table">
            <a:tbl>
              <a:tblPr firstRow="1" bandRow="1">
                <a:tableStyleId>{93296810-A885-4BE3-A3E7-6D5BEEA58F35}</a:tableStyleId>
              </a:tblPr>
              <a:tblGrid>
                <a:gridCol w="3653320">
                  <a:extLst>
                    <a:ext uri="{9D8B030D-6E8A-4147-A177-3AD203B41FA5}">
                      <a16:colId xmlns:a16="http://schemas.microsoft.com/office/drawing/2014/main" val="408930425"/>
                    </a:ext>
                  </a:extLst>
                </a:gridCol>
              </a:tblGrid>
              <a:tr h="0">
                <a:tc>
                  <a:txBody>
                    <a:bodyPr/>
                    <a:lstStyle/>
                    <a:p>
                      <a:pPr algn="just">
                        <a:lnSpc>
                          <a:spcPct val="150000"/>
                        </a:lnSpc>
                      </a:pPr>
                      <a:r>
                        <a:rPr lang="en-US" sz="1500" dirty="0">
                          <a:effectLst/>
                        </a:rPr>
                        <a:t>Operational question</a:t>
                      </a:r>
                      <a:endParaRPr lang="tr-TR" sz="15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563646761"/>
                  </a:ext>
                </a:extLst>
              </a:tr>
              <a:tr h="0">
                <a:tc>
                  <a:txBody>
                    <a:bodyPr/>
                    <a:lstStyle/>
                    <a:p>
                      <a:pPr algn="just">
                        <a:lnSpc>
                          <a:spcPct val="150000"/>
                        </a:lnSpc>
                      </a:pPr>
                      <a:r>
                        <a:rPr lang="en-US" sz="1500" dirty="0">
                          <a:effectLst/>
                        </a:rPr>
                        <a:t>How severe is the threat here?</a:t>
                      </a:r>
                      <a:endParaRPr lang="tr-TR" sz="15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965055568"/>
                  </a:ext>
                </a:extLst>
              </a:tr>
              <a:tr h="0">
                <a:tc>
                  <a:txBody>
                    <a:bodyPr/>
                    <a:lstStyle/>
                    <a:p>
                      <a:pPr algn="just">
                        <a:lnSpc>
                          <a:spcPct val="150000"/>
                        </a:lnSpc>
                      </a:pPr>
                      <a:r>
                        <a:rPr lang="en-US" sz="1500">
                          <a:effectLst/>
                        </a:rPr>
                        <a:t>Can we intervene here?</a:t>
                      </a:r>
                      <a:endParaRPr lang="tr-TR" sz="15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164981675"/>
                  </a:ext>
                </a:extLst>
              </a:tr>
              <a:tr h="0">
                <a:tc>
                  <a:txBody>
                    <a:bodyPr/>
                    <a:lstStyle/>
                    <a:p>
                      <a:pPr algn="just">
                        <a:lnSpc>
                          <a:spcPct val="150000"/>
                        </a:lnSpc>
                      </a:pPr>
                      <a:r>
                        <a:rPr lang="en-US" sz="1500">
                          <a:effectLst/>
                        </a:rPr>
                        <a:t>How exposed are the assets?</a:t>
                      </a:r>
                      <a:endParaRPr lang="tr-TR" sz="15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606404420"/>
                  </a:ext>
                </a:extLst>
              </a:tr>
              <a:tr h="0">
                <a:tc>
                  <a:txBody>
                    <a:bodyPr/>
                    <a:lstStyle/>
                    <a:p>
                      <a:pPr algn="just">
                        <a:lnSpc>
                          <a:spcPct val="150000"/>
                        </a:lnSpc>
                      </a:pPr>
                      <a:r>
                        <a:rPr lang="en-US" sz="1500">
                          <a:effectLst/>
                        </a:rPr>
                        <a:t>How urgent is action?</a:t>
                      </a:r>
                      <a:endParaRPr lang="tr-TR" sz="15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634398677"/>
                  </a:ext>
                </a:extLst>
              </a:tr>
              <a:tr h="0">
                <a:tc>
                  <a:txBody>
                    <a:bodyPr/>
                    <a:lstStyle/>
                    <a:p>
                      <a:pPr algn="just">
                        <a:lnSpc>
                          <a:spcPct val="150000"/>
                        </a:lnSpc>
                      </a:pPr>
                      <a:r>
                        <a:rPr lang="en-US" sz="1500" dirty="0">
                          <a:effectLst/>
                        </a:rPr>
                        <a:t>Is evacuation pressure building?</a:t>
                      </a:r>
                      <a:endParaRPr lang="tr-TR" sz="15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55540589"/>
                  </a:ext>
                </a:extLst>
              </a:tr>
            </a:tbl>
          </a:graphicData>
        </a:graphic>
      </p:graphicFrame>
      <p:sp>
        <p:nvSpPr>
          <p:cNvPr id="14" name="Text 8">
            <a:extLst>
              <a:ext uri="{FF2B5EF4-FFF2-40B4-BE49-F238E27FC236}">
                <a16:creationId xmlns:a16="http://schemas.microsoft.com/office/drawing/2014/main" id="{DB4D2F51-B801-4DD4-B638-C3087B4AF175}"/>
              </a:ext>
            </a:extLst>
          </p:cNvPr>
          <p:cNvSpPr/>
          <p:nvPr/>
        </p:nvSpPr>
        <p:spPr>
          <a:xfrm>
            <a:off x="7520076" y="2930680"/>
            <a:ext cx="3672180" cy="1234440"/>
          </a:xfrm>
          <a:prstGeom prst="rect">
            <a:avLst/>
          </a:prstGeom>
          <a:noFill/>
          <a:ln/>
        </p:spPr>
        <p:txBody>
          <a:bodyPr wrap="square" lIns="0" tIns="0" rIns="0" bIns="0" rtlCol="0" anchor="t"/>
          <a:lstStyle/>
          <a:p>
            <a:pPr marL="152400" indent="-152400">
              <a:lnSpc>
                <a:spcPct val="102000"/>
              </a:lnSpc>
              <a:spcAft>
                <a:spcPts val="500"/>
              </a:spcAft>
              <a:buSzPct val="100000"/>
              <a:buChar char="•"/>
            </a:pPr>
            <a:r>
              <a:rPr lang="en-US" sz="1400" b="0" dirty="0">
                <a:solidFill>
                  <a:srgbClr val="222222"/>
                </a:solidFill>
                <a:latin typeface="Calibri" pitchFamily="34" charset="0"/>
                <a:ea typeface="Calibri" pitchFamily="34" charset="-122"/>
                <a:cs typeface="Calibri" pitchFamily="34" charset="-120"/>
              </a:rPr>
              <a:t>Observability — can it be sensed</a:t>
            </a:r>
            <a:endParaRPr lang="en-US" sz="1400" dirty="0"/>
          </a:p>
          <a:p>
            <a:pPr marL="152400" indent="-152400">
              <a:lnSpc>
                <a:spcPct val="102000"/>
              </a:lnSpc>
              <a:spcAft>
                <a:spcPts val="500"/>
              </a:spcAft>
              <a:buSzPct val="100000"/>
              <a:buChar char="•"/>
            </a:pPr>
            <a:r>
              <a:rPr lang="en-US" sz="1400" b="0" dirty="0">
                <a:solidFill>
                  <a:srgbClr val="222222"/>
                </a:solidFill>
                <a:latin typeface="Calibri" pitchFamily="34" charset="0"/>
                <a:ea typeface="Calibri" pitchFamily="34" charset="-122"/>
                <a:cs typeface="Calibri" pitchFamily="34" charset="-120"/>
              </a:rPr>
              <a:t>Coverage — how many assets see it</a:t>
            </a:r>
            <a:endParaRPr lang="en-US" sz="1400" dirty="0"/>
          </a:p>
          <a:p>
            <a:pPr marL="152400" indent="-152400">
              <a:lnSpc>
                <a:spcPct val="102000"/>
              </a:lnSpc>
              <a:spcAft>
                <a:spcPts val="500"/>
              </a:spcAft>
              <a:buSzPct val="100000"/>
              <a:buChar char="•"/>
            </a:pPr>
            <a:r>
              <a:rPr lang="en-US" sz="1400" b="0" dirty="0">
                <a:solidFill>
                  <a:srgbClr val="222222"/>
                </a:solidFill>
                <a:latin typeface="Calibri" pitchFamily="34" charset="0"/>
                <a:ea typeface="Calibri" pitchFamily="34" charset="-122"/>
                <a:cs typeface="Calibri" pitchFamily="34" charset="-120"/>
              </a:rPr>
              <a:t>Freshness — </a:t>
            </a:r>
            <a:r>
              <a:rPr lang="tr-TR" sz="1400" b="0" dirty="0">
                <a:solidFill>
                  <a:srgbClr val="222222"/>
                </a:solidFill>
                <a:latin typeface="Calibri" pitchFamily="34" charset="0"/>
                <a:ea typeface="Calibri" pitchFamily="34" charset="-122"/>
                <a:cs typeface="Calibri" pitchFamily="34" charset="-120"/>
              </a:rPr>
              <a:t>T</a:t>
            </a:r>
            <a:r>
              <a:rPr lang="en-US" sz="1400" b="0" dirty="0">
                <a:solidFill>
                  <a:srgbClr val="222222"/>
                </a:solidFill>
                <a:latin typeface="Calibri" pitchFamily="34" charset="0"/>
                <a:ea typeface="Calibri" pitchFamily="34" charset="-122"/>
                <a:cs typeface="Calibri" pitchFamily="34" charset="-120"/>
              </a:rPr>
              <a:t>-minute half-life</a:t>
            </a:r>
            <a:endParaRPr lang="en-US" sz="1400" dirty="0"/>
          </a:p>
          <a:p>
            <a:pPr marL="152400" indent="-152400">
              <a:lnSpc>
                <a:spcPct val="102000"/>
              </a:lnSpc>
              <a:spcAft>
                <a:spcPts val="500"/>
              </a:spcAft>
              <a:buSzPct val="100000"/>
              <a:buChar char="•"/>
            </a:pPr>
            <a:r>
              <a:rPr lang="en-US" sz="1400" b="0" dirty="0">
                <a:solidFill>
                  <a:srgbClr val="222222"/>
                </a:solidFill>
                <a:latin typeface="Calibri" pitchFamily="34" charset="0"/>
                <a:ea typeface="Calibri" pitchFamily="34" charset="-122"/>
                <a:cs typeface="Calibri" pitchFamily="34" charset="-120"/>
              </a:rPr>
              <a:t>Reliability — source accuracy</a:t>
            </a:r>
            <a:endParaRPr lang="en-US" sz="14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56032"/>
            <a:ext cx="91440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DSS FRAMEWORK</a:t>
            </a:r>
            <a:endParaRPr lang="en-US" sz="1300" dirty="0"/>
          </a:p>
        </p:txBody>
      </p:sp>
      <p:sp>
        <p:nvSpPr>
          <p:cNvPr id="3" name="Text 1"/>
          <p:cNvSpPr/>
          <p:nvPr/>
        </p:nvSpPr>
        <p:spPr>
          <a:xfrm>
            <a:off x="502920" y="512064"/>
            <a:ext cx="11247120" cy="731520"/>
          </a:xfrm>
          <a:prstGeom prst="rect">
            <a:avLst/>
          </a:prstGeom>
          <a:noFill/>
          <a:ln/>
        </p:spPr>
        <p:txBody>
          <a:bodyPr wrap="square" lIns="0" tIns="0" rIns="0" bIns="0" rtlCol="0" anchor="ctr"/>
          <a:lstStyle/>
          <a:p>
            <a:pPr marL="0" indent="0">
              <a:buNone/>
            </a:pPr>
            <a:r>
              <a:rPr lang="en-US" sz="2900" b="1" dirty="0">
                <a:solidFill>
                  <a:srgbClr val="000000"/>
                </a:solidFill>
                <a:latin typeface="Cambria" pitchFamily="34" charset="0"/>
                <a:ea typeface="Cambria" pitchFamily="34" charset="-122"/>
                <a:cs typeface="Cambria" pitchFamily="34" charset="-120"/>
              </a:rPr>
              <a:t>One Agent, Four Layers, One Loop</a:t>
            </a:r>
            <a:endParaRPr lang="en-US" sz="2900" dirty="0"/>
          </a:p>
        </p:txBody>
      </p:sp>
      <p:pic>
        <p:nvPicPr>
          <p:cNvPr id="4" name="Image 0" descr="/tmp/thx/deck/figs/Figure4_1.png"/>
          <p:cNvPicPr>
            <a:picLocks noChangeAspect="1"/>
          </p:cNvPicPr>
          <p:nvPr/>
        </p:nvPicPr>
        <p:blipFill>
          <a:blip r:embed="rId3"/>
          <a:stretch>
            <a:fillRect/>
          </a:stretch>
        </p:blipFill>
        <p:spPr>
          <a:xfrm>
            <a:off x="1695072" y="1371600"/>
            <a:ext cx="3102096" cy="5212080"/>
          </a:xfrm>
          <a:prstGeom prst="rect">
            <a:avLst/>
          </a:prstGeom>
        </p:spPr>
      </p:pic>
      <p:sp>
        <p:nvSpPr>
          <p:cNvPr id="5" name="Text 2"/>
          <p:cNvSpPr/>
          <p:nvPr/>
        </p:nvSpPr>
        <p:spPr>
          <a:xfrm>
            <a:off x="6263640" y="1737360"/>
            <a:ext cx="5486400" cy="4572000"/>
          </a:xfrm>
          <a:prstGeom prst="rect">
            <a:avLst/>
          </a:prstGeom>
          <a:noFill/>
          <a:ln/>
        </p:spPr>
        <p:txBody>
          <a:bodyPr wrap="square" lIns="0" tIns="0" rIns="0" bIns="0" rtlCol="0" anchor="t"/>
          <a:lstStyle/>
          <a:p>
            <a:pPr marL="152400" indent="-152400">
              <a:lnSpc>
                <a:spcPct val="105000"/>
              </a:lnSpc>
              <a:spcAft>
                <a:spcPts val="1000"/>
              </a:spcAft>
              <a:buSzPct val="100000"/>
              <a:buChar char="•"/>
            </a:pPr>
            <a:r>
              <a:rPr lang="en-US" sz="1900">
                <a:solidFill>
                  <a:srgbClr val="222222"/>
                </a:solidFill>
                <a:latin typeface="Calibri" pitchFamily="34" charset="0"/>
                <a:ea typeface="Calibri" pitchFamily="34" charset="-122"/>
                <a:cs typeface="Calibri" pitchFamily="34" charset="-120"/>
              </a:rPr>
              <a:t>Layer 1 · Input space — spatio-temporal measurements</a:t>
            </a:r>
            <a:endParaRPr lang="en-US" sz="1900" dirty="0"/>
          </a:p>
          <a:p>
            <a:pPr marL="152400" indent="-152400">
              <a:lnSpc>
                <a:spcPct val="105000"/>
              </a:lnSpc>
              <a:spcAft>
                <a:spcPts val="1000"/>
              </a:spcAft>
              <a:buSzPct val="100000"/>
              <a:buChar char="•"/>
            </a:pPr>
            <a:r>
              <a:rPr lang="en-US" sz="1900">
                <a:solidFill>
                  <a:srgbClr val="222222"/>
                </a:solidFill>
                <a:latin typeface="Calibri" pitchFamily="34" charset="0"/>
                <a:ea typeface="Calibri" pitchFamily="34" charset="-122"/>
                <a:cs typeface="Calibri" pitchFamily="34" charset="-120"/>
              </a:rPr>
              <a:t>Layer 2 · Perception — features with confidence</a:t>
            </a:r>
            <a:endParaRPr lang="en-US" sz="1900" dirty="0"/>
          </a:p>
          <a:p>
            <a:pPr marL="152400" indent="-152400">
              <a:lnSpc>
                <a:spcPct val="105000"/>
              </a:lnSpc>
              <a:spcAft>
                <a:spcPts val="1000"/>
              </a:spcAft>
              <a:buSzPct val="100000"/>
              <a:buChar char="•"/>
            </a:pPr>
            <a:r>
              <a:rPr lang="en-US" sz="1900">
                <a:solidFill>
                  <a:srgbClr val="222222"/>
                </a:solidFill>
                <a:highlight>
                  <a:srgbClr val="C0C0C0"/>
                </a:highlight>
                <a:latin typeface="Calibri" pitchFamily="34" charset="0"/>
                <a:ea typeface="Calibri" pitchFamily="34" charset="-122"/>
                <a:cs typeface="Calibri" pitchFamily="34" charset="-120"/>
              </a:rPr>
              <a:t>Layer 3 · Concept space — five decision concepts</a:t>
            </a:r>
            <a:endParaRPr lang="en-US" sz="1900" dirty="0">
              <a:highlight>
                <a:srgbClr val="C0C0C0"/>
              </a:highlight>
            </a:endParaRPr>
          </a:p>
          <a:p>
            <a:pPr marL="152400" indent="-152400">
              <a:lnSpc>
                <a:spcPct val="105000"/>
              </a:lnSpc>
              <a:spcAft>
                <a:spcPts val="1000"/>
              </a:spcAft>
              <a:buSzPct val="100000"/>
              <a:buChar char="•"/>
            </a:pPr>
            <a:r>
              <a:rPr lang="en-US" sz="1900">
                <a:solidFill>
                  <a:srgbClr val="222222"/>
                </a:solidFill>
                <a:latin typeface="Calibri" pitchFamily="34" charset="0"/>
                <a:ea typeface="Calibri" pitchFamily="34" charset="-122"/>
                <a:cs typeface="Calibri" pitchFamily="34" charset="-120"/>
              </a:rPr>
              <a:t>Layer 4 · Decision space — rules, tests, adaptation, fail-safe</a:t>
            </a:r>
            <a:endParaRPr lang="en-US" sz="1900" dirty="0"/>
          </a:p>
          <a:p>
            <a:pPr marL="152400" indent="-152400">
              <a:lnSpc>
                <a:spcPct val="105000"/>
              </a:lnSpc>
              <a:spcAft>
                <a:spcPts val="1000"/>
              </a:spcAft>
              <a:buSzPct val="100000"/>
              <a:buChar char="•"/>
            </a:pPr>
            <a:r>
              <a:rPr lang="en-US" sz="1900" b="1">
                <a:solidFill>
                  <a:srgbClr val="222222"/>
                </a:solidFill>
                <a:latin typeface="Calibri" pitchFamily="34" charset="0"/>
                <a:ea typeface="Calibri" pitchFamily="34" charset="-122"/>
                <a:cs typeface="Calibri" pitchFamily="34" charset="-120"/>
              </a:rPr>
              <a:t>N agents in parallel; a Global DSS only ranks &amp; allocates</a:t>
            </a:r>
            <a:endParaRPr lang="en-US" sz="1900" dirty="0"/>
          </a:p>
        </p:txBody>
      </p:sp>
      <p:pic>
        <p:nvPicPr>
          <p:cNvPr id="6" name="Image 1" descr="/tmp/thx/deck/figs/metu_emblem.png"/>
          <p:cNvPicPr>
            <a:picLocks noChangeAspect="1"/>
          </p:cNvPicPr>
          <p:nvPr/>
        </p:nvPicPr>
        <p:blipFill>
          <a:blip r:embed="rId4"/>
          <a:stretch>
            <a:fillRect/>
          </a:stretch>
        </p:blipFill>
        <p:spPr>
          <a:xfrm>
            <a:off x="10716768" y="184607"/>
            <a:ext cx="475488" cy="398882"/>
          </a:xfrm>
          <a:prstGeom prst="rect">
            <a:avLst/>
          </a:prstGeom>
        </p:spPr>
      </p:pic>
      <p:pic>
        <p:nvPicPr>
          <p:cNvPr id="7" name="Image 2" descr="/tmp/thx/deck/figs/eee_logo.png"/>
          <p:cNvPicPr>
            <a:picLocks noChangeAspect="1"/>
          </p:cNvPicPr>
          <p:nvPr/>
        </p:nvPicPr>
        <p:blipFill>
          <a:blip r:embed="rId5"/>
          <a:stretch>
            <a:fillRect/>
          </a:stretch>
        </p:blipFill>
        <p:spPr>
          <a:xfrm>
            <a:off x="11265408" y="186217"/>
            <a:ext cx="475488" cy="395662"/>
          </a:xfrm>
          <a:prstGeom prst="rect">
            <a:avLst/>
          </a:prstGeom>
        </p:spPr>
      </p:pic>
    </p:spTree>
    <p:extLst>
      <p:ext uri="{BB962C8B-B14F-4D97-AF65-F5344CB8AC3E}">
        <p14:creationId xmlns:p14="http://schemas.microsoft.com/office/powerpoint/2010/main" val="10514666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56032"/>
            <a:ext cx="91440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DSS FRAMEWORK : LAYER 3 OF 4</a:t>
            </a:r>
            <a:endParaRPr lang="en-US" sz="1300" dirty="0"/>
          </a:p>
        </p:txBody>
      </p:sp>
      <p:sp>
        <p:nvSpPr>
          <p:cNvPr id="3" name="Text 1"/>
          <p:cNvSpPr/>
          <p:nvPr/>
        </p:nvSpPr>
        <p:spPr>
          <a:xfrm>
            <a:off x="502920" y="512064"/>
            <a:ext cx="11247120" cy="731520"/>
          </a:xfrm>
          <a:prstGeom prst="rect">
            <a:avLst/>
          </a:prstGeom>
          <a:noFill/>
          <a:ln/>
        </p:spPr>
        <p:txBody>
          <a:bodyPr wrap="square" lIns="0" tIns="0" rIns="0" bIns="0" rtlCol="0" anchor="ctr"/>
          <a:lstStyle/>
          <a:p>
            <a:pPr marL="0" indent="0">
              <a:buNone/>
            </a:pPr>
            <a:r>
              <a:rPr lang="en-US" sz="2900" b="1" dirty="0">
                <a:solidFill>
                  <a:srgbClr val="000000"/>
                </a:solidFill>
                <a:latin typeface="Cambria" pitchFamily="34" charset="0"/>
                <a:ea typeface="Cambria" pitchFamily="34" charset="-122"/>
                <a:cs typeface="Cambria" pitchFamily="34" charset="-120"/>
              </a:rPr>
              <a:t>Layer 3 : Concept Space: Killing the Rule Explosion</a:t>
            </a:r>
            <a:endParaRPr lang="en-US" sz="2900" dirty="0"/>
          </a:p>
        </p:txBody>
      </p:sp>
      <mc:AlternateContent xmlns:mc="http://schemas.openxmlformats.org/markup-compatibility/2006" xmlns:a14="http://schemas.microsoft.com/office/drawing/2010/main">
        <mc:Choice Requires="a14">
          <p:sp>
            <p:nvSpPr>
              <p:cNvPr id="5" name="Text 2"/>
              <p:cNvSpPr/>
              <p:nvPr/>
            </p:nvSpPr>
            <p:spPr>
              <a:xfrm>
                <a:off x="6949440" y="1554480"/>
                <a:ext cx="2377440" cy="777240"/>
              </a:xfrm>
              <a:prstGeom prst="rect">
                <a:avLst/>
              </a:prstGeom>
              <a:noFill/>
              <a:ln/>
            </p:spPr>
            <p:txBody>
              <a:bodyPr wrap="square" lIns="0" tIns="0" rIns="0" bIns="0" rtlCol="0" anchor="ctr"/>
              <a:lstStyle/>
              <a:p>
                <a:pPr marL="0" indent="0" algn="ctr">
                  <a:buNone/>
                </a:pPr>
                <a14:m>
                  <m:oMathPara xmlns:m="http://schemas.openxmlformats.org/officeDocument/2006/math">
                    <m:oMathParaPr>
                      <m:jc m:val="centerGroup"/>
                    </m:oMathParaPr>
                    <m:oMath xmlns:m="http://schemas.openxmlformats.org/officeDocument/2006/math">
                      <m:sSup>
                        <m:sSupPr>
                          <m:ctrlPr>
                            <a:rPr lang="en-US" sz="2800" b="1" i="1" dirty="0" smtClean="0">
                              <a:solidFill>
                                <a:srgbClr val="6E6E6E"/>
                              </a:solidFill>
                              <a:latin typeface="Cambria Math" panose="02040503050406030204" pitchFamily="18" charset="0"/>
                              <a:ea typeface="Cambria" pitchFamily="34" charset="-122"/>
                              <a:cs typeface="Cambria" pitchFamily="34" charset="-120"/>
                            </a:rPr>
                          </m:ctrlPr>
                        </m:sSupPr>
                        <m:e>
                          <m:r>
                            <a:rPr lang="en-US" sz="2800" b="1" i="1" dirty="0" smtClean="0">
                              <a:solidFill>
                                <a:srgbClr val="6E6E6E"/>
                              </a:solidFill>
                              <a:latin typeface="Cambria Math" panose="02040503050406030204" pitchFamily="18" charset="0"/>
                              <a:ea typeface="Cambria" pitchFamily="34" charset="-122"/>
                              <a:cs typeface="Cambria" pitchFamily="34" charset="-120"/>
                            </a:rPr>
                            <m:t>𝟓</m:t>
                          </m:r>
                        </m:e>
                        <m:sup>
                          <m:r>
                            <a:rPr lang="en-US" sz="2800" b="1" i="1" dirty="0" smtClean="0">
                              <a:solidFill>
                                <a:srgbClr val="6E6E6E"/>
                              </a:solidFill>
                              <a:latin typeface="Cambria Math" panose="02040503050406030204" pitchFamily="18" charset="0"/>
                              <a:ea typeface="Cambria" pitchFamily="34" charset="-122"/>
                              <a:cs typeface="Cambria" pitchFamily="34" charset="-120"/>
                            </a:rPr>
                            <m:t>𝟏𝟎</m:t>
                          </m:r>
                        </m:sup>
                      </m:sSup>
                      <m:r>
                        <a:rPr lang="en-US" sz="2800" b="1" i="1" dirty="0" smtClean="0">
                          <a:solidFill>
                            <a:srgbClr val="6E6E6E"/>
                          </a:solidFill>
                          <a:latin typeface="Cambria Math" panose="02040503050406030204" pitchFamily="18" charset="0"/>
                          <a:ea typeface="Cambria" pitchFamily="34" charset="-122"/>
                          <a:cs typeface="Cambria" pitchFamily="34" charset="-120"/>
                        </a:rPr>
                        <m:t> = </m:t>
                      </m:r>
                      <m:r>
                        <a:rPr lang="en-US" sz="2800" b="1" i="1" dirty="0" smtClean="0">
                          <a:solidFill>
                            <a:srgbClr val="6E6E6E"/>
                          </a:solidFill>
                          <a:latin typeface="Cambria Math" panose="02040503050406030204" pitchFamily="18" charset="0"/>
                          <a:ea typeface="Cambria" pitchFamily="34" charset="-122"/>
                          <a:cs typeface="Cambria" pitchFamily="34" charset="-120"/>
                        </a:rPr>
                        <m:t>𝟗</m:t>
                      </m:r>
                      <m:r>
                        <a:rPr lang="en-US" sz="2800" b="1" i="1" dirty="0" smtClean="0">
                          <a:solidFill>
                            <a:srgbClr val="6E6E6E"/>
                          </a:solidFill>
                          <a:latin typeface="Cambria Math" panose="02040503050406030204" pitchFamily="18" charset="0"/>
                          <a:ea typeface="Cambria" pitchFamily="34" charset="-122"/>
                          <a:cs typeface="Cambria" pitchFamily="34" charset="-120"/>
                        </a:rPr>
                        <m:t>.</m:t>
                      </m:r>
                      <m:r>
                        <a:rPr lang="en-US" sz="2800" b="1" i="1" dirty="0" smtClean="0">
                          <a:solidFill>
                            <a:srgbClr val="6E6E6E"/>
                          </a:solidFill>
                          <a:latin typeface="Cambria Math" panose="02040503050406030204" pitchFamily="18" charset="0"/>
                          <a:ea typeface="Cambria" pitchFamily="34" charset="-122"/>
                          <a:cs typeface="Cambria" pitchFamily="34" charset="-120"/>
                        </a:rPr>
                        <m:t>𝟖</m:t>
                      </m:r>
                      <m:r>
                        <a:rPr lang="en-US" sz="2800" b="1" i="1" dirty="0" smtClean="0">
                          <a:solidFill>
                            <a:srgbClr val="6E6E6E"/>
                          </a:solidFill>
                          <a:latin typeface="Cambria Math" panose="02040503050406030204" pitchFamily="18" charset="0"/>
                          <a:ea typeface="Cambria" pitchFamily="34" charset="-122"/>
                          <a:cs typeface="Cambria" pitchFamily="34" charset="-120"/>
                        </a:rPr>
                        <m:t> </m:t>
                      </m:r>
                      <m:r>
                        <a:rPr lang="en-US" sz="2800" b="1" i="1" dirty="0">
                          <a:solidFill>
                            <a:srgbClr val="6E6E6E"/>
                          </a:solidFill>
                          <a:latin typeface="Cambria Math" panose="02040503050406030204" pitchFamily="18" charset="0"/>
                          <a:ea typeface="Cambria" pitchFamily="34" charset="-122"/>
                          <a:cs typeface="Cambria" pitchFamily="34" charset="-120"/>
                        </a:rPr>
                        <m:t>𝑴</m:t>
                      </m:r>
                    </m:oMath>
                  </m:oMathPara>
                </a14:m>
                <a:endParaRPr lang="en-US" sz="2800" dirty="0"/>
              </a:p>
            </p:txBody>
          </p:sp>
        </mc:Choice>
        <mc:Fallback xmlns="">
          <p:sp>
            <p:nvSpPr>
              <p:cNvPr id="5" name="Text 2"/>
              <p:cNvSpPr>
                <a:spLocks noRot="1" noChangeAspect="1" noMove="1" noResize="1" noEditPoints="1" noAdjustHandles="1" noChangeArrowheads="1" noChangeShapeType="1" noTextEdit="1"/>
              </p:cNvSpPr>
              <p:nvPr/>
            </p:nvSpPr>
            <p:spPr>
              <a:xfrm>
                <a:off x="6949440" y="1554480"/>
                <a:ext cx="2377440" cy="777240"/>
              </a:xfrm>
              <a:prstGeom prst="rect">
                <a:avLst/>
              </a:prstGeom>
              <a:blipFill>
                <a:blip r:embed="rId3"/>
                <a:stretch>
                  <a:fillRect/>
                </a:stretch>
              </a:blipFill>
              <a:ln/>
            </p:spPr>
            <p:txBody>
              <a:bodyPr/>
              <a:lstStyle/>
              <a:p>
                <a:r>
                  <a:rPr lang="tr-TR">
                    <a:noFill/>
                  </a:rPr>
                  <a:t/>
                </a:r>
              </a:p>
            </p:txBody>
          </p:sp>
        </mc:Fallback>
      </mc:AlternateContent>
      <p:sp>
        <p:nvSpPr>
          <p:cNvPr id="6" name="Text 3"/>
          <p:cNvSpPr/>
          <p:nvPr/>
        </p:nvSpPr>
        <p:spPr>
          <a:xfrm>
            <a:off x="6949440" y="2331720"/>
            <a:ext cx="2377440" cy="594360"/>
          </a:xfrm>
          <a:prstGeom prst="rect">
            <a:avLst/>
          </a:prstGeom>
          <a:noFill/>
          <a:ln/>
        </p:spPr>
        <p:txBody>
          <a:bodyPr wrap="square" lIns="0" tIns="0" rIns="0" bIns="0" rtlCol="0" anchor="ctr"/>
          <a:lstStyle/>
          <a:p>
            <a:pPr marL="0" indent="0" algn="ctr">
              <a:buNone/>
            </a:pPr>
            <a:r>
              <a:rPr lang="en-US" sz="1500">
                <a:solidFill>
                  <a:srgbClr val="222222"/>
                </a:solidFill>
                <a:latin typeface="Calibri" pitchFamily="34" charset="0"/>
                <a:ea typeface="Calibri" pitchFamily="34" charset="-122"/>
                <a:cs typeface="Calibri" pitchFamily="34" charset="-120"/>
              </a:rPr>
              <a:t>flat rules: 10 features × 5 terms</a:t>
            </a:r>
            <a:endParaRPr lang="en-US" sz="1500" dirty="0"/>
          </a:p>
        </p:txBody>
      </p:sp>
      <mc:AlternateContent xmlns:mc="http://schemas.openxmlformats.org/markup-compatibility/2006" xmlns:a14="http://schemas.microsoft.com/office/drawing/2010/main">
        <mc:Choice Requires="a14">
          <p:sp>
            <p:nvSpPr>
              <p:cNvPr id="7" name="Text 4"/>
              <p:cNvSpPr/>
              <p:nvPr/>
            </p:nvSpPr>
            <p:spPr>
              <a:xfrm>
                <a:off x="9372600" y="1554480"/>
                <a:ext cx="2377440" cy="777240"/>
              </a:xfrm>
              <a:prstGeom prst="rect">
                <a:avLst/>
              </a:prstGeom>
              <a:noFill/>
              <a:ln/>
            </p:spPr>
            <p:txBody>
              <a:bodyPr wrap="square" lIns="0" tIns="0" rIns="0" bIns="0" rtlCol="0" anchor="ctr"/>
              <a:lstStyle/>
              <a:p>
                <a:pPr marL="0" indent="0" algn="ctr">
                  <a:buNone/>
                </a:pPr>
                <a14:m>
                  <m:oMathPara xmlns:m="http://schemas.openxmlformats.org/officeDocument/2006/math">
                    <m:oMathParaPr>
                      <m:jc m:val="centerGroup"/>
                    </m:oMathParaPr>
                    <m:oMath xmlns:m="http://schemas.openxmlformats.org/officeDocument/2006/math">
                      <m:sSup>
                        <m:sSupPr>
                          <m:ctrlPr>
                            <a:rPr lang="en-US" sz="3200" b="1" i="1" dirty="0" smtClean="0">
                              <a:solidFill>
                                <a:srgbClr val="E31836"/>
                              </a:solidFill>
                              <a:latin typeface="Cambria Math" panose="02040503050406030204" pitchFamily="18" charset="0"/>
                              <a:ea typeface="Cambria" pitchFamily="34" charset="-122"/>
                              <a:cs typeface="Cambria" pitchFamily="34" charset="-120"/>
                            </a:rPr>
                          </m:ctrlPr>
                        </m:sSupPr>
                        <m:e>
                          <m:r>
                            <a:rPr lang="en-US" sz="3200" b="1" i="1" dirty="0" smtClean="0">
                              <a:solidFill>
                                <a:srgbClr val="E31836"/>
                              </a:solidFill>
                              <a:latin typeface="Cambria Math" panose="02040503050406030204" pitchFamily="18" charset="0"/>
                              <a:ea typeface="Cambria" pitchFamily="34" charset="-122"/>
                              <a:cs typeface="Cambria" pitchFamily="34" charset="-120"/>
                            </a:rPr>
                            <m:t>𝟓</m:t>
                          </m:r>
                        </m:e>
                        <m:sup>
                          <m:r>
                            <a:rPr lang="en-US" sz="3200" b="1" i="1" dirty="0" smtClean="0">
                              <a:solidFill>
                                <a:srgbClr val="E31836"/>
                              </a:solidFill>
                              <a:latin typeface="Cambria Math" panose="02040503050406030204" pitchFamily="18" charset="0"/>
                              <a:ea typeface="Cambria" pitchFamily="34" charset="-122"/>
                              <a:cs typeface="Cambria" pitchFamily="34" charset="-120"/>
                            </a:rPr>
                            <m:t>𝟓</m:t>
                          </m:r>
                        </m:sup>
                      </m:sSup>
                      <m:r>
                        <a:rPr lang="en-US" sz="3200" b="1" i="1" dirty="0" smtClean="0">
                          <a:solidFill>
                            <a:srgbClr val="E31836"/>
                          </a:solidFill>
                          <a:latin typeface="Cambria Math" panose="02040503050406030204" pitchFamily="18" charset="0"/>
                          <a:ea typeface="Cambria" pitchFamily="34" charset="-122"/>
                          <a:cs typeface="Cambria" pitchFamily="34" charset="-120"/>
                        </a:rPr>
                        <m:t>=</m:t>
                      </m:r>
                      <m:r>
                        <a:rPr lang="en-US" sz="3200" b="1" i="1" dirty="0" smtClean="0">
                          <a:solidFill>
                            <a:srgbClr val="E31836"/>
                          </a:solidFill>
                          <a:latin typeface="Cambria Math" panose="02040503050406030204" pitchFamily="18" charset="0"/>
                          <a:ea typeface="Cambria" pitchFamily="34" charset="-122"/>
                          <a:cs typeface="Cambria" pitchFamily="34" charset="-120"/>
                        </a:rPr>
                        <m:t>𝟑</m:t>
                      </m:r>
                      <m:r>
                        <a:rPr lang="en-US" sz="3200" b="1" i="1" dirty="0" smtClean="0">
                          <a:solidFill>
                            <a:srgbClr val="E31836"/>
                          </a:solidFill>
                          <a:latin typeface="Cambria Math" panose="02040503050406030204" pitchFamily="18" charset="0"/>
                          <a:ea typeface="Cambria" pitchFamily="34" charset="-122"/>
                          <a:cs typeface="Cambria" pitchFamily="34" charset="-120"/>
                        </a:rPr>
                        <m:t> </m:t>
                      </m:r>
                      <m:r>
                        <a:rPr lang="en-US" sz="3200" b="1" i="1" dirty="0">
                          <a:solidFill>
                            <a:srgbClr val="E31836"/>
                          </a:solidFill>
                          <a:latin typeface="Cambria Math" panose="02040503050406030204" pitchFamily="18" charset="0"/>
                          <a:ea typeface="Cambria" pitchFamily="34" charset="-122"/>
                          <a:cs typeface="Cambria" pitchFamily="34" charset="-120"/>
                        </a:rPr>
                        <m:t>𝟏𝟐𝟓</m:t>
                      </m:r>
                    </m:oMath>
                  </m:oMathPara>
                </a14:m>
                <a:endParaRPr lang="en-US" sz="3200" dirty="0"/>
              </a:p>
            </p:txBody>
          </p:sp>
        </mc:Choice>
        <mc:Fallback xmlns="">
          <p:sp>
            <p:nvSpPr>
              <p:cNvPr id="7" name="Text 4"/>
              <p:cNvSpPr>
                <a:spLocks noRot="1" noChangeAspect="1" noMove="1" noResize="1" noEditPoints="1" noAdjustHandles="1" noChangeArrowheads="1" noChangeShapeType="1" noTextEdit="1"/>
              </p:cNvSpPr>
              <p:nvPr/>
            </p:nvSpPr>
            <p:spPr>
              <a:xfrm>
                <a:off x="9372600" y="1554480"/>
                <a:ext cx="2377440" cy="777240"/>
              </a:xfrm>
              <a:prstGeom prst="rect">
                <a:avLst/>
              </a:prstGeom>
              <a:blipFill>
                <a:blip r:embed="rId4"/>
                <a:stretch>
                  <a:fillRect/>
                </a:stretch>
              </a:blipFill>
              <a:ln/>
            </p:spPr>
            <p:txBody>
              <a:bodyPr/>
              <a:lstStyle/>
              <a:p>
                <a:r>
                  <a:rPr lang="tr-TR">
                    <a:noFill/>
                  </a:rPr>
                  <a:t/>
                </a:r>
              </a:p>
            </p:txBody>
          </p:sp>
        </mc:Fallback>
      </mc:AlternateContent>
      <p:sp>
        <p:nvSpPr>
          <p:cNvPr id="8" name="Text 5"/>
          <p:cNvSpPr/>
          <p:nvPr/>
        </p:nvSpPr>
        <p:spPr>
          <a:xfrm>
            <a:off x="9372600" y="2331720"/>
            <a:ext cx="2377440" cy="594360"/>
          </a:xfrm>
          <a:prstGeom prst="rect">
            <a:avLst/>
          </a:prstGeom>
          <a:noFill/>
          <a:ln/>
        </p:spPr>
        <p:txBody>
          <a:bodyPr wrap="square" lIns="0" tIns="0" rIns="0" bIns="0" rtlCol="0" anchor="ctr"/>
          <a:lstStyle/>
          <a:p>
            <a:pPr marL="0" indent="0" algn="ctr">
              <a:buNone/>
            </a:pPr>
            <a:r>
              <a:rPr lang="en-US" sz="1500">
                <a:solidFill>
                  <a:srgbClr val="222222"/>
                </a:solidFill>
                <a:latin typeface="Calibri" pitchFamily="34" charset="0"/>
                <a:ea typeface="Calibri" pitchFamily="34" charset="-122"/>
                <a:cs typeface="Calibri" pitchFamily="34" charset="-120"/>
              </a:rPr>
              <a:t>rules over 5 decision concepts</a:t>
            </a:r>
            <a:endParaRPr lang="en-US" sz="1500" dirty="0"/>
          </a:p>
        </p:txBody>
      </p:sp>
      <p:sp>
        <p:nvSpPr>
          <p:cNvPr id="10" name="Text 6"/>
          <p:cNvSpPr/>
          <p:nvPr/>
        </p:nvSpPr>
        <p:spPr>
          <a:xfrm>
            <a:off x="502920" y="6096950"/>
            <a:ext cx="11247120" cy="761050"/>
          </a:xfrm>
          <a:prstGeom prst="rect">
            <a:avLst/>
          </a:prstGeom>
          <a:noFill/>
          <a:ln/>
        </p:spPr>
        <p:txBody>
          <a:bodyPr wrap="square" lIns="0" tIns="0" rIns="0" bIns="0" rtlCol="0" anchor="t"/>
          <a:lstStyle/>
          <a:p>
            <a:pPr marL="152400" indent="-152400">
              <a:lnSpc>
                <a:spcPct val="105000"/>
              </a:lnSpc>
              <a:spcAft>
                <a:spcPts val="1000"/>
              </a:spcAft>
              <a:buSzPct val="100000"/>
              <a:buChar char="•"/>
            </a:pPr>
            <a:r>
              <a:rPr lang="en-US" sz="1700">
                <a:solidFill>
                  <a:srgbClr val="222222"/>
                </a:solidFill>
                <a:latin typeface="Calibri" pitchFamily="34" charset="0"/>
                <a:ea typeface="Calibri" pitchFamily="34" charset="-122"/>
                <a:cs typeface="Calibri" pitchFamily="34" charset="-120"/>
              </a:rPr>
              <a:t>10 features → 6 base → 5 decision concepts → 1 coordination concept</a:t>
            </a:r>
            <a:endParaRPr lang="en-US" sz="1700" dirty="0"/>
          </a:p>
          <a:p>
            <a:pPr marL="152400" indent="-152400">
              <a:lnSpc>
                <a:spcPct val="105000"/>
              </a:lnSpc>
              <a:spcAft>
                <a:spcPts val="1000"/>
              </a:spcAft>
              <a:buSzPct val="100000"/>
              <a:buChar char="•"/>
            </a:pPr>
            <a:r>
              <a:rPr lang="en-US" sz="1700" b="1">
                <a:solidFill>
                  <a:srgbClr val="222222"/>
                </a:solidFill>
                <a:latin typeface="Calibri" pitchFamily="34" charset="0"/>
                <a:ea typeface="Calibri" pitchFamily="34" charset="-122"/>
                <a:cs typeface="Calibri" pitchFamily="34" charset="-120"/>
              </a:rPr>
              <a:t>Five concepts = the five command questions</a:t>
            </a:r>
            <a:endParaRPr lang="en-US" sz="1700" dirty="0"/>
          </a:p>
        </p:txBody>
      </p:sp>
      <p:pic>
        <p:nvPicPr>
          <p:cNvPr id="11" name="Image 2" descr="/tmp/thx/deck/figs/metu_emblem.png"/>
          <p:cNvPicPr>
            <a:picLocks noChangeAspect="1"/>
          </p:cNvPicPr>
          <p:nvPr/>
        </p:nvPicPr>
        <p:blipFill>
          <a:blip r:embed="rId5"/>
          <a:stretch>
            <a:fillRect/>
          </a:stretch>
        </p:blipFill>
        <p:spPr>
          <a:xfrm>
            <a:off x="10716768" y="184607"/>
            <a:ext cx="475488" cy="398882"/>
          </a:xfrm>
          <a:prstGeom prst="rect">
            <a:avLst/>
          </a:prstGeom>
        </p:spPr>
      </p:pic>
      <p:pic>
        <p:nvPicPr>
          <p:cNvPr id="12" name="Image 3" descr="/tmp/thx/deck/figs/eee_logo.png"/>
          <p:cNvPicPr>
            <a:picLocks noChangeAspect="1"/>
          </p:cNvPicPr>
          <p:nvPr/>
        </p:nvPicPr>
        <p:blipFill>
          <a:blip r:embed="rId6"/>
          <a:stretch>
            <a:fillRect/>
          </a:stretch>
        </p:blipFill>
        <p:spPr>
          <a:xfrm>
            <a:off x="11265408" y="186217"/>
            <a:ext cx="475488" cy="395662"/>
          </a:xfrm>
          <a:prstGeom prst="rect">
            <a:avLst/>
          </a:prstGeom>
        </p:spPr>
      </p:pic>
      <p:pic>
        <p:nvPicPr>
          <p:cNvPr id="14" name="Image 0" descr="/tmp/thx/deck/figs/Figure4_1.png">
            <a:extLst>
              <a:ext uri="{FF2B5EF4-FFF2-40B4-BE49-F238E27FC236}">
                <a16:creationId xmlns:a16="http://schemas.microsoft.com/office/drawing/2014/main" id="{4B8C3F6D-8DE6-4BAC-86C8-0F27E4DF1198}"/>
              </a:ext>
            </a:extLst>
          </p:cNvPr>
          <p:cNvPicPr>
            <a:picLocks noChangeAspect="1"/>
          </p:cNvPicPr>
          <p:nvPr/>
        </p:nvPicPr>
        <p:blipFill rotWithShape="1">
          <a:blip r:embed="rId7"/>
          <a:srcRect l="-409" t="29248" r="13945" b="30510"/>
          <a:stretch>
            <a:fillRect/>
          </a:stretch>
        </p:blipFill>
        <p:spPr>
          <a:xfrm>
            <a:off x="182880" y="1447800"/>
            <a:ext cx="5551170" cy="4539930"/>
          </a:xfrm>
          <a:prstGeom prst="rect">
            <a:avLst/>
          </a:prstGeom>
        </p:spPr>
      </p:pic>
      <p:graphicFrame>
        <p:nvGraphicFramePr>
          <p:cNvPr id="9" name="Table 8">
            <a:extLst>
              <a:ext uri="{FF2B5EF4-FFF2-40B4-BE49-F238E27FC236}">
                <a16:creationId xmlns:a16="http://schemas.microsoft.com/office/drawing/2014/main" id="{C6CB5984-3751-600F-87A9-CD5C0D0BF755}"/>
              </a:ext>
            </a:extLst>
          </p:cNvPr>
          <p:cNvGraphicFramePr>
            <a:graphicFrameLocks noGrp="1"/>
          </p:cNvGraphicFramePr>
          <p:nvPr>
            <p:extLst>
              <p:ext uri="{D42A27DB-BD31-4B8C-83A1-F6EECF244321}">
                <p14:modId xmlns:p14="http://schemas.microsoft.com/office/powerpoint/2010/main" val="2681770900"/>
              </p:ext>
            </p:extLst>
          </p:nvPr>
        </p:nvGraphicFramePr>
        <p:xfrm>
          <a:off x="7142081" y="2926080"/>
          <a:ext cx="4050174" cy="2271144"/>
        </p:xfrm>
        <a:graphic>
          <a:graphicData uri="http://schemas.openxmlformats.org/drawingml/2006/table">
            <a:tbl>
              <a:tblPr firstRow="1" firstCol="1" bandRow="1">
                <a:tableStyleId>{93296810-A885-4BE3-A3E7-6D5BEEA58F35}</a:tableStyleId>
              </a:tblPr>
              <a:tblGrid>
                <a:gridCol w="2349101">
                  <a:extLst>
                    <a:ext uri="{9D8B030D-6E8A-4147-A177-3AD203B41FA5}">
                      <a16:colId xmlns:a16="http://schemas.microsoft.com/office/drawing/2014/main" val="408930425"/>
                    </a:ext>
                  </a:extLst>
                </a:gridCol>
                <a:gridCol w="1701073">
                  <a:extLst>
                    <a:ext uri="{9D8B030D-6E8A-4147-A177-3AD203B41FA5}">
                      <a16:colId xmlns:a16="http://schemas.microsoft.com/office/drawing/2014/main" val="1739012305"/>
                    </a:ext>
                  </a:extLst>
                </a:gridCol>
              </a:tblGrid>
              <a:tr h="0">
                <a:tc>
                  <a:txBody>
                    <a:bodyPr/>
                    <a:lstStyle/>
                    <a:p>
                      <a:pPr algn="just">
                        <a:lnSpc>
                          <a:spcPct val="150000"/>
                        </a:lnSpc>
                      </a:pPr>
                      <a:r>
                        <a:rPr lang="en-US" sz="1350" dirty="0">
                          <a:effectLst/>
                        </a:rPr>
                        <a:t>Operational question</a:t>
                      </a:r>
                      <a:endParaRPr lang="tr-TR" sz="135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pPr>
                      <a:r>
                        <a:rPr lang="en-US" sz="1350">
                          <a:effectLst/>
                        </a:rPr>
                        <a:t>Decision concept</a:t>
                      </a:r>
                      <a:endParaRPr lang="tr-TR" sz="135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563646761"/>
                  </a:ext>
                </a:extLst>
              </a:tr>
              <a:tr h="0">
                <a:tc>
                  <a:txBody>
                    <a:bodyPr/>
                    <a:lstStyle/>
                    <a:p>
                      <a:pPr algn="just">
                        <a:lnSpc>
                          <a:spcPct val="150000"/>
                        </a:lnSpc>
                      </a:pPr>
                      <a:r>
                        <a:rPr lang="en-US" sz="1350">
                          <a:effectLst/>
                        </a:rPr>
                        <a:t>How severe is the threat here?</a:t>
                      </a:r>
                      <a:endParaRPr lang="tr-TR" sz="135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pPr>
                      <a:r>
                        <a:rPr lang="en-US" sz="1350">
                          <a:effectLst/>
                        </a:rPr>
                        <a:t>Fire Threat Level</a:t>
                      </a:r>
                      <a:endParaRPr lang="tr-TR" sz="135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965055568"/>
                  </a:ext>
                </a:extLst>
              </a:tr>
              <a:tr h="0">
                <a:tc>
                  <a:txBody>
                    <a:bodyPr/>
                    <a:lstStyle/>
                    <a:p>
                      <a:pPr algn="just">
                        <a:lnSpc>
                          <a:spcPct val="150000"/>
                        </a:lnSpc>
                      </a:pPr>
                      <a:r>
                        <a:rPr lang="en-US" sz="1350">
                          <a:effectLst/>
                        </a:rPr>
                        <a:t>Can we intervene here?</a:t>
                      </a:r>
                      <a:endParaRPr lang="tr-TR" sz="135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pPr>
                      <a:r>
                        <a:rPr lang="en-US" sz="1350">
                          <a:effectLst/>
                        </a:rPr>
                        <a:t>Suppression Feasibility</a:t>
                      </a:r>
                      <a:endParaRPr lang="tr-TR" sz="135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164981675"/>
                  </a:ext>
                </a:extLst>
              </a:tr>
              <a:tr h="0">
                <a:tc>
                  <a:txBody>
                    <a:bodyPr/>
                    <a:lstStyle/>
                    <a:p>
                      <a:pPr algn="just">
                        <a:lnSpc>
                          <a:spcPct val="150000"/>
                        </a:lnSpc>
                      </a:pPr>
                      <a:r>
                        <a:rPr lang="en-US" sz="1350">
                          <a:effectLst/>
                        </a:rPr>
                        <a:t>How exposed are the assets?</a:t>
                      </a:r>
                      <a:endParaRPr lang="tr-TR" sz="135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pPr>
                      <a:r>
                        <a:rPr lang="en-US" sz="1350">
                          <a:effectLst/>
                        </a:rPr>
                        <a:t>Asset Exposure Risk</a:t>
                      </a:r>
                      <a:endParaRPr lang="tr-TR" sz="135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606404420"/>
                  </a:ext>
                </a:extLst>
              </a:tr>
              <a:tr h="0">
                <a:tc>
                  <a:txBody>
                    <a:bodyPr/>
                    <a:lstStyle/>
                    <a:p>
                      <a:pPr algn="just">
                        <a:lnSpc>
                          <a:spcPct val="150000"/>
                        </a:lnSpc>
                      </a:pPr>
                      <a:r>
                        <a:rPr lang="en-US" sz="1350">
                          <a:effectLst/>
                        </a:rPr>
                        <a:t>How urgent is action?</a:t>
                      </a:r>
                      <a:endParaRPr lang="tr-TR" sz="135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pPr>
                      <a:r>
                        <a:rPr lang="en-US" sz="1350">
                          <a:effectLst/>
                        </a:rPr>
                        <a:t>Intervention Urgency</a:t>
                      </a:r>
                      <a:endParaRPr lang="tr-TR" sz="135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634398677"/>
                  </a:ext>
                </a:extLst>
              </a:tr>
              <a:tr h="0">
                <a:tc>
                  <a:txBody>
                    <a:bodyPr/>
                    <a:lstStyle/>
                    <a:p>
                      <a:pPr algn="just">
                        <a:lnSpc>
                          <a:spcPct val="150000"/>
                        </a:lnSpc>
                      </a:pPr>
                      <a:r>
                        <a:rPr lang="en-US" sz="1350">
                          <a:effectLst/>
                        </a:rPr>
                        <a:t>Is evacuation pressure building?</a:t>
                      </a:r>
                      <a:endParaRPr lang="tr-TR" sz="135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tc>
                  <a:txBody>
                    <a:bodyPr/>
                    <a:lstStyle/>
                    <a:p>
                      <a:pPr algn="just">
                        <a:lnSpc>
                          <a:spcPct val="150000"/>
                        </a:lnSpc>
                      </a:pPr>
                      <a:r>
                        <a:rPr lang="en-US" sz="1350" dirty="0">
                          <a:effectLst/>
                        </a:rPr>
                        <a:t>Evacuation Pressure</a:t>
                      </a:r>
                      <a:endParaRPr lang="tr-TR" sz="135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55540589"/>
                  </a:ext>
                </a:extLst>
              </a:tr>
            </a:tbl>
          </a:graphicData>
        </a:graphic>
      </p:graphicFrame>
    </p:spTree>
    <p:extLst>
      <p:ext uri="{BB962C8B-B14F-4D97-AF65-F5344CB8AC3E}">
        <p14:creationId xmlns:p14="http://schemas.microsoft.com/office/powerpoint/2010/main" val="35944394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1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56032"/>
            <a:ext cx="91440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DSS FRAMEWORK : LAYER 3 OF 4</a:t>
            </a:r>
            <a:endParaRPr lang="en-US" sz="1300" dirty="0"/>
          </a:p>
        </p:txBody>
      </p:sp>
      <p:sp>
        <p:nvSpPr>
          <p:cNvPr id="3" name="Text 1"/>
          <p:cNvSpPr/>
          <p:nvPr/>
        </p:nvSpPr>
        <p:spPr>
          <a:xfrm>
            <a:off x="502920" y="512064"/>
            <a:ext cx="11247120" cy="731520"/>
          </a:xfrm>
          <a:prstGeom prst="rect">
            <a:avLst/>
          </a:prstGeom>
          <a:noFill/>
          <a:ln/>
        </p:spPr>
        <p:txBody>
          <a:bodyPr wrap="square" lIns="0" tIns="0" rIns="0" bIns="0" rtlCol="0" anchor="ctr"/>
          <a:lstStyle/>
          <a:p>
            <a:pPr marL="0" indent="0">
              <a:buNone/>
            </a:pPr>
            <a:r>
              <a:rPr lang="en-US" sz="2900" b="1" dirty="0">
                <a:solidFill>
                  <a:srgbClr val="000000"/>
                </a:solidFill>
                <a:latin typeface="Cambria" pitchFamily="34" charset="0"/>
                <a:ea typeface="Cambria" pitchFamily="34" charset="-122"/>
                <a:cs typeface="Cambria" pitchFamily="34" charset="-120"/>
              </a:rPr>
              <a:t>Layer 3 : Concept Space</a:t>
            </a:r>
            <a:r>
              <a:rPr lang="tr-TR" sz="2900" b="1" dirty="0">
                <a:solidFill>
                  <a:srgbClr val="000000"/>
                </a:solidFill>
                <a:latin typeface="Cambria" pitchFamily="34" charset="0"/>
                <a:ea typeface="Cambria" pitchFamily="34" charset="-122"/>
                <a:cs typeface="Cambria" pitchFamily="34" charset="-120"/>
              </a:rPr>
              <a:t> </a:t>
            </a:r>
            <a:r>
              <a:rPr lang="tr-TR" sz="2900" b="1" dirty="0" err="1">
                <a:solidFill>
                  <a:srgbClr val="000000"/>
                </a:solidFill>
                <a:latin typeface="Cambria" pitchFamily="34" charset="0"/>
                <a:ea typeface="Cambria" pitchFamily="34" charset="-122"/>
                <a:cs typeface="Cambria" pitchFamily="34" charset="-120"/>
              </a:rPr>
              <a:t>Levels</a:t>
            </a:r>
            <a:r>
              <a:rPr lang="tr-TR" sz="2900" b="1" dirty="0">
                <a:solidFill>
                  <a:srgbClr val="000000"/>
                </a:solidFill>
                <a:latin typeface="Cambria" pitchFamily="34" charset="0"/>
                <a:ea typeface="Cambria" pitchFamily="34" charset="-122"/>
                <a:cs typeface="Cambria" pitchFamily="34" charset="-120"/>
              </a:rPr>
              <a:t> </a:t>
            </a:r>
            <a:endParaRPr lang="en-US" sz="2900" dirty="0"/>
          </a:p>
        </p:txBody>
      </p:sp>
      <p:pic>
        <p:nvPicPr>
          <p:cNvPr id="11" name="Image 2"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12" name="Image 3" descr="/tmp/thx/deck/figs/eee_logo.png"/>
          <p:cNvPicPr>
            <a:picLocks noChangeAspect="1"/>
          </p:cNvPicPr>
          <p:nvPr/>
        </p:nvPicPr>
        <p:blipFill>
          <a:blip r:embed="rId4"/>
          <a:stretch>
            <a:fillRect/>
          </a:stretch>
        </p:blipFill>
        <p:spPr>
          <a:xfrm>
            <a:off x="11265408" y="186217"/>
            <a:ext cx="475488" cy="395662"/>
          </a:xfrm>
          <a:prstGeom prst="rect">
            <a:avLst/>
          </a:prstGeom>
        </p:spPr>
      </p:pic>
      <p:pic>
        <p:nvPicPr>
          <p:cNvPr id="16" name="Picture 15">
            <a:extLst>
              <a:ext uri="{FF2B5EF4-FFF2-40B4-BE49-F238E27FC236}">
                <a16:creationId xmlns:a16="http://schemas.microsoft.com/office/drawing/2014/main" id="{67672472-2578-4B3A-97B2-C6E9A1AE4EA5}"/>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02920" y="1243583"/>
            <a:ext cx="6617338" cy="4853367"/>
          </a:xfrm>
          <a:prstGeom prst="rect">
            <a:avLst/>
          </a:prstGeom>
          <a:noFill/>
        </p:spPr>
      </p:pic>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20FA6669-5258-4D42-911D-CE1B7C3FAF82}"/>
                  </a:ext>
                </a:extLst>
              </p:cNvPr>
              <p:cNvGraphicFramePr>
                <a:graphicFrameLocks noGrp="1"/>
              </p:cNvGraphicFramePr>
              <p:nvPr>
                <p:extLst>
                  <p:ext uri="{D42A27DB-BD31-4B8C-83A1-F6EECF244321}">
                    <p14:modId xmlns:p14="http://schemas.microsoft.com/office/powerpoint/2010/main" val="2344713063"/>
                  </p:ext>
                </p:extLst>
              </p:nvPr>
            </p:nvGraphicFramePr>
            <p:xfrm>
              <a:off x="7516498" y="1073625"/>
              <a:ext cx="4224398" cy="2805339"/>
            </p:xfrm>
            <a:graphic>
              <a:graphicData uri="http://schemas.openxmlformats.org/drawingml/2006/table">
                <a:tbl>
                  <a:tblPr firstRow="1" firstCol="1" bandRow="1">
                    <a:tableStyleId>{2D5ABB26-0587-4C30-8999-92F81FD0307C}</a:tableStyleId>
                  </a:tblPr>
                  <a:tblGrid>
                    <a:gridCol w="2112199">
                      <a:extLst>
                        <a:ext uri="{9D8B030D-6E8A-4147-A177-3AD203B41FA5}">
                          <a16:colId xmlns:a16="http://schemas.microsoft.com/office/drawing/2014/main" val="642329100"/>
                        </a:ext>
                      </a:extLst>
                    </a:gridCol>
                    <a:gridCol w="2112199">
                      <a:extLst>
                        <a:ext uri="{9D8B030D-6E8A-4147-A177-3AD203B41FA5}">
                          <a16:colId xmlns:a16="http://schemas.microsoft.com/office/drawing/2014/main" val="2705746310"/>
                        </a:ext>
                      </a:extLst>
                    </a:gridCol>
                  </a:tblGrid>
                  <a:tr h="261500">
                    <a:tc>
                      <a:txBody>
                        <a:bodyPr/>
                        <a:lstStyle/>
                        <a:p>
                          <a:pPr algn="just">
                            <a:lnSpc>
                              <a:spcPct val="150000"/>
                            </a:lnSpc>
                          </a:pPr>
                          <a:r>
                            <a:rPr lang="en-US" sz="1200">
                              <a:effectLst/>
                            </a:rPr>
                            <a:t>Base Concepts</a:t>
                          </a:r>
                          <a:endParaRPr lang="tr-TR" sz="12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50000"/>
                            </a:lnSpc>
                          </a:pPr>
                          <a:r>
                            <a:rPr lang="en-US" sz="1200" dirty="0">
                              <a:effectLst/>
                            </a:rPr>
                            <a:t>Decisional Concepts</a:t>
                          </a:r>
                          <a:endParaRPr lang="tr-TR" sz="12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4246918569"/>
                      </a:ext>
                    </a:extLst>
                  </a:tr>
                  <a:tr h="2543839">
                    <a:tc>
                      <a:txBody>
                        <a:bodyPr/>
                        <a:lstStyle/>
                        <a:p>
                          <a:pPr algn="just">
                            <a:lnSpc>
                              <a:spcPct val="150000"/>
                            </a:lnSpc>
                          </a:pPr>
                          <a14:m>
                            <m:oMathPara xmlns:m="http://schemas.openxmlformats.org/officeDocument/2006/math">
                              <m:oMathParaPr>
                                <m:jc m:val="centerGroup"/>
                              </m:oMathParaPr>
                              <m:oMath xmlns:m="http://schemas.openxmlformats.org/officeDocument/2006/math">
                                <m:sSubSup>
                                  <m:sSubSupPr>
                                    <m:ctrlPr>
                                      <a:rPr lang="en-US" sz="1200" i="1">
                                        <a:effectLst/>
                                        <a:latin typeface="Cambria Math" panose="02040503050406030204" pitchFamily="18" charset="0"/>
                                      </a:rPr>
                                    </m:ctrlPr>
                                  </m:sSubSupPr>
                                  <m:e>
                                    <m:r>
                                      <a:rPr lang="en-US" sz="1200">
                                        <a:effectLst/>
                                        <a:latin typeface="Cambria Math" panose="02040503050406030204" pitchFamily="18" charset="0"/>
                                      </a:rPr>
                                      <m:t>𝒞</m:t>
                                    </m:r>
                                  </m:e>
                                  <m:sub>
                                    <m:r>
                                      <a:rPr lang="en-US" sz="1200">
                                        <a:effectLst/>
                                        <a:latin typeface="Cambria Math" panose="02040503050406030204" pitchFamily="18" charset="0"/>
                                      </a:rPr>
                                      <m:t>1</m:t>
                                    </m:r>
                                  </m:sub>
                                  <m:sup>
                                    <m:r>
                                      <a:rPr lang="en-US" sz="1200">
                                        <a:effectLst/>
                                        <a:latin typeface="Cambria Math" panose="02040503050406030204" pitchFamily="18" charset="0"/>
                                      </a:rPr>
                                      <m:t>(1)</m:t>
                                    </m:r>
                                  </m:sup>
                                </m:sSubSup>
                                <m:r>
                                  <m:rPr>
                                    <m:aln/>
                                  </m:rPr>
                                  <a:rPr lang="en-US" sz="1200">
                                    <a:effectLst/>
                                    <a:latin typeface="Cambria Math" panose="02040503050406030204" pitchFamily="18" charset="0"/>
                                  </a:rPr>
                                  <m:t>=</m:t>
                                </m:r>
                                <m:d>
                                  <m:dPr>
                                    <m:begChr m:val="{"/>
                                    <m:endChr m:val="}"/>
                                    <m:ctrlPr>
                                      <a:rPr lang="en-US" sz="1200" i="1">
                                        <a:effectLst/>
                                        <a:latin typeface="Cambria Math" panose="02040503050406030204" pitchFamily="18" charset="0"/>
                                      </a:rPr>
                                    </m:ctrlPr>
                                  </m:dPr>
                                  <m:e>
                                    <m:sSub>
                                      <m:sSubPr>
                                        <m:ctrlPr>
                                          <a:rPr lang="en-US" sz="1200" i="1">
                                            <a:effectLst/>
                                            <a:latin typeface="Cambria Math" panose="02040503050406030204" pitchFamily="18" charset="0"/>
                                          </a:rPr>
                                        </m:ctrlPr>
                                      </m:sSubPr>
                                      <m:e>
                                        <m:r>
                                          <a:rPr lang="en-US" sz="1200">
                                            <a:effectLst/>
                                            <a:latin typeface="Cambria Math" panose="02040503050406030204" pitchFamily="18" charset="0"/>
                                          </a:rPr>
                                          <m:t>𝑧</m:t>
                                        </m:r>
                                      </m:e>
                                      <m:sub>
                                        <m:r>
                                          <a:rPr lang="en-US" sz="1200">
                                            <a:effectLst/>
                                            <a:latin typeface="Cambria Math" panose="02040503050406030204" pitchFamily="18" charset="0"/>
                                          </a:rPr>
                                          <m:t>1</m:t>
                                        </m:r>
                                      </m:sub>
                                    </m:sSub>
                                    <m:r>
                                      <a:rPr lang="en-US" sz="1200">
                                        <a:effectLst/>
                                        <a:latin typeface="Cambria Math" panose="02040503050406030204" pitchFamily="18" charset="0"/>
                                      </a:rPr>
                                      <m:t>,</m:t>
                                    </m:r>
                                    <m:sSub>
                                      <m:sSubPr>
                                        <m:ctrlPr>
                                          <a:rPr lang="en-US" sz="1200" i="1">
                                            <a:effectLst/>
                                            <a:latin typeface="Cambria Math" panose="02040503050406030204" pitchFamily="18" charset="0"/>
                                          </a:rPr>
                                        </m:ctrlPr>
                                      </m:sSubPr>
                                      <m:e>
                                        <m:r>
                                          <a:rPr lang="en-US" sz="1200">
                                            <a:effectLst/>
                                            <a:latin typeface="Cambria Math" panose="02040503050406030204" pitchFamily="18" charset="0"/>
                                          </a:rPr>
                                          <m:t>𝑧</m:t>
                                        </m:r>
                                      </m:e>
                                      <m:sub>
                                        <m:r>
                                          <a:rPr lang="en-US" sz="1200">
                                            <a:effectLst/>
                                            <a:latin typeface="Cambria Math" panose="02040503050406030204" pitchFamily="18" charset="0"/>
                                          </a:rPr>
                                          <m:t>2</m:t>
                                        </m:r>
                                      </m:sub>
                                    </m:sSub>
                                  </m:e>
                                </m:d>
                              </m:oMath>
                              <m:oMath xmlns:m="http://schemas.openxmlformats.org/officeDocument/2006/math">
                                <m:r>
                                  <a:rPr lang="en-US" sz="1200">
                                    <a:effectLst/>
                                    <a:latin typeface="Cambria Math" panose="02040503050406030204" pitchFamily="18" charset="0"/>
                                  </a:rPr>
                                  <m:t> </m:t>
                                </m:r>
                                <m:sSubSup>
                                  <m:sSubSupPr>
                                    <m:ctrlPr>
                                      <a:rPr lang="en-US" sz="1200" i="1">
                                        <a:effectLst/>
                                        <a:latin typeface="Cambria Math" panose="02040503050406030204" pitchFamily="18" charset="0"/>
                                      </a:rPr>
                                    </m:ctrlPr>
                                  </m:sSubSupPr>
                                  <m:e>
                                    <m:r>
                                      <a:rPr lang="en-US" sz="1200">
                                        <a:effectLst/>
                                        <a:latin typeface="Cambria Math" panose="02040503050406030204" pitchFamily="18" charset="0"/>
                                      </a:rPr>
                                      <m:t>𝒞</m:t>
                                    </m:r>
                                  </m:e>
                                  <m:sub>
                                    <m:r>
                                      <a:rPr lang="en-US" sz="1200">
                                        <a:effectLst/>
                                        <a:latin typeface="Cambria Math" panose="02040503050406030204" pitchFamily="18" charset="0"/>
                                      </a:rPr>
                                      <m:t>2</m:t>
                                    </m:r>
                                  </m:sub>
                                  <m:sup>
                                    <m:r>
                                      <a:rPr lang="en-US" sz="1200">
                                        <a:effectLst/>
                                        <a:latin typeface="Cambria Math" panose="02040503050406030204" pitchFamily="18" charset="0"/>
                                      </a:rPr>
                                      <m:t>(1)</m:t>
                                    </m:r>
                                  </m:sup>
                                </m:sSubSup>
                                <m:r>
                                  <m:rPr>
                                    <m:aln/>
                                  </m:rPr>
                                  <a:rPr lang="en-US" sz="1200">
                                    <a:effectLst/>
                                    <a:latin typeface="Cambria Math" panose="02040503050406030204" pitchFamily="18" charset="0"/>
                                  </a:rPr>
                                  <m:t>=</m:t>
                                </m:r>
                                <m:d>
                                  <m:dPr>
                                    <m:begChr m:val="{"/>
                                    <m:endChr m:val="}"/>
                                    <m:ctrlPr>
                                      <a:rPr lang="en-US" sz="1200" i="1">
                                        <a:effectLst/>
                                        <a:latin typeface="Cambria Math" panose="02040503050406030204" pitchFamily="18" charset="0"/>
                                      </a:rPr>
                                    </m:ctrlPr>
                                  </m:dPr>
                                  <m:e>
                                    <m:sSub>
                                      <m:sSubPr>
                                        <m:ctrlPr>
                                          <a:rPr lang="en-US" sz="1200" i="1">
                                            <a:effectLst/>
                                            <a:latin typeface="Cambria Math" panose="02040503050406030204" pitchFamily="18" charset="0"/>
                                          </a:rPr>
                                        </m:ctrlPr>
                                      </m:sSubPr>
                                      <m:e>
                                        <m:r>
                                          <a:rPr lang="en-US" sz="1200">
                                            <a:effectLst/>
                                            <a:latin typeface="Cambria Math" panose="02040503050406030204" pitchFamily="18" charset="0"/>
                                          </a:rPr>
                                          <m:t>𝑧</m:t>
                                        </m:r>
                                      </m:e>
                                      <m:sub>
                                        <m:r>
                                          <a:rPr lang="en-US" sz="1200">
                                            <a:effectLst/>
                                            <a:latin typeface="Cambria Math" panose="02040503050406030204" pitchFamily="18" charset="0"/>
                                          </a:rPr>
                                          <m:t>2</m:t>
                                        </m:r>
                                      </m:sub>
                                    </m:sSub>
                                    <m:r>
                                      <a:rPr lang="en-US" sz="1200">
                                        <a:effectLst/>
                                        <a:latin typeface="Cambria Math" panose="02040503050406030204" pitchFamily="18" charset="0"/>
                                      </a:rPr>
                                      <m:t>,</m:t>
                                    </m:r>
                                    <m:sSub>
                                      <m:sSubPr>
                                        <m:ctrlPr>
                                          <a:rPr lang="en-US" sz="1200" i="1">
                                            <a:effectLst/>
                                            <a:latin typeface="Cambria Math" panose="02040503050406030204" pitchFamily="18" charset="0"/>
                                          </a:rPr>
                                        </m:ctrlPr>
                                      </m:sSubPr>
                                      <m:e>
                                        <m:r>
                                          <a:rPr lang="en-US" sz="1200">
                                            <a:effectLst/>
                                            <a:latin typeface="Cambria Math" panose="02040503050406030204" pitchFamily="18" charset="0"/>
                                          </a:rPr>
                                          <m:t>𝑧</m:t>
                                        </m:r>
                                      </m:e>
                                      <m:sub>
                                        <m:r>
                                          <a:rPr lang="en-US" sz="1200">
                                            <a:effectLst/>
                                            <a:latin typeface="Cambria Math" panose="02040503050406030204" pitchFamily="18" charset="0"/>
                                          </a:rPr>
                                          <m:t>3</m:t>
                                        </m:r>
                                      </m:sub>
                                    </m:sSub>
                                    <m:r>
                                      <a:rPr lang="en-US" sz="1200">
                                        <a:effectLst/>
                                        <a:latin typeface="Cambria Math" panose="02040503050406030204" pitchFamily="18" charset="0"/>
                                      </a:rPr>
                                      <m:t>,</m:t>
                                    </m:r>
                                    <m:sSub>
                                      <m:sSubPr>
                                        <m:ctrlPr>
                                          <a:rPr lang="en-US" sz="1200" i="1">
                                            <a:effectLst/>
                                            <a:latin typeface="Cambria Math" panose="02040503050406030204" pitchFamily="18" charset="0"/>
                                          </a:rPr>
                                        </m:ctrlPr>
                                      </m:sSubPr>
                                      <m:e>
                                        <m:r>
                                          <a:rPr lang="en-US" sz="1200">
                                            <a:effectLst/>
                                            <a:latin typeface="Cambria Math" panose="02040503050406030204" pitchFamily="18" charset="0"/>
                                          </a:rPr>
                                          <m:t>𝑧</m:t>
                                        </m:r>
                                      </m:e>
                                      <m:sub>
                                        <m:r>
                                          <a:rPr lang="en-US" sz="1200">
                                            <a:effectLst/>
                                            <a:latin typeface="Cambria Math" panose="02040503050406030204" pitchFamily="18" charset="0"/>
                                          </a:rPr>
                                          <m:t>4</m:t>
                                        </m:r>
                                      </m:sub>
                                    </m:sSub>
                                  </m:e>
                                </m:d>
                              </m:oMath>
                              <m:oMath xmlns:m="http://schemas.openxmlformats.org/officeDocument/2006/math">
                                <m:sSubSup>
                                  <m:sSubSupPr>
                                    <m:ctrlPr>
                                      <a:rPr lang="en-US" sz="1200" i="1">
                                        <a:effectLst/>
                                        <a:latin typeface="Cambria Math" panose="02040503050406030204" pitchFamily="18" charset="0"/>
                                      </a:rPr>
                                    </m:ctrlPr>
                                  </m:sSubSupPr>
                                  <m:e>
                                    <m:r>
                                      <a:rPr lang="en-US" sz="1200">
                                        <a:effectLst/>
                                        <a:latin typeface="Cambria Math" panose="02040503050406030204" pitchFamily="18" charset="0"/>
                                      </a:rPr>
                                      <m:t>𝒞</m:t>
                                    </m:r>
                                  </m:e>
                                  <m:sub>
                                    <m:r>
                                      <a:rPr lang="en-US" sz="1200">
                                        <a:effectLst/>
                                        <a:latin typeface="Cambria Math" panose="02040503050406030204" pitchFamily="18" charset="0"/>
                                      </a:rPr>
                                      <m:t>3</m:t>
                                    </m:r>
                                  </m:sub>
                                  <m:sup>
                                    <m:r>
                                      <a:rPr lang="en-US" sz="1200">
                                        <a:effectLst/>
                                        <a:latin typeface="Cambria Math" panose="02040503050406030204" pitchFamily="18" charset="0"/>
                                      </a:rPr>
                                      <m:t>(1)</m:t>
                                    </m:r>
                                  </m:sup>
                                </m:sSubSup>
                                <m:r>
                                  <m:rPr>
                                    <m:aln/>
                                  </m:rPr>
                                  <a:rPr lang="en-US" sz="1200">
                                    <a:effectLst/>
                                    <a:latin typeface="Cambria Math" panose="02040503050406030204" pitchFamily="18" charset="0"/>
                                  </a:rPr>
                                  <m:t>=</m:t>
                                </m:r>
                                <m:d>
                                  <m:dPr>
                                    <m:begChr m:val="{"/>
                                    <m:endChr m:val="}"/>
                                    <m:ctrlPr>
                                      <a:rPr lang="en-US" sz="1200" i="1">
                                        <a:effectLst/>
                                        <a:latin typeface="Cambria Math" panose="02040503050406030204" pitchFamily="18" charset="0"/>
                                      </a:rPr>
                                    </m:ctrlPr>
                                  </m:dPr>
                                  <m:e>
                                    <m:sSub>
                                      <m:sSubPr>
                                        <m:ctrlPr>
                                          <a:rPr lang="en-US" sz="1200" i="1">
                                            <a:effectLst/>
                                            <a:latin typeface="Cambria Math" panose="02040503050406030204" pitchFamily="18" charset="0"/>
                                          </a:rPr>
                                        </m:ctrlPr>
                                      </m:sSubPr>
                                      <m:e>
                                        <m:r>
                                          <a:rPr lang="en-US" sz="1200">
                                            <a:effectLst/>
                                            <a:latin typeface="Cambria Math" panose="02040503050406030204" pitchFamily="18" charset="0"/>
                                          </a:rPr>
                                          <m:t>𝑧</m:t>
                                        </m:r>
                                      </m:e>
                                      <m:sub>
                                        <m:r>
                                          <a:rPr lang="en-US" sz="1200">
                                            <a:effectLst/>
                                            <a:latin typeface="Cambria Math" panose="02040503050406030204" pitchFamily="18" charset="0"/>
                                          </a:rPr>
                                          <m:t>3</m:t>
                                        </m:r>
                                      </m:sub>
                                    </m:sSub>
                                    <m:r>
                                      <a:rPr lang="en-US" sz="1200">
                                        <a:effectLst/>
                                        <a:latin typeface="Cambria Math" panose="02040503050406030204" pitchFamily="18" charset="0"/>
                                      </a:rPr>
                                      <m:t>,</m:t>
                                    </m:r>
                                    <m:sSub>
                                      <m:sSubPr>
                                        <m:ctrlPr>
                                          <a:rPr lang="en-US" sz="1200" i="1">
                                            <a:effectLst/>
                                            <a:latin typeface="Cambria Math" panose="02040503050406030204" pitchFamily="18" charset="0"/>
                                          </a:rPr>
                                        </m:ctrlPr>
                                      </m:sSubPr>
                                      <m:e>
                                        <m:r>
                                          <a:rPr lang="en-US" sz="1200">
                                            <a:effectLst/>
                                            <a:latin typeface="Cambria Math" panose="02040503050406030204" pitchFamily="18" charset="0"/>
                                          </a:rPr>
                                          <m:t>𝑧</m:t>
                                        </m:r>
                                      </m:e>
                                      <m:sub>
                                        <m:r>
                                          <a:rPr lang="en-US" sz="1200">
                                            <a:effectLst/>
                                            <a:latin typeface="Cambria Math" panose="02040503050406030204" pitchFamily="18" charset="0"/>
                                          </a:rPr>
                                          <m:t>5</m:t>
                                        </m:r>
                                      </m:sub>
                                    </m:sSub>
                                  </m:e>
                                </m:d>
                                <m:r>
                                  <a:rPr lang="en-US" sz="1200">
                                    <a:effectLst/>
                                    <a:latin typeface="Cambria Math" panose="02040503050406030204" pitchFamily="18" charset="0"/>
                                  </a:rPr>
                                  <m:t>, </m:t>
                                </m:r>
                              </m:oMath>
                              <m:oMath xmlns:m="http://schemas.openxmlformats.org/officeDocument/2006/math">
                                <m:sSubSup>
                                  <m:sSubSupPr>
                                    <m:ctrlPr>
                                      <a:rPr lang="en-US" sz="1200" i="1">
                                        <a:effectLst/>
                                        <a:latin typeface="Cambria Math" panose="02040503050406030204" pitchFamily="18" charset="0"/>
                                      </a:rPr>
                                    </m:ctrlPr>
                                  </m:sSubSupPr>
                                  <m:e>
                                    <m:r>
                                      <a:rPr lang="en-US" sz="1200">
                                        <a:effectLst/>
                                        <a:latin typeface="Cambria Math" panose="02040503050406030204" pitchFamily="18" charset="0"/>
                                      </a:rPr>
                                      <m:t>𝒞</m:t>
                                    </m:r>
                                  </m:e>
                                  <m:sub>
                                    <m:r>
                                      <a:rPr lang="en-US" sz="1200">
                                        <a:effectLst/>
                                        <a:latin typeface="Cambria Math" panose="02040503050406030204" pitchFamily="18" charset="0"/>
                                      </a:rPr>
                                      <m:t>4</m:t>
                                    </m:r>
                                  </m:sub>
                                  <m:sup>
                                    <m:r>
                                      <a:rPr lang="en-US" sz="1200">
                                        <a:effectLst/>
                                        <a:latin typeface="Cambria Math" panose="02040503050406030204" pitchFamily="18" charset="0"/>
                                      </a:rPr>
                                      <m:t>(1)</m:t>
                                    </m:r>
                                  </m:sup>
                                </m:sSubSup>
                                <m:r>
                                  <m:rPr>
                                    <m:aln/>
                                  </m:rPr>
                                  <a:rPr lang="en-US" sz="1200">
                                    <a:effectLst/>
                                    <a:latin typeface="Cambria Math" panose="02040503050406030204" pitchFamily="18" charset="0"/>
                                  </a:rPr>
                                  <m:t>=</m:t>
                                </m:r>
                                <m:d>
                                  <m:dPr>
                                    <m:begChr m:val="{"/>
                                    <m:endChr m:val="}"/>
                                    <m:ctrlPr>
                                      <a:rPr lang="en-US" sz="1200" i="1">
                                        <a:effectLst/>
                                        <a:latin typeface="Cambria Math" panose="02040503050406030204" pitchFamily="18" charset="0"/>
                                      </a:rPr>
                                    </m:ctrlPr>
                                  </m:dPr>
                                  <m:e>
                                    <m:sSub>
                                      <m:sSubPr>
                                        <m:ctrlPr>
                                          <a:rPr lang="en-US" sz="1200" i="1">
                                            <a:effectLst/>
                                            <a:latin typeface="Cambria Math" panose="02040503050406030204" pitchFamily="18" charset="0"/>
                                          </a:rPr>
                                        </m:ctrlPr>
                                      </m:sSubPr>
                                      <m:e>
                                        <m:r>
                                          <a:rPr lang="en-US" sz="1200">
                                            <a:effectLst/>
                                            <a:latin typeface="Cambria Math" panose="02040503050406030204" pitchFamily="18" charset="0"/>
                                          </a:rPr>
                                          <m:t>𝑧</m:t>
                                        </m:r>
                                      </m:e>
                                      <m:sub>
                                        <m:r>
                                          <a:rPr lang="en-US" sz="1200">
                                            <a:effectLst/>
                                            <a:latin typeface="Cambria Math" panose="02040503050406030204" pitchFamily="18" charset="0"/>
                                          </a:rPr>
                                          <m:t>6</m:t>
                                        </m:r>
                                      </m:sub>
                                    </m:sSub>
                                  </m:e>
                                </m:d>
                                <m:r>
                                  <a:rPr lang="en-US" sz="1200">
                                    <a:effectLst/>
                                    <a:latin typeface="Cambria Math" panose="02040503050406030204" pitchFamily="18" charset="0"/>
                                  </a:rPr>
                                  <m:t>, </m:t>
                                </m:r>
                              </m:oMath>
                              <m:oMath xmlns:m="http://schemas.openxmlformats.org/officeDocument/2006/math">
                                <m:sSubSup>
                                  <m:sSubSupPr>
                                    <m:ctrlPr>
                                      <a:rPr lang="en-US" sz="1200" i="1">
                                        <a:effectLst/>
                                        <a:latin typeface="Cambria Math" panose="02040503050406030204" pitchFamily="18" charset="0"/>
                                      </a:rPr>
                                    </m:ctrlPr>
                                  </m:sSubSupPr>
                                  <m:e>
                                    <m:r>
                                      <a:rPr lang="en-US" sz="1200">
                                        <a:effectLst/>
                                        <a:latin typeface="Cambria Math" panose="02040503050406030204" pitchFamily="18" charset="0"/>
                                      </a:rPr>
                                      <m:t>𝒞</m:t>
                                    </m:r>
                                  </m:e>
                                  <m:sub>
                                    <m:r>
                                      <a:rPr lang="en-US" sz="1200">
                                        <a:effectLst/>
                                        <a:latin typeface="Cambria Math" panose="02040503050406030204" pitchFamily="18" charset="0"/>
                                      </a:rPr>
                                      <m:t>5</m:t>
                                    </m:r>
                                  </m:sub>
                                  <m:sup>
                                    <m:r>
                                      <a:rPr lang="en-US" sz="1200">
                                        <a:effectLst/>
                                        <a:latin typeface="Cambria Math" panose="02040503050406030204" pitchFamily="18" charset="0"/>
                                      </a:rPr>
                                      <m:t>(1)</m:t>
                                    </m:r>
                                  </m:sup>
                                </m:sSubSup>
                                <m:r>
                                  <m:rPr>
                                    <m:aln/>
                                  </m:rPr>
                                  <a:rPr lang="en-US" sz="1200">
                                    <a:effectLst/>
                                    <a:latin typeface="Cambria Math" panose="02040503050406030204" pitchFamily="18" charset="0"/>
                                  </a:rPr>
                                  <m:t>=</m:t>
                                </m:r>
                                <m:d>
                                  <m:dPr>
                                    <m:begChr m:val="{"/>
                                    <m:endChr m:val="}"/>
                                    <m:ctrlPr>
                                      <a:rPr lang="en-US" sz="1200" i="1">
                                        <a:effectLst/>
                                        <a:latin typeface="Cambria Math" panose="02040503050406030204" pitchFamily="18" charset="0"/>
                                      </a:rPr>
                                    </m:ctrlPr>
                                  </m:dPr>
                                  <m:e>
                                    <m:sSub>
                                      <m:sSubPr>
                                        <m:ctrlPr>
                                          <a:rPr lang="en-US" sz="1200" i="1">
                                            <a:effectLst/>
                                            <a:latin typeface="Cambria Math" panose="02040503050406030204" pitchFamily="18" charset="0"/>
                                          </a:rPr>
                                        </m:ctrlPr>
                                      </m:sSubPr>
                                      <m:e>
                                        <m:r>
                                          <a:rPr lang="en-US" sz="1200">
                                            <a:effectLst/>
                                            <a:latin typeface="Cambria Math" panose="02040503050406030204" pitchFamily="18" charset="0"/>
                                          </a:rPr>
                                          <m:t>𝑧</m:t>
                                        </m:r>
                                      </m:e>
                                      <m:sub>
                                        <m:r>
                                          <a:rPr lang="en-US" sz="1200">
                                            <a:effectLst/>
                                            <a:latin typeface="Cambria Math" panose="02040503050406030204" pitchFamily="18" charset="0"/>
                                          </a:rPr>
                                          <m:t>7</m:t>
                                        </m:r>
                                      </m:sub>
                                    </m:sSub>
                                    <m:r>
                                      <a:rPr lang="en-US" sz="1200">
                                        <a:effectLst/>
                                        <a:latin typeface="Cambria Math" panose="02040503050406030204" pitchFamily="18" charset="0"/>
                                      </a:rPr>
                                      <m:t>,</m:t>
                                    </m:r>
                                    <m:sSub>
                                      <m:sSubPr>
                                        <m:ctrlPr>
                                          <a:rPr lang="en-US" sz="1200" i="1">
                                            <a:effectLst/>
                                            <a:latin typeface="Cambria Math" panose="02040503050406030204" pitchFamily="18" charset="0"/>
                                          </a:rPr>
                                        </m:ctrlPr>
                                      </m:sSubPr>
                                      <m:e>
                                        <m:r>
                                          <a:rPr lang="en-US" sz="1200">
                                            <a:effectLst/>
                                            <a:latin typeface="Cambria Math" panose="02040503050406030204" pitchFamily="18" charset="0"/>
                                          </a:rPr>
                                          <m:t>𝑧</m:t>
                                        </m:r>
                                      </m:e>
                                      <m:sub>
                                        <m:r>
                                          <a:rPr lang="en-US" sz="1200">
                                            <a:effectLst/>
                                            <a:latin typeface="Cambria Math" panose="02040503050406030204" pitchFamily="18" charset="0"/>
                                          </a:rPr>
                                          <m:t>8</m:t>
                                        </m:r>
                                      </m:sub>
                                    </m:sSub>
                                  </m:e>
                                </m:d>
                                <m:r>
                                  <a:rPr lang="en-US" sz="1200">
                                    <a:effectLst/>
                                    <a:latin typeface="Cambria Math" panose="02040503050406030204" pitchFamily="18" charset="0"/>
                                  </a:rPr>
                                  <m:t>, </m:t>
                                </m:r>
                              </m:oMath>
                              <m:oMath xmlns:m="http://schemas.openxmlformats.org/officeDocument/2006/math">
                                <m:sSubSup>
                                  <m:sSubSupPr>
                                    <m:ctrlPr>
                                      <a:rPr lang="en-US" sz="1200" i="1">
                                        <a:effectLst/>
                                        <a:latin typeface="Cambria Math" panose="02040503050406030204" pitchFamily="18" charset="0"/>
                                      </a:rPr>
                                    </m:ctrlPr>
                                  </m:sSubSupPr>
                                  <m:e>
                                    <m:r>
                                      <a:rPr lang="en-US" sz="1200">
                                        <a:effectLst/>
                                        <a:latin typeface="Cambria Math" panose="02040503050406030204" pitchFamily="18" charset="0"/>
                                      </a:rPr>
                                      <m:t>𝒞</m:t>
                                    </m:r>
                                  </m:e>
                                  <m:sub>
                                    <m:r>
                                      <a:rPr lang="en-US" sz="1200">
                                        <a:effectLst/>
                                        <a:latin typeface="Cambria Math" panose="02040503050406030204" pitchFamily="18" charset="0"/>
                                      </a:rPr>
                                      <m:t>6</m:t>
                                    </m:r>
                                  </m:sub>
                                  <m:sup>
                                    <m:r>
                                      <a:rPr lang="en-US" sz="1200">
                                        <a:effectLst/>
                                        <a:latin typeface="Cambria Math" panose="02040503050406030204" pitchFamily="18" charset="0"/>
                                      </a:rPr>
                                      <m:t>(1)</m:t>
                                    </m:r>
                                  </m:sup>
                                </m:sSubSup>
                                <m:r>
                                  <m:rPr>
                                    <m:aln/>
                                  </m:rPr>
                                  <a:rPr lang="en-US" sz="1200">
                                    <a:effectLst/>
                                    <a:latin typeface="Cambria Math" panose="02040503050406030204" pitchFamily="18" charset="0"/>
                                  </a:rPr>
                                  <m:t>=</m:t>
                                </m:r>
                                <m:d>
                                  <m:dPr>
                                    <m:begChr m:val="{"/>
                                    <m:endChr m:val="}"/>
                                    <m:ctrlPr>
                                      <a:rPr lang="en-US" sz="1200" i="1">
                                        <a:effectLst/>
                                        <a:latin typeface="Cambria Math" panose="02040503050406030204" pitchFamily="18" charset="0"/>
                                      </a:rPr>
                                    </m:ctrlPr>
                                  </m:dPr>
                                  <m:e>
                                    <m:sSub>
                                      <m:sSubPr>
                                        <m:ctrlPr>
                                          <a:rPr lang="en-US" sz="1200" i="1">
                                            <a:effectLst/>
                                            <a:latin typeface="Cambria Math" panose="02040503050406030204" pitchFamily="18" charset="0"/>
                                          </a:rPr>
                                        </m:ctrlPr>
                                      </m:sSubPr>
                                      <m:e>
                                        <m:r>
                                          <a:rPr lang="en-US" sz="1200">
                                            <a:effectLst/>
                                            <a:latin typeface="Cambria Math" panose="02040503050406030204" pitchFamily="18" charset="0"/>
                                          </a:rPr>
                                          <m:t>𝑧</m:t>
                                        </m:r>
                                      </m:e>
                                      <m:sub>
                                        <m:r>
                                          <a:rPr lang="en-US" sz="1200">
                                            <a:effectLst/>
                                            <a:latin typeface="Cambria Math" panose="02040503050406030204" pitchFamily="18" charset="0"/>
                                          </a:rPr>
                                          <m:t>9</m:t>
                                        </m:r>
                                      </m:sub>
                                    </m:sSub>
                                  </m:e>
                                </m:d>
                              </m:oMath>
                            </m:oMathPara>
                          </a14:m>
                          <a:endParaRPr lang="tr-TR" sz="12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50000"/>
                            </a:lnSpc>
                          </a:pPr>
                          <a14:m>
                            <m:oMathPara xmlns:m="http://schemas.openxmlformats.org/officeDocument/2006/math">
                              <m:oMathParaPr>
                                <m:jc m:val="centerGroup"/>
                              </m:oMathParaPr>
                              <m:oMath xmlns:m="http://schemas.openxmlformats.org/officeDocument/2006/math">
                                <m:sSubSup>
                                  <m:sSubSupPr>
                                    <m:ctrlPr>
                                      <a:rPr lang="en-US" sz="1200" i="1">
                                        <a:effectLst/>
                                        <a:latin typeface="Cambria Math" panose="02040503050406030204" pitchFamily="18" charset="0"/>
                                      </a:rPr>
                                    </m:ctrlPr>
                                  </m:sSubSupPr>
                                  <m:e>
                                    <m:r>
                                      <a:rPr lang="en-US" sz="1200">
                                        <a:effectLst/>
                                        <a:latin typeface="Cambria Math" panose="02040503050406030204" pitchFamily="18" charset="0"/>
                                      </a:rPr>
                                      <m:t>𝒞</m:t>
                                    </m:r>
                                  </m:e>
                                  <m:sub>
                                    <m:r>
                                      <a:rPr lang="en-US" sz="1200">
                                        <a:effectLst/>
                                        <a:latin typeface="Cambria Math" panose="02040503050406030204" pitchFamily="18" charset="0"/>
                                      </a:rPr>
                                      <m:t>1</m:t>
                                    </m:r>
                                  </m:sub>
                                  <m:sup>
                                    <m:r>
                                      <a:rPr lang="en-US" sz="1200">
                                        <a:effectLst/>
                                        <a:latin typeface="Cambria Math" panose="02040503050406030204" pitchFamily="18" charset="0"/>
                                      </a:rPr>
                                      <m:t>(2)</m:t>
                                    </m:r>
                                  </m:sup>
                                </m:sSubSup>
                                <m:r>
                                  <m:rPr>
                                    <m:aln/>
                                  </m:rPr>
                                  <a:rPr lang="en-US" sz="1200">
                                    <a:effectLst/>
                                    <a:latin typeface="Cambria Math" panose="02040503050406030204" pitchFamily="18" charset="0"/>
                                  </a:rPr>
                                  <m:t>=</m:t>
                                </m:r>
                                <m:d>
                                  <m:dPr>
                                    <m:begChr m:val="{"/>
                                    <m:endChr m:val="}"/>
                                    <m:ctrlPr>
                                      <a:rPr lang="en-US" sz="1200" i="1">
                                        <a:effectLst/>
                                        <a:latin typeface="Cambria Math" panose="02040503050406030204" pitchFamily="18" charset="0"/>
                                      </a:rPr>
                                    </m:ctrlPr>
                                  </m:dPr>
                                  <m:e>
                                    <m:sSubSup>
                                      <m:sSubSupPr>
                                        <m:ctrlPr>
                                          <a:rPr lang="en-US" sz="1200" i="1">
                                            <a:effectLst/>
                                            <a:latin typeface="Cambria Math" panose="02040503050406030204" pitchFamily="18" charset="0"/>
                                          </a:rPr>
                                        </m:ctrlPr>
                                      </m:sSubSupPr>
                                      <m:e>
                                        <m:r>
                                          <a:rPr lang="en-US" sz="1200">
                                            <a:effectLst/>
                                            <a:latin typeface="Cambria Math" panose="02040503050406030204" pitchFamily="18" charset="0"/>
                                          </a:rPr>
                                          <m:t>𝑐</m:t>
                                        </m:r>
                                      </m:e>
                                      <m:sub>
                                        <m:r>
                                          <a:rPr lang="en-US" sz="1200">
                                            <a:effectLst/>
                                            <a:latin typeface="Cambria Math" panose="02040503050406030204" pitchFamily="18" charset="0"/>
                                          </a:rPr>
                                          <m:t>1</m:t>
                                        </m:r>
                                      </m:sub>
                                      <m:sup>
                                        <m:r>
                                          <a:rPr lang="en-US" sz="1200">
                                            <a:effectLst/>
                                            <a:latin typeface="Cambria Math" panose="02040503050406030204" pitchFamily="18" charset="0"/>
                                          </a:rPr>
                                          <m:t>(1)</m:t>
                                        </m:r>
                                      </m:sup>
                                    </m:sSubSup>
                                    <m:r>
                                      <a:rPr lang="en-US" sz="1200">
                                        <a:effectLst/>
                                        <a:latin typeface="Cambria Math" panose="02040503050406030204" pitchFamily="18" charset="0"/>
                                      </a:rPr>
                                      <m:t>,</m:t>
                                    </m:r>
                                    <m:sSubSup>
                                      <m:sSubSupPr>
                                        <m:ctrlPr>
                                          <a:rPr lang="en-US" sz="1200" i="1">
                                            <a:effectLst/>
                                            <a:latin typeface="Cambria Math" panose="02040503050406030204" pitchFamily="18" charset="0"/>
                                          </a:rPr>
                                        </m:ctrlPr>
                                      </m:sSubSupPr>
                                      <m:e>
                                        <m:r>
                                          <a:rPr lang="en-US" sz="1200">
                                            <a:effectLst/>
                                            <a:latin typeface="Cambria Math" panose="02040503050406030204" pitchFamily="18" charset="0"/>
                                          </a:rPr>
                                          <m:t>𝑐</m:t>
                                        </m:r>
                                      </m:e>
                                      <m:sub>
                                        <m:r>
                                          <a:rPr lang="en-US" sz="1200">
                                            <a:effectLst/>
                                            <a:latin typeface="Cambria Math" panose="02040503050406030204" pitchFamily="18" charset="0"/>
                                          </a:rPr>
                                          <m:t>2</m:t>
                                        </m:r>
                                      </m:sub>
                                      <m:sup>
                                        <m:r>
                                          <a:rPr lang="en-US" sz="1200">
                                            <a:effectLst/>
                                            <a:latin typeface="Cambria Math" panose="02040503050406030204" pitchFamily="18" charset="0"/>
                                          </a:rPr>
                                          <m:t>(1)</m:t>
                                        </m:r>
                                      </m:sup>
                                    </m:sSubSup>
                                    <m:r>
                                      <a:rPr lang="en-US" sz="1200">
                                        <a:effectLst/>
                                        <a:latin typeface="Cambria Math" panose="02040503050406030204" pitchFamily="18" charset="0"/>
                                      </a:rPr>
                                      <m:t>,</m:t>
                                    </m:r>
                                    <m:sSubSup>
                                      <m:sSubSupPr>
                                        <m:ctrlPr>
                                          <a:rPr lang="en-US" sz="1200" i="1">
                                            <a:effectLst/>
                                            <a:latin typeface="Cambria Math" panose="02040503050406030204" pitchFamily="18" charset="0"/>
                                          </a:rPr>
                                        </m:ctrlPr>
                                      </m:sSubSupPr>
                                      <m:e>
                                        <m:r>
                                          <a:rPr lang="en-US" sz="1200">
                                            <a:effectLst/>
                                            <a:latin typeface="Cambria Math" panose="02040503050406030204" pitchFamily="18" charset="0"/>
                                          </a:rPr>
                                          <m:t>𝑐</m:t>
                                        </m:r>
                                      </m:e>
                                      <m:sub>
                                        <m:r>
                                          <a:rPr lang="en-US" sz="1200">
                                            <a:effectLst/>
                                            <a:latin typeface="Cambria Math" panose="02040503050406030204" pitchFamily="18" charset="0"/>
                                          </a:rPr>
                                          <m:t>3</m:t>
                                        </m:r>
                                      </m:sub>
                                      <m:sup>
                                        <m:r>
                                          <a:rPr lang="en-US" sz="1200">
                                            <a:effectLst/>
                                            <a:latin typeface="Cambria Math" panose="02040503050406030204" pitchFamily="18" charset="0"/>
                                          </a:rPr>
                                          <m:t>(1)</m:t>
                                        </m:r>
                                      </m:sup>
                                    </m:sSubSup>
                                  </m:e>
                                </m:d>
                              </m:oMath>
                              <m:oMath xmlns:m="http://schemas.openxmlformats.org/officeDocument/2006/math">
                                <m:sSubSup>
                                  <m:sSubSupPr>
                                    <m:ctrlPr>
                                      <a:rPr lang="en-US" sz="1200" i="1">
                                        <a:effectLst/>
                                        <a:latin typeface="Cambria Math" panose="02040503050406030204" pitchFamily="18" charset="0"/>
                                      </a:rPr>
                                    </m:ctrlPr>
                                  </m:sSubSupPr>
                                  <m:e>
                                    <m:r>
                                      <a:rPr lang="en-US" sz="1200">
                                        <a:effectLst/>
                                        <a:latin typeface="Cambria Math" panose="02040503050406030204" pitchFamily="18" charset="0"/>
                                      </a:rPr>
                                      <m:t>𝒞</m:t>
                                    </m:r>
                                  </m:e>
                                  <m:sub>
                                    <m:r>
                                      <a:rPr lang="en-US" sz="1200">
                                        <a:effectLst/>
                                        <a:latin typeface="Cambria Math" panose="02040503050406030204" pitchFamily="18" charset="0"/>
                                      </a:rPr>
                                      <m:t>2</m:t>
                                    </m:r>
                                  </m:sub>
                                  <m:sup>
                                    <m:r>
                                      <a:rPr lang="en-US" sz="1200">
                                        <a:effectLst/>
                                        <a:latin typeface="Cambria Math" panose="02040503050406030204" pitchFamily="18" charset="0"/>
                                      </a:rPr>
                                      <m:t>(2)</m:t>
                                    </m:r>
                                  </m:sup>
                                </m:sSubSup>
                                <m:r>
                                  <m:rPr>
                                    <m:aln/>
                                  </m:rPr>
                                  <a:rPr lang="en-US" sz="1200">
                                    <a:effectLst/>
                                    <a:latin typeface="Cambria Math" panose="02040503050406030204" pitchFamily="18" charset="0"/>
                                  </a:rPr>
                                  <m:t>=</m:t>
                                </m:r>
                                <m:d>
                                  <m:dPr>
                                    <m:begChr m:val="{"/>
                                    <m:endChr m:val="}"/>
                                    <m:ctrlPr>
                                      <a:rPr lang="en-US" sz="1200" i="1">
                                        <a:effectLst/>
                                        <a:latin typeface="Cambria Math" panose="02040503050406030204" pitchFamily="18" charset="0"/>
                                      </a:rPr>
                                    </m:ctrlPr>
                                  </m:dPr>
                                  <m:e>
                                    <m:sSubSup>
                                      <m:sSubSupPr>
                                        <m:ctrlPr>
                                          <a:rPr lang="en-US" sz="1200" i="1">
                                            <a:effectLst/>
                                            <a:latin typeface="Cambria Math" panose="02040503050406030204" pitchFamily="18" charset="0"/>
                                          </a:rPr>
                                        </m:ctrlPr>
                                      </m:sSubSupPr>
                                      <m:e>
                                        <m:r>
                                          <a:rPr lang="en-US" sz="1200">
                                            <a:effectLst/>
                                            <a:latin typeface="Cambria Math" panose="02040503050406030204" pitchFamily="18" charset="0"/>
                                          </a:rPr>
                                          <m:t>𝑐</m:t>
                                        </m:r>
                                      </m:e>
                                      <m:sub>
                                        <m:r>
                                          <a:rPr lang="en-US" sz="1200">
                                            <a:effectLst/>
                                            <a:latin typeface="Cambria Math" panose="02040503050406030204" pitchFamily="18" charset="0"/>
                                          </a:rPr>
                                          <m:t>2</m:t>
                                        </m:r>
                                      </m:sub>
                                      <m:sup>
                                        <m:r>
                                          <a:rPr lang="en-US" sz="1200">
                                            <a:effectLst/>
                                            <a:latin typeface="Cambria Math" panose="02040503050406030204" pitchFamily="18" charset="0"/>
                                          </a:rPr>
                                          <m:t>(1)</m:t>
                                        </m:r>
                                      </m:sup>
                                    </m:sSubSup>
                                    <m:r>
                                      <a:rPr lang="en-US" sz="1200">
                                        <a:effectLst/>
                                        <a:latin typeface="Cambria Math" panose="02040503050406030204" pitchFamily="18" charset="0"/>
                                      </a:rPr>
                                      <m:t>,</m:t>
                                    </m:r>
                                    <m:sSubSup>
                                      <m:sSubSupPr>
                                        <m:ctrlPr>
                                          <a:rPr lang="en-US" sz="1200" i="1">
                                            <a:effectLst/>
                                            <a:latin typeface="Cambria Math" panose="02040503050406030204" pitchFamily="18" charset="0"/>
                                          </a:rPr>
                                        </m:ctrlPr>
                                      </m:sSubSupPr>
                                      <m:e>
                                        <m:r>
                                          <a:rPr lang="en-US" sz="1200">
                                            <a:effectLst/>
                                            <a:latin typeface="Cambria Math" panose="02040503050406030204" pitchFamily="18" charset="0"/>
                                          </a:rPr>
                                          <m:t>𝑐</m:t>
                                        </m:r>
                                      </m:e>
                                      <m:sub>
                                        <m:r>
                                          <a:rPr lang="en-US" sz="1200">
                                            <a:effectLst/>
                                            <a:latin typeface="Cambria Math" panose="02040503050406030204" pitchFamily="18" charset="0"/>
                                          </a:rPr>
                                          <m:t>4</m:t>
                                        </m:r>
                                      </m:sub>
                                      <m:sup>
                                        <m:r>
                                          <a:rPr lang="en-US" sz="1200">
                                            <a:effectLst/>
                                            <a:latin typeface="Cambria Math" panose="02040503050406030204" pitchFamily="18" charset="0"/>
                                          </a:rPr>
                                          <m:t>(1)</m:t>
                                        </m:r>
                                      </m:sup>
                                    </m:sSubSup>
                                  </m:e>
                                </m:d>
                                <m:r>
                                  <a:rPr lang="en-US" sz="1200">
                                    <a:effectLst/>
                                    <a:latin typeface="Cambria Math" panose="02040503050406030204" pitchFamily="18" charset="0"/>
                                  </a:rPr>
                                  <m:t>, </m:t>
                                </m:r>
                              </m:oMath>
                              <m:oMath xmlns:m="http://schemas.openxmlformats.org/officeDocument/2006/math">
                                <m:sSubSup>
                                  <m:sSubSupPr>
                                    <m:ctrlPr>
                                      <a:rPr lang="en-US" sz="1200" i="1">
                                        <a:effectLst/>
                                        <a:latin typeface="Cambria Math" panose="02040503050406030204" pitchFamily="18" charset="0"/>
                                      </a:rPr>
                                    </m:ctrlPr>
                                  </m:sSubSupPr>
                                  <m:e>
                                    <m:r>
                                      <a:rPr lang="en-US" sz="1200">
                                        <a:effectLst/>
                                        <a:latin typeface="Cambria Math" panose="02040503050406030204" pitchFamily="18" charset="0"/>
                                      </a:rPr>
                                      <m:t>𝒞</m:t>
                                    </m:r>
                                  </m:e>
                                  <m:sub>
                                    <m:r>
                                      <a:rPr lang="en-US" sz="1200">
                                        <a:effectLst/>
                                        <a:latin typeface="Cambria Math" panose="02040503050406030204" pitchFamily="18" charset="0"/>
                                      </a:rPr>
                                      <m:t>3</m:t>
                                    </m:r>
                                  </m:sub>
                                  <m:sup>
                                    <m:r>
                                      <a:rPr lang="en-US" sz="1200">
                                        <a:effectLst/>
                                        <a:latin typeface="Cambria Math" panose="02040503050406030204" pitchFamily="18" charset="0"/>
                                      </a:rPr>
                                      <m:t>(2)</m:t>
                                    </m:r>
                                  </m:sup>
                                </m:sSubSup>
                                <m:r>
                                  <m:rPr>
                                    <m:aln/>
                                  </m:rPr>
                                  <a:rPr lang="en-US" sz="1200">
                                    <a:effectLst/>
                                    <a:latin typeface="Cambria Math" panose="02040503050406030204" pitchFamily="18" charset="0"/>
                                  </a:rPr>
                                  <m:t>=</m:t>
                                </m:r>
                                <m:d>
                                  <m:dPr>
                                    <m:begChr m:val="{"/>
                                    <m:endChr m:val="}"/>
                                    <m:ctrlPr>
                                      <a:rPr lang="en-US" sz="1200" i="1">
                                        <a:effectLst/>
                                        <a:latin typeface="Cambria Math" panose="02040503050406030204" pitchFamily="18" charset="0"/>
                                      </a:rPr>
                                    </m:ctrlPr>
                                  </m:dPr>
                                  <m:e>
                                    <m:sSubSup>
                                      <m:sSubSupPr>
                                        <m:ctrlPr>
                                          <a:rPr lang="en-US" sz="1200" i="1">
                                            <a:effectLst/>
                                            <a:latin typeface="Cambria Math" panose="02040503050406030204" pitchFamily="18" charset="0"/>
                                          </a:rPr>
                                        </m:ctrlPr>
                                      </m:sSubSupPr>
                                      <m:e>
                                        <m:r>
                                          <a:rPr lang="en-US" sz="1200">
                                            <a:effectLst/>
                                            <a:latin typeface="Cambria Math" panose="02040503050406030204" pitchFamily="18" charset="0"/>
                                          </a:rPr>
                                          <m:t>𝑐</m:t>
                                        </m:r>
                                      </m:e>
                                      <m:sub>
                                        <m:r>
                                          <a:rPr lang="en-US" sz="1200">
                                            <a:effectLst/>
                                            <a:latin typeface="Cambria Math" panose="02040503050406030204" pitchFamily="18" charset="0"/>
                                          </a:rPr>
                                          <m:t>5</m:t>
                                        </m:r>
                                      </m:sub>
                                      <m:sup>
                                        <m:r>
                                          <a:rPr lang="en-US" sz="1200">
                                            <a:effectLst/>
                                            <a:latin typeface="Cambria Math" panose="02040503050406030204" pitchFamily="18" charset="0"/>
                                          </a:rPr>
                                          <m:t>(1)</m:t>
                                        </m:r>
                                      </m:sup>
                                    </m:sSubSup>
                                    <m:r>
                                      <a:rPr lang="en-US" sz="1200">
                                        <a:effectLst/>
                                        <a:latin typeface="Cambria Math" panose="02040503050406030204" pitchFamily="18" charset="0"/>
                                      </a:rPr>
                                      <m:t>,</m:t>
                                    </m:r>
                                    <m:sSubSup>
                                      <m:sSubSupPr>
                                        <m:ctrlPr>
                                          <a:rPr lang="en-US" sz="1200" i="1">
                                            <a:effectLst/>
                                            <a:latin typeface="Cambria Math" panose="02040503050406030204" pitchFamily="18" charset="0"/>
                                          </a:rPr>
                                        </m:ctrlPr>
                                      </m:sSubSupPr>
                                      <m:e>
                                        <m:r>
                                          <a:rPr lang="en-US" sz="1200">
                                            <a:effectLst/>
                                            <a:latin typeface="Cambria Math" panose="02040503050406030204" pitchFamily="18" charset="0"/>
                                          </a:rPr>
                                          <m:t>𝑐</m:t>
                                        </m:r>
                                      </m:e>
                                      <m:sub>
                                        <m:r>
                                          <a:rPr lang="en-US" sz="1200">
                                            <a:effectLst/>
                                            <a:latin typeface="Cambria Math" panose="02040503050406030204" pitchFamily="18" charset="0"/>
                                          </a:rPr>
                                          <m:t>6</m:t>
                                        </m:r>
                                      </m:sub>
                                      <m:sup>
                                        <m:r>
                                          <a:rPr lang="en-US" sz="1200">
                                            <a:effectLst/>
                                            <a:latin typeface="Cambria Math" panose="02040503050406030204" pitchFamily="18" charset="0"/>
                                          </a:rPr>
                                          <m:t>(1)</m:t>
                                        </m:r>
                                      </m:sup>
                                    </m:sSubSup>
                                  </m:e>
                                </m:d>
                              </m:oMath>
                              <m:oMath xmlns:m="http://schemas.openxmlformats.org/officeDocument/2006/math">
                                <m:sSubSup>
                                  <m:sSubSupPr>
                                    <m:ctrlPr>
                                      <a:rPr lang="en-US" sz="1200" i="1">
                                        <a:effectLst/>
                                        <a:latin typeface="Cambria Math" panose="02040503050406030204" pitchFamily="18" charset="0"/>
                                      </a:rPr>
                                    </m:ctrlPr>
                                  </m:sSubSupPr>
                                  <m:e>
                                    <m:r>
                                      <a:rPr lang="en-US" sz="1200">
                                        <a:effectLst/>
                                        <a:latin typeface="Cambria Math" panose="02040503050406030204" pitchFamily="18" charset="0"/>
                                      </a:rPr>
                                      <m:t>𝒞</m:t>
                                    </m:r>
                                  </m:e>
                                  <m:sub>
                                    <m:r>
                                      <a:rPr lang="en-US" sz="1200">
                                        <a:effectLst/>
                                        <a:latin typeface="Cambria Math" panose="02040503050406030204" pitchFamily="18" charset="0"/>
                                      </a:rPr>
                                      <m:t>1</m:t>
                                    </m:r>
                                  </m:sub>
                                  <m:sup>
                                    <m:r>
                                      <a:rPr lang="en-US" sz="1200">
                                        <a:effectLst/>
                                        <a:latin typeface="Cambria Math" panose="02040503050406030204" pitchFamily="18" charset="0"/>
                                      </a:rPr>
                                      <m:t>(3)</m:t>
                                    </m:r>
                                  </m:sup>
                                </m:sSubSup>
                                <m:r>
                                  <m:rPr>
                                    <m:aln/>
                                  </m:rPr>
                                  <a:rPr lang="en-US" sz="1200">
                                    <a:effectLst/>
                                    <a:latin typeface="Cambria Math" panose="02040503050406030204" pitchFamily="18" charset="0"/>
                                  </a:rPr>
                                  <m:t>=</m:t>
                                </m:r>
                                <m:d>
                                  <m:dPr>
                                    <m:begChr m:val="{"/>
                                    <m:endChr m:val="}"/>
                                    <m:ctrlPr>
                                      <a:rPr lang="en-US" sz="1200" i="1">
                                        <a:effectLst/>
                                        <a:latin typeface="Cambria Math" panose="02040503050406030204" pitchFamily="18" charset="0"/>
                                      </a:rPr>
                                    </m:ctrlPr>
                                  </m:dPr>
                                  <m:e>
                                    <m:sSubSup>
                                      <m:sSubSupPr>
                                        <m:ctrlPr>
                                          <a:rPr lang="en-US" sz="1200" i="1">
                                            <a:effectLst/>
                                            <a:latin typeface="Cambria Math" panose="02040503050406030204" pitchFamily="18" charset="0"/>
                                          </a:rPr>
                                        </m:ctrlPr>
                                      </m:sSubSupPr>
                                      <m:e>
                                        <m:r>
                                          <a:rPr lang="en-US" sz="1200">
                                            <a:effectLst/>
                                            <a:latin typeface="Cambria Math" panose="02040503050406030204" pitchFamily="18" charset="0"/>
                                          </a:rPr>
                                          <m:t>𝑐</m:t>
                                        </m:r>
                                      </m:e>
                                      <m:sub>
                                        <m:r>
                                          <a:rPr lang="en-US" sz="1200">
                                            <a:effectLst/>
                                            <a:latin typeface="Cambria Math" panose="02040503050406030204" pitchFamily="18" charset="0"/>
                                          </a:rPr>
                                          <m:t>1</m:t>
                                        </m:r>
                                      </m:sub>
                                      <m:sup>
                                        <m:r>
                                          <a:rPr lang="en-US" sz="1200">
                                            <a:effectLst/>
                                            <a:latin typeface="Cambria Math" panose="02040503050406030204" pitchFamily="18" charset="0"/>
                                          </a:rPr>
                                          <m:t>(2)</m:t>
                                        </m:r>
                                      </m:sup>
                                    </m:sSubSup>
                                    <m:r>
                                      <a:rPr lang="en-US" sz="1200">
                                        <a:effectLst/>
                                        <a:latin typeface="Cambria Math" panose="02040503050406030204" pitchFamily="18" charset="0"/>
                                      </a:rPr>
                                      <m:t>,</m:t>
                                    </m:r>
                                    <m:sSubSup>
                                      <m:sSubSupPr>
                                        <m:ctrlPr>
                                          <a:rPr lang="en-US" sz="1200" i="1">
                                            <a:effectLst/>
                                            <a:latin typeface="Cambria Math" panose="02040503050406030204" pitchFamily="18" charset="0"/>
                                          </a:rPr>
                                        </m:ctrlPr>
                                      </m:sSubSupPr>
                                      <m:e>
                                        <m:r>
                                          <a:rPr lang="en-US" sz="1200">
                                            <a:effectLst/>
                                            <a:latin typeface="Cambria Math" panose="02040503050406030204" pitchFamily="18" charset="0"/>
                                          </a:rPr>
                                          <m:t>𝑐</m:t>
                                        </m:r>
                                      </m:e>
                                      <m:sub>
                                        <m:r>
                                          <a:rPr lang="en-US" sz="1200">
                                            <a:effectLst/>
                                            <a:latin typeface="Cambria Math" panose="02040503050406030204" pitchFamily="18" charset="0"/>
                                          </a:rPr>
                                          <m:t>2</m:t>
                                        </m:r>
                                      </m:sub>
                                      <m:sup>
                                        <m:r>
                                          <a:rPr lang="en-US" sz="1200">
                                            <a:effectLst/>
                                            <a:latin typeface="Cambria Math" panose="02040503050406030204" pitchFamily="18" charset="0"/>
                                          </a:rPr>
                                          <m:t>(2)</m:t>
                                        </m:r>
                                      </m:sup>
                                    </m:sSubSup>
                                    <m:r>
                                      <a:rPr lang="en-US" sz="1200">
                                        <a:effectLst/>
                                        <a:latin typeface="Cambria Math" panose="02040503050406030204" pitchFamily="18" charset="0"/>
                                      </a:rPr>
                                      <m:t>,</m:t>
                                    </m:r>
                                    <m:sSub>
                                      <m:sSubPr>
                                        <m:ctrlPr>
                                          <a:rPr lang="en-US" sz="1200" i="1">
                                            <a:effectLst/>
                                            <a:latin typeface="Cambria Math" panose="02040503050406030204" pitchFamily="18" charset="0"/>
                                          </a:rPr>
                                        </m:ctrlPr>
                                      </m:sSubPr>
                                      <m:e>
                                        <m:r>
                                          <a:rPr lang="en-US" sz="1200">
                                            <a:effectLst/>
                                            <a:latin typeface="Cambria Math" panose="02040503050406030204" pitchFamily="18" charset="0"/>
                                          </a:rPr>
                                          <m:t>𝑧</m:t>
                                        </m:r>
                                      </m:e>
                                      <m:sub>
                                        <m:r>
                                          <a:rPr lang="en-US" sz="1200">
                                            <a:effectLst/>
                                            <a:latin typeface="Cambria Math" panose="02040503050406030204" pitchFamily="18" charset="0"/>
                                          </a:rPr>
                                          <m:t>10</m:t>
                                        </m:r>
                                      </m:sub>
                                    </m:sSub>
                                  </m:e>
                                </m:d>
                                <m:r>
                                  <a:rPr lang="en-US" sz="1200">
                                    <a:effectLst/>
                                    <a:latin typeface="Cambria Math" panose="02040503050406030204" pitchFamily="18" charset="0"/>
                                  </a:rPr>
                                  <m:t>, </m:t>
                                </m:r>
                              </m:oMath>
                              <m:oMath xmlns:m="http://schemas.openxmlformats.org/officeDocument/2006/math">
                                <m:sSubSup>
                                  <m:sSubSupPr>
                                    <m:ctrlPr>
                                      <a:rPr lang="en-US" sz="1200" i="1">
                                        <a:effectLst/>
                                        <a:latin typeface="Cambria Math" panose="02040503050406030204" pitchFamily="18" charset="0"/>
                                      </a:rPr>
                                    </m:ctrlPr>
                                  </m:sSubSupPr>
                                  <m:e>
                                    <m:r>
                                      <a:rPr lang="en-US" sz="1200">
                                        <a:effectLst/>
                                        <a:latin typeface="Cambria Math" panose="02040503050406030204" pitchFamily="18" charset="0"/>
                                      </a:rPr>
                                      <m:t>𝒞</m:t>
                                    </m:r>
                                  </m:e>
                                  <m:sub>
                                    <m:r>
                                      <a:rPr lang="en-US" sz="1200">
                                        <a:effectLst/>
                                        <a:latin typeface="Cambria Math" panose="02040503050406030204" pitchFamily="18" charset="0"/>
                                      </a:rPr>
                                      <m:t>2</m:t>
                                    </m:r>
                                  </m:sub>
                                  <m:sup>
                                    <m:r>
                                      <a:rPr lang="en-US" sz="1200">
                                        <a:effectLst/>
                                        <a:latin typeface="Cambria Math" panose="02040503050406030204" pitchFamily="18" charset="0"/>
                                      </a:rPr>
                                      <m:t>(3)</m:t>
                                    </m:r>
                                  </m:sup>
                                </m:sSubSup>
                                <m:r>
                                  <m:rPr>
                                    <m:aln/>
                                  </m:rPr>
                                  <a:rPr lang="en-US" sz="1200">
                                    <a:effectLst/>
                                    <a:latin typeface="Cambria Math" panose="02040503050406030204" pitchFamily="18" charset="0"/>
                                  </a:rPr>
                                  <m:t>=</m:t>
                                </m:r>
                                <m:d>
                                  <m:dPr>
                                    <m:begChr m:val="{"/>
                                    <m:endChr m:val="}"/>
                                    <m:ctrlPr>
                                      <a:rPr lang="en-US" sz="1200" i="1">
                                        <a:effectLst/>
                                        <a:latin typeface="Cambria Math" panose="02040503050406030204" pitchFamily="18" charset="0"/>
                                      </a:rPr>
                                    </m:ctrlPr>
                                  </m:dPr>
                                  <m:e>
                                    <m:sSubSup>
                                      <m:sSubSupPr>
                                        <m:ctrlPr>
                                          <a:rPr lang="en-US" sz="1200" i="1">
                                            <a:effectLst/>
                                            <a:latin typeface="Cambria Math" panose="02040503050406030204" pitchFamily="18" charset="0"/>
                                          </a:rPr>
                                        </m:ctrlPr>
                                      </m:sSubSupPr>
                                      <m:e>
                                        <m:r>
                                          <a:rPr lang="en-US" sz="1200">
                                            <a:effectLst/>
                                            <a:latin typeface="Cambria Math" panose="02040503050406030204" pitchFamily="18" charset="0"/>
                                          </a:rPr>
                                          <m:t>𝑐</m:t>
                                        </m:r>
                                      </m:e>
                                      <m:sub>
                                        <m:r>
                                          <a:rPr lang="en-US" sz="1200">
                                            <a:effectLst/>
                                            <a:latin typeface="Cambria Math" panose="02040503050406030204" pitchFamily="18" charset="0"/>
                                          </a:rPr>
                                          <m:t>2</m:t>
                                        </m:r>
                                      </m:sub>
                                      <m:sup>
                                        <m:r>
                                          <a:rPr lang="en-US" sz="1200">
                                            <a:effectLst/>
                                            <a:latin typeface="Cambria Math" panose="02040503050406030204" pitchFamily="18" charset="0"/>
                                          </a:rPr>
                                          <m:t>(2)</m:t>
                                        </m:r>
                                      </m:sup>
                                    </m:sSubSup>
                                    <m:r>
                                      <a:rPr lang="en-US" sz="1200">
                                        <a:effectLst/>
                                        <a:latin typeface="Cambria Math" panose="02040503050406030204" pitchFamily="18" charset="0"/>
                                      </a:rPr>
                                      <m:t>,1−</m:t>
                                    </m:r>
                                    <m:sSub>
                                      <m:sSubPr>
                                        <m:ctrlPr>
                                          <a:rPr lang="en-US" sz="1200" i="1">
                                            <a:effectLst/>
                                            <a:latin typeface="Cambria Math" panose="02040503050406030204" pitchFamily="18" charset="0"/>
                                          </a:rPr>
                                        </m:ctrlPr>
                                      </m:sSubPr>
                                      <m:e>
                                        <m:r>
                                          <a:rPr lang="en-US" sz="1200">
                                            <a:effectLst/>
                                            <a:latin typeface="Cambria Math" panose="02040503050406030204" pitchFamily="18" charset="0"/>
                                          </a:rPr>
                                          <m:t>𝑧</m:t>
                                        </m:r>
                                      </m:e>
                                      <m:sub>
                                        <m:r>
                                          <a:rPr lang="en-US" sz="1200">
                                            <a:effectLst/>
                                            <a:latin typeface="Cambria Math" panose="02040503050406030204" pitchFamily="18" charset="0"/>
                                          </a:rPr>
                                          <m:t>8</m:t>
                                        </m:r>
                                      </m:sub>
                                    </m:sSub>
                                    <m:r>
                                      <a:rPr lang="en-US" sz="1200">
                                        <a:effectLst/>
                                        <a:latin typeface="Cambria Math" panose="02040503050406030204" pitchFamily="18" charset="0"/>
                                      </a:rPr>
                                      <m:t>,</m:t>
                                    </m:r>
                                    <m:sSub>
                                      <m:sSubPr>
                                        <m:ctrlPr>
                                          <a:rPr lang="en-US" sz="1200" i="1">
                                            <a:effectLst/>
                                            <a:latin typeface="Cambria Math" panose="02040503050406030204" pitchFamily="18" charset="0"/>
                                          </a:rPr>
                                        </m:ctrlPr>
                                      </m:sSubPr>
                                      <m:e>
                                        <m:r>
                                          <a:rPr lang="en-US" sz="1200">
                                            <a:effectLst/>
                                            <a:latin typeface="Cambria Math" panose="02040503050406030204" pitchFamily="18" charset="0"/>
                                          </a:rPr>
                                          <m:t>𝑧</m:t>
                                        </m:r>
                                      </m:e>
                                      <m:sub>
                                        <m:r>
                                          <a:rPr lang="en-US" sz="1200">
                                            <a:effectLst/>
                                            <a:latin typeface="Cambria Math" panose="02040503050406030204" pitchFamily="18" charset="0"/>
                                          </a:rPr>
                                          <m:t>10</m:t>
                                        </m:r>
                                      </m:sub>
                                    </m:sSub>
                                  </m:e>
                                </m:d>
                              </m:oMath>
                              <m:oMath xmlns:m="http://schemas.openxmlformats.org/officeDocument/2006/math">
                                <m:sSubSup>
                                  <m:sSubSupPr>
                                    <m:ctrlPr>
                                      <a:rPr lang="en-US" sz="1200" i="1">
                                        <a:effectLst/>
                                        <a:latin typeface="Cambria Math" panose="02040503050406030204" pitchFamily="18" charset="0"/>
                                      </a:rPr>
                                    </m:ctrlPr>
                                  </m:sSubSupPr>
                                  <m:e>
                                    <m:r>
                                      <a:rPr lang="en-US" sz="1200">
                                        <a:effectLst/>
                                        <a:latin typeface="Cambria Math" panose="02040503050406030204" pitchFamily="18" charset="0"/>
                                      </a:rPr>
                                      <m:t>𝒞</m:t>
                                    </m:r>
                                  </m:e>
                                  <m:sub>
                                    <m:r>
                                      <a:rPr lang="en-US" sz="1200">
                                        <a:effectLst/>
                                        <a:latin typeface="Cambria Math" panose="02040503050406030204" pitchFamily="18" charset="0"/>
                                      </a:rPr>
                                      <m:t>1</m:t>
                                    </m:r>
                                  </m:sub>
                                  <m:sup>
                                    <m:r>
                                      <a:rPr lang="en-US" sz="1200">
                                        <a:effectLst/>
                                        <a:latin typeface="Cambria Math" panose="02040503050406030204" pitchFamily="18" charset="0"/>
                                      </a:rPr>
                                      <m:t>(4)</m:t>
                                    </m:r>
                                  </m:sup>
                                </m:sSubSup>
                                <m:r>
                                  <m:rPr>
                                    <m:aln/>
                                  </m:rPr>
                                  <a:rPr lang="en-US" sz="1200">
                                    <a:effectLst/>
                                    <a:latin typeface="Cambria Math" panose="02040503050406030204" pitchFamily="18" charset="0"/>
                                  </a:rPr>
                                  <m:t>=</m:t>
                                </m:r>
                                <m:r>
                                  <a:rPr lang="en-US" sz="1200">
                                    <a:effectLst/>
                                    <a:latin typeface="Cambria Math" panose="02040503050406030204" pitchFamily="18" charset="0"/>
                                  </a:rPr>
                                  <m:t>{</m:t>
                                </m:r>
                                <m:sSubSup>
                                  <m:sSubSupPr>
                                    <m:ctrlPr>
                                      <a:rPr lang="en-US" sz="1200" i="1">
                                        <a:effectLst/>
                                        <a:latin typeface="Cambria Math" panose="02040503050406030204" pitchFamily="18" charset="0"/>
                                      </a:rPr>
                                    </m:ctrlPr>
                                  </m:sSubSupPr>
                                  <m:e>
                                    <m:r>
                                      <a:rPr lang="en-US" sz="1200">
                                        <a:effectLst/>
                                        <a:latin typeface="Cambria Math" panose="02040503050406030204" pitchFamily="18" charset="0"/>
                                      </a:rPr>
                                      <m:t>𝑐</m:t>
                                    </m:r>
                                  </m:e>
                                  <m:sub>
                                    <m:r>
                                      <a:rPr lang="en-US" sz="1200">
                                        <a:effectLst/>
                                        <a:latin typeface="Cambria Math" panose="02040503050406030204" pitchFamily="18" charset="0"/>
                                      </a:rPr>
                                      <m:t>1</m:t>
                                    </m:r>
                                  </m:sub>
                                  <m:sup>
                                    <m:r>
                                      <a:rPr lang="en-US" sz="1200">
                                        <a:effectLst/>
                                        <a:latin typeface="Cambria Math" panose="02040503050406030204" pitchFamily="18" charset="0"/>
                                      </a:rPr>
                                      <m:t>(2)</m:t>
                                    </m:r>
                                  </m:sup>
                                </m:sSubSup>
                                <m:r>
                                  <a:rPr lang="en-US" sz="1200">
                                    <a:effectLst/>
                                    <a:latin typeface="Cambria Math" panose="02040503050406030204" pitchFamily="18" charset="0"/>
                                  </a:rPr>
                                  <m:t>,</m:t>
                                </m:r>
                                <m:sSubSup>
                                  <m:sSubSupPr>
                                    <m:ctrlPr>
                                      <a:rPr lang="en-US" sz="1200" i="1">
                                        <a:effectLst/>
                                        <a:latin typeface="Cambria Math" panose="02040503050406030204" pitchFamily="18" charset="0"/>
                                      </a:rPr>
                                    </m:ctrlPr>
                                  </m:sSubSupPr>
                                  <m:e>
                                    <m:r>
                                      <a:rPr lang="en-US" sz="1200">
                                        <a:effectLst/>
                                        <a:latin typeface="Cambria Math" panose="02040503050406030204" pitchFamily="18" charset="0"/>
                                      </a:rPr>
                                      <m:t>𝑐</m:t>
                                    </m:r>
                                  </m:e>
                                  <m:sub>
                                    <m:r>
                                      <a:rPr lang="en-US" sz="1200">
                                        <a:effectLst/>
                                        <a:latin typeface="Cambria Math" panose="02040503050406030204" pitchFamily="18" charset="0"/>
                                      </a:rPr>
                                      <m:t>2</m:t>
                                    </m:r>
                                  </m:sub>
                                  <m:sup>
                                    <m:r>
                                      <a:rPr lang="en-US" sz="1200">
                                        <a:effectLst/>
                                        <a:latin typeface="Cambria Math" panose="02040503050406030204" pitchFamily="18" charset="0"/>
                                      </a:rPr>
                                      <m:t>(2)</m:t>
                                    </m:r>
                                  </m:sup>
                                </m:sSubSup>
                                <m:r>
                                  <a:rPr lang="en-US" sz="1200">
                                    <a:effectLst/>
                                    <a:latin typeface="Cambria Math" panose="02040503050406030204" pitchFamily="18" charset="0"/>
                                  </a:rPr>
                                  <m:t>}</m:t>
                                </m:r>
                              </m:oMath>
                            </m:oMathPara>
                          </a14:m>
                          <a:endParaRPr lang="tr-TR" sz="12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1073945"/>
                      </a:ext>
                    </a:extLst>
                  </a:tr>
                </a:tbl>
              </a:graphicData>
            </a:graphic>
          </p:graphicFrame>
        </mc:Choice>
        <mc:Fallback xmlns="">
          <p:graphicFrame>
            <p:nvGraphicFramePr>
              <p:cNvPr id="4" name="Table 3">
                <a:extLst>
                  <a:ext uri="{FF2B5EF4-FFF2-40B4-BE49-F238E27FC236}">
                    <a16:creationId xmlns:a16="http://schemas.microsoft.com/office/drawing/2014/main" id="{20FA6669-5258-4D42-911D-CE1B7C3FAF82}"/>
                  </a:ext>
                </a:extLst>
              </p:cNvPr>
              <p:cNvGraphicFramePr>
                <a:graphicFrameLocks noGrp="1"/>
              </p:cNvGraphicFramePr>
              <p:nvPr>
                <p:extLst>
                  <p:ext uri="{D42A27DB-BD31-4B8C-83A1-F6EECF244321}">
                    <p14:modId xmlns:p14="http://schemas.microsoft.com/office/powerpoint/2010/main" val="2344713063"/>
                  </p:ext>
                </p:extLst>
              </p:nvPr>
            </p:nvGraphicFramePr>
            <p:xfrm>
              <a:off x="7516498" y="1073625"/>
              <a:ext cx="4224398" cy="2805339"/>
            </p:xfrm>
            <a:graphic>
              <a:graphicData uri="http://schemas.openxmlformats.org/drawingml/2006/table">
                <a:tbl>
                  <a:tblPr firstRow="1" firstCol="1" bandRow="1">
                    <a:tableStyleId>{2D5ABB26-0587-4C30-8999-92F81FD0307C}</a:tableStyleId>
                  </a:tblPr>
                  <a:tblGrid>
                    <a:gridCol w="2112199">
                      <a:extLst>
                        <a:ext uri="{9D8B030D-6E8A-4147-A177-3AD203B41FA5}">
                          <a16:colId xmlns:a16="http://schemas.microsoft.com/office/drawing/2014/main" val="642329100"/>
                        </a:ext>
                      </a:extLst>
                    </a:gridCol>
                    <a:gridCol w="2112199">
                      <a:extLst>
                        <a:ext uri="{9D8B030D-6E8A-4147-A177-3AD203B41FA5}">
                          <a16:colId xmlns:a16="http://schemas.microsoft.com/office/drawing/2014/main" val="2705746310"/>
                        </a:ext>
                      </a:extLst>
                    </a:gridCol>
                  </a:tblGrid>
                  <a:tr h="261500">
                    <a:tc>
                      <a:txBody>
                        <a:bodyPr/>
                        <a:lstStyle/>
                        <a:p>
                          <a:pPr algn="just">
                            <a:lnSpc>
                              <a:spcPct val="150000"/>
                            </a:lnSpc>
                          </a:pPr>
                          <a:r>
                            <a:rPr lang="en-US" sz="1200">
                              <a:effectLst/>
                            </a:rPr>
                            <a:t>Base Concepts</a:t>
                          </a:r>
                          <a:endParaRPr lang="tr-TR" sz="12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50000"/>
                            </a:lnSpc>
                          </a:pPr>
                          <a:r>
                            <a:rPr lang="en-US" sz="1200" dirty="0">
                              <a:effectLst/>
                            </a:rPr>
                            <a:t>Decisional Concepts</a:t>
                          </a:r>
                          <a:endParaRPr lang="tr-TR" sz="12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4246918569"/>
                      </a:ext>
                    </a:extLst>
                  </a:tr>
                  <a:tr h="2543839">
                    <a:tc>
                      <a:txBody>
                        <a:bodyPr/>
                        <a:lstStyle/>
                        <a:p>
                          <a:endParaRPr lang="tr-TR"/>
                        </a:p>
                      </a:txBody>
                      <a:tcPr marL="68580" marR="68580" marT="0" marB="0" anchor="ctr">
                        <a:blipFill>
                          <a:blip r:embed="rId6"/>
                          <a:stretch>
                            <a:fillRect t="-10287" r="-99712"/>
                          </a:stretch>
                        </a:blipFill>
                      </a:tcPr>
                    </a:tc>
                    <a:tc>
                      <a:txBody>
                        <a:bodyPr/>
                        <a:lstStyle/>
                        <a:p>
                          <a:endParaRPr lang="tr-TR"/>
                        </a:p>
                      </a:txBody>
                      <a:tcPr marL="68580" marR="68580" marT="0" marB="0" anchor="ctr">
                        <a:blipFill>
                          <a:blip r:embed="rId6"/>
                          <a:stretch>
                            <a:fillRect l="-100289" t="-10287"/>
                          </a:stretch>
                        </a:blipFill>
                      </a:tcPr>
                    </a:tc>
                    <a:extLst>
                      <a:ext uri="{0D108BD9-81ED-4DB2-BD59-A6C34878D82A}">
                        <a16:rowId xmlns:a16="http://schemas.microsoft.com/office/drawing/2014/main" val="31073945"/>
                      </a:ext>
                    </a:extLst>
                  </a:tr>
                </a:tbl>
              </a:graphicData>
            </a:graphic>
          </p:graphicFrame>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7BC3C359-A415-424F-9DE6-5B5DD8B6E6CD}"/>
                  </a:ext>
                </a:extLst>
              </p:cNvPr>
              <p:cNvSpPr txBox="1"/>
              <p:nvPr/>
            </p:nvSpPr>
            <p:spPr>
              <a:xfrm>
                <a:off x="7516498" y="4195094"/>
                <a:ext cx="4172582" cy="158928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tr-TR" i="1">
                              <a:latin typeface="Cambria Math" panose="02040503050406030204" pitchFamily="18" charset="0"/>
                            </a:rPr>
                          </m:ctrlPr>
                        </m:sSubSupPr>
                        <m:e>
                          <m:r>
                            <a:rPr lang="tr-TR" i="1">
                              <a:latin typeface="Cambria Math" panose="02040503050406030204" pitchFamily="18" charset="0"/>
                            </a:rPr>
                            <m:t>𝑎</m:t>
                          </m:r>
                        </m:e>
                        <m:sub>
                          <m:r>
                            <a:rPr lang="tr-TR" i="1">
                              <a:latin typeface="Cambria Math" panose="02040503050406030204" pitchFamily="18" charset="0"/>
                            </a:rPr>
                            <m:t>𝑛</m:t>
                          </m:r>
                          <m:r>
                            <a:rPr lang="tr-TR" i="0">
                              <a:latin typeface="Cambria Math" panose="02040503050406030204" pitchFamily="18" charset="0"/>
                            </a:rPr>
                            <m:t>,</m:t>
                          </m:r>
                          <m:r>
                            <a:rPr lang="tr-TR" i="1">
                              <a:latin typeface="Cambria Math" panose="02040503050406030204" pitchFamily="18" charset="0"/>
                            </a:rPr>
                            <m:t>𝑘</m:t>
                          </m:r>
                        </m:sub>
                        <m:sup>
                          <m:d>
                            <m:dPr>
                              <m:ctrlPr>
                                <a:rPr lang="tr-TR" i="1">
                                  <a:latin typeface="Cambria Math" panose="02040503050406030204" pitchFamily="18" charset="0"/>
                                </a:rPr>
                              </m:ctrlPr>
                            </m:dPr>
                            <m:e>
                              <m:r>
                                <a:rPr lang="tr-TR" i="0">
                                  <a:latin typeface="Cambria Math" panose="02040503050406030204" pitchFamily="18" charset="0"/>
                                </a:rPr>
                                <m:t>1</m:t>
                              </m:r>
                            </m:e>
                          </m:d>
                          <m:r>
                            <a:rPr lang="tr-TR" i="0">
                              <a:latin typeface="Cambria Math" panose="02040503050406030204" pitchFamily="18" charset="0"/>
                            </a:rPr>
                            <m:t>,</m:t>
                          </m:r>
                          <m:r>
                            <a:rPr lang="tr-TR" i="1">
                              <a:latin typeface="Cambria Math" panose="02040503050406030204" pitchFamily="18" charset="0"/>
                            </a:rPr>
                            <m:t>𝑖</m:t>
                          </m:r>
                        </m:sup>
                      </m:sSubSup>
                      <m:r>
                        <a:rPr lang="tr-TR" i="0">
                          <a:latin typeface="Cambria Math" panose="02040503050406030204" pitchFamily="18" charset="0"/>
                        </a:rPr>
                        <m:t>=</m:t>
                      </m:r>
                      <m:nary>
                        <m:naryPr>
                          <m:chr m:val="∑"/>
                          <m:limLoc m:val="undOvr"/>
                          <m:supHide m:val="on"/>
                          <m:ctrlPr>
                            <a:rPr lang="tr-TR" i="1">
                              <a:latin typeface="Cambria Math" panose="02040503050406030204" pitchFamily="18" charset="0"/>
                            </a:rPr>
                          </m:ctrlPr>
                        </m:naryPr>
                        <m:sub>
                          <m:r>
                            <a:rPr lang="tr-TR" i="1">
                              <a:latin typeface="Cambria Math" panose="02040503050406030204" pitchFamily="18" charset="0"/>
                            </a:rPr>
                            <m:t>𝑓</m:t>
                          </m:r>
                          <m:r>
                            <a:rPr lang="tr-TR" i="0">
                              <a:latin typeface="Cambria Math" panose="02040503050406030204" pitchFamily="18" charset="0"/>
                            </a:rPr>
                            <m:t>∈</m:t>
                          </m:r>
                          <m:sSub>
                            <m:sSubPr>
                              <m:ctrlPr>
                                <a:rPr lang="tr-TR" i="1">
                                  <a:latin typeface="Cambria Math" panose="02040503050406030204" pitchFamily="18" charset="0"/>
                                </a:rPr>
                              </m:ctrlPr>
                            </m:sSubPr>
                            <m:e>
                              <m:r>
                                <a:rPr lang="tr-TR" i="0">
                                  <a:latin typeface="Cambria Math" panose="02040503050406030204" pitchFamily="18" charset="0"/>
                                </a:rPr>
                                <m:t>𝒵</m:t>
                              </m:r>
                            </m:e>
                            <m:sub>
                              <m:r>
                                <a:rPr lang="tr-TR" i="1">
                                  <a:latin typeface="Cambria Math" panose="02040503050406030204" pitchFamily="18" charset="0"/>
                                </a:rPr>
                                <m:t>𝑛</m:t>
                              </m:r>
                            </m:sub>
                          </m:sSub>
                        </m:sub>
                        <m:sup/>
                        <m:e>
                          <m:sSub>
                            <m:sSubPr>
                              <m:ctrlPr>
                                <a:rPr lang="tr-TR" i="1">
                                  <a:latin typeface="Cambria Math" panose="02040503050406030204" pitchFamily="18" charset="0"/>
                                </a:rPr>
                              </m:ctrlPr>
                            </m:sSubPr>
                            <m:e>
                              <m:r>
                                <a:rPr lang="tr-TR" i="1">
                                  <a:latin typeface="Cambria Math" panose="02040503050406030204" pitchFamily="18" charset="0"/>
                                </a:rPr>
                                <m:t>𝜔</m:t>
                              </m:r>
                            </m:e>
                            <m:sub>
                              <m:r>
                                <a:rPr lang="tr-TR" i="1">
                                  <a:latin typeface="Cambria Math" panose="02040503050406030204" pitchFamily="18" charset="0"/>
                                </a:rPr>
                                <m:t>𝑛</m:t>
                              </m:r>
                              <m:r>
                                <a:rPr lang="tr-TR" i="0">
                                  <a:latin typeface="Cambria Math" panose="02040503050406030204" pitchFamily="18" charset="0"/>
                                </a:rPr>
                                <m:t>,</m:t>
                              </m:r>
                              <m:r>
                                <a:rPr lang="tr-TR" i="1">
                                  <a:latin typeface="Cambria Math" panose="02040503050406030204" pitchFamily="18" charset="0"/>
                                </a:rPr>
                                <m:t>𝑓</m:t>
                              </m:r>
                            </m:sub>
                          </m:sSub>
                          <m:r>
                            <a:rPr lang="tr-TR" i="0">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𝜇</m:t>
                              </m:r>
                            </m:e>
                            <m:sub>
                              <m:sSub>
                                <m:sSubPr>
                                  <m:ctrlPr>
                                    <a:rPr lang="tr-TR" i="1">
                                      <a:latin typeface="Cambria Math" panose="02040503050406030204" pitchFamily="18" charset="0"/>
                                    </a:rPr>
                                  </m:ctrlPr>
                                </m:sSubPr>
                                <m:e>
                                  <m:r>
                                    <a:rPr lang="tr-TR" i="0">
                                      <a:latin typeface="Cambria Math" panose="02040503050406030204" pitchFamily="18" charset="0"/>
                                    </a:rPr>
                                    <m:t>𝒜</m:t>
                                  </m:r>
                                </m:e>
                                <m:sub>
                                  <m:r>
                                    <a:rPr lang="tr-TR" i="1">
                                      <a:latin typeface="Cambria Math" panose="02040503050406030204" pitchFamily="18" charset="0"/>
                                    </a:rPr>
                                    <m:t>𝑛</m:t>
                                  </m:r>
                                  <m:r>
                                    <a:rPr lang="tr-TR" i="0">
                                      <a:latin typeface="Cambria Math" panose="02040503050406030204" pitchFamily="18" charset="0"/>
                                    </a:rPr>
                                    <m:t>,</m:t>
                                  </m:r>
                                  <m:r>
                                    <a:rPr lang="tr-TR" i="1">
                                      <a:latin typeface="Cambria Math" panose="02040503050406030204" pitchFamily="18" charset="0"/>
                                    </a:rPr>
                                    <m:t>𝑓</m:t>
                                  </m:r>
                                </m:sub>
                              </m:sSub>
                            </m:sub>
                          </m:sSub>
                          <m:d>
                            <m:dPr>
                              <m:ctrlPr>
                                <a:rPr lang="tr-TR" i="1">
                                  <a:latin typeface="Cambria Math" panose="02040503050406030204" pitchFamily="18" charset="0"/>
                                </a:rPr>
                              </m:ctrlPr>
                            </m:dPr>
                            <m:e>
                              <m:sSubSup>
                                <m:sSubSupPr>
                                  <m:ctrlPr>
                                    <a:rPr lang="tr-TR" i="1">
                                      <a:latin typeface="Cambria Math" panose="02040503050406030204" pitchFamily="18" charset="0"/>
                                    </a:rPr>
                                  </m:ctrlPr>
                                </m:sSubSupPr>
                                <m:e>
                                  <m:r>
                                    <a:rPr lang="tr-TR" i="1">
                                      <a:latin typeface="Cambria Math" panose="02040503050406030204" pitchFamily="18" charset="0"/>
                                    </a:rPr>
                                    <m:t>𝑧</m:t>
                                  </m:r>
                                </m:e>
                                <m:sub>
                                  <m:r>
                                    <a:rPr lang="tr-TR" i="1">
                                      <a:latin typeface="Cambria Math" panose="02040503050406030204" pitchFamily="18" charset="0"/>
                                    </a:rPr>
                                    <m:t>𝑓</m:t>
                                  </m:r>
                                  <m:r>
                                    <a:rPr lang="tr-TR" i="0">
                                      <a:latin typeface="Cambria Math" panose="02040503050406030204" pitchFamily="18" charset="0"/>
                                    </a:rPr>
                                    <m:t>,</m:t>
                                  </m:r>
                                  <m:r>
                                    <a:rPr lang="tr-TR" i="1">
                                      <a:latin typeface="Cambria Math" panose="02040503050406030204" pitchFamily="18" charset="0"/>
                                    </a:rPr>
                                    <m:t>𝑘</m:t>
                                  </m:r>
                                </m:sub>
                                <m:sup>
                                  <m:r>
                                    <a:rPr lang="tr-TR" i="1">
                                      <a:latin typeface="Cambria Math" panose="02040503050406030204" pitchFamily="18" charset="0"/>
                                    </a:rPr>
                                    <m:t>𝑖</m:t>
                                  </m:r>
                                </m:sup>
                              </m:sSubSup>
                            </m:e>
                          </m:d>
                        </m:e>
                      </m:nary>
                    </m:oMath>
                  </m:oMathPara>
                </a14:m>
                <a:endParaRPr lang="tr-TR"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Sup>
                        <m:sSubSupPr>
                          <m:ctrlPr>
                            <a:rPr lang="tr-TR" i="1">
                              <a:latin typeface="Cambria Math" panose="02040503050406030204" pitchFamily="18" charset="0"/>
                            </a:rPr>
                          </m:ctrlPr>
                        </m:sSubSupPr>
                        <m:e>
                          <m:r>
                            <a:rPr lang="tr-TR" i="1">
                              <a:latin typeface="Cambria Math" panose="02040503050406030204" pitchFamily="18" charset="0"/>
                            </a:rPr>
                            <m:t>𝑎</m:t>
                          </m:r>
                        </m:e>
                        <m:sub>
                          <m:r>
                            <a:rPr lang="tr-TR" i="1">
                              <a:latin typeface="Cambria Math" panose="02040503050406030204" pitchFamily="18" charset="0"/>
                            </a:rPr>
                            <m:t>𝑛</m:t>
                          </m:r>
                          <m:r>
                            <a:rPr lang="tr-TR" i="0">
                              <a:latin typeface="Cambria Math" panose="02040503050406030204" pitchFamily="18" charset="0"/>
                            </a:rPr>
                            <m:t>,</m:t>
                          </m:r>
                          <m:r>
                            <a:rPr lang="tr-TR" i="1">
                              <a:latin typeface="Cambria Math" panose="02040503050406030204" pitchFamily="18" charset="0"/>
                            </a:rPr>
                            <m:t>𝑘</m:t>
                          </m:r>
                        </m:sub>
                        <m:sup>
                          <m:d>
                            <m:dPr>
                              <m:ctrlPr>
                                <a:rPr lang="tr-TR" i="1">
                                  <a:latin typeface="Cambria Math" panose="02040503050406030204" pitchFamily="18" charset="0"/>
                                </a:rPr>
                              </m:ctrlPr>
                            </m:dPr>
                            <m:e>
                              <m:r>
                                <a:rPr lang="tr-TR" i="1">
                                  <a:latin typeface="Cambria Math" panose="02040503050406030204" pitchFamily="18" charset="0"/>
                                </a:rPr>
                                <m:t>𝑙</m:t>
                              </m:r>
                            </m:e>
                          </m:d>
                          <m:r>
                            <a:rPr lang="tr-TR" i="0">
                              <a:latin typeface="Cambria Math" panose="02040503050406030204" pitchFamily="18" charset="0"/>
                            </a:rPr>
                            <m:t>,</m:t>
                          </m:r>
                          <m:r>
                            <a:rPr lang="tr-TR" i="1">
                              <a:latin typeface="Cambria Math" panose="02040503050406030204" pitchFamily="18" charset="0"/>
                            </a:rPr>
                            <m:t>𝑖</m:t>
                          </m:r>
                        </m:sup>
                      </m:sSubSup>
                      <m:r>
                        <a:rPr lang="tr-TR" i="0">
                          <a:latin typeface="Cambria Math" panose="02040503050406030204" pitchFamily="18" charset="0"/>
                        </a:rPr>
                        <m:t>=</m:t>
                      </m:r>
                      <m:nary>
                        <m:naryPr>
                          <m:chr m:val="∑"/>
                          <m:limLoc m:val="undOvr"/>
                          <m:supHide m:val="on"/>
                          <m:ctrlPr>
                            <a:rPr lang="tr-TR" i="1">
                              <a:latin typeface="Cambria Math" panose="02040503050406030204" pitchFamily="18" charset="0"/>
                            </a:rPr>
                          </m:ctrlPr>
                        </m:naryPr>
                        <m:sub>
                          <m:r>
                            <a:rPr lang="tr-TR" i="1">
                              <a:latin typeface="Cambria Math" panose="02040503050406030204" pitchFamily="18" charset="0"/>
                            </a:rPr>
                            <m:t>𝑚</m:t>
                          </m:r>
                          <m:r>
                            <a:rPr lang="tr-TR" i="0">
                              <a:latin typeface="Cambria Math" panose="02040503050406030204" pitchFamily="18" charset="0"/>
                            </a:rPr>
                            <m:t>∈</m:t>
                          </m:r>
                          <m:sSubSup>
                            <m:sSubSupPr>
                              <m:ctrlPr>
                                <a:rPr lang="tr-TR" i="1">
                                  <a:latin typeface="Cambria Math" panose="02040503050406030204" pitchFamily="18" charset="0"/>
                                </a:rPr>
                              </m:ctrlPr>
                            </m:sSubSupPr>
                            <m:e>
                              <m:r>
                                <a:rPr lang="tr-TR" i="0">
                                  <a:latin typeface="Cambria Math" panose="02040503050406030204" pitchFamily="18" charset="0"/>
                                </a:rPr>
                                <m:t>𝒞</m:t>
                              </m:r>
                            </m:e>
                            <m:sub>
                              <m:r>
                                <a:rPr lang="tr-TR" i="1">
                                  <a:latin typeface="Cambria Math" panose="02040503050406030204" pitchFamily="18" charset="0"/>
                                </a:rPr>
                                <m:t>𝑛</m:t>
                              </m:r>
                            </m:sub>
                            <m:sup>
                              <m:d>
                                <m:dPr>
                                  <m:ctrlPr>
                                    <a:rPr lang="tr-TR" i="1">
                                      <a:latin typeface="Cambria Math" panose="02040503050406030204" pitchFamily="18" charset="0"/>
                                    </a:rPr>
                                  </m:ctrlPr>
                                </m:dPr>
                                <m:e>
                                  <m:r>
                                    <a:rPr lang="tr-TR" i="1">
                                      <a:latin typeface="Cambria Math" panose="02040503050406030204" pitchFamily="18" charset="0"/>
                                    </a:rPr>
                                    <m:t>𝑙</m:t>
                                  </m:r>
                                </m:e>
                              </m:d>
                            </m:sup>
                          </m:sSubSup>
                        </m:sub>
                        <m:sup/>
                        <m:e>
                          <m:sSubSup>
                            <m:sSubSupPr>
                              <m:ctrlPr>
                                <a:rPr lang="tr-TR" i="1">
                                  <a:latin typeface="Cambria Math" panose="02040503050406030204" pitchFamily="18" charset="0"/>
                                </a:rPr>
                              </m:ctrlPr>
                            </m:sSubSupPr>
                            <m:e>
                              <m:r>
                                <a:rPr lang="tr-TR" i="1">
                                  <a:latin typeface="Cambria Math" panose="02040503050406030204" pitchFamily="18" charset="0"/>
                                </a:rPr>
                                <m:t>𝜔</m:t>
                              </m:r>
                            </m:e>
                            <m:sub>
                              <m:r>
                                <a:rPr lang="tr-TR" i="1">
                                  <a:latin typeface="Cambria Math" panose="02040503050406030204" pitchFamily="18" charset="0"/>
                                </a:rPr>
                                <m:t>𝑛</m:t>
                              </m:r>
                              <m:r>
                                <a:rPr lang="tr-TR" i="0">
                                  <a:latin typeface="Cambria Math" panose="02040503050406030204" pitchFamily="18" charset="0"/>
                                </a:rPr>
                                <m:t>,</m:t>
                              </m:r>
                              <m:r>
                                <a:rPr lang="tr-TR" i="1">
                                  <a:latin typeface="Cambria Math" panose="02040503050406030204" pitchFamily="18" charset="0"/>
                                </a:rPr>
                                <m:t>𝑚</m:t>
                              </m:r>
                            </m:sub>
                            <m:sup>
                              <m:d>
                                <m:dPr>
                                  <m:ctrlPr>
                                    <a:rPr lang="tr-TR" i="1">
                                      <a:latin typeface="Cambria Math" panose="02040503050406030204" pitchFamily="18" charset="0"/>
                                    </a:rPr>
                                  </m:ctrlPr>
                                </m:dPr>
                                <m:e>
                                  <m:r>
                                    <a:rPr lang="tr-TR" i="1">
                                      <a:latin typeface="Cambria Math" panose="02040503050406030204" pitchFamily="18" charset="0"/>
                                    </a:rPr>
                                    <m:t>𝑙</m:t>
                                  </m:r>
                                </m:e>
                              </m:d>
                            </m:sup>
                          </m:sSubSup>
                          <m:r>
                            <a:rPr lang="tr-TR" i="0">
                              <a:latin typeface="Cambria Math" panose="02040503050406030204" pitchFamily="18" charset="0"/>
                            </a:rPr>
                            <m:t>⋅</m:t>
                          </m:r>
                          <m:sSubSup>
                            <m:sSubSupPr>
                              <m:ctrlPr>
                                <a:rPr lang="tr-TR" i="1">
                                  <a:latin typeface="Cambria Math" panose="02040503050406030204" pitchFamily="18" charset="0"/>
                                </a:rPr>
                              </m:ctrlPr>
                            </m:sSubSupPr>
                            <m:e>
                              <m:r>
                                <a:rPr lang="tr-TR" i="1">
                                  <a:latin typeface="Cambria Math" panose="02040503050406030204" pitchFamily="18" charset="0"/>
                                </a:rPr>
                                <m:t>𝑎</m:t>
                              </m:r>
                            </m:e>
                            <m:sub>
                              <m:r>
                                <a:rPr lang="tr-TR" i="1">
                                  <a:latin typeface="Cambria Math" panose="02040503050406030204" pitchFamily="18" charset="0"/>
                                </a:rPr>
                                <m:t>𝑚</m:t>
                              </m:r>
                              <m:r>
                                <a:rPr lang="tr-TR" i="0">
                                  <a:latin typeface="Cambria Math" panose="02040503050406030204" pitchFamily="18" charset="0"/>
                                </a:rPr>
                                <m:t>,</m:t>
                              </m:r>
                              <m:r>
                                <a:rPr lang="tr-TR" i="1">
                                  <a:latin typeface="Cambria Math" panose="02040503050406030204" pitchFamily="18" charset="0"/>
                                </a:rPr>
                                <m:t>𝑘</m:t>
                              </m:r>
                            </m:sub>
                            <m:sup>
                              <m:d>
                                <m:dPr>
                                  <m:ctrlPr>
                                    <a:rPr lang="tr-TR" i="1">
                                      <a:latin typeface="Cambria Math" panose="02040503050406030204" pitchFamily="18" charset="0"/>
                                    </a:rPr>
                                  </m:ctrlPr>
                                </m:dPr>
                                <m:e>
                                  <m:r>
                                    <a:rPr lang="tr-TR" i="1">
                                      <a:latin typeface="Cambria Math" panose="02040503050406030204" pitchFamily="18" charset="0"/>
                                    </a:rPr>
                                    <m:t>𝑙</m:t>
                                  </m:r>
                                  <m:r>
                                    <a:rPr lang="tr-TR" i="0">
                                      <a:latin typeface="Cambria Math" panose="02040503050406030204" pitchFamily="18" charset="0"/>
                                    </a:rPr>
                                    <m:t>−1</m:t>
                                  </m:r>
                                </m:e>
                              </m:d>
                              <m:r>
                                <a:rPr lang="tr-TR" i="0">
                                  <a:latin typeface="Cambria Math" panose="02040503050406030204" pitchFamily="18" charset="0"/>
                                </a:rPr>
                                <m:t>,</m:t>
                              </m:r>
                              <m:r>
                                <a:rPr lang="tr-TR" i="1">
                                  <a:latin typeface="Cambria Math" panose="02040503050406030204" pitchFamily="18" charset="0"/>
                                </a:rPr>
                                <m:t>𝑖</m:t>
                              </m:r>
                            </m:sup>
                          </m:sSubSup>
                        </m:e>
                      </m:nary>
                      <m:r>
                        <a:rPr lang="tr-TR" i="0">
                          <a:latin typeface="Cambria Math" panose="02040503050406030204" pitchFamily="18" charset="0"/>
                        </a:rPr>
                        <m:t>, </m:t>
                      </m:r>
                      <m:r>
                        <a:rPr lang="tr-TR" i="1">
                          <a:latin typeface="Cambria Math" panose="02040503050406030204" pitchFamily="18" charset="0"/>
                        </a:rPr>
                        <m:t>𝑙</m:t>
                      </m:r>
                      <m:r>
                        <a:rPr lang="tr-TR" i="0">
                          <a:latin typeface="Cambria Math" panose="02040503050406030204" pitchFamily="18" charset="0"/>
                        </a:rPr>
                        <m:t>=2,3,4</m:t>
                      </m:r>
                    </m:oMath>
                  </m:oMathPara>
                </a14:m>
                <a:endParaRPr lang="tr-TR" dirty="0"/>
              </a:p>
            </p:txBody>
          </p:sp>
        </mc:Choice>
        <mc:Fallback xmlns="">
          <p:sp>
            <p:nvSpPr>
              <p:cNvPr id="17" name="TextBox 16">
                <a:extLst>
                  <a:ext uri="{FF2B5EF4-FFF2-40B4-BE49-F238E27FC236}">
                    <a16:creationId xmlns:a16="http://schemas.microsoft.com/office/drawing/2014/main" id="{7BC3C359-A415-424F-9DE6-5B5DD8B6E6CD}"/>
                  </a:ext>
                </a:extLst>
              </p:cNvPr>
              <p:cNvSpPr txBox="1">
                <a:spLocks noRot="1" noChangeAspect="1" noMove="1" noResize="1" noEditPoints="1" noAdjustHandles="1" noChangeArrowheads="1" noChangeShapeType="1" noTextEdit="1"/>
              </p:cNvSpPr>
              <p:nvPr/>
            </p:nvSpPr>
            <p:spPr>
              <a:xfrm>
                <a:off x="7516498" y="4195094"/>
                <a:ext cx="4172582" cy="1589281"/>
              </a:xfrm>
              <a:prstGeom prst="rect">
                <a:avLst/>
              </a:prstGeom>
              <a:blipFill>
                <a:blip r:embed="rId7"/>
                <a:stretch>
                  <a:fillRect/>
                </a:stretch>
              </a:blipFill>
            </p:spPr>
            <p:txBody>
              <a:bodyPr/>
              <a:lstStyle/>
              <a:p>
                <a:r>
                  <a:rPr lang="tr-TR">
                    <a:noFill/>
                  </a:rPr>
                  <a:t/>
                </a:r>
              </a:p>
            </p:txBody>
          </p:sp>
        </mc:Fallback>
      </mc:AlternateContent>
      <p:pic>
        <p:nvPicPr>
          <p:cNvPr id="6" name="Picture 5">
            <a:extLst>
              <a:ext uri="{FF2B5EF4-FFF2-40B4-BE49-F238E27FC236}">
                <a16:creationId xmlns:a16="http://schemas.microsoft.com/office/drawing/2014/main" id="{FD0210B4-4B9C-3DF4-4760-C34132BA6598}"/>
              </a:ext>
            </a:extLst>
          </p:cNvPr>
          <p:cNvPicPr>
            <a:picLocks noChangeAspect="1"/>
          </p:cNvPicPr>
          <p:nvPr/>
        </p:nvPicPr>
        <p:blipFill>
          <a:blip r:embed="rId8"/>
          <a:stretch>
            <a:fillRect/>
          </a:stretch>
        </p:blipFill>
        <p:spPr>
          <a:xfrm>
            <a:off x="480277" y="1243584"/>
            <a:ext cx="6700085" cy="4858933"/>
          </a:xfrm>
          <a:prstGeom prst="rect">
            <a:avLst/>
          </a:prstGeom>
        </p:spPr>
      </p:pic>
    </p:spTree>
    <p:extLst>
      <p:ext uri="{BB962C8B-B14F-4D97-AF65-F5344CB8AC3E}">
        <p14:creationId xmlns:p14="http://schemas.microsoft.com/office/powerpoint/2010/main" val="42285255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37744"/>
            <a:ext cx="91440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DSS FRAMEWORK : LAYER 3 OF 4</a:t>
            </a:r>
            <a:endParaRPr lang="en-US" sz="1300" dirty="0"/>
          </a:p>
        </p:txBody>
      </p:sp>
      <p:sp>
        <p:nvSpPr>
          <p:cNvPr id="3" name="Text 1"/>
          <p:cNvSpPr/>
          <p:nvPr/>
        </p:nvSpPr>
        <p:spPr>
          <a:xfrm>
            <a:off x="502920" y="493776"/>
            <a:ext cx="11247120" cy="685800"/>
          </a:xfrm>
          <a:prstGeom prst="rect">
            <a:avLst/>
          </a:prstGeom>
          <a:noFill/>
          <a:ln/>
        </p:spPr>
        <p:txBody>
          <a:bodyPr wrap="square" lIns="0" tIns="0" rIns="0" bIns="0" rtlCol="0" anchor="ctr"/>
          <a:lstStyle/>
          <a:p>
            <a:r>
              <a:rPr lang="en-US" sz="2400" b="1" dirty="0">
                <a:solidFill>
                  <a:srgbClr val="000000"/>
                </a:solidFill>
                <a:latin typeface="Cambria" pitchFamily="34" charset="0"/>
                <a:ea typeface="Cambria" pitchFamily="34" charset="-122"/>
                <a:cs typeface="Cambria" pitchFamily="34" charset="-120"/>
              </a:rPr>
              <a:t>Layer 3 : Concept Space</a:t>
            </a:r>
            <a:r>
              <a:rPr lang="tr-TR" sz="2400" b="1" dirty="0">
                <a:solidFill>
                  <a:srgbClr val="000000"/>
                </a:solidFill>
                <a:latin typeface="Cambria" pitchFamily="34" charset="0"/>
                <a:ea typeface="Cambria" pitchFamily="34" charset="-122"/>
                <a:cs typeface="Cambria" pitchFamily="34" charset="-120"/>
              </a:rPr>
              <a:t> </a:t>
            </a:r>
            <a:r>
              <a:rPr lang="tr-TR" sz="2400" b="1" dirty="0" err="1">
                <a:solidFill>
                  <a:srgbClr val="000000"/>
                </a:solidFill>
                <a:latin typeface="Cambria" pitchFamily="34" charset="0"/>
                <a:ea typeface="Cambria" pitchFamily="34" charset="-122"/>
                <a:cs typeface="Cambria" pitchFamily="34" charset="-120"/>
              </a:rPr>
              <a:t>Levels</a:t>
            </a:r>
            <a:r>
              <a:rPr lang="tr-TR" sz="2400" b="1" dirty="0">
                <a:solidFill>
                  <a:srgbClr val="000000"/>
                </a:solidFill>
                <a:latin typeface="Cambria" pitchFamily="34" charset="0"/>
                <a:ea typeface="Cambria" pitchFamily="34" charset="-122"/>
                <a:cs typeface="Cambria" pitchFamily="34" charset="-120"/>
              </a:rPr>
              <a:t> – </a:t>
            </a:r>
            <a:r>
              <a:rPr lang="tr-TR" sz="2400" b="1" dirty="0" err="1">
                <a:solidFill>
                  <a:srgbClr val="000000"/>
                </a:solidFill>
                <a:latin typeface="Cambria" pitchFamily="34" charset="0"/>
                <a:ea typeface="Cambria" pitchFamily="34" charset="-122"/>
                <a:cs typeface="Cambria" pitchFamily="34" charset="-120"/>
              </a:rPr>
              <a:t>Confidence</a:t>
            </a:r>
            <a:r>
              <a:rPr lang="tr-TR" sz="2400" b="1" dirty="0">
                <a:solidFill>
                  <a:srgbClr val="000000"/>
                </a:solidFill>
                <a:latin typeface="Cambria" pitchFamily="34" charset="0"/>
                <a:ea typeface="Cambria" pitchFamily="34" charset="-122"/>
                <a:cs typeface="Cambria" pitchFamily="34" charset="-120"/>
              </a:rPr>
              <a:t> </a:t>
            </a:r>
            <a:r>
              <a:rPr lang="tr-TR" sz="2400" b="1" dirty="0" err="1">
                <a:solidFill>
                  <a:srgbClr val="000000"/>
                </a:solidFill>
                <a:latin typeface="Cambria" pitchFamily="34" charset="0"/>
                <a:ea typeface="Cambria" pitchFamily="34" charset="-122"/>
                <a:cs typeface="Cambria" pitchFamily="34" charset="-120"/>
              </a:rPr>
              <a:t>Gating</a:t>
            </a:r>
            <a:r>
              <a:rPr lang="en-US" sz="2400" b="1" dirty="0">
                <a:solidFill>
                  <a:srgbClr val="000000"/>
                </a:solidFill>
                <a:latin typeface="Cambria" pitchFamily="34" charset="0"/>
                <a:ea typeface="Cambria" pitchFamily="34" charset="-122"/>
                <a:cs typeface="Cambria" pitchFamily="34" charset="-120"/>
              </a:rPr>
              <a:t> </a:t>
            </a:r>
            <a:r>
              <a:rPr lang="en-US" sz="2400" i="1" dirty="0">
                <a:solidFill>
                  <a:srgbClr val="000000"/>
                </a:solidFill>
                <a:latin typeface="Cambria" pitchFamily="34" charset="0"/>
                <a:ea typeface="Cambria" pitchFamily="34" charset="-122"/>
                <a:cs typeface="Cambria" pitchFamily="34" charset="-120"/>
              </a:rPr>
              <a:t>(</a:t>
            </a:r>
            <a:r>
              <a:rPr lang="en-US" sz="2400" i="1" dirty="0">
                <a:solidFill>
                  <a:srgbClr val="000000"/>
                </a:solidFill>
                <a:latin typeface="Calibri" pitchFamily="34" charset="0"/>
                <a:ea typeface="Calibri" pitchFamily="34" charset="-122"/>
                <a:cs typeface="Calibri" pitchFamily="34" charset="-120"/>
              </a:rPr>
              <a:t>C2 : Epistemic encoding)</a:t>
            </a:r>
            <a:endParaRPr lang="en-US" sz="2400" i="1" dirty="0"/>
          </a:p>
        </p:txBody>
      </p:sp>
      <p:pic>
        <p:nvPicPr>
          <p:cNvPr id="4"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5"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p:sp>
        <p:nvSpPr>
          <p:cNvPr id="7" name="Text 2"/>
          <p:cNvSpPr/>
          <p:nvPr/>
        </p:nvSpPr>
        <p:spPr>
          <a:xfrm>
            <a:off x="6035040" y="1371600"/>
            <a:ext cx="5715000" cy="640080"/>
          </a:xfrm>
          <a:prstGeom prst="rect">
            <a:avLst/>
          </a:prstGeom>
          <a:noFill/>
          <a:ln/>
        </p:spPr>
        <p:txBody>
          <a:bodyPr wrap="square" lIns="0" tIns="0" rIns="0" bIns="0" rtlCol="0" anchor="t"/>
          <a:lstStyle/>
          <a:p>
            <a:pPr marL="0" indent="0">
              <a:lnSpc>
                <a:spcPct val="105000"/>
              </a:lnSpc>
              <a:buNone/>
            </a:pPr>
            <a:r>
              <a:rPr lang="en-US" sz="1500" b="1">
                <a:solidFill>
                  <a:srgbClr val="222222"/>
                </a:solidFill>
                <a:latin typeface="Calibri" pitchFamily="34" charset="0"/>
                <a:ea typeface="Calibri" pitchFamily="34" charset="-122"/>
                <a:cs typeface="Calibri" pitchFamily="34" charset="-120"/>
              </a:rPr>
              <a:t>• Each activation: gated by its confidence, blended with a persistence prior</a:t>
            </a:r>
            <a:endParaRPr lang="en-US" sz="1500" dirty="0"/>
          </a:p>
        </p:txBody>
      </p:sp>
      <mc:AlternateContent xmlns:mc="http://schemas.openxmlformats.org/markup-compatibility/2006" xmlns:a14="http://schemas.microsoft.com/office/drawing/2010/main">
        <mc:Choice Requires="a14">
          <p:sp>
            <p:nvSpPr>
              <p:cNvPr id="8" name="Text 3"/>
              <p:cNvSpPr/>
              <p:nvPr/>
            </p:nvSpPr>
            <p:spPr>
              <a:xfrm>
                <a:off x="6035040" y="2057400"/>
                <a:ext cx="5715000" cy="548640"/>
              </a:xfrm>
              <a:prstGeom prst="rect">
                <a:avLst/>
              </a:prstGeom>
              <a:noFill/>
              <a:ln/>
            </p:spPr>
            <p:txBody>
              <a:bodyPr wrap="square" lIns="0" tIns="0" rIns="0" bIns="0" rtlCol="0" anchor="ctr"/>
              <a:lstStyle/>
              <a:p>
                <a:pPr marL="0" indent="0" algn="ctr">
                  <a:buNone/>
                </a:pPr>
                <a14:m>
                  <m:oMathPara xmlns:m="http://schemas.openxmlformats.org/officeDocument/2006/math">
                    <m:oMathParaPr>
                      <m:jc m:val="centerGroup"/>
                    </m:oMathParaPr>
                    <m:oMath xmlns:m="http://schemas.openxmlformats.org/officeDocument/2006/math">
                      <m:sSubSup>
                        <m:sSubSupPr>
                          <m:ctrlPr>
                            <a:rPr lang="en-US" sz="1400" i="1">
                              <a:latin typeface="Cambria Math" panose="02040503050406030204" pitchFamily="18" charset="0"/>
                            </a:rPr>
                          </m:ctrlPr>
                        </m:sSubSupPr>
                        <m:e>
                          <m:r>
                            <a:rPr lang="en-US" sz="1400">
                              <a:latin typeface="Cambria Math"/>
                            </a:rPr>
                            <m:t>𝑎</m:t>
                          </m:r>
                        </m:e>
                        <m:sub>
                          <m:r>
                            <a:rPr lang="en-US" sz="1400">
                              <a:latin typeface="Cambria Math"/>
                            </a:rPr>
                            <m:t>𝑛</m:t>
                          </m:r>
                          <m:r>
                            <a:rPr lang="en-US" sz="1400">
                              <a:latin typeface="Cambria Math"/>
                            </a:rPr>
                            <m:t>,</m:t>
                          </m:r>
                          <m:r>
                            <a:rPr lang="en-US" sz="1400">
                              <a:latin typeface="Cambria Math"/>
                            </a:rPr>
                            <m:t>𝑘</m:t>
                          </m:r>
                        </m:sub>
                        <m:sup>
                          <m:r>
                            <a:rPr lang="en-US" sz="1400">
                              <a:latin typeface="Cambria Math"/>
                            </a:rPr>
                            <m:t>𝑒𝑓𝑓</m:t>
                          </m:r>
                          <m:r>
                            <a:rPr lang="en-US" sz="1400">
                              <a:latin typeface="Cambria Math"/>
                            </a:rPr>
                            <m:t>,</m:t>
                          </m:r>
                          <m:r>
                            <a:rPr lang="en-US" sz="1400">
                              <a:latin typeface="Cambria Math"/>
                            </a:rPr>
                            <m:t>𝑖</m:t>
                          </m:r>
                        </m:sup>
                      </m:sSubSup>
                      <m:r>
                        <m:rPr>
                          <m:aln/>
                        </m:rPr>
                        <a:rPr lang="en-US" sz="1400">
                          <a:latin typeface="Cambria Math"/>
                        </a:rPr>
                        <m:t>=</m:t>
                      </m:r>
                      <m:sSubSup>
                        <m:sSubSupPr>
                          <m:ctrlPr>
                            <a:rPr lang="en-US" sz="1400" i="1">
                              <a:latin typeface="Cambria Math" panose="02040503050406030204" pitchFamily="18" charset="0"/>
                            </a:rPr>
                          </m:ctrlPr>
                        </m:sSubSupPr>
                        <m:e>
                          <m:r>
                            <a:rPr lang="en-US" sz="1400">
                              <a:latin typeface="Cambria Math"/>
                            </a:rPr>
                            <m:t>𝛾</m:t>
                          </m:r>
                        </m:e>
                        <m:sub>
                          <m:r>
                            <a:rPr lang="en-US" sz="1400">
                              <a:latin typeface="Cambria Math"/>
                            </a:rPr>
                            <m:t>𝑛</m:t>
                          </m:r>
                          <m:r>
                            <a:rPr lang="en-US" sz="1400">
                              <a:latin typeface="Cambria Math"/>
                            </a:rPr>
                            <m:t>,</m:t>
                          </m:r>
                          <m:r>
                            <a:rPr lang="en-US" sz="1400">
                              <a:latin typeface="Cambria Math"/>
                            </a:rPr>
                            <m:t>𝑘</m:t>
                          </m:r>
                        </m:sub>
                        <m:sup>
                          <m:r>
                            <a:rPr lang="en-US" sz="1400">
                              <a:latin typeface="Cambria Math"/>
                            </a:rPr>
                            <m:t>𝑖</m:t>
                          </m:r>
                        </m:sup>
                      </m:sSubSup>
                      <m:r>
                        <a:rPr lang="en-US" sz="1400">
                          <a:latin typeface="Cambria Math"/>
                        </a:rPr>
                        <m:t>⋅</m:t>
                      </m:r>
                      <m:sSubSup>
                        <m:sSubSupPr>
                          <m:ctrlPr>
                            <a:rPr lang="en-US" sz="1400" i="1">
                              <a:latin typeface="Cambria Math" panose="02040503050406030204" pitchFamily="18" charset="0"/>
                            </a:rPr>
                          </m:ctrlPr>
                        </m:sSubSupPr>
                        <m:e>
                          <m:r>
                            <a:rPr lang="en-US" sz="1400">
                              <a:latin typeface="Cambria Math"/>
                            </a:rPr>
                            <m:t>𝑎</m:t>
                          </m:r>
                        </m:e>
                        <m:sub>
                          <m:r>
                            <a:rPr lang="en-US" sz="1400">
                              <a:latin typeface="Cambria Math"/>
                            </a:rPr>
                            <m:t>𝑛</m:t>
                          </m:r>
                          <m:r>
                            <a:rPr lang="en-US" sz="1400">
                              <a:latin typeface="Cambria Math"/>
                            </a:rPr>
                            <m:t>,</m:t>
                          </m:r>
                          <m:r>
                            <a:rPr lang="en-US" sz="1400">
                              <a:latin typeface="Cambria Math"/>
                            </a:rPr>
                            <m:t>𝑘</m:t>
                          </m:r>
                        </m:sub>
                        <m:sup>
                          <m:r>
                            <a:rPr lang="en-US" sz="1400">
                              <a:latin typeface="Cambria Math"/>
                            </a:rPr>
                            <m:t>𝑜𝑏𝑠</m:t>
                          </m:r>
                          <m:r>
                            <a:rPr lang="en-US" sz="1400">
                              <a:latin typeface="Cambria Math"/>
                            </a:rPr>
                            <m:t>,</m:t>
                          </m:r>
                          <m:r>
                            <a:rPr lang="en-US" sz="1400">
                              <a:latin typeface="Cambria Math"/>
                            </a:rPr>
                            <m:t>𝑖</m:t>
                          </m:r>
                        </m:sup>
                      </m:sSubSup>
                      <m:r>
                        <a:rPr lang="en-US" sz="1400">
                          <a:latin typeface="Cambria Math"/>
                        </a:rPr>
                        <m:t>+</m:t>
                      </m:r>
                      <m:d>
                        <m:dPr>
                          <m:ctrlPr>
                            <a:rPr lang="en-US" sz="1400" i="1">
                              <a:latin typeface="Cambria Math" panose="02040503050406030204" pitchFamily="18" charset="0"/>
                            </a:rPr>
                          </m:ctrlPr>
                        </m:dPr>
                        <m:e>
                          <m:r>
                            <a:rPr lang="en-US" sz="1400">
                              <a:latin typeface="Cambria Math"/>
                            </a:rPr>
                            <m:t>1−</m:t>
                          </m:r>
                          <m:sSubSup>
                            <m:sSubSupPr>
                              <m:ctrlPr>
                                <a:rPr lang="en-US" sz="1400" i="1">
                                  <a:latin typeface="Cambria Math" panose="02040503050406030204" pitchFamily="18" charset="0"/>
                                </a:rPr>
                              </m:ctrlPr>
                            </m:sSubSupPr>
                            <m:e>
                              <m:r>
                                <a:rPr lang="en-US" sz="1400">
                                  <a:latin typeface="Cambria Math"/>
                                </a:rPr>
                                <m:t>𝛾</m:t>
                              </m:r>
                            </m:e>
                            <m:sub>
                              <m:r>
                                <a:rPr lang="en-US" sz="1400">
                                  <a:latin typeface="Cambria Math"/>
                                </a:rPr>
                                <m:t>𝑛</m:t>
                              </m:r>
                              <m:r>
                                <a:rPr lang="en-US" sz="1400">
                                  <a:latin typeface="Cambria Math"/>
                                </a:rPr>
                                <m:t>,</m:t>
                              </m:r>
                              <m:r>
                                <a:rPr lang="en-US" sz="1400">
                                  <a:latin typeface="Cambria Math"/>
                                </a:rPr>
                                <m:t>𝑘</m:t>
                              </m:r>
                            </m:sub>
                            <m:sup>
                              <m:r>
                                <a:rPr lang="en-US" sz="1400">
                                  <a:latin typeface="Cambria Math"/>
                                </a:rPr>
                                <m:t>𝑖</m:t>
                              </m:r>
                            </m:sup>
                          </m:sSubSup>
                        </m:e>
                      </m:d>
                      <m:r>
                        <a:rPr lang="en-US" sz="1400">
                          <a:latin typeface="Cambria Math"/>
                        </a:rPr>
                        <m:t>⋅</m:t>
                      </m:r>
                      <m:r>
                        <a:rPr lang="en-US" sz="1400">
                          <a:latin typeface="Cambria Math"/>
                        </a:rPr>
                        <m:t>𝜌</m:t>
                      </m:r>
                      <m:r>
                        <a:rPr lang="en-US" sz="1400">
                          <a:latin typeface="Cambria Math"/>
                        </a:rPr>
                        <m:t>⋅</m:t>
                      </m:r>
                      <m:sSubSup>
                        <m:sSubSupPr>
                          <m:ctrlPr>
                            <a:rPr lang="en-US" sz="1400" i="1">
                              <a:latin typeface="Cambria Math" panose="02040503050406030204" pitchFamily="18" charset="0"/>
                            </a:rPr>
                          </m:ctrlPr>
                        </m:sSubSupPr>
                        <m:e>
                          <m:r>
                            <a:rPr lang="en-US" sz="1400">
                              <a:latin typeface="Cambria Math"/>
                            </a:rPr>
                            <m:t>𝑎</m:t>
                          </m:r>
                        </m:e>
                        <m:sub>
                          <m:r>
                            <a:rPr lang="en-US" sz="1400">
                              <a:latin typeface="Cambria Math"/>
                            </a:rPr>
                            <m:t>𝑛</m:t>
                          </m:r>
                          <m:r>
                            <a:rPr lang="en-US" sz="1400">
                              <a:latin typeface="Cambria Math"/>
                            </a:rPr>
                            <m:t>,</m:t>
                          </m:r>
                          <m:r>
                            <a:rPr lang="en-US" sz="1400">
                              <a:latin typeface="Cambria Math"/>
                            </a:rPr>
                            <m:t>𝑘</m:t>
                          </m:r>
                          <m:r>
                            <a:rPr lang="en-US" sz="1400">
                              <a:latin typeface="Cambria Math"/>
                            </a:rPr>
                            <m:t>−1</m:t>
                          </m:r>
                        </m:sub>
                        <m:sup>
                          <m:r>
                            <a:rPr lang="en-US" sz="1400">
                              <a:latin typeface="Cambria Math"/>
                            </a:rPr>
                            <m:t>𝑒𝑓𝑓</m:t>
                          </m:r>
                          <m:r>
                            <a:rPr lang="en-US" sz="1400">
                              <a:latin typeface="Cambria Math"/>
                            </a:rPr>
                            <m:t>,</m:t>
                          </m:r>
                          <m:r>
                            <a:rPr lang="en-US" sz="1400">
                              <a:latin typeface="Cambria Math"/>
                            </a:rPr>
                            <m:t>𝑖</m:t>
                          </m:r>
                        </m:sup>
                      </m:sSubSup>
                      <m:r>
                        <a:rPr lang="en-US" sz="1400">
                          <a:latin typeface="Cambria Math"/>
                        </a:rPr>
                        <m:t>,</m:t>
                      </m:r>
                    </m:oMath>
                  </m:oMathPara>
                </a14:m>
                <a:endParaRPr lang="en-US" sz="1600" dirty="0"/>
              </a:p>
            </p:txBody>
          </p:sp>
        </mc:Choice>
        <mc:Fallback xmlns="">
          <p:sp>
            <p:nvSpPr>
              <p:cNvPr id="8" name="Text 3"/>
              <p:cNvSpPr>
                <a:spLocks noRot="1" noChangeAspect="1" noMove="1" noResize="1" noEditPoints="1" noAdjustHandles="1" noChangeArrowheads="1" noChangeShapeType="1" noTextEdit="1"/>
              </p:cNvSpPr>
              <p:nvPr/>
            </p:nvSpPr>
            <p:spPr>
              <a:xfrm>
                <a:off x="6035040" y="2057400"/>
                <a:ext cx="5715000" cy="548640"/>
              </a:xfrm>
              <a:prstGeom prst="rect">
                <a:avLst/>
              </a:prstGeom>
              <a:blipFill>
                <a:blip r:embed="rId6"/>
                <a:stretch>
                  <a:fillRect/>
                </a:stretch>
              </a:blipFill>
              <a:ln/>
            </p:spPr>
            <p:txBody>
              <a:bodyPr/>
              <a:lstStyle/>
              <a:p>
                <a:r>
                  <a:rPr lang="tr-TR">
                    <a:noFill/>
                  </a:rPr>
                  <a:t/>
                </a:r>
              </a:p>
            </p:txBody>
          </p:sp>
        </mc:Fallback>
      </mc:AlternateContent>
      <mc:AlternateContent xmlns:mc="http://schemas.openxmlformats.org/markup-compatibility/2006" xmlns:a14="http://schemas.microsoft.com/office/drawing/2010/main">
        <mc:Choice Requires="a14">
          <p:sp>
            <p:nvSpPr>
              <p:cNvPr id="9" name="Text 4"/>
              <p:cNvSpPr/>
              <p:nvPr/>
            </p:nvSpPr>
            <p:spPr>
              <a:xfrm>
                <a:off x="6025896" y="2651760"/>
                <a:ext cx="5715000" cy="457200"/>
              </a:xfrm>
              <a:prstGeom prst="rect">
                <a:avLst/>
              </a:prstGeom>
              <a:noFill/>
              <a:ln/>
            </p:spPr>
            <p:txBody>
              <a:bodyPr wrap="square" lIns="0" tIns="0" rIns="0" bIns="0" rtlCol="0" anchor="ctr"/>
              <a:lstStyle/>
              <a:p>
                <a:pPr marL="0" indent="0" algn="ctr">
                  <a:buNone/>
                </a:pPr>
                <a14:m>
                  <m:oMathPara xmlns:m="http://schemas.openxmlformats.org/officeDocument/2006/math">
                    <m:oMathParaPr>
                      <m:jc m:val="centerGroup"/>
                    </m:oMathParaPr>
                    <m:oMath xmlns:m="http://schemas.openxmlformats.org/officeDocument/2006/math">
                      <m:sSubSup>
                        <m:sSubSupPr>
                          <m:ctrlPr>
                            <a:rPr lang="en-US" sz="1400" i="1">
                              <a:latin typeface="Cambria Math" panose="02040503050406030204" pitchFamily="18" charset="0"/>
                            </a:rPr>
                          </m:ctrlPr>
                        </m:sSubSupPr>
                        <m:e>
                          <m:r>
                            <a:rPr lang="en-US" sz="1400">
                              <a:latin typeface="Cambria Math"/>
                            </a:rPr>
                            <m:t>𝛾</m:t>
                          </m:r>
                        </m:e>
                        <m:sub>
                          <m:r>
                            <a:rPr lang="en-US" sz="1400">
                              <a:latin typeface="Cambria Math"/>
                            </a:rPr>
                            <m:t>𝑛</m:t>
                          </m:r>
                          <m:r>
                            <a:rPr lang="en-US" sz="1400">
                              <a:latin typeface="Cambria Math"/>
                            </a:rPr>
                            <m:t>,</m:t>
                          </m:r>
                          <m:r>
                            <a:rPr lang="en-US" sz="1400">
                              <a:latin typeface="Cambria Math"/>
                            </a:rPr>
                            <m:t>𝑘</m:t>
                          </m:r>
                        </m:sub>
                        <m:sup>
                          <m:r>
                            <a:rPr lang="en-US" sz="1400">
                              <a:latin typeface="Cambria Math"/>
                            </a:rPr>
                            <m:t>𝑖</m:t>
                          </m:r>
                        </m:sup>
                      </m:sSubSup>
                      <m:r>
                        <m:rPr>
                          <m:aln/>
                        </m:rPr>
                        <a:rPr lang="en-US" sz="1400">
                          <a:latin typeface="Cambria Math"/>
                        </a:rPr>
                        <m:t>=</m:t>
                      </m:r>
                      <m:r>
                        <a:rPr lang="en-US" sz="1400">
                          <a:latin typeface="Cambria Math"/>
                        </a:rPr>
                        <m:t>𝑚𝑖𝑛</m:t>
                      </m:r>
                      <m:r>
                        <a:rPr lang="en-US" sz="1400">
                          <a:latin typeface="Cambria Math"/>
                        </a:rPr>
                        <m:t>⁡{</m:t>
                      </m:r>
                      <m:sSubSup>
                        <m:sSubSupPr>
                          <m:ctrlPr>
                            <a:rPr lang="en-US" sz="1400" i="1">
                              <a:latin typeface="Cambria Math" panose="02040503050406030204" pitchFamily="18" charset="0"/>
                            </a:rPr>
                          </m:ctrlPr>
                        </m:sSubSupPr>
                        <m:e>
                          <m:r>
                            <a:rPr lang="en-US" sz="1400">
                              <a:latin typeface="Cambria Math"/>
                            </a:rPr>
                            <m:t>𝛾</m:t>
                          </m:r>
                        </m:e>
                        <m:sub>
                          <m:r>
                            <a:rPr lang="en-US" sz="1400">
                              <a:latin typeface="Cambria Math"/>
                            </a:rPr>
                            <m:t>𝑓</m:t>
                          </m:r>
                          <m:r>
                            <a:rPr lang="en-US" sz="1400">
                              <a:latin typeface="Cambria Math"/>
                            </a:rPr>
                            <m:t>,</m:t>
                          </m:r>
                          <m:r>
                            <a:rPr lang="en-US" sz="1400">
                              <a:latin typeface="Cambria Math"/>
                            </a:rPr>
                            <m:t>𝑘</m:t>
                          </m:r>
                        </m:sub>
                        <m:sup>
                          <m:r>
                            <a:rPr lang="en-US" sz="1400">
                              <a:latin typeface="Cambria Math"/>
                            </a:rPr>
                            <m:t>𝑖</m:t>
                          </m:r>
                        </m:sup>
                      </m:sSubSup>
                      <m:r>
                        <a:rPr lang="en-US" sz="1400">
                          <a:latin typeface="Cambria Math"/>
                        </a:rPr>
                        <m:t>:</m:t>
                      </m:r>
                      <m:r>
                        <a:rPr lang="en-US" sz="1400">
                          <a:latin typeface="Cambria Math"/>
                        </a:rPr>
                        <m:t>𝑓</m:t>
                      </m:r>
                      <m:r>
                        <a:rPr lang="en-US" sz="1400">
                          <a:latin typeface="Cambria Math"/>
                        </a:rPr>
                        <m:t>∈</m:t>
                      </m:r>
                      <m:sSub>
                        <m:sSubPr>
                          <m:ctrlPr>
                            <a:rPr lang="en-US" sz="1400" i="1">
                              <a:latin typeface="Cambria Math" panose="02040503050406030204" pitchFamily="18" charset="0"/>
                            </a:rPr>
                          </m:ctrlPr>
                        </m:sSubPr>
                        <m:e>
                          <m:r>
                            <a:rPr lang="en-US" sz="1400">
                              <a:latin typeface="Cambria Math"/>
                            </a:rPr>
                            <m:t>𝒵</m:t>
                          </m:r>
                        </m:e>
                        <m:sub>
                          <m:r>
                            <a:rPr lang="en-US" sz="1400">
                              <a:latin typeface="Cambria Math"/>
                            </a:rPr>
                            <m:t>𝑛</m:t>
                          </m:r>
                        </m:sub>
                      </m:sSub>
                      <m:r>
                        <a:rPr lang="en-US" sz="1400">
                          <a:latin typeface="Cambria Math"/>
                        </a:rPr>
                        <m:t>}</m:t>
                      </m:r>
                    </m:oMath>
                  </m:oMathPara>
                </a14:m>
                <a:endParaRPr lang="en-US" sz="1600" dirty="0"/>
              </a:p>
            </p:txBody>
          </p:sp>
        </mc:Choice>
        <mc:Fallback xmlns="">
          <p:sp>
            <p:nvSpPr>
              <p:cNvPr id="9" name="Text 4"/>
              <p:cNvSpPr>
                <a:spLocks noRot="1" noChangeAspect="1" noMove="1" noResize="1" noEditPoints="1" noAdjustHandles="1" noChangeArrowheads="1" noChangeShapeType="1" noTextEdit="1"/>
              </p:cNvSpPr>
              <p:nvPr/>
            </p:nvSpPr>
            <p:spPr>
              <a:xfrm>
                <a:off x="6025896" y="2651760"/>
                <a:ext cx="5715000" cy="457200"/>
              </a:xfrm>
              <a:prstGeom prst="rect">
                <a:avLst/>
              </a:prstGeom>
              <a:blipFill>
                <a:blip r:embed="rId7"/>
                <a:stretch>
                  <a:fillRect/>
                </a:stretch>
              </a:blipFill>
              <a:ln/>
            </p:spPr>
            <p:txBody>
              <a:bodyPr/>
              <a:lstStyle/>
              <a:p>
                <a:r>
                  <a:rPr lang="tr-TR">
                    <a:noFill/>
                  </a:rPr>
                  <a:t/>
                </a:r>
              </a:p>
            </p:txBody>
          </p:sp>
        </mc:Fallback>
      </mc:AlternateContent>
      <p:sp>
        <p:nvSpPr>
          <p:cNvPr id="10" name="Text 5"/>
          <p:cNvSpPr/>
          <p:nvPr/>
        </p:nvSpPr>
        <p:spPr>
          <a:xfrm>
            <a:off x="6035040" y="4251960"/>
            <a:ext cx="5715000" cy="2103119"/>
          </a:xfrm>
          <a:prstGeom prst="rect">
            <a:avLst/>
          </a:prstGeom>
          <a:noFill/>
          <a:ln/>
        </p:spPr>
        <p:txBody>
          <a:bodyPr wrap="square" lIns="0" tIns="0" rIns="0" bIns="0" rtlCol="0" anchor="t"/>
          <a:lstStyle/>
          <a:p>
            <a:pPr marL="152400" indent="-152400">
              <a:lnSpc>
                <a:spcPct val="105000"/>
              </a:lnSpc>
              <a:spcAft>
                <a:spcPts val="700"/>
              </a:spcAft>
              <a:buSzPct val="100000"/>
              <a:buChar char="•"/>
            </a:pPr>
            <a:r>
              <a:rPr lang="en-US" sz="1600">
                <a:solidFill>
                  <a:srgbClr val="222222"/>
                </a:solidFill>
                <a:latin typeface="Calibri" pitchFamily="34" charset="0"/>
                <a:ea typeface="Calibri" pitchFamily="34" charset="-122"/>
                <a:cs typeface="Calibri" pitchFamily="34" charset="-120"/>
              </a:rPr>
              <a:t>γ = 1 → observation passes; γ = 0 → decayed previous estimate</a:t>
            </a:r>
            <a:endParaRPr lang="en-US" sz="1600" dirty="0"/>
          </a:p>
          <a:p>
            <a:pPr marL="152400" indent="-152400">
              <a:lnSpc>
                <a:spcPct val="105000"/>
              </a:lnSpc>
              <a:spcAft>
                <a:spcPts val="700"/>
              </a:spcAft>
              <a:buSzPct val="100000"/>
              <a:buChar char="•"/>
            </a:pPr>
            <a:r>
              <a:rPr lang="en-US" sz="1600">
                <a:solidFill>
                  <a:srgbClr val="222222"/>
                </a:solidFill>
                <a:latin typeface="Calibri" pitchFamily="34" charset="0"/>
                <a:ea typeface="Calibri" pitchFamily="34" charset="-122"/>
                <a:cs typeface="Calibri" pitchFamily="34" charset="-120"/>
              </a:rPr>
              <a:t>Observation lost: decays by ρ per step; snaps back on fresh data</a:t>
            </a:r>
            <a:endParaRPr lang="en-US" sz="1600" dirty="0"/>
          </a:p>
        </p:txBody>
      </p:sp>
      <p:grpSp>
        <p:nvGrpSpPr>
          <p:cNvPr id="13" name="Group 12">
            <a:extLst>
              <a:ext uri="{FF2B5EF4-FFF2-40B4-BE49-F238E27FC236}">
                <a16:creationId xmlns:a16="http://schemas.microsoft.com/office/drawing/2014/main" id="{07223011-06A3-32C6-C109-E87A40D460AC}"/>
              </a:ext>
            </a:extLst>
          </p:cNvPr>
          <p:cNvGrpSpPr/>
          <p:nvPr/>
        </p:nvGrpSpPr>
        <p:grpSpPr>
          <a:xfrm>
            <a:off x="112515" y="1199403"/>
            <a:ext cx="5913381" cy="5248656"/>
            <a:chOff x="449319" y="1371600"/>
            <a:chExt cx="5319282" cy="4846320"/>
          </a:xfrm>
        </p:grpSpPr>
        <p:pic>
          <p:nvPicPr>
            <p:cNvPr id="6" name="Image 2" descr="/tmp/thx/deck/figs/Figure4_4.png"/>
            <p:cNvPicPr>
              <a:picLocks noChangeAspect="1"/>
            </p:cNvPicPr>
            <p:nvPr/>
          </p:nvPicPr>
          <p:blipFill>
            <a:blip r:embed="rId8"/>
            <a:stretch>
              <a:fillRect/>
            </a:stretch>
          </p:blipFill>
          <p:spPr>
            <a:xfrm>
              <a:off x="449319" y="1371600"/>
              <a:ext cx="5319282" cy="4846320"/>
            </a:xfrm>
            <a:prstGeom prst="rect">
              <a:avLst/>
            </a:prstGeom>
          </p:spPr>
        </p:pic>
        <p:pic>
          <p:nvPicPr>
            <p:cNvPr id="12" name="Image 2" descr="/tmp/thx/deck/figs/Figure4_4.png">
              <a:extLst>
                <a:ext uri="{FF2B5EF4-FFF2-40B4-BE49-F238E27FC236}">
                  <a16:creationId xmlns:a16="http://schemas.microsoft.com/office/drawing/2014/main" id="{16B2BD63-F860-CEFC-22AD-97DF18662C9E}"/>
                </a:ext>
              </a:extLst>
            </p:cNvPr>
            <p:cNvPicPr>
              <a:picLocks noChangeAspect="1"/>
            </p:cNvPicPr>
            <p:nvPr/>
          </p:nvPicPr>
          <p:blipFill>
            <a:blip r:embed="rId8"/>
            <a:srcRect l="6774" t="22327" r="88749" b="73860"/>
            <a:stretch>
              <a:fillRect/>
            </a:stretch>
          </p:blipFill>
          <p:spPr>
            <a:xfrm>
              <a:off x="842962" y="4775835"/>
              <a:ext cx="238125" cy="184785"/>
            </a:xfrm>
            <a:prstGeom prst="rect">
              <a:avLst/>
            </a:prstGeom>
          </p:spPr>
        </p:pic>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02920" y="256032"/>
            <a:ext cx="91440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DSS FRAMEWORK : LAYER 3 OF 4</a:t>
            </a:r>
            <a:endParaRPr lang="en-US" sz="1300" dirty="0"/>
          </a:p>
        </p:txBody>
      </p:sp>
      <p:sp>
        <p:nvSpPr>
          <p:cNvPr id="3" name="Text 1"/>
          <p:cNvSpPr/>
          <p:nvPr/>
        </p:nvSpPr>
        <p:spPr>
          <a:xfrm>
            <a:off x="502920" y="512064"/>
            <a:ext cx="11247120" cy="731520"/>
          </a:xfrm>
          <a:prstGeom prst="rect">
            <a:avLst/>
          </a:prstGeom>
          <a:noFill/>
          <a:ln/>
        </p:spPr>
        <p:txBody>
          <a:bodyPr wrap="square" lIns="0" tIns="0" rIns="0" bIns="0" rtlCol="0" anchor="ctr"/>
          <a:lstStyle/>
          <a:p>
            <a:pPr marL="0" indent="0">
              <a:buNone/>
            </a:pPr>
            <a:r>
              <a:rPr lang="en-US" sz="2900" b="1" dirty="0">
                <a:solidFill>
                  <a:srgbClr val="000000"/>
                </a:solidFill>
                <a:latin typeface="Cambria" pitchFamily="34" charset="0"/>
                <a:ea typeface="Cambria" pitchFamily="34" charset="-122"/>
                <a:cs typeface="Cambria" pitchFamily="34" charset="-120"/>
              </a:rPr>
              <a:t>Layer 3 : Activation, Aggregation, and the Confidence Gate</a:t>
            </a:r>
            <a:endParaRPr lang="en-US" sz="2900" dirty="0"/>
          </a:p>
        </p:txBody>
      </p:sp>
      <p:pic>
        <p:nvPicPr>
          <p:cNvPr id="4" name="Image 0" descr="/tmp/thx/deck/figs/Figure4_3.png"/>
          <p:cNvPicPr>
            <a:picLocks noChangeAspect="1"/>
          </p:cNvPicPr>
          <p:nvPr/>
        </p:nvPicPr>
        <p:blipFill>
          <a:blip r:embed="rId3"/>
          <a:stretch>
            <a:fillRect/>
          </a:stretch>
        </p:blipFill>
        <p:spPr>
          <a:xfrm>
            <a:off x="1308735" y="1593146"/>
            <a:ext cx="9044940" cy="3671708"/>
          </a:xfrm>
          <a:prstGeom prst="rect">
            <a:avLst/>
          </a:prstGeom>
        </p:spPr>
      </p:pic>
      <mc:AlternateContent xmlns:mc="http://schemas.openxmlformats.org/markup-compatibility/2006" xmlns:a14="http://schemas.microsoft.com/office/drawing/2010/main">
        <mc:Choice Requires="a14">
          <p:sp>
            <p:nvSpPr>
              <p:cNvPr id="6" name="Equation 42"/>
              <p:cNvSpPr txBox="1"/>
              <p:nvPr/>
            </p:nvSpPr>
            <p:spPr>
              <a:xfrm>
                <a:off x="1308735" y="5669762"/>
                <a:ext cx="3870960" cy="974264"/>
              </a:xfrm>
              <a:prstGeom prst="rect">
                <a:avLst/>
              </a:prstGeom>
              <a:noFill/>
            </p:spPr>
            <p:txBody>
              <a:bodyPr wrap="square" lIns="0" tIns="0" rIns="0" bIns="0" anchor="ctr">
                <a:noAutofit/>
              </a:bodyPr>
              <a:lstStyle/>
              <a:p>
                <a:pPr algn="ctr"/>
                <a14:m>
                  <m:oMathPara xmlns:m="http://schemas.openxmlformats.org/officeDocument/2006/math">
                    <m:oMathParaPr>
                      <m:jc m:val="centerGroup"/>
                    </m:oMathParaPr>
                    <m:oMath xmlns:m="http://schemas.openxmlformats.org/officeDocument/2006/math">
                      <m:sSubSup>
                        <m:sSubSupPr>
                          <m:ctrlPr>
                            <a:rPr lang="en-US" sz="1400" i="1">
                              <a:latin typeface="Cambria Math" panose="02040503050406030204" pitchFamily="18" charset="0"/>
                            </a:rPr>
                          </m:ctrlPr>
                        </m:sSubSupPr>
                        <m:e>
                          <m:r>
                            <a:rPr lang="en-US" sz="1400">
                              <a:latin typeface="Cambria Math"/>
                            </a:rPr>
                            <m:t>𝑎</m:t>
                          </m:r>
                        </m:e>
                        <m:sub>
                          <m:r>
                            <a:rPr lang="en-US" sz="1400">
                              <a:latin typeface="Cambria Math"/>
                            </a:rPr>
                            <m:t>𝑛</m:t>
                          </m:r>
                          <m:r>
                            <a:rPr lang="en-US" sz="1400">
                              <a:latin typeface="Cambria Math"/>
                            </a:rPr>
                            <m:t>,</m:t>
                          </m:r>
                          <m:r>
                            <a:rPr lang="en-US" sz="1400">
                              <a:latin typeface="Cambria Math"/>
                            </a:rPr>
                            <m:t>𝑘</m:t>
                          </m:r>
                        </m:sub>
                        <m:sup>
                          <m:r>
                            <a:rPr lang="en-US" sz="1400">
                              <a:latin typeface="Cambria Math"/>
                            </a:rPr>
                            <m:t>(1),</m:t>
                          </m:r>
                          <m:r>
                            <a:rPr lang="en-US" sz="1400">
                              <a:latin typeface="Cambria Math"/>
                            </a:rPr>
                            <m:t>𝑖</m:t>
                          </m:r>
                        </m:sup>
                      </m:sSubSup>
                      <m:r>
                        <m:rPr>
                          <m:aln/>
                        </m:rPr>
                        <a:rPr lang="en-US" sz="1400">
                          <a:latin typeface="Cambria Math"/>
                        </a:rPr>
                        <m:t>=</m:t>
                      </m:r>
                      <m:nary>
                        <m:naryPr>
                          <m:chr m:val="∑"/>
                          <m:limLoc m:val="undOvr"/>
                          <m:ctrlPr>
                            <a:rPr lang="en-US" sz="1400" i="1">
                              <a:latin typeface="Cambria Math" panose="02040503050406030204" pitchFamily="18" charset="0"/>
                            </a:rPr>
                          </m:ctrlPr>
                        </m:naryPr>
                        <m:sub>
                          <m:r>
                            <a:rPr lang="en-US" sz="1400">
                              <a:latin typeface="Cambria Math"/>
                            </a:rPr>
                            <m:t>𝑓</m:t>
                          </m:r>
                          <m:r>
                            <a:rPr lang="en-US" sz="1400">
                              <a:latin typeface="Cambria Math"/>
                            </a:rPr>
                            <m:t>∈</m:t>
                          </m:r>
                          <m:sSub>
                            <m:sSubPr>
                              <m:ctrlPr>
                                <a:rPr lang="en-US" sz="1400" i="1">
                                  <a:latin typeface="Cambria Math" panose="02040503050406030204" pitchFamily="18" charset="0"/>
                                </a:rPr>
                              </m:ctrlPr>
                            </m:sSubPr>
                            <m:e>
                              <m:r>
                                <a:rPr lang="en-US" sz="1400">
                                  <a:latin typeface="Cambria Math"/>
                                </a:rPr>
                                <m:t>𝒵</m:t>
                              </m:r>
                            </m:e>
                            <m:sub>
                              <m:r>
                                <a:rPr lang="en-US" sz="1400">
                                  <a:latin typeface="Cambria Math"/>
                                </a:rPr>
                                <m:t>𝑛</m:t>
                              </m:r>
                            </m:sub>
                          </m:sSub>
                        </m:sub>
                        <m:sup/>
                        <m:e>
                          <m:sSub>
                            <m:sSubPr>
                              <m:ctrlPr>
                                <a:rPr lang="en-US" sz="1400" i="1">
                                  <a:latin typeface="Cambria Math" panose="02040503050406030204" pitchFamily="18" charset="0"/>
                                </a:rPr>
                              </m:ctrlPr>
                            </m:sSubPr>
                            <m:e>
                              <m:r>
                                <a:rPr lang="en-US" sz="1400">
                                  <a:latin typeface="Cambria Math"/>
                                </a:rPr>
                                <m:t>𝜔</m:t>
                              </m:r>
                            </m:e>
                            <m:sub>
                              <m:r>
                                <a:rPr lang="en-US" sz="1400">
                                  <a:latin typeface="Cambria Math"/>
                                </a:rPr>
                                <m:t>𝑛</m:t>
                              </m:r>
                              <m:r>
                                <a:rPr lang="en-US" sz="1400">
                                  <a:latin typeface="Cambria Math"/>
                                </a:rPr>
                                <m:t>,</m:t>
                              </m:r>
                              <m:r>
                                <a:rPr lang="en-US" sz="1400">
                                  <a:latin typeface="Cambria Math"/>
                                </a:rPr>
                                <m:t>𝑓</m:t>
                              </m:r>
                            </m:sub>
                          </m:sSub>
                          <m:r>
                            <a:rPr lang="en-US" sz="1400">
                              <a:latin typeface="Cambria Math"/>
                            </a:rPr>
                            <m:t>⋅</m:t>
                          </m:r>
                          <m:sSub>
                            <m:sSubPr>
                              <m:ctrlPr>
                                <a:rPr lang="en-US" sz="1400" i="1">
                                  <a:latin typeface="Cambria Math" panose="02040503050406030204" pitchFamily="18" charset="0"/>
                                </a:rPr>
                              </m:ctrlPr>
                            </m:sSubPr>
                            <m:e>
                              <m:r>
                                <a:rPr lang="en-US" sz="1400">
                                  <a:latin typeface="Cambria Math"/>
                                </a:rPr>
                                <m:t>𝜇</m:t>
                              </m:r>
                            </m:e>
                            <m:sub>
                              <m:sSub>
                                <m:sSubPr>
                                  <m:ctrlPr>
                                    <a:rPr lang="en-US" sz="1400" i="1">
                                      <a:latin typeface="Cambria Math" panose="02040503050406030204" pitchFamily="18" charset="0"/>
                                    </a:rPr>
                                  </m:ctrlPr>
                                </m:sSubPr>
                                <m:e>
                                  <m:r>
                                    <a:rPr lang="en-US" sz="1400">
                                      <a:latin typeface="Cambria Math"/>
                                    </a:rPr>
                                    <m:t>𝒜</m:t>
                                  </m:r>
                                </m:e>
                                <m:sub>
                                  <m:r>
                                    <a:rPr lang="en-US" sz="1400">
                                      <a:latin typeface="Cambria Math"/>
                                    </a:rPr>
                                    <m:t>𝑛</m:t>
                                  </m:r>
                                  <m:r>
                                    <a:rPr lang="en-US" sz="1400">
                                      <a:latin typeface="Cambria Math"/>
                                    </a:rPr>
                                    <m:t>,</m:t>
                                  </m:r>
                                  <m:r>
                                    <a:rPr lang="en-US" sz="1400">
                                      <a:latin typeface="Cambria Math"/>
                                    </a:rPr>
                                    <m:t>𝑓</m:t>
                                  </m:r>
                                </m:sub>
                              </m:sSub>
                            </m:sub>
                          </m:sSub>
                          <m:d>
                            <m:dPr>
                              <m:ctrlPr>
                                <a:rPr lang="en-US" sz="1400" i="1">
                                  <a:latin typeface="Cambria Math" panose="02040503050406030204" pitchFamily="18" charset="0"/>
                                </a:rPr>
                              </m:ctrlPr>
                            </m:dPr>
                            <m:e>
                              <m:sSubSup>
                                <m:sSubSupPr>
                                  <m:ctrlPr>
                                    <a:rPr lang="en-US" sz="1400" i="1">
                                      <a:latin typeface="Cambria Math" panose="02040503050406030204" pitchFamily="18" charset="0"/>
                                    </a:rPr>
                                  </m:ctrlPr>
                                </m:sSubSupPr>
                                <m:e>
                                  <m:r>
                                    <a:rPr lang="en-US" sz="1400">
                                      <a:latin typeface="Cambria Math"/>
                                    </a:rPr>
                                    <m:t>𝑧</m:t>
                                  </m:r>
                                </m:e>
                                <m:sub>
                                  <m:r>
                                    <a:rPr lang="en-US" sz="1400">
                                      <a:latin typeface="Cambria Math"/>
                                    </a:rPr>
                                    <m:t>𝑓</m:t>
                                  </m:r>
                                  <m:r>
                                    <a:rPr lang="en-US" sz="1400">
                                      <a:latin typeface="Cambria Math"/>
                                    </a:rPr>
                                    <m:t>,</m:t>
                                  </m:r>
                                  <m:r>
                                    <a:rPr lang="en-US" sz="1400">
                                      <a:latin typeface="Cambria Math"/>
                                    </a:rPr>
                                    <m:t>𝑘</m:t>
                                  </m:r>
                                </m:sub>
                                <m:sup>
                                  <m:r>
                                    <a:rPr lang="en-US" sz="1400">
                                      <a:latin typeface="Cambria Math"/>
                                    </a:rPr>
                                    <m:t>𝑖</m:t>
                                  </m:r>
                                </m:sup>
                              </m:sSubSup>
                            </m:e>
                          </m:d>
                        </m:e>
                      </m:nary>
                    </m:oMath>
                  </m:oMathPara>
                </a14:m>
                <a:endParaRPr sz="1400" dirty="0"/>
              </a:p>
              <a:p>
                <a:pPr algn="ctr"/>
                <a14:m>
                  <m:oMathPara xmlns:m="http://schemas.openxmlformats.org/officeDocument/2006/math">
                    <m:oMathParaPr>
                      <m:jc m:val="centerGroup"/>
                    </m:oMathParaPr>
                    <m:oMath xmlns:m="http://schemas.openxmlformats.org/officeDocument/2006/math">
                      <m:sSubSup>
                        <m:sSubSupPr>
                          <m:ctrlPr>
                            <a:rPr lang="en-US" sz="1400" i="1">
                              <a:latin typeface="Cambria Math" panose="02040503050406030204" pitchFamily="18" charset="0"/>
                            </a:rPr>
                          </m:ctrlPr>
                        </m:sSubSupPr>
                        <m:e>
                          <m:r>
                            <a:rPr lang="en-US" sz="1400">
                              <a:latin typeface="Cambria Math"/>
                            </a:rPr>
                            <m:t>𝑎</m:t>
                          </m:r>
                        </m:e>
                        <m:sub>
                          <m:r>
                            <a:rPr lang="en-US" sz="1400">
                              <a:latin typeface="Cambria Math"/>
                            </a:rPr>
                            <m:t>𝑛</m:t>
                          </m:r>
                          <m:r>
                            <a:rPr lang="en-US" sz="1400">
                              <a:latin typeface="Cambria Math"/>
                            </a:rPr>
                            <m:t>,</m:t>
                          </m:r>
                          <m:r>
                            <a:rPr lang="en-US" sz="1400">
                              <a:latin typeface="Cambria Math"/>
                            </a:rPr>
                            <m:t>𝑘</m:t>
                          </m:r>
                        </m:sub>
                        <m:sup>
                          <m:r>
                            <a:rPr lang="en-US" sz="1400">
                              <a:latin typeface="Cambria Math"/>
                            </a:rPr>
                            <m:t>(</m:t>
                          </m:r>
                          <m:r>
                            <a:rPr lang="en-US" sz="1400">
                              <a:latin typeface="Cambria Math"/>
                            </a:rPr>
                            <m:t>𝑙</m:t>
                          </m:r>
                          <m:r>
                            <a:rPr lang="en-US" sz="1400">
                              <a:latin typeface="Cambria Math"/>
                            </a:rPr>
                            <m:t>),</m:t>
                          </m:r>
                          <m:r>
                            <a:rPr lang="en-US" sz="1400">
                              <a:latin typeface="Cambria Math"/>
                            </a:rPr>
                            <m:t>𝑖</m:t>
                          </m:r>
                        </m:sup>
                      </m:sSubSup>
                      <m:r>
                        <m:rPr>
                          <m:aln/>
                        </m:rPr>
                        <a:rPr lang="en-US" sz="1400">
                          <a:latin typeface="Cambria Math"/>
                        </a:rPr>
                        <m:t>=</m:t>
                      </m:r>
                      <m:nary>
                        <m:naryPr>
                          <m:chr m:val="∑"/>
                          <m:limLoc m:val="undOvr"/>
                          <m:ctrlPr>
                            <a:rPr lang="en-US" sz="1400" i="1">
                              <a:latin typeface="Cambria Math" panose="02040503050406030204" pitchFamily="18" charset="0"/>
                            </a:rPr>
                          </m:ctrlPr>
                        </m:naryPr>
                        <m:sub>
                          <m:r>
                            <a:rPr lang="en-US" sz="1400">
                              <a:latin typeface="Cambria Math"/>
                            </a:rPr>
                            <m:t>𝑚</m:t>
                          </m:r>
                          <m:r>
                            <a:rPr lang="en-US" sz="1400">
                              <a:latin typeface="Cambria Math"/>
                            </a:rPr>
                            <m:t>∈</m:t>
                          </m:r>
                          <m:sSubSup>
                            <m:sSubSupPr>
                              <m:ctrlPr>
                                <a:rPr lang="en-US" sz="1400" i="1">
                                  <a:latin typeface="Cambria Math" panose="02040503050406030204" pitchFamily="18" charset="0"/>
                                </a:rPr>
                              </m:ctrlPr>
                            </m:sSubSupPr>
                            <m:e>
                              <m:r>
                                <a:rPr lang="en-US" sz="1400">
                                  <a:latin typeface="Cambria Math"/>
                                </a:rPr>
                                <m:t>𝒞</m:t>
                              </m:r>
                            </m:e>
                            <m:sub>
                              <m:r>
                                <a:rPr lang="en-US" sz="1400">
                                  <a:latin typeface="Cambria Math"/>
                                </a:rPr>
                                <m:t>𝑛</m:t>
                              </m:r>
                            </m:sub>
                            <m:sup>
                              <m:r>
                                <a:rPr lang="en-US" sz="1400">
                                  <a:latin typeface="Cambria Math"/>
                                </a:rPr>
                                <m:t>(</m:t>
                              </m:r>
                              <m:r>
                                <a:rPr lang="en-US" sz="1400">
                                  <a:latin typeface="Cambria Math"/>
                                </a:rPr>
                                <m:t>𝑙</m:t>
                              </m:r>
                              <m:r>
                                <a:rPr lang="en-US" sz="1400">
                                  <a:latin typeface="Cambria Math"/>
                                </a:rPr>
                                <m:t>)</m:t>
                              </m:r>
                            </m:sup>
                          </m:sSubSup>
                        </m:sub>
                        <m:sup/>
                        <m:e>
                          <m:sSubSup>
                            <m:sSubSupPr>
                              <m:ctrlPr>
                                <a:rPr lang="en-US" sz="1400" i="1">
                                  <a:latin typeface="Cambria Math" panose="02040503050406030204" pitchFamily="18" charset="0"/>
                                </a:rPr>
                              </m:ctrlPr>
                            </m:sSubSupPr>
                            <m:e>
                              <m:r>
                                <a:rPr lang="en-US" sz="1400">
                                  <a:latin typeface="Cambria Math"/>
                                </a:rPr>
                                <m:t>𝜔</m:t>
                              </m:r>
                            </m:e>
                            <m:sub>
                              <m:r>
                                <a:rPr lang="en-US" sz="1400">
                                  <a:latin typeface="Cambria Math"/>
                                </a:rPr>
                                <m:t>𝑛</m:t>
                              </m:r>
                              <m:r>
                                <a:rPr lang="en-US" sz="1400">
                                  <a:latin typeface="Cambria Math"/>
                                </a:rPr>
                                <m:t>,</m:t>
                              </m:r>
                              <m:r>
                                <a:rPr lang="en-US" sz="1400">
                                  <a:latin typeface="Cambria Math"/>
                                </a:rPr>
                                <m:t>𝑚</m:t>
                              </m:r>
                            </m:sub>
                            <m:sup>
                              <m:r>
                                <a:rPr lang="en-US" sz="1400">
                                  <a:latin typeface="Cambria Math"/>
                                </a:rPr>
                                <m:t>(</m:t>
                              </m:r>
                              <m:r>
                                <a:rPr lang="en-US" sz="1400">
                                  <a:latin typeface="Cambria Math"/>
                                </a:rPr>
                                <m:t>𝑙</m:t>
                              </m:r>
                              <m:r>
                                <a:rPr lang="en-US" sz="1400">
                                  <a:latin typeface="Cambria Math"/>
                                </a:rPr>
                                <m:t>)</m:t>
                              </m:r>
                            </m:sup>
                          </m:sSubSup>
                          <m:r>
                            <a:rPr lang="en-US" sz="1400">
                              <a:latin typeface="Cambria Math"/>
                            </a:rPr>
                            <m:t>⋅</m:t>
                          </m:r>
                          <m:sSubSup>
                            <m:sSubSupPr>
                              <m:ctrlPr>
                                <a:rPr lang="en-US" sz="1400" i="1">
                                  <a:latin typeface="Cambria Math" panose="02040503050406030204" pitchFamily="18" charset="0"/>
                                </a:rPr>
                              </m:ctrlPr>
                            </m:sSubSupPr>
                            <m:e>
                              <m:r>
                                <a:rPr lang="en-US" sz="1400">
                                  <a:latin typeface="Cambria Math"/>
                                </a:rPr>
                                <m:t>𝑎</m:t>
                              </m:r>
                            </m:e>
                            <m:sub>
                              <m:r>
                                <a:rPr lang="en-US" sz="1400">
                                  <a:latin typeface="Cambria Math"/>
                                </a:rPr>
                                <m:t>𝑚</m:t>
                              </m:r>
                              <m:r>
                                <a:rPr lang="en-US" sz="1400">
                                  <a:latin typeface="Cambria Math"/>
                                </a:rPr>
                                <m:t>,</m:t>
                              </m:r>
                              <m:r>
                                <a:rPr lang="en-US" sz="1400">
                                  <a:latin typeface="Cambria Math"/>
                                </a:rPr>
                                <m:t>𝑘</m:t>
                              </m:r>
                            </m:sub>
                            <m:sup>
                              <m:r>
                                <a:rPr lang="en-US" sz="1400">
                                  <a:latin typeface="Cambria Math"/>
                                </a:rPr>
                                <m:t>(</m:t>
                              </m:r>
                              <m:r>
                                <a:rPr lang="en-US" sz="1400">
                                  <a:latin typeface="Cambria Math"/>
                                </a:rPr>
                                <m:t>𝑙</m:t>
                              </m:r>
                              <m:r>
                                <a:rPr lang="en-US" sz="1400">
                                  <a:latin typeface="Cambria Math"/>
                                </a:rPr>
                                <m:t>−1),</m:t>
                              </m:r>
                              <m:r>
                                <a:rPr lang="en-US" sz="1400">
                                  <a:latin typeface="Cambria Math"/>
                                </a:rPr>
                                <m:t>𝑖</m:t>
                              </m:r>
                            </m:sup>
                          </m:sSubSup>
                        </m:e>
                      </m:nary>
                      <m:r>
                        <a:rPr lang="en-US" sz="1400">
                          <a:latin typeface="Cambria Math"/>
                        </a:rPr>
                        <m:t>, </m:t>
                      </m:r>
                      <m:r>
                        <a:rPr lang="en-US" sz="1400">
                          <a:latin typeface="Cambria Math"/>
                        </a:rPr>
                        <m:t>𝑙</m:t>
                      </m:r>
                      <m:r>
                        <a:rPr lang="en-US" sz="1400">
                          <a:latin typeface="Cambria Math"/>
                        </a:rPr>
                        <m:t>=2,3,4</m:t>
                      </m:r>
                    </m:oMath>
                  </m:oMathPara>
                </a14:m>
                <a:endParaRPr sz="1400" dirty="0"/>
              </a:p>
            </p:txBody>
          </p:sp>
        </mc:Choice>
        <mc:Fallback xmlns="">
          <p:sp>
            <p:nvSpPr>
              <p:cNvPr id="6" name="Equation 42"/>
              <p:cNvSpPr txBox="1">
                <a:spLocks noRot="1" noChangeAspect="1" noMove="1" noResize="1" noEditPoints="1" noAdjustHandles="1" noChangeArrowheads="1" noChangeShapeType="1" noTextEdit="1"/>
              </p:cNvSpPr>
              <p:nvPr/>
            </p:nvSpPr>
            <p:spPr>
              <a:xfrm>
                <a:off x="1308735" y="5669762"/>
                <a:ext cx="3870960" cy="974264"/>
              </a:xfrm>
              <a:prstGeom prst="rect">
                <a:avLst/>
              </a:prstGeom>
              <a:blipFill>
                <a:blip r:embed="rId4"/>
                <a:stretch>
                  <a:fillRect t="-1875" b="-20625"/>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7" name="Equation 43"/>
              <p:cNvSpPr txBox="1"/>
              <p:nvPr/>
            </p:nvSpPr>
            <p:spPr>
              <a:xfrm>
                <a:off x="5975985" y="5871036"/>
                <a:ext cx="3779520" cy="575353"/>
              </a:xfrm>
              <a:prstGeom prst="rect">
                <a:avLst/>
              </a:prstGeom>
              <a:noFill/>
            </p:spPr>
            <p:txBody>
              <a:bodyPr wrap="square" lIns="0" tIns="0" rIns="0" bIns="0" anchor="ctr">
                <a:noAutofit/>
              </a:bodyPr>
              <a:lstStyle/>
              <a:p>
                <a:pPr algn="ctr"/>
                <a14:m>
                  <m:oMathPara xmlns:m="http://schemas.openxmlformats.org/officeDocument/2006/math">
                    <m:oMathParaPr>
                      <m:jc m:val="centerGroup"/>
                    </m:oMathParaPr>
                    <m:oMath xmlns:m="http://schemas.openxmlformats.org/officeDocument/2006/math">
                      <m:sSubSup>
                        <m:sSubSupPr>
                          <m:ctrlPr>
                            <a:rPr lang="en-US" sz="1400" i="1">
                              <a:latin typeface="Cambria Math" panose="02040503050406030204" pitchFamily="18" charset="0"/>
                            </a:rPr>
                          </m:ctrlPr>
                        </m:sSubSupPr>
                        <m:e>
                          <m:r>
                            <a:rPr lang="en-US" sz="1400">
                              <a:latin typeface="Cambria Math"/>
                            </a:rPr>
                            <m:t>𝑎</m:t>
                          </m:r>
                        </m:e>
                        <m:sub>
                          <m:r>
                            <a:rPr lang="en-US" sz="1400">
                              <a:latin typeface="Cambria Math"/>
                            </a:rPr>
                            <m:t>𝑛</m:t>
                          </m:r>
                          <m:r>
                            <a:rPr lang="en-US" sz="1400">
                              <a:latin typeface="Cambria Math"/>
                            </a:rPr>
                            <m:t>,</m:t>
                          </m:r>
                          <m:r>
                            <a:rPr lang="en-US" sz="1400">
                              <a:latin typeface="Cambria Math"/>
                            </a:rPr>
                            <m:t>𝑘</m:t>
                          </m:r>
                        </m:sub>
                        <m:sup>
                          <m:r>
                            <a:rPr lang="en-US" sz="1400">
                              <a:latin typeface="Cambria Math"/>
                            </a:rPr>
                            <m:t>𝑒𝑓𝑓</m:t>
                          </m:r>
                          <m:r>
                            <a:rPr lang="en-US" sz="1400">
                              <a:latin typeface="Cambria Math"/>
                            </a:rPr>
                            <m:t>,</m:t>
                          </m:r>
                          <m:r>
                            <a:rPr lang="en-US" sz="1400">
                              <a:latin typeface="Cambria Math"/>
                            </a:rPr>
                            <m:t>𝑖</m:t>
                          </m:r>
                        </m:sup>
                      </m:sSubSup>
                      <m:r>
                        <m:rPr>
                          <m:aln/>
                        </m:rPr>
                        <a:rPr lang="en-US" sz="1400">
                          <a:latin typeface="Cambria Math"/>
                        </a:rPr>
                        <m:t>=</m:t>
                      </m:r>
                      <m:sSubSup>
                        <m:sSubSupPr>
                          <m:ctrlPr>
                            <a:rPr lang="en-US" sz="1400" i="1">
                              <a:latin typeface="Cambria Math" panose="02040503050406030204" pitchFamily="18" charset="0"/>
                            </a:rPr>
                          </m:ctrlPr>
                        </m:sSubSupPr>
                        <m:e>
                          <m:r>
                            <a:rPr lang="en-US" sz="1400">
                              <a:latin typeface="Cambria Math"/>
                            </a:rPr>
                            <m:t>𝛾</m:t>
                          </m:r>
                        </m:e>
                        <m:sub>
                          <m:r>
                            <a:rPr lang="en-US" sz="1400">
                              <a:latin typeface="Cambria Math"/>
                            </a:rPr>
                            <m:t>𝑛</m:t>
                          </m:r>
                          <m:r>
                            <a:rPr lang="en-US" sz="1400">
                              <a:latin typeface="Cambria Math"/>
                            </a:rPr>
                            <m:t>,</m:t>
                          </m:r>
                          <m:r>
                            <a:rPr lang="en-US" sz="1400">
                              <a:latin typeface="Cambria Math"/>
                            </a:rPr>
                            <m:t>𝑘</m:t>
                          </m:r>
                        </m:sub>
                        <m:sup>
                          <m:r>
                            <a:rPr lang="en-US" sz="1400">
                              <a:latin typeface="Cambria Math"/>
                            </a:rPr>
                            <m:t>𝑖</m:t>
                          </m:r>
                        </m:sup>
                      </m:sSubSup>
                      <m:r>
                        <a:rPr lang="en-US" sz="1400">
                          <a:latin typeface="Cambria Math"/>
                        </a:rPr>
                        <m:t>⋅</m:t>
                      </m:r>
                      <m:sSubSup>
                        <m:sSubSupPr>
                          <m:ctrlPr>
                            <a:rPr lang="en-US" sz="1400" i="1">
                              <a:latin typeface="Cambria Math" panose="02040503050406030204" pitchFamily="18" charset="0"/>
                            </a:rPr>
                          </m:ctrlPr>
                        </m:sSubSupPr>
                        <m:e>
                          <m:r>
                            <a:rPr lang="en-US" sz="1400">
                              <a:latin typeface="Cambria Math"/>
                            </a:rPr>
                            <m:t>𝑎</m:t>
                          </m:r>
                        </m:e>
                        <m:sub>
                          <m:r>
                            <a:rPr lang="en-US" sz="1400">
                              <a:latin typeface="Cambria Math"/>
                            </a:rPr>
                            <m:t>𝑛</m:t>
                          </m:r>
                          <m:r>
                            <a:rPr lang="en-US" sz="1400">
                              <a:latin typeface="Cambria Math"/>
                            </a:rPr>
                            <m:t>,</m:t>
                          </m:r>
                          <m:r>
                            <a:rPr lang="en-US" sz="1400">
                              <a:latin typeface="Cambria Math"/>
                            </a:rPr>
                            <m:t>𝑘</m:t>
                          </m:r>
                        </m:sub>
                        <m:sup>
                          <m:r>
                            <a:rPr lang="en-US" sz="1400">
                              <a:latin typeface="Cambria Math"/>
                            </a:rPr>
                            <m:t>𝑜𝑏𝑠</m:t>
                          </m:r>
                          <m:r>
                            <a:rPr lang="en-US" sz="1400">
                              <a:latin typeface="Cambria Math"/>
                            </a:rPr>
                            <m:t>,</m:t>
                          </m:r>
                          <m:r>
                            <a:rPr lang="en-US" sz="1400">
                              <a:latin typeface="Cambria Math"/>
                            </a:rPr>
                            <m:t>𝑖</m:t>
                          </m:r>
                        </m:sup>
                      </m:sSubSup>
                      <m:r>
                        <a:rPr lang="en-US" sz="1400">
                          <a:latin typeface="Cambria Math"/>
                        </a:rPr>
                        <m:t>+</m:t>
                      </m:r>
                      <m:d>
                        <m:dPr>
                          <m:ctrlPr>
                            <a:rPr lang="en-US" sz="1400" i="1">
                              <a:latin typeface="Cambria Math" panose="02040503050406030204" pitchFamily="18" charset="0"/>
                            </a:rPr>
                          </m:ctrlPr>
                        </m:dPr>
                        <m:e>
                          <m:r>
                            <a:rPr lang="en-US" sz="1400">
                              <a:latin typeface="Cambria Math"/>
                            </a:rPr>
                            <m:t>1−</m:t>
                          </m:r>
                          <m:sSubSup>
                            <m:sSubSupPr>
                              <m:ctrlPr>
                                <a:rPr lang="en-US" sz="1400" i="1">
                                  <a:latin typeface="Cambria Math" panose="02040503050406030204" pitchFamily="18" charset="0"/>
                                </a:rPr>
                              </m:ctrlPr>
                            </m:sSubSupPr>
                            <m:e>
                              <m:r>
                                <a:rPr lang="en-US" sz="1400">
                                  <a:latin typeface="Cambria Math"/>
                                </a:rPr>
                                <m:t>𝛾</m:t>
                              </m:r>
                            </m:e>
                            <m:sub>
                              <m:r>
                                <a:rPr lang="en-US" sz="1400">
                                  <a:latin typeface="Cambria Math"/>
                                </a:rPr>
                                <m:t>𝑛</m:t>
                              </m:r>
                              <m:r>
                                <a:rPr lang="en-US" sz="1400">
                                  <a:latin typeface="Cambria Math"/>
                                </a:rPr>
                                <m:t>,</m:t>
                              </m:r>
                              <m:r>
                                <a:rPr lang="en-US" sz="1400">
                                  <a:latin typeface="Cambria Math"/>
                                </a:rPr>
                                <m:t>𝑘</m:t>
                              </m:r>
                            </m:sub>
                            <m:sup>
                              <m:r>
                                <a:rPr lang="en-US" sz="1400">
                                  <a:latin typeface="Cambria Math"/>
                                </a:rPr>
                                <m:t>𝑖</m:t>
                              </m:r>
                            </m:sup>
                          </m:sSubSup>
                        </m:e>
                      </m:d>
                      <m:r>
                        <a:rPr lang="en-US" sz="1400">
                          <a:latin typeface="Cambria Math"/>
                        </a:rPr>
                        <m:t>⋅</m:t>
                      </m:r>
                      <m:r>
                        <a:rPr lang="en-US" sz="1400">
                          <a:latin typeface="Cambria Math"/>
                        </a:rPr>
                        <m:t>𝜌</m:t>
                      </m:r>
                      <m:r>
                        <a:rPr lang="en-US" sz="1400">
                          <a:latin typeface="Cambria Math"/>
                        </a:rPr>
                        <m:t>⋅</m:t>
                      </m:r>
                      <m:sSubSup>
                        <m:sSubSupPr>
                          <m:ctrlPr>
                            <a:rPr lang="en-US" sz="1400" i="1">
                              <a:latin typeface="Cambria Math" panose="02040503050406030204" pitchFamily="18" charset="0"/>
                            </a:rPr>
                          </m:ctrlPr>
                        </m:sSubSupPr>
                        <m:e>
                          <m:r>
                            <a:rPr lang="en-US" sz="1400">
                              <a:latin typeface="Cambria Math"/>
                            </a:rPr>
                            <m:t>𝑎</m:t>
                          </m:r>
                        </m:e>
                        <m:sub>
                          <m:r>
                            <a:rPr lang="en-US" sz="1400">
                              <a:latin typeface="Cambria Math"/>
                            </a:rPr>
                            <m:t>𝑛</m:t>
                          </m:r>
                          <m:r>
                            <a:rPr lang="en-US" sz="1400">
                              <a:latin typeface="Cambria Math"/>
                            </a:rPr>
                            <m:t>,</m:t>
                          </m:r>
                          <m:r>
                            <a:rPr lang="en-US" sz="1400">
                              <a:latin typeface="Cambria Math"/>
                            </a:rPr>
                            <m:t>𝑘</m:t>
                          </m:r>
                          <m:r>
                            <a:rPr lang="en-US" sz="1400">
                              <a:latin typeface="Cambria Math"/>
                            </a:rPr>
                            <m:t>−1</m:t>
                          </m:r>
                        </m:sub>
                        <m:sup>
                          <m:r>
                            <a:rPr lang="en-US" sz="1400">
                              <a:latin typeface="Cambria Math"/>
                            </a:rPr>
                            <m:t>𝑒𝑓𝑓</m:t>
                          </m:r>
                          <m:r>
                            <a:rPr lang="en-US" sz="1400">
                              <a:latin typeface="Cambria Math"/>
                            </a:rPr>
                            <m:t>,</m:t>
                          </m:r>
                          <m:r>
                            <a:rPr lang="en-US" sz="1400">
                              <a:latin typeface="Cambria Math"/>
                            </a:rPr>
                            <m:t>𝑖</m:t>
                          </m:r>
                        </m:sup>
                      </m:sSubSup>
                      <m:r>
                        <a:rPr lang="en-US" sz="1400">
                          <a:latin typeface="Cambria Math"/>
                        </a:rPr>
                        <m:t>,</m:t>
                      </m:r>
                    </m:oMath>
                  </m:oMathPara>
                </a14:m>
                <a:endParaRPr sz="2000" dirty="0"/>
              </a:p>
              <a:p>
                <a:pPr algn="ctr"/>
                <a14:m>
                  <m:oMathPara xmlns:m="http://schemas.openxmlformats.org/officeDocument/2006/math">
                    <m:oMathParaPr>
                      <m:jc m:val="centerGroup"/>
                    </m:oMathParaPr>
                    <m:oMath xmlns:m="http://schemas.openxmlformats.org/officeDocument/2006/math">
                      <m:sSubSup>
                        <m:sSubSupPr>
                          <m:ctrlPr>
                            <a:rPr lang="en-US" sz="1400" i="1">
                              <a:latin typeface="Cambria Math" panose="02040503050406030204" pitchFamily="18" charset="0"/>
                            </a:rPr>
                          </m:ctrlPr>
                        </m:sSubSupPr>
                        <m:e>
                          <m:r>
                            <a:rPr lang="en-US" sz="1400">
                              <a:latin typeface="Cambria Math"/>
                            </a:rPr>
                            <m:t>𝛾</m:t>
                          </m:r>
                        </m:e>
                        <m:sub>
                          <m:r>
                            <a:rPr lang="en-US" sz="1400">
                              <a:latin typeface="Cambria Math"/>
                            </a:rPr>
                            <m:t>𝑛</m:t>
                          </m:r>
                          <m:r>
                            <a:rPr lang="en-US" sz="1400">
                              <a:latin typeface="Cambria Math"/>
                            </a:rPr>
                            <m:t>,</m:t>
                          </m:r>
                          <m:r>
                            <a:rPr lang="en-US" sz="1400">
                              <a:latin typeface="Cambria Math"/>
                            </a:rPr>
                            <m:t>𝑘</m:t>
                          </m:r>
                        </m:sub>
                        <m:sup>
                          <m:r>
                            <a:rPr lang="en-US" sz="1400">
                              <a:latin typeface="Cambria Math"/>
                            </a:rPr>
                            <m:t>𝑖</m:t>
                          </m:r>
                        </m:sup>
                      </m:sSubSup>
                      <m:r>
                        <m:rPr>
                          <m:aln/>
                        </m:rPr>
                        <a:rPr lang="en-US" sz="1400">
                          <a:latin typeface="Cambria Math"/>
                        </a:rPr>
                        <m:t>=</m:t>
                      </m:r>
                      <m:r>
                        <a:rPr lang="en-US" sz="1400">
                          <a:latin typeface="Cambria Math"/>
                        </a:rPr>
                        <m:t>𝑚𝑖𝑛</m:t>
                      </m:r>
                      <m:r>
                        <a:rPr lang="en-US" sz="1400">
                          <a:latin typeface="Cambria Math"/>
                        </a:rPr>
                        <m:t>⁡{</m:t>
                      </m:r>
                      <m:sSubSup>
                        <m:sSubSupPr>
                          <m:ctrlPr>
                            <a:rPr lang="en-US" sz="1400" i="1">
                              <a:latin typeface="Cambria Math" panose="02040503050406030204" pitchFamily="18" charset="0"/>
                            </a:rPr>
                          </m:ctrlPr>
                        </m:sSubSupPr>
                        <m:e>
                          <m:r>
                            <a:rPr lang="en-US" sz="1400">
                              <a:latin typeface="Cambria Math"/>
                            </a:rPr>
                            <m:t>𝛾</m:t>
                          </m:r>
                        </m:e>
                        <m:sub>
                          <m:r>
                            <a:rPr lang="en-US" sz="1400">
                              <a:latin typeface="Cambria Math"/>
                            </a:rPr>
                            <m:t>𝑓</m:t>
                          </m:r>
                          <m:r>
                            <a:rPr lang="en-US" sz="1400">
                              <a:latin typeface="Cambria Math"/>
                            </a:rPr>
                            <m:t>,</m:t>
                          </m:r>
                          <m:r>
                            <a:rPr lang="en-US" sz="1400">
                              <a:latin typeface="Cambria Math"/>
                            </a:rPr>
                            <m:t>𝑘</m:t>
                          </m:r>
                        </m:sub>
                        <m:sup>
                          <m:r>
                            <a:rPr lang="en-US" sz="1400">
                              <a:latin typeface="Cambria Math"/>
                            </a:rPr>
                            <m:t>𝑖</m:t>
                          </m:r>
                        </m:sup>
                      </m:sSubSup>
                      <m:r>
                        <a:rPr lang="en-US" sz="1400">
                          <a:latin typeface="Cambria Math"/>
                        </a:rPr>
                        <m:t>:</m:t>
                      </m:r>
                      <m:r>
                        <a:rPr lang="en-US" sz="1400">
                          <a:latin typeface="Cambria Math"/>
                        </a:rPr>
                        <m:t>𝑓</m:t>
                      </m:r>
                      <m:r>
                        <a:rPr lang="en-US" sz="1400">
                          <a:latin typeface="Cambria Math"/>
                        </a:rPr>
                        <m:t>∈</m:t>
                      </m:r>
                      <m:sSub>
                        <m:sSubPr>
                          <m:ctrlPr>
                            <a:rPr lang="en-US" sz="1400" i="1">
                              <a:latin typeface="Cambria Math" panose="02040503050406030204" pitchFamily="18" charset="0"/>
                            </a:rPr>
                          </m:ctrlPr>
                        </m:sSubPr>
                        <m:e>
                          <m:r>
                            <a:rPr lang="en-US" sz="1400">
                              <a:latin typeface="Cambria Math"/>
                            </a:rPr>
                            <m:t>𝒵</m:t>
                          </m:r>
                        </m:e>
                        <m:sub>
                          <m:r>
                            <a:rPr lang="en-US" sz="1400">
                              <a:latin typeface="Cambria Math"/>
                            </a:rPr>
                            <m:t>𝑛</m:t>
                          </m:r>
                        </m:sub>
                      </m:sSub>
                      <m:r>
                        <a:rPr lang="en-US" sz="1400">
                          <a:latin typeface="Cambria Math"/>
                        </a:rPr>
                        <m:t>}</m:t>
                      </m:r>
                    </m:oMath>
                  </m:oMathPara>
                </a14:m>
                <a:endParaRPr sz="2000" dirty="0"/>
              </a:p>
            </p:txBody>
          </p:sp>
        </mc:Choice>
        <mc:Fallback xmlns="">
          <p:sp>
            <p:nvSpPr>
              <p:cNvPr id="7" name="Equation 43"/>
              <p:cNvSpPr txBox="1">
                <a:spLocks noRot="1" noChangeAspect="1" noMove="1" noResize="1" noEditPoints="1" noAdjustHandles="1" noChangeArrowheads="1" noChangeShapeType="1" noTextEdit="1"/>
              </p:cNvSpPr>
              <p:nvPr/>
            </p:nvSpPr>
            <p:spPr>
              <a:xfrm>
                <a:off x="5975985" y="5871036"/>
                <a:ext cx="3779520" cy="575353"/>
              </a:xfrm>
              <a:prstGeom prst="rect">
                <a:avLst/>
              </a:prstGeom>
              <a:blipFill>
                <a:blip r:embed="rId5"/>
                <a:stretch>
                  <a:fillRect t="-2128" b="-17021"/>
                </a:stretch>
              </a:blipFill>
            </p:spPr>
            <p:txBody>
              <a:bodyPr/>
              <a:lstStyle/>
              <a:p>
                <a:r>
                  <a:rPr lang="tr-TR">
                    <a:noFill/>
                  </a:rPr>
                  <a:t> </a:t>
                </a:r>
              </a:p>
            </p:txBody>
          </p:sp>
        </mc:Fallback>
      </mc:AlternateContent>
      <p:pic>
        <p:nvPicPr>
          <p:cNvPr id="9" name="Image 3" descr="/tmp/thx/deck/figs/metu_emblem.png"/>
          <p:cNvPicPr>
            <a:picLocks noChangeAspect="1"/>
          </p:cNvPicPr>
          <p:nvPr/>
        </p:nvPicPr>
        <p:blipFill>
          <a:blip r:embed="rId6"/>
          <a:stretch>
            <a:fillRect/>
          </a:stretch>
        </p:blipFill>
        <p:spPr>
          <a:xfrm>
            <a:off x="10716768" y="184607"/>
            <a:ext cx="475488" cy="398882"/>
          </a:xfrm>
          <a:prstGeom prst="rect">
            <a:avLst/>
          </a:prstGeom>
        </p:spPr>
      </p:pic>
      <p:pic>
        <p:nvPicPr>
          <p:cNvPr id="10" name="Image 4" descr="/tmp/thx/deck/figs/eee_logo.png"/>
          <p:cNvPicPr>
            <a:picLocks noChangeAspect="1"/>
          </p:cNvPicPr>
          <p:nvPr/>
        </p:nvPicPr>
        <p:blipFill>
          <a:blip r:embed="rId7"/>
          <a:stretch>
            <a:fillRect/>
          </a:stretch>
        </p:blipFill>
        <p:spPr>
          <a:xfrm>
            <a:off x="11265408" y="186217"/>
            <a:ext cx="475488" cy="39566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37744"/>
            <a:ext cx="91440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DSS FRAMEWORK : LAYER 3 OF 4</a:t>
            </a:r>
            <a:endParaRPr lang="en-US" sz="1300" dirty="0"/>
          </a:p>
        </p:txBody>
      </p:sp>
      <p:sp>
        <p:nvSpPr>
          <p:cNvPr id="3" name="Text 1"/>
          <p:cNvSpPr/>
          <p:nvPr/>
        </p:nvSpPr>
        <p:spPr>
          <a:xfrm>
            <a:off x="502920" y="493776"/>
            <a:ext cx="11247120" cy="685800"/>
          </a:xfrm>
          <a:prstGeom prst="rect">
            <a:avLst/>
          </a:prstGeom>
          <a:noFill/>
          <a:ln/>
        </p:spPr>
        <p:txBody>
          <a:bodyPr wrap="square" lIns="0" tIns="0" rIns="0" bIns="0" rtlCol="0" anchor="ctr"/>
          <a:lstStyle/>
          <a:p>
            <a:pPr marL="0" indent="0">
              <a:buNone/>
            </a:pPr>
            <a:r>
              <a:rPr lang="en-US" sz="2400" b="1" dirty="0">
                <a:solidFill>
                  <a:srgbClr val="000000"/>
                </a:solidFill>
                <a:latin typeface="Cambria" pitchFamily="34" charset="0"/>
                <a:ea typeface="Cambria" pitchFamily="34" charset="-122"/>
                <a:cs typeface="Cambria" pitchFamily="34" charset="-120"/>
              </a:rPr>
              <a:t>Layer 3 : Concept Space</a:t>
            </a:r>
            <a:r>
              <a:rPr lang="tr-TR" sz="2400" b="1" dirty="0">
                <a:solidFill>
                  <a:srgbClr val="000000"/>
                </a:solidFill>
                <a:latin typeface="Cambria" pitchFamily="34" charset="0"/>
                <a:ea typeface="Cambria" pitchFamily="34" charset="-122"/>
                <a:cs typeface="Cambria" pitchFamily="34" charset="-120"/>
              </a:rPr>
              <a:t> – </a:t>
            </a:r>
            <a:r>
              <a:rPr lang="en-US" sz="2400" b="1" dirty="0">
                <a:solidFill>
                  <a:srgbClr val="000000"/>
                </a:solidFill>
                <a:latin typeface="Cambria" pitchFamily="34" charset="0"/>
                <a:ea typeface="Cambria" pitchFamily="34" charset="-122"/>
                <a:cs typeface="Cambria" pitchFamily="34" charset="-120"/>
              </a:rPr>
              <a:t>Fuzzy Inference</a:t>
            </a:r>
            <a:endParaRPr lang="en-US" sz="2400" dirty="0"/>
          </a:p>
        </p:txBody>
      </p:sp>
      <p:pic>
        <p:nvPicPr>
          <p:cNvPr id="4"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5"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p:sp>
        <p:nvSpPr>
          <p:cNvPr id="12" name="Shape 2">
            <a:extLst>
              <a:ext uri="{FF2B5EF4-FFF2-40B4-BE49-F238E27FC236}">
                <a16:creationId xmlns:a16="http://schemas.microsoft.com/office/drawing/2014/main" id="{FDE032D8-8A58-49F4-8526-A7603D5DFD6E}"/>
              </a:ext>
            </a:extLst>
          </p:cNvPr>
          <p:cNvSpPr/>
          <p:nvPr/>
        </p:nvSpPr>
        <p:spPr>
          <a:xfrm>
            <a:off x="472440" y="1216152"/>
            <a:ext cx="5532120" cy="3246120"/>
          </a:xfrm>
          <a:prstGeom prst="roundRect">
            <a:avLst>
              <a:gd name="adj" fmla="val 1408"/>
            </a:avLst>
          </a:prstGeom>
          <a:solidFill>
            <a:srgbClr val="F2F2F2"/>
          </a:solidFill>
          <a:ln/>
        </p:spPr>
        <p:txBody>
          <a:bodyPr/>
          <a:lstStyle/>
          <a:p>
            <a:endParaRPr lang="tr-TR"/>
          </a:p>
        </p:txBody>
      </p:sp>
      <p:sp>
        <p:nvSpPr>
          <p:cNvPr id="13" name="Shape 3">
            <a:extLst>
              <a:ext uri="{FF2B5EF4-FFF2-40B4-BE49-F238E27FC236}">
                <a16:creationId xmlns:a16="http://schemas.microsoft.com/office/drawing/2014/main" id="{BE6751CE-EA5A-4042-824E-9E5D5BFB8A84}"/>
              </a:ext>
            </a:extLst>
          </p:cNvPr>
          <p:cNvSpPr/>
          <p:nvPr/>
        </p:nvSpPr>
        <p:spPr>
          <a:xfrm>
            <a:off x="6187440" y="1216152"/>
            <a:ext cx="5486400" cy="3246120"/>
          </a:xfrm>
          <a:prstGeom prst="roundRect">
            <a:avLst>
              <a:gd name="adj" fmla="val 1408"/>
            </a:avLst>
          </a:prstGeom>
          <a:solidFill>
            <a:srgbClr val="FDE8EB"/>
          </a:solidFill>
          <a:ln/>
        </p:spPr>
        <p:txBody>
          <a:bodyPr/>
          <a:lstStyle/>
          <a:p>
            <a:endParaRPr lang="tr-TR"/>
          </a:p>
        </p:txBody>
      </p:sp>
      <p:sp>
        <p:nvSpPr>
          <p:cNvPr id="14" name="Text 4">
            <a:extLst>
              <a:ext uri="{FF2B5EF4-FFF2-40B4-BE49-F238E27FC236}">
                <a16:creationId xmlns:a16="http://schemas.microsoft.com/office/drawing/2014/main" id="{66A960F1-0707-493A-A361-E666F81B8B91}"/>
              </a:ext>
            </a:extLst>
          </p:cNvPr>
          <p:cNvSpPr/>
          <p:nvPr/>
        </p:nvSpPr>
        <p:spPr>
          <a:xfrm>
            <a:off x="746760" y="1335024"/>
            <a:ext cx="5029200" cy="29260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500" b="1" kern="0" spc="200" dirty="0">
                <a:solidFill>
                  <a:srgbClr val="6E6E6E"/>
                </a:solidFill>
                <a:latin typeface="Calibri" pitchFamily="34" charset="0"/>
                <a:ea typeface="Calibri" pitchFamily="34" charset="-122"/>
                <a:cs typeface="Calibri" pitchFamily="34" charset="-120"/>
              </a:rPr>
              <a:t>MAMDANI</a:t>
            </a:r>
            <a:endParaRPr lang="en-US" sz="1500" dirty="0"/>
          </a:p>
        </p:txBody>
      </p:sp>
      <p:sp>
        <p:nvSpPr>
          <p:cNvPr id="15" name="Text 5">
            <a:extLst>
              <a:ext uri="{FF2B5EF4-FFF2-40B4-BE49-F238E27FC236}">
                <a16:creationId xmlns:a16="http://schemas.microsoft.com/office/drawing/2014/main" id="{241DAC05-2DF7-48F3-B98E-C6DEA35FD063}"/>
              </a:ext>
            </a:extLst>
          </p:cNvPr>
          <p:cNvSpPr/>
          <p:nvPr/>
        </p:nvSpPr>
        <p:spPr>
          <a:xfrm>
            <a:off x="6461760" y="1335024"/>
            <a:ext cx="5029200" cy="29260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500" b="1" kern="0" spc="100" dirty="0">
                <a:solidFill>
                  <a:srgbClr val="E31836"/>
                </a:solidFill>
                <a:latin typeface="Calibri" pitchFamily="34" charset="0"/>
                <a:ea typeface="Calibri" pitchFamily="34" charset="-122"/>
                <a:cs typeface="Calibri" pitchFamily="34" charset="-120"/>
              </a:rPr>
              <a:t>ZERO-ORDER TAKAGI–SUGENO (this thesis)</a:t>
            </a:r>
            <a:endParaRPr lang="en-US" sz="1500" dirty="0"/>
          </a:p>
        </p:txBody>
      </p:sp>
      <p:sp>
        <p:nvSpPr>
          <p:cNvPr id="16" name="Text 6">
            <a:extLst>
              <a:ext uri="{FF2B5EF4-FFF2-40B4-BE49-F238E27FC236}">
                <a16:creationId xmlns:a16="http://schemas.microsoft.com/office/drawing/2014/main" id="{DFBE0F7B-0AE8-468F-9D91-BD8F3DC5DBD5}"/>
              </a:ext>
            </a:extLst>
          </p:cNvPr>
          <p:cNvSpPr/>
          <p:nvPr/>
        </p:nvSpPr>
        <p:spPr>
          <a:xfrm>
            <a:off x="746760" y="1673352"/>
            <a:ext cx="502920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400">
                <a:solidFill>
                  <a:srgbClr val="222222"/>
                </a:solidFill>
                <a:latin typeface="Calibri" pitchFamily="34" charset="0"/>
                <a:ea typeface="Calibri" pitchFamily="34" charset="-122"/>
                <a:cs typeface="Calibri" pitchFamily="34" charset="-120"/>
              </a:rPr>
              <a:t>Consequent is a fuzzy set: “…THEN u is HIGH”</a:t>
            </a:r>
            <a:endParaRPr lang="en-US" sz="1400" dirty="0"/>
          </a:p>
        </p:txBody>
      </p:sp>
      <mc:AlternateContent xmlns:mc="http://schemas.openxmlformats.org/markup-compatibility/2006" xmlns:a14="http://schemas.microsoft.com/office/drawing/2010/main">
        <mc:Choice Requires="a14">
          <p:sp>
            <p:nvSpPr>
              <p:cNvPr id="17" name="Text 7">
                <a:extLst>
                  <a:ext uri="{FF2B5EF4-FFF2-40B4-BE49-F238E27FC236}">
                    <a16:creationId xmlns:a16="http://schemas.microsoft.com/office/drawing/2014/main" id="{22874BB7-FBD7-4C5B-A08A-A93B8C5EC660}"/>
                  </a:ext>
                </a:extLst>
              </p:cNvPr>
              <p:cNvSpPr/>
              <p:nvPr/>
            </p:nvSpPr>
            <p:spPr>
              <a:xfrm>
                <a:off x="746760" y="2039112"/>
                <a:ext cx="5029200" cy="6858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14:m>
                  <m:oMathPara xmlns:m="http://schemas.openxmlformats.org/officeDocument/2006/math">
                    <m:oMathParaPr>
                      <m:jc m:val="centerGroup"/>
                    </m:oMathParaPr>
                    <m:oMath xmlns:m="http://schemas.openxmlformats.org/officeDocument/2006/math">
                      <m:sSup>
                        <m:sSupPr>
                          <m:ctrlPr>
                            <a:rPr lang="en-US" sz="1400" i="1">
                              <a:latin typeface="Cambria Math" panose="02040503050406030204" pitchFamily="18" charset="0"/>
                            </a:rPr>
                          </m:ctrlPr>
                        </m:sSupPr>
                        <m:e>
                          <m:r>
                            <a:rPr lang="en-US" sz="1400">
                              <a:latin typeface="Cambria Math"/>
                            </a:rPr>
                            <m:t>𝑢</m:t>
                          </m:r>
                        </m:e>
                        <m:sup>
                          <m:r>
                            <a:rPr lang="en-US" sz="1400">
                              <a:latin typeface="Cambria Math"/>
                            </a:rPr>
                            <m:t>∗</m:t>
                          </m:r>
                        </m:sup>
                      </m:sSup>
                      <m:r>
                        <a:rPr lang="en-US" sz="1400">
                          <a:latin typeface="Cambria Math"/>
                        </a:rPr>
                        <m:t>=</m:t>
                      </m:r>
                      <m:f>
                        <m:fPr>
                          <m:ctrlPr>
                            <a:rPr lang="en-US" sz="1400" i="1">
                              <a:latin typeface="Cambria Math" panose="02040503050406030204" pitchFamily="18" charset="0"/>
                            </a:rPr>
                          </m:ctrlPr>
                        </m:fPr>
                        <m:num>
                          <m:r>
                            <a:rPr lang="en-US" sz="1400">
                              <a:latin typeface="Cambria Math"/>
                            </a:rPr>
                            <m:t>∫</m:t>
                          </m:r>
                          <m:r>
                            <a:rPr lang="en-US" sz="1400">
                              <a:latin typeface="Cambria Math"/>
                            </a:rPr>
                            <m:t>𝑢</m:t>
                          </m:r>
                          <m:r>
                            <a:rPr lang="en-US" sz="1400">
                              <a:latin typeface="Cambria Math"/>
                            </a:rPr>
                            <m:t>⋅</m:t>
                          </m:r>
                          <m:sSub>
                            <m:sSubPr>
                              <m:ctrlPr>
                                <a:rPr lang="en-US" sz="1400" i="1">
                                  <a:latin typeface="Cambria Math" panose="02040503050406030204" pitchFamily="18" charset="0"/>
                                </a:rPr>
                              </m:ctrlPr>
                            </m:sSubPr>
                            <m:e>
                              <m:r>
                                <a:rPr lang="en-US" sz="1400">
                                  <a:latin typeface="Cambria Math"/>
                                </a:rPr>
                                <m:t>𝜇</m:t>
                              </m:r>
                            </m:e>
                            <m:sub>
                              <m:r>
                                <a:rPr lang="en-US" sz="1400">
                                  <a:latin typeface="Cambria Math"/>
                                </a:rPr>
                                <m:t>𝑎𝑔𝑔</m:t>
                              </m:r>
                            </m:sub>
                          </m:sSub>
                          <m:r>
                            <a:rPr lang="en-US" sz="1400">
                              <a:latin typeface="Cambria Math"/>
                            </a:rPr>
                            <m:t>(</m:t>
                          </m:r>
                          <m:r>
                            <a:rPr lang="en-US" sz="1400">
                              <a:latin typeface="Cambria Math"/>
                            </a:rPr>
                            <m:t>𝑢</m:t>
                          </m:r>
                          <m:r>
                            <a:rPr lang="en-US" sz="1400">
                              <a:latin typeface="Cambria Math"/>
                            </a:rPr>
                            <m:t>)</m:t>
                          </m:r>
                          <m:r>
                            <m:rPr>
                              <m:sty m:val="p"/>
                            </m:rPr>
                            <a:rPr lang="en-US" sz="1400">
                              <a:latin typeface="Cambria Math"/>
                            </a:rPr>
                            <m:t>du</m:t>
                          </m:r>
                        </m:num>
                        <m:den>
                          <m:r>
                            <a:rPr lang="en-US" sz="1400">
                              <a:latin typeface="Cambria Math"/>
                            </a:rPr>
                            <m:t>∫</m:t>
                          </m:r>
                          <m:sSub>
                            <m:sSubPr>
                              <m:ctrlPr>
                                <a:rPr lang="en-US" sz="1400" i="1">
                                  <a:latin typeface="Cambria Math" panose="02040503050406030204" pitchFamily="18" charset="0"/>
                                </a:rPr>
                              </m:ctrlPr>
                            </m:sSubPr>
                            <m:e>
                              <m:r>
                                <a:rPr lang="en-US" sz="1400">
                                  <a:latin typeface="Cambria Math"/>
                                </a:rPr>
                                <m:t>𝜇</m:t>
                              </m:r>
                            </m:e>
                            <m:sub>
                              <m:r>
                                <a:rPr lang="en-US" sz="1400">
                                  <a:latin typeface="Cambria Math"/>
                                </a:rPr>
                                <m:t>𝑎𝑔𝑔</m:t>
                              </m:r>
                            </m:sub>
                          </m:sSub>
                          <m:r>
                            <a:rPr lang="en-US" sz="1400">
                              <a:latin typeface="Cambria Math"/>
                            </a:rPr>
                            <m:t>(</m:t>
                          </m:r>
                          <m:r>
                            <a:rPr lang="en-US" sz="1400">
                              <a:latin typeface="Cambria Math"/>
                            </a:rPr>
                            <m:t>𝑢</m:t>
                          </m:r>
                          <m:r>
                            <a:rPr lang="en-US" sz="1400">
                              <a:latin typeface="Cambria Math"/>
                            </a:rPr>
                            <m:t>)</m:t>
                          </m:r>
                          <m:r>
                            <m:rPr>
                              <m:sty m:val="p"/>
                            </m:rPr>
                            <a:rPr lang="en-US" sz="1400">
                              <a:latin typeface="Cambria Math"/>
                            </a:rPr>
                            <m:t>du</m:t>
                          </m:r>
                        </m:den>
                      </m:f>
                    </m:oMath>
                  </m:oMathPara>
                </a14:m>
                <a:endParaRPr lang="en-US" sz="1300" dirty="0"/>
              </a:p>
            </p:txBody>
          </p:sp>
        </mc:Choice>
        <mc:Fallback xmlns="">
          <p:sp>
            <p:nvSpPr>
              <p:cNvPr id="17" name="Text 7">
                <a:extLst>
                  <a:ext uri="{FF2B5EF4-FFF2-40B4-BE49-F238E27FC236}">
                    <a16:creationId xmlns:a16="http://schemas.microsoft.com/office/drawing/2014/main" id="{22874BB7-FBD7-4C5B-A08A-A93B8C5EC660}"/>
                  </a:ext>
                </a:extLst>
              </p:cNvPr>
              <p:cNvSpPr>
                <a:spLocks noRot="1" noChangeAspect="1" noMove="1" noResize="1" noEditPoints="1" noAdjustHandles="1" noChangeArrowheads="1" noChangeShapeType="1" noTextEdit="1"/>
              </p:cNvSpPr>
              <p:nvPr/>
            </p:nvSpPr>
            <p:spPr>
              <a:xfrm>
                <a:off x="746760" y="2039112"/>
                <a:ext cx="5029200" cy="685800"/>
              </a:xfrm>
              <a:prstGeom prst="rect">
                <a:avLst/>
              </a:prstGeom>
              <a:blipFill>
                <a:blip r:embed="rId5"/>
                <a:stretch>
                  <a:fillRect/>
                </a:stretch>
              </a:blipFill>
              <a:ln/>
            </p:spPr>
            <p:txBody>
              <a:bodyPr/>
              <a:lstStyle/>
              <a:p>
                <a:r>
                  <a:rPr lang="tr-TR">
                    <a:noFill/>
                  </a:rPr>
                  <a:t/>
                </a:r>
              </a:p>
            </p:txBody>
          </p:sp>
        </mc:Fallback>
      </mc:AlternateContent>
      <mc:AlternateContent xmlns:mc="http://schemas.openxmlformats.org/markup-compatibility/2006" xmlns:a14="http://schemas.microsoft.com/office/drawing/2010/main">
        <mc:Choice Requires="a14">
          <p:sp>
            <p:nvSpPr>
              <p:cNvPr id="18" name="Text 8">
                <a:extLst>
                  <a:ext uri="{FF2B5EF4-FFF2-40B4-BE49-F238E27FC236}">
                    <a16:creationId xmlns:a16="http://schemas.microsoft.com/office/drawing/2014/main" id="{CEED5808-43F1-44F2-9A6C-D5A8205A4889}"/>
                  </a:ext>
                </a:extLst>
              </p:cNvPr>
              <p:cNvSpPr/>
              <p:nvPr/>
            </p:nvSpPr>
            <p:spPr>
              <a:xfrm>
                <a:off x="746760" y="2770632"/>
                <a:ext cx="5029200" cy="5029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14:m>
                  <m:oMathPara xmlns:m="http://schemas.openxmlformats.org/officeDocument/2006/math">
                    <m:oMathParaPr>
                      <m:jc m:val="centerGroup"/>
                    </m:oMathParaPr>
                    <m:oMath xmlns:m="http://schemas.openxmlformats.org/officeDocument/2006/math">
                      <m:sSub>
                        <m:sSubPr>
                          <m:ctrlPr>
                            <a:rPr lang="en-US" sz="1400" i="1">
                              <a:latin typeface="Cambria Math" panose="02040503050406030204" pitchFamily="18" charset="0"/>
                            </a:rPr>
                          </m:ctrlPr>
                        </m:sSubPr>
                        <m:e>
                          <m:r>
                            <a:rPr lang="en-US" sz="1400">
                              <a:latin typeface="Cambria Math"/>
                            </a:rPr>
                            <m:t>𝜇</m:t>
                          </m:r>
                        </m:e>
                        <m:sub>
                          <m:r>
                            <a:rPr lang="en-US" sz="1400">
                              <a:latin typeface="Cambria Math"/>
                            </a:rPr>
                            <m:t>𝑎𝑔𝑔</m:t>
                          </m:r>
                        </m:sub>
                      </m:sSub>
                      <m:r>
                        <a:rPr lang="en-US" sz="1400">
                          <a:latin typeface="Cambria Math"/>
                        </a:rPr>
                        <m:t>(</m:t>
                      </m:r>
                      <m:r>
                        <a:rPr lang="en-US" sz="1400">
                          <a:latin typeface="Cambria Math"/>
                        </a:rPr>
                        <m:t>𝑢</m:t>
                      </m:r>
                      <m:r>
                        <a:rPr lang="en-US" sz="1400">
                          <a:latin typeface="Cambria Math"/>
                        </a:rPr>
                        <m:t>)=</m:t>
                      </m:r>
                      <m:func>
                        <m:funcPr>
                          <m:ctrlPr>
                            <a:rPr lang="en-US" sz="1400" i="1">
                              <a:latin typeface="Cambria Math" panose="02040503050406030204" pitchFamily="18" charset="0"/>
                            </a:rPr>
                          </m:ctrlPr>
                        </m:funcPr>
                        <m:fName>
                          <m:limLow>
                            <m:limLowPr>
                              <m:ctrlPr>
                                <a:rPr lang="en-US" sz="1400" i="1">
                                  <a:latin typeface="Cambria Math" panose="02040503050406030204" pitchFamily="18" charset="0"/>
                                </a:rPr>
                              </m:ctrlPr>
                            </m:limLowPr>
                            <m:e>
                              <m:r>
                                <m:rPr>
                                  <m:sty m:val="p"/>
                                </m:rPr>
                                <a:rPr lang="en-US" sz="1400">
                                  <a:latin typeface="Cambria Math"/>
                                </a:rPr>
                                <m:t>max</m:t>
                              </m:r>
                            </m:e>
                            <m:lim>
                              <m:r>
                                <a:rPr lang="en-US" sz="1400">
                                  <a:latin typeface="Cambria Math"/>
                                </a:rPr>
                                <m:t>𝑟</m:t>
                              </m:r>
                            </m:lim>
                          </m:limLow>
                        </m:fName>
                        <m:e>
                          <m:r>
                            <m:rPr>
                              <m:sty m:val="p"/>
                            </m:rPr>
                            <a:rPr lang="en-US" sz="1400">
                              <a:latin typeface="Cambria Math"/>
                            </a:rPr>
                            <m:t>min</m:t>
                          </m:r>
                          <m:r>
                            <a:rPr lang="en-US" sz="1400">
                              <a:latin typeface="Cambria Math"/>
                            </a:rPr>
                            <m:t>(</m:t>
                          </m:r>
                          <m:sSub>
                            <m:sSubPr>
                              <m:ctrlPr>
                                <a:rPr lang="en-US" sz="1400" i="1">
                                  <a:latin typeface="Cambria Math" panose="02040503050406030204" pitchFamily="18" charset="0"/>
                                </a:rPr>
                              </m:ctrlPr>
                            </m:sSubPr>
                            <m:e>
                              <m:r>
                                <a:rPr lang="en-US" sz="1400">
                                  <a:latin typeface="Cambria Math"/>
                                </a:rPr>
                                <m:t>𝛼</m:t>
                              </m:r>
                            </m:e>
                            <m:sub>
                              <m:r>
                                <a:rPr lang="en-US" sz="1400">
                                  <a:latin typeface="Cambria Math"/>
                                </a:rPr>
                                <m:t>𝑟</m:t>
                              </m:r>
                            </m:sub>
                          </m:sSub>
                          <m:r>
                            <a:rPr lang="en-US" sz="1400">
                              <a:latin typeface="Cambria Math"/>
                            </a:rPr>
                            <m:t>,</m:t>
                          </m:r>
                          <m:sSub>
                            <m:sSubPr>
                              <m:ctrlPr>
                                <a:rPr lang="en-US" sz="1400" i="1">
                                  <a:latin typeface="Cambria Math" panose="02040503050406030204" pitchFamily="18" charset="0"/>
                                </a:rPr>
                              </m:ctrlPr>
                            </m:sSubPr>
                            <m:e>
                              <m:r>
                                <a:rPr lang="en-US" sz="1400">
                                  <a:latin typeface="Cambria Math"/>
                                </a:rPr>
                                <m:t>𝜇</m:t>
                              </m:r>
                            </m:e>
                            <m:sub>
                              <m:sSub>
                                <m:sSubPr>
                                  <m:ctrlPr>
                                    <a:rPr lang="en-US" sz="1400" i="1">
                                      <a:latin typeface="Cambria Math" panose="02040503050406030204" pitchFamily="18" charset="0"/>
                                    </a:rPr>
                                  </m:ctrlPr>
                                </m:sSubPr>
                                <m:e>
                                  <m:r>
                                    <a:rPr lang="en-US" sz="1400">
                                      <a:latin typeface="Cambria Math"/>
                                    </a:rPr>
                                    <m:t>ℬ</m:t>
                                  </m:r>
                                </m:e>
                                <m:sub>
                                  <m:r>
                                    <a:rPr lang="en-US" sz="1400">
                                      <a:latin typeface="Cambria Math"/>
                                    </a:rPr>
                                    <m:t>𝑟</m:t>
                                  </m:r>
                                </m:sub>
                              </m:sSub>
                            </m:sub>
                          </m:sSub>
                          <m:r>
                            <a:rPr lang="en-US" sz="1400">
                              <a:latin typeface="Cambria Math"/>
                            </a:rPr>
                            <m:t>(</m:t>
                          </m:r>
                          <m:r>
                            <a:rPr lang="en-US" sz="1400">
                              <a:latin typeface="Cambria Math"/>
                            </a:rPr>
                            <m:t>𝑢</m:t>
                          </m:r>
                          <m:r>
                            <a:rPr lang="en-US" sz="1400">
                              <a:latin typeface="Cambria Math"/>
                            </a:rPr>
                            <m:t>))</m:t>
                          </m:r>
                        </m:e>
                      </m:func>
                      <m:r>
                        <a:rPr lang="en-US" sz="1400">
                          <a:latin typeface="Cambria Math"/>
                        </a:rPr>
                        <m:t>⁡</m:t>
                      </m:r>
                    </m:oMath>
                  </m:oMathPara>
                </a14:m>
                <a:endParaRPr lang="en-US" sz="1300" dirty="0"/>
              </a:p>
            </p:txBody>
          </p:sp>
        </mc:Choice>
        <mc:Fallback xmlns="">
          <p:sp>
            <p:nvSpPr>
              <p:cNvPr id="18" name="Text 8">
                <a:extLst>
                  <a:ext uri="{FF2B5EF4-FFF2-40B4-BE49-F238E27FC236}">
                    <a16:creationId xmlns:a16="http://schemas.microsoft.com/office/drawing/2014/main" id="{CEED5808-43F1-44F2-9A6C-D5A8205A4889}"/>
                  </a:ext>
                </a:extLst>
              </p:cNvPr>
              <p:cNvSpPr>
                <a:spLocks noRot="1" noChangeAspect="1" noMove="1" noResize="1" noEditPoints="1" noAdjustHandles="1" noChangeArrowheads="1" noChangeShapeType="1" noTextEdit="1"/>
              </p:cNvSpPr>
              <p:nvPr/>
            </p:nvSpPr>
            <p:spPr>
              <a:xfrm>
                <a:off x="746760" y="2770632"/>
                <a:ext cx="5029200" cy="502920"/>
              </a:xfrm>
              <a:prstGeom prst="rect">
                <a:avLst/>
              </a:prstGeom>
              <a:blipFill>
                <a:blip r:embed="rId6"/>
                <a:stretch>
                  <a:fillRect/>
                </a:stretch>
              </a:blipFill>
              <a:ln/>
            </p:spPr>
            <p:txBody>
              <a:bodyPr/>
              <a:lstStyle/>
              <a:p>
                <a:r>
                  <a:rPr lang="tr-TR">
                    <a:noFill/>
                  </a:rPr>
                  <a:t/>
                </a:r>
              </a:p>
            </p:txBody>
          </p:sp>
        </mc:Fallback>
      </mc:AlternateContent>
      <p:sp>
        <p:nvSpPr>
          <p:cNvPr id="19" name="Text 9">
            <a:extLst>
              <a:ext uri="{FF2B5EF4-FFF2-40B4-BE49-F238E27FC236}">
                <a16:creationId xmlns:a16="http://schemas.microsoft.com/office/drawing/2014/main" id="{962D4510-01B5-49B1-BCC0-0AF65EAAE5E1}"/>
              </a:ext>
            </a:extLst>
          </p:cNvPr>
          <p:cNvSpPr/>
          <p:nvPr/>
        </p:nvSpPr>
        <p:spPr>
          <a:xfrm>
            <a:off x="746760" y="3364992"/>
            <a:ext cx="5029200" cy="100584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0" indent="-127000">
              <a:lnSpc>
                <a:spcPct val="102000"/>
              </a:lnSpc>
              <a:spcAft>
                <a:spcPts val="500"/>
              </a:spcAft>
              <a:buSzPct val="100000"/>
              <a:buChar char="•"/>
            </a:pPr>
            <a:r>
              <a:rPr lang="en-US" sz="1400">
                <a:solidFill>
                  <a:srgbClr val="222222"/>
                </a:solidFill>
                <a:latin typeface="Calibri" pitchFamily="34" charset="0"/>
                <a:ea typeface="Calibri" pitchFamily="34" charset="-122"/>
                <a:cs typeface="Calibri" pitchFamily="34" charset="-120"/>
              </a:rPr>
              <a:t>clip → aggregate → defuzzify (centroid)</a:t>
            </a:r>
            <a:endParaRPr lang="en-US" sz="1400" dirty="0"/>
          </a:p>
          <a:p>
            <a:pPr marL="127000" indent="-127000">
              <a:lnSpc>
                <a:spcPct val="102000"/>
              </a:lnSpc>
              <a:spcAft>
                <a:spcPts val="500"/>
              </a:spcAft>
              <a:buSzPct val="100000"/>
              <a:buChar char="•"/>
            </a:pPr>
            <a:r>
              <a:rPr lang="en-US" sz="1400" b="1">
                <a:solidFill>
                  <a:srgbClr val="222222"/>
                </a:solidFill>
                <a:latin typeface="Calibri" pitchFamily="34" charset="0"/>
                <a:ea typeface="Calibri" pitchFamily="34" charset="-122"/>
                <a:cs typeface="Calibri" pitchFamily="34" charset="-120"/>
              </a:rPr>
              <a:t>+ linguistic output, natural for a human phrase</a:t>
            </a:r>
            <a:endParaRPr lang="en-US" sz="1400" dirty="0"/>
          </a:p>
          <a:p>
            <a:pPr marL="127000" indent="-127000">
              <a:lnSpc>
                <a:spcPct val="102000"/>
              </a:lnSpc>
              <a:buSzPct val="100000"/>
              <a:buChar char="•"/>
            </a:pPr>
            <a:r>
              <a:rPr lang="en-US" sz="1400" b="1">
                <a:solidFill>
                  <a:srgbClr val="222222"/>
                </a:solidFill>
                <a:latin typeface="Calibri" pitchFamily="34" charset="0"/>
                <a:ea typeface="Calibri" pitchFamily="34" charset="-122"/>
                <a:cs typeface="Calibri" pitchFamily="34" charset="-120"/>
              </a:rPr>
              <a:t>− blurs who ordered what; tuning reshapes whole sets</a:t>
            </a:r>
            <a:endParaRPr lang="en-US" sz="1400" dirty="0"/>
          </a:p>
        </p:txBody>
      </p:sp>
      <p:sp>
        <p:nvSpPr>
          <p:cNvPr id="20" name="Text 10">
            <a:extLst>
              <a:ext uri="{FF2B5EF4-FFF2-40B4-BE49-F238E27FC236}">
                <a16:creationId xmlns:a16="http://schemas.microsoft.com/office/drawing/2014/main" id="{32EC1233-986C-49E2-90E1-E5AC78DE57FC}"/>
              </a:ext>
            </a:extLst>
          </p:cNvPr>
          <p:cNvSpPr/>
          <p:nvPr/>
        </p:nvSpPr>
        <p:spPr>
          <a:xfrm>
            <a:off x="6461760" y="1673352"/>
            <a:ext cx="502920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400">
                <a:solidFill>
                  <a:srgbClr val="222222"/>
                </a:solidFill>
                <a:latin typeface="Calibri" pitchFamily="34" charset="0"/>
                <a:ea typeface="Calibri" pitchFamily="34" charset="-122"/>
                <a:cs typeface="Calibri" pitchFamily="34" charset="-120"/>
              </a:rPr>
              <a:t>Consequent is a number: “…THEN suppression = 0.8”</a:t>
            </a:r>
            <a:endParaRPr lang="en-US" sz="1400" dirty="0"/>
          </a:p>
        </p:txBody>
      </p:sp>
      <mc:AlternateContent xmlns:mc="http://schemas.openxmlformats.org/markup-compatibility/2006" xmlns:a14="http://schemas.microsoft.com/office/drawing/2010/main">
        <mc:Choice Requires="a14">
          <p:sp>
            <p:nvSpPr>
              <p:cNvPr id="21" name="Text 11">
                <a:extLst>
                  <a:ext uri="{FF2B5EF4-FFF2-40B4-BE49-F238E27FC236}">
                    <a16:creationId xmlns:a16="http://schemas.microsoft.com/office/drawing/2014/main" id="{9CBADE3E-3254-4F9E-BB29-926001FFCCEF}"/>
                  </a:ext>
                </a:extLst>
              </p:cNvPr>
              <p:cNvSpPr/>
              <p:nvPr/>
            </p:nvSpPr>
            <p:spPr>
              <a:xfrm>
                <a:off x="6461760" y="2039112"/>
                <a:ext cx="5029200" cy="5029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14:m>
                  <m:oMathPara xmlns:m="http://schemas.openxmlformats.org/officeDocument/2006/math">
                    <m:oMathParaPr>
                      <m:jc m:val="centerGroup"/>
                    </m:oMathParaPr>
                    <m:oMath xmlns:m="http://schemas.openxmlformats.org/officeDocument/2006/math">
                      <m:sSub>
                        <m:sSubPr>
                          <m:ctrlPr>
                            <a:rPr lang="en-US" sz="1400" i="1">
                              <a:latin typeface="Cambria Math" panose="02040503050406030204" pitchFamily="18" charset="0"/>
                            </a:rPr>
                          </m:ctrlPr>
                        </m:sSubPr>
                        <m:e>
                          <m:r>
                            <a:rPr lang="en-US" sz="1400">
                              <a:latin typeface="Cambria Math"/>
                            </a:rPr>
                            <m:t>𝑅</m:t>
                          </m:r>
                        </m:e>
                        <m:sub>
                          <m:r>
                            <a:rPr lang="en-US" sz="1400">
                              <a:latin typeface="Cambria Math"/>
                            </a:rPr>
                            <m:t>𝑟</m:t>
                          </m:r>
                        </m:sub>
                      </m:sSub>
                      <m:r>
                        <a:rPr lang="en-US" sz="1400">
                          <a:latin typeface="Cambria Math"/>
                        </a:rPr>
                        <m:t>: </m:t>
                      </m:r>
                      <m:r>
                        <a:rPr lang="en-US" sz="1400">
                          <a:latin typeface="Cambria Math"/>
                        </a:rPr>
                        <m:t>𝐼𝐹</m:t>
                      </m:r>
                      <m:r>
                        <a:rPr lang="en-US" sz="1400">
                          <a:latin typeface="Cambria Math"/>
                        </a:rPr>
                        <m:t> </m:t>
                      </m:r>
                      <m:sSubSup>
                        <m:sSubSupPr>
                          <m:ctrlPr>
                            <a:rPr lang="en-US" sz="1400" i="1">
                              <a:latin typeface="Cambria Math" panose="02040503050406030204" pitchFamily="18" charset="0"/>
                            </a:rPr>
                          </m:ctrlPr>
                        </m:sSubSupPr>
                        <m:e>
                          <m:r>
                            <a:rPr lang="en-US" sz="1400">
                              <a:latin typeface="Cambria Math"/>
                            </a:rPr>
                            <m:t>𝑎</m:t>
                          </m:r>
                        </m:e>
                        <m:sub>
                          <m:r>
                            <a:rPr lang="en-US" sz="1400">
                              <a:latin typeface="Cambria Math"/>
                            </a:rPr>
                            <m:t>1,</m:t>
                          </m:r>
                          <m:r>
                            <a:rPr lang="en-US" sz="1400">
                              <a:latin typeface="Cambria Math"/>
                            </a:rPr>
                            <m:t>𝑘</m:t>
                          </m:r>
                        </m:sub>
                        <m:sup>
                          <m:r>
                            <a:rPr lang="en-US" sz="1400">
                              <a:latin typeface="Cambria Math"/>
                            </a:rPr>
                            <m:t>𝑒𝑓𝑓</m:t>
                          </m:r>
                          <m:r>
                            <a:rPr lang="en-US" sz="1400">
                              <a:latin typeface="Cambria Math"/>
                            </a:rPr>
                            <m:t>,</m:t>
                          </m:r>
                          <m:r>
                            <a:rPr lang="en-US" sz="1400">
                              <a:latin typeface="Cambria Math"/>
                            </a:rPr>
                            <m:t>𝑖</m:t>
                          </m:r>
                        </m:sup>
                      </m:sSubSup>
                      <m:r>
                        <a:rPr lang="en-US" sz="1400">
                          <a:latin typeface="Cambria Math"/>
                        </a:rPr>
                        <m:t> </m:t>
                      </m:r>
                      <m:r>
                        <a:rPr lang="en-US" sz="1400">
                          <a:latin typeface="Cambria Math"/>
                        </a:rPr>
                        <m:t>𝑖𝑠</m:t>
                      </m:r>
                      <m:r>
                        <a:rPr lang="en-US" sz="1400">
                          <a:latin typeface="Cambria Math"/>
                        </a:rPr>
                        <m:t> </m:t>
                      </m:r>
                      <m:sSub>
                        <m:sSubPr>
                          <m:ctrlPr>
                            <a:rPr lang="en-US" sz="1400" i="1">
                              <a:latin typeface="Cambria Math" panose="02040503050406030204" pitchFamily="18" charset="0"/>
                            </a:rPr>
                          </m:ctrlPr>
                        </m:sSubPr>
                        <m:e>
                          <m:r>
                            <a:rPr lang="en-US" sz="1400">
                              <a:latin typeface="Cambria Math"/>
                            </a:rPr>
                            <m:t>𝒜</m:t>
                          </m:r>
                        </m:e>
                        <m:sub>
                          <m:r>
                            <a:rPr lang="en-US" sz="1400">
                              <a:latin typeface="Cambria Math"/>
                            </a:rPr>
                            <m:t>𝑟</m:t>
                          </m:r>
                          <m:r>
                            <a:rPr lang="en-US" sz="1400">
                              <a:latin typeface="Cambria Math"/>
                            </a:rPr>
                            <m:t>,1</m:t>
                          </m:r>
                        </m:sub>
                      </m:sSub>
                      <m:r>
                        <a:rPr lang="en-US" sz="1400">
                          <a:latin typeface="Cambria Math"/>
                        </a:rPr>
                        <m:t> </m:t>
                      </m:r>
                      <m:r>
                        <a:rPr lang="en-US" sz="1400">
                          <a:latin typeface="Cambria Math"/>
                        </a:rPr>
                        <m:t>𝐴𝑁𝐷</m:t>
                      </m:r>
                      <m:r>
                        <a:rPr lang="en-US" sz="1400">
                          <a:latin typeface="Cambria Math"/>
                        </a:rPr>
                        <m:t> … </m:t>
                      </m:r>
                      <m:r>
                        <a:rPr lang="en-US" sz="1400">
                          <a:latin typeface="Cambria Math"/>
                        </a:rPr>
                        <m:t>𝐴𝑁𝐷</m:t>
                      </m:r>
                      <m:r>
                        <a:rPr lang="en-US" sz="1400">
                          <a:latin typeface="Cambria Math"/>
                        </a:rPr>
                        <m:t> </m:t>
                      </m:r>
                      <m:sSubSup>
                        <m:sSubSupPr>
                          <m:ctrlPr>
                            <a:rPr lang="en-US" sz="1400" i="1">
                              <a:latin typeface="Cambria Math" panose="02040503050406030204" pitchFamily="18" charset="0"/>
                            </a:rPr>
                          </m:ctrlPr>
                        </m:sSubSupPr>
                        <m:e>
                          <m:r>
                            <a:rPr lang="en-US" sz="1400">
                              <a:latin typeface="Cambria Math"/>
                            </a:rPr>
                            <m:t>𝑎</m:t>
                          </m:r>
                        </m:e>
                        <m:sub>
                          <m:r>
                            <a:rPr lang="en-US" sz="1400">
                              <a:latin typeface="Cambria Math"/>
                            </a:rPr>
                            <m:t>5,</m:t>
                          </m:r>
                          <m:r>
                            <a:rPr lang="en-US" sz="1400">
                              <a:latin typeface="Cambria Math"/>
                            </a:rPr>
                            <m:t>𝑘</m:t>
                          </m:r>
                        </m:sub>
                        <m:sup>
                          <m:r>
                            <a:rPr lang="en-US" sz="1400">
                              <a:latin typeface="Cambria Math"/>
                            </a:rPr>
                            <m:t>𝑒𝑓𝑓</m:t>
                          </m:r>
                          <m:r>
                            <a:rPr lang="en-US" sz="1400">
                              <a:latin typeface="Cambria Math"/>
                            </a:rPr>
                            <m:t>,</m:t>
                          </m:r>
                          <m:r>
                            <a:rPr lang="en-US" sz="1400">
                              <a:latin typeface="Cambria Math"/>
                            </a:rPr>
                            <m:t>𝑖</m:t>
                          </m:r>
                        </m:sup>
                      </m:sSubSup>
                      <m:r>
                        <a:rPr lang="en-US" sz="1400">
                          <a:latin typeface="Cambria Math"/>
                        </a:rPr>
                        <m:t> </m:t>
                      </m:r>
                      <m:r>
                        <a:rPr lang="en-US" sz="1400">
                          <a:latin typeface="Cambria Math"/>
                        </a:rPr>
                        <m:t>𝑖𝑠</m:t>
                      </m:r>
                      <m:r>
                        <a:rPr lang="en-US" sz="1400">
                          <a:latin typeface="Cambria Math"/>
                        </a:rPr>
                        <m:t> </m:t>
                      </m:r>
                      <m:sSub>
                        <m:sSubPr>
                          <m:ctrlPr>
                            <a:rPr lang="en-US" sz="1400" i="1">
                              <a:latin typeface="Cambria Math" panose="02040503050406030204" pitchFamily="18" charset="0"/>
                            </a:rPr>
                          </m:ctrlPr>
                        </m:sSubPr>
                        <m:e>
                          <m:r>
                            <a:rPr lang="en-US" sz="1400">
                              <a:latin typeface="Cambria Math"/>
                            </a:rPr>
                            <m:t>𝒜</m:t>
                          </m:r>
                        </m:e>
                        <m:sub>
                          <m:r>
                            <a:rPr lang="en-US" sz="1400">
                              <a:latin typeface="Cambria Math"/>
                            </a:rPr>
                            <m:t>𝑟</m:t>
                          </m:r>
                          <m:r>
                            <a:rPr lang="en-US" sz="1400">
                              <a:latin typeface="Cambria Math"/>
                            </a:rPr>
                            <m:t>,5</m:t>
                          </m:r>
                        </m:sub>
                      </m:sSub>
                      <m:r>
                        <a:rPr lang="en-US" sz="1400">
                          <a:latin typeface="Cambria Math"/>
                        </a:rPr>
                        <m:t> </m:t>
                      </m:r>
                      <m:r>
                        <a:rPr lang="en-US" sz="1400">
                          <a:latin typeface="Cambria Math"/>
                        </a:rPr>
                        <m:t>𝑇𝐻𝐸𝑁</m:t>
                      </m:r>
                      <m:r>
                        <a:rPr lang="en-US" sz="1400">
                          <a:latin typeface="Cambria Math"/>
                        </a:rPr>
                        <m:t> </m:t>
                      </m:r>
                      <m:sSubSup>
                        <m:sSubSupPr>
                          <m:ctrlPr>
                            <a:rPr lang="en-US" sz="1400" i="1">
                              <a:latin typeface="Cambria Math" panose="02040503050406030204" pitchFamily="18" charset="0"/>
                            </a:rPr>
                          </m:ctrlPr>
                        </m:sSubSupPr>
                        <m:e>
                          <m:r>
                            <a:rPr lang="en-US" sz="1400">
                              <a:latin typeface="Cambria Math"/>
                            </a:rPr>
                            <m:t>𝑈</m:t>
                          </m:r>
                        </m:e>
                        <m:sub>
                          <m:r>
                            <a:rPr lang="en-US" sz="1400">
                              <a:latin typeface="Cambria Math"/>
                            </a:rPr>
                            <m:t>𝐷𝑆𝑆</m:t>
                          </m:r>
                          <m:r>
                            <a:rPr lang="en-US" sz="1400">
                              <a:latin typeface="Cambria Math"/>
                            </a:rPr>
                            <m:t>,</m:t>
                          </m:r>
                          <m:r>
                            <a:rPr lang="en-US" sz="1400">
                              <a:latin typeface="Cambria Math"/>
                            </a:rPr>
                            <m:t>𝑘</m:t>
                          </m:r>
                        </m:sub>
                        <m:sup>
                          <m:r>
                            <a:rPr lang="en-US" sz="1400">
                              <a:latin typeface="Cambria Math"/>
                            </a:rPr>
                            <m:t>𝑖</m:t>
                          </m:r>
                        </m:sup>
                      </m:sSubSup>
                      <m:r>
                        <a:rPr lang="en-US" sz="1400">
                          <a:latin typeface="Cambria Math"/>
                        </a:rPr>
                        <m:t> </m:t>
                      </m:r>
                      <m:r>
                        <a:rPr lang="en-US" sz="1400">
                          <a:latin typeface="Cambria Math"/>
                        </a:rPr>
                        <m:t>𝑖𝑠</m:t>
                      </m:r>
                      <m:r>
                        <a:rPr lang="en-US" sz="1400">
                          <a:latin typeface="Cambria Math"/>
                        </a:rPr>
                        <m:t> </m:t>
                      </m:r>
                      <m:sSub>
                        <m:sSubPr>
                          <m:ctrlPr>
                            <a:rPr lang="en-US" sz="1400" i="1">
                              <a:latin typeface="Cambria Math" panose="02040503050406030204" pitchFamily="18" charset="0"/>
                            </a:rPr>
                          </m:ctrlPr>
                        </m:sSubPr>
                        <m:e>
                          <m:r>
                            <a:rPr lang="en-US" sz="1400">
                              <a:latin typeface="Cambria Math"/>
                            </a:rPr>
                            <m:t>ℬ</m:t>
                          </m:r>
                        </m:e>
                        <m:sub>
                          <m:r>
                            <a:rPr lang="en-US" sz="1400">
                              <a:latin typeface="Cambria Math"/>
                            </a:rPr>
                            <m:t>𝑟</m:t>
                          </m:r>
                        </m:sub>
                      </m:sSub>
                    </m:oMath>
                  </m:oMathPara>
                </a14:m>
                <a:endParaRPr lang="en-US" sz="1200" dirty="0"/>
              </a:p>
            </p:txBody>
          </p:sp>
        </mc:Choice>
        <mc:Fallback xmlns="">
          <p:sp>
            <p:nvSpPr>
              <p:cNvPr id="21" name="Text 11">
                <a:extLst>
                  <a:ext uri="{FF2B5EF4-FFF2-40B4-BE49-F238E27FC236}">
                    <a16:creationId xmlns:a16="http://schemas.microsoft.com/office/drawing/2014/main" id="{9CBADE3E-3254-4F9E-BB29-926001FFCCEF}"/>
                  </a:ext>
                </a:extLst>
              </p:cNvPr>
              <p:cNvSpPr>
                <a:spLocks noRot="1" noChangeAspect="1" noMove="1" noResize="1" noEditPoints="1" noAdjustHandles="1" noChangeArrowheads="1" noChangeShapeType="1" noTextEdit="1"/>
              </p:cNvSpPr>
              <p:nvPr/>
            </p:nvSpPr>
            <p:spPr>
              <a:xfrm>
                <a:off x="6461760" y="2039112"/>
                <a:ext cx="5029200" cy="502920"/>
              </a:xfrm>
              <a:prstGeom prst="rect">
                <a:avLst/>
              </a:prstGeom>
              <a:blipFill>
                <a:blip r:embed="rId7"/>
                <a:stretch>
                  <a:fillRect l="-1939" r="-242"/>
                </a:stretch>
              </a:blipFill>
              <a:ln/>
            </p:spPr>
            <p:txBody>
              <a:bodyPr/>
              <a:lstStyle/>
              <a:p>
                <a:r>
                  <a:rPr lang="tr-TR">
                    <a:noFill/>
                  </a:rPr>
                  <a:t/>
                </a:r>
              </a:p>
            </p:txBody>
          </p:sp>
        </mc:Fallback>
      </mc:AlternateContent>
      <mc:AlternateContent xmlns:mc="http://schemas.openxmlformats.org/markup-compatibility/2006" xmlns:a14="http://schemas.microsoft.com/office/drawing/2010/main">
        <mc:Choice Requires="a14">
          <p:sp>
            <p:nvSpPr>
              <p:cNvPr id="22" name="Text 12">
                <a:extLst>
                  <a:ext uri="{FF2B5EF4-FFF2-40B4-BE49-F238E27FC236}">
                    <a16:creationId xmlns:a16="http://schemas.microsoft.com/office/drawing/2014/main" id="{39FB4C6D-0B2A-4F3C-BE44-54F451B158B5}"/>
                  </a:ext>
                </a:extLst>
              </p:cNvPr>
              <p:cNvSpPr/>
              <p:nvPr/>
            </p:nvSpPr>
            <p:spPr>
              <a:xfrm>
                <a:off x="6461760" y="2587752"/>
                <a:ext cx="2468880" cy="6858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14:m>
                  <m:oMathPara xmlns:m="http://schemas.openxmlformats.org/officeDocument/2006/math">
                    <m:oMathParaPr>
                      <m:jc m:val="centerGroup"/>
                    </m:oMathParaPr>
                    <m:oMath xmlns:m="http://schemas.openxmlformats.org/officeDocument/2006/math">
                      <m:sSubSup>
                        <m:sSubSupPr>
                          <m:ctrlPr>
                            <a:rPr lang="en-US" sz="1400" i="1">
                              <a:latin typeface="Cambria Math" panose="02040503050406030204" pitchFamily="18" charset="0"/>
                            </a:rPr>
                          </m:ctrlPr>
                        </m:sSubSupPr>
                        <m:e>
                          <m:r>
                            <a:rPr lang="en-US" sz="1400">
                              <a:latin typeface="Cambria Math"/>
                            </a:rPr>
                            <m:t>𝑢</m:t>
                          </m:r>
                        </m:e>
                        <m:sub>
                          <m:r>
                            <a:rPr lang="en-US" sz="1400">
                              <a:latin typeface="Cambria Math"/>
                            </a:rPr>
                            <m:t>𝑚</m:t>
                          </m:r>
                          <m:r>
                            <a:rPr lang="en-US" sz="1400">
                              <a:latin typeface="Cambria Math"/>
                            </a:rPr>
                            <m:t>,</m:t>
                          </m:r>
                          <m:r>
                            <a:rPr lang="en-US" sz="1400">
                              <a:latin typeface="Cambria Math"/>
                            </a:rPr>
                            <m:t>𝑘</m:t>
                          </m:r>
                        </m:sub>
                        <m:sup>
                          <m:r>
                            <a:rPr lang="en-US" sz="1400">
                              <a:latin typeface="Cambria Math"/>
                            </a:rPr>
                            <m:t>𝑖</m:t>
                          </m:r>
                        </m:sup>
                      </m:sSubSup>
                      <m:r>
                        <a:rPr lang="en-US" sz="1400">
                          <a:latin typeface="Cambria Math"/>
                        </a:rPr>
                        <m:t> </m:t>
                      </m:r>
                      <m:r>
                        <m:rPr>
                          <m:aln/>
                        </m:rPr>
                        <a:rPr lang="en-US" sz="1400">
                          <a:latin typeface="Cambria Math"/>
                        </a:rPr>
                        <m:t>=</m:t>
                      </m:r>
                      <m:r>
                        <a:rPr lang="en-US" sz="1400">
                          <a:latin typeface="Cambria Math"/>
                        </a:rPr>
                        <m:t> </m:t>
                      </m:r>
                      <m:f>
                        <m:fPr>
                          <m:ctrlPr>
                            <a:rPr lang="en-US" sz="1400" i="1">
                              <a:latin typeface="Cambria Math" panose="02040503050406030204" pitchFamily="18" charset="0"/>
                            </a:rPr>
                          </m:ctrlPr>
                        </m:fPr>
                        <m:num>
                          <m:nary>
                            <m:naryPr>
                              <m:chr m:val="∑"/>
                              <m:limLoc m:val="undOvr"/>
                              <m:ctrlPr>
                                <a:rPr lang="en-US" sz="1400" i="1">
                                  <a:latin typeface="Cambria Math" panose="02040503050406030204" pitchFamily="18" charset="0"/>
                                </a:rPr>
                              </m:ctrlPr>
                            </m:naryPr>
                            <m:sub>
                              <m:r>
                                <a:rPr lang="en-US" sz="1400">
                                  <a:latin typeface="Cambria Math"/>
                                </a:rPr>
                                <m:t>𝑟</m:t>
                              </m:r>
                            </m:sub>
                            <m:sup/>
                            <m:e>
                              <m:sSub>
                                <m:sSubPr>
                                  <m:ctrlPr>
                                    <a:rPr lang="en-US" sz="1400" i="1">
                                      <a:latin typeface="Cambria Math" panose="02040503050406030204" pitchFamily="18" charset="0"/>
                                    </a:rPr>
                                  </m:ctrlPr>
                                </m:sSubPr>
                                <m:e>
                                  <m:r>
                                    <a:rPr lang="en-US" sz="1400">
                                      <a:latin typeface="Cambria Math"/>
                                    </a:rPr>
                                    <m:t>𝛼</m:t>
                                  </m:r>
                                </m:e>
                                <m:sub>
                                  <m:r>
                                    <a:rPr lang="en-US" sz="1400">
                                      <a:latin typeface="Cambria Math"/>
                                    </a:rPr>
                                    <m:t>𝑟</m:t>
                                  </m:r>
                                </m:sub>
                              </m:sSub>
                              <m:r>
                                <a:rPr lang="en-US" sz="1400">
                                  <a:latin typeface="Cambria Math"/>
                                </a:rPr>
                                <m:t> </m:t>
                              </m:r>
                              <m:sSub>
                                <m:sSubPr>
                                  <m:ctrlPr>
                                    <a:rPr lang="en-US" sz="1400" i="1">
                                      <a:latin typeface="Cambria Math" panose="02040503050406030204" pitchFamily="18" charset="0"/>
                                    </a:rPr>
                                  </m:ctrlPr>
                                </m:sSubPr>
                                <m:e>
                                  <m:r>
                                    <a:rPr lang="en-US" sz="1400">
                                      <a:latin typeface="Cambria Math"/>
                                    </a:rPr>
                                    <m:t>𝑣</m:t>
                                  </m:r>
                                </m:e>
                                <m:sub>
                                  <m:r>
                                    <a:rPr lang="en-US" sz="1400">
                                      <a:latin typeface="Cambria Math"/>
                                    </a:rPr>
                                    <m:t>𝑟</m:t>
                                  </m:r>
                                  <m:r>
                                    <a:rPr lang="en-US" sz="1400">
                                      <a:latin typeface="Cambria Math"/>
                                    </a:rPr>
                                    <m:t>,</m:t>
                                  </m:r>
                                  <m:r>
                                    <a:rPr lang="en-US" sz="1400">
                                      <a:latin typeface="Cambria Math"/>
                                    </a:rPr>
                                    <m:t>𝑚</m:t>
                                  </m:r>
                                </m:sub>
                              </m:sSub>
                            </m:e>
                          </m:nary>
                        </m:num>
                        <m:den>
                          <m:r>
                            <a:rPr lang="en-US" sz="1400">
                              <a:latin typeface="Cambria Math"/>
                            </a:rPr>
                            <m:t>𝑚𝑎𝑥</m:t>
                          </m:r>
                          <m:r>
                            <a:rPr lang="en-US" sz="1400">
                              <a:latin typeface="Cambria Math"/>
                            </a:rPr>
                            <m:t>(1, </m:t>
                          </m:r>
                          <m:nary>
                            <m:naryPr>
                              <m:chr m:val="∑"/>
                              <m:limLoc m:val="undOvr"/>
                              <m:ctrlPr>
                                <a:rPr lang="en-US" sz="1400" i="1">
                                  <a:latin typeface="Cambria Math" panose="02040503050406030204" pitchFamily="18" charset="0"/>
                                </a:rPr>
                              </m:ctrlPr>
                            </m:naryPr>
                            <m:sub>
                              <m:r>
                                <a:rPr lang="en-US" sz="1400">
                                  <a:latin typeface="Cambria Math"/>
                                </a:rPr>
                                <m:t>𝑟</m:t>
                              </m:r>
                            </m:sub>
                            <m:sup/>
                            <m:e>
                              <m:sSub>
                                <m:sSubPr>
                                  <m:ctrlPr>
                                    <a:rPr lang="en-US" sz="1400" i="1">
                                      <a:latin typeface="Cambria Math" panose="02040503050406030204" pitchFamily="18" charset="0"/>
                                    </a:rPr>
                                  </m:ctrlPr>
                                </m:sSubPr>
                                <m:e>
                                  <m:r>
                                    <a:rPr lang="en-US" sz="1400">
                                      <a:latin typeface="Cambria Math"/>
                                    </a:rPr>
                                    <m:t>𝛼</m:t>
                                  </m:r>
                                </m:e>
                                <m:sub>
                                  <m:r>
                                    <a:rPr lang="en-US" sz="1400">
                                      <a:latin typeface="Cambria Math"/>
                                    </a:rPr>
                                    <m:t>𝑟</m:t>
                                  </m:r>
                                </m:sub>
                              </m:sSub>
                            </m:e>
                          </m:nary>
                          <m:r>
                            <a:rPr lang="en-US" sz="1400">
                              <a:latin typeface="Cambria Math"/>
                            </a:rPr>
                            <m:t>)</m:t>
                          </m:r>
                        </m:den>
                      </m:f>
                    </m:oMath>
                  </m:oMathPara>
                </a14:m>
                <a:endParaRPr lang="en-US" sz="1200" dirty="0"/>
              </a:p>
            </p:txBody>
          </p:sp>
        </mc:Choice>
        <mc:Fallback xmlns="">
          <p:sp>
            <p:nvSpPr>
              <p:cNvPr id="22" name="Text 12">
                <a:extLst>
                  <a:ext uri="{FF2B5EF4-FFF2-40B4-BE49-F238E27FC236}">
                    <a16:creationId xmlns:a16="http://schemas.microsoft.com/office/drawing/2014/main" id="{39FB4C6D-0B2A-4F3C-BE44-54F451B158B5}"/>
                  </a:ext>
                </a:extLst>
              </p:cNvPr>
              <p:cNvSpPr>
                <a:spLocks noRot="1" noChangeAspect="1" noMove="1" noResize="1" noEditPoints="1" noAdjustHandles="1" noChangeArrowheads="1" noChangeShapeType="1" noTextEdit="1"/>
              </p:cNvSpPr>
              <p:nvPr/>
            </p:nvSpPr>
            <p:spPr>
              <a:xfrm>
                <a:off x="6461760" y="2587752"/>
                <a:ext cx="2468880" cy="685800"/>
              </a:xfrm>
              <a:prstGeom prst="rect">
                <a:avLst/>
              </a:prstGeom>
              <a:blipFill>
                <a:blip r:embed="rId8"/>
                <a:stretch>
                  <a:fillRect/>
                </a:stretch>
              </a:blipFill>
              <a:ln/>
            </p:spPr>
            <p:txBody>
              <a:bodyPr/>
              <a:lstStyle/>
              <a:p>
                <a:r>
                  <a:rPr lang="tr-TR">
                    <a:noFill/>
                  </a:rPr>
                  <a:t/>
                </a:r>
              </a:p>
            </p:txBody>
          </p:sp>
        </mc:Fallback>
      </mc:AlternateContent>
      <mc:AlternateContent xmlns:mc="http://schemas.openxmlformats.org/markup-compatibility/2006" xmlns:a14="http://schemas.microsoft.com/office/drawing/2010/main">
        <mc:Choice Requires="a14">
          <p:sp>
            <p:nvSpPr>
              <p:cNvPr id="23" name="Text 13">
                <a:extLst>
                  <a:ext uri="{FF2B5EF4-FFF2-40B4-BE49-F238E27FC236}">
                    <a16:creationId xmlns:a16="http://schemas.microsoft.com/office/drawing/2014/main" id="{2A7F13B5-73BC-4DD6-A727-8BE1BEFB66DD}"/>
                  </a:ext>
                </a:extLst>
              </p:cNvPr>
              <p:cNvSpPr/>
              <p:nvPr/>
            </p:nvSpPr>
            <p:spPr>
              <a:xfrm>
                <a:off x="9022080" y="2587752"/>
                <a:ext cx="2468880" cy="6858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14:m>
                  <m:oMathPara xmlns:m="http://schemas.openxmlformats.org/officeDocument/2006/math">
                    <m:oMathParaPr>
                      <m:jc m:val="centerGroup"/>
                    </m:oMathParaPr>
                    <m:oMath xmlns:m="http://schemas.openxmlformats.org/officeDocument/2006/math">
                      <m:r>
                        <a:rPr lang="en-US" sz="1400">
                          <a:latin typeface="Cambria Math"/>
                        </a:rPr>
                        <m:t> </m:t>
                      </m:r>
                      <m:sSub>
                        <m:sSubPr>
                          <m:ctrlPr>
                            <a:rPr lang="en-US" sz="1400" i="1">
                              <a:latin typeface="Cambria Math" panose="02040503050406030204" pitchFamily="18" charset="0"/>
                            </a:rPr>
                          </m:ctrlPr>
                        </m:sSubPr>
                        <m:e>
                          <m:r>
                            <a:rPr lang="en-US" sz="1400">
                              <a:latin typeface="Cambria Math"/>
                            </a:rPr>
                            <m:t>𝛼</m:t>
                          </m:r>
                        </m:e>
                        <m:sub>
                          <m:r>
                            <a:rPr lang="en-US" sz="1400">
                              <a:latin typeface="Cambria Math"/>
                            </a:rPr>
                            <m:t>𝑟</m:t>
                          </m:r>
                        </m:sub>
                      </m:sSub>
                      <m:r>
                        <a:rPr lang="en-US" sz="1400">
                          <a:latin typeface="Cambria Math"/>
                        </a:rPr>
                        <m:t> </m:t>
                      </m:r>
                      <m:r>
                        <m:rPr>
                          <m:aln/>
                        </m:rPr>
                        <a:rPr lang="en-US" sz="1400">
                          <a:latin typeface="Cambria Math"/>
                        </a:rPr>
                        <m:t>=</m:t>
                      </m:r>
                      <m:r>
                        <a:rPr lang="en-US" sz="1400">
                          <a:latin typeface="Cambria Math"/>
                        </a:rPr>
                        <m:t> </m:t>
                      </m:r>
                      <m:sSub>
                        <m:sSubPr>
                          <m:ctrlPr>
                            <a:rPr lang="en-US" sz="1400" i="1">
                              <a:latin typeface="Cambria Math" panose="02040503050406030204" pitchFamily="18" charset="0"/>
                            </a:rPr>
                          </m:ctrlPr>
                        </m:sSubPr>
                        <m:e>
                          <m:r>
                            <m:rPr>
                              <m:sty m:val="p"/>
                            </m:rPr>
                            <a:rPr lang="en-US" sz="1400">
                              <a:latin typeface="Cambria Math"/>
                            </a:rPr>
                            <m:t>min</m:t>
                          </m:r>
                        </m:e>
                        <m:sub>
                          <m:r>
                            <a:rPr lang="en-US" sz="1400">
                              <a:latin typeface="Cambria Math"/>
                            </a:rPr>
                            <m:t>𝑛</m:t>
                          </m:r>
                          <m:r>
                            <a:rPr lang="en-US" sz="1400">
                              <a:latin typeface="Cambria Math"/>
                            </a:rPr>
                            <m:t> ∈ </m:t>
                          </m:r>
                          <m:r>
                            <a:rPr lang="en-US" sz="1400">
                              <a:latin typeface="Cambria Math"/>
                            </a:rPr>
                            <m:t>𝑎𝑛𝑡</m:t>
                          </m:r>
                          <m:r>
                            <a:rPr lang="en-US" sz="1400">
                              <a:latin typeface="Cambria Math"/>
                            </a:rPr>
                            <m:t>(</m:t>
                          </m:r>
                          <m:r>
                            <a:rPr lang="en-US" sz="1400">
                              <a:latin typeface="Cambria Math"/>
                            </a:rPr>
                            <m:t>𝑟</m:t>
                          </m:r>
                          <m:r>
                            <a:rPr lang="en-US" sz="1400">
                              <a:latin typeface="Cambria Math"/>
                            </a:rPr>
                            <m:t>)</m:t>
                          </m:r>
                        </m:sub>
                      </m:sSub>
                      <m:r>
                        <a:rPr lang="en-US" sz="1400">
                          <a:latin typeface="Cambria Math"/>
                        </a:rPr>
                        <m:t> </m:t>
                      </m:r>
                      <m:sSub>
                        <m:sSubPr>
                          <m:ctrlPr>
                            <a:rPr lang="en-US" sz="1400" i="1">
                              <a:latin typeface="Cambria Math" panose="02040503050406030204" pitchFamily="18" charset="0"/>
                            </a:rPr>
                          </m:ctrlPr>
                        </m:sSubPr>
                        <m:e>
                          <m:r>
                            <a:rPr lang="en-US" sz="1400">
                              <a:latin typeface="Cambria Math"/>
                            </a:rPr>
                            <m:t>𝜇</m:t>
                          </m:r>
                        </m:e>
                        <m:sub>
                          <m:sSub>
                            <m:sSubPr>
                              <m:ctrlPr>
                                <a:rPr lang="en-US" sz="1400" i="1">
                                  <a:latin typeface="Cambria Math" panose="02040503050406030204" pitchFamily="18" charset="0"/>
                                </a:rPr>
                              </m:ctrlPr>
                            </m:sSubPr>
                            <m:e>
                              <m:r>
                                <a:rPr lang="en-US" sz="1400">
                                  <a:latin typeface="Cambria Math"/>
                                </a:rPr>
                                <m:t>𝐴</m:t>
                              </m:r>
                            </m:e>
                            <m:sub>
                              <m:r>
                                <a:rPr lang="en-US" sz="1400">
                                  <a:latin typeface="Cambria Math"/>
                                </a:rPr>
                                <m:t>𝑟</m:t>
                              </m:r>
                              <m:r>
                                <a:rPr lang="en-US" sz="1400">
                                  <a:latin typeface="Cambria Math"/>
                                </a:rPr>
                                <m:t>,</m:t>
                              </m:r>
                              <m:r>
                                <a:rPr lang="en-US" sz="1400">
                                  <a:latin typeface="Cambria Math"/>
                                </a:rPr>
                                <m:t>𝑛</m:t>
                              </m:r>
                            </m:sub>
                          </m:sSub>
                        </m:sub>
                      </m:sSub>
                      <m:r>
                        <a:rPr lang="en-US" sz="1400">
                          <a:latin typeface="Cambria Math"/>
                        </a:rPr>
                        <m:t>(</m:t>
                      </m:r>
                      <m:sSubSup>
                        <m:sSubSupPr>
                          <m:ctrlPr>
                            <a:rPr lang="en-US" sz="1400" i="1">
                              <a:latin typeface="Cambria Math" panose="02040503050406030204" pitchFamily="18" charset="0"/>
                            </a:rPr>
                          </m:ctrlPr>
                        </m:sSubSupPr>
                        <m:e>
                          <m:r>
                            <a:rPr lang="en-US" sz="1400">
                              <a:latin typeface="Cambria Math"/>
                            </a:rPr>
                            <m:t>𝑎</m:t>
                          </m:r>
                        </m:e>
                        <m:sub>
                          <m:r>
                            <a:rPr lang="en-US" sz="1400">
                              <a:latin typeface="Cambria Math"/>
                            </a:rPr>
                            <m:t>𝑛</m:t>
                          </m:r>
                          <m:r>
                            <a:rPr lang="en-US" sz="1400">
                              <a:latin typeface="Cambria Math"/>
                            </a:rPr>
                            <m:t>,</m:t>
                          </m:r>
                          <m:r>
                            <a:rPr lang="en-US" sz="1400">
                              <a:latin typeface="Cambria Math"/>
                            </a:rPr>
                            <m:t>𝑘</m:t>
                          </m:r>
                        </m:sub>
                        <m:sup>
                          <m:r>
                            <a:rPr lang="en-US" sz="1400">
                              <a:latin typeface="Cambria Math"/>
                            </a:rPr>
                            <m:t>𝑒𝑓𝑓</m:t>
                          </m:r>
                          <m:r>
                            <a:rPr lang="en-US" sz="1400">
                              <a:latin typeface="Cambria Math"/>
                            </a:rPr>
                            <m:t>,</m:t>
                          </m:r>
                          <m:r>
                            <a:rPr lang="en-US" sz="1400">
                              <a:latin typeface="Cambria Math"/>
                            </a:rPr>
                            <m:t>𝑖</m:t>
                          </m:r>
                        </m:sup>
                      </m:sSubSup>
                      <m:r>
                        <a:rPr lang="en-US" sz="1400">
                          <a:latin typeface="Cambria Math"/>
                        </a:rPr>
                        <m:t>)</m:t>
                      </m:r>
                    </m:oMath>
                  </m:oMathPara>
                </a14:m>
                <a:endParaRPr lang="en-US" sz="1200" dirty="0"/>
              </a:p>
            </p:txBody>
          </p:sp>
        </mc:Choice>
        <mc:Fallback xmlns="">
          <p:sp>
            <p:nvSpPr>
              <p:cNvPr id="23" name="Text 13">
                <a:extLst>
                  <a:ext uri="{FF2B5EF4-FFF2-40B4-BE49-F238E27FC236}">
                    <a16:creationId xmlns:a16="http://schemas.microsoft.com/office/drawing/2014/main" id="{2A7F13B5-73BC-4DD6-A727-8BE1BEFB66DD}"/>
                  </a:ext>
                </a:extLst>
              </p:cNvPr>
              <p:cNvSpPr>
                <a:spLocks noRot="1" noChangeAspect="1" noMove="1" noResize="1" noEditPoints="1" noAdjustHandles="1" noChangeArrowheads="1" noChangeShapeType="1" noTextEdit="1"/>
              </p:cNvSpPr>
              <p:nvPr/>
            </p:nvSpPr>
            <p:spPr>
              <a:xfrm>
                <a:off x="9022080" y="2587752"/>
                <a:ext cx="2468880" cy="685800"/>
              </a:xfrm>
              <a:prstGeom prst="rect">
                <a:avLst/>
              </a:prstGeom>
              <a:blipFill>
                <a:blip r:embed="rId9"/>
                <a:stretch>
                  <a:fillRect l="-494" r="-1975"/>
                </a:stretch>
              </a:blipFill>
              <a:ln/>
            </p:spPr>
            <p:txBody>
              <a:bodyPr/>
              <a:lstStyle/>
              <a:p>
                <a:r>
                  <a:rPr lang="tr-TR">
                    <a:noFill/>
                  </a:rPr>
                  <a:t/>
                </a:r>
              </a:p>
            </p:txBody>
          </p:sp>
        </mc:Fallback>
      </mc:AlternateContent>
      <p:sp>
        <p:nvSpPr>
          <p:cNvPr id="24" name="Text 14">
            <a:extLst>
              <a:ext uri="{FF2B5EF4-FFF2-40B4-BE49-F238E27FC236}">
                <a16:creationId xmlns:a16="http://schemas.microsoft.com/office/drawing/2014/main" id="{0523A97F-25C0-42DF-BF45-1C2FAEA8DADA}"/>
              </a:ext>
            </a:extLst>
          </p:cNvPr>
          <p:cNvSpPr/>
          <p:nvPr/>
        </p:nvSpPr>
        <p:spPr>
          <a:xfrm>
            <a:off x="6461760" y="3364992"/>
            <a:ext cx="5029200" cy="100584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0" indent="-127000">
              <a:lnSpc>
                <a:spcPct val="102000"/>
              </a:lnSpc>
              <a:spcAft>
                <a:spcPts val="500"/>
              </a:spcAft>
              <a:buSzPct val="100000"/>
              <a:buChar char="•"/>
            </a:pPr>
            <a:r>
              <a:rPr lang="en-US" sz="1400" b="1">
                <a:solidFill>
                  <a:srgbClr val="222222"/>
                </a:solidFill>
                <a:latin typeface="Calibri" pitchFamily="34" charset="0"/>
                <a:ea typeface="Calibri" pitchFamily="34" charset="-122"/>
                <a:cs typeface="Calibri" pitchFamily="34" charset="-120"/>
              </a:rPr>
              <a:t>no defuzzification: activation-weighted average of singletons</a:t>
            </a:r>
            <a:endParaRPr lang="en-US" sz="1400" dirty="0"/>
          </a:p>
          <a:p>
            <a:pPr marL="127000" indent="-127000">
              <a:lnSpc>
                <a:spcPct val="102000"/>
              </a:lnSpc>
              <a:spcAft>
                <a:spcPts val="500"/>
              </a:spcAft>
              <a:buSzPct val="100000"/>
              <a:buChar char="•"/>
            </a:pPr>
            <a:r>
              <a:rPr lang="en-US" sz="1400" b="1">
                <a:solidFill>
                  <a:srgbClr val="222222"/>
                </a:solidFill>
                <a:latin typeface="Calibri" pitchFamily="34" charset="0"/>
                <a:ea typeface="Calibri" pitchFamily="34" charset="-122"/>
                <a:cs typeface="Calibri" pitchFamily="34" charset="-120"/>
              </a:rPr>
              <a:t>unit-floored denominator: weak evidence → weak action</a:t>
            </a:r>
            <a:endParaRPr lang="en-US" sz="1400" dirty="0"/>
          </a:p>
          <a:p>
            <a:pPr marL="127000" indent="-127000">
              <a:lnSpc>
                <a:spcPct val="102000"/>
              </a:lnSpc>
              <a:buSzPct val="100000"/>
              <a:buChar char="•"/>
            </a:pPr>
            <a:r>
              <a:rPr lang="en-US" sz="1400">
                <a:solidFill>
                  <a:srgbClr val="222222"/>
                </a:solidFill>
                <a:latin typeface="Calibri" pitchFamily="34" charset="0"/>
                <a:ea typeface="Calibri" pitchFamily="34" charset="-122"/>
                <a:cs typeface="Calibri" pitchFamily="34" charset="-120"/>
              </a:rPr>
              <a:t>each rule’s share stays visible — traceable by construction</a:t>
            </a:r>
            <a:endParaRPr lang="en-US" sz="1400" dirty="0"/>
          </a:p>
        </p:txBody>
      </p:sp>
      <p:sp>
        <p:nvSpPr>
          <p:cNvPr id="25" name="Shape 15">
            <a:extLst>
              <a:ext uri="{FF2B5EF4-FFF2-40B4-BE49-F238E27FC236}">
                <a16:creationId xmlns:a16="http://schemas.microsoft.com/office/drawing/2014/main" id="{4803B180-7FD4-4A46-8571-95CAE7E0DD20}"/>
              </a:ext>
            </a:extLst>
          </p:cNvPr>
          <p:cNvSpPr/>
          <p:nvPr/>
        </p:nvSpPr>
        <p:spPr>
          <a:xfrm>
            <a:off x="472440" y="4599432"/>
            <a:ext cx="11201400" cy="2093976"/>
          </a:xfrm>
          <a:prstGeom prst="roundRect">
            <a:avLst>
              <a:gd name="adj" fmla="val 2564"/>
            </a:avLst>
          </a:prstGeom>
          <a:solidFill>
            <a:srgbClr val="F2F2F2"/>
          </a:solidFill>
          <a:ln/>
        </p:spPr>
        <p:txBody>
          <a:bodyPr/>
          <a:lstStyle/>
          <a:p>
            <a:endParaRPr lang="tr-TR"/>
          </a:p>
        </p:txBody>
      </p:sp>
      <p:sp>
        <p:nvSpPr>
          <p:cNvPr id="26" name="Text 16">
            <a:extLst>
              <a:ext uri="{FF2B5EF4-FFF2-40B4-BE49-F238E27FC236}">
                <a16:creationId xmlns:a16="http://schemas.microsoft.com/office/drawing/2014/main" id="{ED24557F-324B-4FC8-984D-7769AA977E8E}"/>
              </a:ext>
            </a:extLst>
          </p:cNvPr>
          <p:cNvSpPr/>
          <p:nvPr/>
        </p:nvSpPr>
        <p:spPr>
          <a:xfrm>
            <a:off x="746760" y="4690872"/>
            <a:ext cx="10698480" cy="2002536"/>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b="1" noProof="0"/>
              <a:t>Why Takagi–Sugeno follows from the framework, not from preference:</a:t>
            </a:r>
          </a:p>
          <a:p>
            <a:pPr marL="342900" lvl="0" indent="-342900">
              <a:buFont typeface="+mj-lt"/>
              <a:buAutoNum type="arabicPeriod"/>
            </a:pPr>
            <a:r>
              <a:rPr lang="en-US" sz="1600" b="1" noProof="0"/>
              <a:t>Outputs are already numbers</a:t>
            </a:r>
            <a:r>
              <a:rPr lang="en-US" sz="1600" noProof="0"/>
              <a:t> — intensities in [0, 1]</a:t>
            </a:r>
          </a:p>
          <a:p>
            <a:pPr marL="342900" lvl="0" indent="-342900">
              <a:buFont typeface="+mj-lt"/>
              <a:buAutoNum type="arabicPeriod"/>
            </a:pPr>
            <a:r>
              <a:rPr lang="en-US" sz="1600" b="1" noProof="0"/>
              <a:t>Adaptation needs a number to move</a:t>
            </a:r>
            <a:r>
              <a:rPr lang="en-US" sz="1600" noProof="0"/>
              <a:t> — ±0.05 steps, testable, reversible</a:t>
            </a:r>
          </a:p>
          <a:p>
            <a:pPr marL="342900" lvl="0" indent="-342900">
              <a:buFont typeface="+mj-lt"/>
              <a:buAutoNum type="arabicPeriod"/>
            </a:pPr>
            <a:r>
              <a:rPr lang="en-US" sz="1600" b="1" noProof="0"/>
              <a:t>Traceability needs named rules</a:t>
            </a:r>
            <a:r>
              <a:rPr lang="en-US" sz="1600" noProof="0"/>
              <a:t> with visible weights</a:t>
            </a:r>
          </a:p>
          <a:p>
            <a:pPr marL="342900" lvl="0" indent="-342900">
              <a:buFont typeface="+mj-lt"/>
              <a:buAutoNum type="arabicPeriod"/>
            </a:pPr>
            <a:r>
              <a:rPr lang="en-US" sz="1600" b="1" noProof="0"/>
              <a:t>Nothing linguistic is lost</a:t>
            </a:r>
            <a:r>
              <a:rPr lang="en-US" sz="1600" noProof="0"/>
              <a:t> — the antecedent side stays fuzzy</a:t>
            </a:r>
          </a:p>
        </p:txBody>
      </p:sp>
    </p:spTree>
    <p:extLst>
      <p:ext uri="{BB962C8B-B14F-4D97-AF65-F5344CB8AC3E}">
        <p14:creationId xmlns:p14="http://schemas.microsoft.com/office/powerpoint/2010/main" val="19327461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56032"/>
            <a:ext cx="91440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DSS FRAMEWORK</a:t>
            </a:r>
            <a:endParaRPr lang="en-US" sz="1300" dirty="0"/>
          </a:p>
        </p:txBody>
      </p:sp>
      <p:sp>
        <p:nvSpPr>
          <p:cNvPr id="3" name="Text 1"/>
          <p:cNvSpPr/>
          <p:nvPr/>
        </p:nvSpPr>
        <p:spPr>
          <a:xfrm>
            <a:off x="502920" y="512064"/>
            <a:ext cx="11247120" cy="731520"/>
          </a:xfrm>
          <a:prstGeom prst="rect">
            <a:avLst/>
          </a:prstGeom>
          <a:noFill/>
          <a:ln/>
        </p:spPr>
        <p:txBody>
          <a:bodyPr wrap="square" lIns="0" tIns="0" rIns="0" bIns="0" rtlCol="0" anchor="ctr"/>
          <a:lstStyle/>
          <a:p>
            <a:pPr marL="0" indent="0">
              <a:buNone/>
            </a:pPr>
            <a:r>
              <a:rPr lang="en-US" sz="2900" b="1" dirty="0">
                <a:solidFill>
                  <a:srgbClr val="000000"/>
                </a:solidFill>
                <a:latin typeface="Cambria" pitchFamily="34" charset="0"/>
                <a:ea typeface="Cambria" pitchFamily="34" charset="-122"/>
                <a:cs typeface="Cambria" pitchFamily="34" charset="-120"/>
              </a:rPr>
              <a:t>One Agent, Four Layers, One Loop</a:t>
            </a:r>
            <a:endParaRPr lang="en-US" sz="2900" dirty="0"/>
          </a:p>
        </p:txBody>
      </p:sp>
      <p:pic>
        <p:nvPicPr>
          <p:cNvPr id="4" name="Image 0" descr="/tmp/thx/deck/figs/Figure4_1.png"/>
          <p:cNvPicPr>
            <a:picLocks noChangeAspect="1"/>
          </p:cNvPicPr>
          <p:nvPr/>
        </p:nvPicPr>
        <p:blipFill>
          <a:blip r:embed="rId3"/>
          <a:stretch>
            <a:fillRect/>
          </a:stretch>
        </p:blipFill>
        <p:spPr>
          <a:xfrm>
            <a:off x="1695072" y="1371600"/>
            <a:ext cx="3102096" cy="5212080"/>
          </a:xfrm>
          <a:prstGeom prst="rect">
            <a:avLst/>
          </a:prstGeom>
        </p:spPr>
      </p:pic>
      <p:sp>
        <p:nvSpPr>
          <p:cNvPr id="5" name="Text 2"/>
          <p:cNvSpPr/>
          <p:nvPr/>
        </p:nvSpPr>
        <p:spPr>
          <a:xfrm>
            <a:off x="6263640" y="1737360"/>
            <a:ext cx="5486400" cy="4572000"/>
          </a:xfrm>
          <a:prstGeom prst="rect">
            <a:avLst/>
          </a:prstGeom>
          <a:noFill/>
          <a:ln/>
        </p:spPr>
        <p:txBody>
          <a:bodyPr wrap="square" lIns="0" tIns="0" rIns="0" bIns="0" rtlCol="0" anchor="t"/>
          <a:lstStyle/>
          <a:p>
            <a:pPr marL="152400" indent="-152400">
              <a:lnSpc>
                <a:spcPct val="105000"/>
              </a:lnSpc>
              <a:spcAft>
                <a:spcPts val="1000"/>
              </a:spcAft>
              <a:buSzPct val="100000"/>
              <a:buChar char="•"/>
            </a:pPr>
            <a:r>
              <a:rPr lang="en-US" sz="1900">
                <a:solidFill>
                  <a:srgbClr val="222222"/>
                </a:solidFill>
                <a:latin typeface="Calibri" pitchFamily="34" charset="0"/>
                <a:ea typeface="Calibri" pitchFamily="34" charset="-122"/>
                <a:cs typeface="Calibri" pitchFamily="34" charset="-120"/>
              </a:rPr>
              <a:t>Layer 1 · Input space — spatio-temporal measurements</a:t>
            </a:r>
            <a:endParaRPr lang="en-US" sz="1900" dirty="0"/>
          </a:p>
          <a:p>
            <a:pPr marL="152400" indent="-152400">
              <a:lnSpc>
                <a:spcPct val="105000"/>
              </a:lnSpc>
              <a:spcAft>
                <a:spcPts val="1000"/>
              </a:spcAft>
              <a:buSzPct val="100000"/>
              <a:buChar char="•"/>
            </a:pPr>
            <a:r>
              <a:rPr lang="en-US" sz="1900">
                <a:solidFill>
                  <a:srgbClr val="222222"/>
                </a:solidFill>
                <a:latin typeface="Calibri" pitchFamily="34" charset="0"/>
                <a:ea typeface="Calibri" pitchFamily="34" charset="-122"/>
                <a:cs typeface="Calibri" pitchFamily="34" charset="-120"/>
              </a:rPr>
              <a:t>Layer 2 · Perception — features with confidence</a:t>
            </a:r>
            <a:endParaRPr lang="en-US" sz="1900" dirty="0"/>
          </a:p>
          <a:p>
            <a:pPr marL="152400" indent="-152400">
              <a:lnSpc>
                <a:spcPct val="105000"/>
              </a:lnSpc>
              <a:spcAft>
                <a:spcPts val="1000"/>
              </a:spcAft>
              <a:buSzPct val="100000"/>
              <a:buChar char="•"/>
            </a:pPr>
            <a:r>
              <a:rPr lang="en-US" sz="1900">
                <a:solidFill>
                  <a:srgbClr val="222222"/>
                </a:solidFill>
                <a:latin typeface="Calibri" pitchFamily="34" charset="0"/>
                <a:ea typeface="Calibri" pitchFamily="34" charset="-122"/>
                <a:cs typeface="Calibri" pitchFamily="34" charset="-120"/>
              </a:rPr>
              <a:t>Layer 3 · Concept space — five decision concepts</a:t>
            </a:r>
            <a:endParaRPr lang="en-US" sz="1900" dirty="0"/>
          </a:p>
          <a:p>
            <a:pPr marL="152400" indent="-152400">
              <a:lnSpc>
                <a:spcPct val="105000"/>
              </a:lnSpc>
              <a:spcAft>
                <a:spcPts val="1000"/>
              </a:spcAft>
              <a:buSzPct val="100000"/>
              <a:buChar char="•"/>
            </a:pPr>
            <a:r>
              <a:rPr lang="en-US" sz="1900">
                <a:solidFill>
                  <a:srgbClr val="222222"/>
                </a:solidFill>
                <a:highlight>
                  <a:srgbClr val="C0C0C0"/>
                </a:highlight>
                <a:latin typeface="Calibri" pitchFamily="34" charset="0"/>
                <a:ea typeface="Calibri" pitchFamily="34" charset="-122"/>
                <a:cs typeface="Calibri" pitchFamily="34" charset="-120"/>
              </a:rPr>
              <a:t>Layer 4 · Decision space — rules, tests, adaptation, fail-safe</a:t>
            </a:r>
            <a:endParaRPr lang="en-US" sz="1900" dirty="0">
              <a:highlight>
                <a:srgbClr val="C0C0C0"/>
              </a:highlight>
            </a:endParaRPr>
          </a:p>
          <a:p>
            <a:pPr marL="152400" indent="-152400">
              <a:lnSpc>
                <a:spcPct val="105000"/>
              </a:lnSpc>
              <a:spcAft>
                <a:spcPts val="1000"/>
              </a:spcAft>
              <a:buSzPct val="100000"/>
              <a:buChar char="•"/>
            </a:pPr>
            <a:r>
              <a:rPr lang="en-US" sz="1900" b="1">
                <a:solidFill>
                  <a:srgbClr val="222222"/>
                </a:solidFill>
                <a:latin typeface="Calibri" pitchFamily="34" charset="0"/>
                <a:ea typeface="Calibri" pitchFamily="34" charset="-122"/>
                <a:cs typeface="Calibri" pitchFamily="34" charset="-120"/>
              </a:rPr>
              <a:t>N agents in parallel; a Global DSS only ranks &amp; allocates</a:t>
            </a:r>
            <a:endParaRPr lang="en-US" sz="1900" dirty="0"/>
          </a:p>
        </p:txBody>
      </p:sp>
      <p:pic>
        <p:nvPicPr>
          <p:cNvPr id="6" name="Image 1" descr="/tmp/thx/deck/figs/metu_emblem.png"/>
          <p:cNvPicPr>
            <a:picLocks noChangeAspect="1"/>
          </p:cNvPicPr>
          <p:nvPr/>
        </p:nvPicPr>
        <p:blipFill>
          <a:blip r:embed="rId4"/>
          <a:stretch>
            <a:fillRect/>
          </a:stretch>
        </p:blipFill>
        <p:spPr>
          <a:xfrm>
            <a:off x="10716768" y="184607"/>
            <a:ext cx="475488" cy="398882"/>
          </a:xfrm>
          <a:prstGeom prst="rect">
            <a:avLst/>
          </a:prstGeom>
        </p:spPr>
      </p:pic>
      <p:pic>
        <p:nvPicPr>
          <p:cNvPr id="7" name="Image 2" descr="/tmp/thx/deck/figs/eee_logo.png"/>
          <p:cNvPicPr>
            <a:picLocks noChangeAspect="1"/>
          </p:cNvPicPr>
          <p:nvPr/>
        </p:nvPicPr>
        <p:blipFill>
          <a:blip r:embed="rId5"/>
          <a:stretch>
            <a:fillRect/>
          </a:stretch>
        </p:blipFill>
        <p:spPr>
          <a:xfrm>
            <a:off x="11265408" y="186217"/>
            <a:ext cx="475488" cy="395662"/>
          </a:xfrm>
          <a:prstGeom prst="rect">
            <a:avLst/>
          </a:prstGeom>
        </p:spPr>
      </p:pic>
    </p:spTree>
    <p:extLst>
      <p:ext uri="{BB962C8B-B14F-4D97-AF65-F5344CB8AC3E}">
        <p14:creationId xmlns:p14="http://schemas.microsoft.com/office/powerpoint/2010/main" val="16294079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02920" y="256032"/>
            <a:ext cx="91440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DSS FRAMEWORK : LAYER 4 OF 4</a:t>
            </a:r>
            <a:endParaRPr lang="en-US" sz="1300" dirty="0"/>
          </a:p>
        </p:txBody>
      </p:sp>
      <p:sp>
        <p:nvSpPr>
          <p:cNvPr id="3" name="Text 1"/>
          <p:cNvSpPr/>
          <p:nvPr/>
        </p:nvSpPr>
        <p:spPr>
          <a:xfrm>
            <a:off x="502920" y="512064"/>
            <a:ext cx="11247120" cy="731520"/>
          </a:xfrm>
          <a:prstGeom prst="rect">
            <a:avLst/>
          </a:prstGeom>
          <a:noFill/>
          <a:ln/>
        </p:spPr>
        <p:txBody>
          <a:bodyPr wrap="square" lIns="0" tIns="0" rIns="0" bIns="0" rtlCol="0" anchor="ctr"/>
          <a:lstStyle/>
          <a:p>
            <a:pPr marL="0" indent="0">
              <a:buNone/>
            </a:pPr>
            <a:r>
              <a:rPr lang="en-US" sz="2900" b="1" dirty="0">
                <a:solidFill>
                  <a:srgbClr val="000000"/>
                </a:solidFill>
                <a:latin typeface="Cambria" pitchFamily="34" charset="0"/>
                <a:ea typeface="Cambria" pitchFamily="34" charset="-122"/>
                <a:cs typeface="Cambria" pitchFamily="34" charset="-120"/>
              </a:rPr>
              <a:t>Layer 4 : Decision Space: Decide, Price, Test, Adapt</a:t>
            </a:r>
            <a:endParaRPr lang="en-US" sz="2900" dirty="0"/>
          </a:p>
        </p:txBody>
      </p:sp>
      <p:sp>
        <p:nvSpPr>
          <p:cNvPr id="5" name="Text 2"/>
          <p:cNvSpPr/>
          <p:nvPr/>
        </p:nvSpPr>
        <p:spPr>
          <a:xfrm>
            <a:off x="7589520" y="1645920"/>
            <a:ext cx="4160520" cy="4023360"/>
          </a:xfrm>
          <a:prstGeom prst="rect">
            <a:avLst/>
          </a:prstGeom>
          <a:noFill/>
          <a:ln/>
        </p:spPr>
        <p:txBody>
          <a:bodyPr wrap="square" lIns="0" tIns="0" rIns="0" bIns="0" rtlCol="0" anchor="t"/>
          <a:lstStyle/>
          <a:p>
            <a:pPr marL="152400" indent="-152400">
              <a:lnSpc>
                <a:spcPct val="105000"/>
              </a:lnSpc>
              <a:spcAft>
                <a:spcPts val="1000"/>
              </a:spcAft>
              <a:buSzPct val="100000"/>
              <a:buChar char="•"/>
            </a:pPr>
            <a:r>
              <a:rPr lang="en-US" sz="1700" b="0">
                <a:solidFill>
                  <a:srgbClr val="222222"/>
                </a:solidFill>
                <a:latin typeface="Calibri" pitchFamily="34" charset="0"/>
                <a:ea typeface="Calibri" pitchFamily="34" charset="-122"/>
                <a:cs typeface="Calibri" pitchFamily="34" charset="-120"/>
              </a:rPr>
              <a:t>Once per cycle, fixed order</a:t>
            </a:r>
            <a:endParaRPr lang="en-US" sz="1700" dirty="0"/>
          </a:p>
          <a:p>
            <a:pPr marL="152400" indent="-152400">
              <a:lnSpc>
                <a:spcPct val="105000"/>
              </a:lnSpc>
              <a:spcAft>
                <a:spcPts val="1000"/>
              </a:spcAft>
              <a:buSzPct val="100000"/>
              <a:buChar char="•"/>
            </a:pPr>
            <a:r>
              <a:rPr lang="en-US" sz="1700" b="0">
                <a:solidFill>
                  <a:srgbClr val="222222"/>
                </a:solidFill>
                <a:latin typeface="Calibri" pitchFamily="34" charset="0"/>
                <a:ea typeface="Calibri" pitchFamily="34" charset="-122"/>
                <a:cs typeface="Calibri" pitchFamily="34" charset="-120"/>
              </a:rPr>
              <a:t>Input: gated concept activations</a:t>
            </a:r>
          </a:p>
          <a:p>
            <a:pPr marL="152400" indent="-152400">
              <a:lnSpc>
                <a:spcPct val="102000"/>
              </a:lnSpc>
              <a:spcAft>
                <a:spcPts val="500"/>
              </a:spcAft>
              <a:buSzPct val="100000"/>
              <a:buChar char="•"/>
            </a:pPr>
            <a:r>
              <a:rPr lang="en-US" sz="1700" b="0">
                <a:solidFill>
                  <a:srgbClr val="222222"/>
                </a:solidFill>
                <a:latin typeface="Calibri" pitchFamily="34" charset="0"/>
                <a:ea typeface="Calibri" pitchFamily="34" charset="-122"/>
                <a:cs typeface="Calibri" pitchFamily="34" charset="-120"/>
              </a:rPr>
              <a:t>Output: intensities over the intervention vocabulary (families + admitted macros &amp; actuators)</a:t>
            </a:r>
            <a:endParaRPr lang="en-US" sz="1700" dirty="0"/>
          </a:p>
          <a:p>
            <a:pPr marL="152400" indent="-152400">
              <a:lnSpc>
                <a:spcPct val="105000"/>
              </a:lnSpc>
              <a:spcAft>
                <a:spcPts val="1000"/>
              </a:spcAft>
              <a:buSzPct val="100000"/>
              <a:buChar char="•"/>
            </a:pPr>
            <a:r>
              <a:rPr lang="en-US" sz="1700" b="0">
                <a:solidFill>
                  <a:srgbClr val="222222"/>
                </a:solidFill>
                <a:latin typeface="Calibri" pitchFamily="34" charset="0"/>
                <a:ea typeface="Calibri" pitchFamily="34" charset="-122"/>
                <a:cs typeface="Calibri" pitchFamily="34" charset="-120"/>
              </a:rPr>
              <a:t>“Cost test → quality gate → apply”</a:t>
            </a:r>
          </a:p>
          <a:p>
            <a:pPr marL="152400" indent="-152400">
              <a:lnSpc>
                <a:spcPct val="105000"/>
              </a:lnSpc>
              <a:spcAft>
                <a:spcPts val="1000"/>
              </a:spcAft>
              <a:buSzPct val="100000"/>
              <a:buChar char="•"/>
            </a:pPr>
            <a:r>
              <a:rPr lang="en-US" sz="1700" b="0">
                <a:solidFill>
                  <a:srgbClr val="222222"/>
                </a:solidFill>
                <a:latin typeface="Calibri" pitchFamily="34" charset="0"/>
                <a:ea typeface="Calibri" pitchFamily="34" charset="-122"/>
                <a:cs typeface="Calibri" pitchFamily="34" charset="-120"/>
              </a:rPr>
              <a:t>“… → fail” → adaptation ladder ① ② ③</a:t>
            </a:r>
            <a:endParaRPr lang="en-US" sz="1700" dirty="0"/>
          </a:p>
          <a:p>
            <a:pPr marL="152400" indent="-152400">
              <a:lnSpc>
                <a:spcPct val="105000"/>
              </a:lnSpc>
              <a:spcAft>
                <a:spcPts val="1000"/>
              </a:spcAft>
              <a:buSzPct val="100000"/>
              <a:buChar char="•"/>
            </a:pPr>
            <a:r>
              <a:rPr lang="en-US" sz="1700" b="1">
                <a:solidFill>
                  <a:srgbClr val="222222"/>
                </a:solidFill>
                <a:latin typeface="Calibri" pitchFamily="34" charset="0"/>
                <a:ea typeface="Calibri" pitchFamily="34" charset="-122"/>
                <a:cs typeface="Calibri" pitchFamily="34" charset="-120"/>
              </a:rPr>
              <a:t>Graduated fail-safe; life-safety orders never reduced</a:t>
            </a:r>
            <a:endParaRPr lang="en-US" sz="1700" dirty="0"/>
          </a:p>
        </p:txBody>
      </p:sp>
      <p:pic>
        <p:nvPicPr>
          <p:cNvPr id="7" name="Image 1"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8" name="Image 2" descr="/tmp/thx/deck/figs/eee_logo.png"/>
          <p:cNvPicPr>
            <a:picLocks noChangeAspect="1"/>
          </p:cNvPicPr>
          <p:nvPr/>
        </p:nvPicPr>
        <p:blipFill>
          <a:blip r:embed="rId4"/>
          <a:stretch>
            <a:fillRect/>
          </a:stretch>
        </p:blipFill>
        <p:spPr>
          <a:xfrm>
            <a:off x="11265408" y="186217"/>
            <a:ext cx="475488" cy="395662"/>
          </a:xfrm>
          <a:prstGeom prst="rect">
            <a:avLst/>
          </a:prstGeom>
        </p:spPr>
      </p:pic>
      <p:pic>
        <p:nvPicPr>
          <p:cNvPr id="6" name="Image 0" descr="/tmp/thx/deck/figs/Figure4_1.png">
            <a:extLst>
              <a:ext uri="{FF2B5EF4-FFF2-40B4-BE49-F238E27FC236}">
                <a16:creationId xmlns:a16="http://schemas.microsoft.com/office/drawing/2014/main" id="{951B0C7B-ED2B-4E50-4CA1-D598C04DD872}"/>
              </a:ext>
            </a:extLst>
          </p:cNvPr>
          <p:cNvPicPr>
            <a:picLocks noChangeAspect="1"/>
          </p:cNvPicPr>
          <p:nvPr/>
        </p:nvPicPr>
        <p:blipFill rotWithShape="1">
          <a:blip r:embed="rId5">
            <a:clrChange>
              <a:clrFrom>
                <a:srgbClr val="FFFFFF"/>
              </a:clrFrom>
              <a:clrTo>
                <a:srgbClr val="FFFFFF">
                  <a:alpha val="0"/>
                </a:srgbClr>
              </a:clrTo>
            </a:clrChange>
          </a:blip>
          <a:srcRect t="65091" r="13885"/>
          <a:stretch>
            <a:fillRect/>
          </a:stretch>
        </p:blipFill>
        <p:spPr>
          <a:xfrm>
            <a:off x="99951" y="1610749"/>
            <a:ext cx="7050989" cy="480250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37744"/>
            <a:ext cx="100584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DSS FRAMEWORK : LAYER 4 OF 4</a:t>
            </a:r>
            <a:endParaRPr lang="en-US" sz="1300" dirty="0"/>
          </a:p>
        </p:txBody>
      </p:sp>
      <p:sp>
        <p:nvSpPr>
          <p:cNvPr id="3" name="Text 1"/>
          <p:cNvSpPr/>
          <p:nvPr/>
        </p:nvSpPr>
        <p:spPr>
          <a:xfrm>
            <a:off x="502920" y="493776"/>
            <a:ext cx="11247120" cy="621792"/>
          </a:xfrm>
          <a:prstGeom prst="rect">
            <a:avLst/>
          </a:prstGeom>
          <a:noFill/>
          <a:ln/>
        </p:spPr>
        <p:txBody>
          <a:bodyPr wrap="square" lIns="0" tIns="0" rIns="0" bIns="0" rtlCol="0" anchor="ctr"/>
          <a:lstStyle/>
          <a:p>
            <a:pPr marL="0" indent="0">
              <a:buNone/>
            </a:pPr>
            <a:r>
              <a:rPr lang="en-US" sz="2500" b="1" dirty="0">
                <a:solidFill>
                  <a:srgbClr val="000000"/>
                </a:solidFill>
                <a:latin typeface="Cambria" pitchFamily="34" charset="0"/>
                <a:ea typeface="Cambria" pitchFamily="34" charset="-122"/>
                <a:cs typeface="Cambria" pitchFamily="34" charset="-120"/>
              </a:rPr>
              <a:t>The Vocabulary of Action: Six Intervention Families, Seven Physical Effects</a:t>
            </a:r>
            <a:endParaRPr lang="en-US" sz="2500" dirty="0"/>
          </a:p>
        </p:txBody>
      </p:sp>
      <p:pic>
        <p:nvPicPr>
          <p:cNvPr id="4"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5"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p:sp>
        <p:nvSpPr>
          <p:cNvPr id="6" name="Text 2"/>
          <p:cNvSpPr/>
          <p:nvPr/>
        </p:nvSpPr>
        <p:spPr>
          <a:xfrm>
            <a:off x="457200" y="1188720"/>
            <a:ext cx="5669280" cy="274320"/>
          </a:xfrm>
          <a:prstGeom prst="rect">
            <a:avLst/>
          </a:prstGeom>
          <a:noFill/>
          <a:ln/>
        </p:spPr>
        <p:txBody>
          <a:bodyPr wrap="square" lIns="0" tIns="0" rIns="0" bIns="0" rtlCol="0" anchor="ctr"/>
          <a:lstStyle/>
          <a:p>
            <a:pPr marL="0" indent="0">
              <a:buNone/>
            </a:pPr>
            <a:r>
              <a:rPr lang="en-US" sz="1400" b="1" dirty="0">
                <a:solidFill>
                  <a:srgbClr val="E31836"/>
                </a:solidFill>
                <a:latin typeface="Calibri" pitchFamily="34" charset="0"/>
                <a:ea typeface="Calibri" pitchFamily="34" charset="-122"/>
                <a:cs typeface="Calibri" pitchFamily="34" charset="-120"/>
              </a:rPr>
              <a:t>Intervention families — the language of decisions</a:t>
            </a:r>
            <a:endParaRPr lang="en-US" sz="1400" dirty="0"/>
          </a:p>
        </p:txBody>
      </p:sp>
      <p:graphicFrame>
        <p:nvGraphicFramePr>
          <p:cNvPr id="7" name="Table 0"/>
          <p:cNvGraphicFramePr>
            <a:graphicFrameLocks noGrp="1"/>
          </p:cNvGraphicFramePr>
          <p:nvPr/>
        </p:nvGraphicFramePr>
        <p:xfrm>
          <a:off x="457200" y="1517904"/>
          <a:ext cx="5623560" cy="2688336"/>
        </p:xfrm>
        <a:graphic>
          <a:graphicData uri="http://schemas.openxmlformats.org/drawingml/2006/table">
            <a:tbl>
              <a:tblPr/>
              <a:tblGrid>
                <a:gridCol w="1828800">
                  <a:extLst>
                    <a:ext uri="{9D8B030D-6E8A-4147-A177-3AD203B41FA5}">
                      <a16:colId xmlns:a16="http://schemas.microsoft.com/office/drawing/2014/main" val="20000"/>
                    </a:ext>
                  </a:extLst>
                </a:gridCol>
                <a:gridCol w="3794760">
                  <a:extLst>
                    <a:ext uri="{9D8B030D-6E8A-4147-A177-3AD203B41FA5}">
                      <a16:colId xmlns:a16="http://schemas.microsoft.com/office/drawing/2014/main" val="20001"/>
                    </a:ext>
                  </a:extLst>
                </a:gridCol>
              </a:tblGrid>
              <a:tr h="3840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Family</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What the order means</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384048">
                <a:tc>
                  <a:txBody>
                    <a:bodyPr/>
                    <a:lstStyle/>
                    <a:p>
                      <a:pPr marL="0" indent="0">
                        <a:buNone/>
                      </a:pPr>
                      <a:r>
                        <a:rPr lang="en-US" sz="1300" b="1" dirty="0">
                          <a:solidFill>
                            <a:srgbClr val="E31836"/>
                          </a:solidFill>
                          <a:latin typeface="Calibri" pitchFamily="34" charset="0"/>
                          <a:ea typeface="Calibri" pitchFamily="34" charset="-122"/>
                          <a:cs typeface="Calibri" pitchFamily="34" charset="-120"/>
                        </a:rPr>
                        <a:t>Suppression effort</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a:solidFill>
                            <a:srgbClr val="222222"/>
                          </a:solidFill>
                          <a:latin typeface="Calibri" pitchFamily="34" charset="0"/>
                          <a:ea typeface="Calibri" pitchFamily="34" charset="-122"/>
                          <a:cs typeface="Calibri" pitchFamily="34" charset="-120"/>
                        </a:rPr>
                        <a:t>direct firefighting intensity</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300" b="1" dirty="0">
                          <a:solidFill>
                            <a:srgbClr val="E31836"/>
                          </a:solidFill>
                          <a:latin typeface="Calibri" pitchFamily="34" charset="0"/>
                          <a:ea typeface="Calibri" pitchFamily="34" charset="-122"/>
                          <a:cs typeface="Calibri" pitchFamily="34" charset="-120"/>
                        </a:rPr>
                        <a:t>Resource deployment</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a:solidFill>
                            <a:srgbClr val="222222"/>
                          </a:solidFill>
                          <a:latin typeface="Calibri" pitchFamily="34" charset="0"/>
                          <a:ea typeface="Calibri" pitchFamily="34" charset="-122"/>
                          <a:cs typeface="Calibri" pitchFamily="34" charset="-120"/>
                        </a:rPr>
                        <a:t>commit &amp; move crews, equipment</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300" b="1" dirty="0">
                          <a:solidFill>
                            <a:srgbClr val="E31836"/>
                          </a:solidFill>
                          <a:latin typeface="Calibri" pitchFamily="34" charset="0"/>
                          <a:ea typeface="Calibri" pitchFamily="34" charset="-122"/>
                          <a:cs typeface="Calibri" pitchFamily="34" charset="-120"/>
                        </a:rPr>
                        <a:t>Containment line</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a:solidFill>
                            <a:srgbClr val="222222"/>
                          </a:solidFill>
                          <a:latin typeface="Calibri" pitchFamily="34" charset="0"/>
                          <a:ea typeface="Calibri" pitchFamily="34" charset="-122"/>
                          <a:cs typeface="Calibri" pitchFamily="34" charset="-120"/>
                        </a:rPr>
                        <a:t>firebreaks ahead of the fire</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300" b="1" dirty="0">
                          <a:solidFill>
                            <a:srgbClr val="E31836"/>
                          </a:solidFill>
                          <a:latin typeface="Calibri" pitchFamily="34" charset="0"/>
                          <a:ea typeface="Calibri" pitchFamily="34" charset="-122"/>
                          <a:cs typeface="Calibri" pitchFamily="34" charset="-120"/>
                        </a:rPr>
                        <a:t>Asset protection</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a:solidFill>
                            <a:srgbClr val="222222"/>
                          </a:solidFill>
                          <a:latin typeface="Calibri" pitchFamily="34" charset="0"/>
                          <a:ea typeface="Calibri" pitchFamily="34" charset="-122"/>
                          <a:cs typeface="Calibri" pitchFamily="34" charset="-120"/>
                        </a:rPr>
                        <a:t>protect structures &amp; infrastructure</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1300" b="1" dirty="0">
                          <a:solidFill>
                            <a:srgbClr val="E31836"/>
                          </a:solidFill>
                          <a:latin typeface="Calibri" pitchFamily="34" charset="0"/>
                          <a:ea typeface="Calibri" pitchFamily="34" charset="-122"/>
                          <a:cs typeface="Calibri" pitchFamily="34" charset="-120"/>
                        </a:rPr>
                        <a:t>Evacuation</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a:solidFill>
                            <a:srgbClr val="222222"/>
                          </a:solidFill>
                          <a:latin typeface="Calibri" pitchFamily="34" charset="0"/>
                          <a:ea typeface="Calibri" pitchFamily="34" charset="-122"/>
                          <a:cs typeface="Calibri" pitchFamily="34" charset="-120"/>
                        </a:rPr>
                        <a:t>move exposed people to safety</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buNone/>
                      </a:pPr>
                      <a:r>
                        <a:rPr lang="en-US" sz="1300" b="1" dirty="0">
                          <a:solidFill>
                            <a:srgbClr val="E31836"/>
                          </a:solidFill>
                          <a:latin typeface="Calibri" pitchFamily="34" charset="0"/>
                          <a:ea typeface="Calibri" pitchFamily="34" charset="-122"/>
                          <a:cs typeface="Calibri" pitchFamily="34" charset="-120"/>
                        </a:rPr>
                        <a:t>Public warning</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a:solidFill>
                            <a:srgbClr val="222222"/>
                          </a:solidFill>
                          <a:latin typeface="Calibri" pitchFamily="34" charset="0"/>
                          <a:ea typeface="Calibri" pitchFamily="34" charset="-122"/>
                          <a:cs typeface="Calibri" pitchFamily="34" charset="-120"/>
                        </a:rPr>
                        <a:t>alert the population</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8" name="Text 3"/>
          <p:cNvSpPr/>
          <p:nvPr/>
        </p:nvSpPr>
        <p:spPr>
          <a:xfrm>
            <a:off x="6355080" y="1188720"/>
            <a:ext cx="5394960" cy="274320"/>
          </a:xfrm>
          <a:prstGeom prst="rect">
            <a:avLst/>
          </a:prstGeom>
          <a:noFill/>
          <a:ln/>
        </p:spPr>
        <p:txBody>
          <a:bodyPr wrap="square" lIns="0" tIns="0" rIns="0" bIns="0" rtlCol="0" anchor="ctr"/>
          <a:lstStyle/>
          <a:p>
            <a:pPr marL="0" indent="0">
              <a:buNone/>
            </a:pPr>
            <a:r>
              <a:rPr lang="en-US" sz="1400" b="1" dirty="0">
                <a:solidFill>
                  <a:srgbClr val="E31836"/>
                </a:solidFill>
                <a:latin typeface="Calibri" pitchFamily="34" charset="0"/>
                <a:ea typeface="Calibri" pitchFamily="34" charset="-122"/>
                <a:cs typeface="Calibri" pitchFamily="34" charset="-120"/>
              </a:rPr>
              <a:t>Physical effects — how decisions act inside the simulation</a:t>
            </a:r>
            <a:endParaRPr lang="en-US" sz="1400" dirty="0"/>
          </a:p>
        </p:txBody>
      </p:sp>
      <p:graphicFrame>
        <p:nvGraphicFramePr>
          <p:cNvPr id="9" name="Table 1"/>
          <p:cNvGraphicFramePr>
            <a:graphicFrameLocks noGrp="1"/>
          </p:cNvGraphicFramePr>
          <p:nvPr/>
        </p:nvGraphicFramePr>
        <p:xfrm>
          <a:off x="6355080" y="1517904"/>
          <a:ext cx="5394960" cy="3072384"/>
        </p:xfrm>
        <a:graphic>
          <a:graphicData uri="http://schemas.openxmlformats.org/drawingml/2006/table">
            <a:tbl>
              <a:tblPr/>
              <a:tblGrid>
                <a:gridCol w="1051560">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tblGrid>
              <a:tr h="3840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Effect</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What it changes in the world</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384048">
                <a:tc>
                  <a:txBody>
                    <a:bodyPr/>
                    <a:lstStyle/>
                    <a:p>
                      <a:pPr marL="0" indent="0">
                        <a:buNone/>
                      </a:pPr>
                      <a:r>
                        <a:rPr lang="en-US" sz="1300" b="1" dirty="0">
                          <a:solidFill>
                            <a:srgbClr val="E31836"/>
                          </a:solidFill>
                          <a:latin typeface="Calibri" pitchFamily="34" charset="0"/>
                          <a:ea typeface="Calibri" pitchFamily="34" charset="-122"/>
                          <a:cs typeface="Calibri" pitchFamily="34" charset="-120"/>
                        </a:rPr>
                        <a:t>wet</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a:solidFill>
                            <a:srgbClr val="222222"/>
                          </a:solidFill>
                          <a:latin typeface="Calibri" pitchFamily="34" charset="0"/>
                          <a:ea typeface="Calibri" pitchFamily="34" charset="-122"/>
                          <a:cs typeface="Calibri" pitchFamily="34" charset="-120"/>
                        </a:rPr>
                        <a:t>pre-wetted band: + capacity, + availability</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300" b="1" dirty="0">
                          <a:solidFill>
                            <a:srgbClr val="E31836"/>
                          </a:solidFill>
                          <a:latin typeface="Calibri" pitchFamily="34" charset="0"/>
                          <a:ea typeface="Calibri" pitchFamily="34" charset="-122"/>
                          <a:cs typeface="Calibri" pitchFamily="34" charset="-120"/>
                        </a:rPr>
                        <a:t>clear</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a:solidFill>
                            <a:srgbClr val="222222"/>
                          </a:solidFill>
                          <a:latin typeface="Calibri" pitchFamily="34" charset="0"/>
                          <a:ea typeface="Calibri" pitchFamily="34" charset="-122"/>
                          <a:cs typeface="Calibri" pitchFamily="34" charset="-120"/>
                        </a:rPr>
                        <a:t>cut cells — a containment line</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300" b="1" dirty="0">
                          <a:solidFill>
                            <a:srgbClr val="E31836"/>
                          </a:solidFill>
                          <a:latin typeface="Calibri" pitchFamily="34" charset="0"/>
                          <a:ea typeface="Calibri" pitchFamily="34" charset="-122"/>
                          <a:cs typeface="Calibri" pitchFamily="34" charset="-120"/>
                        </a:rPr>
                        <a:t>ignite</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a:solidFill>
                            <a:srgbClr val="222222"/>
                          </a:solidFill>
                          <a:latin typeface="Calibri" pitchFamily="34" charset="0"/>
                          <a:ea typeface="Calibri" pitchFamily="34" charset="-122"/>
                          <a:cs typeface="Calibri" pitchFamily="34" charset="-120"/>
                        </a:rPr>
                        <a:t>firing operation</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300" b="1" dirty="0">
                          <a:solidFill>
                            <a:srgbClr val="E31836"/>
                          </a:solidFill>
                          <a:latin typeface="Calibri" pitchFamily="34" charset="0"/>
                          <a:ea typeface="Calibri" pitchFamily="34" charset="-122"/>
                          <a:cs typeface="Calibri" pitchFamily="34" charset="-120"/>
                        </a:rPr>
                        <a:t>coat</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a:solidFill>
                            <a:srgbClr val="222222"/>
                          </a:solidFill>
                          <a:latin typeface="Calibri" pitchFamily="34" charset="0"/>
                          <a:ea typeface="Calibri" pitchFamily="34" charset="-122"/>
                          <a:cs typeface="Calibri" pitchFamily="34" charset="-120"/>
                        </a:rPr>
                        <a:t>moisture floor ↑ (retardant / soil)</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1300" b="1" dirty="0">
                          <a:solidFill>
                            <a:srgbClr val="E31836"/>
                          </a:solidFill>
                          <a:latin typeface="Calibri" pitchFamily="34" charset="0"/>
                          <a:ea typeface="Calibri" pitchFamily="34" charset="-122"/>
                          <a:cs typeface="Calibri" pitchFamily="34" charset="-120"/>
                        </a:rPr>
                        <a:t>evacuate</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a:solidFill>
                            <a:srgbClr val="222222"/>
                          </a:solidFill>
                          <a:latin typeface="Calibri" pitchFamily="34" charset="0"/>
                          <a:ea typeface="Calibri" pitchFamily="34" charset="-122"/>
                          <a:cs typeface="Calibri" pitchFamily="34" charset="-120"/>
                        </a:rPr>
                        <a:t>evacuation order, where people are</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buNone/>
                      </a:pPr>
                      <a:r>
                        <a:rPr lang="en-US" sz="1300" b="1" dirty="0">
                          <a:solidFill>
                            <a:srgbClr val="E31836"/>
                          </a:solidFill>
                          <a:latin typeface="Calibri" pitchFamily="34" charset="0"/>
                          <a:ea typeface="Calibri" pitchFamily="34" charset="-122"/>
                          <a:cs typeface="Calibri" pitchFamily="34" charset="-120"/>
                        </a:rPr>
                        <a:t>prime</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a:solidFill>
                            <a:srgbClr val="222222"/>
                          </a:solidFill>
                          <a:latin typeface="Calibri" pitchFamily="34" charset="0"/>
                          <a:ea typeface="Calibri" pitchFamily="34" charset="-122"/>
                          <a:cs typeface="Calibri" pitchFamily="34" charset="-120"/>
                        </a:rPr>
                        <a:t>public warning, where people are</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6"/>
                  </a:ext>
                </a:extLst>
              </a:tr>
              <a:tr h="384048">
                <a:tc>
                  <a:txBody>
                    <a:bodyPr/>
                    <a:lstStyle/>
                    <a:p>
                      <a:pPr marL="0" indent="0">
                        <a:buNone/>
                      </a:pPr>
                      <a:r>
                        <a:rPr lang="en-US" sz="1300" b="1" dirty="0">
                          <a:solidFill>
                            <a:srgbClr val="E31836"/>
                          </a:solidFill>
                          <a:latin typeface="Calibri" pitchFamily="34" charset="0"/>
                          <a:ea typeface="Calibri" pitchFamily="34" charset="-122"/>
                          <a:cs typeface="Calibri" pitchFamily="34" charset="-120"/>
                        </a:rPr>
                        <a:t>draft</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a:solidFill>
                            <a:srgbClr val="222222"/>
                          </a:solidFill>
                          <a:latin typeface="Calibri" pitchFamily="34" charset="0"/>
                          <a:ea typeface="Calibri" pitchFamily="34" charset="-122"/>
                          <a:cs typeface="Calibri" pitchFamily="34" charset="-120"/>
                        </a:rPr>
                        <a:t>× capacity on the cells; falls with distance to water</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10" name="Shape 4"/>
          <p:cNvSpPr/>
          <p:nvPr/>
        </p:nvSpPr>
        <p:spPr>
          <a:xfrm>
            <a:off x="457200" y="5449824"/>
            <a:ext cx="11292840" cy="1225296"/>
          </a:xfrm>
          <a:prstGeom prst="roundRect">
            <a:avLst>
              <a:gd name="adj" fmla="val 3448"/>
            </a:avLst>
          </a:prstGeom>
          <a:solidFill>
            <a:srgbClr val="F2F2F2"/>
          </a:solidFill>
          <a:ln/>
        </p:spPr>
        <p:txBody>
          <a:bodyPr/>
          <a:lstStyle/>
          <a:p>
            <a:endParaRPr lang="tr-TR"/>
          </a:p>
        </p:txBody>
      </p:sp>
      <p:sp>
        <p:nvSpPr>
          <p:cNvPr id="11" name="Text 5"/>
          <p:cNvSpPr/>
          <p:nvPr/>
        </p:nvSpPr>
        <p:spPr>
          <a:xfrm>
            <a:off x="731520" y="5577840"/>
            <a:ext cx="10789920" cy="1005840"/>
          </a:xfrm>
          <a:prstGeom prst="rect">
            <a:avLst/>
          </a:prstGeom>
          <a:noFill/>
          <a:ln/>
        </p:spPr>
        <p:txBody>
          <a:bodyPr wrap="square" lIns="0" tIns="0" rIns="0" bIns="0" rtlCol="0" anchor="t"/>
          <a:lstStyle/>
          <a:p>
            <a:pPr marL="152400" indent="-152400">
              <a:lnSpc>
                <a:spcPct val="102000"/>
              </a:lnSpc>
              <a:spcAft>
                <a:spcPts val="300"/>
              </a:spcAft>
              <a:buSzPct val="100000"/>
              <a:buChar char="•"/>
            </a:pPr>
            <a:r>
              <a:rPr lang="en-US" sz="1400" b="0" i="0" dirty="0">
                <a:solidFill>
                  <a:srgbClr val="222222"/>
                </a:solidFill>
                <a:latin typeface="Calibri" pitchFamily="34" charset="0"/>
                <a:ea typeface="Calibri" pitchFamily="34" charset="-122"/>
                <a:cs typeface="Calibri" pitchFamily="34" charset="-120"/>
              </a:rPr>
              <a:t>A decision = an intensity in [0, 1] on each vocabulary name</a:t>
            </a:r>
            <a:endParaRPr lang="en-US" sz="1400" dirty="0"/>
          </a:p>
          <a:p>
            <a:pPr marL="152400" indent="-152400">
              <a:lnSpc>
                <a:spcPct val="102000"/>
              </a:lnSpc>
              <a:spcAft>
                <a:spcPts val="300"/>
              </a:spcAft>
              <a:buSzPct val="100000"/>
              <a:buChar char="•"/>
            </a:pPr>
            <a:r>
              <a:rPr lang="en-US" sz="1400" b="0" i="0" dirty="0">
                <a:solidFill>
                  <a:srgbClr val="222222"/>
                </a:solidFill>
                <a:latin typeface="Calibri" pitchFamily="34" charset="0"/>
                <a:ea typeface="Calibri" pitchFamily="34" charset="-122"/>
                <a:cs typeface="Calibri" pitchFamily="34" charset="-120"/>
              </a:rPr>
              <a:t>Orders compile into the effects; the fire then evolves under ordinary physics</a:t>
            </a:r>
            <a:endParaRPr lang="en-US" sz="1400" dirty="0"/>
          </a:p>
          <a:p>
            <a:pPr marL="152400" indent="-152400">
              <a:lnSpc>
                <a:spcPct val="102000"/>
              </a:lnSpc>
              <a:spcAft>
                <a:spcPts val="0"/>
              </a:spcAft>
              <a:buSzPct val="100000"/>
              <a:buChar char="•"/>
            </a:pPr>
            <a:r>
              <a:rPr lang="en-US" sz="1400" b="1" i="0" dirty="0">
                <a:solidFill>
                  <a:srgbClr val="222222"/>
                </a:solidFill>
                <a:latin typeface="Calibri" pitchFamily="34" charset="0"/>
                <a:ea typeface="Calibri" pitchFamily="34" charset="-122"/>
                <a:cs typeface="Calibri" pitchFamily="34" charset="-120"/>
              </a:rPr>
              <a:t>Basis fixed, vocabulary open: macros &amp; actuators compose effects — never invent physics</a:t>
            </a:r>
            <a:endParaRPr lang="en-US" sz="14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73457-E7AB-0E27-EEDC-7D94BA6B408A}"/>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0B254E51-A31B-6754-81FE-AB006D8ED608}"/>
              </a:ext>
            </a:extLst>
          </p:cNvPr>
          <p:cNvGrpSpPr/>
          <p:nvPr/>
        </p:nvGrpSpPr>
        <p:grpSpPr>
          <a:xfrm>
            <a:off x="2834640" y="2724045"/>
            <a:ext cx="3882683" cy="2779774"/>
            <a:chOff x="2834640" y="2724045"/>
            <a:chExt cx="3882683" cy="2779774"/>
          </a:xfrm>
        </p:grpSpPr>
        <p:sp>
          <p:nvSpPr>
            <p:cNvPr id="11" name="Rectangle 10">
              <a:extLst>
                <a:ext uri="{FF2B5EF4-FFF2-40B4-BE49-F238E27FC236}">
                  <a16:creationId xmlns:a16="http://schemas.microsoft.com/office/drawing/2014/main" id="{0837B4A0-C002-97F2-04A4-99DA8F6E2CE4}"/>
                </a:ext>
              </a:extLst>
            </p:cNvPr>
            <p:cNvSpPr/>
            <p:nvPr/>
          </p:nvSpPr>
          <p:spPr>
            <a:xfrm>
              <a:off x="4197531" y="2724045"/>
              <a:ext cx="2519792" cy="2779774"/>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 name="Rectangle 5">
              <a:extLst>
                <a:ext uri="{FF2B5EF4-FFF2-40B4-BE49-F238E27FC236}">
                  <a16:creationId xmlns:a16="http://schemas.microsoft.com/office/drawing/2014/main" id="{D2408398-D1C8-15D3-23C4-E85F4818627A}"/>
                </a:ext>
              </a:extLst>
            </p:cNvPr>
            <p:cNvSpPr/>
            <p:nvPr/>
          </p:nvSpPr>
          <p:spPr>
            <a:xfrm>
              <a:off x="2834640" y="2724045"/>
              <a:ext cx="1807698" cy="1682494"/>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pic>
        <p:nvPicPr>
          <p:cNvPr id="10" name="Image 0" descr="/tmp/thx/deck/figs/Figure4_1.png">
            <a:extLst>
              <a:ext uri="{FF2B5EF4-FFF2-40B4-BE49-F238E27FC236}">
                <a16:creationId xmlns:a16="http://schemas.microsoft.com/office/drawing/2014/main" id="{3A7D1325-6B4B-4C23-C9EE-BB31C2C50D07}"/>
              </a:ext>
            </a:extLst>
          </p:cNvPr>
          <p:cNvPicPr>
            <a:picLocks noChangeAspect="1"/>
          </p:cNvPicPr>
          <p:nvPr/>
        </p:nvPicPr>
        <p:blipFill rotWithShape="1">
          <a:blip r:embed="rId3">
            <a:clrChange>
              <a:clrFrom>
                <a:srgbClr val="FFFFFF"/>
              </a:clrFrom>
              <a:clrTo>
                <a:srgbClr val="FFFFFF">
                  <a:alpha val="0"/>
                </a:srgbClr>
              </a:clrTo>
            </a:clrChange>
          </a:blip>
          <a:srcRect t="65091" r="13885"/>
          <a:stretch>
            <a:fillRect/>
          </a:stretch>
        </p:blipFill>
        <p:spPr>
          <a:xfrm>
            <a:off x="99951" y="1610749"/>
            <a:ext cx="7050989" cy="4802505"/>
          </a:xfrm>
          <a:prstGeom prst="rect">
            <a:avLst/>
          </a:prstGeom>
        </p:spPr>
      </p:pic>
      <p:sp>
        <p:nvSpPr>
          <p:cNvPr id="2" name="Text 0">
            <a:extLst>
              <a:ext uri="{FF2B5EF4-FFF2-40B4-BE49-F238E27FC236}">
                <a16:creationId xmlns:a16="http://schemas.microsoft.com/office/drawing/2014/main" id="{2BE26D25-7F1A-540D-EBFA-7210213DC123}"/>
              </a:ext>
            </a:extLst>
          </p:cNvPr>
          <p:cNvSpPr/>
          <p:nvPr/>
        </p:nvSpPr>
        <p:spPr>
          <a:xfrm>
            <a:off x="502920" y="256032"/>
            <a:ext cx="91440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DSS FRAMEWORK : LAYER 4 OF 4</a:t>
            </a:r>
            <a:endParaRPr lang="en-US" sz="1300" dirty="0"/>
          </a:p>
        </p:txBody>
      </p:sp>
      <p:sp>
        <p:nvSpPr>
          <p:cNvPr id="3" name="Text 1">
            <a:extLst>
              <a:ext uri="{FF2B5EF4-FFF2-40B4-BE49-F238E27FC236}">
                <a16:creationId xmlns:a16="http://schemas.microsoft.com/office/drawing/2014/main" id="{961F2563-5C56-29FA-6FDF-72049E6C2023}"/>
              </a:ext>
            </a:extLst>
          </p:cNvPr>
          <p:cNvSpPr/>
          <p:nvPr/>
        </p:nvSpPr>
        <p:spPr>
          <a:xfrm>
            <a:off x="502920" y="512064"/>
            <a:ext cx="11247120" cy="731520"/>
          </a:xfrm>
          <a:prstGeom prst="rect">
            <a:avLst/>
          </a:prstGeom>
          <a:noFill/>
          <a:ln/>
        </p:spPr>
        <p:txBody>
          <a:bodyPr wrap="square" lIns="0" tIns="0" rIns="0" bIns="0" rtlCol="0" anchor="ctr"/>
          <a:lstStyle/>
          <a:p>
            <a:pPr marL="0" indent="0">
              <a:buNone/>
            </a:pPr>
            <a:r>
              <a:rPr lang="en-US" sz="2900" b="1" dirty="0">
                <a:solidFill>
                  <a:srgbClr val="000000"/>
                </a:solidFill>
                <a:latin typeface="Cambria" pitchFamily="34" charset="0"/>
                <a:ea typeface="Cambria" pitchFamily="34" charset="-122"/>
                <a:cs typeface="Cambria" pitchFamily="34" charset="-120"/>
              </a:rPr>
              <a:t>Layer 4 : Decision Space: Decide, Price, Test, Adapt</a:t>
            </a:r>
            <a:endParaRPr lang="en-US" sz="2900" dirty="0"/>
          </a:p>
        </p:txBody>
      </p:sp>
      <p:sp>
        <p:nvSpPr>
          <p:cNvPr id="5" name="Text 2">
            <a:extLst>
              <a:ext uri="{FF2B5EF4-FFF2-40B4-BE49-F238E27FC236}">
                <a16:creationId xmlns:a16="http://schemas.microsoft.com/office/drawing/2014/main" id="{8F9C7993-6EE7-3E7D-7786-EECB088B58B3}"/>
              </a:ext>
            </a:extLst>
          </p:cNvPr>
          <p:cNvSpPr/>
          <p:nvPr/>
        </p:nvSpPr>
        <p:spPr>
          <a:xfrm>
            <a:off x="7589520" y="1645920"/>
            <a:ext cx="4160520" cy="4023360"/>
          </a:xfrm>
          <a:prstGeom prst="rect">
            <a:avLst/>
          </a:prstGeom>
          <a:noFill/>
          <a:ln/>
        </p:spPr>
        <p:txBody>
          <a:bodyPr wrap="square" lIns="0" tIns="0" rIns="0" bIns="0" rtlCol="0" anchor="t"/>
          <a:lstStyle/>
          <a:p>
            <a:pPr marL="152400" indent="-152400">
              <a:lnSpc>
                <a:spcPct val="105000"/>
              </a:lnSpc>
              <a:spcAft>
                <a:spcPts val="1000"/>
              </a:spcAft>
              <a:buSzPct val="100000"/>
              <a:buChar char="•"/>
            </a:pPr>
            <a:r>
              <a:rPr lang="en-US" sz="1700" b="0">
                <a:solidFill>
                  <a:srgbClr val="222222"/>
                </a:solidFill>
                <a:latin typeface="Calibri" pitchFamily="34" charset="0"/>
                <a:ea typeface="Calibri" pitchFamily="34" charset="-122"/>
                <a:cs typeface="Calibri" pitchFamily="34" charset="-120"/>
              </a:rPr>
              <a:t>Once per cycle, fixed order</a:t>
            </a:r>
            <a:endParaRPr lang="en-US" sz="1700" dirty="0"/>
          </a:p>
          <a:p>
            <a:pPr marL="152400" indent="-152400">
              <a:lnSpc>
                <a:spcPct val="105000"/>
              </a:lnSpc>
              <a:spcAft>
                <a:spcPts val="1000"/>
              </a:spcAft>
              <a:buSzPct val="100000"/>
              <a:buChar char="•"/>
            </a:pPr>
            <a:r>
              <a:rPr lang="en-US" sz="1700" b="0">
                <a:solidFill>
                  <a:srgbClr val="222222"/>
                </a:solidFill>
                <a:latin typeface="Calibri" pitchFamily="34" charset="0"/>
                <a:ea typeface="Calibri" pitchFamily="34" charset="-122"/>
                <a:cs typeface="Calibri" pitchFamily="34" charset="-120"/>
              </a:rPr>
              <a:t>Input: gated concept activations</a:t>
            </a:r>
          </a:p>
          <a:p>
            <a:pPr marL="152400" indent="-152400">
              <a:lnSpc>
                <a:spcPct val="102000"/>
              </a:lnSpc>
              <a:spcAft>
                <a:spcPts val="500"/>
              </a:spcAft>
              <a:buSzPct val="100000"/>
              <a:buChar char="•"/>
            </a:pPr>
            <a:r>
              <a:rPr lang="en-US" sz="1700" b="0">
                <a:solidFill>
                  <a:srgbClr val="222222"/>
                </a:solidFill>
                <a:latin typeface="Calibri" pitchFamily="34" charset="0"/>
                <a:ea typeface="Calibri" pitchFamily="34" charset="-122"/>
                <a:cs typeface="Calibri" pitchFamily="34" charset="-120"/>
              </a:rPr>
              <a:t>Output: intensities over the intervention vocabulary (families + admitted macros &amp; actuators)</a:t>
            </a:r>
            <a:endParaRPr lang="en-US" sz="1700" dirty="0"/>
          </a:p>
          <a:p>
            <a:pPr marL="152400" indent="-152400">
              <a:lnSpc>
                <a:spcPct val="105000"/>
              </a:lnSpc>
              <a:spcAft>
                <a:spcPts val="1000"/>
              </a:spcAft>
              <a:buSzPct val="100000"/>
              <a:buChar char="•"/>
            </a:pPr>
            <a:r>
              <a:rPr lang="en-US" sz="1700" b="0">
                <a:solidFill>
                  <a:srgbClr val="222222"/>
                </a:solidFill>
                <a:latin typeface="Calibri" pitchFamily="34" charset="0"/>
                <a:ea typeface="Calibri" pitchFamily="34" charset="-122"/>
                <a:cs typeface="Calibri" pitchFamily="34" charset="-120"/>
              </a:rPr>
              <a:t>“Cost test → quality gate → apply”</a:t>
            </a:r>
          </a:p>
          <a:p>
            <a:pPr marL="152400" indent="-152400">
              <a:lnSpc>
                <a:spcPct val="105000"/>
              </a:lnSpc>
              <a:spcAft>
                <a:spcPts val="1000"/>
              </a:spcAft>
              <a:buSzPct val="100000"/>
              <a:buChar char="•"/>
            </a:pPr>
            <a:r>
              <a:rPr lang="en-US" sz="1700" b="0">
                <a:solidFill>
                  <a:srgbClr val="222222"/>
                </a:solidFill>
                <a:latin typeface="Calibri" pitchFamily="34" charset="0"/>
                <a:ea typeface="Calibri" pitchFamily="34" charset="-122"/>
                <a:cs typeface="Calibri" pitchFamily="34" charset="-120"/>
              </a:rPr>
              <a:t>“… → fail” → adaptation ladder ① ② ③</a:t>
            </a:r>
            <a:endParaRPr lang="en-US" sz="1700" dirty="0"/>
          </a:p>
          <a:p>
            <a:pPr marL="152400" indent="-152400">
              <a:lnSpc>
                <a:spcPct val="105000"/>
              </a:lnSpc>
              <a:spcAft>
                <a:spcPts val="1000"/>
              </a:spcAft>
              <a:buSzPct val="100000"/>
              <a:buChar char="•"/>
            </a:pPr>
            <a:r>
              <a:rPr lang="en-US" sz="1700" b="1">
                <a:solidFill>
                  <a:srgbClr val="222222"/>
                </a:solidFill>
                <a:latin typeface="Calibri" pitchFamily="34" charset="0"/>
                <a:ea typeface="Calibri" pitchFamily="34" charset="-122"/>
                <a:cs typeface="Calibri" pitchFamily="34" charset="-120"/>
              </a:rPr>
              <a:t>Graduated fail-safe; life-safety orders never reduced</a:t>
            </a:r>
            <a:endParaRPr lang="en-US" sz="1700" dirty="0"/>
          </a:p>
        </p:txBody>
      </p:sp>
      <p:pic>
        <p:nvPicPr>
          <p:cNvPr id="7" name="Image 1" descr="/tmp/thx/deck/figs/metu_emblem.png">
            <a:extLst>
              <a:ext uri="{FF2B5EF4-FFF2-40B4-BE49-F238E27FC236}">
                <a16:creationId xmlns:a16="http://schemas.microsoft.com/office/drawing/2014/main" id="{823D7E95-BD6E-C840-B44C-0EC1059FF2DE}"/>
              </a:ext>
            </a:extLst>
          </p:cNvPr>
          <p:cNvPicPr>
            <a:picLocks noChangeAspect="1"/>
          </p:cNvPicPr>
          <p:nvPr/>
        </p:nvPicPr>
        <p:blipFill>
          <a:blip r:embed="rId4"/>
          <a:stretch>
            <a:fillRect/>
          </a:stretch>
        </p:blipFill>
        <p:spPr>
          <a:xfrm>
            <a:off x="10716768" y="184607"/>
            <a:ext cx="475488" cy="398882"/>
          </a:xfrm>
          <a:prstGeom prst="rect">
            <a:avLst/>
          </a:prstGeom>
        </p:spPr>
      </p:pic>
      <p:pic>
        <p:nvPicPr>
          <p:cNvPr id="8" name="Image 2" descr="/tmp/thx/deck/figs/eee_logo.png">
            <a:extLst>
              <a:ext uri="{FF2B5EF4-FFF2-40B4-BE49-F238E27FC236}">
                <a16:creationId xmlns:a16="http://schemas.microsoft.com/office/drawing/2014/main" id="{49A2AAF5-8E8E-1B2E-97E2-2A680CEFF123}"/>
              </a:ext>
            </a:extLst>
          </p:cNvPr>
          <p:cNvPicPr>
            <a:picLocks noChangeAspect="1"/>
          </p:cNvPicPr>
          <p:nvPr/>
        </p:nvPicPr>
        <p:blipFill>
          <a:blip r:embed="rId5"/>
          <a:stretch>
            <a:fillRect/>
          </a:stretch>
        </p:blipFill>
        <p:spPr>
          <a:xfrm>
            <a:off x="11265408" y="186217"/>
            <a:ext cx="475488" cy="395662"/>
          </a:xfrm>
          <a:prstGeom prst="rect">
            <a:avLst/>
          </a:prstGeom>
        </p:spPr>
      </p:pic>
    </p:spTree>
    <p:extLst>
      <p:ext uri="{BB962C8B-B14F-4D97-AF65-F5344CB8AC3E}">
        <p14:creationId xmlns:p14="http://schemas.microsoft.com/office/powerpoint/2010/main" val="14577878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BEECB-CF61-7C97-85C9-3253D206C36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B80E83F-0BDA-06FC-8095-31E296BE83D0}"/>
              </a:ext>
            </a:extLst>
          </p:cNvPr>
          <p:cNvSpPr/>
          <p:nvPr/>
        </p:nvSpPr>
        <p:spPr>
          <a:xfrm>
            <a:off x="502920" y="237744"/>
            <a:ext cx="100584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DSS FRAMEWORK : LAYER 4 OF 4</a:t>
            </a:r>
            <a:endParaRPr lang="en-US" sz="1300" dirty="0"/>
          </a:p>
        </p:txBody>
      </p:sp>
      <p:sp>
        <p:nvSpPr>
          <p:cNvPr id="3" name="Text 1">
            <a:extLst>
              <a:ext uri="{FF2B5EF4-FFF2-40B4-BE49-F238E27FC236}">
                <a16:creationId xmlns:a16="http://schemas.microsoft.com/office/drawing/2014/main" id="{C120DC78-15F0-ECD6-9905-D1D50D93B4BA}"/>
              </a:ext>
            </a:extLst>
          </p:cNvPr>
          <p:cNvSpPr/>
          <p:nvPr/>
        </p:nvSpPr>
        <p:spPr>
          <a:xfrm>
            <a:off x="502920" y="493776"/>
            <a:ext cx="11247120" cy="621792"/>
          </a:xfrm>
          <a:prstGeom prst="rect">
            <a:avLst/>
          </a:prstGeom>
          <a:noFill/>
          <a:ln/>
        </p:spPr>
        <p:txBody>
          <a:bodyPr wrap="square" lIns="0" tIns="0" rIns="0" bIns="0" rtlCol="0" anchor="ctr"/>
          <a:lstStyle/>
          <a:p>
            <a:pPr marL="0" indent="0">
              <a:buNone/>
            </a:pPr>
            <a:r>
              <a:rPr lang="en-US" sz="2500" b="1" dirty="0">
                <a:solidFill>
                  <a:srgbClr val="000000"/>
                </a:solidFill>
                <a:latin typeface="Cambria" pitchFamily="34" charset="0"/>
                <a:ea typeface="Cambria" pitchFamily="34" charset="-122"/>
                <a:cs typeface="Cambria" pitchFamily="34" charset="-120"/>
              </a:rPr>
              <a:t>Decision Cost</a:t>
            </a:r>
            <a:endParaRPr lang="en-US" sz="2500" dirty="0"/>
          </a:p>
        </p:txBody>
      </p:sp>
      <p:pic>
        <p:nvPicPr>
          <p:cNvPr id="4" name="Image 0" descr="/tmp/thx/deck/figs/metu_emblem.png">
            <a:extLst>
              <a:ext uri="{FF2B5EF4-FFF2-40B4-BE49-F238E27FC236}">
                <a16:creationId xmlns:a16="http://schemas.microsoft.com/office/drawing/2014/main" id="{9DBE6DD5-ECED-6625-72D0-55326C06523F}"/>
              </a:ext>
            </a:extLst>
          </p:cNvPr>
          <p:cNvPicPr>
            <a:picLocks noChangeAspect="1"/>
          </p:cNvPicPr>
          <p:nvPr/>
        </p:nvPicPr>
        <p:blipFill>
          <a:blip r:embed="rId3"/>
          <a:stretch>
            <a:fillRect/>
          </a:stretch>
        </p:blipFill>
        <p:spPr>
          <a:xfrm>
            <a:off x="10716768" y="184607"/>
            <a:ext cx="475488" cy="398882"/>
          </a:xfrm>
          <a:prstGeom prst="rect">
            <a:avLst/>
          </a:prstGeom>
        </p:spPr>
      </p:pic>
      <p:pic>
        <p:nvPicPr>
          <p:cNvPr id="5" name="Image 1" descr="/tmp/thx/deck/figs/eee_logo.png">
            <a:extLst>
              <a:ext uri="{FF2B5EF4-FFF2-40B4-BE49-F238E27FC236}">
                <a16:creationId xmlns:a16="http://schemas.microsoft.com/office/drawing/2014/main" id="{A1CE568F-D4D1-771C-A2EB-0098BA63A83F}"/>
              </a:ext>
            </a:extLst>
          </p:cNvPr>
          <p:cNvPicPr>
            <a:picLocks noChangeAspect="1"/>
          </p:cNvPicPr>
          <p:nvPr/>
        </p:nvPicPr>
        <p:blipFill>
          <a:blip r:embed="rId4"/>
          <a:stretch>
            <a:fillRect/>
          </a:stretch>
        </p:blipFill>
        <p:spPr>
          <a:xfrm>
            <a:off x="11265408" y="186217"/>
            <a:ext cx="475488" cy="395662"/>
          </a:xfrm>
          <a:prstGeom prst="rect">
            <a:avLst/>
          </a:prstGeom>
        </p:spPr>
      </p:pic>
      <mc:AlternateContent xmlns:mc="http://schemas.openxmlformats.org/markup-compatibility/2006" xmlns:a14="http://schemas.microsoft.com/office/drawing/2010/main">
        <mc:Choice Requires="a14">
          <p:sp>
            <p:nvSpPr>
              <p:cNvPr id="6" name="Text 2">
                <a:extLst>
                  <a:ext uri="{FF2B5EF4-FFF2-40B4-BE49-F238E27FC236}">
                    <a16:creationId xmlns:a16="http://schemas.microsoft.com/office/drawing/2014/main" id="{61E39827-99C9-8650-1A6C-935EDE25C68F}"/>
                  </a:ext>
                </a:extLst>
              </p:cNvPr>
              <p:cNvSpPr/>
              <p:nvPr/>
            </p:nvSpPr>
            <p:spPr>
              <a:xfrm>
                <a:off x="429768" y="3822193"/>
                <a:ext cx="5440680" cy="731520"/>
              </a:xfrm>
              <a:prstGeom prst="rect">
                <a:avLst/>
              </a:prstGeom>
              <a:noFill/>
              <a:ln/>
            </p:spPr>
            <p:txBody>
              <a:bodyPr wrap="square" lIns="0" tIns="0" rIns="0" bIns="0"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n-US" sz="1400" i="1">
                              <a:latin typeface="Cambria Math" panose="02040503050406030204" pitchFamily="18" charset="0"/>
                            </a:rPr>
                          </m:ctrlPr>
                        </m:sSubPr>
                        <m:e>
                          <m:r>
                            <a:rPr lang="en-US" sz="1400">
                              <a:latin typeface="Cambria Math"/>
                            </a:rPr>
                            <m:t>𝐽</m:t>
                          </m:r>
                        </m:e>
                        <m:sub>
                          <m:r>
                            <a:rPr lang="en-US" sz="1400">
                              <a:latin typeface="Cambria Math"/>
                            </a:rPr>
                            <m:t>𝑃h𝑦</m:t>
                          </m:r>
                        </m:sub>
                      </m:sSub>
                      <m:r>
                        <m:rPr>
                          <m:aln/>
                        </m:rPr>
                        <a:rPr lang="en-US" sz="1400">
                          <a:latin typeface="Cambria Math"/>
                        </a:rPr>
                        <m:t>=</m:t>
                      </m:r>
                      <m:f>
                        <m:fPr>
                          <m:ctrlPr>
                            <a:rPr lang="en-US" sz="1400" i="1">
                              <a:latin typeface="Cambria Math" panose="02040503050406030204" pitchFamily="18" charset="0"/>
                            </a:rPr>
                          </m:ctrlPr>
                        </m:fPr>
                        <m:num>
                          <m:nary>
                            <m:naryPr>
                              <m:chr m:val="∑"/>
                              <m:limLoc m:val="undOvr"/>
                              <m:ctrlPr>
                                <a:rPr lang="en-US" sz="1400" i="1">
                                  <a:latin typeface="Cambria Math" panose="02040503050406030204" pitchFamily="18" charset="0"/>
                                </a:rPr>
                              </m:ctrlPr>
                            </m:naryPr>
                            <m:sub>
                              <m:r>
                                <a:rPr lang="en-US" sz="1400">
                                  <a:latin typeface="Cambria Math"/>
                                </a:rPr>
                                <m:t>𝑗</m:t>
                              </m:r>
                            </m:sub>
                            <m:sup/>
                            <m:e>
                              <m:sSub>
                                <m:sSubPr>
                                  <m:ctrlPr>
                                    <a:rPr lang="en-US" sz="1400" i="1">
                                      <a:latin typeface="Cambria Math" panose="02040503050406030204" pitchFamily="18" charset="0"/>
                                    </a:rPr>
                                  </m:ctrlPr>
                                </m:sSubPr>
                                <m:e>
                                  <m:r>
                                    <a:rPr lang="en-US" sz="1400">
                                      <a:latin typeface="Cambria Math"/>
                                    </a:rPr>
                                    <m:t>𝑤</m:t>
                                  </m:r>
                                </m:e>
                                <m:sub>
                                  <m:r>
                                    <a:rPr lang="en-US" sz="1400">
                                      <a:latin typeface="Cambria Math"/>
                                    </a:rPr>
                                    <m:t>𝑗</m:t>
                                  </m:r>
                                </m:sub>
                              </m:sSub>
                              <m:sSub>
                                <m:sSubPr>
                                  <m:ctrlPr>
                                    <a:rPr lang="en-US" sz="1400" i="1">
                                      <a:latin typeface="Cambria Math" panose="02040503050406030204" pitchFamily="18" charset="0"/>
                                    </a:rPr>
                                  </m:ctrlPr>
                                </m:sSubPr>
                                <m:e>
                                  <m:r>
                                    <a:rPr lang="en-US" sz="1400">
                                      <a:latin typeface="Cambria Math"/>
                                    </a:rPr>
                                    <m:t>𝐽</m:t>
                                  </m:r>
                                </m:e>
                                <m:sub>
                                  <m:r>
                                    <a:rPr lang="en-US" sz="1400">
                                      <a:latin typeface="Cambria Math"/>
                                    </a:rPr>
                                    <m:t>𝑗</m:t>
                                  </m:r>
                                </m:sub>
                              </m:sSub>
                            </m:e>
                          </m:nary>
                        </m:num>
                        <m:den>
                          <m:nary>
                            <m:naryPr>
                              <m:chr m:val="∑"/>
                              <m:limLoc m:val="undOvr"/>
                              <m:ctrlPr>
                                <a:rPr lang="en-US" sz="1400" i="1">
                                  <a:latin typeface="Cambria Math" panose="02040503050406030204" pitchFamily="18" charset="0"/>
                                </a:rPr>
                              </m:ctrlPr>
                            </m:naryPr>
                            <m:sub>
                              <m:r>
                                <a:rPr lang="en-US" sz="1400">
                                  <a:latin typeface="Cambria Math"/>
                                </a:rPr>
                                <m:t>𝑗</m:t>
                              </m:r>
                            </m:sub>
                            <m:sup/>
                            <m:e>
                              <m:sSub>
                                <m:sSubPr>
                                  <m:ctrlPr>
                                    <a:rPr lang="en-US" sz="1400" i="1">
                                      <a:latin typeface="Cambria Math" panose="02040503050406030204" pitchFamily="18" charset="0"/>
                                    </a:rPr>
                                  </m:ctrlPr>
                                </m:sSubPr>
                                <m:e>
                                  <m:r>
                                    <a:rPr lang="en-US" sz="1400">
                                      <a:latin typeface="Cambria Math"/>
                                    </a:rPr>
                                    <m:t>𝑤</m:t>
                                  </m:r>
                                </m:e>
                                <m:sub>
                                  <m:r>
                                    <a:rPr lang="en-US" sz="1400">
                                      <a:latin typeface="Cambria Math"/>
                                    </a:rPr>
                                    <m:t>𝑗</m:t>
                                  </m:r>
                                </m:sub>
                              </m:sSub>
                            </m:e>
                          </m:nary>
                        </m:den>
                      </m:f>
                      <m:r>
                        <a:rPr lang="en-US" sz="1400">
                          <a:latin typeface="Cambria Math"/>
                        </a:rPr>
                        <m:t>,  </m:t>
                      </m:r>
                      <m:r>
                        <a:rPr lang="en-US" sz="1400">
                          <a:latin typeface="Cambria Math"/>
                        </a:rPr>
                        <m:t>𝑗</m:t>
                      </m:r>
                      <m:r>
                        <a:rPr lang="en-US" sz="1400">
                          <a:latin typeface="Cambria Math"/>
                        </a:rPr>
                        <m:t>∈</m:t>
                      </m:r>
                      <m:d>
                        <m:dPr>
                          <m:begChr m:val="{"/>
                          <m:endChr m:val="}"/>
                          <m:ctrlPr>
                            <a:rPr lang="en-US" sz="1400" i="1">
                              <a:latin typeface="Cambria Math" panose="02040503050406030204" pitchFamily="18" charset="0"/>
                            </a:rPr>
                          </m:ctrlPr>
                        </m:dPr>
                        <m:e>
                          <m:r>
                            <a:rPr lang="en-US" sz="1400">
                              <a:latin typeface="Cambria Math"/>
                            </a:rPr>
                            <m:t>𝑏𝑢𝑟𝑛</m:t>
                          </m:r>
                          <m:r>
                            <a:rPr lang="en-US" sz="1400">
                              <a:latin typeface="Cambria Math"/>
                            </a:rPr>
                            <m:t>, </m:t>
                          </m:r>
                          <m:r>
                            <a:rPr lang="en-US" sz="1400">
                              <a:latin typeface="Cambria Math"/>
                            </a:rPr>
                            <m:t>𝑎𝑠𝑠𝑒𝑡</m:t>
                          </m:r>
                          <m:r>
                            <a:rPr lang="en-US" sz="1400">
                              <a:latin typeface="Cambria Math"/>
                            </a:rPr>
                            <m:t>, </m:t>
                          </m:r>
                          <m:r>
                            <a:rPr lang="en-US" sz="1400">
                              <a:latin typeface="Cambria Math"/>
                            </a:rPr>
                            <m:t>𝑝𝑜𝑝</m:t>
                          </m:r>
                        </m:e>
                      </m:d>
                    </m:oMath>
                  </m:oMathPara>
                </a14:m>
                <a:endParaRPr lang="en-US" sz="1300" dirty="0"/>
              </a:p>
            </p:txBody>
          </p:sp>
        </mc:Choice>
        <mc:Fallback xmlns="">
          <p:sp>
            <p:nvSpPr>
              <p:cNvPr id="6" name="Text 2">
                <a:extLst>
                  <a:ext uri="{FF2B5EF4-FFF2-40B4-BE49-F238E27FC236}">
                    <a16:creationId xmlns:a16="http://schemas.microsoft.com/office/drawing/2014/main" id="{61E39827-99C9-8650-1A6C-935EDE25C68F}"/>
                  </a:ext>
                </a:extLst>
              </p:cNvPr>
              <p:cNvSpPr>
                <a:spLocks noRot="1" noChangeAspect="1" noMove="1" noResize="1" noEditPoints="1" noAdjustHandles="1" noChangeArrowheads="1" noChangeShapeType="1" noTextEdit="1"/>
              </p:cNvSpPr>
              <p:nvPr/>
            </p:nvSpPr>
            <p:spPr>
              <a:xfrm>
                <a:off x="429768" y="3822193"/>
                <a:ext cx="5440680" cy="731520"/>
              </a:xfrm>
              <a:prstGeom prst="rect">
                <a:avLst/>
              </a:prstGeom>
              <a:blipFill>
                <a:blip r:embed="rId5"/>
                <a:stretch>
                  <a:fillRect/>
                </a:stretch>
              </a:blipFill>
              <a:ln/>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7" name="Text 3">
                <a:extLst>
                  <a:ext uri="{FF2B5EF4-FFF2-40B4-BE49-F238E27FC236}">
                    <a16:creationId xmlns:a16="http://schemas.microsoft.com/office/drawing/2014/main" id="{FF0E311C-2458-3D07-5A84-CE36D72028D6}"/>
                  </a:ext>
                </a:extLst>
              </p:cNvPr>
              <p:cNvSpPr/>
              <p:nvPr/>
            </p:nvSpPr>
            <p:spPr>
              <a:xfrm>
                <a:off x="429768" y="1719072"/>
                <a:ext cx="5440680" cy="731520"/>
              </a:xfrm>
              <a:prstGeom prst="rect">
                <a:avLst/>
              </a:prstGeom>
              <a:noFill/>
              <a:ln/>
            </p:spPr>
            <p:txBody>
              <a:bodyPr wrap="square" lIns="0" tIns="0" rIns="0" bIns="0"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n-US" sz="1400" i="1">
                              <a:latin typeface="Cambria Math" panose="02040503050406030204" pitchFamily="18" charset="0"/>
                            </a:rPr>
                          </m:ctrlPr>
                        </m:sSubPr>
                        <m:e>
                          <m:r>
                            <a:rPr lang="en-US" sz="1400">
                              <a:latin typeface="Cambria Math"/>
                            </a:rPr>
                            <m:t>𝐽</m:t>
                          </m:r>
                        </m:e>
                        <m:sub>
                          <m:r>
                            <a:rPr lang="en-US" sz="1400">
                              <a:latin typeface="Cambria Math"/>
                            </a:rPr>
                            <m:t>𝑇𝑜𝑡</m:t>
                          </m:r>
                        </m:sub>
                      </m:sSub>
                      <m:r>
                        <m:rPr>
                          <m:aln/>
                        </m:rPr>
                        <a:rPr lang="en-US" sz="1400">
                          <a:latin typeface="Cambria Math"/>
                        </a:rPr>
                        <m:t>=</m:t>
                      </m:r>
                      <m:r>
                        <a:rPr lang="en-US" sz="1400">
                          <a:latin typeface="Cambria Math"/>
                        </a:rPr>
                        <m:t> </m:t>
                      </m:r>
                      <m:f>
                        <m:fPr>
                          <m:ctrlPr>
                            <a:rPr lang="en-US" sz="1400" i="1">
                              <a:latin typeface="Cambria Math" panose="02040503050406030204" pitchFamily="18" charset="0"/>
                            </a:rPr>
                          </m:ctrlPr>
                        </m:fPr>
                        <m:num>
                          <m:nary>
                            <m:naryPr>
                              <m:chr m:val="∑"/>
                              <m:limLoc m:val="undOvr"/>
                              <m:ctrlPr>
                                <a:rPr lang="en-US" sz="1400" i="1">
                                  <a:latin typeface="Cambria Math" panose="02040503050406030204" pitchFamily="18" charset="0"/>
                                </a:rPr>
                              </m:ctrlPr>
                            </m:naryPr>
                            <m:sub>
                              <m:r>
                                <a:rPr lang="en-US" sz="1400">
                                  <a:latin typeface="Cambria Math"/>
                                </a:rPr>
                                <m:t>𝑗</m:t>
                              </m:r>
                            </m:sub>
                            <m:sup/>
                            <m:e>
                              <m:sSub>
                                <m:sSubPr>
                                  <m:ctrlPr>
                                    <a:rPr lang="en-US" sz="1400" i="1">
                                      <a:latin typeface="Cambria Math" panose="02040503050406030204" pitchFamily="18" charset="0"/>
                                    </a:rPr>
                                  </m:ctrlPr>
                                </m:sSubPr>
                                <m:e>
                                  <m:r>
                                    <a:rPr lang="en-US" sz="1400">
                                      <a:latin typeface="Cambria Math"/>
                                    </a:rPr>
                                    <m:t>𝑤</m:t>
                                  </m:r>
                                </m:e>
                                <m:sub>
                                  <m:r>
                                    <a:rPr lang="en-US" sz="1400">
                                      <a:latin typeface="Cambria Math"/>
                                    </a:rPr>
                                    <m:t>𝑗</m:t>
                                  </m:r>
                                </m:sub>
                              </m:sSub>
                              <m:sSub>
                                <m:sSubPr>
                                  <m:ctrlPr>
                                    <a:rPr lang="en-US" sz="1400" i="1">
                                      <a:latin typeface="Cambria Math" panose="02040503050406030204" pitchFamily="18" charset="0"/>
                                    </a:rPr>
                                  </m:ctrlPr>
                                </m:sSubPr>
                                <m:e>
                                  <m:r>
                                    <a:rPr lang="en-US" sz="1400">
                                      <a:latin typeface="Cambria Math"/>
                                    </a:rPr>
                                    <m:t>𝐽</m:t>
                                  </m:r>
                                </m:e>
                                <m:sub>
                                  <m:r>
                                    <a:rPr lang="en-US" sz="1400">
                                      <a:latin typeface="Cambria Math"/>
                                    </a:rPr>
                                    <m:t>𝑗</m:t>
                                  </m:r>
                                </m:sub>
                              </m:sSub>
                            </m:e>
                          </m:nary>
                        </m:num>
                        <m:den>
                          <m:nary>
                            <m:naryPr>
                              <m:chr m:val="∑"/>
                              <m:limLoc m:val="undOvr"/>
                              <m:ctrlPr>
                                <a:rPr lang="en-US" sz="1400" i="1">
                                  <a:latin typeface="Cambria Math" panose="02040503050406030204" pitchFamily="18" charset="0"/>
                                </a:rPr>
                              </m:ctrlPr>
                            </m:naryPr>
                            <m:sub>
                              <m:r>
                                <a:rPr lang="en-US" sz="1400">
                                  <a:latin typeface="Cambria Math"/>
                                </a:rPr>
                                <m:t>𝑗</m:t>
                              </m:r>
                            </m:sub>
                            <m:sup/>
                            <m:e>
                              <m:sSub>
                                <m:sSubPr>
                                  <m:ctrlPr>
                                    <a:rPr lang="en-US" sz="1400" i="1">
                                      <a:latin typeface="Cambria Math" panose="02040503050406030204" pitchFamily="18" charset="0"/>
                                    </a:rPr>
                                  </m:ctrlPr>
                                </m:sSubPr>
                                <m:e>
                                  <m:r>
                                    <a:rPr lang="en-US" sz="1400">
                                      <a:latin typeface="Cambria Math"/>
                                    </a:rPr>
                                    <m:t>𝑤</m:t>
                                  </m:r>
                                </m:e>
                                <m:sub>
                                  <m:r>
                                    <a:rPr lang="en-US" sz="1400">
                                      <a:latin typeface="Cambria Math"/>
                                    </a:rPr>
                                    <m:t>𝑗</m:t>
                                  </m:r>
                                </m:sub>
                              </m:sSub>
                            </m:e>
                          </m:nary>
                        </m:den>
                      </m:f>
                      <m:r>
                        <a:rPr lang="en-US" sz="1400">
                          <a:latin typeface="Cambria Math"/>
                        </a:rPr>
                        <m:t>,  </m:t>
                      </m:r>
                      <m:r>
                        <a:rPr lang="en-US" sz="1400">
                          <a:latin typeface="Cambria Math"/>
                        </a:rPr>
                        <m:t>𝑗</m:t>
                      </m:r>
                      <m:r>
                        <a:rPr lang="en-US" sz="1400">
                          <a:latin typeface="Cambria Math"/>
                        </a:rPr>
                        <m:t>∈</m:t>
                      </m:r>
                      <m:d>
                        <m:dPr>
                          <m:begChr m:val="{"/>
                          <m:endChr m:val="}"/>
                          <m:ctrlPr>
                            <a:rPr lang="en-US" sz="1400" i="1">
                              <a:latin typeface="Cambria Math" panose="02040503050406030204" pitchFamily="18" charset="0"/>
                            </a:rPr>
                          </m:ctrlPr>
                        </m:dPr>
                        <m:e>
                          <m:r>
                            <a:rPr lang="en-US" sz="1400">
                              <a:latin typeface="Cambria Math"/>
                            </a:rPr>
                            <m:t>𝑏𝑢𝑟𝑛</m:t>
                          </m:r>
                          <m:r>
                            <a:rPr lang="en-US" sz="1400">
                              <a:latin typeface="Cambria Math"/>
                            </a:rPr>
                            <m:t>, </m:t>
                          </m:r>
                          <m:r>
                            <a:rPr lang="en-US" sz="1400">
                              <a:latin typeface="Cambria Math"/>
                            </a:rPr>
                            <m:t>𝑎𝑠𝑠𝑒𝑡</m:t>
                          </m:r>
                          <m:r>
                            <a:rPr lang="en-US" sz="1400">
                              <a:latin typeface="Cambria Math"/>
                            </a:rPr>
                            <m:t>, </m:t>
                          </m:r>
                          <m:r>
                            <a:rPr lang="en-US" sz="1400">
                              <a:latin typeface="Cambria Math"/>
                            </a:rPr>
                            <m:t>𝑝𝑜𝑝</m:t>
                          </m:r>
                          <m:r>
                            <a:rPr lang="en-US" sz="1400">
                              <a:latin typeface="Cambria Math"/>
                            </a:rPr>
                            <m:t>, </m:t>
                          </m:r>
                          <m:r>
                            <a:rPr lang="en-US" sz="1400">
                              <a:latin typeface="Cambria Math"/>
                            </a:rPr>
                            <m:t>𝑟𝑒𝑠𝑝</m:t>
                          </m:r>
                          <m:r>
                            <a:rPr lang="en-US" sz="1400">
                              <a:latin typeface="Cambria Math"/>
                            </a:rPr>
                            <m:t>, </m:t>
                          </m:r>
                          <m:r>
                            <a:rPr lang="en-US" sz="1400">
                              <a:latin typeface="Cambria Math"/>
                            </a:rPr>
                            <m:t>𝑑𝑒𝑙𝑎𝑦</m:t>
                          </m:r>
                        </m:e>
                      </m:d>
                    </m:oMath>
                  </m:oMathPara>
                </a14:m>
                <a:endParaRPr lang="en-US" sz="1300" dirty="0"/>
              </a:p>
            </p:txBody>
          </p:sp>
        </mc:Choice>
        <mc:Fallback xmlns="">
          <p:sp>
            <p:nvSpPr>
              <p:cNvPr id="7" name="Text 3">
                <a:extLst>
                  <a:ext uri="{FF2B5EF4-FFF2-40B4-BE49-F238E27FC236}">
                    <a16:creationId xmlns:a16="http://schemas.microsoft.com/office/drawing/2014/main" id="{FF0E311C-2458-3D07-5A84-CE36D72028D6}"/>
                  </a:ext>
                </a:extLst>
              </p:cNvPr>
              <p:cNvSpPr>
                <a:spLocks noRot="1" noChangeAspect="1" noMove="1" noResize="1" noEditPoints="1" noAdjustHandles="1" noChangeArrowheads="1" noChangeShapeType="1" noTextEdit="1"/>
              </p:cNvSpPr>
              <p:nvPr/>
            </p:nvSpPr>
            <p:spPr>
              <a:xfrm>
                <a:off x="429768" y="1719072"/>
                <a:ext cx="5440680" cy="731520"/>
              </a:xfrm>
              <a:prstGeom prst="rect">
                <a:avLst/>
              </a:prstGeom>
              <a:blipFill>
                <a:blip r:embed="rId6"/>
                <a:stretch>
                  <a:fillRect/>
                </a:stretch>
              </a:blipFill>
              <a:ln/>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8" name="Text 4">
                <a:extLst>
                  <a:ext uri="{FF2B5EF4-FFF2-40B4-BE49-F238E27FC236}">
                    <a16:creationId xmlns:a16="http://schemas.microsoft.com/office/drawing/2014/main" id="{EFF88AF0-0BFD-3ABE-1D29-738E8EBC475F}"/>
                  </a:ext>
                </a:extLst>
              </p:cNvPr>
              <p:cNvSpPr/>
              <p:nvPr/>
            </p:nvSpPr>
            <p:spPr>
              <a:xfrm>
                <a:off x="502920" y="1444752"/>
                <a:ext cx="5440680" cy="274320"/>
              </a:xfrm>
              <a:prstGeom prst="rect">
                <a:avLst/>
              </a:prstGeom>
              <a:noFill/>
              <a:ln/>
            </p:spPr>
            <p:txBody>
              <a:bodyPr wrap="square" lIns="0" tIns="0" rIns="0" bIns="0" rtlCol="0" anchor="ctr"/>
              <a:lstStyle/>
              <a:p>
                <a:pPr marL="0" indent="0">
                  <a:buNone/>
                </a:pPr>
                <a14:m>
                  <m:oMath xmlns:m="http://schemas.openxmlformats.org/officeDocument/2006/math">
                    <m:sSub>
                      <m:sSubPr>
                        <m:ctrlPr>
                          <a:rPr lang="en-US" sz="1400" i="1">
                            <a:latin typeface="Cambria Math" panose="02040503050406030204" pitchFamily="18" charset="0"/>
                          </a:rPr>
                        </m:ctrlPr>
                      </m:sSubPr>
                      <m:e>
                        <m:r>
                          <a:rPr lang="en-US" sz="1400">
                            <a:latin typeface="Cambria Math"/>
                          </a:rPr>
                          <m:t>𝐽</m:t>
                        </m:r>
                      </m:e>
                      <m:sub>
                        <m:r>
                          <a:rPr lang="en-US" sz="1400">
                            <a:latin typeface="Cambria Math"/>
                          </a:rPr>
                          <m:t>𝑇𝑜𝑡</m:t>
                        </m:r>
                      </m:sub>
                    </m:sSub>
                  </m:oMath>
                </a14:m>
                <a:r>
                  <a:rPr lang="en-US" sz="1400" b="1" dirty="0">
                    <a:solidFill>
                      <a:srgbClr val="E31836"/>
                    </a:solidFill>
                    <a:latin typeface="Calibri" pitchFamily="34" charset="0"/>
                    <a:ea typeface="Calibri" pitchFamily="34" charset="-122"/>
                    <a:cs typeface="Calibri" pitchFamily="34" charset="-120"/>
                  </a:rPr>
                  <a:t> — used by the acceptance test</a:t>
                </a:r>
                <a:endParaRPr lang="en-US" sz="1400" dirty="0"/>
              </a:p>
            </p:txBody>
          </p:sp>
        </mc:Choice>
        <mc:Fallback xmlns="">
          <p:sp>
            <p:nvSpPr>
              <p:cNvPr id="8" name="Text 4">
                <a:extLst>
                  <a:ext uri="{FF2B5EF4-FFF2-40B4-BE49-F238E27FC236}">
                    <a16:creationId xmlns:a16="http://schemas.microsoft.com/office/drawing/2014/main" id="{EFF88AF0-0BFD-3ABE-1D29-738E8EBC475F}"/>
                  </a:ext>
                </a:extLst>
              </p:cNvPr>
              <p:cNvSpPr>
                <a:spLocks noRot="1" noChangeAspect="1" noMove="1" noResize="1" noEditPoints="1" noAdjustHandles="1" noChangeArrowheads="1" noChangeShapeType="1" noTextEdit="1"/>
              </p:cNvSpPr>
              <p:nvPr/>
            </p:nvSpPr>
            <p:spPr>
              <a:xfrm>
                <a:off x="502920" y="1444752"/>
                <a:ext cx="5440680" cy="274320"/>
              </a:xfrm>
              <a:prstGeom prst="rect">
                <a:avLst/>
              </a:prstGeom>
              <a:blipFill>
                <a:blip r:embed="rId7"/>
                <a:stretch>
                  <a:fillRect l="-1457" t="-8889" b="-28889"/>
                </a:stretch>
              </a:blipFill>
              <a:ln/>
            </p:spPr>
            <p:txBody>
              <a:bodyPr/>
              <a:lstStyle/>
              <a:p>
                <a:r>
                  <a:rPr lang="tr-TR">
                    <a:noFill/>
                  </a:rPr>
                  <a:t> </a:t>
                </a:r>
              </a:p>
            </p:txBody>
          </p:sp>
        </mc:Fallback>
      </mc:AlternateContent>
      <p:sp>
        <p:nvSpPr>
          <p:cNvPr id="9" name="Text 5">
            <a:extLst>
              <a:ext uri="{FF2B5EF4-FFF2-40B4-BE49-F238E27FC236}">
                <a16:creationId xmlns:a16="http://schemas.microsoft.com/office/drawing/2014/main" id="{55A6E9ED-C03E-A15B-F3F6-5907F41D67F7}"/>
              </a:ext>
            </a:extLst>
          </p:cNvPr>
          <p:cNvSpPr/>
          <p:nvPr/>
        </p:nvSpPr>
        <p:spPr>
          <a:xfrm>
            <a:off x="502920" y="2505456"/>
            <a:ext cx="5440680" cy="603504"/>
          </a:xfrm>
          <a:prstGeom prst="rect">
            <a:avLst/>
          </a:prstGeom>
          <a:noFill/>
          <a:ln/>
        </p:spPr>
        <p:txBody>
          <a:bodyPr wrap="square" lIns="0" tIns="0" rIns="0" bIns="0" rtlCol="0" anchor="t"/>
          <a:lstStyle/>
          <a:p>
            <a:pPr marL="152400" indent="-152400">
              <a:lnSpc>
                <a:spcPct val="102000"/>
              </a:lnSpc>
              <a:spcAft>
                <a:spcPts val="250"/>
              </a:spcAft>
              <a:buSzPct val="100000"/>
              <a:buChar char="•"/>
            </a:pPr>
            <a:r>
              <a:rPr lang="en-US" sz="1500" b="0" i="0">
                <a:solidFill>
                  <a:srgbClr val="222222"/>
                </a:solidFill>
                <a:latin typeface="Calibri" pitchFamily="34" charset="0"/>
                <a:ea typeface="Calibri" pitchFamily="34" charset="-122"/>
                <a:cs typeface="Calibri" pitchFamily="34" charset="-120"/>
              </a:rPr>
              <a:t>all five terms: physical losses + effort + delay</a:t>
            </a:r>
            <a:endParaRPr lang="en-US" sz="1500" dirty="0"/>
          </a:p>
          <a:p>
            <a:pPr marL="152400" indent="-152400">
              <a:lnSpc>
                <a:spcPct val="102000"/>
              </a:lnSpc>
              <a:spcAft>
                <a:spcPts val="0"/>
              </a:spcAft>
              <a:buSzPct val="100000"/>
              <a:buChar char="•"/>
            </a:pPr>
            <a:r>
              <a:rPr lang="en-US" sz="1500" b="0" i="0">
                <a:solidFill>
                  <a:srgbClr val="222222"/>
                </a:solidFill>
                <a:latin typeface="Calibri" pitchFamily="34" charset="0"/>
                <a:ea typeface="Calibri" pitchFamily="34" charset="-122"/>
                <a:cs typeface="Calibri" pitchFamily="34" charset="-120"/>
              </a:rPr>
              <a:t>effort is priced → “max action everywhere” is never free</a:t>
            </a:r>
          </a:p>
        </p:txBody>
      </p:sp>
      <mc:AlternateContent xmlns:mc="http://schemas.openxmlformats.org/markup-compatibility/2006" xmlns:a14="http://schemas.microsoft.com/office/drawing/2010/main">
        <mc:Choice Requires="a14">
          <p:sp>
            <p:nvSpPr>
              <p:cNvPr id="10" name="Text 6">
                <a:extLst>
                  <a:ext uri="{FF2B5EF4-FFF2-40B4-BE49-F238E27FC236}">
                    <a16:creationId xmlns:a16="http://schemas.microsoft.com/office/drawing/2014/main" id="{6129862E-4AF4-DBC7-3BD5-89F51E3484A9}"/>
                  </a:ext>
                </a:extLst>
              </p:cNvPr>
              <p:cNvSpPr/>
              <p:nvPr/>
            </p:nvSpPr>
            <p:spPr>
              <a:xfrm>
                <a:off x="502920" y="3547873"/>
                <a:ext cx="5440680" cy="274320"/>
              </a:xfrm>
              <a:prstGeom prst="rect">
                <a:avLst/>
              </a:prstGeom>
              <a:noFill/>
              <a:ln/>
            </p:spPr>
            <p:txBody>
              <a:bodyPr wrap="square" lIns="0" tIns="0" rIns="0" bIns="0" rtlCol="0" anchor="ctr"/>
              <a:lstStyle/>
              <a:p>
                <a:pPr marL="0" indent="0">
                  <a:buNone/>
                </a:pPr>
                <a14:m>
                  <m:oMath xmlns:m="http://schemas.openxmlformats.org/officeDocument/2006/math">
                    <m:sSub>
                      <m:sSubPr>
                        <m:ctrlPr>
                          <a:rPr lang="en-US" sz="1400" i="1">
                            <a:latin typeface="Cambria Math" panose="02040503050406030204" pitchFamily="18" charset="0"/>
                          </a:rPr>
                        </m:ctrlPr>
                      </m:sSubPr>
                      <m:e>
                        <m:r>
                          <a:rPr lang="en-US" sz="1400">
                            <a:latin typeface="Cambria Math"/>
                          </a:rPr>
                          <m:t>𝐽</m:t>
                        </m:r>
                      </m:e>
                      <m:sub>
                        <m:r>
                          <a:rPr lang="en-US" sz="1400">
                            <a:latin typeface="Cambria Math"/>
                          </a:rPr>
                          <m:t>𝑃h𝑦</m:t>
                        </m:r>
                      </m:sub>
                    </m:sSub>
                  </m:oMath>
                </a14:m>
                <a:r>
                  <a:rPr lang="en-US" sz="1400" b="1" dirty="0">
                    <a:solidFill>
                      <a:srgbClr val="E31836"/>
                    </a:solidFill>
                    <a:latin typeface="Calibri" pitchFamily="34" charset="0"/>
                    <a:ea typeface="Calibri" pitchFamily="34" charset="-122"/>
                    <a:cs typeface="Calibri" pitchFamily="34" charset="-120"/>
                  </a:rPr>
                  <a:t> — used by every trial, gate, and the no-harm veto</a:t>
                </a:r>
                <a:endParaRPr lang="en-US" sz="1400" dirty="0"/>
              </a:p>
            </p:txBody>
          </p:sp>
        </mc:Choice>
        <mc:Fallback xmlns="">
          <p:sp>
            <p:nvSpPr>
              <p:cNvPr id="10" name="Text 6">
                <a:extLst>
                  <a:ext uri="{FF2B5EF4-FFF2-40B4-BE49-F238E27FC236}">
                    <a16:creationId xmlns:a16="http://schemas.microsoft.com/office/drawing/2014/main" id="{6129862E-4AF4-DBC7-3BD5-89F51E3484A9}"/>
                  </a:ext>
                </a:extLst>
              </p:cNvPr>
              <p:cNvSpPr>
                <a:spLocks noRot="1" noChangeAspect="1" noMove="1" noResize="1" noEditPoints="1" noAdjustHandles="1" noChangeArrowheads="1" noChangeShapeType="1" noTextEdit="1"/>
              </p:cNvSpPr>
              <p:nvPr/>
            </p:nvSpPr>
            <p:spPr>
              <a:xfrm>
                <a:off x="502920" y="3547873"/>
                <a:ext cx="5440680" cy="274320"/>
              </a:xfrm>
              <a:prstGeom prst="rect">
                <a:avLst/>
              </a:prstGeom>
              <a:blipFill>
                <a:blip r:embed="rId8"/>
                <a:stretch>
                  <a:fillRect l="-1457" t="-11111" b="-28889"/>
                </a:stretch>
              </a:blipFill>
              <a:ln/>
            </p:spPr>
            <p:txBody>
              <a:bodyPr/>
              <a:lstStyle/>
              <a:p>
                <a:r>
                  <a:rPr lang="tr-TR">
                    <a:noFill/>
                  </a:rPr>
                  <a:t> </a:t>
                </a:r>
              </a:p>
            </p:txBody>
          </p:sp>
        </mc:Fallback>
      </mc:AlternateContent>
      <p:sp>
        <p:nvSpPr>
          <p:cNvPr id="11" name="Text 7">
            <a:extLst>
              <a:ext uri="{FF2B5EF4-FFF2-40B4-BE49-F238E27FC236}">
                <a16:creationId xmlns:a16="http://schemas.microsoft.com/office/drawing/2014/main" id="{29344A37-AC4C-766F-088A-8D26B68BCBCE}"/>
              </a:ext>
            </a:extLst>
          </p:cNvPr>
          <p:cNvSpPr/>
          <p:nvPr/>
        </p:nvSpPr>
        <p:spPr>
          <a:xfrm>
            <a:off x="502920" y="4608577"/>
            <a:ext cx="5440680" cy="1235142"/>
          </a:xfrm>
          <a:prstGeom prst="rect">
            <a:avLst/>
          </a:prstGeom>
          <a:noFill/>
          <a:ln/>
        </p:spPr>
        <p:txBody>
          <a:bodyPr wrap="square" lIns="0" tIns="0" rIns="0" bIns="0" rtlCol="0" anchor="t"/>
          <a:lstStyle/>
          <a:p>
            <a:pPr marL="152400" indent="-152400">
              <a:lnSpc>
                <a:spcPct val="102000"/>
              </a:lnSpc>
              <a:spcAft>
                <a:spcPts val="250"/>
              </a:spcAft>
              <a:buSzPct val="100000"/>
              <a:buChar char="•"/>
            </a:pPr>
            <a:r>
              <a:rPr lang="en-US" sz="1500" b="0" i="0">
                <a:solidFill>
                  <a:srgbClr val="222222"/>
                </a:solidFill>
                <a:latin typeface="Calibri" pitchFamily="34" charset="0"/>
                <a:ea typeface="Calibri" pitchFamily="34" charset="-122"/>
                <a:cs typeface="Calibri" pitchFamily="34" charset="-120"/>
              </a:rPr>
              <a:t>physics only: burned area, asset loss, population</a:t>
            </a:r>
            <a:endParaRPr lang="en-US" sz="1500" dirty="0"/>
          </a:p>
          <a:p>
            <a:pPr marL="152400" indent="-152400">
              <a:lnSpc>
                <a:spcPct val="102000"/>
              </a:lnSpc>
              <a:spcAft>
                <a:spcPts val="0"/>
              </a:spcAft>
              <a:buSzPct val="100000"/>
              <a:buChar char="•"/>
            </a:pPr>
            <a:r>
              <a:rPr lang="en-US" sz="1500"/>
              <a:t>trials: no “order less, look better” loophole</a:t>
            </a:r>
          </a:p>
          <a:p>
            <a:pPr marL="152400" indent="-152400">
              <a:lnSpc>
                <a:spcPct val="102000"/>
              </a:lnSpc>
              <a:spcAft>
                <a:spcPts val="0"/>
              </a:spcAft>
              <a:buSzPct val="100000"/>
              <a:buChar char="•"/>
            </a:pPr>
            <a:r>
              <a:rPr lang="en-US" sz="1500"/>
              <a:t>no-harm veto: is acting better than doing nothing?</a:t>
            </a:r>
          </a:p>
        </p:txBody>
      </p:sp>
      <p:sp>
        <p:nvSpPr>
          <p:cNvPr id="7001" name="Head L">
            <a:extLst>
              <a:ext uri="{FF2B5EF4-FFF2-40B4-BE49-F238E27FC236}">
                <a16:creationId xmlns:a16="http://schemas.microsoft.com/office/drawing/2014/main" id="{115CCA57-6529-E488-8427-7534B8F8EC8B}"/>
              </a:ext>
            </a:extLst>
          </p:cNvPr>
          <p:cNvSpPr/>
          <p:nvPr/>
        </p:nvSpPr>
        <p:spPr>
          <a:xfrm>
            <a:off x="502920" y="1115568"/>
            <a:ext cx="5440680" cy="256032"/>
          </a:xfrm>
          <a:prstGeom prst="rect">
            <a:avLst/>
          </a:prstGeom>
          <a:noFill/>
          <a:ln/>
        </p:spPr>
        <p:txBody>
          <a:bodyPr wrap="square" lIns="0" tIns="0" rIns="0" bIns="0" rtlCol="0" anchor="t"/>
          <a:lstStyle/>
          <a:p>
            <a:pPr marL="0" indent="0">
              <a:lnSpc>
                <a:spcPct val="102000"/>
              </a:lnSpc>
              <a:spcAft>
                <a:spcPts val="0"/>
              </a:spcAft>
              <a:buNone/>
            </a:pPr>
            <a:r>
              <a:rPr lang="en-US" sz="1400" b="1" i="0" dirty="0">
                <a:solidFill>
                  <a:srgbClr val="E31836"/>
                </a:solidFill>
                <a:latin typeface="Calibri" pitchFamily="34" charset="0"/>
                <a:ea typeface="Calibri" pitchFamily="34" charset="-122"/>
                <a:cs typeface="Calibri" pitchFamily="34" charset="-120"/>
              </a:rPr>
              <a:t>ONE COST, TWO READINGS</a:t>
            </a:r>
            <a:endParaRPr lang="en-US" sz="1400" dirty="0"/>
          </a:p>
        </p:txBody>
      </p:sp>
      <p:sp>
        <p:nvSpPr>
          <p:cNvPr id="15" name="Text 4">
            <a:extLst>
              <a:ext uri="{FF2B5EF4-FFF2-40B4-BE49-F238E27FC236}">
                <a16:creationId xmlns:a16="http://schemas.microsoft.com/office/drawing/2014/main" id="{D26724AF-7B8D-9A67-D483-8F9F79E1D66E}"/>
              </a:ext>
            </a:extLst>
          </p:cNvPr>
          <p:cNvSpPr/>
          <p:nvPr/>
        </p:nvSpPr>
        <p:spPr>
          <a:xfrm>
            <a:off x="6611112" y="889438"/>
            <a:ext cx="5212080" cy="292608"/>
          </a:xfrm>
          <a:prstGeom prst="rect">
            <a:avLst/>
          </a:prstGeom>
          <a:noFill/>
          <a:ln/>
        </p:spPr>
        <p:txBody>
          <a:bodyPr wrap="square" lIns="0" tIns="0" rIns="0" bIns="0" rtlCol="0" anchor="ctr"/>
          <a:lstStyle/>
          <a:p>
            <a:pPr marL="0" indent="0">
              <a:buNone/>
            </a:pPr>
            <a:r>
              <a:rPr lang="en-US" sz="1400" b="1" dirty="0">
                <a:solidFill>
                  <a:srgbClr val="E31836"/>
                </a:solidFill>
                <a:latin typeface="Calibri" pitchFamily="34" charset="0"/>
                <a:ea typeface="Calibri" pitchFamily="34" charset="-122"/>
                <a:cs typeface="Calibri" pitchFamily="34" charset="-120"/>
              </a:rPr>
              <a:t>How each term is measured (normalization)</a:t>
            </a:r>
            <a:endParaRPr lang="en-US" sz="1400" dirty="0"/>
          </a:p>
        </p:txBody>
      </p:sp>
      <p:graphicFrame>
        <p:nvGraphicFramePr>
          <p:cNvPr id="17" name="Table 0">
            <a:extLst>
              <a:ext uri="{FF2B5EF4-FFF2-40B4-BE49-F238E27FC236}">
                <a16:creationId xmlns:a16="http://schemas.microsoft.com/office/drawing/2014/main" id="{C5579F0B-E5E6-487B-1732-E8AAB5CB0A7F}"/>
              </a:ext>
            </a:extLst>
          </p:cNvPr>
          <p:cNvGraphicFramePr>
            <a:graphicFrameLocks noGrp="1"/>
          </p:cNvGraphicFramePr>
          <p:nvPr>
            <p:extLst>
              <p:ext uri="{D42A27DB-BD31-4B8C-83A1-F6EECF244321}">
                <p14:modId xmlns:p14="http://schemas.microsoft.com/office/powerpoint/2010/main" val="2851014707"/>
              </p:ext>
            </p:extLst>
          </p:nvPr>
        </p:nvGraphicFramePr>
        <p:xfrm>
          <a:off x="6611112" y="1236910"/>
          <a:ext cx="5212080" cy="2743200"/>
        </p:xfrm>
        <a:graphic>
          <a:graphicData uri="http://schemas.openxmlformats.org/drawingml/2006/table">
            <a:tbl>
              <a:tblPr/>
              <a:tblGrid>
                <a:gridCol w="201168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tblGrid>
              <a:tr h="45720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Term (weight)</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Measured as</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457200">
                <a:tc>
                  <a:txBody>
                    <a:bodyPr/>
                    <a:lstStyle/>
                    <a:p>
                      <a:pPr marL="0" indent="0">
                        <a:buNone/>
                      </a:pPr>
                      <a:r>
                        <a:rPr lang="en-US" sz="1300" b="1" dirty="0">
                          <a:solidFill>
                            <a:srgbClr val="E31836"/>
                          </a:solidFill>
                          <a:latin typeface="Calibri" pitchFamily="34" charset="0"/>
                          <a:ea typeface="Calibri" pitchFamily="34" charset="-122"/>
                          <a:cs typeface="Calibri" pitchFamily="34" charset="-120"/>
                        </a:rPr>
                        <a:t>Burned area (1)</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a:solidFill>
                            <a:srgbClr val="222222"/>
                          </a:solidFill>
                          <a:latin typeface="Calibri" pitchFamily="34" charset="0"/>
                          <a:ea typeface="Calibri" pitchFamily="34" charset="-122"/>
                          <a:cs typeface="Calibri" pitchFamily="34" charset="-120"/>
                        </a:rPr>
                        <a:t>burned ÷ burnable cells</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300" b="1" dirty="0">
                          <a:solidFill>
                            <a:srgbClr val="E31836"/>
                          </a:solidFill>
                          <a:latin typeface="Calibri" pitchFamily="34" charset="0"/>
                          <a:ea typeface="Calibri" pitchFamily="34" charset="-122"/>
                          <a:cs typeface="Calibri" pitchFamily="34" charset="-120"/>
                        </a:rPr>
                        <a:t>Asset loss (1)</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a:solidFill>
                            <a:srgbClr val="222222"/>
                          </a:solidFill>
                          <a:latin typeface="Calibri" pitchFamily="34" charset="0"/>
                          <a:ea typeface="Calibri" pitchFamily="34" charset="-122"/>
                          <a:cs typeface="Calibri" pitchFamily="34" charset="-120"/>
                        </a:rPr>
                        <a:t>value lost ÷ exposed value</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300" b="1" dirty="0">
                          <a:solidFill>
                            <a:srgbClr val="E31836"/>
                          </a:solidFill>
                          <a:latin typeface="Calibri" pitchFamily="34" charset="0"/>
                          <a:ea typeface="Calibri" pitchFamily="34" charset="-122"/>
                          <a:cs typeface="Calibri" pitchFamily="34" charset="-120"/>
                        </a:rPr>
                        <a:t>Population exposure (1)</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a:solidFill>
                            <a:srgbClr val="222222"/>
                          </a:solidFill>
                          <a:latin typeface="Calibri" pitchFamily="34" charset="0"/>
                          <a:ea typeface="Calibri" pitchFamily="34" charset="-122"/>
                          <a:cs typeface="Calibri" pitchFamily="34" charset="-120"/>
                        </a:rPr>
                        <a:t>person-steps ÷ (population × horizon)</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300" b="1" dirty="0">
                          <a:solidFill>
                            <a:srgbClr val="E31836"/>
                          </a:solidFill>
                          <a:latin typeface="Calibri" pitchFamily="34" charset="0"/>
                          <a:ea typeface="Calibri" pitchFamily="34" charset="-122"/>
                          <a:cs typeface="Calibri" pitchFamily="34" charset="-120"/>
                        </a:rPr>
                        <a:t>Response effort (0.2)</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a:solidFill>
                            <a:srgbClr val="222222"/>
                          </a:solidFill>
                          <a:latin typeface="Calibri" pitchFamily="34" charset="0"/>
                          <a:ea typeface="Calibri" pitchFamily="34" charset="-122"/>
                          <a:cs typeface="Calibri" pitchFamily="34" charset="-120"/>
                        </a:rPr>
                        <a:t>committed ÷ available capacity</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buNone/>
                      </a:pPr>
                      <a:r>
                        <a:rPr lang="en-US" sz="1300" b="1" dirty="0">
                          <a:solidFill>
                            <a:srgbClr val="E31836"/>
                          </a:solidFill>
                          <a:latin typeface="Calibri" pitchFamily="34" charset="0"/>
                          <a:ea typeface="Calibri" pitchFamily="34" charset="-122"/>
                          <a:cs typeface="Calibri" pitchFamily="34" charset="-120"/>
                        </a:rPr>
                        <a:t>Response delay (0.2)</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a:solidFill>
                            <a:srgbClr val="222222"/>
                          </a:solidFill>
                          <a:latin typeface="Calibri" pitchFamily="34" charset="0"/>
                          <a:ea typeface="Calibri" pitchFamily="34" charset="-122"/>
                          <a:cs typeface="Calibri" pitchFamily="34" charset="-120"/>
                        </a:rPr>
                        <a:t>delay ÷ reference delay</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9" name="Text 5">
            <a:extLst>
              <a:ext uri="{FF2B5EF4-FFF2-40B4-BE49-F238E27FC236}">
                <a16:creationId xmlns:a16="http://schemas.microsoft.com/office/drawing/2014/main" id="{93C8796C-9CF8-5498-C771-003B1A2A08C7}"/>
              </a:ext>
            </a:extLst>
          </p:cNvPr>
          <p:cNvSpPr/>
          <p:nvPr/>
        </p:nvSpPr>
        <p:spPr>
          <a:xfrm>
            <a:off x="6611112" y="4901184"/>
            <a:ext cx="5212080" cy="1463040"/>
          </a:xfrm>
          <a:prstGeom prst="rect">
            <a:avLst/>
          </a:prstGeom>
          <a:noFill/>
          <a:ln/>
        </p:spPr>
        <p:txBody>
          <a:bodyPr wrap="square" lIns="0" tIns="0" rIns="0" bIns="0" rtlCol="0" anchor="t"/>
          <a:lstStyle/>
          <a:p>
            <a:pPr marL="0" indent="0">
              <a:lnSpc>
                <a:spcPct val="104000"/>
              </a:lnSpc>
              <a:buNone/>
            </a:pPr>
            <a:r>
              <a:rPr lang="en-US" sz="1450" b="1">
                <a:solidFill>
                  <a:srgbClr val="000000"/>
                </a:solidFill>
                <a:latin typeface="Calibri" pitchFamily="34" charset="0"/>
                <a:ea typeface="Calibri" pitchFamily="34" charset="-122"/>
                <a:cs typeface="Calibri" pitchFamily="34" charset="-120"/>
              </a:rPr>
              <a:t>Why these weights?</a:t>
            </a:r>
          </a:p>
          <a:p>
            <a:pPr marL="285750" indent="-285750">
              <a:lnSpc>
                <a:spcPct val="104000"/>
              </a:lnSpc>
              <a:buFont typeface="Arial" panose="020B0604020202020204" pitchFamily="34" charset="0"/>
              <a:buChar char="•"/>
            </a:pPr>
            <a:r>
              <a:rPr lang="en-US" sz="1450">
                <a:solidFill>
                  <a:srgbClr val="000000"/>
                </a:solidFill>
                <a:latin typeface="Calibri" pitchFamily="34" charset="0"/>
                <a:ea typeface="Calibri" pitchFamily="34" charset="-122"/>
                <a:cs typeface="Calibri" pitchFamily="34" charset="-120"/>
              </a:rPr>
              <a:t>3 physical losses equal &amp; dominant — no hard-coded ranking</a:t>
            </a:r>
          </a:p>
          <a:p>
            <a:pPr marL="285750" indent="-285750">
              <a:lnSpc>
                <a:spcPct val="104000"/>
              </a:lnSpc>
              <a:buFont typeface="Arial" panose="020B0604020202020204" pitchFamily="34" charset="0"/>
              <a:buChar char="•"/>
            </a:pPr>
            <a:r>
              <a:rPr lang="en-US" sz="1450">
                <a:solidFill>
                  <a:srgbClr val="222222"/>
                </a:solidFill>
                <a:latin typeface="Calibri" pitchFamily="34" charset="0"/>
                <a:ea typeface="Calibri" pitchFamily="34" charset="-122"/>
                <a:cs typeface="Calibri" pitchFamily="34" charset="-120"/>
              </a:rPr>
              <a:t>effort &amp; delay small but non-zero — action and hesitation are never free</a:t>
            </a:r>
          </a:p>
          <a:p>
            <a:pPr marL="285750" indent="-285750">
              <a:lnSpc>
                <a:spcPct val="104000"/>
              </a:lnSpc>
              <a:buFont typeface="Arial" panose="020B0604020202020204" pitchFamily="34" charset="0"/>
              <a:buChar char="•"/>
            </a:pPr>
            <a:r>
              <a:rPr lang="en-US" sz="1450">
                <a:solidFill>
                  <a:srgbClr val="222222"/>
                </a:solidFill>
                <a:latin typeface="Calibri" pitchFamily="34" charset="0"/>
                <a:ea typeface="Calibri" pitchFamily="34" charset="-122"/>
                <a:cs typeface="Calibri" pitchFamily="34" charset="-120"/>
              </a:rPr>
              <a:t>every term a ratio → comparable across scenarios</a:t>
            </a:r>
            <a:endParaRPr lang="en-US" sz="1450" dirty="0"/>
          </a:p>
        </p:txBody>
      </p:sp>
    </p:spTree>
    <p:extLst>
      <p:ext uri="{BB962C8B-B14F-4D97-AF65-F5344CB8AC3E}">
        <p14:creationId xmlns:p14="http://schemas.microsoft.com/office/powerpoint/2010/main" val="10688426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37744"/>
            <a:ext cx="100584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DSS FRAMEWORK : LAYER 4 OF 4</a:t>
            </a:r>
            <a:endParaRPr lang="en-US" sz="1300" dirty="0"/>
          </a:p>
        </p:txBody>
      </p:sp>
      <p:sp>
        <p:nvSpPr>
          <p:cNvPr id="3" name="Text 1"/>
          <p:cNvSpPr/>
          <p:nvPr/>
        </p:nvSpPr>
        <p:spPr>
          <a:xfrm>
            <a:off x="502920" y="493776"/>
            <a:ext cx="11247120" cy="621792"/>
          </a:xfrm>
          <a:prstGeom prst="rect">
            <a:avLst/>
          </a:prstGeom>
          <a:noFill/>
          <a:ln/>
        </p:spPr>
        <p:txBody>
          <a:bodyPr wrap="square" lIns="0" tIns="0" rIns="0" bIns="0" rtlCol="0" anchor="ctr"/>
          <a:lstStyle/>
          <a:p>
            <a:pPr marL="0" indent="0">
              <a:buNone/>
            </a:pPr>
            <a:r>
              <a:rPr lang="en-US" sz="2500" b="1" dirty="0">
                <a:solidFill>
                  <a:srgbClr val="000000"/>
                </a:solidFill>
                <a:latin typeface="Cambria" pitchFamily="34" charset="0"/>
                <a:ea typeface="Cambria" pitchFamily="34" charset="-122"/>
                <a:cs typeface="Cambria" pitchFamily="34" charset="-120"/>
              </a:rPr>
              <a:t>Two Tests, Two Different Failures</a:t>
            </a:r>
            <a:endParaRPr lang="en-US" sz="2500" dirty="0"/>
          </a:p>
        </p:txBody>
      </p:sp>
      <p:pic>
        <p:nvPicPr>
          <p:cNvPr id="4"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5"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p:sp>
        <p:nvSpPr>
          <p:cNvPr id="6" name="Text 2"/>
          <p:cNvSpPr/>
          <p:nvPr/>
        </p:nvSpPr>
        <p:spPr>
          <a:xfrm>
            <a:off x="457200" y="1325880"/>
            <a:ext cx="5669280" cy="292608"/>
          </a:xfrm>
          <a:prstGeom prst="rect">
            <a:avLst/>
          </a:prstGeom>
          <a:noFill/>
          <a:ln/>
        </p:spPr>
        <p:txBody>
          <a:bodyPr wrap="square" lIns="0" tIns="0" rIns="0" bIns="0" rtlCol="0" anchor="ctr"/>
          <a:lstStyle/>
          <a:p>
            <a:pPr marL="0" indent="0">
              <a:buNone/>
            </a:pPr>
            <a:r>
              <a:rPr lang="en-US" sz="1400" b="1" dirty="0">
                <a:solidFill>
                  <a:srgbClr val="E31836"/>
                </a:solidFill>
                <a:latin typeface="Calibri" pitchFamily="34" charset="0"/>
                <a:ea typeface="Calibri" pitchFamily="34" charset="-122"/>
                <a:cs typeface="Calibri" pitchFamily="34" charset="-120"/>
              </a:rPr>
              <a:t>Test 1 — Satisficing cost: is the outcome acceptable?</a:t>
            </a:r>
            <a:endParaRPr lang="en-US" sz="1400" dirty="0"/>
          </a:p>
        </p:txBody>
      </p:sp>
      <mc:AlternateContent xmlns:mc="http://schemas.openxmlformats.org/markup-compatibility/2006" xmlns:a14="http://schemas.microsoft.com/office/drawing/2010/main">
        <mc:Choice Requires="a14">
          <p:sp>
            <p:nvSpPr>
              <p:cNvPr id="7" name="Text 3"/>
              <p:cNvSpPr/>
              <p:nvPr/>
            </p:nvSpPr>
            <p:spPr>
              <a:xfrm>
                <a:off x="457200" y="1664208"/>
                <a:ext cx="5669280" cy="548640"/>
              </a:xfrm>
              <a:prstGeom prst="rect">
                <a:avLst/>
              </a:prstGeom>
              <a:noFill/>
              <a:ln/>
            </p:spPr>
            <p:txBody>
              <a:bodyPr wrap="square" lIns="0" tIns="0" rIns="0" bIns="0"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n-US" sz="1400" i="1">
                              <a:latin typeface="Cambria Math" panose="02040503050406030204" pitchFamily="18" charset="0"/>
                            </a:rPr>
                          </m:ctrlPr>
                        </m:sSubPr>
                        <m:e>
                          <m:acc>
                            <m:accPr>
                              <m:chr m:val="̂"/>
                              <m:ctrlPr>
                                <a:rPr lang="en-US" sz="1400" i="1">
                                  <a:latin typeface="Cambria Math" panose="02040503050406030204" pitchFamily="18" charset="0"/>
                                </a:rPr>
                              </m:ctrlPr>
                            </m:accPr>
                            <m:e>
                              <m:r>
                                <a:rPr lang="en-US" sz="1400">
                                  <a:latin typeface="Cambria Math"/>
                                </a:rPr>
                                <m:t>𝐽</m:t>
                              </m:r>
                            </m:e>
                          </m:acc>
                        </m:e>
                        <m:sub>
                          <m:r>
                            <a:rPr lang="en-US" sz="1400">
                              <a:latin typeface="Cambria Math"/>
                            </a:rPr>
                            <m:t>𝑘</m:t>
                          </m:r>
                        </m:sub>
                      </m:sSub>
                      <m:d>
                        <m:dPr>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a:rPr lang="en-US" sz="1400">
                                  <a:latin typeface="Cambria Math"/>
                                </a:rPr>
                                <m:t>𝑈</m:t>
                              </m:r>
                            </m:e>
                            <m:sub>
                              <m:r>
                                <a:rPr lang="en-US" sz="1400">
                                  <a:latin typeface="Cambria Math"/>
                                </a:rPr>
                                <m:t>𝐷𝑆𝑆</m:t>
                              </m:r>
                              <m:r>
                                <a:rPr lang="en-US" sz="1400">
                                  <a:latin typeface="Cambria Math"/>
                                </a:rPr>
                                <m:t>,</m:t>
                              </m:r>
                              <m:r>
                                <a:rPr lang="en-US" sz="1400">
                                  <a:latin typeface="Cambria Math"/>
                                </a:rPr>
                                <m:t>𝑘</m:t>
                              </m:r>
                            </m:sub>
                          </m:sSub>
                        </m:e>
                      </m:d>
                      <m:r>
                        <a:rPr lang="en-US" sz="1400">
                          <a:latin typeface="Cambria Math"/>
                        </a:rPr>
                        <m:t> ≤ </m:t>
                      </m:r>
                      <m:r>
                        <a:rPr lang="en-US" sz="1400">
                          <a:latin typeface="Cambria Math"/>
                        </a:rPr>
                        <m:t>𝑚𝑖𝑛</m:t>
                      </m:r>
                      <m:r>
                        <a:rPr lang="en-US" sz="1400">
                          <a:latin typeface="Cambria Math"/>
                        </a:rPr>
                        <m:t>(</m:t>
                      </m:r>
                      <m:sSub>
                        <m:sSubPr>
                          <m:ctrlPr>
                            <a:rPr lang="en-US" sz="1400" i="1">
                              <a:latin typeface="Cambria Math" panose="02040503050406030204" pitchFamily="18" charset="0"/>
                            </a:rPr>
                          </m:ctrlPr>
                        </m:sSubPr>
                        <m:e>
                          <m:r>
                            <a:rPr lang="en-US" sz="1400">
                              <a:latin typeface="Cambria Math"/>
                            </a:rPr>
                            <m:t>𝐽</m:t>
                          </m:r>
                        </m:e>
                        <m:sub>
                          <m:r>
                            <a:rPr lang="en-US" sz="1400">
                              <a:latin typeface="Cambria Math"/>
                            </a:rPr>
                            <m:t>𝑇𝐻</m:t>
                          </m:r>
                        </m:sub>
                      </m:sSub>
                      <m:r>
                        <a:rPr lang="en-US" sz="1400">
                          <a:latin typeface="Cambria Math"/>
                        </a:rPr>
                        <m:t>, (1−</m:t>
                      </m:r>
                      <m:sSub>
                        <m:sSubPr>
                          <m:ctrlPr>
                            <a:rPr lang="en-US" sz="1400" i="1">
                              <a:latin typeface="Cambria Math" panose="02040503050406030204" pitchFamily="18" charset="0"/>
                            </a:rPr>
                          </m:ctrlPr>
                        </m:sSubPr>
                        <m:e>
                          <m:r>
                            <a:rPr lang="en-US" sz="1400">
                              <a:latin typeface="Cambria Math"/>
                            </a:rPr>
                            <m:t>𝛿</m:t>
                          </m:r>
                        </m:e>
                        <m:sub>
                          <m:r>
                            <a:rPr lang="en-US" sz="1400">
                              <a:latin typeface="Cambria Math"/>
                            </a:rPr>
                            <m:t>𝑔𝑎𝑖𝑛</m:t>
                          </m:r>
                        </m:sub>
                      </m:sSub>
                      <m:r>
                        <a:rPr lang="en-US" sz="1400">
                          <a:latin typeface="Cambria Math"/>
                        </a:rPr>
                        <m:t>)⋅</m:t>
                      </m:r>
                      <m:sSub>
                        <m:sSubPr>
                          <m:ctrlPr>
                            <a:rPr lang="en-US" sz="1400" i="1">
                              <a:latin typeface="Cambria Math" panose="02040503050406030204" pitchFamily="18" charset="0"/>
                            </a:rPr>
                          </m:ctrlPr>
                        </m:sSubPr>
                        <m:e>
                          <m:acc>
                            <m:accPr>
                              <m:chr m:val="̂"/>
                              <m:ctrlPr>
                                <a:rPr lang="en-US" sz="1400" i="1">
                                  <a:latin typeface="Cambria Math" panose="02040503050406030204" pitchFamily="18" charset="0"/>
                                </a:rPr>
                              </m:ctrlPr>
                            </m:accPr>
                            <m:e>
                              <m:r>
                                <a:rPr lang="en-US" sz="1400">
                                  <a:latin typeface="Cambria Math"/>
                                </a:rPr>
                                <m:t>𝐽</m:t>
                              </m:r>
                            </m:e>
                          </m:acc>
                        </m:e>
                        <m:sub>
                          <m:r>
                            <a:rPr lang="en-US" sz="1400">
                              <a:latin typeface="Cambria Math"/>
                            </a:rPr>
                            <m:t>𝑘</m:t>
                          </m:r>
                        </m:sub>
                      </m:sSub>
                      <m:r>
                        <a:rPr lang="en-US" sz="1400">
                          <a:latin typeface="Cambria Math"/>
                        </a:rPr>
                        <m:t>(0))</m:t>
                      </m:r>
                    </m:oMath>
                  </m:oMathPara>
                </a14:m>
                <a:endParaRPr lang="en-US" sz="1300" dirty="0"/>
              </a:p>
            </p:txBody>
          </p:sp>
        </mc:Choice>
        <mc:Fallback xmlns="">
          <p:sp>
            <p:nvSpPr>
              <p:cNvPr id="7" name="Text 3"/>
              <p:cNvSpPr>
                <a:spLocks noRot="1" noChangeAspect="1" noMove="1" noResize="1" noEditPoints="1" noAdjustHandles="1" noChangeArrowheads="1" noChangeShapeType="1" noTextEdit="1"/>
              </p:cNvSpPr>
              <p:nvPr/>
            </p:nvSpPr>
            <p:spPr>
              <a:xfrm>
                <a:off x="457200" y="1664208"/>
                <a:ext cx="5669280" cy="548640"/>
              </a:xfrm>
              <a:prstGeom prst="rect">
                <a:avLst/>
              </a:prstGeom>
              <a:blipFill>
                <a:blip r:embed="rId5"/>
                <a:stretch>
                  <a:fillRect/>
                </a:stretch>
              </a:blipFill>
              <a:ln/>
            </p:spPr>
            <p:txBody>
              <a:bodyPr/>
              <a:lstStyle/>
              <a:p>
                <a:r>
                  <a:rPr lang="tr-TR">
                    <a:noFill/>
                  </a:rPr>
                  <a:t/>
                </a:r>
              </a:p>
            </p:txBody>
          </p:sp>
        </mc:Fallback>
      </mc:AlternateContent>
      <mc:AlternateContent xmlns:mc="http://schemas.openxmlformats.org/markup-compatibility/2006" xmlns:a14="http://schemas.microsoft.com/office/drawing/2010/main">
        <mc:Choice Requires="a14">
          <p:sp>
            <p:nvSpPr>
              <p:cNvPr id="8" name="Text 4"/>
              <p:cNvSpPr/>
              <p:nvPr/>
            </p:nvSpPr>
            <p:spPr>
              <a:xfrm>
                <a:off x="457200" y="2286000"/>
                <a:ext cx="5669280" cy="1737360"/>
              </a:xfrm>
              <a:prstGeom prst="rect">
                <a:avLst/>
              </a:prstGeom>
              <a:noFill/>
              <a:ln/>
            </p:spPr>
            <p:txBody>
              <a:bodyPr wrap="square" lIns="0" tIns="0" rIns="0" bIns="0" rtlCol="0" anchor="t"/>
              <a:lstStyle/>
              <a:p>
                <a:pPr marL="152400" indent="-152400">
                  <a:lnSpc>
                    <a:spcPct val="104000"/>
                  </a:lnSpc>
                  <a:spcAft>
                    <a:spcPts val="600"/>
                  </a:spcAft>
                  <a:buSzPct val="100000"/>
                  <a:buChar char="•"/>
                </a:pPr>
                <a:r>
                  <a:rPr lang="en-US" sz="1350">
                    <a:solidFill>
                      <a:srgbClr val="222222"/>
                    </a:solidFill>
                    <a:latin typeface="Calibri" pitchFamily="34" charset="0"/>
                    <a:ea typeface="Calibri" pitchFamily="34" charset="-122"/>
                    <a:cs typeface="Calibri" pitchFamily="34" charset="-120"/>
                  </a:rPr>
                  <a:t>Bound = tighter of a fixed ceiling (</a:t>
                </a:r>
                <a14:m>
                  <m:oMath xmlns:m="http://schemas.openxmlformats.org/officeDocument/2006/math">
                    <m:sSub>
                      <m:sSubPr>
                        <m:ctrlPr>
                          <a:rPr lang="en-US" sz="1250" i="1">
                            <a:latin typeface="Cambria Math" panose="02040503050406030204" pitchFamily="18" charset="0"/>
                          </a:rPr>
                        </m:ctrlPr>
                      </m:sSubPr>
                      <m:e>
                        <m:r>
                          <a:rPr lang="en-US" sz="1250">
                            <a:latin typeface="Cambria Math"/>
                          </a:rPr>
                          <m:t>𝐽</m:t>
                        </m:r>
                      </m:e>
                      <m:sub>
                        <m:r>
                          <a:rPr lang="en-US" sz="1250">
                            <a:latin typeface="Cambria Math"/>
                          </a:rPr>
                          <m:t>𝑇𝐻</m:t>
                        </m:r>
                      </m:sub>
                    </m:sSub>
                    <m:r>
                      <a:rPr lang="en-US" sz="1250">
                        <a:latin typeface="Cambria Math"/>
                      </a:rPr>
                      <m:t> = 0.35</m:t>
                    </m:r>
                  </m:oMath>
                </a14:m>
                <a:r>
                  <a:rPr lang="en-US" sz="1350">
                    <a:solidFill>
                      <a:srgbClr val="222222"/>
                    </a:solidFill>
                    <a:latin typeface="Calibri" pitchFamily="34" charset="0"/>
                    <a:ea typeface="Calibri" pitchFamily="34" charset="-122"/>
                    <a:cs typeface="Calibri" pitchFamily="34" charset="-120"/>
                  </a:rPr>
                  <a:t>) and a 5 % gain over doing nothing</a:t>
                </a:r>
                <a:endParaRPr lang="en-US" sz="1350" dirty="0">
                  <a:solidFill>
                    <a:srgbClr val="6E6E6E"/>
                  </a:solidFill>
                  <a:latin typeface="Calibri" pitchFamily="34" charset="0"/>
                  <a:ea typeface="Calibri" pitchFamily="34" charset="-122"/>
                  <a:cs typeface="Calibri" pitchFamily="34" charset="-120"/>
                </a:endParaRPr>
              </a:p>
              <a:p>
                <a:pPr marL="152400" indent="-152400">
                  <a:lnSpc>
                    <a:spcPct val="104000"/>
                  </a:lnSpc>
                  <a:spcAft>
                    <a:spcPts val="600"/>
                  </a:spcAft>
                  <a:buSzPct val="100000"/>
                  <a:buChar char="•"/>
                </a:pPr>
                <a:r>
                  <a:rPr lang="en-US" sz="1350">
                    <a:solidFill>
                      <a:srgbClr val="222222"/>
                    </a:solidFill>
                    <a:latin typeface="Calibri" pitchFamily="34" charset="0"/>
                    <a:ea typeface="Calibri" pitchFamily="34" charset="-122"/>
                    <a:cs typeface="Calibri" pitchFamily="34" charset="-120"/>
                  </a:rPr>
                  <a:t>ceiling binds on large fires · margin binds on small fires</a:t>
                </a:r>
              </a:p>
            </p:txBody>
          </p:sp>
        </mc:Choice>
        <mc:Fallback xmlns="">
          <p:sp>
            <p:nvSpPr>
              <p:cNvPr id="8" name="Text 4"/>
              <p:cNvSpPr/>
              <p:nvPr/>
            </p:nvSpPr>
            <p:spPr>
              <a:xfrm>
                <a:off x="457200" y="2286000"/>
                <a:ext cx="5669280" cy="1737360"/>
              </a:xfrm>
              <a:prstGeom prst="rect">
                <a:avLst/>
              </a:prstGeom>
              <a:noFill/>
              <a:ln/>
            </p:spPr>
            <p:txBody>
              <a:bodyPr wrap="square" lIns="0" tIns="0" rIns="0" bIns="0" rtlCol="0" anchor="t"/>
              <a:lstStyle/>
              <a:p>
                <a:pPr marL="152400" indent="-152400">
                  <a:lnSpc>
                    <a:spcPct val="104000"/>
                  </a:lnSpc>
                  <a:spcAft>
                    <a:spcPts val="600"/>
                  </a:spcAft>
                  <a:buSzPct val="100000"/>
                  <a:buChar char="•"/>
                </a:pPr>
                <a:r>
                  <a:rPr lang="en-US" sz="1350">
                    <a:solidFill>
                      <a:srgbClr val="222222"/>
                    </a:solidFill>
                    <a:latin typeface="Calibri" pitchFamily="34" charset="0"/>
                    <a:ea typeface="Calibri" pitchFamily="34" charset="-122"/>
                    <a:cs typeface="Calibri" pitchFamily="34" charset="-120"/>
                  </a:rPr>
                  <a:t>Bound = tighter of a fixed ceiling (</a:t>
                </a:r>
                <a:r>
                  <a:rPr lang="en-US" sz="1250" i="1">
                    <a:latin typeface="Cambria Math"/>
                  </a:rPr>
                  <a:t>𝐽𝑇𝐻 = 0.35</a:t>
                </a:r>
                <a:r>
                  <a:rPr lang="en-US" sz="1350">
                    <a:solidFill>
                      <a:srgbClr val="222222"/>
                    </a:solidFill>
                    <a:latin typeface="Calibri" pitchFamily="34" charset="0"/>
                    <a:ea typeface="Calibri" pitchFamily="34" charset="-122"/>
                    <a:cs typeface="Calibri" pitchFamily="34" charset="-120"/>
                  </a:rPr>
                  <a:t>) and a 5 % gain over doing nothing</a:t>
                </a:r>
                <a:endParaRPr lang="en-US" sz="1350" dirty="0">
                  <a:solidFill>
                    <a:srgbClr val="6E6E6E"/>
                  </a:solidFill>
                  <a:latin typeface="Calibri" pitchFamily="34" charset="0"/>
                  <a:ea typeface="Calibri" pitchFamily="34" charset="-122"/>
                  <a:cs typeface="Calibri" pitchFamily="34" charset="-120"/>
                </a:endParaRPr>
              </a:p>
              <a:p>
                <a:pPr marL="152400" indent="-152400">
                  <a:lnSpc>
                    <a:spcPct val="104000"/>
                  </a:lnSpc>
                  <a:spcAft>
                    <a:spcPts val="600"/>
                  </a:spcAft>
                  <a:buSzPct val="100000"/>
                  <a:buChar char="•"/>
                </a:pPr>
                <a:r>
                  <a:rPr lang="en-US" sz="1350">
                    <a:solidFill>
                      <a:srgbClr val="222222"/>
                    </a:solidFill>
                    <a:latin typeface="Calibri" pitchFamily="34" charset="0"/>
                    <a:ea typeface="Calibri" pitchFamily="34" charset="-122"/>
                    <a:cs typeface="Calibri" pitchFamily="34" charset="-120"/>
                  </a:rPr>
                  <a:t>ceiling binds on large fires · margin binds on small fires</a:t>
                </a:r>
              </a:p>
            </p:txBody>
          </p:sp>
        </mc:Fallback>
      </mc:AlternateContent>
      <p:sp>
        <p:nvSpPr>
          <p:cNvPr id="9" name="Text 5"/>
          <p:cNvSpPr/>
          <p:nvPr/>
        </p:nvSpPr>
        <p:spPr>
          <a:xfrm>
            <a:off x="6355080" y="1325880"/>
            <a:ext cx="5394960" cy="292608"/>
          </a:xfrm>
          <a:prstGeom prst="rect">
            <a:avLst/>
          </a:prstGeom>
          <a:noFill/>
          <a:ln/>
        </p:spPr>
        <p:txBody>
          <a:bodyPr wrap="square" lIns="0" tIns="0" rIns="0" bIns="0" rtlCol="0" anchor="ctr"/>
          <a:lstStyle/>
          <a:p>
            <a:pPr marL="0" indent="0">
              <a:buNone/>
            </a:pPr>
            <a:r>
              <a:rPr lang="en-US" sz="1400" b="1" dirty="0">
                <a:solidFill>
                  <a:srgbClr val="E31836"/>
                </a:solidFill>
                <a:latin typeface="Calibri" pitchFamily="34" charset="0"/>
                <a:ea typeface="Calibri" pitchFamily="34" charset="-122"/>
                <a:cs typeface="Calibri" pitchFamily="34" charset="-120"/>
              </a:rPr>
              <a:t>Test 2 — Quality: does the order serve its demanding concepts?</a:t>
            </a:r>
            <a:endParaRPr lang="en-US" sz="1400" dirty="0"/>
          </a:p>
        </p:txBody>
      </p:sp>
      <mc:AlternateContent xmlns:mc="http://schemas.openxmlformats.org/markup-compatibility/2006" xmlns:a14="http://schemas.microsoft.com/office/drawing/2010/main">
        <mc:Choice Requires="a14">
          <p:sp>
            <p:nvSpPr>
              <p:cNvPr id="10" name="Text 6"/>
              <p:cNvSpPr/>
              <p:nvPr/>
            </p:nvSpPr>
            <p:spPr>
              <a:xfrm>
                <a:off x="6355080" y="1664208"/>
                <a:ext cx="5394960" cy="548640"/>
              </a:xfrm>
              <a:prstGeom prst="rect">
                <a:avLst/>
              </a:prstGeom>
              <a:noFill/>
              <a:ln/>
            </p:spPr>
            <p:txBody>
              <a:bodyPr wrap="square" lIns="0" tIns="0" rIns="0" bIns="0"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n-US" sz="1400" i="1">
                              <a:latin typeface="Cambria Math" panose="02040503050406030204" pitchFamily="18" charset="0"/>
                            </a:rPr>
                          </m:ctrlPr>
                        </m:sSubPr>
                        <m:e>
                          <m:r>
                            <a:rPr lang="en-US" sz="1400">
                              <a:latin typeface="Cambria Math"/>
                            </a:rPr>
                            <m:t>𝑄</m:t>
                          </m:r>
                        </m:e>
                        <m:sub>
                          <m:r>
                            <a:rPr lang="en-US" sz="1400">
                              <a:latin typeface="Cambria Math"/>
                            </a:rPr>
                            <m:t>𝑘</m:t>
                          </m:r>
                        </m:sub>
                      </m:sSub>
                      <m:r>
                        <a:rPr lang="en-US" sz="1400">
                          <a:latin typeface="Cambria Math"/>
                        </a:rPr>
                        <m:t>=1−</m:t>
                      </m:r>
                      <m:f>
                        <m:fPr>
                          <m:ctrlPr>
                            <a:rPr lang="en-US" sz="1400" i="1">
                              <a:latin typeface="Cambria Math" panose="02040503050406030204" pitchFamily="18" charset="0"/>
                            </a:rPr>
                          </m:ctrlPr>
                        </m:fPr>
                        <m:num>
                          <m:r>
                            <a:rPr lang="en-US" sz="1400">
                              <a:latin typeface="Cambria Math"/>
                            </a:rPr>
                            <m:t>1</m:t>
                          </m:r>
                        </m:num>
                        <m:den>
                          <m:r>
                            <a:rPr lang="en-US" sz="1400">
                              <a:latin typeface="Cambria Math"/>
                            </a:rPr>
                            <m:t>4</m:t>
                          </m:r>
                        </m:den>
                      </m:f>
                      <m:nary>
                        <m:naryPr>
                          <m:chr m:val="∑"/>
                          <m:limLoc m:val="undOvr"/>
                          <m:ctrlPr>
                            <a:rPr lang="en-US" sz="1400" i="1">
                              <a:latin typeface="Cambria Math" panose="02040503050406030204" pitchFamily="18" charset="0"/>
                            </a:rPr>
                          </m:ctrlPr>
                        </m:naryPr>
                        <m:sub>
                          <m:r>
                            <a:rPr lang="en-US" sz="1400">
                              <a:latin typeface="Cambria Math"/>
                            </a:rPr>
                            <m:t>𝑛</m:t>
                          </m:r>
                          <m:r>
                            <a:rPr lang="en-US" sz="1400">
                              <a:latin typeface="Cambria Math"/>
                            </a:rPr>
                            <m:t>∈</m:t>
                          </m:r>
                          <m:sSub>
                            <m:sSubPr>
                              <m:ctrlPr>
                                <a:rPr lang="en-US" sz="1400" i="1">
                                  <a:latin typeface="Cambria Math" panose="02040503050406030204" pitchFamily="18" charset="0"/>
                                </a:rPr>
                              </m:ctrlPr>
                            </m:sSubPr>
                            <m:e>
                              <m:r>
                                <a:rPr lang="en-US" sz="1400">
                                  <a:latin typeface="Cambria Math"/>
                                </a:rPr>
                                <m:t>𝐶</m:t>
                              </m:r>
                            </m:e>
                            <m:sub>
                              <m:r>
                                <a:rPr lang="en-US" sz="1400">
                                  <a:latin typeface="Cambria Math"/>
                                </a:rPr>
                                <m:t>𝑄</m:t>
                              </m:r>
                            </m:sub>
                          </m:sSub>
                        </m:sub>
                        <m:sup/>
                        <m:e>
                          <m:r>
                            <a:rPr lang="en-US" sz="1400">
                              <a:latin typeface="Cambria Math"/>
                            </a:rPr>
                            <m:t>|</m:t>
                          </m:r>
                          <m:sSup>
                            <m:sSupPr>
                              <m:ctrlPr>
                                <a:rPr lang="en-US" sz="1400" i="1">
                                  <a:latin typeface="Cambria Math" panose="02040503050406030204" pitchFamily="18" charset="0"/>
                                </a:rPr>
                              </m:ctrlPr>
                            </m:sSupPr>
                            <m:e>
                              <m:sSub>
                                <m:sSubPr>
                                  <m:ctrlPr>
                                    <a:rPr lang="en-US" sz="1400" i="1">
                                      <a:latin typeface="Cambria Math" panose="02040503050406030204" pitchFamily="18" charset="0"/>
                                    </a:rPr>
                                  </m:ctrlPr>
                                </m:sSubPr>
                                <m:e>
                                  <m:r>
                                    <a:rPr lang="en-US" sz="1400">
                                      <a:latin typeface="Cambria Math"/>
                                    </a:rPr>
                                    <m:t>𝑎</m:t>
                                  </m:r>
                                </m:e>
                                <m:sub>
                                  <m:r>
                                    <a:rPr lang="en-US" sz="1400">
                                      <a:latin typeface="Cambria Math"/>
                                    </a:rPr>
                                    <m:t>𝑛</m:t>
                                  </m:r>
                                </m:sub>
                              </m:sSub>
                            </m:e>
                            <m:sup>
                              <m:r>
                                <a:rPr lang="en-US" sz="1400">
                                  <a:latin typeface="Cambria Math"/>
                                </a:rPr>
                                <m:t>𝑒𝑓𝑓</m:t>
                              </m:r>
                            </m:sup>
                          </m:sSup>
                          <m:r>
                            <a:rPr lang="en-US" sz="1400">
                              <a:latin typeface="Cambria Math"/>
                            </a:rPr>
                            <m:t>−</m:t>
                          </m:r>
                          <m:sSub>
                            <m:sSubPr>
                              <m:ctrlPr>
                                <a:rPr lang="en-US" sz="1400" i="1">
                                  <a:latin typeface="Cambria Math" panose="02040503050406030204" pitchFamily="18" charset="0"/>
                                </a:rPr>
                              </m:ctrlPr>
                            </m:sSubPr>
                            <m:e>
                              <m:r>
                                <a:rPr lang="en-US" sz="1400">
                                  <a:latin typeface="Cambria Math"/>
                                </a:rPr>
                                <m:t>𝑚𝑎𝑥</m:t>
                              </m:r>
                            </m:e>
                            <m:sub>
                              <m:r>
                                <a:rPr lang="en-US" sz="1400">
                                  <a:latin typeface="Cambria Math"/>
                                </a:rPr>
                                <m:t>𝑓</m:t>
                              </m:r>
                              <m:r>
                                <a:rPr lang="en-US" sz="1400">
                                  <a:latin typeface="Cambria Math"/>
                                </a:rPr>
                                <m:t>∈</m:t>
                              </m:r>
                              <m:r>
                                <a:rPr lang="en-US" sz="1400">
                                  <a:latin typeface="Cambria Math"/>
                                </a:rPr>
                                <m:t>𝐹</m:t>
                              </m:r>
                              <m:r>
                                <a:rPr lang="en-US" sz="1400">
                                  <a:latin typeface="Cambria Math"/>
                                </a:rPr>
                                <m:t>(</m:t>
                              </m:r>
                              <m:r>
                                <a:rPr lang="en-US" sz="1400">
                                  <a:latin typeface="Cambria Math"/>
                                </a:rPr>
                                <m:t>𝑛</m:t>
                              </m:r>
                              <m:r>
                                <a:rPr lang="en-US" sz="1400">
                                  <a:latin typeface="Cambria Math"/>
                                </a:rPr>
                                <m:t>)</m:t>
                              </m:r>
                            </m:sub>
                          </m:sSub>
                          <m:r>
                            <a:rPr lang="en-US" sz="1400">
                              <a:latin typeface="Cambria Math"/>
                            </a:rPr>
                            <m:t> </m:t>
                          </m:r>
                          <m:sSub>
                            <m:sSubPr>
                              <m:ctrlPr>
                                <a:rPr lang="en-US" sz="1400" i="1">
                                  <a:latin typeface="Cambria Math" panose="02040503050406030204" pitchFamily="18" charset="0"/>
                                </a:rPr>
                              </m:ctrlPr>
                            </m:sSubPr>
                            <m:e>
                              <m:r>
                                <a:rPr lang="en-US" sz="1400">
                                  <a:latin typeface="Cambria Math"/>
                                </a:rPr>
                                <m:t>𝑢</m:t>
                              </m:r>
                            </m:e>
                            <m:sub>
                              <m:r>
                                <a:rPr lang="en-US" sz="1400">
                                  <a:latin typeface="Cambria Math"/>
                                </a:rPr>
                                <m:t>𝑓</m:t>
                              </m:r>
                            </m:sub>
                          </m:sSub>
                          <m:r>
                            <a:rPr lang="en-US" sz="1400">
                              <a:latin typeface="Cambria Math"/>
                            </a:rPr>
                            <m:t>|</m:t>
                          </m:r>
                        </m:e>
                      </m:nary>
                      <m:r>
                        <a:rPr lang="en-US" sz="1400">
                          <a:latin typeface="Cambria Math"/>
                        </a:rPr>
                        <m:t>,   </m:t>
                      </m:r>
                      <m:r>
                        <a:rPr lang="en-US" sz="1400">
                          <a:latin typeface="Cambria Math"/>
                        </a:rPr>
                        <m:t>𝑎𝑐𝑐𝑒𝑝𝑡</m:t>
                      </m:r>
                      <m:r>
                        <a:rPr lang="en-US" sz="1400">
                          <a:latin typeface="Cambria Math"/>
                        </a:rPr>
                        <m:t> ⇔ </m:t>
                      </m:r>
                      <m:sSub>
                        <m:sSubPr>
                          <m:ctrlPr>
                            <a:rPr lang="en-US" sz="1400" i="1">
                              <a:latin typeface="Cambria Math" panose="02040503050406030204" pitchFamily="18" charset="0"/>
                            </a:rPr>
                          </m:ctrlPr>
                        </m:sSubPr>
                        <m:e>
                          <m:r>
                            <a:rPr lang="en-US" sz="1400">
                              <a:latin typeface="Cambria Math"/>
                            </a:rPr>
                            <m:t>𝑄</m:t>
                          </m:r>
                        </m:e>
                        <m:sub>
                          <m:r>
                            <a:rPr lang="en-US" sz="1400">
                              <a:latin typeface="Cambria Math"/>
                            </a:rPr>
                            <m:t>𝑘</m:t>
                          </m:r>
                        </m:sub>
                      </m:sSub>
                      <m:r>
                        <a:rPr lang="en-US" sz="1400">
                          <a:latin typeface="Cambria Math"/>
                        </a:rPr>
                        <m:t>≥</m:t>
                      </m:r>
                      <m:r>
                        <a:rPr lang="en-US" sz="1400">
                          <a:latin typeface="Cambria Math"/>
                        </a:rPr>
                        <m:t>𝜂</m:t>
                      </m:r>
                    </m:oMath>
                  </m:oMathPara>
                </a14:m>
                <a:endParaRPr lang="en-US" sz="1300" dirty="0"/>
              </a:p>
            </p:txBody>
          </p:sp>
        </mc:Choice>
        <mc:Fallback xmlns="">
          <p:sp>
            <p:nvSpPr>
              <p:cNvPr id="10" name="Text 6"/>
              <p:cNvSpPr>
                <a:spLocks noRot="1" noChangeAspect="1" noMove="1" noResize="1" noEditPoints="1" noAdjustHandles="1" noChangeArrowheads="1" noChangeShapeType="1" noTextEdit="1"/>
              </p:cNvSpPr>
              <p:nvPr/>
            </p:nvSpPr>
            <p:spPr>
              <a:xfrm>
                <a:off x="6355080" y="1664208"/>
                <a:ext cx="5394960" cy="548640"/>
              </a:xfrm>
              <a:prstGeom prst="rect">
                <a:avLst/>
              </a:prstGeom>
              <a:blipFill>
                <a:blip r:embed="rId7"/>
                <a:stretch>
                  <a:fillRect b="-26667"/>
                </a:stretch>
              </a:blipFill>
              <a:ln/>
            </p:spPr>
            <p:txBody>
              <a:bodyPr/>
              <a:lstStyle/>
              <a:p>
                <a:r>
                  <a:rPr lang="tr-TR">
                    <a:noFill/>
                  </a:rPr>
                  <a:t/>
                </a:r>
              </a:p>
            </p:txBody>
          </p:sp>
        </mc:Fallback>
      </mc:AlternateContent>
      <mc:AlternateContent xmlns:mc="http://schemas.openxmlformats.org/markup-compatibility/2006" xmlns:a14="http://schemas.microsoft.com/office/drawing/2010/main">
        <mc:Choice Requires="a14">
          <p:sp>
            <p:nvSpPr>
              <p:cNvPr id="11" name="Text 7"/>
              <p:cNvSpPr/>
              <p:nvPr/>
            </p:nvSpPr>
            <p:spPr>
              <a:xfrm>
                <a:off x="6355080" y="2286000"/>
                <a:ext cx="5394960" cy="1737360"/>
              </a:xfrm>
              <a:prstGeom prst="rect">
                <a:avLst/>
              </a:prstGeom>
              <a:noFill/>
              <a:ln/>
            </p:spPr>
            <p:txBody>
              <a:bodyPr wrap="square" lIns="0" tIns="0" rIns="0" bIns="0" rtlCol="0" anchor="t"/>
              <a:lstStyle/>
              <a:p>
                <a:pPr marL="152400" indent="-152400">
                  <a:lnSpc>
                    <a:spcPct val="104000"/>
                  </a:lnSpc>
                  <a:spcAft>
                    <a:spcPts val="600"/>
                  </a:spcAft>
                  <a:buSzPct val="100000"/>
                  <a:buChar char="•"/>
                </a:pPr>
                <a:r>
                  <a:rPr lang="en-US" sz="1350">
                    <a:solidFill>
                      <a:srgbClr val="222222"/>
                    </a:solidFill>
                    <a:latin typeface="Calibri" pitchFamily="34" charset="0"/>
                    <a:ea typeface="Calibri" pitchFamily="34" charset="-122"/>
                    <a:cs typeface="Calibri" pitchFamily="34" charset="-120"/>
                  </a:rPr>
                  <a:t>each demanding concept ↔ its answering family</a:t>
                </a:r>
              </a:p>
              <a:p>
                <a:pPr marL="609600" lvl="1" indent="-152400">
                  <a:lnSpc>
                    <a:spcPct val="104000"/>
                  </a:lnSpc>
                  <a:spcAft>
                    <a:spcPts val="600"/>
                  </a:spcAft>
                  <a:buSzPct val="100000"/>
                  <a:buChar char="•"/>
                </a:pPr>
                <a:r>
                  <a:rPr lang="en-US" sz="1350">
                    <a:solidFill>
                      <a:srgbClr val="222222"/>
                    </a:solidFill>
                    <a:latin typeface="Calibri" pitchFamily="34" charset="0"/>
                    <a:ea typeface="Calibri" pitchFamily="34" charset="-122"/>
                    <a:cs typeface="Calibri" pitchFamily="34" charset="-120"/>
                  </a:rPr>
                  <a:t>threat ↔ suppression · assets ↔ protection · urgency ↔ deployment · evacuation ↔ evacuation &amp; warning</a:t>
                </a:r>
              </a:p>
              <a:p>
                <a:pPr marL="609600" lvl="1" indent="-152400">
                  <a:lnSpc>
                    <a:spcPct val="104000"/>
                  </a:lnSpc>
                  <a:spcAft>
                    <a:spcPts val="600"/>
                  </a:spcAft>
                  <a:buSzPct val="100000"/>
                  <a:buChar char="•"/>
                </a:pPr>
                <a:r>
                  <a:rPr lang="en-US" sz="1350">
                    <a:solidFill>
                      <a:srgbClr val="222222"/>
                    </a:solidFill>
                    <a:latin typeface="Calibri" pitchFamily="34" charset="0"/>
                    <a:ea typeface="Calibri" pitchFamily="34" charset="-122"/>
                    <a:cs typeface="Calibri" pitchFamily="34" charset="-120"/>
                  </a:rPr>
                  <a:t>feasibility excluded — a modulator, not a demander</a:t>
                </a:r>
              </a:p>
              <a:p>
                <a:pPr marL="152400" indent="-152400">
                  <a:lnSpc>
                    <a:spcPct val="104000"/>
                  </a:lnSpc>
                  <a:spcAft>
                    <a:spcPts val="600"/>
                  </a:spcAft>
                  <a:buSzPct val="100000"/>
                  <a:buChar char="•"/>
                </a:pPr>
                <a:r>
                  <a:rPr lang="en-US" sz="1350" b="1">
                    <a:solidFill>
                      <a:srgbClr val="222222"/>
                    </a:solidFill>
                    <a:latin typeface="Calibri" pitchFamily="34" charset="0"/>
                    <a:ea typeface="Calibri" pitchFamily="34" charset="-122"/>
                    <a:cs typeface="Calibri" pitchFamily="34" charset="-120"/>
                  </a:rPr>
                  <a:t>Accept ⇔ </a:t>
                </a:r>
                <a14:m>
                  <m:oMath xmlns:m="http://schemas.openxmlformats.org/officeDocument/2006/math">
                    <m:r>
                      <a:rPr lang="en-US" sz="1250">
                        <a:latin typeface="Cambria Math"/>
                      </a:rPr>
                      <m:t>𝑄</m:t>
                    </m:r>
                    <m:r>
                      <a:rPr lang="en-US" sz="1250">
                        <a:latin typeface="Cambria Math"/>
                      </a:rPr>
                      <m:t> ≥ </m:t>
                    </m:r>
                    <m:r>
                      <a:rPr lang="en-US" sz="1250">
                        <a:latin typeface="Cambria Math"/>
                      </a:rPr>
                      <m:t>𝜂</m:t>
                    </m:r>
                  </m:oMath>
                </a14:m>
                <a:r>
                  <a:rPr lang="en-US" sz="1350" b="1">
                    <a:solidFill>
                      <a:srgbClr val="222222"/>
                    </a:solidFill>
                    <a:latin typeface="Calibri" pitchFamily="34" charset="0"/>
                    <a:ea typeface="Calibri" pitchFamily="34" charset="-122"/>
                    <a:cs typeface="Calibri" pitchFamily="34" charset="-120"/>
                  </a:rPr>
                  <a:t> = 0.60</a:t>
                </a:r>
                <a:endParaRPr lang="en-US" sz="1350" dirty="0"/>
              </a:p>
            </p:txBody>
          </p:sp>
        </mc:Choice>
        <mc:Fallback xmlns="">
          <p:sp>
            <p:nvSpPr>
              <p:cNvPr id="11" name="Text 7"/>
              <p:cNvSpPr/>
              <p:nvPr/>
            </p:nvSpPr>
            <p:spPr>
              <a:xfrm>
                <a:off x="6355080" y="2286000"/>
                <a:ext cx="5394960" cy="1737360"/>
              </a:xfrm>
              <a:prstGeom prst="rect">
                <a:avLst/>
              </a:prstGeom>
              <a:noFill/>
              <a:ln/>
            </p:spPr>
            <p:txBody>
              <a:bodyPr wrap="square" lIns="0" tIns="0" rIns="0" bIns="0" rtlCol="0" anchor="t"/>
              <a:lstStyle/>
              <a:p>
                <a:pPr marL="152400" indent="-152400">
                  <a:lnSpc>
                    <a:spcPct val="104000"/>
                  </a:lnSpc>
                  <a:spcAft>
                    <a:spcPts val="600"/>
                  </a:spcAft>
                  <a:buSzPct val="100000"/>
                  <a:buChar char="•"/>
                </a:pPr>
                <a:r>
                  <a:rPr lang="en-US" sz="1350">
                    <a:solidFill>
                      <a:srgbClr val="222222"/>
                    </a:solidFill>
                    <a:latin typeface="Calibri" pitchFamily="34" charset="0"/>
                    <a:ea typeface="Calibri" pitchFamily="34" charset="-122"/>
                    <a:cs typeface="Calibri" pitchFamily="34" charset="-120"/>
                  </a:rPr>
                  <a:t>each demanding concept ↔ its answering family</a:t>
                </a:r>
              </a:p>
              <a:p>
                <a:pPr marL="609600" lvl="1" indent="-152400">
                  <a:lnSpc>
                    <a:spcPct val="104000"/>
                  </a:lnSpc>
                  <a:spcAft>
                    <a:spcPts val="600"/>
                  </a:spcAft>
                  <a:buSzPct val="100000"/>
                  <a:buChar char="•"/>
                </a:pPr>
                <a:r>
                  <a:rPr lang="en-US" sz="1350">
                    <a:solidFill>
                      <a:srgbClr val="222222"/>
                    </a:solidFill>
                    <a:latin typeface="Calibri" pitchFamily="34" charset="0"/>
                    <a:ea typeface="Calibri" pitchFamily="34" charset="-122"/>
                    <a:cs typeface="Calibri" pitchFamily="34" charset="-120"/>
                  </a:rPr>
                  <a:t>threat ↔ suppression · assets ↔ protection · urgency ↔ deployment · evacuation ↔ evacuation &amp; warning</a:t>
                </a:r>
              </a:p>
              <a:p>
                <a:pPr marL="609600" lvl="1" indent="-152400">
                  <a:lnSpc>
                    <a:spcPct val="104000"/>
                  </a:lnSpc>
                  <a:spcAft>
                    <a:spcPts val="600"/>
                  </a:spcAft>
                  <a:buSzPct val="100000"/>
                  <a:buChar char="•"/>
                </a:pPr>
                <a:r>
                  <a:rPr lang="en-US" sz="1350">
                    <a:solidFill>
                      <a:srgbClr val="222222"/>
                    </a:solidFill>
                    <a:latin typeface="Calibri" pitchFamily="34" charset="0"/>
                    <a:ea typeface="Calibri" pitchFamily="34" charset="-122"/>
                    <a:cs typeface="Calibri" pitchFamily="34" charset="-120"/>
                  </a:rPr>
                  <a:t>feasibility excluded — a modulator, not a demander</a:t>
                </a:r>
              </a:p>
              <a:p>
                <a:pPr marL="152400" indent="-152400">
                  <a:lnSpc>
                    <a:spcPct val="104000"/>
                  </a:lnSpc>
                  <a:spcAft>
                    <a:spcPts val="600"/>
                  </a:spcAft>
                  <a:buSzPct val="100000"/>
                  <a:buChar char="•"/>
                </a:pPr>
                <a:r>
                  <a:rPr lang="en-US" sz="1350" b="1">
                    <a:solidFill>
                      <a:srgbClr val="222222"/>
                    </a:solidFill>
                    <a:latin typeface="Calibri" pitchFamily="34" charset="0"/>
                    <a:ea typeface="Calibri" pitchFamily="34" charset="-122"/>
                    <a:cs typeface="Calibri" pitchFamily="34" charset="-120"/>
                  </a:rPr>
                  <a:t xml:space="preserve">Accept ⇔ </a:t>
                </a:r>
                <a:r>
                  <a:rPr lang="en-US" sz="1250" i="1">
                    <a:latin typeface="Cambria Math"/>
                  </a:rPr>
                  <a:t>𝑄 ≥ 𝜂</a:t>
                </a:r>
                <a:r>
                  <a:rPr lang="en-US" sz="1350" b="1">
                    <a:solidFill>
                      <a:srgbClr val="222222"/>
                    </a:solidFill>
                    <a:latin typeface="Calibri" pitchFamily="34" charset="0"/>
                    <a:ea typeface="Calibri" pitchFamily="34" charset="-122"/>
                    <a:cs typeface="Calibri" pitchFamily="34" charset="-120"/>
                  </a:rPr>
                  <a:t xml:space="preserve"> = 0.60</a:t>
                </a:r>
                <a:endParaRPr lang="en-US" sz="1350" dirty="0"/>
              </a:p>
            </p:txBody>
          </p:sp>
        </mc:Fallback>
      </mc:AlternateContent>
      <p:sp>
        <p:nvSpPr>
          <p:cNvPr id="12" name="Shape 8"/>
          <p:cNvSpPr/>
          <p:nvPr/>
        </p:nvSpPr>
        <p:spPr>
          <a:xfrm>
            <a:off x="457200" y="4411980"/>
            <a:ext cx="11247120" cy="2240280"/>
          </a:xfrm>
          <a:prstGeom prst="roundRect">
            <a:avLst>
              <a:gd name="adj" fmla="val 2041"/>
            </a:avLst>
          </a:prstGeom>
          <a:solidFill>
            <a:srgbClr val="FDE8EB"/>
          </a:solidFill>
          <a:ln/>
        </p:spPr>
        <p:txBody>
          <a:bodyPr/>
          <a:lstStyle/>
          <a:p>
            <a:endParaRPr lang="tr-TR"/>
          </a:p>
        </p:txBody>
      </p:sp>
      <p:sp>
        <p:nvSpPr>
          <p:cNvPr id="13" name="Text 9"/>
          <p:cNvSpPr/>
          <p:nvPr/>
        </p:nvSpPr>
        <p:spPr>
          <a:xfrm>
            <a:off x="731520" y="4489704"/>
            <a:ext cx="10698480" cy="292608"/>
          </a:xfrm>
          <a:prstGeom prst="rect">
            <a:avLst/>
          </a:prstGeom>
          <a:noFill/>
          <a:ln/>
        </p:spPr>
        <p:txBody>
          <a:bodyPr wrap="square" lIns="0" tIns="0" rIns="0" bIns="0" rtlCol="0" anchor="ctr"/>
          <a:lstStyle/>
          <a:p>
            <a:pPr marL="0" indent="0">
              <a:buNone/>
            </a:pPr>
            <a:r>
              <a:rPr lang="en-US" sz="1400" b="1" dirty="0">
                <a:solidFill>
                  <a:srgbClr val="E31836"/>
                </a:solidFill>
                <a:latin typeface="Calibri" pitchFamily="34" charset="0"/>
                <a:ea typeface="Calibri" pitchFamily="34" charset="-122"/>
                <a:cs typeface="Calibri" pitchFamily="34" charset="-120"/>
              </a:rPr>
              <a:t>Why two stages — the failures are orthogonal</a:t>
            </a:r>
            <a:endParaRPr lang="en-US" sz="1400" dirty="0"/>
          </a:p>
        </p:txBody>
      </p:sp>
      <p:sp>
        <p:nvSpPr>
          <p:cNvPr id="14" name="Text 10"/>
          <p:cNvSpPr/>
          <p:nvPr/>
        </p:nvSpPr>
        <p:spPr>
          <a:xfrm>
            <a:off x="777240" y="4914900"/>
            <a:ext cx="10698480" cy="1645920"/>
          </a:xfrm>
          <a:prstGeom prst="rect">
            <a:avLst/>
          </a:prstGeom>
          <a:noFill/>
          <a:ln/>
        </p:spPr>
        <p:txBody>
          <a:bodyPr wrap="square" lIns="0" tIns="0" rIns="0" bIns="0" rtlCol="0" anchor="t"/>
          <a:lstStyle/>
          <a:p>
            <a:pPr marL="152400" indent="-152400">
              <a:lnSpc>
                <a:spcPct val="104000"/>
              </a:lnSpc>
              <a:spcAft>
                <a:spcPts val="600"/>
              </a:spcAft>
              <a:buSzPct val="100000"/>
              <a:buChar char="•"/>
            </a:pPr>
            <a:r>
              <a:rPr lang="en-US" sz="1500">
                <a:solidFill>
                  <a:srgbClr val="222222"/>
                </a:solidFill>
                <a:latin typeface="Calibri" pitchFamily="34" charset="0"/>
                <a:ea typeface="Calibri" pitchFamily="34" charset="-122"/>
                <a:cs typeface="Calibri" pitchFamily="34" charset="-120"/>
              </a:rPr>
              <a:t>Cheap but blind: cost passes, an urgent evacuation is ignored — only Q catches it</a:t>
            </a:r>
            <a:endParaRPr lang="en-US" sz="1500" dirty="0"/>
          </a:p>
          <a:p>
            <a:pPr marL="152400" indent="-152400">
              <a:lnSpc>
                <a:spcPct val="104000"/>
              </a:lnSpc>
              <a:spcAft>
                <a:spcPts val="600"/>
              </a:spcAft>
              <a:buSzPct val="100000"/>
              <a:buChar char="•"/>
            </a:pPr>
            <a:r>
              <a:rPr lang="en-US" sz="1500">
                <a:solidFill>
                  <a:srgbClr val="222222"/>
                </a:solidFill>
                <a:latin typeface="Calibri" pitchFamily="34" charset="0"/>
                <a:ea typeface="Calibri" pitchFamily="34" charset="-122"/>
                <a:cs typeface="Calibri" pitchFamily="34" charset="-120"/>
              </a:rPr>
              <a:t>Aimed but wasteful: quality passes, cost stays above the bound — only J catches it</a:t>
            </a:r>
            <a:endParaRPr lang="en-US" sz="1500" dirty="0"/>
          </a:p>
          <a:p>
            <a:pPr marL="152400" indent="-152400">
              <a:lnSpc>
                <a:spcPct val="104000"/>
              </a:lnSpc>
              <a:spcAft>
                <a:spcPts val="600"/>
              </a:spcAft>
              <a:buSzPct val="100000"/>
              <a:buChar char="•"/>
            </a:pPr>
            <a:r>
              <a:rPr lang="en-US" sz="1500" b="1">
                <a:solidFill>
                  <a:srgbClr val="222222"/>
                </a:solidFill>
                <a:latin typeface="Calibri" pitchFamily="34" charset="0"/>
                <a:ea typeface="Calibri" pitchFamily="34" charset="-122"/>
                <a:cs typeface="Calibri" pitchFamily="34" charset="-120"/>
              </a:rPr>
              <a:t>Two gates → each failure visible &amp; separately repaired: cost → adaptation · quality → fail-safe</a:t>
            </a:r>
            <a:endParaRPr lang="en-US" sz="15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37744"/>
            <a:ext cx="100584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DSS FRAMEWORK : LAYER 4 OF 4</a:t>
            </a:r>
            <a:endParaRPr lang="en-US" sz="1300" dirty="0"/>
          </a:p>
        </p:txBody>
      </p:sp>
      <p:sp>
        <p:nvSpPr>
          <p:cNvPr id="3" name="Text 1"/>
          <p:cNvSpPr/>
          <p:nvPr/>
        </p:nvSpPr>
        <p:spPr>
          <a:xfrm>
            <a:off x="502920" y="493776"/>
            <a:ext cx="11247120" cy="621792"/>
          </a:xfrm>
          <a:prstGeom prst="rect">
            <a:avLst/>
          </a:prstGeom>
          <a:noFill/>
          <a:ln/>
        </p:spPr>
        <p:txBody>
          <a:bodyPr wrap="square" lIns="0" tIns="0" rIns="0" bIns="0" rtlCol="0" anchor="ctr"/>
          <a:lstStyle/>
          <a:p>
            <a:pPr marL="0" indent="0">
              <a:buNone/>
            </a:pPr>
            <a:r>
              <a:rPr lang="en-US" sz="2500" b="1" dirty="0">
                <a:solidFill>
                  <a:srgbClr val="000000"/>
                </a:solidFill>
                <a:latin typeface="Cambria" pitchFamily="34" charset="0"/>
                <a:ea typeface="Cambria" pitchFamily="34" charset="-122"/>
                <a:cs typeface="Cambria" pitchFamily="34" charset="-120"/>
              </a:rPr>
              <a:t>The Cost Test, Term by Term</a:t>
            </a:r>
            <a:endParaRPr lang="en-US" sz="2500" dirty="0"/>
          </a:p>
        </p:txBody>
      </p:sp>
      <p:pic>
        <p:nvPicPr>
          <p:cNvPr id="4"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5"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p:graphicFrame>
        <p:nvGraphicFramePr>
          <p:cNvPr id="7" name="Table 0"/>
          <p:cNvGraphicFramePr>
            <a:graphicFrameLocks noGrp="1"/>
          </p:cNvGraphicFramePr>
          <p:nvPr/>
        </p:nvGraphicFramePr>
        <p:xfrm>
          <a:off x="457200" y="1371600"/>
          <a:ext cx="5577840" cy="2688336"/>
        </p:xfrm>
        <a:graphic>
          <a:graphicData uri="http://schemas.openxmlformats.org/drawingml/2006/table">
            <a:tbl>
              <a:tblPr/>
              <a:tblGrid>
                <a:gridCol w="219456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3840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Cost term</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Weight w</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Candidate</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No action</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384048">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Burned area</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300" dirty="0">
                          <a:solidFill>
                            <a:srgbClr val="222222"/>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300" dirty="0">
                          <a:solidFill>
                            <a:srgbClr val="222222"/>
                          </a:solidFill>
                          <a:latin typeface="Calibri" pitchFamily="34" charset="0"/>
                          <a:ea typeface="Calibri" pitchFamily="34" charset="-122"/>
                          <a:cs typeface="Calibri" pitchFamily="34" charset="-120"/>
                        </a:rPr>
                        <a:t>0.5218</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300" dirty="0">
                          <a:solidFill>
                            <a:srgbClr val="222222"/>
                          </a:solidFill>
                          <a:latin typeface="Calibri" pitchFamily="34" charset="0"/>
                          <a:ea typeface="Calibri" pitchFamily="34" charset="-122"/>
                          <a:cs typeface="Calibri" pitchFamily="34" charset="-120"/>
                        </a:rPr>
                        <a:t>0.5376</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Asset loss</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300" dirty="0">
                          <a:solidFill>
                            <a:srgbClr val="222222"/>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300" dirty="0">
                          <a:solidFill>
                            <a:srgbClr val="222222"/>
                          </a:solidFill>
                          <a:latin typeface="Calibri" pitchFamily="34" charset="0"/>
                          <a:ea typeface="Calibri" pitchFamily="34" charset="-122"/>
                          <a:cs typeface="Calibri" pitchFamily="34" charset="-120"/>
                        </a:rPr>
                        <a:t>0.2226</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300" dirty="0">
                          <a:solidFill>
                            <a:srgbClr val="222222"/>
                          </a:solidFill>
                          <a:latin typeface="Calibri" pitchFamily="34" charset="0"/>
                          <a:ea typeface="Calibri" pitchFamily="34" charset="-122"/>
                          <a:cs typeface="Calibri" pitchFamily="34" charset="-120"/>
                        </a:rPr>
                        <a:t>0.3061</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Population exposure</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300" dirty="0">
                          <a:solidFill>
                            <a:srgbClr val="222222"/>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300" dirty="0">
                          <a:solidFill>
                            <a:srgbClr val="222222"/>
                          </a:solidFill>
                          <a:latin typeface="Calibri" pitchFamily="34" charset="0"/>
                          <a:ea typeface="Calibri" pitchFamily="34" charset="-122"/>
                          <a:cs typeface="Calibri" pitchFamily="34" charset="-120"/>
                        </a:rPr>
                        <a:t>0.0004</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300" dirty="0">
                          <a:solidFill>
                            <a:srgbClr val="222222"/>
                          </a:solidFill>
                          <a:latin typeface="Calibri" pitchFamily="34" charset="0"/>
                          <a:ea typeface="Calibri" pitchFamily="34" charset="-122"/>
                          <a:cs typeface="Calibri" pitchFamily="34" charset="-120"/>
                        </a:rPr>
                        <a:t>0.0008</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Response effort</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300" dirty="0">
                          <a:solidFill>
                            <a:srgbClr val="222222"/>
                          </a:solidFill>
                          <a:latin typeface="Calibri" pitchFamily="34" charset="0"/>
                          <a:ea typeface="Calibri" pitchFamily="34" charset="-122"/>
                          <a:cs typeface="Calibri" pitchFamily="34" charset="-120"/>
                        </a:rPr>
                        <a:t>0.2</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300" dirty="0">
                          <a:solidFill>
                            <a:srgbClr val="222222"/>
                          </a:solidFill>
                          <a:latin typeface="Calibri" pitchFamily="34" charset="0"/>
                          <a:ea typeface="Calibri" pitchFamily="34" charset="-122"/>
                          <a:cs typeface="Calibri" pitchFamily="34" charset="-120"/>
                        </a:rPr>
                        <a:t>0.0549</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300" dirty="0">
                          <a:solidFill>
                            <a:srgbClr val="222222"/>
                          </a:solidFill>
                          <a:latin typeface="Calibri" pitchFamily="34" charset="0"/>
                          <a:ea typeface="Calibri" pitchFamily="34" charset="-122"/>
                          <a:cs typeface="Calibri" pitchFamily="34" charset="-120"/>
                        </a:rPr>
                        <a:t>0.0300</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Response delay</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300" dirty="0">
                          <a:solidFill>
                            <a:srgbClr val="222222"/>
                          </a:solidFill>
                          <a:latin typeface="Calibri" pitchFamily="34" charset="0"/>
                          <a:ea typeface="Calibri" pitchFamily="34" charset="-122"/>
                          <a:cs typeface="Calibri" pitchFamily="34" charset="-120"/>
                        </a:rPr>
                        <a:t>0.2</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300" dirty="0">
                          <a:solidFill>
                            <a:srgbClr val="222222"/>
                          </a:solidFill>
                          <a:latin typeface="Calibri" pitchFamily="34" charset="0"/>
                          <a:ea typeface="Calibri" pitchFamily="34" charset="-122"/>
                          <a:cs typeface="Calibri" pitchFamily="34" charset="-120"/>
                        </a:rPr>
                        <a:t>0.2230</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300" dirty="0">
                          <a:solidFill>
                            <a:srgbClr val="222222"/>
                          </a:solidFill>
                          <a:latin typeface="Calibri" pitchFamily="34" charset="0"/>
                          <a:ea typeface="Calibri" pitchFamily="34" charset="-122"/>
                          <a:cs typeface="Calibri" pitchFamily="34" charset="-120"/>
                        </a:rPr>
                        <a:t>0.0000</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buNone/>
                      </a:pPr>
                      <a:r>
                        <a:rPr lang="en-US" sz="1300" b="1" dirty="0">
                          <a:solidFill>
                            <a:srgbClr val="222222"/>
                          </a:solidFill>
                          <a:latin typeface="Calibri" pitchFamily="34" charset="0"/>
                          <a:ea typeface="Calibri" pitchFamily="34" charset="-122"/>
                          <a:cs typeface="Calibri" pitchFamily="34" charset="-120"/>
                        </a:rPr>
                        <a:t>Weighted sum</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300" b="1" dirty="0">
                          <a:solidFill>
                            <a:srgbClr val="E31836"/>
                          </a:solidFill>
                          <a:latin typeface="Calibri" pitchFamily="34" charset="0"/>
                          <a:ea typeface="Calibri" pitchFamily="34" charset="-122"/>
                          <a:cs typeface="Calibri" pitchFamily="34" charset="-120"/>
                        </a:rPr>
                        <a:t>0.8004</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300" b="1" dirty="0">
                          <a:solidFill>
                            <a:srgbClr val="E31836"/>
                          </a:solidFill>
                          <a:latin typeface="Calibri" pitchFamily="34" charset="0"/>
                          <a:ea typeface="Calibri" pitchFamily="34" charset="-122"/>
                          <a:cs typeface="Calibri" pitchFamily="34" charset="-120"/>
                        </a:rPr>
                        <a:t>0.8506</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6" name="Text 2"/>
          <p:cNvSpPr/>
          <p:nvPr/>
        </p:nvSpPr>
        <p:spPr>
          <a:xfrm>
            <a:off x="457200" y="4206240"/>
            <a:ext cx="5577840" cy="868680"/>
          </a:xfrm>
          <a:prstGeom prst="rect">
            <a:avLst/>
          </a:prstGeom>
          <a:noFill/>
          <a:ln/>
        </p:spPr>
        <p:txBody>
          <a:bodyPr wrap="square" lIns="0" tIns="0" rIns="0" bIns="0" rtlCol="0" anchor="t"/>
          <a:lstStyle/>
          <a:p>
            <a:pPr marL="0" indent="0">
              <a:lnSpc>
                <a:spcPct val="104000"/>
              </a:lnSpc>
              <a:buNone/>
            </a:pPr>
            <a:r>
              <a:rPr lang="en-US" sz="1300">
                <a:solidFill>
                  <a:srgbClr val="222222"/>
                </a:solidFill>
                <a:latin typeface="Calibri" pitchFamily="34" charset="0"/>
                <a:ea typeface="Calibri" pitchFamily="34" charset="-122"/>
                <a:cs typeface="Calibri" pitchFamily="34" charset="-120"/>
              </a:rPr>
              <a:t>w = 1.0 physical, 0.2 bookkeeping → total weight 3.4 (= default 0.29 / 0.29 / 0.29 / 0.06 / 0.06)</a:t>
            </a:r>
            <a:endParaRPr lang="en-US" sz="1300" dirty="0"/>
          </a:p>
        </p:txBody>
      </p:sp>
      <p:sp>
        <p:nvSpPr>
          <p:cNvPr id="8" name="Text 3"/>
          <p:cNvSpPr/>
          <p:nvPr/>
        </p:nvSpPr>
        <p:spPr>
          <a:xfrm>
            <a:off x="6400800" y="1325880"/>
            <a:ext cx="5349240" cy="292608"/>
          </a:xfrm>
          <a:prstGeom prst="rect">
            <a:avLst/>
          </a:prstGeom>
          <a:noFill/>
          <a:ln/>
        </p:spPr>
        <p:txBody>
          <a:bodyPr wrap="square" lIns="0" tIns="0" rIns="0" bIns="0" rtlCol="0" anchor="ctr"/>
          <a:lstStyle/>
          <a:p>
            <a:pPr marL="0" indent="0">
              <a:buNone/>
            </a:pPr>
            <a:r>
              <a:rPr lang="en-US" sz="1400" b="1" dirty="0">
                <a:solidFill>
                  <a:srgbClr val="E31836"/>
                </a:solidFill>
                <a:latin typeface="Calibri" pitchFamily="34" charset="0"/>
                <a:ea typeface="Calibri" pitchFamily="34" charset="-122"/>
                <a:cs typeface="Calibri" pitchFamily="34" charset="-120"/>
              </a:rPr>
              <a:t>Where every number comes from</a:t>
            </a:r>
            <a:endParaRPr lang="en-US" sz="1400" dirty="0"/>
          </a:p>
        </p:txBody>
      </p:sp>
      <mc:AlternateContent xmlns:mc="http://schemas.openxmlformats.org/markup-compatibility/2006" xmlns:a14="http://schemas.microsoft.com/office/drawing/2010/main">
        <mc:Choice Requires="a14">
          <p:sp>
            <p:nvSpPr>
              <p:cNvPr id="9" name="Text 4"/>
              <p:cNvSpPr/>
              <p:nvPr/>
            </p:nvSpPr>
            <p:spPr>
              <a:xfrm>
                <a:off x="6400800" y="1664208"/>
                <a:ext cx="5349240" cy="777240"/>
              </a:xfrm>
              <a:prstGeom prst="rect">
                <a:avLst/>
              </a:prstGeom>
              <a:noFill/>
              <a:ln/>
            </p:spPr>
            <p:txBody>
              <a:bodyPr wrap="square" lIns="0" tIns="0" rIns="0" bIns="0" rtlCol="0" anchor="ctr"/>
              <a:lstStyle/>
              <a:p>
                <a:pPr marL="0" indent="0" algn="ctr">
                  <a:buNone/>
                </a:pPr>
                <a14:m>
                  <m:oMathPara xmlns:m="http://schemas.openxmlformats.org/officeDocument/2006/math">
                    <m:oMathParaPr>
                      <m:jc m:val="centerGroup"/>
                    </m:oMathParaPr>
                    <m:oMath xmlns:m="http://schemas.openxmlformats.org/officeDocument/2006/math">
                      <m:acc>
                        <m:accPr>
                          <m:chr m:val="̂"/>
                          <m:ctrlPr>
                            <a:rPr lang="en-US" sz="1400" i="1">
                              <a:latin typeface="Cambria Math" panose="02040503050406030204" pitchFamily="18" charset="0"/>
                            </a:rPr>
                          </m:ctrlPr>
                        </m:accPr>
                        <m:e>
                          <m:sSub>
                            <m:sSubPr>
                              <m:ctrlPr>
                                <a:rPr lang="en-US" sz="1400" i="1">
                                  <a:latin typeface="Cambria Math" panose="02040503050406030204" pitchFamily="18" charset="0"/>
                                </a:rPr>
                              </m:ctrlPr>
                            </m:sSubPr>
                            <m:e>
                              <m:r>
                                <a:rPr lang="en-US" sz="1400">
                                  <a:latin typeface="Cambria Math"/>
                                </a:rPr>
                                <m:t>𝐽</m:t>
                              </m:r>
                            </m:e>
                            <m:sub>
                              <m:r>
                                <m:rPr>
                                  <m:sty m:val="p"/>
                                </m:rPr>
                                <a:rPr lang="en-US" sz="1400">
                                  <a:latin typeface="Cambria Math"/>
                                </a:rPr>
                                <m:t>k</m:t>
                              </m:r>
                            </m:sub>
                          </m:sSub>
                        </m:e>
                      </m:acc>
                      <m:d>
                        <m:dPr>
                          <m:ctrlPr>
                            <a:rPr lang="en-US" sz="1400" i="1">
                              <a:latin typeface="Cambria Math" panose="02040503050406030204" pitchFamily="18" charset="0"/>
                            </a:rPr>
                          </m:ctrlPr>
                        </m:dPr>
                        <m:e>
                          <m:r>
                            <a:rPr lang="en-US" sz="1400">
                              <a:latin typeface="Cambria Math"/>
                            </a:rPr>
                            <m:t>𝑈</m:t>
                          </m:r>
                        </m:e>
                      </m:d>
                      <m:r>
                        <m:rPr>
                          <m:aln/>
                        </m:rPr>
                        <a:rPr lang="en-US" sz="1400">
                          <a:latin typeface="Cambria Math"/>
                        </a:rPr>
                        <m:t>=</m:t>
                      </m:r>
                      <m:r>
                        <a:rPr lang="en-US" sz="1400">
                          <a:latin typeface="Cambria Math"/>
                        </a:rPr>
                        <m:t> </m:t>
                      </m:r>
                      <m:f>
                        <m:fPr>
                          <m:ctrlPr>
                            <a:rPr lang="en-US" sz="1400" i="1">
                              <a:latin typeface="Cambria Math" panose="02040503050406030204" pitchFamily="18" charset="0"/>
                            </a:rPr>
                          </m:ctrlPr>
                        </m:fPr>
                        <m:num>
                          <m:r>
                            <a:rPr lang="en-US" sz="1400">
                              <a:latin typeface="Cambria Math"/>
                            </a:rPr>
                            <m:t>0.8004</m:t>
                          </m:r>
                        </m:num>
                        <m:den>
                          <m:r>
                            <a:rPr lang="en-US" sz="1400">
                              <a:latin typeface="Cambria Math"/>
                            </a:rPr>
                            <m:t>3.4</m:t>
                          </m:r>
                        </m:den>
                      </m:f>
                      <m:r>
                        <a:rPr lang="en-US" sz="1400">
                          <a:latin typeface="Cambria Math"/>
                        </a:rPr>
                        <m:t> = 0.2354</m:t>
                      </m:r>
                    </m:oMath>
                  </m:oMathPara>
                </a14:m>
                <a:endParaRPr lang="en-US" sz="1300" dirty="0"/>
              </a:p>
            </p:txBody>
          </p:sp>
        </mc:Choice>
        <mc:Fallback xmlns="">
          <p:sp>
            <p:nvSpPr>
              <p:cNvPr id="9" name="Text 4"/>
              <p:cNvSpPr>
                <a:spLocks noRot="1" noChangeAspect="1" noMove="1" noResize="1" noEditPoints="1" noAdjustHandles="1" noChangeArrowheads="1" noChangeShapeType="1" noTextEdit="1"/>
              </p:cNvSpPr>
              <p:nvPr/>
            </p:nvSpPr>
            <p:spPr>
              <a:xfrm>
                <a:off x="6400800" y="1664208"/>
                <a:ext cx="5349240" cy="777240"/>
              </a:xfrm>
              <a:prstGeom prst="rect">
                <a:avLst/>
              </a:prstGeom>
              <a:blipFill>
                <a:blip r:embed="rId5"/>
                <a:stretch>
                  <a:fillRect/>
                </a:stretch>
              </a:blipFill>
              <a:ln/>
            </p:spPr>
            <p:txBody>
              <a:bodyPr/>
              <a:lstStyle/>
              <a:p>
                <a:r>
                  <a:rPr lang="tr-TR">
                    <a:noFill/>
                  </a:rPr>
                  <a:t/>
                </a:r>
              </a:p>
            </p:txBody>
          </p:sp>
        </mc:Fallback>
      </mc:AlternateContent>
      <mc:AlternateContent xmlns:mc="http://schemas.openxmlformats.org/markup-compatibility/2006" xmlns:a14="http://schemas.microsoft.com/office/drawing/2010/main">
        <mc:Choice Requires="a14">
          <p:sp>
            <p:nvSpPr>
              <p:cNvPr id="10" name="Text 5"/>
              <p:cNvSpPr/>
              <p:nvPr/>
            </p:nvSpPr>
            <p:spPr>
              <a:xfrm>
                <a:off x="6400800" y="2514600"/>
                <a:ext cx="5349240" cy="685800"/>
              </a:xfrm>
              <a:prstGeom prst="rect">
                <a:avLst/>
              </a:prstGeom>
              <a:noFill/>
              <a:ln/>
            </p:spPr>
            <p:txBody>
              <a:bodyPr wrap="square" lIns="0" tIns="0" rIns="0" bIns="0" rtlCol="0" anchor="ctr"/>
              <a:lstStyle/>
              <a:p>
                <a:pPr marL="0" indent="0" algn="ctr">
                  <a:buNone/>
                </a:pPr>
                <a14:m>
                  <m:oMathPara xmlns:m="http://schemas.openxmlformats.org/officeDocument/2006/math">
                    <m:oMathParaPr>
                      <m:jc m:val="centerGroup"/>
                    </m:oMathParaPr>
                    <m:oMath xmlns:m="http://schemas.openxmlformats.org/officeDocument/2006/math">
                      <m:r>
                        <a:rPr lang="en-US" sz="1400">
                          <a:latin typeface="Cambria Math"/>
                        </a:rPr>
                        <m:t>0.2354 ≤ </m:t>
                      </m:r>
                      <m:r>
                        <m:rPr>
                          <m:sty m:val="p"/>
                        </m:rPr>
                        <a:rPr lang="en-US" sz="1400">
                          <a:latin typeface="Cambria Math"/>
                        </a:rPr>
                        <m:t>min</m:t>
                      </m:r>
                      <m:r>
                        <a:rPr lang="en-US" sz="1400">
                          <a:latin typeface="Cambria Math"/>
                        </a:rPr>
                        <m:t>(0.35, (1−0.05)× 0.2502) = 0.2377</m:t>
                      </m:r>
                    </m:oMath>
                  </m:oMathPara>
                </a14:m>
                <a:endParaRPr lang="en-US" sz="1300" dirty="0"/>
              </a:p>
            </p:txBody>
          </p:sp>
        </mc:Choice>
        <mc:Fallback xmlns="">
          <p:sp>
            <p:nvSpPr>
              <p:cNvPr id="10" name="Text 5"/>
              <p:cNvSpPr>
                <a:spLocks noRot="1" noChangeAspect="1" noMove="1" noResize="1" noEditPoints="1" noAdjustHandles="1" noChangeArrowheads="1" noChangeShapeType="1" noTextEdit="1"/>
              </p:cNvSpPr>
              <p:nvPr/>
            </p:nvSpPr>
            <p:spPr>
              <a:xfrm>
                <a:off x="6400800" y="2514600"/>
                <a:ext cx="5349240" cy="685800"/>
              </a:xfrm>
              <a:prstGeom prst="rect">
                <a:avLst/>
              </a:prstGeom>
              <a:blipFill>
                <a:blip r:embed="rId6"/>
                <a:stretch>
                  <a:fillRect/>
                </a:stretch>
              </a:blipFill>
              <a:ln/>
            </p:spPr>
            <p:txBody>
              <a:bodyPr/>
              <a:lstStyle/>
              <a:p>
                <a:r>
                  <a:rPr lang="tr-TR">
                    <a:noFill/>
                  </a:rPr>
                  <a:t/>
                </a:r>
              </a:p>
            </p:txBody>
          </p:sp>
        </mc:Fallback>
      </mc:AlternateContent>
      <mc:AlternateContent xmlns:mc="http://schemas.openxmlformats.org/markup-compatibility/2006" xmlns:a14="http://schemas.microsoft.com/office/drawing/2010/main">
        <mc:Choice Requires="a14">
          <p:sp>
            <p:nvSpPr>
              <p:cNvPr id="11" name="Text 6"/>
              <p:cNvSpPr/>
              <p:nvPr/>
            </p:nvSpPr>
            <p:spPr>
              <a:xfrm>
                <a:off x="6400800" y="3310128"/>
                <a:ext cx="5349240" cy="3017520"/>
              </a:xfrm>
              <a:prstGeom prst="rect">
                <a:avLst/>
              </a:prstGeom>
              <a:noFill/>
              <a:ln/>
            </p:spPr>
            <p:txBody>
              <a:bodyPr wrap="square" lIns="0" tIns="0" rIns="0" bIns="0" rtlCol="0" anchor="t"/>
              <a:lstStyle/>
              <a:p>
                <a:pPr marL="152400" indent="-152400">
                  <a:lnSpc>
                    <a:spcPct val="104000"/>
                  </a:lnSpc>
                  <a:spcAft>
                    <a:spcPts val="600"/>
                  </a:spcAft>
                  <a:buSzPct val="100000"/>
                  <a:buChar char="•"/>
                </a:pPr>
                <a:r>
                  <a:rPr lang="en-US" sz="1400">
                    <a:solidFill>
                      <a:srgbClr val="222222"/>
                    </a:solidFill>
                    <a:latin typeface="Calibri" pitchFamily="34" charset="0"/>
                    <a:ea typeface="Calibri" pitchFamily="34" charset="-122"/>
                    <a:cs typeface="Calibri" pitchFamily="34" charset="-120"/>
                  </a:rPr>
                  <a:t>no-action: 0.8506 ÷ 3.4 → </a:t>
                </a:r>
                <a14:m>
                  <m:oMath xmlns:m="http://schemas.openxmlformats.org/officeDocument/2006/math">
                    <m:acc>
                      <m:accPr>
                        <m:chr m:val="̂"/>
                        <m:ctrlPr>
                          <a:rPr lang="en-US" sz="1250" i="1">
                            <a:latin typeface="Cambria Math" panose="02040503050406030204" pitchFamily="18" charset="0"/>
                          </a:rPr>
                        </m:ctrlPr>
                      </m:accPr>
                      <m:e>
                        <m:r>
                          <a:rPr lang="en-US" sz="1250">
                            <a:latin typeface="Cambria Math"/>
                          </a:rPr>
                          <m:t>𝐽</m:t>
                        </m:r>
                      </m:e>
                    </m:acc>
                    <m:r>
                      <a:rPr lang="en-US" sz="1250">
                        <a:latin typeface="Cambria Math"/>
                      </a:rPr>
                      <m:t>(0) = 0.2502</m:t>
                    </m:r>
                  </m:oMath>
                </a14:m>
                <a:endParaRPr lang="en-US" sz="1400" dirty="0"/>
              </a:p>
              <a:p>
                <a:pPr marL="152400" indent="-152400">
                  <a:lnSpc>
                    <a:spcPct val="104000"/>
                  </a:lnSpc>
                  <a:spcAft>
                    <a:spcPts val="600"/>
                  </a:spcAft>
                  <a:buSzPct val="100000"/>
                  <a:buChar char="•"/>
                </a:pPr>
                <a:r>
                  <a:rPr lang="en-US" sz="1400">
                    <a:solidFill>
                      <a:srgbClr val="222222"/>
                    </a:solidFill>
                    <a:latin typeface="Calibri" pitchFamily="34" charset="0"/>
                    <a:ea typeface="Calibri" pitchFamily="34" charset="-122"/>
                    <a:cs typeface="Calibri" pitchFamily="34" charset="-120"/>
                  </a:rPr>
                  <a:t>candidate: 0.8004 ÷ 3.4 → 0.2354</a:t>
                </a:r>
                <a:endParaRPr lang="en-US" sz="1400" dirty="0"/>
              </a:p>
              <a:p>
                <a:pPr marL="152400" indent="-152400">
                  <a:lnSpc>
                    <a:spcPct val="104000"/>
                  </a:lnSpc>
                  <a:spcAft>
                    <a:spcPts val="600"/>
                  </a:spcAft>
                  <a:buSzPct val="100000"/>
                  <a:buChar char="•"/>
                </a:pPr>
                <a:r>
                  <a:rPr lang="en-US" sz="1400">
                    <a:solidFill>
                      <a:srgbClr val="222222"/>
                    </a:solidFill>
                    <a:latin typeface="Calibri" pitchFamily="34" charset="0"/>
                    <a:ea typeface="Calibri" pitchFamily="34" charset="-122"/>
                    <a:cs typeface="Calibri" pitchFamily="34" charset="-120"/>
                  </a:rPr>
                  <a:t>bound = min(0.35, 0.95 × 0.2502) = 0.2377 — the margin binds</a:t>
                </a:r>
                <a:endParaRPr lang="en-US" sz="1400" dirty="0"/>
              </a:p>
              <a:p>
                <a:pPr marL="152400" indent="-152400">
                  <a:lnSpc>
                    <a:spcPct val="104000"/>
                  </a:lnSpc>
                  <a:spcAft>
                    <a:spcPts val="600"/>
                  </a:spcAft>
                  <a:buSzPct val="100000"/>
                  <a:buChar char="•"/>
                </a:pPr>
                <a:r>
                  <a:rPr lang="en-US" sz="1400" b="1">
                    <a:solidFill>
                      <a:srgbClr val="222222"/>
                    </a:solidFill>
                    <a:latin typeface="Calibri" pitchFamily="34" charset="0"/>
                    <a:ea typeface="Calibri" pitchFamily="34" charset="-122"/>
                    <a:cs typeface="Calibri" pitchFamily="34" charset="-120"/>
                  </a:rPr>
                  <a:t>0.2354 ≤ 0.2377 → accepted on cost</a:t>
                </a:r>
                <a:endParaRPr lang="en-US" sz="1400" dirty="0"/>
              </a:p>
            </p:txBody>
          </p:sp>
        </mc:Choice>
        <mc:Fallback xmlns="">
          <p:sp>
            <p:nvSpPr>
              <p:cNvPr id="11" name="Text 6"/>
              <p:cNvSpPr/>
              <p:nvPr/>
            </p:nvSpPr>
            <p:spPr>
              <a:xfrm>
                <a:off x="6400800" y="3310128"/>
                <a:ext cx="5349240" cy="3017520"/>
              </a:xfrm>
              <a:prstGeom prst="rect">
                <a:avLst/>
              </a:prstGeom>
              <a:noFill/>
              <a:ln/>
            </p:spPr>
            <p:txBody>
              <a:bodyPr wrap="square" lIns="0" tIns="0" rIns="0" bIns="0" rtlCol="0" anchor="t"/>
              <a:lstStyle/>
              <a:p>
                <a:pPr marL="152400" indent="-152400">
                  <a:lnSpc>
                    <a:spcPct val="104000"/>
                  </a:lnSpc>
                  <a:spcAft>
                    <a:spcPts val="600"/>
                  </a:spcAft>
                  <a:buSzPct val="100000"/>
                  <a:buChar char="•"/>
                </a:pPr>
                <a:r>
                  <a:rPr lang="en-US" sz="1400">
                    <a:solidFill>
                      <a:srgbClr val="222222"/>
                    </a:solidFill>
                    <a:latin typeface="Calibri" pitchFamily="34" charset="0"/>
                    <a:ea typeface="Calibri" pitchFamily="34" charset="-122"/>
                    <a:cs typeface="Calibri" pitchFamily="34" charset="-120"/>
                  </a:rPr>
                  <a:t xml:space="preserve">no-action: 0.8506 ÷ 3.4 → </a:t>
                </a:r>
                <a:r>
                  <a:rPr lang="en-US" sz="1250" i="1">
                    <a:latin typeface="Cambria Math"/>
                  </a:rPr>
                  <a:t>𝐽(0) = 0.2502</a:t>
                </a:r>
                <a:endParaRPr lang="en-US" sz="1400" dirty="0"/>
              </a:p>
              <a:p>
                <a:pPr marL="152400" indent="-152400">
                  <a:lnSpc>
                    <a:spcPct val="104000"/>
                  </a:lnSpc>
                  <a:spcAft>
                    <a:spcPts val="600"/>
                  </a:spcAft>
                  <a:buSzPct val="100000"/>
                  <a:buChar char="•"/>
                </a:pPr>
                <a:r>
                  <a:rPr lang="en-US" sz="1400">
                    <a:solidFill>
                      <a:srgbClr val="222222"/>
                    </a:solidFill>
                    <a:latin typeface="Calibri" pitchFamily="34" charset="0"/>
                    <a:ea typeface="Calibri" pitchFamily="34" charset="-122"/>
                    <a:cs typeface="Calibri" pitchFamily="34" charset="-120"/>
                  </a:rPr>
                  <a:t>candidate: 0.8004 ÷ 3.4 → 0.2354</a:t>
                </a:r>
                <a:endParaRPr lang="en-US" sz="1400" dirty="0"/>
              </a:p>
              <a:p>
                <a:pPr marL="152400" indent="-152400">
                  <a:lnSpc>
                    <a:spcPct val="104000"/>
                  </a:lnSpc>
                  <a:spcAft>
                    <a:spcPts val="600"/>
                  </a:spcAft>
                  <a:buSzPct val="100000"/>
                  <a:buChar char="•"/>
                </a:pPr>
                <a:r>
                  <a:rPr lang="en-US" sz="1400">
                    <a:solidFill>
                      <a:srgbClr val="222222"/>
                    </a:solidFill>
                    <a:latin typeface="Calibri" pitchFamily="34" charset="0"/>
                    <a:ea typeface="Calibri" pitchFamily="34" charset="-122"/>
                    <a:cs typeface="Calibri" pitchFamily="34" charset="-120"/>
                  </a:rPr>
                  <a:t>bound = min(0.35, 0.95 × 0.2502) = 0.2377 — the margin binds</a:t>
                </a:r>
                <a:endParaRPr lang="en-US" sz="1400" dirty="0"/>
              </a:p>
              <a:p>
                <a:pPr marL="152400" indent="-152400">
                  <a:lnSpc>
                    <a:spcPct val="104000"/>
                  </a:lnSpc>
                  <a:spcAft>
                    <a:spcPts val="600"/>
                  </a:spcAft>
                  <a:buSzPct val="100000"/>
                  <a:buChar char="•"/>
                </a:pPr>
                <a:r>
                  <a:rPr lang="en-US" sz="1400" b="1">
                    <a:solidFill>
                      <a:srgbClr val="222222"/>
                    </a:solidFill>
                    <a:latin typeface="Calibri" pitchFamily="34" charset="0"/>
                    <a:ea typeface="Calibri" pitchFamily="34" charset="-122"/>
                    <a:cs typeface="Calibri" pitchFamily="34" charset="-120"/>
                  </a:rPr>
                  <a:t>0.2354 ≤ 0.2377 → accepted on cost</a:t>
                </a:r>
                <a:endParaRPr lang="en-US" sz="1400" dirty="0"/>
              </a:p>
            </p:txBody>
          </p:sp>
        </mc:Fallback>
      </mc:AlternateContent>
      <p:sp>
        <p:nvSpPr>
          <p:cNvPr id="13" name="TextBox 12">
            <a:extLst>
              <a:ext uri="{FF2B5EF4-FFF2-40B4-BE49-F238E27FC236}">
                <a16:creationId xmlns:a16="http://schemas.microsoft.com/office/drawing/2014/main" id="{D6045AC2-4721-5CF8-B894-A99603F83D67}"/>
              </a:ext>
            </a:extLst>
          </p:cNvPr>
          <p:cNvSpPr txBox="1"/>
          <p:nvPr/>
        </p:nvSpPr>
        <p:spPr>
          <a:xfrm>
            <a:off x="457200" y="5456203"/>
            <a:ext cx="5577840" cy="461665"/>
          </a:xfrm>
          <a:prstGeom prst="rect">
            <a:avLst/>
          </a:prstGeom>
          <a:noFill/>
        </p:spPr>
        <p:txBody>
          <a:bodyPr wrap="square">
            <a:spAutoFit/>
          </a:bodyPr>
          <a:lstStyle/>
          <a:p>
            <a:r>
              <a:rPr lang="tr-TR" sz="1300" err="1"/>
              <a:t>no action = no new orders; standing capacity still accrues effort, delay = 0</a:t>
            </a:r>
            <a:endParaRPr lang="tr-TR" sz="13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37744"/>
            <a:ext cx="100584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DSS FRAMEWORK : LAYER 4 OF 4</a:t>
            </a:r>
            <a:endParaRPr lang="en-US" sz="1300" dirty="0"/>
          </a:p>
        </p:txBody>
      </p:sp>
      <p:sp>
        <p:nvSpPr>
          <p:cNvPr id="3" name="Text 1"/>
          <p:cNvSpPr/>
          <p:nvPr/>
        </p:nvSpPr>
        <p:spPr>
          <a:xfrm>
            <a:off x="502920" y="493776"/>
            <a:ext cx="11247120" cy="621792"/>
          </a:xfrm>
          <a:prstGeom prst="rect">
            <a:avLst/>
          </a:prstGeom>
          <a:noFill/>
          <a:ln/>
        </p:spPr>
        <p:txBody>
          <a:bodyPr wrap="square" lIns="0" tIns="0" rIns="0" bIns="0" rtlCol="0" anchor="ctr"/>
          <a:lstStyle/>
          <a:p>
            <a:pPr marL="0" indent="0">
              <a:buNone/>
            </a:pPr>
            <a:r>
              <a:rPr lang="en-US" sz="2500" b="1" dirty="0">
                <a:solidFill>
                  <a:srgbClr val="000000"/>
                </a:solidFill>
                <a:latin typeface="Cambria" pitchFamily="34" charset="0"/>
                <a:ea typeface="Cambria" pitchFamily="34" charset="-122"/>
                <a:cs typeface="Cambria" pitchFamily="34" charset="-120"/>
              </a:rPr>
              <a:t>The Quality Test, Term by Term, in Two Regions</a:t>
            </a:r>
            <a:endParaRPr lang="en-US" sz="2500" dirty="0"/>
          </a:p>
        </p:txBody>
      </p:sp>
      <p:pic>
        <p:nvPicPr>
          <p:cNvPr id="4"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5"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mc:AlternateContent xmlns:mc="http://schemas.openxmlformats.org/markup-compatibility/2006" xmlns:a14="http://schemas.microsoft.com/office/drawing/2010/main">
        <mc:Choice Requires="a14">
          <p:graphicFrame>
            <p:nvGraphicFramePr>
              <p:cNvPr id="8" name="Table 0"/>
              <p:cNvGraphicFramePr>
                <a:graphicFrameLocks noGrp="1"/>
              </p:cNvGraphicFramePr>
              <p:nvPr>
                <p:extLst>
                  <p:ext uri="{D42A27DB-BD31-4B8C-83A1-F6EECF244321}">
                    <p14:modId xmlns:p14="http://schemas.microsoft.com/office/powerpoint/2010/main" val="2315942434"/>
                  </p:ext>
                </p:extLst>
              </p:nvPr>
            </p:nvGraphicFramePr>
            <p:xfrm>
              <a:off x="457200" y="1325880"/>
              <a:ext cx="5943600" cy="3077464"/>
            </p:xfrm>
            <a:graphic>
              <a:graphicData uri="http://schemas.openxmlformats.org/drawingml/2006/table">
                <a:tbl>
                  <a:tblPr/>
                  <a:tblGrid>
                    <a:gridCol w="64008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60120">
                      <a:extLst>
                        <a:ext uri="{9D8B030D-6E8A-4147-A177-3AD203B41FA5}">
                          <a16:colId xmlns:a16="http://schemas.microsoft.com/office/drawing/2014/main" val="20004"/>
                        </a:ext>
                      </a:extLst>
                    </a:gridCol>
                  </a:tblGrid>
                  <a:tr h="329184">
                    <a:tc>
                      <a:txBody>
                        <a:bodyPr/>
                        <a:lstStyle/>
                        <a:p>
                          <a:pPr marL="0" indent="0" algn="ctr">
                            <a:buNone/>
                          </a:pPr>
                          <a:r>
                            <a:rPr lang="en-US" sz="1200" b="1" dirty="0">
                              <a:solidFill>
                                <a:schemeClr val="bg1"/>
                              </a:solidFill>
                              <a:latin typeface="Calibri" pitchFamily="34" charset="0"/>
                              <a:ea typeface="Calibri" pitchFamily="34" charset="-122"/>
                              <a:cs typeface="Calibri" pitchFamily="34" charset="-120"/>
                            </a:rPr>
                            <a:t>Region</a:t>
                          </a:r>
                          <a:endParaRPr lang="en-US" sz="1200" dirty="0">
                            <a:solidFill>
                              <a:schemeClr val="bg1"/>
                            </a:solidFill>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lgn="ctr">
                            <a:buNone/>
                          </a:pPr>
                          <a:r>
                            <a:rPr lang="en-US" sz="1200" b="1" dirty="0">
                              <a:solidFill>
                                <a:schemeClr val="bg1"/>
                              </a:solidFill>
                              <a:latin typeface="Calibri" pitchFamily="34" charset="0"/>
                              <a:ea typeface="Calibri" pitchFamily="34" charset="-122"/>
                              <a:cs typeface="Calibri" pitchFamily="34" charset="-120"/>
                            </a:rPr>
                            <a:t>Concept (demand)</a:t>
                          </a:r>
                          <a:endParaRPr lang="en-US" sz="1200" dirty="0">
                            <a:solidFill>
                              <a:schemeClr val="bg1"/>
                            </a:solidFill>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lgn="ctr">
                            <a:buNone/>
                          </a:pPr>
                          <a:r>
                            <a:rPr lang="en-US" sz="1200" b="1" dirty="0">
                              <a:solidFill>
                                <a:schemeClr val="bg1"/>
                              </a:solidFill>
                              <a:latin typeface="Calibri" pitchFamily="34" charset="0"/>
                              <a:ea typeface="Calibri" pitchFamily="34" charset="-122"/>
                              <a:cs typeface="Calibri" pitchFamily="34" charset="-120"/>
                            </a:rPr>
                            <a:t>Activation </a:t>
                          </a:r>
                          <a14:m>
                            <m:oMath xmlns:m="http://schemas.openxmlformats.org/officeDocument/2006/math">
                              <m:sSup>
                                <m:sSupPr>
                                  <m:ctrlPr>
                                    <a:rPr lang="en-US" sz="1200" i="1">
                                      <a:solidFill>
                                        <a:schemeClr val="bg1"/>
                                      </a:solidFill>
                                      <a:latin typeface="Cambria Math" panose="02040503050406030204" pitchFamily="18" charset="0"/>
                                    </a:rPr>
                                  </m:ctrlPr>
                                </m:sSupPr>
                                <m:e>
                                  <m:r>
                                    <a:rPr lang="en-US" sz="1200">
                                      <a:solidFill>
                                        <a:schemeClr val="bg1"/>
                                      </a:solidFill>
                                      <a:latin typeface="Cambria Math"/>
                                    </a:rPr>
                                    <m:t>𝑎</m:t>
                                  </m:r>
                                </m:e>
                                <m:sup>
                                  <m:r>
                                    <a:rPr lang="en-US" sz="1200">
                                      <a:solidFill>
                                        <a:schemeClr val="bg1"/>
                                      </a:solidFill>
                                      <a:latin typeface="Cambria Math"/>
                                    </a:rPr>
                                    <m:t>𝑒𝑓𝑓</m:t>
                                  </m:r>
                                </m:sup>
                              </m:sSup>
                            </m:oMath>
                          </a14:m>
                          <a:endParaRPr lang="en-US" sz="1200" dirty="0">
                            <a:solidFill>
                              <a:schemeClr val="bg1"/>
                            </a:solidFill>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lgn="ctr">
                            <a:buNone/>
                          </a:pPr>
                          <a:r>
                            <a:rPr lang="en-US" sz="1200" b="1" dirty="0">
                              <a:solidFill>
                                <a:schemeClr val="bg1"/>
                              </a:solidFill>
                              <a:latin typeface="Calibri" pitchFamily="34" charset="0"/>
                              <a:ea typeface="Calibri" pitchFamily="34" charset="-122"/>
                              <a:cs typeface="Calibri" pitchFamily="34" charset="-120"/>
                            </a:rPr>
                            <a:t>Ordered </a:t>
                          </a:r>
                          <a14:m>
                            <m:oMath xmlns:m="http://schemas.openxmlformats.org/officeDocument/2006/math">
                              <m:sSub>
                                <m:sSubPr>
                                  <m:ctrlPr>
                                    <a:rPr lang="en-US" sz="1200" i="1">
                                      <a:solidFill>
                                        <a:schemeClr val="bg1"/>
                                      </a:solidFill>
                                      <a:latin typeface="Cambria Math" panose="02040503050406030204" pitchFamily="18" charset="0"/>
                                    </a:rPr>
                                  </m:ctrlPr>
                                </m:sSubPr>
                                <m:e>
                                  <m:r>
                                    <a:rPr lang="en-US" sz="1200">
                                      <a:solidFill>
                                        <a:schemeClr val="bg1"/>
                                      </a:solidFill>
                                      <a:latin typeface="Cambria Math"/>
                                    </a:rPr>
                                    <m:t>𝑢</m:t>
                                  </m:r>
                                </m:e>
                                <m:sub>
                                  <m:r>
                                    <a:rPr lang="en-US" sz="1200">
                                      <a:solidFill>
                                        <a:schemeClr val="bg1"/>
                                      </a:solidFill>
                                      <a:latin typeface="Cambria Math"/>
                                    </a:rPr>
                                    <m:t>𝑓</m:t>
                                  </m:r>
                                </m:sub>
                              </m:sSub>
                            </m:oMath>
                          </a14:m>
                          <a:endParaRPr lang="en-US" sz="1200" dirty="0">
                            <a:solidFill>
                              <a:schemeClr val="bg1"/>
                            </a:solidFill>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lgn="ctr">
                            <a:buNone/>
                          </a:pPr>
                          <a14:m>
                            <m:oMathPara xmlns:m="http://schemas.openxmlformats.org/officeDocument/2006/math">
                              <m:oMathParaPr>
                                <m:jc m:val="centerGroup"/>
                              </m:oMathParaPr>
                              <m:oMath xmlns:m="http://schemas.openxmlformats.org/officeDocument/2006/math">
                                <m:r>
                                  <a:rPr lang="en-US" sz="1200" smtClean="0">
                                    <a:solidFill>
                                      <a:schemeClr val="bg1"/>
                                    </a:solidFill>
                                    <a:latin typeface="Cambria Math"/>
                                  </a:rPr>
                                  <m:t>|</m:t>
                                </m:r>
                                <m:sSup>
                                  <m:sSupPr>
                                    <m:ctrlPr>
                                      <a:rPr lang="en-US" sz="1200" i="1">
                                        <a:solidFill>
                                          <a:schemeClr val="bg1"/>
                                        </a:solidFill>
                                        <a:latin typeface="Cambria Math" panose="02040503050406030204" pitchFamily="18" charset="0"/>
                                      </a:rPr>
                                    </m:ctrlPr>
                                  </m:sSupPr>
                                  <m:e>
                                    <m:r>
                                      <a:rPr lang="en-US" sz="1200">
                                        <a:solidFill>
                                          <a:schemeClr val="bg1"/>
                                        </a:solidFill>
                                        <a:latin typeface="Cambria Math"/>
                                      </a:rPr>
                                      <m:t>𝑎</m:t>
                                    </m:r>
                                  </m:e>
                                  <m:sup>
                                    <m:r>
                                      <a:rPr lang="en-US" sz="1200">
                                        <a:solidFill>
                                          <a:schemeClr val="bg1"/>
                                        </a:solidFill>
                                        <a:latin typeface="Cambria Math"/>
                                      </a:rPr>
                                      <m:t>𝑒𝑓𝑓</m:t>
                                    </m:r>
                                  </m:sup>
                                </m:sSup>
                                <m:r>
                                  <a:rPr lang="en-US" sz="1200">
                                    <a:solidFill>
                                      <a:schemeClr val="bg1"/>
                                    </a:solidFill>
                                    <a:latin typeface="Cambria Math"/>
                                  </a:rPr>
                                  <m:t>−</m:t>
                                </m:r>
                                <m:sSub>
                                  <m:sSubPr>
                                    <m:ctrlPr>
                                      <a:rPr lang="en-US" sz="1200" i="1">
                                        <a:solidFill>
                                          <a:schemeClr val="bg1"/>
                                        </a:solidFill>
                                        <a:latin typeface="Cambria Math" panose="02040503050406030204" pitchFamily="18" charset="0"/>
                                      </a:rPr>
                                    </m:ctrlPr>
                                  </m:sSubPr>
                                  <m:e>
                                    <m:r>
                                      <a:rPr lang="en-US" sz="1200">
                                        <a:solidFill>
                                          <a:schemeClr val="bg1"/>
                                        </a:solidFill>
                                        <a:latin typeface="Cambria Math"/>
                                      </a:rPr>
                                      <m:t>𝑢</m:t>
                                    </m:r>
                                  </m:e>
                                  <m:sub>
                                    <m:r>
                                      <a:rPr lang="en-US" sz="1200">
                                        <a:solidFill>
                                          <a:schemeClr val="bg1"/>
                                        </a:solidFill>
                                        <a:latin typeface="Cambria Math"/>
                                      </a:rPr>
                                      <m:t>𝑓</m:t>
                                    </m:r>
                                  </m:sub>
                                </m:sSub>
                                <m:r>
                                  <a:rPr lang="en-US" sz="1200">
                                    <a:solidFill>
                                      <a:schemeClr val="bg1"/>
                                    </a:solidFill>
                                    <a:latin typeface="Cambria Math"/>
                                  </a:rPr>
                                  <m:t>|</m:t>
                                </m:r>
                              </m:oMath>
                            </m:oMathPara>
                          </a14:m>
                          <a:endParaRPr lang="en-US" sz="1200" dirty="0">
                            <a:solidFill>
                              <a:schemeClr val="bg1"/>
                            </a:solidFill>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329184">
                    <a:tc>
                      <a:txBody>
                        <a:bodyPr/>
                        <a:lstStyle/>
                        <a:p>
                          <a:pPr marL="0" indent="0" algn="ctr">
                            <a:buNone/>
                          </a:pPr>
                          <a:r>
                            <a:rPr lang="en-US" sz="1200" dirty="0">
                              <a:solidFill>
                                <a:srgbClr val="222222"/>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fire threat → suppression effort</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200" dirty="0">
                              <a:solidFill>
                                <a:srgbClr val="222222"/>
                              </a:solidFill>
                              <a:latin typeface="Calibri" pitchFamily="34" charset="0"/>
                              <a:ea typeface="Calibri" pitchFamily="34" charset="-122"/>
                              <a:cs typeface="Calibri" pitchFamily="34" charset="-120"/>
                            </a:rPr>
                            <a:t>0.597</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200" dirty="0">
                              <a:solidFill>
                                <a:srgbClr val="222222"/>
                              </a:solidFill>
                              <a:latin typeface="Calibri" pitchFamily="34" charset="0"/>
                              <a:ea typeface="Calibri" pitchFamily="34" charset="-122"/>
                              <a:cs typeface="Calibri" pitchFamily="34" charset="-120"/>
                            </a:rPr>
                            <a:t>0.360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200" b="1" dirty="0">
                              <a:solidFill>
                                <a:srgbClr val="E31836"/>
                              </a:solidFill>
                              <a:latin typeface="Calibri" pitchFamily="34" charset="0"/>
                              <a:ea typeface="Calibri" pitchFamily="34" charset="-122"/>
                              <a:cs typeface="Calibri" pitchFamily="34" charset="-120"/>
                            </a:rPr>
                            <a:t>0.237</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lgn="ctr">
                            <a:buNone/>
                          </a:pPr>
                          <a:r>
                            <a:rPr lang="en-US" sz="1200" dirty="0">
                              <a:solidFill>
                                <a:srgbClr val="222222"/>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asset exposure → asset protection</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200" dirty="0">
                              <a:solidFill>
                                <a:srgbClr val="222222"/>
                              </a:solidFill>
                              <a:latin typeface="Calibri" pitchFamily="34" charset="0"/>
                              <a:ea typeface="Calibri" pitchFamily="34" charset="-122"/>
                              <a:cs typeface="Calibri" pitchFamily="34" charset="-120"/>
                            </a:rPr>
                            <a:t>0.541</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200" dirty="0">
                              <a:solidFill>
                                <a:srgbClr val="222222"/>
                              </a:solidFill>
                              <a:latin typeface="Calibri" pitchFamily="34" charset="0"/>
                              <a:ea typeface="Calibri" pitchFamily="34" charset="-122"/>
                              <a:cs typeface="Calibri" pitchFamily="34" charset="-120"/>
                            </a:rPr>
                            <a:t>0.049</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200" b="1" dirty="0">
                              <a:solidFill>
                                <a:srgbClr val="E31836"/>
                              </a:solidFill>
                              <a:latin typeface="Calibri" pitchFamily="34" charset="0"/>
                              <a:ea typeface="Calibri" pitchFamily="34" charset="-122"/>
                              <a:cs typeface="Calibri" pitchFamily="34" charset="-120"/>
                            </a:rPr>
                            <a:t>0.492</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lgn="ctr">
                            <a:buNone/>
                          </a:pPr>
                          <a:r>
                            <a:rPr lang="en-US" sz="1200" dirty="0">
                              <a:solidFill>
                                <a:srgbClr val="222222"/>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intervention urgency → deployment</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200" dirty="0">
                              <a:solidFill>
                                <a:srgbClr val="222222"/>
                              </a:solidFill>
                              <a:latin typeface="Calibri" pitchFamily="34" charset="0"/>
                              <a:ea typeface="Calibri" pitchFamily="34" charset="-122"/>
                              <a:cs typeface="Calibri" pitchFamily="34" charset="-120"/>
                            </a:rPr>
                            <a:t>0.639</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200" dirty="0">
                              <a:solidFill>
                                <a:srgbClr val="222222"/>
                              </a:solidFill>
                              <a:latin typeface="Calibri" pitchFamily="34" charset="0"/>
                              <a:ea typeface="Calibri" pitchFamily="34" charset="-122"/>
                              <a:cs typeface="Calibri" pitchFamily="34" charset="-120"/>
                            </a:rPr>
                            <a:t>0.554</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200" b="1" dirty="0">
                              <a:solidFill>
                                <a:srgbClr val="E31836"/>
                              </a:solidFill>
                              <a:latin typeface="Calibri" pitchFamily="34" charset="0"/>
                              <a:ea typeface="Calibri" pitchFamily="34" charset="-122"/>
                              <a:cs typeface="Calibri" pitchFamily="34" charset="-120"/>
                            </a:rPr>
                            <a:t>0.085</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3"/>
                      </a:ext>
                    </a:extLst>
                  </a:tr>
                  <a:tr h="329184">
                    <a:tc>
                      <a:txBody>
                        <a:bodyPr/>
                        <a:lstStyle/>
                        <a:p>
                          <a:pPr marL="0" indent="0" algn="ctr">
                            <a:buNone/>
                          </a:pPr>
                          <a:r>
                            <a:rPr lang="en-US" sz="1200" dirty="0">
                              <a:solidFill>
                                <a:srgbClr val="222222"/>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evacuation pressure → evacuation</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200" dirty="0">
                              <a:solidFill>
                                <a:srgbClr val="222222"/>
                              </a:solidFill>
                              <a:latin typeface="Calibri" pitchFamily="34" charset="0"/>
                              <a:ea typeface="Calibri" pitchFamily="34" charset="-122"/>
                              <a:cs typeface="Calibri" pitchFamily="34" charset="-120"/>
                            </a:rPr>
                            <a:t>0.497</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200" dirty="0">
                              <a:solidFill>
                                <a:srgbClr val="222222"/>
                              </a:solidFill>
                              <a:latin typeface="Calibri" pitchFamily="34" charset="0"/>
                              <a:ea typeface="Calibri" pitchFamily="34" charset="-122"/>
                              <a:cs typeface="Calibri" pitchFamily="34" charset="-120"/>
                            </a:rPr>
                            <a:t>0.000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200" b="1" dirty="0">
                              <a:solidFill>
                                <a:srgbClr val="E31836"/>
                              </a:solidFill>
                              <a:latin typeface="Calibri" pitchFamily="34" charset="0"/>
                              <a:ea typeface="Calibri" pitchFamily="34" charset="-122"/>
                              <a:cs typeface="Calibri" pitchFamily="34" charset="-120"/>
                            </a:rPr>
                            <a:t>0.497</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4"/>
                      </a:ext>
                    </a:extLst>
                  </a:tr>
                  <a:tr h="329184">
                    <a:tc>
                      <a:txBody>
                        <a:bodyPr/>
                        <a:lstStyle/>
                        <a:p>
                          <a:pPr marL="0" indent="0" algn="ctr">
                            <a:buNone/>
                          </a:pPr>
                          <a:r>
                            <a:rPr lang="en-US" sz="1200" dirty="0">
                              <a:solidFill>
                                <a:srgbClr val="222222"/>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fire threat → suppression effort</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200" dirty="0">
                              <a:solidFill>
                                <a:srgbClr val="222222"/>
                              </a:solidFill>
                              <a:latin typeface="Calibri" pitchFamily="34" charset="0"/>
                              <a:ea typeface="Calibri" pitchFamily="34" charset="-122"/>
                              <a:cs typeface="Calibri" pitchFamily="34" charset="-120"/>
                            </a:rPr>
                            <a:t>0.687</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200" dirty="0">
                              <a:solidFill>
                                <a:srgbClr val="222222"/>
                              </a:solidFill>
                              <a:latin typeface="Calibri" pitchFamily="34" charset="0"/>
                              <a:ea typeface="Calibri" pitchFamily="34" charset="-122"/>
                              <a:cs typeface="Calibri" pitchFamily="34" charset="-120"/>
                            </a:rPr>
                            <a:t>0.360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200" b="1" dirty="0">
                              <a:solidFill>
                                <a:srgbClr val="E31836"/>
                              </a:solidFill>
                              <a:latin typeface="Calibri" pitchFamily="34" charset="0"/>
                              <a:ea typeface="Calibri" pitchFamily="34" charset="-122"/>
                              <a:cs typeface="Calibri" pitchFamily="34" charset="-120"/>
                            </a:rPr>
                            <a:t>0.327</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5"/>
                      </a:ext>
                    </a:extLst>
                  </a:tr>
                  <a:tr h="329184">
                    <a:tc>
                      <a:txBody>
                        <a:bodyPr/>
                        <a:lstStyle/>
                        <a:p>
                          <a:pPr marL="0" indent="0" algn="ctr">
                            <a:buNone/>
                          </a:pPr>
                          <a:r>
                            <a:rPr lang="en-US" sz="1200" dirty="0">
                              <a:solidFill>
                                <a:srgbClr val="222222"/>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asset exposure → asset protection</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200" dirty="0">
                              <a:solidFill>
                                <a:srgbClr val="222222"/>
                              </a:solidFill>
                              <a:latin typeface="Calibri" pitchFamily="34" charset="0"/>
                              <a:ea typeface="Calibri" pitchFamily="34" charset="-122"/>
                              <a:cs typeface="Calibri" pitchFamily="34" charset="-120"/>
                            </a:rPr>
                            <a:t>0.831</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200" dirty="0">
                              <a:solidFill>
                                <a:srgbClr val="222222"/>
                              </a:solidFill>
                              <a:latin typeface="Calibri" pitchFamily="34" charset="0"/>
                              <a:ea typeface="Calibri" pitchFamily="34" charset="-122"/>
                              <a:cs typeface="Calibri" pitchFamily="34" charset="-120"/>
                            </a:rPr>
                            <a:t>0.000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200" b="1" dirty="0">
                              <a:solidFill>
                                <a:srgbClr val="E31836"/>
                              </a:solidFill>
                              <a:latin typeface="Calibri" pitchFamily="34" charset="0"/>
                              <a:ea typeface="Calibri" pitchFamily="34" charset="-122"/>
                              <a:cs typeface="Calibri" pitchFamily="34" charset="-120"/>
                            </a:rPr>
                            <a:t>0.831</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6"/>
                      </a:ext>
                    </a:extLst>
                  </a:tr>
                  <a:tr h="329184">
                    <a:tc>
                      <a:txBody>
                        <a:bodyPr/>
                        <a:lstStyle/>
                        <a:p>
                          <a:pPr marL="0" indent="0" algn="ctr">
                            <a:buNone/>
                          </a:pPr>
                          <a:r>
                            <a:rPr lang="en-US" sz="1200" dirty="0">
                              <a:solidFill>
                                <a:srgbClr val="222222"/>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intervention urgency → deployment</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200" dirty="0">
                              <a:solidFill>
                                <a:srgbClr val="222222"/>
                              </a:solidFill>
                              <a:latin typeface="Calibri" pitchFamily="34" charset="0"/>
                              <a:ea typeface="Calibri" pitchFamily="34" charset="-122"/>
                              <a:cs typeface="Calibri" pitchFamily="34" charset="-120"/>
                            </a:rPr>
                            <a:t>0.816</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200" dirty="0">
                              <a:solidFill>
                                <a:srgbClr val="222222"/>
                              </a:solidFill>
                              <a:latin typeface="Calibri" pitchFamily="34" charset="0"/>
                              <a:ea typeface="Calibri" pitchFamily="34" charset="-122"/>
                              <a:cs typeface="Calibri" pitchFamily="34" charset="-120"/>
                            </a:rPr>
                            <a:t>0.920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200" b="1" dirty="0">
                              <a:solidFill>
                                <a:srgbClr val="E31836"/>
                              </a:solidFill>
                              <a:latin typeface="Calibri" pitchFamily="34" charset="0"/>
                              <a:ea typeface="Calibri" pitchFamily="34" charset="-122"/>
                              <a:cs typeface="Calibri" pitchFamily="34" charset="-120"/>
                            </a:rPr>
                            <a:t>0.104</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7"/>
                      </a:ext>
                    </a:extLst>
                  </a:tr>
                  <a:tr h="329184">
                    <a:tc>
                      <a:txBody>
                        <a:bodyPr/>
                        <a:lstStyle/>
                        <a:p>
                          <a:pPr marL="0" indent="0" algn="ctr">
                            <a:buNone/>
                          </a:pPr>
                          <a:r>
                            <a:rPr lang="en-US" sz="1200" dirty="0">
                              <a:solidFill>
                                <a:srgbClr val="222222"/>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evacuation pressure → evacuation</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200" dirty="0">
                              <a:solidFill>
                                <a:srgbClr val="222222"/>
                              </a:solidFill>
                              <a:latin typeface="Calibri" pitchFamily="34" charset="0"/>
                              <a:ea typeface="Calibri" pitchFamily="34" charset="-122"/>
                              <a:cs typeface="Calibri" pitchFamily="34" charset="-120"/>
                            </a:rPr>
                            <a:t>0.674</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200" dirty="0">
                              <a:solidFill>
                                <a:srgbClr val="222222"/>
                              </a:solidFill>
                              <a:latin typeface="Calibri" pitchFamily="34" charset="0"/>
                              <a:ea typeface="Calibri" pitchFamily="34" charset="-122"/>
                              <a:cs typeface="Calibri" pitchFamily="34" charset="-120"/>
                            </a:rPr>
                            <a:t>0.000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200" b="1" dirty="0">
                              <a:solidFill>
                                <a:srgbClr val="E31836"/>
                              </a:solidFill>
                              <a:latin typeface="Calibri" pitchFamily="34" charset="0"/>
                              <a:ea typeface="Calibri" pitchFamily="34" charset="-122"/>
                              <a:cs typeface="Calibri" pitchFamily="34" charset="-120"/>
                            </a:rPr>
                            <a:t>0.674</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mc:Choice>
        <mc:Fallback xmlns="">
          <p:graphicFrame>
            <p:nvGraphicFramePr>
              <p:cNvPr id="8" name="Table 0"/>
              <p:cNvGraphicFramePr>
                <a:graphicFrameLocks noGrp="1"/>
              </p:cNvGraphicFramePr>
              <p:nvPr>
                <p:extLst>
                  <p:ext uri="{D42A27DB-BD31-4B8C-83A1-F6EECF244321}">
                    <p14:modId xmlns:p14="http://schemas.microsoft.com/office/powerpoint/2010/main" val="2315942434"/>
                  </p:ext>
                </p:extLst>
              </p:nvPr>
            </p:nvGraphicFramePr>
            <p:xfrm>
              <a:off x="457200" y="1325880"/>
              <a:ext cx="5943600" cy="2962656"/>
            </p:xfrm>
            <a:graphic>
              <a:graphicData uri="http://schemas.openxmlformats.org/drawingml/2006/table">
                <a:tbl>
                  <a:tblPr/>
                  <a:tblGrid>
                    <a:gridCol w="64008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60120">
                      <a:extLst>
                        <a:ext uri="{9D8B030D-6E8A-4147-A177-3AD203B41FA5}">
                          <a16:colId xmlns:a16="http://schemas.microsoft.com/office/drawing/2014/main" val="20004"/>
                        </a:ext>
                      </a:extLst>
                    </a:gridCol>
                  </a:tblGrid>
                  <a:tr h="329184">
                    <a:tc>
                      <a:txBody>
                        <a:bodyPr/>
                        <a:lstStyle/>
                        <a:p>
                          <a:pPr marL="0" indent="0" algn="ctr">
                            <a:buNone/>
                          </a:pPr>
                          <a:r>
                            <a:rPr lang="en-US" sz="1200" b="1" dirty="0">
                              <a:solidFill>
                                <a:schemeClr val="bg1"/>
                              </a:solidFill>
                              <a:latin typeface="Calibri" pitchFamily="34" charset="0"/>
                              <a:ea typeface="Calibri" pitchFamily="34" charset="-122"/>
                              <a:cs typeface="Calibri" pitchFamily="34" charset="-120"/>
                            </a:rPr>
                            <a:t>Region</a:t>
                          </a:r>
                          <a:endParaRPr lang="en-US" sz="1200" dirty="0">
                            <a:solidFill>
                              <a:schemeClr val="bg1"/>
                            </a:solidFill>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lgn="ctr">
                            <a:buNone/>
                          </a:pPr>
                          <a:r>
                            <a:rPr lang="en-US" sz="1200" b="1" dirty="0">
                              <a:solidFill>
                                <a:schemeClr val="bg1"/>
                              </a:solidFill>
                              <a:latin typeface="Calibri" pitchFamily="34" charset="0"/>
                              <a:ea typeface="Calibri" pitchFamily="34" charset="-122"/>
                              <a:cs typeface="Calibri" pitchFamily="34" charset="-120"/>
                            </a:rPr>
                            <a:t>Concept (demand)</a:t>
                          </a:r>
                          <a:endParaRPr lang="en-US" sz="1200" dirty="0">
                            <a:solidFill>
                              <a:schemeClr val="bg1"/>
                            </a:solidFill>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lgn="ctr">
                            <a:buNone/>
                          </a:pPr>
                          <a:r>
                            <a:rPr lang="en-US" sz="1200" b="1" dirty="0">
                              <a:solidFill>
                                <a:schemeClr val="bg1"/>
                              </a:solidFill>
                              <a:latin typeface="Calibri" pitchFamily="34" charset="0"/>
                              <a:ea typeface="Calibri" pitchFamily="34" charset="-122"/>
                              <a:cs typeface="Calibri" pitchFamily="34" charset="-120"/>
                            </a:rPr>
                            <a:t>Activation </a:t>
                          </a:r>
                          <a:r>
                            <a:rPr lang="en-US" sz="1200" i="1">
                              <a:latin typeface="Cambria Math"/>
                            </a:rPr>
                            <a:t>𝑎𝑒𝑓𝑓</a:t>
                          </a:r>
                          <a:endParaRPr lang="en-US" sz="1200" dirty="0">
                            <a:solidFill>
                              <a:schemeClr val="bg1"/>
                            </a:solidFill>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lgn="ctr">
                            <a:buNone/>
                          </a:pPr>
                          <a:r>
                            <a:rPr lang="en-US" sz="1200" b="1" dirty="0">
                              <a:solidFill>
                                <a:schemeClr val="bg1"/>
                              </a:solidFill>
                              <a:latin typeface="Calibri" pitchFamily="34" charset="0"/>
                              <a:ea typeface="Calibri" pitchFamily="34" charset="-122"/>
                              <a:cs typeface="Calibri" pitchFamily="34" charset="-120"/>
                            </a:rPr>
                            <a:t>Ordered </a:t>
                          </a:r>
                          <a:r>
                            <a:rPr lang="en-US" sz="1200" i="1">
                              <a:latin typeface="Cambria Math"/>
                            </a:rPr>
                            <a:t>𝑢𝑓</a:t>
                          </a:r>
                          <a:endParaRPr lang="en-US" sz="1200" dirty="0">
                            <a:solidFill>
                              <a:schemeClr val="bg1"/>
                            </a:solidFill>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lgn="ctr">
                            <a:buNone/>
                          </a:pPr>
                          <a:r>
                            <a:rPr lang="en-US" sz="1200" i="1">
                              <a:latin typeface="Cambria Math"/>
                            </a:rPr>
                            <a:t>|𝑎𝑒𝑓𝑓−𝑢𝑓|</a:t>
                          </a:r>
                          <a:endParaRPr lang="en-US" sz="1200" dirty="0">
                            <a:solidFill>
                              <a:schemeClr val="bg1"/>
                            </a:solidFill>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329184">
                    <a:tc>
                      <a:txBody>
                        <a:bodyPr/>
                        <a:lstStyle/>
                        <a:p>
                          <a:pPr marL="0" indent="0" algn="ctr">
                            <a:buNone/>
                          </a:pPr>
                          <a:r>
                            <a:rPr lang="en-US" sz="1200" dirty="0">
                              <a:solidFill>
                                <a:srgbClr val="222222"/>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fire threat → suppression effort</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200" dirty="0">
                              <a:solidFill>
                                <a:srgbClr val="222222"/>
                              </a:solidFill>
                              <a:latin typeface="Calibri" pitchFamily="34" charset="0"/>
                              <a:ea typeface="Calibri" pitchFamily="34" charset="-122"/>
                              <a:cs typeface="Calibri" pitchFamily="34" charset="-120"/>
                            </a:rPr>
                            <a:t>0.597</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200" dirty="0">
                              <a:solidFill>
                                <a:srgbClr val="222222"/>
                              </a:solidFill>
                              <a:latin typeface="Calibri" pitchFamily="34" charset="0"/>
                              <a:ea typeface="Calibri" pitchFamily="34" charset="-122"/>
                              <a:cs typeface="Calibri" pitchFamily="34" charset="-120"/>
                            </a:rPr>
                            <a:t>0.360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200" b="1" dirty="0">
                              <a:solidFill>
                                <a:srgbClr val="E31836"/>
                              </a:solidFill>
                              <a:latin typeface="Calibri" pitchFamily="34" charset="0"/>
                              <a:ea typeface="Calibri" pitchFamily="34" charset="-122"/>
                              <a:cs typeface="Calibri" pitchFamily="34" charset="-120"/>
                            </a:rPr>
                            <a:t>0.237</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lgn="ctr">
                            <a:buNone/>
                          </a:pPr>
                          <a:r>
                            <a:rPr lang="en-US" sz="1200" dirty="0">
                              <a:solidFill>
                                <a:srgbClr val="222222"/>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asset exposure → asset protection</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200" dirty="0">
                              <a:solidFill>
                                <a:srgbClr val="222222"/>
                              </a:solidFill>
                              <a:latin typeface="Calibri" pitchFamily="34" charset="0"/>
                              <a:ea typeface="Calibri" pitchFamily="34" charset="-122"/>
                              <a:cs typeface="Calibri" pitchFamily="34" charset="-120"/>
                            </a:rPr>
                            <a:t>0.541</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200" dirty="0">
                              <a:solidFill>
                                <a:srgbClr val="222222"/>
                              </a:solidFill>
                              <a:latin typeface="Calibri" pitchFamily="34" charset="0"/>
                              <a:ea typeface="Calibri" pitchFamily="34" charset="-122"/>
                              <a:cs typeface="Calibri" pitchFamily="34" charset="-120"/>
                            </a:rPr>
                            <a:t>0.049</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200" b="1" dirty="0">
                              <a:solidFill>
                                <a:srgbClr val="E31836"/>
                              </a:solidFill>
                              <a:latin typeface="Calibri" pitchFamily="34" charset="0"/>
                              <a:ea typeface="Calibri" pitchFamily="34" charset="-122"/>
                              <a:cs typeface="Calibri" pitchFamily="34" charset="-120"/>
                            </a:rPr>
                            <a:t>0.492</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lgn="ctr">
                            <a:buNone/>
                          </a:pPr>
                          <a:r>
                            <a:rPr lang="en-US" sz="1200" dirty="0">
                              <a:solidFill>
                                <a:srgbClr val="222222"/>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intervention urgency → deployment</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200" dirty="0">
                              <a:solidFill>
                                <a:srgbClr val="222222"/>
                              </a:solidFill>
                              <a:latin typeface="Calibri" pitchFamily="34" charset="0"/>
                              <a:ea typeface="Calibri" pitchFamily="34" charset="-122"/>
                              <a:cs typeface="Calibri" pitchFamily="34" charset="-120"/>
                            </a:rPr>
                            <a:t>0.639</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200" dirty="0">
                              <a:solidFill>
                                <a:srgbClr val="222222"/>
                              </a:solidFill>
                              <a:latin typeface="Calibri" pitchFamily="34" charset="0"/>
                              <a:ea typeface="Calibri" pitchFamily="34" charset="-122"/>
                              <a:cs typeface="Calibri" pitchFamily="34" charset="-120"/>
                            </a:rPr>
                            <a:t>0.554</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200" b="1" dirty="0">
                              <a:solidFill>
                                <a:srgbClr val="E31836"/>
                              </a:solidFill>
                              <a:latin typeface="Calibri" pitchFamily="34" charset="0"/>
                              <a:ea typeface="Calibri" pitchFamily="34" charset="-122"/>
                              <a:cs typeface="Calibri" pitchFamily="34" charset="-120"/>
                            </a:rPr>
                            <a:t>0.085</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3"/>
                      </a:ext>
                    </a:extLst>
                  </a:tr>
                  <a:tr h="329184">
                    <a:tc>
                      <a:txBody>
                        <a:bodyPr/>
                        <a:lstStyle/>
                        <a:p>
                          <a:pPr marL="0" indent="0" algn="ctr">
                            <a:buNone/>
                          </a:pPr>
                          <a:r>
                            <a:rPr lang="en-US" sz="1200" dirty="0">
                              <a:solidFill>
                                <a:srgbClr val="222222"/>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evacuation pressure → evacuation</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200" dirty="0">
                              <a:solidFill>
                                <a:srgbClr val="222222"/>
                              </a:solidFill>
                              <a:latin typeface="Calibri" pitchFamily="34" charset="0"/>
                              <a:ea typeface="Calibri" pitchFamily="34" charset="-122"/>
                              <a:cs typeface="Calibri" pitchFamily="34" charset="-120"/>
                            </a:rPr>
                            <a:t>0.497</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200" dirty="0">
                              <a:solidFill>
                                <a:srgbClr val="222222"/>
                              </a:solidFill>
                              <a:latin typeface="Calibri" pitchFamily="34" charset="0"/>
                              <a:ea typeface="Calibri" pitchFamily="34" charset="-122"/>
                              <a:cs typeface="Calibri" pitchFamily="34" charset="-120"/>
                            </a:rPr>
                            <a:t>0.000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200" b="1" dirty="0">
                              <a:solidFill>
                                <a:srgbClr val="E31836"/>
                              </a:solidFill>
                              <a:latin typeface="Calibri" pitchFamily="34" charset="0"/>
                              <a:ea typeface="Calibri" pitchFamily="34" charset="-122"/>
                              <a:cs typeface="Calibri" pitchFamily="34" charset="-120"/>
                            </a:rPr>
                            <a:t>0.497</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4"/>
                      </a:ext>
                    </a:extLst>
                  </a:tr>
                  <a:tr h="329184">
                    <a:tc>
                      <a:txBody>
                        <a:bodyPr/>
                        <a:lstStyle/>
                        <a:p>
                          <a:pPr marL="0" indent="0" algn="ctr">
                            <a:buNone/>
                          </a:pPr>
                          <a:r>
                            <a:rPr lang="en-US" sz="1200" dirty="0">
                              <a:solidFill>
                                <a:srgbClr val="222222"/>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fire threat → suppression effort</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200" dirty="0">
                              <a:solidFill>
                                <a:srgbClr val="222222"/>
                              </a:solidFill>
                              <a:latin typeface="Calibri" pitchFamily="34" charset="0"/>
                              <a:ea typeface="Calibri" pitchFamily="34" charset="-122"/>
                              <a:cs typeface="Calibri" pitchFamily="34" charset="-120"/>
                            </a:rPr>
                            <a:t>0.687</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200" dirty="0">
                              <a:solidFill>
                                <a:srgbClr val="222222"/>
                              </a:solidFill>
                              <a:latin typeface="Calibri" pitchFamily="34" charset="0"/>
                              <a:ea typeface="Calibri" pitchFamily="34" charset="-122"/>
                              <a:cs typeface="Calibri" pitchFamily="34" charset="-120"/>
                            </a:rPr>
                            <a:t>0.360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200" b="1" dirty="0">
                              <a:solidFill>
                                <a:srgbClr val="E31836"/>
                              </a:solidFill>
                              <a:latin typeface="Calibri" pitchFamily="34" charset="0"/>
                              <a:ea typeface="Calibri" pitchFamily="34" charset="-122"/>
                              <a:cs typeface="Calibri" pitchFamily="34" charset="-120"/>
                            </a:rPr>
                            <a:t>0.327</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5"/>
                      </a:ext>
                    </a:extLst>
                  </a:tr>
                  <a:tr h="329184">
                    <a:tc>
                      <a:txBody>
                        <a:bodyPr/>
                        <a:lstStyle/>
                        <a:p>
                          <a:pPr marL="0" indent="0" algn="ctr">
                            <a:buNone/>
                          </a:pPr>
                          <a:r>
                            <a:rPr lang="en-US" sz="1200" dirty="0">
                              <a:solidFill>
                                <a:srgbClr val="222222"/>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asset exposure → asset protection</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200" dirty="0">
                              <a:solidFill>
                                <a:srgbClr val="222222"/>
                              </a:solidFill>
                              <a:latin typeface="Calibri" pitchFamily="34" charset="0"/>
                              <a:ea typeface="Calibri" pitchFamily="34" charset="-122"/>
                              <a:cs typeface="Calibri" pitchFamily="34" charset="-120"/>
                            </a:rPr>
                            <a:t>0.831</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200" dirty="0">
                              <a:solidFill>
                                <a:srgbClr val="222222"/>
                              </a:solidFill>
                              <a:latin typeface="Calibri" pitchFamily="34" charset="0"/>
                              <a:ea typeface="Calibri" pitchFamily="34" charset="-122"/>
                              <a:cs typeface="Calibri" pitchFamily="34" charset="-120"/>
                            </a:rPr>
                            <a:t>0.000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200" b="1" dirty="0">
                              <a:solidFill>
                                <a:srgbClr val="E31836"/>
                              </a:solidFill>
                              <a:latin typeface="Calibri" pitchFamily="34" charset="0"/>
                              <a:ea typeface="Calibri" pitchFamily="34" charset="-122"/>
                              <a:cs typeface="Calibri" pitchFamily="34" charset="-120"/>
                            </a:rPr>
                            <a:t>0.831</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6"/>
                      </a:ext>
                    </a:extLst>
                  </a:tr>
                  <a:tr h="329184">
                    <a:tc>
                      <a:txBody>
                        <a:bodyPr/>
                        <a:lstStyle/>
                        <a:p>
                          <a:pPr marL="0" indent="0" algn="ctr">
                            <a:buNone/>
                          </a:pPr>
                          <a:r>
                            <a:rPr lang="en-US" sz="1200" dirty="0">
                              <a:solidFill>
                                <a:srgbClr val="222222"/>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intervention urgency → deployment</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200" dirty="0">
                              <a:solidFill>
                                <a:srgbClr val="222222"/>
                              </a:solidFill>
                              <a:latin typeface="Calibri" pitchFamily="34" charset="0"/>
                              <a:ea typeface="Calibri" pitchFamily="34" charset="-122"/>
                              <a:cs typeface="Calibri" pitchFamily="34" charset="-120"/>
                            </a:rPr>
                            <a:t>0.816</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200" dirty="0">
                              <a:solidFill>
                                <a:srgbClr val="222222"/>
                              </a:solidFill>
                              <a:latin typeface="Calibri" pitchFamily="34" charset="0"/>
                              <a:ea typeface="Calibri" pitchFamily="34" charset="-122"/>
                              <a:cs typeface="Calibri" pitchFamily="34" charset="-120"/>
                            </a:rPr>
                            <a:t>0.920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200" b="1" dirty="0">
                              <a:solidFill>
                                <a:srgbClr val="E31836"/>
                              </a:solidFill>
                              <a:latin typeface="Calibri" pitchFamily="34" charset="0"/>
                              <a:ea typeface="Calibri" pitchFamily="34" charset="-122"/>
                              <a:cs typeface="Calibri" pitchFamily="34" charset="-120"/>
                            </a:rPr>
                            <a:t>0.104</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7"/>
                      </a:ext>
                    </a:extLst>
                  </a:tr>
                  <a:tr h="329184">
                    <a:tc>
                      <a:txBody>
                        <a:bodyPr/>
                        <a:lstStyle/>
                        <a:p>
                          <a:pPr marL="0" indent="0" algn="ctr">
                            <a:buNone/>
                          </a:pPr>
                          <a:r>
                            <a:rPr lang="en-US" sz="1200" dirty="0">
                              <a:solidFill>
                                <a:srgbClr val="222222"/>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evacuation pressure → evacuation</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200" dirty="0">
                              <a:solidFill>
                                <a:srgbClr val="222222"/>
                              </a:solidFill>
                              <a:latin typeface="Calibri" pitchFamily="34" charset="0"/>
                              <a:ea typeface="Calibri" pitchFamily="34" charset="-122"/>
                              <a:cs typeface="Calibri" pitchFamily="34" charset="-120"/>
                            </a:rPr>
                            <a:t>0.674</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200" dirty="0">
                              <a:solidFill>
                                <a:srgbClr val="222222"/>
                              </a:solidFill>
                              <a:latin typeface="Calibri" pitchFamily="34" charset="0"/>
                              <a:ea typeface="Calibri" pitchFamily="34" charset="-122"/>
                              <a:cs typeface="Calibri" pitchFamily="34" charset="-120"/>
                            </a:rPr>
                            <a:t>0.000</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200" b="1" dirty="0">
                              <a:solidFill>
                                <a:srgbClr val="E31836"/>
                              </a:solidFill>
                              <a:latin typeface="Calibri" pitchFamily="34" charset="0"/>
                              <a:ea typeface="Calibri" pitchFamily="34" charset="-122"/>
                              <a:cs typeface="Calibri" pitchFamily="34" charset="-120"/>
                            </a:rPr>
                            <a:t>0.674</a:t>
                          </a:r>
                          <a:endParaRPr lang="en-US" sz="1200" dirty="0">
                            <a:latin typeface="Calibri" charset="0"/>
                            <a:ea typeface="Calibri" charset="0"/>
                            <a:cs typeface="Calibri" charset="0"/>
                          </a:endParaRPr>
                        </a:p>
                      </a:txBody>
                      <a:tcPr marL="36576" marR="36576" marT="36576" marB="36576"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mc:Fallback>
      </mc:AlternateContent>
      <p:sp>
        <p:nvSpPr>
          <p:cNvPr id="6" name="Text 3"/>
          <p:cNvSpPr/>
          <p:nvPr/>
        </p:nvSpPr>
        <p:spPr>
          <a:xfrm>
            <a:off x="6629400" y="1078992"/>
            <a:ext cx="5120640" cy="292608"/>
          </a:xfrm>
          <a:prstGeom prst="rect">
            <a:avLst/>
          </a:prstGeom>
          <a:noFill/>
          <a:ln/>
        </p:spPr>
        <p:txBody>
          <a:bodyPr wrap="square" lIns="0" tIns="0" rIns="0" bIns="0" rtlCol="0" anchor="ctr"/>
          <a:lstStyle/>
          <a:p>
            <a:pPr marL="0" indent="0">
              <a:buNone/>
            </a:pPr>
            <a:r>
              <a:rPr lang="en-US" sz="1400" b="1" dirty="0">
                <a:solidFill>
                  <a:srgbClr val="3E7C4F"/>
                </a:solidFill>
                <a:latin typeface="Calibri" pitchFamily="34" charset="0"/>
                <a:ea typeface="Calibri" pitchFamily="34" charset="-122"/>
                <a:cs typeface="Calibri" pitchFamily="34" charset="-120"/>
              </a:rPr>
              <a:t>Region 1 — quality passes</a:t>
            </a:r>
            <a:endParaRPr lang="en-US" sz="1400" dirty="0"/>
          </a:p>
        </p:txBody>
      </p:sp>
      <mc:AlternateContent xmlns:mc="http://schemas.openxmlformats.org/markup-compatibility/2006" xmlns:a14="http://schemas.microsoft.com/office/drawing/2010/main">
        <mc:Choice Requires="a14">
          <p:sp>
            <p:nvSpPr>
              <p:cNvPr id="9" name="Text 4"/>
              <p:cNvSpPr/>
              <p:nvPr/>
            </p:nvSpPr>
            <p:spPr>
              <a:xfrm>
                <a:off x="6629400" y="1399032"/>
                <a:ext cx="5120640" cy="773260"/>
              </a:xfrm>
              <a:prstGeom prst="rect">
                <a:avLst/>
              </a:prstGeom>
              <a:noFill/>
              <a:ln/>
            </p:spPr>
            <p:txBody>
              <a:bodyPr wrap="square" lIns="0" tIns="0" rIns="0" bIns="0"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n-US" sz="1400" i="1">
                              <a:latin typeface="Cambria Math" panose="02040503050406030204" pitchFamily="18" charset="0"/>
                            </a:rPr>
                          </m:ctrlPr>
                        </m:sSubPr>
                        <m:e>
                          <m:r>
                            <a:rPr lang="en-US" sz="1400">
                              <a:latin typeface="Cambria Math"/>
                            </a:rPr>
                            <m:t>𝑄</m:t>
                          </m:r>
                        </m:e>
                        <m:sub>
                          <m:r>
                            <a:rPr lang="en-US" sz="1400">
                              <a:latin typeface="Cambria Math"/>
                            </a:rPr>
                            <m:t>1</m:t>
                          </m:r>
                        </m:sub>
                      </m:sSub>
                      <m:r>
                        <a:rPr lang="en-US" sz="1400">
                          <a:latin typeface="Cambria Math"/>
                        </a:rPr>
                        <m:t> = 1 − </m:t>
                      </m:r>
                      <m:f>
                        <m:fPr>
                          <m:ctrlPr>
                            <a:rPr lang="en-US" sz="1400" i="1">
                              <a:latin typeface="Cambria Math" panose="02040503050406030204" pitchFamily="18" charset="0"/>
                            </a:rPr>
                          </m:ctrlPr>
                        </m:fPr>
                        <m:num>
                          <m:r>
                            <a:rPr lang="en-US" sz="1400">
                              <a:latin typeface="Cambria Math"/>
                            </a:rPr>
                            <m:t>1</m:t>
                          </m:r>
                        </m:num>
                        <m:den>
                          <m:r>
                            <a:rPr lang="en-US" sz="1400">
                              <a:latin typeface="Cambria Math"/>
                            </a:rPr>
                            <m:t>4</m:t>
                          </m:r>
                        </m:den>
                      </m:f>
                      <m:d>
                        <m:dPr>
                          <m:ctrlPr>
                            <a:rPr lang="en-US" sz="1400" i="1">
                              <a:latin typeface="Cambria Math" panose="02040503050406030204" pitchFamily="18" charset="0"/>
                            </a:rPr>
                          </m:ctrlPr>
                        </m:dPr>
                        <m:e>
                          <m:r>
                            <a:rPr lang="en-US" sz="1400">
                              <a:latin typeface="Cambria Math"/>
                            </a:rPr>
                            <m:t>0.237 + 0.492 + 0.085 + 0.497</m:t>
                          </m:r>
                        </m:e>
                      </m:d>
                      <m:r>
                        <a:rPr lang="en-US" sz="1400">
                          <a:latin typeface="Cambria Math"/>
                        </a:rPr>
                        <m:t>= 0.672</m:t>
                      </m:r>
                    </m:oMath>
                  </m:oMathPara>
                </a14:m>
                <a:endParaRPr lang="en-US" sz="1400" dirty="0"/>
              </a:p>
              <a:p>
                <a:pPr algn="ctr"/>
                <a14:m>
                  <m:oMathPara xmlns:m="http://schemas.openxmlformats.org/officeDocument/2006/math">
                    <m:oMathParaPr>
                      <m:jc m:val="centerGroup"/>
                    </m:oMathParaPr>
                    <m:oMath xmlns:m="http://schemas.openxmlformats.org/officeDocument/2006/math">
                      <m:r>
                        <a:rPr lang="en-US" sz="1400" i="1">
                          <a:latin typeface="Cambria Math" panose="02040503050406030204" pitchFamily="18" charset="0"/>
                        </a:rPr>
                        <m:t>𝑄</m:t>
                      </m:r>
                      <m:r>
                        <a:rPr lang="en-US" sz="1400" i="1">
                          <a:latin typeface="Cambria Math" panose="02040503050406030204" pitchFamily="18" charset="0"/>
                        </a:rPr>
                        <m:t>₁ = 1 − 0.328 = 0.672 ≥ 0.60</m:t>
                      </m:r>
                    </m:oMath>
                  </m:oMathPara>
                </a14:m>
                <a:endParaRPr lang="en-US" sz="1400" dirty="0"/>
              </a:p>
              <a:p>
                <a:pPr marL="0" indent="0" algn="ctr">
                  <a:buNone/>
                </a:pPr>
                <a:endParaRPr lang="en-US" sz="1400" dirty="0"/>
              </a:p>
            </p:txBody>
          </p:sp>
        </mc:Choice>
        <mc:Fallback xmlns="">
          <p:sp>
            <p:nvSpPr>
              <p:cNvPr id="9" name="Text 4"/>
              <p:cNvSpPr>
                <a:spLocks noRot="1" noChangeAspect="1" noMove="1" noResize="1" noEditPoints="1" noAdjustHandles="1" noChangeArrowheads="1" noChangeShapeType="1" noTextEdit="1"/>
              </p:cNvSpPr>
              <p:nvPr/>
            </p:nvSpPr>
            <p:spPr>
              <a:xfrm>
                <a:off x="6629400" y="1399032"/>
                <a:ext cx="5120640" cy="773260"/>
              </a:xfrm>
              <a:prstGeom prst="rect">
                <a:avLst/>
              </a:prstGeom>
              <a:blipFill>
                <a:blip r:embed="rId6"/>
                <a:stretch>
                  <a:fillRect t="-3968"/>
                </a:stretch>
              </a:blipFill>
              <a:ln/>
            </p:spPr>
            <p:txBody>
              <a:bodyPr/>
              <a:lstStyle/>
              <a:p>
                <a:r>
                  <a:rPr lang="tr-TR">
                    <a:noFill/>
                  </a:rPr>
                  <a:t> </a:t>
                </a:r>
              </a:p>
            </p:txBody>
          </p:sp>
        </mc:Fallback>
      </mc:AlternateContent>
      <p:sp>
        <p:nvSpPr>
          <p:cNvPr id="11" name="Text 6"/>
          <p:cNvSpPr/>
          <p:nvPr/>
        </p:nvSpPr>
        <p:spPr>
          <a:xfrm>
            <a:off x="6621780" y="2418014"/>
            <a:ext cx="5120640" cy="292608"/>
          </a:xfrm>
          <a:prstGeom prst="rect">
            <a:avLst/>
          </a:prstGeom>
          <a:noFill/>
          <a:ln/>
        </p:spPr>
        <p:txBody>
          <a:bodyPr wrap="square" lIns="0" tIns="0" rIns="0" bIns="0" rtlCol="0" anchor="ctr"/>
          <a:lstStyle/>
          <a:p>
            <a:pPr marL="0" indent="0">
              <a:buNone/>
            </a:pPr>
            <a:r>
              <a:rPr lang="en-US" sz="1400" b="1" dirty="0">
                <a:solidFill>
                  <a:srgbClr val="E31836"/>
                </a:solidFill>
                <a:latin typeface="Calibri" pitchFamily="34" charset="0"/>
                <a:ea typeface="Calibri" pitchFamily="34" charset="-122"/>
                <a:cs typeface="Calibri" pitchFamily="34" charset="-120"/>
              </a:rPr>
              <a:t>Region 2 — quality fails, the fail-safe engages</a:t>
            </a:r>
            <a:endParaRPr lang="en-US" sz="1400" dirty="0"/>
          </a:p>
        </p:txBody>
      </p:sp>
      <mc:AlternateContent xmlns:mc="http://schemas.openxmlformats.org/markup-compatibility/2006" xmlns:a14="http://schemas.microsoft.com/office/drawing/2010/main">
        <mc:Choice Requires="a14">
          <p:sp>
            <p:nvSpPr>
              <p:cNvPr id="12" name="Text 7"/>
              <p:cNvSpPr/>
              <p:nvPr/>
            </p:nvSpPr>
            <p:spPr>
              <a:xfrm>
                <a:off x="6621780" y="2738054"/>
                <a:ext cx="5120640" cy="640080"/>
              </a:xfrm>
              <a:prstGeom prst="rect">
                <a:avLst/>
              </a:prstGeom>
              <a:noFill/>
              <a:ln/>
            </p:spPr>
            <p:txBody>
              <a:bodyPr wrap="square" lIns="0" tIns="0" rIns="0" bIns="0"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n-US" sz="1400" i="1">
                              <a:latin typeface="Cambria Math" panose="02040503050406030204" pitchFamily="18" charset="0"/>
                            </a:rPr>
                          </m:ctrlPr>
                        </m:sSubPr>
                        <m:e>
                          <m:r>
                            <a:rPr lang="en-US" sz="1400">
                              <a:latin typeface="Cambria Math"/>
                            </a:rPr>
                            <m:t>𝑄</m:t>
                          </m:r>
                        </m:e>
                        <m:sub>
                          <m:r>
                            <a:rPr lang="en-US" sz="1400">
                              <a:latin typeface="Cambria Math"/>
                            </a:rPr>
                            <m:t>2</m:t>
                          </m:r>
                        </m:sub>
                      </m:sSub>
                      <m:r>
                        <a:rPr lang="en-US" sz="1400">
                          <a:latin typeface="Cambria Math"/>
                        </a:rPr>
                        <m:t> = 1 − </m:t>
                      </m:r>
                      <m:f>
                        <m:fPr>
                          <m:ctrlPr>
                            <a:rPr lang="en-US" sz="1400" i="1">
                              <a:latin typeface="Cambria Math" panose="02040503050406030204" pitchFamily="18" charset="0"/>
                            </a:rPr>
                          </m:ctrlPr>
                        </m:fPr>
                        <m:num>
                          <m:r>
                            <a:rPr lang="en-US" sz="1400">
                              <a:latin typeface="Cambria Math"/>
                            </a:rPr>
                            <m:t>1</m:t>
                          </m:r>
                        </m:num>
                        <m:den>
                          <m:r>
                            <a:rPr lang="en-US" sz="1400">
                              <a:latin typeface="Cambria Math"/>
                            </a:rPr>
                            <m:t>4</m:t>
                          </m:r>
                        </m:den>
                      </m:f>
                      <m:r>
                        <a:rPr lang="en-US" sz="1400">
                          <a:latin typeface="Cambria Math"/>
                        </a:rPr>
                        <m:t>(0.327 + 0.831 + 0.104 + 0.674) = 0.516</m:t>
                      </m:r>
                    </m:oMath>
                  </m:oMathPara>
                </a14:m>
                <a:endParaRPr lang="en-US" sz="1300" dirty="0"/>
              </a:p>
            </p:txBody>
          </p:sp>
        </mc:Choice>
        <mc:Fallback xmlns="">
          <p:sp>
            <p:nvSpPr>
              <p:cNvPr id="12" name="Text 7"/>
              <p:cNvSpPr>
                <a:spLocks noRot="1" noChangeAspect="1" noMove="1" noResize="1" noEditPoints="1" noAdjustHandles="1" noChangeArrowheads="1" noChangeShapeType="1" noTextEdit="1"/>
              </p:cNvSpPr>
              <p:nvPr/>
            </p:nvSpPr>
            <p:spPr>
              <a:xfrm>
                <a:off x="6621780" y="2738054"/>
                <a:ext cx="5120640" cy="640080"/>
              </a:xfrm>
              <a:prstGeom prst="rect">
                <a:avLst/>
              </a:prstGeom>
              <a:blipFill>
                <a:blip r:embed="rId7"/>
                <a:stretch>
                  <a:fillRect/>
                </a:stretch>
              </a:blipFill>
              <a:ln/>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3" name="Text 8"/>
              <p:cNvSpPr/>
              <p:nvPr/>
            </p:nvSpPr>
            <p:spPr>
              <a:xfrm>
                <a:off x="6621780" y="3423854"/>
                <a:ext cx="5120640" cy="548640"/>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sSub>
                        <m:sSubPr>
                          <m:ctrlPr>
                            <a:rPr lang="en-US" sz="1400" i="1">
                              <a:latin typeface="Cambria Math" panose="02040503050406030204" pitchFamily="18" charset="0"/>
                            </a:rPr>
                          </m:ctrlPr>
                        </m:sSubPr>
                        <m:e>
                          <m:r>
                            <a:rPr lang="en-US" sz="1400">
                              <a:latin typeface="Cambria Math"/>
                            </a:rPr>
                            <m:t>𝑢</m:t>
                          </m:r>
                        </m:e>
                        <m:sub>
                          <m:r>
                            <m:rPr>
                              <m:sty m:val="p"/>
                            </m:rPr>
                            <a:rPr lang="en-US" sz="1400">
                              <a:latin typeface="Cambria Math"/>
                            </a:rPr>
                            <m:t>f</m:t>
                          </m:r>
                        </m:sub>
                      </m:sSub>
                      <m:r>
                        <a:rPr lang="en-US" sz="1400">
                          <a:latin typeface="Cambria Math"/>
                        </a:rPr>
                        <m:t>′ = </m:t>
                      </m:r>
                      <m:f>
                        <m:fPr>
                          <m:ctrlPr>
                            <a:rPr lang="en-US" sz="1400" i="1">
                              <a:latin typeface="Cambria Math" panose="02040503050406030204" pitchFamily="18" charset="0"/>
                            </a:rPr>
                          </m:ctrlPr>
                        </m:fPr>
                        <m:num>
                          <m:sSub>
                            <m:sSubPr>
                              <m:ctrlPr>
                                <a:rPr lang="en-US" sz="1400" i="1">
                                  <a:latin typeface="Cambria Math" panose="02040503050406030204" pitchFamily="18" charset="0"/>
                                </a:rPr>
                              </m:ctrlPr>
                            </m:sSubPr>
                            <m:e>
                              <m:r>
                                <a:rPr lang="en-US" sz="1400">
                                  <a:latin typeface="Cambria Math"/>
                                </a:rPr>
                                <m:t>𝑄</m:t>
                              </m:r>
                            </m:e>
                            <m:sub>
                              <m:r>
                                <a:rPr lang="en-US" sz="1400">
                                  <a:latin typeface="Cambria Math"/>
                                </a:rPr>
                                <m:t>2</m:t>
                              </m:r>
                            </m:sub>
                          </m:sSub>
                        </m:num>
                        <m:den>
                          <m:r>
                            <a:rPr lang="en-US" sz="1400">
                              <a:latin typeface="Cambria Math"/>
                            </a:rPr>
                            <m:t>𝜂</m:t>
                          </m:r>
                        </m:den>
                      </m:f>
                      <m:sSub>
                        <m:sSubPr>
                          <m:ctrlPr>
                            <a:rPr lang="en-US" sz="1400" i="1">
                              <a:latin typeface="Cambria Math" panose="02040503050406030204" pitchFamily="18" charset="0"/>
                            </a:rPr>
                          </m:ctrlPr>
                        </m:sSubPr>
                        <m:e>
                          <m:r>
                            <a:rPr lang="en-US" sz="1400">
                              <a:latin typeface="Cambria Math"/>
                            </a:rPr>
                            <m:t>𝑢</m:t>
                          </m:r>
                        </m:e>
                        <m:sub>
                          <m:r>
                            <m:rPr>
                              <m:sty m:val="p"/>
                            </m:rPr>
                            <a:rPr lang="en-US" sz="1400">
                              <a:latin typeface="Cambria Math"/>
                            </a:rPr>
                            <m:t>f</m:t>
                          </m:r>
                        </m:sub>
                      </m:sSub>
                      <m:r>
                        <a:rPr lang="en-US" sz="1400">
                          <a:latin typeface="Cambria Math"/>
                        </a:rPr>
                        <m:t> =</m:t>
                      </m: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0.516</m:t>
                          </m:r>
                        </m:num>
                        <m:den>
                          <m:r>
                            <a:rPr lang="en-US" sz="1400" b="0" i="1" smtClean="0">
                              <a:latin typeface="Cambria Math" panose="02040503050406030204" pitchFamily="18" charset="0"/>
                            </a:rPr>
                            <m:t>0.6</m:t>
                          </m:r>
                        </m:den>
                      </m:f>
                      <m:sSub>
                        <m:sSubPr>
                          <m:ctrlPr>
                            <a:rPr lang="en-US" sz="1400" i="1">
                              <a:latin typeface="Cambria Math" panose="02040503050406030204" pitchFamily="18" charset="0"/>
                            </a:rPr>
                          </m:ctrlPr>
                        </m:sSubPr>
                        <m:e>
                          <m:r>
                            <a:rPr lang="en-US" sz="1400">
                              <a:latin typeface="Cambria Math"/>
                            </a:rPr>
                            <m:t>𝑢</m:t>
                          </m:r>
                        </m:e>
                        <m:sub>
                          <m:r>
                            <m:rPr>
                              <m:sty m:val="p"/>
                            </m:rPr>
                            <a:rPr lang="en-US" sz="1400">
                              <a:latin typeface="Cambria Math"/>
                            </a:rPr>
                            <m:t>f</m:t>
                          </m:r>
                        </m:sub>
                      </m:sSub>
                      <m:r>
                        <a:rPr lang="en-US" sz="1400">
                          <a:latin typeface="Cambria Math"/>
                        </a:rPr>
                        <m:t> =0.86</m:t>
                      </m:r>
                      <m:sSub>
                        <m:sSubPr>
                          <m:ctrlPr>
                            <a:rPr lang="en-US" sz="1400" i="1">
                              <a:latin typeface="Cambria Math" panose="02040503050406030204" pitchFamily="18" charset="0"/>
                            </a:rPr>
                          </m:ctrlPr>
                        </m:sSubPr>
                        <m:e>
                          <m:r>
                            <a:rPr lang="en-US" sz="1400">
                              <a:latin typeface="Cambria Math"/>
                            </a:rPr>
                            <m:t>𝑢</m:t>
                          </m:r>
                        </m:e>
                        <m:sub>
                          <m:r>
                            <m:rPr>
                              <m:sty m:val="p"/>
                            </m:rPr>
                            <a:rPr lang="en-US" sz="1400">
                              <a:latin typeface="Cambria Math"/>
                            </a:rPr>
                            <m:t>f</m:t>
                          </m:r>
                        </m:sub>
                      </m:sSub>
                    </m:oMath>
                  </m:oMathPara>
                </a14:m>
                <a:endParaRPr lang="en-US" sz="1300" dirty="0"/>
              </a:p>
            </p:txBody>
          </p:sp>
        </mc:Choice>
        <mc:Fallback xmlns="">
          <p:sp>
            <p:nvSpPr>
              <p:cNvPr id="13" name="Text 8"/>
              <p:cNvSpPr>
                <a:spLocks noRot="1" noChangeAspect="1" noMove="1" noResize="1" noEditPoints="1" noAdjustHandles="1" noChangeArrowheads="1" noChangeShapeType="1" noTextEdit="1"/>
              </p:cNvSpPr>
              <p:nvPr/>
            </p:nvSpPr>
            <p:spPr>
              <a:xfrm>
                <a:off x="6621780" y="3423854"/>
                <a:ext cx="5120640" cy="548640"/>
              </a:xfrm>
              <a:prstGeom prst="rect">
                <a:avLst/>
              </a:prstGeom>
              <a:blipFill>
                <a:blip r:embed="rId8"/>
                <a:stretch>
                  <a:fillRect b="-1111"/>
                </a:stretch>
              </a:blipFill>
              <a:ln/>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4" name="Text 9"/>
              <p:cNvSpPr/>
              <p:nvPr/>
            </p:nvSpPr>
            <p:spPr>
              <a:xfrm>
                <a:off x="6629400" y="3883978"/>
                <a:ext cx="5120640" cy="2736278"/>
              </a:xfrm>
              <a:prstGeom prst="rect">
                <a:avLst/>
              </a:prstGeom>
              <a:noFill/>
              <a:ln/>
            </p:spPr>
            <p:txBody>
              <a:bodyPr wrap="square" lIns="0" tIns="0" rIns="0" bIns="0" rtlCol="0" anchor="t"/>
              <a:lstStyle/>
              <a:p>
                <a:pPr marL="171450" indent="-171450">
                  <a:lnSpc>
                    <a:spcPct val="104000"/>
                  </a:lnSpc>
                  <a:buFont typeface="Arial" panose="020B0604020202020204" pitchFamily="34" charset="0"/>
                  <a:buChar char="•"/>
                </a:pPr>
                <a:r>
                  <a:rPr lang="en-US" sz="1400">
                    <a:solidFill>
                      <a:srgbClr val="222222"/>
                    </a:solidFill>
                    <a:latin typeface="Calibri" pitchFamily="34" charset="0"/>
                    <a:ea typeface="Calibri" pitchFamily="34" charset="-122"/>
                    <a:cs typeface="Calibri" pitchFamily="34" charset="-120"/>
                  </a:rPr>
                  <a:t>Fail-safe: every offensive order × 0.86 (= Q₂/η) — weakened, not cancelled</a:t>
                </a:r>
              </a:p>
              <a:p>
                <a:pPr marL="171450" indent="-171450">
                  <a:lnSpc>
                    <a:spcPct val="104000"/>
                  </a:lnSpc>
                  <a:buFont typeface="Arial" panose="020B0604020202020204" pitchFamily="34" charset="0"/>
                  <a:buChar char="•"/>
                </a:pPr>
                <a:r>
                  <a:rPr lang="en-US" sz="1400" b="1">
                    <a:solidFill>
                      <a:srgbClr val="222222"/>
                    </a:solidFill>
                    <a:latin typeface="Calibri" pitchFamily="34" charset="0"/>
                    <a:ea typeface="Calibri" pitchFamily="34" charset="-122"/>
                    <a:cs typeface="Calibri" pitchFamily="34" charset="-120"/>
                  </a:rPr>
                  <a:t>Evacuation &amp; warning are never attenuated — none was ordered here; only quality saw the gap</a:t>
                </a:r>
              </a:p>
              <a:p>
                <a:pPr marL="171450" indent="-171450">
                  <a:lnSpc>
                    <a:spcPct val="104000"/>
                  </a:lnSpc>
                  <a:buFont typeface="Arial" panose="020B0604020202020204" pitchFamily="34" charset="0"/>
                  <a:buChar char="•"/>
                </a:pPr>
                <a:r>
                  <a:rPr lang="en-US" sz="1400">
                    <a:solidFill>
                      <a:srgbClr val="222222"/>
                    </a:solidFill>
                    <a:latin typeface="Calibri" pitchFamily="34" charset="0"/>
                    <a:ea typeface="Calibri" pitchFamily="34" charset="-122"/>
                    <a:cs typeface="Calibri" pitchFamily="34" charset="-120"/>
                  </a:rPr>
                  <a:t>The cost test is blind to it: unburnt assets carry no cost inside the horizon</a:t>
                </a:r>
                <a:endParaRPr lang="en-US" sz="1400" dirty="0"/>
              </a:p>
            </p:txBody>
          </p:sp>
        </mc:Choice>
        <mc:Fallback xmlns="">
          <p:sp>
            <p:nvSpPr>
              <p:cNvPr id="14" name="Text 9"/>
              <p:cNvSpPr/>
              <p:nvPr/>
            </p:nvSpPr>
            <p:spPr>
              <a:xfrm>
                <a:off x="6629400" y="3883978"/>
                <a:ext cx="5120640" cy="2736278"/>
              </a:xfrm>
              <a:prstGeom prst="rect">
                <a:avLst/>
              </a:prstGeom>
              <a:noFill/>
              <a:ln/>
            </p:spPr>
            <p:txBody>
              <a:bodyPr wrap="square" lIns="0" tIns="0" rIns="0" bIns="0" rtlCol="0" anchor="t"/>
              <a:lstStyle/>
              <a:p>
                <a:pPr marL="171450" indent="-171450">
                  <a:lnSpc>
                    <a:spcPct val="104000"/>
                  </a:lnSpc>
                  <a:buFont typeface="Arial" panose="020B0604020202020204" pitchFamily="34" charset="0"/>
                  <a:buChar char="•"/>
                </a:pPr>
                <a:r>
                  <a:rPr lang="en-US" sz="1400">
                    <a:solidFill>
                      <a:srgbClr val="222222"/>
                    </a:solidFill>
                    <a:latin typeface="Calibri" pitchFamily="34" charset="0"/>
                    <a:ea typeface="Calibri" pitchFamily="34" charset="-122"/>
                    <a:cs typeface="Calibri" pitchFamily="34" charset="-120"/>
                  </a:rPr>
                  <a:t>Fail-safe: every offensive order × 0.86 (= Q₂/η) — weakened, not cancelled</a:t>
                </a:r>
              </a:p>
              <a:p>
                <a:pPr marL="171450" indent="-171450">
                  <a:lnSpc>
                    <a:spcPct val="104000"/>
                  </a:lnSpc>
                  <a:buFont typeface="Arial" panose="020B0604020202020204" pitchFamily="34" charset="0"/>
                  <a:buChar char="•"/>
                </a:pPr>
                <a:r>
                  <a:rPr lang="en-US" sz="1400" b="1">
                    <a:solidFill>
                      <a:srgbClr val="222222"/>
                    </a:solidFill>
                    <a:latin typeface="Calibri" pitchFamily="34" charset="0"/>
                    <a:ea typeface="Calibri" pitchFamily="34" charset="-122"/>
                    <a:cs typeface="Calibri" pitchFamily="34" charset="-120"/>
                  </a:rPr>
                  <a:t>Evacuation &amp; warning are never attenuated — none was ordered here; only quality saw the gap</a:t>
                </a:r>
              </a:p>
              <a:p>
                <a:pPr marL="171450" indent="-171450">
                  <a:lnSpc>
                    <a:spcPct val="104000"/>
                  </a:lnSpc>
                  <a:buFont typeface="Arial" panose="020B0604020202020204" pitchFamily="34" charset="0"/>
                  <a:buChar char="•"/>
                </a:pPr>
                <a:r>
                  <a:rPr lang="en-US" sz="1400">
                    <a:solidFill>
                      <a:srgbClr val="222222"/>
                    </a:solidFill>
                    <a:latin typeface="Calibri" pitchFamily="34" charset="0"/>
                    <a:ea typeface="Calibri" pitchFamily="34" charset="-122"/>
                    <a:cs typeface="Calibri" pitchFamily="34" charset="-120"/>
                  </a:rPr>
                  <a:t>The cost test is blind to it: unburnt assets carry no cost inside the horizon</a:t>
                </a:r>
                <a:endParaRPr lang="en-US" sz="1400" dirty="0"/>
              </a:p>
            </p:txBody>
          </p:sp>
        </mc:Fallback>
      </mc:AlternateContent>
      <mc:AlternateContent xmlns:mc="http://schemas.openxmlformats.org/markup-compatibility/2006" xmlns:a14="http://schemas.microsoft.com/office/drawing/2010/main">
        <mc:Choice Requires="a14">
          <p:sp>
            <p:nvSpPr>
              <p:cNvPr id="16" name="Text 7">
                <a:extLst>
                  <a:ext uri="{FF2B5EF4-FFF2-40B4-BE49-F238E27FC236}">
                    <a16:creationId xmlns:a16="http://schemas.microsoft.com/office/drawing/2014/main" id="{689F2944-B9F4-BF37-2D8B-92CF794CD7EA}"/>
                  </a:ext>
                </a:extLst>
              </p:cNvPr>
              <p:cNvSpPr/>
              <p:nvPr/>
            </p:nvSpPr>
            <p:spPr>
              <a:xfrm>
                <a:off x="457200" y="4462974"/>
                <a:ext cx="5943600" cy="2347025"/>
              </a:xfrm>
              <a:prstGeom prst="rect">
                <a:avLst/>
              </a:prstGeom>
              <a:noFill/>
              <a:ln/>
            </p:spPr>
            <p:txBody>
              <a:bodyPr wrap="square" lIns="0" tIns="0" rIns="0" bIns="0" rtlCol="0" anchor="t"/>
              <a:lstStyle/>
              <a:p>
                <a:pPr marL="152400" indent="-152400">
                  <a:lnSpc>
                    <a:spcPct val="104000"/>
                  </a:lnSpc>
                  <a:spcAft>
                    <a:spcPts val="600"/>
                  </a:spcAft>
                  <a:buSzPct val="100000"/>
                  <a:buChar char="•"/>
                </a:pPr>
                <a:r>
                  <a:rPr lang="en-US" sz="1400">
                    <a:solidFill>
                      <a:srgbClr val="222222"/>
                    </a:solidFill>
                    <a:latin typeface="Calibri" pitchFamily="34" charset="0"/>
                    <a:ea typeface="Calibri" pitchFamily="34" charset="-122"/>
                    <a:cs typeface="Calibri" pitchFamily="34" charset="-120"/>
                  </a:rPr>
                  <a:t>demanding concept ↔ answering family</a:t>
                </a:r>
                <a:endParaRPr lang="en-US" sz="1400" dirty="0"/>
              </a:p>
              <a:p>
                <a:pPr marL="152400" indent="-152400">
                  <a:lnSpc>
                    <a:spcPct val="104000"/>
                  </a:lnSpc>
                  <a:spcAft>
                    <a:spcPts val="600"/>
                  </a:spcAft>
                  <a:buSzPct val="100000"/>
                  <a:buChar char="•"/>
                </a:pPr>
                <a:r>
                  <a:rPr lang="en-US" sz="1400">
                    <a:solidFill>
                      <a:srgbClr val="222222"/>
                    </a:solidFill>
                    <a:latin typeface="Calibri" pitchFamily="34" charset="0"/>
                    <a:ea typeface="Calibri" pitchFamily="34" charset="-122"/>
                    <a:cs typeface="Calibri" pitchFamily="34" charset="-120"/>
                  </a:rPr>
                  <a:t>feasibility excluded — a modulator, not a demander</a:t>
                </a:r>
              </a:p>
              <a:p>
                <a:pPr marL="152400" indent="-152400">
                  <a:lnSpc>
                    <a:spcPct val="104000"/>
                  </a:lnSpc>
                  <a:spcAft>
                    <a:spcPts val="600"/>
                  </a:spcAft>
                  <a:buSzPct val="100000"/>
                  <a:buFontTx/>
                  <a:buChar char="•"/>
                </a:pPr>
                <a:r>
                  <a:rPr lang="en-US" sz="1400">
                    <a:solidFill>
                      <a:srgbClr val="222222"/>
                    </a:solidFill>
                    <a:latin typeface="Calibri" pitchFamily="34" charset="0"/>
                    <a:ea typeface="Calibri" pitchFamily="34" charset="-122"/>
                    <a:cs typeface="Calibri" pitchFamily="34" charset="-120"/>
                  </a:rPr>
                  <a:t>mismatch = |demanded − ordered|; too much = too little</a:t>
                </a:r>
                <a:endParaRPr lang="en-US" sz="1400" dirty="0"/>
              </a:p>
              <a:p>
                <a:pPr marL="152400" indent="-152400">
                  <a:lnSpc>
                    <a:spcPct val="104000"/>
                  </a:lnSpc>
                  <a:spcAft>
                    <a:spcPts val="600"/>
                  </a:spcAft>
                  <a:buSzPct val="100000"/>
                  <a:buChar char="•"/>
                </a:pPr>
                <a:r>
                  <a:rPr lang="en-US" sz="1400" b="1">
                    <a:solidFill>
                      <a:srgbClr val="222222"/>
                    </a:solidFill>
                    <a:latin typeface="Calibri" pitchFamily="34" charset="0"/>
                    <a:ea typeface="Calibri" pitchFamily="34" charset="-122"/>
                    <a:cs typeface="Calibri" pitchFamily="34" charset="-120"/>
                  </a:rPr>
                  <a:t>Accept ⇔ </a:t>
                </a:r>
                <a14:m>
                  <m:oMath xmlns:m="http://schemas.openxmlformats.org/officeDocument/2006/math">
                    <m:r>
                      <a:rPr lang="en-US" sz="1300">
                        <a:latin typeface="Cambria Math"/>
                      </a:rPr>
                      <m:t>𝑄</m:t>
                    </m:r>
                    <m:r>
                      <a:rPr lang="en-US" sz="1300">
                        <a:latin typeface="Cambria Math"/>
                      </a:rPr>
                      <m:t> ≥ </m:t>
                    </m:r>
                    <m:r>
                      <a:rPr lang="en-US" sz="1300">
                        <a:latin typeface="Cambria Math"/>
                      </a:rPr>
                      <m:t>𝜂</m:t>
                    </m:r>
                  </m:oMath>
                </a14:m>
                <a:r>
                  <a:rPr lang="en-US" sz="1400" b="1">
                    <a:solidFill>
                      <a:srgbClr val="222222"/>
                    </a:solidFill>
                    <a:latin typeface="Calibri" pitchFamily="34" charset="0"/>
                    <a:ea typeface="Calibri" pitchFamily="34" charset="-122"/>
                    <a:cs typeface="Calibri" pitchFamily="34" charset="-120"/>
                  </a:rPr>
                  <a:t> = 0.60</a:t>
                </a:r>
                <a:endParaRPr lang="en-US" sz="1400" dirty="0"/>
              </a:p>
            </p:txBody>
          </p:sp>
        </mc:Choice>
        <mc:Fallback xmlns="">
          <p:sp>
            <p:nvSpPr>
              <p:cNvPr id="16" name="Text 7">
                <a:extLst>
                  <a:ext uri="{FF2B5EF4-FFF2-40B4-BE49-F238E27FC236}">
                    <a16:creationId xmlns:a16="http://schemas.microsoft.com/office/drawing/2014/main" id="{689F2944-B9F4-BF37-2D8B-92CF794CD7EA}"/>
                  </a:ext>
                </a:extLst>
              </p:cNvPr>
              <p:cNvSpPr/>
              <p:nvPr/>
            </p:nvSpPr>
            <p:spPr>
              <a:xfrm>
                <a:off x="457200" y="4462974"/>
                <a:ext cx="5943600" cy="2347025"/>
              </a:xfrm>
              <a:prstGeom prst="rect">
                <a:avLst/>
              </a:prstGeom>
              <a:noFill/>
              <a:ln/>
            </p:spPr>
            <p:txBody>
              <a:bodyPr wrap="square" lIns="0" tIns="0" rIns="0" bIns="0" rtlCol="0" anchor="t"/>
              <a:lstStyle/>
              <a:p>
                <a:pPr marL="152400" indent="-152400">
                  <a:lnSpc>
                    <a:spcPct val="104000"/>
                  </a:lnSpc>
                  <a:spcAft>
                    <a:spcPts val="600"/>
                  </a:spcAft>
                  <a:buSzPct val="100000"/>
                  <a:buChar char="•"/>
                </a:pPr>
                <a:r>
                  <a:rPr lang="en-US" sz="1400">
                    <a:solidFill>
                      <a:srgbClr val="222222"/>
                    </a:solidFill>
                    <a:latin typeface="Calibri" pitchFamily="34" charset="0"/>
                    <a:ea typeface="Calibri" pitchFamily="34" charset="-122"/>
                    <a:cs typeface="Calibri" pitchFamily="34" charset="-120"/>
                  </a:rPr>
                  <a:t>demanding concept ↔ answering family</a:t>
                </a:r>
                <a:endParaRPr lang="en-US" sz="1400" dirty="0"/>
              </a:p>
              <a:p>
                <a:pPr marL="152400" indent="-152400">
                  <a:lnSpc>
                    <a:spcPct val="104000"/>
                  </a:lnSpc>
                  <a:spcAft>
                    <a:spcPts val="600"/>
                  </a:spcAft>
                  <a:buSzPct val="100000"/>
                  <a:buChar char="•"/>
                </a:pPr>
                <a:r>
                  <a:rPr lang="en-US" sz="1400">
                    <a:solidFill>
                      <a:srgbClr val="222222"/>
                    </a:solidFill>
                    <a:latin typeface="Calibri" pitchFamily="34" charset="0"/>
                    <a:ea typeface="Calibri" pitchFamily="34" charset="-122"/>
                    <a:cs typeface="Calibri" pitchFamily="34" charset="-120"/>
                  </a:rPr>
                  <a:t>feasibility excluded — a modulator, not a demander</a:t>
                </a:r>
              </a:p>
              <a:p>
                <a:pPr marL="152400" indent="-152400">
                  <a:lnSpc>
                    <a:spcPct val="104000"/>
                  </a:lnSpc>
                  <a:spcAft>
                    <a:spcPts val="600"/>
                  </a:spcAft>
                  <a:buSzPct val="100000"/>
                  <a:buFontTx/>
                  <a:buChar char="•"/>
                </a:pPr>
                <a:r>
                  <a:rPr lang="en-US" sz="1400">
                    <a:solidFill>
                      <a:srgbClr val="222222"/>
                    </a:solidFill>
                    <a:latin typeface="Calibri" pitchFamily="34" charset="0"/>
                    <a:ea typeface="Calibri" pitchFamily="34" charset="-122"/>
                    <a:cs typeface="Calibri" pitchFamily="34" charset="-120"/>
                  </a:rPr>
                  <a:t>mismatch = |demanded − ordered|; too much = too little</a:t>
                </a:r>
                <a:endParaRPr lang="en-US" sz="1400" dirty="0"/>
              </a:p>
              <a:p>
                <a:pPr marL="152400" indent="-152400">
                  <a:lnSpc>
                    <a:spcPct val="104000"/>
                  </a:lnSpc>
                  <a:spcAft>
                    <a:spcPts val="600"/>
                  </a:spcAft>
                  <a:buSzPct val="100000"/>
                  <a:buChar char="•"/>
                </a:pPr>
                <a:r>
                  <a:rPr lang="en-US" sz="1400" b="1">
                    <a:solidFill>
                      <a:srgbClr val="222222"/>
                    </a:solidFill>
                    <a:latin typeface="Calibri" pitchFamily="34" charset="0"/>
                    <a:ea typeface="Calibri" pitchFamily="34" charset="-122"/>
                    <a:cs typeface="Calibri" pitchFamily="34" charset="-120"/>
                  </a:rPr>
                  <a:t xml:space="preserve">Accept ⇔ </a:t>
                </a:r>
                <a:r>
                  <a:rPr lang="en-US" sz="1300" i="1">
                    <a:latin typeface="Cambria Math"/>
                  </a:rPr>
                  <a:t>𝑄 ≥ 𝜂</a:t>
                </a:r>
                <a:r>
                  <a:rPr lang="en-US" sz="1400" b="1">
                    <a:solidFill>
                      <a:srgbClr val="222222"/>
                    </a:solidFill>
                    <a:latin typeface="Calibri" pitchFamily="34" charset="0"/>
                    <a:ea typeface="Calibri" pitchFamily="34" charset="-122"/>
                    <a:cs typeface="Calibri" pitchFamily="34" charset="-120"/>
                  </a:rPr>
                  <a:t xml:space="preserve"> = 0.60</a:t>
                </a:r>
                <a:endParaRPr lang="en-US" sz="1400" dirty="0"/>
              </a:p>
            </p:txBody>
          </p:sp>
        </mc:Fallback>
      </mc:AlternateContent>
      <p:sp>
        <p:nvSpPr>
          <p:cNvPr id="18" name="TextBox 17">
            <a:extLst>
              <a:ext uri="{FF2B5EF4-FFF2-40B4-BE49-F238E27FC236}">
                <a16:creationId xmlns:a16="http://schemas.microsoft.com/office/drawing/2014/main" id="{41D84514-4ABA-01DB-12CB-B473DF1A1179}"/>
              </a:ext>
            </a:extLst>
          </p:cNvPr>
          <p:cNvSpPr txBox="1"/>
          <p:nvPr/>
        </p:nvSpPr>
        <p:spPr>
          <a:xfrm>
            <a:off x="6619600" y="2061703"/>
            <a:ext cx="5105400" cy="307777"/>
          </a:xfrm>
          <a:prstGeom prst="rect">
            <a:avLst/>
          </a:prstGeom>
          <a:noFill/>
        </p:spPr>
        <p:txBody>
          <a:bodyPr wrap="square">
            <a:spAutoFit/>
          </a:bodyPr>
          <a:lstStyle/>
          <a:p>
            <a:pPr marL="171450" indent="-171450">
              <a:lnSpc>
                <a:spcPct val="104000"/>
              </a:lnSpc>
              <a:buFont typeface="Arial" panose="020B0604020202020204" pitchFamily="34" charset="0"/>
              <a:buChar char="•"/>
            </a:pPr>
            <a:r>
              <a:rPr lang="en-US" sz="1400" dirty="0">
                <a:solidFill>
                  <a:srgbClr val="222222"/>
                </a:solidFill>
                <a:latin typeface="Calibri" pitchFamily="34" charset="0"/>
                <a:ea typeface="Calibri" pitchFamily="34" charset="-122"/>
                <a:cs typeface="Calibri" pitchFamily="34" charset="-120"/>
              </a:rPr>
              <a:t>The orders are applied as written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4957D42-490E-4694-9914-ADE9E7A8EC43}"/>
              </a:ext>
            </a:extLst>
          </p:cNvPr>
          <p:cNvSpPr/>
          <p:nvPr/>
        </p:nvSpPr>
        <p:spPr>
          <a:xfrm>
            <a:off x="441960" y="2151234"/>
            <a:ext cx="2039983" cy="3657383"/>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10" name="Image 0" descr="/tmp/thx/deck/figs/Figure4_1.png">
            <a:extLst>
              <a:ext uri="{FF2B5EF4-FFF2-40B4-BE49-F238E27FC236}">
                <a16:creationId xmlns:a16="http://schemas.microsoft.com/office/drawing/2014/main" id="{2DC26631-0B92-435B-A091-092C4F22C51C}"/>
              </a:ext>
            </a:extLst>
          </p:cNvPr>
          <p:cNvPicPr>
            <a:picLocks noChangeAspect="1"/>
          </p:cNvPicPr>
          <p:nvPr/>
        </p:nvPicPr>
        <p:blipFill rotWithShape="1">
          <a:blip r:embed="rId3">
            <a:clrChange>
              <a:clrFrom>
                <a:srgbClr val="FFFFFF"/>
              </a:clrFrom>
              <a:clrTo>
                <a:srgbClr val="FFFFFF">
                  <a:alpha val="0"/>
                </a:srgbClr>
              </a:clrTo>
            </a:clrChange>
          </a:blip>
          <a:srcRect t="65091" r="14361"/>
          <a:stretch>
            <a:fillRect/>
          </a:stretch>
        </p:blipFill>
        <p:spPr>
          <a:xfrm>
            <a:off x="134786" y="1645920"/>
            <a:ext cx="6266014" cy="4291576"/>
          </a:xfrm>
          <a:prstGeom prst="rect">
            <a:avLst/>
          </a:prstGeom>
        </p:spPr>
      </p:pic>
      <p:sp>
        <p:nvSpPr>
          <p:cNvPr id="2" name="Text 0"/>
          <p:cNvSpPr/>
          <p:nvPr/>
        </p:nvSpPr>
        <p:spPr>
          <a:xfrm>
            <a:off x="502920" y="256032"/>
            <a:ext cx="91440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DSS FRAMEWORK : LAYER 4 OF 4</a:t>
            </a:r>
            <a:endParaRPr lang="en-US" sz="1300" dirty="0"/>
          </a:p>
        </p:txBody>
      </p:sp>
      <p:sp>
        <p:nvSpPr>
          <p:cNvPr id="3" name="Text 1"/>
          <p:cNvSpPr/>
          <p:nvPr/>
        </p:nvSpPr>
        <p:spPr>
          <a:xfrm>
            <a:off x="502920" y="512064"/>
            <a:ext cx="11247120" cy="731520"/>
          </a:xfrm>
          <a:prstGeom prst="rect">
            <a:avLst/>
          </a:prstGeom>
          <a:noFill/>
          <a:ln/>
        </p:spPr>
        <p:txBody>
          <a:bodyPr wrap="square" lIns="0" tIns="0" rIns="0" bIns="0" rtlCol="0" anchor="ctr"/>
          <a:lstStyle/>
          <a:p>
            <a:pPr marL="0" indent="0">
              <a:buNone/>
            </a:pPr>
            <a:r>
              <a:rPr lang="en-US" sz="2900" b="1" dirty="0">
                <a:solidFill>
                  <a:srgbClr val="000000"/>
                </a:solidFill>
                <a:latin typeface="Cambria" pitchFamily="34" charset="0"/>
                <a:ea typeface="Cambria" pitchFamily="34" charset="-122"/>
                <a:cs typeface="Cambria" pitchFamily="34" charset="-120"/>
              </a:rPr>
              <a:t>Layer 4 : Decision Space: Decide, Price, Test, Adapt</a:t>
            </a:r>
            <a:endParaRPr lang="en-US" sz="2900" dirty="0"/>
          </a:p>
        </p:txBody>
      </p:sp>
      <p:pic>
        <p:nvPicPr>
          <p:cNvPr id="7" name="Image 1" descr="/tmp/thx/deck/figs/metu_emblem.png"/>
          <p:cNvPicPr>
            <a:picLocks noChangeAspect="1"/>
          </p:cNvPicPr>
          <p:nvPr/>
        </p:nvPicPr>
        <p:blipFill>
          <a:blip r:embed="rId4"/>
          <a:stretch>
            <a:fillRect/>
          </a:stretch>
        </p:blipFill>
        <p:spPr>
          <a:xfrm>
            <a:off x="10716768" y="184607"/>
            <a:ext cx="475488" cy="398882"/>
          </a:xfrm>
          <a:prstGeom prst="rect">
            <a:avLst/>
          </a:prstGeom>
        </p:spPr>
      </p:pic>
      <p:pic>
        <p:nvPicPr>
          <p:cNvPr id="8" name="Image 2" descr="/tmp/thx/deck/figs/eee_logo.png"/>
          <p:cNvPicPr>
            <a:picLocks noChangeAspect="1"/>
          </p:cNvPicPr>
          <p:nvPr/>
        </p:nvPicPr>
        <p:blipFill>
          <a:blip r:embed="rId5"/>
          <a:stretch>
            <a:fillRect/>
          </a:stretch>
        </p:blipFill>
        <p:spPr>
          <a:xfrm>
            <a:off x="11265408" y="186217"/>
            <a:ext cx="475488" cy="395662"/>
          </a:xfrm>
          <a:prstGeom prst="rect">
            <a:avLst/>
          </a:prstGeom>
        </p:spPr>
      </p:pic>
      <p:sp>
        <p:nvSpPr>
          <p:cNvPr id="9" name="Text 2">
            <a:extLst>
              <a:ext uri="{FF2B5EF4-FFF2-40B4-BE49-F238E27FC236}">
                <a16:creationId xmlns:a16="http://schemas.microsoft.com/office/drawing/2014/main" id="{F0EF7DE3-6A12-98AC-E001-E3E45B824FF6}"/>
              </a:ext>
            </a:extLst>
          </p:cNvPr>
          <p:cNvSpPr/>
          <p:nvPr/>
        </p:nvSpPr>
        <p:spPr>
          <a:xfrm>
            <a:off x="7589520" y="1645920"/>
            <a:ext cx="4160520" cy="4023360"/>
          </a:xfrm>
          <a:prstGeom prst="rect">
            <a:avLst/>
          </a:prstGeom>
          <a:noFill/>
          <a:ln/>
        </p:spPr>
        <p:txBody>
          <a:bodyPr wrap="square" lIns="0" tIns="0" rIns="0" bIns="0" rtlCol="0" anchor="t"/>
          <a:lstStyle/>
          <a:p>
            <a:pPr marL="152400" indent="-152400">
              <a:lnSpc>
                <a:spcPct val="105000"/>
              </a:lnSpc>
              <a:spcAft>
                <a:spcPts val="1000"/>
              </a:spcAft>
              <a:buSzPct val="100000"/>
              <a:buChar char="•"/>
            </a:pPr>
            <a:r>
              <a:rPr lang="en-US" sz="1700" b="0">
                <a:solidFill>
                  <a:srgbClr val="222222"/>
                </a:solidFill>
                <a:latin typeface="Calibri" pitchFamily="34" charset="0"/>
                <a:ea typeface="Calibri" pitchFamily="34" charset="-122"/>
                <a:cs typeface="Calibri" pitchFamily="34" charset="-120"/>
              </a:rPr>
              <a:t>Once per cycle, fixed order</a:t>
            </a:r>
            <a:endParaRPr lang="en-US" sz="1700" dirty="0"/>
          </a:p>
          <a:p>
            <a:pPr marL="152400" indent="-152400">
              <a:lnSpc>
                <a:spcPct val="105000"/>
              </a:lnSpc>
              <a:spcAft>
                <a:spcPts val="1000"/>
              </a:spcAft>
              <a:buSzPct val="100000"/>
              <a:buChar char="•"/>
            </a:pPr>
            <a:r>
              <a:rPr lang="en-US" sz="1700" b="0">
                <a:solidFill>
                  <a:srgbClr val="222222"/>
                </a:solidFill>
                <a:latin typeface="Calibri" pitchFamily="34" charset="0"/>
                <a:ea typeface="Calibri" pitchFamily="34" charset="-122"/>
                <a:cs typeface="Calibri" pitchFamily="34" charset="-120"/>
              </a:rPr>
              <a:t>Input: gated concept activations</a:t>
            </a:r>
          </a:p>
          <a:p>
            <a:pPr marL="152400" indent="-152400">
              <a:lnSpc>
                <a:spcPct val="102000"/>
              </a:lnSpc>
              <a:spcAft>
                <a:spcPts val="500"/>
              </a:spcAft>
              <a:buSzPct val="100000"/>
              <a:buChar char="•"/>
            </a:pPr>
            <a:r>
              <a:rPr lang="en-US" sz="1700" b="0">
                <a:solidFill>
                  <a:srgbClr val="222222"/>
                </a:solidFill>
                <a:latin typeface="Calibri" pitchFamily="34" charset="0"/>
                <a:ea typeface="Calibri" pitchFamily="34" charset="-122"/>
                <a:cs typeface="Calibri" pitchFamily="34" charset="-120"/>
              </a:rPr>
              <a:t>Output: intensities over the intervention vocabulary (families + admitted macros &amp; actuators)</a:t>
            </a:r>
            <a:endParaRPr lang="en-US" sz="1700" dirty="0"/>
          </a:p>
          <a:p>
            <a:pPr marL="152400" indent="-152400">
              <a:lnSpc>
                <a:spcPct val="105000"/>
              </a:lnSpc>
              <a:spcAft>
                <a:spcPts val="1000"/>
              </a:spcAft>
              <a:buSzPct val="100000"/>
              <a:buChar char="•"/>
            </a:pPr>
            <a:r>
              <a:rPr lang="en-US" sz="1700" b="0">
                <a:solidFill>
                  <a:srgbClr val="222222"/>
                </a:solidFill>
                <a:latin typeface="Calibri" pitchFamily="34" charset="0"/>
                <a:ea typeface="Calibri" pitchFamily="34" charset="-122"/>
                <a:cs typeface="Calibri" pitchFamily="34" charset="-120"/>
              </a:rPr>
              <a:t>“Cost test → quality gate → apply”</a:t>
            </a:r>
          </a:p>
          <a:p>
            <a:pPr marL="152400" indent="-152400">
              <a:lnSpc>
                <a:spcPct val="105000"/>
              </a:lnSpc>
              <a:spcAft>
                <a:spcPts val="1000"/>
              </a:spcAft>
              <a:buSzPct val="100000"/>
              <a:buChar char="•"/>
            </a:pPr>
            <a:r>
              <a:rPr lang="en-US" sz="1700" b="0">
                <a:solidFill>
                  <a:srgbClr val="222222"/>
                </a:solidFill>
                <a:latin typeface="Calibri" pitchFamily="34" charset="0"/>
                <a:ea typeface="Calibri" pitchFamily="34" charset="-122"/>
                <a:cs typeface="Calibri" pitchFamily="34" charset="-120"/>
              </a:rPr>
              <a:t>“… → fail” → adaptation ladder ① ② ③</a:t>
            </a:r>
            <a:endParaRPr lang="en-US" sz="1700" dirty="0"/>
          </a:p>
          <a:p>
            <a:pPr marL="152400" indent="-152400">
              <a:lnSpc>
                <a:spcPct val="105000"/>
              </a:lnSpc>
              <a:spcAft>
                <a:spcPts val="1000"/>
              </a:spcAft>
              <a:buSzPct val="100000"/>
              <a:buChar char="•"/>
            </a:pPr>
            <a:r>
              <a:rPr lang="en-US" sz="1700" b="1">
                <a:solidFill>
                  <a:srgbClr val="222222"/>
                </a:solidFill>
                <a:latin typeface="Calibri" pitchFamily="34" charset="0"/>
                <a:ea typeface="Calibri" pitchFamily="34" charset="-122"/>
                <a:cs typeface="Calibri" pitchFamily="34" charset="-120"/>
              </a:rPr>
              <a:t>Graduated fail-safe; life-safety orders never reduced</a:t>
            </a:r>
            <a:endParaRPr lang="en-US" sz="1700" dirty="0"/>
          </a:p>
        </p:txBody>
      </p:sp>
    </p:spTree>
    <p:extLst>
      <p:ext uri="{BB962C8B-B14F-4D97-AF65-F5344CB8AC3E}">
        <p14:creationId xmlns:p14="http://schemas.microsoft.com/office/powerpoint/2010/main" val="29044141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37744"/>
            <a:ext cx="100584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DSS FRAMEWORK : LAYER 4 OF 4</a:t>
            </a:r>
            <a:endParaRPr lang="en-US" sz="1300" dirty="0"/>
          </a:p>
        </p:txBody>
      </p:sp>
      <p:sp>
        <p:nvSpPr>
          <p:cNvPr id="3" name="Text 1"/>
          <p:cNvSpPr/>
          <p:nvPr/>
        </p:nvSpPr>
        <p:spPr>
          <a:xfrm>
            <a:off x="502920" y="493776"/>
            <a:ext cx="11247120" cy="621792"/>
          </a:xfrm>
          <a:prstGeom prst="rect">
            <a:avLst/>
          </a:prstGeom>
          <a:noFill/>
          <a:ln/>
        </p:spPr>
        <p:txBody>
          <a:bodyPr wrap="square" lIns="0" tIns="0" rIns="0" bIns="0" rtlCol="0" anchor="ctr"/>
          <a:lstStyle/>
          <a:p>
            <a:pPr marL="0" indent="0">
              <a:buNone/>
            </a:pPr>
            <a:r>
              <a:rPr lang="en-US" sz="2500" b="1" dirty="0">
                <a:solidFill>
                  <a:srgbClr val="000000"/>
                </a:solidFill>
                <a:latin typeface="Cambria" pitchFamily="34" charset="0"/>
                <a:ea typeface="Cambria" pitchFamily="34" charset="-122"/>
                <a:cs typeface="Cambria" pitchFamily="34" charset="-120"/>
              </a:rPr>
              <a:t>Five Seed Rules — the Whole Starting Doctrine</a:t>
            </a:r>
            <a:endParaRPr lang="en-US" sz="2500" dirty="0"/>
          </a:p>
        </p:txBody>
      </p:sp>
      <p:pic>
        <p:nvPicPr>
          <p:cNvPr id="4"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5"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p:graphicFrame>
        <p:nvGraphicFramePr>
          <p:cNvPr id="10" name="Table 0"/>
          <p:cNvGraphicFramePr>
            <a:graphicFrameLocks noGrp="1"/>
          </p:cNvGraphicFramePr>
          <p:nvPr/>
        </p:nvGraphicFramePr>
        <p:xfrm>
          <a:off x="457200" y="1325880"/>
          <a:ext cx="11247120" cy="2865120"/>
        </p:xfrm>
        <a:graphic>
          <a:graphicData uri="http://schemas.openxmlformats.org/drawingml/2006/table">
            <a:tbl>
              <a:tblPr/>
              <a:tblGrid>
                <a:gridCol w="54864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gridCol w="3017520">
                  <a:extLst>
                    <a:ext uri="{9D8B030D-6E8A-4147-A177-3AD203B41FA5}">
                      <a16:colId xmlns:a16="http://schemas.microsoft.com/office/drawing/2014/main" val="20003"/>
                    </a:ext>
                  </a:extLst>
                </a:gridCol>
              </a:tblGrid>
              <a:tr h="47548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ID</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IF (over gated decision concepts)</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THEN (intensities)</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Regime it anchors</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475488">
                <a:tc>
                  <a:txBody>
                    <a:bodyPr/>
                    <a:lstStyle/>
                    <a:p>
                      <a:pPr marL="0" indent="0">
                        <a:buNone/>
                      </a:pPr>
                      <a:r>
                        <a:rPr lang="en-US" sz="1300" b="1" dirty="0">
                          <a:solidFill>
                            <a:srgbClr val="E31836"/>
                          </a:solidFill>
                          <a:latin typeface="Calibri" pitchFamily="34" charset="0"/>
                          <a:ea typeface="Calibri" pitchFamily="34" charset="-122"/>
                          <a:cs typeface="Calibri" pitchFamily="34" charset="-120"/>
                        </a:rPr>
                        <a:t>R1</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asset exposure risk VH ∧ suppression feasibility L</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asset protection 0.9, containment line 0.6</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dirty="0">
                          <a:solidFill>
                            <a:srgbClr val="6E6E6E"/>
                          </a:solidFill>
                          <a:latin typeface="Calibri" pitchFamily="34" charset="0"/>
                          <a:ea typeface="Calibri" pitchFamily="34" charset="-122"/>
                          <a:cs typeface="Calibri" pitchFamily="34" charset="-120"/>
                        </a:rPr>
                        <a:t>Asset protection when attack is infeasible</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marL="0" indent="0">
                        <a:buNone/>
                      </a:pPr>
                      <a:r>
                        <a:rPr lang="en-US" sz="1300" b="1" dirty="0">
                          <a:solidFill>
                            <a:srgbClr val="E31836"/>
                          </a:solidFill>
                          <a:latin typeface="Calibri" pitchFamily="34" charset="0"/>
                          <a:ea typeface="Calibri" pitchFamily="34" charset="-122"/>
                          <a:cs typeface="Calibri" pitchFamily="34" charset="-120"/>
                        </a:rPr>
                        <a:t>R2</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evacuation pressure VH ∧ suppression feasibility VL</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a:solidFill>
                            <a:srgbClr val="222222"/>
                          </a:solidFill>
                          <a:latin typeface="Calibri" pitchFamily="34" charset="0"/>
                          <a:ea typeface="Calibri" pitchFamily="34" charset="-122"/>
                          <a:cs typeface="Calibri" pitchFamily="34" charset="-120"/>
                        </a:rPr>
                        <a:t>evacuation 1.0, public warning 1.0, deployment 0.7 (offensive withdrawn)</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dirty="0">
                          <a:solidFill>
                            <a:srgbClr val="6E6E6E"/>
                          </a:solidFill>
                          <a:latin typeface="Calibri" pitchFamily="34" charset="0"/>
                          <a:ea typeface="Calibri" pitchFamily="34" charset="-122"/>
                          <a:cs typeface="Calibri" pitchFamily="34" charset="-120"/>
                        </a:rPr>
                        <a:t>Evacuation &amp; warning</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marL="0" indent="0">
                        <a:buNone/>
                      </a:pPr>
                      <a:r>
                        <a:rPr lang="en-US" sz="1300" b="1" dirty="0">
                          <a:solidFill>
                            <a:srgbClr val="E31836"/>
                          </a:solidFill>
                          <a:latin typeface="Calibri" pitchFamily="34" charset="0"/>
                          <a:ea typeface="Calibri" pitchFamily="34" charset="-122"/>
                          <a:cs typeface="Calibri" pitchFamily="34" charset="-120"/>
                        </a:rPr>
                        <a:t>R3</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fire threat level VH ∧ suppression feasibility VL</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containment line 0.9, evacuation 0.6, public warning 0.8</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dirty="0">
                          <a:solidFill>
                            <a:srgbClr val="6E6E6E"/>
                          </a:solidFill>
                          <a:latin typeface="Calibri" pitchFamily="34" charset="0"/>
                          <a:ea typeface="Calibri" pitchFamily="34" charset="-122"/>
                          <a:cs typeface="Calibri" pitchFamily="34" charset="-120"/>
                        </a:rPr>
                        <a:t>Feasibility-limited response</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3"/>
                  </a:ext>
                </a:extLst>
              </a:tr>
              <a:tr h="475488">
                <a:tc>
                  <a:txBody>
                    <a:bodyPr/>
                    <a:lstStyle/>
                    <a:p>
                      <a:pPr marL="0" indent="0">
                        <a:buNone/>
                      </a:pPr>
                      <a:r>
                        <a:rPr lang="en-US" sz="1300" b="1" dirty="0">
                          <a:solidFill>
                            <a:srgbClr val="E31836"/>
                          </a:solidFill>
                          <a:latin typeface="Calibri" pitchFamily="34" charset="0"/>
                          <a:ea typeface="Calibri" pitchFamily="34" charset="-122"/>
                          <a:cs typeface="Calibri" pitchFamily="34" charset="-120"/>
                        </a:rPr>
                        <a:t>R4</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intervention urgency VH</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a:solidFill>
                            <a:srgbClr val="222222"/>
                          </a:solidFill>
                          <a:latin typeface="Calibri" pitchFamily="34" charset="0"/>
                          <a:ea typeface="Calibri" pitchFamily="34" charset="-122"/>
                          <a:cs typeface="Calibri" pitchFamily="34" charset="-120"/>
                        </a:rPr>
                        <a:t>resource deployment 1.0 (preemption across regions)</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dirty="0">
                          <a:solidFill>
                            <a:srgbClr val="6E6E6E"/>
                          </a:solidFill>
                          <a:latin typeface="Calibri" pitchFamily="34" charset="0"/>
                          <a:ea typeface="Calibri" pitchFamily="34" charset="-122"/>
                          <a:cs typeface="Calibri" pitchFamily="34" charset="-120"/>
                        </a:rPr>
                        <a:t>Urgency / preemption</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4"/>
                  </a:ext>
                </a:extLst>
              </a:tr>
              <a:tr h="475488">
                <a:tc>
                  <a:txBody>
                    <a:bodyPr/>
                    <a:lstStyle/>
                    <a:p>
                      <a:pPr marL="0" indent="0">
                        <a:buNone/>
                      </a:pPr>
                      <a:r>
                        <a:rPr lang="en-US" sz="1300" b="1" dirty="0">
                          <a:solidFill>
                            <a:srgbClr val="E31836"/>
                          </a:solidFill>
                          <a:latin typeface="Calibri" pitchFamily="34" charset="0"/>
                          <a:ea typeface="Calibri" pitchFamily="34" charset="-122"/>
                          <a:cs typeface="Calibri" pitchFamily="34" charset="-120"/>
                        </a:rPr>
                        <a:t>R5</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fire threat level VH</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suppression effort 1.0, resource deployment 0.8</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dirty="0">
                          <a:solidFill>
                            <a:srgbClr val="6E6E6E"/>
                          </a:solidFill>
                          <a:latin typeface="Calibri" pitchFamily="34" charset="0"/>
                          <a:ea typeface="Calibri" pitchFamily="34" charset="-122"/>
                          <a:cs typeface="Calibri" pitchFamily="34" charset="-120"/>
                        </a:rPr>
                        <a:t>Backbone suppression</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Shape 2"/>
          <p:cNvSpPr/>
          <p:nvPr/>
        </p:nvSpPr>
        <p:spPr>
          <a:xfrm>
            <a:off x="457200" y="4480560"/>
            <a:ext cx="11247120" cy="1965960"/>
          </a:xfrm>
          <a:prstGeom prst="roundRect">
            <a:avLst>
              <a:gd name="adj" fmla="val 2326"/>
            </a:avLst>
          </a:prstGeom>
          <a:solidFill>
            <a:srgbClr val="F2F2F2"/>
          </a:solidFill>
          <a:ln/>
        </p:spPr>
        <p:txBody>
          <a:bodyPr/>
          <a:lstStyle/>
          <a:p>
            <a:endParaRPr lang="tr-TR"/>
          </a:p>
        </p:txBody>
      </p:sp>
      <p:sp>
        <p:nvSpPr>
          <p:cNvPr id="8" name="Text 3"/>
          <p:cNvSpPr/>
          <p:nvPr/>
        </p:nvSpPr>
        <p:spPr>
          <a:xfrm>
            <a:off x="731520" y="4590288"/>
            <a:ext cx="10698480" cy="292608"/>
          </a:xfrm>
          <a:prstGeom prst="rect">
            <a:avLst/>
          </a:prstGeom>
          <a:noFill/>
          <a:ln/>
        </p:spPr>
        <p:txBody>
          <a:bodyPr wrap="square" lIns="0" tIns="0" rIns="0" bIns="0" rtlCol="0" anchor="ctr"/>
          <a:lstStyle/>
          <a:p>
            <a:pPr marL="0" indent="0">
              <a:buNone/>
            </a:pPr>
            <a:r>
              <a:rPr lang="en-US" sz="1500" b="1">
                <a:solidFill>
                  <a:srgbClr val="E31836"/>
                </a:solidFill>
                <a:latin typeface="Calibri" pitchFamily="34" charset="0"/>
                <a:ea typeface="Calibri" pitchFamily="34" charset="-122"/>
                <a:cs typeface="Calibri" pitchFamily="34" charset="-120"/>
              </a:rPr>
              <a:t>Why exactly these five</a:t>
            </a:r>
            <a:endParaRPr lang="en-US" sz="1500" dirty="0"/>
          </a:p>
        </p:txBody>
      </p:sp>
      <mc:AlternateContent xmlns:mc="http://schemas.openxmlformats.org/markup-compatibility/2006" xmlns:a14="http://schemas.microsoft.com/office/drawing/2010/main">
        <mc:Choice Requires="a14">
          <p:sp>
            <p:nvSpPr>
              <p:cNvPr id="6" name="Text 5"/>
              <p:cNvSpPr/>
              <p:nvPr/>
            </p:nvSpPr>
            <p:spPr>
              <a:xfrm>
                <a:off x="777240" y="4983480"/>
                <a:ext cx="10698480" cy="1417320"/>
              </a:xfrm>
              <a:prstGeom prst="rect">
                <a:avLst/>
              </a:prstGeom>
              <a:noFill/>
              <a:ln/>
            </p:spPr>
            <p:txBody>
              <a:bodyPr wrap="square" lIns="0" tIns="0" rIns="0" bIns="0" rtlCol="0" anchor="t"/>
              <a:lstStyle/>
              <a:p>
                <a:pPr marL="152400" indent="-152400">
                  <a:lnSpc>
                    <a:spcPct val="104000"/>
                  </a:lnSpc>
                  <a:spcAft>
                    <a:spcPts val="600"/>
                  </a:spcAft>
                  <a:buSzPct val="100000"/>
                  <a:buChar char="•"/>
                </a:pPr>
                <a:r>
                  <a:rPr lang="en-US" sz="1350">
                    <a:solidFill>
                      <a:srgbClr val="222222"/>
                    </a:solidFill>
                    <a:latin typeface="Calibri" pitchFamily="34" charset="0"/>
                    <a:ea typeface="Calibri" pitchFamily="34" charset="-122"/>
                    <a:cs typeface="Calibri" pitchFamily="34" charset="-120"/>
                  </a:rPr>
                  <a:t>each demanding concept anchors ≥ 1 rule → every command question has an answer</a:t>
                </a:r>
                <a:endParaRPr lang="en-US" sz="1350" dirty="0"/>
              </a:p>
              <a:p>
                <a:pPr marL="152400" indent="-152400">
                  <a:lnSpc>
                    <a:spcPct val="104000"/>
                  </a:lnSpc>
                  <a:spcAft>
                    <a:spcPts val="600"/>
                  </a:spcAft>
                  <a:buSzPct val="100000"/>
                  <a:buChar char="•"/>
                </a:pPr>
                <a:r>
                  <a:rPr lang="en-US" sz="1350">
                    <a:solidFill>
                      <a:srgbClr val="222222"/>
                    </a:solidFill>
                    <a:latin typeface="Calibri" pitchFamily="34" charset="0"/>
                    <a:ea typeface="Calibri" pitchFamily="34" charset="-122"/>
                    <a:cs typeface="Calibri" pitchFamily="34" charset="-120"/>
                  </a:rPr>
                  <a:t>graded coverage: at every reachable reading some rule fires with strength ≥ </a:t>
                </a:r>
                <a14:m>
                  <m:oMath xmlns:m="http://schemas.openxmlformats.org/officeDocument/2006/math">
                    <m:sSub>
                      <m:sSubPr>
                        <m:ctrlPr>
                          <a:rPr lang="en-US" sz="1250" i="1">
                            <a:latin typeface="Cambria Math" panose="02040503050406030204" pitchFamily="18" charset="0"/>
                          </a:rPr>
                        </m:ctrlPr>
                      </m:sSubPr>
                      <m:e>
                        <m:r>
                          <a:rPr lang="en-US" sz="1250">
                            <a:latin typeface="Cambria Math"/>
                          </a:rPr>
                          <m:t>𝛼</m:t>
                        </m:r>
                      </m:e>
                      <m:sub>
                        <m:r>
                          <a:rPr lang="en-US" sz="1250">
                            <a:latin typeface="Cambria Math"/>
                          </a:rPr>
                          <m:t>𝑚𝑖𝑛</m:t>
                        </m:r>
                      </m:sub>
                    </m:sSub>
                    <m:r>
                      <a:rPr lang="en-US" sz="1250">
                        <a:latin typeface="Cambria Math"/>
                      </a:rPr>
                      <m:t> = 0.05</m:t>
                    </m:r>
                  </m:oMath>
                </a14:m>
                <a:endParaRPr lang="en-US" sz="1350" dirty="0"/>
              </a:p>
              <a:p>
                <a:pPr marL="152400" indent="-152400">
                  <a:lnSpc>
                    <a:spcPct val="104000"/>
                  </a:lnSpc>
                  <a:spcAft>
                    <a:spcPts val="600"/>
                  </a:spcAft>
                  <a:buSzPct val="100000"/>
                  <a:buChar char="•"/>
                </a:pPr>
                <a:r>
                  <a:rPr lang="en-US" sz="1350" b="1">
                    <a:solidFill>
                      <a:srgbClr val="222222"/>
                    </a:solidFill>
                    <a:latin typeface="Calibri" pitchFamily="34" charset="0"/>
                    <a:ea typeface="Calibri" pitchFamily="34" charset="-122"/>
                    <a:cs typeface="Calibri" pitchFamily="34" charset="-120"/>
                  </a:rPr>
                  <a:t>deliberately minimal — everything else is earned by the ladder under gate evidence</a:t>
                </a:r>
              </a:p>
              <a:p>
                <a:pPr>
                  <a:lnSpc>
                    <a:spcPct val="104000"/>
                  </a:lnSpc>
                  <a:spcAft>
                    <a:spcPts val="600"/>
                  </a:spcAft>
                  <a:buSzPct val="100000"/>
                </a:pPr>
                <a:r>
                  <a:rPr lang="en-US" sz="1350" b="1">
                    <a:solidFill>
                      <a:srgbClr val="222222"/>
                    </a:solidFill>
                    <a:highlight>
                      <a:srgbClr val="FFFF00"/>
                    </a:highlight>
                    <a:latin typeface="Calibri" pitchFamily="34" charset="0"/>
                    <a:ea typeface="Calibri" pitchFamily="34" charset="-122"/>
                    <a:cs typeface="Calibri" pitchFamily="34" charset="-120"/>
                  </a:rPr>
                  <a:t>campaign: 129 tuned trials, 40 instantiated, 47 admitted rules</a:t>
                </a:r>
                <a:endParaRPr lang="en-US" sz="1350" dirty="0">
                  <a:highlight>
                    <a:srgbClr val="FFFF00"/>
                  </a:highlight>
                </a:endParaRPr>
              </a:p>
            </p:txBody>
          </p:sp>
        </mc:Choice>
        <mc:Fallback xmlns="">
          <p:sp>
            <p:nvSpPr>
              <p:cNvPr id="6" name="Text 5"/>
              <p:cNvSpPr/>
              <p:nvPr/>
            </p:nvSpPr>
            <p:spPr>
              <a:xfrm>
                <a:off x="777240" y="4983480"/>
                <a:ext cx="10698480" cy="1417320"/>
              </a:xfrm>
              <a:prstGeom prst="rect">
                <a:avLst/>
              </a:prstGeom>
              <a:noFill/>
              <a:ln/>
            </p:spPr>
            <p:txBody>
              <a:bodyPr wrap="square" lIns="0" tIns="0" rIns="0" bIns="0" rtlCol="0" anchor="t"/>
              <a:lstStyle/>
              <a:p>
                <a:pPr marL="152400" indent="-152400">
                  <a:lnSpc>
                    <a:spcPct val="104000"/>
                  </a:lnSpc>
                  <a:spcAft>
                    <a:spcPts val="600"/>
                  </a:spcAft>
                  <a:buSzPct val="100000"/>
                  <a:buChar char="•"/>
                </a:pPr>
                <a:r>
                  <a:rPr lang="en-US" sz="1350">
                    <a:solidFill>
                      <a:srgbClr val="222222"/>
                    </a:solidFill>
                    <a:latin typeface="Calibri" pitchFamily="34" charset="0"/>
                    <a:ea typeface="Calibri" pitchFamily="34" charset="-122"/>
                    <a:cs typeface="Calibri" pitchFamily="34" charset="-120"/>
                  </a:rPr>
                  <a:t>each demanding concept anchors ≥ 1 rule → every command question has an answer</a:t>
                </a:r>
                <a:endParaRPr lang="en-US" sz="1350" dirty="0"/>
              </a:p>
              <a:p>
                <a:pPr marL="152400" indent="-152400">
                  <a:lnSpc>
                    <a:spcPct val="104000"/>
                  </a:lnSpc>
                  <a:spcAft>
                    <a:spcPts val="600"/>
                  </a:spcAft>
                  <a:buSzPct val="100000"/>
                  <a:buChar char="•"/>
                </a:pPr>
                <a:r>
                  <a:rPr lang="en-US" sz="1350">
                    <a:solidFill>
                      <a:srgbClr val="222222"/>
                    </a:solidFill>
                    <a:latin typeface="Calibri" pitchFamily="34" charset="0"/>
                    <a:ea typeface="Calibri" pitchFamily="34" charset="-122"/>
                    <a:cs typeface="Calibri" pitchFamily="34" charset="-120"/>
                  </a:rPr>
                  <a:t xml:space="preserve">graded coverage: at every reachable reading some rule fires with strength ≥ </a:t>
                </a:r>
                <a:r>
                  <a:rPr lang="en-US" sz="1250" i="1">
                    <a:latin typeface="Cambria Math"/>
                  </a:rPr>
                  <a:t>𝛼𝑚𝑖𝑛 = 0.05</a:t>
                </a:r>
                <a:endParaRPr lang="en-US" sz="1350" dirty="0"/>
              </a:p>
              <a:p>
                <a:pPr marL="152400" indent="-152400">
                  <a:lnSpc>
                    <a:spcPct val="104000"/>
                  </a:lnSpc>
                  <a:spcAft>
                    <a:spcPts val="600"/>
                  </a:spcAft>
                  <a:buSzPct val="100000"/>
                  <a:buChar char="•"/>
                </a:pPr>
                <a:r>
                  <a:rPr lang="en-US" sz="1350" b="1">
                    <a:solidFill>
                      <a:srgbClr val="222222"/>
                    </a:solidFill>
                    <a:latin typeface="Calibri" pitchFamily="34" charset="0"/>
                    <a:ea typeface="Calibri" pitchFamily="34" charset="-122"/>
                    <a:cs typeface="Calibri" pitchFamily="34" charset="-120"/>
                  </a:rPr>
                  <a:t>deliberately minimal — everything else is earned by the ladder under gate evidence</a:t>
                </a:r>
              </a:p>
              <a:p>
                <a:pPr>
                  <a:lnSpc>
                    <a:spcPct val="104000"/>
                  </a:lnSpc>
                  <a:spcAft>
                    <a:spcPts val="600"/>
                  </a:spcAft>
                  <a:buSzPct val="100000"/>
                </a:pPr>
                <a:r>
                  <a:rPr lang="en-US" sz="1350" b="1">
                    <a:solidFill>
                      <a:srgbClr val="222222"/>
                    </a:solidFill>
                    <a:highlight>
                      <a:srgbClr val="FFFF00"/>
                    </a:highlight>
                    <a:latin typeface="Calibri" pitchFamily="34" charset="0"/>
                    <a:ea typeface="Calibri" pitchFamily="34" charset="-122"/>
                    <a:cs typeface="Calibri" pitchFamily="34" charset="-120"/>
                  </a:rPr>
                  <a:t>campaign: 129 tuned trials, 40 instantiated, 47 admitted rules</a:t>
                </a:r>
                <a:endParaRPr lang="en-US" sz="1350" dirty="0">
                  <a:highlight>
                    <a:srgbClr val="FFFF00"/>
                  </a:highlight>
                </a:endParaRPr>
              </a:p>
            </p:txBody>
          </p:sp>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37744"/>
            <a:ext cx="100584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DSS FRAMEWORK : LAYER 4 OF 4</a:t>
            </a:r>
            <a:endParaRPr lang="en-US" sz="1300" dirty="0"/>
          </a:p>
        </p:txBody>
      </p:sp>
      <p:sp>
        <p:nvSpPr>
          <p:cNvPr id="3" name="Text 1"/>
          <p:cNvSpPr/>
          <p:nvPr/>
        </p:nvSpPr>
        <p:spPr>
          <a:xfrm>
            <a:off x="502920" y="493776"/>
            <a:ext cx="11247120" cy="621792"/>
          </a:xfrm>
          <a:prstGeom prst="rect">
            <a:avLst/>
          </a:prstGeom>
          <a:noFill/>
          <a:ln/>
        </p:spPr>
        <p:txBody>
          <a:bodyPr wrap="square" lIns="0" tIns="0" rIns="0" bIns="0" rtlCol="0" anchor="ctr"/>
          <a:lstStyle/>
          <a:p>
            <a:pPr marL="0" indent="0">
              <a:buNone/>
            </a:pPr>
            <a:r>
              <a:rPr lang="en-US" sz="2500" b="1" dirty="0">
                <a:solidFill>
                  <a:srgbClr val="000000"/>
                </a:solidFill>
                <a:latin typeface="Cambria" pitchFamily="34" charset="0"/>
                <a:ea typeface="Cambria" pitchFamily="34" charset="-122"/>
                <a:cs typeface="Cambria" pitchFamily="34" charset="-120"/>
              </a:rPr>
              <a:t>How the Adaptation Stage Is Selected</a:t>
            </a:r>
            <a:endParaRPr lang="en-US" sz="2500" dirty="0"/>
          </a:p>
        </p:txBody>
      </p:sp>
      <p:pic>
        <p:nvPicPr>
          <p:cNvPr id="4"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5"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p:sp>
        <p:nvSpPr>
          <p:cNvPr id="6" name="Text 2"/>
          <p:cNvSpPr/>
          <p:nvPr/>
        </p:nvSpPr>
        <p:spPr>
          <a:xfrm>
            <a:off x="502920" y="1115568"/>
            <a:ext cx="11247120" cy="292608"/>
          </a:xfrm>
          <a:prstGeom prst="rect">
            <a:avLst/>
          </a:prstGeom>
          <a:noFill/>
          <a:ln/>
        </p:spPr>
        <p:txBody>
          <a:bodyPr wrap="square" lIns="0" tIns="0" rIns="0" bIns="0" rtlCol="0" anchor="t"/>
          <a:lstStyle/>
          <a:p>
            <a:pPr marL="0" indent="0">
              <a:lnSpc>
                <a:spcPct val="102000"/>
              </a:lnSpc>
              <a:spcAft>
                <a:spcPts val="0"/>
              </a:spcAft>
              <a:buNone/>
            </a:pPr>
            <a:r>
              <a:rPr lang="en-US" sz="1500" b="1" i="0">
                <a:solidFill>
                  <a:srgbClr val="222222"/>
                </a:solidFill>
                <a:latin typeface="Calibri" pitchFamily="34" charset="0"/>
                <a:ea typeface="Calibri" pitchFamily="34" charset="-122"/>
                <a:cs typeface="Calibri" pitchFamily="34" charset="-120"/>
              </a:rPr>
              <a:t>Cost test failed → exactly one repair is tried. Two facts define the situation.</a:t>
            </a:r>
            <a:endParaRPr lang="en-US" sz="1500" dirty="0"/>
          </a:p>
        </p:txBody>
      </p:sp>
      <p:sp>
        <p:nvSpPr>
          <p:cNvPr id="15" name="Shape 11"/>
          <p:cNvSpPr/>
          <p:nvPr/>
        </p:nvSpPr>
        <p:spPr>
          <a:xfrm>
            <a:off x="502920" y="5149691"/>
            <a:ext cx="11201400" cy="1470565"/>
          </a:xfrm>
          <a:prstGeom prst="roundRect">
            <a:avLst>
              <a:gd name="adj" fmla="val 5263"/>
            </a:avLst>
          </a:prstGeom>
          <a:solidFill>
            <a:srgbClr val="FDE8EB"/>
          </a:solidFill>
          <a:ln/>
        </p:spPr>
        <p:txBody>
          <a:bodyPr/>
          <a:lstStyle/>
          <a:p>
            <a:endParaRPr lang="tr-TR"/>
          </a:p>
        </p:txBody>
      </p:sp>
      <p:sp>
        <p:nvSpPr>
          <p:cNvPr id="16" name="Text 12"/>
          <p:cNvSpPr/>
          <p:nvPr/>
        </p:nvSpPr>
        <p:spPr>
          <a:xfrm>
            <a:off x="769620" y="5276087"/>
            <a:ext cx="10652760" cy="1354931"/>
          </a:xfrm>
          <a:prstGeom prst="rect">
            <a:avLst/>
          </a:prstGeom>
          <a:noFill/>
          <a:ln/>
        </p:spPr>
        <p:txBody>
          <a:bodyPr wrap="square" lIns="0" tIns="0" rIns="0" bIns="0" rtlCol="0" anchor="t"/>
          <a:lstStyle/>
          <a:p>
            <a:pPr marL="0" indent="0">
              <a:lnSpc>
                <a:spcPct val="102000"/>
              </a:lnSpc>
              <a:spcAft>
                <a:spcPts val="300"/>
              </a:spcAft>
              <a:buNone/>
            </a:pPr>
            <a:r>
              <a:rPr lang="en-US" sz="1400" b="1" i="0">
                <a:solidFill>
                  <a:srgbClr val="222222"/>
                </a:solidFill>
                <a:latin typeface="Calibri" pitchFamily="34" charset="0"/>
                <a:ea typeface="Calibri" pitchFamily="34" charset="-122"/>
                <a:cs typeface="Calibri" pitchFamily="34" charset="-120"/>
              </a:rPr>
              <a:t>Controller chooses the repair; gates &amp; shadow forecast decide what is kept</a:t>
            </a:r>
            <a:endParaRPr lang="en-US" sz="1400" dirty="0"/>
          </a:p>
          <a:p>
            <a:pPr marL="0" indent="0">
              <a:lnSpc>
                <a:spcPct val="102000"/>
              </a:lnSpc>
              <a:spcAft>
                <a:spcPts val="300"/>
              </a:spcAft>
              <a:buNone/>
            </a:pPr>
            <a:r>
              <a:rPr lang="en-US" sz="1400" b="0" i="0">
                <a:solidFill>
                  <a:srgbClr val="222222"/>
                </a:solidFill>
                <a:latin typeface="Calibri" pitchFamily="34" charset="0"/>
                <a:ea typeface="Calibri" pitchFamily="34" charset="-122"/>
                <a:cs typeface="Calibri" pitchFamily="34" charset="-120"/>
              </a:rPr>
              <a:t>A bad score wastes a cycle — it can never insert a rule</a:t>
            </a:r>
            <a:endParaRPr lang="en-US" sz="1400" dirty="0"/>
          </a:p>
          <a:p>
            <a:pPr marL="0" indent="0">
              <a:lnSpc>
                <a:spcPct val="102000"/>
              </a:lnSpc>
              <a:spcAft>
                <a:spcPts val="0"/>
              </a:spcAft>
              <a:buNone/>
            </a:pPr>
            <a:r>
              <a:rPr lang="en-US" sz="1400" b="0" i="1">
                <a:solidFill>
                  <a:srgbClr val="6E6E6E"/>
                </a:solidFill>
                <a:latin typeface="Calibri" pitchFamily="34" charset="0"/>
                <a:ea typeface="Calibri" pitchFamily="34" charset="-122"/>
                <a:cs typeface="Calibri" pitchFamily="34" charset="-120"/>
              </a:rPr>
              <a:t>Every choice, trial, verdict is logged: uncovered → ②, deficit with rules firing → ①</a:t>
            </a:r>
            <a:endParaRPr lang="en-US" sz="1400" dirty="0"/>
          </a:p>
        </p:txBody>
      </p:sp>
      <p:sp>
        <p:nvSpPr>
          <p:cNvPr id="7501" name="Head Situation"/>
          <p:cNvSpPr/>
          <p:nvPr/>
        </p:nvSpPr>
        <p:spPr>
          <a:xfrm>
            <a:off x="502920" y="1463040"/>
            <a:ext cx="5440680" cy="256032"/>
          </a:xfrm>
          <a:prstGeom prst="rect">
            <a:avLst/>
          </a:prstGeom>
          <a:noFill/>
          <a:ln/>
        </p:spPr>
        <p:txBody>
          <a:bodyPr wrap="square" lIns="0" tIns="0" rIns="0" bIns="0" rtlCol="0" anchor="t"/>
          <a:lstStyle/>
          <a:p>
            <a:pPr marL="0" indent="0">
              <a:lnSpc>
                <a:spcPct val="102000"/>
              </a:lnSpc>
              <a:spcAft>
                <a:spcPts val="0"/>
              </a:spcAft>
              <a:buNone/>
            </a:pPr>
            <a:r>
              <a:rPr lang="en-US" sz="1400" b="1" i="0" dirty="0">
                <a:solidFill>
                  <a:srgbClr val="E31836"/>
                </a:solidFill>
                <a:latin typeface="Calibri" pitchFamily="34" charset="0"/>
                <a:ea typeface="Calibri" pitchFamily="34" charset="-122"/>
                <a:cs typeface="Calibri" pitchFamily="34" charset="-120"/>
              </a:rPr>
              <a:t>THE SITUATION</a:t>
            </a:r>
            <a:endParaRPr lang="en-US" sz="1400" dirty="0"/>
          </a:p>
        </p:txBody>
      </p:sp>
      <mc:AlternateContent xmlns:mc="http://schemas.openxmlformats.org/markup-compatibility/2006" xmlns:a14="http://schemas.microsoft.com/office/drawing/2010/main">
        <mc:Choice Requires="a14">
          <p:sp>
            <p:nvSpPr>
              <p:cNvPr id="7502" name="Eq Situation"/>
              <p:cNvSpPr/>
              <p:nvPr/>
            </p:nvSpPr>
            <p:spPr>
              <a:xfrm>
                <a:off x="502920" y="1773936"/>
                <a:ext cx="5440680" cy="402336"/>
              </a:xfrm>
              <a:prstGeom prst="rect">
                <a:avLst/>
              </a:prstGeom>
              <a:noFill/>
              <a:ln/>
            </p:spPr>
            <p:txBody>
              <a:bodyPr wrap="square" lIns="0" tIns="0" rIns="0" bIns="0" rtlCol="0" anchor="t"/>
              <a:lstStyle/>
              <a:p>
                <a:pPr marL="0" indent="0">
                  <a:buNone/>
                </a:pPr>
                <a14:m>
                  <m:oMathPara xmlns:m="http://schemas.openxmlformats.org/officeDocument/2006/math">
                    <m:oMathParaPr>
                      <m:jc m:val="centerGroup"/>
                    </m:oMathParaPr>
                    <m:oMath xmlns:m="http://schemas.openxmlformats.org/officeDocument/2006/math">
                      <m:sSub>
                        <m:sSubPr>
                          <m:ctrlPr>
                            <a:rPr lang="en-US" sz="1400" i="1">
                              <a:latin typeface="Cambria Math" panose="02040503050406030204" pitchFamily="18" charset="0"/>
                            </a:rPr>
                          </m:ctrlPr>
                        </m:sSubPr>
                        <m:e>
                          <m:r>
                            <a:rPr lang="en-US" sz="1400">
                              <a:latin typeface="Cambria Math"/>
                            </a:rPr>
                            <m:t>𝑠</m:t>
                          </m:r>
                          <m:r>
                            <a:rPr lang="en-US" sz="1400" b="0" i="1" smtClean="0">
                              <a:latin typeface="Cambria Math" panose="02040503050406030204" pitchFamily="18" charset="0"/>
                            </a:rPr>
                            <m:t>𝑖𝑡𝑢𝑎𝑡𝑖𝑜𝑛</m:t>
                          </m:r>
                        </m:e>
                        <m:sub>
                          <m:r>
                            <a:rPr lang="en-US" sz="1400">
                              <a:latin typeface="Cambria Math"/>
                            </a:rPr>
                            <m:t>𝑘</m:t>
                          </m:r>
                        </m:sub>
                      </m:sSub>
                      <m:r>
                        <a:rPr lang="en-US" sz="1400">
                          <a:latin typeface="Cambria Math"/>
                        </a:rPr>
                        <m:t> = ( </m:t>
                      </m:r>
                      <m:sSub>
                        <m:sSubPr>
                          <m:ctrlPr>
                            <a:rPr lang="en-US" sz="1400" i="1">
                              <a:latin typeface="Cambria Math" panose="02040503050406030204" pitchFamily="18" charset="0"/>
                            </a:rPr>
                          </m:ctrlPr>
                        </m:sSubPr>
                        <m:e>
                          <m:r>
                            <a:rPr lang="en-US" sz="1400">
                              <a:latin typeface="Cambria Math"/>
                            </a:rPr>
                            <m:t>𝑐</m:t>
                          </m:r>
                          <m:r>
                            <a:rPr lang="en-US" sz="1400" b="0" i="1" smtClean="0">
                              <a:latin typeface="Cambria Math" panose="02040503050406030204" pitchFamily="18" charset="0"/>
                            </a:rPr>
                            <m:t>𝑜𝑣</m:t>
                          </m:r>
                        </m:e>
                        <m:sub>
                          <m:r>
                            <a:rPr lang="en-US" sz="1400">
                              <a:latin typeface="Cambria Math"/>
                            </a:rPr>
                            <m:t>𝑘</m:t>
                          </m:r>
                        </m:sub>
                      </m:sSub>
                      <m:r>
                        <a:rPr lang="en-US" sz="1400">
                          <a:latin typeface="Cambria Math"/>
                        </a:rPr>
                        <m:t> , </m:t>
                      </m:r>
                      <m:sSub>
                        <m:sSubPr>
                          <m:ctrlPr>
                            <a:rPr lang="en-US" sz="1400" i="1">
                              <a:latin typeface="Cambria Math" panose="02040503050406030204" pitchFamily="18" charset="0"/>
                            </a:rPr>
                          </m:ctrlPr>
                        </m:sSubPr>
                        <m:e>
                          <m:r>
                            <a:rPr lang="en-US" sz="1400">
                              <a:latin typeface="Cambria Math"/>
                            </a:rPr>
                            <m:t>𝑑</m:t>
                          </m:r>
                          <m:r>
                            <a:rPr lang="en-US" sz="1400" b="0" i="1" smtClean="0">
                              <a:latin typeface="Cambria Math" panose="02040503050406030204" pitchFamily="18" charset="0"/>
                            </a:rPr>
                            <m:t>𝑒𝑓</m:t>
                          </m:r>
                        </m:e>
                        <m:sub>
                          <m:r>
                            <a:rPr lang="en-US" sz="1400">
                              <a:latin typeface="Cambria Math"/>
                            </a:rPr>
                            <m:t>𝑘</m:t>
                          </m:r>
                        </m:sub>
                      </m:sSub>
                      <m:r>
                        <a:rPr lang="en-US" sz="1400">
                          <a:latin typeface="Cambria Math"/>
                        </a:rPr>
                        <m:t> )</m:t>
                      </m:r>
                    </m:oMath>
                  </m:oMathPara>
                </a14:m>
                <a:endParaRPr lang="en-US" sz="1400" dirty="0"/>
              </a:p>
            </p:txBody>
          </p:sp>
        </mc:Choice>
        <mc:Fallback xmlns="">
          <p:sp>
            <p:nvSpPr>
              <p:cNvPr id="7502" name="Eq Situation"/>
              <p:cNvSpPr>
                <a:spLocks noRot="1" noChangeAspect="1" noMove="1" noResize="1" noEditPoints="1" noAdjustHandles="1" noChangeArrowheads="1" noChangeShapeType="1" noTextEdit="1"/>
              </p:cNvSpPr>
              <p:nvPr/>
            </p:nvSpPr>
            <p:spPr>
              <a:xfrm>
                <a:off x="502920" y="1773936"/>
                <a:ext cx="5440680" cy="402336"/>
              </a:xfrm>
              <a:prstGeom prst="rect">
                <a:avLst/>
              </a:prstGeom>
              <a:blipFill>
                <a:blip r:embed="rId5"/>
                <a:stretch>
                  <a:fillRect/>
                </a:stretch>
              </a:blipFill>
              <a:ln/>
            </p:spPr>
            <p:txBody>
              <a:bodyPr/>
              <a:lstStyle/>
              <a:p>
                <a:r>
                  <a:rPr lang="tr-TR">
                    <a:noFill/>
                  </a:rPr>
                  <a:t> </a:t>
                </a:r>
              </a:p>
            </p:txBody>
          </p:sp>
        </mc:Fallback>
      </mc:AlternateContent>
      <p:sp>
        <p:nvSpPr>
          <p:cNvPr id="7503" name="Situation bullets"/>
          <p:cNvSpPr/>
          <p:nvPr/>
        </p:nvSpPr>
        <p:spPr>
          <a:xfrm>
            <a:off x="502920" y="2267712"/>
            <a:ext cx="5440680" cy="1188720"/>
          </a:xfrm>
          <a:prstGeom prst="rect">
            <a:avLst/>
          </a:prstGeom>
          <a:noFill/>
          <a:ln/>
        </p:spPr>
        <p:txBody>
          <a:bodyPr wrap="square" lIns="0" tIns="0" rIns="0" bIns="0" rtlCol="0" anchor="t"/>
          <a:lstStyle/>
          <a:p>
            <a:pPr marL="152400" indent="-152400">
              <a:lnSpc>
                <a:spcPct val="102000"/>
              </a:lnSpc>
              <a:spcAft>
                <a:spcPts val="350"/>
              </a:spcAft>
              <a:buSzPct val="100000"/>
              <a:buChar char="•"/>
            </a:pPr>
            <a:r>
              <a:rPr lang="en-US" sz="1400" b="0" i="0">
                <a:solidFill>
                  <a:srgbClr val="222222"/>
                </a:solidFill>
                <a:latin typeface="Calibri" pitchFamily="34" charset="0"/>
                <a:ea typeface="Calibri" pitchFamily="34" charset="-122"/>
                <a:cs typeface="Calibri" pitchFamily="34" charset="-120"/>
              </a:rPr>
              <a:t>coverage — does any rule fire above the floor? none → uncovered</a:t>
            </a:r>
            <a:endParaRPr lang="en-US" sz="1400" dirty="0"/>
          </a:p>
          <a:p>
            <a:pPr marL="152400" indent="-152400">
              <a:lnSpc>
                <a:spcPct val="102000"/>
              </a:lnSpc>
              <a:spcAft>
                <a:spcPts val="0"/>
              </a:spcAft>
              <a:buSzPct val="100000"/>
              <a:buChar char="•"/>
            </a:pPr>
            <a:r>
              <a:rPr lang="en-US" sz="1400" b="0" i="0">
                <a:solidFill>
                  <a:srgbClr val="222222"/>
                </a:solidFill>
                <a:latin typeface="Calibri" pitchFamily="34" charset="0"/>
                <a:ea typeface="Calibri" pitchFamily="34" charset="-122"/>
                <a:cs typeface="Calibri" pitchFamily="34" charset="-120"/>
              </a:rPr>
              <a:t>cost deficit — how far above the bound, in coarse buckets</a:t>
            </a:r>
            <a:endParaRPr lang="en-US" sz="1400" dirty="0"/>
          </a:p>
        </p:txBody>
      </p:sp>
      <p:sp>
        <p:nvSpPr>
          <p:cNvPr id="7504" name="Head Repairs"/>
          <p:cNvSpPr/>
          <p:nvPr/>
        </p:nvSpPr>
        <p:spPr>
          <a:xfrm>
            <a:off x="502920" y="3566160"/>
            <a:ext cx="5440680" cy="256032"/>
          </a:xfrm>
          <a:prstGeom prst="rect">
            <a:avLst/>
          </a:prstGeom>
          <a:noFill/>
          <a:ln/>
        </p:spPr>
        <p:txBody>
          <a:bodyPr wrap="square" lIns="0" tIns="0" rIns="0" bIns="0" rtlCol="0" anchor="t"/>
          <a:lstStyle/>
          <a:p>
            <a:pPr marL="0" indent="0">
              <a:lnSpc>
                <a:spcPct val="102000"/>
              </a:lnSpc>
              <a:spcAft>
                <a:spcPts val="0"/>
              </a:spcAft>
              <a:buNone/>
            </a:pPr>
            <a:r>
              <a:rPr lang="en-US" sz="1400" b="1" i="0" dirty="0">
                <a:solidFill>
                  <a:srgbClr val="E31836"/>
                </a:solidFill>
                <a:latin typeface="Calibri" pitchFamily="34" charset="0"/>
                <a:ea typeface="Calibri" pitchFamily="34" charset="-122"/>
                <a:cs typeface="Calibri" pitchFamily="34" charset="-120"/>
              </a:rPr>
              <a:t>THE THREE REPAIRS</a:t>
            </a:r>
            <a:endParaRPr lang="en-US" sz="1400" dirty="0"/>
          </a:p>
        </p:txBody>
      </p:sp>
      <p:sp>
        <p:nvSpPr>
          <p:cNvPr id="7505" name="Repair bullets"/>
          <p:cNvSpPr/>
          <p:nvPr/>
        </p:nvSpPr>
        <p:spPr>
          <a:xfrm>
            <a:off x="502920" y="3877056"/>
            <a:ext cx="5440680" cy="1280160"/>
          </a:xfrm>
          <a:prstGeom prst="rect">
            <a:avLst/>
          </a:prstGeom>
          <a:noFill/>
          <a:ln/>
        </p:spPr>
        <p:txBody>
          <a:bodyPr wrap="square" lIns="0" tIns="0" rIns="0" bIns="0" rtlCol="0" anchor="t"/>
          <a:lstStyle/>
          <a:p>
            <a:pPr marL="152400" indent="-152400">
              <a:lnSpc>
                <a:spcPct val="102000"/>
              </a:lnSpc>
              <a:spcAft>
                <a:spcPts val="350"/>
              </a:spcAft>
              <a:buSzPct val="100000"/>
              <a:buChar char="•"/>
            </a:pPr>
            <a:r>
              <a:rPr lang="en-US" sz="1400" b="0" i="0">
                <a:solidFill>
                  <a:srgbClr val="222222"/>
                </a:solidFill>
                <a:latin typeface="Calibri" pitchFamily="34" charset="0"/>
                <a:ea typeface="Calibri" pitchFamily="34" charset="-122"/>
                <a:cs typeface="Calibri" pitchFamily="34" charset="-120"/>
              </a:rPr>
              <a:t>① tune boundaries &amp; consequents of rules that fire</a:t>
            </a:r>
            <a:endParaRPr lang="en-US" sz="1400" dirty="0"/>
          </a:p>
          <a:p>
            <a:pPr marL="152400" indent="-152400">
              <a:lnSpc>
                <a:spcPct val="102000"/>
              </a:lnSpc>
              <a:spcAft>
                <a:spcPts val="350"/>
              </a:spcAft>
              <a:buSzPct val="100000"/>
              <a:buChar char="•"/>
            </a:pPr>
            <a:r>
              <a:rPr lang="en-US" sz="1400" b="0" i="0">
                <a:solidFill>
                  <a:srgbClr val="222222"/>
                </a:solidFill>
                <a:latin typeface="Calibri" pitchFamily="34" charset="0"/>
                <a:ea typeface="Calibri" pitchFamily="34" charset="-122"/>
                <a:cs typeface="Calibri" pitchFamily="34" charset="-120"/>
              </a:rPr>
              <a:t>② add a term / split a region where none fired</a:t>
            </a:r>
            <a:endParaRPr lang="en-US" sz="1400" dirty="0"/>
          </a:p>
          <a:p>
            <a:pPr marL="152400" indent="-152400">
              <a:lnSpc>
                <a:spcPct val="102000"/>
              </a:lnSpc>
              <a:spcAft>
                <a:spcPts val="0"/>
              </a:spcAft>
              <a:buSzPct val="100000"/>
              <a:buChar char="•"/>
            </a:pPr>
            <a:r>
              <a:rPr lang="en-US" sz="1400" b="0" i="0">
                <a:solidFill>
                  <a:srgbClr val="222222"/>
                </a:solidFill>
                <a:latin typeface="Calibri" pitchFamily="34" charset="0"/>
                <a:ea typeface="Calibri" pitchFamily="34" charset="-122"/>
                <a:cs typeface="Calibri" pitchFamily="34" charset="-120"/>
              </a:rPr>
              <a:t>③ propose a new rule (+ one new vocabulary object)</a:t>
            </a:r>
            <a:endParaRPr lang="en-US" sz="1400" dirty="0"/>
          </a:p>
        </p:txBody>
      </p:sp>
      <p:sp>
        <p:nvSpPr>
          <p:cNvPr id="7506" name="Repair note"/>
          <p:cNvSpPr/>
          <p:nvPr/>
        </p:nvSpPr>
        <p:spPr>
          <a:xfrm>
            <a:off x="769620" y="6172199"/>
            <a:ext cx="10652760" cy="566928"/>
          </a:xfrm>
          <a:prstGeom prst="rect">
            <a:avLst/>
          </a:prstGeom>
          <a:noFill/>
          <a:ln/>
        </p:spPr>
        <p:txBody>
          <a:bodyPr wrap="square" lIns="0" tIns="0" rIns="0" bIns="0" rtlCol="0" anchor="t"/>
          <a:lstStyle/>
          <a:p>
            <a:pPr marL="0" indent="0">
              <a:lnSpc>
                <a:spcPct val="102000"/>
              </a:lnSpc>
              <a:spcAft>
                <a:spcPts val="0"/>
              </a:spcAft>
              <a:buNone/>
            </a:pPr>
            <a:r>
              <a:rPr lang="en-US" sz="1300" b="0" i="1">
                <a:solidFill>
                  <a:srgbClr val="6E6E6E"/>
                </a:solidFill>
                <a:latin typeface="Calibri" pitchFamily="34" charset="0"/>
                <a:ea typeface="Calibri" pitchFamily="34" charset="-122"/>
                <a:cs typeface="Calibri" pitchFamily="34" charset="-120"/>
              </a:rPr>
              <a:t>③ costs a model call + two rollouts → last resort; greedy and exploratory trials face the same gates</a:t>
            </a:r>
            <a:endParaRPr lang="en-US" sz="1300" dirty="0"/>
          </a:p>
        </p:txBody>
      </p:sp>
      <p:sp>
        <p:nvSpPr>
          <p:cNvPr id="7507" name="Head Choice"/>
          <p:cNvSpPr/>
          <p:nvPr/>
        </p:nvSpPr>
        <p:spPr>
          <a:xfrm>
            <a:off x="6309360" y="1463040"/>
            <a:ext cx="5394960" cy="256032"/>
          </a:xfrm>
          <a:prstGeom prst="rect">
            <a:avLst/>
          </a:prstGeom>
          <a:noFill/>
          <a:ln/>
        </p:spPr>
        <p:txBody>
          <a:bodyPr wrap="square" lIns="0" tIns="0" rIns="0" bIns="0" rtlCol="0" anchor="t"/>
          <a:lstStyle/>
          <a:p>
            <a:pPr marL="0" indent="0">
              <a:lnSpc>
                <a:spcPct val="102000"/>
              </a:lnSpc>
              <a:spcAft>
                <a:spcPts val="0"/>
              </a:spcAft>
              <a:buNone/>
            </a:pPr>
            <a:r>
              <a:rPr lang="en-US" sz="1400" b="1" i="0" dirty="0">
                <a:solidFill>
                  <a:srgbClr val="E31836"/>
                </a:solidFill>
                <a:latin typeface="Calibri" pitchFamily="34" charset="0"/>
                <a:ea typeface="Calibri" pitchFamily="34" charset="-122"/>
                <a:cs typeface="Calibri" pitchFamily="34" charset="-120"/>
              </a:rPr>
              <a:t>THE CHOICE : ε-GREEDY</a:t>
            </a:r>
            <a:endParaRPr lang="en-US" sz="1400" dirty="0"/>
          </a:p>
        </p:txBody>
      </p:sp>
      <mc:AlternateContent xmlns:mc="http://schemas.openxmlformats.org/markup-compatibility/2006" xmlns:a14="http://schemas.microsoft.com/office/drawing/2010/main">
        <mc:Choice Requires="a14">
          <p:sp>
            <p:nvSpPr>
              <p:cNvPr id="7508" name="Eq Greedy"/>
              <p:cNvSpPr/>
              <p:nvPr/>
            </p:nvSpPr>
            <p:spPr>
              <a:xfrm>
                <a:off x="6152707" y="1773936"/>
                <a:ext cx="5551613" cy="402336"/>
              </a:xfrm>
              <a:prstGeom prst="rect">
                <a:avLst/>
              </a:prstGeom>
              <a:noFill/>
              <a:ln/>
            </p:spPr>
            <p:txBody>
              <a:bodyPr wrap="square" lIns="0" tIns="0" rIns="0" bIns="0" rtlCol="0" anchor="t"/>
              <a:lstStyle/>
              <a:p>
                <a:pP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rPr>
                          </m:ctrlPr>
                        </m:sSubPr>
                        <m:e>
                          <m:r>
                            <m:rPr>
                              <m:sty m:val="p"/>
                            </m:rPr>
                            <a:rPr lang="en-US" sz="1400" b="0" i="0" smtClean="0">
                              <a:latin typeface="Cambria Math" panose="02040503050406030204" pitchFamily="18" charset="0"/>
                            </a:rPr>
                            <m:t>stage</m:t>
                          </m:r>
                        </m:e>
                        <m:sub>
                          <m:r>
                            <a:rPr lang="en-US" sz="1400">
                              <a:latin typeface="Cambria Math"/>
                            </a:rPr>
                            <m:t>𝑘</m:t>
                          </m:r>
                        </m:sub>
                      </m:sSub>
                      <m:r>
                        <a:rPr lang="en-US" sz="1400">
                          <a:latin typeface="Cambria Math"/>
                        </a:rPr>
                        <m:t> = </m:t>
                      </m:r>
                      <m:sSub>
                        <m:sSubPr>
                          <m:ctrlPr>
                            <a:rPr lang="en-US" sz="1400" i="1">
                              <a:latin typeface="Cambria Math" panose="02040503050406030204" pitchFamily="18" charset="0"/>
                            </a:rPr>
                          </m:ctrlPr>
                        </m:sSubPr>
                        <m:e>
                          <m:r>
                            <m:rPr>
                              <m:sty m:val="p"/>
                            </m:rPr>
                            <a:rPr lang="en-US" sz="1400">
                              <a:latin typeface="Cambria Math"/>
                            </a:rPr>
                            <m:t>arg</m:t>
                          </m:r>
                          <m:r>
                            <a:rPr lang="en-US" sz="1400">
                              <a:latin typeface="Cambria Math"/>
                            </a:rPr>
                            <m:t> </m:t>
                          </m:r>
                          <m:r>
                            <m:rPr>
                              <m:sty m:val="p"/>
                            </m:rPr>
                            <a:rPr lang="en-US" sz="1400">
                              <a:latin typeface="Cambria Math"/>
                            </a:rPr>
                            <m:t>max</m:t>
                          </m:r>
                        </m:e>
                        <m:sub>
                          <m:r>
                            <m:rPr>
                              <m:sty m:val="p"/>
                            </m:rPr>
                            <a:rPr lang="en-US" sz="1400">
                              <a:latin typeface="Cambria Math" panose="02040503050406030204" pitchFamily="18" charset="0"/>
                            </a:rPr>
                            <m:t>stage</m:t>
                          </m:r>
                        </m:sub>
                      </m:sSub>
                      <m:r>
                        <a:rPr lang="en-US" sz="1400">
                          <a:latin typeface="Cambria Math"/>
                        </a:rPr>
                        <m:t> </m:t>
                      </m:r>
                      <m:r>
                        <a:rPr lang="en-US" sz="1400">
                          <a:latin typeface="Cambria Math"/>
                        </a:rPr>
                        <m:t>𝐻</m:t>
                      </m:r>
                      <m:r>
                        <a:rPr lang="en-US" sz="1400">
                          <a:latin typeface="Cambria Math"/>
                        </a:rPr>
                        <m:t> ( </m:t>
                      </m:r>
                      <m:sSub>
                        <m:sSubPr>
                          <m:ctrlPr>
                            <a:rPr lang="en-US" sz="1400" i="1">
                              <a:latin typeface="Cambria Math" panose="02040503050406030204" pitchFamily="18" charset="0"/>
                            </a:rPr>
                          </m:ctrlPr>
                        </m:sSubPr>
                        <m:e>
                          <m:r>
                            <a:rPr lang="en-US" sz="1400">
                              <a:latin typeface="Cambria Math"/>
                            </a:rPr>
                            <m:t>𝑠</m:t>
                          </m:r>
                          <m:r>
                            <a:rPr lang="en-US" sz="1400" i="1">
                              <a:latin typeface="Cambria Math" panose="02040503050406030204" pitchFamily="18" charset="0"/>
                            </a:rPr>
                            <m:t>𝑖𝑡𝑢𝑎𝑡𝑖𝑜𝑛</m:t>
                          </m:r>
                        </m:e>
                        <m:sub>
                          <m:r>
                            <a:rPr lang="en-US" sz="1400">
                              <a:latin typeface="Cambria Math"/>
                            </a:rPr>
                            <m:t>𝑘</m:t>
                          </m:r>
                        </m:sub>
                      </m:sSub>
                      <m:r>
                        <a:rPr lang="en-US" sz="1400">
                          <a:latin typeface="Cambria Math"/>
                        </a:rPr>
                        <m:t> ,</m:t>
                      </m:r>
                      <m:r>
                        <m:rPr>
                          <m:sty m:val="p"/>
                        </m:rPr>
                        <a:rPr lang="en-US" sz="1400">
                          <a:latin typeface="Cambria Math" panose="02040503050406030204" pitchFamily="18" charset="0"/>
                        </a:rPr>
                        <m:t>stage</m:t>
                      </m:r>
                      <m:r>
                        <a:rPr lang="en-US" sz="1400">
                          <a:latin typeface="Cambria Math"/>
                        </a:rPr>
                        <m:t>)    </m:t>
                      </m:r>
                      <m:r>
                        <m:rPr>
                          <m:sty m:val="p"/>
                        </m:rPr>
                        <a:rPr lang="en-US" sz="1400">
                          <a:latin typeface="Cambria Math"/>
                        </a:rPr>
                        <m:t>with</m:t>
                      </m:r>
                      <m:r>
                        <a:rPr lang="en-US" sz="1400">
                          <a:latin typeface="Cambria Math"/>
                        </a:rPr>
                        <m:t> </m:t>
                      </m:r>
                      <m:r>
                        <m:rPr>
                          <m:sty m:val="p"/>
                        </m:rPr>
                        <a:rPr lang="en-US" sz="1400">
                          <a:latin typeface="Cambria Math"/>
                        </a:rPr>
                        <m:t>probability</m:t>
                      </m:r>
                      <m:r>
                        <a:rPr lang="en-US" sz="1400">
                          <a:latin typeface="Cambria Math"/>
                        </a:rPr>
                        <m:t>  1 − </m:t>
                      </m:r>
                      <m:r>
                        <a:rPr lang="en-US" sz="1400">
                          <a:latin typeface="Cambria Math"/>
                        </a:rPr>
                        <m:t>𝜀</m:t>
                      </m:r>
                    </m:oMath>
                  </m:oMathPara>
                </a14:m>
                <a:endParaRPr lang="en-US" sz="1300" dirty="0"/>
              </a:p>
            </p:txBody>
          </p:sp>
        </mc:Choice>
        <mc:Fallback xmlns="">
          <p:sp>
            <p:nvSpPr>
              <p:cNvPr id="7508" name="Eq Greedy"/>
              <p:cNvSpPr>
                <a:spLocks noRot="1" noChangeAspect="1" noMove="1" noResize="1" noEditPoints="1" noAdjustHandles="1" noChangeArrowheads="1" noChangeShapeType="1" noTextEdit="1"/>
              </p:cNvSpPr>
              <p:nvPr/>
            </p:nvSpPr>
            <p:spPr>
              <a:xfrm>
                <a:off x="6152707" y="1773936"/>
                <a:ext cx="5551613" cy="402336"/>
              </a:xfrm>
              <a:prstGeom prst="rect">
                <a:avLst/>
              </a:prstGeom>
              <a:blipFill>
                <a:blip r:embed="rId6"/>
                <a:stretch>
                  <a:fillRect l="-110"/>
                </a:stretch>
              </a:blipFill>
              <a:ln/>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7509" name="Eq Explore"/>
              <p:cNvSpPr/>
              <p:nvPr/>
            </p:nvSpPr>
            <p:spPr>
              <a:xfrm>
                <a:off x="6309360" y="2249424"/>
                <a:ext cx="5394960" cy="402336"/>
              </a:xfrm>
              <a:prstGeom prst="rect">
                <a:avLst/>
              </a:prstGeom>
              <a:noFill/>
              <a:ln/>
            </p:spPr>
            <p:txBody>
              <a:bodyPr wrap="square" lIns="0" tIns="0" rIns="0" bIns="0" rtlCol="0" anchor="t"/>
              <a:lstStyle/>
              <a:p>
                <a:pPr/>
                <a14:m>
                  <m:oMathPara xmlns:m="http://schemas.openxmlformats.org/officeDocument/2006/math">
                    <m:oMathParaPr>
                      <m:jc m:val="centerGroup"/>
                    </m:oMathParaPr>
                    <m:oMath xmlns:m="http://schemas.openxmlformats.org/officeDocument/2006/math">
                      <m:sSub>
                        <m:sSubPr>
                          <m:ctrlPr>
                            <a:rPr lang="en-US" sz="1400" i="1">
                              <a:latin typeface="Cambria Math" panose="02040503050406030204" pitchFamily="18" charset="0"/>
                            </a:rPr>
                          </m:ctrlPr>
                        </m:sSubPr>
                        <m:e>
                          <m:r>
                            <m:rPr>
                              <m:sty m:val="p"/>
                            </m:rPr>
                            <a:rPr lang="en-US" sz="1400">
                              <a:latin typeface="Cambria Math" panose="02040503050406030204" pitchFamily="18" charset="0"/>
                            </a:rPr>
                            <m:t>stage</m:t>
                          </m:r>
                        </m:e>
                        <m:sub>
                          <m:r>
                            <a:rPr lang="en-US" sz="1400">
                              <a:latin typeface="Cambria Math"/>
                            </a:rPr>
                            <m:t>𝑘</m:t>
                          </m:r>
                        </m:sub>
                      </m:sSub>
                      <m:r>
                        <a:rPr lang="en-US" sz="1400">
                          <a:latin typeface="Cambria Math"/>
                        </a:rPr>
                        <m:t> = </m:t>
                      </m:r>
                      <m:r>
                        <m:rPr>
                          <m:sty m:val="p"/>
                        </m:rPr>
                        <a:rPr lang="en-US" sz="1400">
                          <a:latin typeface="Cambria Math"/>
                        </a:rPr>
                        <m:t>random</m:t>
                      </m:r>
                      <m:r>
                        <a:rPr lang="en-US" sz="1400">
                          <a:latin typeface="Cambria Math"/>
                        </a:rPr>
                        <m:t> </m:t>
                      </m:r>
                      <m:r>
                        <m:rPr>
                          <m:sty m:val="p"/>
                        </m:rPr>
                        <a:rPr lang="en-US" sz="1400">
                          <a:latin typeface="Cambria Math"/>
                        </a:rPr>
                        <m:t>allowed</m:t>
                      </m:r>
                      <m:r>
                        <a:rPr lang="en-US" sz="1400">
                          <a:latin typeface="Cambria Math"/>
                        </a:rPr>
                        <m:t> </m:t>
                      </m:r>
                      <m:r>
                        <m:rPr>
                          <m:sty m:val="p"/>
                        </m:rPr>
                        <a:rPr lang="en-US" sz="1400">
                          <a:latin typeface="Cambria Math"/>
                        </a:rPr>
                        <m:t>stage</m:t>
                      </m:r>
                      <m:r>
                        <a:rPr lang="en-US" sz="1400">
                          <a:latin typeface="Cambria Math"/>
                        </a:rPr>
                        <m:t>   </m:t>
                      </m:r>
                      <m:r>
                        <m:rPr>
                          <m:sty m:val="p"/>
                        </m:rPr>
                        <a:rPr lang="en-US" sz="1400">
                          <a:latin typeface="Cambria Math"/>
                        </a:rPr>
                        <m:t>with</m:t>
                      </m:r>
                      <m:r>
                        <a:rPr lang="en-US" sz="1400">
                          <a:latin typeface="Cambria Math"/>
                        </a:rPr>
                        <m:t> </m:t>
                      </m:r>
                      <m:r>
                        <m:rPr>
                          <m:sty m:val="p"/>
                        </m:rPr>
                        <a:rPr lang="en-US" sz="1400">
                          <a:latin typeface="Cambria Math"/>
                        </a:rPr>
                        <m:t>probability</m:t>
                      </m:r>
                      <m:r>
                        <a:rPr lang="en-US" sz="1400">
                          <a:latin typeface="Cambria Math"/>
                        </a:rPr>
                        <m:t>  </m:t>
                      </m:r>
                      <m:r>
                        <a:rPr lang="en-US" sz="1400">
                          <a:latin typeface="Cambria Math"/>
                        </a:rPr>
                        <m:t>𝜀</m:t>
                      </m:r>
                      <m:r>
                        <a:rPr lang="en-US" sz="1400">
                          <a:latin typeface="Cambria Math"/>
                        </a:rPr>
                        <m:t> = 0.10</m:t>
                      </m:r>
                    </m:oMath>
                  </m:oMathPara>
                </a14:m>
                <a:endParaRPr lang="en-US" sz="1300" dirty="0"/>
              </a:p>
            </p:txBody>
          </p:sp>
        </mc:Choice>
        <mc:Fallback xmlns="">
          <p:sp>
            <p:nvSpPr>
              <p:cNvPr id="7509" name="Eq Explore"/>
              <p:cNvSpPr>
                <a:spLocks noRot="1" noChangeAspect="1" noMove="1" noResize="1" noEditPoints="1" noAdjustHandles="1" noChangeArrowheads="1" noChangeShapeType="1" noTextEdit="1"/>
              </p:cNvSpPr>
              <p:nvPr/>
            </p:nvSpPr>
            <p:spPr>
              <a:xfrm>
                <a:off x="6309360" y="2249424"/>
                <a:ext cx="5394960" cy="402336"/>
              </a:xfrm>
              <a:prstGeom prst="rect">
                <a:avLst/>
              </a:prstGeom>
              <a:blipFill>
                <a:blip r:embed="rId7"/>
                <a:stretch>
                  <a:fillRect/>
                </a:stretch>
              </a:blipFill>
              <a:ln/>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7510" name="Choice bullets"/>
              <p:cNvSpPr/>
              <p:nvPr/>
            </p:nvSpPr>
            <p:spPr>
              <a:xfrm>
                <a:off x="6309360" y="2724912"/>
                <a:ext cx="5394960" cy="1051560"/>
              </a:xfrm>
              <a:prstGeom prst="rect">
                <a:avLst/>
              </a:prstGeom>
              <a:noFill/>
              <a:ln/>
            </p:spPr>
            <p:txBody>
              <a:bodyPr wrap="square" lIns="0" tIns="0" rIns="0" bIns="0" rtlCol="0" anchor="t"/>
              <a:lstStyle/>
              <a:p>
                <a:pPr marL="152400" indent="-152400">
                  <a:lnSpc>
                    <a:spcPct val="102000"/>
                  </a:lnSpc>
                  <a:spcAft>
                    <a:spcPts val="350"/>
                  </a:spcAft>
                  <a:buSzPct val="100000"/>
                  <a:buChar char="•"/>
                </a:pPr>
                <a14:m>
                  <m:oMath xmlns:m="http://schemas.openxmlformats.org/officeDocument/2006/math">
                    <m:r>
                      <a:rPr lang="en-US" sz="1200">
                        <a:latin typeface="Cambria Math"/>
                      </a:rPr>
                      <m:t>𝐻</m:t>
                    </m:r>
                    <m:r>
                      <a:rPr lang="en-US" sz="1200">
                        <a:latin typeface="Cambria Math"/>
                      </a:rPr>
                      <m:t> ( </m:t>
                    </m:r>
                    <m:sSub>
                      <m:sSubPr>
                        <m:ctrlPr>
                          <a:rPr lang="en-US" sz="1200" i="1">
                            <a:latin typeface="Cambria Math" panose="02040503050406030204" pitchFamily="18" charset="0"/>
                          </a:rPr>
                        </m:ctrlPr>
                      </m:sSubPr>
                      <m:e>
                        <m:r>
                          <a:rPr lang="en-US" sz="1200">
                            <a:latin typeface="Cambria Math"/>
                          </a:rPr>
                          <m:t>𝑠</m:t>
                        </m:r>
                        <m:r>
                          <a:rPr lang="en-US" sz="1200" i="1">
                            <a:latin typeface="Cambria Math" panose="02040503050406030204" pitchFamily="18" charset="0"/>
                          </a:rPr>
                          <m:t>𝑖𝑡𝑢𝑎𝑡𝑖𝑜𝑛</m:t>
                        </m:r>
                      </m:e>
                      <m:sub>
                        <m:r>
                          <a:rPr lang="en-US" sz="1200">
                            <a:latin typeface="Cambria Math"/>
                          </a:rPr>
                          <m:t>𝑘</m:t>
                        </m:r>
                      </m:sub>
                    </m:sSub>
                    <m:r>
                      <a:rPr lang="en-US" sz="1200">
                        <a:latin typeface="Cambria Math"/>
                      </a:rPr>
                      <m:t> ,</m:t>
                    </m:r>
                    <m:r>
                      <m:rPr>
                        <m:sty m:val="p"/>
                      </m:rPr>
                      <a:rPr lang="en-US" sz="1200">
                        <a:latin typeface="Cambria Math" panose="02040503050406030204" pitchFamily="18" charset="0"/>
                      </a:rPr>
                      <m:t>stage</m:t>
                    </m:r>
                    <m:r>
                      <a:rPr lang="en-US" sz="1200">
                        <a:latin typeface="Cambria Math"/>
                      </a:rPr>
                      <m:t>)</m:t>
                    </m:r>
                    <m:r>
                      <a:rPr lang="en-US" sz="1200" i="1">
                        <a:latin typeface="Cambria Math"/>
                      </a:rPr>
                      <m:t> </m:t>
                    </m:r>
                  </m:oMath>
                </a14:m>
                <a:r>
                  <a:rPr lang="en-US" sz="1300" b="0" i="0">
                    <a:solidFill>
                      <a:srgbClr val="222222"/>
                    </a:solidFill>
                    <a:latin typeface="Calibri" pitchFamily="34" charset="0"/>
                    <a:ea typeface="Calibri" pitchFamily="34" charset="-122"/>
                    <a:cs typeface="Calibri" pitchFamily="34" charset="-120"/>
                  </a:rPr>
                  <a:t>average forecast gain of that stage in that situation</a:t>
                </a:r>
                <a:endParaRPr lang="en-US" sz="1300" dirty="0"/>
              </a:p>
              <a:p>
                <a:pPr marL="152400" indent="-152400">
                  <a:lnSpc>
                    <a:spcPct val="102000"/>
                  </a:lnSpc>
                  <a:spcAft>
                    <a:spcPts val="0"/>
                  </a:spcAft>
                  <a:buSzPct val="100000"/>
                  <a:buChar char="•"/>
                </a:pPr>
                <a:r>
                  <a:rPr lang="en-US" sz="1300" b="0" i="0">
                    <a:solidFill>
                      <a:srgbClr val="222222"/>
                    </a:solidFill>
                    <a:latin typeface="Calibri" pitchFamily="34" charset="0"/>
                    <a:ea typeface="Calibri" pitchFamily="34" charset="-122"/>
                    <a:cs typeface="Calibri" pitchFamily="34" charset="-120"/>
                  </a:rPr>
                  <a:t>the random tenth keeps every stage tested</a:t>
                </a:r>
                <a:endParaRPr lang="en-US" sz="1300" dirty="0"/>
              </a:p>
            </p:txBody>
          </p:sp>
        </mc:Choice>
        <mc:Fallback xmlns="">
          <p:sp>
            <p:nvSpPr>
              <p:cNvPr id="7510" name="Choice bullets"/>
              <p:cNvSpPr/>
              <p:nvPr/>
            </p:nvSpPr>
            <p:spPr>
              <a:xfrm>
                <a:off x="6309360" y="2724912"/>
                <a:ext cx="5394960" cy="1051560"/>
              </a:xfrm>
              <a:prstGeom prst="rect">
                <a:avLst/>
              </a:prstGeom>
              <a:noFill/>
              <a:ln/>
            </p:spPr>
            <p:txBody>
              <a:bodyPr wrap="square" lIns="0" tIns="0" rIns="0" bIns="0" rtlCol="0" anchor="t"/>
              <a:lstStyle/>
              <a:p>
                <a:pPr marL="152400" indent="-152400">
                  <a:lnSpc>
                    <a:spcPct val="102000"/>
                  </a:lnSpc>
                  <a:spcAft>
                    <a:spcPts val="350"/>
                  </a:spcAft>
                  <a:buSzPct val="100000"/>
                  <a:buChar char="•"/>
                </a:pPr>
                <a:r>
                  <a:rPr lang="en-US" sz="1200" i="1">
                    <a:latin typeface="Cambria Math"/>
                  </a:rPr>
                  <a:t>𝐻 ( 𝑠𝑖𝑡𝑢𝑎𝑡𝑖𝑜𝑛𝑘 ,stage) </a:t>
                </a:r>
                <a:r>
                  <a:rPr lang="en-US" sz="1300" b="0" i="0">
                    <a:solidFill>
                      <a:srgbClr val="222222"/>
                    </a:solidFill>
                    <a:latin typeface="Calibri" pitchFamily="34" charset="0"/>
                    <a:ea typeface="Calibri" pitchFamily="34" charset="-122"/>
                    <a:cs typeface="Calibri" pitchFamily="34" charset="-120"/>
                  </a:rPr>
                  <a:t>average forecast gain of that stage in that situation</a:t>
                </a:r>
                <a:endParaRPr lang="en-US" sz="1300" dirty="0"/>
              </a:p>
              <a:p>
                <a:pPr marL="152400" indent="-152400">
                  <a:lnSpc>
                    <a:spcPct val="102000"/>
                  </a:lnSpc>
                  <a:spcAft>
                    <a:spcPts val="0"/>
                  </a:spcAft>
                  <a:buSzPct val="100000"/>
                  <a:buChar char="•"/>
                </a:pPr>
                <a:r>
                  <a:rPr lang="en-US" sz="1300" b="0" i="0">
                    <a:solidFill>
                      <a:srgbClr val="222222"/>
                    </a:solidFill>
                    <a:latin typeface="Calibri" pitchFamily="34" charset="0"/>
                    <a:ea typeface="Calibri" pitchFamily="34" charset="-122"/>
                    <a:cs typeface="Calibri" pitchFamily="34" charset="-120"/>
                  </a:rPr>
                  <a:t>the random tenth keeps every stage tested</a:t>
                </a:r>
                <a:endParaRPr lang="en-US" sz="1300" dirty="0"/>
              </a:p>
            </p:txBody>
          </p:sp>
        </mc:Fallback>
      </mc:AlternateContent>
      <p:sp>
        <p:nvSpPr>
          <p:cNvPr id="7511" name="Head Update"/>
          <p:cNvSpPr/>
          <p:nvPr/>
        </p:nvSpPr>
        <p:spPr>
          <a:xfrm>
            <a:off x="6309360" y="3877056"/>
            <a:ext cx="5394960" cy="256032"/>
          </a:xfrm>
          <a:prstGeom prst="rect">
            <a:avLst/>
          </a:prstGeom>
          <a:noFill/>
          <a:ln/>
        </p:spPr>
        <p:txBody>
          <a:bodyPr wrap="square" lIns="0" tIns="0" rIns="0" bIns="0" rtlCol="0" anchor="t"/>
          <a:lstStyle/>
          <a:p>
            <a:pPr marL="0" indent="0">
              <a:lnSpc>
                <a:spcPct val="102000"/>
              </a:lnSpc>
              <a:spcAft>
                <a:spcPts val="0"/>
              </a:spcAft>
              <a:buNone/>
            </a:pPr>
            <a:r>
              <a:rPr lang="en-US" sz="1400" b="1" i="0" dirty="0">
                <a:solidFill>
                  <a:srgbClr val="E31836"/>
                </a:solidFill>
                <a:latin typeface="Calibri" pitchFamily="34" charset="0"/>
                <a:ea typeface="Calibri" pitchFamily="34" charset="-122"/>
                <a:cs typeface="Calibri" pitchFamily="34" charset="-120"/>
              </a:rPr>
              <a:t>THE UPDATE</a:t>
            </a:r>
            <a:endParaRPr lang="en-US" sz="1400" dirty="0"/>
          </a:p>
        </p:txBody>
      </p:sp>
      <mc:AlternateContent xmlns:mc="http://schemas.openxmlformats.org/markup-compatibility/2006" xmlns:a14="http://schemas.microsoft.com/office/drawing/2010/main">
        <mc:Choice Requires="a14">
          <p:sp>
            <p:nvSpPr>
              <p:cNvPr id="7512" name="Eq Update"/>
              <p:cNvSpPr/>
              <p:nvPr/>
            </p:nvSpPr>
            <p:spPr>
              <a:xfrm>
                <a:off x="6309360" y="4187952"/>
                <a:ext cx="5394960" cy="402336"/>
              </a:xfrm>
              <a:prstGeom prst="rect">
                <a:avLst/>
              </a:prstGeom>
              <a:noFill/>
              <a:ln/>
            </p:spPr>
            <p:txBody>
              <a:bodyPr wrap="square" lIns="0" tIns="0" rIns="0" bIns="0" rtlCol="0" anchor="t"/>
              <a:lstStyle/>
              <a:p>
                <a:pPr marL="0" indent="0">
                  <a:buNone/>
                </a:pPr>
                <a14:m>
                  <m:oMathPara xmlns:m="http://schemas.openxmlformats.org/officeDocument/2006/math">
                    <m:oMathParaPr>
                      <m:jc m:val="centerGroup"/>
                    </m:oMathParaPr>
                    <m:oMath xmlns:m="http://schemas.openxmlformats.org/officeDocument/2006/math">
                      <m:r>
                        <a:rPr lang="en-US" sz="1400">
                          <a:latin typeface="Cambria Math"/>
                        </a:rPr>
                        <m:t>𝐻</m:t>
                      </m:r>
                      <m:r>
                        <a:rPr lang="en-US" sz="1400">
                          <a:latin typeface="Cambria Math"/>
                        </a:rPr>
                        <m:t> ← </m:t>
                      </m:r>
                      <m:r>
                        <a:rPr lang="en-US" sz="1400">
                          <a:latin typeface="Cambria Math"/>
                        </a:rPr>
                        <m:t>𝐻</m:t>
                      </m:r>
                      <m:r>
                        <a:rPr lang="en-US" sz="1400">
                          <a:latin typeface="Cambria Math"/>
                        </a:rPr>
                        <m:t> + </m:t>
                      </m:r>
                      <m:r>
                        <a:rPr lang="en-US" sz="1400">
                          <a:latin typeface="Cambria Math"/>
                        </a:rPr>
                        <m:t>𝛼</m:t>
                      </m:r>
                      <m:r>
                        <a:rPr lang="en-US" sz="1400">
                          <a:latin typeface="Cambria Math"/>
                        </a:rPr>
                        <m:t> ( </m:t>
                      </m:r>
                      <m:sSub>
                        <m:sSubPr>
                          <m:ctrlPr>
                            <a:rPr lang="en-US" sz="1400" i="1">
                              <a:latin typeface="Cambria Math" panose="02040503050406030204" pitchFamily="18" charset="0"/>
                            </a:rPr>
                          </m:ctrlPr>
                        </m:sSubPr>
                        <m:e>
                          <m:r>
                            <a:rPr lang="en-US" sz="1400">
                              <a:latin typeface="Cambria Math"/>
                            </a:rPr>
                            <m:t>𝑟</m:t>
                          </m:r>
                        </m:e>
                        <m:sub>
                          <m:r>
                            <a:rPr lang="en-US" sz="1400">
                              <a:latin typeface="Cambria Math"/>
                            </a:rPr>
                            <m:t>𝑘</m:t>
                          </m:r>
                        </m:sub>
                      </m:sSub>
                      <m:r>
                        <a:rPr lang="en-US" sz="1400">
                          <a:latin typeface="Cambria Math"/>
                        </a:rPr>
                        <m:t> − </m:t>
                      </m:r>
                      <m:r>
                        <a:rPr lang="en-US" sz="1400">
                          <a:latin typeface="Cambria Math"/>
                        </a:rPr>
                        <m:t>𝐻</m:t>
                      </m:r>
                      <m:r>
                        <a:rPr lang="en-US" sz="1400">
                          <a:latin typeface="Cambria Math"/>
                        </a:rPr>
                        <m:t> )    </m:t>
                      </m:r>
                      <m:r>
                        <m:rPr>
                          <m:sty m:val="p"/>
                        </m:rPr>
                        <a:rPr lang="en-US" sz="1400">
                          <a:latin typeface="Cambria Math"/>
                        </a:rPr>
                        <m:t>with</m:t>
                      </m:r>
                      <m:r>
                        <a:rPr lang="en-US" sz="1400">
                          <a:latin typeface="Cambria Math"/>
                        </a:rPr>
                        <m:t>  </m:t>
                      </m:r>
                      <m:r>
                        <a:rPr lang="en-US" sz="1400">
                          <a:latin typeface="Cambria Math"/>
                        </a:rPr>
                        <m:t>𝛼</m:t>
                      </m:r>
                      <m:r>
                        <a:rPr lang="en-US" sz="1400">
                          <a:latin typeface="Cambria Math"/>
                        </a:rPr>
                        <m:t> = 0.05</m:t>
                      </m:r>
                    </m:oMath>
                  </m:oMathPara>
                </a14:m>
                <a:endParaRPr lang="en-US" sz="1300" dirty="0"/>
              </a:p>
            </p:txBody>
          </p:sp>
        </mc:Choice>
        <mc:Fallback xmlns="">
          <p:sp>
            <p:nvSpPr>
              <p:cNvPr id="7512" name="Eq Update"/>
              <p:cNvSpPr/>
              <p:nvPr/>
            </p:nvSpPr>
            <p:spPr>
              <a:xfrm>
                <a:off x="6309360" y="4187952"/>
                <a:ext cx="5394960" cy="402336"/>
              </a:xfrm>
              <a:prstGeom prst="rect">
                <a:avLst/>
              </a:prstGeom>
              <a:noFill/>
              <a:ln/>
            </p:spPr>
            <p:txBody>
              <a:bodyPr wrap="square" lIns="0" tIns="0" rIns="0" bIns="0" rtlCol="0" anchor="t"/>
              <a:lstStyle/>
              <a:p>
                <a:pPr marL="0" indent="0">
                  <a:lnSpc>
                    <a:spcPct val="102000"/>
                  </a:lnSpc>
                  <a:spcAft>
                    <a:spcPts val="0"/>
                  </a:spcAft>
                  <a:buNone/>
                </a:pPr>
                <a:r>
                  <a:rPr lang="en-US" sz="1300" b="0" i="1" dirty="0">
                    <a:solidFill>
                      <a:srgbClr val="222222"/>
                    </a:solidFill>
                    <a:latin typeface="Calibri" pitchFamily="34" charset="0"/>
                    <a:ea typeface="Calibri" pitchFamily="34" charset="-122"/>
                    <a:cs typeface="Calibri" pitchFamily="34" charset="-120"/>
                  </a:rPr>
                  <a:t>H &lt;- H + a ( r k - H )    with a = 0.05</a:t>
                </a:r>
                <a:endParaRPr lang="en-US" sz="1300" dirty="0"/>
              </a:p>
            </p:txBody>
          </p:sp>
        </mc:Fallback>
      </mc:AlternateContent>
      <mc:AlternateContent xmlns:mc="http://schemas.openxmlformats.org/markup-compatibility/2006" xmlns:a14="http://schemas.microsoft.com/office/drawing/2010/main">
        <mc:Choice Requires="a14">
          <p:sp>
            <p:nvSpPr>
              <p:cNvPr id="7513" name="Eq Reward"/>
              <p:cNvSpPr/>
              <p:nvPr/>
            </p:nvSpPr>
            <p:spPr>
              <a:xfrm>
                <a:off x="6309360" y="4402228"/>
                <a:ext cx="5394960" cy="402336"/>
              </a:xfrm>
              <a:prstGeom prst="rect">
                <a:avLst/>
              </a:prstGeom>
              <a:noFill/>
              <a:ln/>
            </p:spPr>
            <p:txBody>
              <a:bodyPr wrap="square" lIns="0" tIns="0" rIns="0" bIns="0" rtlCol="0" anchor="t"/>
              <a:lstStyle/>
              <a:p>
                <a:pPr marL="0" indent="0">
                  <a:buNone/>
                </a:pPr>
                <a14:m>
                  <m:oMathPara xmlns:m="http://schemas.openxmlformats.org/officeDocument/2006/math">
                    <m:oMathParaPr>
                      <m:jc m:val="centerGroup"/>
                    </m:oMathParaPr>
                    <m:oMath xmlns:m="http://schemas.openxmlformats.org/officeDocument/2006/math">
                      <m:sSub>
                        <m:sSubPr>
                          <m:ctrlPr>
                            <a:rPr lang="en-US" sz="1400" i="1">
                              <a:latin typeface="Cambria Math" panose="02040503050406030204" pitchFamily="18" charset="0"/>
                            </a:rPr>
                          </m:ctrlPr>
                        </m:sSubPr>
                        <m:e>
                          <m:r>
                            <a:rPr lang="en-US" sz="1400">
                              <a:latin typeface="Cambria Math"/>
                            </a:rPr>
                            <m:t>𝑟</m:t>
                          </m:r>
                        </m:e>
                        <m:sub>
                          <m:r>
                            <a:rPr lang="en-US" sz="1400">
                              <a:latin typeface="Cambria Math"/>
                            </a:rPr>
                            <m:t>𝑘</m:t>
                          </m:r>
                        </m:sub>
                      </m:sSub>
                      <m:r>
                        <a:rPr lang="en-US" sz="1400">
                          <a:latin typeface="Cambria Math"/>
                        </a:rPr>
                        <m:t> = </m:t>
                      </m:r>
                      <m:sSub>
                        <m:sSubPr>
                          <m:ctrlPr>
                            <a:rPr lang="en-US" sz="1400" i="1">
                              <a:latin typeface="Cambria Math" panose="02040503050406030204" pitchFamily="18" charset="0"/>
                            </a:rPr>
                          </m:ctrlPr>
                        </m:sSubPr>
                        <m:e>
                          <m:r>
                            <a:rPr lang="en-US" sz="1400">
                              <a:latin typeface="Cambria Math"/>
                            </a:rPr>
                            <m:t>𝐽</m:t>
                          </m:r>
                        </m:e>
                        <m:sub>
                          <m:r>
                            <m:rPr>
                              <m:sty m:val="p"/>
                            </m:rPr>
                            <a:rPr lang="en-US" sz="1400">
                              <a:latin typeface="Cambria Math"/>
                            </a:rPr>
                            <m:t>Phy</m:t>
                          </m:r>
                        </m:sub>
                      </m:sSub>
                      <m:r>
                        <a:rPr lang="en-US" sz="1400">
                          <a:latin typeface="Cambria Math"/>
                        </a:rPr>
                        <m:t>(</m:t>
                      </m:r>
                      <m:r>
                        <m:rPr>
                          <m:sty m:val="p"/>
                        </m:rPr>
                        <a:rPr lang="en-US" sz="1400">
                          <a:latin typeface="Cambria Math"/>
                        </a:rPr>
                        <m:t>no</m:t>
                      </m:r>
                      <m:r>
                        <a:rPr lang="en-US" sz="1400">
                          <a:latin typeface="Cambria Math"/>
                        </a:rPr>
                        <m:t> </m:t>
                      </m:r>
                      <m:r>
                        <m:rPr>
                          <m:sty m:val="p"/>
                        </m:rPr>
                        <a:rPr lang="en-US" sz="1400">
                          <a:latin typeface="Cambria Math"/>
                        </a:rPr>
                        <m:t>trial</m:t>
                      </m:r>
                      <m:r>
                        <a:rPr lang="en-US" sz="1400">
                          <a:latin typeface="Cambria Math"/>
                        </a:rPr>
                        <m:t>) − </m:t>
                      </m:r>
                      <m:sSub>
                        <m:sSubPr>
                          <m:ctrlPr>
                            <a:rPr lang="en-US" sz="1400" i="1">
                              <a:latin typeface="Cambria Math" panose="02040503050406030204" pitchFamily="18" charset="0"/>
                            </a:rPr>
                          </m:ctrlPr>
                        </m:sSubPr>
                        <m:e>
                          <m:r>
                            <a:rPr lang="en-US" sz="1400">
                              <a:latin typeface="Cambria Math"/>
                            </a:rPr>
                            <m:t>𝐽</m:t>
                          </m:r>
                        </m:e>
                        <m:sub>
                          <m:r>
                            <m:rPr>
                              <m:sty m:val="p"/>
                            </m:rPr>
                            <a:rPr lang="en-US" sz="1400">
                              <a:latin typeface="Cambria Math"/>
                            </a:rPr>
                            <m:t>Phy</m:t>
                          </m:r>
                        </m:sub>
                      </m:sSub>
                      <m:r>
                        <a:rPr lang="en-US" sz="1400">
                          <a:latin typeface="Cambria Math"/>
                        </a:rPr>
                        <m:t>(</m:t>
                      </m:r>
                      <m:r>
                        <m:rPr>
                          <m:sty m:val="p"/>
                        </m:rPr>
                        <a:rPr lang="en-US" sz="1400">
                          <a:latin typeface="Cambria Math"/>
                        </a:rPr>
                        <m:t>trial</m:t>
                      </m:r>
                      <m:r>
                        <a:rPr lang="en-US" sz="1400">
                          <a:latin typeface="Cambria Math"/>
                        </a:rPr>
                        <m:t>)</m:t>
                      </m:r>
                    </m:oMath>
                  </m:oMathPara>
                </a14:m>
                <a:endParaRPr lang="en-US" sz="1300" dirty="0"/>
              </a:p>
            </p:txBody>
          </p:sp>
        </mc:Choice>
        <mc:Fallback xmlns="">
          <p:sp>
            <p:nvSpPr>
              <p:cNvPr id="7513" name="Eq Reward"/>
              <p:cNvSpPr>
                <a:spLocks noRot="1" noChangeAspect="1" noMove="1" noResize="1" noEditPoints="1" noAdjustHandles="1" noChangeArrowheads="1" noChangeShapeType="1" noTextEdit="1"/>
              </p:cNvSpPr>
              <p:nvPr/>
            </p:nvSpPr>
            <p:spPr>
              <a:xfrm>
                <a:off x="6309360" y="4402228"/>
                <a:ext cx="5394960" cy="402336"/>
              </a:xfrm>
              <a:prstGeom prst="rect">
                <a:avLst/>
              </a:prstGeom>
              <a:blipFill>
                <a:blip r:embed="rId9"/>
                <a:stretch>
                  <a:fillRect/>
                </a:stretch>
              </a:blipFill>
              <a:ln/>
            </p:spPr>
            <p:txBody>
              <a:bodyPr/>
              <a:lstStyle/>
              <a:p>
                <a:r>
                  <a:rPr lang="tr-TR">
                    <a:noFill/>
                  </a:rPr>
                  <a:t> </a:t>
                </a:r>
              </a:p>
            </p:txBody>
          </p:sp>
        </mc:Fallback>
      </mc:AlternateContent>
      <p:sp>
        <p:nvSpPr>
          <p:cNvPr id="7514" name="Update note"/>
          <p:cNvSpPr/>
          <p:nvPr/>
        </p:nvSpPr>
        <p:spPr>
          <a:xfrm>
            <a:off x="6345936" y="4747355"/>
            <a:ext cx="5394960" cy="292608"/>
          </a:xfrm>
          <a:prstGeom prst="rect">
            <a:avLst/>
          </a:prstGeom>
          <a:noFill/>
          <a:ln/>
        </p:spPr>
        <p:txBody>
          <a:bodyPr wrap="square" lIns="0" tIns="0" rIns="0" bIns="0" rtlCol="0" anchor="t"/>
          <a:lstStyle/>
          <a:p>
            <a:pPr marL="0" indent="0">
              <a:lnSpc>
                <a:spcPct val="102000"/>
              </a:lnSpc>
              <a:spcAft>
                <a:spcPts val="0"/>
              </a:spcAft>
              <a:buNone/>
            </a:pPr>
            <a:r>
              <a:rPr lang="en-US" sz="1300" b="0" i="1">
                <a:solidFill>
                  <a:srgbClr val="6E6E6E"/>
                </a:solidFill>
                <a:latin typeface="Calibri" pitchFamily="34" charset="0"/>
                <a:ea typeface="Calibri" pitchFamily="34" charset="-122"/>
                <a:cs typeface="Calibri" pitchFamily="34" charset="-120"/>
              </a:rPr>
              <a:t>H scores the stage actually tried — recent evidence weighs more</a:t>
            </a:r>
            <a:endParaRPr lang="en-US" sz="13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37744"/>
            <a:ext cx="100584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DSS FRAMEWORK : LAYER 4 OF 4</a:t>
            </a:r>
            <a:endParaRPr lang="en-US" sz="1300" dirty="0"/>
          </a:p>
        </p:txBody>
      </p:sp>
      <p:sp>
        <p:nvSpPr>
          <p:cNvPr id="3" name="Text 1"/>
          <p:cNvSpPr/>
          <p:nvPr/>
        </p:nvSpPr>
        <p:spPr>
          <a:xfrm>
            <a:off x="502920" y="493776"/>
            <a:ext cx="11247120" cy="621792"/>
          </a:xfrm>
          <a:prstGeom prst="rect">
            <a:avLst/>
          </a:prstGeom>
          <a:noFill/>
          <a:ln/>
        </p:spPr>
        <p:txBody>
          <a:bodyPr wrap="square" lIns="0" tIns="0" rIns="0" bIns="0" rtlCol="0" anchor="ctr"/>
          <a:lstStyle/>
          <a:p>
            <a:pPr marL="0" indent="0">
              <a:buNone/>
            </a:pPr>
            <a:r>
              <a:rPr lang="en-US" sz="2500" b="1" dirty="0">
                <a:solidFill>
                  <a:srgbClr val="000000"/>
                </a:solidFill>
                <a:latin typeface="Cambria" pitchFamily="34" charset="0"/>
                <a:ea typeface="Cambria" pitchFamily="34" charset="-122"/>
                <a:cs typeface="Cambria" pitchFamily="34" charset="-120"/>
              </a:rPr>
              <a:t>Stage ① : Parameter Tuning — Before and After</a:t>
            </a:r>
            <a:endParaRPr lang="en-US" sz="2500" dirty="0"/>
          </a:p>
        </p:txBody>
      </p:sp>
      <p:pic>
        <p:nvPicPr>
          <p:cNvPr id="4"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5"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p:pic>
        <p:nvPicPr>
          <p:cNvPr id="6" name="Image 2" descr="/tmp/thx/deck/figs/Figure4_6.png"/>
          <p:cNvPicPr>
            <a:picLocks noChangeAspect="1"/>
          </p:cNvPicPr>
          <p:nvPr/>
        </p:nvPicPr>
        <p:blipFill>
          <a:blip r:embed="rId5"/>
          <a:stretch>
            <a:fillRect/>
          </a:stretch>
        </p:blipFill>
        <p:spPr>
          <a:xfrm>
            <a:off x="411480" y="1498499"/>
            <a:ext cx="6400800" cy="2672281"/>
          </a:xfrm>
          <a:prstGeom prst="rect">
            <a:avLst/>
          </a:prstGeom>
        </p:spPr>
      </p:pic>
      <p:sp>
        <p:nvSpPr>
          <p:cNvPr id="7" name="Text 2"/>
          <p:cNvSpPr/>
          <p:nvPr/>
        </p:nvSpPr>
        <p:spPr>
          <a:xfrm>
            <a:off x="411480" y="4343400"/>
            <a:ext cx="6400800" cy="548640"/>
          </a:xfrm>
          <a:prstGeom prst="rect">
            <a:avLst/>
          </a:prstGeom>
          <a:noFill/>
          <a:ln/>
        </p:spPr>
        <p:txBody>
          <a:bodyPr wrap="square" lIns="0" tIns="0" rIns="0" bIns="0" rtlCol="0" anchor="t"/>
          <a:lstStyle/>
          <a:p>
            <a:pPr marL="0" indent="0">
              <a:lnSpc>
                <a:spcPct val="104000"/>
              </a:lnSpc>
              <a:buNone/>
            </a:pPr>
            <a:r>
              <a:rPr lang="en-US" sz="1300" i="1">
                <a:solidFill>
                  <a:srgbClr val="6E6E6E"/>
                </a:solidFill>
                <a:latin typeface="Calibri" pitchFamily="34" charset="0"/>
                <a:ea typeface="Calibri" pitchFamily="34" charset="-122"/>
                <a:cs typeface="Calibri" pitchFamily="34" charset="-120"/>
              </a:rPr>
              <a:t>Left: one bounded consequent step · Right: a shared boundary shifts, both terms move together</a:t>
            </a:r>
            <a:endParaRPr lang="en-US" sz="1300" dirty="0"/>
          </a:p>
        </p:txBody>
      </p:sp>
      <p:sp>
        <p:nvSpPr>
          <p:cNvPr id="8" name="Shape 3"/>
          <p:cNvSpPr/>
          <p:nvPr/>
        </p:nvSpPr>
        <p:spPr>
          <a:xfrm>
            <a:off x="7040880" y="1325880"/>
            <a:ext cx="4663440" cy="1371600"/>
          </a:xfrm>
          <a:prstGeom prst="roundRect">
            <a:avLst>
              <a:gd name="adj" fmla="val 3333"/>
            </a:avLst>
          </a:prstGeom>
          <a:solidFill>
            <a:srgbClr val="FFFFFF"/>
          </a:solidFill>
          <a:ln w="15240">
            <a:solidFill>
              <a:srgbClr val="6E6E6E"/>
            </a:solidFill>
            <a:prstDash val="solid"/>
          </a:ln>
        </p:spPr>
        <p:txBody>
          <a:bodyPr/>
          <a:lstStyle/>
          <a:p>
            <a:endParaRPr lang="tr-TR"/>
          </a:p>
        </p:txBody>
      </p:sp>
      <p:sp>
        <p:nvSpPr>
          <p:cNvPr id="9" name="Text 4"/>
          <p:cNvSpPr/>
          <p:nvPr/>
        </p:nvSpPr>
        <p:spPr>
          <a:xfrm>
            <a:off x="7178040" y="1399032"/>
            <a:ext cx="4389120" cy="274320"/>
          </a:xfrm>
          <a:prstGeom prst="rect">
            <a:avLst/>
          </a:prstGeom>
          <a:noFill/>
          <a:ln/>
        </p:spPr>
        <p:txBody>
          <a:bodyPr wrap="square" lIns="0" tIns="0" rIns="0" bIns="0" rtlCol="0" anchor="ctr"/>
          <a:lstStyle/>
          <a:p>
            <a:pPr marL="0" indent="0">
              <a:buNone/>
            </a:pPr>
            <a:r>
              <a:rPr lang="en-US" sz="1400" b="1" dirty="0">
                <a:solidFill>
                  <a:srgbClr val="6E6E6E"/>
                </a:solidFill>
                <a:latin typeface="Calibri" pitchFamily="34" charset="0"/>
                <a:ea typeface="Calibri" pitchFamily="34" charset="-122"/>
                <a:cs typeface="Calibri" pitchFamily="34" charset="-120"/>
              </a:rPr>
              <a:t>BEFORE — rule R5 as seeded</a:t>
            </a:r>
            <a:endParaRPr lang="en-US" sz="1400" dirty="0"/>
          </a:p>
        </p:txBody>
      </p:sp>
      <p:sp>
        <p:nvSpPr>
          <p:cNvPr id="10" name="Text 5"/>
          <p:cNvSpPr/>
          <p:nvPr/>
        </p:nvSpPr>
        <p:spPr>
          <a:xfrm>
            <a:off x="7178040" y="1709928"/>
            <a:ext cx="4389120" cy="914400"/>
          </a:xfrm>
          <a:prstGeom prst="rect">
            <a:avLst/>
          </a:prstGeom>
          <a:noFill/>
          <a:ln/>
        </p:spPr>
        <p:txBody>
          <a:bodyPr wrap="square" lIns="0" tIns="0" rIns="0" bIns="0" rtlCol="0" anchor="t"/>
          <a:lstStyle/>
          <a:p>
            <a:pPr marL="0" indent="0">
              <a:lnSpc>
                <a:spcPct val="102000"/>
              </a:lnSpc>
              <a:spcAft>
                <a:spcPts val="300"/>
              </a:spcAft>
              <a:buNone/>
            </a:pPr>
            <a:r>
              <a:rPr lang="en-US" sz="1300" dirty="0">
                <a:solidFill>
                  <a:srgbClr val="222222"/>
                </a:solidFill>
                <a:latin typeface="Consolas" pitchFamily="34" charset="0"/>
                <a:ea typeface="Consolas" pitchFamily="34" charset="-122"/>
                <a:cs typeface="Consolas" pitchFamily="34" charset="-120"/>
              </a:rPr>
              <a:t>IF fire threat level is VERY HIGH</a:t>
            </a:r>
            <a:endParaRPr lang="en-US" sz="1300" dirty="0"/>
          </a:p>
          <a:p>
            <a:pPr marL="0" indent="0">
              <a:lnSpc>
                <a:spcPct val="102000"/>
              </a:lnSpc>
              <a:spcAft>
                <a:spcPts val="300"/>
              </a:spcAft>
              <a:buNone/>
            </a:pPr>
            <a:r>
              <a:rPr lang="en-US" sz="1300" dirty="0">
                <a:solidFill>
                  <a:srgbClr val="222222"/>
                </a:solidFill>
                <a:latin typeface="Consolas" pitchFamily="34" charset="0"/>
                <a:ea typeface="Consolas" pitchFamily="34" charset="-122"/>
                <a:cs typeface="Consolas" pitchFamily="34" charset="-120"/>
              </a:rPr>
              <a:t>THEN suppression effort = 1.00</a:t>
            </a:r>
          </a:p>
          <a:p>
            <a:pPr marL="0" indent="0">
              <a:lnSpc>
                <a:spcPct val="102000"/>
              </a:lnSpc>
              <a:spcAft>
                <a:spcPts val="300"/>
              </a:spcAft>
              <a:buNone/>
            </a:pPr>
            <a:r>
              <a:rPr lang="en-US" sz="1300" dirty="0">
                <a:solidFill>
                  <a:srgbClr val="222222"/>
                </a:solidFill>
                <a:latin typeface="Consolas" pitchFamily="34" charset="0"/>
                <a:ea typeface="Consolas" pitchFamily="34" charset="-122"/>
                <a:cs typeface="Consolas" pitchFamily="34" charset="-120"/>
              </a:rPr>
              <a:t>     resource deployment = 0.80</a:t>
            </a:r>
            <a:endParaRPr lang="en-US" sz="1300" dirty="0"/>
          </a:p>
        </p:txBody>
      </p:sp>
      <p:sp>
        <p:nvSpPr>
          <p:cNvPr id="11" name="Shape 6"/>
          <p:cNvSpPr/>
          <p:nvPr/>
        </p:nvSpPr>
        <p:spPr>
          <a:xfrm>
            <a:off x="7040880" y="2880360"/>
            <a:ext cx="4663440" cy="1463040"/>
          </a:xfrm>
          <a:prstGeom prst="roundRect">
            <a:avLst>
              <a:gd name="adj" fmla="val 3125"/>
            </a:avLst>
          </a:prstGeom>
          <a:solidFill>
            <a:srgbClr val="FFFFFF"/>
          </a:solidFill>
          <a:ln w="15240">
            <a:solidFill>
              <a:srgbClr val="3E7C4F"/>
            </a:solidFill>
            <a:prstDash val="solid"/>
          </a:ln>
        </p:spPr>
        <p:txBody>
          <a:bodyPr/>
          <a:lstStyle/>
          <a:p>
            <a:endParaRPr lang="tr-TR"/>
          </a:p>
        </p:txBody>
      </p:sp>
      <p:sp>
        <p:nvSpPr>
          <p:cNvPr id="12" name="Text 7"/>
          <p:cNvSpPr/>
          <p:nvPr/>
        </p:nvSpPr>
        <p:spPr>
          <a:xfrm>
            <a:off x="7178040" y="2953512"/>
            <a:ext cx="4389120" cy="274320"/>
          </a:xfrm>
          <a:prstGeom prst="rect">
            <a:avLst/>
          </a:prstGeom>
          <a:noFill/>
          <a:ln/>
        </p:spPr>
        <p:txBody>
          <a:bodyPr wrap="square" lIns="0" tIns="0" rIns="0" bIns="0" rtlCol="0" anchor="ctr"/>
          <a:lstStyle/>
          <a:p>
            <a:pPr marL="0" indent="0">
              <a:buNone/>
            </a:pPr>
            <a:r>
              <a:rPr lang="en-US" sz="1400" b="1" dirty="0">
                <a:solidFill>
                  <a:srgbClr val="3E7C4F"/>
                </a:solidFill>
                <a:latin typeface="Calibri" pitchFamily="34" charset="0"/>
                <a:ea typeface="Calibri" pitchFamily="34" charset="-122"/>
                <a:cs typeface="Calibri" pitchFamily="34" charset="-120"/>
              </a:rPr>
              <a:t>AFTER — one accepted trial</a:t>
            </a:r>
            <a:endParaRPr lang="en-US" sz="1400" dirty="0"/>
          </a:p>
        </p:txBody>
      </p:sp>
      <p:sp>
        <p:nvSpPr>
          <p:cNvPr id="13" name="Text 8"/>
          <p:cNvSpPr/>
          <p:nvPr/>
        </p:nvSpPr>
        <p:spPr>
          <a:xfrm>
            <a:off x="7178040" y="3264408"/>
            <a:ext cx="4389120" cy="1005840"/>
          </a:xfrm>
          <a:prstGeom prst="rect">
            <a:avLst/>
          </a:prstGeom>
          <a:noFill/>
          <a:ln/>
        </p:spPr>
        <p:txBody>
          <a:bodyPr wrap="square" lIns="0" tIns="0" rIns="0" bIns="0" rtlCol="0" anchor="t"/>
          <a:lstStyle/>
          <a:p>
            <a:pPr marL="0" indent="0">
              <a:lnSpc>
                <a:spcPct val="102000"/>
              </a:lnSpc>
              <a:spcAft>
                <a:spcPts val="300"/>
              </a:spcAft>
              <a:buNone/>
            </a:pPr>
            <a:r>
              <a:rPr lang="en-US" sz="1300" dirty="0">
                <a:solidFill>
                  <a:srgbClr val="222222"/>
                </a:solidFill>
                <a:latin typeface="Consolas" pitchFamily="34" charset="0"/>
                <a:ea typeface="Consolas" pitchFamily="34" charset="-122"/>
                <a:cs typeface="Consolas" pitchFamily="34" charset="-120"/>
              </a:rPr>
              <a:t>IF fire threat level is VERY HIGH</a:t>
            </a:r>
            <a:endParaRPr lang="en-US" sz="1300" dirty="0"/>
          </a:p>
          <a:p>
            <a:pPr marL="0" indent="0">
              <a:lnSpc>
                <a:spcPct val="102000"/>
              </a:lnSpc>
              <a:spcAft>
                <a:spcPts val="300"/>
              </a:spcAft>
              <a:buNone/>
            </a:pPr>
            <a:r>
              <a:rPr lang="en-US" sz="1300" dirty="0">
                <a:solidFill>
                  <a:srgbClr val="222222"/>
                </a:solidFill>
                <a:latin typeface="Consolas" pitchFamily="34" charset="0"/>
                <a:ea typeface="Consolas" pitchFamily="34" charset="-122"/>
                <a:cs typeface="Consolas" pitchFamily="34" charset="-120"/>
              </a:rPr>
              <a:t>THEN suppression effort = 1.00 (at the upper clip)</a:t>
            </a:r>
            <a:endParaRPr lang="en-US" sz="1300" dirty="0"/>
          </a:p>
          <a:p>
            <a:pPr marL="0" indent="0">
              <a:lnSpc>
                <a:spcPct val="102000"/>
              </a:lnSpc>
              <a:spcAft>
                <a:spcPts val="300"/>
              </a:spcAft>
              <a:buNone/>
            </a:pPr>
            <a:r>
              <a:rPr lang="en-US" sz="1300" b="1" dirty="0">
                <a:solidFill>
                  <a:srgbClr val="222222"/>
                </a:solidFill>
                <a:latin typeface="Consolas" pitchFamily="34" charset="0"/>
                <a:ea typeface="Consolas" pitchFamily="34" charset="-122"/>
                <a:cs typeface="Consolas" pitchFamily="34" charset="-120"/>
              </a:rPr>
              <a:t> resource deployment = 0.85 (+0.05 step)</a:t>
            </a:r>
            <a:endParaRPr lang="en-US" sz="1300" dirty="0"/>
          </a:p>
        </p:txBody>
      </p:sp>
      <p:sp>
        <p:nvSpPr>
          <p:cNvPr id="14" name="Text 9"/>
          <p:cNvSpPr/>
          <p:nvPr/>
        </p:nvSpPr>
        <p:spPr>
          <a:xfrm>
            <a:off x="502920" y="4983480"/>
            <a:ext cx="11247120" cy="1554480"/>
          </a:xfrm>
          <a:prstGeom prst="rect">
            <a:avLst/>
          </a:prstGeom>
          <a:noFill/>
          <a:ln/>
        </p:spPr>
        <p:txBody>
          <a:bodyPr wrap="square" lIns="0" tIns="0" rIns="0" bIns="0" rtlCol="0" anchor="t"/>
          <a:lstStyle/>
          <a:p>
            <a:pPr marL="152400" indent="-152400">
              <a:lnSpc>
                <a:spcPct val="104000"/>
              </a:lnSpc>
              <a:spcAft>
                <a:spcPts val="600"/>
              </a:spcAft>
              <a:buSzPct val="100000"/>
              <a:buChar char="•"/>
            </a:pPr>
            <a:r>
              <a:rPr lang="en-US" sz="1600" b="0">
                <a:solidFill>
                  <a:srgbClr val="222222"/>
                </a:solidFill>
                <a:latin typeface="Calibri" pitchFamily="34" charset="0"/>
                <a:ea typeface="Calibri" pitchFamily="34" charset="-122"/>
                <a:cs typeface="Calibri" pitchFamily="34" charset="-120"/>
              </a:rPr>
              <a:t>acts on the two strongest-firing rules; each consequent moves ≤ 0.05, stays in [0, 1]</a:t>
            </a:r>
            <a:endParaRPr lang="en-US" sz="1600" dirty="0"/>
          </a:p>
          <a:p>
            <a:pPr marL="152400" indent="-152400">
              <a:lnSpc>
                <a:spcPct val="104000"/>
              </a:lnSpc>
              <a:spcAft>
                <a:spcPts val="600"/>
              </a:spcAft>
              <a:buSzPct val="100000"/>
              <a:buChar char="•"/>
            </a:pPr>
            <a:r>
              <a:rPr lang="en-US" sz="1600" b="0">
                <a:solidFill>
                  <a:srgbClr val="222222"/>
                </a:solidFill>
                <a:latin typeface="Calibri" pitchFamily="34" charset="0"/>
                <a:ea typeface="Calibri" pitchFamily="34" charset="-122"/>
                <a:cs typeface="Calibri" pitchFamily="34" charset="-120"/>
              </a:rPr>
              <a:t>two futures from the same seed — with and without; kept only if physical cost strictly falls</a:t>
            </a:r>
            <a:endParaRPr lang="en-US" sz="1600" dirty="0"/>
          </a:p>
          <a:p>
            <a:pPr marL="152400" indent="-152400">
              <a:lnSpc>
                <a:spcPct val="104000"/>
              </a:lnSpc>
              <a:spcAft>
                <a:spcPts val="600"/>
              </a:spcAft>
              <a:buSzPct val="100000"/>
              <a:buChar char="•"/>
            </a:pPr>
            <a:r>
              <a:rPr lang="en-US" sz="1600" b="1">
                <a:solidFill>
                  <a:srgbClr val="222222"/>
                </a:solidFill>
                <a:highlight>
                  <a:srgbClr val="FFFF00"/>
                </a:highlight>
                <a:latin typeface="Calibri" pitchFamily="34" charset="0"/>
                <a:ea typeface="Calibri" pitchFamily="34" charset="-122"/>
                <a:cs typeface="Calibri" pitchFamily="34" charset="-120"/>
              </a:rPr>
              <a:t>Record: 616 trials · 129 kept · 167 consequent updates</a:t>
            </a:r>
            <a:endParaRPr lang="en-US" sz="1600" b="1" dirty="0">
              <a:highlight>
                <a:srgbClr val="FFFF00"/>
              </a:highlight>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37744"/>
            <a:ext cx="100584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DSS FRAMEWORK : LAYER 4 OF 4</a:t>
            </a:r>
            <a:endParaRPr lang="en-US" sz="1300" dirty="0"/>
          </a:p>
        </p:txBody>
      </p:sp>
      <p:sp>
        <p:nvSpPr>
          <p:cNvPr id="3" name="Text 1"/>
          <p:cNvSpPr/>
          <p:nvPr/>
        </p:nvSpPr>
        <p:spPr>
          <a:xfrm>
            <a:off x="502920" y="493776"/>
            <a:ext cx="11247120" cy="621792"/>
          </a:xfrm>
          <a:prstGeom prst="rect">
            <a:avLst/>
          </a:prstGeom>
          <a:noFill/>
          <a:ln/>
        </p:spPr>
        <p:txBody>
          <a:bodyPr wrap="square" lIns="0" tIns="0" rIns="0" bIns="0" rtlCol="0" anchor="ctr"/>
          <a:lstStyle/>
          <a:p>
            <a:pPr marL="0" indent="0">
              <a:buNone/>
            </a:pPr>
            <a:r>
              <a:rPr lang="en-US" sz="2500" b="1" dirty="0">
                <a:solidFill>
                  <a:srgbClr val="000000"/>
                </a:solidFill>
                <a:latin typeface="Cambria" pitchFamily="34" charset="0"/>
                <a:ea typeface="Cambria" pitchFamily="34" charset="-122"/>
                <a:cs typeface="Cambria" pitchFamily="34" charset="-120"/>
              </a:rPr>
              <a:t>Stage ② — Mode 1 : A Rule Is Written on an Empty Combination</a:t>
            </a:r>
            <a:endParaRPr lang="en-US" sz="2500" dirty="0"/>
          </a:p>
        </p:txBody>
      </p:sp>
      <p:pic>
        <p:nvPicPr>
          <p:cNvPr id="4"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5"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p:pic>
        <p:nvPicPr>
          <p:cNvPr id="6" name="Image 2" descr="/tmp/thx/deck/figs/F47a.png"/>
          <p:cNvPicPr>
            <a:picLocks noChangeAspect="1"/>
          </p:cNvPicPr>
          <p:nvPr/>
        </p:nvPicPr>
        <p:blipFill>
          <a:blip r:embed="rId5"/>
          <a:srcRect b="10000"/>
          <a:stretch>
            <a:fillRect/>
          </a:stretch>
        </p:blipFill>
        <p:spPr>
          <a:xfrm>
            <a:off x="558437" y="1371600"/>
            <a:ext cx="4598126" cy="3621024"/>
          </a:xfrm>
          <a:prstGeom prst="rect">
            <a:avLst/>
          </a:prstGeom>
        </p:spPr>
      </p:pic>
      <p:sp>
        <p:nvSpPr>
          <p:cNvPr id="7" name="Shape 2"/>
          <p:cNvSpPr/>
          <p:nvPr/>
        </p:nvSpPr>
        <p:spPr>
          <a:xfrm>
            <a:off x="5806440" y="1371600"/>
            <a:ext cx="5897880" cy="1737360"/>
          </a:xfrm>
          <a:prstGeom prst="roundRect">
            <a:avLst>
              <a:gd name="adj" fmla="val 2632"/>
            </a:avLst>
          </a:prstGeom>
          <a:solidFill>
            <a:srgbClr val="FFFFFF"/>
          </a:solidFill>
          <a:ln w="15240">
            <a:solidFill>
              <a:srgbClr val="6E6E6E"/>
            </a:solidFill>
            <a:prstDash val="solid"/>
          </a:ln>
        </p:spPr>
        <p:txBody>
          <a:bodyPr/>
          <a:lstStyle/>
          <a:p>
            <a:endParaRPr lang="tr-TR"/>
          </a:p>
        </p:txBody>
      </p:sp>
      <p:sp>
        <p:nvSpPr>
          <p:cNvPr id="8" name="Text 3"/>
          <p:cNvSpPr/>
          <p:nvPr/>
        </p:nvSpPr>
        <p:spPr>
          <a:xfrm>
            <a:off x="5943600" y="1444752"/>
            <a:ext cx="5623560" cy="274320"/>
          </a:xfrm>
          <a:prstGeom prst="rect">
            <a:avLst/>
          </a:prstGeom>
          <a:noFill/>
          <a:ln/>
        </p:spPr>
        <p:txBody>
          <a:bodyPr wrap="square" lIns="0" tIns="0" rIns="0" bIns="0" rtlCol="0" anchor="ctr"/>
          <a:lstStyle/>
          <a:p>
            <a:pPr marL="0" indent="0">
              <a:buNone/>
            </a:pPr>
            <a:r>
              <a:rPr lang="en-US" sz="1400" b="1" dirty="0">
                <a:solidFill>
                  <a:srgbClr val="6E6E6E"/>
                </a:solidFill>
                <a:latin typeface="Calibri" pitchFamily="34" charset="0"/>
                <a:ea typeface="Calibri" pitchFamily="34" charset="-122"/>
                <a:cs typeface="Calibri" pitchFamily="34" charset="-120"/>
              </a:rPr>
              <a:t>BEFORE — the combination is empty</a:t>
            </a:r>
            <a:endParaRPr lang="en-US" sz="1400" dirty="0"/>
          </a:p>
        </p:txBody>
      </p:sp>
      <p:sp>
        <p:nvSpPr>
          <p:cNvPr id="9" name="Text 4"/>
          <p:cNvSpPr/>
          <p:nvPr/>
        </p:nvSpPr>
        <p:spPr>
          <a:xfrm>
            <a:off x="5943600" y="1755648"/>
            <a:ext cx="5623560" cy="1280160"/>
          </a:xfrm>
          <a:prstGeom prst="rect">
            <a:avLst/>
          </a:prstGeom>
          <a:noFill/>
          <a:ln/>
        </p:spPr>
        <p:txBody>
          <a:bodyPr wrap="square" lIns="0" tIns="0" rIns="0" bIns="0" rtlCol="0" anchor="t"/>
          <a:lstStyle/>
          <a:p>
            <a:pPr marL="0" indent="0">
              <a:lnSpc>
                <a:spcPct val="102000"/>
              </a:lnSpc>
              <a:spcAft>
                <a:spcPts val="300"/>
              </a:spcAft>
              <a:buNone/>
            </a:pPr>
            <a:r>
              <a:rPr lang="en-US" sz="1300" dirty="0">
                <a:solidFill>
                  <a:srgbClr val="222222"/>
                </a:solidFill>
                <a:latin typeface="Consolas" pitchFamily="34" charset="0"/>
                <a:ea typeface="Consolas" pitchFamily="34" charset="-122"/>
                <a:cs typeface="Consolas" pitchFamily="34" charset="-120"/>
              </a:rPr>
              <a:t>reading: fire threat is HIGH AND</a:t>
            </a:r>
            <a:endParaRPr lang="en-US" sz="1300" dirty="0"/>
          </a:p>
          <a:p>
            <a:pPr marL="0" indent="0">
              <a:lnSpc>
                <a:spcPct val="102000"/>
              </a:lnSpc>
              <a:spcAft>
                <a:spcPts val="300"/>
              </a:spcAft>
              <a:buNone/>
            </a:pPr>
            <a:r>
              <a:rPr lang="en-US" sz="1300" dirty="0">
                <a:solidFill>
                  <a:srgbClr val="222222"/>
                </a:solidFill>
                <a:latin typeface="Consolas" pitchFamily="34" charset="0"/>
                <a:ea typeface="Consolas" pitchFamily="34" charset="-122"/>
                <a:cs typeface="Consolas" pitchFamily="34" charset="-120"/>
              </a:rPr>
              <a:t> evacuation pressure is MEDIUM</a:t>
            </a:r>
            <a:endParaRPr lang="en-US" sz="1300" dirty="0"/>
          </a:p>
          <a:p>
            <a:pPr marL="0" indent="0">
              <a:lnSpc>
                <a:spcPct val="102000"/>
              </a:lnSpc>
              <a:spcAft>
                <a:spcPts val="300"/>
              </a:spcAft>
              <a:buNone/>
            </a:pPr>
            <a:r>
              <a:rPr lang="en-US" sz="1300" dirty="0">
                <a:solidFill>
                  <a:srgbClr val="222222"/>
                </a:solidFill>
                <a:latin typeface="Consolas" pitchFamily="34" charset="0"/>
                <a:ea typeface="Consolas" pitchFamily="34" charset="-122"/>
                <a:cs typeface="Consolas" pitchFamily="34" charset="-120"/>
              </a:rPr>
              <a:t>the cell (H, M) holds no rule;</a:t>
            </a:r>
            <a:endParaRPr lang="en-US" sz="1300" dirty="0"/>
          </a:p>
          <a:p>
            <a:pPr marL="0" indent="0">
              <a:lnSpc>
                <a:spcPct val="102000"/>
              </a:lnSpc>
              <a:spcAft>
                <a:spcPts val="300"/>
              </a:spcAft>
              <a:buNone/>
            </a:pPr>
            <a:r>
              <a:rPr lang="en-US" sz="1300" dirty="0">
                <a:solidFill>
                  <a:srgbClr val="222222"/>
                </a:solidFill>
                <a:latin typeface="Consolas" pitchFamily="34" charset="0"/>
                <a:ea typeface="Consolas" pitchFamily="34" charset="-122"/>
                <a:cs typeface="Consolas" pitchFamily="34" charset="-120"/>
              </a:rPr>
              <a:t>no rule fires above the floor -&gt; only the</a:t>
            </a:r>
            <a:endParaRPr lang="en-US" sz="1300" dirty="0"/>
          </a:p>
          <a:p>
            <a:pPr marL="0" indent="0">
              <a:lnSpc>
                <a:spcPct val="102000"/>
              </a:lnSpc>
              <a:spcAft>
                <a:spcPts val="300"/>
              </a:spcAft>
              <a:buNone/>
            </a:pPr>
            <a:r>
              <a:rPr lang="en-US" sz="1300" i="1" dirty="0">
                <a:solidFill>
                  <a:srgbClr val="222222"/>
                </a:solidFill>
                <a:latin typeface="Consolas" pitchFamily="34" charset="0"/>
                <a:ea typeface="Consolas" pitchFamily="34" charset="-122"/>
                <a:cs typeface="Consolas" pitchFamily="34" charset="-120"/>
              </a:rPr>
              <a:t>watchful baseline acts</a:t>
            </a:r>
            <a:endParaRPr lang="en-US" sz="1300" dirty="0"/>
          </a:p>
        </p:txBody>
      </p:sp>
      <p:sp>
        <p:nvSpPr>
          <p:cNvPr id="10" name="Shape 5"/>
          <p:cNvSpPr/>
          <p:nvPr/>
        </p:nvSpPr>
        <p:spPr>
          <a:xfrm>
            <a:off x="5806440" y="3291840"/>
            <a:ext cx="5897880" cy="1920240"/>
          </a:xfrm>
          <a:prstGeom prst="roundRect">
            <a:avLst>
              <a:gd name="adj" fmla="val 2381"/>
            </a:avLst>
          </a:prstGeom>
          <a:solidFill>
            <a:srgbClr val="FFFFFF"/>
          </a:solidFill>
          <a:ln w="15240">
            <a:solidFill>
              <a:srgbClr val="3E7C4F"/>
            </a:solidFill>
            <a:prstDash val="solid"/>
          </a:ln>
        </p:spPr>
        <p:txBody>
          <a:bodyPr/>
          <a:lstStyle/>
          <a:p>
            <a:endParaRPr lang="tr-TR"/>
          </a:p>
        </p:txBody>
      </p:sp>
      <p:sp>
        <p:nvSpPr>
          <p:cNvPr id="11" name="Text 6"/>
          <p:cNvSpPr/>
          <p:nvPr/>
        </p:nvSpPr>
        <p:spPr>
          <a:xfrm>
            <a:off x="5943600" y="3364992"/>
            <a:ext cx="5623560" cy="274320"/>
          </a:xfrm>
          <a:prstGeom prst="rect">
            <a:avLst/>
          </a:prstGeom>
          <a:noFill/>
          <a:ln/>
        </p:spPr>
        <p:txBody>
          <a:bodyPr wrap="square" lIns="0" tIns="0" rIns="0" bIns="0" rtlCol="0" anchor="ctr"/>
          <a:lstStyle/>
          <a:p>
            <a:pPr marL="0" indent="0">
              <a:buNone/>
            </a:pPr>
            <a:r>
              <a:rPr lang="en-US" sz="1400" b="1" dirty="0">
                <a:solidFill>
                  <a:srgbClr val="3E7C4F"/>
                </a:solidFill>
                <a:latin typeface="Calibri" pitchFamily="34" charset="0"/>
                <a:ea typeface="Calibri" pitchFamily="34" charset="-122"/>
                <a:cs typeface="Calibri" pitchFamily="34" charset="-120"/>
              </a:rPr>
              <a:t>AFTER — rule A1 is written on the cell</a:t>
            </a:r>
            <a:endParaRPr lang="en-US" sz="1400" dirty="0"/>
          </a:p>
        </p:txBody>
      </p:sp>
      <p:sp>
        <p:nvSpPr>
          <p:cNvPr id="12" name="Text 7"/>
          <p:cNvSpPr/>
          <p:nvPr/>
        </p:nvSpPr>
        <p:spPr>
          <a:xfrm>
            <a:off x="5943600" y="3675888"/>
            <a:ext cx="5623560" cy="1463040"/>
          </a:xfrm>
          <a:prstGeom prst="rect">
            <a:avLst/>
          </a:prstGeom>
          <a:noFill/>
          <a:ln/>
        </p:spPr>
        <p:txBody>
          <a:bodyPr wrap="square" lIns="0" tIns="0" rIns="0" bIns="0" rtlCol="0" anchor="t"/>
          <a:lstStyle/>
          <a:p>
            <a:pPr marL="0" indent="0">
              <a:lnSpc>
                <a:spcPct val="102000"/>
              </a:lnSpc>
              <a:spcAft>
                <a:spcPts val="300"/>
              </a:spcAft>
              <a:buNone/>
            </a:pPr>
            <a:r>
              <a:rPr lang="en-US" sz="1300" dirty="0">
                <a:solidFill>
                  <a:srgbClr val="222222"/>
                </a:solidFill>
                <a:latin typeface="Consolas" pitchFamily="34" charset="0"/>
                <a:ea typeface="Consolas" pitchFamily="34" charset="-122"/>
                <a:cs typeface="Consolas" pitchFamily="34" charset="-120"/>
              </a:rPr>
              <a:t>IF fire threat is HIGH AND</a:t>
            </a:r>
            <a:endParaRPr lang="en-US" sz="1300" dirty="0"/>
          </a:p>
          <a:p>
            <a:pPr>
              <a:lnSpc>
                <a:spcPct val="102000"/>
              </a:lnSpc>
              <a:spcAft>
                <a:spcPts val="300"/>
              </a:spcAft>
            </a:pPr>
            <a:r>
              <a:rPr lang="en-US" sz="1300" dirty="0">
                <a:solidFill>
                  <a:srgbClr val="222222"/>
                </a:solidFill>
                <a:latin typeface="Consolas" pitchFamily="34" charset="0"/>
                <a:ea typeface="Consolas" pitchFamily="34" charset="-122"/>
                <a:cs typeface="Consolas" pitchFamily="34" charset="-120"/>
              </a:rPr>
              <a:t> evacuation pressure is MEDIUM</a:t>
            </a:r>
            <a:endParaRPr lang="en-US" sz="1300" dirty="0"/>
          </a:p>
          <a:p>
            <a:pPr marL="0" indent="0">
              <a:lnSpc>
                <a:spcPct val="102000"/>
              </a:lnSpc>
              <a:spcAft>
                <a:spcPts val="300"/>
              </a:spcAft>
              <a:buNone/>
            </a:pPr>
            <a:r>
              <a:rPr lang="en-US" sz="1300" b="1" dirty="0">
                <a:solidFill>
                  <a:srgbClr val="222222"/>
                </a:solidFill>
                <a:latin typeface="Consolas" pitchFamily="34" charset="0"/>
                <a:ea typeface="Consolas" pitchFamily="34" charset="-122"/>
                <a:cs typeface="Consolas" pitchFamily="34" charset="-120"/>
              </a:rPr>
              <a:t>THEN suppression effort &lt;- activation of fire threat</a:t>
            </a:r>
            <a:endParaRPr lang="en-US" sz="1300" dirty="0"/>
          </a:p>
          <a:p>
            <a:pPr marL="0" indent="0">
              <a:lnSpc>
                <a:spcPct val="102000"/>
              </a:lnSpc>
              <a:spcAft>
                <a:spcPts val="300"/>
              </a:spcAft>
              <a:buNone/>
            </a:pPr>
            <a:r>
              <a:rPr lang="en-US" sz="1300" b="1" dirty="0">
                <a:solidFill>
                  <a:srgbClr val="222222"/>
                </a:solidFill>
                <a:latin typeface="Consolas" pitchFamily="34" charset="0"/>
                <a:ea typeface="Consolas" pitchFamily="34" charset="-122"/>
                <a:cs typeface="Consolas" pitchFamily="34" charset="-120"/>
              </a:rPr>
              <a:t> evacuation &lt;- activation of evacuation pressure</a:t>
            </a:r>
            <a:endParaRPr lang="en-US" sz="1300" dirty="0"/>
          </a:p>
        </p:txBody>
      </p:sp>
      <p:sp>
        <p:nvSpPr>
          <p:cNvPr id="13" name="Text 8"/>
          <p:cNvSpPr/>
          <p:nvPr/>
        </p:nvSpPr>
        <p:spPr>
          <a:xfrm>
            <a:off x="502920" y="5440893"/>
            <a:ext cx="11247120" cy="960120"/>
          </a:xfrm>
          <a:prstGeom prst="rect">
            <a:avLst/>
          </a:prstGeom>
          <a:noFill/>
          <a:ln/>
        </p:spPr>
        <p:txBody>
          <a:bodyPr wrap="square" lIns="0" tIns="0" rIns="0" bIns="0" rtlCol="0" anchor="t"/>
          <a:lstStyle/>
          <a:p>
            <a:pPr marL="152400" indent="-152400">
              <a:lnSpc>
                <a:spcPct val="104000"/>
              </a:lnSpc>
              <a:spcAft>
                <a:spcPts val="600"/>
              </a:spcAft>
              <a:buSzPct val="100000"/>
              <a:buChar char="•"/>
            </a:pPr>
            <a:r>
              <a:rPr lang="en-US" sz="1500">
                <a:solidFill>
                  <a:srgbClr val="222222"/>
                </a:solidFill>
                <a:latin typeface="Calibri" pitchFamily="34" charset="0"/>
                <a:ea typeface="Calibri" pitchFamily="34" charset="-122"/>
                <a:cs typeface="Calibri" pitchFamily="34" charset="-120"/>
              </a:rPr>
              <a:t>consequents are not guessed: the answering family gets the strongest concept’s activation</a:t>
            </a:r>
          </a:p>
          <a:p>
            <a:pPr marL="152400" indent="-152400">
              <a:lnSpc>
                <a:spcPct val="104000"/>
              </a:lnSpc>
              <a:spcAft>
                <a:spcPts val="600"/>
              </a:spcAft>
              <a:buSzPct val="100000"/>
              <a:buChar char="•"/>
            </a:pPr>
            <a:r>
              <a:rPr lang="en-US" sz="1500">
                <a:solidFill>
                  <a:srgbClr val="222222"/>
                </a:solidFill>
                <a:latin typeface="Calibri" pitchFamily="34" charset="0"/>
                <a:ea typeface="Calibri" pitchFamily="34" charset="-122"/>
                <a:cs typeface="Calibri" pitchFamily="34" charset="-120"/>
              </a:rPr>
              <a:t>empty slot → accepted if the forecast with it is not worse; numbers are tuned later by stage ①</a:t>
            </a:r>
            <a:endParaRPr lang="en-US" sz="1500" dirty="0"/>
          </a:p>
        </p:txBody>
      </p:sp>
      <p:sp>
        <p:nvSpPr>
          <p:cNvPr id="17" name="Axis note">
            <a:extLst>
              <a:ext uri="{FF2B5EF4-FFF2-40B4-BE49-F238E27FC236}">
                <a16:creationId xmlns:a16="http://schemas.microsoft.com/office/drawing/2014/main" id="{D8F01694-76F5-5908-F3C7-7CF61F23402E}"/>
              </a:ext>
            </a:extLst>
          </p:cNvPr>
          <p:cNvSpPr/>
          <p:nvPr/>
        </p:nvSpPr>
        <p:spPr>
          <a:xfrm>
            <a:off x="2254102" y="5001768"/>
            <a:ext cx="666307" cy="420624"/>
          </a:xfrm>
          <a:prstGeom prst="rect">
            <a:avLst/>
          </a:prstGeom>
          <a:noFill/>
          <a:ln/>
        </p:spPr>
        <p:txBody>
          <a:bodyPr wrap="square" lIns="0" tIns="0" rIns="0" bIns="0" rtlCol="0" anchor="t"/>
          <a:lstStyle/>
          <a:p>
            <a:pPr marL="0" indent="0">
              <a:buNone/>
            </a:pPr>
            <a:r>
              <a:rPr lang="en-US" sz="1100" i="1" dirty="0">
                <a:solidFill>
                  <a:srgbClr val="6E6E6E"/>
                </a:solidFill>
                <a:latin typeface="Calibri" pitchFamily="34" charset="0"/>
                <a:ea typeface="Calibri" pitchFamily="34" charset="-122"/>
                <a:cs typeface="Calibri" pitchFamily="34" charset="-120"/>
              </a:rPr>
              <a:t>fire threat</a:t>
            </a:r>
            <a:endParaRPr lang="en-US" sz="1100" dirty="0"/>
          </a:p>
        </p:txBody>
      </p:sp>
      <p:sp>
        <p:nvSpPr>
          <p:cNvPr id="19" name="Axis note">
            <a:extLst>
              <a:ext uri="{FF2B5EF4-FFF2-40B4-BE49-F238E27FC236}">
                <a16:creationId xmlns:a16="http://schemas.microsoft.com/office/drawing/2014/main" id="{A7E197D4-A236-50FB-55C0-B6E45F52957C}"/>
              </a:ext>
            </a:extLst>
          </p:cNvPr>
          <p:cNvSpPr/>
          <p:nvPr/>
        </p:nvSpPr>
        <p:spPr>
          <a:xfrm rot="16200000">
            <a:off x="241712" y="2971800"/>
            <a:ext cx="1233376" cy="420624"/>
          </a:xfrm>
          <a:prstGeom prst="rect">
            <a:avLst/>
          </a:prstGeom>
          <a:noFill/>
          <a:ln/>
        </p:spPr>
        <p:txBody>
          <a:bodyPr wrap="square" lIns="0" tIns="0" rIns="0" bIns="0" rtlCol="0" anchor="t"/>
          <a:lstStyle/>
          <a:p>
            <a:pPr marL="0" indent="0">
              <a:buNone/>
            </a:pPr>
            <a:r>
              <a:rPr lang="en-US" sz="1100" i="1" dirty="0">
                <a:solidFill>
                  <a:srgbClr val="6E6E6E"/>
                </a:solidFill>
                <a:latin typeface="Calibri" pitchFamily="34" charset="0"/>
                <a:ea typeface="Calibri" pitchFamily="34" charset="-122"/>
                <a:cs typeface="Calibri" pitchFamily="34" charset="-120"/>
              </a:rPr>
              <a:t>evacuation pressure</a:t>
            </a:r>
            <a:endParaRPr lang="en-US" sz="11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37744"/>
            <a:ext cx="100584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DSS FRAMEWORK : LAYER 4 OF 4</a:t>
            </a:r>
            <a:endParaRPr lang="en-US" sz="1300" dirty="0"/>
          </a:p>
        </p:txBody>
      </p:sp>
      <p:sp>
        <p:nvSpPr>
          <p:cNvPr id="3" name="Text 1"/>
          <p:cNvSpPr/>
          <p:nvPr/>
        </p:nvSpPr>
        <p:spPr>
          <a:xfrm>
            <a:off x="502920" y="493776"/>
            <a:ext cx="11247120" cy="621792"/>
          </a:xfrm>
          <a:prstGeom prst="rect">
            <a:avLst/>
          </a:prstGeom>
          <a:noFill/>
          <a:ln/>
        </p:spPr>
        <p:txBody>
          <a:bodyPr wrap="square" lIns="0" tIns="0" rIns="0" bIns="0" rtlCol="0" anchor="ctr"/>
          <a:lstStyle/>
          <a:p>
            <a:pPr marL="0" indent="0">
              <a:buNone/>
            </a:pPr>
            <a:r>
              <a:rPr lang="en-US" sz="2500" b="1" dirty="0">
                <a:solidFill>
                  <a:srgbClr val="000000"/>
                </a:solidFill>
                <a:latin typeface="Cambria" pitchFamily="34" charset="0"/>
                <a:ea typeface="Cambria" pitchFamily="34" charset="-122"/>
                <a:cs typeface="Cambria" pitchFamily="34" charset="-120"/>
              </a:rPr>
              <a:t>Stage ② — Mode 2 : A Narrow Term Splits an Ambiguous Reading</a:t>
            </a:r>
            <a:endParaRPr lang="en-US" sz="2500" dirty="0"/>
          </a:p>
        </p:txBody>
      </p:sp>
      <p:pic>
        <p:nvPicPr>
          <p:cNvPr id="4"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5"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p:pic>
        <p:nvPicPr>
          <p:cNvPr id="6" name="Image 2" descr="/tmp/thx/deck/figs/F47b.png"/>
          <p:cNvPicPr>
            <a:picLocks noChangeAspect="1"/>
          </p:cNvPicPr>
          <p:nvPr/>
        </p:nvPicPr>
        <p:blipFill>
          <a:blip r:embed="rId5"/>
          <a:stretch>
            <a:fillRect/>
          </a:stretch>
        </p:blipFill>
        <p:spPr>
          <a:xfrm>
            <a:off x="437606" y="1371600"/>
            <a:ext cx="4839789" cy="4023360"/>
          </a:xfrm>
          <a:prstGeom prst="rect">
            <a:avLst/>
          </a:prstGeom>
        </p:spPr>
      </p:pic>
      <p:sp>
        <p:nvSpPr>
          <p:cNvPr id="7" name="Shape 2"/>
          <p:cNvSpPr/>
          <p:nvPr/>
        </p:nvSpPr>
        <p:spPr>
          <a:xfrm>
            <a:off x="5806440" y="1371600"/>
            <a:ext cx="5897880" cy="1737360"/>
          </a:xfrm>
          <a:prstGeom prst="roundRect">
            <a:avLst>
              <a:gd name="adj" fmla="val 2632"/>
            </a:avLst>
          </a:prstGeom>
          <a:solidFill>
            <a:srgbClr val="FFFFFF"/>
          </a:solidFill>
          <a:ln w="15240">
            <a:solidFill>
              <a:srgbClr val="6E6E6E"/>
            </a:solidFill>
            <a:prstDash val="solid"/>
          </a:ln>
        </p:spPr>
        <p:txBody>
          <a:bodyPr/>
          <a:lstStyle/>
          <a:p>
            <a:endParaRPr lang="tr-TR"/>
          </a:p>
        </p:txBody>
      </p:sp>
      <p:sp>
        <p:nvSpPr>
          <p:cNvPr id="8" name="Text 3"/>
          <p:cNvSpPr/>
          <p:nvPr/>
        </p:nvSpPr>
        <p:spPr>
          <a:xfrm>
            <a:off x="5943600" y="1444752"/>
            <a:ext cx="5623560" cy="274320"/>
          </a:xfrm>
          <a:prstGeom prst="rect">
            <a:avLst/>
          </a:prstGeom>
          <a:noFill/>
          <a:ln/>
        </p:spPr>
        <p:txBody>
          <a:bodyPr wrap="square" lIns="0" tIns="0" rIns="0" bIns="0" rtlCol="0" anchor="ctr"/>
          <a:lstStyle/>
          <a:p>
            <a:pPr marL="0" indent="0">
              <a:buNone/>
            </a:pPr>
            <a:r>
              <a:rPr lang="en-US" sz="1400" b="1" dirty="0">
                <a:solidFill>
                  <a:srgbClr val="6E6E6E"/>
                </a:solidFill>
                <a:latin typeface="Calibri" pitchFamily="34" charset="0"/>
                <a:ea typeface="Calibri" pitchFamily="34" charset="-122"/>
                <a:cs typeface="Calibri" pitchFamily="34" charset="-120"/>
              </a:rPr>
              <a:t>BEFORE — the reading is ambiguous</a:t>
            </a:r>
            <a:endParaRPr lang="en-US" sz="1400" dirty="0"/>
          </a:p>
        </p:txBody>
      </p:sp>
      <p:sp>
        <p:nvSpPr>
          <p:cNvPr id="9" name="Text 4"/>
          <p:cNvSpPr/>
          <p:nvPr/>
        </p:nvSpPr>
        <p:spPr>
          <a:xfrm>
            <a:off x="5943600" y="1755648"/>
            <a:ext cx="5623560" cy="1280160"/>
          </a:xfrm>
          <a:prstGeom prst="rect">
            <a:avLst/>
          </a:prstGeom>
          <a:noFill/>
          <a:ln/>
        </p:spPr>
        <p:txBody>
          <a:bodyPr wrap="square" lIns="0" tIns="0" rIns="0" bIns="0" rtlCol="0" anchor="t"/>
          <a:lstStyle/>
          <a:p>
            <a:pPr marL="0" indent="0">
              <a:lnSpc>
                <a:spcPct val="102000"/>
              </a:lnSpc>
              <a:spcAft>
                <a:spcPts val="300"/>
              </a:spcAft>
              <a:buNone/>
            </a:pPr>
            <a:r>
              <a:rPr lang="en-US" sz="1300" dirty="0">
                <a:solidFill>
                  <a:srgbClr val="222222"/>
                </a:solidFill>
                <a:latin typeface="Consolas" pitchFamily="34" charset="0"/>
                <a:ea typeface="Consolas" pitchFamily="34" charset="-122"/>
                <a:cs typeface="Consolas" pitchFamily="34" charset="-120"/>
              </a:rPr>
              <a:t>strongest concept reads x = 0.42</a:t>
            </a:r>
            <a:endParaRPr lang="en-US" sz="1300" dirty="0"/>
          </a:p>
          <a:p>
            <a:pPr marL="0" indent="0">
              <a:lnSpc>
                <a:spcPct val="102000"/>
              </a:lnSpc>
              <a:spcAft>
                <a:spcPts val="300"/>
              </a:spcAft>
              <a:buNone/>
            </a:pPr>
            <a:r>
              <a:rPr lang="en-US" sz="1300" dirty="0">
                <a:solidFill>
                  <a:srgbClr val="222222"/>
                </a:solidFill>
                <a:latin typeface="Consolas" pitchFamily="34" charset="0"/>
                <a:ea typeface="Consolas" pitchFamily="34" charset="-122"/>
                <a:cs typeface="Consolas" pitchFamily="34" charset="-120"/>
              </a:rPr>
              <a:t>membership in L = 0.53, in M = 0.47</a:t>
            </a:r>
            <a:endParaRPr lang="en-US" sz="1300" dirty="0"/>
          </a:p>
          <a:p>
            <a:pPr marL="0" indent="0">
              <a:lnSpc>
                <a:spcPct val="102000"/>
              </a:lnSpc>
              <a:spcAft>
                <a:spcPts val="300"/>
              </a:spcAft>
              <a:buNone/>
            </a:pPr>
            <a:r>
              <a:rPr lang="en-US" sz="1300" dirty="0">
                <a:solidFill>
                  <a:srgbClr val="222222"/>
                </a:solidFill>
                <a:latin typeface="Consolas" pitchFamily="34" charset="0"/>
                <a:ea typeface="Consolas" pitchFamily="34" charset="-122"/>
                <a:cs typeface="Consolas" pitchFamily="34" charset="-120"/>
              </a:rPr>
              <a:t>neither reaches the threshold 0.62;</a:t>
            </a:r>
            <a:endParaRPr lang="en-US" sz="1300" dirty="0"/>
          </a:p>
          <a:p>
            <a:pPr marL="0" indent="0">
              <a:lnSpc>
                <a:spcPct val="102000"/>
              </a:lnSpc>
              <a:spcAft>
                <a:spcPts val="300"/>
              </a:spcAft>
              <a:buNone/>
            </a:pPr>
            <a:r>
              <a:rPr lang="en-US" sz="1300" dirty="0">
                <a:solidFill>
                  <a:srgbClr val="222222"/>
                </a:solidFill>
                <a:latin typeface="Consolas" pitchFamily="34" charset="0"/>
                <a:ea typeface="Consolas" pitchFamily="34" charset="-122"/>
                <a:cs typeface="Consolas" pitchFamily="34" charset="-120"/>
              </a:rPr>
              <a:t>two different situations share one cell, and no</a:t>
            </a:r>
            <a:endParaRPr lang="en-US" sz="1300" dirty="0"/>
          </a:p>
          <a:p>
            <a:pPr marL="0" indent="0">
              <a:lnSpc>
                <a:spcPct val="102000"/>
              </a:lnSpc>
              <a:spcAft>
                <a:spcPts val="300"/>
              </a:spcAft>
              <a:buNone/>
            </a:pPr>
            <a:r>
              <a:rPr lang="en-US" sz="1300" i="1" dirty="0">
                <a:solidFill>
                  <a:srgbClr val="222222"/>
                </a:solidFill>
                <a:latin typeface="Consolas" pitchFamily="34" charset="0"/>
                <a:ea typeface="Consolas" pitchFamily="34" charset="-122"/>
                <a:cs typeface="Consolas" pitchFamily="34" charset="-120"/>
              </a:rPr>
              <a:t>change of consequents can separate them</a:t>
            </a:r>
            <a:endParaRPr lang="en-US" sz="1300" dirty="0"/>
          </a:p>
        </p:txBody>
      </p:sp>
      <p:sp>
        <p:nvSpPr>
          <p:cNvPr id="10" name="Shape 5"/>
          <p:cNvSpPr/>
          <p:nvPr/>
        </p:nvSpPr>
        <p:spPr>
          <a:xfrm>
            <a:off x="5806440" y="3291840"/>
            <a:ext cx="5897880" cy="1920240"/>
          </a:xfrm>
          <a:prstGeom prst="roundRect">
            <a:avLst>
              <a:gd name="adj" fmla="val 2381"/>
            </a:avLst>
          </a:prstGeom>
          <a:solidFill>
            <a:srgbClr val="FFFFFF"/>
          </a:solidFill>
          <a:ln w="15240">
            <a:solidFill>
              <a:srgbClr val="3E7C4F"/>
            </a:solidFill>
            <a:prstDash val="solid"/>
          </a:ln>
        </p:spPr>
        <p:txBody>
          <a:bodyPr/>
          <a:lstStyle/>
          <a:p>
            <a:endParaRPr lang="tr-TR"/>
          </a:p>
        </p:txBody>
      </p:sp>
      <p:sp>
        <p:nvSpPr>
          <p:cNvPr id="11" name="Text 6"/>
          <p:cNvSpPr/>
          <p:nvPr/>
        </p:nvSpPr>
        <p:spPr>
          <a:xfrm>
            <a:off x="5943600" y="3364992"/>
            <a:ext cx="5623560" cy="274320"/>
          </a:xfrm>
          <a:prstGeom prst="rect">
            <a:avLst/>
          </a:prstGeom>
          <a:noFill/>
          <a:ln/>
        </p:spPr>
        <p:txBody>
          <a:bodyPr wrap="square" lIns="0" tIns="0" rIns="0" bIns="0" rtlCol="0" anchor="ctr"/>
          <a:lstStyle/>
          <a:p>
            <a:pPr marL="0" indent="0">
              <a:buNone/>
            </a:pPr>
            <a:r>
              <a:rPr lang="en-US" sz="1400" b="1" dirty="0">
                <a:solidFill>
                  <a:srgbClr val="3E7C4F"/>
                </a:solidFill>
                <a:latin typeface="Calibri" pitchFamily="34" charset="0"/>
                <a:ea typeface="Calibri" pitchFamily="34" charset="-122"/>
                <a:cs typeface="Calibri" pitchFamily="34" charset="-120"/>
              </a:rPr>
              <a:t>AFTER — term X is inserted, then a rule is written</a:t>
            </a:r>
            <a:endParaRPr lang="en-US" sz="1400" dirty="0"/>
          </a:p>
        </p:txBody>
      </p:sp>
      <p:sp>
        <p:nvSpPr>
          <p:cNvPr id="12" name="Text 7"/>
          <p:cNvSpPr/>
          <p:nvPr/>
        </p:nvSpPr>
        <p:spPr>
          <a:xfrm>
            <a:off x="5943600" y="3675888"/>
            <a:ext cx="5623560" cy="1463040"/>
          </a:xfrm>
          <a:prstGeom prst="rect">
            <a:avLst/>
          </a:prstGeom>
          <a:noFill/>
          <a:ln/>
        </p:spPr>
        <p:txBody>
          <a:bodyPr wrap="square" lIns="0" tIns="0" rIns="0" bIns="0" rtlCol="0" anchor="t"/>
          <a:lstStyle/>
          <a:p>
            <a:pPr marL="0" indent="0">
              <a:lnSpc>
                <a:spcPct val="102000"/>
              </a:lnSpc>
              <a:spcAft>
                <a:spcPts val="300"/>
              </a:spcAft>
              <a:buNone/>
            </a:pPr>
            <a:r>
              <a:rPr lang="en-US" sz="1300" dirty="0">
                <a:solidFill>
                  <a:srgbClr val="222222"/>
                </a:solidFill>
                <a:latin typeface="Consolas" pitchFamily="34" charset="0"/>
                <a:ea typeface="Consolas" pitchFamily="34" charset="-122"/>
                <a:cs typeface="Consolas" pitchFamily="34" charset="-120"/>
              </a:rPr>
              <a:t>new term X: core 0.37-0.47, support 0.30-0.54,</a:t>
            </a:r>
            <a:endParaRPr lang="en-US" sz="1300" dirty="0"/>
          </a:p>
          <a:p>
            <a:pPr marL="0" indent="0">
              <a:lnSpc>
                <a:spcPct val="102000"/>
              </a:lnSpc>
              <a:spcAft>
                <a:spcPts val="300"/>
              </a:spcAft>
              <a:buNone/>
            </a:pPr>
            <a:r>
              <a:rPr lang="en-US" sz="1300" dirty="0">
                <a:solidFill>
                  <a:srgbClr val="222222"/>
                </a:solidFill>
                <a:latin typeface="Consolas" pitchFamily="34" charset="0"/>
                <a:ea typeface="Consolas" pitchFamily="34" charset="-122"/>
                <a:cs typeface="Consolas" pitchFamily="34" charset="-120"/>
              </a:rPr>
              <a:t>centred on the reading x = 0.42</a:t>
            </a:r>
            <a:endParaRPr lang="en-US" sz="1300" dirty="0"/>
          </a:p>
          <a:p>
            <a:pPr marL="0" indent="0">
              <a:lnSpc>
                <a:spcPct val="102000"/>
              </a:lnSpc>
              <a:spcAft>
                <a:spcPts val="300"/>
              </a:spcAft>
              <a:buNone/>
            </a:pPr>
            <a:r>
              <a:rPr lang="en-US" sz="1300" dirty="0">
                <a:solidFill>
                  <a:srgbClr val="222222"/>
                </a:solidFill>
                <a:latin typeface="Consolas" pitchFamily="34" charset="0"/>
                <a:ea typeface="Consolas" pitchFamily="34" charset="-122"/>
                <a:cs typeface="Consolas" pitchFamily="34" charset="-120"/>
              </a:rPr>
              <a:t>the concept now has 6 terms; the catalogue grows</a:t>
            </a:r>
            <a:endParaRPr lang="en-US" sz="1300" dirty="0"/>
          </a:p>
          <a:p>
            <a:pPr marL="0" indent="0">
              <a:lnSpc>
                <a:spcPct val="102000"/>
              </a:lnSpc>
              <a:spcAft>
                <a:spcPts val="300"/>
              </a:spcAft>
              <a:buNone/>
            </a:pPr>
            <a:r>
              <a:rPr lang="en-US" sz="1300" b="1" dirty="0">
                <a:solidFill>
                  <a:srgbClr val="222222"/>
                </a:solidFill>
                <a:latin typeface="Consolas" pitchFamily="34" charset="0"/>
                <a:ea typeface="Consolas" pitchFamily="34" charset="-122"/>
                <a:cs typeface="Consolas" pitchFamily="34" charset="-120"/>
              </a:rPr>
              <a:t>from 3125 to 3750 combinations</a:t>
            </a:r>
            <a:endParaRPr lang="en-US" sz="1300" dirty="0"/>
          </a:p>
          <a:p>
            <a:pPr marL="0" indent="0">
              <a:lnSpc>
                <a:spcPct val="102000"/>
              </a:lnSpc>
              <a:spcAft>
                <a:spcPts val="300"/>
              </a:spcAft>
              <a:buNone/>
            </a:pPr>
            <a:r>
              <a:rPr lang="en-US" sz="1300" b="1" dirty="0">
                <a:solidFill>
                  <a:srgbClr val="222222"/>
                </a:solidFill>
                <a:latin typeface="Consolas" pitchFamily="34" charset="0"/>
                <a:ea typeface="Consolas" pitchFamily="34" charset="-122"/>
                <a:cs typeface="Consolas" pitchFamily="34" charset="-120"/>
              </a:rPr>
              <a:t>a rule is then written on the refined cell (X,...)</a:t>
            </a:r>
            <a:endParaRPr lang="en-US" sz="1300" dirty="0"/>
          </a:p>
        </p:txBody>
      </p:sp>
      <p:sp>
        <p:nvSpPr>
          <p:cNvPr id="13" name="Text 8"/>
          <p:cNvSpPr/>
          <p:nvPr/>
        </p:nvSpPr>
        <p:spPr>
          <a:xfrm>
            <a:off x="502920" y="5577840"/>
            <a:ext cx="11247120" cy="960120"/>
          </a:xfrm>
          <a:prstGeom prst="rect">
            <a:avLst/>
          </a:prstGeom>
          <a:noFill/>
          <a:ln/>
        </p:spPr>
        <p:txBody>
          <a:bodyPr wrap="square" lIns="0" tIns="0" rIns="0" bIns="0" rtlCol="0" anchor="t"/>
          <a:lstStyle/>
          <a:p>
            <a:pPr marL="152400" indent="-152400">
              <a:lnSpc>
                <a:spcPct val="104000"/>
              </a:lnSpc>
              <a:spcAft>
                <a:spcPts val="600"/>
              </a:spcAft>
              <a:buSzPct val="100000"/>
              <a:buChar char="•"/>
            </a:pPr>
            <a:r>
              <a:rPr lang="en-US" sz="1500">
                <a:solidFill>
                  <a:srgbClr val="222222"/>
                </a:solidFill>
                <a:latin typeface="Calibri" pitchFamily="34" charset="0"/>
                <a:ea typeface="Calibri" pitchFamily="34" charset="-122"/>
                <a:cs typeface="Calibri" pitchFamily="34" charset="-120"/>
              </a:rPr>
              <a:t>the new term sits outside Layer-3 aggregation — concept activations &amp; five-term algebra unchanged</a:t>
            </a:r>
            <a:endParaRPr lang="en-US" sz="1500" dirty="0"/>
          </a:p>
          <a:p>
            <a:pPr marL="152400" indent="-152400">
              <a:lnSpc>
                <a:spcPct val="104000"/>
              </a:lnSpc>
              <a:spcAft>
                <a:spcPts val="600"/>
              </a:spcAft>
              <a:buSzPct val="100000"/>
              <a:buChar char="•"/>
            </a:pPr>
            <a:r>
              <a:rPr lang="en-US" sz="1500" b="1">
                <a:solidFill>
                  <a:srgbClr val="222222"/>
                </a:solidFill>
                <a:highlight>
                  <a:srgbClr val="FFFF00"/>
                </a:highlight>
                <a:latin typeface="Calibri" pitchFamily="34" charset="0"/>
                <a:ea typeface="Calibri" pitchFamily="34" charset="-122"/>
                <a:cs typeface="Calibri" pitchFamily="34" charset="-120"/>
              </a:rPr>
              <a:t>Both modes, whole campaign: 359 trials · 40 rules · 4 term insertions · ≤ 3 trials per cycle</a:t>
            </a:r>
            <a:endParaRPr lang="en-US" sz="1500" dirty="0">
              <a:highlight>
                <a:srgbClr val="FFFF00"/>
              </a:highlight>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B547B63-0545-B30F-46A8-683A3827E671}"/>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4320" y="1170432"/>
            <a:ext cx="4453128" cy="5541264"/>
          </a:xfrm>
          <a:prstGeom prst="rect">
            <a:avLst/>
          </a:prstGeom>
          <a:noFill/>
        </p:spPr>
      </p:pic>
      <p:sp>
        <p:nvSpPr>
          <p:cNvPr id="4" name="Text 0"/>
          <p:cNvSpPr/>
          <p:nvPr/>
        </p:nvSpPr>
        <p:spPr>
          <a:xfrm>
            <a:off x="502920" y="237744"/>
            <a:ext cx="100584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DSS FRAMEWORK : LAYER 4 OF 4</a:t>
            </a:r>
            <a:endParaRPr lang="en-US" sz="1300" dirty="0"/>
          </a:p>
        </p:txBody>
      </p:sp>
      <p:sp>
        <p:nvSpPr>
          <p:cNvPr id="3" name="Text 1"/>
          <p:cNvSpPr/>
          <p:nvPr/>
        </p:nvSpPr>
        <p:spPr>
          <a:xfrm>
            <a:off x="502920" y="493776"/>
            <a:ext cx="11247120" cy="621792"/>
          </a:xfrm>
          <a:prstGeom prst="rect">
            <a:avLst/>
          </a:prstGeom>
          <a:noFill/>
          <a:ln/>
        </p:spPr>
        <p:txBody>
          <a:bodyPr wrap="square" lIns="0" tIns="0" rIns="0" bIns="0" rtlCol="0" anchor="ctr"/>
          <a:lstStyle/>
          <a:p>
            <a:pPr marL="0" indent="0">
              <a:buNone/>
            </a:pPr>
            <a:r>
              <a:rPr lang="en-US" sz="2500" b="1" dirty="0">
                <a:solidFill>
                  <a:srgbClr val="000000"/>
                </a:solidFill>
                <a:latin typeface="Cambria" pitchFamily="34" charset="0"/>
                <a:ea typeface="Cambria" pitchFamily="34" charset="-122"/>
                <a:cs typeface="Cambria" pitchFamily="34" charset="-120"/>
              </a:rPr>
              <a:t>Stage ③ : The Generative Stage, End to End</a:t>
            </a:r>
            <a:endParaRPr lang="en-US" sz="2500" dirty="0"/>
          </a:p>
        </p:txBody>
      </p:sp>
      <p:sp>
        <p:nvSpPr>
          <p:cNvPr id="8501" name="H 1 · THE TRIGGER"/>
          <p:cNvSpPr/>
          <p:nvPr/>
        </p:nvSpPr>
        <p:spPr>
          <a:xfrm>
            <a:off x="4983480" y="1225296"/>
            <a:ext cx="6766560" cy="237744"/>
          </a:xfrm>
          <a:prstGeom prst="rect">
            <a:avLst/>
          </a:prstGeom>
          <a:noFill/>
          <a:ln/>
        </p:spPr>
        <p:txBody>
          <a:bodyPr wrap="square" lIns="0" tIns="0" rIns="0" bIns="0" rtlCol="0" anchor="t"/>
          <a:lstStyle/>
          <a:p>
            <a:pPr marL="0" indent="0">
              <a:lnSpc>
                <a:spcPct val="102000"/>
              </a:lnSpc>
              <a:spcAft>
                <a:spcPts val="0"/>
              </a:spcAft>
              <a:buNone/>
            </a:pPr>
            <a:r>
              <a:rPr lang="en-US" sz="1400" b="1" i="0" dirty="0">
                <a:solidFill>
                  <a:srgbClr val="E31836"/>
                </a:solidFill>
                <a:latin typeface="Calibri" pitchFamily="34" charset="0"/>
                <a:ea typeface="Calibri" pitchFamily="34" charset="-122"/>
                <a:cs typeface="Calibri" pitchFamily="34" charset="-120"/>
              </a:rPr>
              <a:t>1 · THE TRIGGER</a:t>
            </a:r>
            <a:endParaRPr lang="en-US" sz="1400" dirty="0"/>
          </a:p>
        </p:txBody>
      </p:sp>
      <p:sp>
        <p:nvSpPr>
          <p:cNvPr id="8502" name="B 1 · THE TRIGGER"/>
          <p:cNvSpPr/>
          <p:nvPr/>
        </p:nvSpPr>
        <p:spPr>
          <a:xfrm>
            <a:off x="4983480" y="1499616"/>
            <a:ext cx="6766560" cy="960120"/>
          </a:xfrm>
          <a:prstGeom prst="rect">
            <a:avLst/>
          </a:prstGeom>
          <a:noFill/>
          <a:ln/>
        </p:spPr>
        <p:txBody>
          <a:bodyPr wrap="square" lIns="0" tIns="0" rIns="0" bIns="0" rtlCol="0" anchor="t"/>
          <a:lstStyle/>
          <a:p>
            <a:pPr marL="0" indent="0">
              <a:lnSpc>
                <a:spcPct val="102000"/>
              </a:lnSpc>
              <a:spcAft>
                <a:spcPts val="0"/>
              </a:spcAft>
              <a:buNone/>
            </a:pPr>
            <a:r>
              <a:rPr lang="en-US" sz="1400" b="0" i="0">
                <a:solidFill>
                  <a:srgbClr val="222222"/>
                </a:solidFill>
                <a:latin typeface="Calibri" pitchFamily="34" charset="0"/>
                <a:ea typeface="Calibri" pitchFamily="34" charset="-122"/>
                <a:cs typeface="Calibri" pitchFamily="34" charset="-120"/>
              </a:rPr>
              <a:t>① and ② have no repair left, cost remains → generative stage, once per cycle</a:t>
            </a:r>
            <a:endParaRPr lang="en-US" sz="1400" dirty="0"/>
          </a:p>
        </p:txBody>
      </p:sp>
      <p:sp>
        <p:nvSpPr>
          <p:cNvPr id="8503" name="H 2 · THE PROPOSER"/>
          <p:cNvSpPr/>
          <p:nvPr/>
        </p:nvSpPr>
        <p:spPr>
          <a:xfrm>
            <a:off x="4983480" y="2304288"/>
            <a:ext cx="6766560" cy="237744"/>
          </a:xfrm>
          <a:prstGeom prst="rect">
            <a:avLst/>
          </a:prstGeom>
          <a:noFill/>
          <a:ln/>
        </p:spPr>
        <p:txBody>
          <a:bodyPr wrap="square" lIns="0" tIns="0" rIns="0" bIns="0" rtlCol="0" anchor="t"/>
          <a:lstStyle/>
          <a:p>
            <a:pPr marL="0" indent="0">
              <a:lnSpc>
                <a:spcPct val="102000"/>
              </a:lnSpc>
              <a:spcAft>
                <a:spcPts val="0"/>
              </a:spcAft>
              <a:buNone/>
            </a:pPr>
            <a:r>
              <a:rPr lang="en-US" sz="1400" b="1" i="0" dirty="0">
                <a:solidFill>
                  <a:srgbClr val="E31836"/>
                </a:solidFill>
                <a:latin typeface="Calibri" pitchFamily="34" charset="0"/>
                <a:ea typeface="Calibri" pitchFamily="34" charset="-122"/>
                <a:cs typeface="Calibri" pitchFamily="34" charset="-120"/>
              </a:rPr>
              <a:t>2 · THE PROPOSER</a:t>
            </a:r>
            <a:endParaRPr lang="en-US" sz="1400" dirty="0"/>
          </a:p>
        </p:txBody>
      </p:sp>
      <p:sp>
        <p:nvSpPr>
          <p:cNvPr id="8504" name="B 2 · THE PROPOSER"/>
          <p:cNvSpPr/>
          <p:nvPr/>
        </p:nvSpPr>
        <p:spPr>
          <a:xfrm>
            <a:off x="4983480" y="2578608"/>
            <a:ext cx="6766560" cy="960120"/>
          </a:xfrm>
          <a:prstGeom prst="rect">
            <a:avLst/>
          </a:prstGeom>
          <a:noFill/>
          <a:ln/>
        </p:spPr>
        <p:txBody>
          <a:bodyPr wrap="square" lIns="0" tIns="0" rIns="0" bIns="0" rtlCol="0" anchor="t"/>
          <a:lstStyle/>
          <a:p>
            <a:pPr marL="0" indent="0">
              <a:lnSpc>
                <a:spcPct val="102000"/>
              </a:lnSpc>
              <a:spcAft>
                <a:spcPts val="0"/>
              </a:spcAft>
              <a:buNone/>
            </a:pPr>
            <a:r>
              <a:rPr lang="en-US" sz="1400" b="0" i="0">
                <a:solidFill>
                  <a:srgbClr val="222222"/>
                </a:solidFill>
                <a:latin typeface="Calibri" pitchFamily="34" charset="0"/>
                <a:ea typeface="Calibri" pitchFamily="34" charset="-122"/>
                <a:cs typeface="Calibri" pitchFamily="34" charset="-120"/>
              </a:rPr>
              <a:t>A pretrained LLM sees situation, vocabulary, past verdicts → returns exactly one candidate (rule, or rule + one new object). Weights frozen, reply has no authority.</a:t>
            </a:r>
            <a:endParaRPr lang="en-US" sz="1400" dirty="0"/>
          </a:p>
        </p:txBody>
      </p:sp>
      <p:sp>
        <p:nvSpPr>
          <p:cNvPr id="8505" name="H 3 · THE GATES"/>
          <p:cNvSpPr/>
          <p:nvPr/>
        </p:nvSpPr>
        <p:spPr>
          <a:xfrm>
            <a:off x="4983480" y="3675888"/>
            <a:ext cx="6766560" cy="237744"/>
          </a:xfrm>
          <a:prstGeom prst="rect">
            <a:avLst/>
          </a:prstGeom>
          <a:noFill/>
          <a:ln/>
        </p:spPr>
        <p:txBody>
          <a:bodyPr wrap="square" lIns="0" tIns="0" rIns="0" bIns="0" rtlCol="0" anchor="t"/>
          <a:lstStyle/>
          <a:p>
            <a:pPr marL="0" indent="0">
              <a:lnSpc>
                <a:spcPct val="102000"/>
              </a:lnSpc>
              <a:spcAft>
                <a:spcPts val="0"/>
              </a:spcAft>
              <a:buNone/>
            </a:pPr>
            <a:r>
              <a:rPr lang="en-US" sz="1400" b="1" i="0" dirty="0">
                <a:solidFill>
                  <a:srgbClr val="E31836"/>
                </a:solidFill>
                <a:latin typeface="Calibri" pitchFamily="34" charset="0"/>
                <a:ea typeface="Calibri" pitchFamily="34" charset="-122"/>
                <a:cs typeface="Calibri" pitchFamily="34" charset="-120"/>
              </a:rPr>
              <a:t>3 · THE GATES</a:t>
            </a:r>
            <a:endParaRPr lang="en-US" sz="1400" dirty="0"/>
          </a:p>
        </p:txBody>
      </p:sp>
      <p:sp>
        <p:nvSpPr>
          <p:cNvPr id="8506" name="B 3 · THE GATES"/>
          <p:cNvSpPr/>
          <p:nvPr/>
        </p:nvSpPr>
        <p:spPr>
          <a:xfrm>
            <a:off x="4983480" y="3950208"/>
            <a:ext cx="6766560" cy="960120"/>
          </a:xfrm>
          <a:prstGeom prst="rect">
            <a:avLst/>
          </a:prstGeom>
          <a:noFill/>
          <a:ln/>
        </p:spPr>
        <p:txBody>
          <a:bodyPr wrap="square" lIns="0" tIns="0" rIns="0" bIns="0" rtlCol="0" anchor="t"/>
          <a:lstStyle/>
          <a:p>
            <a:pPr marL="0" indent="0">
              <a:lnSpc>
                <a:spcPct val="102000"/>
              </a:lnSpc>
              <a:spcAft>
                <a:spcPts val="0"/>
              </a:spcAft>
              <a:buNone/>
            </a:pPr>
            <a:r>
              <a:rPr lang="en-US" sz="1400" b="0" i="0">
                <a:solidFill>
                  <a:srgbClr val="222222"/>
                </a:solidFill>
                <a:latin typeface="Calibri" pitchFamily="34" charset="0"/>
                <a:ea typeface="Calibri" pitchFamily="34" charset="-122"/>
                <a:cs typeface="Calibri" pitchFamily="34" charset="-120"/>
              </a:rPr>
              <a:t>5 algebraic checks (G1–G2d) at zero cost · 2 forecast gates (G3, G4) = the whole rollout budget · packages also face payoff gates G5, G5b</a:t>
            </a:r>
            <a:endParaRPr lang="en-US" sz="1400" dirty="0"/>
          </a:p>
        </p:txBody>
      </p:sp>
      <p:sp>
        <p:nvSpPr>
          <p:cNvPr id="8507" name="H 4 · THE VERDICT"/>
          <p:cNvSpPr/>
          <p:nvPr/>
        </p:nvSpPr>
        <p:spPr>
          <a:xfrm>
            <a:off x="4983480" y="5047488"/>
            <a:ext cx="6766560" cy="237744"/>
          </a:xfrm>
          <a:prstGeom prst="rect">
            <a:avLst/>
          </a:prstGeom>
          <a:noFill/>
          <a:ln/>
        </p:spPr>
        <p:txBody>
          <a:bodyPr wrap="square" lIns="0" tIns="0" rIns="0" bIns="0" rtlCol="0" anchor="t"/>
          <a:lstStyle/>
          <a:p>
            <a:pPr marL="0" indent="0">
              <a:lnSpc>
                <a:spcPct val="102000"/>
              </a:lnSpc>
              <a:spcAft>
                <a:spcPts val="0"/>
              </a:spcAft>
              <a:buNone/>
            </a:pPr>
            <a:r>
              <a:rPr lang="en-US" sz="1400" b="1" i="0" dirty="0">
                <a:solidFill>
                  <a:srgbClr val="E31836"/>
                </a:solidFill>
                <a:latin typeface="Calibri" pitchFamily="34" charset="0"/>
                <a:ea typeface="Calibri" pitchFamily="34" charset="-122"/>
                <a:cs typeface="Calibri" pitchFamily="34" charset="-120"/>
              </a:rPr>
              <a:t>4 · THE VERDICT</a:t>
            </a:r>
            <a:endParaRPr lang="en-US" sz="1400" dirty="0"/>
          </a:p>
        </p:txBody>
      </p:sp>
      <p:sp>
        <p:nvSpPr>
          <p:cNvPr id="8508" name="B 4 · THE VERDICT"/>
          <p:cNvSpPr/>
          <p:nvPr/>
        </p:nvSpPr>
        <p:spPr>
          <a:xfrm>
            <a:off x="4983480" y="5321808"/>
            <a:ext cx="6766560" cy="960120"/>
          </a:xfrm>
          <a:prstGeom prst="rect">
            <a:avLst/>
          </a:prstGeom>
          <a:noFill/>
          <a:ln/>
        </p:spPr>
        <p:txBody>
          <a:bodyPr wrap="square" lIns="0" tIns="0" rIns="0" bIns="0" rtlCol="0" anchor="t"/>
          <a:lstStyle/>
          <a:p>
            <a:pPr marL="0" indent="0">
              <a:lnSpc>
                <a:spcPct val="102000"/>
              </a:lnSpc>
              <a:spcAft>
                <a:spcPts val="0"/>
              </a:spcAft>
              <a:buNone/>
            </a:pPr>
            <a:r>
              <a:rPr lang="en-US" sz="1400" b="0" i="0">
                <a:solidFill>
                  <a:srgbClr val="222222"/>
                </a:solidFill>
                <a:latin typeface="Calibri" pitchFamily="34" charset="0"/>
                <a:ea typeface="Calibri" pitchFamily="34" charset="-122"/>
                <a:cs typeface="Calibri" pitchFamily="34" charset="-120"/>
              </a:rPr>
              <a:t>Admitted → doctrine with provenance · Rejected → failing gate named · both go to the chronicle and the next prompt</a:t>
            </a:r>
            <a:endParaRPr lang="en-US" sz="1400" dirty="0"/>
          </a:p>
        </p:txBody>
      </p:sp>
      <p:sp>
        <p:nvSpPr>
          <p:cNvPr id="8509" name="Bottom line"/>
          <p:cNvSpPr/>
          <p:nvPr/>
        </p:nvSpPr>
        <p:spPr>
          <a:xfrm>
            <a:off x="4983480" y="6263640"/>
            <a:ext cx="6766560" cy="365760"/>
          </a:xfrm>
          <a:prstGeom prst="rect">
            <a:avLst/>
          </a:prstGeom>
          <a:noFill/>
          <a:ln/>
        </p:spPr>
        <p:txBody>
          <a:bodyPr wrap="square" lIns="0" tIns="0" rIns="0" bIns="0" rtlCol="0" anchor="t"/>
          <a:lstStyle/>
          <a:p>
            <a:pPr marL="0" indent="0">
              <a:lnSpc>
                <a:spcPct val="102000"/>
              </a:lnSpc>
              <a:spcAft>
                <a:spcPts val="0"/>
              </a:spcAft>
              <a:buNone/>
            </a:pPr>
            <a:r>
              <a:rPr lang="en-US" sz="1600" b="1" i="0">
                <a:solidFill>
                  <a:srgbClr val="E31836"/>
                </a:solidFill>
                <a:latin typeface="Calibri" pitchFamily="34" charset="0"/>
                <a:ea typeface="Calibri" pitchFamily="34" charset="-122"/>
                <a:cs typeface="Calibri" pitchFamily="34" charset="-120"/>
              </a:rPr>
              <a:t>The model proposes. The gates decide.</a:t>
            </a:r>
            <a:endParaRPr lang="en-US" sz="1600" dirty="0"/>
          </a:p>
        </p:txBody>
      </p:sp>
    </p:spTree>
    <p:extLst>
      <p:ext uri="{BB962C8B-B14F-4D97-AF65-F5344CB8AC3E}">
        <p14:creationId xmlns:p14="http://schemas.microsoft.com/office/powerpoint/2010/main" val="29726152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37744"/>
            <a:ext cx="100584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DSS FRAMEWORK : LAYER 4 OF 4</a:t>
            </a:r>
            <a:endParaRPr lang="en-US" sz="1300" dirty="0"/>
          </a:p>
        </p:txBody>
      </p:sp>
      <p:sp>
        <p:nvSpPr>
          <p:cNvPr id="3" name="Text 1"/>
          <p:cNvSpPr/>
          <p:nvPr/>
        </p:nvSpPr>
        <p:spPr>
          <a:xfrm>
            <a:off x="502920" y="493776"/>
            <a:ext cx="11247120" cy="621792"/>
          </a:xfrm>
          <a:prstGeom prst="rect">
            <a:avLst/>
          </a:prstGeom>
          <a:noFill/>
          <a:ln/>
        </p:spPr>
        <p:txBody>
          <a:bodyPr wrap="square" lIns="0" tIns="0" rIns="0" bIns="0" rtlCol="0" anchor="ctr"/>
          <a:lstStyle/>
          <a:p>
            <a:pPr marL="0" indent="0">
              <a:buNone/>
            </a:pPr>
            <a:r>
              <a:rPr lang="en-US" sz="2500" b="1" dirty="0">
                <a:solidFill>
                  <a:srgbClr val="000000"/>
                </a:solidFill>
                <a:latin typeface="Cambria" pitchFamily="34" charset="0"/>
                <a:ea typeface="Cambria" pitchFamily="34" charset="-122"/>
                <a:cs typeface="Cambria" pitchFamily="34" charset="-120"/>
              </a:rPr>
              <a:t>Stage ③ : The Prompt, Exactly What the Model Is Given</a:t>
            </a:r>
            <a:endParaRPr lang="en-US" sz="2500" dirty="0"/>
          </a:p>
        </p:txBody>
      </p:sp>
      <p:pic>
        <p:nvPicPr>
          <p:cNvPr id="4"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5"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p:sp>
        <p:nvSpPr>
          <p:cNvPr id="8502" name="Head prompt"/>
          <p:cNvSpPr/>
          <p:nvPr/>
        </p:nvSpPr>
        <p:spPr>
          <a:xfrm>
            <a:off x="7726680" y="1225296"/>
            <a:ext cx="3977640" cy="256032"/>
          </a:xfrm>
          <a:prstGeom prst="rect">
            <a:avLst/>
          </a:prstGeom>
          <a:noFill/>
          <a:ln/>
        </p:spPr>
        <p:txBody>
          <a:bodyPr wrap="square" lIns="0" tIns="0" rIns="0" bIns="0" rtlCol="0" anchor="t"/>
          <a:lstStyle/>
          <a:p>
            <a:pPr marL="0" indent="0">
              <a:lnSpc>
                <a:spcPct val="102000"/>
              </a:lnSpc>
              <a:spcAft>
                <a:spcPts val="0"/>
              </a:spcAft>
              <a:buNone/>
            </a:pPr>
            <a:r>
              <a:rPr lang="en-US" sz="1400" b="1" i="0" dirty="0">
                <a:solidFill>
                  <a:srgbClr val="E31836"/>
                </a:solidFill>
                <a:latin typeface="Calibri" pitchFamily="34" charset="0"/>
                <a:ea typeface="Calibri" pitchFamily="34" charset="-122"/>
                <a:cs typeface="Calibri" pitchFamily="34" charset="-120"/>
              </a:rPr>
              <a:t>IN THE PROMPT, EVERY CYCLE</a:t>
            </a:r>
            <a:endParaRPr lang="en-US" sz="1400" dirty="0"/>
          </a:p>
        </p:txBody>
      </p:sp>
      <p:sp>
        <p:nvSpPr>
          <p:cNvPr id="8503" name="Prompt list"/>
          <p:cNvSpPr/>
          <p:nvPr/>
        </p:nvSpPr>
        <p:spPr>
          <a:xfrm>
            <a:off x="7726680" y="1536192"/>
            <a:ext cx="3977640" cy="2651760"/>
          </a:xfrm>
          <a:prstGeom prst="rect">
            <a:avLst/>
          </a:prstGeom>
          <a:noFill/>
          <a:ln/>
        </p:spPr>
        <p:txBody>
          <a:bodyPr wrap="square" lIns="0" tIns="0" rIns="0" bIns="0" rtlCol="0" anchor="t"/>
          <a:lstStyle/>
          <a:p>
            <a:pPr marL="152400" indent="-152400">
              <a:lnSpc>
                <a:spcPct val="102000"/>
              </a:lnSpc>
              <a:spcAft>
                <a:spcPts val="300"/>
              </a:spcAft>
              <a:buSzPct val="100000"/>
              <a:buChar char="•"/>
            </a:pPr>
            <a:r>
              <a:rPr lang="en-US" sz="1400" b="0" i="0">
                <a:solidFill>
                  <a:srgbClr val="222222"/>
                </a:solidFill>
                <a:latin typeface="Calibri" pitchFamily="34" charset="0"/>
                <a:ea typeface="Calibri" pitchFamily="34" charset="-122"/>
                <a:cs typeface="Calibri" pitchFamily="34" charset="-120"/>
              </a:rPr>
              <a:t>gated activations + confidences</a:t>
            </a:r>
            <a:endParaRPr lang="en-US" sz="1400" dirty="0"/>
          </a:p>
          <a:p>
            <a:pPr marL="152400" indent="-152400">
              <a:lnSpc>
                <a:spcPct val="102000"/>
              </a:lnSpc>
              <a:spcAft>
                <a:spcPts val="300"/>
              </a:spcAft>
              <a:buSzPct val="100000"/>
              <a:buChar char="•"/>
            </a:pPr>
            <a:r>
              <a:rPr lang="en-US" sz="1400" b="0" i="0">
                <a:solidFill>
                  <a:srgbClr val="222222"/>
                </a:solidFill>
                <a:latin typeface="Calibri" pitchFamily="34" charset="0"/>
                <a:ea typeface="Calibri" pitchFamily="34" charset="-122"/>
                <a:cs typeface="Calibri" pitchFamily="34" charset="-120"/>
              </a:rPr>
              <a:t>cost trajectory &amp; where residual cost sits</a:t>
            </a:r>
            <a:endParaRPr lang="en-US" sz="1400" dirty="0"/>
          </a:p>
          <a:p>
            <a:pPr marL="152400" indent="-152400">
              <a:lnSpc>
                <a:spcPct val="102000"/>
              </a:lnSpc>
              <a:spcAft>
                <a:spcPts val="300"/>
              </a:spcAft>
              <a:buSzPct val="100000"/>
              <a:buChar char="•"/>
            </a:pPr>
            <a:r>
              <a:rPr lang="en-US" sz="1400" b="0" i="0">
                <a:solidFill>
                  <a:srgbClr val="222222"/>
                </a:solidFill>
                <a:latin typeface="Calibri" pitchFamily="34" charset="0"/>
                <a:ea typeface="Calibri" pitchFamily="34" charset="-122"/>
                <a:cs typeface="Calibri" pitchFamily="34" charset="-120"/>
              </a:rPr>
              <a:t>the complete current vocabulary</a:t>
            </a:r>
            <a:endParaRPr lang="en-US" sz="1400" dirty="0"/>
          </a:p>
          <a:p>
            <a:pPr marL="152400" indent="-152400">
              <a:lnSpc>
                <a:spcPct val="102000"/>
              </a:lnSpc>
              <a:spcAft>
                <a:spcPts val="300"/>
              </a:spcAft>
              <a:buSzPct val="100000"/>
              <a:buChar char="•"/>
            </a:pPr>
            <a:r>
              <a:rPr lang="en-US" sz="1400" b="0" i="0">
                <a:solidFill>
                  <a:srgbClr val="222222"/>
                </a:solidFill>
                <a:latin typeface="Calibri" pitchFamily="34" charset="0"/>
                <a:ea typeface="Calibri" pitchFamily="34" charset="-122"/>
                <a:cs typeface="Calibri" pitchFamily="34" charset="-120"/>
              </a:rPr>
              <a:t>actuator library + availability flags</a:t>
            </a:r>
            <a:endParaRPr lang="en-US" sz="1400" dirty="0"/>
          </a:p>
          <a:p>
            <a:pPr marL="152400" indent="-152400">
              <a:lnSpc>
                <a:spcPct val="102000"/>
              </a:lnSpc>
              <a:spcAft>
                <a:spcPts val="0"/>
              </a:spcAft>
              <a:buSzPct val="100000"/>
              <a:buChar char="•"/>
            </a:pPr>
            <a:r>
              <a:rPr lang="en-US" sz="1400" b="0" i="0">
                <a:solidFill>
                  <a:srgbClr val="222222"/>
                </a:solidFill>
                <a:latin typeface="Calibri" pitchFamily="34" charset="0"/>
                <a:ea typeface="Calibri" pitchFamily="34" charset="-122"/>
                <a:cs typeface="Calibri" pitchFamily="34" charset="-120"/>
              </a:rPr>
              <a:t>nearest past cases, with verdicts</a:t>
            </a:r>
            <a:endParaRPr lang="en-US" sz="1400" dirty="0"/>
          </a:p>
        </p:txBody>
      </p:sp>
      <p:sp>
        <p:nvSpPr>
          <p:cNvPr id="8504" name="Head reply"/>
          <p:cNvSpPr/>
          <p:nvPr/>
        </p:nvSpPr>
        <p:spPr>
          <a:xfrm>
            <a:off x="411480" y="4224528"/>
            <a:ext cx="11338560" cy="256032"/>
          </a:xfrm>
          <a:prstGeom prst="rect">
            <a:avLst/>
          </a:prstGeom>
          <a:noFill/>
          <a:ln/>
        </p:spPr>
        <p:txBody>
          <a:bodyPr wrap="square" lIns="0" tIns="0" rIns="0" bIns="0" rtlCol="0" anchor="t"/>
          <a:lstStyle/>
          <a:p>
            <a:pPr marL="0" indent="0">
              <a:lnSpc>
                <a:spcPct val="102000"/>
              </a:lnSpc>
              <a:spcAft>
                <a:spcPts val="0"/>
              </a:spcAft>
              <a:buNone/>
            </a:pPr>
            <a:r>
              <a:rPr lang="en-US" sz="1400" b="1" i="0" dirty="0">
                <a:solidFill>
                  <a:srgbClr val="E31836"/>
                </a:solidFill>
                <a:latin typeface="Calibri" pitchFamily="34" charset="0"/>
                <a:ea typeface="Calibri" pitchFamily="34" charset="-122"/>
                <a:cs typeface="Calibri" pitchFamily="34" charset="-120"/>
              </a:rPr>
              <a:t>THE REPLY, STATED MATHEMATICALLY</a:t>
            </a:r>
            <a:endParaRPr lang="en-US" sz="1400" dirty="0"/>
          </a:p>
        </p:txBody>
      </p:sp>
      <mc:AlternateContent xmlns:mc="http://schemas.openxmlformats.org/markup-compatibility/2006" xmlns:a14="http://schemas.microsoft.com/office/drawing/2010/main">
        <mc:Choice Requires="a14">
          <p:sp>
            <p:nvSpPr>
              <p:cNvPr id="8505" name="Eq propose"/>
              <p:cNvSpPr/>
              <p:nvPr/>
            </p:nvSpPr>
            <p:spPr>
              <a:xfrm>
                <a:off x="411480" y="4572000"/>
                <a:ext cx="2468880" cy="384048"/>
              </a:xfrm>
              <a:prstGeom prst="rect">
                <a:avLst/>
              </a:prstGeom>
              <a:noFill/>
              <a:ln/>
            </p:spPr>
            <p:txBody>
              <a:bodyPr wrap="square" lIns="0" tIns="0" rIns="0" bIns="0" rtlCol="0" anchor="t"/>
              <a:lstStyle/>
              <a:p>
                <a:pPr marL="0" indent="0">
                  <a:buNone/>
                </a:pPr>
                <a14:m>
                  <m:oMathPara xmlns:m="http://schemas.openxmlformats.org/officeDocument/2006/math">
                    <m:oMathParaPr>
                      <m:jc m:val="centerGroup"/>
                    </m:oMathParaPr>
                    <m:oMath xmlns:m="http://schemas.openxmlformats.org/officeDocument/2006/math">
                      <m:r>
                        <a:rPr lang="en-US" sz="1200">
                          <a:latin typeface="Cambria Math"/>
                        </a:rPr>
                        <m:t>𝑐</m:t>
                      </m:r>
                      <m:r>
                        <a:rPr lang="en-US" sz="1200">
                          <a:latin typeface="Cambria Math"/>
                        </a:rPr>
                        <m:t>∼</m:t>
                      </m:r>
                      <m:r>
                        <a:rPr lang="en-US" sz="1200">
                          <a:latin typeface="Cambria Math"/>
                        </a:rPr>
                        <m:t>𝑞</m:t>
                      </m:r>
                      <m:r>
                        <a:rPr lang="en-US" sz="1200">
                          <a:latin typeface="Cambria Math"/>
                        </a:rPr>
                        <m:t>(</m:t>
                      </m:r>
                      <m:r>
                        <a:rPr lang="en-US" sz="1200">
                          <a:latin typeface="Cambria Math"/>
                        </a:rPr>
                        <m:t>𝑐</m:t>
                      </m:r>
                      <m:r>
                        <a:rPr lang="en-US" sz="1200">
                          <a:latin typeface="Cambria Math"/>
                        </a:rPr>
                        <m:t>∣</m:t>
                      </m:r>
                      <m:sSub>
                        <m:sSubPr>
                          <m:ctrlPr>
                            <a:rPr lang="en-US" sz="1200" i="1">
                              <a:latin typeface="Cambria Math" panose="02040503050406030204" pitchFamily="18" charset="0"/>
                            </a:rPr>
                          </m:ctrlPr>
                        </m:sSubPr>
                        <m:e>
                          <m:r>
                            <a:rPr lang="en-US" sz="1200">
                              <a:latin typeface="Cambria Math"/>
                            </a:rPr>
                            <m:t>𝑠</m:t>
                          </m:r>
                        </m:e>
                        <m:sub>
                          <m:r>
                            <a:rPr lang="en-US" sz="1200">
                              <a:latin typeface="Cambria Math"/>
                            </a:rPr>
                            <m:t>𝑘</m:t>
                          </m:r>
                        </m:sub>
                      </m:sSub>
                      <m:r>
                        <a:rPr lang="en-US" sz="1200">
                          <a:latin typeface="Cambria Math"/>
                        </a:rPr>
                        <m:t>, </m:t>
                      </m:r>
                      <m:sSub>
                        <m:sSubPr>
                          <m:ctrlPr>
                            <a:rPr lang="en-US" sz="1200" i="1">
                              <a:latin typeface="Cambria Math" panose="02040503050406030204" pitchFamily="18" charset="0"/>
                            </a:rPr>
                          </m:ctrlPr>
                        </m:sSubPr>
                        <m:e>
                          <m:r>
                            <a:rPr lang="en-US" sz="1200">
                              <a:latin typeface="Cambria Math"/>
                            </a:rPr>
                            <m:t>𝑉</m:t>
                          </m:r>
                        </m:e>
                        <m:sub>
                          <m:r>
                            <a:rPr lang="en-US" sz="1200">
                              <a:latin typeface="Cambria Math"/>
                            </a:rPr>
                            <m:t>𝑘</m:t>
                          </m:r>
                        </m:sub>
                      </m:sSub>
                      <m:r>
                        <a:rPr lang="en-US" sz="1200">
                          <a:latin typeface="Cambria Math"/>
                        </a:rPr>
                        <m:t>)</m:t>
                      </m:r>
                    </m:oMath>
                  </m:oMathPara>
                </a14:m>
                <a:endParaRPr lang="en-US" sz="1400" dirty="0"/>
              </a:p>
            </p:txBody>
          </p:sp>
        </mc:Choice>
        <mc:Fallback xmlns="">
          <p:sp>
            <p:nvSpPr>
              <p:cNvPr id="8505" name="Eq propose"/>
              <p:cNvSpPr/>
              <p:nvPr/>
            </p:nvSpPr>
            <p:spPr>
              <a:xfrm>
                <a:off x="411480" y="4572000"/>
                <a:ext cx="2468880" cy="384048"/>
              </a:xfrm>
              <a:prstGeom prst="rect">
                <a:avLst/>
              </a:prstGeom>
              <a:noFill/>
              <a:ln/>
            </p:spPr>
            <p:txBody>
              <a:bodyPr wrap="square" lIns="0" tIns="0" rIns="0" bIns="0" rtlCol="0" anchor="t"/>
              <a:lstStyle/>
              <a:p>
                <a:pPr marL="0" indent="0">
                  <a:lnSpc>
                    <a:spcPct val="102000"/>
                  </a:lnSpc>
                  <a:spcAft>
                    <a:spcPts val="0"/>
                  </a:spcAft>
                  <a:buNone/>
                </a:pPr>
                <a:r>
                  <a:rPr lang="en-US" sz="1400" b="0" i="1" dirty="0">
                    <a:solidFill>
                      <a:srgbClr val="222222"/>
                    </a:solidFill>
                    <a:latin typeface="Calibri" pitchFamily="34" charset="0"/>
                    <a:ea typeface="Calibri" pitchFamily="34" charset="-122"/>
                    <a:cs typeface="Calibri" pitchFamily="34" charset="-120"/>
                  </a:rPr>
                  <a:t>c ~ q(c | s k, V k)</a:t>
                </a:r>
                <a:endParaRPr lang="en-US" sz="1400" dirty="0"/>
              </a:p>
            </p:txBody>
          </p:sp>
        </mc:Fallback>
      </mc:AlternateContent>
      <p:sp>
        <p:nvSpPr>
          <p:cNvPr id="8506" name="Eq caption"/>
          <p:cNvSpPr/>
          <p:nvPr/>
        </p:nvSpPr>
        <p:spPr>
          <a:xfrm>
            <a:off x="3108960" y="4572000"/>
            <a:ext cx="8641080" cy="548640"/>
          </a:xfrm>
          <a:prstGeom prst="rect">
            <a:avLst/>
          </a:prstGeom>
          <a:noFill/>
          <a:ln/>
        </p:spPr>
        <p:txBody>
          <a:bodyPr wrap="square" lIns="0" tIns="0" rIns="0" bIns="0" rtlCol="0" anchor="t"/>
          <a:lstStyle/>
          <a:p>
            <a:pPr marL="0" indent="0">
              <a:lnSpc>
                <a:spcPct val="102000"/>
              </a:lnSpc>
              <a:spcAft>
                <a:spcPts val="0"/>
              </a:spcAft>
              <a:buNone/>
            </a:pPr>
            <a:r>
              <a:rPr lang="en-US" sz="1300" b="0" i="0">
                <a:solidFill>
                  <a:srgbClr val="222222"/>
                </a:solidFill>
                <a:latin typeface="Calibri" pitchFamily="34" charset="0"/>
                <a:ea typeface="Calibri" pitchFamily="34" charset="-122"/>
                <a:cs typeface="Calibri" pitchFamily="34" charset="-120"/>
              </a:rPr>
              <a:t>one candidate per invocation — the model is a proposal distribution over a closed space; weights never updated</a:t>
            </a:r>
            <a:endParaRPr lang="en-US" sz="1300" dirty="0"/>
          </a:p>
        </p:txBody>
      </p:sp>
      <p:sp>
        <p:nvSpPr>
          <p:cNvPr id="8507" name="Reply text"/>
          <p:cNvSpPr/>
          <p:nvPr/>
        </p:nvSpPr>
        <p:spPr>
          <a:xfrm>
            <a:off x="411480" y="5212080"/>
            <a:ext cx="11338560" cy="1417320"/>
          </a:xfrm>
          <a:prstGeom prst="rect">
            <a:avLst/>
          </a:prstGeom>
          <a:noFill/>
          <a:ln/>
        </p:spPr>
        <p:txBody>
          <a:bodyPr wrap="square" lIns="0" tIns="0" rIns="0" bIns="0" rtlCol="0" anchor="t"/>
          <a:lstStyle/>
          <a:p>
            <a:pPr marL="0" indent="0">
              <a:lnSpc>
                <a:spcPct val="102000"/>
              </a:lnSpc>
              <a:spcAft>
                <a:spcPts val="300"/>
              </a:spcAft>
              <a:buNone/>
            </a:pPr>
            <a:r>
              <a:rPr lang="en-US" sz="1400" b="0" i="0">
                <a:solidFill>
                  <a:srgbClr val="222222"/>
                </a:solidFill>
                <a:latin typeface="Calibri" pitchFamily="34" charset="0"/>
                <a:ea typeface="Calibri" pitchFamily="34" charset="-122"/>
                <a:cs typeface="Calibri" pitchFamily="34" charset="-120"/>
              </a:rPr>
              <a:t>Reply = one JSON object: ≤ 3 antecedents, ≤ 3 consequents, optionally one new object · unknown names do not parse</a:t>
            </a:r>
            <a:endParaRPr lang="en-US" sz="1400" dirty="0"/>
          </a:p>
          <a:p>
            <a:pPr marL="0" indent="0">
              <a:lnSpc>
                <a:spcPct val="102000"/>
              </a:lnSpc>
              <a:spcAft>
                <a:spcPts val="300"/>
              </a:spcAft>
              <a:buNone/>
            </a:pPr>
            <a:r>
              <a:rPr lang="en-US" sz="1400" b="0" i="0">
                <a:solidFill>
                  <a:srgbClr val="222222"/>
                </a:solidFill>
                <a:latin typeface="Calibri" pitchFamily="34" charset="0"/>
                <a:ea typeface="Calibri" pitchFamily="34" charset="-122"/>
                <a:cs typeface="Calibri" pitchFamily="34" charset="-120"/>
              </a:rPr>
              <a:t>Fixed system instruction + standing brief · 90 s budget: slow call = skipped stage, never a stalled cycle</a:t>
            </a:r>
            <a:endParaRPr lang="en-US" sz="1400" dirty="0"/>
          </a:p>
          <a:p>
            <a:pPr marL="0" indent="0">
              <a:lnSpc>
                <a:spcPct val="102000"/>
              </a:lnSpc>
              <a:spcAft>
                <a:spcPts val="0"/>
              </a:spcAft>
              <a:buNone/>
            </a:pPr>
            <a:r>
              <a:rPr lang="en-US" sz="1400" b="1" i="0">
                <a:solidFill>
                  <a:srgbClr val="E31836"/>
                </a:solidFill>
                <a:latin typeface="Calibri" pitchFamily="34" charset="0"/>
                <a:ea typeface="Calibri" pitchFamily="34" charset="-122"/>
                <a:cs typeface="Calibri" pitchFamily="34" charset="-120"/>
              </a:rPr>
              <a:t>Prompt = deterministic engine output · reply = data to be verified · the intelligence is the gate chain</a:t>
            </a:r>
            <a:endParaRPr lang="en-US" sz="1400" dirty="0"/>
          </a:p>
        </p:txBody>
      </p:sp>
      <p:pic>
        <p:nvPicPr>
          <p:cNvPr id="7" name="Picture 6">
            <a:extLst>
              <a:ext uri="{FF2B5EF4-FFF2-40B4-BE49-F238E27FC236}">
                <a16:creationId xmlns:a16="http://schemas.microsoft.com/office/drawing/2014/main" id="{EE43DE9C-33E8-8D90-BC4A-A4593B101B69}"/>
              </a:ext>
            </a:extLst>
          </p:cNvPr>
          <p:cNvPicPr>
            <a:picLocks noChangeAspect="1"/>
          </p:cNvPicPr>
          <p:nvPr/>
        </p:nvPicPr>
        <p:blipFill>
          <a:blip r:embed="rId5" cstate="print">
            <a:extLst>
              <a:ext uri="{28A0092B-C50C-407E-A947-70E740481C1C}">
                <a14:useLocalDpi xmlns:a14="http://schemas.microsoft.com/office/drawing/2010/main" val="0"/>
              </a:ext>
            </a:extLst>
          </a:blip>
          <a:srcRect r="2678" b="66065"/>
          <a:stretch>
            <a:fillRect/>
          </a:stretch>
        </p:blipFill>
        <p:spPr bwMode="auto">
          <a:xfrm>
            <a:off x="251460" y="1101971"/>
            <a:ext cx="6985768" cy="3031118"/>
          </a:xfrm>
          <a:prstGeom prst="rect">
            <a:avLst/>
          </a:prstGeom>
          <a:noFill/>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37744"/>
            <a:ext cx="100584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DSS FRAMEWORK : LAYER 4 OF 4</a:t>
            </a:r>
            <a:endParaRPr lang="en-US" sz="1300" dirty="0"/>
          </a:p>
        </p:txBody>
      </p:sp>
      <p:sp>
        <p:nvSpPr>
          <p:cNvPr id="3" name="Text 1"/>
          <p:cNvSpPr/>
          <p:nvPr/>
        </p:nvSpPr>
        <p:spPr>
          <a:xfrm>
            <a:off x="502920" y="493776"/>
            <a:ext cx="11247120" cy="621792"/>
          </a:xfrm>
          <a:prstGeom prst="rect">
            <a:avLst/>
          </a:prstGeom>
          <a:noFill/>
          <a:ln/>
        </p:spPr>
        <p:txBody>
          <a:bodyPr wrap="square" lIns="0" tIns="0" rIns="0" bIns="0" rtlCol="0" anchor="ctr"/>
          <a:lstStyle/>
          <a:p>
            <a:pPr marL="0" indent="0">
              <a:buNone/>
            </a:pPr>
            <a:r>
              <a:rPr lang="en-US" sz="2500" b="1" dirty="0">
                <a:solidFill>
                  <a:srgbClr val="000000"/>
                </a:solidFill>
                <a:latin typeface="Cambria" pitchFamily="34" charset="0"/>
                <a:ea typeface="Cambria" pitchFamily="34" charset="-122"/>
                <a:cs typeface="Cambria" pitchFamily="34" charset="-120"/>
              </a:rPr>
              <a:t>Stage ③ as a Formal Problem : What Any Solver Would Be Given</a:t>
            </a:r>
            <a:endParaRPr lang="en-US" sz="2500" dirty="0"/>
          </a:p>
        </p:txBody>
      </p:sp>
      <p:pic>
        <p:nvPicPr>
          <p:cNvPr id="4"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5"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p:sp>
        <p:nvSpPr>
          <p:cNvPr id="8501" name="Lead"/>
          <p:cNvSpPr/>
          <p:nvPr/>
        </p:nvSpPr>
        <p:spPr>
          <a:xfrm>
            <a:off x="502920" y="1133856"/>
            <a:ext cx="11247120" cy="502920"/>
          </a:xfrm>
          <a:prstGeom prst="rect">
            <a:avLst/>
          </a:prstGeom>
          <a:noFill/>
          <a:ln/>
        </p:spPr>
        <p:txBody>
          <a:bodyPr wrap="square" lIns="0" tIns="0" rIns="0" bIns="0" rtlCol="0" anchor="t"/>
          <a:lstStyle/>
          <a:p>
            <a:pPr marL="0" indent="0">
              <a:lnSpc>
                <a:spcPct val="102000"/>
              </a:lnSpc>
              <a:spcAft>
                <a:spcPts val="0"/>
              </a:spcAft>
              <a:buNone/>
            </a:pPr>
            <a:r>
              <a:rPr lang="en-US" sz="1300" b="1" i="0">
                <a:solidFill>
                  <a:srgbClr val="222222"/>
                </a:solidFill>
                <a:latin typeface="Calibri" pitchFamily="34" charset="0"/>
                <a:ea typeface="Calibri" pitchFamily="34" charset="-122"/>
                <a:cs typeface="Calibri" pitchFamily="34" charset="-120"/>
              </a:rPr>
              <a:t>Any solver — RL, combinatorial optimization, or an LLM — needs five things stated. All five are fixed by the framework; only the candidate generator varies.</a:t>
            </a:r>
            <a:endParaRPr lang="en-US" sz="1300" dirty="0"/>
          </a:p>
        </p:txBody>
      </p:sp>
      <p:sp>
        <p:nvSpPr>
          <p:cNvPr id="8502" name="H state"/>
          <p:cNvSpPr/>
          <p:nvPr/>
        </p:nvSpPr>
        <p:spPr>
          <a:xfrm>
            <a:off x="457200" y="1755648"/>
            <a:ext cx="5486400" cy="237744"/>
          </a:xfrm>
          <a:prstGeom prst="rect">
            <a:avLst/>
          </a:prstGeom>
          <a:noFill/>
          <a:ln/>
        </p:spPr>
        <p:txBody>
          <a:bodyPr wrap="square" lIns="0" tIns="0" rIns="0" bIns="0" rtlCol="0" anchor="t"/>
          <a:lstStyle/>
          <a:p>
            <a:pPr marL="0" indent="0">
              <a:lnSpc>
                <a:spcPct val="102000"/>
              </a:lnSpc>
              <a:spcAft>
                <a:spcPts val="0"/>
              </a:spcAft>
              <a:buNone/>
            </a:pPr>
            <a:r>
              <a:rPr lang="en-US" sz="1300" b="1" i="0" dirty="0">
                <a:solidFill>
                  <a:srgbClr val="E31836"/>
                </a:solidFill>
                <a:latin typeface="Calibri" pitchFamily="34" charset="0"/>
                <a:ea typeface="Calibri" pitchFamily="34" charset="-122"/>
                <a:cs typeface="Calibri" pitchFamily="34" charset="-120"/>
              </a:rPr>
              <a:t>1 · THE STATE, WHAT THE SOLVER SEES</a:t>
            </a:r>
            <a:endParaRPr lang="en-US" sz="1300" dirty="0"/>
          </a:p>
        </p:txBody>
      </p:sp>
      <p:sp>
        <p:nvSpPr>
          <p:cNvPr id="8503" name="B state"/>
          <p:cNvSpPr/>
          <p:nvPr/>
        </p:nvSpPr>
        <p:spPr>
          <a:xfrm>
            <a:off x="457200" y="2048256"/>
            <a:ext cx="5486400" cy="1463040"/>
          </a:xfrm>
          <a:prstGeom prst="rect">
            <a:avLst/>
          </a:prstGeom>
          <a:noFill/>
          <a:ln/>
        </p:spPr>
        <p:txBody>
          <a:bodyPr wrap="square" lIns="0" tIns="0" rIns="0" bIns="0" rtlCol="0" anchor="t"/>
          <a:lstStyle/>
          <a:p>
            <a:pPr marL="152400" indent="-152400">
              <a:lnSpc>
                <a:spcPct val="102000"/>
              </a:lnSpc>
              <a:spcAft>
                <a:spcPts val="170"/>
              </a:spcAft>
              <a:buSzPct val="100000"/>
              <a:buChar char="•"/>
            </a:pPr>
            <a:r>
              <a:rPr lang="en-US" sz="1300" b="0" i="0">
                <a:solidFill>
                  <a:srgbClr val="222222"/>
                </a:solidFill>
                <a:latin typeface="Calibri" pitchFamily="34" charset="0"/>
                <a:ea typeface="Calibri" pitchFamily="34" charset="-122"/>
                <a:cs typeface="Calibri" pitchFamily="34" charset="-120"/>
              </a:rPr>
              <a:t>gated activations + confidences</a:t>
            </a:r>
            <a:endParaRPr lang="en-US" sz="1300" dirty="0"/>
          </a:p>
          <a:p>
            <a:pPr marL="152400" indent="-152400">
              <a:lnSpc>
                <a:spcPct val="102000"/>
              </a:lnSpc>
              <a:spcAft>
                <a:spcPts val="170"/>
              </a:spcAft>
              <a:buSzPct val="100000"/>
              <a:buChar char="•"/>
            </a:pPr>
            <a:r>
              <a:rPr lang="en-US" sz="1300" b="0" i="0">
                <a:solidFill>
                  <a:srgbClr val="222222"/>
                </a:solidFill>
                <a:latin typeface="Calibri" pitchFamily="34" charset="0"/>
                <a:ea typeface="Calibri" pitchFamily="34" charset="-122"/>
                <a:cs typeface="Calibri" pitchFamily="34" charset="-120"/>
              </a:rPr>
              <a:t>cost trajectory, residual cost on the map</a:t>
            </a:r>
            <a:endParaRPr lang="en-US" sz="1300" dirty="0"/>
          </a:p>
          <a:p>
            <a:pPr marL="152400" indent="-152400">
              <a:lnSpc>
                <a:spcPct val="102000"/>
              </a:lnSpc>
              <a:spcAft>
                <a:spcPts val="170"/>
              </a:spcAft>
              <a:buSzPct val="100000"/>
              <a:buChar char="•"/>
            </a:pPr>
            <a:r>
              <a:rPr lang="en-US" sz="1300" b="0" i="0">
                <a:solidFill>
                  <a:srgbClr val="222222"/>
                </a:solidFill>
                <a:latin typeface="Calibri" pitchFamily="34" charset="0"/>
                <a:ea typeface="Calibri" pitchFamily="34" charset="-122"/>
                <a:cs typeface="Calibri" pitchFamily="34" charset="-120"/>
              </a:rPr>
              <a:t>vocabulary + actuator library + availability</a:t>
            </a:r>
            <a:endParaRPr lang="en-US" sz="1300" dirty="0"/>
          </a:p>
          <a:p>
            <a:pPr marL="152400" indent="-152400">
              <a:lnSpc>
                <a:spcPct val="102000"/>
              </a:lnSpc>
              <a:spcAft>
                <a:spcPts val="170"/>
              </a:spcAft>
              <a:buSzPct val="100000"/>
              <a:buChar char="•"/>
            </a:pPr>
            <a:r>
              <a:rPr lang="en-US" sz="1300" b="0" i="0">
                <a:solidFill>
                  <a:srgbClr val="222222"/>
                </a:solidFill>
                <a:latin typeface="Calibri" pitchFamily="34" charset="0"/>
                <a:ea typeface="Calibri" pitchFamily="34" charset="-122"/>
                <a:cs typeface="Calibri" pitchFamily="34" charset="-120"/>
              </a:rPr>
              <a:t>nearest past cases with verdicts</a:t>
            </a:r>
            <a:endParaRPr lang="en-US" sz="1300" dirty="0"/>
          </a:p>
          <a:p>
            <a:pPr marL="0" indent="0">
              <a:lnSpc>
                <a:spcPct val="102000"/>
              </a:lnSpc>
              <a:spcAft>
                <a:spcPts val="0"/>
              </a:spcAft>
              <a:buNone/>
            </a:pPr>
            <a:r>
              <a:rPr lang="en-US" sz="1300" b="0" i="1">
                <a:solidFill>
                  <a:srgbClr val="6E6E6E"/>
                </a:solidFill>
                <a:latin typeface="Calibri" pitchFamily="34" charset="0"/>
                <a:ea typeface="Calibri" pitchFamily="34" charset="-122"/>
                <a:cs typeface="Calibri" pitchFamily="34" charset="-120"/>
              </a:rPr>
              <a:t>for the LLM: this state is the prompt, verbatim</a:t>
            </a:r>
            <a:endParaRPr lang="en-US" sz="1300" dirty="0"/>
          </a:p>
        </p:txBody>
      </p:sp>
      <p:sp>
        <p:nvSpPr>
          <p:cNvPr id="8504" name="H var"/>
          <p:cNvSpPr/>
          <p:nvPr/>
        </p:nvSpPr>
        <p:spPr>
          <a:xfrm>
            <a:off x="457200" y="3785616"/>
            <a:ext cx="5486400" cy="237744"/>
          </a:xfrm>
          <a:prstGeom prst="rect">
            <a:avLst/>
          </a:prstGeom>
          <a:noFill/>
          <a:ln/>
        </p:spPr>
        <p:txBody>
          <a:bodyPr wrap="square" lIns="0" tIns="0" rIns="0" bIns="0" rtlCol="0" anchor="t"/>
          <a:lstStyle/>
          <a:p>
            <a:pPr marL="0" indent="0">
              <a:lnSpc>
                <a:spcPct val="102000"/>
              </a:lnSpc>
              <a:spcAft>
                <a:spcPts val="0"/>
              </a:spcAft>
              <a:buNone/>
            </a:pPr>
            <a:r>
              <a:rPr lang="en-US" sz="1300" b="1" i="0" dirty="0">
                <a:solidFill>
                  <a:srgbClr val="E31836"/>
                </a:solidFill>
                <a:latin typeface="Calibri" pitchFamily="34" charset="0"/>
                <a:ea typeface="Calibri" pitchFamily="34" charset="-122"/>
                <a:cs typeface="Calibri" pitchFamily="34" charset="-120"/>
              </a:rPr>
              <a:t>2 · THE DECISION VARIABLE, ONE CANDIDATE</a:t>
            </a:r>
            <a:endParaRPr lang="en-US" sz="1300" dirty="0"/>
          </a:p>
        </p:txBody>
      </p:sp>
      <p:sp>
        <p:nvSpPr>
          <p:cNvPr id="8505" name="B var"/>
          <p:cNvSpPr/>
          <p:nvPr/>
        </p:nvSpPr>
        <p:spPr>
          <a:xfrm>
            <a:off x="457200" y="4078224"/>
            <a:ext cx="5486400" cy="1920240"/>
          </a:xfrm>
          <a:prstGeom prst="rect">
            <a:avLst/>
          </a:prstGeom>
          <a:noFill/>
          <a:ln/>
        </p:spPr>
        <p:txBody>
          <a:bodyPr wrap="square" lIns="0" tIns="0" rIns="0" bIns="0" rtlCol="0" anchor="t"/>
          <a:lstStyle/>
          <a:p>
            <a:pPr marL="152400" indent="-152400">
              <a:lnSpc>
                <a:spcPct val="102000"/>
              </a:lnSpc>
              <a:spcAft>
                <a:spcPts val="170"/>
              </a:spcAft>
              <a:buSzPct val="100000"/>
              <a:buChar char="•"/>
            </a:pPr>
            <a:r>
              <a:rPr lang="en-US" sz="1300" b="0" i="0">
                <a:solidFill>
                  <a:srgbClr val="222222"/>
                </a:solidFill>
                <a:latin typeface="Calibri" pitchFamily="34" charset="0"/>
                <a:ea typeface="Calibri" pitchFamily="34" charset="-122"/>
                <a:cs typeface="Calibri" pitchFamily="34" charset="-120"/>
              </a:rPr>
              <a:t>a rule: ≤ 3 antecedents (concept, term), ≤ 3 consequents (intervention, intensity)</a:t>
            </a:r>
            <a:endParaRPr lang="en-US" sz="1300" dirty="0"/>
          </a:p>
          <a:p>
            <a:pPr marL="152400" indent="-152400">
              <a:lnSpc>
                <a:spcPct val="102000"/>
              </a:lnSpc>
              <a:spcAft>
                <a:spcPts val="170"/>
              </a:spcAft>
              <a:buSzPct val="100000"/>
              <a:buChar char="•"/>
            </a:pPr>
            <a:r>
              <a:rPr lang="en-US" sz="1300" b="0" i="0">
                <a:solidFill>
                  <a:srgbClr val="222222"/>
                </a:solidFill>
                <a:latin typeface="Calibri" pitchFamily="34" charset="0"/>
                <a:ea typeface="Calibri" pitchFamily="34" charset="-122"/>
                <a:cs typeface="Calibri" pitchFamily="34" charset="-120"/>
              </a:rPr>
              <a:t>or a package: rule + exactly one new object — concept (≤ 4 inputs), macro (≤ 3 families), actuator (≤ 3 clauses)</a:t>
            </a:r>
            <a:endParaRPr lang="en-US" sz="1300" dirty="0"/>
          </a:p>
          <a:p>
            <a:pPr marL="152400" indent="-152400">
              <a:lnSpc>
                <a:spcPct val="102000"/>
              </a:lnSpc>
              <a:spcAft>
                <a:spcPts val="0"/>
              </a:spcAft>
              <a:buSzPct val="100000"/>
              <a:buChar char="•"/>
            </a:pPr>
            <a:r>
              <a:rPr lang="en-US" sz="1300" b="0" i="0">
                <a:solidFill>
                  <a:srgbClr val="222222"/>
                </a:solidFill>
                <a:latin typeface="Calibri" pitchFamily="34" charset="0"/>
                <a:ea typeface="Calibri" pitchFamily="34" charset="-122"/>
                <a:cs typeface="Calibri" pitchFamily="34" charset="-120"/>
              </a:rPr>
              <a:t>grammar closed over the vocabulary — anything else does not parse</a:t>
            </a:r>
            <a:endParaRPr lang="en-US" sz="1300" dirty="0"/>
          </a:p>
        </p:txBody>
      </p:sp>
      <p:sp>
        <p:nvSpPr>
          <p:cNvPr id="8506" name="H obj"/>
          <p:cNvSpPr/>
          <p:nvPr/>
        </p:nvSpPr>
        <p:spPr>
          <a:xfrm>
            <a:off x="6263640" y="1755648"/>
            <a:ext cx="5486400" cy="237744"/>
          </a:xfrm>
          <a:prstGeom prst="rect">
            <a:avLst/>
          </a:prstGeom>
          <a:noFill/>
          <a:ln/>
        </p:spPr>
        <p:txBody>
          <a:bodyPr wrap="square" lIns="0" tIns="0" rIns="0" bIns="0" rtlCol="0" anchor="t"/>
          <a:lstStyle/>
          <a:p>
            <a:pPr marL="0" indent="0">
              <a:lnSpc>
                <a:spcPct val="102000"/>
              </a:lnSpc>
              <a:spcAft>
                <a:spcPts val="0"/>
              </a:spcAft>
              <a:buNone/>
            </a:pPr>
            <a:r>
              <a:rPr lang="en-US" sz="1300" b="1" i="0" dirty="0">
                <a:solidFill>
                  <a:srgbClr val="E31836"/>
                </a:solidFill>
                <a:latin typeface="Calibri" pitchFamily="34" charset="0"/>
                <a:ea typeface="Calibri" pitchFamily="34" charset="-122"/>
                <a:cs typeface="Calibri" pitchFamily="34" charset="-120"/>
              </a:rPr>
              <a:t>3 · THE OBJECTIVE</a:t>
            </a:r>
            <a:endParaRPr lang="en-US" sz="1300" dirty="0"/>
          </a:p>
        </p:txBody>
      </p:sp>
      <mc:AlternateContent xmlns:mc="http://schemas.openxmlformats.org/markup-compatibility/2006" xmlns:a14="http://schemas.microsoft.com/office/drawing/2010/main">
        <mc:Choice Requires="a14">
          <p:sp>
            <p:nvSpPr>
              <p:cNvPr id="8507" name="Eq search"/>
              <p:cNvSpPr/>
              <p:nvPr/>
            </p:nvSpPr>
            <p:spPr>
              <a:xfrm>
                <a:off x="6263640" y="2029968"/>
                <a:ext cx="5486400" cy="457200"/>
              </a:xfrm>
              <a:prstGeom prst="rect">
                <a:avLst/>
              </a:prstGeom>
              <a:noFill/>
              <a:ln/>
            </p:spPr>
            <p:txBody>
              <a:bodyPr wrap="square" lIns="0" tIns="0" rIns="0" bIns="0" rtlCol="0" anchor="t"/>
              <a:lstStyle/>
              <a:p>
                <a:pPr marL="0" indent="0">
                  <a:buNone/>
                </a:pPr>
                <a14:m>
                  <m:oMathPara xmlns:m="http://schemas.openxmlformats.org/officeDocument/2006/math">
                    <m:oMathParaPr>
                      <m:jc m:val="centerGroup"/>
                    </m:oMathParaPr>
                    <m:oMath xmlns:m="http://schemas.openxmlformats.org/officeDocument/2006/math">
                      <m:sSup>
                        <m:sSupPr>
                          <m:ctrlPr>
                            <a:rPr lang="en-US" sz="1500" i="1">
                              <a:latin typeface="Cambria Math" panose="02040503050406030204" pitchFamily="18" charset="0"/>
                            </a:rPr>
                          </m:ctrlPr>
                        </m:sSupPr>
                        <m:e>
                          <m:r>
                            <a:rPr lang="en-US" sz="1500">
                              <a:latin typeface="Cambria Math"/>
                            </a:rPr>
                            <m:t>𝑐</m:t>
                          </m:r>
                        </m:e>
                        <m:sup>
                          <m:r>
                            <a:rPr lang="en-US" sz="1500">
                              <a:latin typeface="Cambria Math"/>
                            </a:rPr>
                            <m:t>⋆</m:t>
                          </m:r>
                        </m:sup>
                      </m:sSup>
                      <m:r>
                        <a:rPr lang="en-US" sz="1500">
                          <a:latin typeface="Cambria Math"/>
                        </a:rPr>
                        <m:t> = </m:t>
                      </m:r>
                      <m:limLow>
                        <m:limLowPr>
                          <m:ctrlPr>
                            <a:rPr lang="en-US" sz="1500" i="1">
                              <a:latin typeface="Cambria Math" panose="02040503050406030204" pitchFamily="18" charset="0"/>
                            </a:rPr>
                          </m:ctrlPr>
                        </m:limLowPr>
                        <m:e>
                          <m:r>
                            <a:rPr lang="en-US" sz="1500">
                              <a:latin typeface="Cambria Math"/>
                            </a:rPr>
                            <m:t>𝑎𝑟𝑔</m:t>
                          </m:r>
                          <m:r>
                            <a:rPr lang="en-US" sz="1500">
                              <a:latin typeface="Cambria Math"/>
                            </a:rPr>
                            <m:t> </m:t>
                          </m:r>
                          <m:r>
                            <a:rPr lang="en-US" sz="1500">
                              <a:latin typeface="Cambria Math"/>
                            </a:rPr>
                            <m:t>𝑚𝑖𝑛</m:t>
                          </m:r>
                        </m:e>
                        <m:lim>
                          <m:r>
                            <a:rPr lang="en-US" sz="1000">
                              <a:latin typeface="Cambria Math"/>
                            </a:rPr>
                            <m:t>𝑐</m:t>
                          </m:r>
                          <m:r>
                            <a:rPr lang="en-US" sz="1000">
                              <a:latin typeface="Cambria Math"/>
                            </a:rPr>
                            <m:t> ∈ </m:t>
                          </m:r>
                          <m:r>
                            <a:rPr lang="en-US" sz="1000">
                              <a:latin typeface="Cambria Math"/>
                            </a:rPr>
                            <m:t>𝒜</m:t>
                          </m:r>
                          <m:r>
                            <a:rPr lang="en-US" sz="1000">
                              <a:latin typeface="Cambria Math"/>
                            </a:rPr>
                            <m:t>(</m:t>
                          </m:r>
                          <m:sSub>
                            <m:sSubPr>
                              <m:ctrlPr>
                                <a:rPr lang="en-US" sz="1000" i="1">
                                  <a:latin typeface="Cambria Math" panose="02040503050406030204" pitchFamily="18" charset="0"/>
                                </a:rPr>
                              </m:ctrlPr>
                            </m:sSubPr>
                            <m:e>
                              <m:r>
                                <a:rPr lang="en-US" sz="1000">
                                  <a:latin typeface="Cambria Math"/>
                                </a:rPr>
                                <m:t>𝑉</m:t>
                              </m:r>
                            </m:e>
                            <m:sub>
                              <m:r>
                                <a:rPr lang="en-US" sz="1000">
                                  <a:latin typeface="Cambria Math"/>
                                </a:rPr>
                                <m:t>𝑘</m:t>
                              </m:r>
                            </m:sub>
                          </m:sSub>
                          <m:r>
                            <a:rPr lang="en-US" sz="1000">
                              <a:latin typeface="Cambria Math"/>
                            </a:rPr>
                            <m:t>)</m:t>
                          </m:r>
                        </m:lim>
                      </m:limLow>
                      <m:r>
                        <a:rPr lang="en-US" sz="1500">
                          <a:latin typeface="Cambria Math"/>
                        </a:rPr>
                        <m:t> </m:t>
                      </m:r>
                      <m:r>
                        <a:rPr lang="en-US" sz="1500">
                          <a:latin typeface="Cambria Math"/>
                        </a:rPr>
                        <m:t>𝛥</m:t>
                      </m:r>
                      <m:sSub>
                        <m:sSubPr>
                          <m:ctrlPr>
                            <a:rPr lang="en-US" sz="1500" i="1">
                              <a:latin typeface="Cambria Math" panose="02040503050406030204" pitchFamily="18" charset="0"/>
                            </a:rPr>
                          </m:ctrlPr>
                        </m:sSubPr>
                        <m:e>
                          <m:acc>
                            <m:accPr>
                              <m:chr m:val="̂"/>
                              <m:ctrlPr>
                                <a:rPr lang="en-US" sz="1500" i="1">
                                  <a:latin typeface="Cambria Math" panose="02040503050406030204" pitchFamily="18" charset="0"/>
                                </a:rPr>
                              </m:ctrlPr>
                            </m:accPr>
                            <m:e>
                              <m:r>
                                <a:rPr lang="en-US" sz="1500">
                                  <a:latin typeface="Cambria Math"/>
                                </a:rPr>
                                <m:t>𝐽</m:t>
                              </m:r>
                            </m:e>
                          </m:acc>
                        </m:e>
                        <m:sub>
                          <m:r>
                            <a:rPr lang="en-US" sz="1500">
                              <a:latin typeface="Cambria Math"/>
                            </a:rPr>
                            <m:t>𝑃h𝑦</m:t>
                          </m:r>
                        </m:sub>
                      </m:sSub>
                      <m:r>
                        <a:rPr lang="en-US" sz="1500">
                          <a:latin typeface="Cambria Math"/>
                        </a:rPr>
                        <m:t>(</m:t>
                      </m:r>
                      <m:r>
                        <a:rPr lang="en-US" sz="1500">
                          <a:latin typeface="Cambria Math"/>
                        </a:rPr>
                        <m:t>𝑐</m:t>
                      </m:r>
                      <m:r>
                        <a:rPr lang="en-US" sz="1500">
                          <a:latin typeface="Cambria Math"/>
                        </a:rPr>
                        <m:t>)</m:t>
                      </m:r>
                    </m:oMath>
                  </m:oMathPara>
                </a14:m>
                <a:endParaRPr lang="en-US" sz="1300" dirty="0"/>
              </a:p>
            </p:txBody>
          </p:sp>
        </mc:Choice>
        <mc:Fallback xmlns="">
          <p:sp>
            <p:nvSpPr>
              <p:cNvPr id="8507" name="Eq search"/>
              <p:cNvSpPr/>
              <p:nvPr/>
            </p:nvSpPr>
            <p:spPr>
              <a:xfrm>
                <a:off x="6263640" y="2029968"/>
                <a:ext cx="5486400" cy="457200"/>
              </a:xfrm>
              <a:prstGeom prst="rect">
                <a:avLst/>
              </a:prstGeom>
              <a:noFill/>
              <a:ln/>
            </p:spPr>
            <p:txBody>
              <a:bodyPr wrap="square" lIns="0" tIns="0" rIns="0" bIns="0" rtlCol="0" anchor="t"/>
              <a:lstStyle/>
              <a:p>
                <a:pPr marL="0" indent="0">
                  <a:lnSpc>
                    <a:spcPct val="102000"/>
                  </a:lnSpc>
                  <a:spcAft>
                    <a:spcPts val="0"/>
                  </a:spcAft>
                  <a:buNone/>
                </a:pPr>
                <a:r>
                  <a:rPr lang="en-US" sz="1300" b="0" i="1" dirty="0">
                    <a:solidFill>
                      <a:srgbClr val="222222"/>
                    </a:solidFill>
                    <a:latin typeface="Calibri" pitchFamily="34" charset="0"/>
                    <a:ea typeface="Calibri" pitchFamily="34" charset="-122"/>
                    <a:cs typeface="Calibri" pitchFamily="34" charset="-120"/>
                  </a:rPr>
                  <a:t>c* = arg min over admissible c of Delta J Phy (c)</a:t>
                </a:r>
                <a:endParaRPr lang="en-US" sz="1300" dirty="0"/>
              </a:p>
            </p:txBody>
          </p:sp>
        </mc:Fallback>
      </mc:AlternateContent>
      <p:sp>
        <p:nvSpPr>
          <p:cNvPr id="8508" name="B obj"/>
          <p:cNvSpPr/>
          <p:nvPr/>
        </p:nvSpPr>
        <p:spPr>
          <a:xfrm>
            <a:off x="6263640" y="2560320"/>
            <a:ext cx="5486400" cy="685800"/>
          </a:xfrm>
          <a:prstGeom prst="rect">
            <a:avLst/>
          </a:prstGeom>
          <a:noFill/>
          <a:ln/>
        </p:spPr>
        <p:txBody>
          <a:bodyPr wrap="square" lIns="0" tIns="0" rIns="0" bIns="0" rtlCol="0" anchor="t"/>
          <a:lstStyle/>
          <a:p>
            <a:pPr marL="152400" indent="-152400">
              <a:lnSpc>
                <a:spcPct val="102000"/>
              </a:lnSpc>
              <a:spcAft>
                <a:spcPts val="0"/>
              </a:spcAft>
              <a:buSzPct val="100000"/>
              <a:buChar char="•"/>
            </a:pPr>
            <a:r>
              <a:rPr lang="en-US" sz="1300" b="0" i="0">
                <a:solidFill>
                  <a:srgbClr val="222222"/>
                </a:solidFill>
                <a:latin typeface="Calibri" pitchFamily="34" charset="0"/>
                <a:ea typeface="Calibri" pitchFamily="34" charset="-122"/>
                <a:cs typeface="Calibri" pitchFamily="34" charset="-120"/>
              </a:rPr>
              <a:t>Δ forecast burned area + asset loss + population exposure at the trial horizon — a black box: no gradient, no closed form, only the simulator</a:t>
            </a:r>
            <a:endParaRPr lang="en-US" sz="1300" dirty="0"/>
          </a:p>
        </p:txBody>
      </p:sp>
      <p:sp>
        <p:nvSpPr>
          <p:cNvPr id="8509" name="H cons"/>
          <p:cNvSpPr/>
          <p:nvPr/>
        </p:nvSpPr>
        <p:spPr>
          <a:xfrm>
            <a:off x="6263640" y="3401568"/>
            <a:ext cx="5486400" cy="237744"/>
          </a:xfrm>
          <a:prstGeom prst="rect">
            <a:avLst/>
          </a:prstGeom>
          <a:noFill/>
          <a:ln/>
        </p:spPr>
        <p:txBody>
          <a:bodyPr wrap="square" lIns="0" tIns="0" rIns="0" bIns="0" rtlCol="0" anchor="t"/>
          <a:lstStyle/>
          <a:p>
            <a:pPr marL="0" indent="0">
              <a:lnSpc>
                <a:spcPct val="102000"/>
              </a:lnSpc>
              <a:spcAft>
                <a:spcPts val="0"/>
              </a:spcAft>
              <a:buNone/>
            </a:pPr>
            <a:r>
              <a:rPr lang="en-US" sz="1300" b="1" i="0" dirty="0">
                <a:solidFill>
                  <a:srgbClr val="E31836"/>
                </a:solidFill>
                <a:latin typeface="Calibri" pitchFamily="34" charset="0"/>
                <a:ea typeface="Calibri" pitchFamily="34" charset="-122"/>
                <a:cs typeface="Calibri" pitchFamily="34" charset="-120"/>
              </a:rPr>
              <a:t>4 · THE CONSTRAINTS, CHECKED FREE</a:t>
            </a:r>
            <a:endParaRPr lang="en-US" sz="1300" dirty="0"/>
          </a:p>
        </p:txBody>
      </p:sp>
      <p:sp>
        <p:nvSpPr>
          <p:cNvPr id="8510" name="B cons"/>
          <p:cNvSpPr/>
          <p:nvPr/>
        </p:nvSpPr>
        <p:spPr>
          <a:xfrm>
            <a:off x="6263640" y="3694176"/>
            <a:ext cx="5486400" cy="1234440"/>
          </a:xfrm>
          <a:prstGeom prst="rect">
            <a:avLst/>
          </a:prstGeom>
          <a:noFill/>
          <a:ln/>
        </p:spPr>
        <p:txBody>
          <a:bodyPr wrap="square" lIns="0" tIns="0" rIns="0" bIns="0" rtlCol="0" anchor="t"/>
          <a:lstStyle/>
          <a:p>
            <a:pPr marL="152400" indent="-152400">
              <a:lnSpc>
                <a:spcPct val="102000"/>
              </a:lnSpc>
              <a:spcAft>
                <a:spcPts val="170"/>
              </a:spcAft>
              <a:buSzPct val="100000"/>
              <a:buChar char="•"/>
            </a:pPr>
            <a:r>
              <a:rPr lang="en-US" sz="1300" b="0" i="0">
                <a:solidFill>
                  <a:srgbClr val="222222"/>
                </a:solidFill>
                <a:latin typeface="Calibri" pitchFamily="34" charset="0"/>
                <a:ea typeface="Calibri" pitchFamily="34" charset="-122"/>
                <a:cs typeface="Calibri" pitchFamily="34" charset="-120"/>
              </a:rPr>
              <a:t>format, closed vocabulary, arity, numeric ranges</a:t>
            </a:r>
            <a:endParaRPr lang="en-US" sz="1300" dirty="0"/>
          </a:p>
          <a:p>
            <a:pPr marL="152400" indent="-152400">
              <a:lnSpc>
                <a:spcPct val="102000"/>
              </a:lnSpc>
              <a:spcAft>
                <a:spcPts val="170"/>
              </a:spcAft>
              <a:buSzPct val="100000"/>
              <a:buChar char="•"/>
            </a:pPr>
            <a:r>
              <a:rPr lang="en-US" sz="1300" b="0" i="0">
                <a:solidFill>
                  <a:srgbClr val="222222"/>
                </a:solidFill>
                <a:latin typeface="Calibri" pitchFamily="34" charset="0"/>
                <a:ea typeface="Calibri" pitchFamily="34" charset="-122"/>
                <a:cs typeface="Calibri" pitchFamily="34" charset="-120"/>
              </a:rPr>
              <a:t>relevance: every antecedent fires now</a:t>
            </a:r>
            <a:endParaRPr lang="en-US" sz="1300" dirty="0"/>
          </a:p>
          <a:p>
            <a:pPr marL="152400" indent="-152400">
              <a:lnSpc>
                <a:spcPct val="102000"/>
              </a:lnSpc>
              <a:spcAft>
                <a:spcPts val="170"/>
              </a:spcAft>
              <a:buSzPct val="100000"/>
              <a:buChar char="•"/>
            </a:pPr>
            <a:r>
              <a:rPr lang="en-US" sz="1300" b="0" i="0">
                <a:solidFill>
                  <a:srgbClr val="222222"/>
                </a:solidFill>
                <a:latin typeface="Calibri" pitchFamily="34" charset="0"/>
                <a:ea typeface="Calibri" pitchFamily="34" charset="-122"/>
                <a:cs typeface="Calibri" pitchFamily="34" charset="-120"/>
              </a:rPr>
              <a:t>economy: ordered work fits the budget</a:t>
            </a:r>
            <a:endParaRPr lang="en-US" sz="1300" dirty="0"/>
          </a:p>
          <a:p>
            <a:pPr marL="152400" indent="-152400">
              <a:lnSpc>
                <a:spcPct val="102000"/>
              </a:lnSpc>
              <a:spcAft>
                <a:spcPts val="0"/>
              </a:spcAft>
              <a:buSzPct val="100000"/>
              <a:buChar char="•"/>
            </a:pPr>
            <a:r>
              <a:rPr lang="en-US" sz="1300" b="0" i="0">
                <a:solidFill>
                  <a:srgbClr val="222222"/>
                </a:solidFill>
                <a:latin typeface="Calibri" pitchFamily="34" charset="0"/>
                <a:ea typeface="Calibri" pitchFamily="34" charset="-122"/>
                <a:cs typeface="Calibri" pitchFamily="34" charset="-120"/>
              </a:rPr>
              <a:t>novelty: new concept clears the cosine test</a:t>
            </a:r>
            <a:endParaRPr lang="en-US" sz="1300" dirty="0"/>
          </a:p>
        </p:txBody>
      </p:sp>
      <p:sp>
        <p:nvSpPr>
          <p:cNvPr id="8511" name="H oracle"/>
          <p:cNvSpPr/>
          <p:nvPr/>
        </p:nvSpPr>
        <p:spPr>
          <a:xfrm>
            <a:off x="6263640" y="5138928"/>
            <a:ext cx="5486400" cy="237744"/>
          </a:xfrm>
          <a:prstGeom prst="rect">
            <a:avLst/>
          </a:prstGeom>
          <a:noFill/>
          <a:ln/>
        </p:spPr>
        <p:txBody>
          <a:bodyPr wrap="square" lIns="0" tIns="0" rIns="0" bIns="0" rtlCol="0" anchor="t"/>
          <a:lstStyle/>
          <a:p>
            <a:pPr marL="0" indent="0">
              <a:lnSpc>
                <a:spcPct val="102000"/>
              </a:lnSpc>
              <a:spcAft>
                <a:spcPts val="0"/>
              </a:spcAft>
              <a:buNone/>
            </a:pPr>
            <a:r>
              <a:rPr lang="en-US" sz="1300" b="1" i="0" dirty="0">
                <a:solidFill>
                  <a:srgbClr val="E31836"/>
                </a:solidFill>
                <a:latin typeface="Calibri" pitchFamily="34" charset="0"/>
                <a:ea typeface="Calibri" pitchFamily="34" charset="-122"/>
                <a:cs typeface="Calibri" pitchFamily="34" charset="-120"/>
              </a:rPr>
              <a:t>5 · THE ORACLE AND THE BUDGET</a:t>
            </a:r>
            <a:endParaRPr lang="en-US" sz="1300" dirty="0"/>
          </a:p>
        </p:txBody>
      </p:sp>
      <p:sp>
        <p:nvSpPr>
          <p:cNvPr id="8512" name="B oracle"/>
          <p:cNvSpPr/>
          <p:nvPr/>
        </p:nvSpPr>
        <p:spPr>
          <a:xfrm>
            <a:off x="6263640" y="5431536"/>
            <a:ext cx="5486400" cy="731520"/>
          </a:xfrm>
          <a:prstGeom prst="rect">
            <a:avLst/>
          </a:prstGeom>
          <a:noFill/>
          <a:ln/>
        </p:spPr>
        <p:txBody>
          <a:bodyPr wrap="square" lIns="0" tIns="0" rIns="0" bIns="0" rtlCol="0" anchor="t"/>
          <a:lstStyle/>
          <a:p>
            <a:pPr marL="152400" indent="-152400">
              <a:lnSpc>
                <a:spcPct val="102000"/>
              </a:lnSpc>
              <a:spcAft>
                <a:spcPts val="170"/>
              </a:spcAft>
              <a:buSzPct val="100000"/>
              <a:buChar char="•"/>
            </a:pPr>
            <a:r>
              <a:rPr lang="en-US" sz="1300" b="0" i="0">
                <a:solidFill>
                  <a:srgbClr val="222222"/>
                </a:solidFill>
                <a:latin typeface="Calibri" pitchFamily="34" charset="0"/>
                <a:ea typeface="Calibri" pitchFamily="34" charset="-122"/>
                <a:cs typeface="Calibri" pitchFamily="34" charset="-120"/>
              </a:rPr>
              <a:t>the only evaluator: one reseeded rollout of the simulation core</a:t>
            </a:r>
            <a:endParaRPr lang="en-US" sz="1300" dirty="0"/>
          </a:p>
          <a:p>
            <a:pPr marL="152400" indent="-152400">
              <a:lnSpc>
                <a:spcPct val="102000"/>
              </a:lnSpc>
              <a:spcAft>
                <a:spcPts val="0"/>
              </a:spcAft>
              <a:buSzPct val="100000"/>
              <a:buChar char="•"/>
            </a:pPr>
            <a:r>
              <a:rPr lang="en-US" sz="1300" b="0" i="0">
                <a:solidFill>
                  <a:srgbClr val="222222"/>
                </a:solidFill>
                <a:latin typeface="Calibri" pitchFamily="34" charset="0"/>
                <a:ea typeface="Calibri" pitchFamily="34" charset="-122"/>
                <a:cs typeface="Calibri" pitchFamily="34" charset="-120"/>
              </a:rPr>
              <a:t>two rollouts per cycle · 90 s wall clock</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37744"/>
            <a:ext cx="100584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DSS FRAMEWORK : LAYER 4 OF 4</a:t>
            </a:r>
            <a:endParaRPr lang="en-US" sz="1300" dirty="0"/>
          </a:p>
        </p:txBody>
      </p:sp>
      <p:sp>
        <p:nvSpPr>
          <p:cNvPr id="3" name="Text 1"/>
          <p:cNvSpPr/>
          <p:nvPr/>
        </p:nvSpPr>
        <p:spPr>
          <a:xfrm>
            <a:off x="502920" y="493776"/>
            <a:ext cx="11247120" cy="621792"/>
          </a:xfrm>
          <a:prstGeom prst="rect">
            <a:avLst/>
          </a:prstGeom>
          <a:noFill/>
          <a:ln/>
        </p:spPr>
        <p:txBody>
          <a:bodyPr wrap="square" lIns="0" tIns="0" rIns="0" bIns="0" rtlCol="0" anchor="ctr"/>
          <a:lstStyle/>
          <a:p>
            <a:pPr marL="0" indent="0">
              <a:buNone/>
            </a:pPr>
            <a:r>
              <a:rPr lang="en-US" sz="2500" b="1" dirty="0">
                <a:solidFill>
                  <a:srgbClr val="000000"/>
                </a:solidFill>
                <a:latin typeface="Cambria" pitchFamily="34" charset="0"/>
                <a:ea typeface="Cambria" pitchFamily="34" charset="-122"/>
                <a:cs typeface="Cambria" pitchFamily="34" charset="-120"/>
              </a:rPr>
              <a:t>Stage ③ : The Mathematics of Admission</a:t>
            </a:r>
            <a:endParaRPr lang="en-US" sz="2500" dirty="0"/>
          </a:p>
        </p:txBody>
      </p:sp>
      <p:pic>
        <p:nvPicPr>
          <p:cNvPr id="4"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5"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p:pic>
        <p:nvPicPr>
          <p:cNvPr id="7" name="Picture 6">
            <a:extLst>
              <a:ext uri="{FF2B5EF4-FFF2-40B4-BE49-F238E27FC236}">
                <a16:creationId xmlns:a16="http://schemas.microsoft.com/office/drawing/2014/main" id="{F273D248-3BA0-2110-38B0-A00EFBC596F3}"/>
              </a:ext>
            </a:extLst>
          </p:cNvPr>
          <p:cNvPicPr>
            <a:picLocks noChangeAspect="1"/>
          </p:cNvPicPr>
          <p:nvPr/>
        </p:nvPicPr>
        <p:blipFill>
          <a:blip r:embed="rId5" cstate="print">
            <a:extLst>
              <a:ext uri="{28A0092B-C50C-407E-A947-70E740481C1C}">
                <a14:useLocalDpi xmlns:a14="http://schemas.microsoft.com/office/drawing/2010/main" val="0"/>
              </a:ext>
            </a:extLst>
          </a:blip>
          <a:srcRect t="33883"/>
          <a:stretch>
            <a:fillRect/>
          </a:stretch>
        </p:blipFill>
        <p:spPr bwMode="auto">
          <a:xfrm>
            <a:off x="104199" y="1265770"/>
            <a:ext cx="6370732" cy="5241355"/>
          </a:xfrm>
          <a:prstGeom prst="rect">
            <a:avLst/>
          </a:prstGeom>
          <a:noFill/>
        </p:spPr>
      </p:pic>
      <p:sp>
        <p:nvSpPr>
          <p:cNvPr id="9" name="H obj">
            <a:extLst>
              <a:ext uri="{FF2B5EF4-FFF2-40B4-BE49-F238E27FC236}">
                <a16:creationId xmlns:a16="http://schemas.microsoft.com/office/drawing/2014/main" id="{96862641-1690-6CD1-9C49-57B1ABF23E1D}"/>
              </a:ext>
            </a:extLst>
          </p:cNvPr>
          <p:cNvSpPr/>
          <p:nvPr/>
        </p:nvSpPr>
        <p:spPr>
          <a:xfrm>
            <a:off x="6689009" y="1115568"/>
            <a:ext cx="5285232" cy="237744"/>
          </a:xfrm>
          <a:prstGeom prst="rect">
            <a:avLst/>
          </a:prstGeom>
          <a:noFill/>
          <a:ln/>
        </p:spPr>
        <p:txBody>
          <a:bodyPr wrap="square" lIns="0" tIns="0" rIns="0" bIns="0" rtlCol="0" anchor="t"/>
          <a:lstStyle/>
          <a:p>
            <a:pPr marL="0" indent="0">
              <a:lnSpc>
                <a:spcPct val="102000"/>
              </a:lnSpc>
              <a:spcAft>
                <a:spcPts val="0"/>
              </a:spcAft>
              <a:buNone/>
            </a:pPr>
            <a:r>
              <a:rPr lang="en-US" sz="1400" b="1" i="0" dirty="0">
                <a:solidFill>
                  <a:srgbClr val="E31836"/>
                </a:solidFill>
                <a:latin typeface="Calibri" pitchFamily="34" charset="0"/>
                <a:ea typeface="Calibri" pitchFamily="34" charset="-122"/>
                <a:cs typeface="Calibri" pitchFamily="34" charset="-120"/>
              </a:rPr>
              <a:t>THE OBJECTIVE, PRECISELY</a:t>
            </a:r>
            <a:endParaRPr lang="en-US" sz="1400" dirty="0"/>
          </a:p>
        </p:txBody>
      </p:sp>
      <mc:AlternateContent xmlns:mc="http://schemas.openxmlformats.org/markup-compatibility/2006" xmlns:a14="http://schemas.microsoft.com/office/drawing/2010/main">
        <mc:Choice Requires="a14">
          <p:sp>
            <p:nvSpPr>
              <p:cNvPr id="11" name="Eq search">
                <a:extLst>
                  <a:ext uri="{FF2B5EF4-FFF2-40B4-BE49-F238E27FC236}">
                    <a16:creationId xmlns:a16="http://schemas.microsoft.com/office/drawing/2014/main" id="{08324508-BD41-FB0C-5AA0-F8B899513431}"/>
                  </a:ext>
                </a:extLst>
              </p:cNvPr>
              <p:cNvSpPr/>
              <p:nvPr/>
            </p:nvSpPr>
            <p:spPr>
              <a:xfrm>
                <a:off x="6689009" y="1389888"/>
                <a:ext cx="5285232" cy="457200"/>
              </a:xfrm>
              <a:prstGeom prst="rect">
                <a:avLst/>
              </a:prstGeom>
              <a:noFill/>
              <a:ln/>
            </p:spPr>
            <p:txBody>
              <a:bodyPr wrap="square" lIns="0" tIns="0" rIns="0" bIns="0" rtlCol="0" anchor="t"/>
              <a:lstStyle/>
              <a:p>
                <a:pPr marL="0" indent="0">
                  <a:buNone/>
                </a:pPr>
                <a14:m>
                  <m:oMathPara xmlns:m="http://schemas.openxmlformats.org/officeDocument/2006/math">
                    <m:oMathParaPr>
                      <m:jc m:val="centerGroup"/>
                    </m:oMathParaPr>
                    <m:oMath xmlns:m="http://schemas.openxmlformats.org/officeDocument/2006/math">
                      <m:sSup>
                        <m:sSupPr>
                          <m:ctrlPr>
                            <a:rPr lang="en-US" sz="1500" i="1">
                              <a:latin typeface="Cambria Math" panose="02040503050406030204" pitchFamily="18" charset="0"/>
                            </a:rPr>
                          </m:ctrlPr>
                        </m:sSupPr>
                        <m:e>
                          <m:r>
                            <a:rPr lang="en-US" sz="1500">
                              <a:latin typeface="Cambria Math"/>
                            </a:rPr>
                            <m:t>𝑐</m:t>
                          </m:r>
                        </m:e>
                        <m:sup>
                          <m:r>
                            <a:rPr lang="en-US" sz="1500">
                              <a:latin typeface="Cambria Math"/>
                            </a:rPr>
                            <m:t>⋆</m:t>
                          </m:r>
                        </m:sup>
                      </m:sSup>
                      <m:r>
                        <a:rPr lang="en-US" sz="1500">
                          <a:latin typeface="Cambria Math"/>
                        </a:rPr>
                        <m:t> = </m:t>
                      </m:r>
                      <m:limLow>
                        <m:limLowPr>
                          <m:ctrlPr>
                            <a:rPr lang="en-US" sz="1500" i="1">
                              <a:latin typeface="Cambria Math" panose="02040503050406030204" pitchFamily="18" charset="0"/>
                            </a:rPr>
                          </m:ctrlPr>
                        </m:limLowPr>
                        <m:e>
                          <m:r>
                            <a:rPr lang="en-US" sz="1500">
                              <a:latin typeface="Cambria Math"/>
                            </a:rPr>
                            <m:t>𝑎𝑟𝑔</m:t>
                          </m:r>
                          <m:r>
                            <a:rPr lang="en-US" sz="1500">
                              <a:latin typeface="Cambria Math"/>
                            </a:rPr>
                            <m:t> </m:t>
                          </m:r>
                          <m:r>
                            <a:rPr lang="en-US" sz="1500">
                              <a:latin typeface="Cambria Math"/>
                            </a:rPr>
                            <m:t>𝑚𝑖𝑛</m:t>
                          </m:r>
                        </m:e>
                        <m:lim>
                          <m:r>
                            <a:rPr lang="en-US" sz="1000">
                              <a:latin typeface="Cambria Math"/>
                            </a:rPr>
                            <m:t>𝑐</m:t>
                          </m:r>
                          <m:r>
                            <a:rPr lang="en-US" sz="1000">
                              <a:latin typeface="Cambria Math"/>
                            </a:rPr>
                            <m:t> ∈ </m:t>
                          </m:r>
                          <m:r>
                            <a:rPr lang="en-US" sz="1000">
                              <a:latin typeface="Cambria Math"/>
                            </a:rPr>
                            <m:t>𝒜</m:t>
                          </m:r>
                          <m:r>
                            <a:rPr lang="en-US" sz="1000">
                              <a:latin typeface="Cambria Math"/>
                            </a:rPr>
                            <m:t>(</m:t>
                          </m:r>
                          <m:sSub>
                            <m:sSubPr>
                              <m:ctrlPr>
                                <a:rPr lang="en-US" sz="1000" i="1">
                                  <a:latin typeface="Cambria Math" panose="02040503050406030204" pitchFamily="18" charset="0"/>
                                </a:rPr>
                              </m:ctrlPr>
                            </m:sSubPr>
                            <m:e>
                              <m:r>
                                <a:rPr lang="en-US" sz="1000">
                                  <a:latin typeface="Cambria Math"/>
                                </a:rPr>
                                <m:t>𝑉</m:t>
                              </m:r>
                            </m:e>
                            <m:sub>
                              <m:r>
                                <a:rPr lang="en-US" sz="1000">
                                  <a:latin typeface="Cambria Math"/>
                                </a:rPr>
                                <m:t>𝑘</m:t>
                              </m:r>
                            </m:sub>
                          </m:sSub>
                          <m:r>
                            <a:rPr lang="en-US" sz="1000">
                              <a:latin typeface="Cambria Math"/>
                            </a:rPr>
                            <m:t>)</m:t>
                          </m:r>
                        </m:lim>
                      </m:limLow>
                      <m:r>
                        <a:rPr lang="en-US" sz="1500">
                          <a:latin typeface="Cambria Math"/>
                        </a:rPr>
                        <m:t> </m:t>
                      </m:r>
                      <m:r>
                        <a:rPr lang="en-US" sz="1500">
                          <a:latin typeface="Cambria Math"/>
                        </a:rPr>
                        <m:t>𝛥</m:t>
                      </m:r>
                      <m:sSub>
                        <m:sSubPr>
                          <m:ctrlPr>
                            <a:rPr lang="en-US" sz="1500" i="1">
                              <a:latin typeface="Cambria Math" panose="02040503050406030204" pitchFamily="18" charset="0"/>
                            </a:rPr>
                          </m:ctrlPr>
                        </m:sSubPr>
                        <m:e>
                          <m:acc>
                            <m:accPr>
                              <m:chr m:val="̂"/>
                              <m:ctrlPr>
                                <a:rPr lang="en-US" sz="1500" i="1">
                                  <a:latin typeface="Cambria Math" panose="02040503050406030204" pitchFamily="18" charset="0"/>
                                </a:rPr>
                              </m:ctrlPr>
                            </m:accPr>
                            <m:e>
                              <m:r>
                                <a:rPr lang="en-US" sz="1500">
                                  <a:latin typeface="Cambria Math"/>
                                </a:rPr>
                                <m:t>𝐽</m:t>
                              </m:r>
                            </m:e>
                          </m:acc>
                        </m:e>
                        <m:sub>
                          <m:r>
                            <a:rPr lang="en-US" sz="1500">
                              <a:latin typeface="Cambria Math"/>
                            </a:rPr>
                            <m:t>𝑃h𝑦</m:t>
                          </m:r>
                        </m:sub>
                      </m:sSub>
                      <m:r>
                        <a:rPr lang="en-US" sz="1500">
                          <a:latin typeface="Cambria Math"/>
                        </a:rPr>
                        <m:t>(</m:t>
                      </m:r>
                      <m:r>
                        <a:rPr lang="en-US" sz="1500">
                          <a:latin typeface="Cambria Math"/>
                        </a:rPr>
                        <m:t>𝑐</m:t>
                      </m:r>
                      <m:r>
                        <a:rPr lang="en-US" sz="1500">
                          <a:latin typeface="Cambria Math"/>
                        </a:rPr>
                        <m:t>)</m:t>
                      </m:r>
                    </m:oMath>
                  </m:oMathPara>
                </a14:m>
                <a:endParaRPr lang="en-US" sz="1300" dirty="0"/>
              </a:p>
            </p:txBody>
          </p:sp>
        </mc:Choice>
        <mc:Fallback xmlns="">
          <p:sp>
            <p:nvSpPr>
              <p:cNvPr id="11" name="Eq search">
                <a:extLst>
                  <a:ext uri="{FF2B5EF4-FFF2-40B4-BE49-F238E27FC236}">
                    <a16:creationId xmlns:a16="http://schemas.microsoft.com/office/drawing/2014/main" id="{08324508-BD41-FB0C-5AA0-F8B899513431}"/>
                  </a:ext>
                </a:extLst>
              </p:cNvPr>
              <p:cNvSpPr>
                <a:spLocks noRot="1" noChangeAspect="1" noMove="1" noResize="1" noEditPoints="1" noAdjustHandles="1" noChangeArrowheads="1" noChangeShapeType="1" noTextEdit="1"/>
              </p:cNvSpPr>
              <p:nvPr/>
            </p:nvSpPr>
            <p:spPr>
              <a:xfrm>
                <a:off x="6689009" y="1389888"/>
                <a:ext cx="5285232" cy="457200"/>
              </a:xfrm>
              <a:prstGeom prst="rect">
                <a:avLst/>
              </a:prstGeom>
              <a:blipFill>
                <a:blip r:embed="rId6"/>
                <a:stretch>
                  <a:fillRect t="-9333"/>
                </a:stretch>
              </a:blipFill>
              <a:ln/>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3" name="B obj">
                <a:extLst>
                  <a:ext uri="{FF2B5EF4-FFF2-40B4-BE49-F238E27FC236}">
                    <a16:creationId xmlns:a16="http://schemas.microsoft.com/office/drawing/2014/main" id="{FDAF3BC7-4ED9-42BD-9F1A-4BBCB211B6AB}"/>
                  </a:ext>
                </a:extLst>
              </p:cNvPr>
              <p:cNvSpPr/>
              <p:nvPr/>
            </p:nvSpPr>
            <p:spPr>
              <a:xfrm>
                <a:off x="6689009" y="1920240"/>
                <a:ext cx="5285232" cy="1188720"/>
              </a:xfrm>
              <a:prstGeom prst="rect">
                <a:avLst/>
              </a:prstGeom>
              <a:noFill/>
              <a:ln/>
            </p:spPr>
            <p:txBody>
              <a:bodyPr wrap="square" lIns="0" tIns="0" rIns="0" bIns="0" rtlCol="0" anchor="t"/>
              <a:lstStyle/>
              <a:p>
                <a:pPr marL="152400" indent="-152400">
                  <a:lnSpc>
                    <a:spcPct val="102000"/>
                  </a:lnSpc>
                  <a:spcAft>
                    <a:spcPts val="160"/>
                  </a:spcAft>
                  <a:buSzPct val="100000"/>
                  <a:buChar char="•"/>
                </a:pPr>
                <a14:m>
                  <m:oMath xmlns:m="http://schemas.openxmlformats.org/officeDocument/2006/math">
                    <m:sSub>
                      <m:sSubPr>
                        <m:ctrlPr>
                          <a:rPr lang="en-US" sz="1300" b="0" i="1" dirty="0" smtClean="0">
                            <a:solidFill>
                              <a:srgbClr val="222222"/>
                            </a:solidFill>
                            <a:latin typeface="Cambria Math" panose="02040503050406030204" pitchFamily="18" charset="0"/>
                            <a:ea typeface="Calibri" pitchFamily="34" charset="-122"/>
                            <a:cs typeface="Calibri" pitchFamily="34" charset="-120"/>
                          </a:rPr>
                        </m:ctrlPr>
                      </m:sSubPr>
                      <m:e>
                        <m:r>
                          <a:rPr lang="en-US" sz="1300" b="0" i="1" dirty="0" smtClean="0">
                            <a:solidFill>
                              <a:srgbClr val="222222"/>
                            </a:solidFill>
                            <a:latin typeface="Cambria Math" panose="02040503050406030204" pitchFamily="18" charset="0"/>
                            <a:ea typeface="Calibri" pitchFamily="34" charset="-122"/>
                            <a:cs typeface="Calibri" pitchFamily="34" charset="-120"/>
                          </a:rPr>
                          <m:t>𝐽</m:t>
                        </m:r>
                      </m:e>
                      <m:sub>
                        <m:r>
                          <a:rPr lang="en-US" sz="1300" b="0" i="1" dirty="0" smtClean="0">
                            <a:solidFill>
                              <a:srgbClr val="222222"/>
                            </a:solidFill>
                            <a:latin typeface="Cambria Math" panose="02040503050406030204" pitchFamily="18" charset="0"/>
                            <a:ea typeface="Calibri" pitchFamily="34" charset="-122"/>
                            <a:cs typeface="Calibri" pitchFamily="34" charset="-120"/>
                          </a:rPr>
                          <m:t>𝑃h𝑦</m:t>
                        </m:r>
                      </m:sub>
                    </m:sSub>
                    <m:r>
                      <a:rPr lang="en-US" sz="1300" b="0" i="1" dirty="0">
                        <a:solidFill>
                          <a:srgbClr val="222222"/>
                        </a:solidFill>
                        <a:latin typeface="Cambria Math" panose="02040503050406030204" pitchFamily="18" charset="0"/>
                        <a:ea typeface="Calibri" pitchFamily="34" charset="-122"/>
                        <a:cs typeface="Calibri" pitchFamily="34" charset="-120"/>
                      </a:rPr>
                      <m:t> </m:t>
                    </m:r>
                  </m:oMath>
                </a14:m>
                <a:r>
                  <a:rPr lang="en-US" sz="1300" b="0" i="0" dirty="0">
                    <a:solidFill>
                      <a:srgbClr val="222222"/>
                    </a:solidFill>
                    <a:latin typeface="Calibri" pitchFamily="34" charset="0"/>
                    <a:ea typeface="Calibri" pitchFamily="34" charset="-122"/>
                    <a:cs typeface="Calibri" pitchFamily="34" charset="-120"/>
                  </a:rPr>
                  <a:t>= burned area + asset loss + population exposure</a:t>
                </a:r>
                <a:endParaRPr lang="en-US" sz="1300" dirty="0"/>
              </a:p>
              <a:p>
                <a:pPr marL="152400" indent="-152400">
                  <a:lnSpc>
                    <a:spcPct val="102000"/>
                  </a:lnSpc>
                  <a:spcAft>
                    <a:spcPts val="160"/>
                  </a:spcAft>
                  <a:buSzPct val="100000"/>
                  <a:buChar char="•"/>
                </a:pPr>
                <a14:m>
                  <m:oMath xmlns:m="http://schemas.openxmlformats.org/officeDocument/2006/math">
                    <m:r>
                      <m:rPr>
                        <m:sty m:val="p"/>
                      </m:rPr>
                      <a:rPr lang="en-US" sz="1300" b="0" i="0" dirty="0" smtClean="0">
                        <a:solidFill>
                          <a:srgbClr val="222222"/>
                        </a:solidFill>
                        <a:latin typeface="Cambria Math" panose="02040503050406030204" pitchFamily="18" charset="0"/>
                        <a:ea typeface="Calibri" pitchFamily="34" charset="-122"/>
                        <a:cs typeface="Calibri" pitchFamily="34" charset="-120"/>
                      </a:rPr>
                      <m:t>Δ</m:t>
                    </m:r>
                    <m:sSub>
                      <m:sSubPr>
                        <m:ctrlPr>
                          <a:rPr lang="en-US" sz="1300" b="0" i="1" dirty="0" err="1">
                            <a:solidFill>
                              <a:srgbClr val="222222"/>
                            </a:solidFill>
                            <a:latin typeface="Cambria Math" panose="02040503050406030204" pitchFamily="18" charset="0"/>
                            <a:ea typeface="Calibri" pitchFamily="34" charset="-122"/>
                            <a:cs typeface="Calibri" pitchFamily="34" charset="-120"/>
                          </a:rPr>
                        </m:ctrlPr>
                      </m:sSubPr>
                      <m:e>
                        <m:r>
                          <a:rPr lang="en-US" sz="1300" b="0" i="1" dirty="0" err="1">
                            <a:solidFill>
                              <a:srgbClr val="222222"/>
                            </a:solidFill>
                            <a:latin typeface="Cambria Math" panose="02040503050406030204" pitchFamily="18" charset="0"/>
                            <a:ea typeface="Calibri" pitchFamily="34" charset="-122"/>
                            <a:cs typeface="Calibri" pitchFamily="34" charset="-120"/>
                          </a:rPr>
                          <m:t>𝐽</m:t>
                        </m:r>
                      </m:e>
                      <m:sub>
                        <m:r>
                          <a:rPr lang="en-US" sz="1300" b="0" i="1" dirty="0" err="1">
                            <a:solidFill>
                              <a:srgbClr val="222222"/>
                            </a:solidFill>
                            <a:latin typeface="Cambria Math" panose="02040503050406030204" pitchFamily="18" charset="0"/>
                            <a:ea typeface="Calibri" pitchFamily="34" charset="-122"/>
                            <a:cs typeface="Calibri" pitchFamily="34" charset="-120"/>
                          </a:rPr>
                          <m:t>𝑃h𝑦</m:t>
                        </m:r>
                      </m:sub>
                    </m:sSub>
                    <m:r>
                      <a:rPr lang="en-US" sz="1300" b="0" i="1" dirty="0">
                        <a:solidFill>
                          <a:srgbClr val="222222"/>
                        </a:solidFill>
                        <a:latin typeface="Cambria Math" panose="02040503050406030204" pitchFamily="18" charset="0"/>
                        <a:ea typeface="Calibri" pitchFamily="34" charset="-122"/>
                        <a:cs typeface="Calibri" pitchFamily="34" charset="-120"/>
                      </a:rPr>
                      <m:t>(</m:t>
                    </m:r>
                    <m:r>
                      <a:rPr lang="en-US" sz="1300" b="0" i="1" dirty="0">
                        <a:solidFill>
                          <a:srgbClr val="222222"/>
                        </a:solidFill>
                        <a:latin typeface="Cambria Math" panose="02040503050406030204" pitchFamily="18" charset="0"/>
                        <a:ea typeface="Calibri" pitchFamily="34" charset="-122"/>
                        <a:cs typeface="Calibri" pitchFamily="34" charset="-120"/>
                      </a:rPr>
                      <m:t>𝑐</m:t>
                    </m:r>
                    <m:r>
                      <a:rPr lang="en-US" sz="1300" b="0" i="1" dirty="0">
                        <a:solidFill>
                          <a:srgbClr val="222222"/>
                        </a:solidFill>
                        <a:latin typeface="Cambria Math" panose="02040503050406030204" pitchFamily="18" charset="0"/>
                        <a:ea typeface="Calibri" pitchFamily="34" charset="-122"/>
                        <a:cs typeface="Calibri" pitchFamily="34" charset="-120"/>
                      </a:rPr>
                      <m:t>) </m:t>
                    </m:r>
                  </m:oMath>
                </a14:m>
                <a:r>
                  <a:rPr lang="en-US" sz="1300" b="0" i="0" dirty="0">
                    <a:solidFill>
                      <a:srgbClr val="222222"/>
                    </a:solidFill>
                    <a:latin typeface="Calibri" pitchFamily="34" charset="0"/>
                    <a:ea typeface="Calibri" pitchFamily="34" charset="-122"/>
                    <a:cs typeface="Calibri" pitchFamily="34" charset="-120"/>
                  </a:rPr>
                  <a:t>= forecast with c − forecast without c, on a shadow simulator</a:t>
                </a:r>
                <a:endParaRPr lang="en-US" sz="1300" dirty="0"/>
              </a:p>
              <a:p>
                <a:pPr marL="152400" indent="-152400">
                  <a:lnSpc>
                    <a:spcPct val="102000"/>
                  </a:lnSpc>
                  <a:spcAft>
                    <a:spcPts val="0"/>
                  </a:spcAft>
                  <a:buSzPct val="100000"/>
                  <a:buChar char="•"/>
                </a:pPr>
                <a:r>
                  <a:rPr lang="en-US" sz="1300" b="0" i="0" dirty="0">
                    <a:solidFill>
                      <a:srgbClr val="222222"/>
                    </a:solidFill>
                    <a:latin typeface="Calibri" pitchFamily="34" charset="0"/>
                    <a:ea typeface="Calibri" pitchFamily="34" charset="-122"/>
                    <a:cs typeface="Calibri" pitchFamily="34" charset="-120"/>
                  </a:rPr>
                  <a:t>one evaluation = one reseeded rollout; exactly two per cycle</a:t>
                </a:r>
                <a:endParaRPr lang="en-US" sz="1300" dirty="0"/>
              </a:p>
            </p:txBody>
          </p:sp>
        </mc:Choice>
        <mc:Fallback xmlns="">
          <p:sp>
            <p:nvSpPr>
              <p:cNvPr id="13" name="B obj">
                <a:extLst>
                  <a:ext uri="{FF2B5EF4-FFF2-40B4-BE49-F238E27FC236}">
                    <a16:creationId xmlns:a16="http://schemas.microsoft.com/office/drawing/2014/main" id="{FDAF3BC7-4ED9-42BD-9F1A-4BBCB211B6AB}"/>
                  </a:ext>
                </a:extLst>
              </p:cNvPr>
              <p:cNvSpPr>
                <a:spLocks noRot="1" noChangeAspect="1" noMove="1" noResize="1" noEditPoints="1" noAdjustHandles="1" noChangeArrowheads="1" noChangeShapeType="1" noTextEdit="1"/>
              </p:cNvSpPr>
              <p:nvPr/>
            </p:nvSpPr>
            <p:spPr>
              <a:xfrm>
                <a:off x="6689009" y="1920240"/>
                <a:ext cx="5285232" cy="1188720"/>
              </a:xfrm>
              <a:prstGeom prst="rect">
                <a:avLst/>
              </a:prstGeom>
              <a:blipFill>
                <a:blip r:embed="rId7"/>
                <a:stretch>
                  <a:fillRect l="-1961" t="-4103"/>
                </a:stretch>
              </a:blipFill>
              <a:ln/>
            </p:spPr>
            <p:txBody>
              <a:bodyPr/>
              <a:lstStyle/>
              <a:p>
                <a:r>
                  <a:rPr lang="tr-TR">
                    <a:noFill/>
                  </a:rPr>
                  <a:t> </a:t>
                </a:r>
              </a:p>
            </p:txBody>
          </p:sp>
        </mc:Fallback>
      </mc:AlternateContent>
      <p:sp>
        <p:nvSpPr>
          <p:cNvPr id="15" name="H rule">
            <a:extLst>
              <a:ext uri="{FF2B5EF4-FFF2-40B4-BE49-F238E27FC236}">
                <a16:creationId xmlns:a16="http://schemas.microsoft.com/office/drawing/2014/main" id="{F58AEF9C-A8F8-DD7F-5C10-68582E3AF204}"/>
              </a:ext>
            </a:extLst>
          </p:cNvPr>
          <p:cNvSpPr/>
          <p:nvPr/>
        </p:nvSpPr>
        <p:spPr>
          <a:xfrm>
            <a:off x="6689009" y="3236976"/>
            <a:ext cx="5285232" cy="237744"/>
          </a:xfrm>
          <a:prstGeom prst="rect">
            <a:avLst/>
          </a:prstGeom>
          <a:noFill/>
          <a:ln/>
        </p:spPr>
        <p:txBody>
          <a:bodyPr wrap="square" lIns="0" tIns="0" rIns="0" bIns="0" rtlCol="0" anchor="t"/>
          <a:lstStyle/>
          <a:p>
            <a:pPr marL="0" indent="0">
              <a:lnSpc>
                <a:spcPct val="102000"/>
              </a:lnSpc>
              <a:spcAft>
                <a:spcPts val="0"/>
              </a:spcAft>
              <a:buNone/>
            </a:pPr>
            <a:r>
              <a:rPr lang="en-US" sz="1400" b="1" i="0" dirty="0">
                <a:solidFill>
                  <a:srgbClr val="E31836"/>
                </a:solidFill>
                <a:latin typeface="Calibri" pitchFamily="34" charset="0"/>
                <a:ea typeface="Calibri" pitchFamily="34" charset="-122"/>
                <a:cs typeface="Calibri" pitchFamily="34" charset="-120"/>
              </a:rPr>
              <a:t>THE RULE TEST (G3, G4)</a:t>
            </a:r>
            <a:endParaRPr lang="en-US" sz="1400" dirty="0"/>
          </a:p>
        </p:txBody>
      </p:sp>
      <mc:AlternateContent xmlns:mc="http://schemas.openxmlformats.org/markup-compatibility/2006" xmlns:a14="http://schemas.microsoft.com/office/drawing/2010/main">
        <mc:Choice Requires="a14">
          <p:sp>
            <p:nvSpPr>
              <p:cNvPr id="17" name="Eq strict">
                <a:extLst>
                  <a:ext uri="{FF2B5EF4-FFF2-40B4-BE49-F238E27FC236}">
                    <a16:creationId xmlns:a16="http://schemas.microsoft.com/office/drawing/2014/main" id="{8DB483BC-C084-99AE-5B61-11AD8CC504E3}"/>
                  </a:ext>
                </a:extLst>
              </p:cNvPr>
              <p:cNvSpPr/>
              <p:nvPr/>
            </p:nvSpPr>
            <p:spPr>
              <a:xfrm>
                <a:off x="6689009" y="3511296"/>
                <a:ext cx="5285232" cy="384048"/>
              </a:xfrm>
              <a:prstGeom prst="rect">
                <a:avLst/>
              </a:prstGeom>
              <a:noFill/>
              <a:ln/>
            </p:spPr>
            <p:txBody>
              <a:bodyPr wrap="square" lIns="0" tIns="0" rIns="0" bIns="0" rtlCol="0" anchor="t"/>
              <a:lstStyle/>
              <a:p>
                <a:pPr marL="0" indent="0">
                  <a:buNone/>
                </a:pPr>
                <a14:m>
                  <m:oMathPara xmlns:m="http://schemas.openxmlformats.org/officeDocument/2006/math">
                    <m:oMathParaPr>
                      <m:jc m:val="centerGroup"/>
                    </m:oMathParaPr>
                    <m:oMath xmlns:m="http://schemas.openxmlformats.org/officeDocument/2006/math">
                      <m:r>
                        <a:rPr lang="en-US" sz="1300">
                          <a:latin typeface="Cambria Math"/>
                        </a:rPr>
                        <m:t>𝛥</m:t>
                      </m:r>
                      <m:sSubSup>
                        <m:sSubSupPr>
                          <m:ctrlPr>
                            <a:rPr lang="en-US" sz="1300" i="1">
                              <a:latin typeface="Cambria Math" panose="02040503050406030204" pitchFamily="18" charset="0"/>
                            </a:rPr>
                          </m:ctrlPr>
                        </m:sSubSupPr>
                        <m:e>
                          <m:acc>
                            <m:accPr>
                              <m:chr m:val="̂"/>
                              <m:ctrlPr>
                                <a:rPr lang="en-US" sz="1300" i="1">
                                  <a:latin typeface="Cambria Math" panose="02040503050406030204" pitchFamily="18" charset="0"/>
                                </a:rPr>
                              </m:ctrlPr>
                            </m:accPr>
                            <m:e>
                              <m:r>
                                <a:rPr lang="en-US" sz="1300">
                                  <a:latin typeface="Cambria Math"/>
                                </a:rPr>
                                <m:t>𝐽</m:t>
                              </m:r>
                            </m:e>
                          </m:acc>
                        </m:e>
                        <m:sub>
                          <m:r>
                            <a:rPr lang="en-US" sz="1300">
                              <a:latin typeface="Cambria Math"/>
                            </a:rPr>
                            <m:t>𝑃h𝑦</m:t>
                          </m:r>
                        </m:sub>
                        <m:sup>
                          <m:r>
                            <a:rPr lang="en-US" sz="1300">
                              <a:latin typeface="Cambria Math"/>
                            </a:rPr>
                            <m:t>(</m:t>
                          </m:r>
                          <m:r>
                            <a:rPr lang="en-US" sz="1300">
                              <a:latin typeface="Cambria Math"/>
                            </a:rPr>
                            <m:t>𝑎</m:t>
                          </m:r>
                          <m:r>
                            <a:rPr lang="en-US" sz="1300">
                              <a:latin typeface="Cambria Math"/>
                            </a:rPr>
                            <m:t>)</m:t>
                          </m:r>
                        </m:sup>
                      </m:sSubSup>
                      <m:r>
                        <a:rPr lang="en-US" sz="1300">
                          <a:latin typeface="Cambria Math"/>
                        </a:rPr>
                        <m:t>(</m:t>
                      </m:r>
                      <m:r>
                        <a:rPr lang="en-US" sz="1300">
                          <a:latin typeface="Cambria Math"/>
                        </a:rPr>
                        <m:t>𝑐</m:t>
                      </m:r>
                      <m:r>
                        <a:rPr lang="en-US" sz="1300">
                          <a:latin typeface="Cambria Math"/>
                        </a:rPr>
                        <m:t>) &lt; 0    ∧    </m:t>
                      </m:r>
                      <m:r>
                        <a:rPr lang="en-US" sz="1300">
                          <a:latin typeface="Cambria Math"/>
                        </a:rPr>
                        <m:t>𝛥</m:t>
                      </m:r>
                      <m:sSubSup>
                        <m:sSubSupPr>
                          <m:ctrlPr>
                            <a:rPr lang="en-US" sz="1300" i="1">
                              <a:latin typeface="Cambria Math" panose="02040503050406030204" pitchFamily="18" charset="0"/>
                            </a:rPr>
                          </m:ctrlPr>
                        </m:sSubSupPr>
                        <m:e>
                          <m:acc>
                            <m:accPr>
                              <m:chr m:val="̂"/>
                              <m:ctrlPr>
                                <a:rPr lang="en-US" sz="1300" i="1">
                                  <a:latin typeface="Cambria Math" panose="02040503050406030204" pitchFamily="18" charset="0"/>
                                </a:rPr>
                              </m:ctrlPr>
                            </m:accPr>
                            <m:e>
                              <m:r>
                                <a:rPr lang="en-US" sz="1300">
                                  <a:latin typeface="Cambria Math"/>
                                </a:rPr>
                                <m:t>𝐽</m:t>
                              </m:r>
                            </m:e>
                          </m:acc>
                        </m:e>
                        <m:sub>
                          <m:r>
                            <a:rPr lang="en-US" sz="1300">
                              <a:latin typeface="Cambria Math"/>
                            </a:rPr>
                            <m:t>𝑃h𝑦</m:t>
                          </m:r>
                        </m:sub>
                        <m:sup>
                          <m:r>
                            <a:rPr lang="en-US" sz="1300">
                              <a:latin typeface="Cambria Math"/>
                            </a:rPr>
                            <m:t>(</m:t>
                          </m:r>
                          <m:r>
                            <a:rPr lang="en-US" sz="1300">
                              <a:latin typeface="Cambria Math"/>
                            </a:rPr>
                            <m:t>𝑏</m:t>
                          </m:r>
                          <m:r>
                            <a:rPr lang="en-US" sz="1300">
                              <a:latin typeface="Cambria Math"/>
                            </a:rPr>
                            <m:t>)</m:t>
                          </m:r>
                        </m:sup>
                      </m:sSubSup>
                      <m:r>
                        <a:rPr lang="en-US" sz="1300">
                          <a:latin typeface="Cambria Math"/>
                        </a:rPr>
                        <m:t>(</m:t>
                      </m:r>
                      <m:r>
                        <a:rPr lang="en-US" sz="1300">
                          <a:latin typeface="Cambria Math"/>
                        </a:rPr>
                        <m:t>𝑐</m:t>
                      </m:r>
                      <m:r>
                        <a:rPr lang="en-US" sz="1300">
                          <a:latin typeface="Cambria Math"/>
                        </a:rPr>
                        <m:t>) &lt; 0</m:t>
                      </m:r>
                    </m:oMath>
                  </m:oMathPara>
                </a14:m>
                <a:endParaRPr lang="en-US" sz="1300" dirty="0"/>
              </a:p>
            </p:txBody>
          </p:sp>
        </mc:Choice>
        <mc:Fallback xmlns="">
          <p:sp>
            <p:nvSpPr>
              <p:cNvPr id="17" name="Eq strict">
                <a:extLst>
                  <a:ext uri="{FF2B5EF4-FFF2-40B4-BE49-F238E27FC236}">
                    <a16:creationId xmlns:a16="http://schemas.microsoft.com/office/drawing/2014/main" id="{8DB483BC-C084-99AE-5B61-11AD8CC504E3}"/>
                  </a:ext>
                </a:extLst>
              </p:cNvPr>
              <p:cNvSpPr>
                <a:spLocks noRot="1" noChangeAspect="1" noMove="1" noResize="1" noEditPoints="1" noAdjustHandles="1" noChangeArrowheads="1" noChangeShapeType="1" noTextEdit="1"/>
              </p:cNvSpPr>
              <p:nvPr/>
            </p:nvSpPr>
            <p:spPr>
              <a:xfrm>
                <a:off x="6689009" y="3511296"/>
                <a:ext cx="5285232" cy="384048"/>
              </a:xfrm>
              <a:prstGeom prst="rect">
                <a:avLst/>
              </a:prstGeom>
              <a:blipFill>
                <a:blip r:embed="rId8"/>
                <a:stretch>
                  <a:fillRect t="-1587"/>
                </a:stretch>
              </a:blipFill>
              <a:ln/>
            </p:spPr>
            <p:txBody>
              <a:bodyPr/>
              <a:lstStyle/>
              <a:p>
                <a:r>
                  <a:rPr lang="tr-TR">
                    <a:noFill/>
                  </a:rPr>
                  <a:t> </a:t>
                </a:r>
              </a:p>
            </p:txBody>
          </p:sp>
        </mc:Fallback>
      </mc:AlternateContent>
      <p:sp>
        <p:nvSpPr>
          <p:cNvPr id="19" name="B rule">
            <a:extLst>
              <a:ext uri="{FF2B5EF4-FFF2-40B4-BE49-F238E27FC236}">
                <a16:creationId xmlns:a16="http://schemas.microsoft.com/office/drawing/2014/main" id="{A9CB4E6E-D858-BEAB-AFFC-5255B1D713A2}"/>
              </a:ext>
            </a:extLst>
          </p:cNvPr>
          <p:cNvSpPr/>
          <p:nvPr/>
        </p:nvSpPr>
        <p:spPr>
          <a:xfrm>
            <a:off x="6689009" y="3950208"/>
            <a:ext cx="5285232" cy="685800"/>
          </a:xfrm>
          <a:prstGeom prst="rect">
            <a:avLst/>
          </a:prstGeom>
          <a:noFill/>
          <a:ln/>
        </p:spPr>
        <p:txBody>
          <a:bodyPr wrap="square" lIns="0" tIns="0" rIns="0" bIns="0" rtlCol="0" anchor="t"/>
          <a:lstStyle/>
          <a:p>
            <a:pPr marL="152400" indent="-152400">
              <a:lnSpc>
                <a:spcPct val="102000"/>
              </a:lnSpc>
              <a:spcAft>
                <a:spcPts val="160"/>
              </a:spcAft>
              <a:buSzPct val="100000"/>
              <a:buChar char="•"/>
            </a:pPr>
            <a:r>
              <a:rPr lang="en-US" sz="1300" b="0" i="0">
                <a:solidFill>
                  <a:srgbClr val="222222"/>
                </a:solidFill>
                <a:latin typeface="Calibri" pitchFamily="34" charset="0"/>
                <a:ea typeface="Calibri" pitchFamily="34" charset="-122"/>
                <a:cs typeface="Calibri" pitchFamily="34" charset="-120"/>
              </a:rPr>
              <a:t>seeds a, b → two independent futures of weather and spread</a:t>
            </a:r>
            <a:endParaRPr lang="en-US" sz="1300" dirty="0"/>
          </a:p>
          <a:p>
            <a:pPr marL="152400" indent="-152400">
              <a:lnSpc>
                <a:spcPct val="102000"/>
              </a:lnSpc>
              <a:spcAft>
                <a:spcPts val="0"/>
              </a:spcAft>
              <a:buSzPct val="100000"/>
              <a:buChar char="•"/>
            </a:pPr>
            <a:r>
              <a:rPr lang="en-US" sz="1300" b="1" i="0">
                <a:solidFill>
                  <a:srgbClr val="222222"/>
                </a:solidFill>
                <a:latin typeface="Calibri" pitchFamily="34" charset="0"/>
                <a:ea typeface="Calibri" pitchFamily="34" charset="-122"/>
                <a:cs typeface="Calibri" pitchFamily="34" charset="-120"/>
              </a:rPr>
              <a:t>strict decrease on both — a gain only one future flatters is refused</a:t>
            </a:r>
            <a:endParaRPr lang="en-US" sz="1300" dirty="0"/>
          </a:p>
        </p:txBody>
      </p:sp>
      <p:sp>
        <p:nvSpPr>
          <p:cNvPr id="21" name="H pkg">
            <a:extLst>
              <a:ext uri="{FF2B5EF4-FFF2-40B4-BE49-F238E27FC236}">
                <a16:creationId xmlns:a16="http://schemas.microsoft.com/office/drawing/2014/main" id="{997C3138-D208-D1EE-A855-0045D1134194}"/>
              </a:ext>
            </a:extLst>
          </p:cNvPr>
          <p:cNvSpPr/>
          <p:nvPr/>
        </p:nvSpPr>
        <p:spPr>
          <a:xfrm>
            <a:off x="6689009" y="4773168"/>
            <a:ext cx="5285232" cy="237744"/>
          </a:xfrm>
          <a:prstGeom prst="rect">
            <a:avLst/>
          </a:prstGeom>
          <a:noFill/>
          <a:ln/>
        </p:spPr>
        <p:txBody>
          <a:bodyPr wrap="square" lIns="0" tIns="0" rIns="0" bIns="0" rtlCol="0" anchor="t"/>
          <a:lstStyle/>
          <a:p>
            <a:pPr marL="0" indent="0">
              <a:lnSpc>
                <a:spcPct val="102000"/>
              </a:lnSpc>
              <a:spcAft>
                <a:spcPts val="0"/>
              </a:spcAft>
              <a:buNone/>
            </a:pPr>
            <a:r>
              <a:rPr lang="en-US" sz="1400" b="1" i="0" dirty="0">
                <a:solidFill>
                  <a:srgbClr val="E31836"/>
                </a:solidFill>
                <a:latin typeface="Calibri" pitchFamily="34" charset="0"/>
                <a:ea typeface="Calibri" pitchFamily="34" charset="-122"/>
                <a:cs typeface="Calibri" pitchFamily="34" charset="-120"/>
              </a:rPr>
              <a:t>THE PACKAGE TEST (G5, G5b)</a:t>
            </a:r>
            <a:endParaRPr lang="en-US" sz="1400" dirty="0"/>
          </a:p>
        </p:txBody>
      </p:sp>
      <mc:AlternateContent xmlns:mc="http://schemas.openxmlformats.org/markup-compatibility/2006" xmlns:a14="http://schemas.microsoft.com/office/drawing/2010/main">
        <mc:Choice Requires="a14">
          <p:sp>
            <p:nvSpPr>
              <p:cNvPr id="23" name="Eq margin">
                <a:extLst>
                  <a:ext uri="{FF2B5EF4-FFF2-40B4-BE49-F238E27FC236}">
                    <a16:creationId xmlns:a16="http://schemas.microsoft.com/office/drawing/2014/main" id="{1FB8141F-9537-AC90-A59C-966195EDE452}"/>
                  </a:ext>
                </a:extLst>
              </p:cNvPr>
              <p:cNvSpPr/>
              <p:nvPr/>
            </p:nvSpPr>
            <p:spPr>
              <a:xfrm>
                <a:off x="6689009" y="5047488"/>
                <a:ext cx="2331720" cy="384048"/>
              </a:xfrm>
              <a:prstGeom prst="rect">
                <a:avLst/>
              </a:prstGeom>
              <a:noFill/>
              <a:ln/>
            </p:spPr>
            <p:txBody>
              <a:bodyPr wrap="square" lIns="0" tIns="0" rIns="0" bIns="0" rtlCol="0" anchor="t"/>
              <a:lstStyle/>
              <a:p>
                <a:pPr marL="0" indent="0">
                  <a:buNone/>
                </a:pPr>
                <a14:m>
                  <m:oMathPara xmlns:m="http://schemas.openxmlformats.org/officeDocument/2006/math">
                    <m:oMathParaPr>
                      <m:jc m:val="centerGroup"/>
                    </m:oMathParaPr>
                    <m:oMath xmlns:m="http://schemas.openxmlformats.org/officeDocument/2006/math">
                      <m:r>
                        <a:rPr lang="en-US" sz="1300">
                          <a:latin typeface="Cambria Math"/>
                        </a:rPr>
                        <m:t>𝛥</m:t>
                      </m:r>
                      <m:sSubSup>
                        <m:sSubSupPr>
                          <m:ctrlPr>
                            <a:rPr lang="en-US" sz="1300" i="1">
                              <a:latin typeface="Cambria Math" panose="02040503050406030204" pitchFamily="18" charset="0"/>
                            </a:rPr>
                          </m:ctrlPr>
                        </m:sSubSupPr>
                        <m:e>
                          <m:acc>
                            <m:accPr>
                              <m:chr m:val="̂"/>
                              <m:ctrlPr>
                                <a:rPr lang="en-US" sz="1300" i="1">
                                  <a:latin typeface="Cambria Math" panose="02040503050406030204" pitchFamily="18" charset="0"/>
                                </a:rPr>
                              </m:ctrlPr>
                            </m:accPr>
                            <m:e>
                              <m:r>
                                <a:rPr lang="en-US" sz="1300">
                                  <a:latin typeface="Cambria Math"/>
                                </a:rPr>
                                <m:t>𝐽</m:t>
                              </m:r>
                            </m:e>
                          </m:acc>
                        </m:e>
                        <m:sub>
                          <m:r>
                            <a:rPr lang="en-US" sz="1300">
                              <a:latin typeface="Cambria Math"/>
                            </a:rPr>
                            <m:t>𝑃h𝑦</m:t>
                          </m:r>
                        </m:sub>
                        <m:sup>
                          <m:r>
                            <a:rPr lang="en-US" sz="1300">
                              <a:latin typeface="Cambria Math"/>
                            </a:rPr>
                            <m:t>(</m:t>
                          </m:r>
                          <m:r>
                            <a:rPr lang="en-US" sz="1300">
                              <a:latin typeface="Cambria Math"/>
                            </a:rPr>
                            <m:t>𝑎</m:t>
                          </m:r>
                          <m:r>
                            <a:rPr lang="en-US" sz="1300">
                              <a:latin typeface="Cambria Math"/>
                            </a:rPr>
                            <m:t>,</m:t>
                          </m:r>
                          <m:r>
                            <a:rPr lang="en-US" sz="1300">
                              <a:latin typeface="Cambria Math"/>
                            </a:rPr>
                            <m:t>𝑏</m:t>
                          </m:r>
                          <m:r>
                            <a:rPr lang="en-US" sz="1300">
                              <a:latin typeface="Cambria Math"/>
                            </a:rPr>
                            <m:t>)</m:t>
                          </m:r>
                        </m:sup>
                      </m:sSubSup>
                      <m:r>
                        <a:rPr lang="en-US" sz="1300">
                          <a:latin typeface="Cambria Math"/>
                        </a:rPr>
                        <m:t>(</m:t>
                      </m:r>
                      <m:r>
                        <a:rPr lang="en-US" sz="1300">
                          <a:latin typeface="Cambria Math"/>
                        </a:rPr>
                        <m:t>𝑐</m:t>
                      </m:r>
                      <m:r>
                        <a:rPr lang="en-US" sz="1300">
                          <a:latin typeface="Cambria Math"/>
                        </a:rPr>
                        <m:t>) ≤ −</m:t>
                      </m:r>
                      <m:sSub>
                        <m:sSubPr>
                          <m:ctrlPr>
                            <a:rPr lang="en-US" sz="1300" i="1">
                              <a:latin typeface="Cambria Math" panose="02040503050406030204" pitchFamily="18" charset="0"/>
                            </a:rPr>
                          </m:ctrlPr>
                        </m:sSubPr>
                        <m:e>
                          <m:r>
                            <a:rPr lang="en-US" sz="1300">
                              <a:latin typeface="Cambria Math"/>
                            </a:rPr>
                            <m:t>𝛿</m:t>
                          </m:r>
                        </m:e>
                        <m:sub>
                          <m:r>
                            <a:rPr lang="en-US" sz="1300">
                              <a:latin typeface="Cambria Math"/>
                            </a:rPr>
                            <m:t>𝑣</m:t>
                          </m:r>
                        </m:sub>
                      </m:sSub>
                    </m:oMath>
                  </m:oMathPara>
                </a14:m>
                <a:endParaRPr lang="en-US" sz="1300" dirty="0"/>
              </a:p>
            </p:txBody>
          </p:sp>
        </mc:Choice>
        <mc:Fallback xmlns="">
          <p:sp>
            <p:nvSpPr>
              <p:cNvPr id="23" name="Eq margin">
                <a:extLst>
                  <a:ext uri="{FF2B5EF4-FFF2-40B4-BE49-F238E27FC236}">
                    <a16:creationId xmlns:a16="http://schemas.microsoft.com/office/drawing/2014/main" id="{1FB8141F-9537-AC90-A59C-966195EDE452}"/>
                  </a:ext>
                </a:extLst>
              </p:cNvPr>
              <p:cNvSpPr>
                <a:spLocks noRot="1" noChangeAspect="1" noMove="1" noResize="1" noEditPoints="1" noAdjustHandles="1" noChangeArrowheads="1" noChangeShapeType="1" noTextEdit="1"/>
              </p:cNvSpPr>
              <p:nvPr/>
            </p:nvSpPr>
            <p:spPr>
              <a:xfrm>
                <a:off x="6689009" y="5047488"/>
                <a:ext cx="2331720" cy="384048"/>
              </a:xfrm>
              <a:prstGeom prst="rect">
                <a:avLst/>
              </a:prstGeom>
              <a:blipFill>
                <a:blip r:embed="rId9"/>
                <a:stretch>
                  <a:fillRect t="-1587"/>
                </a:stretch>
              </a:blipFill>
              <a:ln/>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25" name="Eq ablate">
                <a:extLst>
                  <a:ext uri="{FF2B5EF4-FFF2-40B4-BE49-F238E27FC236}">
                    <a16:creationId xmlns:a16="http://schemas.microsoft.com/office/drawing/2014/main" id="{A841EB77-DE08-E984-DCF2-0EF951EBC001}"/>
                  </a:ext>
                </a:extLst>
              </p:cNvPr>
              <p:cNvSpPr/>
              <p:nvPr/>
            </p:nvSpPr>
            <p:spPr>
              <a:xfrm>
                <a:off x="9157889" y="5047488"/>
                <a:ext cx="2788920" cy="384048"/>
              </a:xfrm>
              <a:prstGeom prst="rect">
                <a:avLst/>
              </a:prstGeom>
              <a:noFill/>
              <a:ln/>
            </p:spPr>
            <p:txBody>
              <a:bodyPr wrap="square" lIns="0" tIns="0" rIns="0" bIns="0" rtlCol="0" anchor="t"/>
              <a:lstStyle/>
              <a:p>
                <a:pPr marL="0" indent="0">
                  <a:buNone/>
                </a:pPr>
                <a14:m>
                  <m:oMathPara xmlns:m="http://schemas.openxmlformats.org/officeDocument/2006/math">
                    <m:oMathParaPr>
                      <m:jc m:val="centerGroup"/>
                    </m:oMathParaPr>
                    <m:oMath xmlns:m="http://schemas.openxmlformats.org/officeDocument/2006/math">
                      <m:r>
                        <a:rPr lang="en-US" sz="1300">
                          <a:latin typeface="Cambria Math"/>
                        </a:rPr>
                        <m:t>𝛥</m:t>
                      </m:r>
                      <m:sSubSup>
                        <m:sSubSupPr>
                          <m:ctrlPr>
                            <a:rPr lang="en-US" sz="1300" i="1">
                              <a:latin typeface="Cambria Math" panose="02040503050406030204" pitchFamily="18" charset="0"/>
                            </a:rPr>
                          </m:ctrlPr>
                        </m:sSubSupPr>
                        <m:e>
                          <m:acc>
                            <m:accPr>
                              <m:chr m:val="̂"/>
                              <m:ctrlPr>
                                <a:rPr lang="en-US" sz="1300" i="1">
                                  <a:latin typeface="Cambria Math" panose="02040503050406030204" pitchFamily="18" charset="0"/>
                                </a:rPr>
                              </m:ctrlPr>
                            </m:accPr>
                            <m:e>
                              <m:r>
                                <a:rPr lang="en-US" sz="1300">
                                  <a:latin typeface="Cambria Math"/>
                                </a:rPr>
                                <m:t>𝐽</m:t>
                              </m:r>
                            </m:e>
                          </m:acc>
                        </m:e>
                        <m:sub>
                          <m:r>
                            <a:rPr lang="en-US" sz="1300">
                              <a:latin typeface="Cambria Math"/>
                            </a:rPr>
                            <m:t>𝑃h𝑦</m:t>
                          </m:r>
                        </m:sub>
                        <m:sup>
                          <m:r>
                            <a:rPr lang="en-US" sz="1300">
                              <a:latin typeface="Cambria Math"/>
                            </a:rPr>
                            <m:t>(</m:t>
                          </m:r>
                          <m:r>
                            <a:rPr lang="en-US" sz="1300">
                              <a:latin typeface="Cambria Math"/>
                            </a:rPr>
                            <m:t>𝑎</m:t>
                          </m:r>
                          <m:r>
                            <a:rPr lang="en-US" sz="1300">
                              <a:latin typeface="Cambria Math"/>
                            </a:rPr>
                            <m:t>,</m:t>
                          </m:r>
                          <m:r>
                            <a:rPr lang="en-US" sz="1300">
                              <a:latin typeface="Cambria Math"/>
                            </a:rPr>
                            <m:t>𝑏</m:t>
                          </m:r>
                          <m:r>
                            <a:rPr lang="en-US" sz="1300">
                              <a:latin typeface="Cambria Math"/>
                            </a:rPr>
                            <m:t>)</m:t>
                          </m:r>
                        </m:sup>
                      </m:sSubSup>
                      <m:r>
                        <a:rPr lang="en-US" sz="1300">
                          <a:latin typeface="Cambria Math"/>
                        </a:rPr>
                        <m:t>(</m:t>
                      </m:r>
                      <m:r>
                        <a:rPr lang="en-US" sz="1300">
                          <a:latin typeface="Cambria Math"/>
                        </a:rPr>
                        <m:t>𝑐</m:t>
                      </m:r>
                      <m:r>
                        <a:rPr lang="en-US" sz="1300">
                          <a:latin typeface="Cambria Math"/>
                        </a:rPr>
                        <m:t> ∖ </m:t>
                      </m:r>
                      <m:r>
                        <a:rPr lang="en-US" sz="1300">
                          <a:latin typeface="Cambria Math"/>
                        </a:rPr>
                        <m:t>𝑜</m:t>
                      </m:r>
                      <m:r>
                        <a:rPr lang="en-US" sz="1300">
                          <a:latin typeface="Cambria Math"/>
                        </a:rPr>
                        <m:t>) &gt; </m:t>
                      </m:r>
                      <m:r>
                        <a:rPr lang="en-US" sz="1300">
                          <a:latin typeface="Cambria Math"/>
                        </a:rPr>
                        <m:t>𝛥</m:t>
                      </m:r>
                      <m:sSubSup>
                        <m:sSubSupPr>
                          <m:ctrlPr>
                            <a:rPr lang="en-US" sz="1300" i="1">
                              <a:latin typeface="Cambria Math" panose="02040503050406030204" pitchFamily="18" charset="0"/>
                            </a:rPr>
                          </m:ctrlPr>
                        </m:sSubSupPr>
                        <m:e>
                          <m:acc>
                            <m:accPr>
                              <m:chr m:val="̂"/>
                              <m:ctrlPr>
                                <a:rPr lang="en-US" sz="1300" i="1">
                                  <a:latin typeface="Cambria Math" panose="02040503050406030204" pitchFamily="18" charset="0"/>
                                </a:rPr>
                              </m:ctrlPr>
                            </m:accPr>
                            <m:e>
                              <m:r>
                                <a:rPr lang="en-US" sz="1300">
                                  <a:latin typeface="Cambria Math"/>
                                </a:rPr>
                                <m:t>𝐽</m:t>
                              </m:r>
                            </m:e>
                          </m:acc>
                        </m:e>
                        <m:sub>
                          <m:r>
                            <a:rPr lang="en-US" sz="1300">
                              <a:latin typeface="Cambria Math"/>
                            </a:rPr>
                            <m:t>𝑃h𝑦</m:t>
                          </m:r>
                        </m:sub>
                        <m:sup>
                          <m:r>
                            <a:rPr lang="en-US" sz="1300">
                              <a:latin typeface="Cambria Math"/>
                            </a:rPr>
                            <m:t>(</m:t>
                          </m:r>
                          <m:r>
                            <a:rPr lang="en-US" sz="1300">
                              <a:latin typeface="Cambria Math"/>
                            </a:rPr>
                            <m:t>𝑎</m:t>
                          </m:r>
                          <m:r>
                            <a:rPr lang="en-US" sz="1300">
                              <a:latin typeface="Cambria Math"/>
                            </a:rPr>
                            <m:t>,</m:t>
                          </m:r>
                          <m:r>
                            <a:rPr lang="en-US" sz="1300">
                              <a:latin typeface="Cambria Math"/>
                            </a:rPr>
                            <m:t>𝑏</m:t>
                          </m:r>
                          <m:r>
                            <a:rPr lang="en-US" sz="1300">
                              <a:latin typeface="Cambria Math"/>
                            </a:rPr>
                            <m:t>)</m:t>
                          </m:r>
                        </m:sup>
                      </m:sSubSup>
                      <m:r>
                        <a:rPr lang="en-US" sz="1300">
                          <a:latin typeface="Cambria Math"/>
                        </a:rPr>
                        <m:t>(</m:t>
                      </m:r>
                      <m:r>
                        <a:rPr lang="en-US" sz="1300">
                          <a:latin typeface="Cambria Math"/>
                        </a:rPr>
                        <m:t>𝑐</m:t>
                      </m:r>
                      <m:r>
                        <a:rPr lang="en-US" sz="1300">
                          <a:latin typeface="Cambria Math"/>
                        </a:rPr>
                        <m:t>)</m:t>
                      </m:r>
                    </m:oMath>
                  </m:oMathPara>
                </a14:m>
                <a:endParaRPr lang="en-US" sz="1300" dirty="0"/>
              </a:p>
            </p:txBody>
          </p:sp>
        </mc:Choice>
        <mc:Fallback xmlns="">
          <p:sp>
            <p:nvSpPr>
              <p:cNvPr id="25" name="Eq ablate">
                <a:extLst>
                  <a:ext uri="{FF2B5EF4-FFF2-40B4-BE49-F238E27FC236}">
                    <a16:creationId xmlns:a16="http://schemas.microsoft.com/office/drawing/2014/main" id="{A841EB77-DE08-E984-DCF2-0EF951EBC001}"/>
                  </a:ext>
                </a:extLst>
              </p:cNvPr>
              <p:cNvSpPr>
                <a:spLocks noRot="1" noChangeAspect="1" noMove="1" noResize="1" noEditPoints="1" noAdjustHandles="1" noChangeArrowheads="1" noChangeShapeType="1" noTextEdit="1"/>
              </p:cNvSpPr>
              <p:nvPr/>
            </p:nvSpPr>
            <p:spPr>
              <a:xfrm>
                <a:off x="9157889" y="5047488"/>
                <a:ext cx="2788920" cy="384048"/>
              </a:xfrm>
              <a:prstGeom prst="rect">
                <a:avLst/>
              </a:prstGeom>
              <a:blipFill>
                <a:blip r:embed="rId10"/>
                <a:stretch>
                  <a:fillRect t="-1587"/>
                </a:stretch>
              </a:blipFill>
              <a:ln/>
            </p:spPr>
            <p:txBody>
              <a:bodyPr/>
              <a:lstStyle/>
              <a:p>
                <a:r>
                  <a:rPr lang="tr-TR">
                    <a:noFill/>
                  </a:rPr>
                  <a:t> </a:t>
                </a:r>
              </a:p>
            </p:txBody>
          </p:sp>
        </mc:Fallback>
      </mc:AlternateContent>
      <p:sp>
        <p:nvSpPr>
          <p:cNvPr id="27" name="B pkg">
            <a:extLst>
              <a:ext uri="{FF2B5EF4-FFF2-40B4-BE49-F238E27FC236}">
                <a16:creationId xmlns:a16="http://schemas.microsoft.com/office/drawing/2014/main" id="{2661D1A9-84A5-84A0-48C1-69DAB634B50C}"/>
              </a:ext>
            </a:extLst>
          </p:cNvPr>
          <p:cNvSpPr/>
          <p:nvPr/>
        </p:nvSpPr>
        <p:spPr>
          <a:xfrm>
            <a:off x="6689009" y="5504688"/>
            <a:ext cx="5285232" cy="1097280"/>
          </a:xfrm>
          <a:prstGeom prst="rect">
            <a:avLst/>
          </a:prstGeom>
          <a:noFill/>
          <a:ln/>
        </p:spPr>
        <p:txBody>
          <a:bodyPr wrap="square" lIns="0" tIns="0" rIns="0" bIns="0" rtlCol="0" anchor="t"/>
          <a:lstStyle/>
          <a:p>
            <a:pPr marL="152400" indent="-152400">
              <a:lnSpc>
                <a:spcPct val="102000"/>
              </a:lnSpc>
              <a:spcAft>
                <a:spcPts val="160"/>
              </a:spcAft>
              <a:buSzPct val="100000"/>
              <a:buChar char="•"/>
            </a:pPr>
            <a:r>
              <a:rPr lang="en-US" sz="1300" b="0" i="0">
                <a:solidFill>
                  <a:srgbClr val="222222"/>
                </a:solidFill>
                <a:latin typeface="Calibri" pitchFamily="34" charset="0"/>
                <a:ea typeface="Calibri" pitchFamily="34" charset="-122"/>
                <a:cs typeface="Calibri" pitchFamily="34" charset="-120"/>
              </a:rPr>
              <a:t>G5: growth must beat the margin δv = 0.0001 on both futures</a:t>
            </a:r>
            <a:endParaRPr lang="en-US" sz="1300" dirty="0"/>
          </a:p>
          <a:p>
            <a:pPr marL="152400" indent="-152400">
              <a:lnSpc>
                <a:spcPct val="102000"/>
              </a:lnSpc>
              <a:spcAft>
                <a:spcPts val="160"/>
              </a:spcAft>
              <a:buSzPct val="100000"/>
              <a:buChar char="•"/>
            </a:pPr>
            <a:r>
              <a:rPr lang="en-US" sz="1300" b="0" i="0">
                <a:solidFill>
                  <a:srgbClr val="222222"/>
                </a:solidFill>
                <a:latin typeface="Calibri" pitchFamily="34" charset="0"/>
                <a:ea typeface="Calibri" pitchFamily="34" charset="-122"/>
                <a:cs typeface="Calibri" pitchFamily="34" charset="-120"/>
              </a:rPr>
              <a:t>G5b: strike the new object out → cost must rise on both (never run for a concept)</a:t>
            </a:r>
            <a:endParaRPr lang="en-US" sz="1300" dirty="0"/>
          </a:p>
          <a:p>
            <a:pPr marL="152400" indent="-152400">
              <a:lnSpc>
                <a:spcPct val="102000"/>
              </a:lnSpc>
              <a:spcAft>
                <a:spcPts val="0"/>
              </a:spcAft>
              <a:buSzPct val="100000"/>
              <a:buChar char="•"/>
            </a:pPr>
            <a:r>
              <a:rPr lang="en-US" sz="1300" b="1" i="0">
                <a:solidFill>
                  <a:srgbClr val="222222"/>
                </a:solidFill>
                <a:latin typeface="Calibri" pitchFamily="34" charset="0"/>
                <a:ea typeface="Calibri" pitchFamily="34" charset="-122"/>
                <a:cs typeface="Calibri" pitchFamily="34" charset="-120"/>
              </a:rPr>
              <a:t>G1–G2d cost zero; only G3–G5b spend budget · 232 proposals → 47 admissions</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37744"/>
            <a:ext cx="100584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DSS FRAMEWORK : LAYER 4 OF 4</a:t>
            </a:r>
            <a:endParaRPr lang="en-US" sz="1300" dirty="0"/>
          </a:p>
        </p:txBody>
      </p:sp>
      <p:sp>
        <p:nvSpPr>
          <p:cNvPr id="3" name="Text 1"/>
          <p:cNvSpPr/>
          <p:nvPr/>
        </p:nvSpPr>
        <p:spPr>
          <a:xfrm>
            <a:off x="502920" y="493776"/>
            <a:ext cx="11247120" cy="621792"/>
          </a:xfrm>
          <a:prstGeom prst="rect">
            <a:avLst/>
          </a:prstGeom>
          <a:noFill/>
          <a:ln/>
        </p:spPr>
        <p:txBody>
          <a:bodyPr wrap="square" lIns="0" tIns="0" rIns="0" bIns="0" rtlCol="0" anchor="ctr"/>
          <a:lstStyle/>
          <a:p>
            <a:pPr marL="0" indent="0">
              <a:buNone/>
            </a:pPr>
            <a:r>
              <a:rPr lang="en-US" sz="2500" b="1" dirty="0">
                <a:solidFill>
                  <a:srgbClr val="000000"/>
                </a:solidFill>
                <a:latin typeface="Cambria" pitchFamily="34" charset="0"/>
                <a:ea typeface="Cambria" pitchFamily="34" charset="-122"/>
                <a:cs typeface="Cambria" pitchFamily="34" charset="-120"/>
              </a:rPr>
              <a:t>Stage ③ : Four Products, and the Symptom Each One Answers</a:t>
            </a:r>
            <a:endParaRPr lang="en-US" sz="2500" dirty="0"/>
          </a:p>
        </p:txBody>
      </p:sp>
      <p:pic>
        <p:nvPicPr>
          <p:cNvPr id="4"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5"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p:sp>
        <p:nvSpPr>
          <p:cNvPr id="8501" name="Lead"/>
          <p:cNvSpPr/>
          <p:nvPr/>
        </p:nvSpPr>
        <p:spPr>
          <a:xfrm>
            <a:off x="502920" y="1115568"/>
            <a:ext cx="11247120" cy="320040"/>
          </a:xfrm>
          <a:prstGeom prst="rect">
            <a:avLst/>
          </a:prstGeom>
          <a:noFill/>
          <a:ln/>
        </p:spPr>
        <p:txBody>
          <a:bodyPr wrap="square" lIns="0" tIns="0" rIns="0" bIns="0" rtlCol="0" anchor="t"/>
          <a:lstStyle/>
          <a:p>
            <a:pPr marL="0" indent="0">
              <a:lnSpc>
                <a:spcPct val="102000"/>
              </a:lnSpc>
              <a:spcAft>
                <a:spcPts val="0"/>
              </a:spcAft>
              <a:buNone/>
            </a:pPr>
            <a:r>
              <a:rPr lang="en-US" sz="1350" b="1" i="0">
                <a:solidFill>
                  <a:srgbClr val="222222"/>
                </a:solidFill>
                <a:latin typeface="Calibri" pitchFamily="34" charset="0"/>
                <a:ea typeface="Calibri" pitchFamily="34" charset="-122"/>
                <a:cs typeface="Calibri" pitchFamily="34" charset="-120"/>
              </a:rPr>
              <a:t>One invocation → one candidate. The prompt states the symptom, the model chooses the form, every form faces the same gates.</a:t>
            </a:r>
            <a:endParaRPr lang="en-US" sz="1350" dirty="0"/>
          </a:p>
        </p:txBody>
      </p:sp>
      <p:sp>
        <p:nvSpPr>
          <p:cNvPr id="8502" name="Box 1 · Plain rule"/>
          <p:cNvSpPr/>
          <p:nvPr/>
        </p:nvSpPr>
        <p:spPr>
          <a:xfrm>
            <a:off x="457200" y="1572768"/>
            <a:ext cx="5532120" cy="2331720"/>
          </a:xfrm>
          <a:prstGeom prst="roundRect">
            <a:avLst>
              <a:gd name="adj" fmla="val 4000"/>
            </a:avLst>
          </a:prstGeom>
          <a:solidFill>
            <a:srgbClr val="F2F2F2"/>
          </a:solidFill>
          <a:ln>
            <a:noFill/>
          </a:ln>
        </p:spPr>
        <p:txBody>
          <a:bodyPr/>
          <a:lstStyle/>
          <a:p>
            <a:endParaRPr lang="en-US"/>
          </a:p>
        </p:txBody>
      </p:sp>
      <p:sp>
        <p:nvSpPr>
          <p:cNvPr id="8503" name="N 1 · Plain rule"/>
          <p:cNvSpPr/>
          <p:nvPr/>
        </p:nvSpPr>
        <p:spPr>
          <a:xfrm>
            <a:off x="658368" y="1691640"/>
            <a:ext cx="5166360" cy="256032"/>
          </a:xfrm>
          <a:prstGeom prst="rect">
            <a:avLst/>
          </a:prstGeom>
          <a:noFill/>
          <a:ln/>
        </p:spPr>
        <p:txBody>
          <a:bodyPr wrap="square" lIns="0" tIns="0" rIns="0" bIns="0" rtlCol="0" anchor="t"/>
          <a:lstStyle/>
          <a:p>
            <a:pPr marL="0" indent="0">
              <a:lnSpc>
                <a:spcPct val="102000"/>
              </a:lnSpc>
              <a:spcAft>
                <a:spcPts val="0"/>
              </a:spcAft>
              <a:buNone/>
            </a:pPr>
            <a:r>
              <a:rPr lang="en-US" sz="1500" b="1" i="0" dirty="0">
                <a:solidFill>
                  <a:srgbClr val="E31836"/>
                </a:solidFill>
                <a:latin typeface="Calibri" pitchFamily="34" charset="0"/>
                <a:ea typeface="Calibri" pitchFamily="34" charset="-122"/>
                <a:cs typeface="Calibri" pitchFamily="34" charset="-120"/>
              </a:rPr>
              <a:t>1 · Plain rule</a:t>
            </a:r>
            <a:endParaRPr lang="en-US" sz="1500" dirty="0"/>
          </a:p>
        </p:txBody>
      </p:sp>
      <p:sp>
        <p:nvSpPr>
          <p:cNvPr id="8504" name="T 1 · Plain rule"/>
          <p:cNvSpPr/>
          <p:nvPr/>
        </p:nvSpPr>
        <p:spPr>
          <a:xfrm>
            <a:off x="658368" y="2011680"/>
            <a:ext cx="5166360" cy="1828800"/>
          </a:xfrm>
          <a:prstGeom prst="rect">
            <a:avLst/>
          </a:prstGeom>
          <a:noFill/>
          <a:ln/>
        </p:spPr>
        <p:txBody>
          <a:bodyPr wrap="square" lIns="0" tIns="0" rIns="0" bIns="0" rtlCol="0" anchor="t"/>
          <a:lstStyle/>
          <a:p>
            <a:pPr marL="0" indent="0">
              <a:lnSpc>
                <a:spcPct val="102000"/>
              </a:lnSpc>
              <a:spcAft>
                <a:spcPts val="180"/>
              </a:spcAft>
              <a:buNone/>
            </a:pPr>
            <a:r>
              <a:rPr lang="en-US" sz="1450" b="1" i="0">
                <a:solidFill>
                  <a:srgbClr val="222222"/>
                </a:solidFill>
                <a:latin typeface="Calibri" pitchFamily="34" charset="0"/>
                <a:ea typeface="Calibri" pitchFamily="34" charset="-122"/>
                <a:cs typeface="Calibri" pitchFamily="34" charset="-120"/>
              </a:rPr>
              <a:t>When : </a:t>
            </a:r>
            <a:r>
              <a:rPr lang="en-US" sz="1450" b="0" i="0">
                <a:solidFill>
                  <a:srgbClr val="222222"/>
                </a:solidFill>
                <a:latin typeface="Calibri" pitchFamily="34" charset="0"/>
                <a:ea typeface="Calibri" pitchFamily="34" charset="-122"/>
                <a:cs typeface="Calibri" pitchFamily="34" charset="-120"/>
              </a:rPr>
              <a:t>existing concepts name it, an existing intervention answers it</a:t>
            </a:r>
            <a:endParaRPr lang="en-US" sz="1450" dirty="0"/>
          </a:p>
          <a:p>
            <a:pPr marL="0" indent="0">
              <a:lnSpc>
                <a:spcPct val="102000"/>
              </a:lnSpc>
              <a:spcAft>
                <a:spcPts val="180"/>
              </a:spcAft>
              <a:buNone/>
            </a:pPr>
            <a:r>
              <a:rPr lang="en-US" sz="1450" b="1" i="0">
                <a:solidFill>
                  <a:srgbClr val="222222"/>
                </a:solidFill>
                <a:latin typeface="Calibri" pitchFamily="34" charset="0"/>
                <a:ea typeface="Calibri" pitchFamily="34" charset="-122"/>
                <a:cs typeface="Calibri" pitchFamily="34" charset="-120"/>
              </a:rPr>
              <a:t>What : </a:t>
            </a:r>
            <a:r>
              <a:rPr lang="en-US" sz="1450" b="0" i="0">
                <a:solidFill>
                  <a:srgbClr val="222222"/>
                </a:solidFill>
                <a:latin typeface="Calibri" pitchFamily="34" charset="0"/>
                <a:ea typeface="Calibri" pitchFamily="34" charset="-122"/>
                <a:cs typeface="Calibri" pitchFamily="34" charset="-120"/>
              </a:rPr>
              <a:t>a new IF–THEN rule on an uncovered combination; vocabulary unchanged</a:t>
            </a:r>
            <a:endParaRPr lang="en-US" sz="1450" dirty="0"/>
          </a:p>
          <a:p>
            <a:pPr marL="0" indent="0">
              <a:lnSpc>
                <a:spcPct val="102000"/>
              </a:lnSpc>
              <a:spcAft>
                <a:spcPts val="0"/>
              </a:spcAft>
              <a:buNone/>
            </a:pPr>
            <a:r>
              <a:rPr lang="en-US" sz="1450" b="1" i="0">
                <a:solidFill>
                  <a:srgbClr val="E31836"/>
                </a:solidFill>
                <a:latin typeface="Calibri" pitchFamily="34" charset="0"/>
                <a:ea typeface="Calibri" pitchFamily="34" charset="-122"/>
                <a:cs typeface="Calibri" pitchFamily="34" charset="-120"/>
              </a:rPr>
              <a:t>How : </a:t>
            </a:r>
            <a:r>
              <a:rPr lang="en-US" sz="1450" b="0" i="0">
                <a:solidFill>
                  <a:srgbClr val="222222"/>
                </a:solidFill>
                <a:latin typeface="Calibri" pitchFamily="34" charset="0"/>
                <a:ea typeface="Calibri" pitchFamily="34" charset="-122"/>
                <a:cs typeface="Calibri" pitchFamily="34" charset="-120"/>
              </a:rPr>
              <a:t>model fills the template; after the gates, the engine writes it on the empty cell</a:t>
            </a:r>
            <a:endParaRPr lang="en-US" sz="1450" dirty="0"/>
          </a:p>
        </p:txBody>
      </p:sp>
      <p:sp>
        <p:nvSpPr>
          <p:cNvPr id="8505" name="Box 2 · Macro intervention"/>
          <p:cNvSpPr/>
          <p:nvPr/>
        </p:nvSpPr>
        <p:spPr>
          <a:xfrm>
            <a:off x="6217920" y="1572768"/>
            <a:ext cx="5532120" cy="2331720"/>
          </a:xfrm>
          <a:prstGeom prst="roundRect">
            <a:avLst>
              <a:gd name="adj" fmla="val 4000"/>
            </a:avLst>
          </a:prstGeom>
          <a:solidFill>
            <a:srgbClr val="F2F2F2"/>
          </a:solidFill>
          <a:ln>
            <a:noFill/>
          </a:ln>
        </p:spPr>
        <p:txBody>
          <a:bodyPr/>
          <a:lstStyle/>
          <a:p>
            <a:endParaRPr lang="en-US"/>
          </a:p>
        </p:txBody>
      </p:sp>
      <p:sp>
        <p:nvSpPr>
          <p:cNvPr id="8506" name="N 2 · Macro intervention"/>
          <p:cNvSpPr/>
          <p:nvPr/>
        </p:nvSpPr>
        <p:spPr>
          <a:xfrm>
            <a:off x="6419088" y="1691640"/>
            <a:ext cx="5166360" cy="256032"/>
          </a:xfrm>
          <a:prstGeom prst="rect">
            <a:avLst/>
          </a:prstGeom>
          <a:noFill/>
          <a:ln/>
        </p:spPr>
        <p:txBody>
          <a:bodyPr wrap="square" lIns="0" tIns="0" rIns="0" bIns="0" rtlCol="0" anchor="t"/>
          <a:lstStyle/>
          <a:p>
            <a:pPr marL="0" indent="0">
              <a:lnSpc>
                <a:spcPct val="102000"/>
              </a:lnSpc>
              <a:spcAft>
                <a:spcPts val="0"/>
              </a:spcAft>
              <a:buNone/>
            </a:pPr>
            <a:r>
              <a:rPr lang="en-US" sz="1500" b="1" i="0" dirty="0">
                <a:solidFill>
                  <a:srgbClr val="E31836"/>
                </a:solidFill>
                <a:latin typeface="Calibri" pitchFamily="34" charset="0"/>
                <a:ea typeface="Calibri" pitchFamily="34" charset="-122"/>
                <a:cs typeface="Calibri" pitchFamily="34" charset="-120"/>
              </a:rPr>
              <a:t>2 · Macro intervention</a:t>
            </a:r>
            <a:endParaRPr lang="en-US" sz="1500" dirty="0"/>
          </a:p>
        </p:txBody>
      </p:sp>
      <p:sp>
        <p:nvSpPr>
          <p:cNvPr id="8507" name="T 2 · Macro intervention"/>
          <p:cNvSpPr/>
          <p:nvPr/>
        </p:nvSpPr>
        <p:spPr>
          <a:xfrm>
            <a:off x="6419088" y="2011680"/>
            <a:ext cx="5166360" cy="1828800"/>
          </a:xfrm>
          <a:prstGeom prst="rect">
            <a:avLst/>
          </a:prstGeom>
          <a:noFill/>
          <a:ln/>
        </p:spPr>
        <p:txBody>
          <a:bodyPr wrap="square" lIns="0" tIns="0" rIns="0" bIns="0" rtlCol="0" anchor="t"/>
          <a:lstStyle/>
          <a:p>
            <a:pPr marL="0" indent="0">
              <a:lnSpc>
                <a:spcPct val="102000"/>
              </a:lnSpc>
              <a:spcAft>
                <a:spcPts val="180"/>
              </a:spcAft>
              <a:buNone/>
            </a:pPr>
            <a:r>
              <a:rPr lang="en-US" sz="1450" b="1" i="0">
                <a:solidFill>
                  <a:srgbClr val="222222"/>
                </a:solidFill>
                <a:latin typeface="Calibri" pitchFamily="34" charset="0"/>
                <a:ea typeface="Calibri" pitchFamily="34" charset="-122"/>
                <a:cs typeface="Calibri" pitchFamily="34" charset="-120"/>
              </a:rPr>
              <a:t>When : </a:t>
            </a:r>
            <a:r>
              <a:rPr lang="en-US" sz="1450" b="0" i="0">
                <a:solidFill>
                  <a:srgbClr val="222222"/>
                </a:solidFill>
                <a:latin typeface="Calibri" pitchFamily="34" charset="0"/>
                <a:ea typeface="Calibri" pitchFamily="34" charset="-122"/>
                <a:cs typeface="Calibri" pitchFamily="34" charset="-120"/>
              </a:rPr>
              <a:t>2–3 families must act as one, in a fixed ratio</a:t>
            </a:r>
            <a:endParaRPr lang="en-US" sz="1450" dirty="0"/>
          </a:p>
          <a:p>
            <a:pPr marL="0" indent="0">
              <a:lnSpc>
                <a:spcPct val="102000"/>
              </a:lnSpc>
              <a:spcAft>
                <a:spcPts val="180"/>
              </a:spcAft>
              <a:buNone/>
            </a:pPr>
            <a:r>
              <a:rPr lang="en-US" sz="1450" b="1" i="0">
                <a:solidFill>
                  <a:srgbClr val="222222"/>
                </a:solidFill>
                <a:latin typeface="Calibri" pitchFamily="34" charset="0"/>
                <a:ea typeface="Calibri" pitchFamily="34" charset="-122"/>
                <a:cs typeface="Calibri" pitchFamily="34" charset="-120"/>
              </a:rPr>
              <a:t>What : </a:t>
            </a:r>
            <a:r>
              <a:rPr lang="en-US" sz="1450" b="0" i="0">
                <a:solidFill>
                  <a:srgbClr val="222222"/>
                </a:solidFill>
                <a:latin typeface="Calibri" pitchFamily="34" charset="0"/>
                <a:ea typeface="Calibri" pitchFamily="34" charset="-122"/>
                <a:cs typeface="Calibri" pitchFamily="34" charset="-120"/>
              </a:rPr>
              <a:t>a named bundle of ≤ 3 base families with fixed weights</a:t>
            </a:r>
            <a:endParaRPr lang="en-US" sz="1450" dirty="0"/>
          </a:p>
          <a:p>
            <a:pPr marL="0" indent="0">
              <a:lnSpc>
                <a:spcPct val="102000"/>
              </a:lnSpc>
              <a:spcAft>
                <a:spcPts val="0"/>
              </a:spcAft>
              <a:buNone/>
            </a:pPr>
            <a:r>
              <a:rPr lang="en-US" sz="1450" b="1" i="0">
                <a:solidFill>
                  <a:srgbClr val="E31836"/>
                </a:solidFill>
                <a:latin typeface="Calibri" pitchFamily="34" charset="0"/>
                <a:ea typeface="Calibri" pitchFamily="34" charset="-122"/>
                <a:cs typeface="Calibri" pitchFamily="34" charset="-120"/>
              </a:rPr>
              <a:t>How : </a:t>
            </a:r>
            <a:r>
              <a:rPr lang="en-US" sz="1450" b="0" i="0">
                <a:solidFill>
                  <a:srgbClr val="222222"/>
                </a:solidFill>
                <a:latin typeface="Calibri" pitchFamily="34" charset="0"/>
                <a:ea typeface="Calibri" pitchFamily="34" charset="-122"/>
                <a:cs typeface="Calibri" pitchFamily="34" charset="-120"/>
              </a:rPr>
              <a:t>model names it &amp; fixes weights; compiler expands weights × rule intensity</a:t>
            </a:r>
            <a:endParaRPr lang="en-US" sz="1450" dirty="0"/>
          </a:p>
        </p:txBody>
      </p:sp>
      <p:sp>
        <p:nvSpPr>
          <p:cNvPr id="8508" name="Box 3 · Intermediate concept"/>
          <p:cNvSpPr/>
          <p:nvPr/>
        </p:nvSpPr>
        <p:spPr>
          <a:xfrm>
            <a:off x="457200" y="4041648"/>
            <a:ext cx="5532120" cy="2331720"/>
          </a:xfrm>
          <a:prstGeom prst="roundRect">
            <a:avLst>
              <a:gd name="adj" fmla="val 4000"/>
            </a:avLst>
          </a:prstGeom>
          <a:solidFill>
            <a:srgbClr val="F2F2F2"/>
          </a:solidFill>
          <a:ln>
            <a:noFill/>
          </a:ln>
        </p:spPr>
        <p:txBody>
          <a:bodyPr/>
          <a:lstStyle/>
          <a:p>
            <a:endParaRPr lang="en-US"/>
          </a:p>
        </p:txBody>
      </p:sp>
      <p:sp>
        <p:nvSpPr>
          <p:cNvPr id="8509" name="N 3 · Intermediate concept"/>
          <p:cNvSpPr/>
          <p:nvPr/>
        </p:nvSpPr>
        <p:spPr>
          <a:xfrm>
            <a:off x="658368" y="4160520"/>
            <a:ext cx="5166360" cy="256032"/>
          </a:xfrm>
          <a:prstGeom prst="rect">
            <a:avLst/>
          </a:prstGeom>
          <a:noFill/>
          <a:ln/>
        </p:spPr>
        <p:txBody>
          <a:bodyPr wrap="square" lIns="0" tIns="0" rIns="0" bIns="0" rtlCol="0" anchor="t"/>
          <a:lstStyle/>
          <a:p>
            <a:pPr marL="0" indent="0">
              <a:lnSpc>
                <a:spcPct val="102000"/>
              </a:lnSpc>
              <a:spcAft>
                <a:spcPts val="0"/>
              </a:spcAft>
              <a:buNone/>
            </a:pPr>
            <a:r>
              <a:rPr lang="en-US" sz="1500" b="1" i="0" dirty="0">
                <a:solidFill>
                  <a:srgbClr val="E31836"/>
                </a:solidFill>
                <a:latin typeface="Calibri" pitchFamily="34" charset="0"/>
                <a:ea typeface="Calibri" pitchFamily="34" charset="-122"/>
                <a:cs typeface="Calibri" pitchFamily="34" charset="-120"/>
              </a:rPr>
              <a:t>3 · Intermediate concept</a:t>
            </a:r>
            <a:endParaRPr lang="en-US" sz="1500" dirty="0"/>
          </a:p>
        </p:txBody>
      </p:sp>
      <p:sp>
        <p:nvSpPr>
          <p:cNvPr id="8510" name="T 3 · Intermediate concept"/>
          <p:cNvSpPr/>
          <p:nvPr/>
        </p:nvSpPr>
        <p:spPr>
          <a:xfrm>
            <a:off x="658368" y="4480560"/>
            <a:ext cx="5166360" cy="1828800"/>
          </a:xfrm>
          <a:prstGeom prst="rect">
            <a:avLst/>
          </a:prstGeom>
          <a:noFill/>
          <a:ln/>
        </p:spPr>
        <p:txBody>
          <a:bodyPr wrap="square" lIns="0" tIns="0" rIns="0" bIns="0" rtlCol="0" anchor="t"/>
          <a:lstStyle/>
          <a:p>
            <a:pPr marL="0" indent="0">
              <a:lnSpc>
                <a:spcPct val="102000"/>
              </a:lnSpc>
              <a:spcAft>
                <a:spcPts val="180"/>
              </a:spcAft>
              <a:buNone/>
            </a:pPr>
            <a:r>
              <a:rPr lang="en-US" sz="1450" b="1" i="0">
                <a:solidFill>
                  <a:srgbClr val="222222"/>
                </a:solidFill>
                <a:latin typeface="Calibri" pitchFamily="34" charset="0"/>
                <a:ea typeface="Calibri" pitchFamily="34" charset="-122"/>
                <a:cs typeface="Calibri" pitchFamily="34" charset="-120"/>
              </a:rPr>
              <a:t>When : </a:t>
            </a:r>
            <a:r>
              <a:rPr lang="en-US" sz="1450" b="0" i="0">
                <a:solidFill>
                  <a:srgbClr val="222222"/>
                </a:solidFill>
                <a:latin typeface="Calibri" pitchFamily="34" charset="0"/>
                <a:ea typeface="Calibri" pitchFamily="34" charset="-122"/>
                <a:cs typeface="Calibri" pitchFamily="34" charset="-120"/>
              </a:rPr>
              <a:t>the same situation recurs and the five concepts cannot name it</a:t>
            </a:r>
            <a:endParaRPr lang="en-US" sz="1450" dirty="0"/>
          </a:p>
          <a:p>
            <a:pPr marL="0" indent="0">
              <a:lnSpc>
                <a:spcPct val="102000"/>
              </a:lnSpc>
              <a:spcAft>
                <a:spcPts val="180"/>
              </a:spcAft>
              <a:buNone/>
            </a:pPr>
            <a:r>
              <a:rPr lang="en-US" sz="1450" b="1" i="0">
                <a:solidFill>
                  <a:srgbClr val="222222"/>
                </a:solidFill>
                <a:latin typeface="Calibri" pitchFamily="34" charset="0"/>
                <a:ea typeface="Calibri" pitchFamily="34" charset="-122"/>
                <a:cs typeface="Calibri" pitchFamily="34" charset="-120"/>
              </a:rPr>
              <a:t>What : </a:t>
            </a:r>
            <a:r>
              <a:rPr lang="en-US" sz="1450" b="0" i="0">
                <a:solidFill>
                  <a:srgbClr val="222222"/>
                </a:solidFill>
                <a:latin typeface="Calibri" pitchFamily="34" charset="0"/>
                <a:ea typeface="Calibri" pitchFamily="34" charset="-122"/>
                <a:cs typeface="Calibri" pitchFamily="34" charset="-120"/>
              </a:rPr>
              <a:t>a normalized blend of ≤ 4 existing inputs; later rules can cite it</a:t>
            </a:r>
            <a:endParaRPr lang="en-US" sz="1450" dirty="0"/>
          </a:p>
          <a:p>
            <a:pPr marL="0" indent="0">
              <a:lnSpc>
                <a:spcPct val="102000"/>
              </a:lnSpc>
              <a:spcAft>
                <a:spcPts val="0"/>
              </a:spcAft>
              <a:buNone/>
            </a:pPr>
            <a:r>
              <a:rPr lang="en-US" sz="1450" b="1" i="0">
                <a:solidFill>
                  <a:srgbClr val="E31836"/>
                </a:solidFill>
                <a:latin typeface="Calibri" pitchFamily="34" charset="0"/>
                <a:ea typeface="Calibri" pitchFamily="34" charset="-122"/>
                <a:cs typeface="Calibri" pitchFamily="34" charset="-120"/>
              </a:rPr>
              <a:t>How : </a:t>
            </a:r>
            <a:r>
              <a:rPr lang="en-US" sz="1450" b="0" i="0">
                <a:solidFill>
                  <a:srgbClr val="222222"/>
                </a:solidFill>
                <a:latin typeface="Calibri" pitchFamily="34" charset="0"/>
                <a:ea typeface="Calibri" pitchFamily="34" charset="-122"/>
                <a:cs typeface="Calibri" pitchFamily="34" charset="-120"/>
              </a:rPr>
              <a:t>model picks inputs &amp; weights; engine installs a five-term, confidence-gated node</a:t>
            </a:r>
            <a:endParaRPr lang="en-US" sz="1450" dirty="0"/>
          </a:p>
        </p:txBody>
      </p:sp>
      <p:sp>
        <p:nvSpPr>
          <p:cNvPr id="8511" name="Box 4 · Clause actuator"/>
          <p:cNvSpPr/>
          <p:nvPr/>
        </p:nvSpPr>
        <p:spPr>
          <a:xfrm>
            <a:off x="6217920" y="4041648"/>
            <a:ext cx="5532120" cy="2331720"/>
          </a:xfrm>
          <a:prstGeom prst="roundRect">
            <a:avLst>
              <a:gd name="adj" fmla="val 4000"/>
            </a:avLst>
          </a:prstGeom>
          <a:solidFill>
            <a:srgbClr val="F2F2F2"/>
          </a:solidFill>
          <a:ln>
            <a:noFill/>
          </a:ln>
        </p:spPr>
        <p:txBody>
          <a:bodyPr/>
          <a:lstStyle/>
          <a:p>
            <a:endParaRPr lang="en-US"/>
          </a:p>
        </p:txBody>
      </p:sp>
      <p:sp>
        <p:nvSpPr>
          <p:cNvPr id="8512" name="N 4 · Clause actuator"/>
          <p:cNvSpPr/>
          <p:nvPr/>
        </p:nvSpPr>
        <p:spPr>
          <a:xfrm>
            <a:off x="6419088" y="4160520"/>
            <a:ext cx="5166360" cy="256032"/>
          </a:xfrm>
          <a:prstGeom prst="rect">
            <a:avLst/>
          </a:prstGeom>
          <a:noFill/>
          <a:ln/>
        </p:spPr>
        <p:txBody>
          <a:bodyPr wrap="square" lIns="0" tIns="0" rIns="0" bIns="0" rtlCol="0" anchor="t"/>
          <a:lstStyle/>
          <a:p>
            <a:pPr marL="0" indent="0">
              <a:lnSpc>
                <a:spcPct val="102000"/>
              </a:lnSpc>
              <a:spcAft>
                <a:spcPts val="0"/>
              </a:spcAft>
              <a:buNone/>
            </a:pPr>
            <a:r>
              <a:rPr lang="en-US" sz="1500" b="1" i="0" dirty="0">
                <a:solidFill>
                  <a:srgbClr val="E31836"/>
                </a:solidFill>
                <a:latin typeface="Calibri" pitchFamily="34" charset="0"/>
                <a:ea typeface="Calibri" pitchFamily="34" charset="-122"/>
                <a:cs typeface="Calibri" pitchFamily="34" charset="-120"/>
              </a:rPr>
              <a:t>4 · Clause actuator</a:t>
            </a:r>
            <a:endParaRPr lang="en-US" sz="1500" dirty="0"/>
          </a:p>
        </p:txBody>
      </p:sp>
      <p:sp>
        <p:nvSpPr>
          <p:cNvPr id="8513" name="T 4 · Clause actuator"/>
          <p:cNvSpPr/>
          <p:nvPr/>
        </p:nvSpPr>
        <p:spPr>
          <a:xfrm>
            <a:off x="6419088" y="4480560"/>
            <a:ext cx="5166360" cy="1828800"/>
          </a:xfrm>
          <a:prstGeom prst="rect">
            <a:avLst/>
          </a:prstGeom>
          <a:noFill/>
          <a:ln/>
        </p:spPr>
        <p:txBody>
          <a:bodyPr wrap="square" lIns="0" tIns="0" rIns="0" bIns="0" rtlCol="0" anchor="t"/>
          <a:lstStyle/>
          <a:p>
            <a:pPr marL="0" indent="0">
              <a:lnSpc>
                <a:spcPct val="102000"/>
              </a:lnSpc>
              <a:spcAft>
                <a:spcPts val="180"/>
              </a:spcAft>
              <a:buNone/>
            </a:pPr>
            <a:r>
              <a:rPr lang="en-US" sz="1450" b="1" i="0">
                <a:solidFill>
                  <a:srgbClr val="222222"/>
                </a:solidFill>
                <a:latin typeface="Calibri" pitchFamily="34" charset="0"/>
                <a:ea typeface="Calibri" pitchFamily="34" charset="-122"/>
                <a:cs typeface="Calibri" pitchFamily="34" charset="-120"/>
              </a:rPr>
              <a:t>When : </a:t>
            </a:r>
            <a:r>
              <a:rPr lang="en-US" sz="1450" b="0" i="0">
                <a:solidFill>
                  <a:srgbClr val="222222"/>
                </a:solidFill>
                <a:latin typeface="Calibri" pitchFamily="34" charset="0"/>
                <a:ea typeface="Calibri" pitchFamily="34" charset="-122"/>
                <a:cs typeface="Calibri" pitchFamily="34" charset="-120"/>
              </a:rPr>
              <a:t>the tactic needs its own geometry — where on the map to act</a:t>
            </a:r>
            <a:endParaRPr lang="en-US" sz="1450" dirty="0"/>
          </a:p>
          <a:p>
            <a:pPr marL="0" indent="0">
              <a:lnSpc>
                <a:spcPct val="102000"/>
              </a:lnSpc>
              <a:spcAft>
                <a:spcPts val="180"/>
              </a:spcAft>
              <a:buNone/>
            </a:pPr>
            <a:r>
              <a:rPr lang="en-US" sz="1450" b="1" i="0">
                <a:solidFill>
                  <a:srgbClr val="222222"/>
                </a:solidFill>
                <a:latin typeface="Calibri" pitchFamily="34" charset="0"/>
                <a:ea typeface="Calibri" pitchFamily="34" charset="-122"/>
                <a:cs typeface="Calibri" pitchFamily="34" charset="-120"/>
              </a:rPr>
              <a:t>What : </a:t>
            </a:r>
            <a:r>
              <a:rPr lang="en-US" sz="1450" b="0" i="0">
                <a:solidFill>
                  <a:srgbClr val="222222"/>
                </a:solidFill>
                <a:latin typeface="Calibri" pitchFamily="34" charset="0"/>
                <a:ea typeface="Calibri" pitchFamily="34" charset="-122"/>
                <a:cs typeface="Calibri" pitchFamily="34" charset="-120"/>
              </a:rPr>
              <a:t>≤ 3 clauses: one verified effect, one sector, a cell band, an amount</a:t>
            </a:r>
            <a:endParaRPr lang="en-US" sz="1450" dirty="0"/>
          </a:p>
          <a:p>
            <a:pPr marL="0" indent="0">
              <a:lnSpc>
                <a:spcPct val="102000"/>
              </a:lnSpc>
              <a:spcAft>
                <a:spcPts val="0"/>
              </a:spcAft>
              <a:buNone/>
            </a:pPr>
            <a:r>
              <a:rPr lang="en-US" sz="1450" b="1" i="0">
                <a:solidFill>
                  <a:srgbClr val="E31836"/>
                </a:solidFill>
                <a:latin typeface="Calibri" pitchFamily="34" charset="0"/>
                <a:ea typeface="Calibri" pitchFamily="34" charset="-122"/>
                <a:cs typeface="Calibri" pitchFamily="34" charset="-120"/>
              </a:rPr>
              <a:t>How : </a:t>
            </a:r>
            <a:r>
              <a:rPr lang="en-US" sz="1450" b="0" i="0">
                <a:solidFill>
                  <a:srgbClr val="222222"/>
                </a:solidFill>
                <a:latin typeface="Calibri" pitchFamily="34" charset="0"/>
                <a:ea typeface="Calibri" pitchFamily="34" charset="-122"/>
                <a:cs typeface="Calibri" pitchFamily="34" charset="-120"/>
              </a:rPr>
              <a:t>model writes clauses; compiler resolves sectors on the live map before simulation</a:t>
            </a:r>
            <a:endParaRPr lang="en-US" sz="1450" dirty="0"/>
          </a:p>
        </p:txBody>
      </p:sp>
      <p:sp>
        <p:nvSpPr>
          <p:cNvPr id="8514" name="Bottom"/>
          <p:cNvSpPr/>
          <p:nvPr/>
        </p:nvSpPr>
        <p:spPr>
          <a:xfrm>
            <a:off x="502920" y="6492240"/>
            <a:ext cx="11247120" cy="320040"/>
          </a:xfrm>
          <a:prstGeom prst="rect">
            <a:avLst/>
          </a:prstGeom>
          <a:noFill/>
          <a:ln/>
        </p:spPr>
        <p:txBody>
          <a:bodyPr wrap="square" lIns="0" tIns="0" rIns="0" bIns="0" rtlCol="0" anchor="t"/>
          <a:lstStyle/>
          <a:p>
            <a:pPr marL="0" indent="0">
              <a:lnSpc>
                <a:spcPct val="102000"/>
              </a:lnSpc>
              <a:spcAft>
                <a:spcPts val="0"/>
              </a:spcAft>
              <a:buNone/>
            </a:pPr>
            <a:r>
              <a:rPr lang="en-US" sz="1300" b="1" i="1">
                <a:solidFill>
                  <a:srgbClr val="6E6E6E"/>
                </a:solidFill>
                <a:latin typeface="Calibri" pitchFamily="34" charset="0"/>
                <a:ea typeface="Calibri" pitchFamily="34" charset="-122"/>
                <a:cs typeface="Calibri" pitchFamily="34" charset="-120"/>
              </a:rPr>
              <a:t>Only the plain rule leaves the vocabulary unchanged; each other form grows it by one object that must pay at the gates</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37744"/>
            <a:ext cx="100584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DSS FRAMEWORK : LAYER 4 OF 4</a:t>
            </a:r>
            <a:endParaRPr lang="en-US" sz="1300" dirty="0"/>
          </a:p>
        </p:txBody>
      </p:sp>
      <p:sp>
        <p:nvSpPr>
          <p:cNvPr id="3" name="Text 1"/>
          <p:cNvSpPr/>
          <p:nvPr/>
        </p:nvSpPr>
        <p:spPr>
          <a:xfrm>
            <a:off x="502920" y="493776"/>
            <a:ext cx="11247120" cy="621792"/>
          </a:xfrm>
          <a:prstGeom prst="rect">
            <a:avLst/>
          </a:prstGeom>
          <a:noFill/>
          <a:ln/>
        </p:spPr>
        <p:txBody>
          <a:bodyPr wrap="square" lIns="0" tIns="0" rIns="0" bIns="0" rtlCol="0" anchor="ctr"/>
          <a:lstStyle/>
          <a:p>
            <a:pPr marL="0" indent="0">
              <a:buNone/>
            </a:pPr>
            <a:r>
              <a:rPr lang="en-US" sz="2500" b="1">
                <a:solidFill>
                  <a:srgbClr val="000000"/>
                </a:solidFill>
                <a:latin typeface="Cambria" pitchFamily="34" charset="0"/>
                <a:ea typeface="Cambria" pitchFamily="34" charset="-122"/>
                <a:cs typeface="Cambria" pitchFamily="34" charset="-120"/>
              </a:rPr>
              <a:t>Stage ③ Products : (a) Macro, (b) Concept, (c) Actuator</a:t>
            </a:r>
            <a:endParaRPr lang="en-US" sz="2500" dirty="0"/>
          </a:p>
        </p:txBody>
      </p:sp>
      <p:pic>
        <p:nvPicPr>
          <p:cNvPr id="4"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5"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p:pic>
        <p:nvPicPr>
          <p:cNvPr id="6" name="!!fig49" descr="/tmp/thx/deck/figs/Figure4_9.png"/>
          <p:cNvPicPr>
            <a:picLocks noChangeAspect="1"/>
          </p:cNvPicPr>
          <p:nvPr/>
        </p:nvPicPr>
        <p:blipFill>
          <a:blip r:embed="rId5"/>
          <a:srcRect b="75500"/>
          <a:stretch/>
        </p:blipFill>
        <p:spPr>
          <a:xfrm>
            <a:off x="365760" y="1371600"/>
            <a:ext cx="3794760" cy="1481328"/>
          </a:xfrm>
          <a:prstGeom prst="rect">
            <a:avLst/>
          </a:prstGeom>
        </p:spPr>
      </p:pic>
      <p:pic>
        <p:nvPicPr>
          <p:cNvPr id="9018" name="!!fig49" descr="/tmp/thx/deck/figs/Figure4_9.png"/>
          <p:cNvPicPr>
            <a:picLocks noChangeAspect="1"/>
          </p:cNvPicPr>
          <p:nvPr/>
        </p:nvPicPr>
        <p:blipFill>
          <a:blip r:embed="rId5"/>
          <a:srcRect t="25000" b="40000"/>
          <a:stretch/>
        </p:blipFill>
        <p:spPr>
          <a:xfrm>
            <a:off x="4251960" y="1371600"/>
            <a:ext cx="3794760" cy="2112264"/>
          </a:xfrm>
          <a:prstGeom prst="rect">
            <a:avLst/>
          </a:prstGeom>
        </p:spPr>
      </p:pic>
      <p:pic>
        <p:nvPicPr>
          <p:cNvPr id="9019" name="!!fig49" descr="/tmp/thx/deck/figs/Figure4_9.png"/>
          <p:cNvPicPr>
            <a:picLocks noChangeAspect="1"/>
          </p:cNvPicPr>
          <p:nvPr/>
        </p:nvPicPr>
        <p:blipFill>
          <a:blip r:embed="rId5"/>
          <a:srcRect t="61500"/>
          <a:stretch/>
        </p:blipFill>
        <p:spPr>
          <a:xfrm>
            <a:off x="8138160" y="1371600"/>
            <a:ext cx="3794760" cy="2331720"/>
          </a:xfrm>
          <a:prstGeom prst="rect">
            <a:avLst/>
          </a:prstGeom>
        </p:spPr>
      </p:pic>
      <p:sp>
        <p:nvSpPr>
          <p:cNvPr id="9020" name="Text 0"/>
          <p:cNvSpPr/>
          <p:nvPr/>
        </p:nvSpPr>
        <p:spPr>
          <a:xfrm>
            <a:off x="365760" y="3931920"/>
            <a:ext cx="3794760" cy="548640"/>
          </a:xfrm>
          <a:prstGeom prst="rect">
            <a:avLst/>
          </a:prstGeom>
          <a:noFill/>
          <a:ln/>
        </p:spPr>
        <p:txBody>
          <a:bodyPr wrap="square" lIns="0" tIns="0" rIns="0" bIns="0" rtlCol="0" anchor="ctr"/>
          <a:lstStyle/>
          <a:p>
            <a:pPr marL="0" indent="0">
              <a:buNone/>
            </a:pPr>
            <a:r>
              <a:rPr lang="en-US" sz="1300" b="1" kern="0">
                <a:solidFill>
                  <a:srgbClr val="E31836"/>
                </a:solidFill>
                <a:latin typeface="Calibri" pitchFamily="34" charset="0"/>
                <a:ea typeface="Calibri" pitchFamily="34" charset="-122"/>
                <a:cs typeface="Calibri" pitchFamily="34" charset="-120"/>
              </a:rPr>
              <a:t>(a) Macro: backburn = containment 0.6 + suppression 0.4</a:t>
            </a:r>
            <a:endParaRPr lang="en-US" sz="1300" dirty="0"/>
          </a:p>
        </p:txBody>
      </p:sp>
      <p:sp>
        <p:nvSpPr>
          <p:cNvPr id="9021" name="Text 0"/>
          <p:cNvSpPr/>
          <p:nvPr/>
        </p:nvSpPr>
        <p:spPr>
          <a:xfrm>
            <a:off x="4251960" y="3931920"/>
            <a:ext cx="3794760" cy="548640"/>
          </a:xfrm>
          <a:prstGeom prst="rect">
            <a:avLst/>
          </a:prstGeom>
          <a:noFill/>
          <a:ln/>
        </p:spPr>
        <p:txBody>
          <a:bodyPr wrap="square" lIns="0" tIns="0" rIns="0" bIns="0" rtlCol="0" anchor="ctr"/>
          <a:lstStyle/>
          <a:p>
            <a:pPr marL="0" indent="0">
              <a:buNone/>
            </a:pPr>
            <a:r>
              <a:rPr lang="en-US" sz="1300" b="1" kern="0">
                <a:solidFill>
                  <a:srgbClr val="E31836"/>
                </a:solidFill>
                <a:latin typeface="Calibri" pitchFamily="34" charset="0"/>
                <a:ea typeface="Calibri" pitchFamily="34" charset="-122"/>
                <a:cs typeface="Calibri" pitchFamily="34" charset="-120"/>
              </a:rPr>
              <a:t>(b) Concept: ember spotting risk, a new node</a:t>
            </a:r>
            <a:endParaRPr lang="en-US" sz="1300" dirty="0"/>
          </a:p>
        </p:txBody>
      </p:sp>
      <p:sp>
        <p:nvSpPr>
          <p:cNvPr id="9022" name="Text 0"/>
          <p:cNvSpPr/>
          <p:nvPr/>
        </p:nvSpPr>
        <p:spPr>
          <a:xfrm>
            <a:off x="8138160" y="3931920"/>
            <a:ext cx="3794760" cy="548640"/>
          </a:xfrm>
          <a:prstGeom prst="rect">
            <a:avLst/>
          </a:prstGeom>
          <a:noFill/>
          <a:ln/>
        </p:spPr>
        <p:txBody>
          <a:bodyPr wrap="square" lIns="0" tIns="0" rIns="0" bIns="0" rtlCol="0" anchor="ctr"/>
          <a:lstStyle/>
          <a:p>
            <a:pPr marL="0" indent="0">
              <a:buNone/>
            </a:pPr>
            <a:r>
              <a:rPr lang="en-US" sz="1300" b="1" kern="0">
                <a:solidFill>
                  <a:srgbClr val="E31836"/>
                </a:solidFill>
                <a:latin typeface="Calibri" pitchFamily="34" charset="0"/>
                <a:ea typeface="Calibri" pitchFamily="34" charset="-122"/>
                <a:cs typeface="Calibri" pitchFamily="34" charset="-120"/>
              </a:rPr>
              <a:t>(c) Actuator: lakeside_capacity_bridge, three clauses</a:t>
            </a:r>
            <a:endParaRPr lang="en-US" sz="1300" dirty="0"/>
          </a:p>
        </p:txBody>
      </p:sp>
      <p:sp>
        <p:nvSpPr>
          <p:cNvPr id="9023" name="Text 0"/>
          <p:cNvSpPr/>
          <p:nvPr/>
        </p:nvSpPr>
        <p:spPr>
          <a:xfrm>
            <a:off x="365760" y="4754880"/>
            <a:ext cx="11430000" cy="822960"/>
          </a:xfrm>
          <a:prstGeom prst="rect">
            <a:avLst/>
          </a:prstGeom>
          <a:noFill/>
          <a:ln/>
        </p:spPr>
        <p:txBody>
          <a:bodyPr wrap="square" lIns="0" tIns="0" rIns="0" bIns="0" rtlCol="0" anchor="ctr"/>
          <a:lstStyle/>
          <a:p>
            <a:pPr marL="0" indent="0">
              <a:buNone/>
            </a:pPr>
            <a:r>
              <a:rPr lang="en-US" sz="1500" b="0" kern="0">
                <a:latin typeface="Calibri" pitchFamily="34" charset="0"/>
                <a:ea typeface="Calibri" pitchFamily="34" charset="-122"/>
                <a:cs typeface="Calibri" pitchFamily="34" charset="-120"/>
              </a:rPr>
              <a:t>Macro: a fixed ratio between existing orders. Concept: changes what rules can see, never what they can order. Actuator: says where on the map to act; sectors resolved on the live map.</a:t>
            </a:r>
            <a:endParaRPr lang="en-US" sz="1500" dirty="0"/>
          </a:p>
        </p:txBody>
      </p:sp>
    </p:spTree>
    <p:extLst>
      <p:ext uri="{BB962C8B-B14F-4D97-AF65-F5344CB8AC3E}">
        <p14:creationId xmlns:p14="http://schemas.microsoft.com/office/powerpoint/2010/main" val="928673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56032"/>
            <a:ext cx="91440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DSS FRAMEWORK : ARCHITECTURE</a:t>
            </a:r>
            <a:endParaRPr lang="en-US" sz="1300" dirty="0"/>
          </a:p>
        </p:txBody>
      </p:sp>
      <p:sp>
        <p:nvSpPr>
          <p:cNvPr id="3" name="Text 1"/>
          <p:cNvSpPr/>
          <p:nvPr/>
        </p:nvSpPr>
        <p:spPr>
          <a:xfrm>
            <a:off x="502920" y="512064"/>
            <a:ext cx="11247120" cy="731520"/>
          </a:xfrm>
          <a:prstGeom prst="rect">
            <a:avLst/>
          </a:prstGeom>
          <a:noFill/>
          <a:ln/>
        </p:spPr>
        <p:txBody>
          <a:bodyPr wrap="square" lIns="0" tIns="0" rIns="0" bIns="0" rtlCol="0" anchor="ctr"/>
          <a:lstStyle/>
          <a:p>
            <a:pPr marL="0" indent="0">
              <a:buNone/>
            </a:pPr>
            <a:r>
              <a:rPr lang="en-US" sz="2900" b="1" dirty="0">
                <a:solidFill>
                  <a:srgbClr val="000000"/>
                </a:solidFill>
                <a:latin typeface="Cambria" pitchFamily="34" charset="0"/>
                <a:ea typeface="Cambria" pitchFamily="34" charset="-122"/>
                <a:cs typeface="Cambria" pitchFamily="34" charset="-120"/>
              </a:rPr>
              <a:t>Local DSS and Global DSS : Many Regions, One Coordinator</a:t>
            </a:r>
            <a:endParaRPr lang="en-US" sz="2900" dirty="0"/>
          </a:p>
        </p:txBody>
      </p:sp>
      <p:pic>
        <p:nvPicPr>
          <p:cNvPr id="6" name="Image 1"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7" name="Image 2" descr="/tmp/thx/deck/figs/eee_logo.png"/>
          <p:cNvPicPr>
            <a:picLocks noChangeAspect="1"/>
          </p:cNvPicPr>
          <p:nvPr/>
        </p:nvPicPr>
        <p:blipFill>
          <a:blip r:embed="rId4"/>
          <a:stretch>
            <a:fillRect/>
          </a:stretch>
        </p:blipFill>
        <p:spPr>
          <a:xfrm>
            <a:off x="11265408" y="186217"/>
            <a:ext cx="475488" cy="395662"/>
          </a:xfrm>
          <a:prstGeom prst="rect">
            <a:avLst/>
          </a:prstGeom>
        </p:spPr>
      </p:pic>
      <p:sp>
        <p:nvSpPr>
          <p:cNvPr id="8501" name="H local"/>
          <p:cNvSpPr/>
          <p:nvPr/>
        </p:nvSpPr>
        <p:spPr>
          <a:xfrm>
            <a:off x="457200" y="1280160"/>
            <a:ext cx="5532120" cy="274320"/>
          </a:xfrm>
          <a:prstGeom prst="rect">
            <a:avLst/>
          </a:prstGeom>
          <a:noFill/>
          <a:ln/>
        </p:spPr>
        <p:txBody>
          <a:bodyPr wrap="square" lIns="0" tIns="0" rIns="0" bIns="0" rtlCol="0" anchor="t"/>
          <a:lstStyle/>
          <a:p>
            <a:pPr marL="0" indent="0">
              <a:lnSpc>
                <a:spcPct val="102000"/>
              </a:lnSpc>
              <a:spcAft>
                <a:spcPts val="0"/>
              </a:spcAft>
              <a:buNone/>
            </a:pPr>
            <a:r>
              <a:rPr lang="en-US" sz="1600" b="1" i="0" dirty="0">
                <a:solidFill>
                  <a:srgbClr val="E31836"/>
                </a:solidFill>
                <a:latin typeface="Calibri" pitchFamily="34" charset="0"/>
                <a:ea typeface="Calibri" pitchFamily="34" charset="-122"/>
                <a:cs typeface="Calibri" pitchFamily="34" charset="-120"/>
              </a:rPr>
              <a:t>LOCAL DSS · ONE PER REGION</a:t>
            </a:r>
            <a:endParaRPr lang="en-US" sz="1600" dirty="0"/>
          </a:p>
        </p:txBody>
      </p:sp>
      <p:sp>
        <p:nvSpPr>
          <p:cNvPr id="8502" name="Box local"/>
          <p:cNvSpPr/>
          <p:nvPr/>
        </p:nvSpPr>
        <p:spPr>
          <a:xfrm>
            <a:off x="457200" y="1627632"/>
            <a:ext cx="5532120" cy="3108960"/>
          </a:xfrm>
          <a:prstGeom prst="roundRect">
            <a:avLst>
              <a:gd name="adj" fmla="val 4000"/>
            </a:avLst>
          </a:prstGeom>
          <a:solidFill>
            <a:srgbClr val="F2F2F2"/>
          </a:solidFill>
          <a:ln>
            <a:noFill/>
          </a:ln>
        </p:spPr>
        <p:txBody>
          <a:bodyPr/>
          <a:lstStyle/>
          <a:p>
            <a:endParaRPr lang="en-US" sz="2000"/>
          </a:p>
        </p:txBody>
      </p:sp>
      <p:sp>
        <p:nvSpPr>
          <p:cNvPr id="8503" name="B local"/>
          <p:cNvSpPr/>
          <p:nvPr/>
        </p:nvSpPr>
        <p:spPr>
          <a:xfrm>
            <a:off x="658368" y="1810512"/>
            <a:ext cx="5138928" cy="2743200"/>
          </a:xfrm>
          <a:prstGeom prst="rect">
            <a:avLst/>
          </a:prstGeom>
          <a:noFill/>
          <a:ln/>
        </p:spPr>
        <p:txBody>
          <a:bodyPr wrap="square" lIns="0" tIns="0" rIns="0" bIns="0" rtlCol="0" anchor="t"/>
          <a:lstStyle/>
          <a:p>
            <a:pPr marL="152400" indent="-152400">
              <a:lnSpc>
                <a:spcPct val="102000"/>
              </a:lnSpc>
              <a:spcAft>
                <a:spcPts val="340"/>
              </a:spcAft>
              <a:buSzPct val="100000"/>
              <a:buChar char="•"/>
            </a:pPr>
            <a:r>
              <a:rPr lang="en-US" sz="1700" b="0" i="0">
                <a:solidFill>
                  <a:srgbClr val="222222"/>
                </a:solidFill>
                <a:latin typeface="Calibri" pitchFamily="34" charset="0"/>
                <a:ea typeface="Calibri" pitchFamily="34" charset="-122"/>
                <a:cs typeface="Calibri" pitchFamily="34" charset="-120"/>
              </a:rPr>
              <a:t>Runs the full four-layer loop on its own region</a:t>
            </a:r>
            <a:endParaRPr lang="en-US" sz="1700" dirty="0"/>
          </a:p>
          <a:p>
            <a:pPr marL="152400" indent="-152400">
              <a:lnSpc>
                <a:spcPct val="102000"/>
              </a:lnSpc>
              <a:spcAft>
                <a:spcPts val="340"/>
              </a:spcAft>
              <a:buSzPct val="100000"/>
              <a:buChar char="•"/>
            </a:pPr>
            <a:r>
              <a:rPr lang="en-US" sz="1700" b="0" i="0">
                <a:solidFill>
                  <a:srgbClr val="222222"/>
                </a:solidFill>
                <a:latin typeface="Calibri" pitchFamily="34" charset="0"/>
                <a:ea typeface="Calibri" pitchFamily="34" charset="-122"/>
                <a:cs typeface="Calibri" pitchFamily="34" charset="-120"/>
              </a:rPr>
              <a:t>All inference lives here: features, concepts, rules, tests, adaptation</a:t>
            </a:r>
            <a:endParaRPr lang="en-US" sz="1700" dirty="0"/>
          </a:p>
          <a:p>
            <a:pPr marL="152400" indent="-152400">
              <a:lnSpc>
                <a:spcPct val="102000"/>
              </a:lnSpc>
              <a:spcAft>
                <a:spcPts val="340"/>
              </a:spcAft>
              <a:buSzPct val="100000"/>
              <a:buChar char="•"/>
            </a:pPr>
            <a:r>
              <a:rPr lang="en-US" sz="1700" b="0" i="0">
                <a:solidFill>
                  <a:srgbClr val="222222"/>
                </a:solidFill>
                <a:latin typeface="Calibri" pitchFamily="34" charset="0"/>
                <a:ea typeface="Calibri" pitchFamily="34" charset="-122"/>
                <a:cs typeface="Calibri" pitchFamily="34" charset="-120"/>
              </a:rPr>
              <a:t>Sends up 3 numbers: priority, resource request, confidence</a:t>
            </a:r>
            <a:endParaRPr lang="en-US" sz="1700" dirty="0"/>
          </a:p>
          <a:p>
            <a:pPr marL="152400" indent="-152400">
              <a:lnSpc>
                <a:spcPct val="102000"/>
              </a:lnSpc>
              <a:spcAft>
                <a:spcPts val="0"/>
              </a:spcAft>
              <a:buSzPct val="100000"/>
              <a:buChar char="•"/>
            </a:pPr>
            <a:r>
              <a:rPr lang="en-US" sz="1700" b="0" i="0">
                <a:solidFill>
                  <a:srgbClr val="222222"/>
                </a:solidFill>
                <a:latin typeface="Calibri" pitchFamily="34" charset="0"/>
                <a:ea typeface="Calibri" pitchFamily="34" charset="-122"/>
                <a:cs typeface="Calibri" pitchFamily="34" charset="-120"/>
              </a:rPr>
              <a:t>Never raw sensor fields or rule activations</a:t>
            </a:r>
            <a:endParaRPr lang="en-US" sz="1700" dirty="0"/>
          </a:p>
        </p:txBody>
      </p:sp>
      <p:sp>
        <p:nvSpPr>
          <p:cNvPr id="8504" name="H global"/>
          <p:cNvSpPr/>
          <p:nvPr/>
        </p:nvSpPr>
        <p:spPr>
          <a:xfrm>
            <a:off x="6217920" y="1280160"/>
            <a:ext cx="5532120" cy="274320"/>
          </a:xfrm>
          <a:prstGeom prst="rect">
            <a:avLst/>
          </a:prstGeom>
          <a:noFill/>
          <a:ln/>
        </p:spPr>
        <p:txBody>
          <a:bodyPr wrap="square" lIns="0" tIns="0" rIns="0" bIns="0" rtlCol="0" anchor="t"/>
          <a:lstStyle/>
          <a:p>
            <a:pPr marL="0" indent="0">
              <a:lnSpc>
                <a:spcPct val="102000"/>
              </a:lnSpc>
              <a:spcAft>
                <a:spcPts val="0"/>
              </a:spcAft>
              <a:buNone/>
            </a:pPr>
            <a:r>
              <a:rPr lang="en-US" sz="1600" b="1" i="0" dirty="0">
                <a:solidFill>
                  <a:srgbClr val="E31836"/>
                </a:solidFill>
                <a:latin typeface="Calibri" pitchFamily="34" charset="0"/>
                <a:ea typeface="Calibri" pitchFamily="34" charset="-122"/>
                <a:cs typeface="Calibri" pitchFamily="34" charset="-120"/>
              </a:rPr>
              <a:t>GLOBAL DSS · EXACTLY ONE</a:t>
            </a:r>
            <a:endParaRPr lang="en-US" sz="1600" dirty="0"/>
          </a:p>
        </p:txBody>
      </p:sp>
      <p:sp>
        <p:nvSpPr>
          <p:cNvPr id="8505" name="Box global"/>
          <p:cNvSpPr/>
          <p:nvPr/>
        </p:nvSpPr>
        <p:spPr>
          <a:xfrm>
            <a:off x="6217920" y="1627632"/>
            <a:ext cx="5532120" cy="3108960"/>
          </a:xfrm>
          <a:prstGeom prst="roundRect">
            <a:avLst>
              <a:gd name="adj" fmla="val 4000"/>
            </a:avLst>
          </a:prstGeom>
          <a:solidFill>
            <a:srgbClr val="FBF1F1"/>
          </a:solidFill>
          <a:ln>
            <a:noFill/>
          </a:ln>
        </p:spPr>
        <p:txBody>
          <a:bodyPr/>
          <a:lstStyle/>
          <a:p>
            <a:endParaRPr lang="en-US"/>
          </a:p>
        </p:txBody>
      </p:sp>
      <p:sp>
        <p:nvSpPr>
          <p:cNvPr id="8506" name="B global"/>
          <p:cNvSpPr/>
          <p:nvPr/>
        </p:nvSpPr>
        <p:spPr>
          <a:xfrm>
            <a:off x="6419088" y="1810512"/>
            <a:ext cx="5138928" cy="2743200"/>
          </a:xfrm>
          <a:prstGeom prst="rect">
            <a:avLst/>
          </a:prstGeom>
          <a:noFill/>
          <a:ln/>
        </p:spPr>
        <p:txBody>
          <a:bodyPr wrap="square" lIns="0" tIns="0" rIns="0" bIns="0" rtlCol="0" anchor="t"/>
          <a:lstStyle/>
          <a:p>
            <a:pPr marL="152400" indent="-152400">
              <a:lnSpc>
                <a:spcPct val="102000"/>
              </a:lnSpc>
              <a:spcAft>
                <a:spcPts val="340"/>
              </a:spcAft>
              <a:buSzPct val="100000"/>
              <a:buChar char="•"/>
            </a:pPr>
            <a:r>
              <a:rPr lang="en-US" sz="1700" b="0" i="0">
                <a:solidFill>
                  <a:srgbClr val="222222"/>
                </a:solidFill>
                <a:latin typeface="Calibri" pitchFamily="34" charset="0"/>
                <a:ea typeface="Calibri" pitchFamily="34" charset="-122"/>
                <a:cs typeface="Calibri" pitchFamily="34" charset="-120"/>
              </a:rPr>
              <a:t>No inference, no orders of its own</a:t>
            </a:r>
            <a:endParaRPr lang="en-US" sz="1700" dirty="0"/>
          </a:p>
          <a:p>
            <a:pPr marL="152400" indent="-152400">
              <a:lnSpc>
                <a:spcPct val="102000"/>
              </a:lnSpc>
              <a:spcAft>
                <a:spcPts val="340"/>
              </a:spcAft>
              <a:buSzPct val="100000"/>
              <a:buChar char="•"/>
            </a:pPr>
            <a:r>
              <a:rPr lang="en-US" sz="1700" b="0" i="0">
                <a:solidFill>
                  <a:srgbClr val="222222"/>
                </a:solidFill>
                <a:latin typeface="Calibri" pitchFamily="34" charset="0"/>
                <a:ea typeface="Calibri" pitchFamily="34" charset="-122"/>
                <a:cs typeface="Calibri" pitchFamily="34" charset="-120"/>
              </a:rPr>
              <a:t>Ranks regions by reported priority</a:t>
            </a:r>
            <a:endParaRPr lang="en-US" sz="1700" dirty="0"/>
          </a:p>
          <a:p>
            <a:pPr marL="152400" indent="-152400">
              <a:lnSpc>
                <a:spcPct val="102000"/>
              </a:lnSpc>
              <a:spcAft>
                <a:spcPts val="340"/>
              </a:spcAft>
              <a:buSzPct val="100000"/>
              <a:buChar char="•"/>
            </a:pPr>
            <a:r>
              <a:rPr lang="en-US" sz="1700" b="0" i="0">
                <a:solidFill>
                  <a:srgbClr val="222222"/>
                </a:solidFill>
                <a:latin typeface="Calibri" pitchFamily="34" charset="0"/>
                <a:ea typeface="Calibri" pitchFamily="34" charset="-122"/>
                <a:cs typeface="Calibri" pitchFamily="34" charset="-120"/>
              </a:rPr>
              <a:t>Attention shares · pool allocation · thresholds in force</a:t>
            </a:r>
            <a:endParaRPr lang="en-US" sz="1700" dirty="0"/>
          </a:p>
          <a:p>
            <a:pPr marL="152400" indent="-152400">
              <a:lnSpc>
                <a:spcPct val="102000"/>
              </a:lnSpc>
              <a:spcAft>
                <a:spcPts val="0"/>
              </a:spcAft>
              <a:buSzPct val="100000"/>
              <a:buChar char="•"/>
            </a:pPr>
            <a:r>
              <a:rPr lang="en-US" sz="1700" b="0" i="0">
                <a:solidFill>
                  <a:srgbClr val="222222"/>
                </a:solidFill>
                <a:latin typeface="Calibri" pitchFamily="34" charset="0"/>
                <a:ea typeface="Calibri" pitchFamily="34" charset="-122"/>
                <a:cs typeface="Calibri" pitchFamily="34" charset="-120"/>
              </a:rPr>
              <a:t>Sends down 3 numbers: allocation, priorities, thresholds</a:t>
            </a:r>
            <a:endParaRPr lang="en-US" sz="1700" dirty="0"/>
          </a:p>
        </p:txBody>
      </p:sp>
      <p:sp>
        <p:nvSpPr>
          <p:cNvPr id="8507" name="Channel"/>
          <p:cNvSpPr/>
          <p:nvPr/>
        </p:nvSpPr>
        <p:spPr>
          <a:xfrm>
            <a:off x="457200" y="4983480"/>
            <a:ext cx="11292840" cy="914400"/>
          </a:xfrm>
          <a:prstGeom prst="rect">
            <a:avLst/>
          </a:prstGeom>
          <a:noFill/>
          <a:ln/>
        </p:spPr>
        <p:txBody>
          <a:bodyPr wrap="square" lIns="0" tIns="0" rIns="0" bIns="0" rtlCol="0" anchor="t"/>
          <a:lstStyle/>
          <a:p>
            <a:pPr marL="152400" indent="-152400">
              <a:lnSpc>
                <a:spcPct val="102000"/>
              </a:lnSpc>
              <a:spcAft>
                <a:spcPts val="300"/>
              </a:spcAft>
              <a:buSzPct val="100000"/>
              <a:buChar char="•"/>
            </a:pPr>
            <a:r>
              <a:rPr lang="en-US" sz="1700" b="0" i="0" dirty="0">
                <a:solidFill>
                  <a:srgbClr val="222222"/>
                </a:solidFill>
                <a:latin typeface="Calibri" pitchFamily="34" charset="0"/>
                <a:ea typeface="Calibri" pitchFamily="34" charset="-122"/>
                <a:cs typeface="Calibri" pitchFamily="34" charset="-120"/>
              </a:rPr>
              <a:t>Narrow channel by design: 3 numbers up, 3 down → auditable, short decision path</a:t>
            </a:r>
            <a:endParaRPr lang="en-US" sz="1700" dirty="0"/>
          </a:p>
          <a:p>
            <a:pPr marL="152400" indent="-152400">
              <a:lnSpc>
                <a:spcPct val="102000"/>
              </a:lnSpc>
              <a:spcAft>
                <a:spcPts val="0"/>
              </a:spcAft>
              <a:buSzPct val="100000"/>
              <a:buChar char="•"/>
            </a:pPr>
            <a:r>
              <a:rPr lang="en-US" sz="1700" b="1" i="0" dirty="0">
                <a:solidFill>
                  <a:srgbClr val="222222"/>
                </a:solidFill>
                <a:latin typeface="Calibri" pitchFamily="34" charset="0"/>
                <a:ea typeface="Calibri" pitchFamily="34" charset="-122"/>
                <a:cs typeface="Calibri" pitchFamily="34" charset="-120"/>
              </a:rPr>
              <a:t>Why it scales: 16× the agents cost ≤ 1.29× the cycle share</a:t>
            </a:r>
            <a:endParaRPr lang="en-US" sz="1700" dirty="0"/>
          </a:p>
        </p:txBody>
      </p:sp>
      <p:sp>
        <p:nvSpPr>
          <p:cNvPr id="8508" name="Bottom"/>
          <p:cNvSpPr/>
          <p:nvPr/>
        </p:nvSpPr>
        <p:spPr>
          <a:xfrm>
            <a:off x="457200" y="6126480"/>
            <a:ext cx="11292840" cy="411480"/>
          </a:xfrm>
          <a:prstGeom prst="rect">
            <a:avLst/>
          </a:prstGeom>
          <a:noFill/>
          <a:ln/>
        </p:spPr>
        <p:txBody>
          <a:bodyPr wrap="square" lIns="0" tIns="0" rIns="0" bIns="0" rtlCol="0" anchor="t"/>
          <a:lstStyle/>
          <a:p>
            <a:pPr marL="0" indent="0">
              <a:lnSpc>
                <a:spcPct val="102000"/>
              </a:lnSpc>
              <a:spcAft>
                <a:spcPts val="0"/>
              </a:spcAft>
              <a:buNone/>
            </a:pPr>
            <a:r>
              <a:rPr lang="en-US" sz="1600" b="1" i="0">
                <a:solidFill>
                  <a:srgbClr val="E31836"/>
                </a:solidFill>
                <a:latin typeface="Calibri" pitchFamily="34" charset="0"/>
                <a:ea typeface="Calibri" pitchFamily="34" charset="-122"/>
                <a:cs typeface="Calibri" pitchFamily="34" charset="-120"/>
              </a:rPr>
              <a:t>Decisions are local. The global layer only ranks and shares — it cannot invent an order, so it cannot break traceability.</a:t>
            </a:r>
            <a:endParaRPr lang="en-US" sz="1600" dirty="0"/>
          </a:p>
        </p:txBody>
      </p:sp>
    </p:spTree>
    <p:extLst>
      <p:ext uri="{BB962C8B-B14F-4D97-AF65-F5344CB8AC3E}">
        <p14:creationId xmlns:p14="http://schemas.microsoft.com/office/powerpoint/2010/main" val="424762900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28">
    <p:bg>
      <p:bgPr>
        <a:solidFill>
          <a:schemeClr val="tx1">
            <a:lumMod val="65000"/>
            <a:lumOff val="35000"/>
          </a:schemeClr>
        </a:solidFill>
        <a:effectLst/>
      </p:bgPr>
    </p:bg>
    <p:spTree>
      <p:nvGrpSpPr>
        <p:cNvPr id="1" name=""/>
        <p:cNvGrpSpPr/>
        <p:nvPr/>
      </p:nvGrpSpPr>
      <p:grpSpPr>
        <a:xfrm>
          <a:off x="0" y="0"/>
          <a:ext cx="0" cy="0"/>
          <a:chOff x="0" y="0"/>
          <a:chExt cx="0" cy="0"/>
        </a:xfrm>
      </p:grpSpPr>
      <p:sp>
        <p:nvSpPr>
          <p:cNvPr id="3" name="Text 1"/>
          <p:cNvSpPr/>
          <p:nvPr/>
        </p:nvSpPr>
        <p:spPr>
          <a:xfrm>
            <a:off x="822960" y="2606040"/>
            <a:ext cx="10607040" cy="914400"/>
          </a:xfrm>
          <a:prstGeom prst="rect">
            <a:avLst/>
          </a:prstGeom>
          <a:noFill/>
          <a:ln/>
        </p:spPr>
        <p:txBody>
          <a:bodyPr wrap="square" lIns="0" tIns="0" rIns="0" bIns="0" rtlCol="0" anchor="ctr"/>
          <a:lstStyle/>
          <a:p>
            <a:pPr marL="0" indent="0">
              <a:buNone/>
            </a:pPr>
            <a:r>
              <a:rPr lang="tr-TR" sz="4800" b="1" dirty="0" err="1">
                <a:solidFill>
                  <a:srgbClr val="FFFFFF"/>
                </a:solidFill>
                <a:latin typeface="Cambria" pitchFamily="34" charset="0"/>
                <a:ea typeface="Cambria" pitchFamily="34" charset="-122"/>
                <a:cs typeface="Cambria" pitchFamily="34" charset="-120"/>
              </a:rPr>
              <a:t>Performance</a:t>
            </a:r>
            <a:endParaRPr lang="en-US" sz="4800" dirty="0"/>
          </a:p>
        </p:txBody>
      </p:sp>
      <p:pic>
        <p:nvPicPr>
          <p:cNvPr id="5"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6"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p:sp>
        <p:nvSpPr>
          <p:cNvPr id="7" name="Text 0">
            <a:extLst>
              <a:ext uri="{FF2B5EF4-FFF2-40B4-BE49-F238E27FC236}">
                <a16:creationId xmlns:a16="http://schemas.microsoft.com/office/drawing/2014/main" id="{1089FD63-DA4C-4244-9AB0-321F91F21595}"/>
              </a:ext>
            </a:extLst>
          </p:cNvPr>
          <p:cNvSpPr/>
          <p:nvPr/>
        </p:nvSpPr>
        <p:spPr>
          <a:xfrm>
            <a:off x="822960" y="2194560"/>
            <a:ext cx="5486400" cy="365760"/>
          </a:xfrm>
          <a:prstGeom prst="rect">
            <a:avLst/>
          </a:prstGeom>
          <a:noFill/>
          <a:ln/>
        </p:spPr>
        <p:txBody>
          <a:bodyPr wrap="square" lIns="0" tIns="0" rIns="0" bIns="0" rtlCol="0" anchor="ctr"/>
          <a:lstStyle/>
          <a:p>
            <a:pPr marL="0" indent="0">
              <a:buNone/>
            </a:pPr>
            <a:r>
              <a:rPr lang="en-US" sz="1500" b="1" kern="0" spc="300" dirty="0">
                <a:solidFill>
                  <a:srgbClr val="E31836"/>
                </a:solidFill>
                <a:latin typeface="Calibri" pitchFamily="34" charset="0"/>
                <a:ea typeface="Calibri" pitchFamily="34" charset="-122"/>
                <a:cs typeface="Calibri" pitchFamily="34" charset="-120"/>
              </a:rPr>
              <a:t>PART </a:t>
            </a:r>
            <a:r>
              <a:rPr lang="tr-TR" sz="1500" b="1" kern="0" spc="300" dirty="0">
                <a:solidFill>
                  <a:srgbClr val="E31836"/>
                </a:solidFill>
                <a:latin typeface="Calibri" pitchFamily="34" charset="0"/>
                <a:ea typeface="Calibri" pitchFamily="34" charset="-122"/>
                <a:cs typeface="Calibri" pitchFamily="34" charset="-120"/>
              </a:rPr>
              <a:t>3</a:t>
            </a:r>
            <a:endParaRPr lang="en-US" sz="15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37744"/>
            <a:ext cx="100584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EVIDENCE : RUBRIC</a:t>
            </a:r>
            <a:endParaRPr lang="en-US" sz="1300" dirty="0"/>
          </a:p>
        </p:txBody>
      </p:sp>
      <p:sp>
        <p:nvSpPr>
          <p:cNvPr id="3" name="Text 1"/>
          <p:cNvSpPr/>
          <p:nvPr/>
        </p:nvSpPr>
        <p:spPr>
          <a:xfrm>
            <a:off x="502920" y="493776"/>
            <a:ext cx="11247120" cy="621792"/>
          </a:xfrm>
          <a:prstGeom prst="rect">
            <a:avLst/>
          </a:prstGeom>
          <a:noFill/>
          <a:ln/>
        </p:spPr>
        <p:txBody>
          <a:bodyPr wrap="square" lIns="0" tIns="0" rIns="0" bIns="0" rtlCol="0" anchor="ctr"/>
          <a:lstStyle/>
          <a:p>
            <a:pPr marL="0" indent="0">
              <a:buNone/>
            </a:pPr>
            <a:r>
              <a:rPr lang="en-US" sz="2500" b="1" dirty="0">
                <a:solidFill>
                  <a:srgbClr val="000000"/>
                </a:solidFill>
                <a:latin typeface="Cambria" pitchFamily="34" charset="0"/>
                <a:ea typeface="Cambria" pitchFamily="34" charset="-122"/>
                <a:cs typeface="Cambria" pitchFamily="34" charset="-120"/>
              </a:rPr>
              <a:t>Eight Criteria, Fixed Before the Experiments</a:t>
            </a:r>
            <a:endParaRPr lang="en-US" sz="2500" dirty="0"/>
          </a:p>
        </p:txBody>
      </p:sp>
      <p:pic>
        <p:nvPicPr>
          <p:cNvPr id="4"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5"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p:sp>
        <p:nvSpPr>
          <p:cNvPr id="6" name="Text 2"/>
          <p:cNvSpPr/>
          <p:nvPr/>
        </p:nvSpPr>
        <p:spPr>
          <a:xfrm>
            <a:off x="502920" y="1243584"/>
            <a:ext cx="11247120" cy="566928"/>
          </a:xfrm>
          <a:prstGeom prst="rect">
            <a:avLst/>
          </a:prstGeom>
          <a:noFill/>
          <a:ln/>
        </p:spPr>
        <p:txBody>
          <a:bodyPr wrap="square" lIns="0" tIns="0" rIns="0" bIns="0" rtlCol="0" anchor="t"/>
          <a:lstStyle/>
          <a:p>
            <a:pPr marL="0" indent="0">
              <a:lnSpc>
                <a:spcPct val="104000"/>
              </a:lnSpc>
              <a:buNone/>
            </a:pPr>
            <a:endParaRPr lang="en-US" sz="1250" dirty="0"/>
          </a:p>
        </p:txBody>
      </p:sp>
      <p:graphicFrame>
        <p:nvGraphicFramePr>
          <p:cNvPr id="7" name="Table 0"/>
          <p:cNvGraphicFramePr>
            <a:graphicFrameLocks noGrp="1"/>
          </p:cNvGraphicFramePr>
          <p:nvPr>
            <p:extLst>
              <p:ext uri="{D42A27DB-BD31-4B8C-83A1-F6EECF244321}">
                <p14:modId xmlns:p14="http://schemas.microsoft.com/office/powerpoint/2010/main" val="1641956215"/>
              </p:ext>
            </p:extLst>
          </p:nvPr>
        </p:nvGraphicFramePr>
        <p:xfrm>
          <a:off x="502920" y="1243584"/>
          <a:ext cx="11035364" cy="4791456"/>
        </p:xfrm>
        <a:graphic>
          <a:graphicData uri="http://schemas.openxmlformats.org/drawingml/2006/table">
            <a:tbl>
              <a:tblPr/>
              <a:tblGrid>
                <a:gridCol w="3728164">
                  <a:extLst>
                    <a:ext uri="{9D8B030D-6E8A-4147-A177-3AD203B41FA5}">
                      <a16:colId xmlns:a16="http://schemas.microsoft.com/office/drawing/2014/main" val="20000"/>
                    </a:ext>
                  </a:extLst>
                </a:gridCol>
                <a:gridCol w="7307200">
                  <a:extLst>
                    <a:ext uri="{9D8B030D-6E8A-4147-A177-3AD203B41FA5}">
                      <a16:colId xmlns:a16="http://schemas.microsoft.com/office/drawing/2014/main" val="20001"/>
                    </a:ext>
                  </a:extLst>
                </a:gridCol>
              </a:tblGrid>
              <a:tr h="532384">
                <a:tc>
                  <a:txBody>
                    <a:bodyPr/>
                    <a:lstStyle/>
                    <a:p>
                      <a:pPr marL="0" indent="0">
                        <a:buNone/>
                      </a:pPr>
                      <a:r>
                        <a:rPr lang="en-US" sz="1700" b="1" dirty="0">
                          <a:solidFill>
                            <a:srgbClr val="FFFFFF"/>
                          </a:solidFill>
                          <a:latin typeface="Calibri" pitchFamily="34" charset="0"/>
                          <a:ea typeface="Calibri" pitchFamily="34" charset="-122"/>
                          <a:cs typeface="Calibri" pitchFamily="34" charset="-120"/>
                        </a:rPr>
                        <a:t>Criterion</a:t>
                      </a:r>
                      <a:endParaRPr lang="en-US" sz="17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buNone/>
                      </a:pPr>
                      <a:r>
                        <a:rPr lang="en-US" sz="1700" b="1" dirty="0">
                          <a:solidFill>
                            <a:srgbClr val="FFFFFF"/>
                          </a:solidFill>
                          <a:latin typeface="Calibri" pitchFamily="34" charset="0"/>
                          <a:ea typeface="Calibri" pitchFamily="34" charset="-122"/>
                          <a:cs typeface="Calibri" pitchFamily="34" charset="-120"/>
                        </a:rPr>
                        <a:t>What it asks</a:t>
                      </a:r>
                      <a:endParaRPr lang="en-US" sz="17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532384">
                <a:tc>
                  <a:txBody>
                    <a:bodyPr/>
                    <a:lstStyle/>
                    <a:p>
                      <a:pPr marL="0" indent="0">
                        <a:buNone/>
                      </a:pPr>
                      <a:r>
                        <a:rPr lang="en-US" sz="1700" b="1" dirty="0">
                          <a:solidFill>
                            <a:srgbClr val="E31836"/>
                          </a:solidFill>
                          <a:latin typeface="Calibri" pitchFamily="34" charset="0"/>
                          <a:ea typeface="Calibri" pitchFamily="34" charset="-122"/>
                          <a:cs typeface="Calibri" pitchFamily="34" charset="-120"/>
                        </a:rPr>
                        <a:t>S1 Predictive fidelity</a:t>
                      </a:r>
                      <a:endParaRPr lang="en-US" sz="17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700">
                          <a:solidFill>
                            <a:srgbClr val="222222"/>
                          </a:solidFill>
                          <a:latin typeface="Calibri" pitchFamily="34" charset="0"/>
                          <a:ea typeface="Calibri" pitchFamily="34" charset="-122"/>
                          <a:cs typeface="Calibri" pitchFamily="34" charset="-120"/>
                        </a:rPr>
                        <a:t>reproduces observed fire behaviour from real inputs</a:t>
                      </a:r>
                      <a:endParaRPr lang="en-US" sz="17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1"/>
                  </a:ext>
                </a:extLst>
              </a:tr>
              <a:tr h="532384">
                <a:tc>
                  <a:txBody>
                    <a:bodyPr/>
                    <a:lstStyle/>
                    <a:p>
                      <a:pPr marL="0" indent="0">
                        <a:buNone/>
                      </a:pPr>
                      <a:r>
                        <a:rPr lang="en-US" sz="1700" b="1" dirty="0">
                          <a:solidFill>
                            <a:srgbClr val="E31836"/>
                          </a:solidFill>
                          <a:latin typeface="Calibri" pitchFamily="34" charset="0"/>
                          <a:ea typeface="Calibri" pitchFamily="34" charset="-122"/>
                          <a:cs typeface="Calibri" pitchFamily="34" charset="-120"/>
                        </a:rPr>
                        <a:t>S2 Decision quality</a:t>
                      </a:r>
                      <a:endParaRPr lang="en-US" sz="17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700">
                          <a:solidFill>
                            <a:srgbClr val="222222"/>
                          </a:solidFill>
                          <a:latin typeface="Calibri" pitchFamily="34" charset="0"/>
                          <a:ea typeface="Calibri" pitchFamily="34" charset="-122"/>
                          <a:cs typeface="Calibri" pitchFamily="34" charset="-120"/>
                        </a:rPr>
                        <a:t>interventions improve the outcome vs no tool</a:t>
                      </a:r>
                      <a:endParaRPr lang="en-US" sz="17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2"/>
                  </a:ext>
                </a:extLst>
              </a:tr>
              <a:tr h="532384">
                <a:tc>
                  <a:txBody>
                    <a:bodyPr/>
                    <a:lstStyle/>
                    <a:p>
                      <a:pPr marL="0" indent="0">
                        <a:buNone/>
                      </a:pPr>
                      <a:r>
                        <a:rPr lang="en-US" sz="1700" b="1" dirty="0">
                          <a:solidFill>
                            <a:srgbClr val="E31836"/>
                          </a:solidFill>
                          <a:latin typeface="Calibri" pitchFamily="34" charset="0"/>
                          <a:ea typeface="Calibri" pitchFamily="34" charset="-122"/>
                          <a:cs typeface="Calibri" pitchFamily="34" charset="-120"/>
                        </a:rPr>
                        <a:t>S3 Timeliness</a:t>
                      </a:r>
                      <a:endParaRPr lang="en-US" sz="17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700">
                          <a:solidFill>
                            <a:srgbClr val="222222"/>
                          </a:solidFill>
                          <a:latin typeface="Calibri" pitchFamily="34" charset="0"/>
                          <a:ea typeface="Calibri" pitchFamily="34" charset="-122"/>
                          <a:cs typeface="Calibri" pitchFamily="34" charset="-120"/>
                        </a:rPr>
                        <a:t>latency compatible with operational tempo</a:t>
                      </a:r>
                      <a:endParaRPr lang="en-US" sz="17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3"/>
                  </a:ext>
                </a:extLst>
              </a:tr>
              <a:tr h="532384">
                <a:tc>
                  <a:txBody>
                    <a:bodyPr/>
                    <a:lstStyle/>
                    <a:p>
                      <a:pPr marL="0" indent="0">
                        <a:buNone/>
                      </a:pPr>
                      <a:r>
                        <a:rPr lang="en-US" sz="1700" b="1" dirty="0">
                          <a:solidFill>
                            <a:srgbClr val="E31836"/>
                          </a:solidFill>
                          <a:latin typeface="Calibri" pitchFamily="34" charset="0"/>
                          <a:ea typeface="Calibri" pitchFamily="34" charset="-122"/>
                          <a:cs typeface="Calibri" pitchFamily="34" charset="-120"/>
                        </a:rPr>
                        <a:t>S4 Robustness</a:t>
                      </a:r>
                      <a:endParaRPr lang="en-US" sz="17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700">
                          <a:solidFill>
                            <a:srgbClr val="222222"/>
                          </a:solidFill>
                          <a:latin typeface="Calibri" pitchFamily="34" charset="0"/>
                          <a:ea typeface="Calibri" pitchFamily="34" charset="-122"/>
                          <a:cs typeface="Calibri" pitchFamily="34" charset="-120"/>
                        </a:rPr>
                        <a:t>graceful under sensor loss, noise, comms failure</a:t>
                      </a:r>
                      <a:endParaRPr lang="en-US" sz="17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4"/>
                  </a:ext>
                </a:extLst>
              </a:tr>
              <a:tr h="532384">
                <a:tc>
                  <a:txBody>
                    <a:bodyPr/>
                    <a:lstStyle/>
                    <a:p>
                      <a:pPr marL="0" indent="0">
                        <a:buNone/>
                      </a:pPr>
                      <a:r>
                        <a:rPr lang="en-US" sz="1700" b="1" dirty="0">
                          <a:solidFill>
                            <a:srgbClr val="E31836"/>
                          </a:solidFill>
                          <a:latin typeface="Calibri" pitchFamily="34" charset="0"/>
                          <a:ea typeface="Calibri" pitchFamily="34" charset="-122"/>
                          <a:cs typeface="Calibri" pitchFamily="34" charset="-120"/>
                        </a:rPr>
                        <a:t>S5 Uncertainty handling</a:t>
                      </a:r>
                      <a:endParaRPr lang="en-US" sz="17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700">
                          <a:solidFill>
                            <a:srgbClr val="222222"/>
                          </a:solidFill>
                          <a:latin typeface="Calibri" pitchFamily="34" charset="0"/>
                          <a:ea typeface="Calibri" pitchFamily="34" charset="-122"/>
                          <a:cs typeface="Calibri" pitchFamily="34" charset="-120"/>
                        </a:rPr>
                        <a:t>uncertainty represented and propagated to the decision</a:t>
                      </a:r>
                      <a:endParaRPr lang="en-US" sz="17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5"/>
                  </a:ext>
                </a:extLst>
              </a:tr>
              <a:tr h="532384">
                <a:tc>
                  <a:txBody>
                    <a:bodyPr/>
                    <a:lstStyle/>
                    <a:p>
                      <a:pPr marL="0" indent="0">
                        <a:buNone/>
                      </a:pPr>
                      <a:r>
                        <a:rPr lang="en-US" sz="1700" b="1" dirty="0">
                          <a:solidFill>
                            <a:srgbClr val="E31836"/>
                          </a:solidFill>
                          <a:latin typeface="Calibri" pitchFamily="34" charset="0"/>
                          <a:ea typeface="Calibri" pitchFamily="34" charset="-122"/>
                          <a:cs typeface="Calibri" pitchFamily="34" charset="-120"/>
                        </a:rPr>
                        <a:t>S6 Adaptability</a:t>
                      </a:r>
                      <a:endParaRPr lang="en-US" sz="17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700">
                          <a:solidFill>
                            <a:srgbClr val="222222"/>
                          </a:solidFill>
                          <a:latin typeface="Calibri" pitchFamily="34" charset="0"/>
                          <a:ea typeface="Calibri" pitchFamily="34" charset="-122"/>
                          <a:cs typeface="Calibri" pitchFamily="34" charset="-120"/>
                        </a:rPr>
                        <a:t>extends its own knowledge when uncovered</a:t>
                      </a:r>
                      <a:endParaRPr lang="en-US" sz="17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6"/>
                  </a:ext>
                </a:extLst>
              </a:tr>
              <a:tr h="532384">
                <a:tc>
                  <a:txBody>
                    <a:bodyPr/>
                    <a:lstStyle/>
                    <a:p>
                      <a:pPr marL="0" indent="0">
                        <a:buNone/>
                      </a:pPr>
                      <a:r>
                        <a:rPr lang="en-US" sz="1700" b="1" dirty="0">
                          <a:solidFill>
                            <a:srgbClr val="E31836"/>
                          </a:solidFill>
                          <a:latin typeface="Calibri" pitchFamily="34" charset="0"/>
                          <a:ea typeface="Calibri" pitchFamily="34" charset="-122"/>
                          <a:cs typeface="Calibri" pitchFamily="34" charset="-120"/>
                        </a:rPr>
                        <a:t>S7 Explainability</a:t>
                      </a:r>
                      <a:endParaRPr lang="en-US" sz="17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700">
                          <a:solidFill>
                            <a:srgbClr val="222222"/>
                          </a:solidFill>
                          <a:latin typeface="Calibri" pitchFamily="34" charset="0"/>
                          <a:ea typeface="Calibri" pitchFamily="34" charset="-122"/>
                          <a:cs typeface="Calibri" pitchFamily="34" charset="-120"/>
                        </a:rPr>
                        <a:t>every recommendation traceable to its evidence</a:t>
                      </a:r>
                      <a:endParaRPr lang="en-US" sz="17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7"/>
                  </a:ext>
                </a:extLst>
              </a:tr>
              <a:tr h="532384">
                <a:tc>
                  <a:txBody>
                    <a:bodyPr/>
                    <a:lstStyle/>
                    <a:p>
                      <a:pPr marL="0" indent="0">
                        <a:buNone/>
                      </a:pPr>
                      <a:r>
                        <a:rPr lang="en-US" sz="1700" b="1" dirty="0">
                          <a:solidFill>
                            <a:srgbClr val="E31836"/>
                          </a:solidFill>
                          <a:latin typeface="Calibri" pitchFamily="34" charset="0"/>
                          <a:ea typeface="Calibri" pitchFamily="34" charset="-122"/>
                          <a:cs typeface="Calibri" pitchFamily="34" charset="-120"/>
                        </a:rPr>
                        <a:t>S8 Scalability</a:t>
                      </a:r>
                      <a:endParaRPr lang="en-US" sz="17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700">
                          <a:solidFill>
                            <a:srgbClr val="222222"/>
                          </a:solidFill>
                          <a:latin typeface="Calibri" pitchFamily="34" charset="0"/>
                          <a:ea typeface="Calibri" pitchFamily="34" charset="-122"/>
                          <a:cs typeface="Calibri" pitchFamily="34" charset="-120"/>
                        </a:rPr>
                        <a:t>cost grows manageably with domain size and regions</a:t>
                      </a:r>
                      <a:endParaRPr lang="en-US" sz="17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8" name="Text 3"/>
          <p:cNvSpPr/>
          <p:nvPr/>
        </p:nvSpPr>
        <p:spPr>
          <a:xfrm>
            <a:off x="502920" y="6263640"/>
            <a:ext cx="11247120" cy="365760"/>
          </a:xfrm>
          <a:prstGeom prst="rect">
            <a:avLst/>
          </a:prstGeom>
          <a:noFill/>
          <a:ln/>
        </p:spPr>
        <p:txBody>
          <a:bodyPr wrap="square" lIns="0" tIns="0" rIns="0" bIns="0" rtlCol="0" anchor="t"/>
          <a:lstStyle/>
          <a:p>
            <a:pPr marL="0" indent="0">
              <a:lnSpc>
                <a:spcPct val="104000"/>
              </a:lnSpc>
              <a:buNone/>
            </a:pPr>
            <a:r>
              <a:rPr lang="en-US" sz="1300" i="1">
                <a:solidFill>
                  <a:srgbClr val="6E6E6E"/>
                </a:solidFill>
                <a:latin typeface="Calibri" pitchFamily="34" charset="0"/>
                <a:ea typeface="Calibri" pitchFamily="34" charset="-122"/>
                <a:cs typeface="Calibri" pitchFamily="34" charset="-120"/>
              </a:rPr>
              <a:t>Verification → S1 · Sensitivity &amp; ladder → S2–S5 · Adaptation record → S6–S7 · Tempo &amp; scale → S3, S8</a:t>
            </a:r>
            <a:endParaRPr lang="en-US" sz="13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37744"/>
            <a:ext cx="100584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EVIDENCE : SETUP</a:t>
            </a:r>
            <a:endParaRPr lang="en-US" sz="1300" dirty="0"/>
          </a:p>
        </p:txBody>
      </p:sp>
      <p:sp>
        <p:nvSpPr>
          <p:cNvPr id="3" name="Text 1"/>
          <p:cNvSpPr/>
          <p:nvPr/>
        </p:nvSpPr>
        <p:spPr>
          <a:xfrm>
            <a:off x="502920" y="493776"/>
            <a:ext cx="11247120" cy="621792"/>
          </a:xfrm>
          <a:prstGeom prst="rect">
            <a:avLst/>
          </a:prstGeom>
          <a:noFill/>
          <a:ln/>
        </p:spPr>
        <p:txBody>
          <a:bodyPr wrap="square" lIns="0" tIns="0" rIns="0" bIns="0" rtlCol="0" anchor="ctr"/>
          <a:lstStyle/>
          <a:p>
            <a:pPr marL="0" indent="0">
              <a:buNone/>
            </a:pPr>
            <a:r>
              <a:rPr lang="en-US" sz="2500" b="1" dirty="0">
                <a:solidFill>
                  <a:srgbClr val="000000"/>
                </a:solidFill>
                <a:latin typeface="Cambria" pitchFamily="34" charset="0"/>
                <a:ea typeface="Cambria" pitchFamily="34" charset="-122"/>
                <a:cs typeface="Cambria" pitchFamily="34" charset="-120"/>
              </a:rPr>
              <a:t>The Experimental Ground : Parameters and Assumptions</a:t>
            </a:r>
            <a:endParaRPr lang="en-US" sz="2500" dirty="0"/>
          </a:p>
        </p:txBody>
      </p:sp>
      <p:pic>
        <p:nvPicPr>
          <p:cNvPr id="4"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5"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p:sp>
        <p:nvSpPr>
          <p:cNvPr id="6" name="Text 2"/>
          <p:cNvSpPr/>
          <p:nvPr/>
        </p:nvSpPr>
        <p:spPr>
          <a:xfrm>
            <a:off x="502920" y="1261872"/>
            <a:ext cx="5669280" cy="292608"/>
          </a:xfrm>
          <a:prstGeom prst="rect">
            <a:avLst/>
          </a:prstGeom>
          <a:noFill/>
          <a:ln/>
        </p:spPr>
        <p:txBody>
          <a:bodyPr wrap="square" lIns="0" tIns="0" rIns="0" bIns="0" rtlCol="0" anchor="ctr"/>
          <a:lstStyle/>
          <a:p>
            <a:pPr marL="0" indent="0">
              <a:buNone/>
            </a:pPr>
            <a:r>
              <a:rPr lang="en-US" sz="1500" b="1" dirty="0">
                <a:solidFill>
                  <a:srgbClr val="E31836"/>
                </a:solidFill>
                <a:latin typeface="Calibri" pitchFamily="34" charset="0"/>
                <a:ea typeface="Calibri" pitchFamily="34" charset="-122"/>
                <a:cs typeface="Calibri" pitchFamily="34" charset="-120"/>
              </a:rPr>
              <a:t>Shared parameters of all campaigns</a:t>
            </a:r>
            <a:endParaRPr lang="en-US" sz="1500" dirty="0"/>
          </a:p>
        </p:txBody>
      </p:sp>
      <mc:AlternateContent xmlns:mc="http://schemas.openxmlformats.org/markup-compatibility/2006" xmlns:a14="http://schemas.microsoft.com/office/drawing/2010/main">
        <mc:Choice Requires="a14">
          <p:graphicFrame>
            <p:nvGraphicFramePr>
              <p:cNvPr id="7" name="Table 0"/>
              <p:cNvGraphicFramePr>
                <a:graphicFrameLocks noGrp="1"/>
              </p:cNvGraphicFramePr>
              <p:nvPr>
                <p:extLst>
                  <p:ext uri="{D42A27DB-BD31-4B8C-83A1-F6EECF244321}">
                    <p14:modId xmlns:p14="http://schemas.microsoft.com/office/powerpoint/2010/main" val="2060033400"/>
                  </p:ext>
                </p:extLst>
              </p:nvPr>
            </p:nvGraphicFramePr>
            <p:xfrm>
              <a:off x="502920" y="1609344"/>
              <a:ext cx="5669280" cy="3456432"/>
            </p:xfrm>
            <a:graphic>
              <a:graphicData uri="http://schemas.openxmlformats.org/drawingml/2006/table">
                <a:tbl>
                  <a:tblPr/>
                  <a:tblGrid>
                    <a:gridCol w="32918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tblGrid>
                  <a:tr h="3840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Parameter</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Value / range</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384048">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Grid (synthetic)</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b="1" dirty="0">
                              <a:solidFill>
                                <a:srgbClr val="222222"/>
                              </a:solidFill>
                              <a:latin typeface="Calibri" pitchFamily="34" charset="0"/>
                              <a:ea typeface="Calibri" pitchFamily="34" charset="-122"/>
                              <a:cs typeface="Calibri" pitchFamily="34" charset="-120"/>
                            </a:rPr>
                            <a:t>200 × 200 cells at 90 m</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Simulation step</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b="1" dirty="0">
                              <a:solidFill>
                                <a:srgbClr val="222222"/>
                              </a:solidFill>
                              <a:latin typeface="Calibri" pitchFamily="34" charset="0"/>
                              <a:ea typeface="Calibri" pitchFamily="34" charset="-122"/>
                              <a:cs typeface="Calibri" pitchFamily="34" charset="-120"/>
                            </a:rPr>
                            <a:t>2 – 30 min</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Decision cycle</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b="1" dirty="0">
                              <a:solidFill>
                                <a:srgbClr val="222222"/>
                              </a:solidFill>
                              <a:latin typeface="Calibri" pitchFamily="34" charset="0"/>
                              <a:ea typeface="Calibri" pitchFamily="34" charset="-122"/>
                              <a:cs typeface="Calibri" pitchFamily="34" charset="-120"/>
                            </a:rPr>
                            <a:t>2 – 20 min (default 12)</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Satisficing bound </a:t>
                          </a:r>
                          <a14:m>
                            <m:oMath xmlns:m="http://schemas.openxmlformats.org/officeDocument/2006/math">
                              <m:sSub>
                                <m:sSubPr>
                                  <m:ctrlPr>
                                    <a:rPr lang="en-US" sz="1300" i="1">
                                      <a:latin typeface="Cambria Math" panose="02040503050406030204" pitchFamily="18" charset="0"/>
                                    </a:rPr>
                                  </m:ctrlPr>
                                </m:sSubPr>
                                <m:e>
                                  <m:r>
                                    <a:rPr lang="en-US" sz="1300">
                                      <a:latin typeface="Cambria Math"/>
                                    </a:rPr>
                                    <m:t>𝐽</m:t>
                                  </m:r>
                                </m:e>
                                <m:sub>
                                  <m:r>
                                    <a:rPr lang="en-US" sz="1300">
                                      <a:latin typeface="Cambria Math"/>
                                    </a:rPr>
                                    <m:t>𝑇𝐻</m:t>
                                  </m:r>
                                </m:sub>
                              </m:sSub>
                            </m:oMath>
                          </a14:m>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b="1" dirty="0">
                              <a:solidFill>
                                <a:srgbClr val="222222"/>
                              </a:solidFill>
                              <a:latin typeface="Calibri" pitchFamily="34" charset="0"/>
                              <a:ea typeface="Calibri" pitchFamily="34" charset="-122"/>
                              <a:cs typeface="Calibri" pitchFamily="34" charset="-120"/>
                            </a:rPr>
                            <a:t>0.35</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Quality gate </a:t>
                          </a:r>
                          <a14:m>
                            <m:oMath xmlns:m="http://schemas.openxmlformats.org/officeDocument/2006/math">
                              <m:r>
                                <a:rPr lang="en-US" sz="1300">
                                  <a:latin typeface="Cambria Math"/>
                                </a:rPr>
                                <m:t>𝜂</m:t>
                              </m:r>
                            </m:oMath>
                          </a14:m>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b="1" dirty="0">
                              <a:solidFill>
                                <a:srgbClr val="222222"/>
                              </a:solidFill>
                              <a:latin typeface="Calibri" pitchFamily="34" charset="0"/>
                              <a:ea typeface="Calibri" pitchFamily="34" charset="-122"/>
                              <a:cs typeface="Calibri" pitchFamily="34" charset="-120"/>
                            </a:rPr>
                            <a:t>0.60</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6"/>
                      </a:ext>
                    </a:extLst>
                  </a:tr>
                  <a:tr h="384048">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Trial basis (shadow forecast)</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b="1" dirty="0">
                              <a:solidFill>
                                <a:srgbClr val="222222"/>
                              </a:solidFill>
                              <a:latin typeface="Calibri" pitchFamily="34" charset="0"/>
                              <a:ea typeface="Calibri" pitchFamily="34" charset="-122"/>
                              <a:cs typeface="Calibri" pitchFamily="34" charset="-120"/>
                            </a:rPr>
                            <a:t>≥ 45 min</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7"/>
                      </a:ext>
                    </a:extLst>
                  </a:tr>
                  <a:tr h="384048">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Monte Carlo runs per condition</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b="1" dirty="0">
                              <a:solidFill>
                                <a:srgbClr val="222222"/>
                              </a:solidFill>
                              <a:latin typeface="Calibri" pitchFamily="34" charset="0"/>
                              <a:ea typeface="Calibri" pitchFamily="34" charset="-122"/>
                              <a:cs typeface="Calibri" pitchFamily="34" charset="-120"/>
                            </a:rPr>
                            <a:t>50 (seeds 1–50)</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8"/>
                      </a:ext>
                    </a:extLst>
                  </a:tr>
                  <a:tr h="384048">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Hardware</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b="1" dirty="0">
                              <a:solidFill>
                                <a:srgbClr val="222222"/>
                              </a:solidFill>
                              <a:latin typeface="Calibri" pitchFamily="34" charset="0"/>
                              <a:ea typeface="Calibri" pitchFamily="34" charset="-122"/>
                              <a:cs typeface="Calibri" pitchFamily="34" charset="-120"/>
                            </a:rPr>
                            <a:t>i9-10900K, 32 GB RAM</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mc:Choice>
        <mc:Fallback xmlns="">
          <p:graphicFrame>
            <p:nvGraphicFramePr>
              <p:cNvPr id="7" name="Table 0"/>
              <p:cNvGraphicFramePr>
                <a:graphicFrameLocks noGrp="1"/>
              </p:cNvGraphicFramePr>
              <p:nvPr>
                <p:extLst>
                  <p:ext uri="{D42A27DB-BD31-4B8C-83A1-F6EECF244321}">
                    <p14:modId xmlns:p14="http://schemas.microsoft.com/office/powerpoint/2010/main" val="2060033400"/>
                  </p:ext>
                </p:extLst>
              </p:nvPr>
            </p:nvGraphicFramePr>
            <p:xfrm>
              <a:off x="502920" y="1609344"/>
              <a:ext cx="5669280" cy="3456432"/>
            </p:xfrm>
            <a:graphic>
              <a:graphicData uri="http://schemas.openxmlformats.org/drawingml/2006/table">
                <a:tbl>
                  <a:tblPr/>
                  <a:tblGrid>
                    <a:gridCol w="32918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tblGrid>
                  <a:tr h="3840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Parameter</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Value / range</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384048">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Grid (synthetic)</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b="1" dirty="0">
                              <a:solidFill>
                                <a:srgbClr val="222222"/>
                              </a:solidFill>
                              <a:latin typeface="Calibri" pitchFamily="34" charset="0"/>
                              <a:ea typeface="Calibri" pitchFamily="34" charset="-122"/>
                              <a:cs typeface="Calibri" pitchFamily="34" charset="-120"/>
                            </a:rPr>
                            <a:t>200 × 200 cells at 90 m</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Simulation step</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b="1" dirty="0">
                              <a:solidFill>
                                <a:srgbClr val="222222"/>
                              </a:solidFill>
                              <a:latin typeface="Calibri" pitchFamily="34" charset="0"/>
                              <a:ea typeface="Calibri" pitchFamily="34" charset="-122"/>
                              <a:cs typeface="Calibri" pitchFamily="34" charset="-120"/>
                            </a:rPr>
                            <a:t>2 – 30 min</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Decision cycle</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b="1" dirty="0">
                              <a:solidFill>
                                <a:srgbClr val="222222"/>
                              </a:solidFill>
                              <a:latin typeface="Calibri" pitchFamily="34" charset="0"/>
                              <a:ea typeface="Calibri" pitchFamily="34" charset="-122"/>
                              <a:cs typeface="Calibri" pitchFamily="34" charset="-120"/>
                            </a:rPr>
                            <a:t>2 – 20 min (default 12)</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Satisficing bound </a:t>
                          </a:r>
                          <a:r>
                            <a:rPr lang="en-US" sz="1300" i="1">
                              <a:latin typeface="Cambria Math"/>
                            </a:rPr>
                            <a:t>𝐽𝑇𝐻</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b="1" dirty="0">
                              <a:solidFill>
                                <a:srgbClr val="222222"/>
                              </a:solidFill>
                              <a:latin typeface="Calibri" pitchFamily="34" charset="0"/>
                              <a:ea typeface="Calibri" pitchFamily="34" charset="-122"/>
                              <a:cs typeface="Calibri" pitchFamily="34" charset="-120"/>
                            </a:rPr>
                            <a:t>0.35</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Quality gate </a:t>
                          </a:r>
                          <a:r>
                            <a:rPr lang="en-US" sz="1300" i="1">
                              <a:latin typeface="Cambria Math"/>
                            </a:rPr>
                            <a:t>𝜂</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b="1" dirty="0">
                              <a:solidFill>
                                <a:srgbClr val="222222"/>
                              </a:solidFill>
                              <a:latin typeface="Calibri" pitchFamily="34" charset="0"/>
                              <a:ea typeface="Calibri" pitchFamily="34" charset="-122"/>
                              <a:cs typeface="Calibri" pitchFamily="34" charset="-120"/>
                            </a:rPr>
                            <a:t>0.60</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6"/>
                      </a:ext>
                    </a:extLst>
                  </a:tr>
                  <a:tr h="384048">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Trial basis (shadow forecast)</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b="1" dirty="0">
                              <a:solidFill>
                                <a:srgbClr val="222222"/>
                              </a:solidFill>
                              <a:latin typeface="Calibri" pitchFamily="34" charset="0"/>
                              <a:ea typeface="Calibri" pitchFamily="34" charset="-122"/>
                              <a:cs typeface="Calibri" pitchFamily="34" charset="-120"/>
                            </a:rPr>
                            <a:t>≥ 45 min</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7"/>
                      </a:ext>
                    </a:extLst>
                  </a:tr>
                  <a:tr h="384048">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Monte Carlo runs per condition</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b="1" dirty="0">
                              <a:solidFill>
                                <a:srgbClr val="222222"/>
                              </a:solidFill>
                              <a:latin typeface="Calibri" pitchFamily="34" charset="0"/>
                              <a:ea typeface="Calibri" pitchFamily="34" charset="-122"/>
                              <a:cs typeface="Calibri" pitchFamily="34" charset="-120"/>
                            </a:rPr>
                            <a:t>50 (seeds 1–50)</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8"/>
                      </a:ext>
                    </a:extLst>
                  </a:tr>
                  <a:tr h="384048">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Hardware</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b="1" dirty="0">
                              <a:solidFill>
                                <a:srgbClr val="222222"/>
                              </a:solidFill>
                              <a:latin typeface="Calibri" pitchFamily="34" charset="0"/>
                              <a:ea typeface="Calibri" pitchFamily="34" charset="-122"/>
                              <a:cs typeface="Calibri" pitchFamily="34" charset="-120"/>
                            </a:rPr>
                            <a:t>i9-10900K, 32 GB RAM</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mc:Fallback>
      </mc:AlternateContent>
      <p:sp>
        <p:nvSpPr>
          <p:cNvPr id="8" name="Text 3"/>
          <p:cNvSpPr/>
          <p:nvPr/>
        </p:nvSpPr>
        <p:spPr>
          <a:xfrm>
            <a:off x="6537960" y="1261872"/>
            <a:ext cx="5212080" cy="292608"/>
          </a:xfrm>
          <a:prstGeom prst="rect">
            <a:avLst/>
          </a:prstGeom>
          <a:noFill/>
          <a:ln/>
        </p:spPr>
        <p:txBody>
          <a:bodyPr wrap="square" lIns="0" tIns="0" rIns="0" bIns="0" rtlCol="0" anchor="ctr"/>
          <a:lstStyle/>
          <a:p>
            <a:pPr marL="0" indent="0">
              <a:buNone/>
            </a:pPr>
            <a:r>
              <a:rPr lang="en-US" sz="1600" b="1" dirty="0">
                <a:solidFill>
                  <a:srgbClr val="E31836"/>
                </a:solidFill>
                <a:latin typeface="Calibri" pitchFamily="34" charset="0"/>
                <a:ea typeface="Calibri" pitchFamily="34" charset="-122"/>
                <a:cs typeface="Calibri" pitchFamily="34" charset="-120"/>
              </a:rPr>
              <a:t>Two scenario families</a:t>
            </a:r>
            <a:endParaRPr lang="en-US" sz="1600" dirty="0"/>
          </a:p>
        </p:txBody>
      </p:sp>
      <p:sp>
        <p:nvSpPr>
          <p:cNvPr id="9" name="Text 4"/>
          <p:cNvSpPr/>
          <p:nvPr/>
        </p:nvSpPr>
        <p:spPr>
          <a:xfrm>
            <a:off x="6537960" y="1609344"/>
            <a:ext cx="5212080" cy="1371600"/>
          </a:xfrm>
          <a:prstGeom prst="rect">
            <a:avLst/>
          </a:prstGeom>
          <a:noFill/>
          <a:ln/>
        </p:spPr>
        <p:txBody>
          <a:bodyPr wrap="square" lIns="0" tIns="0" rIns="0" bIns="0" rtlCol="0" anchor="t"/>
          <a:lstStyle/>
          <a:p>
            <a:pPr marL="0" indent="0">
              <a:lnSpc>
                <a:spcPct val="104000"/>
              </a:lnSpc>
              <a:buNone/>
            </a:pPr>
            <a:r>
              <a:rPr lang="en-US" sz="1400" b="1">
                <a:solidFill>
                  <a:srgbClr val="000000"/>
                </a:solidFill>
                <a:latin typeface="Calibri" pitchFamily="34" charset="0"/>
                <a:ea typeface="Calibri" pitchFamily="34" charset="-122"/>
                <a:cs typeface="Calibri" pitchFamily="34" charset="-120"/>
              </a:rPr>
              <a:t>Synthetic: procedural worlds — terrain presets, settlements, roads, capacity-limited bases</a:t>
            </a:r>
          </a:p>
          <a:p>
            <a:pPr marL="0" indent="0">
              <a:lnSpc>
                <a:spcPct val="104000"/>
              </a:lnSpc>
              <a:buNone/>
            </a:pPr>
            <a:r>
              <a:rPr lang="en-US" sz="1400" b="1">
                <a:solidFill>
                  <a:srgbClr val="222222"/>
                </a:solidFill>
                <a:latin typeface="Calibri" pitchFamily="34" charset="0"/>
                <a:ea typeface="Calibri" pitchFamily="34" charset="-122"/>
                <a:cs typeface="Calibri" pitchFamily="34" charset="-120"/>
              </a:rPr>
              <a:t>Historical: documented fires on 90 m grids from real terrain, fuel, weather</a:t>
            </a:r>
            <a:endParaRPr lang="en-US" sz="1400" b="1" dirty="0">
              <a:solidFill>
                <a:srgbClr val="222222"/>
              </a:solidFill>
              <a:latin typeface="Calibri" pitchFamily="34" charset="0"/>
              <a:ea typeface="Calibri" pitchFamily="34" charset="-122"/>
              <a:cs typeface="Calibri" pitchFamily="34" charset="-120"/>
            </a:endParaRPr>
          </a:p>
        </p:txBody>
      </p:sp>
      <p:sp>
        <p:nvSpPr>
          <p:cNvPr id="10" name="Text 5"/>
          <p:cNvSpPr/>
          <p:nvPr/>
        </p:nvSpPr>
        <p:spPr>
          <a:xfrm>
            <a:off x="6537960" y="3063240"/>
            <a:ext cx="5212080" cy="292608"/>
          </a:xfrm>
          <a:prstGeom prst="rect">
            <a:avLst/>
          </a:prstGeom>
          <a:noFill/>
          <a:ln/>
        </p:spPr>
        <p:txBody>
          <a:bodyPr wrap="square" lIns="0" tIns="0" rIns="0" bIns="0" rtlCol="0" anchor="ctr"/>
          <a:lstStyle/>
          <a:p>
            <a:pPr marL="0" indent="0">
              <a:buNone/>
            </a:pPr>
            <a:r>
              <a:rPr lang="en-US" sz="1600" b="1" dirty="0">
                <a:solidFill>
                  <a:srgbClr val="E31836"/>
                </a:solidFill>
                <a:latin typeface="Calibri" pitchFamily="34" charset="0"/>
                <a:ea typeface="Calibri" pitchFamily="34" charset="-122"/>
                <a:cs typeface="Calibri" pitchFamily="34" charset="-120"/>
              </a:rPr>
              <a:t>Assumptions </a:t>
            </a:r>
            <a:endParaRPr lang="en-US" sz="1600" dirty="0"/>
          </a:p>
        </p:txBody>
      </p:sp>
      <p:sp>
        <p:nvSpPr>
          <p:cNvPr id="11" name="Text 6"/>
          <p:cNvSpPr/>
          <p:nvPr/>
        </p:nvSpPr>
        <p:spPr>
          <a:xfrm>
            <a:off x="6537960" y="3401568"/>
            <a:ext cx="5212080" cy="3017520"/>
          </a:xfrm>
          <a:prstGeom prst="rect">
            <a:avLst/>
          </a:prstGeom>
          <a:noFill/>
          <a:ln/>
        </p:spPr>
        <p:txBody>
          <a:bodyPr wrap="square" lIns="0" tIns="0" rIns="0" bIns="0" rtlCol="0" anchor="t"/>
          <a:lstStyle/>
          <a:p>
            <a:pPr marL="152400" indent="-152400">
              <a:lnSpc>
                <a:spcPct val="104000"/>
              </a:lnSpc>
              <a:spcAft>
                <a:spcPts val="600"/>
              </a:spcAft>
              <a:buSzPct val="100000"/>
              <a:buChar char="•"/>
            </a:pPr>
            <a:r>
              <a:rPr lang="en-US" sz="1400">
                <a:solidFill>
                  <a:srgbClr val="222222"/>
                </a:solidFill>
                <a:latin typeface="Calibri" pitchFamily="34" charset="0"/>
                <a:ea typeface="Calibri" pitchFamily="34" charset="-122"/>
                <a:cs typeface="Calibri" pitchFamily="34" charset="-120"/>
              </a:rPr>
              <a:t>uniform precipitation; equilibrium dead-fuel moisture; land-cover fuel classes</a:t>
            </a:r>
          </a:p>
          <a:p>
            <a:pPr marL="152400" indent="-152400">
              <a:lnSpc>
                <a:spcPct val="104000"/>
              </a:lnSpc>
              <a:spcAft>
                <a:spcPts val="600"/>
              </a:spcAft>
              <a:buSzPct val="100000"/>
              <a:buChar char="•"/>
            </a:pPr>
            <a:r>
              <a:rPr lang="en-US" sz="1400">
                <a:solidFill>
                  <a:srgbClr val="222222"/>
                </a:solidFill>
                <a:latin typeface="Calibri" pitchFamily="34" charset="0"/>
                <a:ea typeface="Calibri" pitchFamily="34" charset="-122"/>
                <a:cs typeface="Calibri" pitchFamily="34" charset="-120"/>
              </a:rPr>
              <a:t>fixed decision cycle; sensing &amp; comms reliable unless perturbed</a:t>
            </a:r>
            <a:endParaRPr lang="en-US" sz="1400" dirty="0"/>
          </a:p>
          <a:p>
            <a:pPr marL="152400" indent="-152400">
              <a:lnSpc>
                <a:spcPct val="104000"/>
              </a:lnSpc>
              <a:spcAft>
                <a:spcPts val="600"/>
              </a:spcAft>
              <a:buSzPct val="100000"/>
              <a:buChar char="•"/>
            </a:pPr>
            <a:r>
              <a:rPr lang="en-US" sz="1400">
                <a:solidFill>
                  <a:srgbClr val="222222"/>
                </a:solidFill>
                <a:latin typeface="Calibri" pitchFamily="34" charset="0"/>
                <a:ea typeface="Calibri" pitchFamily="34" charset="-122"/>
                <a:cs typeface="Calibri" pitchFamily="34" charset="-120"/>
              </a:rPr>
              <a:t>cost weights fixed per run; generative changes act only after the gates</a:t>
            </a:r>
            <a:endParaRPr lang="en-US" sz="1400" dirty="0"/>
          </a:p>
          <a:p>
            <a:pPr marL="152400" indent="-152400">
              <a:lnSpc>
                <a:spcPct val="104000"/>
              </a:lnSpc>
              <a:spcAft>
                <a:spcPts val="600"/>
              </a:spcAft>
              <a:buSzPct val="100000"/>
              <a:buChar char="•"/>
            </a:pPr>
            <a:r>
              <a:rPr lang="en-US" sz="1400">
                <a:solidFill>
                  <a:srgbClr val="222222"/>
                </a:solidFill>
                <a:latin typeface="Calibri" pitchFamily="34" charset="0"/>
                <a:ea typeface="Calibri" pitchFamily="34" charset="-122"/>
                <a:cs typeface="Calibri" pitchFamily="34" charset="-120"/>
              </a:rPr>
              <a:t>evacuation charged via capacity; exposure counts burning cells only</a:t>
            </a:r>
            <a:endParaRPr lang="en-US" sz="14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37744"/>
            <a:ext cx="100584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EVIDENCE : VERIFICATION</a:t>
            </a:r>
            <a:endParaRPr lang="en-US" sz="1300" dirty="0"/>
          </a:p>
        </p:txBody>
      </p:sp>
      <p:sp>
        <p:nvSpPr>
          <p:cNvPr id="3" name="Text 1"/>
          <p:cNvSpPr/>
          <p:nvPr/>
        </p:nvSpPr>
        <p:spPr>
          <a:xfrm>
            <a:off x="502920" y="493776"/>
            <a:ext cx="11247120" cy="621792"/>
          </a:xfrm>
          <a:prstGeom prst="rect">
            <a:avLst/>
          </a:prstGeom>
          <a:noFill/>
          <a:ln/>
        </p:spPr>
        <p:txBody>
          <a:bodyPr wrap="square" lIns="0" tIns="0" rIns="0" bIns="0" rtlCol="0" anchor="ctr"/>
          <a:lstStyle/>
          <a:p>
            <a:pPr marL="0" indent="0">
              <a:buNone/>
            </a:pPr>
            <a:r>
              <a:rPr lang="en-US" sz="2500" b="1" dirty="0">
                <a:solidFill>
                  <a:srgbClr val="000000"/>
                </a:solidFill>
                <a:latin typeface="Cambria" pitchFamily="34" charset="0"/>
                <a:ea typeface="Cambria" pitchFamily="34" charset="-122"/>
                <a:cs typeface="Cambria" pitchFamily="34" charset="-120"/>
              </a:rPr>
              <a:t>Verification : Blind Hindcasts on Four Real Fires</a:t>
            </a:r>
            <a:endParaRPr lang="en-US" sz="2500" dirty="0"/>
          </a:p>
        </p:txBody>
      </p:sp>
      <p:pic>
        <p:nvPicPr>
          <p:cNvPr id="4"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5"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p:pic>
        <p:nvPicPr>
          <p:cNvPr id="8506" name="Hindcast maps"/>
          <p:cNvPicPr>
            <a:picLocks noChangeAspect="1"/>
          </p:cNvPicPr>
          <p:nvPr/>
        </p:nvPicPr>
        <p:blipFill>
          <a:blip r:embed="rId5"/>
          <a:stretch>
            <a:fillRect/>
          </a:stretch>
        </p:blipFill>
        <p:spPr>
          <a:xfrm>
            <a:off x="6903720" y="1325880"/>
            <a:ext cx="4754880" cy="3574631"/>
          </a:xfrm>
          <a:prstGeom prst="rect">
            <a:avLst/>
          </a:prstGeom>
        </p:spPr>
      </p:pic>
      <p:sp>
        <p:nvSpPr>
          <p:cNvPr id="8508" name="Results line"/>
          <p:cNvSpPr/>
          <p:nvPr/>
        </p:nvSpPr>
        <p:spPr>
          <a:xfrm>
            <a:off x="6903720" y="5120640"/>
            <a:ext cx="4651408" cy="822960"/>
          </a:xfrm>
          <a:prstGeom prst="rect">
            <a:avLst/>
          </a:prstGeom>
          <a:noFill/>
          <a:ln/>
        </p:spPr>
        <p:txBody>
          <a:bodyPr wrap="square" lIns="0" tIns="0" rIns="0" bIns="0" rtlCol="0" anchor="t"/>
          <a:lstStyle/>
          <a:p>
            <a:pPr marL="0" indent="0">
              <a:lnSpc>
                <a:spcPct val="102000"/>
              </a:lnSpc>
              <a:spcAft>
                <a:spcPts val="0"/>
              </a:spcAft>
              <a:buNone/>
            </a:pPr>
            <a:r>
              <a:rPr lang="en-US" sz="1500" b="1" i="0">
                <a:solidFill>
                  <a:srgbClr val="E31836"/>
                </a:solidFill>
                <a:latin typeface="Calibri" pitchFamily="34" charset="0"/>
                <a:ea typeface="Calibri" pitchFamily="34" charset="-122"/>
                <a:cs typeface="Calibri" pitchFamily="34" charset="-120"/>
              </a:rPr>
              <a:t>Agreement 86–94 % · POD 85–97 % · front 82–90 % · arrival 71–98 %</a:t>
            </a:r>
            <a:endParaRPr lang="en-US" sz="1500" dirty="0"/>
          </a:p>
        </p:txBody>
      </p:sp>
      <p:pic>
        <p:nvPicPr>
          <p:cNvPr id="7" name="Picture 6">
            <a:extLst>
              <a:ext uri="{FF2B5EF4-FFF2-40B4-BE49-F238E27FC236}">
                <a16:creationId xmlns:a16="http://schemas.microsoft.com/office/drawing/2014/main" id="{7DF8B40B-A040-99E9-8C51-0FF767792360}"/>
              </a:ext>
            </a:extLst>
          </p:cNvPr>
          <p:cNvPicPr>
            <a:picLocks noChangeAspect="1"/>
          </p:cNvPicPr>
          <p:nvPr/>
        </p:nvPicPr>
        <p:blipFill>
          <a:blip r:embed="rId6"/>
          <a:srcRect b="9442"/>
          <a:stretch>
            <a:fillRect/>
          </a:stretch>
        </p:blipFill>
        <p:spPr>
          <a:xfrm>
            <a:off x="733563" y="3390499"/>
            <a:ext cx="5404585" cy="3296653"/>
          </a:xfrm>
          <a:prstGeom prst="rect">
            <a:avLst/>
          </a:prstGeom>
        </p:spPr>
      </p:pic>
      <p:graphicFrame>
        <p:nvGraphicFramePr>
          <p:cNvPr id="9" name="Table 0">
            <a:extLst>
              <a:ext uri="{FF2B5EF4-FFF2-40B4-BE49-F238E27FC236}">
                <a16:creationId xmlns:a16="http://schemas.microsoft.com/office/drawing/2014/main" id="{E4A63A30-D641-0683-C5C8-4117073FBCAB}"/>
              </a:ext>
            </a:extLst>
          </p:cNvPr>
          <p:cNvGraphicFramePr>
            <a:graphicFrameLocks noGrp="1"/>
          </p:cNvGraphicFramePr>
          <p:nvPr/>
        </p:nvGraphicFramePr>
        <p:xfrm>
          <a:off x="457199" y="1216152"/>
          <a:ext cx="5957315" cy="2097024"/>
        </p:xfrm>
        <a:graphic>
          <a:graphicData uri="http://schemas.openxmlformats.org/drawingml/2006/table">
            <a:tbl>
              <a:tblPr/>
              <a:tblGrid>
                <a:gridCol w="1985771">
                  <a:extLst>
                    <a:ext uri="{9D8B030D-6E8A-4147-A177-3AD203B41FA5}">
                      <a16:colId xmlns:a16="http://schemas.microsoft.com/office/drawing/2014/main" val="20000"/>
                    </a:ext>
                  </a:extLst>
                </a:gridCol>
                <a:gridCol w="2131072">
                  <a:extLst>
                    <a:ext uri="{9D8B030D-6E8A-4147-A177-3AD203B41FA5}">
                      <a16:colId xmlns:a16="http://schemas.microsoft.com/office/drawing/2014/main" val="20001"/>
                    </a:ext>
                  </a:extLst>
                </a:gridCol>
                <a:gridCol w="968670">
                  <a:extLst>
                    <a:ext uri="{9D8B030D-6E8A-4147-A177-3AD203B41FA5}">
                      <a16:colId xmlns:a16="http://schemas.microsoft.com/office/drawing/2014/main" val="20002"/>
                    </a:ext>
                  </a:extLst>
                </a:gridCol>
                <a:gridCol w="871802">
                  <a:extLst>
                    <a:ext uri="{9D8B030D-6E8A-4147-A177-3AD203B41FA5}">
                      <a16:colId xmlns:a16="http://schemas.microsoft.com/office/drawing/2014/main" val="20003"/>
                    </a:ext>
                  </a:extLst>
                </a:gridCol>
              </a:tblGrid>
              <a:tr h="38404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Case</a:t>
                      </a:r>
                      <a:endParaRPr lang="en-US" sz="125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buNone/>
                      </a:pPr>
                      <a:r>
                        <a:rPr lang="en-US" sz="1250" b="1">
                          <a:solidFill>
                            <a:srgbClr val="FFFFFF"/>
                          </a:solidFill>
                          <a:latin typeface="Calibri" pitchFamily="34" charset="0"/>
                          <a:ea typeface="Calibri" pitchFamily="34" charset="-122"/>
                          <a:cs typeface="Calibri" pitchFamily="34" charset="-120"/>
                        </a:rPr>
                        <a:t>Bounding box (°E, °N)</a:t>
                      </a:r>
                      <a:endParaRPr lang="en-US" sz="125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Start</a:t>
                      </a:r>
                      <a:endParaRPr lang="en-US" sz="125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Duration</a:t>
                      </a:r>
                      <a:endParaRPr lang="en-US" sz="125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384048">
                <a:tc>
                  <a:txBody>
                    <a:bodyPr/>
                    <a:lstStyle/>
                    <a:p>
                      <a:pPr marL="0" indent="0">
                        <a:buNone/>
                      </a:pPr>
                      <a:r>
                        <a:rPr lang="en-US" sz="1250" b="1">
                          <a:solidFill>
                            <a:srgbClr val="E31836"/>
                          </a:solidFill>
                          <a:latin typeface="Calibri" pitchFamily="34" charset="0"/>
                          <a:ea typeface="Calibri" pitchFamily="34" charset="-122"/>
                          <a:cs typeface="Calibri" pitchFamily="34" charset="-120"/>
                        </a:rPr>
                        <a:t>Sc1 Kayadere (Çanakkale) 2023</a:t>
                      </a:r>
                      <a:endParaRPr lang="en-US" sz="125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50" dirty="0">
                          <a:solidFill>
                            <a:srgbClr val="222222"/>
                          </a:solidFill>
                          <a:latin typeface="Calibri" pitchFamily="34" charset="0"/>
                          <a:ea typeface="Calibri" pitchFamily="34" charset="-122"/>
                          <a:cs typeface="Calibri" pitchFamily="34" charset="-120"/>
                        </a:rPr>
                        <a:t>26.50–27.00 E, 39.90–40.20 N</a:t>
                      </a:r>
                      <a:endParaRPr lang="en-US" sz="125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50" dirty="0">
                          <a:solidFill>
                            <a:srgbClr val="222222"/>
                          </a:solidFill>
                          <a:latin typeface="Calibri" pitchFamily="34" charset="0"/>
                          <a:ea typeface="Calibri" pitchFamily="34" charset="-122"/>
                          <a:cs typeface="Calibri" pitchFamily="34" charset="-120"/>
                        </a:rPr>
                        <a:t>2023-08-22</a:t>
                      </a:r>
                      <a:endParaRPr lang="en-US" sz="125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50" dirty="0">
                          <a:solidFill>
                            <a:srgbClr val="222222"/>
                          </a:solidFill>
                          <a:latin typeface="Calibri" pitchFamily="34" charset="0"/>
                          <a:ea typeface="Calibri" pitchFamily="34" charset="-122"/>
                          <a:cs typeface="Calibri" pitchFamily="34" charset="-120"/>
                        </a:rPr>
                        <a:t>48 h</a:t>
                      </a:r>
                      <a:endParaRPr lang="en-US" sz="125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250" b="1">
                          <a:solidFill>
                            <a:srgbClr val="E31836"/>
                          </a:solidFill>
                          <a:latin typeface="Calibri" pitchFamily="34" charset="0"/>
                          <a:ea typeface="Calibri" pitchFamily="34" charset="-122"/>
                          <a:cs typeface="Calibri" pitchFamily="34" charset="-120"/>
                        </a:rPr>
                        <a:t>Sc2 Milas (Muğla) 2021</a:t>
                      </a:r>
                      <a:endParaRPr lang="en-US" sz="125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50" dirty="0">
                          <a:solidFill>
                            <a:srgbClr val="222222"/>
                          </a:solidFill>
                          <a:latin typeface="Calibri" pitchFamily="34" charset="0"/>
                          <a:ea typeface="Calibri" pitchFamily="34" charset="-122"/>
                          <a:cs typeface="Calibri" pitchFamily="34" charset="-120"/>
                        </a:rPr>
                        <a:t>27.70–28.35 E, 36.95–37.35 N</a:t>
                      </a:r>
                      <a:endParaRPr lang="en-US" sz="125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50" dirty="0">
                          <a:solidFill>
                            <a:srgbClr val="222222"/>
                          </a:solidFill>
                          <a:latin typeface="Calibri" pitchFamily="34" charset="0"/>
                          <a:ea typeface="Calibri" pitchFamily="34" charset="-122"/>
                          <a:cs typeface="Calibri" pitchFamily="34" charset="-120"/>
                        </a:rPr>
                        <a:t>2021-08-01</a:t>
                      </a:r>
                      <a:endParaRPr lang="en-US" sz="125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50" dirty="0">
                          <a:solidFill>
                            <a:srgbClr val="222222"/>
                          </a:solidFill>
                          <a:latin typeface="Calibri" pitchFamily="34" charset="0"/>
                          <a:ea typeface="Calibri" pitchFamily="34" charset="-122"/>
                          <a:cs typeface="Calibri" pitchFamily="34" charset="-120"/>
                        </a:rPr>
                        <a:t>72 h</a:t>
                      </a:r>
                      <a:endParaRPr lang="en-US" sz="125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250" b="1">
                          <a:solidFill>
                            <a:srgbClr val="E31836"/>
                          </a:solidFill>
                          <a:latin typeface="Calibri" pitchFamily="34" charset="0"/>
                          <a:ea typeface="Calibri" pitchFamily="34" charset="-122"/>
                          <a:cs typeface="Calibri" pitchFamily="34" charset="-120"/>
                        </a:rPr>
                        <a:t>Sc3 Marmaris (Muğla) 2021</a:t>
                      </a:r>
                      <a:endParaRPr lang="en-US" sz="125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50" dirty="0">
                          <a:solidFill>
                            <a:srgbClr val="222222"/>
                          </a:solidFill>
                          <a:latin typeface="Calibri" pitchFamily="34" charset="0"/>
                          <a:ea typeface="Calibri" pitchFamily="34" charset="-122"/>
                          <a:cs typeface="Calibri" pitchFamily="34" charset="-120"/>
                        </a:rPr>
                        <a:t>28.10–28.55 E, 36.75–37.05 N</a:t>
                      </a:r>
                      <a:endParaRPr lang="en-US" sz="125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50" dirty="0">
                          <a:solidFill>
                            <a:srgbClr val="222222"/>
                          </a:solidFill>
                          <a:latin typeface="Calibri" pitchFamily="34" charset="0"/>
                          <a:ea typeface="Calibri" pitchFamily="34" charset="-122"/>
                          <a:cs typeface="Calibri" pitchFamily="34" charset="-120"/>
                        </a:rPr>
                        <a:t>2021-07-29</a:t>
                      </a:r>
                      <a:endParaRPr lang="en-US" sz="125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50" dirty="0">
                          <a:solidFill>
                            <a:srgbClr val="222222"/>
                          </a:solidFill>
                          <a:latin typeface="Calibri" pitchFamily="34" charset="0"/>
                          <a:ea typeface="Calibri" pitchFamily="34" charset="-122"/>
                          <a:cs typeface="Calibri" pitchFamily="34" charset="-120"/>
                        </a:rPr>
                        <a:t>48 h</a:t>
                      </a:r>
                      <a:endParaRPr lang="en-US" sz="125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250" b="1" dirty="0">
                          <a:solidFill>
                            <a:srgbClr val="E31836"/>
                          </a:solidFill>
                          <a:latin typeface="Calibri" pitchFamily="34" charset="0"/>
                          <a:ea typeface="Calibri" pitchFamily="34" charset="-122"/>
                          <a:cs typeface="Calibri" pitchFamily="34" charset="-120"/>
                        </a:rPr>
                        <a:t>Sc4 </a:t>
                      </a:r>
                      <a:r>
                        <a:rPr lang="en-US" sz="1250" b="1" dirty="0" err="1">
                          <a:solidFill>
                            <a:srgbClr val="E31836"/>
                          </a:solidFill>
                          <a:latin typeface="Calibri" pitchFamily="34" charset="0"/>
                          <a:ea typeface="Calibri" pitchFamily="34" charset="-122"/>
                          <a:cs typeface="Calibri" pitchFamily="34" charset="-120"/>
                        </a:rPr>
                        <a:t>Kayadere</a:t>
                      </a:r>
                      <a:r>
                        <a:rPr lang="en-US" sz="1250" b="1" dirty="0">
                          <a:solidFill>
                            <a:srgbClr val="E31836"/>
                          </a:solidFill>
                          <a:latin typeface="Calibri" pitchFamily="34" charset="0"/>
                          <a:ea typeface="Calibri" pitchFamily="34" charset="-122"/>
                          <a:cs typeface="Calibri" pitchFamily="34" charset="-120"/>
                        </a:rPr>
                        <a:t> (Çanakkale) 2023</a:t>
                      </a:r>
                      <a:endParaRPr lang="en-US" sz="125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50" dirty="0">
                          <a:solidFill>
                            <a:srgbClr val="222222"/>
                          </a:solidFill>
                          <a:latin typeface="Calibri" pitchFamily="34" charset="0"/>
                          <a:ea typeface="Calibri" pitchFamily="34" charset="-122"/>
                          <a:cs typeface="Calibri" pitchFamily="34" charset="-120"/>
                        </a:rPr>
                        <a:t>31.30–31.80 E, 36.72–37.08 N</a:t>
                      </a:r>
                      <a:endParaRPr lang="en-US" sz="125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50" dirty="0">
                          <a:solidFill>
                            <a:srgbClr val="222222"/>
                          </a:solidFill>
                          <a:latin typeface="Calibri" pitchFamily="34" charset="0"/>
                          <a:ea typeface="Calibri" pitchFamily="34" charset="-122"/>
                          <a:cs typeface="Calibri" pitchFamily="34" charset="-120"/>
                        </a:rPr>
                        <a:t>2021-07-28</a:t>
                      </a:r>
                      <a:endParaRPr lang="en-US" sz="125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50" dirty="0">
                          <a:solidFill>
                            <a:srgbClr val="222222"/>
                          </a:solidFill>
                          <a:latin typeface="Calibri" pitchFamily="34" charset="0"/>
                          <a:ea typeface="Calibri" pitchFamily="34" charset="-122"/>
                          <a:cs typeface="Calibri" pitchFamily="34" charset="-120"/>
                        </a:rPr>
                        <a:t>48 h</a:t>
                      </a:r>
                      <a:endParaRPr lang="en-US" sz="125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37744"/>
            <a:ext cx="100584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EVIDENCE : PARAMETER ANALYSES 1 OF 4</a:t>
            </a:r>
            <a:endParaRPr lang="en-US" sz="1300" dirty="0"/>
          </a:p>
        </p:txBody>
      </p:sp>
      <p:sp>
        <p:nvSpPr>
          <p:cNvPr id="3" name="Text 1"/>
          <p:cNvSpPr/>
          <p:nvPr/>
        </p:nvSpPr>
        <p:spPr>
          <a:xfrm>
            <a:off x="502920" y="493776"/>
            <a:ext cx="11247120" cy="621792"/>
          </a:xfrm>
          <a:prstGeom prst="rect">
            <a:avLst/>
          </a:prstGeom>
          <a:noFill/>
          <a:ln/>
        </p:spPr>
        <p:txBody>
          <a:bodyPr wrap="square" lIns="0" tIns="0" rIns="0" bIns="0" rtlCol="0" anchor="ctr"/>
          <a:lstStyle/>
          <a:p>
            <a:pPr marL="0" indent="0">
              <a:buNone/>
            </a:pPr>
            <a:r>
              <a:rPr lang="en-US" sz="2500" b="1" dirty="0">
                <a:solidFill>
                  <a:srgbClr val="000000"/>
                </a:solidFill>
                <a:latin typeface="Cambria" pitchFamily="34" charset="0"/>
                <a:ea typeface="Cambria" pitchFamily="34" charset="-122"/>
                <a:cs typeface="Cambria" pitchFamily="34" charset="-120"/>
              </a:rPr>
              <a:t>Sensitivity Design : One Bias at a Time, 880 Runs</a:t>
            </a:r>
            <a:endParaRPr lang="en-US" sz="2500" dirty="0"/>
          </a:p>
        </p:txBody>
      </p:sp>
      <p:pic>
        <p:nvPicPr>
          <p:cNvPr id="4"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5"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p:sp>
        <p:nvSpPr>
          <p:cNvPr id="6" name="Text 2"/>
          <p:cNvSpPr/>
          <p:nvPr/>
        </p:nvSpPr>
        <p:spPr>
          <a:xfrm>
            <a:off x="502920" y="1298448"/>
            <a:ext cx="11247120" cy="1920240"/>
          </a:xfrm>
          <a:prstGeom prst="rect">
            <a:avLst/>
          </a:prstGeom>
          <a:noFill/>
          <a:ln/>
        </p:spPr>
        <p:txBody>
          <a:bodyPr wrap="square" lIns="0" tIns="0" rIns="0" bIns="0" rtlCol="0" anchor="t"/>
          <a:lstStyle/>
          <a:p>
            <a:pPr marL="152400" indent="-152400">
              <a:lnSpc>
                <a:spcPct val="104000"/>
              </a:lnSpc>
              <a:spcAft>
                <a:spcPts val="600"/>
              </a:spcAft>
              <a:buSzPct val="100000"/>
              <a:buChar char="•"/>
            </a:pPr>
            <a:r>
              <a:rPr lang="en-US" sz="1600" b="1">
                <a:solidFill>
                  <a:srgbClr val="222222"/>
                </a:solidFill>
                <a:latin typeface="Calibri" pitchFamily="34" charset="0"/>
                <a:ea typeface="Calibri" pitchFamily="34" charset="-122"/>
                <a:cs typeface="Calibri" pitchFamily="34" charset="-120"/>
              </a:rPr>
              <a:t>Nominal = the value the framework runs with · bias = a controlled deviation</a:t>
            </a:r>
            <a:endParaRPr lang="en-US" sz="1600" dirty="0"/>
          </a:p>
          <a:p>
            <a:pPr marL="152400" indent="-152400">
              <a:lnSpc>
                <a:spcPct val="104000"/>
              </a:lnSpc>
              <a:spcAft>
                <a:spcPts val="600"/>
              </a:spcAft>
              <a:buSzPct val="100000"/>
              <a:buChar char="•"/>
            </a:pPr>
            <a:r>
              <a:rPr lang="en-US" sz="1600" b="1">
                <a:solidFill>
                  <a:srgbClr val="222222"/>
                </a:solidFill>
                <a:latin typeface="Calibri" pitchFamily="34" charset="0"/>
                <a:ea typeface="Calibri" pitchFamily="34" charset="-122"/>
                <a:cs typeface="Calibri" pitchFamily="34" charset="-120"/>
              </a:rPr>
              <a:t>Question: not which value is best, but how much miscalibration the loop tolerates</a:t>
            </a:r>
            <a:endParaRPr lang="en-US" sz="1600" dirty="0"/>
          </a:p>
          <a:p>
            <a:pPr marL="152400" indent="-152400">
              <a:lnSpc>
                <a:spcPct val="104000"/>
              </a:lnSpc>
              <a:spcAft>
                <a:spcPts val="600"/>
              </a:spcAft>
              <a:buSzPct val="100000"/>
              <a:buChar char="•"/>
            </a:pPr>
            <a:r>
              <a:rPr lang="en-US" sz="1600">
                <a:solidFill>
                  <a:srgbClr val="222222"/>
                </a:solidFill>
                <a:latin typeface="Calibri" pitchFamily="34" charset="0"/>
                <a:ea typeface="Calibri" pitchFamily="34" charset="-122"/>
                <a:cs typeface="Calibri" pitchFamily="34" charset="-120"/>
              </a:rPr>
              <a:t>Fire load × resource level swept first → an operating point where the layer neither wins nor loses outright</a:t>
            </a:r>
            <a:endParaRPr lang="en-US" sz="1600" dirty="0"/>
          </a:p>
        </p:txBody>
      </p:sp>
      <mc:AlternateContent xmlns:mc="http://schemas.openxmlformats.org/markup-compatibility/2006" xmlns:a14="http://schemas.microsoft.com/office/drawing/2010/main">
        <mc:Choice Requires="a14">
          <p:graphicFrame>
            <p:nvGraphicFramePr>
              <p:cNvPr id="8" name="Table 0"/>
              <p:cNvGraphicFramePr>
                <a:graphicFrameLocks noGrp="1"/>
              </p:cNvGraphicFramePr>
              <p:nvPr>
                <p:extLst>
                  <p:ext uri="{D42A27DB-BD31-4B8C-83A1-F6EECF244321}">
                    <p14:modId xmlns:p14="http://schemas.microsoft.com/office/powerpoint/2010/main" val="1123053219"/>
                  </p:ext>
                </p:extLst>
              </p:nvPr>
            </p:nvGraphicFramePr>
            <p:xfrm>
              <a:off x="502920" y="3291840"/>
              <a:ext cx="11247120" cy="2816352"/>
            </p:xfrm>
            <a:graphic>
              <a:graphicData uri="http://schemas.openxmlformats.org/drawingml/2006/table">
                <a:tbl>
                  <a:tblPr/>
                  <a:tblGrid>
                    <a:gridCol w="27432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6126480">
                      <a:extLst>
                        <a:ext uri="{9D8B030D-6E8A-4147-A177-3AD203B41FA5}">
                          <a16:colId xmlns:a16="http://schemas.microsoft.com/office/drawing/2014/main" val="20003"/>
                        </a:ext>
                      </a:extLst>
                    </a:gridCol>
                  </a:tblGrid>
                  <a:tr h="402336">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Parameter</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Nominal</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Bias range</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What it sets</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402336">
                    <a:tc>
                      <a:txBody>
                        <a:bodyPr/>
                        <a:lstStyle/>
                        <a:p>
                          <a:pPr marL="0" indent="0">
                            <a:buNone/>
                          </a:pPr>
                          <a:r>
                            <a:rPr lang="en-US" sz="1300" b="1" dirty="0">
                              <a:solidFill>
                                <a:srgbClr val="222222"/>
                              </a:solidFill>
                              <a:latin typeface="Calibri" pitchFamily="34" charset="0"/>
                              <a:ea typeface="Calibri" pitchFamily="34" charset="-122"/>
                              <a:cs typeface="Calibri" pitchFamily="34" charset="-120"/>
                            </a:rPr>
                            <a:t>Simultaneous ignitions</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b="1" dirty="0">
                              <a:solidFill>
                                <a:srgbClr val="E31836"/>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1 – 12</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a:solidFill>
                                <a:srgbClr val="6E6E6E"/>
                              </a:solidFill>
                              <a:latin typeface="Calibri" pitchFamily="34" charset="0"/>
                              <a:ea typeface="Calibri" pitchFamily="34" charset="-122"/>
                              <a:cs typeface="Calibri" pitchFamily="34" charset="-120"/>
                            </a:rPr>
                            <a:t>fire load: fires at step 0, least reachable cells</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1"/>
                      </a:ext>
                    </a:extLst>
                  </a:tr>
                  <a:tr h="402336">
                    <a:tc>
                      <a:txBody>
                        <a:bodyPr/>
                        <a:lstStyle/>
                        <a:p>
                          <a:pPr marL="0" indent="0">
                            <a:buNone/>
                          </a:pPr>
                          <a:r>
                            <a:rPr lang="en-US" sz="1300" b="1" dirty="0">
                              <a:solidFill>
                                <a:srgbClr val="222222"/>
                              </a:solidFill>
                              <a:latin typeface="Calibri" pitchFamily="34" charset="0"/>
                              <a:ea typeface="Calibri" pitchFamily="34" charset="-122"/>
                              <a:cs typeface="Calibri" pitchFamily="34" charset="-120"/>
                            </a:rPr>
                            <a:t>Resource level</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b="1" dirty="0">
                              <a:solidFill>
                                <a:srgbClr val="E31836"/>
                              </a:solidFill>
                              <a:latin typeface="Calibri" pitchFamily="34" charset="0"/>
                              <a:ea typeface="Calibri" pitchFamily="34" charset="-122"/>
                              <a:cs typeface="Calibri" pitchFamily="34" charset="-120"/>
                            </a:rPr>
                            <a:t>0.25</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0.10 – 1.00</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a:solidFill>
                                <a:srgbClr val="6E6E6E"/>
                              </a:solidFill>
                              <a:latin typeface="Calibri" pitchFamily="34" charset="0"/>
                              <a:ea typeface="Calibri" pitchFamily="34" charset="-122"/>
                              <a:cs typeface="Calibri" pitchFamily="34" charset="-120"/>
                            </a:rPr>
                            <a:t>pool scale; total budget across regions</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2"/>
                      </a:ext>
                    </a:extLst>
                  </a:tr>
                  <a:tr h="402336">
                    <a:tc>
                      <a:txBody>
                        <a:bodyPr/>
                        <a:lstStyle/>
                        <a:p>
                          <a:pPr marL="0" indent="0">
                            <a:buNone/>
                          </a:pPr>
                          <a:r>
                            <a:rPr lang="en-US" sz="1300" b="1" dirty="0">
                              <a:solidFill>
                                <a:srgbClr val="222222"/>
                              </a:solidFill>
                              <a:latin typeface="Calibri" pitchFamily="34" charset="0"/>
                              <a:ea typeface="Calibri" pitchFamily="34" charset="-122"/>
                              <a:cs typeface="Calibri" pitchFamily="34" charset="-120"/>
                            </a:rPr>
                            <a:t>Local regions</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b="1" dirty="0">
                              <a:solidFill>
                                <a:srgbClr val="E31836"/>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1 – 16</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a:solidFill>
                                <a:srgbClr val="6E6E6E"/>
                              </a:solidFill>
                              <a:latin typeface="Calibri" pitchFamily="34" charset="0"/>
                              <a:ea typeface="Calibri" pitchFamily="34" charset="-122"/>
                              <a:cs typeface="Calibri" pitchFamily="34" charset="-120"/>
                            </a:rPr>
                            <a:t>sub-areas competing for the shared pool</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3"/>
                      </a:ext>
                    </a:extLst>
                  </a:tr>
                  <a:tr h="402336">
                    <a:tc>
                      <a:txBody>
                        <a:bodyPr/>
                        <a:lstStyle/>
                        <a:p>
                          <a:pPr marL="0" indent="0">
                            <a:buNone/>
                          </a:pPr>
                          <a:r>
                            <a:rPr lang="en-US" sz="1300" b="1" dirty="0">
                              <a:solidFill>
                                <a:srgbClr val="222222"/>
                              </a:solidFill>
                              <a:latin typeface="Calibri" pitchFamily="34" charset="0"/>
                              <a:ea typeface="Calibri" pitchFamily="34" charset="-122"/>
                              <a:cs typeface="Calibri" pitchFamily="34" charset="-120"/>
                            </a:rPr>
                            <a:t>No-harm horizon</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b="1" dirty="0">
                              <a:solidFill>
                                <a:srgbClr val="E31836"/>
                              </a:solidFill>
                              <a:latin typeface="Calibri" pitchFamily="34" charset="0"/>
                              <a:ea typeface="Calibri" pitchFamily="34" charset="-122"/>
                              <a:cs typeface="Calibri" pitchFamily="34" charset="-120"/>
                            </a:rPr>
                            <a:t>45 min</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45 – 90 min</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a:solidFill>
                                <a:srgbClr val="6E6E6E"/>
                              </a:solidFill>
                              <a:latin typeface="Calibri" pitchFamily="34" charset="0"/>
                              <a:ea typeface="Calibri" pitchFamily="34" charset="-122"/>
                              <a:cs typeface="Calibri" pitchFamily="34" charset="-120"/>
                            </a:rPr>
                            <a:t>lookahead comparing candidate vs no action</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5"/>
                      </a:ext>
                    </a:extLst>
                  </a:tr>
                  <a:tr h="402336">
                    <a:tc>
                      <a:txBody>
                        <a:bodyPr/>
                        <a:lstStyle/>
                        <a:p>
                          <a:pPr marL="0" indent="0">
                            <a:buNone/>
                          </a:pPr>
                          <a:r>
                            <a:rPr lang="en-US" sz="1300" b="1" dirty="0">
                              <a:solidFill>
                                <a:srgbClr val="222222"/>
                              </a:solidFill>
                              <a:latin typeface="Calibri" pitchFamily="34" charset="0"/>
                              <a:ea typeface="Calibri" pitchFamily="34" charset="-122"/>
                              <a:cs typeface="Calibri" pitchFamily="34" charset="-120"/>
                            </a:rPr>
                            <a:t>Satisficing bound </a:t>
                          </a:r>
                          <a14:m>
                            <m:oMath xmlns:m="http://schemas.openxmlformats.org/officeDocument/2006/math">
                              <m:sSub>
                                <m:sSubPr>
                                  <m:ctrlPr>
                                    <a:rPr lang="en-US" sz="1300" i="1">
                                      <a:latin typeface="Cambria Math" panose="02040503050406030204" pitchFamily="18" charset="0"/>
                                    </a:rPr>
                                  </m:ctrlPr>
                                </m:sSubPr>
                                <m:e>
                                  <m:r>
                                    <a:rPr lang="en-US" sz="1300">
                                      <a:latin typeface="Cambria Math"/>
                                    </a:rPr>
                                    <m:t>𝐽</m:t>
                                  </m:r>
                                </m:e>
                                <m:sub>
                                  <m:r>
                                    <a:rPr lang="en-US" sz="1300">
                                      <a:latin typeface="Cambria Math"/>
                                    </a:rPr>
                                    <m:t>𝑇𝐻</m:t>
                                  </m:r>
                                </m:sub>
                              </m:sSub>
                            </m:oMath>
                          </a14:m>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b="1" dirty="0">
                              <a:solidFill>
                                <a:srgbClr val="E31836"/>
                              </a:solidFill>
                              <a:latin typeface="Calibri" pitchFamily="34" charset="0"/>
                              <a:ea typeface="Calibri" pitchFamily="34" charset="-122"/>
                              <a:cs typeface="Calibri" pitchFamily="34" charset="-120"/>
                            </a:rPr>
                            <a:t>0.35</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0.15 – 0.60</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a:solidFill>
                                <a:srgbClr val="6E6E6E"/>
                              </a:solidFill>
                              <a:latin typeface="Calibri" pitchFamily="34" charset="0"/>
                              <a:ea typeface="Calibri" pitchFamily="34" charset="-122"/>
                              <a:cs typeface="Calibri" pitchFamily="34" charset="-120"/>
                            </a:rPr>
                            <a:t>cost at which standing orders are accepted</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6"/>
                      </a:ext>
                    </a:extLst>
                  </a:tr>
                  <a:tr h="402336">
                    <a:tc>
                      <a:txBody>
                        <a:bodyPr/>
                        <a:lstStyle/>
                        <a:p>
                          <a:pPr marL="0" indent="0">
                            <a:buNone/>
                          </a:pPr>
                          <a:r>
                            <a:rPr lang="en-US" sz="1300" b="1" dirty="0">
                              <a:solidFill>
                                <a:srgbClr val="222222"/>
                              </a:solidFill>
                              <a:latin typeface="Calibri" pitchFamily="34" charset="0"/>
                              <a:ea typeface="Calibri" pitchFamily="34" charset="-122"/>
                              <a:cs typeface="Calibri" pitchFamily="34" charset="-120"/>
                            </a:rPr>
                            <a:t>Quality gate </a:t>
                          </a:r>
                          <a14:m>
                            <m:oMath xmlns:m="http://schemas.openxmlformats.org/officeDocument/2006/math">
                              <m:r>
                                <a:rPr lang="en-US" sz="1300">
                                  <a:latin typeface="Cambria Math"/>
                                </a:rPr>
                                <m:t>𝜂</m:t>
                              </m:r>
                            </m:oMath>
                          </a14:m>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b="1" dirty="0">
                              <a:solidFill>
                                <a:srgbClr val="E31836"/>
                              </a:solidFill>
                              <a:latin typeface="Calibri" pitchFamily="34" charset="0"/>
                              <a:ea typeface="Calibri" pitchFamily="34" charset="-122"/>
                              <a:cs typeface="Calibri" pitchFamily="34" charset="-120"/>
                            </a:rPr>
                            <a:t>0.60</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0.30 – 0.90</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a:solidFill>
                                <a:srgbClr val="6E6E6E"/>
                              </a:solidFill>
                              <a:latin typeface="Calibri" pitchFamily="34" charset="0"/>
                              <a:ea typeface="Calibri" pitchFamily="34" charset="-122"/>
                              <a:cs typeface="Calibri" pitchFamily="34" charset="-120"/>
                            </a:rPr>
                            <a:t>minimum quality for full-strength offensive orders</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mc:Choice>
        <mc:Fallback xmlns="">
          <p:graphicFrame>
            <p:nvGraphicFramePr>
              <p:cNvPr id="8" name="Table 0"/>
              <p:cNvGraphicFramePr>
                <a:graphicFrameLocks noGrp="1"/>
              </p:cNvGraphicFramePr>
              <p:nvPr>
                <p:extLst>
                  <p:ext uri="{D42A27DB-BD31-4B8C-83A1-F6EECF244321}">
                    <p14:modId xmlns:p14="http://schemas.microsoft.com/office/powerpoint/2010/main" val="1123053219"/>
                  </p:ext>
                </p:extLst>
              </p:nvPr>
            </p:nvGraphicFramePr>
            <p:xfrm>
              <a:off x="502920" y="3291840"/>
              <a:ext cx="11247120" cy="2816352"/>
            </p:xfrm>
            <a:graphic>
              <a:graphicData uri="http://schemas.openxmlformats.org/drawingml/2006/table">
                <a:tbl>
                  <a:tblPr/>
                  <a:tblGrid>
                    <a:gridCol w="27432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6126480">
                      <a:extLst>
                        <a:ext uri="{9D8B030D-6E8A-4147-A177-3AD203B41FA5}">
                          <a16:colId xmlns:a16="http://schemas.microsoft.com/office/drawing/2014/main" val="20003"/>
                        </a:ext>
                      </a:extLst>
                    </a:gridCol>
                  </a:tblGrid>
                  <a:tr h="402336">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Parameter</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Nominal</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Bias range</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What it sets</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402336">
                    <a:tc>
                      <a:txBody>
                        <a:bodyPr/>
                        <a:lstStyle/>
                        <a:p>
                          <a:pPr marL="0" indent="0">
                            <a:buNone/>
                          </a:pPr>
                          <a:r>
                            <a:rPr lang="en-US" sz="1300" b="1" dirty="0">
                              <a:solidFill>
                                <a:srgbClr val="222222"/>
                              </a:solidFill>
                              <a:latin typeface="Calibri" pitchFamily="34" charset="0"/>
                              <a:ea typeface="Calibri" pitchFamily="34" charset="-122"/>
                              <a:cs typeface="Calibri" pitchFamily="34" charset="-120"/>
                            </a:rPr>
                            <a:t>Simultaneous ignitions</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b="1" dirty="0">
                              <a:solidFill>
                                <a:srgbClr val="E31836"/>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1 – 12</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a:solidFill>
                                <a:srgbClr val="6E6E6E"/>
                              </a:solidFill>
                              <a:latin typeface="Calibri" pitchFamily="34" charset="0"/>
                              <a:ea typeface="Calibri" pitchFamily="34" charset="-122"/>
                              <a:cs typeface="Calibri" pitchFamily="34" charset="-120"/>
                            </a:rPr>
                            <a:t>fire load: fires at step 0, least reachable cells</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1"/>
                      </a:ext>
                    </a:extLst>
                  </a:tr>
                  <a:tr h="402336">
                    <a:tc>
                      <a:txBody>
                        <a:bodyPr/>
                        <a:lstStyle/>
                        <a:p>
                          <a:pPr marL="0" indent="0">
                            <a:buNone/>
                          </a:pPr>
                          <a:r>
                            <a:rPr lang="en-US" sz="1300" b="1" dirty="0">
                              <a:solidFill>
                                <a:srgbClr val="222222"/>
                              </a:solidFill>
                              <a:latin typeface="Calibri" pitchFamily="34" charset="0"/>
                              <a:ea typeface="Calibri" pitchFamily="34" charset="-122"/>
                              <a:cs typeface="Calibri" pitchFamily="34" charset="-120"/>
                            </a:rPr>
                            <a:t>Resource level</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b="1" dirty="0">
                              <a:solidFill>
                                <a:srgbClr val="E31836"/>
                              </a:solidFill>
                              <a:latin typeface="Calibri" pitchFamily="34" charset="0"/>
                              <a:ea typeface="Calibri" pitchFamily="34" charset="-122"/>
                              <a:cs typeface="Calibri" pitchFamily="34" charset="-120"/>
                            </a:rPr>
                            <a:t>0.25</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0.10 – 1.00</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a:solidFill>
                                <a:srgbClr val="6E6E6E"/>
                              </a:solidFill>
                              <a:latin typeface="Calibri" pitchFamily="34" charset="0"/>
                              <a:ea typeface="Calibri" pitchFamily="34" charset="-122"/>
                              <a:cs typeface="Calibri" pitchFamily="34" charset="-120"/>
                            </a:rPr>
                            <a:t>pool scale; total budget across regions</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2"/>
                      </a:ext>
                    </a:extLst>
                  </a:tr>
                  <a:tr h="402336">
                    <a:tc>
                      <a:txBody>
                        <a:bodyPr/>
                        <a:lstStyle/>
                        <a:p>
                          <a:pPr marL="0" indent="0">
                            <a:buNone/>
                          </a:pPr>
                          <a:r>
                            <a:rPr lang="en-US" sz="1300" b="1" dirty="0">
                              <a:solidFill>
                                <a:srgbClr val="222222"/>
                              </a:solidFill>
                              <a:latin typeface="Calibri" pitchFamily="34" charset="0"/>
                              <a:ea typeface="Calibri" pitchFamily="34" charset="-122"/>
                              <a:cs typeface="Calibri" pitchFamily="34" charset="-120"/>
                            </a:rPr>
                            <a:t>Local regions</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b="1" dirty="0">
                              <a:solidFill>
                                <a:srgbClr val="E31836"/>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1 – 16</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a:solidFill>
                                <a:srgbClr val="6E6E6E"/>
                              </a:solidFill>
                              <a:latin typeface="Calibri" pitchFamily="34" charset="0"/>
                              <a:ea typeface="Calibri" pitchFamily="34" charset="-122"/>
                              <a:cs typeface="Calibri" pitchFamily="34" charset="-120"/>
                            </a:rPr>
                            <a:t>sub-areas competing for the shared pool</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3"/>
                      </a:ext>
                    </a:extLst>
                  </a:tr>
                  <a:tr h="402336">
                    <a:tc>
                      <a:txBody>
                        <a:bodyPr/>
                        <a:lstStyle/>
                        <a:p>
                          <a:pPr marL="0" indent="0">
                            <a:buNone/>
                          </a:pPr>
                          <a:r>
                            <a:rPr lang="en-US" sz="1300" b="1" dirty="0">
                              <a:solidFill>
                                <a:srgbClr val="222222"/>
                              </a:solidFill>
                              <a:latin typeface="Calibri" pitchFamily="34" charset="0"/>
                              <a:ea typeface="Calibri" pitchFamily="34" charset="-122"/>
                              <a:cs typeface="Calibri" pitchFamily="34" charset="-120"/>
                            </a:rPr>
                            <a:t>No-harm horizon</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b="1" dirty="0">
                              <a:solidFill>
                                <a:srgbClr val="E31836"/>
                              </a:solidFill>
                              <a:latin typeface="Calibri" pitchFamily="34" charset="0"/>
                              <a:ea typeface="Calibri" pitchFamily="34" charset="-122"/>
                              <a:cs typeface="Calibri" pitchFamily="34" charset="-120"/>
                            </a:rPr>
                            <a:t>45 min</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45 – 90 min</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a:solidFill>
                                <a:srgbClr val="6E6E6E"/>
                              </a:solidFill>
                              <a:latin typeface="Calibri" pitchFamily="34" charset="0"/>
                              <a:ea typeface="Calibri" pitchFamily="34" charset="-122"/>
                              <a:cs typeface="Calibri" pitchFamily="34" charset="-120"/>
                            </a:rPr>
                            <a:t>lookahead comparing candidate vs no action</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5"/>
                      </a:ext>
                    </a:extLst>
                  </a:tr>
                  <a:tr h="402336">
                    <a:tc>
                      <a:txBody>
                        <a:bodyPr/>
                        <a:lstStyle/>
                        <a:p>
                          <a:pPr marL="0" indent="0">
                            <a:buNone/>
                          </a:pPr>
                          <a:r>
                            <a:rPr lang="en-US" sz="1300" b="1" dirty="0">
                              <a:solidFill>
                                <a:srgbClr val="222222"/>
                              </a:solidFill>
                              <a:latin typeface="Calibri" pitchFamily="34" charset="0"/>
                              <a:ea typeface="Calibri" pitchFamily="34" charset="-122"/>
                              <a:cs typeface="Calibri" pitchFamily="34" charset="-120"/>
                            </a:rPr>
                            <a:t>Satisficing bound </a:t>
                          </a:r>
                          <a:r>
                            <a:rPr lang="en-US" sz="1300" i="1">
                              <a:latin typeface="Cambria Math"/>
                            </a:rPr>
                            <a:t>𝐽𝑇𝐻</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b="1" dirty="0">
                              <a:solidFill>
                                <a:srgbClr val="E31836"/>
                              </a:solidFill>
                              <a:latin typeface="Calibri" pitchFamily="34" charset="0"/>
                              <a:ea typeface="Calibri" pitchFamily="34" charset="-122"/>
                              <a:cs typeface="Calibri" pitchFamily="34" charset="-120"/>
                            </a:rPr>
                            <a:t>0.35</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0.15 – 0.60</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a:solidFill>
                                <a:srgbClr val="6E6E6E"/>
                              </a:solidFill>
                              <a:latin typeface="Calibri" pitchFamily="34" charset="0"/>
                              <a:ea typeface="Calibri" pitchFamily="34" charset="-122"/>
                              <a:cs typeface="Calibri" pitchFamily="34" charset="-120"/>
                            </a:rPr>
                            <a:t>cost at which standing orders are accepted</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6"/>
                      </a:ext>
                    </a:extLst>
                  </a:tr>
                  <a:tr h="402336">
                    <a:tc>
                      <a:txBody>
                        <a:bodyPr/>
                        <a:lstStyle/>
                        <a:p>
                          <a:pPr marL="0" indent="0">
                            <a:buNone/>
                          </a:pPr>
                          <a:r>
                            <a:rPr lang="en-US" sz="1300" b="1" dirty="0">
                              <a:solidFill>
                                <a:srgbClr val="222222"/>
                              </a:solidFill>
                              <a:latin typeface="Calibri" pitchFamily="34" charset="0"/>
                              <a:ea typeface="Calibri" pitchFamily="34" charset="-122"/>
                              <a:cs typeface="Calibri" pitchFamily="34" charset="-120"/>
                            </a:rPr>
                            <a:t>Quality gate </a:t>
                          </a:r>
                          <a:r>
                            <a:rPr lang="en-US" sz="1300" i="1">
                              <a:latin typeface="Cambria Math"/>
                            </a:rPr>
                            <a:t>𝜂</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b="1" dirty="0">
                              <a:solidFill>
                                <a:srgbClr val="E31836"/>
                              </a:solidFill>
                              <a:latin typeface="Calibri" pitchFamily="34" charset="0"/>
                              <a:ea typeface="Calibri" pitchFamily="34" charset="-122"/>
                              <a:cs typeface="Calibri" pitchFamily="34" charset="-120"/>
                            </a:rPr>
                            <a:t>0.60</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0.30 – 0.90</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a:solidFill>
                                <a:srgbClr val="6E6E6E"/>
                              </a:solidFill>
                              <a:latin typeface="Calibri" pitchFamily="34" charset="0"/>
                              <a:ea typeface="Calibri" pitchFamily="34" charset="-122"/>
                              <a:cs typeface="Calibri" pitchFamily="34" charset="-120"/>
                            </a:rPr>
                            <a:t>minimum quality for full-strength offensive orders</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37744"/>
            <a:ext cx="100584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EVIDENCE : PARAMETER ANALYSES 2 OF 4</a:t>
            </a:r>
            <a:endParaRPr lang="en-US" sz="1300" dirty="0"/>
          </a:p>
        </p:txBody>
      </p:sp>
      <p:sp>
        <p:nvSpPr>
          <p:cNvPr id="3" name="Text 1"/>
          <p:cNvSpPr/>
          <p:nvPr/>
        </p:nvSpPr>
        <p:spPr>
          <a:xfrm>
            <a:off x="502920" y="493776"/>
            <a:ext cx="11247120" cy="621792"/>
          </a:xfrm>
          <a:prstGeom prst="rect">
            <a:avLst/>
          </a:prstGeom>
          <a:noFill/>
          <a:ln/>
        </p:spPr>
        <p:txBody>
          <a:bodyPr wrap="square" lIns="0" tIns="0" rIns="0" bIns="0" rtlCol="0" anchor="ctr"/>
          <a:lstStyle/>
          <a:p>
            <a:pPr marL="0" indent="0">
              <a:buNone/>
            </a:pPr>
            <a:r>
              <a:rPr lang="en-US" sz="2500" b="1" dirty="0">
                <a:solidFill>
                  <a:srgbClr val="000000"/>
                </a:solidFill>
                <a:latin typeface="Cambria" pitchFamily="34" charset="0"/>
                <a:ea typeface="Cambria" pitchFamily="34" charset="-122"/>
                <a:cs typeface="Cambria" pitchFamily="34" charset="-120"/>
              </a:rPr>
              <a:t>Locating the Operating Point : Fire Load × Resource Pool</a:t>
            </a:r>
            <a:endParaRPr lang="en-US" sz="2500" dirty="0"/>
          </a:p>
        </p:txBody>
      </p:sp>
      <p:pic>
        <p:nvPicPr>
          <p:cNvPr id="4"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5"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p:pic>
        <p:nvPicPr>
          <p:cNvPr id="6" name="Image 2" descr="/tmp/thx/deck/figs/ch5_31.png"/>
          <p:cNvPicPr>
            <a:picLocks noChangeAspect="1"/>
          </p:cNvPicPr>
          <p:nvPr/>
        </p:nvPicPr>
        <p:blipFill>
          <a:blip r:embed="rId5"/>
          <a:stretch>
            <a:fillRect/>
          </a:stretch>
        </p:blipFill>
        <p:spPr>
          <a:xfrm>
            <a:off x="1538532" y="943707"/>
            <a:ext cx="8285952" cy="5765329"/>
          </a:xfrm>
          <a:prstGeom prst="rect">
            <a:avLst/>
          </a:prstGeom>
        </p:spPr>
      </p:pic>
      <p:sp>
        <p:nvSpPr>
          <p:cNvPr id="9" name="Text 2">
            <a:extLst>
              <a:ext uri="{FF2B5EF4-FFF2-40B4-BE49-F238E27FC236}">
                <a16:creationId xmlns:a16="http://schemas.microsoft.com/office/drawing/2014/main" id="{1EE0FD8C-63BA-A366-8549-A96A9F6D5766}"/>
              </a:ext>
            </a:extLst>
          </p:cNvPr>
          <p:cNvSpPr/>
          <p:nvPr/>
        </p:nvSpPr>
        <p:spPr>
          <a:xfrm>
            <a:off x="7315200" y="1463040"/>
            <a:ext cx="4434840" cy="4937760"/>
          </a:xfrm>
          <a:prstGeom prst="rect">
            <a:avLst/>
          </a:prstGeom>
          <a:noFill/>
          <a:ln/>
        </p:spPr>
        <p:txBody>
          <a:bodyPr wrap="square" lIns="0" tIns="0" rIns="0" bIns="0" rtlCol="0" anchor="t"/>
          <a:lstStyle/>
          <a:p>
            <a:pPr marL="152400" indent="-152400">
              <a:lnSpc>
                <a:spcPct val="104000"/>
              </a:lnSpc>
              <a:spcAft>
                <a:spcPts val="600"/>
              </a:spcAft>
              <a:buSzPct val="100000"/>
              <a:buChar char="•"/>
            </a:pPr>
            <a:endParaRPr lang="en-US" sz="12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37744"/>
            <a:ext cx="100584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EVIDENCE : PARAMETER ANALYSES 3 OF 4</a:t>
            </a:r>
            <a:endParaRPr lang="en-US" sz="1300" dirty="0"/>
          </a:p>
        </p:txBody>
      </p:sp>
      <p:sp>
        <p:nvSpPr>
          <p:cNvPr id="3" name="Text 1"/>
          <p:cNvSpPr/>
          <p:nvPr/>
        </p:nvSpPr>
        <p:spPr>
          <a:xfrm>
            <a:off x="502920" y="493776"/>
            <a:ext cx="11247120" cy="621792"/>
          </a:xfrm>
          <a:prstGeom prst="rect">
            <a:avLst/>
          </a:prstGeom>
          <a:noFill/>
          <a:ln/>
        </p:spPr>
        <p:txBody>
          <a:bodyPr wrap="square" lIns="0" tIns="0" rIns="0" bIns="0" rtlCol="0" anchor="ctr"/>
          <a:lstStyle/>
          <a:p>
            <a:pPr marL="0" indent="0">
              <a:buNone/>
            </a:pPr>
            <a:r>
              <a:rPr lang="en-US" sz="2500" b="1" dirty="0">
                <a:solidFill>
                  <a:srgbClr val="000000"/>
                </a:solidFill>
                <a:latin typeface="Cambria" pitchFamily="34" charset="0"/>
                <a:ea typeface="Cambria" pitchFamily="34" charset="-122"/>
                <a:cs typeface="Cambria" pitchFamily="34" charset="-120"/>
              </a:rPr>
              <a:t>Observation Coverage × Fire Load, per Resource Pool</a:t>
            </a:r>
            <a:endParaRPr lang="en-US" sz="2500" dirty="0"/>
          </a:p>
        </p:txBody>
      </p:sp>
      <p:pic>
        <p:nvPicPr>
          <p:cNvPr id="4"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5"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p:pic>
        <p:nvPicPr>
          <p:cNvPr id="6" name="Image 2" descr="/tmp/thx/deck/figs/ch5_32.png"/>
          <p:cNvPicPr>
            <a:picLocks noChangeAspect="1"/>
          </p:cNvPicPr>
          <p:nvPr/>
        </p:nvPicPr>
        <p:blipFill>
          <a:blip r:embed="rId5"/>
          <a:stretch>
            <a:fillRect/>
          </a:stretch>
        </p:blipFill>
        <p:spPr>
          <a:xfrm>
            <a:off x="944527" y="1039606"/>
            <a:ext cx="4230251" cy="2520000"/>
          </a:xfrm>
          <a:prstGeom prst="rect">
            <a:avLst/>
          </a:prstGeom>
        </p:spPr>
      </p:pic>
      <p:pic>
        <p:nvPicPr>
          <p:cNvPr id="7" name="Image 3" descr="/tmp/thx/deck/figs/ch5_33.png"/>
          <p:cNvPicPr>
            <a:picLocks noChangeAspect="1"/>
          </p:cNvPicPr>
          <p:nvPr/>
        </p:nvPicPr>
        <p:blipFill>
          <a:blip r:embed="rId6"/>
          <a:stretch>
            <a:fillRect/>
          </a:stretch>
        </p:blipFill>
        <p:spPr>
          <a:xfrm>
            <a:off x="5876616" y="1146455"/>
            <a:ext cx="4413640" cy="2520000"/>
          </a:xfrm>
          <a:prstGeom prst="rect">
            <a:avLst/>
          </a:prstGeom>
        </p:spPr>
      </p:pic>
      <p:pic>
        <p:nvPicPr>
          <p:cNvPr id="8" name="Image 4" descr="/tmp/thx/deck/figs/ch5_34.png"/>
          <p:cNvPicPr>
            <a:picLocks noChangeAspect="1"/>
          </p:cNvPicPr>
          <p:nvPr/>
        </p:nvPicPr>
        <p:blipFill>
          <a:blip r:embed="rId7"/>
          <a:stretch>
            <a:fillRect/>
          </a:stretch>
        </p:blipFill>
        <p:spPr>
          <a:xfrm>
            <a:off x="944527" y="3666455"/>
            <a:ext cx="4222044" cy="2520000"/>
          </a:xfrm>
          <a:prstGeom prst="rect">
            <a:avLst/>
          </a:prstGeom>
        </p:spPr>
      </p:pic>
      <p:pic>
        <p:nvPicPr>
          <p:cNvPr id="9" name="Image 5" descr="/tmp/thx/deck/figs/ch5_35.png"/>
          <p:cNvPicPr>
            <a:picLocks noChangeAspect="1"/>
          </p:cNvPicPr>
          <p:nvPr/>
        </p:nvPicPr>
        <p:blipFill>
          <a:blip r:embed="rId8"/>
          <a:stretch>
            <a:fillRect/>
          </a:stretch>
        </p:blipFill>
        <p:spPr>
          <a:xfrm>
            <a:off x="5972575" y="3676788"/>
            <a:ext cx="4281176" cy="2520000"/>
          </a:xfrm>
          <a:prstGeom prst="rect">
            <a:avLst/>
          </a:prstGeom>
        </p:spPr>
      </p:pic>
      <p:sp>
        <p:nvSpPr>
          <p:cNvPr id="11" name="Text 3"/>
          <p:cNvSpPr/>
          <p:nvPr/>
        </p:nvSpPr>
        <p:spPr>
          <a:xfrm>
            <a:off x="7909560" y="1463040"/>
            <a:ext cx="3840480" cy="4937760"/>
          </a:xfrm>
          <a:prstGeom prst="rect">
            <a:avLst/>
          </a:prstGeom>
          <a:noFill/>
          <a:ln/>
        </p:spPr>
        <p:txBody>
          <a:bodyPr wrap="square" lIns="0" tIns="0" rIns="0" bIns="0" rtlCol="0" anchor="t"/>
          <a:lstStyle/>
          <a:p>
            <a:pPr marL="152400" indent="-152400">
              <a:lnSpc>
                <a:spcPct val="104000"/>
              </a:lnSpc>
              <a:spcAft>
                <a:spcPts val="600"/>
              </a:spcAft>
              <a:buSzPct val="100000"/>
              <a:buChar char="•"/>
            </a:pPr>
            <a:endParaRPr lang="en-US" sz="1200" dirty="0"/>
          </a:p>
        </p:txBody>
      </p:sp>
      <p:sp>
        <p:nvSpPr>
          <p:cNvPr id="13" name="TextBox 12">
            <a:extLst>
              <a:ext uri="{FF2B5EF4-FFF2-40B4-BE49-F238E27FC236}">
                <a16:creationId xmlns:a16="http://schemas.microsoft.com/office/drawing/2014/main" id="{81743C4E-FEF2-A990-75F7-9ABB2C0FA5B6}"/>
              </a:ext>
            </a:extLst>
          </p:cNvPr>
          <p:cNvSpPr txBox="1"/>
          <p:nvPr/>
        </p:nvSpPr>
        <p:spPr>
          <a:xfrm>
            <a:off x="2438400" y="1042227"/>
            <a:ext cx="993648" cy="276999"/>
          </a:xfrm>
          <a:prstGeom prst="rect">
            <a:avLst/>
          </a:prstGeom>
          <a:noFill/>
        </p:spPr>
        <p:txBody>
          <a:bodyPr wrap="square">
            <a:spAutoFit/>
          </a:bodyPr>
          <a:lstStyle/>
          <a:p>
            <a:r>
              <a:rPr lang="en-US" sz="1200" i="1" dirty="0">
                <a:solidFill>
                  <a:srgbClr val="6E6E6E"/>
                </a:solidFill>
                <a:latin typeface="Calibri" pitchFamily="34" charset="0"/>
                <a:ea typeface="Calibri" pitchFamily="34" charset="-122"/>
                <a:cs typeface="Calibri" pitchFamily="34" charset="-120"/>
              </a:rPr>
              <a:t>Pools 0.25</a:t>
            </a:r>
            <a:endParaRPr lang="tr-TR" dirty="0"/>
          </a:p>
        </p:txBody>
      </p:sp>
      <p:sp>
        <p:nvSpPr>
          <p:cNvPr id="14" name="TextBox 13">
            <a:extLst>
              <a:ext uri="{FF2B5EF4-FFF2-40B4-BE49-F238E27FC236}">
                <a16:creationId xmlns:a16="http://schemas.microsoft.com/office/drawing/2014/main" id="{5447BEA7-F4C5-DC28-A129-D12BF311FA71}"/>
              </a:ext>
            </a:extLst>
          </p:cNvPr>
          <p:cNvSpPr txBox="1"/>
          <p:nvPr/>
        </p:nvSpPr>
        <p:spPr>
          <a:xfrm>
            <a:off x="7468761" y="1042227"/>
            <a:ext cx="993648" cy="276999"/>
          </a:xfrm>
          <a:prstGeom prst="rect">
            <a:avLst/>
          </a:prstGeom>
          <a:noFill/>
        </p:spPr>
        <p:txBody>
          <a:bodyPr wrap="square">
            <a:spAutoFit/>
          </a:bodyPr>
          <a:lstStyle/>
          <a:p>
            <a:r>
              <a:rPr lang="en-US" sz="1200" i="1" dirty="0">
                <a:solidFill>
                  <a:srgbClr val="6E6E6E"/>
                </a:solidFill>
                <a:latin typeface="Calibri" pitchFamily="34" charset="0"/>
                <a:ea typeface="Calibri" pitchFamily="34" charset="-122"/>
                <a:cs typeface="Calibri" pitchFamily="34" charset="-120"/>
              </a:rPr>
              <a:t>Pools 0.5</a:t>
            </a:r>
            <a:endParaRPr lang="tr-TR" dirty="0"/>
          </a:p>
        </p:txBody>
      </p:sp>
      <p:sp>
        <p:nvSpPr>
          <p:cNvPr id="16" name="TextBox 15">
            <a:extLst>
              <a:ext uri="{FF2B5EF4-FFF2-40B4-BE49-F238E27FC236}">
                <a16:creationId xmlns:a16="http://schemas.microsoft.com/office/drawing/2014/main" id="{56775B02-80A4-04AE-2B04-D4674A82123A}"/>
              </a:ext>
            </a:extLst>
          </p:cNvPr>
          <p:cNvSpPr txBox="1"/>
          <p:nvPr/>
        </p:nvSpPr>
        <p:spPr>
          <a:xfrm>
            <a:off x="2405887" y="3655163"/>
            <a:ext cx="993648" cy="276999"/>
          </a:xfrm>
          <a:prstGeom prst="rect">
            <a:avLst/>
          </a:prstGeom>
          <a:noFill/>
        </p:spPr>
        <p:txBody>
          <a:bodyPr wrap="square">
            <a:spAutoFit/>
          </a:bodyPr>
          <a:lstStyle/>
          <a:p>
            <a:r>
              <a:rPr lang="en-US" sz="1200" i="1" dirty="0">
                <a:solidFill>
                  <a:srgbClr val="6E6E6E"/>
                </a:solidFill>
                <a:latin typeface="Calibri" pitchFamily="34" charset="0"/>
                <a:ea typeface="Calibri" pitchFamily="34" charset="-122"/>
                <a:cs typeface="Calibri" pitchFamily="34" charset="-120"/>
              </a:rPr>
              <a:t>Pools 0.75</a:t>
            </a:r>
            <a:endParaRPr lang="tr-TR" dirty="0"/>
          </a:p>
        </p:txBody>
      </p:sp>
      <p:sp>
        <p:nvSpPr>
          <p:cNvPr id="18" name="TextBox 17">
            <a:extLst>
              <a:ext uri="{FF2B5EF4-FFF2-40B4-BE49-F238E27FC236}">
                <a16:creationId xmlns:a16="http://schemas.microsoft.com/office/drawing/2014/main" id="{FAC9138C-5E98-2F53-6CB7-F081A19EBD3A}"/>
              </a:ext>
            </a:extLst>
          </p:cNvPr>
          <p:cNvSpPr txBox="1"/>
          <p:nvPr/>
        </p:nvSpPr>
        <p:spPr>
          <a:xfrm>
            <a:off x="7436248" y="3655163"/>
            <a:ext cx="993648" cy="276999"/>
          </a:xfrm>
          <a:prstGeom prst="rect">
            <a:avLst/>
          </a:prstGeom>
          <a:noFill/>
        </p:spPr>
        <p:txBody>
          <a:bodyPr wrap="square">
            <a:spAutoFit/>
          </a:bodyPr>
          <a:lstStyle/>
          <a:p>
            <a:r>
              <a:rPr lang="en-US" sz="1200" i="1" dirty="0">
                <a:solidFill>
                  <a:srgbClr val="6E6E6E"/>
                </a:solidFill>
                <a:latin typeface="Calibri" pitchFamily="34" charset="0"/>
                <a:ea typeface="Calibri" pitchFamily="34" charset="-122"/>
                <a:cs typeface="Calibri" pitchFamily="34" charset="-120"/>
              </a:rPr>
              <a:t>Pools 1</a:t>
            </a:r>
            <a:endParaRPr lang="tr-TR"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37744"/>
            <a:ext cx="100584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EVIDENCE : PARAMETER ANALYSES 4 OF 4</a:t>
            </a:r>
            <a:endParaRPr lang="en-US" sz="1300" dirty="0"/>
          </a:p>
        </p:txBody>
      </p:sp>
      <p:sp>
        <p:nvSpPr>
          <p:cNvPr id="3" name="Text 1"/>
          <p:cNvSpPr/>
          <p:nvPr/>
        </p:nvSpPr>
        <p:spPr>
          <a:xfrm>
            <a:off x="502920" y="493776"/>
            <a:ext cx="11247120" cy="621792"/>
          </a:xfrm>
          <a:prstGeom prst="rect">
            <a:avLst/>
          </a:prstGeom>
          <a:noFill/>
          <a:ln/>
        </p:spPr>
        <p:txBody>
          <a:bodyPr wrap="square" lIns="0" tIns="0" rIns="0" bIns="0" rtlCol="0" anchor="ctr"/>
          <a:lstStyle/>
          <a:p>
            <a:pPr marL="0" indent="0">
              <a:buNone/>
            </a:pPr>
            <a:r>
              <a:rPr lang="en-US" sz="2500" b="1" dirty="0">
                <a:solidFill>
                  <a:srgbClr val="000000"/>
                </a:solidFill>
                <a:latin typeface="Cambria" pitchFamily="34" charset="0"/>
                <a:ea typeface="Cambria" pitchFamily="34" charset="-122"/>
                <a:cs typeface="Cambria" pitchFamily="34" charset="-120"/>
              </a:rPr>
              <a:t>Decision Cycle, Satisficing Bound, Quality Gate</a:t>
            </a:r>
            <a:endParaRPr lang="en-US" sz="2500" dirty="0"/>
          </a:p>
        </p:txBody>
      </p:sp>
      <p:pic>
        <p:nvPicPr>
          <p:cNvPr id="4"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5"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p:sp>
        <p:nvSpPr>
          <p:cNvPr id="6" name="Text 2"/>
          <p:cNvSpPr/>
          <p:nvPr/>
        </p:nvSpPr>
        <p:spPr>
          <a:xfrm>
            <a:off x="502920" y="1261872"/>
            <a:ext cx="5669280" cy="292608"/>
          </a:xfrm>
          <a:prstGeom prst="rect">
            <a:avLst/>
          </a:prstGeom>
          <a:noFill/>
          <a:ln/>
        </p:spPr>
        <p:txBody>
          <a:bodyPr wrap="square" lIns="0" tIns="0" rIns="0" bIns="0" rtlCol="0" anchor="ctr"/>
          <a:lstStyle/>
          <a:p>
            <a:pPr marL="0" indent="0">
              <a:buNone/>
            </a:pPr>
            <a:r>
              <a:rPr lang="en-US" sz="1400" b="1" dirty="0">
                <a:solidFill>
                  <a:srgbClr val="E31836"/>
                </a:solidFill>
                <a:latin typeface="Calibri" pitchFamily="34" charset="0"/>
                <a:ea typeface="Calibri" pitchFamily="34" charset="-122"/>
                <a:cs typeface="Calibri" pitchFamily="34" charset="-120"/>
              </a:rPr>
              <a:t>Decision cycle — how long a plan may age</a:t>
            </a:r>
            <a:endParaRPr lang="en-US" sz="1400" dirty="0"/>
          </a:p>
        </p:txBody>
      </p:sp>
      <mc:AlternateContent xmlns:mc="http://schemas.openxmlformats.org/markup-compatibility/2006" xmlns:a14="http://schemas.microsoft.com/office/drawing/2010/main">
        <mc:Choice Requires="a14">
          <p:sp>
            <p:nvSpPr>
              <p:cNvPr id="7" name="Text 3"/>
              <p:cNvSpPr/>
              <p:nvPr/>
            </p:nvSpPr>
            <p:spPr>
              <a:xfrm>
                <a:off x="502920" y="1591056"/>
                <a:ext cx="5669280" cy="566928"/>
              </a:xfrm>
              <a:prstGeom prst="rect">
                <a:avLst/>
              </a:prstGeom>
              <a:noFill/>
              <a:ln/>
            </p:spPr>
            <p:txBody>
              <a:bodyPr wrap="square" lIns="0" tIns="0" rIns="0" bIns="0" rtlCol="0" anchor="ctr"/>
              <a:lstStyle/>
              <a:p>
                <a:pPr marL="0" indent="0" algn="ctr">
                  <a:buNone/>
                </a:pPr>
                <a14:m>
                  <m:oMathPara xmlns:m="http://schemas.openxmlformats.org/officeDocument/2006/math">
                    <m:oMathParaPr>
                      <m:jc m:val="centerGroup"/>
                    </m:oMathParaPr>
                    <m:oMath xmlns:m="http://schemas.openxmlformats.org/officeDocument/2006/math">
                      <m:r>
                        <a:rPr lang="en-US" sz="1400">
                          <a:latin typeface="Cambria Math"/>
                        </a:rPr>
                        <m:t>𝛥</m:t>
                      </m:r>
                      <m:sSub>
                        <m:sSubPr>
                          <m:ctrlPr>
                            <a:rPr lang="en-US" sz="1400" i="1">
                              <a:latin typeface="Cambria Math" panose="02040503050406030204" pitchFamily="18" charset="0"/>
                            </a:rPr>
                          </m:ctrlPr>
                        </m:sSubPr>
                        <m:e>
                          <m:r>
                            <m:rPr>
                              <m:sty m:val="p"/>
                            </m:rPr>
                            <a:rPr lang="en-US" sz="1400">
                              <a:latin typeface="Cambria Math"/>
                            </a:rPr>
                            <m:t>t</m:t>
                          </m:r>
                        </m:e>
                        <m:sub>
                          <m:r>
                            <m:rPr>
                              <m:sty m:val="p"/>
                            </m:rPr>
                            <a:rPr lang="en-US" sz="1400">
                              <a:latin typeface="Cambria Math"/>
                            </a:rPr>
                            <m:t>decision</m:t>
                          </m:r>
                        </m:sub>
                      </m:sSub>
                      <m:r>
                        <a:rPr lang="en-US" sz="1400">
                          <a:latin typeface="Cambria Math"/>
                        </a:rPr>
                        <m:t>=</m:t>
                      </m:r>
                      <m:r>
                        <m:rPr>
                          <m:sty m:val="p"/>
                        </m:rPr>
                        <a:rPr lang="en-US" sz="1400">
                          <a:latin typeface="Cambria Math"/>
                        </a:rPr>
                        <m:t>max</m:t>
                      </m:r>
                      <m:d>
                        <m:dPr>
                          <m:ctrlPr>
                            <a:rPr lang="en-US" sz="1400" i="1">
                              <a:latin typeface="Cambria Math" panose="02040503050406030204" pitchFamily="18" charset="0"/>
                            </a:rPr>
                          </m:ctrlPr>
                        </m:dPr>
                        <m:e>
                          <m:r>
                            <a:rPr lang="en-US" sz="1400">
                              <a:latin typeface="Cambria Math"/>
                            </a:rPr>
                            <m:t>𝛥</m:t>
                          </m:r>
                          <m:r>
                            <a:rPr lang="en-US" sz="1400">
                              <a:latin typeface="Cambria Math"/>
                            </a:rPr>
                            <m:t>𝑡</m:t>
                          </m:r>
                          <m:r>
                            <a:rPr lang="en-US" sz="1400">
                              <a:latin typeface="Cambria Math"/>
                            </a:rPr>
                            <m:t>,</m:t>
                          </m:r>
                          <m:r>
                            <m:rPr>
                              <m:sty m:val="p"/>
                            </m:rPr>
                            <a:rPr lang="en-US" sz="1400">
                              <a:latin typeface="Cambria Math"/>
                            </a:rPr>
                            <m:t>min</m:t>
                          </m:r>
                          <m:d>
                            <m:dPr>
                              <m:ctrlPr>
                                <a:rPr lang="en-US" sz="1400" i="1">
                                  <a:latin typeface="Cambria Math" panose="02040503050406030204" pitchFamily="18" charset="0"/>
                                </a:rPr>
                              </m:ctrlPr>
                            </m:dPr>
                            <m:e>
                              <m:f>
                                <m:fPr>
                                  <m:ctrlPr>
                                    <a:rPr lang="en-US" sz="1400" i="1">
                                      <a:latin typeface="Cambria Math" panose="02040503050406030204" pitchFamily="18" charset="0"/>
                                    </a:rPr>
                                  </m:ctrlPr>
                                </m:fPr>
                                <m:num>
                                  <m:sSub>
                                    <m:sSubPr>
                                      <m:ctrlPr>
                                        <a:rPr lang="en-US" sz="1400" i="1">
                                          <a:latin typeface="Cambria Math" panose="02040503050406030204" pitchFamily="18" charset="0"/>
                                        </a:rPr>
                                      </m:ctrlPr>
                                    </m:sSubPr>
                                    <m:e>
                                      <m:r>
                                        <a:rPr lang="en-US" sz="1400">
                                          <a:latin typeface="Cambria Math"/>
                                        </a:rPr>
                                        <m:t>𝐶</m:t>
                                      </m:r>
                                    </m:e>
                                    <m:sub>
                                      <m:r>
                                        <a:rPr lang="en-US" sz="1400">
                                          <a:latin typeface="Cambria Math"/>
                                        </a:rPr>
                                        <m:t>𝑠𝑖𝑧𝑒</m:t>
                                      </m:r>
                                    </m:sub>
                                  </m:sSub>
                                </m:num>
                                <m:den>
                                  <m:r>
                                    <a:rPr lang="en-US" sz="1400">
                                      <a:latin typeface="Cambria Math"/>
                                    </a:rPr>
                                    <m:t>2</m:t>
                                  </m:r>
                                  <m:sSub>
                                    <m:sSubPr>
                                      <m:ctrlPr>
                                        <a:rPr lang="en-US" sz="1400" i="1">
                                          <a:latin typeface="Cambria Math" panose="02040503050406030204" pitchFamily="18" charset="0"/>
                                        </a:rPr>
                                      </m:ctrlPr>
                                    </m:sSubPr>
                                    <m:e>
                                      <m:r>
                                        <a:rPr lang="en-US" sz="1400">
                                          <a:latin typeface="Cambria Math"/>
                                        </a:rPr>
                                        <m:t>𝑅</m:t>
                                      </m:r>
                                    </m:e>
                                    <m:sub>
                                      <m:r>
                                        <m:rPr>
                                          <m:sty m:val="p"/>
                                        </m:rPr>
                                        <a:rPr lang="en-US" sz="1400">
                                          <a:latin typeface="Cambria Math"/>
                                        </a:rPr>
                                        <m:t>spread</m:t>
                                      </m:r>
                                    </m:sub>
                                  </m:sSub>
                                </m:den>
                              </m:f>
                              <m:r>
                                <a:rPr lang="en-US" sz="1400">
                                  <a:latin typeface="Cambria Math"/>
                                </a:rPr>
                                <m:t>,</m:t>
                              </m:r>
                              <m:f>
                                <m:fPr>
                                  <m:ctrlPr>
                                    <a:rPr lang="en-US" sz="1400" i="1">
                                      <a:latin typeface="Cambria Math" panose="02040503050406030204" pitchFamily="18" charset="0"/>
                                    </a:rPr>
                                  </m:ctrlPr>
                                </m:fPr>
                                <m:num>
                                  <m:sSub>
                                    <m:sSubPr>
                                      <m:ctrlPr>
                                        <a:rPr lang="en-US" sz="1400" i="1">
                                          <a:latin typeface="Cambria Math" panose="02040503050406030204" pitchFamily="18" charset="0"/>
                                        </a:rPr>
                                      </m:ctrlPr>
                                    </m:sSubPr>
                                    <m:e>
                                      <m:r>
                                        <a:rPr lang="en-US" sz="1400">
                                          <a:latin typeface="Cambria Math"/>
                                        </a:rPr>
                                        <m:t>𝜏</m:t>
                                      </m:r>
                                    </m:e>
                                    <m:sub>
                                      <m:r>
                                        <a:rPr lang="en-US" sz="1400">
                                          <a:latin typeface="Cambria Math"/>
                                        </a:rPr>
                                        <m:t>𝐻𝑜𝑟𝑖𝑧𝑜𝑛</m:t>
                                      </m:r>
                                    </m:sub>
                                  </m:sSub>
                                </m:num>
                                <m:den>
                                  <m:r>
                                    <a:rPr lang="en-US" sz="1400">
                                      <a:latin typeface="Cambria Math"/>
                                    </a:rPr>
                                    <m:t>5</m:t>
                                  </m:r>
                                </m:den>
                              </m:f>
                            </m:e>
                          </m:d>
                        </m:e>
                      </m:d>
                    </m:oMath>
                  </m:oMathPara>
                </a14:m>
                <a:endParaRPr lang="en-US" sz="1300" dirty="0"/>
              </a:p>
            </p:txBody>
          </p:sp>
        </mc:Choice>
        <mc:Fallback xmlns="">
          <p:sp>
            <p:nvSpPr>
              <p:cNvPr id="7" name="Text 3"/>
              <p:cNvSpPr>
                <a:spLocks noRot="1" noChangeAspect="1" noMove="1" noResize="1" noEditPoints="1" noAdjustHandles="1" noChangeArrowheads="1" noChangeShapeType="1" noTextEdit="1"/>
              </p:cNvSpPr>
              <p:nvPr/>
            </p:nvSpPr>
            <p:spPr>
              <a:xfrm>
                <a:off x="502920" y="1591056"/>
                <a:ext cx="5669280" cy="566928"/>
              </a:xfrm>
              <a:prstGeom prst="rect">
                <a:avLst/>
              </a:prstGeom>
              <a:blipFill>
                <a:blip r:embed="rId5"/>
                <a:stretch>
                  <a:fillRect/>
                </a:stretch>
              </a:blipFill>
              <a:ln/>
            </p:spPr>
            <p:txBody>
              <a:bodyPr/>
              <a:lstStyle/>
              <a:p>
                <a:r>
                  <a:rPr lang="tr-TR">
                    <a:noFill/>
                  </a:rPr>
                  <a:t> </a:t>
                </a:r>
              </a:p>
            </p:txBody>
          </p:sp>
        </mc:Fallback>
      </mc:AlternateContent>
      <p:pic>
        <p:nvPicPr>
          <p:cNvPr id="9" name="Image 2" descr="/tmp/thx/deck/figs/ch5_38.png"/>
          <p:cNvPicPr>
            <a:picLocks noChangeAspect="1"/>
          </p:cNvPicPr>
          <p:nvPr/>
        </p:nvPicPr>
        <p:blipFill>
          <a:blip r:embed="rId6"/>
          <a:stretch>
            <a:fillRect/>
          </a:stretch>
        </p:blipFill>
        <p:spPr>
          <a:xfrm>
            <a:off x="457200" y="2633472"/>
            <a:ext cx="5270010" cy="3643786"/>
          </a:xfrm>
          <a:prstGeom prst="rect">
            <a:avLst/>
          </a:prstGeom>
        </p:spPr>
      </p:pic>
      <p:sp>
        <p:nvSpPr>
          <p:cNvPr id="10" name="Text 5"/>
          <p:cNvSpPr/>
          <p:nvPr/>
        </p:nvSpPr>
        <p:spPr>
          <a:xfrm>
            <a:off x="6537960" y="1261872"/>
            <a:ext cx="5212080" cy="292608"/>
          </a:xfrm>
          <a:prstGeom prst="rect">
            <a:avLst/>
          </a:prstGeom>
          <a:noFill/>
          <a:ln/>
        </p:spPr>
        <p:txBody>
          <a:bodyPr wrap="square" lIns="0" tIns="0" rIns="0" bIns="0" rtlCol="0" anchor="ctr"/>
          <a:lstStyle/>
          <a:p>
            <a:pPr marL="0" indent="0">
              <a:buNone/>
            </a:pPr>
            <a:r>
              <a:rPr lang="en-US" sz="1400" b="1" dirty="0">
                <a:solidFill>
                  <a:srgbClr val="E31836"/>
                </a:solidFill>
                <a:latin typeface="Calibri" pitchFamily="34" charset="0"/>
                <a:ea typeface="Calibri" pitchFamily="34" charset="-122"/>
                <a:cs typeface="Calibri" pitchFamily="34" charset="-120"/>
              </a:rPr>
              <a:t>Two thresholds, two rates</a:t>
            </a:r>
            <a:endParaRPr lang="en-US" sz="1400" dirty="0"/>
          </a:p>
        </p:txBody>
      </p:sp>
      <p:pic>
        <p:nvPicPr>
          <p:cNvPr id="11" name="Image 3" descr="/tmp/thx/deck/figs/ch5_39.png"/>
          <p:cNvPicPr>
            <a:picLocks noChangeAspect="1"/>
          </p:cNvPicPr>
          <p:nvPr/>
        </p:nvPicPr>
        <p:blipFill>
          <a:blip r:embed="rId7"/>
          <a:stretch>
            <a:fillRect/>
          </a:stretch>
        </p:blipFill>
        <p:spPr>
          <a:xfrm>
            <a:off x="7164959" y="1648662"/>
            <a:ext cx="3288792" cy="2355639"/>
          </a:xfrm>
          <a:prstGeom prst="rect">
            <a:avLst/>
          </a:prstGeom>
        </p:spPr>
      </p:pic>
      <p:pic>
        <p:nvPicPr>
          <p:cNvPr id="12" name="Image 4" descr="/tmp/thx/deck/figs/ch5_40.png"/>
          <p:cNvPicPr>
            <a:picLocks noChangeAspect="1"/>
          </p:cNvPicPr>
          <p:nvPr/>
        </p:nvPicPr>
        <p:blipFill>
          <a:blip r:embed="rId8"/>
          <a:stretch>
            <a:fillRect/>
          </a:stretch>
        </p:blipFill>
        <p:spPr>
          <a:xfrm>
            <a:off x="7055866" y="4042061"/>
            <a:ext cx="3506978" cy="2522918"/>
          </a:xfrm>
          <a:prstGeom prst="rect">
            <a:avLst/>
          </a:prstGeom>
        </p:spPr>
      </p:pic>
      <p:sp>
        <p:nvSpPr>
          <p:cNvPr id="13" name="Text 6"/>
          <p:cNvSpPr/>
          <p:nvPr/>
        </p:nvSpPr>
        <p:spPr>
          <a:xfrm>
            <a:off x="6537960" y="3657600"/>
            <a:ext cx="5212080" cy="2834640"/>
          </a:xfrm>
          <a:prstGeom prst="rect">
            <a:avLst/>
          </a:prstGeom>
          <a:noFill/>
          <a:ln/>
        </p:spPr>
        <p:txBody>
          <a:bodyPr wrap="square" lIns="0" tIns="0" rIns="0" bIns="0" rtlCol="0" anchor="t"/>
          <a:lstStyle/>
          <a:p>
            <a:pPr marL="152400" indent="-152400">
              <a:lnSpc>
                <a:spcPct val="104000"/>
              </a:lnSpc>
              <a:spcAft>
                <a:spcPts val="600"/>
              </a:spcAft>
              <a:buSzPct val="100000"/>
              <a:buChar char="•"/>
            </a:pPr>
            <a:endParaRPr lang="en-US" sz="1200" dirty="0"/>
          </a:p>
        </p:txBody>
      </p:sp>
      <p:sp>
        <p:nvSpPr>
          <p:cNvPr id="15" name="Text 4">
            <a:extLst>
              <a:ext uri="{FF2B5EF4-FFF2-40B4-BE49-F238E27FC236}">
                <a16:creationId xmlns:a16="http://schemas.microsoft.com/office/drawing/2014/main" id="{75F3E9DD-4832-1B76-00E4-5D1B2C8E5608}"/>
              </a:ext>
            </a:extLst>
          </p:cNvPr>
          <p:cNvSpPr/>
          <p:nvPr/>
        </p:nvSpPr>
        <p:spPr>
          <a:xfrm>
            <a:off x="502920" y="2212848"/>
            <a:ext cx="5669280" cy="1417320"/>
          </a:xfrm>
          <a:prstGeom prst="rect">
            <a:avLst/>
          </a:prstGeom>
          <a:noFill/>
          <a:ln/>
        </p:spPr>
        <p:txBody>
          <a:bodyPr wrap="square" lIns="0" tIns="0" rIns="0" bIns="0" rtlCol="0" anchor="t"/>
          <a:lstStyle/>
          <a:p>
            <a:pPr marL="0" indent="0">
              <a:lnSpc>
                <a:spcPct val="104000"/>
              </a:lnSpc>
              <a:buNone/>
            </a:pPr>
            <a:endParaRPr lang="en-US" sz="12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37744"/>
            <a:ext cx="100584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EVIDENCE : PERFORMANCE 1 OF 3</a:t>
            </a:r>
            <a:endParaRPr lang="en-US" sz="1300" dirty="0"/>
          </a:p>
        </p:txBody>
      </p:sp>
      <p:sp>
        <p:nvSpPr>
          <p:cNvPr id="3" name="Text 1"/>
          <p:cNvSpPr/>
          <p:nvPr/>
        </p:nvSpPr>
        <p:spPr>
          <a:xfrm>
            <a:off x="502920" y="493776"/>
            <a:ext cx="11247120" cy="621792"/>
          </a:xfrm>
          <a:prstGeom prst="rect">
            <a:avLst/>
          </a:prstGeom>
          <a:noFill/>
          <a:ln/>
        </p:spPr>
        <p:txBody>
          <a:bodyPr wrap="square" lIns="0" tIns="0" rIns="0" bIns="0" rtlCol="0" anchor="ctr"/>
          <a:lstStyle/>
          <a:p>
            <a:pPr marL="0" indent="0">
              <a:buNone/>
            </a:pPr>
            <a:r>
              <a:rPr lang="en-US" sz="2500" b="1" dirty="0">
                <a:solidFill>
                  <a:srgbClr val="000000"/>
                </a:solidFill>
                <a:latin typeface="Cambria" pitchFamily="34" charset="0"/>
                <a:ea typeface="Cambria" pitchFamily="34" charset="-122"/>
                <a:cs typeface="Cambria" pitchFamily="34" charset="-120"/>
              </a:rPr>
              <a:t>Five Scenario Families : Landscape × Resource Sufficiency</a:t>
            </a:r>
            <a:endParaRPr lang="en-US" sz="2500" dirty="0"/>
          </a:p>
        </p:txBody>
      </p:sp>
      <p:pic>
        <p:nvPicPr>
          <p:cNvPr id="4"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5"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p:graphicFrame>
        <p:nvGraphicFramePr>
          <p:cNvPr id="13" name="Table 0"/>
          <p:cNvGraphicFramePr>
            <a:graphicFrameLocks noGrp="1"/>
          </p:cNvGraphicFramePr>
          <p:nvPr/>
        </p:nvGraphicFramePr>
        <p:xfrm>
          <a:off x="502920" y="1064684"/>
          <a:ext cx="11247120" cy="2414016"/>
        </p:xfrm>
        <a:graphic>
          <a:graphicData uri="http://schemas.openxmlformats.org/drawingml/2006/table">
            <a:tbl>
              <a:tblPr/>
              <a:tblGrid>
                <a:gridCol w="54864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4023360">
                  <a:extLst>
                    <a:ext uri="{9D8B030D-6E8A-4147-A177-3AD203B41FA5}">
                      <a16:colId xmlns:a16="http://schemas.microsoft.com/office/drawing/2014/main" val="20004"/>
                    </a:ext>
                  </a:extLst>
                </a:gridCol>
              </a:tblGrid>
              <a:tr h="402336">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ID</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Landscape</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Resource</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Ignitions</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What it assesses</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402336">
                <a:tc>
                  <a:txBody>
                    <a:bodyPr/>
                    <a:lstStyle/>
                    <a:p>
                      <a:pPr marL="0" indent="0">
                        <a:buNone/>
                      </a:pPr>
                      <a:r>
                        <a:rPr lang="en-US" sz="1300" b="1" dirty="0">
                          <a:solidFill>
                            <a:srgbClr val="E31836"/>
                          </a:solidFill>
                          <a:latin typeface="Calibri" pitchFamily="34" charset="0"/>
                          <a:ea typeface="Calibri" pitchFamily="34" charset="-122"/>
                          <a:cs typeface="Calibri" pitchFamily="34" charset="-120"/>
                        </a:rPr>
                        <a:t>S1</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a:solidFill>
                            <a:srgbClr val="222222"/>
                          </a:solidFill>
                          <a:latin typeface="Calibri" pitchFamily="34" charset="0"/>
                          <a:ea typeface="Calibri" pitchFamily="34" charset="-122"/>
                          <a:cs typeface="Calibri" pitchFamily="34" charset="-120"/>
                        </a:rPr>
                        <a:t>Remote forest (≈2 settlements)</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Sufficient</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1 remote</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a:solidFill>
                            <a:srgbClr val="6E6E6E"/>
                          </a:solidFill>
                          <a:latin typeface="Calibri" pitchFamily="34" charset="0"/>
                          <a:ea typeface="Calibri" pitchFamily="34" charset="-122"/>
                          <a:cs typeface="Calibri" pitchFamily="34" charset="-120"/>
                        </a:rPr>
                        <a:t>baseline suppression</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1"/>
                  </a:ext>
                </a:extLst>
              </a:tr>
              <a:tr h="402336">
                <a:tc>
                  <a:txBody>
                    <a:bodyPr/>
                    <a:lstStyle/>
                    <a:p>
                      <a:pPr marL="0" indent="0">
                        <a:buNone/>
                      </a:pPr>
                      <a:r>
                        <a:rPr lang="en-US" sz="1300" b="1" dirty="0">
                          <a:solidFill>
                            <a:srgbClr val="E31836"/>
                          </a:solidFill>
                          <a:latin typeface="Calibri" pitchFamily="34" charset="0"/>
                          <a:ea typeface="Calibri" pitchFamily="34" charset="-122"/>
                          <a:cs typeface="Calibri" pitchFamily="34" charset="-120"/>
                        </a:rPr>
                        <a:t>S2</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Remote forest</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Limited</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3 remote</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a:solidFill>
                            <a:srgbClr val="6E6E6E"/>
                          </a:solidFill>
                          <a:latin typeface="Calibri" pitchFamily="34" charset="0"/>
                          <a:ea typeface="Calibri" pitchFamily="34" charset="-122"/>
                          <a:cs typeface="Calibri" pitchFamily="34" charset="-120"/>
                        </a:rPr>
                        <a:t>protection under scarcity; allocation</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2"/>
                  </a:ext>
                </a:extLst>
              </a:tr>
              <a:tr h="402336">
                <a:tc>
                  <a:txBody>
                    <a:bodyPr/>
                    <a:lstStyle/>
                    <a:p>
                      <a:pPr marL="0" indent="0">
                        <a:buNone/>
                      </a:pPr>
                      <a:r>
                        <a:rPr lang="en-US" sz="1300" b="1" dirty="0">
                          <a:solidFill>
                            <a:srgbClr val="E31836"/>
                          </a:solidFill>
                          <a:latin typeface="Calibri" pitchFamily="34" charset="0"/>
                          <a:ea typeface="Calibri" pitchFamily="34" charset="-122"/>
                          <a:cs typeface="Calibri" pitchFamily="34" charset="-120"/>
                        </a:rPr>
                        <a:t>S3</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a:solidFill>
                            <a:srgbClr val="222222"/>
                          </a:solidFill>
                          <a:latin typeface="Calibri" pitchFamily="34" charset="0"/>
                          <a:ea typeface="Calibri" pitchFamily="34" charset="-122"/>
                          <a:cs typeface="Calibri" pitchFamily="34" charset="-120"/>
                        </a:rPr>
                        <a:t>WUI (≈15 settlements)</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Sufficient</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2 near the interface</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a:solidFill>
                            <a:srgbClr val="6E6E6E"/>
                          </a:solidFill>
                          <a:latin typeface="Calibri" pitchFamily="34" charset="0"/>
                          <a:ea typeface="Calibri" pitchFamily="34" charset="-122"/>
                          <a:cs typeface="Calibri" pitchFamily="34" charset="-120"/>
                        </a:rPr>
                        <a:t>life/asset priority; evacuation</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3"/>
                  </a:ext>
                </a:extLst>
              </a:tr>
              <a:tr h="402336">
                <a:tc>
                  <a:txBody>
                    <a:bodyPr/>
                    <a:lstStyle/>
                    <a:p>
                      <a:pPr marL="0" indent="0">
                        <a:buNone/>
                      </a:pPr>
                      <a:r>
                        <a:rPr lang="en-US" sz="1300" b="1" dirty="0">
                          <a:solidFill>
                            <a:srgbClr val="E31836"/>
                          </a:solidFill>
                          <a:latin typeface="Calibri" pitchFamily="34" charset="0"/>
                          <a:ea typeface="Calibri" pitchFamily="34" charset="-122"/>
                          <a:cs typeface="Calibri" pitchFamily="34" charset="-120"/>
                        </a:rPr>
                        <a:t>S4</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WUI</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Limited</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2 near the interface</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a:solidFill>
                            <a:srgbClr val="6E6E6E"/>
                          </a:solidFill>
                          <a:latin typeface="Calibri" pitchFamily="34" charset="0"/>
                          <a:ea typeface="Calibri" pitchFamily="34" charset="-122"/>
                          <a:cs typeface="Calibri" pitchFamily="34" charset="-120"/>
                        </a:rPr>
                        <a:t>full stress — the demo scenario</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4"/>
                  </a:ext>
                </a:extLst>
              </a:tr>
              <a:tr h="402336">
                <a:tc>
                  <a:txBody>
                    <a:bodyPr/>
                    <a:lstStyle/>
                    <a:p>
                      <a:pPr marL="0" indent="0">
                        <a:buNone/>
                      </a:pPr>
                      <a:r>
                        <a:rPr lang="en-US" sz="1300" b="1" dirty="0">
                          <a:solidFill>
                            <a:srgbClr val="E31836"/>
                          </a:solidFill>
                          <a:latin typeface="Calibri" pitchFamily="34" charset="0"/>
                          <a:ea typeface="Calibri" pitchFamily="34" charset="-122"/>
                          <a:cs typeface="Calibri" pitchFamily="34" charset="-120"/>
                        </a:rPr>
                        <a:t>S5</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as S4</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as S4</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dirty="0">
                          <a:solidFill>
                            <a:srgbClr val="222222"/>
                          </a:solidFill>
                          <a:latin typeface="Calibri" pitchFamily="34" charset="0"/>
                          <a:ea typeface="Calibri" pitchFamily="34" charset="-122"/>
                          <a:cs typeface="Calibri" pitchFamily="34" charset="-120"/>
                        </a:rPr>
                        <a:t>as S4</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a:solidFill>
                            <a:srgbClr val="6E6E6E"/>
                          </a:solidFill>
                          <a:latin typeface="Calibri" pitchFamily="34" charset="0"/>
                          <a:ea typeface="Calibri" pitchFamily="34" charset="-122"/>
                          <a:cs typeface="Calibri" pitchFamily="34" charset="-120"/>
                        </a:rPr>
                        <a:t>S4 with degraded observation</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pic>
        <p:nvPicPr>
          <p:cNvPr id="7" name="Image 2" descr="/tmp/thx/deck/figs/ch5_41.png"/>
          <p:cNvPicPr>
            <a:picLocks noChangeAspect="1"/>
          </p:cNvPicPr>
          <p:nvPr/>
        </p:nvPicPr>
        <p:blipFill>
          <a:blip r:embed="rId5"/>
          <a:stretch>
            <a:fillRect/>
          </a:stretch>
        </p:blipFill>
        <p:spPr>
          <a:xfrm>
            <a:off x="502920" y="3794760"/>
            <a:ext cx="2651760" cy="2651760"/>
          </a:xfrm>
          <a:prstGeom prst="rect">
            <a:avLst/>
          </a:prstGeom>
        </p:spPr>
      </p:pic>
      <p:pic>
        <p:nvPicPr>
          <p:cNvPr id="8" name="Image 3" descr="/tmp/thx/deck/figs/ch5_42.png"/>
          <p:cNvPicPr>
            <a:picLocks noChangeAspect="1"/>
          </p:cNvPicPr>
          <p:nvPr/>
        </p:nvPicPr>
        <p:blipFill>
          <a:blip r:embed="rId6"/>
          <a:stretch>
            <a:fillRect/>
          </a:stretch>
        </p:blipFill>
        <p:spPr>
          <a:xfrm>
            <a:off x="3246120" y="3794760"/>
            <a:ext cx="2651760" cy="2651760"/>
          </a:xfrm>
          <a:prstGeom prst="rect">
            <a:avLst/>
          </a:prstGeom>
        </p:spPr>
      </p:pic>
      <p:pic>
        <p:nvPicPr>
          <p:cNvPr id="9" name="Image 4" descr="/tmp/thx/deck/figs/ch5_43.png"/>
          <p:cNvPicPr>
            <a:picLocks noChangeAspect="1"/>
          </p:cNvPicPr>
          <p:nvPr/>
        </p:nvPicPr>
        <p:blipFill>
          <a:blip r:embed="rId7"/>
          <a:stretch>
            <a:fillRect/>
          </a:stretch>
        </p:blipFill>
        <p:spPr>
          <a:xfrm>
            <a:off x="5989320" y="3794760"/>
            <a:ext cx="2651760" cy="2651760"/>
          </a:xfrm>
          <a:prstGeom prst="rect">
            <a:avLst/>
          </a:prstGeom>
        </p:spPr>
      </p:pic>
      <p:pic>
        <p:nvPicPr>
          <p:cNvPr id="10" name="Image 5" descr="/tmp/thx/deck/figs/ch5_44.png"/>
          <p:cNvPicPr>
            <a:picLocks noChangeAspect="1"/>
          </p:cNvPicPr>
          <p:nvPr/>
        </p:nvPicPr>
        <p:blipFill>
          <a:blip r:embed="rId8"/>
          <a:stretch>
            <a:fillRect/>
          </a:stretch>
        </p:blipFill>
        <p:spPr>
          <a:xfrm>
            <a:off x="8732520" y="3794760"/>
            <a:ext cx="2651760" cy="2651760"/>
          </a:xfrm>
          <a:prstGeom prst="rect">
            <a:avLst/>
          </a:prstGeom>
        </p:spPr>
      </p:pic>
      <p:sp>
        <p:nvSpPr>
          <p:cNvPr id="11" name="Text 2"/>
          <p:cNvSpPr/>
          <p:nvPr/>
        </p:nvSpPr>
        <p:spPr>
          <a:xfrm>
            <a:off x="502920" y="6489960"/>
            <a:ext cx="11247120" cy="320040"/>
          </a:xfrm>
          <a:prstGeom prst="rect">
            <a:avLst/>
          </a:prstGeom>
          <a:noFill/>
          <a:ln/>
        </p:spPr>
        <p:txBody>
          <a:bodyPr wrap="square" lIns="0" tIns="0" rIns="0" bIns="0" rtlCol="0" anchor="t"/>
          <a:lstStyle/>
          <a:p>
            <a:pPr marL="0" indent="0">
              <a:lnSpc>
                <a:spcPct val="104000"/>
              </a:lnSpc>
              <a:buNone/>
            </a:pPr>
            <a:r>
              <a:rPr lang="en-US" sz="1300" i="1">
                <a:solidFill>
                  <a:srgbClr val="6E6E6E"/>
                </a:solidFill>
                <a:latin typeface="Calibri" pitchFamily="34" charset="0"/>
                <a:ea typeface="Calibri" pitchFamily="34" charset="-122"/>
                <a:cs typeface="Calibri" pitchFamily="34" charset="-120"/>
              </a:rPr>
              <a:t>S1 · S2 · S3 · S4 worlds — critical fire weather everywhere (dry fuels, strong wind) · 50 worlds per scenario</a:t>
            </a:r>
            <a:endParaRPr lang="en-US" sz="1300" dirty="0"/>
          </a:p>
        </p:txBody>
      </p:sp>
      <p:sp>
        <p:nvSpPr>
          <p:cNvPr id="12" name="Text 3"/>
          <p:cNvSpPr/>
          <p:nvPr/>
        </p:nvSpPr>
        <p:spPr>
          <a:xfrm>
            <a:off x="502920" y="3520440"/>
            <a:ext cx="11247120" cy="274320"/>
          </a:xfrm>
          <a:prstGeom prst="rect">
            <a:avLst/>
          </a:prstGeom>
          <a:noFill/>
          <a:ln/>
        </p:spPr>
        <p:txBody>
          <a:bodyPr wrap="square" lIns="0" tIns="0" rIns="0" bIns="0" rtlCol="0" anchor="t"/>
          <a:lstStyle/>
          <a:p>
            <a:pPr marL="0" indent="0">
              <a:lnSpc>
                <a:spcPct val="104000"/>
              </a:lnSpc>
              <a:buNone/>
            </a:pPr>
            <a:r>
              <a:rPr lang="en-US" sz="1300">
                <a:solidFill>
                  <a:srgbClr val="222222"/>
                </a:solidFill>
                <a:latin typeface="Calibri" pitchFamily="34" charset="0"/>
                <a:ea typeface="Calibri" pitchFamily="34" charset="-122"/>
                <a:cs typeface="Calibri" pitchFamily="34" charset="-120"/>
              </a:rPr>
              <a:t>Resource effectiveness &gt; 50 % when sufficient, &lt; 50 % when limited</a:t>
            </a:r>
            <a:endParaRPr lang="en-US" sz="13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37744"/>
            <a:ext cx="100584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EVIDENCE : PERFORMANCE 2 OF 3</a:t>
            </a:r>
            <a:endParaRPr lang="en-US" sz="1300" dirty="0"/>
          </a:p>
        </p:txBody>
      </p:sp>
      <p:sp>
        <p:nvSpPr>
          <p:cNvPr id="3" name="Text 1"/>
          <p:cNvSpPr/>
          <p:nvPr/>
        </p:nvSpPr>
        <p:spPr>
          <a:xfrm>
            <a:off x="502920" y="493776"/>
            <a:ext cx="11247120" cy="621792"/>
          </a:xfrm>
          <a:prstGeom prst="rect">
            <a:avLst/>
          </a:prstGeom>
          <a:noFill/>
          <a:ln/>
        </p:spPr>
        <p:txBody>
          <a:bodyPr wrap="square" lIns="0" tIns="0" rIns="0" bIns="0" rtlCol="0" anchor="ctr"/>
          <a:lstStyle/>
          <a:p>
            <a:pPr marL="0" indent="0">
              <a:buNone/>
            </a:pPr>
            <a:r>
              <a:rPr lang="en-US" sz="2500" b="1" dirty="0">
                <a:solidFill>
                  <a:srgbClr val="000000"/>
                </a:solidFill>
                <a:latin typeface="Cambria" pitchFamily="34" charset="0"/>
                <a:ea typeface="Cambria" pitchFamily="34" charset="-122"/>
                <a:cs typeface="Cambria" pitchFamily="34" charset="-120"/>
              </a:rPr>
              <a:t>Every Rung Pays; the Open Space Pays Most</a:t>
            </a:r>
            <a:endParaRPr lang="en-US" sz="2500" dirty="0"/>
          </a:p>
        </p:txBody>
      </p:sp>
      <p:pic>
        <p:nvPicPr>
          <p:cNvPr id="4"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5"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p:pic>
        <p:nvPicPr>
          <p:cNvPr id="6" name="Image 2" descr="/tmp/thx/deck/figs/ch5_47.png"/>
          <p:cNvPicPr>
            <a:picLocks noChangeAspect="1"/>
          </p:cNvPicPr>
          <p:nvPr/>
        </p:nvPicPr>
        <p:blipFill>
          <a:blip r:embed="rId5"/>
          <a:stretch>
            <a:fillRect/>
          </a:stretch>
        </p:blipFill>
        <p:spPr>
          <a:xfrm>
            <a:off x="928204" y="1181480"/>
            <a:ext cx="3948597" cy="2880000"/>
          </a:xfrm>
          <a:prstGeom prst="rect">
            <a:avLst/>
          </a:prstGeom>
        </p:spPr>
      </p:pic>
      <p:sp>
        <p:nvSpPr>
          <p:cNvPr id="7" name="Text 2"/>
          <p:cNvSpPr/>
          <p:nvPr/>
        </p:nvSpPr>
        <p:spPr>
          <a:xfrm>
            <a:off x="7315200" y="1463040"/>
            <a:ext cx="4434840" cy="5029200"/>
          </a:xfrm>
          <a:prstGeom prst="rect">
            <a:avLst/>
          </a:prstGeom>
          <a:noFill/>
          <a:ln/>
        </p:spPr>
        <p:txBody>
          <a:bodyPr wrap="square" lIns="0" tIns="0" rIns="0" bIns="0" rtlCol="0" anchor="t"/>
          <a:lstStyle/>
          <a:p>
            <a:pPr marL="152400" indent="-152400">
              <a:lnSpc>
                <a:spcPct val="104000"/>
              </a:lnSpc>
              <a:spcAft>
                <a:spcPts val="600"/>
              </a:spcAft>
              <a:buSzPct val="100000"/>
              <a:buChar char="•"/>
            </a:pPr>
            <a:endParaRPr lang="en-US" sz="1200" dirty="0"/>
          </a:p>
        </p:txBody>
      </p:sp>
      <p:pic>
        <p:nvPicPr>
          <p:cNvPr id="10" name="Picture 35">
            <a:extLst>
              <a:ext uri="{FF2B5EF4-FFF2-40B4-BE49-F238E27FC236}">
                <a16:creationId xmlns:a16="http://schemas.microsoft.com/office/drawing/2014/main" id="{41FD778A-A39D-7A73-6E8F-566A9D27610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94320" y="1006653"/>
            <a:ext cx="4767000" cy="288000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0F048AE6-07DA-0A15-7ACA-CDF353E460D7}"/>
              </a:ext>
            </a:extLst>
          </p:cNvPr>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009250" y="3930000"/>
            <a:ext cx="5387990" cy="2880000"/>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37744"/>
            <a:ext cx="100584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EVIDENCE : PERFORMANCE 3 OF 3</a:t>
            </a:r>
            <a:endParaRPr lang="en-US" sz="1300" dirty="0"/>
          </a:p>
        </p:txBody>
      </p:sp>
      <p:sp>
        <p:nvSpPr>
          <p:cNvPr id="3" name="Text 1"/>
          <p:cNvSpPr/>
          <p:nvPr/>
        </p:nvSpPr>
        <p:spPr>
          <a:xfrm>
            <a:off x="502920" y="493776"/>
            <a:ext cx="11247120" cy="621792"/>
          </a:xfrm>
          <a:prstGeom prst="rect">
            <a:avLst/>
          </a:prstGeom>
          <a:noFill/>
          <a:ln/>
        </p:spPr>
        <p:txBody>
          <a:bodyPr wrap="square" lIns="0" tIns="0" rIns="0" bIns="0" rtlCol="0" anchor="ctr"/>
          <a:lstStyle/>
          <a:p>
            <a:pPr marL="0" indent="0">
              <a:buNone/>
            </a:pPr>
            <a:r>
              <a:rPr lang="en-US" sz="2500" b="1" dirty="0">
                <a:solidFill>
                  <a:srgbClr val="000000"/>
                </a:solidFill>
                <a:latin typeface="Cambria" pitchFamily="34" charset="0"/>
                <a:ea typeface="Cambria" pitchFamily="34" charset="-122"/>
                <a:cs typeface="Cambria" pitchFamily="34" charset="-120"/>
              </a:rPr>
              <a:t>Adaptation Is Frequent; Acceptance Is Strict </a:t>
            </a:r>
            <a:endParaRPr lang="en-US" sz="2500" dirty="0"/>
          </a:p>
        </p:txBody>
      </p:sp>
      <p:pic>
        <p:nvPicPr>
          <p:cNvPr id="4"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5"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p:pic>
        <p:nvPicPr>
          <p:cNvPr id="6" name="Image 2" descr="/tmp/thx/deck/figs/ch5_50.png"/>
          <p:cNvPicPr>
            <a:picLocks noChangeAspect="1"/>
          </p:cNvPicPr>
          <p:nvPr/>
        </p:nvPicPr>
        <p:blipFill>
          <a:blip r:embed="rId5"/>
          <a:stretch>
            <a:fillRect/>
          </a:stretch>
        </p:blipFill>
        <p:spPr>
          <a:xfrm>
            <a:off x="928719" y="1371600"/>
            <a:ext cx="10025793" cy="4296768"/>
          </a:xfrm>
          <a:prstGeom prst="rect">
            <a:avLst/>
          </a:prstGeom>
        </p:spPr>
      </p:pic>
      <p:sp>
        <p:nvSpPr>
          <p:cNvPr id="7" name="Text 2"/>
          <p:cNvSpPr/>
          <p:nvPr/>
        </p:nvSpPr>
        <p:spPr>
          <a:xfrm>
            <a:off x="2238295" y="5936592"/>
            <a:ext cx="7406640" cy="548640"/>
          </a:xfrm>
          <a:prstGeom prst="rect">
            <a:avLst/>
          </a:prstGeom>
          <a:noFill/>
          <a:ln/>
        </p:spPr>
        <p:txBody>
          <a:bodyPr wrap="square" lIns="0" tIns="0" rIns="0" bIns="0" rtlCol="0" anchor="t"/>
          <a:lstStyle/>
          <a:p>
            <a:pPr marL="0" indent="0">
              <a:lnSpc>
                <a:spcPct val="104000"/>
              </a:lnSpc>
              <a:buNone/>
            </a:pPr>
            <a:r>
              <a:rPr lang="en-US" sz="1400" i="1">
                <a:solidFill>
                  <a:srgbClr val="6E6E6E"/>
                </a:solidFill>
                <a:latin typeface="Calibri" pitchFamily="34" charset="0"/>
                <a:ea typeface="Calibri" pitchFamily="34" charset="-122"/>
                <a:cs typeface="Calibri" pitchFamily="34" charset="-120"/>
              </a:rPr>
              <a:t>Left: evolving-fuzzy funnels · Right: generative gate cascade</a:t>
            </a:r>
          </a:p>
          <a:p>
            <a:pPr marL="0" indent="0">
              <a:lnSpc>
                <a:spcPct val="104000"/>
              </a:lnSpc>
              <a:buNone/>
            </a:pPr>
            <a:r>
              <a:rPr lang="en-US" sz="1400" b="1" i="1">
                <a:solidFill>
                  <a:srgbClr val="6E6E6E"/>
                </a:solidFill>
                <a:latin typeface="Calibri" pitchFamily="34" charset="0"/>
                <a:ea typeface="Calibri" pitchFamily="34" charset="-122"/>
                <a:cs typeface="Calibri" pitchFamily="34" charset="-120"/>
              </a:rPr>
              <a:t>Low acceptance is the design: trials are cheap and rejected safely on the forecast</a:t>
            </a:r>
            <a:endParaRPr lang="en-US" sz="1400" dirty="0"/>
          </a:p>
        </p:txBody>
      </p:sp>
      <p:sp>
        <p:nvSpPr>
          <p:cNvPr id="8" name="Text 3"/>
          <p:cNvSpPr/>
          <p:nvPr/>
        </p:nvSpPr>
        <p:spPr>
          <a:xfrm>
            <a:off x="4313275" y="816535"/>
            <a:ext cx="3749040" cy="1662223"/>
          </a:xfrm>
          <a:prstGeom prst="rect">
            <a:avLst/>
          </a:prstGeom>
          <a:noFill/>
          <a:ln/>
        </p:spPr>
        <p:txBody>
          <a:bodyPr wrap="square" lIns="0" tIns="0" rIns="0" bIns="0" rtlCol="0" anchor="t"/>
          <a:lstStyle/>
          <a:p>
            <a:pPr marL="152400" indent="-152400">
              <a:lnSpc>
                <a:spcPct val="104000"/>
              </a:lnSpc>
              <a:spcAft>
                <a:spcPts val="600"/>
              </a:spcAft>
              <a:buSzPct val="100000"/>
              <a:buChar char="•"/>
            </a:pPr>
            <a:endParaRPr lang="en-US" sz="12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37744"/>
            <a:ext cx="100584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EVIDENCE : ADAPTATION DETAIL</a:t>
            </a:r>
            <a:endParaRPr lang="en-US" sz="1300" dirty="0"/>
          </a:p>
        </p:txBody>
      </p:sp>
      <p:sp>
        <p:nvSpPr>
          <p:cNvPr id="3" name="Text 1"/>
          <p:cNvSpPr/>
          <p:nvPr/>
        </p:nvSpPr>
        <p:spPr>
          <a:xfrm>
            <a:off x="502920" y="493776"/>
            <a:ext cx="11247120" cy="621792"/>
          </a:xfrm>
          <a:prstGeom prst="rect">
            <a:avLst/>
          </a:prstGeom>
          <a:noFill/>
          <a:ln/>
        </p:spPr>
        <p:txBody>
          <a:bodyPr wrap="square" lIns="0" tIns="0" rIns="0" bIns="0" rtlCol="0" anchor="ctr"/>
          <a:lstStyle/>
          <a:p>
            <a:pPr marL="0" indent="0">
              <a:buNone/>
            </a:pPr>
            <a:r>
              <a:rPr lang="en-US" sz="2500" b="1" dirty="0">
                <a:solidFill>
                  <a:srgbClr val="000000"/>
                </a:solidFill>
                <a:latin typeface="Cambria" pitchFamily="34" charset="0"/>
                <a:ea typeface="Cambria" pitchFamily="34" charset="-122"/>
                <a:cs typeface="Cambria" pitchFamily="34" charset="-120"/>
              </a:rPr>
              <a:t>Stages ① ② : Every Edit Is a Recorded, Bounded Correction</a:t>
            </a:r>
            <a:endParaRPr lang="en-US" sz="2500" dirty="0"/>
          </a:p>
        </p:txBody>
      </p:sp>
      <p:pic>
        <p:nvPicPr>
          <p:cNvPr id="4"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5"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p:sp>
        <p:nvSpPr>
          <p:cNvPr id="6" name="Text 2"/>
          <p:cNvSpPr/>
          <p:nvPr/>
        </p:nvSpPr>
        <p:spPr>
          <a:xfrm>
            <a:off x="502920" y="1280160"/>
            <a:ext cx="11247120" cy="594360"/>
          </a:xfrm>
          <a:prstGeom prst="rect">
            <a:avLst/>
          </a:prstGeom>
          <a:noFill/>
          <a:ln/>
        </p:spPr>
        <p:txBody>
          <a:bodyPr wrap="square" lIns="0" tIns="0" rIns="0" bIns="0" rtlCol="0" anchor="t"/>
          <a:lstStyle/>
          <a:p>
            <a:pPr marL="0" indent="0">
              <a:lnSpc>
                <a:spcPct val="104000"/>
              </a:lnSpc>
              <a:buNone/>
            </a:pPr>
            <a:r>
              <a:rPr lang="en-US" sz="1400" b="1">
                <a:solidFill>
                  <a:srgbClr val="000000"/>
                </a:solidFill>
                <a:latin typeface="Calibri" pitchFamily="34" charset="0"/>
                <a:ea typeface="Calibri" pitchFamily="34" charset="-122"/>
                <a:cs typeface="Calibri" pitchFamily="34" charset="-120"/>
              </a:rPr>
              <a:t>167 consequent updates (103 ↑, 64 ↓) · 5 boundary shifts · 4 term insertions · 40 new rules — each passed its own forecast test; nothing drifts</a:t>
            </a:r>
            <a:endParaRPr lang="en-US" sz="1400" dirty="0"/>
          </a:p>
        </p:txBody>
      </p:sp>
      <p:sp>
        <p:nvSpPr>
          <p:cNvPr id="7" name="Shape 3"/>
          <p:cNvSpPr/>
          <p:nvPr/>
        </p:nvSpPr>
        <p:spPr>
          <a:xfrm>
            <a:off x="502920" y="1965960"/>
            <a:ext cx="11247120" cy="841248"/>
          </a:xfrm>
          <a:prstGeom prst="roundRect">
            <a:avLst>
              <a:gd name="adj" fmla="val 5435"/>
            </a:avLst>
          </a:prstGeom>
          <a:solidFill>
            <a:srgbClr val="F2F2F2"/>
          </a:solidFill>
          <a:ln/>
        </p:spPr>
        <p:txBody>
          <a:bodyPr/>
          <a:lstStyle/>
          <a:p>
            <a:endParaRPr lang="tr-TR"/>
          </a:p>
        </p:txBody>
      </p:sp>
      <p:sp>
        <p:nvSpPr>
          <p:cNvPr id="8" name="Text 4"/>
          <p:cNvSpPr/>
          <p:nvPr/>
        </p:nvSpPr>
        <p:spPr>
          <a:xfrm>
            <a:off x="731520" y="2039112"/>
            <a:ext cx="10789920" cy="731520"/>
          </a:xfrm>
          <a:prstGeom prst="rect">
            <a:avLst/>
          </a:prstGeom>
          <a:noFill/>
          <a:ln/>
        </p:spPr>
        <p:txBody>
          <a:bodyPr wrap="square" lIns="0" tIns="0" rIns="0" bIns="0" rtlCol="0" anchor="t"/>
          <a:lstStyle/>
          <a:p>
            <a:pPr marL="0" indent="0">
              <a:lnSpc>
                <a:spcPct val="104000"/>
              </a:lnSpc>
              <a:buNone/>
            </a:pPr>
            <a:r>
              <a:rPr lang="en-US" sz="1350" b="1">
                <a:solidFill>
                  <a:srgbClr val="E31836"/>
                </a:solidFill>
                <a:latin typeface="Calibri" pitchFamily="34" charset="0"/>
                <a:ea typeface="Calibri" pitchFamily="34" charset="-122"/>
                <a:cs typeface="Calibri" pitchFamily="34" charset="-120"/>
              </a:rPr>
              <a:t>Escalation (+0.05) — cost above the bound while the rule keeps firing: right action, too weak</a:t>
            </a:r>
          </a:p>
          <a:p>
            <a:pPr marL="0" indent="0">
              <a:lnSpc>
                <a:spcPct val="104000"/>
              </a:lnSpc>
              <a:buNone/>
            </a:pPr>
            <a:r>
              <a:rPr lang="en-US" sz="1250">
                <a:solidFill>
                  <a:srgbClr val="222222"/>
                </a:solidFill>
                <a:latin typeface="Calibri" pitchFamily="34" charset="0"/>
                <a:ea typeface="Calibri" pitchFamily="34" charset="-122"/>
                <a:cs typeface="Calibri" pitchFamily="34" charset="-120"/>
              </a:rPr>
              <a:t>G5: downwind_retardant_shield 0.90 → 0.95; asset_protection 0.70 → 0.75; resource_deployment 0.70 → 0.75</a:t>
            </a:r>
            <a:endParaRPr lang="en-US" sz="1250" dirty="0">
              <a:solidFill>
                <a:srgbClr val="222222"/>
              </a:solidFill>
              <a:latin typeface="Calibri" pitchFamily="34" charset="0"/>
              <a:ea typeface="Calibri" pitchFamily="34" charset="-122"/>
              <a:cs typeface="Calibri" pitchFamily="34" charset="-120"/>
            </a:endParaRPr>
          </a:p>
        </p:txBody>
      </p:sp>
      <p:sp>
        <p:nvSpPr>
          <p:cNvPr id="9" name="Shape 5"/>
          <p:cNvSpPr/>
          <p:nvPr/>
        </p:nvSpPr>
        <p:spPr>
          <a:xfrm>
            <a:off x="502920" y="2880360"/>
            <a:ext cx="11247120" cy="841248"/>
          </a:xfrm>
          <a:prstGeom prst="roundRect">
            <a:avLst>
              <a:gd name="adj" fmla="val 5435"/>
            </a:avLst>
          </a:prstGeom>
          <a:solidFill>
            <a:srgbClr val="F2F2F2"/>
          </a:solidFill>
          <a:ln/>
        </p:spPr>
        <p:txBody>
          <a:bodyPr/>
          <a:lstStyle/>
          <a:p>
            <a:endParaRPr lang="tr-TR"/>
          </a:p>
        </p:txBody>
      </p:sp>
      <p:sp>
        <p:nvSpPr>
          <p:cNvPr id="10" name="Text 6"/>
          <p:cNvSpPr/>
          <p:nvPr/>
        </p:nvSpPr>
        <p:spPr>
          <a:xfrm>
            <a:off x="731520" y="2953512"/>
            <a:ext cx="10789920" cy="731520"/>
          </a:xfrm>
          <a:prstGeom prst="rect">
            <a:avLst/>
          </a:prstGeom>
          <a:noFill/>
          <a:ln/>
        </p:spPr>
        <p:txBody>
          <a:bodyPr wrap="square" lIns="0" tIns="0" rIns="0" bIns="0" rtlCol="0" anchor="t"/>
          <a:lstStyle/>
          <a:p>
            <a:pPr marL="0" indent="0">
              <a:lnSpc>
                <a:spcPct val="104000"/>
              </a:lnSpc>
              <a:buNone/>
            </a:pPr>
            <a:r>
              <a:rPr lang="en-US" sz="1350" b="1">
                <a:solidFill>
                  <a:srgbClr val="E31836"/>
                </a:solidFill>
                <a:latin typeface="Calibri" pitchFamily="34" charset="0"/>
                <a:ea typeface="Calibri" pitchFamily="34" charset="-122"/>
                <a:cs typeface="Calibri" pitchFamily="34" charset="-120"/>
              </a:rPr>
              <a:t>De-escalation (−0.05) — response and delay dominate late: action stronger than what is left</a:t>
            </a:r>
          </a:p>
          <a:p>
            <a:pPr marL="0" indent="0">
              <a:lnSpc>
                <a:spcPct val="104000"/>
              </a:lnSpc>
              <a:buNone/>
            </a:pPr>
            <a:r>
              <a:rPr lang="en-US" sz="1250">
                <a:solidFill>
                  <a:srgbClr val="222222"/>
                </a:solidFill>
                <a:latin typeface="Calibri" pitchFamily="34" charset="0"/>
                <a:ea typeface="Calibri" pitchFamily="34" charset="-122"/>
                <a:cs typeface="Calibri" pitchFamily="34" charset="-120"/>
              </a:rPr>
              <a:t>G33: suppression_effort 0.90 → 0.85; water_drafting 0.80 → 0.75; containment_line 0.70 → 0.65</a:t>
            </a:r>
            <a:endParaRPr lang="en-US" sz="1250" dirty="0">
              <a:solidFill>
                <a:srgbClr val="222222"/>
              </a:solidFill>
              <a:latin typeface="Calibri" pitchFamily="34" charset="0"/>
              <a:ea typeface="Calibri" pitchFamily="34" charset="-122"/>
              <a:cs typeface="Calibri" pitchFamily="34" charset="-120"/>
            </a:endParaRPr>
          </a:p>
        </p:txBody>
      </p:sp>
      <p:sp>
        <p:nvSpPr>
          <p:cNvPr id="11" name="Shape 7"/>
          <p:cNvSpPr/>
          <p:nvPr/>
        </p:nvSpPr>
        <p:spPr>
          <a:xfrm>
            <a:off x="502920" y="3794760"/>
            <a:ext cx="11247120" cy="841248"/>
          </a:xfrm>
          <a:prstGeom prst="roundRect">
            <a:avLst>
              <a:gd name="adj" fmla="val 5435"/>
            </a:avLst>
          </a:prstGeom>
          <a:solidFill>
            <a:srgbClr val="F2F2F2"/>
          </a:solidFill>
          <a:ln/>
        </p:spPr>
        <p:txBody>
          <a:bodyPr/>
          <a:lstStyle/>
          <a:p>
            <a:endParaRPr lang="tr-TR"/>
          </a:p>
        </p:txBody>
      </p:sp>
      <p:sp>
        <p:nvSpPr>
          <p:cNvPr id="12" name="Text 8"/>
          <p:cNvSpPr/>
          <p:nvPr/>
        </p:nvSpPr>
        <p:spPr>
          <a:xfrm>
            <a:off x="731520" y="3867912"/>
            <a:ext cx="10789920" cy="731520"/>
          </a:xfrm>
          <a:prstGeom prst="rect">
            <a:avLst/>
          </a:prstGeom>
          <a:noFill/>
          <a:ln/>
        </p:spPr>
        <p:txBody>
          <a:bodyPr wrap="square" lIns="0" tIns="0" rIns="0" bIns="0" rtlCol="0" anchor="t"/>
          <a:lstStyle/>
          <a:p>
            <a:pPr marL="0" indent="0">
              <a:lnSpc>
                <a:spcPct val="104000"/>
              </a:lnSpc>
              <a:buNone/>
            </a:pPr>
            <a:r>
              <a:rPr lang="en-US" sz="1350" b="1">
                <a:solidFill>
                  <a:srgbClr val="E31836"/>
                </a:solidFill>
                <a:latin typeface="Calibri" pitchFamily="34" charset="0"/>
                <a:ea typeface="Calibri" pitchFamily="34" charset="-122"/>
                <a:cs typeface="Calibri" pitchFamily="34" charset="-120"/>
              </a:rPr>
              <a:t>Boundary shift — fire alive, no rule above the coverage threshold: fire earlier or later</a:t>
            </a:r>
          </a:p>
          <a:p>
            <a:pPr marL="0" indent="0">
              <a:lnSpc>
                <a:spcPct val="104000"/>
              </a:lnSpc>
              <a:buNone/>
            </a:pPr>
            <a:r>
              <a:rPr lang="en-US" sz="1250">
                <a:solidFill>
                  <a:srgbClr val="222222"/>
                </a:solidFill>
                <a:latin typeface="Calibri" pitchFamily="34" charset="0"/>
                <a:ea typeface="Calibri" pitchFamily="34" charset="-122"/>
                <a:cs typeface="Calibri" pitchFamily="34" charset="-120"/>
              </a:rPr>
              <a:t>suppression_feasibility: shared edge moved inside the H–VH band (0.67 – 0.84)</a:t>
            </a:r>
            <a:endParaRPr lang="en-US" sz="1250" dirty="0">
              <a:solidFill>
                <a:srgbClr val="222222"/>
              </a:solidFill>
              <a:latin typeface="Calibri" pitchFamily="34" charset="0"/>
              <a:ea typeface="Calibri" pitchFamily="34" charset="-122"/>
              <a:cs typeface="Calibri" pitchFamily="34" charset="-120"/>
            </a:endParaRPr>
          </a:p>
        </p:txBody>
      </p:sp>
      <p:sp>
        <p:nvSpPr>
          <p:cNvPr id="13" name="Shape 9"/>
          <p:cNvSpPr/>
          <p:nvPr/>
        </p:nvSpPr>
        <p:spPr>
          <a:xfrm>
            <a:off x="502920" y="4709160"/>
            <a:ext cx="11247120" cy="841248"/>
          </a:xfrm>
          <a:prstGeom prst="roundRect">
            <a:avLst>
              <a:gd name="adj" fmla="val 5435"/>
            </a:avLst>
          </a:prstGeom>
          <a:solidFill>
            <a:srgbClr val="F2F2F2"/>
          </a:solidFill>
          <a:ln/>
        </p:spPr>
        <p:txBody>
          <a:bodyPr/>
          <a:lstStyle/>
          <a:p>
            <a:endParaRPr lang="tr-TR"/>
          </a:p>
        </p:txBody>
      </p:sp>
      <p:sp>
        <p:nvSpPr>
          <p:cNvPr id="14" name="Text 10"/>
          <p:cNvSpPr/>
          <p:nvPr/>
        </p:nvSpPr>
        <p:spPr>
          <a:xfrm>
            <a:off x="731520" y="4782312"/>
            <a:ext cx="10789920" cy="731520"/>
          </a:xfrm>
          <a:prstGeom prst="rect">
            <a:avLst/>
          </a:prstGeom>
          <a:noFill/>
          <a:ln/>
        </p:spPr>
        <p:txBody>
          <a:bodyPr wrap="square" lIns="0" tIns="0" rIns="0" bIns="0" rtlCol="0" anchor="t"/>
          <a:lstStyle/>
          <a:p>
            <a:pPr marL="0" indent="0">
              <a:lnSpc>
                <a:spcPct val="104000"/>
              </a:lnSpc>
              <a:buNone/>
            </a:pPr>
            <a:r>
              <a:rPr lang="en-US" sz="1350" b="1">
                <a:solidFill>
                  <a:srgbClr val="E31836"/>
                </a:solidFill>
                <a:latin typeface="Calibri" pitchFamily="34" charset="0"/>
                <a:ea typeface="Calibri" pitchFamily="34" charset="-122"/>
                <a:cs typeface="Calibri" pitchFamily="34" charset="-120"/>
              </a:rPr>
              <a:t>Term insertion — a coverage gap survives boundary shifts: the partition lacks resolution</a:t>
            </a:r>
          </a:p>
          <a:p>
            <a:pPr marL="0" indent="0">
              <a:lnSpc>
                <a:spcPct val="104000"/>
              </a:lnSpc>
              <a:buNone/>
            </a:pPr>
            <a:r>
              <a:rPr lang="en-US" sz="1250">
                <a:solidFill>
                  <a:srgbClr val="222222"/>
                </a:solidFill>
                <a:latin typeface="Calibri" pitchFamily="34" charset="0"/>
                <a:ea typeface="Calibri" pitchFamily="34" charset="-122"/>
                <a:cs typeface="Calibri" pitchFamily="34" charset="-120"/>
              </a:rPr>
              <a:t>suppression_feasibility: new term at 0.74, splitting the H–VH band</a:t>
            </a:r>
            <a:endParaRPr lang="en-US" sz="1250" dirty="0">
              <a:solidFill>
                <a:srgbClr val="222222"/>
              </a:solidFill>
              <a:latin typeface="Calibri" pitchFamily="34" charset="0"/>
              <a:ea typeface="Calibri" pitchFamily="34" charset="-122"/>
              <a:cs typeface="Calibri" pitchFamily="34" charset="-120"/>
            </a:endParaRPr>
          </a:p>
        </p:txBody>
      </p:sp>
      <p:sp>
        <p:nvSpPr>
          <p:cNvPr id="15" name="Shape 11"/>
          <p:cNvSpPr/>
          <p:nvPr/>
        </p:nvSpPr>
        <p:spPr>
          <a:xfrm>
            <a:off x="502920" y="5623560"/>
            <a:ext cx="11247120" cy="841248"/>
          </a:xfrm>
          <a:prstGeom prst="roundRect">
            <a:avLst>
              <a:gd name="adj" fmla="val 5435"/>
            </a:avLst>
          </a:prstGeom>
          <a:solidFill>
            <a:srgbClr val="F2F2F2"/>
          </a:solidFill>
          <a:ln/>
        </p:spPr>
        <p:txBody>
          <a:bodyPr/>
          <a:lstStyle/>
          <a:p>
            <a:endParaRPr lang="tr-TR"/>
          </a:p>
        </p:txBody>
      </p:sp>
      <p:sp>
        <p:nvSpPr>
          <p:cNvPr id="16" name="Text 12"/>
          <p:cNvSpPr/>
          <p:nvPr/>
        </p:nvSpPr>
        <p:spPr>
          <a:xfrm>
            <a:off x="731520" y="5696712"/>
            <a:ext cx="10789920" cy="731520"/>
          </a:xfrm>
          <a:prstGeom prst="rect">
            <a:avLst/>
          </a:prstGeom>
          <a:noFill/>
          <a:ln/>
        </p:spPr>
        <p:txBody>
          <a:bodyPr wrap="square" lIns="0" tIns="0" rIns="0" bIns="0" rtlCol="0" anchor="t"/>
          <a:lstStyle/>
          <a:p>
            <a:pPr marL="0" indent="0">
              <a:lnSpc>
                <a:spcPct val="104000"/>
              </a:lnSpc>
              <a:buNone/>
            </a:pPr>
            <a:r>
              <a:rPr lang="en-US" sz="1350" b="1">
                <a:solidFill>
                  <a:srgbClr val="E31836"/>
                </a:solidFill>
                <a:latin typeface="Calibri" pitchFamily="34" charset="0"/>
                <a:ea typeface="Calibri" pitchFamily="34" charset="-122"/>
                <a:cs typeface="Calibri" pitchFamily="34" charset="-120"/>
              </a:rPr>
              <a:t>Rule instantiation — the reading falls into an uncovered cell while fire is alive</a:t>
            </a:r>
          </a:p>
          <a:p>
            <a:pPr marL="0" indent="0">
              <a:lnSpc>
                <a:spcPct val="104000"/>
              </a:lnSpc>
              <a:buNone/>
            </a:pPr>
            <a:r>
              <a:rPr lang="en-US" sz="1250">
                <a:solidFill>
                  <a:srgbClr val="222222"/>
                </a:solidFill>
                <a:latin typeface="Calibri" pitchFamily="34" charset="0"/>
                <a:ea typeface="Calibri" pitchFamily="34" charset="-122"/>
                <a:cs typeface="Calibri" pitchFamily="34" charset="-120"/>
              </a:rPr>
              <a:t>A1: IF suppression_feasibility VH ∧ asset_exposure_risk VH THEN asset_protection 0.56, resource_deployment 0.23</a:t>
            </a:r>
            <a:endParaRPr lang="en-US" sz="1250" dirty="0">
              <a:solidFill>
                <a:srgbClr val="222222"/>
              </a:solidFill>
              <a:latin typeface="Calibri" pitchFamily="34" charset="0"/>
              <a:ea typeface="Calibri" pitchFamily="34" charset="-122"/>
              <a:cs typeface="Calibri" pitchFamily="34" charset="-12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37744"/>
            <a:ext cx="100584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EVIDENCE : GENERATIVE PRODUCTS 1 OF 3</a:t>
            </a:r>
            <a:endParaRPr lang="en-US" sz="1300" dirty="0"/>
          </a:p>
        </p:txBody>
      </p:sp>
      <p:sp>
        <p:nvSpPr>
          <p:cNvPr id="3" name="Text 1"/>
          <p:cNvSpPr/>
          <p:nvPr/>
        </p:nvSpPr>
        <p:spPr>
          <a:xfrm>
            <a:off x="502920" y="493776"/>
            <a:ext cx="11247120" cy="621792"/>
          </a:xfrm>
          <a:prstGeom prst="rect">
            <a:avLst/>
          </a:prstGeom>
          <a:noFill/>
          <a:ln/>
        </p:spPr>
        <p:txBody>
          <a:bodyPr wrap="square" lIns="0" tIns="0" rIns="0" bIns="0" rtlCol="0" anchor="ctr"/>
          <a:lstStyle/>
          <a:p>
            <a:pPr marL="0" indent="0">
              <a:buNone/>
            </a:pPr>
            <a:r>
              <a:rPr lang="en-US" sz="2500" b="1" dirty="0">
                <a:solidFill>
                  <a:srgbClr val="000000"/>
                </a:solidFill>
                <a:latin typeface="Cambria" pitchFamily="34" charset="0"/>
                <a:ea typeface="Cambria" pitchFamily="34" charset="-122"/>
                <a:cs typeface="Cambria" pitchFamily="34" charset="-120"/>
              </a:rPr>
              <a:t>The Stage-③ Ledger: Macros</a:t>
            </a:r>
            <a:endParaRPr lang="en-US" sz="2500" dirty="0"/>
          </a:p>
        </p:txBody>
      </p:sp>
      <p:pic>
        <p:nvPicPr>
          <p:cNvPr id="4"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5"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p:pic>
        <p:nvPicPr>
          <p:cNvPr id="7" name="Image 2" descr="/tmp/thx/deck/figs/ch5_52.png"/>
          <p:cNvPicPr>
            <a:picLocks noChangeAspect="1"/>
          </p:cNvPicPr>
          <p:nvPr/>
        </p:nvPicPr>
        <p:blipFill>
          <a:blip r:embed="rId5"/>
          <a:srcRect b="7832"/>
          <a:stretch>
            <a:fillRect/>
          </a:stretch>
        </p:blipFill>
        <p:spPr>
          <a:xfrm>
            <a:off x="2857748" y="1065479"/>
            <a:ext cx="5953098" cy="2743415"/>
          </a:xfrm>
          <a:prstGeom prst="rect">
            <a:avLst/>
          </a:prstGeom>
        </p:spPr>
      </p:pic>
      <p:graphicFrame>
        <p:nvGraphicFramePr>
          <p:cNvPr id="12" name="Table 0">
            <a:extLst>
              <a:ext uri="{FF2B5EF4-FFF2-40B4-BE49-F238E27FC236}">
                <a16:creationId xmlns:a16="http://schemas.microsoft.com/office/drawing/2014/main" id="{172B496C-7830-606E-B693-843856F92736}"/>
              </a:ext>
            </a:extLst>
          </p:cNvPr>
          <p:cNvGraphicFramePr>
            <a:graphicFrameLocks noGrp="1"/>
          </p:cNvGraphicFramePr>
          <p:nvPr>
            <p:extLst>
              <p:ext uri="{D42A27DB-BD31-4B8C-83A1-F6EECF244321}">
                <p14:modId xmlns:p14="http://schemas.microsoft.com/office/powerpoint/2010/main" val="65134947"/>
              </p:ext>
            </p:extLst>
          </p:nvPr>
        </p:nvGraphicFramePr>
        <p:xfrm>
          <a:off x="1787652" y="4254793"/>
          <a:ext cx="9166860" cy="2114952"/>
        </p:xfrm>
        <a:graphic>
          <a:graphicData uri="http://schemas.openxmlformats.org/drawingml/2006/table">
            <a:tbl>
              <a:tblPr/>
              <a:tblGrid>
                <a:gridCol w="519580">
                  <a:extLst>
                    <a:ext uri="{9D8B030D-6E8A-4147-A177-3AD203B41FA5}">
                      <a16:colId xmlns:a16="http://schemas.microsoft.com/office/drawing/2014/main" val="20000"/>
                    </a:ext>
                  </a:extLst>
                </a:gridCol>
                <a:gridCol w="4490648">
                  <a:extLst>
                    <a:ext uri="{9D8B030D-6E8A-4147-A177-3AD203B41FA5}">
                      <a16:colId xmlns:a16="http://schemas.microsoft.com/office/drawing/2014/main" val="20001"/>
                    </a:ext>
                  </a:extLst>
                </a:gridCol>
                <a:gridCol w="4156632">
                  <a:extLst>
                    <a:ext uri="{9D8B030D-6E8A-4147-A177-3AD203B41FA5}">
                      <a16:colId xmlns:a16="http://schemas.microsoft.com/office/drawing/2014/main" val="20002"/>
                    </a:ext>
                  </a:extLst>
                </a:gridCol>
              </a:tblGrid>
              <a:tr h="352492">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Rule</a:t>
                      </a:r>
                      <a:endParaRPr lang="en-US" sz="125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IF (gated decision concepts)</a:t>
                      </a:r>
                      <a:endParaRPr lang="en-US" sz="125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THEN (intensities)</a:t>
                      </a:r>
                      <a:endParaRPr lang="en-US" sz="125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352492">
                <a:tc>
                  <a:txBody>
                    <a:bodyPr/>
                    <a:lstStyle/>
                    <a:p>
                      <a:pPr marL="0" indent="0">
                        <a:buNone/>
                      </a:pPr>
                      <a:r>
                        <a:rPr lang="en-US" sz="1250" b="1" dirty="0">
                          <a:solidFill>
                            <a:srgbClr val="E31836"/>
                          </a:solidFill>
                          <a:latin typeface="Calibri" pitchFamily="34" charset="0"/>
                          <a:ea typeface="Calibri" pitchFamily="34" charset="-122"/>
                          <a:cs typeface="Calibri" pitchFamily="34" charset="-120"/>
                        </a:rPr>
                        <a:t>G4</a:t>
                      </a:r>
                      <a:endParaRPr lang="en-US" sz="125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50" dirty="0">
                          <a:solidFill>
                            <a:srgbClr val="222222"/>
                          </a:solidFill>
                          <a:latin typeface="Calibri" pitchFamily="34" charset="0"/>
                          <a:ea typeface="Calibri" pitchFamily="34" charset="-122"/>
                          <a:cs typeface="Calibri" pitchFamily="34" charset="-120"/>
                        </a:rPr>
                        <a:t>suppression_feasibility VH ∧ intervention_urgency VH ∧ fire_threat_level M</a:t>
                      </a:r>
                      <a:endParaRPr lang="en-US" sz="125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50" dirty="0">
                          <a:solidFill>
                            <a:srgbClr val="222222"/>
                          </a:solidFill>
                          <a:latin typeface="Calibri" pitchFamily="34" charset="0"/>
                          <a:ea typeface="Calibri" pitchFamily="34" charset="-122"/>
                          <a:cs typeface="Calibri" pitchFamily="34" charset="-120"/>
                        </a:rPr>
                        <a:t>downwind_containment_shield 0.9; retardant_drop 0.8; asset_protection 0.6</a:t>
                      </a:r>
                      <a:endParaRPr lang="en-US" sz="125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1"/>
                  </a:ext>
                </a:extLst>
              </a:tr>
              <a:tr h="352492">
                <a:tc>
                  <a:txBody>
                    <a:bodyPr/>
                    <a:lstStyle/>
                    <a:p>
                      <a:pPr marL="0" indent="0">
                        <a:buNone/>
                      </a:pPr>
                      <a:r>
                        <a:rPr lang="en-US" sz="1250" b="1" dirty="0">
                          <a:solidFill>
                            <a:srgbClr val="E31836"/>
                          </a:solidFill>
                          <a:latin typeface="Calibri" pitchFamily="34" charset="0"/>
                          <a:ea typeface="Calibri" pitchFamily="34" charset="-122"/>
                          <a:cs typeface="Calibri" pitchFamily="34" charset="-120"/>
                        </a:rPr>
                        <a:t>G6</a:t>
                      </a:r>
                      <a:endParaRPr lang="en-US" sz="125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50" dirty="0">
                          <a:solidFill>
                            <a:srgbClr val="222222"/>
                          </a:solidFill>
                          <a:latin typeface="Calibri" pitchFamily="34" charset="0"/>
                          <a:ea typeface="Calibri" pitchFamily="34" charset="-122"/>
                          <a:cs typeface="Calibri" pitchFamily="34" charset="-120"/>
                        </a:rPr>
                        <a:t>fire_threat_level ≥ H ∧ suppression_feasibility VH</a:t>
                      </a:r>
                      <a:endParaRPr lang="en-US" sz="125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50" dirty="0">
                          <a:solidFill>
                            <a:srgbClr val="222222"/>
                          </a:solidFill>
                          <a:latin typeface="Calibri" pitchFamily="34" charset="0"/>
                          <a:ea typeface="Calibri" pitchFamily="34" charset="-122"/>
                          <a:cs typeface="Calibri" pitchFamily="34" charset="-120"/>
                        </a:rPr>
                        <a:t>head_knockdown 0.95; resource_deployment 0.8</a:t>
                      </a:r>
                      <a:endParaRPr lang="en-US" sz="125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2"/>
                  </a:ext>
                </a:extLst>
              </a:tr>
              <a:tr h="352492">
                <a:tc>
                  <a:txBody>
                    <a:bodyPr/>
                    <a:lstStyle/>
                    <a:p>
                      <a:pPr marL="0" indent="0">
                        <a:buNone/>
                      </a:pPr>
                      <a:r>
                        <a:rPr lang="en-US" sz="1250" b="1" dirty="0">
                          <a:solidFill>
                            <a:srgbClr val="E31836"/>
                          </a:solidFill>
                          <a:latin typeface="Calibri" pitchFamily="34" charset="0"/>
                          <a:ea typeface="Calibri" pitchFamily="34" charset="-122"/>
                          <a:cs typeface="Calibri" pitchFamily="34" charset="-120"/>
                        </a:rPr>
                        <a:t>G7</a:t>
                      </a:r>
                      <a:endParaRPr lang="en-US" sz="125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50" dirty="0">
                          <a:solidFill>
                            <a:srgbClr val="222222"/>
                          </a:solidFill>
                          <a:latin typeface="Calibri" pitchFamily="34" charset="0"/>
                          <a:ea typeface="Calibri" pitchFamily="34" charset="-122"/>
                          <a:cs typeface="Calibri" pitchFamily="34" charset="-120"/>
                        </a:rPr>
                        <a:t>suppression_feasibility VH ∧ fire_threat_level ≥ H ∧ evacuation_pressure VH</a:t>
                      </a:r>
                      <a:endParaRPr lang="en-US" sz="125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50" dirty="0">
                          <a:solidFill>
                            <a:srgbClr val="222222"/>
                          </a:solidFill>
                          <a:latin typeface="Calibri" pitchFamily="34" charset="0"/>
                          <a:ea typeface="Calibri" pitchFamily="34" charset="-122"/>
                          <a:cs typeface="Calibri" pitchFamily="34" charset="-120"/>
                        </a:rPr>
                        <a:t>wet_containment_line 0.9; resource_deployment 0.8</a:t>
                      </a:r>
                      <a:endParaRPr lang="en-US" sz="125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3"/>
                  </a:ext>
                </a:extLst>
              </a:tr>
              <a:tr h="352492">
                <a:tc>
                  <a:txBody>
                    <a:bodyPr/>
                    <a:lstStyle/>
                    <a:p>
                      <a:pPr marL="0" indent="0">
                        <a:buNone/>
                      </a:pPr>
                      <a:r>
                        <a:rPr lang="en-US" sz="1250" b="1" dirty="0">
                          <a:solidFill>
                            <a:srgbClr val="E31836"/>
                          </a:solidFill>
                          <a:latin typeface="Calibri" pitchFamily="34" charset="0"/>
                          <a:ea typeface="Calibri" pitchFamily="34" charset="-122"/>
                          <a:cs typeface="Calibri" pitchFamily="34" charset="-120"/>
                        </a:rPr>
                        <a:t>G8</a:t>
                      </a:r>
                      <a:endParaRPr lang="en-US" sz="125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50" dirty="0">
                          <a:solidFill>
                            <a:srgbClr val="222222"/>
                          </a:solidFill>
                          <a:latin typeface="Calibri" pitchFamily="34" charset="0"/>
                          <a:ea typeface="Calibri" pitchFamily="34" charset="-122"/>
                          <a:cs typeface="Calibri" pitchFamily="34" charset="-120"/>
                        </a:rPr>
                        <a:t>suppression_feasibility VH ∧ fire_threat_level H</a:t>
                      </a:r>
                      <a:endParaRPr lang="en-US" sz="125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50" dirty="0">
                          <a:solidFill>
                            <a:srgbClr val="222222"/>
                          </a:solidFill>
                          <a:latin typeface="Calibri" pitchFamily="34" charset="0"/>
                          <a:ea typeface="Calibri" pitchFamily="34" charset="-122"/>
                          <a:cs typeface="Calibri" pitchFamily="34" charset="-120"/>
                        </a:rPr>
                        <a:t>counterfire_strip 0.9; resource_deployment 0.8</a:t>
                      </a:r>
                      <a:endParaRPr lang="en-US" sz="125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4"/>
                  </a:ext>
                </a:extLst>
              </a:tr>
              <a:tr h="352492">
                <a:tc>
                  <a:txBody>
                    <a:bodyPr/>
                    <a:lstStyle/>
                    <a:p>
                      <a:pPr marL="0" indent="0">
                        <a:buNone/>
                      </a:pPr>
                      <a:r>
                        <a:rPr lang="en-US" sz="1250" b="1" dirty="0">
                          <a:solidFill>
                            <a:srgbClr val="E31836"/>
                          </a:solidFill>
                          <a:latin typeface="Calibri" pitchFamily="34" charset="0"/>
                          <a:ea typeface="Calibri" pitchFamily="34" charset="-122"/>
                          <a:cs typeface="Calibri" pitchFamily="34" charset="-120"/>
                        </a:rPr>
                        <a:t>G14</a:t>
                      </a:r>
                      <a:endParaRPr lang="en-US" sz="125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50" dirty="0">
                          <a:solidFill>
                            <a:srgbClr val="222222"/>
                          </a:solidFill>
                          <a:latin typeface="Calibri" pitchFamily="34" charset="0"/>
                          <a:ea typeface="Calibri" pitchFamily="34" charset="-122"/>
                          <a:cs typeface="Calibri" pitchFamily="34" charset="-120"/>
                        </a:rPr>
                        <a:t>interface_exposure VH ∧ suppression_feasibility VH</a:t>
                      </a:r>
                      <a:endParaRPr lang="en-US" sz="125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250" dirty="0">
                          <a:solidFill>
                            <a:srgbClr val="222222"/>
                          </a:solidFill>
                          <a:latin typeface="Calibri" pitchFamily="34" charset="0"/>
                          <a:ea typeface="Calibri" pitchFamily="34" charset="-122"/>
                          <a:cs typeface="Calibri" pitchFamily="34" charset="-120"/>
                        </a:rPr>
                        <a:t>asset_protection 0.9; containment_line 0.8; resource_deployment 0.7</a:t>
                      </a:r>
                      <a:endParaRPr lang="en-US" sz="125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4" name="TextBox 13">
            <a:extLst>
              <a:ext uri="{FF2B5EF4-FFF2-40B4-BE49-F238E27FC236}">
                <a16:creationId xmlns:a16="http://schemas.microsoft.com/office/drawing/2014/main" id="{EE6DAF39-538B-8F3B-B433-841DCC48E534}"/>
              </a:ext>
            </a:extLst>
          </p:cNvPr>
          <p:cNvSpPr txBox="1"/>
          <p:nvPr/>
        </p:nvSpPr>
        <p:spPr>
          <a:xfrm>
            <a:off x="502920" y="3854935"/>
            <a:ext cx="7420356" cy="307777"/>
          </a:xfrm>
          <a:prstGeom prst="rect">
            <a:avLst/>
          </a:prstGeom>
          <a:noFill/>
        </p:spPr>
        <p:txBody>
          <a:bodyPr wrap="square">
            <a:spAutoFit/>
          </a:bodyPr>
          <a:lstStyle/>
          <a:p>
            <a:pPr marL="0" indent="0">
              <a:buNone/>
            </a:pPr>
            <a:r>
              <a:rPr lang="en-US" sz="1500" b="1" dirty="0">
                <a:solidFill>
                  <a:srgbClr val="000000"/>
                </a:solidFill>
                <a:latin typeface="Cambria" pitchFamily="34" charset="0"/>
                <a:ea typeface="Cambria" pitchFamily="34" charset="-122"/>
                <a:cs typeface="Cambria" pitchFamily="34" charset="-120"/>
              </a:rPr>
              <a:t>Vocabulary Being Used, Not Merely Grown</a:t>
            </a:r>
            <a:endParaRPr lang="en-US" sz="1500" dirty="0"/>
          </a:p>
        </p:txBody>
      </p:sp>
      <p:sp>
        <p:nvSpPr>
          <p:cNvPr id="8517" name="Campaign label"/>
          <p:cNvSpPr/>
          <p:nvPr/>
        </p:nvSpPr>
        <p:spPr>
          <a:xfrm>
            <a:off x="457200" y="1188720"/>
            <a:ext cx="2240280" cy="2560320"/>
          </a:xfrm>
          <a:prstGeom prst="rect">
            <a:avLst/>
          </a:prstGeom>
          <a:noFill/>
          <a:ln/>
        </p:spPr>
        <p:txBody>
          <a:bodyPr wrap="square" lIns="0" tIns="0" rIns="0" bIns="0" rtlCol="0" anchor="t"/>
          <a:lstStyle/>
          <a:p>
            <a:pPr marL="0" indent="0">
              <a:lnSpc>
                <a:spcPct val="102000"/>
              </a:lnSpc>
              <a:spcAft>
                <a:spcPts val="250"/>
              </a:spcAft>
              <a:buNone/>
            </a:pPr>
            <a:r>
              <a:rPr lang="en-US" sz="1300" b="1" i="0">
                <a:solidFill>
                  <a:srgbClr val="E31836"/>
                </a:solidFill>
                <a:latin typeface="Calibri" pitchFamily="34" charset="0"/>
                <a:ea typeface="Calibri" pitchFamily="34" charset="-122"/>
                <a:cs typeface="Calibri" pitchFamily="34" charset="-120"/>
              </a:rPr>
              <a:t>MAIN CAMPAIGN</a:t>
            </a:r>
            <a:endParaRPr lang="en-US" sz="1300" dirty="0"/>
          </a:p>
          <a:p>
            <a:pPr marL="152400" indent="-152400">
              <a:lnSpc>
                <a:spcPct val="102000"/>
              </a:lnSpc>
              <a:spcAft>
                <a:spcPts val="200"/>
              </a:spcAft>
              <a:buSzPct val="100000"/>
              <a:buChar char="•"/>
            </a:pPr>
            <a:r>
              <a:rPr lang="en-US" sz="1300" b="0" i="0">
                <a:solidFill>
                  <a:srgbClr val="222222"/>
                </a:solidFill>
                <a:latin typeface="Calibri" pitchFamily="34" charset="0"/>
                <a:ea typeface="Calibri" pitchFamily="34" charset="-122"/>
                <a:cs typeface="Calibri" pitchFamily="34" charset="-120"/>
              </a:rPr>
              <a:t>232 proposals</a:t>
            </a:r>
            <a:endParaRPr lang="en-US" sz="1300" dirty="0"/>
          </a:p>
          <a:p>
            <a:pPr marL="152400" indent="-152400">
              <a:lnSpc>
                <a:spcPct val="102000"/>
              </a:lnSpc>
              <a:spcAft>
                <a:spcPts val="200"/>
              </a:spcAft>
              <a:buSzPct val="100000"/>
              <a:buChar char="•"/>
            </a:pPr>
            <a:r>
              <a:rPr lang="en-US" sz="1300" b="0" i="0">
                <a:solidFill>
                  <a:srgbClr val="222222"/>
                </a:solidFill>
                <a:latin typeface="Calibri" pitchFamily="34" charset="0"/>
                <a:ea typeface="Calibri" pitchFamily="34" charset="-122"/>
                <a:cs typeface="Calibri" pitchFamily="34" charset="-120"/>
              </a:rPr>
              <a:t>47 admitted: 36 rules + 11 packages</a:t>
            </a:r>
            <a:endParaRPr lang="en-US" sz="1300" dirty="0"/>
          </a:p>
          <a:p>
            <a:pPr marL="152400" indent="-152400">
              <a:lnSpc>
                <a:spcPct val="102000"/>
              </a:lnSpc>
              <a:spcAft>
                <a:spcPts val="0"/>
              </a:spcAft>
              <a:buSzPct val="100000"/>
              <a:buChar char="•"/>
            </a:pPr>
            <a:r>
              <a:rPr lang="en-US" sz="1300" b="0" i="0">
                <a:solidFill>
                  <a:srgbClr val="222222"/>
                </a:solidFill>
                <a:latin typeface="Calibri" pitchFamily="34" charset="0"/>
                <a:ea typeface="Calibri" pitchFamily="34" charset="-122"/>
                <a:cs typeface="Calibri" pitchFamily="34" charset="-120"/>
              </a:rPr>
              <a:t>store keeps 7 macros + 1 concept</a:t>
            </a:r>
            <a:endParaRPr lang="en-US" sz="13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37744"/>
            <a:ext cx="10058400" cy="292608"/>
          </a:xfrm>
          <a:prstGeom prst="rect">
            <a:avLst/>
          </a:prstGeom>
          <a:noFill/>
          <a:ln/>
        </p:spPr>
        <p:txBody>
          <a:bodyPr wrap="square" lIns="0" tIns="0" rIns="0" bIns="0" rtlCol="0" anchor="ctr"/>
          <a:lstStyle/>
          <a:p>
            <a:r>
              <a:rPr lang="en-US" sz="1300" b="1" kern="0" spc="200" dirty="0">
                <a:solidFill>
                  <a:srgbClr val="E31836"/>
                </a:solidFill>
                <a:latin typeface="Calibri" pitchFamily="34" charset="0"/>
                <a:ea typeface="Calibri" pitchFamily="34" charset="-122"/>
                <a:cs typeface="Calibri" pitchFamily="34" charset="-120"/>
              </a:rPr>
              <a:t>EVIDENCE : GENERATIVE PRODUCTS 2 OF 3</a:t>
            </a:r>
            <a:endParaRPr lang="en-US" sz="1300" dirty="0"/>
          </a:p>
        </p:txBody>
      </p:sp>
      <p:sp>
        <p:nvSpPr>
          <p:cNvPr id="3" name="Text 1"/>
          <p:cNvSpPr/>
          <p:nvPr/>
        </p:nvSpPr>
        <p:spPr>
          <a:xfrm>
            <a:off x="502920" y="493776"/>
            <a:ext cx="11247120" cy="621792"/>
          </a:xfrm>
          <a:prstGeom prst="rect">
            <a:avLst/>
          </a:prstGeom>
          <a:noFill/>
          <a:ln/>
        </p:spPr>
        <p:txBody>
          <a:bodyPr wrap="square" lIns="0" tIns="0" rIns="0" bIns="0" rtlCol="0" anchor="ctr"/>
          <a:lstStyle/>
          <a:p>
            <a:r>
              <a:rPr lang="en-US" sz="2500" b="1" dirty="0">
                <a:solidFill>
                  <a:srgbClr val="000000"/>
                </a:solidFill>
                <a:latin typeface="Cambria" pitchFamily="34" charset="0"/>
                <a:ea typeface="Cambria" pitchFamily="34" charset="-122"/>
                <a:cs typeface="Cambria" pitchFamily="34" charset="-120"/>
              </a:rPr>
              <a:t>The Stage-③ Ledger: Admitted Actuators, Two Tactical Families</a:t>
            </a:r>
            <a:endParaRPr lang="en-US" sz="2500" dirty="0"/>
          </a:p>
        </p:txBody>
      </p:sp>
      <p:pic>
        <p:nvPicPr>
          <p:cNvPr id="4"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5"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p:graphicFrame>
        <p:nvGraphicFramePr>
          <p:cNvPr id="22" name="Table 0"/>
          <p:cNvGraphicFramePr>
            <a:graphicFrameLocks noGrp="1"/>
          </p:cNvGraphicFramePr>
          <p:nvPr/>
        </p:nvGraphicFramePr>
        <p:xfrm>
          <a:off x="457200" y="1371600"/>
          <a:ext cx="11292840" cy="3511296"/>
        </p:xfrm>
        <a:graphic>
          <a:graphicData uri="http://schemas.openxmlformats.org/drawingml/2006/table">
            <a:tbl>
              <a:tblPr/>
              <a:tblGrid>
                <a:gridCol w="2911043">
                  <a:extLst>
                    <a:ext uri="{9D8B030D-6E8A-4147-A177-3AD203B41FA5}">
                      <a16:colId xmlns:a16="http://schemas.microsoft.com/office/drawing/2014/main" val="20000"/>
                    </a:ext>
                  </a:extLst>
                </a:gridCol>
                <a:gridCol w="8381797">
                  <a:extLst>
                    <a:ext uri="{9D8B030D-6E8A-4147-A177-3AD203B41FA5}">
                      <a16:colId xmlns:a16="http://schemas.microsoft.com/office/drawing/2014/main" val="20002"/>
                    </a:ext>
                  </a:extLst>
                </a:gridCol>
              </a:tblGrid>
              <a:tr h="438912">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Actuator</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buNone/>
                      </a:pPr>
                      <a:r>
                        <a:rPr lang="en-US" sz="1300" b="1">
                          <a:solidFill>
                            <a:srgbClr val="FFFFFF"/>
                          </a:solidFill>
                          <a:latin typeface="Calibri" pitchFamily="34" charset="0"/>
                          <a:ea typeface="Calibri" pitchFamily="34" charset="-122"/>
                          <a:cs typeface="Calibri" pitchFamily="34" charset="-120"/>
                        </a:rPr>
                        <a:t>Clauses (amount 1.0 unless noted)</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438912">
                <a:tc>
                  <a:txBody>
                    <a:bodyPr/>
                    <a:lstStyle/>
                    <a:p>
                      <a:pPr marL="0" indent="0">
                        <a:buNone/>
                      </a:pPr>
                      <a:r>
                        <a:rPr lang="en-US" sz="1300" b="1" dirty="0">
                          <a:solidFill>
                            <a:srgbClr val="E31836"/>
                          </a:solidFill>
                          <a:latin typeface="Calibri" pitchFamily="34" charset="0"/>
                          <a:ea typeface="Calibri" pitchFamily="34" charset="-122"/>
                          <a:cs typeface="Calibri" pitchFamily="34" charset="-120"/>
                        </a:rPr>
                        <a:t>asset_shield_band</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a:solidFill>
                            <a:srgbClr val="222222"/>
                          </a:solidFill>
                          <a:latin typeface="Calibri" pitchFamily="34" charset="0"/>
                          <a:ea typeface="Calibri" pitchFamily="34" charset="-122"/>
                          <a:cs typeface="Calibri" pitchFamily="34" charset="-120"/>
                        </a:rPr>
                        <a:t>coat assets [0,6] · coat populated [0,6] · draft assets [0,8]</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1"/>
                  </a:ext>
                </a:extLst>
              </a:tr>
              <a:tr h="438912">
                <a:tc>
                  <a:txBody>
                    <a:bodyPr/>
                    <a:lstStyle/>
                    <a:p>
                      <a:pPr marL="0" indent="0">
                        <a:buNone/>
                      </a:pPr>
                      <a:r>
                        <a:rPr lang="en-US" sz="1300" b="1" dirty="0">
                          <a:solidFill>
                            <a:srgbClr val="E31836"/>
                          </a:solidFill>
                          <a:latin typeface="Calibri" pitchFamily="34" charset="0"/>
                          <a:ea typeface="Calibri" pitchFamily="34" charset="-122"/>
                          <a:cs typeface="Calibri" pitchFamily="34" charset="-120"/>
                        </a:rPr>
                        <a:t>asset_shield_belt</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a:solidFill>
                            <a:srgbClr val="222222"/>
                          </a:solidFill>
                          <a:latin typeface="Calibri" pitchFamily="34" charset="0"/>
                          <a:ea typeface="Calibri" pitchFamily="34" charset="-122"/>
                          <a:cs typeface="Calibri" pitchFamily="34" charset="-120"/>
                        </a:rPr>
                        <a:t>coat assets [0,4] · coat populated [0,5] · draft at_fire [0,6] @0.8</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2"/>
                  </a:ext>
                </a:extLst>
              </a:tr>
              <a:tr h="438912">
                <a:tc>
                  <a:txBody>
                    <a:bodyPr/>
                    <a:lstStyle/>
                    <a:p>
                      <a:pPr marL="0" indent="0">
                        <a:buNone/>
                      </a:pPr>
                      <a:r>
                        <a:rPr lang="en-US" sz="1300" b="1" dirty="0">
                          <a:solidFill>
                            <a:srgbClr val="E31836"/>
                          </a:solidFill>
                          <a:latin typeface="Calibri" pitchFamily="34" charset="0"/>
                          <a:ea typeface="Calibri" pitchFamily="34" charset="-122"/>
                          <a:cs typeface="Calibri" pitchFamily="34" charset="-120"/>
                        </a:rPr>
                        <a:t>preemptive_asset_coat_ring</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a:solidFill>
                            <a:srgbClr val="222222"/>
                          </a:solidFill>
                          <a:latin typeface="Calibri" pitchFamily="34" charset="0"/>
                          <a:ea typeface="Calibri" pitchFamily="34" charset="-122"/>
                          <a:cs typeface="Calibri" pitchFamily="34" charset="-120"/>
                        </a:rPr>
                        <a:t>coat assets [0,4] · coat populated [0,4] · coat head [1,6]</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3"/>
                  </a:ext>
                </a:extLst>
              </a:tr>
              <a:tr h="438912">
                <a:tc>
                  <a:txBody>
                    <a:bodyPr/>
                    <a:lstStyle/>
                    <a:p>
                      <a:pPr marL="0" indent="0">
                        <a:buNone/>
                      </a:pPr>
                      <a:r>
                        <a:rPr lang="en-US" sz="1300" b="1" dirty="0">
                          <a:solidFill>
                            <a:srgbClr val="E31836"/>
                          </a:solidFill>
                          <a:latin typeface="Calibri" pitchFamily="34" charset="0"/>
                          <a:ea typeface="Calibri" pitchFamily="34" charset="-122"/>
                          <a:cs typeface="Calibri" pitchFamily="34" charset="-120"/>
                        </a:rPr>
                        <a:t>preemptive_asset_coating</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a:solidFill>
                            <a:srgbClr val="222222"/>
                          </a:solidFill>
                          <a:latin typeface="Calibri" pitchFamily="34" charset="0"/>
                          <a:ea typeface="Calibri" pitchFamily="34" charset="-122"/>
                          <a:cs typeface="Calibri" pitchFamily="34" charset="-120"/>
                        </a:rPr>
                        <a:t>coat assets [0,4] · coat populated [0,3]</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4"/>
                  </a:ext>
                </a:extLst>
              </a:tr>
              <a:tr h="438912">
                <a:tc>
                  <a:txBody>
                    <a:bodyPr/>
                    <a:lstStyle/>
                    <a:p>
                      <a:pPr marL="0" indent="0">
                        <a:buNone/>
                      </a:pPr>
                      <a:r>
                        <a:rPr lang="en-US" sz="1300" b="1" dirty="0">
                          <a:solidFill>
                            <a:srgbClr val="E31836"/>
                          </a:solidFill>
                          <a:latin typeface="Calibri" pitchFamily="34" charset="0"/>
                          <a:ea typeface="Calibri" pitchFamily="34" charset="-122"/>
                          <a:cs typeface="Calibri" pitchFamily="34" charset="-120"/>
                        </a:rPr>
                        <a:t>forward_draft_relay</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a:solidFill>
                            <a:srgbClr val="222222"/>
                          </a:solidFill>
                          <a:latin typeface="Calibri" pitchFamily="34" charset="0"/>
                          <a:ea typeface="Calibri" pitchFamily="34" charset="-122"/>
                          <a:cs typeface="Calibri" pitchFamily="34" charset="-120"/>
                        </a:rPr>
                        <a:t>draft at_fire [0,3] · draft ring [0,8] · evacuate populated [0,15]</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5"/>
                  </a:ext>
                </a:extLst>
              </a:tr>
              <a:tr h="438912">
                <a:tc>
                  <a:txBody>
                    <a:bodyPr/>
                    <a:lstStyle/>
                    <a:p>
                      <a:pPr marL="0" indent="0">
                        <a:buNone/>
                      </a:pPr>
                      <a:r>
                        <a:rPr lang="en-US" sz="1300" b="1" dirty="0">
                          <a:solidFill>
                            <a:srgbClr val="E31836"/>
                          </a:solidFill>
                          <a:latin typeface="Calibri" pitchFamily="34" charset="0"/>
                          <a:ea typeface="Calibri" pitchFamily="34" charset="-122"/>
                          <a:cs typeface="Calibri" pitchFamily="34" charset="-120"/>
                        </a:rPr>
                        <a:t>lakeside_capacity_bridge</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a:solidFill>
                            <a:srgbClr val="222222"/>
                          </a:solidFill>
                          <a:latin typeface="Calibri" pitchFamily="34" charset="0"/>
                          <a:ea typeface="Calibri" pitchFamily="34" charset="-122"/>
                          <a:cs typeface="Calibri" pitchFamily="34" charset="-120"/>
                        </a:rPr>
                        <a:t>draft at_fire [0,3] · draft head [0,8] · evacuate populated [0,6]</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6"/>
                  </a:ext>
                </a:extLst>
              </a:tr>
              <a:tr h="438912">
                <a:tc>
                  <a:txBody>
                    <a:bodyPr/>
                    <a:lstStyle/>
                    <a:p>
                      <a:pPr marL="0" indent="0">
                        <a:buNone/>
                      </a:pPr>
                      <a:r>
                        <a:rPr lang="en-US" sz="1300" b="1" dirty="0">
                          <a:solidFill>
                            <a:srgbClr val="E31836"/>
                          </a:solidFill>
                          <a:latin typeface="Calibri" pitchFamily="34" charset="0"/>
                          <a:ea typeface="Calibri" pitchFamily="34" charset="-122"/>
                          <a:cs typeface="Calibri" pitchFamily="34" charset="-120"/>
                        </a:rPr>
                        <a:t>shoreline_capacity_bridge</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a:solidFill>
                            <a:srgbClr val="222222"/>
                          </a:solidFill>
                          <a:latin typeface="Calibri" pitchFamily="34" charset="0"/>
                          <a:ea typeface="Calibri" pitchFamily="34" charset="-122"/>
                          <a:cs typeface="Calibri" pitchFamily="34" charset="-120"/>
                        </a:rPr>
                        <a:t>draft at_fire [0,8] · draft ring [0,15] · evacuate populated [0,15]</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11" name="Shape 2">
            <a:extLst>
              <a:ext uri="{FF2B5EF4-FFF2-40B4-BE49-F238E27FC236}">
                <a16:creationId xmlns:a16="http://schemas.microsoft.com/office/drawing/2014/main" id="{1F023362-0FD9-33A1-AEFE-CA00E24782E5}"/>
              </a:ext>
            </a:extLst>
          </p:cNvPr>
          <p:cNvSpPr/>
          <p:nvPr/>
        </p:nvSpPr>
        <p:spPr>
          <a:xfrm>
            <a:off x="457200" y="5257800"/>
            <a:ext cx="5532120" cy="1280160"/>
          </a:xfrm>
          <a:prstGeom prst="roundRect">
            <a:avLst>
              <a:gd name="adj" fmla="val 3571"/>
            </a:avLst>
          </a:prstGeom>
          <a:solidFill>
            <a:srgbClr val="F2F2F2"/>
          </a:solidFill>
          <a:ln/>
        </p:spPr>
        <p:txBody>
          <a:bodyPr/>
          <a:lstStyle/>
          <a:p>
            <a:endParaRPr lang="tr-TR"/>
          </a:p>
        </p:txBody>
      </p:sp>
      <p:sp>
        <p:nvSpPr>
          <p:cNvPr id="13" name="Text 3">
            <a:extLst>
              <a:ext uri="{FF2B5EF4-FFF2-40B4-BE49-F238E27FC236}">
                <a16:creationId xmlns:a16="http://schemas.microsoft.com/office/drawing/2014/main" id="{E1E99080-7ACE-C44C-AA51-F18A1F7F46AF}"/>
              </a:ext>
            </a:extLst>
          </p:cNvPr>
          <p:cNvSpPr/>
          <p:nvPr/>
        </p:nvSpPr>
        <p:spPr>
          <a:xfrm>
            <a:off x="685800" y="5376672"/>
            <a:ext cx="5074920" cy="1097280"/>
          </a:xfrm>
          <a:prstGeom prst="rect">
            <a:avLst/>
          </a:prstGeom>
          <a:noFill/>
          <a:ln/>
        </p:spPr>
        <p:txBody>
          <a:bodyPr wrap="square" lIns="0" tIns="0" rIns="0" bIns="0" rtlCol="0" anchor="t"/>
          <a:lstStyle/>
          <a:p>
            <a:pPr marL="0" indent="0">
              <a:lnSpc>
                <a:spcPct val="104000"/>
              </a:lnSpc>
              <a:buNone/>
            </a:pPr>
            <a:r>
              <a:rPr lang="en-US" sz="1400" b="1">
                <a:solidFill>
                  <a:srgbClr val="E31836"/>
                </a:solidFill>
                <a:latin typeface="Calibri" pitchFamily="34" charset="0"/>
                <a:ea typeface="Calibri" pitchFamily="34" charset="-122"/>
                <a:cs typeface="Calibri" pitchFamily="34" charset="-120"/>
              </a:rPr>
              <a:t>Preventive coating. </a:t>
            </a:r>
            <a:r>
              <a:rPr lang="en-US" sz="1400">
                <a:solidFill>
                  <a:srgbClr val="222222"/>
                </a:solidFill>
                <a:latin typeface="Calibri" pitchFamily="34" charset="0"/>
                <a:ea typeface="Calibri" pitchFamily="34" charset="-122"/>
                <a:cs typeface="Calibri" pitchFamily="34" charset="-120"/>
              </a:rPr>
              <a:t>Coat assets &amp; people before the fire arrives — no counterpart in the seed doctrine</a:t>
            </a:r>
            <a:endParaRPr lang="en-US" sz="1400" dirty="0"/>
          </a:p>
        </p:txBody>
      </p:sp>
      <p:sp>
        <p:nvSpPr>
          <p:cNvPr id="15" name="Shape 4">
            <a:extLst>
              <a:ext uri="{FF2B5EF4-FFF2-40B4-BE49-F238E27FC236}">
                <a16:creationId xmlns:a16="http://schemas.microsoft.com/office/drawing/2014/main" id="{14BBD3C1-467C-8238-8D42-54E833D211C3}"/>
              </a:ext>
            </a:extLst>
          </p:cNvPr>
          <p:cNvSpPr/>
          <p:nvPr/>
        </p:nvSpPr>
        <p:spPr>
          <a:xfrm>
            <a:off x="6217920" y="5257800"/>
            <a:ext cx="5532120" cy="1280160"/>
          </a:xfrm>
          <a:prstGeom prst="roundRect">
            <a:avLst>
              <a:gd name="adj" fmla="val 3571"/>
            </a:avLst>
          </a:prstGeom>
          <a:solidFill>
            <a:srgbClr val="F2F2F2"/>
          </a:solidFill>
          <a:ln/>
        </p:spPr>
        <p:txBody>
          <a:bodyPr/>
          <a:lstStyle/>
          <a:p>
            <a:endParaRPr lang="tr-TR"/>
          </a:p>
        </p:txBody>
      </p:sp>
      <p:sp>
        <p:nvSpPr>
          <p:cNvPr id="17" name="Text 5">
            <a:extLst>
              <a:ext uri="{FF2B5EF4-FFF2-40B4-BE49-F238E27FC236}">
                <a16:creationId xmlns:a16="http://schemas.microsoft.com/office/drawing/2014/main" id="{A978C0CA-441D-203C-9CFD-A515CA84724F}"/>
              </a:ext>
            </a:extLst>
          </p:cNvPr>
          <p:cNvSpPr/>
          <p:nvPr/>
        </p:nvSpPr>
        <p:spPr>
          <a:xfrm>
            <a:off x="6446520" y="5376672"/>
            <a:ext cx="5074920" cy="1097280"/>
          </a:xfrm>
          <a:prstGeom prst="rect">
            <a:avLst/>
          </a:prstGeom>
          <a:noFill/>
          <a:ln/>
        </p:spPr>
        <p:txBody>
          <a:bodyPr wrap="square" lIns="0" tIns="0" rIns="0" bIns="0" rtlCol="0" anchor="t"/>
          <a:lstStyle/>
          <a:p>
            <a:pPr marL="0" indent="0">
              <a:lnSpc>
                <a:spcPct val="104000"/>
              </a:lnSpc>
              <a:buNone/>
            </a:pPr>
            <a:r>
              <a:rPr lang="en-US" sz="1400" b="1">
                <a:solidFill>
                  <a:srgbClr val="E31836"/>
                </a:solidFill>
                <a:latin typeface="Calibri" pitchFamily="34" charset="0"/>
                <a:ea typeface="Calibri" pitchFamily="34" charset="-122"/>
                <a:cs typeface="Calibri" pitchFamily="34" charset="-120"/>
              </a:rPr>
              <a:t>Drafting substitution. </a:t>
            </a:r>
            <a:r>
              <a:rPr lang="en-US" sz="1400">
                <a:solidFill>
                  <a:srgbClr val="222222"/>
                </a:solidFill>
                <a:latin typeface="Calibri" pitchFamily="34" charset="0"/>
                <a:ea typeface="Calibri" pitchFamily="34" charset="-122"/>
                <a:cs typeface="Calibri" pitchFamily="34" charset="-120"/>
              </a:rPr>
              <a:t>Pool spent → raise the yield of crews already committed, evacuation behind them</a:t>
            </a:r>
            <a:endParaRPr lang="en-US" sz="1400" dirty="0"/>
          </a:p>
        </p:txBody>
      </p:sp>
      <p:sp>
        <p:nvSpPr>
          <p:cNvPr id="8518" name="Campaign label"/>
          <p:cNvSpPr/>
          <p:nvPr/>
        </p:nvSpPr>
        <p:spPr>
          <a:xfrm>
            <a:off x="502920" y="1097280"/>
            <a:ext cx="11247120" cy="256032"/>
          </a:xfrm>
          <a:prstGeom prst="rect">
            <a:avLst/>
          </a:prstGeom>
          <a:noFill/>
          <a:ln/>
        </p:spPr>
        <p:txBody>
          <a:bodyPr wrap="square" lIns="0" tIns="0" rIns="0" bIns="0" rtlCol="0" anchor="t"/>
          <a:lstStyle/>
          <a:p>
            <a:pPr marL="0" indent="0">
              <a:lnSpc>
                <a:spcPct val="102000"/>
              </a:lnSpc>
              <a:spcAft>
                <a:spcPts val="0"/>
              </a:spcAft>
              <a:buNone/>
            </a:pPr>
            <a:r>
              <a:rPr lang="en-US" sz="1300" b="1" i="1">
                <a:solidFill>
                  <a:srgbClr val="6E6E6E"/>
                </a:solidFill>
                <a:latin typeface="Calibri" pitchFamily="34" charset="0"/>
                <a:ea typeface="Calibri" pitchFamily="34" charset="-122"/>
                <a:cs typeface="Calibri" pitchFamily="34" charset="-120"/>
              </a:rPr>
              <a:t>Second campaign, separate counts: 35 proposals → 19 admitted (6 rules, 5 concepts, 1 macro, 7 actuators)</a:t>
            </a:r>
            <a:endParaRPr lang="en-US" sz="13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AA2D7-09AF-FF60-A392-5DF6AFDB342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59DEF7F-9399-EEE2-C7F1-32D69CD46B8D}"/>
              </a:ext>
            </a:extLst>
          </p:cNvPr>
          <p:cNvSpPr/>
          <p:nvPr/>
        </p:nvSpPr>
        <p:spPr>
          <a:xfrm>
            <a:off x="502920" y="237744"/>
            <a:ext cx="10058400" cy="292608"/>
          </a:xfrm>
          <a:prstGeom prst="rect">
            <a:avLst/>
          </a:prstGeom>
          <a:noFill/>
          <a:ln/>
        </p:spPr>
        <p:txBody>
          <a:bodyPr wrap="square" lIns="0" tIns="0" rIns="0" bIns="0" rtlCol="0" anchor="ctr"/>
          <a:lstStyle/>
          <a:p>
            <a:r>
              <a:rPr lang="en-US" sz="1300" b="1" kern="0" spc="200" dirty="0">
                <a:solidFill>
                  <a:srgbClr val="E31836"/>
                </a:solidFill>
                <a:latin typeface="Calibri" pitchFamily="34" charset="0"/>
                <a:ea typeface="Calibri" pitchFamily="34" charset="-122"/>
                <a:cs typeface="Calibri" pitchFamily="34" charset="-120"/>
              </a:rPr>
              <a:t>EVIDENCE : GENERATIVE PRODUCTS 3 OF 3</a:t>
            </a:r>
            <a:endParaRPr lang="en-US" sz="1300" dirty="0"/>
          </a:p>
        </p:txBody>
      </p:sp>
      <p:sp>
        <p:nvSpPr>
          <p:cNvPr id="3" name="Text 1">
            <a:extLst>
              <a:ext uri="{FF2B5EF4-FFF2-40B4-BE49-F238E27FC236}">
                <a16:creationId xmlns:a16="http://schemas.microsoft.com/office/drawing/2014/main" id="{6E7F7277-7E82-F766-138D-D9D2D7C67B38}"/>
              </a:ext>
            </a:extLst>
          </p:cNvPr>
          <p:cNvSpPr/>
          <p:nvPr/>
        </p:nvSpPr>
        <p:spPr>
          <a:xfrm>
            <a:off x="502920" y="493776"/>
            <a:ext cx="11247120" cy="621792"/>
          </a:xfrm>
          <a:prstGeom prst="rect">
            <a:avLst/>
          </a:prstGeom>
          <a:noFill/>
          <a:ln/>
        </p:spPr>
        <p:txBody>
          <a:bodyPr wrap="square" lIns="0" tIns="0" rIns="0" bIns="0" rtlCol="0" anchor="ctr"/>
          <a:lstStyle/>
          <a:p>
            <a:r>
              <a:rPr lang="en-US" sz="2500" b="1" dirty="0">
                <a:solidFill>
                  <a:srgbClr val="000000"/>
                </a:solidFill>
                <a:latin typeface="Cambria" pitchFamily="34" charset="0"/>
                <a:ea typeface="Cambria" pitchFamily="34" charset="-122"/>
                <a:cs typeface="Cambria" pitchFamily="34" charset="-120"/>
              </a:rPr>
              <a:t>The Stage-③ Ledger: Admitted Concepts</a:t>
            </a:r>
            <a:endParaRPr lang="en-US" sz="2500" dirty="0"/>
          </a:p>
        </p:txBody>
      </p:sp>
      <p:pic>
        <p:nvPicPr>
          <p:cNvPr id="4" name="Image 0" descr="/tmp/thx/deck/figs/metu_emblem.png">
            <a:extLst>
              <a:ext uri="{FF2B5EF4-FFF2-40B4-BE49-F238E27FC236}">
                <a16:creationId xmlns:a16="http://schemas.microsoft.com/office/drawing/2014/main" id="{583D1E7E-8279-F3C8-469D-FA8091C9B2B7}"/>
              </a:ext>
            </a:extLst>
          </p:cNvPr>
          <p:cNvPicPr>
            <a:picLocks noChangeAspect="1"/>
          </p:cNvPicPr>
          <p:nvPr/>
        </p:nvPicPr>
        <p:blipFill>
          <a:blip r:embed="rId3"/>
          <a:stretch>
            <a:fillRect/>
          </a:stretch>
        </p:blipFill>
        <p:spPr>
          <a:xfrm>
            <a:off x="10716768" y="184607"/>
            <a:ext cx="475488" cy="398882"/>
          </a:xfrm>
          <a:prstGeom prst="rect">
            <a:avLst/>
          </a:prstGeom>
        </p:spPr>
      </p:pic>
      <p:pic>
        <p:nvPicPr>
          <p:cNvPr id="5" name="Image 1" descr="/tmp/thx/deck/figs/eee_logo.png">
            <a:extLst>
              <a:ext uri="{FF2B5EF4-FFF2-40B4-BE49-F238E27FC236}">
                <a16:creationId xmlns:a16="http://schemas.microsoft.com/office/drawing/2014/main" id="{6A96ABF8-161F-8582-4012-10C710226D82}"/>
              </a:ext>
            </a:extLst>
          </p:cNvPr>
          <p:cNvPicPr>
            <a:picLocks noChangeAspect="1"/>
          </p:cNvPicPr>
          <p:nvPr/>
        </p:nvPicPr>
        <p:blipFill>
          <a:blip r:embed="rId4"/>
          <a:stretch>
            <a:fillRect/>
          </a:stretch>
        </p:blipFill>
        <p:spPr>
          <a:xfrm>
            <a:off x="11265408" y="186217"/>
            <a:ext cx="475488" cy="395662"/>
          </a:xfrm>
          <a:prstGeom prst="rect">
            <a:avLst/>
          </a:prstGeom>
        </p:spPr>
      </p:pic>
      <p:graphicFrame>
        <p:nvGraphicFramePr>
          <p:cNvPr id="8509" name="Concept table"/>
          <p:cNvGraphicFramePr>
            <a:graphicFrameLocks noGrp="1"/>
          </p:cNvGraphicFramePr>
          <p:nvPr/>
        </p:nvGraphicFramePr>
        <p:xfrm>
          <a:off x="457200" y="1298448"/>
          <a:ext cx="11292840" cy="1691640"/>
        </p:xfrm>
        <a:graphic>
          <a:graphicData uri="http://schemas.openxmlformats.org/drawingml/2006/table">
            <a:tbl>
              <a:tblPr firstRow="1"/>
              <a:tblGrid>
                <a:gridCol w="3017520">
                  <a:extLst>
                    <a:ext uri="{9D8B030D-6E8A-4147-A177-3AD203B41FA5}">
                      <a16:colId xmlns:a16="http://schemas.microsoft.com/office/drawing/2014/main" val="20000"/>
                    </a:ext>
                  </a:extLst>
                </a:gridCol>
                <a:gridCol w="5577840">
                  <a:extLst>
                    <a:ext uri="{9D8B030D-6E8A-4147-A177-3AD203B41FA5}">
                      <a16:colId xmlns:a16="http://schemas.microsoft.com/office/drawing/2014/main" val="20001"/>
                    </a:ext>
                  </a:extLst>
                </a:gridCol>
                <a:gridCol w="2697480">
                  <a:extLst>
                    <a:ext uri="{9D8B030D-6E8A-4147-A177-3AD203B41FA5}">
                      <a16:colId xmlns:a16="http://schemas.microsoft.com/office/drawing/2014/main" val="20002"/>
                    </a:ext>
                  </a:extLst>
                </a:gridCol>
              </a:tblGrid>
              <a:tr h="22860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Concept</a:t>
                      </a:r>
                    </a:p>
                  </a:txBody>
                  <a:tcPr marL="54864" marR="54864" marT="27432" marB="27432" anchor="ctr">
                    <a:lnB w="9525" cap="flat" cmpd="sng" algn="ctr">
                      <a:solidFill>
                        <a:srgbClr val="D0D0D0"/>
                      </a:solidFill>
                      <a:prstDash val="solid"/>
                    </a:lnB>
                    <a:solidFill>
                      <a:srgbClr val="222222"/>
                    </a:solidFill>
                  </a:tcPr>
                </a:tc>
                <a:tc>
                  <a:txBody>
                    <a:bodyPr/>
                    <a:lstStyle/>
                    <a:p>
                      <a:pPr marL="0" indent="0">
                        <a:buNone/>
                      </a:pPr>
                      <a:r>
                        <a:rPr lang="en-US" sz="1300" b="1">
                          <a:solidFill>
                            <a:srgbClr val="FFFFFF"/>
                          </a:solidFill>
                          <a:latin typeface="Calibri" pitchFamily="34" charset="0"/>
                          <a:ea typeface="Calibri" pitchFamily="34" charset="-122"/>
                          <a:cs typeface="Calibri" pitchFamily="34" charset="-120"/>
                        </a:rPr>
                        <a:t>Definition (normalized weights)</a:t>
                      </a:r>
                    </a:p>
                  </a:txBody>
                  <a:tcPr marL="54864" marR="54864" marT="27432" marB="27432" anchor="ctr">
                    <a:lnB w="9525" cap="flat" cmpd="sng" algn="ctr">
                      <a:solidFill>
                        <a:srgbClr val="D0D0D0"/>
                      </a:solidFill>
                      <a:prstDash val="solid"/>
                    </a:lnB>
                    <a:solidFill>
                      <a:srgbClr val="222222"/>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Campaign · used by</a:t>
                      </a:r>
                    </a:p>
                  </a:txBody>
                  <a:tcPr marL="54864" marR="54864" marT="27432" marB="27432" anchor="ctr">
                    <a:lnB w="9525" cap="flat" cmpd="sng" algn="ctr">
                      <a:solidFill>
                        <a:srgbClr val="D0D0D0"/>
                      </a:solidFill>
                      <a:prstDash val="solid"/>
                    </a:lnB>
                    <a:solidFill>
                      <a:srgbClr val="222222"/>
                    </a:solidFill>
                  </a:tcPr>
                </a:tc>
                <a:extLst>
                  <a:ext uri="{0D108BD9-81ED-4DB2-BD59-A6C34878D82A}">
                    <a16:rowId xmlns:a16="http://schemas.microsoft.com/office/drawing/2014/main" val="10000"/>
                  </a:ext>
                </a:extLst>
              </a:tr>
              <a:tr h="365760">
                <a:tc>
                  <a:txBody>
                    <a:bodyPr/>
                    <a:lstStyle/>
                    <a:p>
                      <a:pPr marL="0" indent="0">
                        <a:buNone/>
                      </a:pPr>
                      <a:r>
                        <a:rPr lang="en-US" sz="1300" b="1" dirty="0">
                          <a:solidFill>
                            <a:srgbClr val="E31836"/>
                          </a:solidFill>
                          <a:latin typeface="Calibri" pitchFamily="34" charset="0"/>
                          <a:ea typeface="Calibri" pitchFamily="34" charset="-122"/>
                          <a:cs typeface="Calibri" pitchFamily="34" charset="-120"/>
                        </a:rPr>
                        <a:t>interface_exposure</a:t>
                      </a:r>
                    </a:p>
                  </a:txBody>
                  <a:tcPr marL="54864" marR="54864" marT="27432" marB="27432" anchor="ctr">
                    <a:lnT w="9525" cap="flat" cmpd="sng" algn="ctr">
                      <a:solidFill>
                        <a:srgbClr val="D0D0D0"/>
                      </a:solidFill>
                      <a:prstDash val="solid"/>
                      <a:round/>
                      <a:headEnd type="none" w="med" len="med"/>
                      <a:tailEnd type="none" w="med" len="med"/>
                    </a:lnT>
                    <a:lnB w="9525" cap="flat" cmpd="sng" algn="ctr">
                      <a:solidFill>
                        <a:srgbClr val="D0D0D0"/>
                      </a:solidFill>
                      <a:prstDash val="solid"/>
                    </a:lnB>
                    <a:noFill/>
                  </a:tcPr>
                </a:tc>
                <a:tc>
                  <a:txBody>
                    <a:bodyPr/>
                    <a:lstStyle/>
                    <a:p>
                      <a:pPr marL="0" indent="0">
                        <a:buNone/>
                      </a:pPr>
                      <a:r>
                        <a:rPr lang="en-US" sz="1300" b="0">
                          <a:solidFill>
                            <a:srgbClr val="222222"/>
                          </a:solidFill>
                          <a:latin typeface="Calibri" pitchFamily="34" charset="0"/>
                          <a:ea typeface="Calibri" pitchFamily="34" charset="-122"/>
                          <a:cs typeface="Calibri" pitchFamily="34" charset="-120"/>
                        </a:rPr>
                        <a:t>0.50 asset exposure + 0.50 evacuation pressure</a:t>
                      </a:r>
                    </a:p>
                  </a:txBody>
                  <a:tcPr marL="54864" marR="54864" marT="27432" marB="27432" anchor="ctr">
                    <a:lnT w="9525" cap="flat" cmpd="sng" algn="ctr">
                      <a:solidFill>
                        <a:srgbClr val="D0D0D0"/>
                      </a:solidFill>
                      <a:prstDash val="solid"/>
                      <a:round/>
                      <a:headEnd type="none" w="med" len="med"/>
                      <a:tailEnd type="none" w="med" len="med"/>
                    </a:lnT>
                    <a:lnB w="9525" cap="flat" cmpd="sng" algn="ctr">
                      <a:solidFill>
                        <a:srgbClr val="D0D0D0"/>
                      </a:solidFill>
                      <a:prstDash val="solid"/>
                    </a:lnB>
                    <a:noFill/>
                  </a:tcPr>
                </a:tc>
                <a:tc>
                  <a:txBody>
                    <a:bodyPr/>
                    <a:lstStyle/>
                    <a:p>
                      <a:pPr marL="0" indent="0">
                        <a:buNone/>
                      </a:pPr>
                      <a:r>
                        <a:rPr lang="en-US" sz="1300" b="0">
                          <a:solidFill>
                            <a:srgbClr val="6E6E6E"/>
                          </a:solidFill>
                          <a:latin typeface="Calibri" pitchFamily="34" charset="0"/>
                          <a:ea typeface="Calibri" pitchFamily="34" charset="-122"/>
                          <a:cs typeface="Calibri" pitchFamily="34" charset="-120"/>
                        </a:rPr>
                        <a:t>main run · G14 fires on it</a:t>
                      </a:r>
                    </a:p>
                  </a:txBody>
                  <a:tcPr marL="54864" marR="54864" marT="27432" marB="27432" anchor="ctr">
                    <a:lnT w="9525" cap="flat" cmpd="sng" algn="ctr">
                      <a:solidFill>
                        <a:srgbClr val="D0D0D0"/>
                      </a:solidFill>
                      <a:prstDash val="solid"/>
                      <a:round/>
                      <a:headEnd type="none" w="med" len="med"/>
                      <a:tailEnd type="none" w="med" len="med"/>
                    </a:lnT>
                    <a:lnB w="9525" cap="flat" cmpd="sng" algn="ctr">
                      <a:solidFill>
                        <a:srgbClr val="D0D0D0"/>
                      </a:solidFill>
                      <a:prstDash val="solid"/>
                    </a:lnB>
                    <a:noFill/>
                  </a:tcPr>
                </a:tc>
                <a:extLst>
                  <a:ext uri="{0D108BD9-81ED-4DB2-BD59-A6C34878D82A}">
                    <a16:rowId xmlns:a16="http://schemas.microsoft.com/office/drawing/2014/main" val="10001"/>
                  </a:ext>
                </a:extLst>
              </a:tr>
              <a:tr h="365760">
                <a:tc>
                  <a:txBody>
                    <a:bodyPr/>
                    <a:lstStyle/>
                    <a:p>
                      <a:pPr marL="0" indent="0">
                        <a:buNone/>
                      </a:pPr>
                      <a:r>
                        <a:rPr lang="en-US" sz="1300" b="1" dirty="0">
                          <a:solidFill>
                            <a:srgbClr val="E31836"/>
                          </a:solidFill>
                          <a:latin typeface="Calibri" pitchFamily="34" charset="0"/>
                          <a:ea typeface="Calibri" pitchFamily="34" charset="-122"/>
                          <a:cs typeface="Calibri" pitchFamily="34" charset="-120"/>
                        </a:rPr>
                        <a:t>capacity_starved_head_pressure</a:t>
                      </a:r>
                    </a:p>
                  </a:txBody>
                  <a:tcPr marL="54864" marR="54864" marT="27432" marB="27432" anchor="ctr">
                    <a:lnT w="9525" cap="flat" cmpd="sng" algn="ctr">
                      <a:solidFill>
                        <a:srgbClr val="D0D0D0"/>
                      </a:solidFill>
                      <a:prstDash val="solid"/>
                      <a:round/>
                      <a:headEnd type="none" w="med" len="med"/>
                      <a:tailEnd type="none" w="med" len="med"/>
                    </a:lnT>
                    <a:lnB w="9525" cap="flat" cmpd="sng" algn="ctr">
                      <a:solidFill>
                        <a:srgbClr val="D0D0D0"/>
                      </a:solidFill>
                      <a:prstDash val="solid"/>
                    </a:lnB>
                    <a:noFill/>
                  </a:tcPr>
                </a:tc>
                <a:tc>
                  <a:txBody>
                    <a:bodyPr/>
                    <a:lstStyle/>
                    <a:p>
                      <a:pPr marL="0" indent="0">
                        <a:buNone/>
                      </a:pPr>
                      <a:r>
                        <a:rPr lang="en-US" sz="1300" b="0">
                          <a:solidFill>
                            <a:srgbClr val="222222"/>
                          </a:solidFill>
                          <a:latin typeface="Calibri" pitchFamily="34" charset="0"/>
                          <a:ea typeface="Calibri" pitchFamily="34" charset="-122"/>
                          <a:cs typeface="Calibri" pitchFamily="34" charset="-120"/>
                        </a:rPr>
                        <a:t>0.50 threat + 0.30 urgency + 0.20 feasibility</a:t>
                      </a:r>
                    </a:p>
                  </a:txBody>
                  <a:tcPr marL="54864" marR="54864" marT="27432" marB="27432" anchor="ctr">
                    <a:lnT w="9525" cap="flat" cmpd="sng" algn="ctr">
                      <a:solidFill>
                        <a:srgbClr val="D0D0D0"/>
                      </a:solidFill>
                      <a:prstDash val="solid"/>
                      <a:round/>
                      <a:headEnd type="none" w="med" len="med"/>
                      <a:tailEnd type="none" w="med" len="med"/>
                    </a:lnT>
                    <a:lnB w="9525" cap="flat" cmpd="sng" algn="ctr">
                      <a:solidFill>
                        <a:srgbClr val="D0D0D0"/>
                      </a:solidFill>
                      <a:prstDash val="solid"/>
                    </a:lnB>
                    <a:noFill/>
                  </a:tcPr>
                </a:tc>
                <a:tc>
                  <a:txBody>
                    <a:bodyPr/>
                    <a:lstStyle/>
                    <a:p>
                      <a:pPr marL="0" indent="0">
                        <a:buNone/>
                      </a:pPr>
                      <a:r>
                        <a:rPr lang="en-US" sz="1300" b="0">
                          <a:solidFill>
                            <a:srgbClr val="6E6E6E"/>
                          </a:solidFill>
                          <a:latin typeface="Calibri" pitchFamily="34" charset="0"/>
                          <a:ea typeface="Calibri" pitchFamily="34" charset="-122"/>
                          <a:cs typeface="Calibri" pitchFamily="34" charset="-120"/>
                        </a:rPr>
                        <a:t>actuator run · orders forward_draft_relay</a:t>
                      </a:r>
                    </a:p>
                  </a:txBody>
                  <a:tcPr marL="54864" marR="54864" marT="27432" marB="27432" anchor="ctr">
                    <a:lnT w="9525" cap="flat" cmpd="sng" algn="ctr">
                      <a:solidFill>
                        <a:srgbClr val="D0D0D0"/>
                      </a:solidFill>
                      <a:prstDash val="solid"/>
                      <a:round/>
                      <a:headEnd type="none" w="med" len="med"/>
                      <a:tailEnd type="none" w="med" len="med"/>
                    </a:lnT>
                    <a:lnB w="9525" cap="flat" cmpd="sng" algn="ctr">
                      <a:solidFill>
                        <a:srgbClr val="D0D0D0"/>
                      </a:solidFill>
                      <a:prstDash val="solid"/>
                    </a:lnB>
                    <a:noFill/>
                  </a:tcPr>
                </a:tc>
                <a:extLst>
                  <a:ext uri="{0D108BD9-81ED-4DB2-BD59-A6C34878D82A}">
                    <a16:rowId xmlns:a16="http://schemas.microsoft.com/office/drawing/2014/main" val="10002"/>
                  </a:ext>
                </a:extLst>
              </a:tr>
              <a:tr h="365760">
                <a:tc>
                  <a:txBody>
                    <a:bodyPr/>
                    <a:lstStyle/>
                    <a:p>
                      <a:pPr marL="0" indent="0">
                        <a:buNone/>
                      </a:pPr>
                      <a:r>
                        <a:rPr lang="en-US" sz="1300" b="1" dirty="0">
                          <a:solidFill>
                            <a:srgbClr val="E31836"/>
                          </a:solidFill>
                          <a:latin typeface="Calibri" pitchFamily="34" charset="0"/>
                          <a:ea typeface="Calibri" pitchFamily="34" charset="-122"/>
                          <a:cs typeface="Calibri" pitchFamily="34" charset="-120"/>
                        </a:rPr>
                        <a:t>head_run_pressure</a:t>
                      </a:r>
                    </a:p>
                  </a:txBody>
                  <a:tcPr marL="54864" marR="54864" marT="27432" marB="27432" anchor="ctr">
                    <a:lnT w="9525" cap="flat" cmpd="sng" algn="ctr">
                      <a:solidFill>
                        <a:srgbClr val="D0D0D0"/>
                      </a:solidFill>
                      <a:prstDash val="solid"/>
                      <a:round/>
                      <a:headEnd type="none" w="med" len="med"/>
                      <a:tailEnd type="none" w="med" len="med"/>
                    </a:lnT>
                    <a:lnB w="9525" cap="flat" cmpd="sng" algn="ctr">
                      <a:solidFill>
                        <a:srgbClr val="D0D0D0"/>
                      </a:solidFill>
                      <a:prstDash val="solid"/>
                    </a:lnB>
                    <a:noFill/>
                  </a:tcPr>
                </a:tc>
                <a:tc>
                  <a:txBody>
                    <a:bodyPr/>
                    <a:lstStyle/>
                    <a:p>
                      <a:pPr marL="0" indent="0">
                        <a:buNone/>
                      </a:pPr>
                      <a:r>
                        <a:rPr lang="en-US" sz="1300" b="0">
                          <a:solidFill>
                            <a:srgbClr val="222222"/>
                          </a:solidFill>
                          <a:latin typeface="Calibri" pitchFamily="34" charset="0"/>
                          <a:ea typeface="Calibri" pitchFamily="34" charset="-122"/>
                          <a:cs typeface="Calibri" pitchFamily="34" charset="-120"/>
                        </a:rPr>
                        <a:t>0.40 threat + 0.30 urgency + 0.20 evacuation + 0.10 feasibility</a:t>
                      </a:r>
                    </a:p>
                  </a:txBody>
                  <a:tcPr marL="54864" marR="54864" marT="27432" marB="27432" anchor="ctr">
                    <a:lnT w="9525" cap="flat" cmpd="sng" algn="ctr">
                      <a:solidFill>
                        <a:srgbClr val="D0D0D0"/>
                      </a:solidFill>
                      <a:prstDash val="solid"/>
                      <a:round/>
                      <a:headEnd type="none" w="med" len="med"/>
                      <a:tailEnd type="none" w="med" len="med"/>
                    </a:lnT>
                    <a:lnB w="9525" cap="flat" cmpd="sng" algn="ctr">
                      <a:solidFill>
                        <a:srgbClr val="D0D0D0"/>
                      </a:solidFill>
                      <a:prstDash val="solid"/>
                    </a:lnB>
                    <a:noFill/>
                  </a:tcPr>
                </a:tc>
                <a:tc>
                  <a:txBody>
                    <a:bodyPr/>
                    <a:lstStyle/>
                    <a:p>
                      <a:pPr marL="0" indent="0">
                        <a:buNone/>
                      </a:pPr>
                      <a:r>
                        <a:rPr lang="en-US" sz="1300" b="0">
                          <a:solidFill>
                            <a:srgbClr val="6E6E6E"/>
                          </a:solidFill>
                          <a:latin typeface="Calibri" pitchFamily="34" charset="0"/>
                          <a:ea typeface="Calibri" pitchFamily="34" charset="-122"/>
                          <a:cs typeface="Calibri" pitchFamily="34" charset="-120"/>
                        </a:rPr>
                        <a:t>actuator run</a:t>
                      </a:r>
                    </a:p>
                  </a:txBody>
                  <a:tcPr marL="54864" marR="54864" marT="27432" marB="27432" anchor="ctr">
                    <a:lnT w="9525" cap="flat" cmpd="sng" algn="ctr">
                      <a:solidFill>
                        <a:srgbClr val="D0D0D0"/>
                      </a:solidFill>
                      <a:prstDash val="solid"/>
                      <a:round/>
                      <a:headEnd type="none" w="med" len="med"/>
                      <a:tailEnd type="none" w="med" len="med"/>
                    </a:lnT>
                    <a:lnB w="9525" cap="flat" cmpd="sng" algn="ctr">
                      <a:solidFill>
                        <a:srgbClr val="D0D0D0"/>
                      </a:solidFill>
                      <a:prstDash val="solid"/>
                    </a:lnB>
                    <a:noFill/>
                  </a:tcPr>
                </a:tc>
                <a:extLst>
                  <a:ext uri="{0D108BD9-81ED-4DB2-BD59-A6C34878D82A}">
                    <a16:rowId xmlns:a16="http://schemas.microsoft.com/office/drawing/2014/main" val="10003"/>
                  </a:ext>
                </a:extLst>
              </a:tr>
              <a:tr h="365760">
                <a:tc>
                  <a:txBody>
                    <a:bodyPr/>
                    <a:lstStyle/>
                    <a:p>
                      <a:pPr marL="0" indent="0">
                        <a:buNone/>
                      </a:pPr>
                      <a:r>
                        <a:rPr lang="en-US" sz="1300" b="1" dirty="0">
                          <a:solidFill>
                            <a:srgbClr val="E31836"/>
                          </a:solidFill>
                          <a:latin typeface="Calibri" pitchFamily="34" charset="0"/>
                          <a:ea typeface="Calibri" pitchFamily="34" charset="-122"/>
                          <a:cs typeface="Calibri" pitchFamily="34" charset="-120"/>
                        </a:rPr>
                        <a:t>village_interface_pressure</a:t>
                      </a:r>
                    </a:p>
                  </a:txBody>
                  <a:tcPr marL="54864" marR="54864" marT="27432" marB="27432" anchor="ctr">
                    <a:lnT w="9525" cap="flat" cmpd="sng" algn="ctr">
                      <a:solidFill>
                        <a:srgbClr val="D0D0D0"/>
                      </a:solidFill>
                      <a:prstDash val="solid"/>
                      <a:round/>
                      <a:headEnd type="none" w="med" len="med"/>
                      <a:tailEnd type="none" w="med" len="med"/>
                    </a:lnT>
                    <a:lnB w="9525" cap="flat" cmpd="sng" algn="ctr">
                      <a:solidFill>
                        <a:srgbClr val="D0D0D0"/>
                      </a:solidFill>
                      <a:prstDash val="solid"/>
                    </a:lnB>
                    <a:noFill/>
                  </a:tcPr>
                </a:tc>
                <a:tc>
                  <a:txBody>
                    <a:bodyPr/>
                    <a:lstStyle/>
                    <a:p>
                      <a:pPr marL="0" indent="0">
                        <a:buNone/>
                      </a:pPr>
                      <a:r>
                        <a:rPr lang="en-US" sz="1300" b="0">
                          <a:solidFill>
                            <a:srgbClr val="222222"/>
                          </a:solidFill>
                          <a:latin typeface="Calibri" pitchFamily="34" charset="0"/>
                          <a:ea typeface="Calibri" pitchFamily="34" charset="-122"/>
                          <a:cs typeface="Calibri" pitchFamily="34" charset="-120"/>
                        </a:rPr>
                        <a:t>0.40 urgency + 0.30 evacuation + 0.30 threat</a:t>
                      </a:r>
                    </a:p>
                  </a:txBody>
                  <a:tcPr marL="54864" marR="54864" marT="27432" marB="27432" anchor="ctr">
                    <a:lnT w="9525" cap="flat" cmpd="sng" algn="ctr">
                      <a:solidFill>
                        <a:srgbClr val="D0D0D0"/>
                      </a:solidFill>
                      <a:prstDash val="solid"/>
                      <a:round/>
                      <a:headEnd type="none" w="med" len="med"/>
                      <a:tailEnd type="none" w="med" len="med"/>
                    </a:lnT>
                    <a:lnB w="9525" cap="flat" cmpd="sng" algn="ctr">
                      <a:solidFill>
                        <a:srgbClr val="D0D0D0"/>
                      </a:solidFill>
                      <a:prstDash val="solid"/>
                    </a:lnB>
                    <a:noFill/>
                  </a:tcPr>
                </a:tc>
                <a:tc>
                  <a:txBody>
                    <a:bodyPr/>
                    <a:lstStyle/>
                    <a:p>
                      <a:pPr marL="0" indent="0">
                        <a:buNone/>
                      </a:pPr>
                      <a:r>
                        <a:rPr lang="en-US" sz="1300" b="0">
                          <a:solidFill>
                            <a:srgbClr val="6E6E6E"/>
                          </a:solidFill>
                          <a:latin typeface="Calibri" pitchFamily="34" charset="0"/>
                          <a:ea typeface="Calibri" pitchFamily="34" charset="-122"/>
                          <a:cs typeface="Calibri" pitchFamily="34" charset="-120"/>
                        </a:rPr>
                        <a:t>actuator run</a:t>
                      </a:r>
                    </a:p>
                  </a:txBody>
                  <a:tcPr marL="54864" marR="54864" marT="27432" marB="27432" anchor="ctr">
                    <a:lnT w="9525" cap="flat" cmpd="sng" algn="ctr">
                      <a:solidFill>
                        <a:srgbClr val="D0D0D0"/>
                      </a:solidFill>
                      <a:prstDash val="solid"/>
                      <a:round/>
                      <a:headEnd type="none" w="med" len="med"/>
                      <a:tailEnd type="none" w="med" len="med"/>
                    </a:lnT>
                    <a:lnB w="9525" cap="flat" cmpd="sng" algn="ctr">
                      <a:solidFill>
                        <a:srgbClr val="D0D0D0"/>
                      </a:solidFill>
                      <a:prstDash val="solid"/>
                    </a:lnB>
                    <a:noFill/>
                  </a:tcPr>
                </a:tc>
                <a:extLst>
                  <a:ext uri="{0D108BD9-81ED-4DB2-BD59-A6C34878D82A}">
                    <a16:rowId xmlns:a16="http://schemas.microsoft.com/office/drawing/2014/main" val="10004"/>
                  </a:ext>
                </a:extLst>
              </a:tr>
            </a:tbl>
          </a:graphicData>
        </a:graphic>
      </p:graphicFrame>
      <p:sp>
        <p:nvSpPr>
          <p:cNvPr id="8510" name="Box buys"/>
          <p:cNvSpPr/>
          <p:nvPr/>
        </p:nvSpPr>
        <p:spPr>
          <a:xfrm>
            <a:off x="457200" y="4434840"/>
            <a:ext cx="5532120" cy="1600200"/>
          </a:xfrm>
          <a:prstGeom prst="roundRect">
            <a:avLst>
              <a:gd name="adj" fmla="val 4000"/>
            </a:avLst>
          </a:prstGeom>
          <a:solidFill>
            <a:srgbClr val="F2F2F2"/>
          </a:solidFill>
          <a:ln>
            <a:noFill/>
          </a:ln>
        </p:spPr>
        <p:txBody>
          <a:bodyPr/>
          <a:lstStyle/>
          <a:p>
            <a:endParaRPr lang="en-US"/>
          </a:p>
        </p:txBody>
      </p:sp>
      <p:sp>
        <p:nvSpPr>
          <p:cNvPr id="8511" name="H buys"/>
          <p:cNvSpPr/>
          <p:nvPr/>
        </p:nvSpPr>
        <p:spPr>
          <a:xfrm>
            <a:off x="658368" y="4572000"/>
            <a:ext cx="5138928" cy="256032"/>
          </a:xfrm>
          <a:prstGeom prst="rect">
            <a:avLst/>
          </a:prstGeom>
          <a:noFill/>
          <a:ln/>
        </p:spPr>
        <p:txBody>
          <a:bodyPr wrap="square" lIns="0" tIns="0" rIns="0" bIns="0" rtlCol="0" anchor="t"/>
          <a:lstStyle/>
          <a:p>
            <a:pPr marL="0" indent="0">
              <a:lnSpc>
                <a:spcPct val="102000"/>
              </a:lnSpc>
              <a:spcAft>
                <a:spcPts val="0"/>
              </a:spcAft>
              <a:buNone/>
            </a:pPr>
            <a:r>
              <a:rPr lang="en-US" sz="1400" b="1" i="0" dirty="0">
                <a:solidFill>
                  <a:srgbClr val="E31836"/>
                </a:solidFill>
                <a:latin typeface="Calibri" pitchFamily="34" charset="0"/>
                <a:ea typeface="Calibri" pitchFamily="34" charset="-122"/>
                <a:cs typeface="Calibri" pitchFamily="34" charset="-120"/>
              </a:rPr>
              <a:t>what a concept buys</a:t>
            </a:r>
            <a:endParaRPr lang="en-US" sz="1400" dirty="0"/>
          </a:p>
        </p:txBody>
      </p:sp>
      <p:sp>
        <p:nvSpPr>
          <p:cNvPr id="8512" name="B buys"/>
          <p:cNvSpPr/>
          <p:nvPr/>
        </p:nvSpPr>
        <p:spPr>
          <a:xfrm>
            <a:off x="658368" y="4882896"/>
            <a:ext cx="5138928" cy="1051560"/>
          </a:xfrm>
          <a:prstGeom prst="rect">
            <a:avLst/>
          </a:prstGeom>
          <a:noFill/>
          <a:ln/>
        </p:spPr>
        <p:txBody>
          <a:bodyPr wrap="square" lIns="0" tIns="0" rIns="0" bIns="0" rtlCol="0" anchor="t"/>
          <a:lstStyle/>
          <a:p>
            <a:pPr marL="0" indent="0">
              <a:lnSpc>
                <a:spcPct val="102000"/>
              </a:lnSpc>
              <a:spcAft>
                <a:spcPts val="0"/>
              </a:spcAft>
              <a:buNone/>
            </a:pPr>
            <a:r>
              <a:rPr lang="en-US" sz="1350" b="0" i="0">
                <a:solidFill>
                  <a:srgbClr val="222222"/>
                </a:solidFill>
                <a:latin typeface="Calibri" pitchFamily="34" charset="0"/>
                <a:ea typeface="Calibri" pitchFamily="34" charset="-122"/>
                <a:cs typeface="Calibri" pitchFamily="34" charset="-120"/>
              </a:rPr>
              <a:t>one antecedent instead of three — a recurring compound situation gets a name; installed like a native concept</a:t>
            </a:r>
            <a:endParaRPr lang="en-US" sz="1350" dirty="0"/>
          </a:p>
        </p:txBody>
      </p:sp>
      <p:sp>
        <p:nvSpPr>
          <p:cNvPr id="8513" name="Box totals"/>
          <p:cNvSpPr/>
          <p:nvPr/>
        </p:nvSpPr>
        <p:spPr>
          <a:xfrm>
            <a:off x="6217920" y="4434840"/>
            <a:ext cx="5532120" cy="1600200"/>
          </a:xfrm>
          <a:prstGeom prst="roundRect">
            <a:avLst>
              <a:gd name="adj" fmla="val 4000"/>
            </a:avLst>
          </a:prstGeom>
          <a:solidFill>
            <a:srgbClr val="FBF1F1"/>
          </a:solidFill>
          <a:ln>
            <a:noFill/>
          </a:ln>
        </p:spPr>
        <p:txBody>
          <a:bodyPr/>
          <a:lstStyle/>
          <a:p>
            <a:endParaRPr lang="en-US"/>
          </a:p>
        </p:txBody>
      </p:sp>
      <p:sp>
        <p:nvSpPr>
          <p:cNvPr id="8514" name="H totals"/>
          <p:cNvSpPr/>
          <p:nvPr/>
        </p:nvSpPr>
        <p:spPr>
          <a:xfrm>
            <a:off x="6419088" y="4572000"/>
            <a:ext cx="5138928" cy="256032"/>
          </a:xfrm>
          <a:prstGeom prst="rect">
            <a:avLst/>
          </a:prstGeom>
          <a:noFill/>
          <a:ln/>
        </p:spPr>
        <p:txBody>
          <a:bodyPr wrap="square" lIns="0" tIns="0" rIns="0" bIns="0" rtlCol="0" anchor="t"/>
          <a:lstStyle/>
          <a:p>
            <a:pPr marL="0" indent="0">
              <a:lnSpc>
                <a:spcPct val="102000"/>
              </a:lnSpc>
              <a:spcAft>
                <a:spcPts val="0"/>
              </a:spcAft>
              <a:buNone/>
            </a:pPr>
            <a:r>
              <a:rPr lang="en-US" sz="1400" b="1" i="0" dirty="0">
                <a:solidFill>
                  <a:srgbClr val="E31836"/>
                </a:solidFill>
                <a:latin typeface="Calibri" pitchFamily="34" charset="0"/>
                <a:ea typeface="Calibri" pitchFamily="34" charset="-122"/>
                <a:cs typeface="Calibri" pitchFamily="34" charset="-120"/>
              </a:rPr>
              <a:t>the full generative record, two campaigns</a:t>
            </a:r>
            <a:endParaRPr lang="en-US" sz="1400" dirty="0"/>
          </a:p>
        </p:txBody>
      </p:sp>
      <p:sp>
        <p:nvSpPr>
          <p:cNvPr id="8515" name="B totals"/>
          <p:cNvSpPr/>
          <p:nvPr/>
        </p:nvSpPr>
        <p:spPr>
          <a:xfrm>
            <a:off x="6419088" y="4882896"/>
            <a:ext cx="5138928" cy="1051560"/>
          </a:xfrm>
          <a:prstGeom prst="rect">
            <a:avLst/>
          </a:prstGeom>
          <a:noFill/>
          <a:ln/>
        </p:spPr>
        <p:txBody>
          <a:bodyPr wrap="square" lIns="0" tIns="0" rIns="0" bIns="0" rtlCol="0" anchor="t"/>
          <a:lstStyle/>
          <a:p>
            <a:pPr marL="0" indent="0">
              <a:lnSpc>
                <a:spcPct val="102000"/>
              </a:lnSpc>
              <a:spcAft>
                <a:spcPts val="0"/>
              </a:spcAft>
              <a:buNone/>
            </a:pPr>
            <a:r>
              <a:rPr lang="en-US" sz="1350" b="0" i="0">
                <a:solidFill>
                  <a:srgbClr val="222222"/>
                </a:solidFill>
                <a:latin typeface="Calibri" pitchFamily="34" charset="0"/>
                <a:ea typeface="Calibri" pitchFamily="34" charset="-122"/>
                <a:cs typeface="Calibri" pitchFamily="34" charset="-120"/>
              </a:rPr>
              <a:t>main run: 232 → 47 (36 rules + 11 packages) · actuator run: 35 → 19 (6 rules, 5 concepts, 1 macro, 7 actuators)</a:t>
            </a:r>
            <a:endParaRPr lang="en-US" sz="1350" dirty="0"/>
          </a:p>
        </p:txBody>
      </p:sp>
      <p:sp>
        <p:nvSpPr>
          <p:cNvPr id="8516" name="Bottom"/>
          <p:cNvSpPr/>
          <p:nvPr/>
        </p:nvSpPr>
        <p:spPr>
          <a:xfrm>
            <a:off x="457200" y="6263640"/>
            <a:ext cx="11292840" cy="365760"/>
          </a:xfrm>
          <a:prstGeom prst="rect">
            <a:avLst/>
          </a:prstGeom>
          <a:noFill/>
          <a:ln/>
        </p:spPr>
        <p:txBody>
          <a:bodyPr wrap="square" lIns="0" tIns="0" rIns="0" bIns="0" rtlCol="0" anchor="t"/>
          <a:lstStyle/>
          <a:p>
            <a:pPr marL="0" indent="0">
              <a:lnSpc>
                <a:spcPct val="102000"/>
              </a:lnSpc>
              <a:spcAft>
                <a:spcPts val="0"/>
              </a:spcAft>
              <a:buNone/>
            </a:pPr>
            <a:r>
              <a:rPr lang="en-US" sz="1400" b="1" i="1">
                <a:solidFill>
                  <a:srgbClr val="6E6E6E"/>
                </a:solidFill>
                <a:latin typeface="Calibri" pitchFamily="34" charset="0"/>
                <a:ea typeface="Calibri" pitchFamily="34" charset="-122"/>
                <a:cs typeface="Calibri" pitchFamily="34" charset="-120"/>
              </a:rPr>
              <a:t>A concept changes what the rules can look at, never what they can order</a:t>
            </a:r>
            <a:endParaRPr lang="en-US" sz="1400" dirty="0"/>
          </a:p>
        </p:txBody>
      </p:sp>
    </p:spTree>
    <p:extLst>
      <p:ext uri="{BB962C8B-B14F-4D97-AF65-F5344CB8AC3E}">
        <p14:creationId xmlns:p14="http://schemas.microsoft.com/office/powerpoint/2010/main" val="376121410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37744"/>
            <a:ext cx="100584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EVIDENCE : TRACEABILITY</a:t>
            </a:r>
            <a:endParaRPr lang="en-US" sz="1300" dirty="0"/>
          </a:p>
        </p:txBody>
      </p:sp>
      <p:sp>
        <p:nvSpPr>
          <p:cNvPr id="3" name="Text 1"/>
          <p:cNvSpPr/>
          <p:nvPr/>
        </p:nvSpPr>
        <p:spPr>
          <a:xfrm>
            <a:off x="502920" y="493776"/>
            <a:ext cx="11247120" cy="621792"/>
          </a:xfrm>
          <a:prstGeom prst="rect">
            <a:avLst/>
          </a:prstGeom>
          <a:noFill/>
          <a:ln/>
        </p:spPr>
        <p:txBody>
          <a:bodyPr wrap="square" lIns="0" tIns="0" rIns="0" bIns="0" rtlCol="0" anchor="ctr"/>
          <a:lstStyle/>
          <a:p>
            <a:pPr marL="0" indent="0">
              <a:buNone/>
            </a:pPr>
            <a:r>
              <a:rPr lang="en-US" sz="2500" b="1" dirty="0">
                <a:solidFill>
                  <a:srgbClr val="000000"/>
                </a:solidFill>
                <a:latin typeface="Cambria" pitchFamily="34" charset="0"/>
                <a:ea typeface="Cambria" pitchFamily="34" charset="-122"/>
                <a:cs typeface="Cambria" pitchFamily="34" charset="-120"/>
              </a:rPr>
              <a:t>One Incident End to End; Every Order Explains Itself</a:t>
            </a:r>
            <a:endParaRPr lang="en-US" sz="2500" dirty="0"/>
          </a:p>
        </p:txBody>
      </p:sp>
      <p:pic>
        <p:nvPicPr>
          <p:cNvPr id="4"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5"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p:pic>
        <p:nvPicPr>
          <p:cNvPr id="6" name="Image 2" descr="/tmp/thx/deck/figs/ch5_53.png"/>
          <p:cNvPicPr>
            <a:picLocks noChangeAspect="1"/>
          </p:cNvPicPr>
          <p:nvPr/>
        </p:nvPicPr>
        <p:blipFill>
          <a:blip r:embed="rId5"/>
          <a:stretch>
            <a:fillRect/>
          </a:stretch>
        </p:blipFill>
        <p:spPr>
          <a:xfrm>
            <a:off x="291780" y="1325880"/>
            <a:ext cx="10746868" cy="4489704"/>
          </a:xfrm>
          <a:prstGeom prst="rect">
            <a:avLst/>
          </a:prstGeom>
        </p:spPr>
      </p:pic>
      <p:sp>
        <p:nvSpPr>
          <p:cNvPr id="7" name="Text 2"/>
          <p:cNvSpPr/>
          <p:nvPr/>
        </p:nvSpPr>
        <p:spPr>
          <a:xfrm>
            <a:off x="547984" y="6071616"/>
            <a:ext cx="11292840" cy="548640"/>
          </a:xfrm>
          <a:prstGeom prst="rect">
            <a:avLst/>
          </a:prstGeom>
          <a:noFill/>
          <a:ln/>
        </p:spPr>
        <p:txBody>
          <a:bodyPr wrap="square" lIns="0" tIns="0" rIns="0" bIns="0" rtlCol="0" anchor="t"/>
          <a:lstStyle/>
          <a:p>
            <a:pPr marL="0" indent="0">
              <a:lnSpc>
                <a:spcPct val="104000"/>
              </a:lnSpc>
              <a:buNone/>
            </a:pPr>
            <a:r>
              <a:rPr lang="en-US" sz="1350" i="1">
                <a:solidFill>
                  <a:srgbClr val="6E6E6E"/>
                </a:solidFill>
                <a:latin typeface="Calibri" pitchFamily="34" charset="0"/>
                <a:ea typeface="Calibri" pitchFamily="34" charset="-122"/>
                <a:cs typeface="Calibri" pitchFamily="34" charset="-120"/>
              </a:rPr>
              <a:t>Upper: burned area flattens as the fire is held; active cells peak, then → 0 · Lower: adaptation events by stage (▲ accepted, ✕ rejected)</a:t>
            </a:r>
          </a:p>
          <a:p>
            <a:pPr marL="0" indent="0">
              <a:lnSpc>
                <a:spcPct val="104000"/>
              </a:lnSpc>
              <a:buNone/>
            </a:pPr>
            <a:r>
              <a:rPr lang="en-US" sz="1350" b="1" i="1">
                <a:solidFill>
                  <a:srgbClr val="6E6E6E"/>
                </a:solidFill>
                <a:latin typeface="Calibri" pitchFamily="34" charset="0"/>
                <a:ea typeface="Calibri" pitchFamily="34" charset="-122"/>
                <a:cs typeface="Calibri" pitchFamily="34" charset="-120"/>
              </a:rPr>
              <a:t>Accepted trials cluster early; later proposals are refused — little is left to improve</a:t>
            </a:r>
            <a:endParaRPr lang="en-US" sz="1350" dirty="0"/>
          </a:p>
        </p:txBody>
      </p:sp>
      <p:sp>
        <p:nvSpPr>
          <p:cNvPr id="9" name="Text 4"/>
          <p:cNvSpPr/>
          <p:nvPr/>
        </p:nvSpPr>
        <p:spPr>
          <a:xfrm>
            <a:off x="731520" y="5212080"/>
            <a:ext cx="10789920" cy="1234440"/>
          </a:xfrm>
          <a:prstGeom prst="rect">
            <a:avLst/>
          </a:prstGeom>
          <a:noFill/>
          <a:ln/>
        </p:spPr>
        <p:txBody>
          <a:bodyPr wrap="square" lIns="0" tIns="0" rIns="0" bIns="0" rtlCol="0" anchor="t"/>
          <a:lstStyle/>
          <a:p>
            <a:pPr marL="0" indent="0">
              <a:lnSpc>
                <a:spcPct val="104000"/>
              </a:lnSpc>
              <a:buNone/>
            </a:pPr>
            <a:endParaRPr lang="en-US" sz="12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37744"/>
            <a:ext cx="100584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EVIDENCE : TEMPO &amp; SCALE</a:t>
            </a:r>
            <a:endParaRPr lang="en-US" sz="1300" dirty="0"/>
          </a:p>
        </p:txBody>
      </p:sp>
      <p:sp>
        <p:nvSpPr>
          <p:cNvPr id="3" name="Text 1"/>
          <p:cNvSpPr/>
          <p:nvPr/>
        </p:nvSpPr>
        <p:spPr>
          <a:xfrm>
            <a:off x="502920" y="493776"/>
            <a:ext cx="11247120" cy="621792"/>
          </a:xfrm>
          <a:prstGeom prst="rect">
            <a:avLst/>
          </a:prstGeom>
          <a:noFill/>
          <a:ln/>
        </p:spPr>
        <p:txBody>
          <a:bodyPr wrap="square" lIns="0" tIns="0" rIns="0" bIns="0" rtlCol="0" anchor="ctr"/>
          <a:lstStyle/>
          <a:p>
            <a:pPr marL="0" indent="0">
              <a:buNone/>
            </a:pPr>
            <a:r>
              <a:rPr lang="en-US" sz="2500" b="1" dirty="0">
                <a:solidFill>
                  <a:srgbClr val="000000"/>
                </a:solidFill>
                <a:latin typeface="Cambria" pitchFamily="34" charset="0"/>
                <a:ea typeface="Cambria" pitchFamily="34" charset="-122"/>
                <a:cs typeface="Cambria" pitchFamily="34" charset="-120"/>
              </a:rPr>
              <a:t>Milliseconds Against a Twelve-Minute Cycle</a:t>
            </a:r>
            <a:endParaRPr lang="en-US" sz="2500" dirty="0"/>
          </a:p>
        </p:txBody>
      </p:sp>
      <p:pic>
        <p:nvPicPr>
          <p:cNvPr id="4"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5"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p:pic>
        <p:nvPicPr>
          <p:cNvPr id="6" name="Image 2" descr="/tmp/thx/deck/figs/ch5_55.png"/>
          <p:cNvPicPr>
            <a:picLocks noChangeAspect="1"/>
          </p:cNvPicPr>
          <p:nvPr/>
        </p:nvPicPr>
        <p:blipFill>
          <a:blip r:embed="rId5"/>
          <a:stretch>
            <a:fillRect/>
          </a:stretch>
        </p:blipFill>
        <p:spPr>
          <a:xfrm>
            <a:off x="2377440" y="1019968"/>
            <a:ext cx="7351776" cy="4560038"/>
          </a:xfrm>
          <a:prstGeom prst="rect">
            <a:avLst/>
          </a:prstGeom>
        </p:spPr>
      </p:pic>
      <p:sp>
        <p:nvSpPr>
          <p:cNvPr id="7" name="Text 2"/>
          <p:cNvSpPr/>
          <p:nvPr/>
        </p:nvSpPr>
        <p:spPr>
          <a:xfrm>
            <a:off x="502920" y="5736336"/>
            <a:ext cx="6126480" cy="365760"/>
          </a:xfrm>
          <a:prstGeom prst="rect">
            <a:avLst/>
          </a:prstGeom>
          <a:noFill/>
          <a:ln/>
        </p:spPr>
        <p:txBody>
          <a:bodyPr wrap="square" lIns="0" tIns="0" rIns="0" bIns="0" rtlCol="0" anchor="t"/>
          <a:lstStyle/>
          <a:p>
            <a:pPr marL="0" indent="0">
              <a:lnSpc>
                <a:spcPct val="104000"/>
              </a:lnSpc>
              <a:buNone/>
            </a:pPr>
            <a:r>
              <a:rPr lang="en-US" sz="1350" i="1">
                <a:solidFill>
                  <a:srgbClr val="6E6E6E"/>
                </a:solidFill>
                <a:latin typeface="Calibri" pitchFamily="34" charset="0"/>
                <a:ea typeface="Calibri" pitchFamily="34" charset="-122"/>
                <a:cs typeface="Calibri" pitchFamily="34" charset="-120"/>
              </a:rPr>
              <a:t>Cost of one decision as a share of the cycle: 1–16 regions, 2 / 6 / 12-minute cycles</a:t>
            </a:r>
            <a:endParaRPr lang="en-US" sz="1350" dirty="0"/>
          </a:p>
        </p:txBody>
      </p:sp>
      <p:sp>
        <p:nvSpPr>
          <p:cNvPr id="9" name="Text 3"/>
          <p:cNvSpPr/>
          <p:nvPr/>
        </p:nvSpPr>
        <p:spPr>
          <a:xfrm>
            <a:off x="6858000" y="3794760"/>
            <a:ext cx="4892040" cy="2743200"/>
          </a:xfrm>
          <a:prstGeom prst="rect">
            <a:avLst/>
          </a:prstGeom>
          <a:noFill/>
          <a:ln/>
        </p:spPr>
        <p:txBody>
          <a:bodyPr wrap="square" lIns="0" tIns="0" rIns="0" bIns="0" rtlCol="0" anchor="t"/>
          <a:lstStyle/>
          <a:p>
            <a:pPr marL="152400" indent="-152400">
              <a:lnSpc>
                <a:spcPct val="104000"/>
              </a:lnSpc>
              <a:spcAft>
                <a:spcPts val="600"/>
              </a:spcAft>
              <a:buSzPct val="100000"/>
              <a:buChar char="•"/>
            </a:pPr>
            <a:endParaRPr lang="en-US" sz="12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37744"/>
            <a:ext cx="100584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VERDICT : COMPLIANCE</a:t>
            </a:r>
            <a:endParaRPr lang="en-US" sz="1300" dirty="0"/>
          </a:p>
        </p:txBody>
      </p:sp>
      <p:sp>
        <p:nvSpPr>
          <p:cNvPr id="3" name="Text 1"/>
          <p:cNvSpPr/>
          <p:nvPr/>
        </p:nvSpPr>
        <p:spPr>
          <a:xfrm>
            <a:off x="502920" y="493776"/>
            <a:ext cx="11247120" cy="621792"/>
          </a:xfrm>
          <a:prstGeom prst="rect">
            <a:avLst/>
          </a:prstGeom>
          <a:noFill/>
          <a:ln/>
        </p:spPr>
        <p:txBody>
          <a:bodyPr wrap="square" lIns="0" tIns="0" rIns="0" bIns="0" rtlCol="0" anchor="ctr"/>
          <a:lstStyle/>
          <a:p>
            <a:pPr marL="0" indent="0">
              <a:buNone/>
            </a:pPr>
            <a:r>
              <a:rPr lang="en-US" sz="2500" b="1" dirty="0">
                <a:solidFill>
                  <a:srgbClr val="000000"/>
                </a:solidFill>
                <a:latin typeface="Cambria" pitchFamily="34" charset="0"/>
                <a:ea typeface="Cambria" pitchFamily="34" charset="-122"/>
                <a:cs typeface="Cambria" pitchFamily="34" charset="-120"/>
              </a:rPr>
              <a:t>The Rubric Returns : Four Met in Full, Four Bounded</a:t>
            </a:r>
            <a:endParaRPr lang="en-US" sz="2500" dirty="0"/>
          </a:p>
        </p:txBody>
      </p:sp>
      <p:pic>
        <p:nvPicPr>
          <p:cNvPr id="4"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5"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p:graphicFrame>
        <p:nvGraphicFramePr>
          <p:cNvPr id="25" name="Table 0"/>
          <p:cNvGraphicFramePr>
            <a:graphicFrameLocks noGrp="1"/>
          </p:cNvGraphicFramePr>
          <p:nvPr>
            <p:extLst>
              <p:ext uri="{D42A27DB-BD31-4B8C-83A1-F6EECF244321}">
                <p14:modId xmlns:p14="http://schemas.microsoft.com/office/powerpoint/2010/main" val="2404896563"/>
              </p:ext>
            </p:extLst>
          </p:nvPr>
        </p:nvGraphicFramePr>
        <p:xfrm>
          <a:off x="457200" y="1371600"/>
          <a:ext cx="11292840" cy="4773168"/>
        </p:xfrm>
        <a:graphic>
          <a:graphicData uri="http://schemas.openxmlformats.org/drawingml/2006/table">
            <a:tbl>
              <a:tblPr/>
              <a:tblGrid>
                <a:gridCol w="2103120">
                  <a:extLst>
                    <a:ext uri="{9D8B030D-6E8A-4147-A177-3AD203B41FA5}">
                      <a16:colId xmlns:a16="http://schemas.microsoft.com/office/drawing/2014/main" val="20000"/>
                    </a:ext>
                  </a:extLst>
                </a:gridCol>
                <a:gridCol w="502920">
                  <a:extLst>
                    <a:ext uri="{9D8B030D-6E8A-4147-A177-3AD203B41FA5}">
                      <a16:colId xmlns:a16="http://schemas.microsoft.com/office/drawing/2014/main" val="20001"/>
                    </a:ext>
                  </a:extLst>
                </a:gridCol>
                <a:gridCol w="8686800">
                  <a:extLst>
                    <a:ext uri="{9D8B030D-6E8A-4147-A177-3AD203B41FA5}">
                      <a16:colId xmlns:a16="http://schemas.microsoft.com/office/drawing/2014/main" val="20002"/>
                    </a:ext>
                  </a:extLst>
                </a:gridCol>
              </a:tblGrid>
              <a:tr h="530352">
                <a:tc>
                  <a:txBody>
                    <a:bodyPr/>
                    <a:lstStyle/>
                    <a:p>
                      <a:pPr marL="0" indent="0">
                        <a:buNone/>
                      </a:pPr>
                      <a:r>
                        <a:rPr lang="en-US" sz="1300" b="1" dirty="0">
                          <a:solidFill>
                            <a:schemeClr val="bg1"/>
                          </a:solidFill>
                          <a:latin typeface="Calibri" pitchFamily="34" charset="0"/>
                          <a:ea typeface="Calibri" pitchFamily="34" charset="-122"/>
                          <a:cs typeface="Calibri" pitchFamily="34" charset="-120"/>
                        </a:rPr>
                        <a:t>Criterion</a:t>
                      </a:r>
                      <a:endParaRPr lang="en-US" sz="1300" dirty="0">
                        <a:solidFill>
                          <a:schemeClr val="bg1"/>
                        </a:solidFill>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buNone/>
                      </a:pPr>
                      <a:endParaRPr lang="en-US" sz="1300" dirty="0">
                        <a:solidFill>
                          <a:schemeClr val="bg1"/>
                        </a:solidFill>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tc>
                  <a:txBody>
                    <a:bodyPr/>
                    <a:lstStyle/>
                    <a:p>
                      <a:pPr marL="0" indent="0">
                        <a:buNone/>
                      </a:pPr>
                      <a:r>
                        <a:rPr lang="en-US" sz="1300" b="1">
                          <a:solidFill>
                            <a:schemeClr val="bg1"/>
                          </a:solidFill>
                          <a:latin typeface="Calibri" pitchFamily="34" charset="0"/>
                          <a:ea typeface="Calibri" pitchFamily="34" charset="-122"/>
                          <a:cs typeface="Calibri" pitchFamily="34" charset="-120"/>
                        </a:rPr>
                        <a:t>Evidence — and where it stops</a:t>
                      </a:r>
                      <a:endParaRPr lang="en-US" sz="1300" dirty="0">
                        <a:solidFill>
                          <a:schemeClr val="bg1"/>
                        </a:solidFill>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530352">
                <a:tc>
                  <a:txBody>
                    <a:bodyPr/>
                    <a:lstStyle/>
                    <a:p>
                      <a:pPr marL="0" indent="0">
                        <a:buNone/>
                      </a:pPr>
                      <a:r>
                        <a:rPr lang="en-US" sz="1300" b="1" dirty="0">
                          <a:solidFill>
                            <a:srgbClr val="222222"/>
                          </a:solidFill>
                          <a:latin typeface="Calibri" pitchFamily="34" charset="0"/>
                          <a:ea typeface="Calibri" pitchFamily="34" charset="-122"/>
                          <a:cs typeface="Calibri" pitchFamily="34" charset="-120"/>
                        </a:rPr>
                        <a:t>Predictive fidelity</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300" b="1" dirty="0">
                          <a:solidFill>
                            <a:srgbClr val="3E7C4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a:solidFill>
                            <a:srgbClr val="222222"/>
                          </a:solidFill>
                          <a:latin typeface="Calibri" pitchFamily="34" charset="0"/>
                          <a:ea typeface="Calibri" pitchFamily="34" charset="-122"/>
                          <a:cs typeface="Calibri" pitchFamily="34" charset="-120"/>
                        </a:rPr>
                        <a:t>four blind hindcasts: 86–94 % overall, POD 85–97 %; area overpredicted by design</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1"/>
                  </a:ext>
                </a:extLst>
              </a:tr>
              <a:tr h="530352">
                <a:tc>
                  <a:txBody>
                    <a:bodyPr/>
                    <a:lstStyle/>
                    <a:p>
                      <a:pPr marL="0" indent="0">
                        <a:buNone/>
                      </a:pPr>
                      <a:r>
                        <a:rPr lang="en-US" sz="1300" b="1" dirty="0">
                          <a:solidFill>
                            <a:srgbClr val="222222"/>
                          </a:solidFill>
                          <a:latin typeface="Calibri" pitchFamily="34" charset="0"/>
                          <a:ea typeface="Calibri" pitchFamily="34" charset="-122"/>
                          <a:cs typeface="Calibri" pitchFamily="34" charset="-120"/>
                        </a:rPr>
                        <a:t>Timeliness</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300" b="1" dirty="0">
                          <a:solidFill>
                            <a:srgbClr val="3E7C4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a:solidFill>
                            <a:srgbClr val="222222"/>
                          </a:solidFill>
                          <a:latin typeface="Calibri" pitchFamily="34" charset="0"/>
                          <a:ea typeface="Calibri" pitchFamily="34" charset="-122"/>
                          <a:cs typeface="Calibri" pitchFamily="34" charset="-120"/>
                        </a:rPr>
                        <a:t>median 274 ms vs a 12-min cycle; first offensive order at 2 min in all worlds</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2"/>
                  </a:ext>
                </a:extLst>
              </a:tr>
              <a:tr h="530352">
                <a:tc>
                  <a:txBody>
                    <a:bodyPr/>
                    <a:lstStyle/>
                    <a:p>
                      <a:pPr marL="0" indent="0">
                        <a:buNone/>
                      </a:pPr>
                      <a:r>
                        <a:rPr lang="en-US" sz="1300" b="1" dirty="0">
                          <a:solidFill>
                            <a:srgbClr val="222222"/>
                          </a:solidFill>
                          <a:latin typeface="Calibri" pitchFamily="34" charset="0"/>
                          <a:ea typeface="Calibri" pitchFamily="34" charset="-122"/>
                          <a:cs typeface="Calibri" pitchFamily="34" charset="-120"/>
                        </a:rPr>
                        <a:t>Adaptability</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300" b="1" dirty="0">
                          <a:solidFill>
                            <a:srgbClr val="3E7C4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a:solidFill>
                            <a:srgbClr val="222222"/>
                          </a:solidFill>
                          <a:latin typeface="Calibri" pitchFamily="34" charset="0"/>
                          <a:ea typeface="Calibri" pitchFamily="34" charset="-122"/>
                          <a:cs typeface="Calibri" pitchFamily="34" charset="-120"/>
                        </a:rPr>
                        <a:t>① 129/616 · ② 40/359 · ③ 7 macros + 1 concept, each with a logged birth</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3"/>
                  </a:ext>
                </a:extLst>
              </a:tr>
              <a:tr h="530352">
                <a:tc>
                  <a:txBody>
                    <a:bodyPr/>
                    <a:lstStyle/>
                    <a:p>
                      <a:pPr marL="0" indent="0">
                        <a:buNone/>
                      </a:pPr>
                      <a:r>
                        <a:rPr lang="en-US" sz="1300" b="1" dirty="0">
                          <a:solidFill>
                            <a:srgbClr val="222222"/>
                          </a:solidFill>
                          <a:latin typeface="Calibri" pitchFamily="34" charset="0"/>
                          <a:ea typeface="Calibri" pitchFamily="34" charset="-122"/>
                          <a:cs typeface="Calibri" pitchFamily="34" charset="-120"/>
                        </a:rPr>
                        <a:t>Scalability</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300" b="1" dirty="0">
                          <a:solidFill>
                            <a:srgbClr val="3E7C4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a:solidFill>
                            <a:srgbClr val="222222"/>
                          </a:solidFill>
                          <a:latin typeface="Calibri" pitchFamily="34" charset="0"/>
                          <a:ea typeface="Calibri" pitchFamily="34" charset="-122"/>
                          <a:cs typeface="Calibri" pitchFamily="34" charset="-120"/>
                        </a:rPr>
                        <a:t>0.02–0.16 % of the cycle; ×16 agents → ×1.16–1.29; cost follows cells, not agents</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4"/>
                  </a:ext>
                </a:extLst>
              </a:tr>
              <a:tr h="530352">
                <a:tc>
                  <a:txBody>
                    <a:bodyPr/>
                    <a:lstStyle/>
                    <a:p>
                      <a:pPr marL="0" indent="0">
                        <a:buNone/>
                      </a:pPr>
                      <a:r>
                        <a:rPr lang="en-US" sz="1300" b="1" dirty="0">
                          <a:solidFill>
                            <a:srgbClr val="222222"/>
                          </a:solidFill>
                          <a:latin typeface="Calibri" pitchFamily="34" charset="0"/>
                          <a:ea typeface="Calibri" pitchFamily="34" charset="-122"/>
                          <a:cs typeface="Calibri" pitchFamily="34" charset="-120"/>
                        </a:rPr>
                        <a:t>Decision quality</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300" b="1" dirty="0">
                          <a:solidFill>
                            <a:schemeClr val="accent6">
                              <a:lumMod val="50000"/>
                            </a:schemeClr>
                          </a:solidFill>
                          <a:latin typeface="Calibri" pitchFamily="34" charset="0"/>
                          <a:ea typeface="Calibri" pitchFamily="34" charset="-122"/>
                          <a:cs typeface="Calibri" pitchFamily="34" charset="-120"/>
                        </a:rPr>
                        <a:t>◐</a:t>
                      </a:r>
                      <a:endParaRPr lang="en-US" sz="1300" dirty="0">
                        <a:solidFill>
                          <a:schemeClr val="accent6">
                            <a:lumMod val="50000"/>
                          </a:schemeClr>
                        </a:solidFill>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a:solidFill>
                            <a:srgbClr val="222222"/>
                          </a:solidFill>
                          <a:latin typeface="Calibri" pitchFamily="34" charset="0"/>
                          <a:ea typeface="Calibri" pitchFamily="34" charset="-122"/>
                          <a:cs typeface="Calibri" pitchFamily="34" charset="-120"/>
                        </a:rPr>
                        <a:t>220 → 39 ha (−82 %), physical cost 0.506 → 0.090 — no external baseline beyond no action</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5"/>
                  </a:ext>
                </a:extLst>
              </a:tr>
              <a:tr h="530352">
                <a:tc>
                  <a:txBody>
                    <a:bodyPr/>
                    <a:lstStyle/>
                    <a:p>
                      <a:pPr marL="0" indent="0">
                        <a:buNone/>
                      </a:pPr>
                      <a:r>
                        <a:rPr lang="en-US" sz="1300" b="1" dirty="0">
                          <a:solidFill>
                            <a:srgbClr val="222222"/>
                          </a:solidFill>
                          <a:latin typeface="Calibri" pitchFamily="34" charset="0"/>
                          <a:ea typeface="Calibri" pitchFamily="34" charset="-122"/>
                          <a:cs typeface="Calibri" pitchFamily="34" charset="-120"/>
                        </a:rPr>
                        <a:t>Robustness</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300" b="1" dirty="0">
                          <a:solidFill>
                            <a:schemeClr val="accent6">
                              <a:lumMod val="50000"/>
                            </a:schemeClr>
                          </a:solidFill>
                          <a:latin typeface="Calibri" pitchFamily="34" charset="0"/>
                          <a:ea typeface="Calibri" pitchFamily="34" charset="-122"/>
                          <a:cs typeface="Calibri" pitchFamily="34" charset="-120"/>
                        </a:rPr>
                        <a:t>◐</a:t>
                      </a:r>
                      <a:endParaRPr lang="en-US" sz="1300" dirty="0">
                        <a:solidFill>
                          <a:schemeClr val="accent6">
                            <a:lumMod val="50000"/>
                          </a:schemeClr>
                        </a:solidFill>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a:solidFill>
                            <a:srgbClr val="222222"/>
                          </a:solidFill>
                          <a:latin typeface="Calibri" pitchFamily="34" charset="0"/>
                          <a:ea typeface="Calibri" pitchFamily="34" charset="-122"/>
                          <a:cs typeface="Calibri" pitchFamily="34" charset="-120"/>
                        </a:rPr>
                        <a:t>S5: +10 % burned area, still best of four — noise and comms failure untested</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6"/>
                  </a:ext>
                </a:extLst>
              </a:tr>
              <a:tr h="530352">
                <a:tc>
                  <a:txBody>
                    <a:bodyPr/>
                    <a:lstStyle/>
                    <a:p>
                      <a:pPr marL="0" indent="0">
                        <a:buNone/>
                      </a:pPr>
                      <a:r>
                        <a:rPr lang="en-US" sz="1300" b="1" dirty="0">
                          <a:solidFill>
                            <a:srgbClr val="222222"/>
                          </a:solidFill>
                          <a:latin typeface="Calibri" pitchFamily="34" charset="0"/>
                          <a:ea typeface="Calibri" pitchFamily="34" charset="-122"/>
                          <a:cs typeface="Calibri" pitchFamily="34" charset="-120"/>
                        </a:rPr>
                        <a:t>Uncertainty handling</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300" b="1" dirty="0">
                          <a:solidFill>
                            <a:schemeClr val="accent6">
                              <a:lumMod val="50000"/>
                            </a:schemeClr>
                          </a:solidFill>
                          <a:latin typeface="Calibri" pitchFamily="34" charset="0"/>
                          <a:ea typeface="Calibri" pitchFamily="34" charset="-122"/>
                          <a:cs typeface="Calibri" pitchFamily="34" charset="-120"/>
                        </a:rPr>
                        <a:t>◐</a:t>
                      </a:r>
                      <a:endParaRPr lang="en-US" sz="1300" dirty="0">
                        <a:solidFill>
                          <a:schemeClr val="accent6">
                            <a:lumMod val="50000"/>
                          </a:schemeClr>
                        </a:solidFill>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a:solidFill>
                            <a:srgbClr val="222222"/>
                          </a:solidFill>
                          <a:latin typeface="Calibri" pitchFamily="34" charset="0"/>
                          <a:ea typeface="Calibri" pitchFamily="34" charset="-122"/>
                          <a:cs typeface="Calibri" pitchFamily="34" charset="-120"/>
                        </a:rPr>
                        <a:t>every feature carries a gating confidence — ensemble weather/fuel propagation not run</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7"/>
                  </a:ext>
                </a:extLst>
              </a:tr>
              <a:tr h="530352">
                <a:tc>
                  <a:txBody>
                    <a:bodyPr/>
                    <a:lstStyle/>
                    <a:p>
                      <a:pPr marL="0" indent="0">
                        <a:buNone/>
                      </a:pPr>
                      <a:r>
                        <a:rPr lang="en-US" sz="1300" b="1" dirty="0">
                          <a:solidFill>
                            <a:srgbClr val="222222"/>
                          </a:solidFill>
                          <a:latin typeface="Calibri" pitchFamily="34" charset="0"/>
                          <a:ea typeface="Calibri" pitchFamily="34" charset="-122"/>
                          <a:cs typeface="Calibri" pitchFamily="34" charset="-120"/>
                        </a:rPr>
                        <a:t>Explainability</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lgn="ctr">
                        <a:buNone/>
                      </a:pPr>
                      <a:r>
                        <a:rPr lang="en-US" sz="1300" b="1" dirty="0">
                          <a:solidFill>
                            <a:schemeClr val="accent6">
                              <a:lumMod val="50000"/>
                            </a:schemeClr>
                          </a:solidFill>
                          <a:latin typeface="Calibri" pitchFamily="34" charset="0"/>
                          <a:ea typeface="Calibri" pitchFamily="34" charset="-122"/>
                          <a:cs typeface="Calibri" pitchFamily="34" charset="-120"/>
                        </a:rPr>
                        <a:t>◐</a:t>
                      </a:r>
                      <a:endParaRPr lang="en-US" sz="1300" dirty="0">
                        <a:solidFill>
                          <a:schemeClr val="accent6">
                            <a:lumMod val="50000"/>
                          </a:schemeClr>
                        </a:solidFill>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tc>
                  <a:txBody>
                    <a:bodyPr/>
                    <a:lstStyle/>
                    <a:p>
                      <a:pPr marL="0" indent="0">
                        <a:buNone/>
                      </a:pPr>
                      <a:r>
                        <a:rPr lang="en-US" sz="1300">
                          <a:solidFill>
                            <a:srgbClr val="222222"/>
                          </a:solidFill>
                          <a:latin typeface="Calibri" pitchFamily="34" charset="0"/>
                          <a:ea typeface="Calibri" pitchFamily="34" charset="-122"/>
                          <a:cs typeface="Calibri" pitchFamily="34" charset="-120"/>
                        </a:rPr>
                        <a:t>every edit, rejection, object logged — operator-side interpretability not evaluated</a:t>
                      </a:r>
                      <a:endParaRPr lang="en-US" sz="1300" dirty="0">
                        <a:latin typeface="Calibri" charset="0"/>
                        <a:ea typeface="Calibri" charset="0"/>
                        <a:cs typeface="Calibri" charset="0"/>
                      </a:endParaRPr>
                    </a:p>
                  </a:txBody>
                  <a:tcPr marL="45720" marR="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7" name="Text 2"/>
          <p:cNvSpPr/>
          <p:nvPr/>
        </p:nvSpPr>
        <p:spPr>
          <a:xfrm>
            <a:off x="457200" y="6172200"/>
            <a:ext cx="11292840" cy="365760"/>
          </a:xfrm>
          <a:prstGeom prst="rect">
            <a:avLst/>
          </a:prstGeom>
          <a:noFill/>
          <a:ln/>
        </p:spPr>
        <p:txBody>
          <a:bodyPr wrap="square" lIns="0" tIns="0" rIns="0" bIns="0" rtlCol="0" anchor="t"/>
          <a:lstStyle/>
          <a:p>
            <a:pPr marL="0" indent="0">
              <a:lnSpc>
                <a:spcPct val="104000"/>
              </a:lnSpc>
              <a:buNone/>
            </a:pPr>
            <a:r>
              <a:rPr lang="en-US" sz="1350" b="1" i="1">
                <a:solidFill>
                  <a:srgbClr val="E31836"/>
                </a:solidFill>
                <a:latin typeface="Calibri" pitchFamily="34" charset="0"/>
                <a:ea typeface="Calibri" pitchFamily="34" charset="-122"/>
                <a:cs typeface="Calibri" pitchFamily="34" charset="-120"/>
              </a:rPr>
              <a:t>A rubric that reports only its successes carries no information — the four bounded criteria are stated here</a:t>
            </a:r>
            <a:endParaRPr lang="en-US" sz="13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tx1">
            <a:lumMod val="65000"/>
            <a:lumOff val="35000"/>
          </a:schemeClr>
        </a:solidFill>
        <a:effectLst/>
      </p:bgPr>
    </p:bg>
    <p:spTree>
      <p:nvGrpSpPr>
        <p:cNvPr id="1" name=""/>
        <p:cNvGrpSpPr/>
        <p:nvPr/>
      </p:nvGrpSpPr>
      <p:grpSpPr>
        <a:xfrm>
          <a:off x="0" y="0"/>
          <a:ext cx="0" cy="0"/>
          <a:chOff x="0" y="0"/>
          <a:chExt cx="0" cy="0"/>
        </a:xfrm>
      </p:grpSpPr>
      <p:sp>
        <p:nvSpPr>
          <p:cNvPr id="3" name="Text 1"/>
          <p:cNvSpPr/>
          <p:nvPr/>
        </p:nvSpPr>
        <p:spPr>
          <a:xfrm>
            <a:off x="822960" y="2606040"/>
            <a:ext cx="10607040" cy="914400"/>
          </a:xfrm>
          <a:prstGeom prst="rect">
            <a:avLst/>
          </a:prstGeom>
          <a:noFill/>
          <a:ln/>
        </p:spPr>
        <p:txBody>
          <a:bodyPr wrap="square" lIns="0" tIns="0" rIns="0" bIns="0" rtlCol="0" anchor="ctr"/>
          <a:lstStyle/>
          <a:p>
            <a:pPr marL="0" indent="0">
              <a:buNone/>
            </a:pPr>
            <a:r>
              <a:rPr lang="tr-TR" sz="4800" b="1" dirty="0" err="1">
                <a:solidFill>
                  <a:srgbClr val="FFFFFF"/>
                </a:solidFill>
                <a:latin typeface="Cambria" pitchFamily="34" charset="0"/>
                <a:ea typeface="Cambria" pitchFamily="34" charset="-122"/>
                <a:cs typeface="Cambria" pitchFamily="34" charset="-120"/>
              </a:rPr>
              <a:t>Conclusion</a:t>
            </a:r>
            <a:r>
              <a:rPr lang="tr-TR" sz="4800" b="1" dirty="0">
                <a:solidFill>
                  <a:srgbClr val="FFFFFF"/>
                </a:solidFill>
                <a:latin typeface="Cambria" pitchFamily="34" charset="0"/>
                <a:ea typeface="Cambria" pitchFamily="34" charset="-122"/>
                <a:cs typeface="Cambria" pitchFamily="34" charset="-120"/>
              </a:rPr>
              <a:t> &amp; </a:t>
            </a:r>
            <a:r>
              <a:rPr lang="tr-TR" sz="4800" b="1" dirty="0" err="1">
                <a:solidFill>
                  <a:srgbClr val="FFFFFF"/>
                </a:solidFill>
                <a:latin typeface="Cambria" pitchFamily="34" charset="0"/>
                <a:ea typeface="Cambria" pitchFamily="34" charset="-122"/>
                <a:cs typeface="Cambria" pitchFamily="34" charset="-120"/>
              </a:rPr>
              <a:t>Future</a:t>
            </a:r>
            <a:r>
              <a:rPr lang="tr-TR" sz="4800" b="1" dirty="0">
                <a:solidFill>
                  <a:srgbClr val="FFFFFF"/>
                </a:solidFill>
                <a:latin typeface="Cambria" pitchFamily="34" charset="0"/>
                <a:ea typeface="Cambria" pitchFamily="34" charset="-122"/>
                <a:cs typeface="Cambria" pitchFamily="34" charset="-120"/>
              </a:rPr>
              <a:t> </a:t>
            </a:r>
            <a:r>
              <a:rPr lang="tr-TR" sz="4800" b="1" dirty="0" err="1">
                <a:solidFill>
                  <a:srgbClr val="FFFFFF"/>
                </a:solidFill>
                <a:latin typeface="Cambria" pitchFamily="34" charset="0"/>
                <a:ea typeface="Cambria" pitchFamily="34" charset="-122"/>
                <a:cs typeface="Cambria" pitchFamily="34" charset="-120"/>
              </a:rPr>
              <a:t>Work</a:t>
            </a:r>
            <a:endParaRPr lang="en-US" sz="4800" dirty="0"/>
          </a:p>
        </p:txBody>
      </p:sp>
      <p:pic>
        <p:nvPicPr>
          <p:cNvPr id="5"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6"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p:spTree>
    <p:extLst>
      <p:ext uri="{BB962C8B-B14F-4D97-AF65-F5344CB8AC3E}">
        <p14:creationId xmlns:p14="http://schemas.microsoft.com/office/powerpoint/2010/main" val="22591727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37744"/>
            <a:ext cx="100584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CONCLUSIONS</a:t>
            </a:r>
            <a:endParaRPr lang="en-US" sz="1300" dirty="0"/>
          </a:p>
        </p:txBody>
      </p:sp>
      <p:sp>
        <p:nvSpPr>
          <p:cNvPr id="3" name="Text 1"/>
          <p:cNvSpPr/>
          <p:nvPr/>
        </p:nvSpPr>
        <p:spPr>
          <a:xfrm>
            <a:off x="502920" y="493776"/>
            <a:ext cx="11247120" cy="621792"/>
          </a:xfrm>
          <a:prstGeom prst="rect">
            <a:avLst/>
          </a:prstGeom>
          <a:noFill/>
          <a:ln/>
        </p:spPr>
        <p:txBody>
          <a:bodyPr wrap="square" lIns="0" tIns="0" rIns="0" bIns="0" rtlCol="0" anchor="ctr"/>
          <a:lstStyle/>
          <a:p>
            <a:pPr marL="0" indent="0">
              <a:buNone/>
            </a:pPr>
            <a:r>
              <a:rPr lang="en-US" sz="2500" b="1" dirty="0">
                <a:solidFill>
                  <a:srgbClr val="000000"/>
                </a:solidFill>
                <a:latin typeface="Cambria" pitchFamily="34" charset="0"/>
                <a:ea typeface="Cambria" pitchFamily="34" charset="-122"/>
                <a:cs typeface="Cambria" pitchFamily="34" charset="-120"/>
              </a:rPr>
              <a:t>Contributions : What Was Claimed, and What Delivered It</a:t>
            </a:r>
            <a:endParaRPr lang="en-US" sz="2500" dirty="0"/>
          </a:p>
        </p:txBody>
      </p:sp>
      <p:pic>
        <p:nvPicPr>
          <p:cNvPr id="4"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5"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p:sp>
        <p:nvSpPr>
          <p:cNvPr id="8501" name="Box C1 · T"/>
          <p:cNvSpPr/>
          <p:nvPr/>
        </p:nvSpPr>
        <p:spPr>
          <a:xfrm>
            <a:off x="457200" y="1280160"/>
            <a:ext cx="11292840" cy="1572768"/>
          </a:xfrm>
          <a:prstGeom prst="roundRect">
            <a:avLst>
              <a:gd name="adj" fmla="val 4000"/>
            </a:avLst>
          </a:prstGeom>
          <a:solidFill>
            <a:srgbClr val="F2F2F2"/>
          </a:solidFill>
          <a:ln>
            <a:noFill/>
          </a:ln>
        </p:spPr>
        <p:txBody>
          <a:bodyPr/>
          <a:lstStyle/>
          <a:p>
            <a:endParaRPr lang="en-US" sz="2000"/>
          </a:p>
        </p:txBody>
      </p:sp>
      <p:sp>
        <p:nvSpPr>
          <p:cNvPr id="8502" name="H C1 · T"/>
          <p:cNvSpPr/>
          <p:nvPr/>
        </p:nvSpPr>
        <p:spPr>
          <a:xfrm>
            <a:off x="658368" y="1371600"/>
            <a:ext cx="10881360" cy="274320"/>
          </a:xfrm>
          <a:prstGeom prst="rect">
            <a:avLst/>
          </a:prstGeom>
          <a:noFill/>
          <a:ln/>
        </p:spPr>
        <p:txBody>
          <a:bodyPr wrap="square" lIns="0" tIns="0" rIns="0" bIns="0" rtlCol="0" anchor="t"/>
          <a:lstStyle/>
          <a:p>
            <a:pPr marL="0" indent="0">
              <a:lnSpc>
                <a:spcPct val="102000"/>
              </a:lnSpc>
              <a:spcAft>
                <a:spcPts val="0"/>
              </a:spcAft>
              <a:buNone/>
            </a:pPr>
            <a:r>
              <a:rPr lang="en-US" sz="1600" b="1" i="0" dirty="0">
                <a:solidFill>
                  <a:srgbClr val="E31836"/>
                </a:solidFill>
                <a:latin typeface="Calibri" pitchFamily="34" charset="0"/>
                <a:ea typeface="Calibri" pitchFamily="34" charset="-122"/>
                <a:cs typeface="Calibri" pitchFamily="34" charset="-120"/>
              </a:rPr>
              <a:t>C1 · The open, concept-driven decision space </a:t>
            </a:r>
            <a:r>
              <a:rPr lang="en-US" sz="1600" b="0" i="1" dirty="0">
                <a:solidFill>
                  <a:srgbClr val="6E6E6E"/>
                </a:solidFill>
                <a:latin typeface="Calibri" pitchFamily="34" charset="0"/>
                <a:ea typeface="Calibri" pitchFamily="34" charset="-122"/>
                <a:cs typeface="Calibri" pitchFamily="34" charset="-120"/>
              </a:rPr>
              <a:t>(answers G1, carries H1)</a:t>
            </a:r>
            <a:endParaRPr lang="en-US" sz="1600" dirty="0"/>
          </a:p>
        </p:txBody>
      </p:sp>
      <p:sp>
        <p:nvSpPr>
          <p:cNvPr id="8503" name="T C1 · T"/>
          <p:cNvSpPr/>
          <p:nvPr/>
        </p:nvSpPr>
        <p:spPr>
          <a:xfrm>
            <a:off x="658368" y="1719072"/>
            <a:ext cx="10881360" cy="1051560"/>
          </a:xfrm>
          <a:prstGeom prst="rect">
            <a:avLst/>
          </a:prstGeom>
          <a:noFill/>
          <a:ln/>
        </p:spPr>
        <p:txBody>
          <a:bodyPr wrap="square" lIns="0" tIns="0" rIns="0" bIns="0" rtlCol="0" anchor="t"/>
          <a:lstStyle/>
          <a:p>
            <a:pPr marL="0" indent="0">
              <a:lnSpc>
                <a:spcPct val="102000"/>
              </a:lnSpc>
              <a:spcAft>
                <a:spcPts val="170"/>
              </a:spcAft>
              <a:buNone/>
            </a:pPr>
            <a:r>
              <a:rPr lang="en-US" sz="1500" b="1" i="0">
                <a:solidFill>
                  <a:srgbClr val="222222"/>
                </a:solidFill>
                <a:latin typeface="Calibri" pitchFamily="34" charset="0"/>
                <a:ea typeface="Calibri" pitchFamily="34" charset="-122"/>
                <a:cs typeface="Calibri" pitchFamily="34" charset="-120"/>
              </a:rPr>
              <a:t>Delivered by : </a:t>
            </a:r>
            <a:r>
              <a:rPr lang="en-US" sz="1500" b="0" i="0">
                <a:solidFill>
                  <a:srgbClr val="222222"/>
                </a:solidFill>
                <a:latin typeface="Calibri" pitchFamily="34" charset="0"/>
                <a:ea typeface="Calibri" pitchFamily="34" charset="-122"/>
                <a:cs typeface="Calibri" pitchFamily="34" charset="-120"/>
              </a:rPr>
              <a:t>four-layer agent + three-stage ladder, every change behind the gates</a:t>
            </a:r>
            <a:endParaRPr lang="en-US" sz="1500" dirty="0"/>
          </a:p>
          <a:p>
            <a:pPr marL="0" indent="0">
              <a:lnSpc>
                <a:spcPct val="102000"/>
              </a:lnSpc>
              <a:spcAft>
                <a:spcPts val="0"/>
              </a:spcAft>
              <a:buNone/>
            </a:pPr>
            <a:r>
              <a:rPr lang="en-US" sz="1500" b="1" i="0">
                <a:solidFill>
                  <a:srgbClr val="222222"/>
                </a:solidFill>
                <a:latin typeface="Calibri" pitchFamily="34" charset="0"/>
                <a:ea typeface="Calibri" pitchFamily="34" charset="-122"/>
                <a:cs typeface="Calibri" pitchFamily="34" charset="-120"/>
              </a:rPr>
              <a:t>Shown by : </a:t>
            </a:r>
            <a:r>
              <a:rPr lang="en-US" sz="1500" b="0" i="0">
                <a:solidFill>
                  <a:srgbClr val="222222"/>
                </a:solidFill>
                <a:latin typeface="Calibri" pitchFamily="34" charset="0"/>
                <a:ea typeface="Calibri" pitchFamily="34" charset="-122"/>
                <a:cs typeface="Calibri" pitchFamily="34" charset="-120"/>
              </a:rPr>
              <a:t>5 seed rules → 40 rules, 7 macros, 1 concept, 7 actuators · −82 % burned area · 16× agents ≤ 1.29× cost</a:t>
            </a:r>
            <a:endParaRPr lang="en-US" sz="1500" dirty="0"/>
          </a:p>
        </p:txBody>
      </p:sp>
      <p:sp>
        <p:nvSpPr>
          <p:cNvPr id="8504" name="Box C2 · U"/>
          <p:cNvSpPr/>
          <p:nvPr/>
        </p:nvSpPr>
        <p:spPr>
          <a:xfrm>
            <a:off x="457200" y="2999232"/>
            <a:ext cx="11292840" cy="1572768"/>
          </a:xfrm>
          <a:prstGeom prst="roundRect">
            <a:avLst>
              <a:gd name="adj" fmla="val 4000"/>
            </a:avLst>
          </a:prstGeom>
          <a:solidFill>
            <a:srgbClr val="F2F2F2"/>
          </a:solidFill>
          <a:ln>
            <a:noFill/>
          </a:ln>
        </p:spPr>
        <p:txBody>
          <a:bodyPr/>
          <a:lstStyle/>
          <a:p>
            <a:endParaRPr lang="en-US" sz="2000"/>
          </a:p>
        </p:txBody>
      </p:sp>
      <p:sp>
        <p:nvSpPr>
          <p:cNvPr id="8505" name="H C2 · U"/>
          <p:cNvSpPr/>
          <p:nvPr/>
        </p:nvSpPr>
        <p:spPr>
          <a:xfrm>
            <a:off x="658368" y="3090672"/>
            <a:ext cx="10881360" cy="274320"/>
          </a:xfrm>
          <a:prstGeom prst="rect">
            <a:avLst/>
          </a:prstGeom>
          <a:noFill/>
          <a:ln/>
        </p:spPr>
        <p:txBody>
          <a:bodyPr wrap="square" lIns="0" tIns="0" rIns="0" bIns="0" rtlCol="0" anchor="t"/>
          <a:lstStyle/>
          <a:p>
            <a:pPr marL="0" indent="0">
              <a:lnSpc>
                <a:spcPct val="102000"/>
              </a:lnSpc>
              <a:spcAft>
                <a:spcPts val="0"/>
              </a:spcAft>
              <a:buNone/>
            </a:pPr>
            <a:r>
              <a:rPr lang="en-US" sz="1600" b="1" i="0" dirty="0">
                <a:solidFill>
                  <a:srgbClr val="E31836"/>
                </a:solidFill>
                <a:latin typeface="Calibri" pitchFamily="34" charset="0"/>
                <a:ea typeface="Calibri" pitchFamily="34" charset="-122"/>
                <a:cs typeface="Calibri" pitchFamily="34" charset="-120"/>
              </a:rPr>
              <a:t>C2 · Uncertainty handling with built-in explanation </a:t>
            </a:r>
            <a:r>
              <a:rPr lang="en-US" sz="1600" b="0" i="1" dirty="0">
                <a:solidFill>
                  <a:srgbClr val="6E6E6E"/>
                </a:solidFill>
                <a:latin typeface="Calibri" pitchFamily="34" charset="0"/>
                <a:ea typeface="Calibri" pitchFamily="34" charset="-122"/>
                <a:cs typeface="Calibri" pitchFamily="34" charset="-120"/>
              </a:rPr>
              <a:t>(answers G2, carries H2)</a:t>
            </a:r>
            <a:endParaRPr lang="en-US" sz="1600" dirty="0"/>
          </a:p>
        </p:txBody>
      </p:sp>
      <p:sp>
        <p:nvSpPr>
          <p:cNvPr id="8506" name="T C2 · U"/>
          <p:cNvSpPr/>
          <p:nvPr/>
        </p:nvSpPr>
        <p:spPr>
          <a:xfrm>
            <a:off x="658368" y="3438144"/>
            <a:ext cx="10881360" cy="1051560"/>
          </a:xfrm>
          <a:prstGeom prst="rect">
            <a:avLst/>
          </a:prstGeom>
          <a:noFill/>
          <a:ln/>
        </p:spPr>
        <p:txBody>
          <a:bodyPr wrap="square" lIns="0" tIns="0" rIns="0" bIns="0" rtlCol="0" anchor="t"/>
          <a:lstStyle/>
          <a:p>
            <a:pPr marL="0" indent="0">
              <a:lnSpc>
                <a:spcPct val="102000"/>
              </a:lnSpc>
              <a:spcAft>
                <a:spcPts val="170"/>
              </a:spcAft>
              <a:buNone/>
            </a:pPr>
            <a:r>
              <a:rPr lang="en-US" sz="1500" b="1" i="0">
                <a:solidFill>
                  <a:srgbClr val="222222"/>
                </a:solidFill>
                <a:latin typeface="Calibri" pitchFamily="34" charset="0"/>
                <a:ea typeface="Calibri" pitchFamily="34" charset="-122"/>
                <a:cs typeface="Calibri" pitchFamily="34" charset="-120"/>
              </a:rPr>
              <a:t>Delivered by : </a:t>
            </a:r>
            <a:r>
              <a:rPr lang="en-US" sz="1500" b="0" i="0">
                <a:solidFill>
                  <a:srgbClr val="222222"/>
                </a:solidFill>
                <a:latin typeface="Calibri" pitchFamily="34" charset="0"/>
                <a:ea typeface="Calibri" pitchFamily="34" charset="-122"/>
                <a:cs typeface="Calibri" pitchFamily="34" charset="-120"/>
              </a:rPr>
              <a:t>per-feature confidence gates + complete trace ledger, no after-the-fact attribution</a:t>
            </a:r>
            <a:endParaRPr lang="en-US" sz="1500" dirty="0"/>
          </a:p>
          <a:p>
            <a:pPr marL="0" indent="0">
              <a:lnSpc>
                <a:spcPct val="102000"/>
              </a:lnSpc>
              <a:spcAft>
                <a:spcPts val="0"/>
              </a:spcAft>
              <a:buNone/>
            </a:pPr>
            <a:r>
              <a:rPr lang="en-US" sz="1500" b="1" i="0">
                <a:solidFill>
                  <a:srgbClr val="222222"/>
                </a:solidFill>
                <a:latin typeface="Calibri" pitchFamily="34" charset="0"/>
                <a:ea typeface="Calibri" pitchFamily="34" charset="-122"/>
                <a:cs typeface="Calibri" pitchFamily="34" charset="-120"/>
              </a:rPr>
              <a:t>Shown by : </a:t>
            </a:r>
            <a:r>
              <a:rPr lang="en-US" sz="1500" b="0" i="0">
                <a:solidFill>
                  <a:srgbClr val="222222"/>
                </a:solidFill>
                <a:latin typeface="Calibri" pitchFamily="34" charset="0"/>
                <a:ea typeface="Calibri" pitchFamily="34" charset="-122"/>
                <a:cs typeface="Calibri" pitchFamily="34" charset="-120"/>
              </a:rPr>
              <a:t>every order traces to concepts, rules, confidences · degraded observation: −10 %, still best of four</a:t>
            </a:r>
            <a:endParaRPr lang="en-US" sz="1500" dirty="0"/>
          </a:p>
        </p:txBody>
      </p:sp>
      <p:sp>
        <p:nvSpPr>
          <p:cNvPr id="8507" name="Box C3 · E"/>
          <p:cNvSpPr/>
          <p:nvPr/>
        </p:nvSpPr>
        <p:spPr>
          <a:xfrm>
            <a:off x="457200" y="4718304"/>
            <a:ext cx="11292840" cy="1572768"/>
          </a:xfrm>
          <a:prstGeom prst="roundRect">
            <a:avLst>
              <a:gd name="adj" fmla="val 4000"/>
            </a:avLst>
          </a:prstGeom>
          <a:solidFill>
            <a:srgbClr val="F2F2F2"/>
          </a:solidFill>
          <a:ln>
            <a:noFill/>
          </a:ln>
        </p:spPr>
        <p:txBody>
          <a:bodyPr/>
          <a:lstStyle/>
          <a:p>
            <a:endParaRPr lang="en-US" sz="2000"/>
          </a:p>
        </p:txBody>
      </p:sp>
      <p:sp>
        <p:nvSpPr>
          <p:cNvPr id="8508" name="H C3 · E"/>
          <p:cNvSpPr/>
          <p:nvPr/>
        </p:nvSpPr>
        <p:spPr>
          <a:xfrm>
            <a:off x="658368" y="4809744"/>
            <a:ext cx="10881360" cy="274320"/>
          </a:xfrm>
          <a:prstGeom prst="rect">
            <a:avLst/>
          </a:prstGeom>
          <a:noFill/>
          <a:ln/>
        </p:spPr>
        <p:txBody>
          <a:bodyPr wrap="square" lIns="0" tIns="0" rIns="0" bIns="0" rtlCol="0" anchor="t"/>
          <a:lstStyle/>
          <a:p>
            <a:pPr marL="0" indent="0">
              <a:lnSpc>
                <a:spcPct val="102000"/>
              </a:lnSpc>
              <a:spcAft>
                <a:spcPts val="0"/>
              </a:spcAft>
              <a:buNone/>
            </a:pPr>
            <a:r>
              <a:rPr lang="en-US" sz="1600" b="1" i="0" dirty="0">
                <a:solidFill>
                  <a:srgbClr val="E31836"/>
                </a:solidFill>
                <a:latin typeface="Calibri" pitchFamily="34" charset="0"/>
                <a:ea typeface="Calibri" pitchFamily="34" charset="-122"/>
                <a:cs typeface="Calibri" pitchFamily="34" charset="-120"/>
              </a:rPr>
              <a:t>C3 · End-to-end demonstration over separated cores </a:t>
            </a:r>
            <a:r>
              <a:rPr lang="en-US" sz="1600" b="0" i="1" dirty="0">
                <a:solidFill>
                  <a:srgbClr val="6E6E6E"/>
                </a:solidFill>
                <a:latin typeface="Calibri" pitchFamily="34" charset="0"/>
                <a:ea typeface="Calibri" pitchFamily="34" charset="-122"/>
                <a:cs typeface="Calibri" pitchFamily="34" charset="-120"/>
              </a:rPr>
              <a:t>(answers G3, carries H3)</a:t>
            </a:r>
            <a:endParaRPr lang="en-US" sz="1600" dirty="0"/>
          </a:p>
        </p:txBody>
      </p:sp>
      <p:sp>
        <p:nvSpPr>
          <p:cNvPr id="8509" name="T C3 · E"/>
          <p:cNvSpPr/>
          <p:nvPr/>
        </p:nvSpPr>
        <p:spPr>
          <a:xfrm>
            <a:off x="658368" y="5157216"/>
            <a:ext cx="10881360" cy="1051560"/>
          </a:xfrm>
          <a:prstGeom prst="rect">
            <a:avLst/>
          </a:prstGeom>
          <a:noFill/>
          <a:ln/>
        </p:spPr>
        <p:txBody>
          <a:bodyPr wrap="square" lIns="0" tIns="0" rIns="0" bIns="0" rtlCol="0" anchor="t"/>
          <a:lstStyle/>
          <a:p>
            <a:pPr marL="0" indent="0">
              <a:lnSpc>
                <a:spcPct val="102000"/>
              </a:lnSpc>
              <a:spcAft>
                <a:spcPts val="170"/>
              </a:spcAft>
              <a:buNone/>
            </a:pPr>
            <a:r>
              <a:rPr lang="en-US" sz="1500" b="1" i="0">
                <a:solidFill>
                  <a:srgbClr val="222222"/>
                </a:solidFill>
                <a:latin typeface="Calibri" pitchFamily="34" charset="0"/>
                <a:ea typeface="Calibri" pitchFamily="34" charset="-122"/>
                <a:cs typeface="Calibri" pitchFamily="34" charset="-120"/>
              </a:rPr>
              <a:t>Delivered by : </a:t>
            </a:r>
            <a:r>
              <a:rPr lang="en-US" sz="1500" b="0" i="0">
                <a:solidFill>
                  <a:srgbClr val="222222"/>
                </a:solidFill>
                <a:latin typeface="Calibri" pitchFamily="34" charset="0"/>
                <a:ea typeface="Calibri" pitchFamily="34" charset="-122"/>
                <a:cs typeface="Calibri" pitchFamily="34" charset="-120"/>
              </a:rPr>
              <a:t>simulation core validated first, read by the decision core only through observations</a:t>
            </a:r>
            <a:endParaRPr lang="en-US" sz="1500" dirty="0"/>
          </a:p>
          <a:p>
            <a:pPr marL="0" indent="0">
              <a:lnSpc>
                <a:spcPct val="102000"/>
              </a:lnSpc>
              <a:spcAft>
                <a:spcPts val="0"/>
              </a:spcAft>
              <a:buNone/>
            </a:pPr>
            <a:r>
              <a:rPr lang="en-US" sz="1500" b="1" i="0">
                <a:solidFill>
                  <a:srgbClr val="222222"/>
                </a:solidFill>
                <a:latin typeface="Calibri" pitchFamily="34" charset="0"/>
                <a:ea typeface="Calibri" pitchFamily="34" charset="-122"/>
                <a:cs typeface="Calibri" pitchFamily="34" charset="-120"/>
              </a:rPr>
              <a:t>Shown by : </a:t>
            </a:r>
            <a:r>
              <a:rPr lang="en-US" sz="1500" b="0" i="0">
                <a:solidFill>
                  <a:srgbClr val="222222"/>
                </a:solidFill>
                <a:latin typeface="Calibri" pitchFamily="34" charset="0"/>
                <a:ea typeface="Calibri" pitchFamily="34" charset="-122"/>
                <a:cs typeface="Calibri" pitchFamily="34" charset="-120"/>
              </a:rPr>
              <a:t>86–94 % on four blind hindcasts · 220 → 39 ha · cost 0.506 → 0.090 · 274 ms per decision</a:t>
            </a:r>
            <a:endParaRPr lang="en-US" sz="1500" dirty="0"/>
          </a:p>
        </p:txBody>
      </p:sp>
      <p:sp>
        <p:nvSpPr>
          <p:cNvPr id="8510" name="Bottom"/>
          <p:cNvSpPr/>
          <p:nvPr/>
        </p:nvSpPr>
        <p:spPr>
          <a:xfrm>
            <a:off x="457200" y="6492240"/>
            <a:ext cx="11292840" cy="329184"/>
          </a:xfrm>
          <a:prstGeom prst="rect">
            <a:avLst/>
          </a:prstGeom>
          <a:noFill/>
          <a:ln/>
        </p:spPr>
        <p:txBody>
          <a:bodyPr wrap="square" lIns="0" tIns="0" rIns="0" bIns="0" rtlCol="0" anchor="t"/>
          <a:lstStyle/>
          <a:p>
            <a:pPr marL="0" indent="0">
              <a:lnSpc>
                <a:spcPct val="102000"/>
              </a:lnSpc>
              <a:spcAft>
                <a:spcPts val="0"/>
              </a:spcAft>
              <a:buNone/>
            </a:pPr>
            <a:r>
              <a:rPr lang="en-US" sz="1300" b="1" i="1">
                <a:solidFill>
                  <a:srgbClr val="6E6E6E"/>
                </a:solidFill>
                <a:latin typeface="Calibri" pitchFamily="34" charset="0"/>
                <a:ea typeface="Calibri" pitchFamily="34" charset="-122"/>
                <a:cs typeface="Calibri" pitchFamily="34" charset="-120"/>
              </a:rPr>
              <a:t>Each contribution delivered against a criterion fixed in advance; the remaining limits mark the future work</a:t>
            </a:r>
            <a:endParaRPr lang="en-US" sz="13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37744"/>
            <a:ext cx="10058400" cy="292608"/>
          </a:xfrm>
          <a:prstGeom prst="rect">
            <a:avLst/>
          </a:prstGeom>
          <a:noFill/>
          <a:ln/>
        </p:spPr>
        <p:txBody>
          <a:bodyPr wrap="square" lIns="0" tIns="0" rIns="0" bIns="0" rtlCol="0" anchor="ctr"/>
          <a:lstStyle/>
          <a:p>
            <a:pPr marL="0" indent="0">
              <a:buNone/>
            </a:pPr>
            <a:r>
              <a:rPr lang="en-US" sz="1300" b="1" kern="0" spc="200" dirty="0">
                <a:solidFill>
                  <a:srgbClr val="E31836"/>
                </a:solidFill>
                <a:latin typeface="Calibri" pitchFamily="34" charset="0"/>
                <a:ea typeface="Calibri" pitchFamily="34" charset="-122"/>
                <a:cs typeface="Calibri" pitchFamily="34" charset="-120"/>
              </a:rPr>
              <a:t>FUTURE WORK</a:t>
            </a:r>
            <a:endParaRPr lang="en-US" sz="1300" dirty="0"/>
          </a:p>
        </p:txBody>
      </p:sp>
      <p:sp>
        <p:nvSpPr>
          <p:cNvPr id="3" name="Text 1"/>
          <p:cNvSpPr/>
          <p:nvPr/>
        </p:nvSpPr>
        <p:spPr>
          <a:xfrm>
            <a:off x="502920" y="493776"/>
            <a:ext cx="11247120" cy="621792"/>
          </a:xfrm>
          <a:prstGeom prst="rect">
            <a:avLst/>
          </a:prstGeom>
          <a:noFill/>
          <a:ln/>
        </p:spPr>
        <p:txBody>
          <a:bodyPr wrap="square" lIns="0" tIns="0" rIns="0" bIns="0" rtlCol="0" anchor="ctr"/>
          <a:lstStyle/>
          <a:p>
            <a:pPr marL="0" indent="0">
              <a:buNone/>
            </a:pPr>
            <a:r>
              <a:rPr lang="en-US" sz="2500" b="1" dirty="0">
                <a:solidFill>
                  <a:srgbClr val="000000"/>
                </a:solidFill>
                <a:latin typeface="Cambria" pitchFamily="34" charset="0"/>
                <a:ea typeface="Cambria" pitchFamily="34" charset="-122"/>
                <a:cs typeface="Cambria" pitchFamily="34" charset="-120"/>
              </a:rPr>
              <a:t>Future Work</a:t>
            </a:r>
            <a:endParaRPr lang="en-US" sz="2500" dirty="0"/>
          </a:p>
        </p:txBody>
      </p:sp>
      <p:pic>
        <p:nvPicPr>
          <p:cNvPr id="4"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5"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p:sp>
        <p:nvSpPr>
          <p:cNvPr id="8521" name="Box 1 · "/>
          <p:cNvSpPr/>
          <p:nvPr/>
        </p:nvSpPr>
        <p:spPr>
          <a:xfrm>
            <a:off x="457200" y="1417320"/>
            <a:ext cx="11292840" cy="1078992"/>
          </a:xfrm>
          <a:prstGeom prst="roundRect">
            <a:avLst>
              <a:gd name="adj" fmla="val 4000"/>
            </a:avLst>
          </a:prstGeom>
          <a:solidFill>
            <a:srgbClr val="F2F2F2"/>
          </a:solidFill>
          <a:ln>
            <a:noFill/>
          </a:ln>
        </p:spPr>
        <p:txBody>
          <a:bodyPr/>
          <a:lstStyle/>
          <a:p>
            <a:endParaRPr lang="en-US"/>
          </a:p>
        </p:txBody>
      </p:sp>
      <p:sp>
        <p:nvSpPr>
          <p:cNvPr id="8522" name="H 1 · "/>
          <p:cNvSpPr/>
          <p:nvPr/>
        </p:nvSpPr>
        <p:spPr>
          <a:xfrm>
            <a:off x="658368" y="1508760"/>
            <a:ext cx="10881360" cy="274320"/>
          </a:xfrm>
          <a:prstGeom prst="rect">
            <a:avLst/>
          </a:prstGeom>
          <a:noFill/>
          <a:ln/>
        </p:spPr>
        <p:txBody>
          <a:bodyPr wrap="square" lIns="0" tIns="0" rIns="0" bIns="0" rtlCol="0" anchor="t"/>
          <a:lstStyle/>
          <a:p>
            <a:pPr marL="0" indent="0">
              <a:lnSpc>
                <a:spcPct val="102000"/>
              </a:lnSpc>
              <a:spcAft>
                <a:spcPts val="0"/>
              </a:spcAft>
              <a:buNone/>
            </a:pPr>
            <a:r>
              <a:rPr lang="en-US" sz="1600" b="1" i="0" dirty="0">
                <a:solidFill>
                  <a:srgbClr val="E31836"/>
                </a:solidFill>
                <a:latin typeface="Calibri" pitchFamily="34" charset="0"/>
                <a:ea typeface="Calibri" pitchFamily="34" charset="-122"/>
                <a:cs typeface="Calibri" pitchFamily="34" charset="-120"/>
              </a:rPr>
              <a:t>1 · Operator study</a:t>
            </a:r>
            <a:endParaRPr lang="en-US" sz="1600" dirty="0"/>
          </a:p>
        </p:txBody>
      </p:sp>
      <p:sp>
        <p:nvSpPr>
          <p:cNvPr id="8523" name="B 1 · "/>
          <p:cNvSpPr/>
          <p:nvPr/>
        </p:nvSpPr>
        <p:spPr>
          <a:xfrm>
            <a:off x="658368" y="1837944"/>
            <a:ext cx="10881360" cy="566928"/>
          </a:xfrm>
          <a:prstGeom prst="rect">
            <a:avLst/>
          </a:prstGeom>
          <a:noFill/>
          <a:ln/>
        </p:spPr>
        <p:txBody>
          <a:bodyPr wrap="square" lIns="0" tIns="0" rIns="0" bIns="0" rtlCol="0" anchor="t"/>
          <a:lstStyle/>
          <a:p>
            <a:pPr marL="0" indent="0">
              <a:lnSpc>
                <a:spcPct val="102000"/>
              </a:lnSpc>
              <a:spcAft>
                <a:spcPts val="0"/>
              </a:spcAft>
              <a:buNone/>
            </a:pPr>
            <a:r>
              <a:rPr lang="en-US" sz="1600" b="0" i="0">
                <a:solidFill>
                  <a:srgbClr val="222222"/>
                </a:solidFill>
                <a:latin typeface="Calibri" pitchFamily="34" charset="0"/>
                <a:ea typeface="Calibri" pitchFamily="34" charset="-122"/>
                <a:cs typeface="Calibri" pitchFamily="34" charset="-120"/>
              </a:rPr>
              <a:t>put the trace in front of incident commanders — do they read it, trust it, act on it? tabletop: same incident with / without</a:t>
            </a:r>
            <a:endParaRPr lang="en-US" sz="1600" dirty="0"/>
          </a:p>
        </p:txBody>
      </p:sp>
      <p:sp>
        <p:nvSpPr>
          <p:cNvPr id="8524" name="Box 2 · "/>
          <p:cNvSpPr/>
          <p:nvPr/>
        </p:nvSpPr>
        <p:spPr>
          <a:xfrm>
            <a:off x="457200" y="2660904"/>
            <a:ext cx="11292840" cy="1078992"/>
          </a:xfrm>
          <a:prstGeom prst="roundRect">
            <a:avLst>
              <a:gd name="adj" fmla="val 4000"/>
            </a:avLst>
          </a:prstGeom>
          <a:solidFill>
            <a:srgbClr val="F2F2F2"/>
          </a:solidFill>
          <a:ln>
            <a:noFill/>
          </a:ln>
        </p:spPr>
        <p:txBody>
          <a:bodyPr/>
          <a:lstStyle/>
          <a:p>
            <a:endParaRPr lang="en-US"/>
          </a:p>
        </p:txBody>
      </p:sp>
      <p:sp>
        <p:nvSpPr>
          <p:cNvPr id="8525" name="H 2 · "/>
          <p:cNvSpPr/>
          <p:nvPr/>
        </p:nvSpPr>
        <p:spPr>
          <a:xfrm>
            <a:off x="658368" y="2752344"/>
            <a:ext cx="10881360" cy="274320"/>
          </a:xfrm>
          <a:prstGeom prst="rect">
            <a:avLst/>
          </a:prstGeom>
          <a:noFill/>
          <a:ln/>
        </p:spPr>
        <p:txBody>
          <a:bodyPr wrap="square" lIns="0" tIns="0" rIns="0" bIns="0" rtlCol="0" anchor="t"/>
          <a:lstStyle/>
          <a:p>
            <a:pPr marL="0" indent="0">
              <a:lnSpc>
                <a:spcPct val="102000"/>
              </a:lnSpc>
              <a:spcAft>
                <a:spcPts val="0"/>
              </a:spcAft>
              <a:buNone/>
            </a:pPr>
            <a:r>
              <a:rPr lang="en-US" sz="1600" b="1" i="0">
                <a:solidFill>
                  <a:srgbClr val="E31836"/>
                </a:solidFill>
                <a:latin typeface="Calibri" pitchFamily="34" charset="0"/>
                <a:ea typeface="Calibri" pitchFamily="34" charset="-122"/>
                <a:cs typeface="Calibri" pitchFamily="34" charset="-120"/>
              </a:rPr>
              <a:t>2 · Transfer to other hazards</a:t>
            </a:r>
            <a:endParaRPr lang="en-US" sz="1600" dirty="0"/>
          </a:p>
        </p:txBody>
      </p:sp>
      <p:sp>
        <p:nvSpPr>
          <p:cNvPr id="8526" name="B 2 · "/>
          <p:cNvSpPr/>
          <p:nvPr/>
        </p:nvSpPr>
        <p:spPr>
          <a:xfrm>
            <a:off x="658368" y="3081528"/>
            <a:ext cx="10881360" cy="566928"/>
          </a:xfrm>
          <a:prstGeom prst="rect">
            <a:avLst/>
          </a:prstGeom>
          <a:noFill/>
          <a:ln/>
        </p:spPr>
        <p:txBody>
          <a:bodyPr wrap="square" lIns="0" tIns="0" rIns="0" bIns="0" rtlCol="0" anchor="t"/>
          <a:lstStyle/>
          <a:p>
            <a:pPr marL="0" indent="0">
              <a:lnSpc>
                <a:spcPct val="102000"/>
              </a:lnSpc>
              <a:spcAft>
                <a:spcPts val="0"/>
              </a:spcAft>
              <a:buNone/>
            </a:pPr>
            <a:r>
              <a:rPr lang="en-US" sz="1600" b="0" i="0">
                <a:solidFill>
                  <a:srgbClr val="222222"/>
                </a:solidFill>
                <a:latin typeface="Calibri" pitchFamily="34" charset="0"/>
                <a:ea typeface="Calibri" pitchFamily="34" charset="-122"/>
                <a:cs typeface="Calibri" pitchFamily="34" charset="-120"/>
              </a:rPr>
              <a:t>keep the decision layer, swap the simulation core: floods, plumes, search &amp; rescue; the rewriting cost is itself the result</a:t>
            </a:r>
            <a:endParaRPr lang="en-US" sz="1600" dirty="0"/>
          </a:p>
        </p:txBody>
      </p:sp>
      <p:sp>
        <p:nvSpPr>
          <p:cNvPr id="8527" name="Box 3 · "/>
          <p:cNvSpPr/>
          <p:nvPr/>
        </p:nvSpPr>
        <p:spPr>
          <a:xfrm>
            <a:off x="457200" y="3904488"/>
            <a:ext cx="11292840" cy="1078992"/>
          </a:xfrm>
          <a:prstGeom prst="roundRect">
            <a:avLst>
              <a:gd name="adj" fmla="val 4000"/>
            </a:avLst>
          </a:prstGeom>
          <a:solidFill>
            <a:srgbClr val="F2F2F2"/>
          </a:solidFill>
          <a:ln>
            <a:noFill/>
          </a:ln>
        </p:spPr>
        <p:txBody>
          <a:bodyPr/>
          <a:lstStyle/>
          <a:p>
            <a:endParaRPr lang="en-US"/>
          </a:p>
        </p:txBody>
      </p:sp>
      <p:sp>
        <p:nvSpPr>
          <p:cNvPr id="8528" name="H 3 · "/>
          <p:cNvSpPr/>
          <p:nvPr/>
        </p:nvSpPr>
        <p:spPr>
          <a:xfrm>
            <a:off x="658368" y="3995928"/>
            <a:ext cx="10881360" cy="274320"/>
          </a:xfrm>
          <a:prstGeom prst="rect">
            <a:avLst/>
          </a:prstGeom>
          <a:noFill/>
          <a:ln/>
        </p:spPr>
        <p:txBody>
          <a:bodyPr wrap="square" lIns="0" tIns="0" rIns="0" bIns="0" rtlCol="0" anchor="t"/>
          <a:lstStyle/>
          <a:p>
            <a:pPr marL="0" indent="0">
              <a:lnSpc>
                <a:spcPct val="102000"/>
              </a:lnSpc>
              <a:spcAft>
                <a:spcPts val="0"/>
              </a:spcAft>
              <a:buNone/>
            </a:pPr>
            <a:r>
              <a:rPr lang="en-US" sz="1600" b="1" i="0">
                <a:solidFill>
                  <a:srgbClr val="E31836"/>
                </a:solidFill>
                <a:latin typeface="Calibri" pitchFamily="34" charset="0"/>
                <a:ea typeface="Calibri" pitchFamily="34" charset="-122"/>
                <a:cs typeface="Calibri" pitchFamily="34" charset="-120"/>
              </a:rPr>
              <a:t>3 · Other sectors, other ontologies</a:t>
            </a:r>
            <a:endParaRPr lang="en-US" sz="1600" dirty="0"/>
          </a:p>
        </p:txBody>
      </p:sp>
      <p:sp>
        <p:nvSpPr>
          <p:cNvPr id="8529" name="B 3 · "/>
          <p:cNvSpPr/>
          <p:nvPr/>
        </p:nvSpPr>
        <p:spPr>
          <a:xfrm>
            <a:off x="658368" y="4325112"/>
            <a:ext cx="10881360" cy="566928"/>
          </a:xfrm>
          <a:prstGeom prst="rect">
            <a:avLst/>
          </a:prstGeom>
          <a:noFill/>
          <a:ln/>
        </p:spPr>
        <p:txBody>
          <a:bodyPr wrap="square" lIns="0" tIns="0" rIns="0" bIns="0" rtlCol="0" anchor="t"/>
          <a:lstStyle/>
          <a:p>
            <a:pPr marL="0" indent="0">
              <a:lnSpc>
                <a:spcPct val="102000"/>
              </a:lnSpc>
              <a:spcAft>
                <a:spcPts val="0"/>
              </a:spcAft>
              <a:buNone/>
            </a:pPr>
            <a:r>
              <a:rPr lang="en-US" sz="1600" b="0" i="0">
                <a:solidFill>
                  <a:srgbClr val="222222"/>
                </a:solidFill>
                <a:latin typeface="Calibri" pitchFamily="34" charset="0"/>
                <a:ea typeface="Calibri" pitchFamily="34" charset="-122"/>
                <a:cs typeface="Calibri" pitchFamily="34" charset="-120"/>
              </a:rPr>
              <a:t>keep the machinery, rewrite the vocabulary: features, concepts, interventions and verified effects re-declared for defence, maritime surveillance or industrial safety; gates and fail-safe unchanged</a:t>
            </a:r>
            <a:endParaRPr lang="en-US" sz="1600" dirty="0"/>
          </a:p>
        </p:txBody>
      </p:sp>
      <p:sp>
        <p:nvSpPr>
          <p:cNvPr id="8530" name="Box 4 · "/>
          <p:cNvSpPr/>
          <p:nvPr/>
        </p:nvSpPr>
        <p:spPr>
          <a:xfrm>
            <a:off x="457200" y="5148072"/>
            <a:ext cx="11292840" cy="1078992"/>
          </a:xfrm>
          <a:prstGeom prst="roundRect">
            <a:avLst>
              <a:gd name="adj" fmla="val 4000"/>
            </a:avLst>
          </a:prstGeom>
          <a:solidFill>
            <a:srgbClr val="F2F2F2"/>
          </a:solidFill>
          <a:ln>
            <a:noFill/>
          </a:ln>
        </p:spPr>
        <p:txBody>
          <a:bodyPr/>
          <a:lstStyle/>
          <a:p>
            <a:endParaRPr lang="en-US"/>
          </a:p>
        </p:txBody>
      </p:sp>
      <p:sp>
        <p:nvSpPr>
          <p:cNvPr id="8531" name="H 4 · "/>
          <p:cNvSpPr/>
          <p:nvPr/>
        </p:nvSpPr>
        <p:spPr>
          <a:xfrm>
            <a:off x="658368" y="5239512"/>
            <a:ext cx="10881360" cy="274320"/>
          </a:xfrm>
          <a:prstGeom prst="rect">
            <a:avLst/>
          </a:prstGeom>
          <a:noFill/>
          <a:ln/>
        </p:spPr>
        <p:txBody>
          <a:bodyPr wrap="square" lIns="0" tIns="0" rIns="0" bIns="0" rtlCol="0" anchor="t"/>
          <a:lstStyle/>
          <a:p>
            <a:pPr marL="0" indent="0">
              <a:lnSpc>
                <a:spcPct val="102000"/>
              </a:lnSpc>
              <a:spcAft>
                <a:spcPts val="0"/>
              </a:spcAft>
              <a:buNone/>
            </a:pPr>
            <a:r>
              <a:rPr lang="en-US" sz="1600" b="1" i="0">
                <a:solidFill>
                  <a:srgbClr val="E31836"/>
                </a:solidFill>
                <a:latin typeface="Calibri" pitchFamily="34" charset="0"/>
                <a:ea typeface="Calibri" pitchFamily="34" charset="-122"/>
                <a:cs typeface="Calibri" pitchFamily="34" charset="-120"/>
              </a:rPr>
              <a:t>4 · Incident scale, not map size</a:t>
            </a:r>
            <a:endParaRPr lang="en-US" sz="1600" dirty="0"/>
          </a:p>
        </p:txBody>
      </p:sp>
      <p:sp>
        <p:nvSpPr>
          <p:cNvPr id="8532" name="B 4 · "/>
          <p:cNvSpPr/>
          <p:nvPr/>
        </p:nvSpPr>
        <p:spPr>
          <a:xfrm>
            <a:off x="658368" y="5568696"/>
            <a:ext cx="10881360" cy="566928"/>
          </a:xfrm>
          <a:prstGeom prst="rect">
            <a:avLst/>
          </a:prstGeom>
          <a:noFill/>
          <a:ln/>
        </p:spPr>
        <p:txBody>
          <a:bodyPr wrap="square" lIns="0" tIns="0" rIns="0" bIns="0" rtlCol="0" anchor="t"/>
          <a:lstStyle/>
          <a:p>
            <a:pPr marL="0" indent="0">
              <a:lnSpc>
                <a:spcPct val="102000"/>
              </a:lnSpc>
              <a:spcAft>
                <a:spcPts val="0"/>
              </a:spcAft>
              <a:buNone/>
            </a:pPr>
            <a:r>
              <a:rPr lang="en-US" sz="1600" b="0" i="0">
                <a:solidFill>
                  <a:srgbClr val="222222"/>
                </a:solidFill>
                <a:latin typeface="Calibri" pitchFamily="34" charset="0"/>
                <a:ea typeface="Calibri" pitchFamily="34" charset="-122"/>
                <a:cs typeface="Calibri" pitchFamily="34" charset="-120"/>
              </a:rPr>
              <a:t>hold the agents fixed and grow the incident itself: more cells, more fronts, longer duration; state where the twelve-minute cycle stops sufficing</a:t>
            </a:r>
            <a:endParaRPr lang="en-US" sz="1600" dirty="0"/>
          </a:p>
        </p:txBody>
      </p:sp>
      <p:sp>
        <p:nvSpPr>
          <p:cNvPr id="8533" name="Bottom"/>
          <p:cNvSpPr/>
          <p:nvPr/>
        </p:nvSpPr>
        <p:spPr>
          <a:xfrm>
            <a:off x="457200" y="6446520"/>
            <a:ext cx="11292840" cy="365760"/>
          </a:xfrm>
          <a:prstGeom prst="rect">
            <a:avLst/>
          </a:prstGeom>
          <a:noFill/>
          <a:ln/>
        </p:spPr>
        <p:txBody>
          <a:bodyPr wrap="square" lIns="0" tIns="0" rIns="0" bIns="0" rtlCol="0" anchor="t"/>
          <a:lstStyle/>
          <a:p>
            <a:pPr marL="0" indent="0">
              <a:lnSpc>
                <a:spcPct val="102000"/>
              </a:lnSpc>
              <a:spcAft>
                <a:spcPts val="0"/>
              </a:spcAft>
              <a:buNone/>
            </a:pPr>
            <a:r>
              <a:rPr lang="en-US" sz="1300" b="1" i="1">
                <a:solidFill>
                  <a:srgbClr val="6E6E6E"/>
                </a:solidFill>
                <a:latin typeface="Calibri" pitchFamily="34" charset="0"/>
                <a:ea typeface="Calibri" pitchFamily="34" charset="-122"/>
                <a:cs typeface="Calibri" pitchFamily="34" charset="-120"/>
              </a:rPr>
              <a:t>None requires a change to the decision layer; each extends the evidence around it</a:t>
            </a:r>
            <a:endParaRPr lang="en-US" sz="13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43">
    <p:bg>
      <p:bgPr>
        <a:solidFill>
          <a:schemeClr val="tx1">
            <a:lumMod val="65000"/>
            <a:lumOff val="35000"/>
          </a:schemeClr>
        </a:solidFill>
        <a:effectLst/>
      </p:bgPr>
    </p:bg>
    <p:spTree>
      <p:nvGrpSpPr>
        <p:cNvPr id="1" name=""/>
        <p:cNvGrpSpPr/>
        <p:nvPr/>
      </p:nvGrpSpPr>
      <p:grpSpPr>
        <a:xfrm>
          <a:off x="0" y="0"/>
          <a:ext cx="0" cy="0"/>
          <a:chOff x="0" y="0"/>
          <a:chExt cx="0" cy="0"/>
        </a:xfrm>
      </p:grpSpPr>
      <p:sp>
        <p:nvSpPr>
          <p:cNvPr id="2" name="Text 0"/>
          <p:cNvSpPr/>
          <p:nvPr/>
        </p:nvSpPr>
        <p:spPr>
          <a:xfrm>
            <a:off x="822960" y="1371600"/>
            <a:ext cx="10058400" cy="91440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3" name="Text 1"/>
          <p:cNvSpPr/>
          <p:nvPr/>
        </p:nvSpPr>
        <p:spPr>
          <a:xfrm>
            <a:off x="822960" y="2468880"/>
            <a:ext cx="10515600" cy="548640"/>
          </a:xfrm>
          <a:prstGeom prst="rect">
            <a:avLst/>
          </a:prstGeom>
          <a:noFill/>
          <a:ln/>
        </p:spPr>
        <p:txBody>
          <a:bodyPr wrap="square" lIns="0" tIns="0" rIns="0" bIns="0" rtlCol="0" anchor="ctr"/>
          <a:lstStyle/>
          <a:p>
            <a:pPr marL="0" indent="0">
              <a:buNone/>
            </a:pPr>
            <a:r>
              <a:rPr lang="en-US" sz="2000" i="1" dirty="0">
                <a:solidFill>
                  <a:srgbClr val="D9D9D9"/>
                </a:solidFill>
                <a:latin typeface="Cambria" pitchFamily="34" charset="0"/>
                <a:ea typeface="Cambria" pitchFamily="34" charset="-122"/>
                <a:cs typeface="Cambria" pitchFamily="34" charset="-120"/>
              </a:rPr>
              <a:t>DisasterAware : open where tactics live, closed where physics rules.</a:t>
            </a:r>
            <a:endParaRPr lang="en-US" sz="2000" dirty="0"/>
          </a:p>
        </p:txBody>
      </p:sp>
      <p:sp>
        <p:nvSpPr>
          <p:cNvPr id="4" name="Text 2"/>
          <p:cNvSpPr/>
          <p:nvPr/>
        </p:nvSpPr>
        <p:spPr>
          <a:xfrm>
            <a:off x="822960" y="3566160"/>
            <a:ext cx="7315200" cy="365760"/>
          </a:xfrm>
          <a:prstGeom prst="rect">
            <a:avLst/>
          </a:prstGeom>
          <a:noFill/>
          <a:ln/>
        </p:spPr>
        <p:txBody>
          <a:bodyPr wrap="square" lIns="0" tIns="0" rIns="0" bIns="0" rtlCol="0" anchor="ctr"/>
          <a:lstStyle/>
          <a:p>
            <a:pPr marL="0" indent="0">
              <a:buNone/>
            </a:pPr>
            <a:r>
              <a:rPr lang="en-US" sz="1500" b="1" kern="0" spc="200">
                <a:solidFill>
                  <a:srgbClr val="E31836"/>
                </a:solidFill>
                <a:latin typeface="Calibri" pitchFamily="34" charset="0"/>
                <a:ea typeface="Calibri" pitchFamily="34" charset="-122"/>
                <a:cs typeface="Calibri" pitchFamily="34" charset="-120"/>
              </a:rPr>
              <a:t>With gratitude to the examining and thesis monitoring committees</a:t>
            </a:r>
            <a:endParaRPr lang="en-US" sz="1500" dirty="0"/>
          </a:p>
        </p:txBody>
      </p:sp>
      <p:sp>
        <p:nvSpPr>
          <p:cNvPr id="5" name="Text 3"/>
          <p:cNvSpPr/>
          <p:nvPr/>
        </p:nvSpPr>
        <p:spPr>
          <a:xfrm>
            <a:off x="822960" y="3977640"/>
            <a:ext cx="7772400" cy="1737360"/>
          </a:xfrm>
          <a:prstGeom prst="rect">
            <a:avLst/>
          </a:prstGeom>
          <a:noFill/>
          <a:ln/>
        </p:spPr>
        <p:txBody>
          <a:bodyPr wrap="square" lIns="0" tIns="0" rIns="0" bIns="0" rtlCol="0" anchor="ctr"/>
          <a:lstStyle/>
          <a:p>
            <a:pPr marL="0" indent="0">
              <a:lnSpc>
                <a:spcPct val="125000"/>
              </a:lnSpc>
              <a:buNone/>
            </a:pPr>
            <a:r>
              <a:rPr lang="en-US" sz="1700" dirty="0">
                <a:solidFill>
                  <a:srgbClr val="EDEDED"/>
                </a:solidFill>
                <a:latin typeface="Calibri" pitchFamily="34" charset="0"/>
                <a:ea typeface="Calibri" pitchFamily="34" charset="-122"/>
                <a:cs typeface="Calibri" pitchFamily="34" charset="-120"/>
              </a:rPr>
              <a:t>Prof. Dr. Mehmet Önder Efe  (Committee Chair)
Prof. Dr. Mehmet Kemal Leblebicioğlu  (Supervisor · Thesis Monitoring Committee)
Prof. Dr. Klaus Werner Schmidt
Assoc. Prof. Dr. Ahmet Güneş  (Thesis Monitoring Committee)
Assist. Prof. Dr. Kenan Ahıska  (Thesis Monitoring Committee)</a:t>
            </a:r>
            <a:endParaRPr lang="en-US" sz="1700" dirty="0"/>
          </a:p>
        </p:txBody>
      </p:sp>
      <p:sp>
        <p:nvSpPr>
          <p:cNvPr id="6" name="Text 4"/>
          <p:cNvSpPr/>
          <p:nvPr/>
        </p:nvSpPr>
        <p:spPr>
          <a:xfrm>
            <a:off x="822960" y="6035040"/>
            <a:ext cx="5486400" cy="365760"/>
          </a:xfrm>
          <a:prstGeom prst="rect">
            <a:avLst/>
          </a:prstGeom>
          <a:noFill/>
          <a:ln/>
        </p:spPr>
        <p:txBody>
          <a:bodyPr wrap="square" lIns="0" tIns="0" rIns="0" bIns="0" rtlCol="0" anchor="ctr"/>
          <a:lstStyle/>
          <a:p>
            <a:pPr marL="0" indent="0">
              <a:buNone/>
            </a:pPr>
            <a:r>
              <a:rPr lang="en-US" sz="1700" b="1" dirty="0">
                <a:solidFill>
                  <a:srgbClr val="E31836"/>
                </a:solidFill>
                <a:latin typeface="Calibri" pitchFamily="34" charset="0"/>
                <a:ea typeface="Calibri" pitchFamily="34" charset="-122"/>
                <a:cs typeface="Calibri" pitchFamily="34" charset="-120"/>
              </a:rPr>
              <a:t>Questions welcome.</a:t>
            </a:r>
            <a:endParaRPr lang="en-US" sz="1700" dirty="0"/>
          </a:p>
        </p:txBody>
      </p:sp>
      <p:pic>
        <p:nvPicPr>
          <p:cNvPr id="7" name="Image 0" descr="/tmp/thx/deck/figs/metu_emblem.png"/>
          <p:cNvPicPr>
            <a:picLocks noChangeAspect="1"/>
          </p:cNvPicPr>
          <p:nvPr/>
        </p:nvPicPr>
        <p:blipFill>
          <a:blip r:embed="rId3"/>
          <a:stretch>
            <a:fillRect/>
          </a:stretch>
        </p:blipFill>
        <p:spPr>
          <a:xfrm>
            <a:off x="10716768" y="184607"/>
            <a:ext cx="475488" cy="398882"/>
          </a:xfrm>
          <a:prstGeom prst="rect">
            <a:avLst/>
          </a:prstGeom>
        </p:spPr>
      </p:pic>
      <p:pic>
        <p:nvPicPr>
          <p:cNvPr id="8" name="Image 1" descr="/tmp/thx/deck/figs/eee_logo.png"/>
          <p:cNvPicPr>
            <a:picLocks noChangeAspect="1"/>
          </p:cNvPicPr>
          <p:nvPr/>
        </p:nvPicPr>
        <p:blipFill>
          <a:blip r:embed="rId4"/>
          <a:stretch>
            <a:fillRect/>
          </a:stretch>
        </p:blipFill>
        <p:spPr>
          <a:xfrm>
            <a:off x="11265408" y="186217"/>
            <a:ext cx="475488" cy="39566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501" name="Text 0"/>
          <p:cNvSpPr/>
          <p:nvPr/>
        </p:nvSpPr>
        <p:spPr>
          <a:xfrm>
            <a:off x="502920" y="237744"/>
            <a:ext cx="10058400" cy="292608"/>
          </a:xfrm>
          <a:prstGeom prst="rect">
            <a:avLst/>
          </a:prstGeom>
          <a:noFill/>
          <a:ln/>
        </p:spPr>
        <p:txBody>
          <a:bodyPr wrap="square" lIns="0" tIns="0" rIns="0" bIns="0" rtlCol="0" anchor="ctr"/>
          <a:lstStyle/>
          <a:p>
            <a:pPr marL="0" indent="0">
              <a:buNone/>
            </a:pPr>
            <a:r>
              <a:rPr sz="1300" b="1">
                <a:solidFill>
                  <a:srgbClr val="E31836"/>
                </a:solidFill>
                <a:latin typeface="Calibri"/>
              </a:rPr>
              <a:t>DSS FRAMEWORK : LAYER 4 OF 4</a:t>
            </a:r>
            <a:endParaRPr lang="en-US" sz="1300" dirty="0"/>
          </a:p>
        </p:txBody>
      </p:sp>
      <p:sp>
        <p:nvSpPr>
          <p:cNvPr id="9502" name="Text 1"/>
          <p:cNvSpPr/>
          <p:nvPr/>
        </p:nvSpPr>
        <p:spPr>
          <a:xfrm>
            <a:off x="502920" y="493776"/>
            <a:ext cx="11247120" cy="621792"/>
          </a:xfrm>
          <a:prstGeom prst="rect">
            <a:avLst/>
          </a:prstGeom>
          <a:noFill/>
          <a:ln/>
        </p:spPr>
        <p:txBody>
          <a:bodyPr wrap="square" lIns="0" tIns="0" rIns="0" bIns="0" rtlCol="0" anchor="ctr"/>
          <a:lstStyle/>
          <a:p>
            <a:pPr marL="0" indent="0">
              <a:buNone/>
            </a:pPr>
            <a:r>
              <a:rPr sz="2500" b="1">
                <a:solidFill>
                  <a:srgbClr val="000000"/>
                </a:solidFill>
                <a:latin typeface="Cambria"/>
              </a:rPr>
              <a:t>Stage ③ : How One Proposal Is Actually Produced</a:t>
            </a:r>
            <a:endParaRPr lang="en-US" sz="2500" dirty="0"/>
          </a:p>
        </p:txBody>
      </p:sp>
      <p:pic>
        <p:nvPicPr>
          <p:cNvPr id="9503" name="Image 0" descr="/tmp/thx/deck/figs/metu_emblem.png"/>
          <p:cNvPicPr>
            <a:picLocks noChangeAspect="1"/>
          </p:cNvPicPr>
          <p:nvPr/>
        </p:nvPicPr>
        <p:blipFill>
          <a:blip r:embed="rId2"/>
          <a:stretch>
            <a:fillRect/>
          </a:stretch>
        </p:blipFill>
        <p:spPr>
          <a:xfrm>
            <a:off x="10716768" y="184607"/>
            <a:ext cx="475488" cy="398882"/>
          </a:xfrm>
          <a:prstGeom prst="rect">
            <a:avLst/>
          </a:prstGeom>
        </p:spPr>
      </p:pic>
      <p:pic>
        <p:nvPicPr>
          <p:cNvPr id="9504" name="Image 1" descr="/tmp/thx/deck/figs/eee_logo.png"/>
          <p:cNvPicPr>
            <a:picLocks noChangeAspect="1"/>
          </p:cNvPicPr>
          <p:nvPr/>
        </p:nvPicPr>
        <p:blipFill>
          <a:blip r:embed="rId3"/>
          <a:stretch>
            <a:fillRect/>
          </a:stretch>
        </p:blipFill>
        <p:spPr>
          <a:xfrm>
            <a:off x="11265408" y="186217"/>
            <a:ext cx="475488" cy="395662"/>
          </a:xfrm>
          <a:prstGeom prst="rect">
            <a:avLst/>
          </a:prstGeom>
        </p:spPr>
      </p:pic>
      <p:sp>
        <p:nvSpPr>
          <p:cNvPr id="9505" name="tb"/>
          <p:cNvSpPr txBox="1"/>
          <p:nvPr/>
        </p:nvSpPr>
        <p:spPr>
          <a:xfrm>
            <a:off x="502920" y="1115568"/>
            <a:ext cx="11247120" cy="320040"/>
          </a:xfrm>
          <a:prstGeom prst="rect">
            <a:avLst/>
          </a:prstGeom>
          <a:noFill/>
        </p:spPr>
        <p:txBody>
          <a:bodyPr wrap="square" lIns="45720" rIns="45720" tIns="27432" bIns="27432" anchor="t">
            <a:spAutoFit/>
          </a:bodyPr>
          <a:lstStyle/>
          <a:p>
            <a:pPr algn="l">
              <a:spcAft>
                <a:spcPts val="0"/>
              </a:spcAft>
            </a:pPr>
            <a:r>
              <a:rPr sz="1350" b="1" i="0">
                <a:solidFill>
                  <a:srgbClr val="222222"/>
                </a:solidFill>
                <a:latin typeface="Calibri"/>
              </a:rPr>
              <a:t>The model has no tools. Every tool is on the engine side; the model turns one text into one line of JSON.</a:t>
            </a:r>
          </a:p>
        </p:txBody>
      </p:sp>
      <p:sp>
        <p:nvSpPr>
          <p:cNvPr id="9506" name="Rounded Rectangle 9505"/>
          <p:cNvSpPr/>
          <p:nvPr/>
        </p:nvSpPr>
        <p:spPr>
          <a:xfrm>
            <a:off x="457200" y="1572768"/>
            <a:ext cx="2606040" cy="141732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07" name="tb"/>
          <p:cNvSpPr txBox="1"/>
          <p:nvPr/>
        </p:nvSpPr>
        <p:spPr>
          <a:xfrm>
            <a:off x="530352" y="1618488"/>
            <a:ext cx="2459736" cy="274320"/>
          </a:xfrm>
          <a:prstGeom prst="rect">
            <a:avLst/>
          </a:prstGeom>
          <a:noFill/>
        </p:spPr>
        <p:txBody>
          <a:bodyPr wrap="square" lIns="45720" rIns="45720" tIns="27432" bIns="27432" anchor="t">
            <a:spAutoFit/>
          </a:bodyPr>
          <a:lstStyle/>
          <a:p>
            <a:pPr algn="l">
              <a:spcAft>
                <a:spcPts val="0"/>
              </a:spcAft>
            </a:pPr>
            <a:r>
              <a:rPr sz="1300" b="1" i="0">
                <a:solidFill>
                  <a:srgbClr val="E31836"/>
                </a:solidFill>
                <a:latin typeface="Calibri"/>
              </a:rPr>
              <a:t>1 · Trigger</a:t>
            </a:r>
          </a:p>
        </p:txBody>
      </p:sp>
      <p:sp>
        <p:nvSpPr>
          <p:cNvPr id="9508" name="tb"/>
          <p:cNvSpPr txBox="1"/>
          <p:nvPr/>
        </p:nvSpPr>
        <p:spPr>
          <a:xfrm>
            <a:off x="530352" y="1901952"/>
            <a:ext cx="2459736" cy="1051560"/>
          </a:xfrm>
          <a:prstGeom prst="rect">
            <a:avLst/>
          </a:prstGeom>
          <a:noFill/>
        </p:spPr>
        <p:txBody>
          <a:bodyPr wrap="square" lIns="45720" rIns="45720" tIns="27432" bIns="27432" anchor="t">
            <a:spAutoFit/>
          </a:bodyPr>
          <a:lstStyle/>
          <a:p>
            <a:pPr algn="l">
              <a:spcAft>
                <a:spcPts val="200"/>
              </a:spcAft>
            </a:pPr>
            <a:r>
              <a:rPr sz="1200" b="0" i="0">
                <a:solidFill>
                  <a:srgbClr val="222222"/>
                </a:solidFill>
                <a:latin typeface="Calibri"/>
              </a:rPr>
              <a:t>cost above the bound, or fire alive and no rule fires</a:t>
            </a:r>
          </a:p>
          <a:p>
            <a:pPr algn="l">
              <a:spcAft>
                <a:spcPts val="200"/>
              </a:spcAft>
            </a:pPr>
            <a:r>
              <a:rPr sz="1200" b="0" i="0">
                <a:solidFill>
                  <a:srgbClr val="222222"/>
                </a:solidFill>
                <a:latin typeface="Calibri"/>
              </a:rPr>
              <a:t>the bandit selects ③ after ① and ② earned nothing</a:t>
            </a:r>
          </a:p>
        </p:txBody>
      </p:sp>
      <p:sp>
        <p:nvSpPr>
          <p:cNvPr id="9509" name="Right Arrow 9508"/>
          <p:cNvSpPr/>
          <p:nvPr/>
        </p:nvSpPr>
        <p:spPr>
          <a:xfrm>
            <a:off x="3081528" y="2167128"/>
            <a:ext cx="256032" cy="201168"/>
          </a:xfrm>
          <a:prstGeom prst="right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10" name="Rounded Rectangle 9509"/>
          <p:cNvSpPr/>
          <p:nvPr/>
        </p:nvSpPr>
        <p:spPr>
          <a:xfrm>
            <a:off x="3337560" y="1572768"/>
            <a:ext cx="2606040" cy="141732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11" name="tb"/>
          <p:cNvSpPr txBox="1"/>
          <p:nvPr/>
        </p:nvSpPr>
        <p:spPr>
          <a:xfrm>
            <a:off x="3410712" y="1618488"/>
            <a:ext cx="2459736" cy="274320"/>
          </a:xfrm>
          <a:prstGeom prst="rect">
            <a:avLst/>
          </a:prstGeom>
          <a:noFill/>
        </p:spPr>
        <p:txBody>
          <a:bodyPr wrap="square" lIns="45720" rIns="45720" tIns="27432" bIns="27432" anchor="t">
            <a:spAutoFit/>
          </a:bodyPr>
          <a:lstStyle/>
          <a:p>
            <a:pPr algn="l">
              <a:spcAft>
                <a:spcPts val="0"/>
              </a:spcAft>
            </a:pPr>
            <a:r>
              <a:rPr sz="1300" b="1" i="0">
                <a:solidFill>
                  <a:srgbClr val="E31836"/>
                </a:solidFill>
                <a:latin typeface="Calibri"/>
              </a:rPr>
              <a:t>2 · Situation summary</a:t>
            </a:r>
          </a:p>
        </p:txBody>
      </p:sp>
      <p:sp>
        <p:nvSpPr>
          <p:cNvPr id="9512" name="tb"/>
          <p:cNvSpPr txBox="1"/>
          <p:nvPr/>
        </p:nvSpPr>
        <p:spPr>
          <a:xfrm>
            <a:off x="3410712" y="1901952"/>
            <a:ext cx="2459736" cy="1051560"/>
          </a:xfrm>
          <a:prstGeom prst="rect">
            <a:avLst/>
          </a:prstGeom>
          <a:noFill/>
        </p:spPr>
        <p:txBody>
          <a:bodyPr wrap="square" lIns="45720" rIns="45720" tIns="27432" bIns="27432" anchor="t">
            <a:spAutoFit/>
          </a:bodyPr>
          <a:lstStyle/>
          <a:p>
            <a:pPr algn="l">
              <a:spcAft>
                <a:spcPts val="200"/>
              </a:spcAft>
            </a:pPr>
            <a:r>
              <a:rPr sz="1200" b="0" i="0">
                <a:solidFill>
                  <a:srgbClr val="222222"/>
                </a:solidFill>
                <a:latin typeface="Calibri"/>
              </a:rPr>
              <a:t>crisp concept readings + confidences</a:t>
            </a:r>
          </a:p>
          <a:p>
            <a:pPr algn="l">
              <a:spcAft>
                <a:spcPts val="200"/>
              </a:spcAft>
            </a:pPr>
            <a:r>
              <a:rPr sz="1200" b="0" i="0">
                <a:solidFill>
                  <a:srgbClr val="222222"/>
                </a:solidFill>
                <a:latin typeface="Calibri"/>
              </a:rPr>
              <a:t>cost trajectory · residual cost on the map</a:t>
            </a:r>
          </a:p>
          <a:p>
            <a:pPr algn="l">
              <a:spcAft>
                <a:spcPts val="200"/>
              </a:spcAft>
            </a:pPr>
            <a:r>
              <a:rPr sz="1200" b="0" i="0">
                <a:solidFill>
                  <a:srgbClr val="222222"/>
                </a:solidFill>
                <a:latin typeface="Calibri"/>
              </a:rPr>
              <a:t>pool state · map affordances (water, assets)</a:t>
            </a:r>
          </a:p>
        </p:txBody>
      </p:sp>
      <p:sp>
        <p:nvSpPr>
          <p:cNvPr id="9513" name="Right Arrow 9512"/>
          <p:cNvSpPr/>
          <p:nvPr/>
        </p:nvSpPr>
        <p:spPr>
          <a:xfrm>
            <a:off x="5961888" y="2167128"/>
            <a:ext cx="256032" cy="201168"/>
          </a:xfrm>
          <a:prstGeom prst="right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14" name="Rounded Rectangle 9513"/>
          <p:cNvSpPr/>
          <p:nvPr/>
        </p:nvSpPr>
        <p:spPr>
          <a:xfrm>
            <a:off x="6217920" y="1572768"/>
            <a:ext cx="2606040" cy="141732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15" name="tb"/>
          <p:cNvSpPr txBox="1"/>
          <p:nvPr/>
        </p:nvSpPr>
        <p:spPr>
          <a:xfrm>
            <a:off x="6291072" y="1618488"/>
            <a:ext cx="2459736" cy="274320"/>
          </a:xfrm>
          <a:prstGeom prst="rect">
            <a:avLst/>
          </a:prstGeom>
          <a:noFill/>
        </p:spPr>
        <p:txBody>
          <a:bodyPr wrap="square" lIns="45720" rIns="45720" tIns="27432" bIns="27432" anchor="t">
            <a:spAutoFit/>
          </a:bodyPr>
          <a:lstStyle/>
          <a:p>
            <a:pPr algn="l">
              <a:spcAft>
                <a:spcPts val="0"/>
              </a:spcAft>
            </a:pPr>
            <a:r>
              <a:rPr sz="1300" b="1" i="0">
                <a:solidFill>
                  <a:srgbClr val="E31836"/>
                </a:solidFill>
                <a:latin typeface="Calibri"/>
              </a:rPr>
              <a:t>3 · Chronicle retrieval</a:t>
            </a:r>
          </a:p>
        </p:txBody>
      </p:sp>
      <p:sp>
        <p:nvSpPr>
          <p:cNvPr id="9516" name="tb"/>
          <p:cNvSpPr txBox="1"/>
          <p:nvPr/>
        </p:nvSpPr>
        <p:spPr>
          <a:xfrm>
            <a:off x="6291072" y="1901952"/>
            <a:ext cx="2459736" cy="1051560"/>
          </a:xfrm>
          <a:prstGeom prst="rect">
            <a:avLst/>
          </a:prstGeom>
          <a:noFill/>
        </p:spPr>
        <p:txBody>
          <a:bodyPr wrap="square" lIns="45720" rIns="45720" tIns="27432" bIns="27432" anchor="t">
            <a:spAutoFit/>
          </a:bodyPr>
          <a:lstStyle/>
          <a:p>
            <a:pPr algn="l">
              <a:spcAft>
                <a:spcPts val="200"/>
              </a:spcAft>
            </a:pPr>
            <a:r>
              <a:rPr sz="1200" b="0" i="0">
                <a:solidFill>
                  <a:srgbClr val="222222"/>
                </a:solidFill>
                <a:latin typeface="Calibri"/>
              </a:rPr>
              <a:t>nearest past cycles, each with its verdict</a:t>
            </a:r>
          </a:p>
          <a:p>
            <a:pPr algn="l">
              <a:spcAft>
                <a:spcPts val="200"/>
              </a:spcAft>
            </a:pPr>
            <a:r>
              <a:rPr sz="1200" b="0" i="0">
                <a:solidFill>
                  <a:srgbClr val="222222"/>
                </a:solidFill>
                <a:latin typeface="Calibri"/>
              </a:rPr>
              <a:t>a refused idea is not proposed twice</a:t>
            </a:r>
          </a:p>
        </p:txBody>
      </p:sp>
      <p:sp>
        <p:nvSpPr>
          <p:cNvPr id="9517" name="Right Arrow 9516"/>
          <p:cNvSpPr/>
          <p:nvPr/>
        </p:nvSpPr>
        <p:spPr>
          <a:xfrm>
            <a:off x="8842248" y="2167128"/>
            <a:ext cx="256032" cy="201168"/>
          </a:xfrm>
          <a:prstGeom prst="right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18" name="Rounded Rectangle 9517"/>
          <p:cNvSpPr/>
          <p:nvPr/>
        </p:nvSpPr>
        <p:spPr>
          <a:xfrm>
            <a:off x="9098280" y="1572768"/>
            <a:ext cx="2606040" cy="141732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19" name="tb"/>
          <p:cNvSpPr txBox="1"/>
          <p:nvPr/>
        </p:nvSpPr>
        <p:spPr>
          <a:xfrm>
            <a:off x="9171432" y="1618488"/>
            <a:ext cx="2459736" cy="274320"/>
          </a:xfrm>
          <a:prstGeom prst="rect">
            <a:avLst/>
          </a:prstGeom>
          <a:noFill/>
        </p:spPr>
        <p:txBody>
          <a:bodyPr wrap="square" lIns="45720" rIns="45720" tIns="27432" bIns="27432" anchor="t">
            <a:spAutoFit/>
          </a:bodyPr>
          <a:lstStyle/>
          <a:p>
            <a:pPr algn="l">
              <a:spcAft>
                <a:spcPts val="0"/>
              </a:spcAft>
            </a:pPr>
            <a:r>
              <a:rPr sz="1300" b="1" i="0">
                <a:solidFill>
                  <a:srgbClr val="E31836"/>
                </a:solidFill>
                <a:latin typeface="Calibri"/>
              </a:rPr>
              <a:t>4 · Prompt assembly</a:t>
            </a:r>
          </a:p>
        </p:txBody>
      </p:sp>
      <p:sp>
        <p:nvSpPr>
          <p:cNvPr id="9520" name="tb"/>
          <p:cNvSpPr txBox="1"/>
          <p:nvPr/>
        </p:nvSpPr>
        <p:spPr>
          <a:xfrm>
            <a:off x="9171432" y="1901952"/>
            <a:ext cx="2459736" cy="1051560"/>
          </a:xfrm>
          <a:prstGeom prst="rect">
            <a:avLst/>
          </a:prstGeom>
          <a:noFill/>
        </p:spPr>
        <p:txBody>
          <a:bodyPr wrap="square" lIns="45720" rIns="45720" tIns="27432" bIns="27432" anchor="t">
            <a:spAutoFit/>
          </a:bodyPr>
          <a:lstStyle/>
          <a:p>
            <a:pPr algn="l">
              <a:spcAft>
                <a:spcPts val="200"/>
              </a:spcAft>
            </a:pPr>
            <a:r>
              <a:rPr sz="1200" b="0" i="0">
                <a:solidFill>
                  <a:srgbClr val="222222"/>
                </a:solidFill>
                <a:latin typeface="Calibri"/>
              </a:rPr>
              <a:t>fixed system instruction + standing mission brief</a:t>
            </a:r>
          </a:p>
          <a:p>
            <a:pPr algn="l">
              <a:spcAft>
                <a:spcPts val="200"/>
              </a:spcAft>
            </a:pPr>
            <a:r>
              <a:rPr sz="1200" b="0" i="0">
                <a:solidFill>
                  <a:srgbClr val="222222"/>
                </a:solidFill>
                <a:latin typeface="Calibri"/>
              </a:rPr>
              <a:t>+ situation + complete vocabulary + past cases</a:t>
            </a:r>
          </a:p>
        </p:txBody>
      </p:sp>
      <p:sp>
        <p:nvSpPr>
          <p:cNvPr id="9521" name="Down Arrow 9520"/>
          <p:cNvSpPr/>
          <p:nvPr/>
        </p:nvSpPr>
        <p:spPr>
          <a:xfrm>
            <a:off x="10300716" y="3035808"/>
            <a:ext cx="201168" cy="256032"/>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2" name="Rounded Rectangle 9521"/>
          <p:cNvSpPr/>
          <p:nvPr/>
        </p:nvSpPr>
        <p:spPr>
          <a:xfrm>
            <a:off x="9098280" y="3310128"/>
            <a:ext cx="2606040" cy="1645920"/>
          </a:xfrm>
          <a:prstGeom prst="roundRect">
            <a:avLst>
              <a:gd name="adj" fmla="val 8000"/>
            </a:avLst>
          </a:prstGeom>
          <a:solidFill>
            <a:srgbClr val="FD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23" name="tb"/>
          <p:cNvSpPr txBox="1"/>
          <p:nvPr/>
        </p:nvSpPr>
        <p:spPr>
          <a:xfrm>
            <a:off x="9171432" y="3355848"/>
            <a:ext cx="2459736" cy="274320"/>
          </a:xfrm>
          <a:prstGeom prst="rect">
            <a:avLst/>
          </a:prstGeom>
          <a:noFill/>
        </p:spPr>
        <p:txBody>
          <a:bodyPr wrap="square" lIns="45720" rIns="45720" tIns="27432" bIns="27432" anchor="t">
            <a:spAutoFit/>
          </a:bodyPr>
          <a:lstStyle/>
          <a:p>
            <a:pPr algn="l">
              <a:spcAft>
                <a:spcPts val="0"/>
              </a:spcAft>
            </a:pPr>
            <a:r>
              <a:rPr sz="1300" b="1" i="0">
                <a:solidFill>
                  <a:srgbClr val="E31836"/>
                </a:solidFill>
                <a:latin typeface="Calibri"/>
              </a:rPr>
              <a:t>5 · The model, the only model step</a:t>
            </a:r>
          </a:p>
        </p:txBody>
      </p:sp>
      <p:sp>
        <p:nvSpPr>
          <p:cNvPr id="9524" name="tb"/>
          <p:cNvSpPr txBox="1"/>
          <p:nvPr/>
        </p:nvSpPr>
        <p:spPr>
          <a:xfrm>
            <a:off x="9171432" y="3639312"/>
            <a:ext cx="2459736" cy="1280160"/>
          </a:xfrm>
          <a:prstGeom prst="rect">
            <a:avLst/>
          </a:prstGeom>
          <a:noFill/>
        </p:spPr>
        <p:txBody>
          <a:bodyPr wrap="square" lIns="45720" rIns="45720" tIns="27432" bIns="27432" anchor="t">
            <a:spAutoFit/>
          </a:bodyPr>
          <a:lstStyle/>
          <a:p>
            <a:pPr algn="l">
              <a:spcAft>
                <a:spcPts val="200"/>
              </a:spcAft>
            </a:pPr>
            <a:r>
              <a:rPr sz="1200" b="0" i="0">
                <a:solidFill>
                  <a:srgbClr val="222222"/>
                </a:solidFill>
                <a:latin typeface="Calibri"/>
              </a:rPr>
              <a:t>pretrained, weights frozen, no tools, no fine-tuning</a:t>
            </a:r>
          </a:p>
          <a:p>
            <a:pPr algn="l">
              <a:spcAft>
                <a:spcPts val="200"/>
              </a:spcAft>
            </a:pPr>
            <a:r>
              <a:rPr sz="1200" b="0" i="0">
                <a:solidFill>
                  <a:srgbClr val="222222"/>
                </a:solidFill>
                <a:latin typeface="Calibri"/>
              </a:rPr>
              <a:t>next-token prediction from the prompt</a:t>
            </a:r>
          </a:p>
          <a:p>
            <a:pPr algn="l">
              <a:spcAft>
                <a:spcPts val="200"/>
              </a:spcAft>
            </a:pPr>
            <a:r>
              <a:rPr sz="1200" b="0" i="0">
                <a:solidFill>
                  <a:srgbClr val="222222"/>
                </a:solidFill>
                <a:latin typeface="Calibri"/>
              </a:rPr>
              <a:t>one minified JSON in ≤ 90 s: ≤ 3 IF, ≤ 3 THEN, optionally one new object</a:t>
            </a:r>
          </a:p>
        </p:txBody>
      </p:sp>
      <p:sp>
        <p:nvSpPr>
          <p:cNvPr id="9525" name="Right Arrow 9524"/>
          <p:cNvSpPr/>
          <p:nvPr/>
        </p:nvSpPr>
        <p:spPr>
          <a:xfrm rot="10800000">
            <a:off x="8833103" y="3995928"/>
            <a:ext cx="256032" cy="201168"/>
          </a:xfrm>
          <a:prstGeom prst="right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6" name="Rounded Rectangle 9525"/>
          <p:cNvSpPr/>
          <p:nvPr/>
        </p:nvSpPr>
        <p:spPr>
          <a:xfrm>
            <a:off x="6217920" y="3310128"/>
            <a:ext cx="2606040" cy="164592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27" name="tb"/>
          <p:cNvSpPr txBox="1"/>
          <p:nvPr/>
        </p:nvSpPr>
        <p:spPr>
          <a:xfrm>
            <a:off x="6291072" y="3355848"/>
            <a:ext cx="2459736" cy="274320"/>
          </a:xfrm>
          <a:prstGeom prst="rect">
            <a:avLst/>
          </a:prstGeom>
          <a:noFill/>
        </p:spPr>
        <p:txBody>
          <a:bodyPr wrap="square" lIns="45720" rIns="45720" tIns="27432" bIns="27432" anchor="t">
            <a:spAutoFit/>
          </a:bodyPr>
          <a:lstStyle/>
          <a:p>
            <a:pPr algn="l">
              <a:spcAft>
                <a:spcPts val="0"/>
              </a:spcAft>
            </a:pPr>
            <a:r>
              <a:rPr sz="1300" b="1" i="0">
                <a:solidFill>
                  <a:srgbClr val="E31836"/>
                </a:solidFill>
                <a:latin typeface="Calibri"/>
              </a:rPr>
              <a:t>6 · Free gates G1 G2 G2b G2c G2d</a:t>
            </a:r>
          </a:p>
        </p:txBody>
      </p:sp>
      <p:sp>
        <p:nvSpPr>
          <p:cNvPr id="9528" name="tb"/>
          <p:cNvSpPr txBox="1"/>
          <p:nvPr/>
        </p:nvSpPr>
        <p:spPr>
          <a:xfrm>
            <a:off x="6291072" y="3639312"/>
            <a:ext cx="2459736" cy="1280160"/>
          </a:xfrm>
          <a:prstGeom prst="rect">
            <a:avLst/>
          </a:prstGeom>
          <a:noFill/>
        </p:spPr>
        <p:txBody>
          <a:bodyPr wrap="square" lIns="45720" rIns="45720" tIns="27432" bIns="27432" anchor="t">
            <a:spAutoFit/>
          </a:bodyPr>
          <a:lstStyle/>
          <a:p>
            <a:pPr algn="l">
              <a:spcAft>
                <a:spcPts val="200"/>
              </a:spcAft>
            </a:pPr>
            <a:r>
              <a:rPr sz="1200" b="0" i="0">
                <a:solidFill>
                  <a:srgbClr val="222222"/>
                </a:solidFill>
                <a:latin typeface="Calibri"/>
              </a:rPr>
              <a:t>format · vocabulary · non-redundancy (cosine &lt; 0.95)</a:t>
            </a:r>
          </a:p>
          <a:p>
            <a:pPr algn="l">
              <a:spcAft>
                <a:spcPts val="200"/>
              </a:spcAft>
            </a:pPr>
            <a:r>
              <a:rPr sz="1200" b="0" i="0">
                <a:solidFill>
                  <a:srgbClr val="222222"/>
                </a:solidFill>
                <a:latin typeface="Calibri"/>
              </a:rPr>
              <a:t>relevance (fires now) · pool economy</a:t>
            </a:r>
          </a:p>
          <a:p>
            <a:pPr algn="l">
              <a:spcAft>
                <a:spcPts val="200"/>
              </a:spcAft>
            </a:pPr>
            <a:r>
              <a:rPr sz="1200" b="0" i="0">
                <a:solidFill>
                  <a:srgbClr val="222222"/>
                </a:solidFill>
                <a:latin typeface="Calibri"/>
              </a:rPr>
              <a:t>zero rollouts; a failure returns once with the gate named</a:t>
            </a:r>
          </a:p>
        </p:txBody>
      </p:sp>
      <p:sp>
        <p:nvSpPr>
          <p:cNvPr id="9529" name="Right Arrow 9528"/>
          <p:cNvSpPr/>
          <p:nvPr/>
        </p:nvSpPr>
        <p:spPr>
          <a:xfrm rot="10800000">
            <a:off x="5952744" y="3995928"/>
            <a:ext cx="256032" cy="201168"/>
          </a:xfrm>
          <a:prstGeom prst="right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0" name="Rounded Rectangle 9529"/>
          <p:cNvSpPr/>
          <p:nvPr/>
        </p:nvSpPr>
        <p:spPr>
          <a:xfrm>
            <a:off x="3337560" y="3310128"/>
            <a:ext cx="2606040" cy="164592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31" name="tb"/>
          <p:cNvSpPr txBox="1"/>
          <p:nvPr/>
        </p:nvSpPr>
        <p:spPr>
          <a:xfrm>
            <a:off x="3410712" y="3355848"/>
            <a:ext cx="2459736" cy="274320"/>
          </a:xfrm>
          <a:prstGeom prst="rect">
            <a:avLst/>
          </a:prstGeom>
          <a:noFill/>
        </p:spPr>
        <p:txBody>
          <a:bodyPr wrap="square" lIns="45720" rIns="45720" tIns="27432" bIns="27432" anchor="t">
            <a:spAutoFit/>
          </a:bodyPr>
          <a:lstStyle/>
          <a:p>
            <a:pPr algn="l">
              <a:spcAft>
                <a:spcPts val="0"/>
              </a:spcAft>
            </a:pPr>
            <a:r>
              <a:rPr sz="1300" b="1" i="0">
                <a:solidFill>
                  <a:srgbClr val="E31836"/>
                </a:solidFill>
                <a:latin typeface="Calibri"/>
              </a:rPr>
              <a:t>7 · Shadow rollouts G3 G4 G5 G5b</a:t>
            </a:r>
          </a:p>
        </p:txBody>
      </p:sp>
      <p:sp>
        <p:nvSpPr>
          <p:cNvPr id="9532" name="tb"/>
          <p:cNvSpPr txBox="1"/>
          <p:nvPr/>
        </p:nvSpPr>
        <p:spPr>
          <a:xfrm>
            <a:off x="3410712" y="3639312"/>
            <a:ext cx="2459736" cy="1280160"/>
          </a:xfrm>
          <a:prstGeom prst="rect">
            <a:avLst/>
          </a:prstGeom>
          <a:noFill/>
        </p:spPr>
        <p:txBody>
          <a:bodyPr wrap="square" lIns="45720" rIns="45720" tIns="27432" bIns="27432" anchor="t">
            <a:spAutoFit/>
          </a:bodyPr>
          <a:lstStyle/>
          <a:p>
            <a:pPr algn="l">
              <a:spcAft>
                <a:spcPts val="200"/>
              </a:spcAft>
            </a:pPr>
            <a:r>
              <a:rPr sz="1200" b="0" i="0">
                <a:solidFill>
                  <a:srgbClr val="222222"/>
                </a:solidFill>
                <a:latin typeface="Calibri"/>
              </a:rPr>
              <a:t>two independent futures of weather and spread</a:t>
            </a:r>
          </a:p>
          <a:p>
            <a:pPr algn="l">
              <a:spcAft>
                <a:spcPts val="200"/>
              </a:spcAft>
            </a:pPr>
            <a:r>
              <a:rPr sz="1200" b="0" i="0">
                <a:solidFill>
                  <a:srgbClr val="222222"/>
                </a:solidFill>
                <a:latin typeface="Calibri"/>
              </a:rPr>
              <a:t>physical cost must fall on both; a package must beat δv</a:t>
            </a:r>
          </a:p>
          <a:p>
            <a:pPr algn="l">
              <a:spcAft>
                <a:spcPts val="200"/>
              </a:spcAft>
            </a:pPr>
            <a:r>
              <a:rPr sz="1200" b="0" i="0">
                <a:solidFill>
                  <a:srgbClr val="222222"/>
                </a:solidFill>
                <a:latin typeface="Calibri"/>
              </a:rPr>
              <a:t>the whole rollout budget of the cycle</a:t>
            </a:r>
          </a:p>
        </p:txBody>
      </p:sp>
      <p:sp>
        <p:nvSpPr>
          <p:cNvPr id="9533" name="Right Arrow 9532"/>
          <p:cNvSpPr/>
          <p:nvPr/>
        </p:nvSpPr>
        <p:spPr>
          <a:xfrm rot="10800000">
            <a:off x="3072384" y="3995928"/>
            <a:ext cx="256032" cy="201168"/>
          </a:xfrm>
          <a:prstGeom prst="right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4" name="Rounded Rectangle 9533"/>
          <p:cNvSpPr/>
          <p:nvPr/>
        </p:nvSpPr>
        <p:spPr>
          <a:xfrm>
            <a:off x="457200" y="3310128"/>
            <a:ext cx="2606040" cy="164592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35" name="tb"/>
          <p:cNvSpPr txBox="1"/>
          <p:nvPr/>
        </p:nvSpPr>
        <p:spPr>
          <a:xfrm>
            <a:off x="530352" y="3355848"/>
            <a:ext cx="2459736" cy="274320"/>
          </a:xfrm>
          <a:prstGeom prst="rect">
            <a:avLst/>
          </a:prstGeom>
          <a:noFill/>
        </p:spPr>
        <p:txBody>
          <a:bodyPr wrap="square" lIns="45720" rIns="45720" tIns="27432" bIns="27432" anchor="t">
            <a:spAutoFit/>
          </a:bodyPr>
          <a:lstStyle/>
          <a:p>
            <a:pPr algn="l">
              <a:spcAft>
                <a:spcPts val="0"/>
              </a:spcAft>
            </a:pPr>
            <a:r>
              <a:rPr sz="1300" b="1" i="0">
                <a:solidFill>
                  <a:srgbClr val="E31836"/>
                </a:solidFill>
                <a:latin typeface="Calibri"/>
              </a:rPr>
              <a:t>8 · Verdict and chronicle</a:t>
            </a:r>
          </a:p>
        </p:txBody>
      </p:sp>
      <p:sp>
        <p:nvSpPr>
          <p:cNvPr id="9536" name="tb"/>
          <p:cNvSpPr txBox="1"/>
          <p:nvPr/>
        </p:nvSpPr>
        <p:spPr>
          <a:xfrm>
            <a:off x="530352" y="3639312"/>
            <a:ext cx="2459736" cy="1280160"/>
          </a:xfrm>
          <a:prstGeom prst="rect">
            <a:avLst/>
          </a:prstGeom>
          <a:noFill/>
        </p:spPr>
        <p:txBody>
          <a:bodyPr wrap="square" lIns="45720" rIns="45720" tIns="27432" bIns="27432" anchor="t">
            <a:spAutoFit/>
          </a:bodyPr>
          <a:lstStyle/>
          <a:p>
            <a:pPr algn="l">
              <a:spcAft>
                <a:spcPts val="200"/>
              </a:spcAft>
            </a:pPr>
            <a:r>
              <a:rPr sz="1200" b="0" i="0">
                <a:solidFill>
                  <a:srgbClr val="222222"/>
                </a:solidFill>
                <a:latin typeface="Calibri"/>
              </a:rPr>
              <a:t>admitted → installed with provenance "machine-proposed"</a:t>
            </a:r>
          </a:p>
          <a:p>
            <a:pPr algn="l">
              <a:spcAft>
                <a:spcPts val="200"/>
              </a:spcAft>
            </a:pPr>
            <a:r>
              <a:rPr sz="1200" b="0" i="0">
                <a:solidFill>
                  <a:srgbClr val="222222"/>
                </a:solidFill>
                <a:latin typeface="Calibri"/>
              </a:rPr>
              <a:t>rejected → failing gate recorded</a:t>
            </a:r>
          </a:p>
          <a:p>
            <a:pPr algn="l">
              <a:spcAft>
                <a:spcPts val="200"/>
              </a:spcAft>
            </a:pPr>
            <a:r>
              <a:rPr sz="1200" b="0" i="0">
                <a:solidFill>
                  <a:srgbClr val="222222"/>
                </a:solidFill>
                <a:latin typeface="Calibri"/>
              </a:rPr>
              <a:t>both feed the next prompt</a:t>
            </a:r>
          </a:p>
        </p:txBody>
      </p:sp>
      <p:sp>
        <p:nvSpPr>
          <p:cNvPr id="9537" name="Rounded Rectangle 9536"/>
          <p:cNvSpPr/>
          <p:nvPr/>
        </p:nvSpPr>
        <p:spPr>
          <a:xfrm>
            <a:off x="457200" y="5166360"/>
            <a:ext cx="11292840" cy="11430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38" name="tb"/>
          <p:cNvSpPr txBox="1"/>
          <p:nvPr/>
        </p:nvSpPr>
        <p:spPr>
          <a:xfrm>
            <a:off x="640080" y="5230368"/>
            <a:ext cx="10972800" cy="274320"/>
          </a:xfrm>
          <a:prstGeom prst="rect">
            <a:avLst/>
          </a:prstGeom>
          <a:noFill/>
        </p:spPr>
        <p:txBody>
          <a:bodyPr wrap="square" lIns="45720" rIns="45720" tIns="27432" bIns="27432" anchor="t">
            <a:spAutoFit/>
          </a:bodyPr>
          <a:lstStyle/>
          <a:p>
            <a:pPr algn="l">
              <a:spcAft>
                <a:spcPts val="0"/>
              </a:spcAft>
            </a:pPr>
            <a:r>
              <a:rPr sz="1300" b="1" i="0">
                <a:solidFill>
                  <a:srgbClr val="E31836"/>
                </a:solidFill>
                <a:latin typeface="Calibri"/>
              </a:rPr>
              <a:t>What happens inside step 5</a:t>
            </a:r>
          </a:p>
        </p:txBody>
      </p:sp>
      <p:sp>
        <p:nvSpPr>
          <p:cNvPr id="9539" name="tb"/>
          <p:cNvSpPr txBox="1"/>
          <p:nvPr/>
        </p:nvSpPr>
        <p:spPr>
          <a:xfrm>
            <a:off x="640080" y="5504688"/>
            <a:ext cx="10972800" cy="822960"/>
          </a:xfrm>
          <a:prstGeom prst="rect">
            <a:avLst/>
          </a:prstGeom>
          <a:noFill/>
        </p:spPr>
        <p:txBody>
          <a:bodyPr wrap="square" lIns="45720" rIns="45720" tIns="27432" bIns="27432" anchor="t">
            <a:spAutoFit/>
          </a:bodyPr>
          <a:lstStyle/>
          <a:p>
            <a:pPr algn="l">
              <a:spcAft>
                <a:spcPts val="200"/>
              </a:spcAft>
            </a:pPr>
            <a:r>
              <a:rPr sz="1250" b="1" i="0">
                <a:solidFill>
                  <a:srgbClr val="222222"/>
                </a:solidFill>
                <a:latin typeface="Calibri"/>
              </a:rPr>
              <a:t>Pretraining </a:t>
            </a:r>
            <a:r>
              <a:rPr sz="1250" b="0" i="0">
                <a:solidFill>
                  <a:srgbClr val="222222"/>
                </a:solidFill>
                <a:latin typeface="Calibri"/>
              </a:rPr>
              <a:t>read the fire literature: spotting follows wind, dryness and intensity; a backburn is ignition ahead of a line; water nearby means drafting.</a:t>
            </a:r>
          </a:p>
          <a:p>
            <a:pPr algn="l">
              <a:spcAft>
                <a:spcPts val="200"/>
              </a:spcAft>
            </a:pPr>
            <a:r>
              <a:rPr sz="1250" b="1" i="0">
                <a:solidFill>
                  <a:srgbClr val="222222"/>
                </a:solidFill>
                <a:latin typeface="Calibri"/>
              </a:rPr>
              <a:t>The prompt </a:t>
            </a:r>
            <a:r>
              <a:rPr sz="1250" b="0" i="0">
                <a:solidFill>
                  <a:srgbClr val="222222"/>
                </a:solidFill>
                <a:latin typeface="Calibri"/>
              </a:rPr>
              <a:t>narrows that knowledge to one closed form: only the listed concepts, terms, interventions and effects can appear, so the reply is a filled template, not free text.</a:t>
            </a:r>
          </a:p>
          <a:p>
            <a:pPr algn="l">
              <a:spcAft>
                <a:spcPts val="200"/>
              </a:spcAft>
            </a:pPr>
            <a:r>
              <a:rPr sz="1250" b="1" i="0">
                <a:solidFill>
                  <a:srgbClr val="222222"/>
                </a:solidFill>
                <a:latin typeface="Calibri"/>
              </a:rPr>
              <a:t>The reply </a:t>
            </a:r>
            <a:r>
              <a:rPr sz="1250" b="0" i="0">
                <a:solidFill>
                  <a:srgbClr val="222222"/>
                </a:solidFill>
                <a:latin typeface="Calibri"/>
              </a:rPr>
              <a:t>is a guess with a good prior. It carries no authority: the gates, which contain no model, decide whether the guess pays.</a:t>
            </a:r>
          </a:p>
        </p:txBody>
      </p:sp>
      <p:sp>
        <p:nvSpPr>
          <p:cNvPr id="9540" name="tb"/>
          <p:cNvSpPr txBox="1"/>
          <p:nvPr/>
        </p:nvSpPr>
        <p:spPr>
          <a:xfrm>
            <a:off x="502920" y="6446520"/>
            <a:ext cx="11247120" cy="320040"/>
          </a:xfrm>
          <a:prstGeom prst="rect">
            <a:avLst/>
          </a:prstGeom>
          <a:noFill/>
        </p:spPr>
        <p:txBody>
          <a:bodyPr wrap="square" lIns="45720" rIns="45720" tIns="27432" bIns="27432" anchor="t">
            <a:spAutoFit/>
          </a:bodyPr>
          <a:lstStyle/>
          <a:p>
            <a:pPr algn="l">
              <a:spcAft>
                <a:spcPts val="0"/>
              </a:spcAft>
            </a:pPr>
            <a:r>
              <a:rPr sz="1300" b="1" i="0">
                <a:solidFill>
                  <a:srgbClr val="6E6E6E"/>
                </a:solidFill>
                <a:latin typeface="Calibri"/>
              </a:rPr>
              <a:t>One model step out of eight; the other seven are deterministic code. Summarize, retrieve, prompt, propose, screen, forecast, decide, record.</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505" name="Text 0"/>
          <p:cNvSpPr/>
          <p:nvPr/>
        </p:nvSpPr>
        <p:spPr>
          <a:xfrm>
            <a:off x="502920" y="237744"/>
            <a:ext cx="10058400" cy="292608"/>
          </a:xfrm>
          <a:prstGeom prst="rect">
            <a:avLst/>
          </a:prstGeom>
          <a:noFill/>
          <a:ln/>
        </p:spPr>
        <p:txBody>
          <a:bodyPr wrap="square" lIns="0" tIns="0" rIns="0" bIns="0" rtlCol="0" anchor="ctr"/>
          <a:lstStyle/>
          <a:p>
            <a:pPr marL="0" indent="0">
              <a:buNone/>
            </a:pPr>
            <a:r>
              <a:rPr sz="1300" b="1">
                <a:solidFill>
                  <a:srgbClr val="E31836"/>
                </a:solidFill>
                <a:latin typeface="Calibri"/>
              </a:rPr>
              <a:t>DSS FRAMEWORK : LAYER 4 OF 4</a:t>
            </a:r>
            <a:endParaRPr lang="en-US" sz="1300" dirty="0"/>
          </a:p>
        </p:txBody>
      </p:sp>
      <p:sp>
        <p:nvSpPr>
          <p:cNvPr id="9506" name="Text 1"/>
          <p:cNvSpPr/>
          <p:nvPr/>
        </p:nvSpPr>
        <p:spPr>
          <a:xfrm>
            <a:off x="502920" y="493776"/>
            <a:ext cx="11247120" cy="621792"/>
          </a:xfrm>
          <a:prstGeom prst="rect">
            <a:avLst/>
          </a:prstGeom>
          <a:noFill/>
          <a:ln/>
        </p:spPr>
        <p:txBody>
          <a:bodyPr wrap="square" lIns="0" tIns="0" rIns="0" bIns="0" rtlCol="0" anchor="ctr"/>
          <a:lstStyle/>
          <a:p>
            <a:pPr marL="0" indent="0">
              <a:buNone/>
            </a:pPr>
            <a:r>
              <a:rPr sz="2500" b="1">
                <a:solidFill>
                  <a:srgbClr val="000000"/>
                </a:solidFill>
                <a:latin typeface="Cambria"/>
              </a:rPr>
              <a:t>Why a Language Model : The Same Problem Given to Three Solvers</a:t>
            </a:r>
            <a:endParaRPr lang="en-US" sz="2500" dirty="0"/>
          </a:p>
        </p:txBody>
      </p:sp>
      <p:pic>
        <p:nvPicPr>
          <p:cNvPr id="9507" name="Image 0" descr="/tmp/thx/deck/figs/metu_emblem.png"/>
          <p:cNvPicPr>
            <a:picLocks noChangeAspect="1"/>
          </p:cNvPicPr>
          <p:nvPr/>
        </p:nvPicPr>
        <p:blipFill>
          <a:blip r:embed="rId2"/>
          <a:stretch>
            <a:fillRect/>
          </a:stretch>
        </p:blipFill>
        <p:spPr>
          <a:xfrm>
            <a:off x="10716768" y="184607"/>
            <a:ext cx="475488" cy="398882"/>
          </a:xfrm>
          <a:prstGeom prst="rect">
            <a:avLst/>
          </a:prstGeom>
        </p:spPr>
      </p:pic>
      <p:pic>
        <p:nvPicPr>
          <p:cNvPr id="9508" name="Image 1" descr="/tmp/thx/deck/figs/eee_logo.png"/>
          <p:cNvPicPr>
            <a:picLocks noChangeAspect="1"/>
          </p:cNvPicPr>
          <p:nvPr/>
        </p:nvPicPr>
        <p:blipFill>
          <a:blip r:embed="rId3"/>
          <a:stretch>
            <a:fillRect/>
          </a:stretch>
        </p:blipFill>
        <p:spPr>
          <a:xfrm>
            <a:off x="11265408" y="186217"/>
            <a:ext cx="475488" cy="395662"/>
          </a:xfrm>
          <a:prstGeom prst="rect">
            <a:avLst/>
          </a:prstGeom>
        </p:spPr>
      </p:pic>
      <p:sp>
        <p:nvSpPr>
          <p:cNvPr id="9509" name="tb"/>
          <p:cNvSpPr txBox="1"/>
          <p:nvPr/>
        </p:nvSpPr>
        <p:spPr>
          <a:xfrm>
            <a:off x="502920" y="1115568"/>
            <a:ext cx="11247120" cy="320040"/>
          </a:xfrm>
          <a:prstGeom prst="rect">
            <a:avLst/>
          </a:prstGeom>
          <a:noFill/>
        </p:spPr>
        <p:txBody>
          <a:bodyPr wrap="square" lIns="45720" rIns="45720" tIns="27432" bIns="27432" anchor="t">
            <a:spAutoFit/>
          </a:bodyPr>
          <a:lstStyle/>
          <a:p>
            <a:pPr algn="l">
              <a:spcAft>
                <a:spcPts val="0"/>
              </a:spcAft>
            </a:pPr>
            <a:r>
              <a:rPr sz="1350" b="1" i="0">
                <a:solidFill>
                  <a:srgbClr val="222222"/>
                </a:solidFill>
                <a:latin typeface="Calibri"/>
              </a:rPr>
              <a:t>Fixed by the framework: a black-box objective, two rollouts per cycle, 232 calls in a campaign, a vocabulary that grows on every admission.</a:t>
            </a:r>
          </a:p>
        </p:txBody>
      </p:sp>
      <p:sp>
        <p:nvSpPr>
          <p:cNvPr id="9510" name="Rounded Rectangle 9509"/>
          <p:cNvSpPr/>
          <p:nvPr/>
        </p:nvSpPr>
        <p:spPr>
          <a:xfrm>
            <a:off x="457200" y="1572768"/>
            <a:ext cx="3611880" cy="443484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11" name="tb"/>
          <p:cNvSpPr txBox="1"/>
          <p:nvPr/>
        </p:nvSpPr>
        <p:spPr>
          <a:xfrm>
            <a:off x="566928" y="1645920"/>
            <a:ext cx="3392424" cy="292608"/>
          </a:xfrm>
          <a:prstGeom prst="rect">
            <a:avLst/>
          </a:prstGeom>
          <a:noFill/>
        </p:spPr>
        <p:txBody>
          <a:bodyPr wrap="square" lIns="45720" rIns="45720" tIns="27432" bIns="27432" anchor="t">
            <a:spAutoFit/>
          </a:bodyPr>
          <a:lstStyle/>
          <a:p>
            <a:pPr algn="l">
              <a:spcAft>
                <a:spcPts val="0"/>
              </a:spcAft>
            </a:pPr>
            <a:r>
              <a:rPr sz="1400" b="1" i="0">
                <a:solidFill>
                  <a:srgbClr val="E31836"/>
                </a:solidFill>
                <a:latin typeface="Calibri"/>
              </a:rPr>
              <a:t>Optimizer  (genetic search, local search)</a:t>
            </a:r>
          </a:p>
        </p:txBody>
      </p:sp>
      <p:sp>
        <p:nvSpPr>
          <p:cNvPr id="9512" name="tb"/>
          <p:cNvSpPr txBox="1"/>
          <p:nvPr/>
        </p:nvSpPr>
        <p:spPr>
          <a:xfrm>
            <a:off x="566928" y="2029967"/>
            <a:ext cx="3392424" cy="3886200"/>
          </a:xfrm>
          <a:prstGeom prst="rect">
            <a:avLst/>
          </a:prstGeom>
          <a:noFill/>
        </p:spPr>
        <p:txBody>
          <a:bodyPr wrap="square" lIns="45720" rIns="45720" tIns="27432" bIns="27432" anchor="t">
            <a:spAutoFit/>
          </a:bodyPr>
          <a:lstStyle/>
          <a:p>
            <a:pPr algn="l">
              <a:spcAft>
                <a:spcPts val="900"/>
              </a:spcAft>
            </a:pPr>
            <a:r>
              <a:rPr sz="1400" b="1" i="0">
                <a:solidFill>
                  <a:srgbClr val="222222"/>
                </a:solidFill>
                <a:latin typeface="Calibri"/>
              </a:rPr>
              <a:t>Knowledge at start : </a:t>
            </a:r>
            <a:r>
              <a:rPr sz="1400" b="0" i="0">
                <a:solidFill>
                  <a:srgbClr val="222222"/>
                </a:solidFill>
                <a:latin typeface="Calibri"/>
              </a:rPr>
              <a:t>none; every tactic must be discovered by trial</a:t>
            </a:r>
          </a:p>
          <a:p>
            <a:pPr algn="l">
              <a:spcAft>
                <a:spcPts val="900"/>
              </a:spcAft>
            </a:pPr>
            <a:r>
              <a:rPr sz="1400" b="1" i="0">
                <a:solidFill>
                  <a:srgbClr val="222222"/>
                </a:solidFill>
                <a:latin typeface="Calibri"/>
              </a:rPr>
              <a:t>Rollouts needed : </a:t>
            </a:r>
            <a:r>
              <a:rPr sz="1400" b="0" i="0">
                <a:solidFill>
                  <a:srgbClr val="222222"/>
                </a:solidFill>
                <a:latin typeface="Calibri"/>
              </a:rPr>
              <a:t>thousands per structure; most of the space returns a flat forecast (empty sector, wet fuel, spent pool), so mutation gets no signal</a:t>
            </a:r>
          </a:p>
          <a:p>
            <a:pPr algn="l">
              <a:spcAft>
                <a:spcPts val="900"/>
              </a:spcAft>
            </a:pPr>
            <a:r>
              <a:rPr sz="1400" b="1" i="0">
                <a:solidFill>
                  <a:srgbClr val="222222"/>
                </a:solidFill>
                <a:latin typeface="Calibri"/>
              </a:rPr>
              <a:t>When the vocabulary grows : </a:t>
            </a:r>
            <a:r>
              <a:rPr sz="1400" b="0" i="0">
                <a:solidFill>
                  <a:srgbClr val="222222"/>
                </a:solidFill>
                <a:latin typeface="Calibri"/>
              </a:rPr>
              <a:t>the search space changes; restart</a:t>
            </a:r>
          </a:p>
          <a:p>
            <a:pPr algn="l">
              <a:spcAft>
                <a:spcPts val="900"/>
              </a:spcAft>
            </a:pPr>
            <a:r>
              <a:rPr sz="1400" b="1" i="0">
                <a:solidFill>
                  <a:srgbClr val="222222"/>
                </a:solidFill>
                <a:latin typeface="Calibri"/>
              </a:rPr>
              <a:t>What comes out : </a:t>
            </a:r>
            <a:r>
              <a:rPr sz="1400" b="0" i="0">
                <a:solidFill>
                  <a:srgbClr val="222222"/>
                </a:solidFill>
                <a:latin typeface="Calibri"/>
              </a:rPr>
              <a:t>weight vectors without names</a:t>
            </a:r>
          </a:p>
          <a:p>
            <a:pPr algn="l">
              <a:spcAft>
                <a:spcPts val="900"/>
              </a:spcAft>
            </a:pPr>
            <a:r>
              <a:rPr sz="1400" b="1" i="0">
                <a:solidFill>
                  <a:srgbClr val="E31836"/>
                </a:solidFill>
                <a:latin typeface="Calibri"/>
              </a:rPr>
              <a:t>Verdict : </a:t>
            </a:r>
            <a:r>
              <a:rPr sz="1400" b="0" i="0">
                <a:solidFill>
                  <a:srgbClr val="E31836"/>
                </a:solidFill>
                <a:latin typeface="Calibri"/>
              </a:rPr>
              <a:t>starves on two rollouts a cycle</a:t>
            </a:r>
          </a:p>
        </p:txBody>
      </p:sp>
      <p:sp>
        <p:nvSpPr>
          <p:cNvPr id="9513" name="Rounded Rectangle 9512"/>
          <p:cNvSpPr/>
          <p:nvPr/>
        </p:nvSpPr>
        <p:spPr>
          <a:xfrm>
            <a:off x="4297680" y="1572768"/>
            <a:ext cx="3611880" cy="443484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14" name="tb"/>
          <p:cNvSpPr txBox="1"/>
          <p:nvPr/>
        </p:nvSpPr>
        <p:spPr>
          <a:xfrm>
            <a:off x="4407408" y="1645920"/>
            <a:ext cx="3392424" cy="292608"/>
          </a:xfrm>
          <a:prstGeom prst="rect">
            <a:avLst/>
          </a:prstGeom>
          <a:noFill/>
        </p:spPr>
        <p:txBody>
          <a:bodyPr wrap="square" lIns="45720" rIns="45720" tIns="27432" bIns="27432" anchor="t">
            <a:spAutoFit/>
          </a:bodyPr>
          <a:lstStyle/>
          <a:p>
            <a:pPr algn="l">
              <a:spcAft>
                <a:spcPts val="0"/>
              </a:spcAft>
            </a:pPr>
            <a:r>
              <a:rPr sz="1400" b="1" i="0">
                <a:solidFill>
                  <a:srgbClr val="E31836"/>
                </a:solidFill>
                <a:latin typeface="Calibri"/>
              </a:rPr>
              <a:t>Reinforcement learning  (learned policy)</a:t>
            </a:r>
          </a:p>
        </p:txBody>
      </p:sp>
      <p:sp>
        <p:nvSpPr>
          <p:cNvPr id="9515" name="tb"/>
          <p:cNvSpPr txBox="1"/>
          <p:nvPr/>
        </p:nvSpPr>
        <p:spPr>
          <a:xfrm>
            <a:off x="4407408" y="2029967"/>
            <a:ext cx="3392424" cy="3886200"/>
          </a:xfrm>
          <a:prstGeom prst="rect">
            <a:avLst/>
          </a:prstGeom>
          <a:noFill/>
        </p:spPr>
        <p:txBody>
          <a:bodyPr wrap="square" lIns="45720" rIns="45720" tIns="27432" bIns="27432" anchor="t">
            <a:spAutoFit/>
          </a:bodyPr>
          <a:lstStyle/>
          <a:p>
            <a:pPr algn="l">
              <a:spcAft>
                <a:spcPts val="900"/>
              </a:spcAft>
            </a:pPr>
            <a:r>
              <a:rPr sz="1400" b="1" i="0">
                <a:solidFill>
                  <a:srgbClr val="222222"/>
                </a:solidFill>
                <a:latin typeface="Calibri"/>
              </a:rPr>
              <a:t>Knowledge at start : </a:t>
            </a:r>
            <a:r>
              <a:rPr sz="1400" b="0" i="0">
                <a:solidFill>
                  <a:srgbClr val="222222"/>
                </a:solidFill>
                <a:latin typeface="Calibri"/>
              </a:rPr>
              <a:t>none; it relearns what a fire officer already knows</a:t>
            </a:r>
          </a:p>
          <a:p>
            <a:pPr algn="l">
              <a:spcAft>
                <a:spcPts val="900"/>
              </a:spcAft>
            </a:pPr>
            <a:r>
              <a:rPr sz="1400" b="1" i="0">
                <a:solidFill>
                  <a:srgbClr val="222222"/>
                </a:solidFill>
                <a:latin typeface="Calibri"/>
              </a:rPr>
              <a:t>Rollouts needed : </a:t>
            </a:r>
            <a:r>
              <a:rPr sz="1400" b="0" i="0">
                <a:solidFill>
                  <a:srgbClr val="222222"/>
                </a:solidFill>
                <a:latin typeface="Calibri"/>
              </a:rPr>
              <a:t>tens of thousands of episodes; the reward is the same shadow rollout</a:t>
            </a:r>
          </a:p>
          <a:p>
            <a:pPr algn="l">
              <a:spcAft>
                <a:spcPts val="900"/>
              </a:spcAft>
            </a:pPr>
            <a:r>
              <a:rPr sz="1400" b="1" i="0">
                <a:solidFill>
                  <a:srgbClr val="222222"/>
                </a:solidFill>
                <a:latin typeface="Calibri"/>
              </a:rPr>
              <a:t>When the vocabulary grows : </a:t>
            </a:r>
            <a:r>
              <a:rPr sz="1400" b="0" i="0">
                <a:solidFill>
                  <a:srgbClr val="222222"/>
                </a:solidFill>
                <a:latin typeface="Calibri"/>
              </a:rPr>
              <a:t>the action space is non-stationary; relearn on every admission and every new map</a:t>
            </a:r>
          </a:p>
          <a:p>
            <a:pPr algn="l">
              <a:spcAft>
                <a:spcPts val="900"/>
              </a:spcAft>
            </a:pPr>
            <a:r>
              <a:rPr sz="1400" b="1" i="0">
                <a:solidFill>
                  <a:srgbClr val="222222"/>
                </a:solidFill>
                <a:latin typeface="Calibri"/>
              </a:rPr>
              <a:t>What comes out : </a:t>
            </a:r>
            <a:r>
              <a:rPr sz="1400" b="0" i="0">
                <a:solidFill>
                  <a:srgbClr val="222222"/>
                </a:solidFill>
                <a:latin typeface="Calibri"/>
              </a:rPr>
              <a:t>a policy, not a readable rule</a:t>
            </a:r>
          </a:p>
          <a:p>
            <a:pPr algn="l">
              <a:spcAft>
                <a:spcPts val="900"/>
              </a:spcAft>
            </a:pPr>
            <a:r>
              <a:rPr sz="1400" b="1" i="0">
                <a:solidFill>
                  <a:srgbClr val="E31836"/>
                </a:solidFill>
                <a:latin typeface="Calibri"/>
              </a:rPr>
              <a:t>Verdict : </a:t>
            </a:r>
            <a:r>
              <a:rPr sz="1400" b="0" i="0">
                <a:solidFill>
                  <a:srgbClr val="E31836"/>
                </a:solidFill>
                <a:latin typeface="Calibri"/>
              </a:rPr>
              <a:t>right for the stage selector (3 actions, a bandit); wrong for structure generation</a:t>
            </a:r>
          </a:p>
        </p:txBody>
      </p:sp>
      <p:sp>
        <p:nvSpPr>
          <p:cNvPr id="9516" name="Rounded Rectangle 9515"/>
          <p:cNvSpPr/>
          <p:nvPr/>
        </p:nvSpPr>
        <p:spPr>
          <a:xfrm>
            <a:off x="8138160" y="1572768"/>
            <a:ext cx="3611880" cy="4434840"/>
          </a:xfrm>
          <a:prstGeom prst="roundRect">
            <a:avLst>
              <a:gd name="adj" fmla="val 8000"/>
            </a:avLst>
          </a:prstGeom>
          <a:solidFill>
            <a:srgbClr val="E6F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17" name="tb"/>
          <p:cNvSpPr txBox="1"/>
          <p:nvPr/>
        </p:nvSpPr>
        <p:spPr>
          <a:xfrm>
            <a:off x="8247888" y="1645920"/>
            <a:ext cx="3392424" cy="292608"/>
          </a:xfrm>
          <a:prstGeom prst="rect">
            <a:avLst/>
          </a:prstGeom>
          <a:noFill/>
        </p:spPr>
        <p:txBody>
          <a:bodyPr wrap="square" lIns="45720" rIns="45720" tIns="27432" bIns="27432" anchor="t">
            <a:spAutoFit/>
          </a:bodyPr>
          <a:lstStyle/>
          <a:p>
            <a:pPr algn="l">
              <a:spcAft>
                <a:spcPts val="0"/>
              </a:spcAft>
            </a:pPr>
            <a:r>
              <a:rPr sz="1400" b="1" i="0">
                <a:solidFill>
                  <a:srgbClr val="E31836"/>
                </a:solidFill>
                <a:latin typeface="Calibri"/>
              </a:rPr>
              <a:t>Language model  (proposer, weights frozen)</a:t>
            </a:r>
          </a:p>
        </p:txBody>
      </p:sp>
      <p:sp>
        <p:nvSpPr>
          <p:cNvPr id="9518" name="tb"/>
          <p:cNvSpPr txBox="1"/>
          <p:nvPr/>
        </p:nvSpPr>
        <p:spPr>
          <a:xfrm>
            <a:off x="8247888" y="2029967"/>
            <a:ext cx="3392424" cy="3886200"/>
          </a:xfrm>
          <a:prstGeom prst="rect">
            <a:avLst/>
          </a:prstGeom>
          <a:noFill/>
        </p:spPr>
        <p:txBody>
          <a:bodyPr wrap="square" lIns="45720" rIns="45720" tIns="27432" bIns="27432" anchor="t">
            <a:spAutoFit/>
          </a:bodyPr>
          <a:lstStyle/>
          <a:p>
            <a:pPr algn="l">
              <a:spcAft>
                <a:spcPts val="900"/>
              </a:spcAft>
            </a:pPr>
            <a:r>
              <a:rPr sz="1400" b="1" i="0">
                <a:solidFill>
                  <a:srgbClr val="222222"/>
                </a:solidFill>
                <a:latin typeface="Calibri"/>
              </a:rPr>
              <a:t>Knowledge at start : </a:t>
            </a:r>
            <a:r>
              <a:rPr sz="1400" b="0" i="0">
                <a:solidFill>
                  <a:srgbClr val="222222"/>
                </a:solidFill>
                <a:latin typeface="Calibri"/>
              </a:rPr>
              <a:t>pretrained on the fire literature; the prior comes for free</a:t>
            </a:r>
          </a:p>
          <a:p>
            <a:pPr algn="l">
              <a:spcAft>
                <a:spcPts val="900"/>
              </a:spcAft>
            </a:pPr>
            <a:r>
              <a:rPr sz="1400" b="1" i="0">
                <a:solidFill>
                  <a:srgbClr val="222222"/>
                </a:solidFill>
                <a:latin typeface="Calibri"/>
              </a:rPr>
              <a:t>Rollouts needed : </a:t>
            </a:r>
            <a:r>
              <a:rPr sz="1400" b="0" i="0">
                <a:solidFill>
                  <a:srgbClr val="222222"/>
                </a:solidFill>
                <a:latin typeface="Calibri"/>
              </a:rPr>
              <a:t>two per cycle; acceptance 20 % in the main run, 54 % in the actuator run</a:t>
            </a:r>
          </a:p>
          <a:p>
            <a:pPr algn="l">
              <a:spcAft>
                <a:spcPts val="900"/>
              </a:spcAft>
            </a:pPr>
            <a:r>
              <a:rPr sz="1400" b="1" i="0">
                <a:solidFill>
                  <a:srgbClr val="222222"/>
                </a:solidFill>
                <a:latin typeface="Calibri"/>
              </a:rPr>
              <a:t>When the vocabulary grows : </a:t>
            </a:r>
            <a:r>
              <a:rPr sz="1400" b="0" i="0">
                <a:solidFill>
                  <a:srgbClr val="222222"/>
                </a:solidFill>
                <a:latin typeface="Calibri"/>
              </a:rPr>
              <a:t>the new name is one more line in the prompt; no retraining (in-context learning)</a:t>
            </a:r>
          </a:p>
          <a:p>
            <a:pPr algn="l">
              <a:spcAft>
                <a:spcPts val="900"/>
              </a:spcAft>
            </a:pPr>
            <a:r>
              <a:rPr sz="1400" b="1" i="0">
                <a:solidFill>
                  <a:srgbClr val="222222"/>
                </a:solidFill>
                <a:latin typeface="Calibri"/>
              </a:rPr>
              <a:t>What comes out : </a:t>
            </a:r>
            <a:r>
              <a:rPr sz="1400" b="0" i="0">
                <a:solidFill>
                  <a:srgbClr val="222222"/>
                </a:solidFill>
                <a:latin typeface="Calibri"/>
              </a:rPr>
              <a:t>named, readable objects; a rejection is readable too and returns once with the gate named</a:t>
            </a:r>
          </a:p>
          <a:p>
            <a:pPr algn="l">
              <a:spcAft>
                <a:spcPts val="900"/>
              </a:spcAft>
            </a:pPr>
            <a:r>
              <a:rPr sz="1400" b="1" i="0">
                <a:solidFill>
                  <a:srgbClr val="E31836"/>
                </a:solidFill>
                <a:latin typeface="Calibri"/>
              </a:rPr>
              <a:t>Verdict : </a:t>
            </a:r>
            <a:r>
              <a:rPr sz="1400" b="0" i="0">
                <a:solidFill>
                  <a:srgbClr val="E31836"/>
                </a:solidFill>
                <a:latin typeface="Calibri"/>
              </a:rPr>
              <a:t>a knowledgeable sampler, not an optimizer; the gates do the optimizing</a:t>
            </a:r>
          </a:p>
        </p:txBody>
      </p:sp>
      <p:sp>
        <p:nvSpPr>
          <p:cNvPr id="9519" name="tb"/>
          <p:cNvSpPr txBox="1"/>
          <p:nvPr/>
        </p:nvSpPr>
        <p:spPr>
          <a:xfrm>
            <a:off x="502920" y="6144768"/>
            <a:ext cx="11247120" cy="594360"/>
          </a:xfrm>
          <a:prstGeom prst="rect">
            <a:avLst/>
          </a:prstGeom>
          <a:noFill/>
        </p:spPr>
        <p:txBody>
          <a:bodyPr wrap="square" lIns="45720" rIns="45720" tIns="27432" bIns="27432" anchor="t">
            <a:spAutoFit/>
          </a:bodyPr>
          <a:lstStyle/>
          <a:p>
            <a:pPr algn="l">
              <a:spcAft>
                <a:spcPts val="0"/>
              </a:spcAft>
            </a:pPr>
            <a:r>
              <a:rPr sz="1300" b="1" i="0">
                <a:solidFill>
                  <a:srgbClr val="6E6E6E"/>
                </a:solidFill>
                <a:latin typeface="Calibri"/>
              </a:rPr>
              <a:t>An optimizer would need thousands of rollouts to learn what a fire officer already knows. RL would relearn it every time the vocabulary grows. The language model brings it for free, and the simulator, not the model, decides whether it was right.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509" name="Text 0"/>
          <p:cNvSpPr/>
          <p:nvPr/>
        </p:nvSpPr>
        <p:spPr>
          <a:xfrm>
            <a:off x="502920" y="237744"/>
            <a:ext cx="10058400" cy="292608"/>
          </a:xfrm>
          <a:prstGeom prst="rect">
            <a:avLst/>
          </a:prstGeom>
          <a:noFill/>
          <a:ln/>
        </p:spPr>
        <p:txBody>
          <a:bodyPr wrap="square" lIns="0" tIns="0" rIns="0" bIns="0" rtlCol="0" anchor="ctr"/>
          <a:lstStyle/>
          <a:p>
            <a:pPr marL="0" indent="0">
              <a:buNone/>
            </a:pPr>
            <a:r>
              <a:rPr sz="1300" b="1">
                <a:solidFill>
                  <a:srgbClr val="E31836"/>
                </a:solidFill>
                <a:latin typeface="Calibri"/>
              </a:rPr>
              <a:t>DSS FRAMEWORK : LAYER 4 OF 4</a:t>
            </a:r>
            <a:endParaRPr lang="en-US" sz="1300" dirty="0"/>
          </a:p>
        </p:txBody>
      </p:sp>
      <p:sp>
        <p:nvSpPr>
          <p:cNvPr id="9510" name="Text 1"/>
          <p:cNvSpPr/>
          <p:nvPr/>
        </p:nvSpPr>
        <p:spPr>
          <a:xfrm>
            <a:off x="502920" y="493776"/>
            <a:ext cx="11247120" cy="621792"/>
          </a:xfrm>
          <a:prstGeom prst="rect">
            <a:avLst/>
          </a:prstGeom>
          <a:noFill/>
          <a:ln/>
        </p:spPr>
        <p:txBody>
          <a:bodyPr wrap="square" lIns="0" tIns="0" rIns="0" bIns="0" rtlCol="0" anchor="ctr"/>
          <a:lstStyle/>
          <a:p>
            <a:pPr marL="0" indent="0">
              <a:buNone/>
            </a:pPr>
            <a:r>
              <a:rPr sz="2500" b="1">
                <a:solidFill>
                  <a:srgbClr val="000000"/>
                </a:solidFill>
                <a:latin typeface="Cambria"/>
              </a:rPr>
              <a:t>Why This Concept? Ember Spotting Risk, Step by Step</a:t>
            </a:r>
            <a:endParaRPr lang="en-US" sz="2500" dirty="0"/>
          </a:p>
        </p:txBody>
      </p:sp>
      <p:pic>
        <p:nvPicPr>
          <p:cNvPr id="9511" name="Image 0" descr="/tmp/thx/deck/figs/metu_emblem.png"/>
          <p:cNvPicPr>
            <a:picLocks noChangeAspect="1"/>
          </p:cNvPicPr>
          <p:nvPr/>
        </p:nvPicPr>
        <p:blipFill>
          <a:blip r:embed="rId2"/>
          <a:stretch>
            <a:fillRect/>
          </a:stretch>
        </p:blipFill>
        <p:spPr>
          <a:xfrm>
            <a:off x="10716768" y="184607"/>
            <a:ext cx="475488" cy="398882"/>
          </a:xfrm>
          <a:prstGeom prst="rect">
            <a:avLst/>
          </a:prstGeom>
        </p:spPr>
      </p:pic>
      <p:pic>
        <p:nvPicPr>
          <p:cNvPr id="9512" name="Image 1" descr="/tmp/thx/deck/figs/eee_logo.png"/>
          <p:cNvPicPr>
            <a:picLocks noChangeAspect="1"/>
          </p:cNvPicPr>
          <p:nvPr/>
        </p:nvPicPr>
        <p:blipFill>
          <a:blip r:embed="rId3"/>
          <a:stretch>
            <a:fillRect/>
          </a:stretch>
        </p:blipFill>
        <p:spPr>
          <a:xfrm>
            <a:off x="11265408" y="186217"/>
            <a:ext cx="475488" cy="395662"/>
          </a:xfrm>
          <a:prstGeom prst="rect">
            <a:avLst/>
          </a:prstGeom>
        </p:spPr>
      </p:pic>
      <p:sp>
        <p:nvSpPr>
          <p:cNvPr id="9513" name="tb"/>
          <p:cNvSpPr txBox="1"/>
          <p:nvPr/>
        </p:nvSpPr>
        <p:spPr>
          <a:xfrm>
            <a:off x="502920" y="1115568"/>
            <a:ext cx="11247120" cy="320040"/>
          </a:xfrm>
          <a:prstGeom prst="rect">
            <a:avLst/>
          </a:prstGeom>
          <a:noFill/>
        </p:spPr>
        <p:txBody>
          <a:bodyPr wrap="square" lIns="45720" rIns="45720" tIns="27432" bIns="27432" anchor="t">
            <a:spAutoFit/>
          </a:bodyPr>
          <a:lstStyle/>
          <a:p>
            <a:pPr algn="l">
              <a:spcAft>
                <a:spcPts val="0"/>
              </a:spcAft>
            </a:pPr>
            <a:r>
              <a:rPr sz="1300" b="1" i="0">
                <a:solidFill>
                  <a:srgbClr val="222222"/>
                </a:solidFill>
                <a:latin typeface="Calibri"/>
              </a:rPr>
              <a:t>The model names what the residual map already shows; the gates decide whether the name pays.</a:t>
            </a:r>
          </a:p>
        </p:txBody>
      </p:sp>
      <p:sp>
        <p:nvSpPr>
          <p:cNvPr id="9514" name="Rounded Rectangle 9513"/>
          <p:cNvSpPr/>
          <p:nvPr/>
        </p:nvSpPr>
        <p:spPr>
          <a:xfrm>
            <a:off x="457200" y="1554480"/>
            <a:ext cx="4023360" cy="96012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15" name="tb"/>
          <p:cNvSpPr txBox="1"/>
          <p:nvPr/>
        </p:nvSpPr>
        <p:spPr>
          <a:xfrm>
            <a:off x="548640" y="1600200"/>
            <a:ext cx="3840480" cy="256032"/>
          </a:xfrm>
          <a:prstGeom prst="rect">
            <a:avLst/>
          </a:prstGeom>
          <a:noFill/>
        </p:spPr>
        <p:txBody>
          <a:bodyPr wrap="square" lIns="45720" rIns="45720" tIns="27432" bIns="27432" anchor="t">
            <a:spAutoFit/>
          </a:bodyPr>
          <a:lstStyle/>
          <a:p>
            <a:pPr algn="l">
              <a:spcAft>
                <a:spcPts val="0"/>
              </a:spcAft>
            </a:pPr>
            <a:r>
              <a:rPr sz="1300" b="1" i="0">
                <a:solidFill>
                  <a:srgbClr val="E31836"/>
                </a:solidFill>
                <a:latin typeface="Calibri"/>
              </a:rPr>
              <a:t>Residual cost</a:t>
            </a:r>
          </a:p>
        </p:txBody>
      </p:sp>
      <p:sp>
        <p:nvSpPr>
          <p:cNvPr id="9516" name="tb"/>
          <p:cNvSpPr txBox="1"/>
          <p:nvPr/>
        </p:nvSpPr>
        <p:spPr>
          <a:xfrm>
            <a:off x="548640" y="1856231"/>
            <a:ext cx="3840480" cy="640080"/>
          </a:xfrm>
          <a:prstGeom prst="rect">
            <a:avLst/>
          </a:prstGeom>
          <a:noFill/>
        </p:spPr>
        <p:txBody>
          <a:bodyPr wrap="square" lIns="45720" rIns="45720" tIns="27432" bIns="27432" anchor="t">
            <a:spAutoFit/>
          </a:bodyPr>
          <a:lstStyle/>
          <a:p>
            <a:pPr algn="l">
              <a:spcAft>
                <a:spcPts val="0"/>
              </a:spcAft>
            </a:pPr>
            <a:r>
              <a:rPr sz="1150" b="0" i="0">
                <a:solidFill>
                  <a:srgbClr val="222222"/>
                </a:solidFill>
                <a:latin typeface="Calibri"/>
              </a:rPr>
              <a:t>burned cells ahead of the head, across the containment line; in the core only spotting does that</a:t>
            </a:r>
          </a:p>
        </p:txBody>
      </p:sp>
      <p:sp>
        <p:nvSpPr>
          <p:cNvPr id="9517" name="Rounded Rectangle 9516"/>
          <p:cNvSpPr/>
          <p:nvPr/>
        </p:nvSpPr>
        <p:spPr>
          <a:xfrm>
            <a:off x="457200" y="2624328"/>
            <a:ext cx="4023360" cy="96012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18" name="tb"/>
          <p:cNvSpPr txBox="1"/>
          <p:nvPr/>
        </p:nvSpPr>
        <p:spPr>
          <a:xfrm>
            <a:off x="548640" y="2670048"/>
            <a:ext cx="3840480" cy="256032"/>
          </a:xfrm>
          <a:prstGeom prst="rect">
            <a:avLst/>
          </a:prstGeom>
          <a:noFill/>
        </p:spPr>
        <p:txBody>
          <a:bodyPr wrap="square" lIns="45720" rIns="45720" tIns="27432" bIns="27432" anchor="t">
            <a:spAutoFit/>
          </a:bodyPr>
          <a:lstStyle/>
          <a:p>
            <a:pPr algn="l">
              <a:spcAft>
                <a:spcPts val="0"/>
              </a:spcAft>
            </a:pPr>
            <a:r>
              <a:rPr sz="1300" b="1" i="0">
                <a:solidFill>
                  <a:srgbClr val="E31836"/>
                </a:solidFill>
                <a:latin typeface="Calibri"/>
              </a:rPr>
              <a:t>Readings</a:t>
            </a:r>
          </a:p>
        </p:txBody>
      </p:sp>
      <p:sp>
        <p:nvSpPr>
          <p:cNvPr id="9519" name="tb"/>
          <p:cNvSpPr txBox="1"/>
          <p:nvPr/>
        </p:nvSpPr>
        <p:spPr>
          <a:xfrm>
            <a:off x="548640" y="2926080"/>
            <a:ext cx="3840480" cy="640080"/>
          </a:xfrm>
          <a:prstGeom prst="rect">
            <a:avLst/>
          </a:prstGeom>
          <a:noFill/>
        </p:spPr>
        <p:txBody>
          <a:bodyPr wrap="square" lIns="45720" rIns="45720" tIns="27432" bIns="27432" anchor="t">
            <a:spAutoFit/>
          </a:bodyPr>
          <a:lstStyle/>
          <a:p>
            <a:pPr algn="l">
              <a:spcAft>
                <a:spcPts val="0"/>
              </a:spcAft>
            </a:pPr>
            <a:r>
              <a:rPr sz="1150" b="0" i="0">
                <a:solidFill>
                  <a:srgbClr val="222222"/>
                </a:solidFill>
                <a:latin typeface="Calibri"/>
              </a:rPr>
              <a:t>spread potential H · weather severity VH · fuel load H; no concept reads the three together (spread hazard uses ignition proximity instead of fuel load)</a:t>
            </a:r>
          </a:p>
        </p:txBody>
      </p:sp>
      <p:sp>
        <p:nvSpPr>
          <p:cNvPr id="9520" name="Rounded Rectangle 9519"/>
          <p:cNvSpPr/>
          <p:nvPr/>
        </p:nvSpPr>
        <p:spPr>
          <a:xfrm>
            <a:off x="457200" y="3694176"/>
            <a:ext cx="4023360" cy="96012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21" name="tb"/>
          <p:cNvSpPr txBox="1"/>
          <p:nvPr/>
        </p:nvSpPr>
        <p:spPr>
          <a:xfrm>
            <a:off x="548640" y="3739896"/>
            <a:ext cx="3840480" cy="256032"/>
          </a:xfrm>
          <a:prstGeom prst="rect">
            <a:avLst/>
          </a:prstGeom>
          <a:noFill/>
        </p:spPr>
        <p:txBody>
          <a:bodyPr wrap="square" lIns="45720" rIns="45720" tIns="27432" bIns="27432" anchor="t">
            <a:spAutoFit/>
          </a:bodyPr>
          <a:lstStyle/>
          <a:p>
            <a:pPr algn="l">
              <a:spcAft>
                <a:spcPts val="0"/>
              </a:spcAft>
            </a:pPr>
            <a:r>
              <a:rPr sz="1300" b="1" i="0">
                <a:solidFill>
                  <a:srgbClr val="E31836"/>
                </a:solidFill>
                <a:latin typeface="Calibri"/>
              </a:rPr>
              <a:t>Chronicle</a:t>
            </a:r>
          </a:p>
        </p:txBody>
      </p:sp>
      <p:sp>
        <p:nvSpPr>
          <p:cNvPr id="9522" name="tb"/>
          <p:cNvSpPr txBox="1"/>
          <p:nvPr/>
        </p:nvSpPr>
        <p:spPr>
          <a:xfrm>
            <a:off x="548640" y="3995928"/>
            <a:ext cx="3840480" cy="640080"/>
          </a:xfrm>
          <a:prstGeom prst="rect">
            <a:avLst/>
          </a:prstGeom>
          <a:noFill/>
        </p:spPr>
        <p:txBody>
          <a:bodyPr wrap="square" lIns="45720" rIns="45720" tIns="27432" bIns="27432" anchor="t">
            <a:spAutoFit/>
          </a:bodyPr>
          <a:lstStyle/>
          <a:p>
            <a:pPr algn="l">
              <a:spcAft>
                <a:spcPts val="0"/>
              </a:spcAft>
            </a:pPr>
            <a:r>
              <a:rPr sz="1150" b="0" i="0">
                <a:solidFill>
                  <a:srgbClr val="222222"/>
                </a:solidFill>
                <a:latin typeface="Calibri"/>
              </a:rPr>
              <a:t>plain rules on this situation refused at G2 (cell occupied); ① and ② tried, cost remains</a:t>
            </a:r>
          </a:p>
        </p:txBody>
      </p:sp>
      <p:sp>
        <p:nvSpPr>
          <p:cNvPr id="9523" name="Rounded Rectangle 9522"/>
          <p:cNvSpPr/>
          <p:nvPr/>
        </p:nvSpPr>
        <p:spPr>
          <a:xfrm>
            <a:off x="457200" y="4764024"/>
            <a:ext cx="4023360" cy="96012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24" name="tb"/>
          <p:cNvSpPr txBox="1"/>
          <p:nvPr/>
        </p:nvSpPr>
        <p:spPr>
          <a:xfrm>
            <a:off x="548640" y="4809744"/>
            <a:ext cx="3840480" cy="256032"/>
          </a:xfrm>
          <a:prstGeom prst="rect">
            <a:avLst/>
          </a:prstGeom>
          <a:noFill/>
        </p:spPr>
        <p:txBody>
          <a:bodyPr wrap="square" lIns="45720" rIns="45720" tIns="27432" bIns="27432" anchor="t">
            <a:spAutoFit/>
          </a:bodyPr>
          <a:lstStyle/>
          <a:p>
            <a:pPr algn="l">
              <a:spcAft>
                <a:spcPts val="0"/>
              </a:spcAft>
            </a:pPr>
            <a:r>
              <a:rPr sz="1300" b="1" i="0">
                <a:solidFill>
                  <a:srgbClr val="E31836"/>
                </a:solidFill>
                <a:latin typeface="Calibri"/>
              </a:rPr>
              <a:t>Brief</a:t>
            </a:r>
          </a:p>
        </p:txBody>
      </p:sp>
      <p:sp>
        <p:nvSpPr>
          <p:cNvPr id="9525" name="tb"/>
          <p:cNvSpPr txBox="1"/>
          <p:nvPr/>
        </p:nvSpPr>
        <p:spPr>
          <a:xfrm>
            <a:off x="548640" y="5065776"/>
            <a:ext cx="3840480" cy="640080"/>
          </a:xfrm>
          <a:prstGeom prst="rect">
            <a:avLst/>
          </a:prstGeom>
          <a:noFill/>
        </p:spPr>
        <p:txBody>
          <a:bodyPr wrap="square" lIns="45720" rIns="45720" tIns="27432" bIns="27432" anchor="t">
            <a:spAutoFit/>
          </a:bodyPr>
          <a:lstStyle/>
          <a:p>
            <a:pPr algn="l">
              <a:spcAft>
                <a:spcPts val="0"/>
              </a:spcAft>
            </a:pPr>
            <a:r>
              <a:rPr sz="1150" b="0" i="0">
                <a:solidFill>
                  <a:srgbClr val="222222"/>
                </a:solidFill>
                <a:latin typeface="Calibri"/>
              </a:rPr>
              <a:t>"a new CONCEPT when the five concepts cannot name a recurring situation (e.g., ember pressure on a settlement edge)"</a:t>
            </a:r>
          </a:p>
        </p:txBody>
      </p:sp>
      <p:sp>
        <p:nvSpPr>
          <p:cNvPr id="9526" name="tb"/>
          <p:cNvSpPr txBox="1"/>
          <p:nvPr/>
        </p:nvSpPr>
        <p:spPr>
          <a:xfrm>
            <a:off x="457200" y="5815583"/>
            <a:ext cx="4023360" cy="274320"/>
          </a:xfrm>
          <a:prstGeom prst="rect">
            <a:avLst/>
          </a:prstGeom>
          <a:noFill/>
        </p:spPr>
        <p:txBody>
          <a:bodyPr wrap="square" lIns="45720" rIns="45720" tIns="27432" bIns="27432" anchor="t">
            <a:spAutoFit/>
          </a:bodyPr>
          <a:lstStyle/>
          <a:p>
            <a:pPr algn="l">
              <a:spcAft>
                <a:spcPts val="0"/>
              </a:spcAft>
            </a:pPr>
            <a:r>
              <a:rPr sz="1100" b="0" i="1">
                <a:solidFill>
                  <a:srgbClr val="6E6E6E"/>
                </a:solidFill>
                <a:latin typeface="Calibri"/>
              </a:rPr>
              <a:t>what the prompt states</a:t>
            </a:r>
          </a:p>
        </p:txBody>
      </p:sp>
      <p:sp>
        <p:nvSpPr>
          <p:cNvPr id="9527" name="Right Arrow 9526"/>
          <p:cNvSpPr/>
          <p:nvPr/>
        </p:nvSpPr>
        <p:spPr>
          <a:xfrm>
            <a:off x="4572000" y="3246120"/>
            <a:ext cx="320040" cy="237744"/>
          </a:xfrm>
          <a:prstGeom prst="right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8" name="Rounded Rectangle 9527"/>
          <p:cNvSpPr/>
          <p:nvPr/>
        </p:nvSpPr>
        <p:spPr>
          <a:xfrm>
            <a:off x="4983480" y="1554480"/>
            <a:ext cx="3291840" cy="4251960"/>
          </a:xfrm>
          <a:prstGeom prst="roundRect">
            <a:avLst>
              <a:gd name="adj" fmla="val 8000"/>
            </a:avLst>
          </a:prstGeom>
          <a:solidFill>
            <a:srgbClr val="FD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29" name="tb"/>
          <p:cNvSpPr txBox="1"/>
          <p:nvPr/>
        </p:nvSpPr>
        <p:spPr>
          <a:xfrm>
            <a:off x="5093208" y="1627632"/>
            <a:ext cx="3072384" cy="274320"/>
          </a:xfrm>
          <a:prstGeom prst="rect">
            <a:avLst/>
          </a:prstGeom>
          <a:noFill/>
        </p:spPr>
        <p:txBody>
          <a:bodyPr wrap="square" lIns="45720" rIns="45720" tIns="27432" bIns="27432" anchor="t">
            <a:spAutoFit/>
          </a:bodyPr>
          <a:lstStyle/>
          <a:p>
            <a:pPr algn="l">
              <a:spcAft>
                <a:spcPts val="0"/>
              </a:spcAft>
            </a:pPr>
            <a:r>
              <a:rPr sz="1300" b="1" i="0">
                <a:solidFill>
                  <a:srgbClr val="E31836"/>
                </a:solidFill>
                <a:latin typeface="Calibri"/>
              </a:rPr>
              <a:t>The model's step</a:t>
            </a:r>
            <a:r>
              <a:rPr sz="1050" b="0" i="1">
                <a:solidFill>
                  <a:srgbClr val="6E6E6E"/>
                </a:solidFill>
                <a:latin typeface="Calibri"/>
              </a:rPr>
              <a:t>   illustrative case, Fig. 4.9b</a:t>
            </a:r>
          </a:p>
        </p:txBody>
      </p:sp>
      <p:sp>
        <p:nvSpPr>
          <p:cNvPr id="9530" name="tb"/>
          <p:cNvSpPr txBox="1"/>
          <p:nvPr/>
        </p:nvSpPr>
        <p:spPr>
          <a:xfrm>
            <a:off x="5093208" y="1938528"/>
            <a:ext cx="3072384" cy="3794760"/>
          </a:xfrm>
          <a:prstGeom prst="rect">
            <a:avLst/>
          </a:prstGeom>
          <a:noFill/>
        </p:spPr>
        <p:txBody>
          <a:bodyPr wrap="square" lIns="45720" rIns="45720" tIns="27432" bIns="27432" anchor="t">
            <a:spAutoFit/>
          </a:bodyPr>
          <a:lstStyle/>
          <a:p>
            <a:pPr algn="l">
              <a:spcAft>
                <a:spcPts val="400"/>
              </a:spcAft>
            </a:pPr>
            <a:r>
              <a:rPr sz="1200" b="1" i="0">
                <a:solidFill>
                  <a:srgbClr val="222222"/>
                </a:solidFill>
                <a:latin typeface="Calibri"/>
              </a:rPr>
              <a:t>Prior from pretraining: </a:t>
            </a:r>
            <a:r>
              <a:rPr sz="1200" b="0" i="0">
                <a:solidFill>
                  <a:srgbClr val="222222"/>
                </a:solidFill>
                <a:latin typeface="Calibri"/>
              </a:rPr>
              <a:t>spotting = intensity × wind and dryness × receptive fuel</a:t>
            </a:r>
          </a:p>
          <a:p>
            <a:pPr algn="l">
              <a:spcAft>
                <a:spcPts val="400"/>
              </a:spcAft>
            </a:pPr>
            <a:r>
              <a:rPr sz="1200" b="1" i="0">
                <a:solidFill>
                  <a:srgbClr val="222222"/>
                </a:solidFill>
                <a:latin typeface="Calibri"/>
              </a:rPr>
              <a:t>Mapped onto the listed features: </a:t>
            </a:r>
            <a:r>
              <a:rPr sz="1200" b="0" i="0">
                <a:solidFill>
                  <a:srgbClr val="222222"/>
                </a:solidFill>
                <a:latin typeface="Calibri"/>
              </a:rPr>
              <a:t>spread potential (intensity), weather severity (wind, dryness), fuel load (receptive fuel)</a:t>
            </a:r>
          </a:p>
          <a:p>
            <a:pPr algn="l">
              <a:spcAft>
                <a:spcPts val="400"/>
              </a:spcAft>
            </a:pPr>
            <a:r>
              <a:rPr sz="1200" b="1" i="0">
                <a:solidFill>
                  <a:srgbClr val="222222"/>
                </a:solidFill>
                <a:latin typeface="Calibri"/>
              </a:rPr>
              <a:t>Proposal, one JSON: </a:t>
            </a:r>
          </a:p>
          <a:p>
            <a:pPr algn="l">
              <a:spcAft>
                <a:spcPts val="400"/>
              </a:spcAft>
            </a:pPr>
            <a:r>
              <a:rPr sz="1200" b="1" i="0">
                <a:solidFill>
                  <a:srgbClr val="E31836"/>
                </a:solidFill>
                <a:latin typeface="Calibri"/>
              </a:rPr>
              <a:t>ember_spotting_risk = 0.40 spread potential + 0.35 weather severity + 0.25 fuel load</a:t>
            </a:r>
          </a:p>
          <a:p>
            <a:pPr algn="l">
              <a:spcAft>
                <a:spcPts val="400"/>
              </a:spcAft>
            </a:pPr>
            <a:r>
              <a:rPr sz="1200" b="0" i="0">
                <a:solidFill>
                  <a:srgbClr val="222222"/>
                </a:solidFill>
                <a:latin typeface="Calibri"/>
              </a:rPr>
              <a:t>IF ember_spotting_risk ≥ H ∧ suppression_feasibility ≥ M  THEN containment_line 0.8, retardant_drop 0.7</a:t>
            </a:r>
          </a:p>
          <a:p>
            <a:pPr algn="l">
              <a:spcAft>
                <a:spcPts val="400"/>
              </a:spcAft>
            </a:pPr>
            <a:r>
              <a:rPr sz="1200" b="1" i="0">
                <a:solidFill>
                  <a:srgbClr val="222222"/>
                </a:solidFill>
                <a:latin typeface="Calibri"/>
              </a:rPr>
              <a:t>The weights are a prior, not an optimum: </a:t>
            </a:r>
            <a:r>
              <a:rPr sz="1200" b="0" i="0">
                <a:solidFill>
                  <a:srgbClr val="222222"/>
                </a:solidFill>
                <a:latin typeface="Calibri"/>
              </a:rPr>
              <a:t>normalized on installation; the direction is what the gates test</a:t>
            </a:r>
          </a:p>
        </p:txBody>
      </p:sp>
      <p:sp>
        <p:nvSpPr>
          <p:cNvPr id="9531" name="Right Arrow 9530"/>
          <p:cNvSpPr/>
          <p:nvPr/>
        </p:nvSpPr>
        <p:spPr>
          <a:xfrm>
            <a:off x="8366760" y="3246120"/>
            <a:ext cx="320040" cy="237744"/>
          </a:xfrm>
          <a:prstGeom prst="right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2" name="Rounded Rectangle 9531"/>
          <p:cNvSpPr/>
          <p:nvPr/>
        </p:nvSpPr>
        <p:spPr>
          <a:xfrm>
            <a:off x="8778240" y="1554480"/>
            <a:ext cx="2971800" cy="960120"/>
          </a:xfrm>
          <a:prstGeom prst="roundRect">
            <a:avLst>
              <a:gd name="adj" fmla="val 8000"/>
            </a:avLst>
          </a:prstGeom>
          <a:solidFill>
            <a:srgbClr val="E6F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33" name="tb"/>
          <p:cNvSpPr txBox="1"/>
          <p:nvPr/>
        </p:nvSpPr>
        <p:spPr>
          <a:xfrm>
            <a:off x="8869680" y="1600200"/>
            <a:ext cx="2788920" cy="256032"/>
          </a:xfrm>
          <a:prstGeom prst="rect">
            <a:avLst/>
          </a:prstGeom>
          <a:noFill/>
        </p:spPr>
        <p:txBody>
          <a:bodyPr wrap="square" lIns="45720" rIns="45720" tIns="27432" bIns="27432" anchor="t">
            <a:spAutoFit/>
          </a:bodyPr>
          <a:lstStyle/>
          <a:p>
            <a:pPr algn="l">
              <a:spcAft>
                <a:spcPts val="0"/>
              </a:spcAft>
            </a:pPr>
            <a:r>
              <a:rPr sz="1300" b="1" i="0">
                <a:solidFill>
                  <a:srgbClr val="E31836"/>
                </a:solidFill>
                <a:latin typeface="Calibri"/>
              </a:rPr>
              <a:t>G2b  non-redundancy</a:t>
            </a:r>
          </a:p>
        </p:txBody>
      </p:sp>
      <p:sp>
        <p:nvSpPr>
          <p:cNvPr id="9534" name="tb"/>
          <p:cNvSpPr txBox="1"/>
          <p:nvPr/>
        </p:nvSpPr>
        <p:spPr>
          <a:xfrm>
            <a:off x="8869680" y="1856231"/>
            <a:ext cx="2788920" cy="640080"/>
          </a:xfrm>
          <a:prstGeom prst="rect">
            <a:avLst/>
          </a:prstGeom>
          <a:noFill/>
        </p:spPr>
        <p:txBody>
          <a:bodyPr wrap="square" lIns="45720" rIns="45720" tIns="27432" bIns="27432" anchor="t">
            <a:spAutoFit/>
          </a:bodyPr>
          <a:lstStyle/>
          <a:p>
            <a:pPr algn="l">
              <a:spcAft>
                <a:spcPts val="0"/>
              </a:spcAft>
            </a:pPr>
            <a:r>
              <a:rPr sz="1150" b="0" i="0">
                <a:solidFill>
                  <a:srgbClr val="222222"/>
                </a:solidFill>
                <a:latin typeface="Calibri"/>
              </a:rPr>
              <a:t>cosine against spread hazard (spread potential, weather severity, ignition proximity) below 0.95: a new direction</a:t>
            </a:r>
          </a:p>
        </p:txBody>
      </p:sp>
      <p:sp>
        <p:nvSpPr>
          <p:cNvPr id="9535" name="Rounded Rectangle 9534"/>
          <p:cNvSpPr/>
          <p:nvPr/>
        </p:nvSpPr>
        <p:spPr>
          <a:xfrm>
            <a:off x="8778240" y="2624328"/>
            <a:ext cx="2971800" cy="960120"/>
          </a:xfrm>
          <a:prstGeom prst="roundRect">
            <a:avLst>
              <a:gd name="adj" fmla="val 8000"/>
            </a:avLst>
          </a:prstGeom>
          <a:solidFill>
            <a:srgbClr val="E6F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36" name="tb"/>
          <p:cNvSpPr txBox="1"/>
          <p:nvPr/>
        </p:nvSpPr>
        <p:spPr>
          <a:xfrm>
            <a:off x="8869680" y="2670048"/>
            <a:ext cx="2788920" cy="256032"/>
          </a:xfrm>
          <a:prstGeom prst="rect">
            <a:avLst/>
          </a:prstGeom>
          <a:noFill/>
        </p:spPr>
        <p:txBody>
          <a:bodyPr wrap="square" lIns="45720" rIns="45720" tIns="27432" bIns="27432" anchor="t">
            <a:spAutoFit/>
          </a:bodyPr>
          <a:lstStyle/>
          <a:p>
            <a:pPr algn="l">
              <a:spcAft>
                <a:spcPts val="0"/>
              </a:spcAft>
            </a:pPr>
            <a:r>
              <a:rPr sz="1300" b="1" i="0">
                <a:solidFill>
                  <a:srgbClr val="E31836"/>
                </a:solidFill>
                <a:latin typeface="Calibri"/>
              </a:rPr>
              <a:t>G2c  relevance</a:t>
            </a:r>
          </a:p>
        </p:txBody>
      </p:sp>
      <p:sp>
        <p:nvSpPr>
          <p:cNvPr id="9537" name="tb"/>
          <p:cNvSpPr txBox="1"/>
          <p:nvPr/>
        </p:nvSpPr>
        <p:spPr>
          <a:xfrm>
            <a:off x="8869680" y="2926080"/>
            <a:ext cx="2788920" cy="640080"/>
          </a:xfrm>
          <a:prstGeom prst="rect">
            <a:avLst/>
          </a:prstGeom>
          <a:noFill/>
        </p:spPr>
        <p:txBody>
          <a:bodyPr wrap="square" lIns="45720" rIns="45720" tIns="27432" bIns="27432" anchor="t">
            <a:spAutoFit/>
          </a:bodyPr>
          <a:lstStyle/>
          <a:p>
            <a:pPr algn="l">
              <a:spcAft>
                <a:spcPts val="0"/>
              </a:spcAft>
            </a:pPr>
            <a:r>
              <a:rPr sz="1150" b="0" i="0">
                <a:solidFill>
                  <a:srgbClr val="222222"/>
                </a:solidFill>
                <a:latin typeface="Calibri"/>
              </a:rPr>
              <a:t>H, VH, H are the readings of this cycle: the rule fires now</a:t>
            </a:r>
          </a:p>
        </p:txBody>
      </p:sp>
      <p:sp>
        <p:nvSpPr>
          <p:cNvPr id="9538" name="Rounded Rectangle 9537"/>
          <p:cNvSpPr/>
          <p:nvPr/>
        </p:nvSpPr>
        <p:spPr>
          <a:xfrm>
            <a:off x="8778240" y="3694176"/>
            <a:ext cx="2971800" cy="960120"/>
          </a:xfrm>
          <a:prstGeom prst="roundRect">
            <a:avLst>
              <a:gd name="adj" fmla="val 8000"/>
            </a:avLst>
          </a:prstGeom>
          <a:solidFill>
            <a:srgbClr val="E6F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39" name="tb"/>
          <p:cNvSpPr txBox="1"/>
          <p:nvPr/>
        </p:nvSpPr>
        <p:spPr>
          <a:xfrm>
            <a:off x="8869680" y="3739896"/>
            <a:ext cx="2788920" cy="256032"/>
          </a:xfrm>
          <a:prstGeom prst="rect">
            <a:avLst/>
          </a:prstGeom>
          <a:noFill/>
        </p:spPr>
        <p:txBody>
          <a:bodyPr wrap="square" lIns="45720" rIns="45720" tIns="27432" bIns="27432" anchor="t">
            <a:spAutoFit/>
          </a:bodyPr>
          <a:lstStyle/>
          <a:p>
            <a:pPr algn="l">
              <a:spcAft>
                <a:spcPts val="0"/>
              </a:spcAft>
            </a:pPr>
            <a:r>
              <a:rPr sz="1300" b="1" i="0">
                <a:solidFill>
                  <a:srgbClr val="E31836"/>
                </a:solidFill>
                <a:latin typeface="Calibri"/>
              </a:rPr>
              <a:t>G3 G4  two futures</a:t>
            </a:r>
          </a:p>
        </p:txBody>
      </p:sp>
      <p:sp>
        <p:nvSpPr>
          <p:cNvPr id="9540" name="tb"/>
          <p:cNvSpPr txBox="1"/>
          <p:nvPr/>
        </p:nvSpPr>
        <p:spPr>
          <a:xfrm>
            <a:off x="8869680" y="3995928"/>
            <a:ext cx="2788920" cy="640080"/>
          </a:xfrm>
          <a:prstGeom prst="rect">
            <a:avLst/>
          </a:prstGeom>
          <a:noFill/>
        </p:spPr>
        <p:txBody>
          <a:bodyPr wrap="square" lIns="45720" rIns="45720" tIns="27432" bIns="27432" anchor="t">
            <a:spAutoFit/>
          </a:bodyPr>
          <a:lstStyle/>
          <a:p>
            <a:pPr algn="l">
              <a:spcAft>
                <a:spcPts val="0"/>
              </a:spcAft>
            </a:pPr>
            <a:r>
              <a:rPr sz="1150" b="0" i="0">
                <a:solidFill>
                  <a:srgbClr val="222222"/>
                </a:solidFill>
                <a:latin typeface="Calibri"/>
              </a:rPr>
              <a:t>forecast burned area, asset loss and exposure fall on both seeds</a:t>
            </a:r>
          </a:p>
        </p:txBody>
      </p:sp>
      <p:sp>
        <p:nvSpPr>
          <p:cNvPr id="9541" name="Rounded Rectangle 9540"/>
          <p:cNvSpPr/>
          <p:nvPr/>
        </p:nvSpPr>
        <p:spPr>
          <a:xfrm>
            <a:off x="8778240" y="4764024"/>
            <a:ext cx="2971800" cy="960120"/>
          </a:xfrm>
          <a:prstGeom prst="roundRect">
            <a:avLst>
              <a:gd name="adj" fmla="val 8000"/>
            </a:avLst>
          </a:prstGeom>
          <a:solidFill>
            <a:srgbClr val="E6F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42" name="tb"/>
          <p:cNvSpPr txBox="1"/>
          <p:nvPr/>
        </p:nvSpPr>
        <p:spPr>
          <a:xfrm>
            <a:off x="8869680" y="4809744"/>
            <a:ext cx="2788920" cy="256032"/>
          </a:xfrm>
          <a:prstGeom prst="rect">
            <a:avLst/>
          </a:prstGeom>
          <a:noFill/>
        </p:spPr>
        <p:txBody>
          <a:bodyPr wrap="square" lIns="45720" rIns="45720" tIns="27432" bIns="27432" anchor="t">
            <a:spAutoFit/>
          </a:bodyPr>
          <a:lstStyle/>
          <a:p>
            <a:pPr algn="l">
              <a:spcAft>
                <a:spcPts val="0"/>
              </a:spcAft>
            </a:pPr>
            <a:r>
              <a:rPr sz="1300" b="1" i="0">
                <a:solidFill>
                  <a:srgbClr val="E31836"/>
                </a:solidFill>
                <a:latin typeface="Calibri"/>
              </a:rPr>
              <a:t>G5  vocabulary margin</a:t>
            </a:r>
          </a:p>
        </p:txBody>
      </p:sp>
      <p:sp>
        <p:nvSpPr>
          <p:cNvPr id="9543" name="tb"/>
          <p:cNvSpPr txBox="1"/>
          <p:nvPr/>
        </p:nvSpPr>
        <p:spPr>
          <a:xfrm>
            <a:off x="8869680" y="5065776"/>
            <a:ext cx="2788920" cy="640080"/>
          </a:xfrm>
          <a:prstGeom prst="rect">
            <a:avLst/>
          </a:prstGeom>
          <a:noFill/>
        </p:spPr>
        <p:txBody>
          <a:bodyPr wrap="square" lIns="45720" rIns="45720" tIns="27432" bIns="27432" anchor="t">
            <a:spAutoFit/>
          </a:bodyPr>
          <a:lstStyle/>
          <a:p>
            <a:pPr algn="l">
              <a:spcAft>
                <a:spcPts val="0"/>
              </a:spcAft>
            </a:pPr>
            <a:r>
              <a:rPr sz="1150" b="0" i="0">
                <a:solidFill>
                  <a:srgbClr val="222222"/>
                </a:solidFill>
                <a:latin typeface="Calibri"/>
              </a:rPr>
              <a:t>the fall exceeds δv on both; the new axis pays for itself</a:t>
            </a:r>
          </a:p>
        </p:txBody>
      </p:sp>
      <p:sp>
        <p:nvSpPr>
          <p:cNvPr id="9544" name="tb"/>
          <p:cNvSpPr txBox="1"/>
          <p:nvPr/>
        </p:nvSpPr>
        <p:spPr>
          <a:xfrm>
            <a:off x="8778240" y="5815583"/>
            <a:ext cx="2971800" cy="274320"/>
          </a:xfrm>
          <a:prstGeom prst="rect">
            <a:avLst/>
          </a:prstGeom>
          <a:noFill/>
        </p:spPr>
        <p:txBody>
          <a:bodyPr wrap="square" lIns="45720" rIns="45720" tIns="27432" bIns="27432" anchor="t">
            <a:spAutoFit/>
          </a:bodyPr>
          <a:lstStyle/>
          <a:p>
            <a:pPr algn="l">
              <a:spcAft>
                <a:spcPts val="0"/>
              </a:spcAft>
            </a:pPr>
            <a:r>
              <a:rPr sz="1100" b="0" i="1">
                <a:solidFill>
                  <a:srgbClr val="6E6E6E"/>
                </a:solidFill>
                <a:latin typeface="Calibri"/>
              </a:rPr>
              <a:t>what the gates check</a:t>
            </a:r>
          </a:p>
        </p:txBody>
      </p:sp>
      <p:sp>
        <p:nvSpPr>
          <p:cNvPr id="9545" name="tb"/>
          <p:cNvSpPr txBox="1"/>
          <p:nvPr/>
        </p:nvSpPr>
        <p:spPr>
          <a:xfrm>
            <a:off x="502920" y="6172200"/>
            <a:ext cx="11247120" cy="594360"/>
          </a:xfrm>
          <a:prstGeom prst="rect">
            <a:avLst/>
          </a:prstGeom>
          <a:noFill/>
        </p:spPr>
        <p:txBody>
          <a:bodyPr wrap="square" lIns="45720" rIns="45720" tIns="27432" bIns="27432" anchor="t">
            <a:spAutoFit/>
          </a:bodyPr>
          <a:lstStyle/>
          <a:p>
            <a:pPr algn="l">
              <a:spcAft>
                <a:spcPts val="0"/>
              </a:spcAft>
            </a:pPr>
            <a:r>
              <a:rPr sz="1300" b="1" i="0">
                <a:solidFill>
                  <a:srgbClr val="6E6E6E"/>
                </a:solidFill>
                <a:latin typeface="Calibri"/>
              </a:rPr>
              <a:t>Ten other concepts could have been proposed. This one survived because a rule written on it lowered the physical forecast in two different futures. </a:t>
            </a:r>
            <a:r>
              <a:rPr sz="1200" b="0" i="1">
                <a:solidFill>
                  <a:srgbClr val="6E6E6E"/>
                </a:solidFill>
                <a:latin typeface="Calibri"/>
              </a:rPr>
              <a:t>The recorded run admitted interface_exposure (evidence part); this case illustrates the mechanism.</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513" name="Text 0"/>
          <p:cNvSpPr/>
          <p:nvPr/>
        </p:nvSpPr>
        <p:spPr>
          <a:xfrm>
            <a:off x="502920" y="237744"/>
            <a:ext cx="10058400" cy="292608"/>
          </a:xfrm>
          <a:prstGeom prst="rect">
            <a:avLst/>
          </a:prstGeom>
          <a:noFill/>
          <a:ln/>
        </p:spPr>
        <p:txBody>
          <a:bodyPr wrap="square" lIns="0" tIns="0" rIns="0" bIns="0" rtlCol="0" anchor="ctr"/>
          <a:lstStyle/>
          <a:p>
            <a:pPr marL="0" indent="0">
              <a:buNone/>
            </a:pPr>
            <a:r>
              <a:rPr sz="1300" b="1">
                <a:solidFill>
                  <a:srgbClr val="E31836"/>
                </a:solidFill>
                <a:latin typeface="Calibri"/>
              </a:rPr>
              <a:t>DSS FRAMEWORK : LAYER 4 OF 4</a:t>
            </a:r>
            <a:endParaRPr lang="en-US" sz="1300" dirty="0"/>
          </a:p>
        </p:txBody>
      </p:sp>
      <p:sp>
        <p:nvSpPr>
          <p:cNvPr id="9514" name="Text 1"/>
          <p:cNvSpPr/>
          <p:nvPr/>
        </p:nvSpPr>
        <p:spPr>
          <a:xfrm>
            <a:off x="502920" y="493776"/>
            <a:ext cx="11247120" cy="621792"/>
          </a:xfrm>
          <a:prstGeom prst="rect">
            <a:avLst/>
          </a:prstGeom>
          <a:noFill/>
          <a:ln/>
        </p:spPr>
        <p:txBody>
          <a:bodyPr wrap="square" lIns="0" tIns="0" rIns="0" bIns="0" rtlCol="0" anchor="ctr"/>
          <a:lstStyle/>
          <a:p>
            <a:pPr marL="0" indent="0">
              <a:buNone/>
            </a:pPr>
            <a:r>
              <a:rPr sz="2500" b="1">
                <a:solidFill>
                  <a:srgbClr val="000000"/>
                </a:solidFill>
                <a:latin typeface="Cambria"/>
              </a:rPr>
              <a:t>A Proposer of Our Own : Llama 3.1 8B Behind the Same Gates</a:t>
            </a:r>
            <a:endParaRPr lang="en-US" sz="2500" dirty="0"/>
          </a:p>
        </p:txBody>
      </p:sp>
      <p:pic>
        <p:nvPicPr>
          <p:cNvPr id="9515" name="Image 0" descr="/tmp/thx/deck/figs/metu_emblem.png"/>
          <p:cNvPicPr>
            <a:picLocks noChangeAspect="1"/>
          </p:cNvPicPr>
          <p:nvPr/>
        </p:nvPicPr>
        <p:blipFill>
          <a:blip r:embed="rId2"/>
          <a:stretch>
            <a:fillRect/>
          </a:stretch>
        </p:blipFill>
        <p:spPr>
          <a:xfrm>
            <a:off x="10716768" y="184607"/>
            <a:ext cx="475488" cy="398882"/>
          </a:xfrm>
          <a:prstGeom prst="rect">
            <a:avLst/>
          </a:prstGeom>
        </p:spPr>
      </p:pic>
      <p:pic>
        <p:nvPicPr>
          <p:cNvPr id="9516" name="Image 1" descr="/tmp/thx/deck/figs/eee_logo.png"/>
          <p:cNvPicPr>
            <a:picLocks noChangeAspect="1"/>
          </p:cNvPicPr>
          <p:nvPr/>
        </p:nvPicPr>
        <p:blipFill>
          <a:blip r:embed="rId3"/>
          <a:stretch>
            <a:fillRect/>
          </a:stretch>
        </p:blipFill>
        <p:spPr>
          <a:xfrm>
            <a:off x="11265408" y="186217"/>
            <a:ext cx="475488" cy="395662"/>
          </a:xfrm>
          <a:prstGeom prst="rect">
            <a:avLst/>
          </a:prstGeom>
        </p:spPr>
      </p:pic>
      <p:sp>
        <p:nvSpPr>
          <p:cNvPr id="9517" name="tb"/>
          <p:cNvSpPr txBox="1"/>
          <p:nvPr/>
        </p:nvSpPr>
        <p:spPr>
          <a:xfrm>
            <a:off x="502920" y="1115568"/>
            <a:ext cx="11247120" cy="320040"/>
          </a:xfrm>
          <a:prstGeom prst="rect">
            <a:avLst/>
          </a:prstGeom>
          <a:noFill/>
        </p:spPr>
        <p:txBody>
          <a:bodyPr wrap="square" lIns="45720" rIns="45720" tIns="27432" bIns="27432" anchor="t">
            <a:spAutoFit/>
          </a:bodyPr>
          <a:lstStyle/>
          <a:p>
            <a:pPr algn="l">
              <a:spcAft>
                <a:spcPts val="0"/>
              </a:spcAft>
            </a:pPr>
            <a:r>
              <a:rPr sz="1350" b="1" i="0">
                <a:solidFill>
                  <a:srgbClr val="222222"/>
                </a:solidFill>
                <a:latin typeface="Calibri"/>
              </a:rPr>
              <a:t>Knowledge from pretraining, discipline from the gates, specialization from the incident record. The gates never change.</a:t>
            </a:r>
          </a:p>
        </p:txBody>
      </p:sp>
      <p:sp>
        <p:nvSpPr>
          <p:cNvPr id="9518" name="Rounded Rectangle 9517"/>
          <p:cNvSpPr/>
          <p:nvPr/>
        </p:nvSpPr>
        <p:spPr>
          <a:xfrm>
            <a:off x="457200" y="1572768"/>
            <a:ext cx="4206240" cy="34290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19" name="tb"/>
          <p:cNvSpPr txBox="1"/>
          <p:nvPr/>
        </p:nvSpPr>
        <p:spPr>
          <a:xfrm>
            <a:off x="566928" y="1645920"/>
            <a:ext cx="3986783" cy="274320"/>
          </a:xfrm>
          <a:prstGeom prst="rect">
            <a:avLst/>
          </a:prstGeom>
          <a:noFill/>
        </p:spPr>
        <p:txBody>
          <a:bodyPr wrap="square" lIns="45720" rIns="45720" tIns="27432" bIns="27432" anchor="t">
            <a:spAutoFit/>
          </a:bodyPr>
          <a:lstStyle/>
          <a:p>
            <a:pPr algn="l">
              <a:spcAft>
                <a:spcPts val="0"/>
              </a:spcAft>
            </a:pPr>
            <a:r>
              <a:rPr sz="1400" b="1" i="0">
                <a:solidFill>
                  <a:srgbClr val="E31836"/>
                </a:solidFill>
                <a:latin typeface="Calibri"/>
              </a:rPr>
              <a:t>The model</a:t>
            </a:r>
          </a:p>
        </p:txBody>
      </p:sp>
      <p:sp>
        <p:nvSpPr>
          <p:cNvPr id="9520" name="tb"/>
          <p:cNvSpPr txBox="1"/>
          <p:nvPr/>
        </p:nvSpPr>
        <p:spPr>
          <a:xfrm>
            <a:off x="566928" y="1984248"/>
            <a:ext cx="3986783" cy="2971800"/>
          </a:xfrm>
          <a:prstGeom prst="rect">
            <a:avLst/>
          </a:prstGeom>
          <a:noFill/>
        </p:spPr>
        <p:txBody>
          <a:bodyPr wrap="square" lIns="45720" rIns="45720" tIns="27432" bIns="27432" anchor="t">
            <a:spAutoFit/>
          </a:bodyPr>
          <a:lstStyle/>
          <a:p>
            <a:pPr algn="l">
              <a:spcAft>
                <a:spcPts val="700"/>
              </a:spcAft>
            </a:pPr>
            <a:r>
              <a:rPr sz="1350" b="1" i="0">
                <a:solidFill>
                  <a:srgbClr val="222222"/>
                </a:solidFill>
                <a:latin typeface="Calibri"/>
              </a:rPr>
              <a:t>Base : </a:t>
            </a:r>
            <a:r>
              <a:rPr sz="1350" b="0" i="0">
                <a:solidFill>
                  <a:srgbClr val="222222"/>
                </a:solidFill>
                <a:latin typeface="Calibri"/>
              </a:rPr>
              <a:t>Llama 3.1 8B Instruct, open weights, 4-bit, one 24 GB GPU, on premise</a:t>
            </a:r>
          </a:p>
          <a:p>
            <a:pPr algn="l">
              <a:spcAft>
                <a:spcPts val="700"/>
              </a:spcAft>
            </a:pPr>
            <a:r>
              <a:rPr sz="1350" b="1" i="0">
                <a:solidFill>
                  <a:srgbClr val="222222"/>
                </a:solidFill>
                <a:latin typeface="Calibri"/>
              </a:rPr>
              <a:t>Decoding : </a:t>
            </a:r>
            <a:r>
              <a:rPr sz="1350" b="0" i="0">
                <a:solidFill>
                  <a:srgbClr val="222222"/>
                </a:solidFill>
                <a:latin typeface="Calibri"/>
              </a:rPr>
              <a:t>grammar-constrained (a JSON grammar over the live vocabulary); G1 cannot fail and an unknown name cannot be generated</a:t>
            </a:r>
          </a:p>
          <a:p>
            <a:pPr algn="l">
              <a:spcAft>
                <a:spcPts val="700"/>
              </a:spcAft>
            </a:pPr>
            <a:r>
              <a:rPr sz="1350" b="1" i="0">
                <a:solidFill>
                  <a:srgbClr val="222222"/>
                </a:solidFill>
                <a:latin typeface="Calibri"/>
              </a:rPr>
              <a:t>Reproducible : </a:t>
            </a:r>
            <a:r>
              <a:rPr sz="1350" b="0" i="0">
                <a:solidFill>
                  <a:srgbClr val="222222"/>
                </a:solidFill>
                <a:latin typeface="Calibri"/>
              </a:rPr>
              <a:t>temperature 0 and a fixed seed replay a reply bit for bit</a:t>
            </a:r>
          </a:p>
          <a:p>
            <a:pPr algn="l">
              <a:spcAft>
                <a:spcPts val="700"/>
              </a:spcAft>
            </a:pPr>
            <a:r>
              <a:rPr sz="1350" b="1" i="0">
                <a:solidFill>
                  <a:srgbClr val="222222"/>
                </a:solidFill>
                <a:latin typeface="Calibri"/>
              </a:rPr>
              <a:t>Latency : </a:t>
            </a:r>
            <a:r>
              <a:rPr sz="1350" b="0" i="0">
                <a:solidFill>
                  <a:srgbClr val="222222"/>
                </a:solidFill>
                <a:latin typeface="Calibri"/>
              </a:rPr>
              <a:t>3 000-token prompt + 100-token reply ≈ 3 s against a 90 s budget</a:t>
            </a:r>
          </a:p>
          <a:p>
            <a:pPr algn="l">
              <a:spcAft>
                <a:spcPts val="700"/>
              </a:spcAft>
            </a:pPr>
            <a:r>
              <a:rPr sz="1350" b="1" i="0">
                <a:solidFill>
                  <a:srgbClr val="222222"/>
                </a:solidFill>
                <a:latin typeface="Calibri"/>
              </a:rPr>
              <a:t>Same contract : </a:t>
            </a:r>
            <a:r>
              <a:rPr sz="1350" b="0" i="0">
                <a:solidFill>
                  <a:srgbClr val="222222"/>
                </a:solidFill>
                <a:latin typeface="Calibri"/>
              </a:rPr>
              <a:t>same prompt, same JSON, same gates; the model is a drop-in part</a:t>
            </a:r>
          </a:p>
        </p:txBody>
      </p:sp>
      <p:sp>
        <p:nvSpPr>
          <p:cNvPr id="9521" name="Rounded Rectangle 9520"/>
          <p:cNvSpPr/>
          <p:nvPr/>
        </p:nvSpPr>
        <p:spPr>
          <a:xfrm>
            <a:off x="4892040" y="1572768"/>
            <a:ext cx="6858000" cy="34290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22" name="tb"/>
          <p:cNvSpPr txBox="1"/>
          <p:nvPr/>
        </p:nvSpPr>
        <p:spPr>
          <a:xfrm>
            <a:off x="5001768" y="1645920"/>
            <a:ext cx="6638544" cy="274320"/>
          </a:xfrm>
          <a:prstGeom prst="rect">
            <a:avLst/>
          </a:prstGeom>
          <a:noFill/>
        </p:spPr>
        <p:txBody>
          <a:bodyPr wrap="square" lIns="45720" rIns="45720" tIns="27432" bIns="27432" anchor="t">
            <a:spAutoFit/>
          </a:bodyPr>
          <a:lstStyle/>
          <a:p>
            <a:pPr algn="l">
              <a:spcAft>
                <a:spcPts val="0"/>
              </a:spcAft>
            </a:pPr>
            <a:r>
              <a:rPr sz="1400" b="1" i="0">
                <a:solidFill>
                  <a:srgbClr val="E31836"/>
                </a:solidFill>
                <a:latin typeface="Calibri"/>
              </a:rPr>
              <a:t>The training loop : the gates are the reward</a:t>
            </a:r>
          </a:p>
        </p:txBody>
      </p:sp>
      <p:sp>
        <p:nvSpPr>
          <p:cNvPr id="9523" name="Rounded Rectangle 9522"/>
          <p:cNvSpPr/>
          <p:nvPr/>
        </p:nvSpPr>
        <p:spPr>
          <a:xfrm>
            <a:off x="5029200" y="2075688"/>
            <a:ext cx="1508760" cy="21031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24" name="tb"/>
          <p:cNvSpPr txBox="1"/>
          <p:nvPr/>
        </p:nvSpPr>
        <p:spPr>
          <a:xfrm>
            <a:off x="5084064" y="2121408"/>
            <a:ext cx="1399031" cy="274320"/>
          </a:xfrm>
          <a:prstGeom prst="rect">
            <a:avLst/>
          </a:prstGeom>
          <a:noFill/>
        </p:spPr>
        <p:txBody>
          <a:bodyPr wrap="square" lIns="45720" rIns="45720" tIns="27432" bIns="27432" anchor="t">
            <a:spAutoFit/>
          </a:bodyPr>
          <a:lstStyle/>
          <a:p>
            <a:pPr algn="l">
              <a:spcAft>
                <a:spcPts val="0"/>
              </a:spcAft>
            </a:pPr>
            <a:r>
              <a:rPr sz="1250" b="1" i="0">
                <a:solidFill>
                  <a:srgbClr val="E31836"/>
                </a:solidFill>
                <a:latin typeface="Calibri"/>
              </a:rPr>
              <a:t>1 · Data</a:t>
            </a:r>
          </a:p>
        </p:txBody>
      </p:sp>
      <p:sp>
        <p:nvSpPr>
          <p:cNvPr id="9525" name="tb"/>
          <p:cNvSpPr txBox="1"/>
          <p:nvPr/>
        </p:nvSpPr>
        <p:spPr>
          <a:xfrm>
            <a:off x="5084064" y="2423160"/>
            <a:ext cx="1399031" cy="1737360"/>
          </a:xfrm>
          <a:prstGeom prst="rect">
            <a:avLst/>
          </a:prstGeom>
          <a:noFill/>
        </p:spPr>
        <p:txBody>
          <a:bodyPr wrap="square" lIns="45720" rIns="45720" tIns="27432" bIns="27432" anchor="t">
            <a:spAutoFit/>
          </a:bodyPr>
          <a:lstStyle/>
          <a:p>
            <a:pPr algn="l">
              <a:spcAft>
                <a:spcPts val="400"/>
              </a:spcAft>
            </a:pPr>
            <a:r>
              <a:rPr sz="1200" b="0" i="0">
                <a:solidFill>
                  <a:srgbClr val="222222"/>
                </a:solidFill>
                <a:latin typeface="Calibri"/>
              </a:rPr>
              <a:t>campaigns on hundreds of procedural worlds</a:t>
            </a:r>
          </a:p>
          <a:p>
            <a:pPr algn="l">
              <a:spcAft>
                <a:spcPts val="400"/>
              </a:spcAft>
            </a:pPr>
            <a:r>
              <a:rPr sz="1200" b="0" i="0">
                <a:solidFill>
                  <a:srgbClr val="222222"/>
                </a:solidFill>
                <a:latin typeface="Calibri"/>
              </a:rPr>
              <a:t>chronicle: situation → JSON → gate verdict, ΔJ</a:t>
            </a:r>
          </a:p>
        </p:txBody>
      </p:sp>
      <p:sp>
        <p:nvSpPr>
          <p:cNvPr id="9526" name="Right Arrow 9525"/>
          <p:cNvSpPr/>
          <p:nvPr/>
        </p:nvSpPr>
        <p:spPr>
          <a:xfrm>
            <a:off x="6537960" y="3081528"/>
            <a:ext cx="201168" cy="182880"/>
          </a:xfrm>
          <a:prstGeom prst="right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7" name="Rounded Rectangle 9526"/>
          <p:cNvSpPr/>
          <p:nvPr/>
        </p:nvSpPr>
        <p:spPr>
          <a:xfrm>
            <a:off x="6739128" y="2075688"/>
            <a:ext cx="1508760" cy="21031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28" name="tb"/>
          <p:cNvSpPr txBox="1"/>
          <p:nvPr/>
        </p:nvSpPr>
        <p:spPr>
          <a:xfrm>
            <a:off x="6793992" y="2121408"/>
            <a:ext cx="1399031" cy="274320"/>
          </a:xfrm>
          <a:prstGeom prst="rect">
            <a:avLst/>
          </a:prstGeom>
          <a:noFill/>
        </p:spPr>
        <p:txBody>
          <a:bodyPr wrap="square" lIns="45720" rIns="45720" tIns="27432" bIns="27432" anchor="t">
            <a:spAutoFit/>
          </a:bodyPr>
          <a:lstStyle/>
          <a:p>
            <a:pPr algn="l">
              <a:spcAft>
                <a:spcPts val="0"/>
              </a:spcAft>
            </a:pPr>
            <a:r>
              <a:rPr sz="1250" b="1" i="0">
                <a:solidFill>
                  <a:srgbClr val="E31836"/>
                </a:solidFill>
                <a:latin typeface="Calibri"/>
              </a:rPr>
              <a:t>2 · SFT</a:t>
            </a:r>
          </a:p>
        </p:txBody>
      </p:sp>
      <p:sp>
        <p:nvSpPr>
          <p:cNvPr id="9529" name="tb"/>
          <p:cNvSpPr txBox="1"/>
          <p:nvPr/>
        </p:nvSpPr>
        <p:spPr>
          <a:xfrm>
            <a:off x="6793992" y="2423160"/>
            <a:ext cx="1399031" cy="1737360"/>
          </a:xfrm>
          <a:prstGeom prst="rect">
            <a:avLst/>
          </a:prstGeom>
          <a:noFill/>
        </p:spPr>
        <p:txBody>
          <a:bodyPr wrap="square" lIns="45720" rIns="45720" tIns="27432" bIns="27432" anchor="t">
            <a:spAutoFit/>
          </a:bodyPr>
          <a:lstStyle/>
          <a:p>
            <a:pPr algn="l">
              <a:spcAft>
                <a:spcPts val="400"/>
              </a:spcAft>
            </a:pPr>
            <a:r>
              <a:rPr sz="1200" b="0" i="0">
                <a:solidFill>
                  <a:srgbClr val="222222"/>
                </a:solidFill>
                <a:latin typeface="Calibri"/>
              </a:rPr>
              <a:t>LoRA, rank 32, a few epochs</a:t>
            </a:r>
          </a:p>
          <a:p>
            <a:pPr algn="l">
              <a:spcAft>
                <a:spcPts val="400"/>
              </a:spcAft>
            </a:pPr>
            <a:r>
              <a:rPr sz="1200" b="0" i="0">
                <a:solidFill>
                  <a:srgbClr val="222222"/>
                </a:solidFill>
                <a:latin typeface="Calibri"/>
              </a:rPr>
              <a:t>on admitted proposals only</a:t>
            </a:r>
          </a:p>
        </p:txBody>
      </p:sp>
      <p:sp>
        <p:nvSpPr>
          <p:cNvPr id="9530" name="Right Arrow 9529"/>
          <p:cNvSpPr/>
          <p:nvPr/>
        </p:nvSpPr>
        <p:spPr>
          <a:xfrm>
            <a:off x="8247888" y="3081528"/>
            <a:ext cx="201168" cy="182880"/>
          </a:xfrm>
          <a:prstGeom prst="right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1" name="Rounded Rectangle 9530"/>
          <p:cNvSpPr/>
          <p:nvPr/>
        </p:nvSpPr>
        <p:spPr>
          <a:xfrm>
            <a:off x="8449056" y="2075688"/>
            <a:ext cx="1508760" cy="21031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32" name="tb"/>
          <p:cNvSpPr txBox="1"/>
          <p:nvPr/>
        </p:nvSpPr>
        <p:spPr>
          <a:xfrm>
            <a:off x="8503920" y="2121408"/>
            <a:ext cx="1399031" cy="274320"/>
          </a:xfrm>
          <a:prstGeom prst="rect">
            <a:avLst/>
          </a:prstGeom>
          <a:noFill/>
        </p:spPr>
        <p:txBody>
          <a:bodyPr wrap="square" lIns="45720" rIns="45720" tIns="27432" bIns="27432" anchor="t">
            <a:spAutoFit/>
          </a:bodyPr>
          <a:lstStyle/>
          <a:p>
            <a:pPr algn="l">
              <a:spcAft>
                <a:spcPts val="0"/>
              </a:spcAft>
            </a:pPr>
            <a:r>
              <a:rPr sz="1250" b="1" i="0">
                <a:solidFill>
                  <a:srgbClr val="E31836"/>
                </a:solidFill>
                <a:latin typeface="Calibri"/>
              </a:rPr>
              <a:t>3 · Preference / RL</a:t>
            </a:r>
          </a:p>
        </p:txBody>
      </p:sp>
      <p:sp>
        <p:nvSpPr>
          <p:cNvPr id="9533" name="tb"/>
          <p:cNvSpPr txBox="1"/>
          <p:nvPr/>
        </p:nvSpPr>
        <p:spPr>
          <a:xfrm>
            <a:off x="8503920" y="2423160"/>
            <a:ext cx="1399031" cy="1737360"/>
          </a:xfrm>
          <a:prstGeom prst="rect">
            <a:avLst/>
          </a:prstGeom>
          <a:noFill/>
        </p:spPr>
        <p:txBody>
          <a:bodyPr wrap="square" lIns="45720" rIns="45720" tIns="27432" bIns="27432" anchor="t">
            <a:spAutoFit/>
          </a:bodyPr>
          <a:lstStyle/>
          <a:p>
            <a:pPr algn="l">
              <a:spcAft>
                <a:spcPts val="400"/>
              </a:spcAft>
            </a:pPr>
            <a:r>
              <a:rPr sz="1200" b="0" i="0">
                <a:solidFill>
                  <a:srgbClr val="222222"/>
                </a:solidFill>
                <a:latin typeface="Calibri"/>
              </a:rPr>
              <a:t>DPO: admitted vs rejected, same situation</a:t>
            </a:r>
          </a:p>
          <a:p>
            <a:pPr algn="l">
              <a:spcAft>
                <a:spcPts val="400"/>
              </a:spcAft>
            </a:pPr>
            <a:r>
              <a:rPr sz="1200" b="0" i="0">
                <a:solidFill>
                  <a:srgbClr val="222222"/>
                </a:solidFill>
                <a:latin typeface="Calibri"/>
              </a:rPr>
              <a:t>or GRPO: reward = free gates (dense) + rollouts (sparse) × ΔJ</a:t>
            </a:r>
          </a:p>
        </p:txBody>
      </p:sp>
      <p:sp>
        <p:nvSpPr>
          <p:cNvPr id="9534" name="Right Arrow 9533"/>
          <p:cNvSpPr/>
          <p:nvPr/>
        </p:nvSpPr>
        <p:spPr>
          <a:xfrm>
            <a:off x="9957816" y="3081528"/>
            <a:ext cx="201168" cy="182880"/>
          </a:xfrm>
          <a:prstGeom prst="right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5" name="Rounded Rectangle 9534"/>
          <p:cNvSpPr/>
          <p:nvPr/>
        </p:nvSpPr>
        <p:spPr>
          <a:xfrm>
            <a:off x="10158984" y="2075688"/>
            <a:ext cx="1508760" cy="21031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36" name="tb"/>
          <p:cNvSpPr txBox="1"/>
          <p:nvPr/>
        </p:nvSpPr>
        <p:spPr>
          <a:xfrm>
            <a:off x="10213848" y="2121408"/>
            <a:ext cx="1399031" cy="274320"/>
          </a:xfrm>
          <a:prstGeom prst="rect">
            <a:avLst/>
          </a:prstGeom>
          <a:noFill/>
        </p:spPr>
        <p:txBody>
          <a:bodyPr wrap="square" lIns="45720" rIns="45720" tIns="27432" bIns="27432" anchor="t">
            <a:spAutoFit/>
          </a:bodyPr>
          <a:lstStyle/>
          <a:p>
            <a:pPr algn="l">
              <a:spcAft>
                <a:spcPts val="0"/>
              </a:spcAft>
            </a:pPr>
            <a:r>
              <a:rPr sz="1250" b="1" i="0">
                <a:solidFill>
                  <a:srgbClr val="E31836"/>
                </a:solidFill>
                <a:latin typeface="Calibri"/>
              </a:rPr>
              <a:t>4 · Held-out worlds</a:t>
            </a:r>
          </a:p>
        </p:txBody>
      </p:sp>
      <p:sp>
        <p:nvSpPr>
          <p:cNvPr id="9537" name="tb"/>
          <p:cNvSpPr txBox="1"/>
          <p:nvPr/>
        </p:nvSpPr>
        <p:spPr>
          <a:xfrm>
            <a:off x="10213848" y="2423160"/>
            <a:ext cx="1399031" cy="1737360"/>
          </a:xfrm>
          <a:prstGeom prst="rect">
            <a:avLst/>
          </a:prstGeom>
          <a:noFill/>
        </p:spPr>
        <p:txBody>
          <a:bodyPr wrap="square" lIns="45720" rIns="45720" tIns="27432" bIns="27432" anchor="t">
            <a:spAutoFit/>
          </a:bodyPr>
          <a:lstStyle/>
          <a:p>
            <a:pPr algn="l">
              <a:spcAft>
                <a:spcPts val="400"/>
              </a:spcAft>
            </a:pPr>
            <a:r>
              <a:rPr sz="1200" b="0" i="0">
                <a:solidFill>
                  <a:srgbClr val="222222"/>
                </a:solidFill>
                <a:latin typeface="Calibri"/>
              </a:rPr>
              <a:t>acceptance rate · ΔJ of admissions</a:t>
            </a:r>
          </a:p>
          <a:p>
            <a:pPr algn="l">
              <a:spcAft>
                <a:spcPts val="400"/>
              </a:spcAft>
            </a:pPr>
            <a:r>
              <a:rPr sz="1200" b="0" i="0">
                <a:solidFill>
                  <a:srgbClr val="222222"/>
                </a:solidFill>
                <a:latin typeface="Calibri"/>
              </a:rPr>
              <a:t>G2b redundancy · diversity · latency</a:t>
            </a:r>
          </a:p>
        </p:txBody>
      </p:sp>
      <p:sp>
        <p:nvSpPr>
          <p:cNvPr id="9538" name="tb"/>
          <p:cNvSpPr txBox="1"/>
          <p:nvPr/>
        </p:nvSpPr>
        <p:spPr>
          <a:xfrm>
            <a:off x="5029200" y="4270248"/>
            <a:ext cx="6583680" cy="685800"/>
          </a:xfrm>
          <a:prstGeom prst="rect">
            <a:avLst/>
          </a:prstGeom>
          <a:noFill/>
        </p:spPr>
        <p:txBody>
          <a:bodyPr wrap="square" lIns="45720" rIns="45720" tIns="27432" bIns="27432" anchor="t">
            <a:spAutoFit/>
          </a:bodyPr>
          <a:lstStyle/>
          <a:p>
            <a:pPr algn="l">
              <a:spcAft>
                <a:spcPts val="0"/>
              </a:spcAft>
            </a:pPr>
            <a:r>
              <a:rPr sz="1250" b="0" i="0">
                <a:solidFill>
                  <a:srgbClr val="222222"/>
                </a:solidFill>
                <a:latin typeface="Calibri"/>
              </a:rPr>
              <a:t>Two safeguards: rollouts in the reward, so a proposal that only passes the free gates earns nothing; G2b and a temperature above zero, so the model does not collapse onto three favourite proposals.</a:t>
            </a:r>
          </a:p>
        </p:txBody>
      </p:sp>
      <p:sp>
        <p:nvSpPr>
          <p:cNvPr id="9539" name="Rounded Rectangle 9538"/>
          <p:cNvSpPr/>
          <p:nvPr/>
        </p:nvSpPr>
        <p:spPr>
          <a:xfrm>
            <a:off x="457200" y="5138928"/>
            <a:ext cx="11292840" cy="118872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40" name="tb"/>
          <p:cNvSpPr txBox="1"/>
          <p:nvPr/>
        </p:nvSpPr>
        <p:spPr>
          <a:xfrm>
            <a:off x="640080" y="5193792"/>
            <a:ext cx="10972800" cy="274320"/>
          </a:xfrm>
          <a:prstGeom prst="rect">
            <a:avLst/>
          </a:prstGeom>
          <a:noFill/>
        </p:spPr>
        <p:txBody>
          <a:bodyPr wrap="square" lIns="45720" rIns="45720" tIns="27432" bIns="27432" anchor="t">
            <a:spAutoFit/>
          </a:bodyPr>
          <a:lstStyle/>
          <a:p>
            <a:pPr algn="l">
              <a:spcAft>
                <a:spcPts val="0"/>
              </a:spcAft>
            </a:pPr>
            <a:r>
              <a:rPr sz="1300" b="1" i="0">
                <a:solidFill>
                  <a:srgbClr val="E31836"/>
                </a:solidFill>
                <a:latin typeface="Calibri"/>
              </a:rPr>
              <a:t>Why eight billion parameters</a:t>
            </a:r>
          </a:p>
        </p:txBody>
      </p:sp>
      <p:sp>
        <p:nvSpPr>
          <p:cNvPr id="9541" name="tb"/>
          <p:cNvSpPr txBox="1"/>
          <p:nvPr/>
        </p:nvSpPr>
        <p:spPr>
          <a:xfrm>
            <a:off x="640080" y="5486400"/>
            <a:ext cx="3566160" cy="777240"/>
          </a:xfrm>
          <a:prstGeom prst="rect">
            <a:avLst/>
          </a:prstGeom>
          <a:noFill/>
        </p:spPr>
        <p:txBody>
          <a:bodyPr wrap="square" lIns="45720" rIns="45720" tIns="27432" bIns="27432" anchor="t">
            <a:spAutoFit/>
          </a:bodyPr>
          <a:lstStyle/>
          <a:p>
            <a:pPr algn="l">
              <a:spcAft>
                <a:spcPts val="0"/>
              </a:spcAft>
            </a:pPr>
            <a:r>
              <a:rPr sz="1300" b="1" i="0">
                <a:solidFill>
                  <a:srgbClr val="222222"/>
                </a:solidFill>
                <a:latin typeface="Calibri"/>
              </a:rPr>
              <a:t>1 to 3 B : </a:t>
            </a:r>
            <a:r>
              <a:rPr sz="1300" b="0" i="0">
                <a:solidFill>
                  <a:srgbClr val="222222"/>
                </a:solidFill>
                <a:latin typeface="Calibri"/>
              </a:rPr>
              <a:t>learns the JSON, not the fire; the prior is thin and the acceptance rate falls</a:t>
            </a:r>
          </a:p>
        </p:txBody>
      </p:sp>
      <p:sp>
        <p:nvSpPr>
          <p:cNvPr id="9542" name="tb"/>
          <p:cNvSpPr txBox="1"/>
          <p:nvPr/>
        </p:nvSpPr>
        <p:spPr>
          <a:xfrm>
            <a:off x="4343400" y="5486400"/>
            <a:ext cx="3566160" cy="777240"/>
          </a:xfrm>
          <a:prstGeom prst="rect">
            <a:avLst/>
          </a:prstGeom>
          <a:noFill/>
        </p:spPr>
        <p:txBody>
          <a:bodyPr wrap="square" lIns="45720" rIns="45720" tIns="27432" bIns="27432" anchor="t">
            <a:spAutoFit/>
          </a:bodyPr>
          <a:lstStyle/>
          <a:p>
            <a:pPr algn="l">
              <a:spcAft>
                <a:spcPts val="0"/>
              </a:spcAft>
            </a:pPr>
            <a:r>
              <a:rPr sz="1300" b="1" i="0">
                <a:solidFill>
                  <a:srgbClr val="E31836"/>
                </a:solidFill>
                <a:latin typeface="Calibri"/>
              </a:rPr>
              <a:t>7 to 14 B : </a:t>
            </a:r>
            <a:r>
              <a:rPr sz="1300" b="0" i="0">
                <a:solidFill>
                  <a:srgbClr val="222222"/>
                </a:solidFill>
                <a:latin typeface="Calibri"/>
              </a:rPr>
              <a:t>the fire knowledge is there, one GPU, seconds per reply; the working point</a:t>
            </a:r>
          </a:p>
        </p:txBody>
      </p:sp>
      <p:sp>
        <p:nvSpPr>
          <p:cNvPr id="9543" name="tb"/>
          <p:cNvSpPr txBox="1"/>
          <p:nvPr/>
        </p:nvSpPr>
        <p:spPr>
          <a:xfrm>
            <a:off x="8046719" y="5486400"/>
            <a:ext cx="3566160" cy="777240"/>
          </a:xfrm>
          <a:prstGeom prst="rect">
            <a:avLst/>
          </a:prstGeom>
          <a:noFill/>
        </p:spPr>
        <p:txBody>
          <a:bodyPr wrap="square" lIns="45720" rIns="45720" tIns="27432" bIns="27432" anchor="t">
            <a:spAutoFit/>
          </a:bodyPr>
          <a:lstStyle/>
          <a:p>
            <a:pPr algn="l">
              <a:spcAft>
                <a:spcPts val="0"/>
              </a:spcAft>
            </a:pPr>
            <a:r>
              <a:rPr sz="1300" b="1" i="0">
                <a:solidFill>
                  <a:srgbClr val="222222"/>
                </a:solidFill>
                <a:latin typeface="Calibri"/>
              </a:rPr>
              <a:t>30 to 70 B : </a:t>
            </a:r>
            <a:r>
              <a:rPr sz="1300" b="0" i="0">
                <a:solidFill>
                  <a:srgbClr val="222222"/>
                </a:solidFill>
                <a:latin typeface="Calibri"/>
              </a:rPr>
              <a:t>better multi-step tactics, but four GPUs and a gain measured in a few points of acceptance</a:t>
            </a:r>
          </a:p>
        </p:txBody>
      </p:sp>
      <p:sp>
        <p:nvSpPr>
          <p:cNvPr id="9544" name="tb"/>
          <p:cNvSpPr txBox="1"/>
          <p:nvPr/>
        </p:nvSpPr>
        <p:spPr>
          <a:xfrm>
            <a:off x="502920" y="6446520"/>
            <a:ext cx="11247120" cy="320040"/>
          </a:xfrm>
          <a:prstGeom prst="rect">
            <a:avLst/>
          </a:prstGeom>
          <a:noFill/>
        </p:spPr>
        <p:txBody>
          <a:bodyPr wrap="square" lIns="45720" rIns="45720" tIns="27432" bIns="27432" anchor="t">
            <a:spAutoFit/>
          </a:bodyPr>
          <a:lstStyle/>
          <a:p>
            <a:pPr algn="l">
              <a:spcAft>
                <a:spcPts val="0"/>
              </a:spcAft>
            </a:pPr>
            <a:r>
              <a:rPr sz="1300" b="1" i="0">
                <a:solidFill>
                  <a:srgbClr val="6E6E6E"/>
                </a:solidFill>
                <a:latin typeface="Calibri"/>
              </a:rPr>
              <a:t>Rule of thumb: scale buys the prior, fine-tuning buys the format. Not below 8 B; measure before going above 14 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1987</TotalTime>
  <Words>21028</Words>
  <Application>Microsoft Office PowerPoint</Application>
  <PresentationFormat>Widescreen</PresentationFormat>
  <Paragraphs>2289</Paragraphs>
  <Slides>70</Slides>
  <Notes>70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70</vt:i4>
      </vt:variant>
    </vt:vector>
  </HeadingPairs>
  <TitlesOfParts>
    <vt:vector size="78" baseType="lpstr">
      <vt:lpstr>Arial</vt:lpstr>
      <vt:lpstr>Calibri</vt:lpstr>
      <vt:lpstr>Cambria</vt:lpstr>
      <vt:lpstr>Cambria Math</vt:lpstr>
      <vt:lpstr>Consolas</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cakman</dc:creator>
  <cp:lastModifiedBy>cakman</cp:lastModifiedBy>
  <cp:revision>71</cp:revision>
  <dcterms:created xsi:type="dcterms:W3CDTF">2026-08-13T07:33:11Z</dcterms:created>
  <dcterms:modified xsi:type="dcterms:W3CDTF">2026-08-31T10:22:40Z</dcterms:modified>
</cp:coreProperties>
</file>