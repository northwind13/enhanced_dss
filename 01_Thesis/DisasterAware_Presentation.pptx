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4">
  <p:sldMasterIdLst>
    <p:sldMasterId id="2147483648" r:id="rId1"/>
  </p:sldMasterIdLst>
  <p:notesMasterIdLst>
    <p:notesMasterId r:id="rId115"/>
  </p:notesMasterIdLst>
  <p:sldIdLst>
    <p:sldId id="256" r:id="rId2"/>
    <p:sldId id="257" r:id="rId3"/>
    <p:sldId id="343" r:id="rId4"/>
    <p:sldId id="258" r:id="rId5"/>
    <p:sldId id="308" r:id="rId6"/>
    <p:sldId id="259" r:id="rId7"/>
    <p:sldId id="325" r:id="rId8"/>
    <p:sldId id="326" r:id="rId9"/>
    <p:sldId id="260" r:id="rId10"/>
    <p:sldId id="309" r:id="rId11"/>
    <p:sldId id="310" r:id="rId12"/>
    <p:sldId id="312" r:id="rId13"/>
    <p:sldId id="317" r:id="rId14"/>
    <p:sldId id="318" r:id="rId15"/>
    <p:sldId id="319" r:id="rId16"/>
    <p:sldId id="320" r:id="rId17"/>
    <p:sldId id="328" r:id="rId18"/>
    <p:sldId id="329" r:id="rId19"/>
    <p:sldId id="327" r:id="rId20"/>
    <p:sldId id="333" r:id="rId21"/>
    <p:sldId id="262" r:id="rId22"/>
    <p:sldId id="335" r:id="rId23"/>
    <p:sldId id="338" r:id="rId24"/>
    <p:sldId id="311" r:id="rId25"/>
    <p:sldId id="340" r:id="rId26"/>
    <p:sldId id="341" r:id="rId27"/>
    <p:sldId id="267" r:id="rId28"/>
    <p:sldId id="268" r:id="rId29"/>
    <p:sldId id="269" r:id="rId30"/>
    <p:sldId id="360" r:id="rId31"/>
    <p:sldId id="270" r:id="rId32"/>
    <p:sldId id="339" r:id="rId33"/>
    <p:sldId id="359" r:id="rId34"/>
    <p:sldId id="344" r:id="rId35"/>
    <p:sldId id="345" r:id="rId36"/>
    <p:sldId id="350" r:id="rId37"/>
    <p:sldId id="347" r:id="rId38"/>
    <p:sldId id="271" r:id="rId39"/>
    <p:sldId id="351" r:id="rId40"/>
    <p:sldId id="355" r:id="rId41"/>
    <p:sldId id="357" r:id="rId42"/>
    <p:sldId id="264" r:id="rId43"/>
    <p:sldId id="272" r:id="rId44"/>
    <p:sldId id="361" r:id="rId45"/>
    <p:sldId id="273" r:id="rId46"/>
    <p:sldId id="385" r:id="rId47"/>
    <p:sldId id="405" r:id="rId48"/>
    <p:sldId id="386" r:id="rId49"/>
    <p:sldId id="387" r:id="rId50"/>
    <p:sldId id="388" r:id="rId51"/>
    <p:sldId id="389" r:id="rId52"/>
    <p:sldId id="390" r:id="rId53"/>
    <p:sldId id="391" r:id="rId54"/>
    <p:sldId id="392" r:id="rId55"/>
    <p:sldId id="406" r:id="rId56"/>
    <p:sldId id="393" r:id="rId57"/>
    <p:sldId id="394" r:id="rId58"/>
    <p:sldId id="395" r:id="rId59"/>
    <p:sldId id="396" r:id="rId60"/>
    <p:sldId id="397" r:id="rId61"/>
    <p:sldId id="398" r:id="rId62"/>
    <p:sldId id="399" r:id="rId63"/>
    <p:sldId id="400" r:id="rId64"/>
    <p:sldId id="401" r:id="rId65"/>
    <p:sldId id="402" r:id="rId66"/>
    <p:sldId id="403" r:id="rId67"/>
    <p:sldId id="404" r:id="rId68"/>
    <p:sldId id="276" r:id="rId69"/>
    <p:sldId id="277" r:id="rId70"/>
    <p:sldId id="278" r:id="rId71"/>
    <p:sldId id="283" r:id="rId72"/>
    <p:sldId id="407" r:id="rId73"/>
    <p:sldId id="408" r:id="rId74"/>
    <p:sldId id="409" r:id="rId75"/>
    <p:sldId id="410" r:id="rId76"/>
    <p:sldId id="261" r:id="rId77"/>
    <p:sldId id="411" r:id="rId78"/>
    <p:sldId id="263" r:id="rId79"/>
    <p:sldId id="412" r:id="rId80"/>
    <p:sldId id="265" r:id="rId81"/>
    <p:sldId id="266" r:id="rId82"/>
    <p:sldId id="413" r:id="rId83"/>
    <p:sldId id="414" r:id="rId84"/>
    <p:sldId id="415" r:id="rId85"/>
    <p:sldId id="416" r:id="rId86"/>
    <p:sldId id="417" r:id="rId87"/>
    <p:sldId id="418" r:id="rId88"/>
    <p:sldId id="419" r:id="rId89"/>
    <p:sldId id="274" r:id="rId90"/>
    <p:sldId id="275" r:id="rId91"/>
    <p:sldId id="420" r:id="rId92"/>
    <p:sldId id="421" r:id="rId93"/>
    <p:sldId id="422" r:id="rId94"/>
    <p:sldId id="279" r:id="rId95"/>
    <p:sldId id="280" r:id="rId96"/>
    <p:sldId id="297" r:id="rId97"/>
    <p:sldId id="423" r:id="rId98"/>
    <p:sldId id="282" r:id="rId99"/>
    <p:sldId id="424" r:id="rId100"/>
    <p:sldId id="284" r:id="rId101"/>
    <p:sldId id="298" r:id="rId102"/>
    <p:sldId id="425" r:id="rId103"/>
    <p:sldId id="426" r:id="rId104"/>
    <p:sldId id="427" r:id="rId105"/>
    <p:sldId id="428" r:id="rId106"/>
    <p:sldId id="429" r:id="rId107"/>
    <p:sldId id="430" r:id="rId108"/>
    <p:sldId id="431" r:id="rId109"/>
    <p:sldId id="432" r:id="rId110"/>
    <p:sldId id="433" r:id="rId111"/>
    <p:sldId id="434" r:id="rId112"/>
    <p:sldId id="435" r:id="rId113"/>
    <p:sldId id="436" r:id="rId1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863DE9D-30E2-480B-BF39-0A6E9CFB1129}">
          <p14:sldIdLst>
            <p14:sldId id="256"/>
            <p14:sldId id="257"/>
            <p14:sldId id="343"/>
            <p14:sldId id="258"/>
            <p14:sldId id="308"/>
            <p14:sldId id="259"/>
          </p14:sldIdLst>
        </p14:section>
        <p14:section name="Nomenclature" id="{91D6A805-1A08-4BE7-9AF2-17DC4B8115DF}">
          <p14:sldIdLst>
            <p14:sldId id="325"/>
            <p14:sldId id="326"/>
          </p14:sldIdLst>
        </p14:section>
        <p14:section name="SimulationFramework" id="{113E917D-4C26-47E8-8BB7-9FF40FC063AC}">
          <p14:sldIdLst>
            <p14:sldId id="260"/>
            <p14:sldId id="309"/>
            <p14:sldId id="310"/>
            <p14:sldId id="312"/>
            <p14:sldId id="317"/>
            <p14:sldId id="318"/>
            <p14:sldId id="319"/>
            <p14:sldId id="320"/>
            <p14:sldId id="328"/>
            <p14:sldId id="329"/>
            <p14:sldId id="327"/>
            <p14:sldId id="333"/>
            <p14:sldId id="262"/>
            <p14:sldId id="335"/>
            <p14:sldId id="338"/>
            <p14:sldId id="311"/>
            <p14:sldId id="340"/>
            <p14:sldId id="341"/>
            <p14:sldId id="267"/>
            <p14:sldId id="268"/>
            <p14:sldId id="269"/>
            <p14:sldId id="360"/>
            <p14:sldId id="270"/>
            <p14:sldId id="339"/>
            <p14:sldId id="359"/>
            <p14:sldId id="344"/>
            <p14:sldId id="345"/>
            <p14:sldId id="350"/>
            <p14:sldId id="347"/>
            <p14:sldId id="271"/>
            <p14:sldId id="351"/>
            <p14:sldId id="355"/>
            <p14:sldId id="357"/>
            <p14:sldId id="264"/>
            <p14:sldId id="272"/>
            <p14:sldId id="361"/>
            <p14:sldId id="273"/>
            <p14:sldId id="385"/>
            <p14:sldId id="405"/>
            <p14:sldId id="386"/>
            <p14:sldId id="387"/>
            <p14:sldId id="388"/>
            <p14:sldId id="389"/>
            <p14:sldId id="390"/>
            <p14:sldId id="391"/>
            <p14:sldId id="392"/>
            <p14:sldId id="406"/>
            <p14:sldId id="393"/>
            <p14:sldId id="394"/>
            <p14:sldId id="395"/>
            <p14:sldId id="396"/>
            <p14:sldId id="397"/>
            <p14:sldId id="398"/>
            <p14:sldId id="399"/>
            <p14:sldId id="400"/>
            <p14:sldId id="401"/>
            <p14:sldId id="402"/>
            <p14:sldId id="403"/>
            <p14:sldId id="404"/>
            <p14:sldId id="276"/>
            <p14:sldId id="277"/>
            <p14:sldId id="278"/>
            <p14:sldId id="283"/>
            <p14:sldId id="407"/>
            <p14:sldId id="408"/>
            <p14:sldId id="409"/>
            <p14:sldId id="410"/>
            <p14:sldId id="261"/>
            <p14:sldId id="411"/>
            <p14:sldId id="263"/>
            <p14:sldId id="412"/>
            <p14:sldId id="265"/>
            <p14:sldId id="266"/>
            <p14:sldId id="413"/>
            <p14:sldId id="414"/>
            <p14:sldId id="415"/>
            <p14:sldId id="416"/>
            <p14:sldId id="417"/>
            <p14:sldId id="418"/>
            <p14:sldId id="419"/>
            <p14:sldId id="274"/>
            <p14:sldId id="275"/>
            <p14:sldId id="420"/>
            <p14:sldId id="421"/>
            <p14:sldId id="422"/>
            <p14:sldId id="279"/>
            <p14:sldId id="280"/>
            <p14:sldId id="297"/>
            <p14:sldId id="423"/>
            <p14:sldId id="282"/>
            <p14:sldId id="424"/>
            <p14:sldId id="284"/>
            <p14:sldId id="298"/>
            <p14:sldId id="425"/>
            <p14:sldId id="426"/>
            <p14:sldId id="427"/>
            <p14:sldId id="428"/>
            <p14:sldId id="429"/>
            <p14:sldId id="430"/>
            <p14:sldId id="431"/>
            <p14:sldId id="432"/>
            <p14:sldId id="433"/>
            <p14:sldId id="434"/>
            <p14:sldId id="435"/>
            <p14:sldId id="4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183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397" autoAdjust="0"/>
  </p:normalViewPr>
  <p:slideViewPr>
    <p:cSldViewPr snapToGrid="0" snapToObjects="1">
      <p:cViewPr varScale="1">
        <p:scale>
          <a:sx n="88" d="100"/>
          <a:sy n="88" d="100"/>
        </p:scale>
        <p:origin x="466" y="77"/>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544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Title slide. DisasterAware: an AI-powered decision support system for wildfire disaster response and management. One-sentence identity of the work: a distributed, four-layer decision layer with an open, gate-verified decision space, evaluated end to end on a validated simulator.</a:t>
            </a:r>
          </a:p>
          <a:p>
            <a:endParaRPr lang="en-US" sz="1200"/>
          </a:p>
          <a:p>
            <a:r>
              <a:t>Q (jury): Can you summarize the contribution of this thesis in one minute?</a:t>
            </a:r>
          </a:p>
          <a:p>
            <a:endParaRPr/>
          </a:p>
          <a:p>
            <a:r>
              <a:t>A: DisasterAware is a wildfire decision support framework that keeps its decision space open, its reasoning traceable, and its tempo operational at the same time. It couples a stand-alone, hindcast-validated simulation core to a four-layer, concept-driven fuzzy DSS through a strictly typed interface. The decision layer evolves at run time — tuning parameters, instantiating rules, and admitting LLM-generated rules, macros, actuators, and concepts — but only through nine deterministic verification gates, so nothing unverified ever acts. Across 160 runs and 7,130 decision cycles it reduces mean burned area by 82% versus no action while deciding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route of the defense mirrors the thesis: problem and claims (Part 1), the simulation framework (Part 2), the four-layer DSS (Part 3), the empirical evidence (Part 4), conclusion and future work (Part 5). Equations live in Parts 2-3; all numbers in Part 4 come from Chapter 5.</a:t>
            </a:r>
          </a:p>
          <a:p>
            <a:endParaRPr lang="en-US" sz="1200"/>
          </a:p>
          <a:p>
            <a:r>
              <a:t>Q (jury): Why is the presentation organized this way?</a:t>
            </a:r>
          </a:p>
          <a:p>
            <a:endParaRPr/>
          </a:p>
          <a:p>
            <a:r>
              <a:t>A: The order follows the causal chain of the thesis: the gaps motivate the hypotheses, the two frameworks realize them, the open decision space is the core novelty, and the evidence chapter tests each claim with pre-registered criteria. Each part answers the question the previous part raises.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Section divider: the problem, the gaps, and the claims.</a:t>
            </a:r>
          </a:p>
          <a:p>
            <a:endParaRPr lang="en-US" sz="1200"/>
          </a:p>
          <a:p>
            <a:r>
              <a:t>Q (jury): Why build your own simulation framework at all?</a:t>
            </a:r>
          </a:p>
          <a:p>
            <a:endParaRPr/>
          </a:p>
          <a:p>
            <a:r>
              <a:t>A: Because the evaluation methodology needs properties no off-the-shelf simulator offers together: bit-exact reproducibility for paired comparisons, throughput for thousands of counterfactual rollouts, a closed and verifiable intervention surface, and independent validation of the core. Chapter 3 presents that foundation.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644991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motivation at the operational level: wildfire decision cycles are minutes long, information is partial and heterogeneous, and existing tools document decisions rather than generate them. The tools have not kept pace with the tempo and complexity of modern fire seasons.</a:t>
            </a:r>
          </a:p>
          <a:p>
            <a:endParaRPr lang="en-US" sz="1200"/>
          </a:p>
          <a:p>
            <a:r>
              <a:t>Q (jury): Is the motivation not simply that wildfires are getting worse? What is the scientific problem?</a:t>
            </a:r>
          </a:p>
          <a:p>
            <a:endParaRPr/>
          </a:p>
          <a:p>
            <a:r>
              <a:t>A: The scientific problem is structural, not statistical: operational DSS rank a fixed menu of alternatives, treat missing observations as facts, and weld the fire model to the decision logic. Field studies show commanders use such tools to document decisions already made. The thesis asks whether a DSS can generate defensible orders — with an open action space, explicit epistemic uncertainty, and separable, testable cores — within the operational decision cycle.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sharper motivation: the issue is structural, not only environmental. Existing decision support is closed (fixed action catalogs), centralized, weak on epistemic uncertainty, and rarely validated end to end. These structural limits are what the thesis attacks.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39019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spine of the thesis, to be kept visible all day: three gaps (G1 closed decision spaces in centralized architectures; G2 unrepresented uncertainty and limited explainability; G3 simulation-decision coupling without an end-to-end workflow), three hypotheses raised against them (H1 open and fast, H2 intrinsically traceable, H3 gated end-to-end), three contributions that carry them. Every later slide serves one of these three lines.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Nomenclature reference: the symbols used throughout. Key readings: hat = forecast/estimated quantity; overbar = averaged or gated quantity; subscript k = decision cycle index.</a:t>
            </a:r>
          </a:p>
          <a:p>
            <a:endParaRPr lang="en-US" sz="1200"/>
          </a:p>
          <a:p>
            <a:r>
              <a:t>Q (jury): Why build your own simulation framework at all?</a:t>
            </a:r>
          </a:p>
          <a:p>
            <a:endParaRPr/>
          </a:p>
          <a:p>
            <a:r>
              <a:t>A: Because the evaluation methodology needs properties no off-the-shelf simulator offers together: bit-exact reproducibility for paired comparisons, throughput for thousands of counterfactual rollouts, a closed and verifiable intervention surface, and independent validation of the core. Chapter 3 presents that foundation.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149259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Four notational conventions that prevent ambiguity later: forecast quantities are hatted, gated quantities are barred, cell indices are (x, y), and cycle indices are k. Worth ten seconds so the equation slides read without friction.</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7778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Section divider: the simulation framework of Chapter 3.</a:t>
            </a:r>
          </a:p>
          <a:p>
            <a:endParaRPr lang="en-US" sz="1200"/>
          </a:p>
          <a:p>
            <a:r>
              <a:t>Q (jury): Why build your own simulation framework at all?</a:t>
            </a:r>
          </a:p>
          <a:p>
            <a:endParaRPr/>
          </a:p>
          <a:p>
            <a:r>
              <a:t>A: Because the evaluation methodology needs properties no off-the-shelf simulator offers together: bit-exact reproducibility for paired comparisons, throughput for thousands of counterfactual rollouts, a closed and verifiable intervention surface, and independent validation of the core. Chapter 3 presents that foundation.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architectural claim of Chapter 3: two cores, strictly separated. The simulation core advances physics; the decision core reads it only through the observation model and acts only through the typed intervention field. Neither core can reach into the other's state.</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685825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Same diagram, second read: the payloads of the boundary. Downward crosses only the intervention field over the six families; upward crosses only observations and the coordination summary. This typed boundary is what makes the later validation of each core independent.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Build-up of the simulation input field begins: the world the simulator consumes is a stack of gridded layers at a common resolution.</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E31836"/>
                </a:solidFill>
                <a:latin typeface="Calibri" pitchFamily="34" charset="0"/>
                <a:ea typeface="Calibri" pitchFamily="34" charset="-122"/>
                <a:cs typeface="Calibri" pitchFamily="34" charset="-120"/>
              </a:rPr>
              <a:t>Meteorology — per cell, per step (time-varying)</a:t>
            </a:r>
            <a:endParaRPr lang="en-US" sz="1200" dirty="0"/>
          </a:p>
          <a:p>
            <a:endParaRPr lang="tr-TR"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Temperature, relative humidity, wind speed, wind direction, gusts, precipitation</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Sourced from weather stations and numerical weather forecasts</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Wind speed and direction drive the directional spread anisotropy; precipitation feeds fuel moisture</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5378140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Build-up continues: meteorology and topography layers (wind field, precipitation, elevation, slope, aspect).</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E31836"/>
                </a:solidFill>
                <a:latin typeface="Calibri" pitchFamily="34" charset="0"/>
                <a:ea typeface="Calibri" pitchFamily="34" charset="-122"/>
                <a:cs typeface="Calibri" pitchFamily="34" charset="-120"/>
              </a:rPr>
              <a:t>Topography — static over the incident</a:t>
            </a:r>
            <a:endParaRPr lang="en-US" sz="1200" dirty="0"/>
          </a:p>
          <a:p>
            <a:endParaRPr lang="tr-TR"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Elevation, slope, aspect, and access level per grid cell</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Derived from the digital elevation model (DEM) and the road network</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Slope and aspect modulate the spread rate; access constrains resource reachability</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9348758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Build-up continues: the fuel layer - fuel classes with per-class parameters; moisture from the equilibrium model.</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E31836"/>
                </a:solidFill>
                <a:latin typeface="Calibri" pitchFamily="34" charset="0"/>
                <a:ea typeface="Calibri" pitchFamily="34" charset="-122"/>
                <a:cs typeface="Calibri" pitchFamily="34" charset="-120"/>
              </a:rPr>
              <a:t>Fuel — combustible material of each cell</a:t>
            </a:r>
            <a:endParaRPr lang="en-US" sz="1200" dirty="0"/>
          </a:p>
          <a:p>
            <a:endParaRPr lang="tr-TR"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Fuel type, initial fuel load, and fuel moisture per cell</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Fuel type sets the base spread rate and the extinction moisture threshold</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Moisture evolves with precipitation and drying; load is depleted by combustion and by suppression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650541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Build-up continues: the ignition layer - where and when fires start, including injected ignitions for scenario control.</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E31836"/>
                </a:solidFill>
                <a:latin typeface="Calibri" pitchFamily="34" charset="0"/>
                <a:ea typeface="Calibri" pitchFamily="34" charset="-122"/>
                <a:cs typeface="Calibri" pitchFamily="34" charset="-120"/>
              </a:rPr>
              <a:t>Ignition — where and when fire starts</a:t>
            </a:r>
            <a:endParaRPr lang="en-US" sz="1200" dirty="0"/>
          </a:p>
          <a:p>
            <a:endParaRPr lang="tr-TR"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Binary ignition injection indicator per cell and step</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Populated from detections (e.g., satellite hotspots) or from scenario control</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Feeds the burning-status evolution directly</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576619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a:t>EXPLAIN — Build-up continues: the decisional layers - value (assets, population) and resource (bases, capacities, travel times).</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222222"/>
                    </a:solidFill>
                    <a:latin typeface="Calibri" pitchFamily="34" charset="0"/>
                    <a:ea typeface="Calibri" pitchFamily="34" charset="-122"/>
                    <a:cs typeface="Calibri" pitchFamily="34" charset="-120"/>
                  </a:rPr>
                  <a:t>The fifth member of the input set is the fielded decision </a:t>
                </a:r>
                <a14:m>
                  <m:oMath xmlns:m="http://schemas.openxmlformats.org/officeDocument/2006/math">
                    <m:sSub>
                      <m:sSubPr>
                        <m:ctrlPr>
                          <a:rPr lang="en-US" i="1">
                            <a:latin typeface="Cambria Math" panose="02040503050406030204" pitchFamily="18" charset="0"/>
                          </a:rPr>
                        </m:ctrlPr>
                      </m:sSubPr>
                      <m:e>
                        <m:r>
                          <a:rPr lang="en-US" sz="1200">
                            <a:latin typeface="Cambria Math"/>
                          </a:rPr>
                          <m:t>𝑈</m:t>
                        </m:r>
                      </m:e>
                      <m:sub>
                        <m:r>
                          <a:rPr lang="en-US" sz="1200">
                            <a:latin typeface="Cambria Math"/>
                          </a:rPr>
                          <m:t>𝐷𝑆𝑆</m:t>
                        </m:r>
                        <m:r>
                          <a:rPr lang="en-US" sz="1200">
                            <a:latin typeface="Cambria Math"/>
                          </a:rPr>
                          <m:t>,</m:t>
                        </m:r>
                        <m:r>
                          <a:rPr lang="en-US" sz="1200">
                            <a:latin typeface="Cambria Math"/>
                          </a:rPr>
                          <m:t>𝑘</m:t>
                        </m:r>
                      </m:sub>
                    </m:sSub>
                    <m:r>
                      <a:rPr lang="en-US" sz="1200">
                        <a:latin typeface="Cambria Math"/>
                      </a:rPr>
                      <m:t>(</m:t>
                    </m:r>
                    <m:r>
                      <a:rPr lang="en-US" sz="1200">
                        <a:latin typeface="Cambria Math"/>
                      </a:rPr>
                      <m:t>𝑥</m:t>
                    </m:r>
                    <m:r>
                      <a:rPr lang="en-US" sz="1200">
                        <a:latin typeface="Cambria Math"/>
                      </a:rPr>
                      <m:t>,</m:t>
                    </m:r>
                    <m:r>
                      <a:rPr lang="en-US" sz="1200">
                        <a:latin typeface="Cambria Math"/>
                      </a:rPr>
                      <m:t>𝑦</m:t>
                    </m:r>
                    <m:r>
                      <a:rPr lang="en-US" sz="1200">
                        <a:latin typeface="Cambria Math"/>
                      </a:rPr>
                      <m:t>)</m:t>
                    </m:r>
                  </m:oMath>
                </a14:m>
                <a:r>
                  <a:rPr lang="en-US" sz="1200" b="1" dirty="0">
                    <a:solidFill>
                      <a:srgbClr val="222222"/>
                    </a:solidFill>
                    <a:latin typeface="Calibri" pitchFamily="34" charset="0"/>
                    <a:ea typeface="Calibri" pitchFamily="34" charset="-122"/>
                    <a:cs typeface="Calibri" pitchFamily="34" charset="-120"/>
                  </a:rPr>
                  <a:t> — defined on the decisional-layer slide.</a:t>
                </a:r>
                <a:endParaRPr lang="en-US" sz="1200" dirty="0"/>
              </a:p>
              <a:p>
                <a:endParaRPr lang="en-US"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222222"/>
                    </a:solidFill>
                    <a:latin typeface="Calibri" pitchFamily="34" charset="0"/>
                    <a:ea typeface="Calibri" pitchFamily="34" charset="-122"/>
                    <a:cs typeface="Calibri" pitchFamily="34" charset="-120"/>
                  </a:rPr>
                  <a:t>The fifth member of the input set is the fielded decision </a:t>
                </a:r>
                <a:r>
                  <a:rPr lang="en-US" sz="1200" i="0">
                    <a:latin typeface="Cambria Math"/>
                  </a:rPr>
                  <a:t>𝑈</a:t>
                </a:r>
                <a:r>
                  <a:rPr lang="en-US" sz="1200" i="0">
                    <a:latin typeface="Cambria Math" panose="02040503050406030204" pitchFamily="18" charset="0"/>
                  </a:rPr>
                  <a:t>_(</a:t>
                </a:r>
                <a:r>
                  <a:rPr lang="en-US" sz="1200" i="0">
                    <a:latin typeface="Cambria Math"/>
                  </a:rPr>
                  <a:t>𝐷𝑆𝑆,𝑘</a:t>
                </a:r>
                <a:r>
                  <a:rPr lang="en-US" sz="1200" i="0">
                    <a:latin typeface="Cambria Math" panose="02040503050406030204" pitchFamily="18" charset="0"/>
                  </a:rPr>
                  <a:t>)</a:t>
                </a:r>
                <a:r>
                  <a:rPr lang="en-US" sz="1200" i="0">
                    <a:latin typeface="Cambria Math"/>
                  </a:rPr>
                  <a:t> (𝑥,𝑦)</a:t>
                </a:r>
                <a:r>
                  <a:rPr lang="en-US" sz="1200" b="1" dirty="0">
                    <a:solidFill>
                      <a:srgbClr val="222222"/>
                    </a:solidFill>
                    <a:latin typeface="Calibri" pitchFamily="34" charset="0"/>
                    <a:ea typeface="Calibri" pitchFamily="34" charset="-122"/>
                    <a:cs typeface="Calibri" pitchFamily="34" charset="-120"/>
                  </a:rPr>
                  <a:t> — defined on the decisional-layer slide.</a:t>
                </a:r>
                <a:endParaRPr lang="en-US" sz="1200" dirty="0"/>
              </a:p>
              <a:p>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2695400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complete input field: physics layers plus decisional layers, all gridded, all at the same resolution. Everything the simulator and the DSS know starts here.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1252405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Why a cellular per-cell model rather than a vector-front model such as FARSITE: locality (interventions act on cells through defined effects), exact replay (the operator is deterministic given the seed), and a clean per-cell observation and confidence model. Vector-front models predict perimeters well but expose no controllable per-cell intervention surface.</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9186794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per-cell state: burning status, available fuel mass, fire intensity proxy, time since ignition. One transition operator applies four evolutions to every cell once per step; deterministic given the seed, so identical worlds can be replayed under different decision configurations.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98553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Transition (1), burning status: deterministic persistence (fuel above load threshold, moisture below extinction) plus stochastic wind-anisotropic propagation - the neighborhood sum weighted by the semi-empirical spread rate and a directional cosine (Rothermel-type anisotropy) - plus ignition injection. The red band anchors the Rothermel question: the spread rate is a Rothermel-like semi-empirical mapping; the full formulation and fuel calibration are in Backup Appendix A.</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340313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Transitions (2)-(4): fuel mass falls by combustion and by suppression-driven reduction (the only channel through which orders touch the physics), the intensity proxy is a bounded tanh combination of fuel, wind and slope, and ignition time is bookkeeping for persistence and extinction.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a:t>EXPLAIN — What the DSS writes into the simulation: the intervention field only - per-family intensities compiled from orders. No rule, concept, or confidence ever crosses the boundary.</a:t>
                </a:r>
              </a:p>
              <a:p>
                <a:endParaRPr lang="en-US" sz="120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Protection priority score: ranks every cell by its overall protection importance (normalized weighted sum)</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Buildings (wildland–urban zones) · critical facilities (hospitals, power, water) · population density (min-max normalized) · evacuation-route proximity (inverted, normalized)</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Weights sum to one; critical facilities carry the highest weight (cascading consequences), population second</a:t>
                </a:r>
                <a:endParaRPr lang="en-US" sz="1200" dirty="0"/>
              </a:p>
              <a:p>
                <a:endParaRPr lang="tr-TR" dirty="0"/>
              </a:p>
              <a:p>
                <a:r>
                  <a:rPr lang="en-US" sz="1800" dirty="0">
                    <a:effectLst/>
                    <a:latin typeface="Times New Roman" panose="02020603050405020304" pitchFamily="18" charset="0"/>
                    <a:ea typeface="Calibri" panose="020F0502020204030204" pitchFamily="34" charset="0"/>
                    <a:cs typeface="Arial" panose="020B0604020202020204" pitchFamily="34" charset="0"/>
                  </a:rPr>
                  <a:t> Critical facilities (</a:t>
                </a:r>
                <a14:m>
                  <m:oMath xmlns:m="http://schemas.openxmlformats.org/officeDocument/2006/math">
                    <m:sSub>
                      <m:sSubPr>
                        <m:ctrlPr>
                          <a:rPr lang="tr-TR" i="1">
                            <a:effectLst/>
                            <a:latin typeface="Cambria Math" panose="02040503050406030204" pitchFamily="18" charset="0"/>
                          </a:rPr>
                        </m:ctrlPr>
                      </m:sSubPr>
                      <m:e>
                        <m:r>
                          <a:rPr lang="en-US" sz="1800" i="1">
                            <a:effectLst/>
                            <a:latin typeface="Cambria Math" panose="02040503050406030204" pitchFamily="18" charset="0"/>
                            <a:ea typeface="Calibri" panose="020F0502020204030204" pitchFamily="34" charset="0"/>
                            <a:cs typeface="Arial" panose="020B0604020202020204" pitchFamily="34" charset="0"/>
                          </a:rPr>
                          <m:t>𝑤</m:t>
                        </m:r>
                      </m:e>
                      <m:sub>
                        <m:r>
                          <a:rPr lang="en-US" sz="1800" i="1">
                            <a:effectLst/>
                            <a:latin typeface="Cambria Math" panose="02040503050406030204" pitchFamily="18" charset="0"/>
                            <a:ea typeface="Calibri" panose="020F0502020204030204" pitchFamily="34" charset="0"/>
                            <a:cs typeface="Arial" panose="020B0604020202020204" pitchFamily="34" charset="0"/>
                          </a:rPr>
                          <m:t>𝑐𝑟𝑖𝑡</m:t>
                        </m:r>
                      </m:sub>
                    </m:sSub>
                    <m:r>
                      <a:rPr lang="en-US" sz="1800" i="1">
                        <a:effectLst/>
                        <a:latin typeface="Cambria Math" panose="02040503050406030204" pitchFamily="18" charset="0"/>
                        <a:ea typeface="Calibri" panose="020F0502020204030204" pitchFamily="34" charset="0"/>
                        <a:cs typeface="Arial" panose="020B0604020202020204" pitchFamily="34" charset="0"/>
                      </a:rPr>
                      <m:t> = 0.40</m:t>
                    </m:r>
                  </m:oMath>
                </a14:m>
                <a:r>
                  <a:rPr lang="en-US" sz="1800" dirty="0">
                    <a:effectLst/>
                    <a:latin typeface="Times New Roman" panose="02020603050405020304" pitchFamily="18" charset="0"/>
                    <a:ea typeface="Calibri" panose="020F0502020204030204" pitchFamily="34" charset="0"/>
                    <a:cs typeface="Arial" panose="020B0604020202020204" pitchFamily="34" charset="0"/>
                  </a:rPr>
                  <a:t>) receive the highest weight because their loss has cascading consequences (e.g., hospitals, power infrastructure, water supply). Population density (</a:t>
                </a:r>
                <a14:m>
                  <m:oMath xmlns:m="http://schemas.openxmlformats.org/officeDocument/2006/math">
                    <m:sSub>
                      <m:sSubPr>
                        <m:ctrlPr>
                          <a:rPr lang="tr-TR" i="1">
                            <a:effectLst/>
                            <a:latin typeface="Cambria Math" panose="02040503050406030204" pitchFamily="18" charset="0"/>
                          </a:rPr>
                        </m:ctrlPr>
                      </m:sSubPr>
                      <m:e>
                        <m:r>
                          <a:rPr lang="en-US" sz="1800" i="1">
                            <a:effectLst/>
                            <a:latin typeface="Cambria Math" panose="02040503050406030204" pitchFamily="18" charset="0"/>
                            <a:ea typeface="Calibri" panose="020F0502020204030204" pitchFamily="34" charset="0"/>
                            <a:cs typeface="Arial" panose="020B0604020202020204" pitchFamily="34" charset="0"/>
                          </a:rPr>
                          <m:t>𝑤</m:t>
                        </m:r>
                      </m:e>
                      <m:sub>
                        <m:r>
                          <a:rPr lang="en-US" sz="1800" i="1">
                            <a:effectLst/>
                            <a:latin typeface="Cambria Math" panose="02040503050406030204" pitchFamily="18" charset="0"/>
                            <a:ea typeface="Calibri" panose="020F0502020204030204" pitchFamily="34" charset="0"/>
                            <a:cs typeface="Arial" panose="020B0604020202020204" pitchFamily="34" charset="0"/>
                          </a:rPr>
                          <m:t>𝑝𝑜𝑝</m:t>
                        </m:r>
                      </m:sub>
                    </m:sSub>
                    <m:r>
                      <a:rPr lang="en-US" sz="1800" i="1">
                        <a:effectLst/>
                        <a:latin typeface="Cambria Math" panose="02040503050406030204" pitchFamily="18" charset="0"/>
                        <a:ea typeface="Calibri" panose="020F0502020204030204" pitchFamily="34" charset="0"/>
                        <a:cs typeface="Arial" panose="020B0604020202020204" pitchFamily="34" charset="0"/>
                      </a:rPr>
                      <m:t> = 0.25</m:t>
                    </m:r>
                  </m:oMath>
                </a14:m>
                <a:r>
                  <a:rPr lang="en-US" sz="1800" dirty="0">
                    <a:effectLst/>
                    <a:latin typeface="Times New Roman" panose="02020603050405020304" pitchFamily="18" charset="0"/>
                    <a:ea typeface="Calibri" panose="020F0502020204030204" pitchFamily="34" charset="0"/>
                    <a:cs typeface="Arial" panose="020B0604020202020204" pitchFamily="34" charset="0"/>
                  </a:rPr>
                  <a:t>) ranks second because human life exposure scales with density. Building footprint (</a:t>
                </a:r>
                <a14:m>
                  <m:oMath xmlns:m="http://schemas.openxmlformats.org/officeDocument/2006/math">
                    <m:sSub>
                      <m:sSubPr>
                        <m:ctrlPr>
                          <a:rPr lang="tr-TR" i="1">
                            <a:effectLst/>
                            <a:latin typeface="Cambria Math" panose="02040503050406030204" pitchFamily="18" charset="0"/>
                          </a:rPr>
                        </m:ctrlPr>
                      </m:sSubPr>
                      <m:e>
                        <m:r>
                          <a:rPr lang="en-US" sz="1800" i="1">
                            <a:effectLst/>
                            <a:latin typeface="Cambria Math" panose="02040503050406030204" pitchFamily="18" charset="0"/>
                            <a:ea typeface="Calibri" panose="020F0502020204030204" pitchFamily="34" charset="0"/>
                            <a:cs typeface="Arial" panose="020B0604020202020204" pitchFamily="34" charset="0"/>
                          </a:rPr>
                          <m:t>𝑤</m:t>
                        </m:r>
                      </m:e>
                      <m:sub>
                        <m:r>
                          <a:rPr lang="en-US" sz="1800" i="1">
                            <a:effectLst/>
                            <a:latin typeface="Cambria Math" panose="02040503050406030204" pitchFamily="18" charset="0"/>
                            <a:ea typeface="Calibri" panose="020F0502020204030204" pitchFamily="34" charset="0"/>
                            <a:cs typeface="Arial" panose="020B0604020202020204" pitchFamily="34" charset="0"/>
                          </a:rPr>
                          <m:t>𝑏𝑙𝑑</m:t>
                        </m:r>
                      </m:sub>
                    </m:sSub>
                    <m:r>
                      <a:rPr lang="en-US" sz="1800" i="1">
                        <a:effectLst/>
                        <a:latin typeface="Cambria Math" panose="02040503050406030204" pitchFamily="18" charset="0"/>
                        <a:ea typeface="Calibri" panose="020F0502020204030204" pitchFamily="34" charset="0"/>
                        <a:cs typeface="Arial" panose="020B0604020202020204" pitchFamily="34" charset="0"/>
                      </a:rPr>
                      <m:t> = 0.20</m:t>
                    </m:r>
                  </m:oMath>
                </a14:m>
                <a:r>
                  <a:rPr lang="en-US" sz="1800" dirty="0">
                    <a:effectLst/>
                    <a:latin typeface="Times New Roman" panose="02020603050405020304" pitchFamily="18" charset="0"/>
                    <a:ea typeface="Calibri" panose="020F0502020204030204" pitchFamily="34" charset="0"/>
                    <a:cs typeface="Arial" panose="020B0604020202020204" pitchFamily="34" charset="0"/>
                  </a:rPr>
                  <a:t>) captures structural asset density. Evacuation accessibility (</a:t>
                </a:r>
                <a14:m>
                  <m:oMath xmlns:m="http://schemas.openxmlformats.org/officeDocument/2006/math">
                    <m:sSub>
                      <m:sSubPr>
                        <m:ctrlPr>
                          <a:rPr lang="tr-TR" i="1">
                            <a:effectLst/>
                            <a:latin typeface="Cambria Math" panose="02040503050406030204" pitchFamily="18" charset="0"/>
                          </a:rPr>
                        </m:ctrlPr>
                      </m:sSubPr>
                      <m:e>
                        <m:r>
                          <a:rPr lang="en-US" sz="1800" i="1">
                            <a:effectLst/>
                            <a:latin typeface="Cambria Math" panose="02040503050406030204" pitchFamily="18" charset="0"/>
                            <a:ea typeface="Calibri" panose="020F0502020204030204" pitchFamily="34" charset="0"/>
                            <a:cs typeface="Arial" panose="020B0604020202020204" pitchFamily="34" charset="0"/>
                          </a:rPr>
                          <m:t>𝑤</m:t>
                        </m:r>
                      </m:e>
                      <m:sub>
                        <m:r>
                          <a:rPr lang="en-US" sz="1800" i="1">
                            <a:effectLst/>
                            <a:latin typeface="Cambria Math" panose="02040503050406030204" pitchFamily="18" charset="0"/>
                            <a:ea typeface="Calibri" panose="020F0502020204030204" pitchFamily="34" charset="0"/>
                            <a:cs typeface="Arial" panose="020B0604020202020204" pitchFamily="34" charset="0"/>
                          </a:rPr>
                          <m:t>𝑒𝑣𝑎𝑐</m:t>
                        </m:r>
                      </m:sub>
                    </m:sSub>
                    <m:r>
                      <a:rPr lang="en-US" sz="1800" i="1">
                        <a:effectLst/>
                        <a:latin typeface="Cambria Math" panose="02040503050406030204" pitchFamily="18" charset="0"/>
                        <a:ea typeface="Calibri" panose="020F0502020204030204" pitchFamily="34" charset="0"/>
                        <a:cs typeface="Arial" panose="020B0604020202020204" pitchFamily="34" charset="0"/>
                      </a:rPr>
                      <m:t> = 0.15</m:t>
                    </m:r>
                  </m:oMath>
                </a14:m>
                <a:r>
                  <a:rPr lang="en-US" sz="1800" dirty="0">
                    <a:effectLst/>
                    <a:latin typeface="Times New Roman" panose="02020603050405020304" pitchFamily="18" charset="0"/>
                    <a:ea typeface="Calibri" panose="020F0502020204030204" pitchFamily="34" charset="0"/>
                    <a:cs typeface="Arial" panose="020B0604020202020204" pitchFamily="34" charset="0"/>
                  </a:rPr>
                  <a:t>) receives the lowest weight because it represents a logistical constraint rather than a direct measure of asset value; however, it remains non-zero because locations with poor evacuation access require protective intervention earlier in the decision timeline</a:t>
                </a:r>
                <a:endParaRPr lang="en-US" dirty="0"/>
              </a:p>
            </p:txBody>
          </p:sp>
        </mc:Choice>
        <mc:Fallback xmlns="">
          <p:sp>
            <p:nvSpPr>
              <p:cNvPr id="3" name="Notes Placeholder 2"/>
              <p:cNvSpPr>
                <a:spLocks noGrp="1"/>
              </p:cNvSpPr>
              <p:nvPr>
                <p:ph type="body" idx="1"/>
              </p:nvPr>
            </p:nvSpPr>
            <p:spPr/>
            <p:txBody>
              <a:bodyPr/>
              <a:lstStyle/>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Protection priority score: ranks every cell by its overall protection importance (normalized weighted sum)</a:t>
                </a:r>
                <a:endParaRPr lang="en-US" sz="1200" dirty="0"/>
              </a:p>
              <a:p>
                <a:pPr marL="152400" indent="-152400">
                  <a:lnSpc>
                    <a:spcPct val="105000"/>
                  </a:lnSpc>
                  <a:spcAft>
                    <a:spcPts val="700"/>
                  </a:spcAft>
                  <a:buSzPct val="100000"/>
                  <a:buChar char="•"/>
                </a:pPr>
                <a:r>
                  <a:rPr lang="en-US" sz="1200" dirty="0">
                    <a:solidFill>
                      <a:srgbClr val="222222"/>
                    </a:solidFill>
                    <a:latin typeface="Calibri" pitchFamily="34" charset="0"/>
                    <a:ea typeface="Calibri" pitchFamily="34" charset="-122"/>
                    <a:cs typeface="Calibri" pitchFamily="34" charset="-120"/>
                  </a:rPr>
                  <a:t>Buildings (wildland–urban zones) · critical facilities (hospitals, power, water) · population density (min-max normalized) · evacuation-route proximity (inverted, normalized)</a:t>
                </a:r>
                <a:endParaRPr lang="en-US" sz="1200" dirty="0"/>
              </a:p>
              <a:p>
                <a:pPr marL="152400" indent="-152400">
                  <a:lnSpc>
                    <a:spcPct val="105000"/>
                  </a:lnSpc>
                  <a:spcAft>
                    <a:spcPts val="700"/>
                  </a:spcAft>
                  <a:buSzPct val="100000"/>
                  <a:buChar char="•"/>
                </a:pPr>
                <a:r>
                  <a:rPr lang="en-US" sz="1200" b="1" dirty="0">
                    <a:solidFill>
                      <a:srgbClr val="222222"/>
                    </a:solidFill>
                    <a:latin typeface="Calibri" pitchFamily="34" charset="0"/>
                    <a:ea typeface="Calibri" pitchFamily="34" charset="-122"/>
                    <a:cs typeface="Calibri" pitchFamily="34" charset="-120"/>
                  </a:rPr>
                  <a:t>Weights sum to one; critical facilities carry the highest weight (cascading consequences), population second</a:t>
                </a:r>
                <a:endParaRPr lang="en-US" sz="1200" dirty="0"/>
              </a:p>
              <a:p>
                <a:endParaRPr lang="tr-TR" dirty="0"/>
              </a:p>
              <a:p>
                <a:r>
                  <a:rPr lang="en-US" sz="1800" dirty="0">
                    <a:effectLst/>
                    <a:latin typeface="Times New Roman" panose="02020603050405020304" pitchFamily="18" charset="0"/>
                    <a:ea typeface="Calibri" panose="020F0502020204030204" pitchFamily="34" charset="0"/>
                    <a:cs typeface="Arial" panose="020B0604020202020204" pitchFamily="34" charset="0"/>
                  </a:rPr>
                  <a:t> Critical facilities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𝑐𝑟𝑖𝑡  = 0.40</a:t>
                </a:r>
                <a:r>
                  <a:rPr lang="en-US" sz="1800" dirty="0">
                    <a:effectLst/>
                    <a:latin typeface="Times New Roman" panose="02020603050405020304" pitchFamily="18" charset="0"/>
                    <a:ea typeface="Calibri" panose="020F0502020204030204" pitchFamily="34" charset="0"/>
                    <a:cs typeface="Arial" panose="020B0604020202020204" pitchFamily="34" charset="0"/>
                  </a:rPr>
                  <a:t>) receive the highest weight because their loss has cascading consequences (e.g., hospitals, power infrastructure, water supply). Population density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𝑝𝑜𝑝  = 0.25</a:t>
                </a:r>
                <a:r>
                  <a:rPr lang="en-US" sz="1800" dirty="0">
                    <a:effectLst/>
                    <a:latin typeface="Times New Roman" panose="02020603050405020304" pitchFamily="18" charset="0"/>
                    <a:ea typeface="Calibri" panose="020F0502020204030204" pitchFamily="34" charset="0"/>
                    <a:cs typeface="Arial" panose="020B0604020202020204" pitchFamily="34" charset="0"/>
                  </a:rPr>
                  <a:t>) ranks second because human life exposure scales with density. Building footprint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𝑏𝑙𝑑  = 0.20</a:t>
                </a:r>
                <a:r>
                  <a:rPr lang="en-US" sz="1800" dirty="0">
                    <a:effectLst/>
                    <a:latin typeface="Times New Roman" panose="02020603050405020304" pitchFamily="18" charset="0"/>
                    <a:ea typeface="Calibri" panose="020F0502020204030204" pitchFamily="34" charset="0"/>
                    <a:cs typeface="Arial" panose="020B0604020202020204" pitchFamily="34" charset="0"/>
                  </a:rPr>
                  <a:t>) captures structural asset density. Evacuation accessibility (</a:t>
                </a:r>
                <a:r>
                  <a:rPr lang="en-US" sz="1800" i="0">
                    <a:effectLst/>
                    <a:latin typeface="Cambria Math" panose="02040503050406030204" pitchFamily="18" charset="0"/>
                    <a:ea typeface="Calibri" panose="020F0502020204030204" pitchFamily="34" charset="0"/>
                    <a:cs typeface="Arial" panose="020B0604020202020204" pitchFamily="34" charset="0"/>
                  </a:rPr>
                  <a:t>𝑤</a:t>
                </a:r>
                <a:r>
                  <a:rPr lang="tr-TR" sz="1800" i="0">
                    <a:effectLst/>
                    <a:latin typeface="Cambria Math" panose="02040503050406030204" pitchFamily="18" charset="0"/>
                    <a:ea typeface="Calibri" panose="020F0502020204030204" pitchFamily="34" charset="0"/>
                    <a:cs typeface="Arial" panose="020B0604020202020204" pitchFamily="34" charset="0"/>
                  </a:rPr>
                  <a:t>_</a:t>
                </a:r>
                <a:r>
                  <a:rPr lang="en-US" sz="1800" i="0">
                    <a:effectLst/>
                    <a:latin typeface="Cambria Math" panose="02040503050406030204" pitchFamily="18" charset="0"/>
                    <a:ea typeface="Calibri" panose="020F0502020204030204" pitchFamily="34" charset="0"/>
                    <a:cs typeface="Arial" panose="020B0604020202020204" pitchFamily="34" charset="0"/>
                  </a:rPr>
                  <a:t>𝑒𝑣𝑎𝑐  = 0.15</a:t>
                </a:r>
                <a:r>
                  <a:rPr lang="en-US" sz="1800" dirty="0">
                    <a:effectLst/>
                    <a:latin typeface="Times New Roman" panose="02020603050405020304" pitchFamily="18" charset="0"/>
                    <a:ea typeface="Calibri" panose="020F0502020204030204" pitchFamily="34" charset="0"/>
                    <a:cs typeface="Arial" panose="020B0604020202020204" pitchFamily="34" charset="0"/>
                  </a:rPr>
                  <a:t>) receives the lowest weight because it represents a logistical constraint rather than a direct measure of asset value; however, it remains non-zero because locations with poor evacuation access require protective intervention earlier in the decision timeline</a:t>
                </a:r>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781167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Continuation of the DSS input field: how family intensities become spatial capacity placements (front, band ahead, around assets) via the resource input layer.</a:t>
            </a:r>
          </a:p>
          <a:p>
            <a:pPr marL="0" indent="0">
              <a:lnSpc>
                <a:spcPct val="105000"/>
              </a:lnSpc>
              <a:spcAft>
                <a:spcPts val="700"/>
              </a:spcAft>
              <a:buSzPct val="100000"/>
              <a:buNone/>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8969916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What the DSS reads back: the observation model - features derived from the physical state through sensor channels, each with an explicit confidence. The decision layer never sees the raw state.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Continuation: the decision return path - orders travel down as the intervention field; the observation model closes the loop at the next cycle.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419464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Scenario control: procedural world generation (terrain presets, settlements, roads, capacity-limited bases), seeded ignitions, and full replayability - the machinery every later experiment relies 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972540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Section divider: the four-layer decision support framework of Chapter 4.</a:t>
            </a:r>
          </a:p>
          <a:p>
            <a:endParaRPr lang="en-US" sz="1200"/>
          </a:p>
          <a:p>
            <a:r>
              <a:t>Q (jury): Why four layers? Could this not be a standard two-stage fuzzy controller?</a:t>
            </a:r>
          </a:p>
          <a:p>
            <a:endParaRPr/>
          </a:p>
          <a:p>
            <a:r>
              <a:t>A: The four layers separate four failure modes: what can be sensed (input space), how much it can be trusted (perception with confidence), how it is abstracted for reasoning (concept space), and how action is generated and verified (decision space). A two-stage controller conflates trust with abstraction, which is precisely how epistemic uncertainty gets lost — Gap 2.</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map of Part 3: one local agent runs four layers in a loop each cycle - input space, perception with confidence, concept space, decision space - under a global coordinator that performs no inference. The next slides walk the layers in order.</a:t>
            </a:r>
          </a:p>
          <a:p>
            <a:endParaRPr lang="en-US" sz="1200"/>
          </a:p>
          <a:p>
            <a:r>
              <a:t>Q (jury): How do the local agents and the global layer share responsibility?</a:t>
            </a:r>
          </a:p>
          <a:p>
            <a:endParaRPr/>
          </a:p>
          <a:p>
            <a:r>
              <a:t>A: Each local agent runs the complete four-layer loop on its own region; the Global DSS is deliberately non-inferential — it normalizes operational priorities, allocates the shared resource pool and attention, and never rewrites a local decision's content. This keeps every order attributable to one agent's traceable reasoning chain, which a globally-inferential architecture would destroy.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Layer 1, the input space: the ten observation features the agent can know, each with its physical provenance (sensor channels: in-situ, UAV, satellite, camera, field crew, public reports).</a:t>
            </a:r>
          </a:p>
          <a:p>
            <a:endParaRPr lang="en-US" sz="1200"/>
          </a:p>
          <a:p>
            <a:r>
              <a:t>Q (jury): Your input space lists fifteen source families. How many are actually needed?</a:t>
            </a:r>
          </a:p>
          <a:p>
            <a:endParaRPr/>
          </a:p>
          <a:p>
            <a:r>
              <a:t>A: The ten features extracted from them are shown to be critical and sufficient: removing one leaves an operational question unsupported, and the sensitivity analysis shows the decision output responds to every feature and is dominated by none. The source families are redundant by design — coverage, freshness, and reliability differ per channel, and the confidence model exploits exactly that redundancy.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Loop position marker: entering Layer 2.</a:t>
            </a:r>
          </a:p>
          <a:p>
            <a:endParaRPr lang="en-US" sz="1200"/>
          </a:p>
          <a:p>
            <a:r>
              <a:t>Q (jury): How do the local agents and the global layer share responsibility?</a:t>
            </a:r>
          </a:p>
          <a:p>
            <a:endParaRPr/>
          </a:p>
          <a:p>
            <a:r>
              <a:t>A: Each local agent runs the complete four-layer loop on its own region; the Global DSS is deliberately non-inferential — it normalizes operational priorities, allocates the shared resource pool and attention, and never rewrites a local decision's content. This keeps every order attributable to one agent's traceable reasoning chain, which a globally-inferential architecture would destroy.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27459059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Layer 2: observation - features are estimates, not truths. Each channel has a maximum error and a freshness; the observation model turns physical state into feature readings with those errors applied.</a:t>
            </a:r>
          </a:p>
          <a:p>
            <a:endParaRPr lang="en-US" sz="1200"/>
          </a:p>
          <a:p>
            <a:r>
              <a:t>Q (jury): Why bound the observation error instead of modeling it probabilistically?</a:t>
            </a:r>
          </a:p>
          <a:p>
            <a:endParaRPr/>
          </a:p>
          <a:p>
            <a:r>
              <a:t>A: Because the uncertainty is epistemic — occlusion, revisit intervals, offline sensors — not aleatory noise, and no defensible error distribution exists in an active fire. The confidence gamma = min(observability, coverage, freshness, reliability) bounds the disturbance: |ε| ≤ (1−γ)·ε_max. A confident observation is exact, a blind one admits the worst case, and degradation is graceful. This conservative min-composition is also what makes low confidence produce caution rather than confident error.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Layer 2 continued: the confidence gate - every feature carries a confidence built from four factors (coverage, freshness, channel quality, agreement), and the confidence later gates what concepts may claim.</a:t>
            </a:r>
          </a:p>
          <a:p>
            <a:endParaRPr lang="en-US" sz="1200"/>
          </a:p>
          <a:p>
            <a:r>
              <a:rPr lang="tr-TR" dirty="0" err="1"/>
              <a:t>Why</a:t>
            </a:r>
            <a:r>
              <a:rPr lang="tr-TR" dirty="0"/>
              <a:t> is \</a:t>
            </a:r>
            <a:r>
              <a:rPr lang="tr-TR" dirty="0" err="1"/>
              <a:t>eps</a:t>
            </a:r>
            <a:r>
              <a:rPr lang="tr-TR" dirty="0"/>
              <a:t> not </a:t>
            </a:r>
            <a:r>
              <a:rPr lang="tr-TR" dirty="0" err="1"/>
              <a:t>Gaussian</a:t>
            </a:r>
            <a:r>
              <a:rPr lang="tr-TR" dirty="0"/>
              <a:t>?</a:t>
            </a:r>
            <a:br>
              <a:rPr lang="tr-TR" dirty="0"/>
            </a:br>
            <a:br>
              <a:rPr lang="tr-TR" dirty="0"/>
            </a:br>
            <a:r>
              <a:rPr lang="en-US" dirty="0"/>
              <a:t>Because no defensible error distribution exists for smoke occlusion or a missing field report — a Gaussian would fabricate information we do not have. Epistemic uncertainty is bounded, not distributed: the confidence supplies a per-cell bound, the gating turns that bound into caution, and S5 tests the whole mechanism empirically. Propagating a stochastic ensemble through the loop is stated as future work — it is a different question: aleatory forecast spread, not epistemic observation gaps.</a:t>
            </a:r>
            <a:br>
              <a:rPr lang="tr-TR" dirty="0"/>
            </a:br>
            <a:br>
              <a:rPr lang="tr-TR" dirty="0"/>
            </a:b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501615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observation channel detail: per-channel maximum errors (in-situ 0.02, UAV 0.03, satellite 0.05, camera 0.06, field 0.10, public 0.20) and bounded noise; gamma_rel = 1 - eps_max; freshness half-life 90 minutes.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Features with explicit confidence, part 1: the ten features listed with how each confidence is computed.</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4822698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Features with explicit confidence, part 2: worked feature examples - observed vs effective values under the persistence prior.</a:t>
            </a:r>
          </a:p>
          <a:p>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22222"/>
                </a:solidFill>
                <a:latin typeface="Calibri" pitchFamily="34" charset="0"/>
                <a:ea typeface="Calibri" pitchFamily="34" charset="-122"/>
                <a:cs typeface="Calibri" pitchFamily="34" charset="-120"/>
              </a:rPr>
              <a:t>The concept mappings require no further input, and the closed loop is exercised under biased parameters and degraded observation (S5).</a:t>
            </a:r>
            <a:endParaRPr lang="tr-TR" sz="1200" dirty="0">
              <a:solidFill>
                <a:srgbClr val="222222"/>
              </a:solidFill>
              <a:latin typeface="Calibri" pitchFamily="34" charset="0"/>
              <a:ea typeface="Calibri" pitchFamily="34" charset="-122"/>
              <a:cs typeface="Calibri" pitchFamily="34" charset="-120"/>
            </a:endParaRP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916104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Loop position marker: entering Layer 3.</a:t>
            </a:r>
          </a:p>
          <a:p>
            <a:endParaRPr lang="en-US" sz="1200"/>
          </a:p>
          <a:p>
            <a:r>
              <a:t>Q (jury): How do the local agents and the global layer share responsibility?</a:t>
            </a:r>
          </a:p>
          <a:p>
            <a:endParaRPr/>
          </a:p>
          <a:p>
            <a:r>
              <a:t>A: Each local agent runs the complete four-layer loop on its own region; the Global DSS is deliberately non-inferential — it normalizes operational priorities, allocates the shared resource pool and attention, and never rewrites a local decision's content. This keeps every order attributable to one agent's traceable reasoning chain, which a globally-inferential architecture would destroy.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052470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Layer 3's reason to exist: the rule explosion. Five concepts x five terms would need 3 125 rules to cover directly; the concept hierarchy compresses ten features into five decision concepts so a handful of rules suffices.</a:t>
            </a:r>
          </a:p>
          <a:p>
            <a:endParaRPr lang="en-US" sz="1200"/>
          </a:p>
          <a:p>
            <a:r>
              <a:rPr dirty="0"/>
              <a:t>Q (jury): 9.8 million combinations to 3,125 — what do you lose in that reduction?</a:t>
            </a:r>
          </a:p>
          <a:p>
            <a:endParaRPr dirty="0"/>
          </a:p>
          <a:p>
            <a:r>
              <a:rPr dirty="0"/>
              <a:t>A: Nothing that decisions need: the five decision concepts answer the five canonical command questions completely and non-redundantly, which recognition-primed decision research shows is how experienced commanders actually reason. What is gained is auditability — rules are written in operational language — and a tractable antecedent space that the evolving base populates sparsely, only where situations occur.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229207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five decision concepts as operational questions a commander actually asks (how bad is the fire, what is at risk, can we act, how urgent, must people move). This is the language the rule base is written in.</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hierarchy levels, part 1: level-1 aggregates over features (fire severity, spread hazard, fuel hazard, asset value, crew reachability, logistics support).</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11993579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hierarchy levels, part 2: levels 2-4 - fire threat level, asset exposure risk, suppression feasibility, intervention urgency, evacuation pressure, and the coordination concept operational priority. Full weights are in Backup Appendix D.</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8633519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inference machinery: zero-order Takagi-Sugeno over the shared five-term trapezoidal partition - singleton consequents, weighted-average defuzzification; chosen over Mamdani for auditability, cheap evaluation, and direct numeric intensities.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5038437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Confidence gating at the concept level: activation a_obs from aggregation, effective activation a_eff after the confidence gate and the persistence prior (rho = 0.90) - low-confidence evidence decays toward the prior instead of jumping.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three defining equations of Layer 3 side by side: activation, aggregation, and the confidence gate; the coverage floor alpha_min = 0.05 guarantees some rule always fires.</a:t>
            </a:r>
          </a:p>
          <a:p>
            <a:endParaRPr lang="en-US" sz="1200"/>
          </a:p>
          <a:p>
            <a:r>
              <a:rPr dirty="0"/>
              <a:t>Q (jury): Your concept weights are fixed. Why not learn the hierarchy?</a:t>
            </a:r>
          </a:p>
          <a:p>
            <a:endParaRPr dirty="0"/>
          </a:p>
          <a:p>
            <a:r>
              <a:rPr dirty="0"/>
              <a:t>A: The mapping encodes established wildfire-science relations, is fully specified in the appendix, and keeps every activation interpretable — a learned mapping would reintroduce the black-box explanation problem the thesis is built to avoid. Adaptation happens where evidence exists: in the rule base and, through stage-3 packages, by adding new intermediate concepts that pass the non-redundancy and payoff gates.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Loop position marker: entering Layer 4.</a:t>
            </a:r>
          </a:p>
          <a:p>
            <a:endParaRPr lang="en-US" sz="1200"/>
          </a:p>
          <a:p>
            <a:r>
              <a:t>Q (jury): How do the local agents and the global layer share responsibility?</a:t>
            </a:r>
          </a:p>
          <a:p>
            <a:endParaRPr/>
          </a:p>
          <a:p>
            <a:r>
              <a:t>A: Each local agent runs the complete four-layer loop on its own region; the Global DSS is deliberately non-inferential — it normalizes operational priorities, allocates the shared resource pool and attention, and never rewrites a local decision's content. This keeps every order attributable to one agent's traceable reasoning chain, which a globally-inferential architecture would destroy.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4817813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Layer 4 overview: decide, price, test, adapt - the rule base fires, the cost test runs, the quality test runs, orders are applied; a failed cost test invokes one adaptation stage, a failed quality test invokes the fail-safe.</a:t>
            </a:r>
          </a:p>
          <a:p>
            <a:endParaRPr lang="en-US" sz="1200"/>
          </a:p>
          <a:p>
            <a:r>
              <a:t>Q (jury): What is the single pass through Layer 4 at run time?</a:t>
            </a:r>
          </a:p>
          <a:p>
            <a:endParaRPr/>
          </a:p>
          <a:p>
            <a:r>
              <a:t>A: Fire the sparse TS rule base on the gated activations; price the candidate against the no-action shadow forecast; test quality against the concepts that demanded action; then apply, or invoke exactly one adaptation stage, or blend toward the watchful baseline through the graduated fail-safe. Life-safety orders are never attenuated, and the no-harm rule withholds offensive allocations that forecast worse physics than doing nothing.</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fixed vocabulary of action: six intervention families (the language of orders) and seven verified physical effects (how orders act inside the simulation). Both lists are fixed; everything the generative stage later builds is composed from them.</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Loop position marker: the decide-price-test-adapt sequence within Layer 4.</a:t>
            </a:r>
          </a:p>
          <a:p>
            <a:endParaRPr lang="en-US" sz="1200"/>
          </a:p>
          <a:p>
            <a:r>
              <a:t>Q (jury): What is the single pass through Layer 4 at run time?</a:t>
            </a:r>
          </a:p>
          <a:p>
            <a:endParaRPr/>
          </a:p>
          <a:p>
            <a:r>
              <a:t>A: Fire the sparse TS rule base on the gated activations; price the candidate against the no-action shadow forecast; test quality against the concepts that demanded action; then apply, or invoke exactly one adaptation stage, or blend toward the watchful baseline through the graduated fail-safe. Life-safety orders are never attenuated, and the no-harm rule withholds offensive allocations that forecast worse physics than doing nothing.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63533207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two boundaries of a local agent and their payloads: downward the intervention field to the simulation; upward the operational priority, resource request, and confidence summary to the Global DSS - which ranks and allocates but never rewrites a local decision.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decision cost J: a single number in [0, 1] pricing the forecast end state - burned area, asset loss, population exposure, response effort, delay - each term a ratio, measured on the shadow copy over the forecast horizon.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Why two readings of the same cost: the total cost (all five terms) is what acceptance pays; the physical cost (three physical terms) is what trials and cross-configuration comparisons are judged on, because inaction pays no response or delay.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two tests and their different failures: the satisficing cost test (is the outcome acceptable - bound = the tighter of the fixed ceiling and 95 percent of the no-action forecast) and the quality test (does the order serve its demanding concepts). Cost failures summon adaptation; quality deficits summon the fail-safe.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Worked cost test with every number traced: candidate 0.8004/3.4 = 0.2354 vs bound min(0.35, 0.95 x 0.2502) = 0.2377 - accepted on cost. Each weighted term is shown with its origin.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Worked quality test in two regions: Region 1 passes (Q1 = 0.672 &gt;= 0.60); Region 2 fails (Q2 = 0.516) and the fail-safe scales offensive orders by lambda = Q/eta = 0.86 - suppression 0.360 to 0.310, deployment 0.920 to 0.791. Ordering too much counts the same as ordering too little.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fail-safe philosophy: derate, never panic; withhold, never pretend. Offensive intensities are scaled proportionally toward the watchful baseline; evacuation and public warning are never reduced.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Loop position marker: entering the adaptation ladder.</a:t>
            </a:r>
          </a:p>
          <a:p>
            <a:endParaRPr lang="en-US" sz="1200"/>
          </a:p>
          <a:p>
            <a:r>
              <a:t>Q (jury): What is the single pass through Layer 4 at run time?</a:t>
            </a:r>
          </a:p>
          <a:p>
            <a:endParaRPr/>
          </a:p>
          <a:p>
            <a:r>
              <a:t>A: Fire the sparse TS rule base on the gated activations; price the candidate against the no-action shadow forecast; test quality against the concepts that demanded action; then apply, or invoke exactly one adaptation stage, or blend toward the watchful baseline through the graduated fail-safe. Life-safety orders are never attenuated, and the no-harm rule withholds offensive allocations that forecast worse physics than doing nothing.</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93020353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whole starting doctrine: five seed rules, one per operational regime. Deliberately minimal - every additional rule must be earned through the adaptation ladder under gate evidence.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How the adaptation stage is selected: coverage decides between growing the base (stage 2) and tuning it (stage 1); a persistent deficit escalates to stage 3. The controller learns which stage pays via a running score with 10 percent exploration.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Stage 1 before/after: consequent steps of +/-0.05 kept only on strict physical-forecast improvement from the same seed - R5's deployment 0.80 to 0.85 in the recorded example. Campaign: 616 trials, 129 kept, 167 consequent updates.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Stage 2 mode 1: a rule is written on an empty antecedent combination while fire is alive; consequents are seeded from what the strongest concepts ask for - not guessed.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Stage 2 mode 2: two situations sharing one cell with an ambiguous reading - a narrow term is inserted (X: core 0.37-0.47) so the cell splits; the catalog grows 3125 to 3750 and a rule is written on the refined cell.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Stage 3 overview: one invocation returns exactly one candidate - a plain rule, or a package adding exactly one new object (macro, concept, or clause actuator) that the rule must use. Morph sequence: the next three slides zoom into panels (a), (b), (c) of the figure.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Zoom (a): a macro intervention is a named, weighted bundle of at most three base families (backburn = containment 0.6 + suppression 0.4); rules order it by name and it expands at execution. Nothing new touches physics.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Zoom (b): an intermediate concept is a normalized blend of at most four existing inputs (ember spotting risk = 0.40 spread + 0.35 weather + 0.25 fuel); it joins the hierarchy like a native concept; G2b blocks near-duplicates (cosine &lt; 0.95).</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Zoom (c): a clause actuator carries its own geometry - up to three clauses of (verified effect x sector x range x dose); lakeside_capacity_bridge composes drafting at the fire and head with evacuation behind.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formal problem behind stage 3: minimize the forecast physical cost change over the vocabulary-closed admissible set, where each objective evaluation costs one reseeded rollout and the budget is two per cycle. Six admissibility predicates are checked free of simulation; the candidate space is combinatorially huge and the objective is black-box.</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stage-3 algorithm: summarize, propose (c ~ q(c | s_k, V_k)), screen at zero cost (G1-G2d), forecast on two independent seeds (the whole budget), accept exactly (strict decrease on both; packages also the payoff margin delta_v and the G5b ablation), record or stop. Acceptance is model-free and proposer-agnostic.</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Why an LLM and not classical search: exhaustive enumeration, evolutionary rule search, Bayesian optimization, and RL each fail the two-rollout budget in a specific way. The LLM is formally a learned proposal distribution over the same closed space - it replaces only the candidate generator; the gates remain exact.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Before/after for each of the four product types, all recorded artifacts: rule G15, concept capacity_starved_head_pressure, macro waterborne_relay_and_shelter, actuator preemptive_asset_coating.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One package walked gate by gate (preemptive_asset_coating): five free gates, then four rollout-priced gates ending in the G5b ablation - the payoff must belong to the new object itself. A cheap reject returns to the proposer with the failing gate named.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Everything a cycle can do to doctrine, with campaign counts: applied as written (151 745 fielded), tuned by stage 1 (616 to 129), grown by stage 2 (359 to 40), created by stage 3 (232 to 47). Combinatorially open, physically closed.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Section divider: the evidence. Four questions - is the simulator faithful, which biases matter, does openness pay, is it fast at scale.</a:t>
            </a:r>
          </a:p>
          <a:p>
            <a:endParaRPr lang="en-US" sz="1200"/>
          </a:p>
          <a:p>
            <a:r>
              <a:t>Q (jury): What is the overall evidence strategy?</a:t>
            </a:r>
          </a:p>
          <a:p>
            <a:endParaRPr/>
          </a:p>
          <a:p>
            <a:r>
              <a:t>A: Five questions, each with its own experiment family: validity by blind hindcasts; informativeness of comparisons by sensitivity analysis; value of openness by the improvement ladder replaying identical worlds; reality of generative products by the campaign and the clause-actuator study; and tempo and scale by latency and agent-scaling measurements. Criteria were fixed in advance in the evaluation rubric.</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evaluation rubric, fixed before the experiments: eight criteria drawn from the technical and the decision-support traditions. The chapter closes by auditing every result against exactly these.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experimental ground: shared parameters of all campaigns (200x200 at 90 m, 12-minute cycle, tau_att 0.35, J_TH 0.35, eta 0.60, 50 Monte Carlo seeds) and the stated modeling assumptions.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Verification protocol: blind hindcasts - four documented Turkish fires (Manavgat, Marmaris, Milas, Kayadere), all spread parameters frozen before any run, inputs from independent public data (GLO-30, WorldCover, ERA5, FIRMS VIIRS). The suppression-free core is scored on front propagation, not area overlap.</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three verification metrics with acceptance levels: probability of detection (&gt;= 0.70), relative front-position error (&lt; 0.3), relative arrival-time error (&lt; 0.3). POD is insensitive to overprediction, so the front and arrival criteria carry the discriminating burden.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Verification results: all three criteria pass in all four cases - POD 85-97 percent, front score 82-90, arrival score 71-98, overall 86-94 percent. The red halo in the maps is the designed overprediction of a suppression-free run.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Sensitivity design: one parameter displaced at a time across its bias range (Morris/Saltelli), five worlds per level with 95 percent intervals, 880 runs. The question is tolerance to miscalibration, not optimal values.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Locating the operating point: the fire-load x resource sweep shows lost (77-83 percent of free burn) and held (14-32 percent) regimes; the biases are applied at the decidable point - four ignitions, quarter pool, 50 percent of free burn on the mean.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Observation x load: observation decides at light load (70 to 20 percent, saturating at five sensors); resource decides at heavy load (86 to 46 percent by pool). Complementary, not interchangeable; degradation below five sensors is smooth.</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operational thresholds: the decision-cycle formula and its two bounds; the satisficing bound engages the ladder in 42 percent of cycles at 0.35 and saturates at 29.5 percent above 0.45; the quality gate acts only inside the band quality actually occupies (0.55-0.85). Steep directions: cycle and pool below half. Tolerant: coverage, ceiling above nominal, gate.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improvement ladder: four configurations on identical worlds with disjoint evaluation seeds - no action, seed base, plus evFIS, full DisasterAware. Costs compared at a common six-hour checkpoint; physical cost for the against-no-action reading.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five scenario families: landscape (remote forest vs WUI) x resource sufficiency, plus S5 = S4 under degraded observation; fifty worlds each, critical fire weather everywhere.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Headline ladder results: 220 to 84 ha (seed base, -62 percent), to 78 (evFIS - the gain is the delay term: same resources committed sooner), to 39 ha (full, -82 percent), physical cost 0.506 to 0.090. Stated caveats: the no-action total is reference-only, and the last rung combines mechanism with vocabulary access.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Full per-scenario physical outcomes (Table 5.9): the full configuration is best in every scenario; S5 shows +10 percent under degraded observation while remaining best of four.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cost decomposition (Table 5.10): where each configuration pays - the full system cuts burn and asset terms hardest; the intermediate rung buys mostly delay reduction.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adaptation record: funnels 616 to 129 (21 percent), 359 to 40 (11 percent), 232 to 47; low acceptance is the design working - trials are cheap, admission is strict. The constraint ledger: 151 745 fielded, 5 502 withheld, 5 338 fail-safe engagements, 113 no-harm vetoes; one unlogged quantity stated honestly.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five stage-1/2 edit mechanisms, each with a recorded example: escalation, de-escalation, boundary shift, term insertion, rule instantiation. Totals: 167 consequent updates (103 up, 64 down), 5 shifts, 4 insertions, 40 new rules.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stage-3 ledger: seven macros and one concept, each born at a logged moment under a logged deficit; three of the base channels are physics no seed rule orders. One renaming for honesty (downwind_containment_shield).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Vocabulary being used, not merely grown: five admitted rules consuming generated objects; G14 fires on the generated concept interface_exposure; forward_draft_relay is ordered through capacity_starved_head_pressure; lakeside_capacity_bridge is re-ordered at minute 114 by an unrelated rule.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clause-actuator campaign: five seeds x two arms, 205 cycles, 35 proposals, 19 admissions; refusals fall at G3/G4/G5. Six refused actuators changed nothing in the forecast (geometric causes); one marginal admission is stated openly with its later re-use as evidence.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seven admitted actuators with birth moments: minute-0 preventive coating family (no doctrine counterpart) and minute-48 drafting substitution family (raising yield of committed crews on a spent pool).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Traceability: one incident from ignition to containment (accepted trials cluster early) and one decision line by line - sensors to confidence to concepts to rules to orders to both tests to the fielded order. The full table is in Backup.</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Timeliness and scalability: median 274 ms against a 12-minute cycle (0.04 percent), first offensive order at minute 2 in all ten worlds; 16x agents cost at most 1.29x; the binding driver is domain size (grid x4 gives x6.9), not agent count.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rubric returns: four criteria met in full (fidelity, timeliness, adaptability, scalability), four met-but-bounded with the open axis named (no external baseline, noise/comm untested, no ensemble, operator-side interpretability unevaluated).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The three hypotheses against their pre-registered criteria - all supported; the vocabulary level (seven composed interventions, one re-used by an unrelated rule) completes the evidence line.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Live demonstration placeholder: web dashboard, one live decision cycle, one adaptation caught live; recorded screencast as fallback.</a:t>
            </a:r>
          </a:p>
          <a:p>
            <a:endParaRPr lang="en-US" sz="1200"/>
          </a:p>
          <a:p>
            <a:r>
              <a:t>Q (jury): What would you show in a live demonstration?</a:t>
            </a:r>
          </a:p>
          <a:p>
            <a:endParaRPr/>
          </a:p>
          <a:p>
            <a:r>
              <a:t>A: The Web UI dashboard on a scenario: the map view during a live cycle — observation to concepts to order — then a forced cost failure to show an adaptation trial with its gate verdict, and finally the decision chronicle of one fielded order, line by line. The demo shows the same chain the thesis argues is intrinsic.</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Section divider: conclusion and future work.</a:t>
            </a:r>
          </a:p>
          <a:p>
            <a:endParaRPr lang="en-US" sz="1200"/>
          </a:p>
          <a:p>
            <a:r>
              <a:t>Q (jury): Why build your own simulation framework at all?</a:t>
            </a:r>
          </a:p>
          <a:p>
            <a:endParaRPr/>
          </a:p>
          <a:p>
            <a:r>
              <a:t>A: Because the evaluation methodology needs properties no off-the-shelf simulator offers together: bit-exact reproducibility for paired comparisons, throughput for thousands of counterfactual rollouts, a closed and verifiable intervention surface, and independent validation of the core. Chapter 3 presents that foundation.</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5358792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What the thesis establishes: the three contributions delivered against criteria fixed in advance - the open decision space (five rules grown into a doctrine, half the burned area of the static base), built-in explanation (every order traceable without post-hoc attribution), and the end-to-end demonstration on an independently validated simulator.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Three boundaries stated directly: comparisons are internal (no like-for-like external system exists), the validation base is four fires (proxy, not fire science), and LLM proposals are not bitwise reproducible - but nothing enters on the model's authority; the gates decide.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Four future studies in natural order: operator study (tabletop with commanders), transfer to other hazards (the layer is not fire-specific), ensemble uncertainty, and domain-size scaling. None requires changing the framework.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Thanks and committee acknowledgement. One line to leave in the room: open where tactics live, closed where physics rules.</a:t>
            </a:r>
          </a:p>
          <a:p>
            <a:endParaRPr lang="en-US" sz="1200"/>
          </a:p>
          <a:p>
            <a:r>
              <a:t>Q (jury): (Closing) What should we remember from this defense?</a:t>
            </a:r>
          </a:p>
          <a:p>
            <a:endParaRPr/>
          </a:p>
          <a:p>
            <a:r>
              <a:t>A: Openness and discipline are not opposites: the framework generates what its doctrine lacks, verifies everything before it acts, explains every order it fields, and does so in milliseconds. I thank the committee for their time and questions.</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A: the full Rothermel-like spread formulation (base rate x moisture x wind x slope x aspect) with the fuel-type calibration table and the metric interpretation (1 cell/step = 3 m/min at 90 m / 30 min).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B: combustion consumption - the algebraic burn fraction with per-fuel baseline coefficients.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B: the suppression mapping - five multiplicative factors (gain, capacity, availability, reachability, effectiveness) with calibration ranges; the only channel through which orders touch fuel.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C: the fire intensity proxy - normalized inputs, tanh bound, parameter table; why a proxy rather than heat flux.</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D: the complete aggregation wiring of the concept hierarchy - every weight of levels 1-4, plus rho = 0.90 and alpha_min = 0.05.</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D: the shared five-term trapezoidal partition and the vector semantics of membership (activation is a five-term vector; a scalar only for priority, quality, reporting).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E: generative rules G1-G13 verbatim from the persistent store.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E: rules G14-G20 and the admitted vocabulary objects with recorded definitions.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F: the proposer contract - deterministic input, one-JSON output, 90-second discipline, zero authority.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Appendix F: anatomy of the standing mission brief of one recorded run - map affordances, assets, the two weight sets, doctrine vs library, when to invent what, standing rules.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scope of the sensitivity evidence: what is swept (loop parameters) vs what is fixed by design (cost weights, protection priorities, frozen spread parameters); the honest answer if the jury asks what happens when the priorities change.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EXPLAIN — Backup - Table 5.13 in full: a single decision line by line, each row produced by the row above it.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NULL"/><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NUL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media/image5.png"/><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 Id="rId14" Type="http://schemas.openxmlformats.org/officeDocument/2006/relationships/image" Target="NULL"/></Relationships>
</file>

<file path=ppt/slides/_rels/slide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11.png"/></Relationships>
</file>

<file path=ppt/slides/_rels/slide1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14.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17.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png"/><Relationship Id="rId7"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20.png"/></Relationships>
</file>

<file path=ppt/slides/_rels/slide1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23.png"/></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NULL"/><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NUL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media/image5.png"/><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 Id="rId14" Type="http://schemas.openxmlformats.org/officeDocument/2006/relationships/image" Target="NUL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png"/><Relationship Id="rId9"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1.png"/><Relationship Id="rId7"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png"/><Relationship Id="rId9" Type="http://schemas.openxmlformats.org/officeDocument/2006/relationships/image" Target="../media/image33.png"/></Relationships>
</file>

<file path=ppt/slides/_rels/slide21.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1.png"/><Relationship Id="rId7" Type="http://schemas.openxmlformats.org/officeDocument/2006/relationships/image" Target="../media/image26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50.png"/><Relationship Id="rId5" Type="http://schemas.openxmlformats.org/officeDocument/2006/relationships/image" Target="../media/image240.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1.png"/><Relationship Id="rId7"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5.png"/><Relationship Id="rId10" Type="http://schemas.openxmlformats.org/officeDocument/2006/relationships/image" Target="../media/image38.png"/><Relationship Id="rId4" Type="http://schemas.openxmlformats.org/officeDocument/2006/relationships/image" Target="../media/image2.png"/><Relationship Id="rId9" Type="http://schemas.openxmlformats.org/officeDocument/2006/relationships/image" Target="../media/image37.png"/></Relationships>
</file>

<file path=ppt/slides/_rels/slide2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1.png"/><Relationship Id="rId7"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5.png"/><Relationship Id="rId10" Type="http://schemas.openxmlformats.org/officeDocument/2006/relationships/image" Target="../media/image44.png"/><Relationship Id="rId4" Type="http://schemas.openxmlformats.org/officeDocument/2006/relationships/image" Target="../media/image2.png"/><Relationship Id="rId9" Type="http://schemas.openxmlformats.org/officeDocument/2006/relationships/image" Target="../media/image43.png"/></Relationships>
</file>

<file path=ppt/slides/_rels/slide24.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1.png"/><Relationship Id="rId7" Type="http://schemas.openxmlformats.org/officeDocument/2006/relationships/image" Target="NULL"/><Relationship Id="rId12"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media/image46.png"/><Relationship Id="rId5" Type="http://schemas.openxmlformats.org/officeDocument/2006/relationships/image" Target="../media/image5.png"/><Relationship Id="rId10" Type="http://schemas.openxmlformats.org/officeDocument/2006/relationships/image" Target="../media/image45.png"/><Relationship Id="rId4" Type="http://schemas.openxmlformats.org/officeDocument/2006/relationships/image" Target="../media/image2.png"/><Relationship Id="rId9" Type="http://schemas.openxmlformats.org/officeDocument/2006/relationships/image" Target="../media/image380.png"/></Relationships>
</file>

<file path=ppt/slides/_rels/slide2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png"/><Relationship Id="rId7" Type="http://schemas.openxmlformats.org/officeDocument/2006/relationships/image" Target="../media/image4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5.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 Id="rId9"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61.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62.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5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7.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1.png"/><Relationship Id="rId7"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3.png"/></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7"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9.png"/><Relationship Id="rId4" Type="http://schemas.openxmlformats.org/officeDocument/2006/relationships/image" Target="../media/image78.png"/></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83.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1.png"/><Relationship Id="rId7" Type="http://schemas.openxmlformats.org/officeDocument/2006/relationships/image" Target="../media/image86.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1.png"/><Relationship Id="rId7" Type="http://schemas.openxmlformats.org/officeDocument/2006/relationships/image" Target="../media/image90.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4.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image" Target="../media/image1.png"/><Relationship Id="rId7"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2.png"/><Relationship Id="rId9" Type="http://schemas.openxmlformats.org/officeDocument/2006/relationships/image" Target="../media/image99.png"/></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2.png"/></Relationships>
</file>

<file path=ppt/slides/_rels/slide5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104.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105.png"/><Relationship Id="rId4" Type="http://schemas.openxmlformats.org/officeDocument/2006/relationships/image" Target="../media/image2.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106.png"/><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107.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7.png"/><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07.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png"/><Relationship Id="rId7" Type="http://schemas.openxmlformats.org/officeDocument/2006/relationships/image" Target="../media/image11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2.png"/><Relationship Id="rId9" Type="http://schemas.openxmlformats.org/officeDocument/2006/relationships/image" Target="../media/image114.png"/></Relationships>
</file>

<file path=ppt/slides/_rels/slide66.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png"/><Relationship Id="rId7" Type="http://schemas.openxmlformats.org/officeDocument/2006/relationships/image" Target="../media/image117.png"/><Relationship Id="rId12" Type="http://schemas.openxmlformats.org/officeDocument/2006/relationships/image" Target="../media/image12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116.png"/><Relationship Id="rId11" Type="http://schemas.openxmlformats.org/officeDocument/2006/relationships/image" Target="../media/image121.png"/><Relationship Id="rId5" Type="http://schemas.openxmlformats.org/officeDocument/2006/relationships/image" Target="../media/image115.png"/><Relationship Id="rId10" Type="http://schemas.openxmlformats.org/officeDocument/2006/relationships/image" Target="../media/image120.png"/><Relationship Id="rId4" Type="http://schemas.openxmlformats.org/officeDocument/2006/relationships/image" Target="../media/image2.png"/><Relationship Id="rId9" Type="http://schemas.openxmlformats.org/officeDocument/2006/relationships/image" Target="../media/image119.png"/></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5.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2.png"/></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1.xml"/><Relationship Id="rId5" Type="http://schemas.openxmlformats.org/officeDocument/2006/relationships/image" Target="../media/image126.png"/><Relationship Id="rId4" Type="http://schemas.openxmlformats.org/officeDocument/2006/relationships/image" Target="../media/image2.png"/></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2.png"/></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129.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png"/><Relationship Id="rId7" Type="http://schemas.openxmlformats.org/officeDocument/2006/relationships/image" Target="../media/image132.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2.png"/><Relationship Id="rId9" Type="http://schemas.openxmlformats.org/officeDocument/2006/relationships/image" Target="../media/image134.png"/></Relationships>
</file>

<file path=ppt/slides/_rels/slide76.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1.png"/><Relationship Id="rId7" Type="http://schemas.openxmlformats.org/officeDocument/2006/relationships/image" Target="../media/image136.pn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08.jpeg"/><Relationship Id="rId5" Type="http://schemas.openxmlformats.org/officeDocument/2006/relationships/image" Target="../media/image135.png"/><Relationship Id="rId4" Type="http://schemas.openxmlformats.org/officeDocument/2006/relationships/image" Target="../media/image2.png"/><Relationship Id="rId9" Type="http://schemas.openxmlformats.org/officeDocument/2006/relationships/image" Target="../media/image138.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1.xml"/><Relationship Id="rId5" Type="http://schemas.openxmlformats.org/officeDocument/2006/relationships/image" Target="../media/image140.png"/><Relationship Id="rId4" Type="http://schemas.openxmlformats.org/officeDocument/2006/relationships/image" Target="../media/image2.png"/></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1.xml"/><Relationship Id="rId5" Type="http://schemas.openxmlformats.org/officeDocument/2006/relationships/image" Target="../media/image139.png"/><Relationship Id="rId4" Type="http://schemas.openxmlformats.org/officeDocument/2006/relationships/image" Target="../media/image2.png"/></Relationships>
</file>

<file path=ppt/slides/_rels/slide79.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png"/><Relationship Id="rId7" Type="http://schemas.openxmlformats.org/officeDocument/2006/relationships/image" Target="../media/image143.pn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2.png"/></Relationships>
</file>

<file path=ppt/slides/_rels/slide80.xml.rels><?xml version="1.0" encoding="UTF-8" standalone="yes"?>
<Relationships xmlns="http://schemas.openxmlformats.org/package/2006/relationships"><Relationship Id="rId8" Type="http://schemas.openxmlformats.org/officeDocument/2006/relationships/image" Target="../media/image148.png"/><Relationship Id="rId3" Type="http://schemas.openxmlformats.org/officeDocument/2006/relationships/image" Target="../media/image1.png"/><Relationship Id="rId7" Type="http://schemas.openxmlformats.org/officeDocument/2006/relationships/image" Target="../media/image147.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145.png"/><Relationship Id="rId5" Type="http://schemas.openxmlformats.org/officeDocument/2006/relationships/image" Target="../media/image146.png"/><Relationship Id="rId4" Type="http://schemas.openxmlformats.org/officeDocument/2006/relationships/image" Target="../media/image2.png"/><Relationship Id="rId9" Type="http://schemas.openxmlformats.org/officeDocument/2006/relationships/image" Target="../media/image150.png"/></Relationships>
</file>

<file path=ppt/slides/_rels/slide81.xml.rels><?xml version="1.0" encoding="UTF-8" standalone="yes"?>
<Relationships xmlns="http://schemas.openxmlformats.org/package/2006/relationships"><Relationship Id="rId8" Type="http://schemas.openxmlformats.org/officeDocument/2006/relationships/image" Target="../media/image154.png"/><Relationship Id="rId3" Type="http://schemas.openxmlformats.org/officeDocument/2006/relationships/image" Target="../media/image1.png"/><Relationship Id="rId7" Type="http://schemas.openxmlformats.org/officeDocument/2006/relationships/image" Target="../media/image153.pn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10" Type="http://schemas.openxmlformats.org/officeDocument/2006/relationships/image" Target="../media/image156.png"/><Relationship Id="rId4" Type="http://schemas.openxmlformats.org/officeDocument/2006/relationships/image" Target="../media/image2.png"/><Relationship Id="rId9" Type="http://schemas.openxmlformats.org/officeDocument/2006/relationships/image" Target="../media/image155.png"/></Relationships>
</file>

<file path=ppt/slides/_rels/slide82.xml.rels><?xml version="1.0" encoding="UTF-8" standalone="yes"?>
<Relationships xmlns="http://schemas.openxmlformats.org/package/2006/relationships"><Relationship Id="rId8" Type="http://schemas.openxmlformats.org/officeDocument/2006/relationships/image" Target="../media/image159.png"/><Relationship Id="rId3" Type="http://schemas.openxmlformats.org/officeDocument/2006/relationships/image" Target="../media/image1.png"/><Relationship Id="rId7" Type="http://schemas.openxmlformats.org/officeDocument/2006/relationships/image" Target="../media/image158.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157.png"/><Relationship Id="rId5" Type="http://schemas.openxmlformats.org/officeDocument/2006/relationships/image" Target="../media/image149.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3.xml"/><Relationship Id="rId1" Type="http://schemas.openxmlformats.org/officeDocument/2006/relationships/slideLayout" Target="../slideLayouts/slideLayout1.xml"/><Relationship Id="rId5" Type="http://schemas.openxmlformats.org/officeDocument/2006/relationships/image" Target="../media/image160.png"/><Relationship Id="rId4" Type="http://schemas.openxmlformats.org/officeDocument/2006/relationships/image" Target="../media/image2.png"/></Relationships>
</file>

<file path=ppt/slides/_rels/slide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1.xml"/><Relationship Id="rId5" Type="http://schemas.openxmlformats.org/officeDocument/2006/relationships/image" Target="../media/image163.png"/><Relationship Id="rId4" Type="http://schemas.openxmlformats.org/officeDocument/2006/relationships/image" Target="../media/image2.png"/></Relationships>
</file>

<file path=ppt/slides/_rels/slide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8.xml"/><Relationship Id="rId1" Type="http://schemas.openxmlformats.org/officeDocument/2006/relationships/slideLayout" Target="../slideLayouts/slideLayout1.xml"/><Relationship Id="rId5" Type="http://schemas.openxmlformats.org/officeDocument/2006/relationships/image" Target="../media/image164.pn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9.xml"/><Relationship Id="rId1" Type="http://schemas.openxmlformats.org/officeDocument/2006/relationships/slideLayout" Target="../slideLayouts/slideLayout1.xml"/><Relationship Id="rId5" Type="http://schemas.openxmlformats.org/officeDocument/2006/relationships/image" Target="../media/image165.png"/><Relationship Id="rId4" Type="http://schemas.openxmlformats.org/officeDocument/2006/relationships/image" Target="../media/image2.png"/></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1.xml"/><Relationship Id="rId5" Type="http://schemas.openxmlformats.org/officeDocument/2006/relationships/image" Target="../media/image166.pn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1.xml"/><Relationship Id="rId5" Type="http://schemas.openxmlformats.org/officeDocument/2006/relationships/image" Target="../media/image167.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3.xml"/><Relationship Id="rId1" Type="http://schemas.openxmlformats.org/officeDocument/2006/relationships/slideLayout" Target="../slideLayouts/slideLayout1.xml"/><Relationship Id="rId5" Type="http://schemas.openxmlformats.org/officeDocument/2006/relationships/image" Target="../media/image168.pn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1.png"/><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102.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s>
</file>

<file path=ppt/slides/_rels/slide10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NULL"/><Relationship Id="rId2" Type="http://schemas.openxmlformats.org/officeDocument/2006/relationships/notesSlide" Target="../notesSlides/notesSlide103.xml"/><Relationship Id="rId1" Type="http://schemas.openxmlformats.org/officeDocument/2006/relationships/slideLayout" Target="../slideLayouts/slideLayout1.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2.png"/></Relationships>
</file>

<file path=ppt/slides/_rels/slide104.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1.png"/><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104.xml"/><Relationship Id="rId1" Type="http://schemas.openxmlformats.org/officeDocument/2006/relationships/slideLayout" Target="../slideLayouts/slideLayout1.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s>
</file>

<file path=ppt/slides/_rels/slide10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1.png"/><Relationship Id="rId7" Type="http://schemas.openxmlformats.org/officeDocument/2006/relationships/image" Target="NULL"/><Relationship Id="rId2" Type="http://schemas.openxmlformats.org/officeDocument/2006/relationships/notesSlide" Target="../notesSlides/notesSlide105.xml"/><Relationship Id="rId1" Type="http://schemas.openxmlformats.org/officeDocument/2006/relationships/slideLayout" Target="../slideLayouts/slideLayout1.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2.png"/><Relationship Id="rId9" Type="http://schemas.openxmlformats.org/officeDocument/2006/relationships/image" Target="NULL"/></Relationships>
</file>

<file path=ppt/slides/_rels/slide1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6.xml"/><Relationship Id="rId1" Type="http://schemas.openxmlformats.org/officeDocument/2006/relationships/slideLayout" Target="../slideLayouts/slideLayout1.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7.xml"/><Relationship Id="rId1" Type="http://schemas.openxmlformats.org/officeDocument/2006/relationships/slideLayout" Target="../slideLayouts/slideLayout1.xml"/><Relationship Id="rId5" Type="http://schemas.openxmlformats.org/officeDocument/2006/relationships/image" Target="NULL"/><Relationship Id="rId4" Type="http://schemas.openxmlformats.org/officeDocument/2006/relationships/image" Target="../media/image2.png"/></Relationships>
</file>

<file path=ppt/slides/_rels/slide10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2.xml"/><Relationship Id="rId1" Type="http://schemas.openxmlformats.org/officeDocument/2006/relationships/slideLayout" Target="../slideLayouts/slideLayout1.xml"/><Relationship Id="rId5" Type="http://schemas.openxmlformats.org/officeDocument/2006/relationships/image" Target="NULL"/><Relationship Id="rId4" Type="http://schemas.openxmlformats.org/officeDocument/2006/relationships/image" Target="../media/image2.png"/></Relationships>
</file>

<file path=ppt/slides/_rels/slide1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3.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a:effectLst/>
      </p:bgPr>
    </p:bg>
    <p:spTree>
      <p:nvGrpSpPr>
        <p:cNvPr id="1" name=""/>
        <p:cNvGrpSpPr/>
        <p:nvPr/>
      </p:nvGrpSpPr>
      <p:grpSpPr>
        <a:xfrm>
          <a:off x="0" y="0"/>
          <a:ext cx="0" cy="0"/>
          <a:chOff x="0" y="0"/>
          <a:chExt cx="0" cy="0"/>
        </a:xfrm>
      </p:grpSpPr>
      <p:pic>
        <p:nvPicPr>
          <p:cNvPr id="2" name="Image 0" descr="/tmp/thx/deck/figs/metu_emblem.png"/>
          <p:cNvPicPr>
            <a:picLocks noChangeAspect="1"/>
          </p:cNvPicPr>
          <p:nvPr/>
        </p:nvPicPr>
        <p:blipFill>
          <a:blip r:embed="rId3"/>
          <a:stretch>
            <a:fillRect/>
          </a:stretch>
        </p:blipFill>
        <p:spPr>
          <a:xfrm>
            <a:off x="9464040" y="461518"/>
            <a:ext cx="1188720" cy="997204"/>
          </a:xfrm>
          <a:prstGeom prst="rect">
            <a:avLst/>
          </a:prstGeom>
        </p:spPr>
      </p:pic>
      <p:pic>
        <p:nvPicPr>
          <p:cNvPr id="3" name="Image 1" descr="/tmp/thx/deck/figs/eee_logo.png"/>
          <p:cNvPicPr>
            <a:picLocks noChangeAspect="1"/>
          </p:cNvPicPr>
          <p:nvPr/>
        </p:nvPicPr>
        <p:blipFill>
          <a:blip r:embed="rId4"/>
          <a:stretch>
            <a:fillRect/>
          </a:stretch>
        </p:blipFill>
        <p:spPr>
          <a:xfrm>
            <a:off x="10744200" y="465543"/>
            <a:ext cx="1188720" cy="989154"/>
          </a:xfrm>
          <a:prstGeom prst="rect">
            <a:avLst/>
          </a:prstGeom>
        </p:spPr>
      </p:pic>
      <p:sp>
        <p:nvSpPr>
          <p:cNvPr id="4" name="Text 0"/>
          <p:cNvSpPr/>
          <p:nvPr/>
        </p:nvSpPr>
        <p:spPr>
          <a:xfrm>
            <a:off x="822960" y="868680"/>
            <a:ext cx="5486400" cy="32004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PhD Thesis Defense</a:t>
            </a:r>
            <a:endParaRPr lang="en-US" sz="1500" dirty="0"/>
          </a:p>
        </p:txBody>
      </p:sp>
      <p:sp>
        <p:nvSpPr>
          <p:cNvPr id="5" name="Text 1"/>
          <p:cNvSpPr/>
          <p:nvPr/>
        </p:nvSpPr>
        <p:spPr>
          <a:xfrm>
            <a:off x="822960" y="1280160"/>
            <a:ext cx="10515600" cy="91440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DisasterAware</a:t>
            </a:r>
            <a:endParaRPr lang="en-US" sz="5400" dirty="0"/>
          </a:p>
        </p:txBody>
      </p:sp>
      <p:sp>
        <p:nvSpPr>
          <p:cNvPr id="6" name="Text 2"/>
          <p:cNvSpPr/>
          <p:nvPr/>
        </p:nvSpPr>
        <p:spPr>
          <a:xfrm>
            <a:off x="822960" y="2331720"/>
            <a:ext cx="10515600" cy="914400"/>
          </a:xfrm>
          <a:prstGeom prst="rect">
            <a:avLst/>
          </a:prstGeom>
          <a:noFill/>
          <a:ln/>
        </p:spPr>
        <p:txBody>
          <a:bodyPr wrap="square" lIns="0" tIns="0" rIns="0" bIns="0" rtlCol="0" anchor="ctr"/>
          <a:lstStyle/>
          <a:p>
            <a:pPr marL="0" indent="0">
              <a:buNone/>
            </a:pPr>
            <a:r>
              <a:rPr lang="en-US" sz="2100" i="1" dirty="0">
                <a:solidFill>
                  <a:srgbClr val="D9D9D9"/>
                </a:solidFill>
                <a:latin typeface="Cambria" pitchFamily="34" charset="0"/>
                <a:ea typeface="Cambria" pitchFamily="34" charset="-122"/>
                <a:cs typeface="Cambria" pitchFamily="34" charset="-120"/>
              </a:rPr>
              <a:t>AI-Powered Decision Support System for Wildfire Disaster Response</a:t>
            </a:r>
            <a:r>
              <a:rPr lang="tr-TR" sz="2100" i="1" dirty="0">
                <a:solidFill>
                  <a:srgbClr val="D9D9D9"/>
                </a:solidFill>
                <a:latin typeface="Cambria" pitchFamily="34" charset="0"/>
                <a:ea typeface="Cambria" pitchFamily="34" charset="-122"/>
                <a:cs typeface="Cambria" pitchFamily="34" charset="-120"/>
              </a:rPr>
              <a:t> </a:t>
            </a:r>
            <a:r>
              <a:rPr lang="en-US" sz="2100" i="1" dirty="0">
                <a:solidFill>
                  <a:srgbClr val="D9D9D9"/>
                </a:solidFill>
                <a:latin typeface="Cambria" pitchFamily="34" charset="0"/>
                <a:ea typeface="Cambria" pitchFamily="34" charset="-122"/>
                <a:cs typeface="Cambria" pitchFamily="34" charset="-120"/>
              </a:rPr>
              <a:t>and Management</a:t>
            </a:r>
            <a:endParaRPr lang="en-US" sz="2100" dirty="0"/>
          </a:p>
        </p:txBody>
      </p:sp>
      <p:sp>
        <p:nvSpPr>
          <p:cNvPr id="7" name="Text 3"/>
          <p:cNvSpPr/>
          <p:nvPr/>
        </p:nvSpPr>
        <p:spPr>
          <a:xfrm>
            <a:off x="822960" y="3977640"/>
            <a:ext cx="7772400" cy="1737360"/>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Çağlar </a:t>
            </a:r>
            <a:r>
              <a:rPr lang="en-US" sz="2200" b="1" dirty="0" err="1">
                <a:solidFill>
                  <a:srgbClr val="FFFFFF"/>
                </a:solidFill>
                <a:latin typeface="Calibri" pitchFamily="34" charset="0"/>
                <a:ea typeface="Calibri" pitchFamily="34" charset="-122"/>
                <a:cs typeface="Calibri" pitchFamily="34" charset="-120"/>
              </a:rPr>
              <a:t>Akman</a:t>
            </a:r>
            <a:endParaRPr lang="tr-TR" sz="2200" b="1" dirty="0">
              <a:solidFill>
                <a:srgbClr val="FFFFFF"/>
              </a:solidFill>
              <a:latin typeface="Calibri" pitchFamily="34" charset="0"/>
              <a:ea typeface="Calibri" pitchFamily="34" charset="-122"/>
              <a:cs typeface="Calibri" pitchFamily="34" charset="-120"/>
            </a:endParaRPr>
          </a:p>
          <a:p>
            <a:pPr marL="0" indent="0">
              <a:buNone/>
            </a:pPr>
            <a:endParaRPr lang="tr-TR" sz="2200" b="1" dirty="0">
              <a:solidFill>
                <a:srgbClr val="FFFFFF"/>
              </a:solidFill>
              <a:latin typeface="Calibri" pitchFamily="34" charset="0"/>
              <a:ea typeface="Calibri" pitchFamily="34" charset="-122"/>
              <a:cs typeface="Calibri" pitchFamily="34" charset="-120"/>
            </a:endParaRPr>
          </a:p>
          <a:p>
            <a:pPr marL="0" indent="0">
              <a:buNone/>
            </a:pPr>
            <a:r>
              <a:rPr lang="en-US" sz="1500" dirty="0">
                <a:solidFill>
                  <a:srgbClr val="B3B3B3"/>
                </a:solidFill>
                <a:latin typeface="Calibri" pitchFamily="34" charset="0"/>
                <a:ea typeface="Calibri" pitchFamily="34" charset="-122"/>
                <a:cs typeface="Calibri" pitchFamily="34" charset="-120"/>
              </a:rPr>
              <a:t>Department of Electrical and Electronics Engineering
Middle East Technical University</a:t>
            </a:r>
            <a:endParaRPr lang="tr-TR" sz="1500" dirty="0">
              <a:solidFill>
                <a:srgbClr val="B3B3B3"/>
              </a:solidFill>
              <a:latin typeface="Calibri" pitchFamily="34" charset="0"/>
              <a:ea typeface="Calibri" pitchFamily="34" charset="-122"/>
              <a:cs typeface="Calibri" pitchFamily="34" charset="-120"/>
            </a:endParaRPr>
          </a:p>
          <a:p>
            <a:pPr marL="0" indent="0">
              <a:buNone/>
            </a:pPr>
            <a:endParaRPr lang="tr-TR" sz="1500" dirty="0">
              <a:solidFill>
                <a:srgbClr val="B3B3B3"/>
              </a:solidFill>
              <a:latin typeface="Calibri" pitchFamily="34" charset="0"/>
              <a:ea typeface="Calibri" pitchFamily="34" charset="-122"/>
              <a:cs typeface="Calibri" pitchFamily="34" charset="-120"/>
            </a:endParaRPr>
          </a:p>
          <a:p>
            <a:pPr marL="0" indent="0">
              <a:buNone/>
            </a:pPr>
            <a:r>
              <a:rPr lang="en-US" sz="1500" dirty="0">
                <a:solidFill>
                  <a:srgbClr val="D9D9D9"/>
                </a:solidFill>
                <a:latin typeface="Calibri" pitchFamily="34" charset="0"/>
                <a:ea typeface="Calibri" pitchFamily="34" charset="-122"/>
                <a:cs typeface="Calibri" pitchFamily="34" charset="-120"/>
              </a:rPr>
              <a:t>Supervisor: Prof. Dr. Mehmet Kemal Leblebicioğlu</a:t>
            </a:r>
            <a:endParaRPr lang="en-US" sz="2200" dirty="0"/>
          </a:p>
        </p:txBody>
      </p:sp>
      <p:sp>
        <p:nvSpPr>
          <p:cNvPr id="8" name="Text 4"/>
          <p:cNvSpPr/>
          <p:nvPr/>
        </p:nvSpPr>
        <p:spPr>
          <a:xfrm>
            <a:off x="822960" y="5943600"/>
            <a:ext cx="2743200" cy="365760"/>
          </a:xfrm>
          <a:prstGeom prst="rect">
            <a:avLst/>
          </a:prstGeom>
          <a:noFill/>
          <a:ln/>
        </p:spPr>
        <p:txBody>
          <a:bodyPr wrap="square" lIns="0" tIns="0" rIns="0" bIns="0" rtlCol="0" anchor="ctr"/>
          <a:lstStyle/>
          <a:p>
            <a:pPr marL="0" indent="0">
              <a:buNone/>
            </a:pPr>
            <a:r>
              <a:rPr lang="en-US" sz="1500" dirty="0">
                <a:solidFill>
                  <a:srgbClr val="B3B3B3"/>
                </a:solidFill>
                <a:latin typeface="Calibri" pitchFamily="34" charset="0"/>
                <a:ea typeface="Calibri" pitchFamily="34" charset="-122"/>
                <a:cs typeface="Calibri" pitchFamily="34" charset="-120"/>
              </a:rPr>
              <a:t>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OUTLINE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Today's Route Follows the Thesis Argument</a:t>
            </a:r>
            <a:endParaRPr lang="en-US" sz="2900" dirty="0"/>
          </a:p>
        </p:txBody>
      </p:sp>
      <p:sp>
        <p:nvSpPr>
          <p:cNvPr id="4" name="Shape 2"/>
          <p:cNvSpPr/>
          <p:nvPr/>
        </p:nvSpPr>
        <p:spPr>
          <a:xfrm>
            <a:off x="685800" y="1527048"/>
            <a:ext cx="566928" cy="566928"/>
          </a:xfrm>
          <a:prstGeom prst="ellipse">
            <a:avLst/>
          </a:prstGeom>
          <a:solidFill>
            <a:srgbClr val="000000"/>
          </a:solidFill>
          <a:ln/>
        </p:spPr>
      </p:sp>
      <p:sp>
        <p:nvSpPr>
          <p:cNvPr id="5" name="Text 3"/>
          <p:cNvSpPr/>
          <p:nvPr/>
        </p:nvSpPr>
        <p:spPr>
          <a:xfrm>
            <a:off x="685800" y="1527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508760" y="1481328"/>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Problem &amp; Gaps</a:t>
            </a:r>
            <a:endParaRPr lang="en-US" sz="1900" dirty="0"/>
          </a:p>
        </p:txBody>
      </p:sp>
      <p:sp>
        <p:nvSpPr>
          <p:cNvPr id="7" name="Shape 5"/>
          <p:cNvSpPr/>
          <p:nvPr/>
        </p:nvSpPr>
        <p:spPr>
          <a:xfrm>
            <a:off x="685800" y="2368296"/>
            <a:ext cx="566928" cy="566928"/>
          </a:xfrm>
          <a:prstGeom prst="ellipse">
            <a:avLst/>
          </a:prstGeom>
          <a:solidFill>
            <a:srgbClr val="000000"/>
          </a:solidFill>
          <a:ln/>
        </p:spPr>
      </p:sp>
      <p:sp>
        <p:nvSpPr>
          <p:cNvPr id="8" name="Text 6"/>
          <p:cNvSpPr/>
          <p:nvPr/>
        </p:nvSpPr>
        <p:spPr>
          <a:xfrm>
            <a:off x="685800" y="236829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508760" y="2322576"/>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Simulation Framework</a:t>
            </a:r>
            <a:endParaRPr lang="en-US" sz="1900" dirty="0"/>
          </a:p>
        </p:txBody>
      </p:sp>
      <p:sp>
        <p:nvSpPr>
          <p:cNvPr id="10" name="Shape 8"/>
          <p:cNvSpPr/>
          <p:nvPr/>
        </p:nvSpPr>
        <p:spPr>
          <a:xfrm>
            <a:off x="685800" y="3209544"/>
            <a:ext cx="566928" cy="566928"/>
          </a:xfrm>
          <a:prstGeom prst="ellipse">
            <a:avLst/>
          </a:prstGeom>
          <a:solidFill>
            <a:srgbClr val="000000"/>
          </a:solidFill>
          <a:ln/>
        </p:spPr>
      </p:sp>
      <p:sp>
        <p:nvSpPr>
          <p:cNvPr id="11" name="Text 9"/>
          <p:cNvSpPr/>
          <p:nvPr/>
        </p:nvSpPr>
        <p:spPr>
          <a:xfrm>
            <a:off x="685800" y="3209544"/>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2" name="Text 10"/>
          <p:cNvSpPr/>
          <p:nvPr/>
        </p:nvSpPr>
        <p:spPr>
          <a:xfrm>
            <a:off x="1508760" y="3163824"/>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DSS Framework</a:t>
            </a:r>
            <a:endParaRPr lang="en-US" sz="1900" dirty="0"/>
          </a:p>
        </p:txBody>
      </p:sp>
      <p:sp>
        <p:nvSpPr>
          <p:cNvPr id="13" name="Shape 11"/>
          <p:cNvSpPr/>
          <p:nvPr/>
        </p:nvSpPr>
        <p:spPr>
          <a:xfrm>
            <a:off x="685800" y="4050792"/>
            <a:ext cx="566928" cy="566928"/>
          </a:xfrm>
          <a:prstGeom prst="ellipse">
            <a:avLst/>
          </a:prstGeom>
          <a:solidFill>
            <a:srgbClr val="000000"/>
          </a:solidFill>
          <a:ln/>
        </p:spPr>
      </p:sp>
      <p:sp>
        <p:nvSpPr>
          <p:cNvPr id="14" name="Text 12"/>
          <p:cNvSpPr/>
          <p:nvPr/>
        </p:nvSpPr>
        <p:spPr>
          <a:xfrm>
            <a:off x="685800" y="405079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5" name="Text 13"/>
          <p:cNvSpPr/>
          <p:nvPr/>
        </p:nvSpPr>
        <p:spPr>
          <a:xfrm>
            <a:off x="1508760" y="4005072"/>
            <a:ext cx="2860040" cy="685800"/>
          </a:xfrm>
          <a:prstGeom prst="rect">
            <a:avLst/>
          </a:prstGeom>
          <a:noFill/>
          <a:ln/>
        </p:spPr>
        <p:txBody>
          <a:bodyPr wrap="square" lIns="0" tIns="0" rIns="0" bIns="0" rtlCol="0" anchor="ctr"/>
          <a:lstStyle/>
          <a:p>
            <a:pPr marL="0" indent="0">
              <a:buNone/>
            </a:pPr>
            <a:r>
              <a:rPr lang="en-US" sz="1900" b="1" dirty="0">
                <a:solidFill>
                  <a:srgbClr val="000000"/>
                </a:solidFill>
                <a:latin typeface="Calibri" pitchFamily="34" charset="0"/>
                <a:ea typeface="Calibri" pitchFamily="34" charset="-122"/>
                <a:cs typeface="Calibri" pitchFamily="34" charset="-120"/>
              </a:rPr>
              <a:t>Open Decision Space</a:t>
            </a:r>
            <a:endParaRPr lang="en-US" sz="1900" dirty="0"/>
          </a:p>
        </p:txBody>
      </p:sp>
      <p:sp>
        <p:nvSpPr>
          <p:cNvPr id="16" name="Shape 14"/>
          <p:cNvSpPr/>
          <p:nvPr/>
        </p:nvSpPr>
        <p:spPr>
          <a:xfrm>
            <a:off x="685800" y="4892040"/>
            <a:ext cx="566928" cy="566928"/>
          </a:xfrm>
          <a:prstGeom prst="ellipse">
            <a:avLst/>
          </a:prstGeom>
          <a:solidFill>
            <a:srgbClr val="000000"/>
          </a:solidFill>
          <a:ln/>
        </p:spPr>
      </p:sp>
      <p:sp>
        <p:nvSpPr>
          <p:cNvPr id="17" name="Text 15"/>
          <p:cNvSpPr/>
          <p:nvPr/>
        </p:nvSpPr>
        <p:spPr>
          <a:xfrm>
            <a:off x="685800" y="4892040"/>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18" name="Text 16"/>
          <p:cNvSpPr/>
          <p:nvPr/>
        </p:nvSpPr>
        <p:spPr>
          <a:xfrm>
            <a:off x="1508760" y="4846320"/>
            <a:ext cx="2860041" cy="685800"/>
          </a:xfrm>
          <a:prstGeom prst="rect">
            <a:avLst/>
          </a:prstGeom>
          <a:noFill/>
          <a:ln/>
        </p:spPr>
        <p:txBody>
          <a:bodyPr wrap="square" lIns="0" tIns="0" rIns="0" bIns="0" rtlCol="0" anchor="ctr"/>
          <a:lstStyle/>
          <a:p>
            <a:pPr marL="0" indent="0">
              <a:buNone/>
            </a:pPr>
            <a:r>
              <a:rPr lang="tr-TR" sz="1900" b="1" dirty="0" err="1">
                <a:solidFill>
                  <a:srgbClr val="000000"/>
                </a:solidFill>
                <a:latin typeface="Calibri" pitchFamily="34" charset="0"/>
                <a:ea typeface="Calibri" pitchFamily="34" charset="-122"/>
                <a:cs typeface="Calibri" pitchFamily="34" charset="-120"/>
              </a:rPr>
              <a:t>Performance</a:t>
            </a:r>
            <a:r>
              <a:rPr lang="tr-TR" sz="1900" b="1" dirty="0">
                <a:solidFill>
                  <a:srgbClr val="000000"/>
                </a:solidFill>
                <a:latin typeface="Calibri" pitchFamily="34" charset="0"/>
                <a:ea typeface="Calibri" pitchFamily="34" charset="-122"/>
                <a:cs typeface="Calibri" pitchFamily="34" charset="-120"/>
              </a:rPr>
              <a:t> </a:t>
            </a:r>
            <a:r>
              <a:rPr lang="tr-TR" sz="1900" b="1" dirty="0" err="1">
                <a:solidFill>
                  <a:srgbClr val="000000"/>
                </a:solidFill>
                <a:latin typeface="Calibri" pitchFamily="34" charset="0"/>
                <a:ea typeface="Calibri" pitchFamily="34" charset="-122"/>
                <a:cs typeface="Calibri" pitchFamily="34" charset="-120"/>
              </a:rPr>
              <a:t>Results</a:t>
            </a:r>
            <a:endParaRPr lang="en-US" sz="1900" dirty="0"/>
          </a:p>
        </p:txBody>
      </p:sp>
      <p:sp>
        <p:nvSpPr>
          <p:cNvPr id="19" name="Shape 17"/>
          <p:cNvSpPr/>
          <p:nvPr/>
        </p:nvSpPr>
        <p:spPr>
          <a:xfrm>
            <a:off x="685800" y="5733288"/>
            <a:ext cx="566928" cy="566928"/>
          </a:xfrm>
          <a:prstGeom prst="ellipse">
            <a:avLst/>
          </a:prstGeom>
          <a:solidFill>
            <a:srgbClr val="E31836"/>
          </a:solidFill>
          <a:ln/>
        </p:spPr>
      </p:sp>
      <p:sp>
        <p:nvSpPr>
          <p:cNvPr id="21" name="Text 19"/>
          <p:cNvSpPr/>
          <p:nvPr/>
        </p:nvSpPr>
        <p:spPr>
          <a:xfrm>
            <a:off x="1508760" y="5687568"/>
            <a:ext cx="2860039" cy="685800"/>
          </a:xfrm>
          <a:prstGeom prst="rect">
            <a:avLst/>
          </a:prstGeom>
          <a:noFill/>
          <a:ln/>
        </p:spPr>
        <p:txBody>
          <a:bodyPr wrap="square" lIns="0" tIns="0" rIns="0" bIns="0" rtlCol="0" anchor="ctr"/>
          <a:lstStyle/>
          <a:p>
            <a:pPr marL="0" indent="0">
              <a:buNone/>
            </a:pPr>
            <a:r>
              <a:rPr lang="tr-TR" sz="1900" b="1" dirty="0">
                <a:solidFill>
                  <a:srgbClr val="000000"/>
                </a:solidFill>
                <a:latin typeface="Calibri" pitchFamily="34" charset="0"/>
                <a:ea typeface="Calibri" pitchFamily="34" charset="-122"/>
                <a:cs typeface="Calibri" pitchFamily="34" charset="-120"/>
              </a:rPr>
              <a:t>Demo &amp; </a:t>
            </a:r>
            <a:r>
              <a:rPr lang="tr-TR" sz="1900" b="1" dirty="0" err="1">
                <a:solidFill>
                  <a:srgbClr val="000000"/>
                </a:solidFill>
                <a:latin typeface="Calibri" pitchFamily="34" charset="0"/>
                <a:ea typeface="Calibri" pitchFamily="34" charset="-122"/>
                <a:cs typeface="Calibri" pitchFamily="34" charset="-120"/>
              </a:rPr>
              <a:t>Conclusion</a:t>
            </a:r>
            <a:endParaRPr lang="en-US" sz="1900" dirty="0"/>
          </a:p>
        </p:txBody>
      </p:sp>
      <p:pic>
        <p:nvPicPr>
          <p:cNvPr id="22"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23"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26" name="TextBox 25">
            <a:extLst>
              <a:ext uri="{FF2B5EF4-FFF2-40B4-BE49-F238E27FC236}">
                <a16:creationId xmlns:a16="http://schemas.microsoft.com/office/drawing/2014/main" id="{222C2336-5CF6-4DCB-9ABA-0AD0605BD085}"/>
              </a:ext>
            </a:extLst>
          </p:cNvPr>
          <p:cNvSpPr txBox="1"/>
          <p:nvPr/>
        </p:nvSpPr>
        <p:spPr>
          <a:xfrm>
            <a:off x="4368800" y="1639562"/>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Why </a:t>
            </a:r>
            <a:r>
              <a:rPr lang="tr-TR" sz="1800" dirty="0">
                <a:solidFill>
                  <a:srgbClr val="222222"/>
                </a:solidFill>
                <a:latin typeface="Calibri" pitchFamily="34" charset="0"/>
                <a:ea typeface="Calibri" pitchFamily="34" charset="-122"/>
                <a:cs typeface="Calibri" pitchFamily="34" charset="-120"/>
              </a:rPr>
              <a:t>do </a:t>
            </a:r>
            <a:r>
              <a:rPr lang="en-US" sz="1800" dirty="0">
                <a:solidFill>
                  <a:srgbClr val="222222"/>
                </a:solidFill>
                <a:latin typeface="Calibri" pitchFamily="34" charset="0"/>
                <a:ea typeface="Calibri" pitchFamily="34" charset="-122"/>
                <a:cs typeface="Calibri" pitchFamily="34" charset="-120"/>
              </a:rPr>
              <a:t>wildfire DSS fall short</a:t>
            </a:r>
            <a:r>
              <a:rPr lang="tr-TR" sz="1800" dirty="0">
                <a:solidFill>
                  <a:srgbClr val="222222"/>
                </a:solidFill>
                <a:latin typeface="Calibri" pitchFamily="34" charset="0"/>
                <a:ea typeface="Calibri" pitchFamily="34" charset="-122"/>
                <a:cs typeface="Calibri" pitchFamily="34" charset="-120"/>
              </a:rPr>
              <a:t>: </a:t>
            </a:r>
            <a:r>
              <a:rPr lang="en-US" sz="1800" dirty="0">
                <a:solidFill>
                  <a:srgbClr val="222222"/>
                </a:solidFill>
                <a:latin typeface="Calibri" pitchFamily="34" charset="0"/>
                <a:ea typeface="Calibri" pitchFamily="34" charset="-122"/>
                <a:cs typeface="Calibri" pitchFamily="34" charset="-120"/>
              </a:rPr>
              <a:t>Gaps, Hypotheses, Contributions</a:t>
            </a:r>
            <a:endParaRPr lang="tr-TR" dirty="0"/>
          </a:p>
        </p:txBody>
      </p:sp>
      <p:sp>
        <p:nvSpPr>
          <p:cNvPr id="28" name="TextBox 27">
            <a:extLst>
              <a:ext uri="{FF2B5EF4-FFF2-40B4-BE49-F238E27FC236}">
                <a16:creationId xmlns:a16="http://schemas.microsoft.com/office/drawing/2014/main" id="{E7493BC8-2230-44E8-A167-837D738D5BAA}"/>
              </a:ext>
            </a:extLst>
          </p:cNvPr>
          <p:cNvSpPr txBox="1"/>
          <p:nvPr/>
        </p:nvSpPr>
        <p:spPr>
          <a:xfrm>
            <a:off x="4368800" y="2483596"/>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External data layers, hybrid spread model, strict core separation</a:t>
            </a:r>
            <a:endParaRPr lang="tr-TR" dirty="0"/>
          </a:p>
        </p:txBody>
      </p:sp>
      <p:sp>
        <p:nvSpPr>
          <p:cNvPr id="30" name="TextBox 29">
            <a:extLst>
              <a:ext uri="{FF2B5EF4-FFF2-40B4-BE49-F238E27FC236}">
                <a16:creationId xmlns:a16="http://schemas.microsoft.com/office/drawing/2014/main" id="{9679F0AF-D0F3-4590-A30A-6FD35722E889}"/>
              </a:ext>
            </a:extLst>
          </p:cNvPr>
          <p:cNvSpPr txBox="1"/>
          <p:nvPr/>
        </p:nvSpPr>
        <p:spPr>
          <a:xfrm>
            <a:off x="4368800" y="3319272"/>
            <a:ext cx="7701280" cy="369332"/>
          </a:xfrm>
          <a:prstGeom prst="rect">
            <a:avLst/>
          </a:prstGeom>
          <a:noFill/>
        </p:spPr>
        <p:txBody>
          <a:bodyPr wrap="square">
            <a:spAutoFit/>
          </a:bodyPr>
          <a:lstStyle/>
          <a:p>
            <a:r>
              <a:rPr lang="en-US" sz="1800" dirty="0">
                <a:solidFill>
                  <a:srgbClr val="222222"/>
                </a:solidFill>
                <a:latin typeface="Calibri" pitchFamily="34" charset="0"/>
                <a:ea typeface="Calibri" pitchFamily="34" charset="-122"/>
                <a:cs typeface="Calibri" pitchFamily="34" charset="-120"/>
              </a:rPr>
              <a:t>Four layers in detail: inputs, perception, concepts, decision</a:t>
            </a:r>
            <a:endParaRPr lang="tr-TR" dirty="0"/>
          </a:p>
        </p:txBody>
      </p:sp>
      <p:sp>
        <p:nvSpPr>
          <p:cNvPr id="32" name="TextBox 31">
            <a:extLst>
              <a:ext uri="{FF2B5EF4-FFF2-40B4-BE49-F238E27FC236}">
                <a16:creationId xmlns:a16="http://schemas.microsoft.com/office/drawing/2014/main" id="{9BFDEC13-1299-4E16-8B2F-CCE7634BFF4F}"/>
              </a:ext>
            </a:extLst>
          </p:cNvPr>
          <p:cNvSpPr txBox="1"/>
          <p:nvPr/>
        </p:nvSpPr>
        <p:spPr>
          <a:xfrm>
            <a:off x="4368801" y="4164657"/>
            <a:ext cx="7701280" cy="369332"/>
          </a:xfrm>
          <a:prstGeom prst="rect">
            <a:avLst/>
          </a:prstGeom>
          <a:noFill/>
        </p:spPr>
        <p:txBody>
          <a:bodyPr wrap="square">
            <a:spAutoFit/>
          </a:bodyPr>
          <a:lstStyle/>
          <a:p>
            <a:r>
              <a:rPr lang="en-US" sz="1800" dirty="0" err="1">
                <a:solidFill>
                  <a:srgbClr val="222222"/>
                </a:solidFill>
                <a:latin typeface="Calibri" pitchFamily="34" charset="0"/>
                <a:ea typeface="Calibri" pitchFamily="34" charset="-122"/>
                <a:cs typeface="Calibri" pitchFamily="34" charset="-120"/>
              </a:rPr>
              <a:t>evFIS</a:t>
            </a:r>
            <a:r>
              <a:rPr lang="en-US" sz="1800" dirty="0">
                <a:solidFill>
                  <a:srgbClr val="222222"/>
                </a:solidFill>
                <a:latin typeface="Calibri" pitchFamily="34" charset="0"/>
                <a:ea typeface="Calibri" pitchFamily="34" charset="-122"/>
                <a:cs typeface="Calibri" pitchFamily="34" charset="-120"/>
              </a:rPr>
              <a:t> tuning &amp; growth, generative proposals, nine verification gates</a:t>
            </a:r>
            <a:endParaRPr lang="tr-TR" dirty="0"/>
          </a:p>
        </p:txBody>
      </p:sp>
      <p:sp>
        <p:nvSpPr>
          <p:cNvPr id="34" name="TextBox 33">
            <a:extLst>
              <a:ext uri="{FF2B5EF4-FFF2-40B4-BE49-F238E27FC236}">
                <a16:creationId xmlns:a16="http://schemas.microsoft.com/office/drawing/2014/main" id="{50CF5718-C3AD-4960-8682-DDE754BA2B87}"/>
              </a:ext>
            </a:extLst>
          </p:cNvPr>
          <p:cNvSpPr txBox="1"/>
          <p:nvPr/>
        </p:nvSpPr>
        <p:spPr>
          <a:xfrm>
            <a:off x="4368799" y="4990838"/>
            <a:ext cx="7701279" cy="369332"/>
          </a:xfrm>
          <a:prstGeom prst="rect">
            <a:avLst/>
          </a:prstGeom>
          <a:noFill/>
        </p:spPr>
        <p:txBody>
          <a:bodyPr wrap="square">
            <a:spAutoFit/>
          </a:bodyPr>
          <a:lstStyle/>
          <a:p>
            <a:r>
              <a:rPr lang="tr-TR" sz="1800" dirty="0">
                <a:solidFill>
                  <a:srgbClr val="222222"/>
                </a:solidFill>
                <a:latin typeface="Calibri" pitchFamily="34" charset="0"/>
                <a:ea typeface="Calibri" pitchFamily="34" charset="-122"/>
                <a:cs typeface="Calibri" pitchFamily="34" charset="-120"/>
              </a:rPr>
              <a:t>V</a:t>
            </a:r>
            <a:r>
              <a:rPr lang="en-US" sz="1800" dirty="0" err="1">
                <a:solidFill>
                  <a:srgbClr val="222222"/>
                </a:solidFill>
                <a:latin typeface="Calibri" pitchFamily="34" charset="0"/>
                <a:ea typeface="Calibri" pitchFamily="34" charset="-122"/>
                <a:cs typeface="Calibri" pitchFamily="34" charset="-120"/>
              </a:rPr>
              <a:t>alidity</a:t>
            </a:r>
            <a:r>
              <a:rPr lang="en-US" sz="1800" dirty="0">
                <a:solidFill>
                  <a:srgbClr val="222222"/>
                </a:solidFill>
                <a:latin typeface="Calibri" pitchFamily="34" charset="0"/>
                <a:ea typeface="Calibri" pitchFamily="34" charset="-122"/>
                <a:cs typeface="Calibri" pitchFamily="34" charset="-120"/>
              </a:rPr>
              <a:t>, sensitivity, improvement ladder, generative products, cost &amp; scale</a:t>
            </a:r>
            <a:endParaRPr lang="tr-TR" dirty="0"/>
          </a:p>
        </p:txBody>
      </p:sp>
      <p:sp>
        <p:nvSpPr>
          <p:cNvPr id="90000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 / 113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lumMod val="75000"/>
            <a:lumOff val="2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a:t>
            </a:r>
            <a:r>
              <a:rPr lang="tr-TR" sz="1500" b="1" kern="0" spc="300" dirty="0">
                <a:solidFill>
                  <a:srgbClr val="E31836"/>
                </a:solidFill>
                <a:latin typeface="Calibri" pitchFamily="34" charset="0"/>
                <a:ea typeface="Calibri" pitchFamily="34" charset="-122"/>
                <a:cs typeface="Calibri" pitchFamily="34" charset="-120"/>
              </a:rPr>
              <a:t>1</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Introduction</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0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 / 113</a:t>
            </a:r>
          </a:p>
        </p:txBody>
      </p:sp>
    </p:spTree>
    <p:extLst>
      <p:ext uri="{BB962C8B-B14F-4D97-AF65-F5344CB8AC3E}">
        <p14:creationId xmlns:p14="http://schemas.microsoft.com/office/powerpoint/2010/main" val="1860508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Wildfire Decisions Outpace the Tools That Support Them</a:t>
            </a:r>
            <a:endParaRPr lang="en-US" sz="2900" dirty="0"/>
          </a:p>
        </p:txBody>
      </p:sp>
      <p:pic>
        <p:nvPicPr>
          <p:cNvPr id="4" name="Image 0" descr="/tmp/thx/deck/figs/Figure1_1.png"/>
          <p:cNvPicPr>
            <a:picLocks noChangeAspect="1"/>
          </p:cNvPicPr>
          <p:nvPr/>
        </p:nvPicPr>
        <p:blipFill>
          <a:blip r:embed="rId3"/>
          <a:stretch>
            <a:fillRect/>
          </a:stretch>
        </p:blipFill>
        <p:spPr>
          <a:xfrm>
            <a:off x="643657" y="1554480"/>
            <a:ext cx="5570686" cy="3931920"/>
          </a:xfrm>
          <a:prstGeom prst="rect">
            <a:avLst/>
          </a:prstGeom>
        </p:spPr>
      </p:pic>
      <p:sp>
        <p:nvSpPr>
          <p:cNvPr id="5" name="Text 2"/>
          <p:cNvSpPr/>
          <p:nvPr/>
        </p:nvSpPr>
        <p:spPr>
          <a:xfrm>
            <a:off x="502920" y="5623560"/>
            <a:ext cx="5852160" cy="292608"/>
          </a:xfrm>
          <a:prstGeom prst="rect">
            <a:avLst/>
          </a:prstGeom>
          <a:noFill/>
          <a:ln/>
        </p:spPr>
        <p:txBody>
          <a:bodyPr wrap="square" lIns="0" tIns="0" rIns="0" bIns="0" rtlCol="0" anchor="ctr"/>
          <a:lstStyle/>
          <a:p>
            <a:pPr marL="0" indent="0" algn="ctr">
              <a:buNone/>
            </a:pPr>
            <a:r>
              <a:rPr lang="en-US" sz="1200" i="1" dirty="0">
                <a:solidFill>
                  <a:srgbClr val="6E6E6E"/>
                </a:solidFill>
                <a:latin typeface="Calibri" pitchFamily="34" charset="0"/>
                <a:ea typeface="Calibri" pitchFamily="34" charset="-122"/>
                <a:cs typeface="Calibri" pitchFamily="34" charset="-120"/>
              </a:rPr>
              <a:t>Reported natural disasters, 1970–2024 : weather- and climate-driven events dominate the rise</a:t>
            </a:r>
            <a:endParaRPr lang="en-US" sz="1200" dirty="0"/>
          </a:p>
        </p:txBody>
      </p:sp>
      <p:sp>
        <p:nvSpPr>
          <p:cNvPr id="6" name="Text 3"/>
          <p:cNvSpPr/>
          <p:nvPr/>
        </p:nvSpPr>
        <p:spPr>
          <a:xfrm>
            <a:off x="6675120" y="1737360"/>
            <a:ext cx="5029200" cy="301752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700" dirty="0">
                <a:solidFill>
                  <a:srgbClr val="222222"/>
                </a:solidFill>
                <a:latin typeface="Calibri" pitchFamily="34" charset="0"/>
                <a:ea typeface="Calibri" pitchFamily="34" charset="-122"/>
                <a:cs typeface="Calibri" pitchFamily="34" charset="-120"/>
              </a:rPr>
              <a:t>Fire behavior shifts with wind, fuel, and terrain faster than a fixed plan can follow</a:t>
            </a:r>
            <a:endParaRPr lang="en-US" sz="1700" dirty="0"/>
          </a:p>
          <a:p>
            <a:pPr marL="152400" indent="-152400">
              <a:lnSpc>
                <a:spcPct val="105000"/>
              </a:lnSpc>
              <a:spcAft>
                <a:spcPts val="1000"/>
              </a:spcAft>
              <a:buSzPct val="100000"/>
              <a:buChar char="•"/>
            </a:pPr>
            <a:r>
              <a:rPr lang="en-US" sz="1700" dirty="0">
                <a:solidFill>
                  <a:srgbClr val="222222"/>
                </a:solidFill>
                <a:latin typeface="Calibri" pitchFamily="34" charset="0"/>
                <a:ea typeface="Calibri" pitchFamily="34" charset="-122"/>
                <a:cs typeface="Calibri" pitchFamily="34" charset="-120"/>
              </a:rPr>
              <a:t>Observations arrive incomplete, delayed, and at varying confidence</a:t>
            </a:r>
            <a:endParaRPr lang="en-US" sz="1700" dirty="0"/>
          </a:p>
          <a:p>
            <a:pPr marL="152400" indent="-152400">
              <a:lnSpc>
                <a:spcPct val="105000"/>
              </a:lnSpc>
              <a:spcAft>
                <a:spcPts val="1000"/>
              </a:spcAft>
              <a:buSzPct val="100000"/>
              <a:buChar char="•"/>
            </a:pPr>
            <a:r>
              <a:rPr lang="en-US" sz="1700" dirty="0">
                <a:solidFill>
                  <a:srgbClr val="222222"/>
                </a:solidFill>
                <a:latin typeface="Calibri" pitchFamily="34" charset="0"/>
                <a:ea typeface="Calibri" pitchFamily="34" charset="-122"/>
                <a:cs typeface="Calibri" pitchFamily="34" charset="-120"/>
              </a:rPr>
              <a:t>A commander needs a defensible order within the decision cycle</a:t>
            </a:r>
            <a:endParaRPr lang="en-US" sz="1700" dirty="0"/>
          </a:p>
          <a:p>
            <a:pPr marL="152400" indent="-152400">
              <a:lnSpc>
                <a:spcPct val="105000"/>
              </a:lnSpc>
              <a:spcAft>
                <a:spcPts val="1000"/>
              </a:spcAft>
              <a:buSzPct val="100000"/>
              <a:buChar char="•"/>
            </a:pPr>
            <a:r>
              <a:rPr lang="en-US" sz="1700" b="1" dirty="0">
                <a:solidFill>
                  <a:srgbClr val="222222"/>
                </a:solidFill>
                <a:latin typeface="Calibri" pitchFamily="34" charset="0"/>
                <a:ea typeface="Calibri" pitchFamily="34" charset="-122"/>
                <a:cs typeface="Calibri" pitchFamily="34" charset="-120"/>
              </a:rPr>
              <a:t>Existing DSS confirm decisions already made</a:t>
            </a:r>
            <a:r>
              <a:rPr lang="tr-TR" sz="1700" b="1">
                <a:solidFill>
                  <a:srgbClr val="222222"/>
                </a:solidFill>
                <a:latin typeface="Calibri" pitchFamily="34" charset="0"/>
                <a:ea typeface="Calibri" pitchFamily="34" charset="-122"/>
                <a:cs typeface="Calibri" pitchFamily="34" charset="-120"/>
              </a:rPr>
              <a:t>; t</a:t>
            </a:r>
            <a:r>
              <a:rPr lang="en-US" sz="1700" b="1">
                <a:solidFill>
                  <a:srgbClr val="222222"/>
                </a:solidFill>
                <a:latin typeface="Calibri" pitchFamily="34" charset="0"/>
                <a:ea typeface="Calibri" pitchFamily="34" charset="-122"/>
                <a:cs typeface="Calibri" pitchFamily="34" charset="-120"/>
              </a:rPr>
              <a:t>hey </a:t>
            </a:r>
            <a:r>
              <a:rPr lang="en-US" sz="1700" b="1" dirty="0">
                <a:solidFill>
                  <a:srgbClr val="222222"/>
                </a:solidFill>
                <a:latin typeface="Calibri" pitchFamily="34" charset="0"/>
                <a:ea typeface="Calibri" pitchFamily="34" charset="-122"/>
                <a:cs typeface="Calibri" pitchFamily="34" charset="-120"/>
              </a:rPr>
              <a:t>do not generate the</a:t>
            </a:r>
            <a:r>
              <a:rPr lang="tr-TR" sz="1700" b="1" dirty="0">
                <a:solidFill>
                  <a:srgbClr val="222222"/>
                </a:solidFill>
                <a:latin typeface="Calibri" pitchFamily="34" charset="0"/>
                <a:ea typeface="Calibri" pitchFamily="34" charset="-122"/>
                <a:cs typeface="Calibri" pitchFamily="34" charset="-120"/>
              </a:rPr>
              <a:t>m </a:t>
            </a:r>
            <a:r>
              <a:rPr lang="tr-TR" sz="1700" b="1" dirty="0" err="1">
                <a:solidFill>
                  <a:srgbClr val="222222"/>
                </a:solidFill>
                <a:latin typeface="Calibri" pitchFamily="34" charset="0"/>
                <a:ea typeface="Calibri" pitchFamily="34" charset="-122"/>
                <a:cs typeface="Calibri" pitchFamily="34" charset="-120"/>
              </a:rPr>
              <a:t>and</a:t>
            </a:r>
            <a:r>
              <a:rPr lang="tr-TR" sz="1700" b="1" dirty="0">
                <a:solidFill>
                  <a:srgbClr val="222222"/>
                </a:solidFill>
                <a:latin typeface="Calibri" pitchFamily="34" charset="0"/>
                <a:ea typeface="Calibri" pitchFamily="34" charset="-122"/>
                <a:cs typeface="Calibri" pitchFamily="34" charset="-120"/>
              </a:rPr>
              <a:t> not </a:t>
            </a:r>
            <a:r>
              <a:rPr lang="tr-TR" sz="1700" b="1" dirty="0" err="1">
                <a:solidFill>
                  <a:srgbClr val="222222"/>
                </a:solidFill>
                <a:latin typeface="Calibri" pitchFamily="34" charset="0"/>
                <a:ea typeface="Calibri" pitchFamily="34" charset="-122"/>
                <a:cs typeface="Calibri" pitchFamily="34" charset="-120"/>
              </a:rPr>
              <a:t>adapt</a:t>
            </a:r>
            <a:r>
              <a:rPr lang="tr-TR" sz="1700" b="1" dirty="0">
                <a:solidFill>
                  <a:srgbClr val="222222"/>
                </a:solidFill>
                <a:latin typeface="Calibri" pitchFamily="34" charset="0"/>
                <a:ea typeface="Calibri" pitchFamily="34" charset="-122"/>
                <a:cs typeface="Calibri" pitchFamily="34" charset="-120"/>
              </a:rPr>
              <a:t> </a:t>
            </a:r>
            <a:r>
              <a:rPr lang="tr-TR" sz="1700" b="1" dirty="0" err="1">
                <a:solidFill>
                  <a:srgbClr val="222222"/>
                </a:solidFill>
                <a:latin typeface="Calibri" pitchFamily="34" charset="0"/>
                <a:ea typeface="Calibri" pitchFamily="34" charset="-122"/>
                <a:cs typeface="Calibri" pitchFamily="34" charset="-120"/>
              </a:rPr>
              <a:t>to</a:t>
            </a:r>
            <a:r>
              <a:rPr lang="tr-TR" sz="1700" b="1" dirty="0">
                <a:solidFill>
                  <a:srgbClr val="222222"/>
                </a:solidFill>
                <a:latin typeface="Calibri" pitchFamily="34" charset="0"/>
                <a:ea typeface="Calibri" pitchFamily="34" charset="-122"/>
                <a:cs typeface="Calibri" pitchFamily="34" charset="-120"/>
              </a:rPr>
              <a:t> </a:t>
            </a:r>
            <a:r>
              <a:rPr lang="tr-TR" sz="1700" b="1" dirty="0" err="1">
                <a:solidFill>
                  <a:srgbClr val="222222"/>
                </a:solidFill>
                <a:latin typeface="Calibri" pitchFamily="34" charset="0"/>
                <a:ea typeface="Calibri" pitchFamily="34" charset="-122"/>
                <a:cs typeface="Calibri" pitchFamily="34" charset="-120"/>
              </a:rPr>
              <a:t>varying</a:t>
            </a:r>
            <a:r>
              <a:rPr lang="tr-TR" sz="1700" b="1" dirty="0">
                <a:solidFill>
                  <a:srgbClr val="222222"/>
                </a:solidFill>
                <a:latin typeface="Calibri" pitchFamily="34" charset="0"/>
                <a:ea typeface="Calibri" pitchFamily="34" charset="-122"/>
                <a:cs typeface="Calibri" pitchFamily="34" charset="-120"/>
              </a:rPr>
              <a:t> </a:t>
            </a:r>
            <a:r>
              <a:rPr lang="tr-TR" sz="1700" b="1" dirty="0" err="1">
                <a:solidFill>
                  <a:srgbClr val="222222"/>
                </a:solidFill>
                <a:latin typeface="Calibri" pitchFamily="34" charset="0"/>
                <a:ea typeface="Calibri" pitchFamily="34" charset="-122"/>
                <a:cs typeface="Calibri" pitchFamily="34" charset="-120"/>
              </a:rPr>
              <a:t>conditions</a:t>
            </a:r>
            <a:r>
              <a:rPr lang="tr-TR" sz="1700" b="1" dirty="0">
                <a:solidFill>
                  <a:srgbClr val="222222"/>
                </a:solidFill>
                <a:latin typeface="Calibri" pitchFamily="34" charset="0"/>
                <a:ea typeface="Calibri" pitchFamily="34" charset="-122"/>
                <a:cs typeface="Calibri" pitchFamily="34" charset="-120"/>
              </a:rPr>
              <a:t>.</a:t>
            </a:r>
          </a:p>
        </p:txBody>
      </p:sp>
      <p:sp>
        <p:nvSpPr>
          <p:cNvPr id="7" name="Shape 4"/>
          <p:cNvSpPr/>
          <p:nvPr/>
        </p:nvSpPr>
        <p:spPr>
          <a:xfrm>
            <a:off x="6675120" y="4846320"/>
            <a:ext cx="5029200" cy="1371600"/>
          </a:xfrm>
          <a:prstGeom prst="roundRect">
            <a:avLst>
              <a:gd name="adj" fmla="val 4000"/>
            </a:avLst>
          </a:prstGeom>
          <a:solidFill>
            <a:srgbClr val="F2F2F2"/>
          </a:solidFill>
          <a:ln/>
        </p:spPr>
      </p:sp>
      <p:sp>
        <p:nvSpPr>
          <p:cNvPr id="8" name="Text 5"/>
          <p:cNvSpPr/>
          <p:nvPr/>
        </p:nvSpPr>
        <p:spPr>
          <a:xfrm>
            <a:off x="6903720" y="4983480"/>
            <a:ext cx="4572000" cy="1097280"/>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The question: </a:t>
            </a:r>
            <a:r>
              <a:rPr lang="en-US" sz="1600" dirty="0">
                <a:solidFill>
                  <a:srgbClr val="222222"/>
                </a:solidFill>
                <a:latin typeface="Calibri" pitchFamily="34" charset="0"/>
                <a:ea typeface="Calibri" pitchFamily="34" charset="-122"/>
                <a:cs typeface="Calibri" pitchFamily="34" charset="-120"/>
              </a:rPr>
              <a:t>can a DSS keep its decision space open, its reasoning traceable, and its tempo operational : at the same time?</a:t>
            </a:r>
            <a:endParaRPr lang="en-US" sz="1600" dirty="0"/>
          </a:p>
        </p:txBody>
      </p:sp>
      <p:pic>
        <p:nvPicPr>
          <p:cNvPr id="9"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10"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0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 / 113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grpSp>
        <p:nvGrpSpPr>
          <p:cNvPr id="3" name="Group 2">
            <a:extLst>
              <a:ext uri="{FF2B5EF4-FFF2-40B4-BE49-F238E27FC236}">
                <a16:creationId xmlns:a16="http://schemas.microsoft.com/office/drawing/2014/main" id="{1E253E07-0DA0-4585-91C3-16164AD6521D}"/>
              </a:ext>
            </a:extLst>
          </p:cNvPr>
          <p:cNvGrpSpPr/>
          <p:nvPr/>
        </p:nvGrpSpPr>
        <p:grpSpPr>
          <a:xfrm>
            <a:off x="679434" y="844952"/>
            <a:ext cx="10585974" cy="5628999"/>
            <a:chOff x="679434" y="844952"/>
            <a:chExt cx="10585974" cy="5628999"/>
          </a:xfrm>
        </p:grpSpPr>
        <p:sp>
          <p:nvSpPr>
            <p:cNvPr id="7" name="Shape 4"/>
            <p:cNvSpPr/>
            <p:nvPr/>
          </p:nvSpPr>
          <p:spPr>
            <a:xfrm>
              <a:off x="679434" y="844952"/>
              <a:ext cx="10585974" cy="5628999"/>
            </a:xfrm>
            <a:prstGeom prst="roundRect">
              <a:avLst>
                <a:gd name="adj" fmla="val 4000"/>
              </a:avLst>
            </a:prstGeom>
            <a:solidFill>
              <a:srgbClr val="F2F2F2"/>
            </a:solidFill>
            <a:ln/>
          </p:spPr>
        </p:sp>
        <p:sp>
          <p:nvSpPr>
            <p:cNvPr id="8" name="Text 5"/>
            <p:cNvSpPr/>
            <p:nvPr/>
          </p:nvSpPr>
          <p:spPr>
            <a:xfrm>
              <a:off x="926592" y="972273"/>
              <a:ext cx="10011484" cy="5347504"/>
            </a:xfrm>
            <a:prstGeom prst="rect">
              <a:avLst/>
            </a:prstGeom>
            <a:noFill/>
            <a:ln/>
          </p:spPr>
          <p:txBody>
            <a:bodyPr wrap="square" lIns="0" tIns="0" rIns="0" bIns="0" rtlCol="0" anchor="ctr"/>
            <a:lstStyle/>
            <a:p>
              <a:r>
                <a:rPr lang="tr-TR" sz="2400" dirty="0"/>
                <a:t>T</a:t>
              </a:r>
              <a:r>
                <a:rPr lang="en-US" sz="2400" dirty="0"/>
                <a:t>he motivation</a:t>
              </a:r>
              <a:r>
                <a:rPr lang="tr-TR" sz="2400" dirty="0"/>
                <a:t> is</a:t>
              </a:r>
              <a:r>
                <a:rPr lang="en-US" sz="2400" dirty="0"/>
                <a:t> not simply that wildfires are getting worse</a:t>
              </a:r>
              <a:r>
                <a:rPr lang="tr-TR" sz="2400" dirty="0"/>
                <a:t>.</a:t>
              </a:r>
            </a:p>
            <a:p>
              <a:endParaRPr lang="en-US" sz="2400" dirty="0"/>
            </a:p>
            <a:p>
              <a:r>
                <a:rPr lang="en-US" sz="2400" dirty="0"/>
                <a:t>The scientific problem is structural, not statistical</a:t>
              </a:r>
              <a:endParaRPr lang="tr-TR" sz="2400" dirty="0"/>
            </a:p>
            <a:p>
              <a:pPr marL="457200" indent="-457200">
                <a:buFont typeface="Wingdings" panose="05000000000000000000" pitchFamily="2" charset="2"/>
                <a:buChar char="ü"/>
              </a:pPr>
              <a:r>
                <a:rPr lang="tr-TR" sz="2400" dirty="0"/>
                <a:t>O</a:t>
              </a:r>
              <a:r>
                <a:rPr lang="en-US" sz="2400" dirty="0" err="1"/>
                <a:t>perational</a:t>
              </a:r>
              <a:r>
                <a:rPr lang="en-US" sz="2400" dirty="0"/>
                <a:t> DSS rank a fixed menu of alternatives, treat missing observations as facts, and weld the fire model to the decision logic. </a:t>
              </a:r>
              <a:endParaRPr lang="tr-TR" sz="2400" dirty="0"/>
            </a:p>
            <a:p>
              <a:pPr marL="457200" indent="-457200">
                <a:buFont typeface="Wingdings" panose="05000000000000000000" pitchFamily="2" charset="2"/>
                <a:buChar char="ü"/>
              </a:pPr>
              <a:r>
                <a:rPr lang="en-US" sz="2400" dirty="0"/>
                <a:t>Field studies show commanders use such tools to document decisions already made. </a:t>
              </a:r>
              <a:endParaRPr lang="tr-TR" sz="2400" dirty="0"/>
            </a:p>
            <a:p>
              <a:pPr marL="457200" indent="-457200">
                <a:buFont typeface="Wingdings" panose="05000000000000000000" pitchFamily="2" charset="2"/>
                <a:buChar char="ü"/>
              </a:pPr>
              <a:r>
                <a:rPr lang="en-US" sz="2400" dirty="0"/>
                <a:t>The thesis asks whether a DSS can generate defensible orders </a:t>
              </a:r>
              <a:endParaRPr lang="tr-TR" sz="2400" dirty="0"/>
            </a:p>
            <a:p>
              <a:pPr marL="914400" lvl="1" indent="-457200">
                <a:buFont typeface="Wingdings" panose="05000000000000000000" pitchFamily="2" charset="2"/>
                <a:buChar char="ü"/>
              </a:pPr>
              <a:r>
                <a:rPr lang="en-US" sz="2400" dirty="0"/>
                <a:t>with an open action space,</a:t>
              </a:r>
              <a:endParaRPr lang="tr-TR" sz="2400" dirty="0"/>
            </a:p>
            <a:p>
              <a:pPr marL="914400" lvl="1" indent="-457200">
                <a:buFont typeface="Wingdings" panose="05000000000000000000" pitchFamily="2" charset="2"/>
                <a:buChar char="ü"/>
              </a:pPr>
              <a:r>
                <a:rPr lang="en-US" sz="2400" dirty="0"/>
                <a:t>explicit epistemic uncertainty,</a:t>
              </a:r>
              <a:endParaRPr lang="tr-TR" sz="2400" dirty="0"/>
            </a:p>
            <a:p>
              <a:pPr marL="914400" lvl="1" indent="-457200">
                <a:buFont typeface="Wingdings" panose="05000000000000000000" pitchFamily="2" charset="2"/>
                <a:buChar char="ü"/>
              </a:pPr>
              <a:r>
                <a:rPr lang="en-US" sz="2400" dirty="0"/>
                <a:t>and separable, testable cores</a:t>
              </a:r>
              <a:endParaRPr lang="tr-TR" sz="2400" dirty="0"/>
            </a:p>
            <a:p>
              <a:pPr lvl="1"/>
              <a:r>
                <a:rPr lang="en-US" sz="2400" dirty="0"/>
                <a:t> within the operational decision cycle.</a:t>
              </a:r>
              <a:endParaRPr lang="en-US" sz="3600" dirty="0"/>
            </a:p>
          </p:txBody>
        </p:sp>
      </p:grpSp>
      <p:pic>
        <p:nvPicPr>
          <p:cNvPr id="9"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0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 / 113</a:t>
            </a:r>
          </a:p>
        </p:txBody>
      </p:sp>
    </p:spTree>
    <p:extLst>
      <p:ext uri="{BB962C8B-B14F-4D97-AF65-F5344CB8AC3E}">
        <p14:creationId xmlns:p14="http://schemas.microsoft.com/office/powerpoint/2010/main" val="16538266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PROBLEM → CLAIMS → ANSWERS</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Three Gaps, Three Hypotheses, Three Contributions</a:t>
            </a:r>
            <a:endParaRPr lang="en-US" sz="2800" dirty="0"/>
          </a:p>
        </p:txBody>
      </p:sp>
      <p:sp>
        <p:nvSpPr>
          <p:cNvPr id="4" name="Shape 2"/>
          <p:cNvSpPr/>
          <p:nvPr/>
        </p:nvSpPr>
        <p:spPr>
          <a:xfrm>
            <a:off x="502920" y="1371600"/>
            <a:ext cx="11201400" cy="777240"/>
          </a:xfrm>
          <a:prstGeom prst="roundRect">
            <a:avLst>
              <a:gd name="adj" fmla="val 7059"/>
            </a:avLst>
          </a:prstGeom>
          <a:solidFill>
            <a:srgbClr val="FDE8EB"/>
          </a:solidFill>
          <a:ln/>
        </p:spPr>
      </p:sp>
      <p:sp>
        <p:nvSpPr>
          <p:cNvPr id="5" name="Text 3"/>
          <p:cNvSpPr/>
          <p:nvPr/>
        </p:nvSpPr>
        <p:spPr>
          <a:xfrm>
            <a:off x="731520" y="1426464"/>
            <a:ext cx="10789920" cy="685800"/>
          </a:xfrm>
          <a:prstGeom prst="rect">
            <a:avLst/>
          </a:prstGeom>
          <a:noFill/>
          <a:ln/>
        </p:spPr>
        <p:txBody>
          <a:bodyPr wrap="square" lIns="0" tIns="0" rIns="0" bIns="0" rtlCol="0" anchor="ctr"/>
          <a:lstStyle/>
          <a:p>
            <a:pPr marL="0" indent="0">
              <a:buNone/>
            </a:pPr>
            <a:r>
              <a:rPr lang="en-US" b="1" dirty="0">
                <a:solidFill>
                  <a:srgbClr val="E31836"/>
                </a:solidFill>
                <a:latin typeface="Calibri" pitchFamily="34" charset="0"/>
                <a:ea typeface="Calibri" pitchFamily="34" charset="-122"/>
                <a:cs typeface="Calibri" pitchFamily="34" charset="-120"/>
              </a:rPr>
              <a:t>Research Question: </a:t>
            </a:r>
            <a:r>
              <a:rPr lang="en-US" sz="1600" dirty="0">
                <a:solidFill>
                  <a:srgbClr val="000000"/>
                </a:solidFill>
                <a:latin typeface="Calibri" pitchFamily="34" charset="0"/>
                <a:ea typeface="Calibri" pitchFamily="34" charset="-122"/>
                <a:cs typeface="Calibri" pitchFamily="34" charset="-120"/>
              </a:rPr>
              <a:t>Can a hierarchically distributed, concept-driven fuzzy decision support system, in which rules evolve adaptively and generatively under a satisficing verification mechanism, address all three gaps within a single coherent framework?</a:t>
            </a:r>
            <a:endParaRPr lang="en-US" dirty="0"/>
          </a:p>
        </p:txBody>
      </p:sp>
      <p:sp>
        <p:nvSpPr>
          <p:cNvPr id="6" name="Text 4"/>
          <p:cNvSpPr/>
          <p:nvPr/>
        </p:nvSpPr>
        <p:spPr>
          <a:xfrm>
            <a:off x="502920" y="2240280"/>
            <a:ext cx="3675888" cy="274320"/>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GAP</a:t>
            </a:r>
            <a:endParaRPr lang="en-US" sz="1300" dirty="0"/>
          </a:p>
        </p:txBody>
      </p:sp>
      <p:sp>
        <p:nvSpPr>
          <p:cNvPr id="7" name="Text 5"/>
          <p:cNvSpPr/>
          <p:nvPr/>
        </p:nvSpPr>
        <p:spPr>
          <a:xfrm>
            <a:off x="4315968" y="2240280"/>
            <a:ext cx="3675888" cy="274320"/>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HYPOTHESIS</a:t>
            </a:r>
            <a:endParaRPr lang="en-US" sz="1300" dirty="0"/>
          </a:p>
        </p:txBody>
      </p:sp>
      <p:sp>
        <p:nvSpPr>
          <p:cNvPr id="8" name="Text 6"/>
          <p:cNvSpPr/>
          <p:nvPr/>
        </p:nvSpPr>
        <p:spPr>
          <a:xfrm>
            <a:off x="8129016" y="2240280"/>
            <a:ext cx="3675888" cy="274320"/>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CONTRIBUTION</a:t>
            </a:r>
            <a:endParaRPr lang="en-US" sz="1300" dirty="0"/>
          </a:p>
        </p:txBody>
      </p:sp>
      <p:sp>
        <p:nvSpPr>
          <p:cNvPr id="9" name="Shape 7"/>
          <p:cNvSpPr/>
          <p:nvPr/>
        </p:nvSpPr>
        <p:spPr>
          <a:xfrm>
            <a:off x="502920" y="2560320"/>
            <a:ext cx="3675888" cy="1207008"/>
          </a:xfrm>
          <a:prstGeom prst="roundRect">
            <a:avLst>
              <a:gd name="adj" fmla="val 4545"/>
            </a:avLst>
          </a:prstGeom>
          <a:solidFill>
            <a:srgbClr val="F2F2F2"/>
          </a:solidFill>
          <a:ln/>
        </p:spPr>
      </p:sp>
      <p:sp>
        <p:nvSpPr>
          <p:cNvPr id="10" name="Text 8"/>
          <p:cNvSpPr/>
          <p:nvPr/>
        </p:nvSpPr>
        <p:spPr>
          <a:xfrm>
            <a:off x="630936" y="261518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G1 : Closed decision spaces</a:t>
            </a:r>
            <a:r>
              <a:rPr lang="en-US" sz="1400" dirty="0">
                <a:solidFill>
                  <a:srgbClr val="222222"/>
                </a:solidFill>
                <a:latin typeface="Calibri" pitchFamily="34" charset="0"/>
                <a:ea typeface="Calibri" pitchFamily="34" charset="-122"/>
                <a:cs typeface="Calibri" pitchFamily="34" charset="-120"/>
              </a:rPr>
              <a:t>Existing systems rank a fixed set of predefined alternatives. There is no mechanism for introducing a new action during an ongoing incident.</a:t>
            </a:r>
            <a:endParaRPr lang="en-US" sz="1400" dirty="0"/>
          </a:p>
        </p:txBody>
      </p:sp>
      <p:sp>
        <p:nvSpPr>
          <p:cNvPr id="11" name="Shape 9"/>
          <p:cNvSpPr/>
          <p:nvPr/>
        </p:nvSpPr>
        <p:spPr>
          <a:xfrm>
            <a:off x="4315968" y="2560320"/>
            <a:ext cx="3675888" cy="1207008"/>
          </a:xfrm>
          <a:prstGeom prst="roundRect">
            <a:avLst>
              <a:gd name="adj" fmla="val 4545"/>
            </a:avLst>
          </a:prstGeom>
          <a:solidFill>
            <a:srgbClr val="F2F2F2"/>
          </a:solidFill>
          <a:ln/>
        </p:spPr>
      </p:sp>
      <p:sp>
        <p:nvSpPr>
          <p:cNvPr id="12" name="Text 10"/>
          <p:cNvSpPr/>
          <p:nvPr/>
        </p:nvSpPr>
        <p:spPr>
          <a:xfrm>
            <a:off x="4443984" y="261518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H1 : Open and timely</a:t>
            </a:r>
            <a:r>
              <a:rPr lang="en-US" sz="1400" dirty="0">
                <a:solidFill>
                  <a:srgbClr val="222222"/>
                </a:solidFill>
                <a:latin typeface="Calibri" pitchFamily="34" charset="0"/>
                <a:ea typeface="Calibri" pitchFamily="34" charset="-122"/>
                <a:cs typeface="Calibri" pitchFamily="34" charset="-120"/>
              </a:rPr>
              <a:t>A distributed, concept-based architecture generates adaptive interventions over an open decision space within the operational decision cycle.</a:t>
            </a:r>
            <a:endParaRPr lang="en-US" sz="1400" dirty="0"/>
          </a:p>
        </p:txBody>
      </p:sp>
      <p:sp>
        <p:nvSpPr>
          <p:cNvPr id="13" name="Shape 11"/>
          <p:cNvSpPr/>
          <p:nvPr/>
        </p:nvSpPr>
        <p:spPr>
          <a:xfrm>
            <a:off x="8129016" y="2560320"/>
            <a:ext cx="3675888" cy="1207008"/>
          </a:xfrm>
          <a:prstGeom prst="roundRect">
            <a:avLst>
              <a:gd name="adj" fmla="val 4545"/>
            </a:avLst>
          </a:prstGeom>
          <a:solidFill>
            <a:srgbClr val="FDE8EB"/>
          </a:solidFill>
          <a:ln/>
        </p:spPr>
      </p:sp>
      <p:sp>
        <p:nvSpPr>
          <p:cNvPr id="14" name="Text 12"/>
          <p:cNvSpPr/>
          <p:nvPr/>
        </p:nvSpPr>
        <p:spPr>
          <a:xfrm>
            <a:off x="8257032" y="261518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C1 : Open, concept-driven decision space</a:t>
            </a:r>
            <a:r>
              <a:rPr lang="tr-TR" sz="1400" dirty="0">
                <a:solidFill>
                  <a:srgbClr val="222222"/>
                </a:solidFill>
                <a:latin typeface="Calibri" pitchFamily="34" charset="0"/>
                <a:ea typeface="Calibri" pitchFamily="34" charset="-122"/>
                <a:cs typeface="Calibri" pitchFamily="34" charset="-120"/>
              </a:rPr>
              <a:t>10</a:t>
            </a:r>
            <a:r>
              <a:rPr lang="en-US" sz="1400" dirty="0">
                <a:solidFill>
                  <a:srgbClr val="222222"/>
                </a:solidFill>
                <a:latin typeface="Calibri" pitchFamily="34" charset="0"/>
                <a:ea typeface="Calibri" pitchFamily="34" charset="-122"/>
                <a:cs typeface="Calibri" pitchFamily="34" charset="-120"/>
              </a:rPr>
              <a:t> features are reduced to </a:t>
            </a:r>
            <a:r>
              <a:rPr lang="tr-TR" sz="1400" dirty="0">
                <a:solidFill>
                  <a:srgbClr val="222222"/>
                </a:solidFill>
                <a:latin typeface="Calibri" pitchFamily="34" charset="0"/>
                <a:ea typeface="Calibri" pitchFamily="34" charset="-122"/>
                <a:cs typeface="Calibri" pitchFamily="34" charset="-120"/>
              </a:rPr>
              <a:t>5</a:t>
            </a:r>
            <a:r>
              <a:rPr lang="en-US" sz="1400" dirty="0">
                <a:solidFill>
                  <a:srgbClr val="222222"/>
                </a:solidFill>
                <a:latin typeface="Calibri" pitchFamily="34" charset="0"/>
                <a:ea typeface="Calibri" pitchFamily="34" charset="-122"/>
                <a:cs typeface="Calibri" pitchFamily="34" charset="-120"/>
              </a:rPr>
              <a:t> decision concepts. A Takagi–Sugeno rule base evolves in </a:t>
            </a:r>
            <a:r>
              <a:rPr lang="tr-TR" sz="1400" dirty="0">
                <a:solidFill>
                  <a:srgbClr val="222222"/>
                </a:solidFill>
                <a:latin typeface="Calibri" pitchFamily="34" charset="0"/>
                <a:ea typeface="Calibri" pitchFamily="34" charset="-122"/>
                <a:cs typeface="Calibri" pitchFamily="34" charset="-120"/>
              </a:rPr>
              <a:t>3</a:t>
            </a:r>
            <a:r>
              <a:rPr lang="en-US" sz="1400" dirty="0">
                <a:solidFill>
                  <a:srgbClr val="222222"/>
                </a:solidFill>
                <a:latin typeface="Calibri" pitchFamily="34" charset="0"/>
                <a:ea typeface="Calibri" pitchFamily="34" charset="-122"/>
                <a:cs typeface="Calibri" pitchFamily="34" charset="-120"/>
              </a:rPr>
              <a:t> stages, up to generated rules, macros, actuators, and concepts, all subject to verification gates.</a:t>
            </a:r>
            <a:endParaRPr lang="en-US" sz="1400" dirty="0"/>
          </a:p>
        </p:txBody>
      </p:sp>
      <p:sp>
        <p:nvSpPr>
          <p:cNvPr id="15" name="Shape 13"/>
          <p:cNvSpPr/>
          <p:nvPr/>
        </p:nvSpPr>
        <p:spPr>
          <a:xfrm>
            <a:off x="502920" y="3886200"/>
            <a:ext cx="3675888" cy="1207008"/>
          </a:xfrm>
          <a:prstGeom prst="roundRect">
            <a:avLst>
              <a:gd name="adj" fmla="val 4545"/>
            </a:avLst>
          </a:prstGeom>
          <a:solidFill>
            <a:srgbClr val="F2F2F2"/>
          </a:solidFill>
          <a:ln/>
        </p:spPr>
      </p:sp>
      <p:sp>
        <p:nvSpPr>
          <p:cNvPr id="16" name="Text 14"/>
          <p:cNvSpPr/>
          <p:nvPr/>
        </p:nvSpPr>
        <p:spPr>
          <a:xfrm>
            <a:off x="630936" y="394106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G2 : Unrepresented epistemic uncertainty</a:t>
            </a:r>
            <a:endParaRPr lang="tr-TR" sz="1400" b="1" dirty="0">
              <a:solidFill>
                <a:srgbClr val="000000"/>
              </a:solidFill>
              <a:latin typeface="Calibri" pitchFamily="34" charset="0"/>
              <a:ea typeface="Calibri" pitchFamily="34" charset="-122"/>
              <a:cs typeface="Calibri" pitchFamily="34" charset="-120"/>
            </a:endParaRPr>
          </a:p>
          <a:p>
            <a:pPr marL="0" indent="0">
              <a:lnSpc>
                <a:spcPct val="98000"/>
              </a:lnSpc>
              <a:buNone/>
            </a:pPr>
            <a:r>
              <a:rPr lang="en-US" sz="1400" dirty="0">
                <a:solidFill>
                  <a:srgbClr val="222222"/>
                </a:solidFill>
                <a:latin typeface="Calibri" pitchFamily="34" charset="0"/>
                <a:ea typeface="Calibri" pitchFamily="34" charset="-122"/>
                <a:cs typeface="Calibri" pitchFamily="34" charset="-120"/>
              </a:rPr>
              <a:t>Missing or degraded observations are treated as exact facts, and explanations are produced only after the decision.</a:t>
            </a:r>
            <a:endParaRPr lang="en-US" sz="1400" dirty="0"/>
          </a:p>
        </p:txBody>
      </p:sp>
      <p:sp>
        <p:nvSpPr>
          <p:cNvPr id="17" name="Shape 15"/>
          <p:cNvSpPr/>
          <p:nvPr/>
        </p:nvSpPr>
        <p:spPr>
          <a:xfrm>
            <a:off x="4315968" y="3886200"/>
            <a:ext cx="3675888" cy="1207008"/>
          </a:xfrm>
          <a:prstGeom prst="roundRect">
            <a:avLst>
              <a:gd name="adj" fmla="val 4545"/>
            </a:avLst>
          </a:prstGeom>
          <a:solidFill>
            <a:srgbClr val="F2F2F2"/>
          </a:solidFill>
          <a:ln/>
        </p:spPr>
      </p:sp>
      <p:sp>
        <p:nvSpPr>
          <p:cNvPr id="18" name="Text 16"/>
          <p:cNvSpPr/>
          <p:nvPr/>
        </p:nvSpPr>
        <p:spPr>
          <a:xfrm>
            <a:off x="4443984" y="394106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H2 : Traceable by construction</a:t>
            </a:r>
            <a:endParaRPr lang="tr-TR" sz="1400" b="1" dirty="0">
              <a:solidFill>
                <a:srgbClr val="000000"/>
              </a:solidFill>
              <a:latin typeface="Calibri" pitchFamily="34" charset="0"/>
              <a:ea typeface="Calibri" pitchFamily="34" charset="-122"/>
              <a:cs typeface="Calibri" pitchFamily="34" charset="-120"/>
            </a:endParaRPr>
          </a:p>
          <a:p>
            <a:pPr marL="0" indent="0">
              <a:lnSpc>
                <a:spcPct val="98000"/>
              </a:lnSpc>
              <a:buNone/>
            </a:pPr>
            <a:r>
              <a:rPr lang="en-US" sz="1400" dirty="0">
                <a:solidFill>
                  <a:srgbClr val="222222"/>
                </a:solidFill>
                <a:latin typeface="Calibri" pitchFamily="34" charset="0"/>
                <a:ea typeface="Calibri" pitchFamily="34" charset="-122"/>
                <a:cs typeface="Calibri" pitchFamily="34" charset="-120"/>
              </a:rPr>
              <a:t>Concept-based reasoning with confidence-weighted observations produces decisions that are traceable by construction.</a:t>
            </a:r>
            <a:endParaRPr lang="en-US" sz="1400" dirty="0"/>
          </a:p>
        </p:txBody>
      </p:sp>
      <p:sp>
        <p:nvSpPr>
          <p:cNvPr id="19" name="Shape 17"/>
          <p:cNvSpPr/>
          <p:nvPr/>
        </p:nvSpPr>
        <p:spPr>
          <a:xfrm>
            <a:off x="8129016" y="3886200"/>
            <a:ext cx="3675888" cy="1207008"/>
          </a:xfrm>
          <a:prstGeom prst="roundRect">
            <a:avLst>
              <a:gd name="adj" fmla="val 4545"/>
            </a:avLst>
          </a:prstGeom>
          <a:solidFill>
            <a:srgbClr val="FDE8EB"/>
          </a:solidFill>
          <a:ln/>
        </p:spPr>
      </p:sp>
      <p:sp>
        <p:nvSpPr>
          <p:cNvPr id="20" name="Text 18"/>
          <p:cNvSpPr/>
          <p:nvPr/>
        </p:nvSpPr>
        <p:spPr>
          <a:xfrm>
            <a:off x="8257032" y="394106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C2 : Epistemic encoding &amp; traceability</a:t>
            </a:r>
            <a:endParaRPr lang="tr-TR" sz="1400" b="1" dirty="0">
              <a:solidFill>
                <a:srgbClr val="000000"/>
              </a:solidFill>
              <a:latin typeface="Calibri" pitchFamily="34" charset="0"/>
              <a:ea typeface="Calibri" pitchFamily="34" charset="-122"/>
              <a:cs typeface="Calibri" pitchFamily="34" charset="-120"/>
            </a:endParaRPr>
          </a:p>
          <a:p>
            <a:pPr marL="0" indent="0">
              <a:lnSpc>
                <a:spcPct val="98000"/>
              </a:lnSpc>
              <a:buNone/>
            </a:pPr>
            <a:r>
              <a:rPr lang="en-US" sz="1400" dirty="0">
                <a:solidFill>
                  <a:srgbClr val="222222"/>
                </a:solidFill>
                <a:latin typeface="Calibri" pitchFamily="34" charset="0"/>
                <a:ea typeface="Calibri" pitchFamily="34" charset="-122"/>
                <a:cs typeface="Calibri" pitchFamily="34" charset="-120"/>
              </a:rPr>
              <a:t>Each feature carries a confidence that conditions its concept; every order is traceable to its concepts, rules, and confidences.</a:t>
            </a:r>
            <a:endParaRPr lang="en-US" sz="1400" dirty="0"/>
          </a:p>
        </p:txBody>
      </p:sp>
      <p:sp>
        <p:nvSpPr>
          <p:cNvPr id="21" name="Shape 19"/>
          <p:cNvSpPr/>
          <p:nvPr/>
        </p:nvSpPr>
        <p:spPr>
          <a:xfrm>
            <a:off x="502920" y="5212080"/>
            <a:ext cx="3675888" cy="1207008"/>
          </a:xfrm>
          <a:prstGeom prst="roundRect">
            <a:avLst>
              <a:gd name="adj" fmla="val 4545"/>
            </a:avLst>
          </a:prstGeom>
          <a:solidFill>
            <a:srgbClr val="F2F2F2"/>
          </a:solidFill>
          <a:ln/>
        </p:spPr>
      </p:sp>
      <p:sp>
        <p:nvSpPr>
          <p:cNvPr id="22" name="Text 20"/>
          <p:cNvSpPr/>
          <p:nvPr/>
        </p:nvSpPr>
        <p:spPr>
          <a:xfrm>
            <a:off x="630936" y="526694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G3 : Coupled simulation &amp; decision cores</a:t>
            </a:r>
            <a:endParaRPr lang="tr-TR" sz="1400" b="1" dirty="0">
              <a:solidFill>
                <a:srgbClr val="000000"/>
              </a:solidFill>
              <a:latin typeface="Calibri" pitchFamily="34" charset="0"/>
              <a:ea typeface="Calibri" pitchFamily="34" charset="-122"/>
              <a:cs typeface="Calibri" pitchFamily="34" charset="-120"/>
            </a:endParaRPr>
          </a:p>
          <a:p>
            <a:pPr marL="0" indent="0">
              <a:lnSpc>
                <a:spcPct val="98000"/>
              </a:lnSpc>
              <a:buNone/>
            </a:pPr>
            <a:r>
              <a:rPr lang="en-US" sz="1400" dirty="0">
                <a:solidFill>
                  <a:srgbClr val="222222"/>
                </a:solidFill>
                <a:latin typeface="Calibri" pitchFamily="34" charset="0"/>
                <a:ea typeface="Calibri" pitchFamily="34" charset="-122"/>
                <a:cs typeface="Calibri" pitchFamily="34" charset="-120"/>
              </a:rPr>
              <a:t>The fire model and the decision logic are tightly coupled, so neither component can be validated independently.</a:t>
            </a:r>
            <a:endParaRPr lang="en-US" sz="1400" dirty="0"/>
          </a:p>
        </p:txBody>
      </p:sp>
      <p:sp>
        <p:nvSpPr>
          <p:cNvPr id="23" name="Shape 21"/>
          <p:cNvSpPr/>
          <p:nvPr/>
        </p:nvSpPr>
        <p:spPr>
          <a:xfrm>
            <a:off x="4315968" y="5212080"/>
            <a:ext cx="3675888" cy="1207008"/>
          </a:xfrm>
          <a:prstGeom prst="roundRect">
            <a:avLst>
              <a:gd name="adj" fmla="val 4545"/>
            </a:avLst>
          </a:prstGeom>
          <a:solidFill>
            <a:srgbClr val="F2F2F2"/>
          </a:solidFill>
          <a:ln/>
        </p:spPr>
      </p:sp>
      <p:sp>
        <p:nvSpPr>
          <p:cNvPr id="24" name="Text 22"/>
          <p:cNvSpPr/>
          <p:nvPr/>
        </p:nvSpPr>
        <p:spPr>
          <a:xfrm>
            <a:off x="4443984" y="526694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H3 : Verified action only</a:t>
            </a:r>
            <a:endParaRPr lang="tr-TR" sz="1400" b="1" dirty="0">
              <a:solidFill>
                <a:srgbClr val="000000"/>
              </a:solidFill>
              <a:latin typeface="Calibri" pitchFamily="34" charset="0"/>
              <a:ea typeface="Calibri" pitchFamily="34" charset="-122"/>
              <a:cs typeface="Calibri" pitchFamily="34" charset="-120"/>
            </a:endParaRPr>
          </a:p>
          <a:p>
            <a:pPr marL="0" indent="0">
              <a:lnSpc>
                <a:spcPct val="98000"/>
              </a:lnSpc>
              <a:buNone/>
            </a:pPr>
            <a:r>
              <a:rPr lang="en-US" sz="1400" dirty="0">
                <a:solidFill>
                  <a:srgbClr val="222222"/>
                </a:solidFill>
                <a:latin typeface="Calibri" pitchFamily="34" charset="0"/>
                <a:ea typeface="Calibri" pitchFamily="34" charset="-122"/>
                <a:cs typeface="Calibri" pitchFamily="34" charset="-120"/>
              </a:rPr>
              <a:t>A complete workflow over strictly separated cores executes only the interventions that pass all applicable verification gates.</a:t>
            </a:r>
            <a:endParaRPr lang="en-US" sz="1400" dirty="0"/>
          </a:p>
        </p:txBody>
      </p:sp>
      <p:sp>
        <p:nvSpPr>
          <p:cNvPr id="25" name="Shape 23"/>
          <p:cNvSpPr/>
          <p:nvPr/>
        </p:nvSpPr>
        <p:spPr>
          <a:xfrm>
            <a:off x="8129016" y="5212080"/>
            <a:ext cx="3675888" cy="1207008"/>
          </a:xfrm>
          <a:prstGeom prst="roundRect">
            <a:avLst>
              <a:gd name="adj" fmla="val 4545"/>
            </a:avLst>
          </a:prstGeom>
          <a:solidFill>
            <a:srgbClr val="FDE8EB"/>
          </a:solidFill>
          <a:ln/>
        </p:spPr>
      </p:sp>
      <p:sp>
        <p:nvSpPr>
          <p:cNvPr id="26" name="Text 24"/>
          <p:cNvSpPr/>
          <p:nvPr/>
        </p:nvSpPr>
        <p:spPr>
          <a:xfrm>
            <a:off x="8257032" y="5266944"/>
            <a:ext cx="3419856" cy="1097280"/>
          </a:xfrm>
          <a:prstGeom prst="rect">
            <a:avLst/>
          </a:prstGeom>
          <a:noFill/>
          <a:ln/>
        </p:spPr>
        <p:txBody>
          <a:bodyPr wrap="square" lIns="0" tIns="0" rIns="0" bIns="0" rtlCol="0" anchor="t"/>
          <a:lstStyle/>
          <a:p>
            <a:pPr marL="0" indent="0">
              <a:lnSpc>
                <a:spcPct val="98000"/>
              </a:lnSpc>
              <a:buNone/>
            </a:pPr>
            <a:r>
              <a:rPr lang="en-US" sz="1400" b="1" dirty="0">
                <a:solidFill>
                  <a:srgbClr val="000000"/>
                </a:solidFill>
                <a:latin typeface="Calibri" pitchFamily="34" charset="0"/>
                <a:ea typeface="Calibri" pitchFamily="34" charset="-122"/>
                <a:cs typeface="Calibri" pitchFamily="34" charset="-120"/>
              </a:rPr>
              <a:t>C3 : Strictly separated, validated cores</a:t>
            </a:r>
            <a:r>
              <a:rPr lang="en-US" sz="1400" dirty="0">
                <a:solidFill>
                  <a:srgbClr val="222222"/>
                </a:solidFill>
                <a:latin typeface="Calibri" pitchFamily="34" charset="0"/>
                <a:ea typeface="Calibri" pitchFamily="34" charset="-122"/>
                <a:cs typeface="Calibri" pitchFamily="34" charset="-120"/>
              </a:rPr>
              <a:t>A stand-alone simulation core is validated on </a:t>
            </a:r>
            <a:r>
              <a:rPr lang="tr-TR" sz="1400" dirty="0">
                <a:solidFill>
                  <a:srgbClr val="222222"/>
                </a:solidFill>
                <a:latin typeface="Calibri" pitchFamily="34" charset="0"/>
                <a:ea typeface="Calibri" pitchFamily="34" charset="-122"/>
                <a:cs typeface="Calibri" pitchFamily="34" charset="-120"/>
              </a:rPr>
              <a:t> n</a:t>
            </a:r>
            <a:r>
              <a:rPr lang="en-US" sz="1400" dirty="0">
                <a:solidFill>
                  <a:srgbClr val="222222"/>
                </a:solidFill>
                <a:latin typeface="Calibri" pitchFamily="34" charset="0"/>
                <a:ea typeface="Calibri" pitchFamily="34" charset="-122"/>
                <a:cs typeface="Calibri" pitchFamily="34" charset="-120"/>
              </a:rPr>
              <a:t>historical fires. The decision system couples to it only through a typed observation and intervention interface.</a:t>
            </a:r>
            <a:endParaRPr lang="en-US" sz="1400" dirty="0"/>
          </a:p>
        </p:txBody>
      </p:sp>
      <p:pic>
        <p:nvPicPr>
          <p:cNvPr id="28"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29"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0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 / 113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Nomenclature</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0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 / 113</a:t>
            </a:r>
          </a:p>
        </p:txBody>
      </p:sp>
    </p:spTree>
    <p:extLst>
      <p:ext uri="{BB962C8B-B14F-4D97-AF65-F5344CB8AC3E}">
        <p14:creationId xmlns:p14="http://schemas.microsoft.com/office/powerpoint/2010/main" val="670292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MOTIVATION</a:t>
            </a:r>
            <a:endParaRPr lang="en-US" sz="1300" dirty="0"/>
          </a:p>
        </p:txBody>
      </p:sp>
      <p:grpSp>
        <p:nvGrpSpPr>
          <p:cNvPr id="3" name="Group 2">
            <a:extLst>
              <a:ext uri="{FF2B5EF4-FFF2-40B4-BE49-F238E27FC236}">
                <a16:creationId xmlns:a16="http://schemas.microsoft.com/office/drawing/2014/main" id="{1E253E07-0DA0-4585-91C3-16164AD6521D}"/>
              </a:ext>
            </a:extLst>
          </p:cNvPr>
          <p:cNvGrpSpPr/>
          <p:nvPr/>
        </p:nvGrpSpPr>
        <p:grpSpPr>
          <a:xfrm>
            <a:off x="679434" y="844952"/>
            <a:ext cx="10585974" cy="5628999"/>
            <a:chOff x="679434" y="844952"/>
            <a:chExt cx="10585974" cy="5628999"/>
          </a:xfrm>
        </p:grpSpPr>
        <p:sp>
          <p:nvSpPr>
            <p:cNvPr id="7" name="Shape 4"/>
            <p:cNvSpPr/>
            <p:nvPr/>
          </p:nvSpPr>
          <p:spPr>
            <a:xfrm>
              <a:off x="679434" y="844952"/>
              <a:ext cx="10585974" cy="5628999"/>
            </a:xfrm>
            <a:prstGeom prst="roundRect">
              <a:avLst>
                <a:gd name="adj" fmla="val 4000"/>
              </a:avLst>
            </a:prstGeom>
            <a:solidFill>
              <a:srgbClr val="F2F2F2"/>
            </a:solidFill>
            <a:ln/>
          </p:spPr>
        </p:sp>
        <mc:AlternateContent xmlns:mc="http://schemas.openxmlformats.org/markup-compatibility/2006" xmlns:a14="http://schemas.microsoft.com/office/drawing/2010/main">
          <mc:Choice Requires="a14">
            <p:sp>
              <p:nvSpPr>
                <p:cNvPr id="8" name="Text 5"/>
                <p:cNvSpPr/>
                <p:nvPr/>
              </p:nvSpPr>
              <p:spPr>
                <a:xfrm>
                  <a:off x="926592" y="972273"/>
                  <a:ext cx="10011484" cy="5347504"/>
                </a:xfrm>
                <a:prstGeom prst="rect">
                  <a:avLst/>
                </a:prstGeom>
                <a:noFill/>
                <a:ln/>
              </p:spPr>
              <p:txBody>
                <a:bodyPr wrap="square" lIns="0" tIns="0" rIns="0" bIns="0" rtlCol="0" anchor="ctr"/>
                <a:lstStyle/>
                <a:p>
                  <a:pPr algn="just">
                    <a:lnSpc>
                      <a:spcPct val="150000"/>
                    </a:lnSpc>
                    <a:spcAft>
                      <a:spcPts val="800"/>
                    </a:spcAft>
                  </a:pPr>
                  <a:r>
                    <a:rPr lang="en-US" sz="2400" dirty="0">
                      <a:effectLst/>
                      <a:latin typeface="Times New Roman" panose="02020603050405020304" pitchFamily="18" charset="0"/>
                      <a:ea typeface="Calibri" panose="020F0502020204030204" pitchFamily="34" charset="0"/>
                      <a:cs typeface="Arial" panose="020B0604020202020204" pitchFamily="34" charset="0"/>
                    </a:rPr>
                    <a:t>Four notational conventions apply throughout:</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a:p>
                  <a:pPr marL="514350" indent="-514350" algn="just">
                    <a:lnSpc>
                      <a:spcPct val="150000"/>
                    </a:lnSpc>
                    <a:spcAft>
                      <a:spcPts val="800"/>
                    </a:spcAft>
                    <a:buFont typeface="+mj-lt"/>
                    <a:buAutoNum type="romanLcPeriod"/>
                  </a:pPr>
                  <a:r>
                    <a:rPr lang="en-US" sz="2400" dirty="0">
                      <a:effectLst/>
                      <a:latin typeface="Times New Roman" panose="02020603050405020304" pitchFamily="18" charset="0"/>
                      <a:ea typeface="Calibri" panose="020F0502020204030204" pitchFamily="34" charset="0"/>
                      <a:cs typeface="Arial" panose="020B0604020202020204" pitchFamily="34" charset="0"/>
                    </a:rPr>
                    <a:t>Subscript k denotes the discrete time step; </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a:p>
                  <a:pPr marL="514350" indent="-514350" algn="just">
                    <a:lnSpc>
                      <a:spcPct val="150000"/>
                    </a:lnSpc>
                    <a:spcAft>
                      <a:spcPts val="800"/>
                    </a:spcAft>
                    <a:buFont typeface="+mj-lt"/>
                    <a:buAutoNum type="romanLcPeriod"/>
                  </a:pPr>
                  <a:r>
                    <a:rPr lang="en-US" sz="2400" dirty="0">
                      <a:effectLst/>
                      <a:latin typeface="Times New Roman" panose="02020603050405020304" pitchFamily="18" charset="0"/>
                      <a:ea typeface="Calibri" panose="020F0502020204030204" pitchFamily="34" charset="0"/>
                      <a:cs typeface="Arial" panose="020B0604020202020204" pitchFamily="34" charset="0"/>
                    </a:rPr>
                    <a:t>arguments (x, y) denote the grid cell; </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a:p>
                  <a:pPr marL="514350" indent="-514350" algn="just">
                    <a:lnSpc>
                      <a:spcPct val="150000"/>
                    </a:lnSpc>
                    <a:spcAft>
                      <a:spcPts val="800"/>
                    </a:spcAft>
                    <a:buFont typeface="+mj-lt"/>
                    <a:buAutoNum type="romanLcPeriod"/>
                  </a:pPr>
                  <a:r>
                    <a:rPr lang="en-US" sz="2400" dirty="0">
                      <a:effectLst/>
                      <a:latin typeface="Times New Roman" panose="02020603050405020304" pitchFamily="18" charset="0"/>
                      <a:ea typeface="Calibri" panose="020F0502020204030204" pitchFamily="34" charset="0"/>
                      <a:cs typeface="Arial" panose="020B0604020202020204" pitchFamily="34" charset="0"/>
                    </a:rPr>
                    <a:t>superscript </a:t>
                  </a:r>
                  <a14:m>
                    <m:oMath xmlns:m="http://schemas.openxmlformats.org/officeDocument/2006/math">
                      <m:r>
                        <a:rPr lang="en-US" sz="2400" i="1">
                          <a:effectLst/>
                          <a:latin typeface="Cambria Math" panose="02040503050406030204" pitchFamily="18" charset="0"/>
                          <a:ea typeface="Calibri" panose="020F0502020204030204" pitchFamily="34" charset="0"/>
                          <a:cs typeface="Arial" panose="020B0604020202020204" pitchFamily="34" charset="0"/>
                        </a:rPr>
                        <m:t>𝑖</m:t>
                      </m:r>
                    </m:oMath>
                  </a14:m>
                  <a:r>
                    <a:rPr lang="en-US" sz="2400" dirty="0">
                      <a:effectLst/>
                      <a:latin typeface="Times New Roman" panose="02020603050405020304" pitchFamily="18" charset="0"/>
                      <a:ea typeface="Calibri" panose="020F0502020204030204" pitchFamily="34" charset="0"/>
                      <a:cs typeface="Arial" panose="020B0604020202020204" pitchFamily="34" charset="0"/>
                    </a:rPr>
                    <a:t> identifies the operational region; </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a:p>
                  <a:pPr marL="514350" indent="-514350" algn="just">
                    <a:lnSpc>
                      <a:spcPct val="150000"/>
                    </a:lnSpc>
                    <a:spcAft>
                      <a:spcPts val="800"/>
                    </a:spcAft>
                    <a:buFont typeface="+mj-lt"/>
                    <a:buAutoNum type="romanLcPeriod"/>
                  </a:pPr>
                  <a:r>
                    <a:rPr lang="en-US" sz="2400" dirty="0">
                      <a:effectLst/>
                      <a:latin typeface="Times New Roman" panose="02020603050405020304" pitchFamily="18" charset="0"/>
                      <a:ea typeface="Calibri" panose="020F0502020204030204" pitchFamily="34" charset="0"/>
                      <a:cs typeface="Arial" panose="020B0604020202020204" pitchFamily="34" charset="0"/>
                    </a:rPr>
                    <a:t>a hat accent (</a:t>
                  </a:r>
                  <a14:m>
                    <m:oMath xmlns:m="http://schemas.openxmlformats.org/officeDocument/2006/math">
                      <m:acc>
                        <m:accPr>
                          <m:chr m:val="̂"/>
                          <m:ctrlPr>
                            <a:rPr lang="tr-TR" sz="2400" i="1">
                              <a:effectLst/>
                              <a:latin typeface="Cambria Math" panose="02040503050406030204" pitchFamily="18" charset="0"/>
                              <a:ea typeface="Calibri" panose="020F0502020204030204" pitchFamily="34" charset="0"/>
                              <a:cs typeface="Arial" panose="020B0604020202020204" pitchFamily="34" charset="0"/>
                            </a:rPr>
                          </m:ctrlPr>
                        </m:accPr>
                        <m:e/>
                      </m:acc>
                    </m:oMath>
                  </a14:m>
                  <a:r>
                    <a:rPr lang="en-US" sz="2400" dirty="0">
                      <a:effectLst/>
                      <a:latin typeface="Times New Roman" panose="02020603050405020304" pitchFamily="18" charset="0"/>
                      <a:ea typeface="Calibri" panose="020F0502020204030204" pitchFamily="34" charset="0"/>
                      <a:cs typeface="Arial" panose="020B0604020202020204" pitchFamily="34" charset="0"/>
                    </a:rPr>
                    <a:t>) indicates an estimated quantity, observed or forecast; </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a:p>
                  <a:pPr marL="514350" indent="-514350" algn="just">
                    <a:lnSpc>
                      <a:spcPct val="150000"/>
                    </a:lnSpc>
                    <a:spcAft>
                      <a:spcPts val="800"/>
                    </a:spcAft>
                    <a:buFont typeface="+mj-lt"/>
                    <a:buAutoNum type="romanLcPeriod"/>
                  </a:pPr>
                  <a:r>
                    <a:rPr lang="en-US" sz="2400" dirty="0">
                      <a:effectLst/>
                      <a:latin typeface="Times New Roman" panose="02020603050405020304" pitchFamily="18" charset="0"/>
                      <a:ea typeface="Calibri" panose="020F0502020204030204" pitchFamily="34" charset="0"/>
                      <a:cs typeface="Arial" panose="020B0604020202020204" pitchFamily="34" charset="0"/>
                    </a:rPr>
                    <a:t>and an overbar </a:t>
                  </a:r>
                  <a14:m>
                    <m:oMath xmlns:m="http://schemas.openxmlformats.org/officeDocument/2006/math">
                      <m:r>
                        <a:rPr lang="en-US" sz="2400" i="1">
                          <a:effectLst/>
                          <a:latin typeface="Cambria Math" panose="02040503050406030204" pitchFamily="18" charset="0"/>
                          <a:ea typeface="Calibri" panose="020F0502020204030204" pitchFamily="34" charset="0"/>
                          <a:cs typeface="Arial" panose="020B0604020202020204" pitchFamily="34" charset="0"/>
                        </a:rPr>
                        <m:t>(</m:t>
                      </m:r>
                      <m:acc>
                        <m:accPr>
                          <m:chr m:val="̅"/>
                          <m:ctrlPr>
                            <a:rPr lang="tr-TR" sz="2400" i="1">
                              <a:effectLst/>
                              <a:latin typeface="Cambria Math" panose="02040503050406030204" pitchFamily="18" charset="0"/>
                              <a:ea typeface="Calibri" panose="020F0502020204030204" pitchFamily="34" charset="0"/>
                              <a:cs typeface="Arial" panose="020B0604020202020204" pitchFamily="34" charset="0"/>
                            </a:rPr>
                          </m:ctrlPr>
                        </m:accPr>
                        <m:e/>
                      </m:acc>
                      <m:r>
                        <a:rPr lang="en-US" sz="2400" i="1">
                          <a:effectLst/>
                          <a:latin typeface="Cambria Math" panose="02040503050406030204" pitchFamily="18" charset="0"/>
                          <a:ea typeface="Calibri" panose="020F0502020204030204" pitchFamily="34" charset="0"/>
                          <a:cs typeface="Arial" panose="020B0604020202020204" pitchFamily="34" charset="0"/>
                        </a:rPr>
                        <m:t>)</m:t>
                      </m:r>
                    </m:oMath>
                  </a14:m>
                  <a:r>
                    <a:rPr lang="en-US" sz="2400" dirty="0">
                      <a:effectLst/>
                      <a:latin typeface="Times New Roman" panose="02020603050405020304" pitchFamily="18" charset="0"/>
                      <a:ea typeface="Calibri" panose="020F0502020204030204" pitchFamily="34" charset="0"/>
                      <a:cs typeface="Arial" panose="020B0604020202020204" pitchFamily="34" charset="0"/>
                    </a:rPr>
                    <a:t> indicates a confidence-gated or spatially averaged quantity. </a:t>
                  </a:r>
                  <a:endParaRPr lang="tr-TR" sz="2400" dirty="0">
                    <a:effectLst/>
                    <a:latin typeface="Times New Roman" panose="02020603050405020304" pitchFamily="18" charset="0"/>
                    <a:ea typeface="Calibri" panose="020F0502020204030204" pitchFamily="34" charset="0"/>
                    <a:cs typeface="Arial" panose="020B0604020202020204" pitchFamily="34" charset="0"/>
                  </a:endParaRPr>
                </a:p>
              </p:txBody>
            </p:sp>
          </mc:Choice>
          <mc:Fallback xmlns="">
            <p:sp>
              <p:nvSpPr>
                <p:cNvPr id="8" name="Text 5"/>
                <p:cNvSpPr>
                  <a:spLocks noRot="1" noChangeAspect="1" noMove="1" noResize="1" noEditPoints="1" noAdjustHandles="1" noChangeArrowheads="1" noChangeShapeType="1" noTextEdit="1"/>
                </p:cNvSpPr>
                <p:nvPr/>
              </p:nvSpPr>
              <p:spPr>
                <a:xfrm>
                  <a:off x="926592" y="972273"/>
                  <a:ext cx="10011484" cy="5347504"/>
                </a:xfrm>
                <a:prstGeom prst="rect">
                  <a:avLst/>
                </a:prstGeom>
                <a:blipFill>
                  <a:blip r:embed="rId3"/>
                  <a:stretch>
                    <a:fillRect l="-1827" r="-1827"/>
                  </a:stretch>
                </a:blipFill>
                <a:ln/>
              </p:spPr>
              <p:txBody>
                <a:bodyPr/>
                <a:lstStyle/>
                <a:p>
                  <a:r>
                    <a:rPr lang="tr-TR">
                      <a:noFill/>
                    </a:rPr>
                    <a:t/>
                  </a:r>
                </a:p>
              </p:txBody>
            </p:sp>
          </mc:Fallback>
        </mc:AlternateContent>
      </p:grpSp>
      <p:pic>
        <p:nvPicPr>
          <p:cNvPr id="9"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10"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0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 / 113</a:t>
            </a:r>
          </a:p>
        </p:txBody>
      </p:sp>
    </p:spTree>
    <p:extLst>
      <p:ext uri="{BB962C8B-B14F-4D97-AF65-F5344CB8AC3E}">
        <p14:creationId xmlns:p14="http://schemas.microsoft.com/office/powerpoint/2010/main" val="25592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2</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Simulation Framework</a:t>
            </a:r>
            <a:endParaRPr lang="en-US" sz="4800" dirty="0"/>
          </a:p>
        </p:txBody>
      </p:sp>
      <p:sp>
        <p:nvSpPr>
          <p:cNvPr id="4" name="Text 2"/>
          <p:cNvSpPr/>
          <p:nvPr/>
        </p:nvSpPr>
        <p:spPr>
          <a:xfrm>
            <a:off x="822960" y="3703320"/>
            <a:ext cx="10607040" cy="1097280"/>
          </a:xfrm>
          <a:prstGeom prst="rect">
            <a:avLst/>
          </a:prstGeom>
          <a:noFill/>
          <a:ln/>
        </p:spPr>
        <p:txBody>
          <a:bodyPr wrap="square" lIns="0" tIns="0" rIns="0" bIns="0" rtlCol="0" anchor="ctr"/>
          <a:lstStyle/>
          <a:p>
            <a:pPr marL="0" indent="0">
              <a:buNone/>
            </a:pPr>
            <a:r>
              <a:rPr lang="en-US" sz="1800" dirty="0">
                <a:solidFill>
                  <a:srgbClr val="D9D9D9"/>
                </a:solidFill>
                <a:latin typeface="Calibri" pitchFamily="34" charset="0"/>
                <a:ea typeface="Calibri" pitchFamily="34" charset="-122"/>
                <a:cs typeface="Calibri" pitchFamily="34" charset="-120"/>
              </a:rPr>
              <a:t>The computational foundation: external data layers, a hybrid spread model,</a:t>
            </a:r>
            <a:endParaRPr lang="en-US" sz="1800" dirty="0"/>
          </a:p>
          <a:p>
            <a:pPr marL="0" indent="0">
              <a:buNone/>
            </a:pPr>
            <a:r>
              <a:rPr lang="en-US" sz="1800" dirty="0">
                <a:solidFill>
                  <a:srgbClr val="D9D9D9"/>
                </a:solidFill>
                <a:latin typeface="Calibri" pitchFamily="34" charset="0"/>
                <a:ea typeface="Calibri" pitchFamily="34" charset="-122"/>
                <a:cs typeface="Calibri" pitchFamily="34" charset="-120"/>
              </a:rPr>
              <a:t>and a decision core kept strictly at arm's length (Chapter 3)</a:t>
            </a:r>
            <a:endParaRPr lang="en-US" sz="1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0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 / 113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Two Cores, One Typed Boundary</a:t>
            </a:r>
            <a:endParaRPr lang="en-US" sz="2900" dirty="0"/>
          </a:p>
        </p:txBody>
      </p:sp>
      <p:pic>
        <p:nvPicPr>
          <p:cNvPr id="4" name="Image 0" descr="/tmp/thx/deck/figs/Figure3_1.png"/>
          <p:cNvPicPr>
            <a:picLocks noChangeAspect="1"/>
          </p:cNvPicPr>
          <p:nvPr/>
        </p:nvPicPr>
        <p:blipFill>
          <a:blip r:embed="rId3"/>
          <a:stretch>
            <a:fillRect/>
          </a:stretch>
        </p:blipFill>
        <p:spPr>
          <a:xfrm>
            <a:off x="976229" y="1321307"/>
            <a:ext cx="5957102" cy="5074920"/>
          </a:xfrm>
          <a:prstGeom prst="rect">
            <a:avLst/>
          </a:prstGeom>
        </p:spPr>
      </p:pic>
      <p:sp>
        <p:nvSpPr>
          <p:cNvPr id="5" name="Text 2"/>
          <p:cNvSpPr/>
          <p:nvPr/>
        </p:nvSpPr>
        <p:spPr>
          <a:xfrm>
            <a:off x="1767840" y="2084832"/>
            <a:ext cx="3840480" cy="4389120"/>
          </a:xfrm>
          <a:prstGeom prst="rect">
            <a:avLst/>
          </a:prstGeom>
          <a:noFill/>
          <a:ln/>
        </p:spPr>
        <p:txBody>
          <a:bodyPr wrap="square" lIns="0" tIns="0" rIns="0" bIns="0" rtlCol="0" anchor="t"/>
          <a:lstStyle/>
          <a:p>
            <a:endParaRPr lang="en-US" sz="14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grpSp>
        <p:nvGrpSpPr>
          <p:cNvPr id="9" name="Group 8">
            <a:extLst>
              <a:ext uri="{FF2B5EF4-FFF2-40B4-BE49-F238E27FC236}">
                <a16:creationId xmlns:a16="http://schemas.microsoft.com/office/drawing/2014/main" id="{916B2371-E8F8-40A7-93A6-5DD6B5CB262C}"/>
              </a:ext>
            </a:extLst>
          </p:cNvPr>
          <p:cNvGrpSpPr/>
          <p:nvPr/>
        </p:nvGrpSpPr>
        <p:grpSpPr>
          <a:xfrm>
            <a:off x="7193280" y="844952"/>
            <a:ext cx="4457700" cy="5628999"/>
            <a:chOff x="679434" y="844952"/>
            <a:chExt cx="10585974" cy="5628999"/>
          </a:xfrm>
        </p:grpSpPr>
        <p:sp>
          <p:nvSpPr>
            <p:cNvPr id="10" name="Shape 4">
              <a:extLst>
                <a:ext uri="{FF2B5EF4-FFF2-40B4-BE49-F238E27FC236}">
                  <a16:creationId xmlns:a16="http://schemas.microsoft.com/office/drawing/2014/main" id="{C0EB358A-9049-4D4F-B7AF-35706AD45263}"/>
                </a:ext>
              </a:extLst>
            </p:cNvPr>
            <p:cNvSpPr/>
            <p:nvPr/>
          </p:nvSpPr>
          <p:spPr>
            <a:xfrm>
              <a:off x="679434" y="844952"/>
              <a:ext cx="10585974" cy="5628999"/>
            </a:xfrm>
            <a:prstGeom prst="roundRect">
              <a:avLst>
                <a:gd name="adj" fmla="val 4000"/>
              </a:avLst>
            </a:prstGeom>
            <a:solidFill>
              <a:srgbClr val="F2F2F2"/>
            </a:solidFill>
            <a:ln/>
          </p:spPr>
        </p:sp>
        <p:sp>
          <p:nvSpPr>
            <p:cNvPr id="11" name="Text 5">
              <a:extLst>
                <a:ext uri="{FF2B5EF4-FFF2-40B4-BE49-F238E27FC236}">
                  <a16:creationId xmlns:a16="http://schemas.microsoft.com/office/drawing/2014/main" id="{07B965C5-C7EF-4F37-ABEE-0C87BC9E74F5}"/>
                </a:ext>
              </a:extLst>
            </p:cNvPr>
            <p:cNvSpPr/>
            <p:nvPr/>
          </p:nvSpPr>
          <p:spPr>
            <a:xfrm>
              <a:off x="926592" y="972273"/>
              <a:ext cx="10011484" cy="5347504"/>
            </a:xfrm>
            <a:prstGeom prst="rect">
              <a:avLst/>
            </a:prstGeom>
            <a:noFill/>
            <a:ln/>
          </p:spPr>
          <p:txBody>
            <a:bodyPr wrap="square" lIns="0" tIns="0" rIns="0" bIns="0" rtlCol="0" anchor="ctr"/>
            <a:lstStyle/>
            <a:p>
              <a:r>
                <a:rPr lang="en-US" sz="1600" b="1" dirty="0"/>
                <a:t>Why did not FARSITE, Prometheus, or WRF-Fire</a:t>
              </a:r>
              <a:r>
                <a:rPr lang="tr-TR" sz="1600" b="1" dirty="0"/>
                <a:t> be </a:t>
              </a:r>
              <a:r>
                <a:rPr lang="tr-TR" sz="1600" b="1" dirty="0" err="1"/>
                <a:t>used</a:t>
              </a:r>
              <a:r>
                <a:rPr lang="en-US" sz="1600" b="1" dirty="0"/>
                <a:t>? </a:t>
              </a:r>
              <a:endParaRPr lang="tr-TR" sz="1600" b="1" dirty="0"/>
            </a:p>
            <a:p>
              <a:endParaRPr lang="en-US" sz="1600" dirty="0"/>
            </a:p>
            <a:p>
              <a:pPr marL="342900" indent="-342900">
                <a:buFont typeface="Wingdings" panose="05000000000000000000" pitchFamily="2" charset="2"/>
                <a:buChar char="v"/>
              </a:pPr>
              <a:r>
                <a:rPr lang="en-US" sz="1600" i="1" dirty="0"/>
                <a:t>The simulator's purpose is to produce reliable evidence about the decision layer, not to maximize fire realism. </a:t>
              </a:r>
              <a:endParaRPr lang="tr-TR" sz="1600" i="1" dirty="0"/>
            </a:p>
            <a:p>
              <a:pPr marL="342900" indent="-342900">
                <a:buFont typeface="Wingdings" panose="05000000000000000000" pitchFamily="2" charset="2"/>
                <a:buChar char="v"/>
              </a:pPr>
              <a:r>
                <a:rPr lang="en-US" sz="1600" i="1" dirty="0"/>
                <a:t>The methodology needs exact reproducibility (same seeded world replayed under four configurations), throughput (7,130 cycles plus shadow and reseeded rollouts), a closed intervention surface (seven verified effects, so 'forecast strictly improves' is meaningful), and independent validation. </a:t>
              </a:r>
              <a:endParaRPr lang="tr-TR" sz="1600" i="1" dirty="0"/>
            </a:p>
            <a:p>
              <a:pPr marL="342900" indent="-342900">
                <a:buFont typeface="Wingdings" panose="05000000000000000000" pitchFamily="2" charset="2"/>
                <a:buChar char="v"/>
              </a:pPr>
              <a:r>
                <a:rPr lang="en-US" sz="1600" i="1" dirty="0"/>
                <a:t>Fidelity is validated, not maximized: blind hindcasts on four real fires give 86–94% agreement and POD 85–97%. </a:t>
              </a:r>
              <a:endParaRPr lang="tr-TR" sz="1600" i="1" dirty="0"/>
            </a:p>
            <a:p>
              <a:pPr marL="342900" indent="-342900">
                <a:buFont typeface="Wingdings" panose="05000000000000000000" pitchFamily="2" charset="2"/>
                <a:buChar char="v"/>
              </a:pPr>
              <a:r>
                <a:rPr lang="tr-TR" sz="1600" i="1" dirty="0"/>
                <a:t>A</a:t>
              </a:r>
              <a:r>
                <a:rPr lang="en-US" sz="1600" i="1" dirty="0"/>
                <a:t> higher-fidelity core could replace ours without touching the DSS</a:t>
              </a:r>
              <a:r>
                <a:rPr lang="tr-TR" sz="1600" i="1" dirty="0"/>
                <a:t>, </a:t>
              </a:r>
              <a:r>
                <a:rPr lang="en-US" sz="1600" i="1" dirty="0"/>
                <a:t>that substitution is listed as future work.</a:t>
              </a:r>
            </a:p>
          </p:txBody>
        </p:sp>
      </p:grpSp>
      <p:sp>
        <p:nvSpPr>
          <p:cNvPr id="90001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 / 113</a:t>
            </a:r>
          </a:p>
        </p:txBody>
      </p:sp>
    </p:spTree>
    <p:extLst>
      <p:ext uri="{BB962C8B-B14F-4D97-AF65-F5344CB8AC3E}">
        <p14:creationId xmlns:p14="http://schemas.microsoft.com/office/powerpoint/2010/main" val="40059872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Two Cores, One Typed Boundary</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9" name="Text 4"/>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10" name="Text 5"/>
              <p:cNvSpPr/>
              <p:nvPr/>
            </p:nvSpPr>
            <p:spPr>
              <a:xfrm>
                <a:off x="5715000" y="2560320"/>
                <a:ext cx="60350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𝑀𝑒𝑡𝑒𝑜</m:t>
                              </m:r>
                              <m:r>
                                <a:rPr lang="en-US" sz="1500">
                                  <a:latin typeface="Cambria Math"/>
                                </a:rPr>
                                <m:t>,</m:t>
                              </m:r>
                              <m:r>
                                <a:rPr lang="en-US" sz="1500">
                                  <a:latin typeface="Cambria Math"/>
                                </a:rPr>
                                <m:t>𝑘</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a:latin typeface="Cambria Math"/>
                                    </a:rPr>
                                    <m:t>𝑈</m:t>
                                  </m:r>
                                </m:e>
                                <m:sub>
                                  <m:r>
                                    <a:rPr lang="en-US" sz="1500">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10" name="Text 5"/>
              <p:cNvSpPr>
                <a:spLocks noRot="1" noChangeAspect="1" noMove="1" noResize="1" noEditPoints="1" noAdjustHandles="1" noChangeArrowheads="1" noChangeShapeType="1" noTextEdit="1"/>
              </p:cNvSpPr>
              <p:nvPr/>
            </p:nvSpPr>
            <p:spPr>
              <a:xfrm>
                <a:off x="5715000" y="2560320"/>
                <a:ext cx="603504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3108960"/>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𝑀𝑒𝑡𝑒𝑜</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meteorology: temperature, humidity, wind speed and direction, gusts, precipitation (time-varying)</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3108960"/>
                <a:ext cx="5806440" cy="502920"/>
              </a:xfrm>
              <a:prstGeom prst="rect">
                <a:avLst/>
              </a:prstGeom>
              <a:blipFill>
                <a:blip r:embed="rId8"/>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p:cNvSpPr/>
              <p:nvPr/>
            </p:nvSpPr>
            <p:spPr>
              <a:xfrm>
                <a:off x="5943600" y="3639312"/>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𝐺𝑒𝑜</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topography: elevation, slope, aspect, and access (static)</a:t>
                </a:r>
                <a:endParaRPr lang="en-US" sz="1350" dirty="0"/>
              </a:p>
            </p:txBody>
          </p:sp>
        </mc:Choice>
        <mc:Fallback xmlns="">
          <p:sp>
            <p:nvSpPr>
              <p:cNvPr id="12" name="Text 7"/>
              <p:cNvSpPr>
                <a:spLocks noRot="1" noChangeAspect="1" noMove="1" noResize="1" noEditPoints="1" noAdjustHandles="1" noChangeArrowheads="1" noChangeShapeType="1" noTextEdit="1"/>
              </p:cNvSpPr>
              <p:nvPr/>
            </p:nvSpPr>
            <p:spPr>
              <a:xfrm>
                <a:off x="5943600" y="3639312"/>
                <a:ext cx="5806440" cy="320040"/>
              </a:xfrm>
              <a:prstGeom prst="rect">
                <a:avLst/>
              </a:prstGeom>
              <a:blipFill>
                <a:blip r:embed="rId9"/>
                <a:stretch>
                  <a:fillRect l="-944" t="-1887" b="-1132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5943600" y="3986784"/>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𝐹𝑢𝑒𝑙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fuel load and fuel moisture, per fuel type</a:t>
                </a:r>
                <a:endParaRPr lang="en-US" sz="1350" dirty="0"/>
              </a:p>
            </p:txBody>
          </p:sp>
        </mc:Choice>
        <mc:Fallback xmlns="">
          <p:sp>
            <p:nvSpPr>
              <p:cNvPr id="13" name="Text 8"/>
              <p:cNvSpPr>
                <a:spLocks noRot="1" noChangeAspect="1" noMove="1" noResize="1" noEditPoints="1" noAdjustHandles="1" noChangeArrowheads="1" noChangeShapeType="1" noTextEdit="1"/>
              </p:cNvSpPr>
              <p:nvPr/>
            </p:nvSpPr>
            <p:spPr>
              <a:xfrm>
                <a:off x="5943600" y="3986784"/>
                <a:ext cx="5806440" cy="320040"/>
              </a:xfrm>
              <a:prstGeom prst="rect">
                <a:avLst/>
              </a:prstGeom>
              <a:blipFill>
                <a:blip r:embed="rId10"/>
                <a:stretch>
                  <a:fillRect l="-944" b="-1509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5943600" y="4334256"/>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𝐼𝑔𝑛</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ignition injection (binary ignition events)</a:t>
                </a:r>
                <a:endParaRPr lang="en-US" sz="1350" dirty="0"/>
              </a:p>
            </p:txBody>
          </p:sp>
        </mc:Choice>
        <mc:Fallback xmlns="">
          <p:sp>
            <p:nvSpPr>
              <p:cNvPr id="14" name="Text 9"/>
              <p:cNvSpPr>
                <a:spLocks noRot="1" noChangeAspect="1" noMove="1" noResize="1" noEditPoints="1" noAdjustHandles="1" noChangeArrowheads="1" noChangeShapeType="1" noTextEdit="1"/>
              </p:cNvSpPr>
              <p:nvPr/>
            </p:nvSpPr>
            <p:spPr>
              <a:xfrm>
                <a:off x="5943600" y="4334256"/>
                <a:ext cx="5806440" cy="320040"/>
              </a:xfrm>
              <a:prstGeom prst="rect">
                <a:avLst/>
              </a:prstGeom>
              <a:blipFill>
                <a:blip r:embed="rId11"/>
                <a:stretch>
                  <a:fillRect l="-944" b="-1698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 10"/>
              <p:cNvSpPr/>
              <p:nvPr/>
            </p:nvSpPr>
            <p:spPr>
              <a:xfrm>
                <a:off x="5943600" y="4681728"/>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𝐷𝑆𝑆</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b="1" dirty="0">
                    <a:solidFill>
                      <a:srgbClr val="222222"/>
                    </a:solidFill>
                    <a:latin typeface="Calibri" pitchFamily="34" charset="0"/>
                    <a:ea typeface="Calibri" pitchFamily="34" charset="-122"/>
                    <a:cs typeface="Calibri" pitchFamily="34" charset="-120"/>
                  </a:rPr>
                  <a:t> — the fielded decision: the only channel through which the DSS touches the world</a:t>
                </a:r>
                <a:endParaRPr lang="en-US" sz="1350" dirty="0"/>
              </a:p>
            </p:txBody>
          </p:sp>
        </mc:Choice>
        <mc:Fallback xmlns="">
          <p:sp>
            <p:nvSpPr>
              <p:cNvPr id="15" name="Text 10"/>
              <p:cNvSpPr>
                <a:spLocks noRot="1" noChangeAspect="1" noMove="1" noResize="1" noEditPoints="1" noAdjustHandles="1" noChangeArrowheads="1" noChangeShapeType="1" noTextEdit="1"/>
              </p:cNvSpPr>
              <p:nvPr/>
            </p:nvSpPr>
            <p:spPr>
              <a:xfrm>
                <a:off x="5943600" y="4681728"/>
                <a:ext cx="5806440" cy="502920"/>
              </a:xfrm>
              <a:prstGeom prst="rect">
                <a:avLst/>
              </a:prstGeom>
              <a:blipFill>
                <a:blip r:embed="rId12"/>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 11"/>
              <p:cNvSpPr/>
              <p:nvPr/>
            </p:nvSpPr>
            <p:spPr>
              <a:xfrm>
                <a:off x="5715000" y="5257800"/>
                <a:ext cx="6035040" cy="502920"/>
              </a:xfrm>
              <a:prstGeom prst="rect">
                <a:avLst/>
              </a:prstGeom>
              <a:noFill/>
              <a:ln/>
            </p:spPr>
            <p:txBody>
              <a:bodyPr wrap="square" lIns="0" tIns="0" rIns="0" bIns="0" rtlCol="0" anchor="t"/>
              <a:lstStyle/>
              <a:p>
                <a:pPr marL="0" indent="0">
                  <a:lnSpc>
                    <a:spcPct val="104000"/>
                  </a:lnSpc>
                  <a:buNone/>
                </a:pPr>
                <a:r>
                  <a:rPr lang="en-US" sz="1400" b="1" dirty="0">
                    <a:solidFill>
                      <a:srgbClr val="222222"/>
                    </a:solidFill>
                    <a:latin typeface="Calibri" pitchFamily="34" charset="0"/>
                    <a:ea typeface="Calibri" pitchFamily="34" charset="-122"/>
                    <a:cs typeface="Calibri" pitchFamily="34" charset="-120"/>
                  </a:rPr>
                  <a:t>• Per-cell state carried by </a:t>
                </a:r>
                <a14:m>
                  <m:oMath xmlns:m="http://schemas.openxmlformats.org/officeDocument/2006/math">
                    <m:r>
                      <a:rPr lang="en-US" sz="1400">
                        <a:latin typeface="Cambria Math"/>
                      </a:rPr>
                      <m:t>𝛷</m:t>
                    </m:r>
                  </m:oMath>
                </a14:m>
                <a:r>
                  <a:rPr lang="en-US" sz="1400" dirty="0">
                    <a:solidFill>
                      <a:srgbClr val="222222"/>
                    </a:solidFill>
                    <a:latin typeface="Calibri" pitchFamily="34" charset="0"/>
                    <a:ea typeface="Calibri" pitchFamily="34" charset="-122"/>
                    <a:cs typeface="Calibri" pitchFamily="34" charset="-120"/>
                  </a:rPr>
                  <a:t>: burning status, fuel mass, intensity, time since ignition — updated once per </a:t>
                </a:r>
                <a14:m>
                  <m:oMath xmlns:m="http://schemas.openxmlformats.org/officeDocument/2006/math">
                    <m:r>
                      <a:rPr lang="en-US" sz="1400">
                        <a:latin typeface="Cambria Math"/>
                      </a:rPr>
                      <m:t>𝛥</m:t>
                    </m:r>
                    <m:sSub>
                      <m:sSubPr>
                        <m:ctrlPr>
                          <a:rPr lang="en-US" i="1">
                            <a:latin typeface="Cambria Math" panose="02040503050406030204" pitchFamily="18" charset="0"/>
                          </a:rPr>
                        </m:ctrlPr>
                      </m:sSubPr>
                      <m:e>
                        <m:r>
                          <a:rPr lang="en-US" sz="1400">
                            <a:latin typeface="Cambria Math"/>
                          </a:rPr>
                          <m:t>𝑡</m:t>
                        </m:r>
                      </m:e>
                      <m:sub>
                        <m:r>
                          <a:rPr lang="en-US" sz="1400">
                            <a:latin typeface="Cambria Math"/>
                          </a:rPr>
                          <m:t>𝑠𝑖𝑚</m:t>
                        </m:r>
                      </m:sub>
                    </m:sSub>
                  </m:oMath>
                </a14:m>
                <a:endParaRPr lang="en-US" sz="1400" dirty="0"/>
              </a:p>
            </p:txBody>
          </p:sp>
        </mc:Choice>
        <mc:Fallback xmlns="">
          <p:sp>
            <p:nvSpPr>
              <p:cNvPr id="16" name="Text 11"/>
              <p:cNvSpPr>
                <a:spLocks noRot="1" noChangeAspect="1" noMove="1" noResize="1" noEditPoints="1" noAdjustHandles="1" noChangeArrowheads="1" noChangeShapeType="1" noTextEdit="1"/>
              </p:cNvSpPr>
              <p:nvPr/>
            </p:nvSpPr>
            <p:spPr>
              <a:xfrm>
                <a:off x="5715000" y="5257800"/>
                <a:ext cx="6035040" cy="502920"/>
              </a:xfrm>
              <a:prstGeom prst="rect">
                <a:avLst/>
              </a:prstGeom>
              <a:blipFill>
                <a:blip r:embed="rId13"/>
                <a:stretch>
                  <a:fillRect l="-1818" t="-12195" b="-853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7" name="Text 12"/>
              <p:cNvSpPr/>
              <p:nvPr/>
            </p:nvSpPr>
            <p:spPr>
              <a:xfrm>
                <a:off x="5715000" y="5779008"/>
                <a:ext cx="603504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100">
                              <a:latin typeface="Cambria Math"/>
                            </a:rPr>
                            <m:t>𝑠</m:t>
                          </m:r>
                        </m:e>
                        <m:sub>
                          <m:r>
                            <a:rPr lang="en-US" sz="1100">
                              <a:latin typeface="Cambria Math"/>
                            </a:rPr>
                            <m:t>𝑘</m:t>
                          </m:r>
                        </m:sub>
                      </m:sSub>
                      <m:r>
                        <m:rPr>
                          <m:aln/>
                        </m:rPr>
                        <a:rPr lang="en-US" sz="1100">
                          <a:latin typeface="Cambria Math"/>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sz="1100">
                                      <a:latin typeface="Cambria Math"/>
                                    </a:rPr>
                                    <m:t>𝐵</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𝐹</m:t>
                                  </m:r>
                                </m:e>
                                <m:sub>
                                  <m:r>
                                    <a:rPr lang="en-US" sz="1100">
                                      <a:latin typeface="Cambria Math"/>
                                    </a:rPr>
                                    <m:t>𝑙𝑜𝑎𝑑</m:t>
                                  </m:r>
                                  <m:r>
                                    <a:rPr lang="en-US" sz="1100">
                                      <a:latin typeface="Cambria Math"/>
                                    </a:rPr>
                                    <m:t>,</m:t>
                                  </m:r>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𝐼</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𝜏</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qArr>
                        </m:e>
                      </m:d>
                    </m:oMath>
                  </m:oMathPara>
                </a14:m>
                <a:endParaRPr lang="en-US" sz="1600" dirty="0"/>
              </a:p>
            </p:txBody>
          </p:sp>
        </mc:Choice>
        <mc:Fallback xmlns="">
          <p:sp>
            <p:nvSpPr>
              <p:cNvPr id="17" name="Text 12"/>
              <p:cNvSpPr>
                <a:spLocks noRot="1" noChangeAspect="1" noMove="1" noResize="1" noEditPoints="1" noAdjustHandles="1" noChangeArrowheads="1" noChangeShapeType="1" noTextEdit="1"/>
              </p:cNvSpPr>
              <p:nvPr/>
            </p:nvSpPr>
            <p:spPr>
              <a:xfrm>
                <a:off x="5715000" y="5779008"/>
                <a:ext cx="6035040" cy="777240"/>
              </a:xfrm>
              <a:prstGeom prst="rect">
                <a:avLst/>
              </a:prstGeom>
              <a:blipFill>
                <a:blip r:embed="rId14"/>
                <a:stretch>
                  <a:fillRect t="-18750" b="-23438"/>
                </a:stretch>
              </a:blipFill>
              <a:ln/>
            </p:spPr>
            <p:txBody>
              <a:bodyPr/>
              <a:lstStyle/>
              <a:p>
                <a:r>
                  <a:rPr lang="tr-TR">
                    <a:noFill/>
                  </a:rPr>
                  <a:t/>
                </a:r>
              </a:p>
            </p:txBody>
          </p:sp>
        </mc:Fallback>
      </mc:AlternateContent>
      <p:sp>
        <p:nvSpPr>
          <p:cNvPr id="90001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11 / 113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56032" y="1815950"/>
            <a:ext cx="5074920" cy="4323379"/>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487A6DF-D271-4367-B456-BF2B80241A15}"/>
                  </a:ext>
                </a:extLst>
              </p:cNvPr>
              <p:cNvSpPr txBox="1"/>
              <p:nvPr/>
            </p:nvSpPr>
            <p:spPr>
              <a:xfrm>
                <a:off x="9577350" y="2091070"/>
                <a:ext cx="2754324" cy="13379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tr-TR" sz="1200" i="1" smtClean="0">
                              <a:solidFill>
                                <a:srgbClr val="836967"/>
                              </a:solidFill>
                              <a:latin typeface="Cambria Math" panose="02040503050406030204" pitchFamily="18" charset="0"/>
                            </a:rPr>
                          </m:ctrlPr>
                        </m:sSubPr>
                        <m:e>
                          <m:r>
                            <a:rPr lang="tr-TR" sz="1200" b="0" i="1" smtClean="0">
                              <a:latin typeface="Cambria Math" panose="02040503050406030204" pitchFamily="18" charset="0"/>
                            </a:rPr>
                            <m:t>𝑈</m:t>
                          </m:r>
                        </m:e>
                        <m:sub>
                          <m:r>
                            <a:rPr lang="tr-TR" sz="1200" b="0" i="1" smtClean="0">
                              <a:latin typeface="Cambria Math" panose="02040503050406030204" pitchFamily="18" charset="0"/>
                            </a:rPr>
                            <m:t>𝑀𝑒𝑡𝑒𝑜</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r>
                        <a:rPr lang="tr-TR" sz="1200" b="0" i="0" smtClean="0">
                          <a:latin typeface="Cambria Math" panose="02040503050406030204" pitchFamily="18" charset="0"/>
                        </a:rPr>
                        <m:t>=</m:t>
                      </m:r>
                      <m:d>
                        <m:dPr>
                          <m:begChr m:val="["/>
                          <m:endChr m:val="]"/>
                          <m:ctrlPr>
                            <a:rPr lang="tr-TR" sz="1200" i="1">
                              <a:solidFill>
                                <a:srgbClr val="836967"/>
                              </a:solidFill>
                              <a:latin typeface="Cambria Math" panose="02040503050406030204" pitchFamily="18" charset="0"/>
                            </a:rPr>
                          </m:ctrlPr>
                        </m:dPr>
                        <m:e>
                          <m:eqArr>
                            <m:eqArrPr>
                              <m:ctrlPr>
                                <a:rPr lang="tr-TR" sz="1200" i="1">
                                  <a:solidFill>
                                    <a:srgbClr val="836967"/>
                                  </a:solidFill>
                                  <a:latin typeface="Cambria Math" panose="02040503050406030204" pitchFamily="18" charset="0"/>
                                </a:rPr>
                              </m:ctrlPr>
                            </m:eqArrPr>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𝑡𝑒𝑚𝑝</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𝑟h</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𝑤𝑠</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𝑤𝑑</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𝑔𝑢𝑠𝑡</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d>
                                <m:dPr>
                                  <m:ctrlPr>
                                    <a:rPr lang="tr-TR" sz="1200" i="1">
                                      <a:solidFill>
                                        <a:srgbClr val="836967"/>
                                      </a:solidFill>
                                      <a:latin typeface="Cambria Math" panose="02040503050406030204" pitchFamily="18" charset="0"/>
                                    </a:rPr>
                                  </m:ctrlPr>
                                </m:dPr>
                                <m:e>
                                  <m:r>
                                    <a:rPr lang="tr-TR" sz="1200" b="0" i="1" smtClean="0">
                                      <a:latin typeface="Cambria Math" panose="02040503050406030204" pitchFamily="18" charset="0"/>
                                    </a:rPr>
                                    <m:t>𝑥</m:t>
                                  </m:r>
                                  <m:r>
                                    <a:rPr lang="tr-TR" sz="1200" b="0" i="0" smtClean="0">
                                      <a:latin typeface="Cambria Math" panose="02040503050406030204" pitchFamily="18" charset="0"/>
                                    </a:rPr>
                                    <m:t>,</m:t>
                                  </m:r>
                                  <m:r>
                                    <a:rPr lang="tr-TR" sz="1200" b="0" i="1" smtClean="0">
                                      <a:latin typeface="Cambria Math" panose="02040503050406030204" pitchFamily="18" charset="0"/>
                                    </a:rPr>
                                    <m:t>𝑦</m:t>
                                  </m:r>
                                </m:e>
                              </m:d>
                            </m:e>
                            <m:e>
                              <m:r>
                                <a:rPr lang="tr-TR" sz="1200" b="0" i="0" smtClean="0">
                                  <a:latin typeface="Cambria Math" panose="02040503050406030204" pitchFamily="18" charset="0"/>
                                </a:rPr>
                                <m:t>&amp;</m:t>
                              </m:r>
                              <m:sSub>
                                <m:sSubPr>
                                  <m:ctrlPr>
                                    <a:rPr lang="tr-TR" sz="1200" i="1">
                                      <a:solidFill>
                                        <a:srgbClr val="836967"/>
                                      </a:solidFill>
                                      <a:latin typeface="Cambria Math" panose="02040503050406030204" pitchFamily="18" charset="0"/>
                                    </a:rPr>
                                  </m:ctrlPr>
                                </m:sSubPr>
                                <m:e>
                                  <m:r>
                                    <a:rPr lang="tr-TR" sz="1200" b="0" i="1" smtClean="0">
                                      <a:latin typeface="Cambria Math" panose="02040503050406030204" pitchFamily="18" charset="0"/>
                                    </a:rPr>
                                    <m:t>𝑊</m:t>
                                  </m:r>
                                </m:e>
                                <m:sub>
                                  <m:r>
                                    <a:rPr lang="tr-TR" sz="1200" b="0" i="1" smtClean="0">
                                      <a:latin typeface="Cambria Math" panose="02040503050406030204" pitchFamily="18" charset="0"/>
                                    </a:rPr>
                                    <m:t>𝑝𝑟𝑒𝑐</m:t>
                                  </m:r>
                                  <m:r>
                                    <a:rPr lang="tr-TR" sz="1200" b="0" i="0" smtClean="0">
                                      <a:latin typeface="Cambria Math" panose="02040503050406030204" pitchFamily="18" charset="0"/>
                                    </a:rPr>
                                    <m:t>,</m:t>
                                  </m:r>
                                  <m:r>
                                    <a:rPr lang="tr-TR" sz="1200" b="0" i="1" smtClean="0">
                                      <a:latin typeface="Cambria Math" panose="02040503050406030204" pitchFamily="18" charset="0"/>
                                    </a:rPr>
                                    <m:t>𝑘</m:t>
                                  </m:r>
                                </m:sub>
                              </m:sSub>
                            </m:e>
                          </m:eqArr>
                        </m:e>
                      </m:d>
                    </m:oMath>
                  </m:oMathPara>
                </a14:m>
                <a:endParaRPr lang="tr-TR" dirty="0"/>
              </a:p>
            </p:txBody>
          </p:sp>
        </mc:Choice>
        <mc:Fallback xmlns="">
          <p:sp>
            <p:nvSpPr>
              <p:cNvPr id="18" name="TextBox 17">
                <a:extLst>
                  <a:ext uri="{FF2B5EF4-FFF2-40B4-BE49-F238E27FC236}">
                    <a16:creationId xmlns:a16="http://schemas.microsoft.com/office/drawing/2014/main" id="{5487A6DF-D271-4367-B456-BF2B80241A15}"/>
                  </a:ext>
                </a:extLst>
              </p:cNvPr>
              <p:cNvSpPr txBox="1">
                <a:spLocks noRot="1" noChangeAspect="1" noMove="1" noResize="1" noEditPoints="1" noAdjustHandles="1" noChangeArrowheads="1" noChangeShapeType="1" noTextEdit="1"/>
              </p:cNvSpPr>
              <p:nvPr/>
            </p:nvSpPr>
            <p:spPr>
              <a:xfrm>
                <a:off x="9577350" y="2091070"/>
                <a:ext cx="2754324" cy="1337930"/>
              </a:xfrm>
              <a:prstGeom prst="rect">
                <a:avLst/>
              </a:prstGeom>
              <a:blipFill>
                <a:blip r:embed="rId6"/>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9" name="Table 18">
                <a:extLst>
                  <a:ext uri="{FF2B5EF4-FFF2-40B4-BE49-F238E27FC236}">
                    <a16:creationId xmlns:a16="http://schemas.microsoft.com/office/drawing/2014/main" id="{5656A958-6C42-4906-B34A-17EDF50CD802}"/>
                  </a:ext>
                </a:extLst>
              </p:cNvPr>
              <p:cNvGraphicFramePr>
                <a:graphicFrameLocks noGrp="1"/>
              </p:cNvGraphicFramePr>
              <p:nvPr>
                <p:extLst>
                  <p:ext uri="{D42A27DB-BD31-4B8C-83A1-F6EECF244321}">
                    <p14:modId xmlns:p14="http://schemas.microsoft.com/office/powerpoint/2010/main" val="3914853697"/>
                  </p:ext>
                </p:extLst>
              </p:nvPr>
            </p:nvGraphicFramePr>
            <p:xfrm>
              <a:off x="5714999" y="3400141"/>
              <a:ext cx="6390315" cy="3405985"/>
            </p:xfrm>
            <a:graphic>
              <a:graphicData uri="http://schemas.openxmlformats.org/drawingml/2006/table">
                <a:tbl>
                  <a:tblPr firstRow="1" firstCol="1" bandRow="1">
                    <a:tableStyleId>{93296810-A885-4BE3-A3E7-6D5BEEA58F35}</a:tableStyleId>
                  </a:tblPr>
                  <a:tblGrid>
                    <a:gridCol w="1742441">
                      <a:extLst>
                        <a:ext uri="{9D8B030D-6E8A-4147-A177-3AD203B41FA5}">
                          <a16:colId xmlns:a16="http://schemas.microsoft.com/office/drawing/2014/main" val="2864274145"/>
                        </a:ext>
                      </a:extLst>
                    </a:gridCol>
                    <a:gridCol w="457200">
                      <a:extLst>
                        <a:ext uri="{9D8B030D-6E8A-4147-A177-3AD203B41FA5}">
                          <a16:colId xmlns:a16="http://schemas.microsoft.com/office/drawing/2014/main" val="3760314938"/>
                        </a:ext>
                      </a:extLst>
                    </a:gridCol>
                    <a:gridCol w="4190674">
                      <a:extLst>
                        <a:ext uri="{9D8B030D-6E8A-4147-A177-3AD203B41FA5}">
                          <a16:colId xmlns:a16="http://schemas.microsoft.com/office/drawing/2014/main" val="2786632141"/>
                        </a:ext>
                      </a:extLst>
                    </a:gridCol>
                  </a:tblGrid>
                  <a:tr h="215640">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79300485"/>
                      </a:ext>
                    </a:extLst>
                  </a:tr>
                  <a:tr h="530241">
                    <a:tc>
                      <a:txBody>
                        <a:bodyPr/>
                        <a:lstStyle/>
                        <a:p>
                          <a:pPr algn="just">
                            <a:lnSpc>
                              <a:spcPct val="100000"/>
                            </a:lnSpc>
                          </a:pPr>
                          <a:r>
                            <a:rPr lang="en-US" sz="1200" dirty="0">
                              <a:effectLst/>
                            </a:rPr>
                            <a:t>Air Temperature </a:t>
                          </a:r>
                          <a:endParaRPr lang="tr-TR" sz="1200" dirty="0">
                            <a:effectLst/>
                          </a:endParaRP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temp</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°C</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ambient air temperature, influencing fuel drying rate, ignition thresholds, and fire intensity potential.</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552558262"/>
                      </a:ext>
                    </a:extLst>
                  </a:tr>
                  <a:tr h="523312">
                    <a:tc>
                      <a:txBody>
                        <a:bodyPr/>
                        <a:lstStyle/>
                        <a:p>
                          <a:pPr algn="just">
                            <a:lnSpc>
                              <a:spcPct val="100000"/>
                            </a:lnSpc>
                          </a:pPr>
                          <a:r>
                            <a:rPr lang="en-US" sz="1200" dirty="0">
                              <a:effectLst/>
                            </a:rPr>
                            <a:t>Relative Humidity </a:t>
                          </a:r>
                          <a:r>
                            <a:rPr lang="tr-TR" sz="1200" dirty="0">
                              <a:effectLst/>
                            </a:rPr>
                            <a:t> </a:t>
                          </a: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rh</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atmospheric moisture content and directly regulates live and dead fuel moisture levels.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3261552996"/>
                      </a:ext>
                    </a:extLst>
                  </a:tr>
                  <a:tr h="523312">
                    <a:tc>
                      <a:txBody>
                        <a:bodyPr/>
                        <a:lstStyle/>
                        <a:p>
                          <a:pPr algn="just">
                            <a:lnSpc>
                              <a:spcPct val="100000"/>
                            </a:lnSpc>
                          </a:pPr>
                          <a:r>
                            <a:rPr lang="en-US" sz="1200" dirty="0">
                              <a:effectLst/>
                            </a:rPr>
                            <a:t>Wind Speed </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ws</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Serves as the primary driver of fire spread rate and significantly increases the rate of spread</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3150261034"/>
                      </a:ext>
                    </a:extLst>
                  </a:tr>
                  <a:tr h="523312">
                    <a:tc>
                      <a:txBody>
                        <a:bodyPr/>
                        <a:lstStyle/>
                        <a:p>
                          <a:pPr algn="just">
                            <a:lnSpc>
                              <a:spcPct val="100000"/>
                            </a:lnSpc>
                          </a:pPr>
                          <a:r>
                            <a:rPr lang="en-US" sz="1200" dirty="0">
                              <a:effectLst/>
                            </a:rPr>
                            <a:t>Wind Direction </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wd</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Determines the directional propagation of the fire front and controls anisotropic spread behavior.</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109213521"/>
                      </a:ext>
                    </a:extLst>
                  </a:tr>
                  <a:tr h="530520">
                    <a:tc>
                      <a:txBody>
                        <a:bodyPr/>
                        <a:lstStyle/>
                        <a:p>
                          <a:pPr algn="just">
                            <a:lnSpc>
                              <a:spcPct val="100000"/>
                            </a:lnSpc>
                          </a:pPr>
                          <a:r>
                            <a:rPr lang="en-US" sz="1200" dirty="0">
                              <a:effectLst/>
                            </a:rPr>
                            <a:t>Wind Gust Speed</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gust</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short-term wind fluctuations and stochastic acceleration in fire propagation.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756361723"/>
                      </a:ext>
                    </a:extLst>
                  </a:tr>
                  <a:tr h="530241">
                    <a:tc>
                      <a:txBody>
                        <a:bodyPr/>
                        <a:lstStyle/>
                        <a:p>
                          <a:pPr algn="just">
                            <a:lnSpc>
                              <a:spcPct val="100000"/>
                            </a:lnSpc>
                          </a:pPr>
                          <a:r>
                            <a:rPr lang="en-US" sz="1200" dirty="0">
                              <a:effectLst/>
                            </a:rPr>
                            <a:t>Precipitation</a:t>
                          </a:r>
                          <a:r>
                            <a:rPr lang="tr-TR" sz="1200" dirty="0">
                              <a:effectLst/>
                            </a:rPr>
                            <a:t> </a:t>
                          </a:r>
                          <a:endParaRPr lang="tr-TR" sz="1200" i="1" dirty="0">
                            <a:effectLst/>
                            <a:latin typeface="Cambria Math" panose="02040503050406030204" pitchFamily="18" charset="0"/>
                          </a:endParaRPr>
                        </a:p>
                        <a:p>
                          <a:pPr algn="just">
                            <a:lnSpc>
                              <a:spcPct val="10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𝑾</m:t>
                                    </m:r>
                                  </m:e>
                                  <m:sub>
                                    <m:r>
                                      <m:rPr>
                                        <m:nor/>
                                      </m:rPr>
                                      <a:rPr lang="en-US" sz="1200">
                                        <a:effectLst/>
                                      </a:rPr>
                                      <m:t>prec</m:t>
                                    </m:r>
                                    <m:r>
                                      <m:rPr>
                                        <m:nor/>
                                      </m:rPr>
                                      <a:rPr lang="en-US" sz="1200">
                                        <a:effectLst/>
                                      </a:rPr>
                                      <m:t>,</m:t>
                                    </m:r>
                                    <m:r>
                                      <m:rPr>
                                        <m:nor/>
                                      </m:rPr>
                                      <a:rPr lang="en-US" sz="1200">
                                        <a:effectLst/>
                                      </a:rPr>
                                      <m:t>k</m:t>
                                    </m:r>
                                  </m:sub>
                                </m:sSub>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mm/h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Increases fuel moisture and can suppress, delay, or weaken active combustion processes.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52586988"/>
                      </a:ext>
                    </a:extLst>
                  </a:tr>
                </a:tbl>
              </a:graphicData>
            </a:graphic>
          </p:graphicFrame>
        </mc:Choice>
        <mc:Fallback xmlns="">
          <p:graphicFrame>
            <p:nvGraphicFramePr>
              <p:cNvPr id="19" name="Table 18">
                <a:extLst>
                  <a:ext uri="{FF2B5EF4-FFF2-40B4-BE49-F238E27FC236}">
                    <a16:creationId xmlns:a16="http://schemas.microsoft.com/office/drawing/2014/main" id="{5656A958-6C42-4906-B34A-17EDF50CD802}"/>
                  </a:ext>
                </a:extLst>
              </p:cNvPr>
              <p:cNvGraphicFramePr>
                <a:graphicFrameLocks noGrp="1"/>
              </p:cNvGraphicFramePr>
              <p:nvPr>
                <p:extLst>
                  <p:ext uri="{D42A27DB-BD31-4B8C-83A1-F6EECF244321}">
                    <p14:modId xmlns:p14="http://schemas.microsoft.com/office/powerpoint/2010/main" val="3914853697"/>
                  </p:ext>
                </p:extLst>
              </p:nvPr>
            </p:nvGraphicFramePr>
            <p:xfrm>
              <a:off x="5714999" y="3400141"/>
              <a:ext cx="6390315" cy="3405985"/>
            </p:xfrm>
            <a:graphic>
              <a:graphicData uri="http://schemas.openxmlformats.org/drawingml/2006/table">
                <a:tbl>
                  <a:tblPr firstRow="1" firstCol="1" bandRow="1">
                    <a:tableStyleId>{93296810-A885-4BE3-A3E7-6D5BEEA58F35}</a:tableStyleId>
                  </a:tblPr>
                  <a:tblGrid>
                    <a:gridCol w="1742441">
                      <a:extLst>
                        <a:ext uri="{9D8B030D-6E8A-4147-A177-3AD203B41FA5}">
                          <a16:colId xmlns:a16="http://schemas.microsoft.com/office/drawing/2014/main" val="2864274145"/>
                        </a:ext>
                      </a:extLst>
                    </a:gridCol>
                    <a:gridCol w="457200">
                      <a:extLst>
                        <a:ext uri="{9D8B030D-6E8A-4147-A177-3AD203B41FA5}">
                          <a16:colId xmlns:a16="http://schemas.microsoft.com/office/drawing/2014/main" val="3760314938"/>
                        </a:ext>
                      </a:extLst>
                    </a:gridCol>
                    <a:gridCol w="4190674">
                      <a:extLst>
                        <a:ext uri="{9D8B030D-6E8A-4147-A177-3AD203B41FA5}">
                          <a16:colId xmlns:a16="http://schemas.microsoft.com/office/drawing/2014/main" val="2786632141"/>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79300485"/>
                      </a:ext>
                    </a:extLst>
                  </a:tr>
                  <a:tr h="530241">
                    <a:tc>
                      <a:txBody>
                        <a:bodyPr/>
                        <a:lstStyle/>
                        <a:p>
                          <a:endParaRPr lang="tr-TR"/>
                        </a:p>
                      </a:txBody>
                      <a:tcPr marL="54048" marR="54048" marT="0" marB="0">
                        <a:blipFill>
                          <a:blip r:embed="rId7"/>
                          <a:stretch>
                            <a:fillRect l="-350" t="-47126" r="-268182" b="-500000"/>
                          </a:stretch>
                        </a:blipFill>
                      </a:tcPr>
                    </a:tc>
                    <a:tc>
                      <a:txBody>
                        <a:bodyPr/>
                        <a:lstStyle/>
                        <a:p>
                          <a:pPr algn="just">
                            <a:lnSpc>
                              <a:spcPct val="100000"/>
                            </a:lnSpc>
                          </a:pPr>
                          <a:r>
                            <a:rPr lang="en-US" sz="1200">
                              <a:effectLst/>
                            </a:rPr>
                            <a:t>°C</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ambient air temperature, influencing fuel drying rate, ignition thresholds, and fire intensity potential.</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552558262"/>
                      </a:ext>
                    </a:extLst>
                  </a:tr>
                  <a:tr h="523312">
                    <a:tc>
                      <a:txBody>
                        <a:bodyPr/>
                        <a:lstStyle/>
                        <a:p>
                          <a:endParaRPr lang="tr-TR"/>
                        </a:p>
                      </a:txBody>
                      <a:tcPr marL="54048" marR="54048" marT="0" marB="0">
                        <a:blipFill>
                          <a:blip r:embed="rId7"/>
                          <a:stretch>
                            <a:fillRect l="-350" t="-147126" r="-268182" b="-400000"/>
                          </a:stretch>
                        </a:blipFill>
                      </a:tcPr>
                    </a:tc>
                    <a:tc>
                      <a:txBody>
                        <a:bodyPr/>
                        <a:lstStyle/>
                        <a:p>
                          <a:pPr algn="just">
                            <a:lnSpc>
                              <a:spcPct val="10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atmospheric moisture content and directly regulates live and dead fuel moisture levels.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3261552996"/>
                      </a:ext>
                    </a:extLst>
                  </a:tr>
                  <a:tr h="523312">
                    <a:tc>
                      <a:txBody>
                        <a:bodyPr/>
                        <a:lstStyle/>
                        <a:p>
                          <a:endParaRPr lang="tr-TR"/>
                        </a:p>
                      </a:txBody>
                      <a:tcPr marL="54048" marR="54048" marT="0" marB="0">
                        <a:blipFill>
                          <a:blip r:embed="rId7"/>
                          <a:stretch>
                            <a:fillRect l="-350" t="-250000" r="-268182" b="-304651"/>
                          </a:stretch>
                        </a:blipFill>
                      </a:tcPr>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Serves as the primary driver of fire spread rate and significantly increases the rate of spread</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3150261034"/>
                      </a:ext>
                    </a:extLst>
                  </a:tr>
                  <a:tr h="523312">
                    <a:tc>
                      <a:txBody>
                        <a:bodyPr/>
                        <a:lstStyle/>
                        <a:p>
                          <a:endParaRPr lang="tr-TR"/>
                        </a:p>
                      </a:txBody>
                      <a:tcPr marL="54048" marR="54048" marT="0" marB="0">
                        <a:blipFill>
                          <a:blip r:embed="rId7"/>
                          <a:stretch>
                            <a:fillRect l="-350" t="-350000" r="-268182" b="-204651"/>
                          </a:stretch>
                        </a:blipFill>
                      </a:tcPr>
                    </a:tc>
                    <a:tc>
                      <a:txBody>
                        <a:bodyPr/>
                        <a:lstStyle/>
                        <a:p>
                          <a:pPr algn="just">
                            <a:lnSpc>
                              <a:spcPct val="10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Determines the directional propagation of the fire front and controls anisotropic spread behavior.</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109213521"/>
                      </a:ext>
                    </a:extLst>
                  </a:tr>
                  <a:tr h="530520">
                    <a:tc>
                      <a:txBody>
                        <a:bodyPr/>
                        <a:lstStyle/>
                        <a:p>
                          <a:endParaRPr lang="tr-TR"/>
                        </a:p>
                      </a:txBody>
                      <a:tcPr marL="54048" marR="54048" marT="0" marB="0">
                        <a:blipFill>
                          <a:blip r:embed="rId7"/>
                          <a:stretch>
                            <a:fillRect l="-350" t="-444828" r="-268182" b="-102299"/>
                          </a:stretch>
                        </a:blipFill>
                      </a:tcPr>
                    </a:tc>
                    <a:tc>
                      <a:txBody>
                        <a:bodyPr/>
                        <a:lstStyle/>
                        <a:p>
                          <a:pPr algn="just">
                            <a:lnSpc>
                              <a:spcPct val="100000"/>
                            </a:lnSpc>
                          </a:pPr>
                          <a:r>
                            <a:rPr lang="en-US" sz="1200">
                              <a:effectLst/>
                            </a:rPr>
                            <a:t>m/s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Represents short-term wind fluctuations and stochastic acceleration in fire propagation.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2756361723"/>
                      </a:ext>
                    </a:extLst>
                  </a:tr>
                  <a:tr h="530241">
                    <a:tc>
                      <a:txBody>
                        <a:bodyPr/>
                        <a:lstStyle/>
                        <a:p>
                          <a:endParaRPr lang="tr-TR"/>
                        </a:p>
                      </a:txBody>
                      <a:tcPr marL="54048" marR="54048" marT="0" marB="0">
                        <a:blipFill>
                          <a:blip r:embed="rId7"/>
                          <a:stretch>
                            <a:fillRect l="-350" t="-544828" r="-268182" b="-2299"/>
                          </a:stretch>
                        </a:blipFill>
                      </a:tcPr>
                    </a:tc>
                    <a:tc>
                      <a:txBody>
                        <a:bodyPr/>
                        <a:lstStyle/>
                        <a:p>
                          <a:pPr algn="just">
                            <a:lnSpc>
                              <a:spcPct val="100000"/>
                            </a:lnSpc>
                          </a:pPr>
                          <a:r>
                            <a:rPr lang="en-US" sz="1200" dirty="0">
                              <a:effectLst/>
                            </a:rPr>
                            <a:t>mm/h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tc>
                      <a:txBody>
                        <a:bodyPr/>
                        <a:lstStyle/>
                        <a:p>
                          <a:pPr algn="just">
                            <a:lnSpc>
                              <a:spcPct val="100000"/>
                            </a:lnSpc>
                          </a:pPr>
                          <a:r>
                            <a:rPr lang="en-US" sz="1200" dirty="0">
                              <a:effectLst/>
                            </a:rPr>
                            <a:t>Increases fuel moisture and can suppress, delay, or weaken active combustion processes.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54048" marR="54048" marT="0" marB="0"/>
                    </a:tc>
                    <a:extLst>
                      <a:ext uri="{0D108BD9-81ED-4DB2-BD59-A6C34878D82A}">
                        <a16:rowId xmlns:a16="http://schemas.microsoft.com/office/drawing/2014/main" val="852586988"/>
                      </a:ext>
                    </a:extLst>
                  </a:tr>
                </a:tbl>
              </a:graphicData>
            </a:graphic>
          </p:graphicFrame>
        </mc:Fallback>
      </mc:AlternateContent>
      <p:sp>
        <p:nvSpPr>
          <p:cNvPr id="22" name="Text 2">
            <a:extLst>
              <a:ext uri="{FF2B5EF4-FFF2-40B4-BE49-F238E27FC236}">
                <a16:creationId xmlns:a16="http://schemas.microsoft.com/office/drawing/2014/main" id="{037FE2C0-2375-4850-8DCC-94A9998EA7D7}"/>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23" name="Text 3">
                <a:extLst>
                  <a:ext uri="{FF2B5EF4-FFF2-40B4-BE49-F238E27FC236}">
                    <a16:creationId xmlns:a16="http://schemas.microsoft.com/office/drawing/2014/main" id="{5B1E50FE-01B8-442F-BCE5-81A88341C6E2}"/>
                  </a:ext>
                </a:extLst>
              </p:cNvPr>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3" name="Text 3">
                <a:extLst>
                  <a:ext uri="{FF2B5EF4-FFF2-40B4-BE49-F238E27FC236}">
                    <a16:creationId xmlns:a16="http://schemas.microsoft.com/office/drawing/2014/main" id="{5B1E50FE-01B8-442F-BCE5-81A88341C6E2}"/>
                  </a:ext>
                </a:extLst>
              </p:cNvPr>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8"/>
                <a:stretch>
                  <a:fillRect/>
                </a:stretch>
              </a:blipFill>
              <a:ln/>
            </p:spPr>
            <p:txBody>
              <a:bodyPr/>
              <a:lstStyle/>
              <a:p>
                <a:r>
                  <a:rPr lang="tr-TR">
                    <a:noFill/>
                  </a:rPr>
                  <a:t/>
                </a:r>
              </a:p>
            </p:txBody>
          </p:sp>
        </mc:Fallback>
      </mc:AlternateContent>
      <p:sp>
        <p:nvSpPr>
          <p:cNvPr id="24" name="Text 4">
            <a:extLst>
              <a:ext uri="{FF2B5EF4-FFF2-40B4-BE49-F238E27FC236}">
                <a16:creationId xmlns:a16="http://schemas.microsoft.com/office/drawing/2014/main" id="{F29F60D6-6BCD-4B66-8A2C-A4AAC2A49899}"/>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b="1" i="1">
                                  <a:latin typeface="Cambria Math" panose="02040503050406030204" pitchFamily="18" charset="0"/>
                                </a:rPr>
                              </m:ctrlPr>
                            </m:sSubPr>
                            <m:e>
                              <m:r>
                                <a:rPr lang="en-US" sz="1500" b="1" i="1">
                                  <a:latin typeface="Cambria Math"/>
                                </a:rPr>
                                <m:t>𝐔</m:t>
                              </m:r>
                            </m:e>
                            <m:sub>
                              <m:r>
                                <a:rPr lang="en-US" sz="1500" b="1" i="1">
                                  <a:latin typeface="Cambria Math"/>
                                </a:rPr>
                                <m:t>𝐌𝐞𝐭𝐞𝐨</m:t>
                              </m:r>
                              <m:r>
                                <a:rPr lang="en-US" sz="1500" b="1">
                                  <a:latin typeface="Cambria Math"/>
                                </a:rPr>
                                <m:t>,</m:t>
                              </m:r>
                              <m:r>
                                <a:rPr lang="en-US" sz="1500" b="1" i="1">
                                  <a:latin typeface="Cambria Math"/>
                                </a:rPr>
                                <m:t>𝐤</m:t>
                              </m:r>
                            </m:sub>
                          </m:sSub>
                          <m:r>
                            <a:rPr lang="en-US" sz="1500" b="1">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a:latin typeface="Cambria Math"/>
                                    </a:rPr>
                                    <m:t>𝑈</m:t>
                                  </m:r>
                                </m:e>
                                <m:sub>
                                  <m:r>
                                    <a:rPr lang="en-US" sz="1500">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9"/>
                <a:stretch>
                  <a:fillRect/>
                </a:stretch>
              </a:blipFill>
              <a:ln/>
            </p:spPr>
            <p:txBody>
              <a:bodyPr/>
              <a:lstStyle/>
              <a:p>
                <a:r>
                  <a:rPr lang="tr-TR">
                    <a:noFill/>
                  </a:rPr>
                  <a:t/>
                </a:r>
              </a:p>
            </p:txBody>
          </p:sp>
        </mc:Fallback>
      </mc:AlternateContent>
      <p:sp>
        <p:nvSpPr>
          <p:cNvPr id="90001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12 / 113</a:t>
            </a:r>
          </a:p>
        </p:txBody>
      </p:sp>
    </p:spTree>
    <p:extLst>
      <p:ext uri="{BB962C8B-B14F-4D97-AF65-F5344CB8AC3E}">
        <p14:creationId xmlns:p14="http://schemas.microsoft.com/office/powerpoint/2010/main" val="612593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22" name="Text 2">
            <a:extLst>
              <a:ext uri="{FF2B5EF4-FFF2-40B4-BE49-F238E27FC236}">
                <a16:creationId xmlns:a16="http://schemas.microsoft.com/office/drawing/2014/main" id="{037FE2C0-2375-4850-8DCC-94A9998EA7D7}"/>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23" name="Text 3">
                <a:extLst>
                  <a:ext uri="{FF2B5EF4-FFF2-40B4-BE49-F238E27FC236}">
                    <a16:creationId xmlns:a16="http://schemas.microsoft.com/office/drawing/2014/main" id="{5B1E50FE-01B8-442F-BCE5-81A88341C6E2}"/>
                  </a:ext>
                </a:extLst>
              </p:cNvPr>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3" name="Text 3">
                <a:extLst>
                  <a:ext uri="{FF2B5EF4-FFF2-40B4-BE49-F238E27FC236}">
                    <a16:creationId xmlns:a16="http://schemas.microsoft.com/office/drawing/2014/main" id="{5B1E50FE-01B8-442F-BCE5-81A88341C6E2}"/>
                  </a:ext>
                </a:extLst>
              </p:cNvPr>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24" name="Text 4">
            <a:extLst>
              <a:ext uri="{FF2B5EF4-FFF2-40B4-BE49-F238E27FC236}">
                <a16:creationId xmlns:a16="http://schemas.microsoft.com/office/drawing/2014/main" id="{F29F60D6-6BCD-4B66-8A2C-A4AAC2A49899}"/>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b="1" i="1">
                                  <a:latin typeface="Cambria Math" panose="02040503050406030204" pitchFamily="18" charset="0"/>
                                </a:rPr>
                              </m:ctrlPr>
                            </m:sSubPr>
                            <m:e>
                              <m:r>
                                <a:rPr lang="en-US" sz="1500" b="1" i="1">
                                  <a:latin typeface="Cambria Math"/>
                                </a:rPr>
                                <m:t>𝐔</m:t>
                              </m:r>
                            </m:e>
                            <m:sub>
                              <m:r>
                                <a:rPr lang="en-US" sz="1500" b="1" i="1">
                                  <a:latin typeface="Cambria Math"/>
                                </a:rPr>
                                <m:t>𝐆𝐞𝐨</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a:latin typeface="Cambria Math"/>
                                    </a:rPr>
                                    <m:t>𝑈</m:t>
                                  </m:r>
                                </m:e>
                                <m:sub>
                                  <m:r>
                                    <a:rPr lang="en-US" sz="1500">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90514FD-7766-409A-A7BB-2C326833A16B}"/>
                  </a:ext>
                </a:extLst>
              </p:cNvPr>
              <p:cNvSpPr txBox="1"/>
              <p:nvPr/>
            </p:nvSpPr>
            <p:spPr>
              <a:xfrm>
                <a:off x="9832876" y="2275157"/>
                <a:ext cx="2359124" cy="102752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tr-TR" sz="1400" i="1" smtClean="0">
                              <a:solidFill>
                                <a:srgbClr val="836967"/>
                              </a:solidFill>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𝐺𝑒𝑜</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𝑒𝑙𝑒𝑣</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𝑠𝑙𝑜𝑝𝑒</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𝑎𝑠𝑝𝑒𝑐𝑡</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𝐺</m:t>
                                  </m:r>
                                </m:e>
                                <m:sub>
                                  <m:r>
                                    <a:rPr lang="tr-TR" sz="1400" i="1">
                                      <a:latin typeface="Cambria Math" panose="02040503050406030204" pitchFamily="18" charset="0"/>
                                    </a:rPr>
                                    <m:t>𝑎𝑐𝑐𝑒𝑠𝑠</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690514FD-7766-409A-A7BB-2C326833A16B}"/>
                  </a:ext>
                </a:extLst>
              </p:cNvPr>
              <p:cNvSpPr txBox="1">
                <a:spLocks noRot="1" noChangeAspect="1" noMove="1" noResize="1" noEditPoints="1" noAdjustHandles="1" noChangeArrowheads="1" noChangeShapeType="1" noTextEdit="1"/>
              </p:cNvSpPr>
              <p:nvPr/>
            </p:nvSpPr>
            <p:spPr>
              <a:xfrm>
                <a:off x="9832876" y="2275157"/>
                <a:ext cx="2359124" cy="1027525"/>
              </a:xfrm>
              <a:prstGeom prst="rect">
                <a:avLst/>
              </a:prstGeom>
              <a:blipFill>
                <a:blip r:embed="rId8"/>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FA827CB6-5411-4699-B4F5-2042A854EA53}"/>
                  </a:ext>
                </a:extLst>
              </p:cNvPr>
              <p:cNvGraphicFramePr>
                <a:graphicFrameLocks noGrp="1"/>
              </p:cNvGraphicFramePr>
              <p:nvPr>
                <p:extLst>
                  <p:ext uri="{D42A27DB-BD31-4B8C-83A1-F6EECF244321}">
                    <p14:modId xmlns:p14="http://schemas.microsoft.com/office/powerpoint/2010/main" val="2828553978"/>
                  </p:ext>
                </p:extLst>
              </p:nvPr>
            </p:nvGraphicFramePr>
            <p:xfrm>
              <a:off x="5715000" y="3400142"/>
              <a:ext cx="6381924" cy="3145475"/>
            </p:xfrm>
            <a:graphic>
              <a:graphicData uri="http://schemas.openxmlformats.org/drawingml/2006/table">
                <a:tbl>
                  <a:tblPr firstRow="1" firstCol="1" bandRow="1">
                    <a:tableStyleId>{93296810-A885-4BE3-A3E7-6D5BEEA58F35}</a:tableStyleId>
                  </a:tblPr>
                  <a:tblGrid>
                    <a:gridCol w="2125822">
                      <a:extLst>
                        <a:ext uri="{9D8B030D-6E8A-4147-A177-3AD203B41FA5}">
                          <a16:colId xmlns:a16="http://schemas.microsoft.com/office/drawing/2014/main" val="3735269856"/>
                        </a:ext>
                      </a:extLst>
                    </a:gridCol>
                    <a:gridCol w="472668">
                      <a:extLst>
                        <a:ext uri="{9D8B030D-6E8A-4147-A177-3AD203B41FA5}">
                          <a16:colId xmlns:a16="http://schemas.microsoft.com/office/drawing/2014/main" val="1379316844"/>
                        </a:ext>
                      </a:extLst>
                    </a:gridCol>
                    <a:gridCol w="3783434">
                      <a:extLst>
                        <a:ext uri="{9D8B030D-6E8A-4147-A177-3AD203B41FA5}">
                          <a16:colId xmlns:a16="http://schemas.microsoft.com/office/drawing/2014/main" val="927154715"/>
                        </a:ext>
                      </a:extLst>
                    </a:gridCol>
                  </a:tblGrid>
                  <a:tr h="240279">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48003628"/>
                      </a:ext>
                    </a:extLst>
                  </a:tr>
                  <a:tr h="778244">
                    <a:tc>
                      <a:txBody>
                        <a:bodyPr/>
                        <a:lstStyle/>
                        <a:p>
                          <a:pPr algn="just">
                            <a:lnSpc>
                              <a:spcPct val="150000"/>
                            </a:lnSpc>
                          </a:pPr>
                          <a:r>
                            <a:rPr lang="en-US" sz="1200" dirty="0">
                              <a:effectLst/>
                            </a:rPr>
                            <a:t>Elevation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a:effectLst/>
                                    </a:rPr>
                                    <m:t>elev</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Represents the altitude of each grid cell and influences local wind behavior, vegetation type distribution, and environment gradients.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26787796"/>
                      </a:ext>
                    </a:extLst>
                  </a:tr>
                  <a:tr h="776332">
                    <a:tc>
                      <a:txBody>
                        <a:bodyPr/>
                        <a:lstStyle/>
                        <a:p>
                          <a:pPr algn="just">
                            <a:lnSpc>
                              <a:spcPct val="150000"/>
                            </a:lnSpc>
                          </a:pPr>
                          <a:r>
                            <a:rPr lang="en-US" sz="1200" dirty="0">
                              <a:effectLst/>
                            </a:rPr>
                            <a:t>Slope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a:effectLst/>
                                    </a:rPr>
                                    <m:t>slope</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terrain inclination and increases fire spread rate in the uphill direction due to flame heat transfer effects.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6321300"/>
                      </a:ext>
                    </a:extLst>
                  </a:tr>
                  <a:tr h="778244">
                    <a:tc>
                      <a:txBody>
                        <a:bodyPr/>
                        <a:lstStyle/>
                        <a:p>
                          <a:pPr algn="just">
                            <a:lnSpc>
                              <a:spcPct val="150000"/>
                            </a:lnSpc>
                          </a:pPr>
                          <a:r>
                            <a:rPr lang="en-US" sz="1200" dirty="0">
                              <a:effectLst/>
                            </a:rPr>
                            <a:t>Aspect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a:effectLst/>
                                    </a:rPr>
                                    <m:t>aspect</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Represents slope orientation and influences solar radiation exposure, fuel drying patterns, and directional fire propagation.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06506710"/>
                      </a:ext>
                    </a:extLst>
                  </a:tr>
                  <a:tr h="509261">
                    <a:tc>
                      <a:txBody>
                        <a:bodyPr/>
                        <a:lstStyle/>
                        <a:p>
                          <a:pPr algn="just">
                            <a:lnSpc>
                              <a:spcPct val="150000"/>
                            </a:lnSpc>
                          </a:pPr>
                          <a:r>
                            <a:rPr lang="en-US" sz="1200" dirty="0">
                              <a:effectLst/>
                            </a:rPr>
                            <a:t>Accessibility</a:t>
                          </a:r>
                          <a:r>
                            <a:rPr lang="tr-TR" sz="1200" dirty="0">
                              <a:effectLst/>
                            </a:rPr>
                            <a:t>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𝑮</m:t>
                                  </m:r>
                                </m:e>
                                <m:sub>
                                  <m:r>
                                    <m:rPr>
                                      <m:nor/>
                                    </m:rPr>
                                    <a:rPr lang="en-US" sz="1200">
                                      <a:effectLst/>
                                    </a:rPr>
                                    <m:t>access</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terrain </a:t>
                          </a:r>
                          <a:r>
                            <a:rPr lang="en-US" sz="1200" dirty="0" err="1">
                              <a:effectLst/>
                            </a:rPr>
                            <a:t>traversability</a:t>
                          </a:r>
                          <a:r>
                            <a:rPr lang="en-US" sz="1200" dirty="0">
                              <a:effectLst/>
                            </a:rPr>
                            <a:t> and influences responder mobility, intervention timing, and operational feasibility.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159002224"/>
                      </a:ext>
                    </a:extLst>
                  </a:tr>
                </a:tbl>
              </a:graphicData>
            </a:graphic>
          </p:graphicFrame>
        </mc:Choice>
        <mc:Fallback xmlns="">
          <p:graphicFrame>
            <p:nvGraphicFramePr>
              <p:cNvPr id="15" name="Table 14">
                <a:extLst>
                  <a:ext uri="{FF2B5EF4-FFF2-40B4-BE49-F238E27FC236}">
                    <a16:creationId xmlns:a16="http://schemas.microsoft.com/office/drawing/2014/main" id="{FA827CB6-5411-4699-B4F5-2042A854EA53}"/>
                  </a:ext>
                </a:extLst>
              </p:cNvPr>
              <p:cNvGraphicFramePr>
                <a:graphicFrameLocks noGrp="1"/>
              </p:cNvGraphicFramePr>
              <p:nvPr>
                <p:extLst>
                  <p:ext uri="{D42A27DB-BD31-4B8C-83A1-F6EECF244321}">
                    <p14:modId xmlns:p14="http://schemas.microsoft.com/office/powerpoint/2010/main" val="2828553978"/>
                  </p:ext>
                </p:extLst>
              </p:nvPr>
            </p:nvGraphicFramePr>
            <p:xfrm>
              <a:off x="5715000" y="3400142"/>
              <a:ext cx="6381924" cy="3145475"/>
            </p:xfrm>
            <a:graphic>
              <a:graphicData uri="http://schemas.openxmlformats.org/drawingml/2006/table">
                <a:tbl>
                  <a:tblPr firstRow="1" firstCol="1" bandRow="1">
                    <a:tableStyleId>{93296810-A885-4BE3-A3E7-6D5BEEA58F35}</a:tableStyleId>
                  </a:tblPr>
                  <a:tblGrid>
                    <a:gridCol w="2125822">
                      <a:extLst>
                        <a:ext uri="{9D8B030D-6E8A-4147-A177-3AD203B41FA5}">
                          <a16:colId xmlns:a16="http://schemas.microsoft.com/office/drawing/2014/main" val="3735269856"/>
                        </a:ext>
                      </a:extLst>
                    </a:gridCol>
                    <a:gridCol w="472668">
                      <a:extLst>
                        <a:ext uri="{9D8B030D-6E8A-4147-A177-3AD203B41FA5}">
                          <a16:colId xmlns:a16="http://schemas.microsoft.com/office/drawing/2014/main" val="1379316844"/>
                        </a:ext>
                      </a:extLst>
                    </a:gridCol>
                    <a:gridCol w="3783434">
                      <a:extLst>
                        <a:ext uri="{9D8B030D-6E8A-4147-A177-3AD203B41FA5}">
                          <a16:colId xmlns:a16="http://schemas.microsoft.com/office/drawing/2014/main" val="927154715"/>
                        </a:ext>
                      </a:extLst>
                    </a:gridCol>
                  </a:tblGrid>
                  <a:tr h="245047">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48003628"/>
                      </a:ext>
                    </a:extLst>
                  </a:tr>
                  <a:tr h="793687">
                    <a:tc>
                      <a:txBody>
                        <a:bodyPr/>
                        <a:lstStyle/>
                        <a:p>
                          <a:endParaRPr lang="tr-TR"/>
                        </a:p>
                      </a:txBody>
                      <a:tcPr marL="68580" marR="68580" marT="0" marB="0">
                        <a:blipFill>
                          <a:blip r:embed="rId9"/>
                          <a:stretch>
                            <a:fillRect l="-287" t="-31298" r="-201433" b="-276336"/>
                          </a:stretch>
                        </a:blipFill>
                      </a:tcPr>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Represents the altitude of each grid cell and influences local wind behavior, vegetation type distribution, and environment gradients.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26787796"/>
                      </a:ext>
                    </a:extLst>
                  </a:tr>
                  <a:tr h="793687">
                    <a:tc>
                      <a:txBody>
                        <a:bodyPr/>
                        <a:lstStyle/>
                        <a:p>
                          <a:endParaRPr lang="tr-TR"/>
                        </a:p>
                      </a:txBody>
                      <a:tcPr marL="68580" marR="68580" marT="0" marB="0">
                        <a:blipFill>
                          <a:blip r:embed="rId9"/>
                          <a:stretch>
                            <a:fillRect l="-287" t="-132308" r="-201433" b="-178462"/>
                          </a:stretch>
                        </a:blipFill>
                      </a:tcPr>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terrain inclination and increases fire spread rate in the uphill direction due to flame heat transfer effects.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6321300"/>
                      </a:ext>
                    </a:extLst>
                  </a:tr>
                  <a:tr h="793687">
                    <a:tc>
                      <a:txBody>
                        <a:bodyPr/>
                        <a:lstStyle/>
                        <a:p>
                          <a:endParaRPr lang="tr-TR"/>
                        </a:p>
                      </a:txBody>
                      <a:tcPr marL="68580" marR="68580" marT="0" marB="0">
                        <a:blipFill>
                          <a:blip r:embed="rId9"/>
                          <a:stretch>
                            <a:fillRect l="-287" t="-230534" r="-201433" b="-77099"/>
                          </a:stretch>
                        </a:blipFill>
                      </a:tcPr>
                    </a:tc>
                    <a:tc>
                      <a:txBody>
                        <a:bodyPr/>
                        <a:lstStyle/>
                        <a:p>
                          <a:pPr algn="just">
                            <a:lnSpc>
                              <a:spcPct val="150000"/>
                            </a:lnSpc>
                          </a:pPr>
                          <a:r>
                            <a:rPr lang="en-US" sz="1200">
                              <a:effectLst/>
                            </a:rPr>
                            <a:t>rad</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Represents slope orientation and influences solar radiation exposure, fuel drying patterns, and directional fire propagation.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06506710"/>
                      </a:ext>
                    </a:extLst>
                  </a:tr>
                  <a:tr h="519367">
                    <a:tc>
                      <a:txBody>
                        <a:bodyPr/>
                        <a:lstStyle/>
                        <a:p>
                          <a:endParaRPr lang="tr-TR"/>
                        </a:p>
                      </a:txBody>
                      <a:tcPr marL="68580" marR="68580" marT="0" marB="0">
                        <a:blipFill>
                          <a:blip r:embed="rId9"/>
                          <a:stretch>
                            <a:fillRect l="-287" t="-509412" r="-201433" b="-18824"/>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terrain </a:t>
                          </a:r>
                          <a:r>
                            <a:rPr lang="en-US" sz="1200" dirty="0" err="1">
                              <a:effectLst/>
                            </a:rPr>
                            <a:t>traversability</a:t>
                          </a:r>
                          <a:r>
                            <a:rPr lang="en-US" sz="1200" dirty="0">
                              <a:effectLst/>
                            </a:rPr>
                            <a:t> and influences responder mobility, intervention timing, and operational feasibility.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159002224"/>
                      </a:ext>
                    </a:extLst>
                  </a:tr>
                </a:tbl>
              </a:graphicData>
            </a:graphic>
          </p:graphicFrame>
        </mc:Fallback>
      </mc:AlternateContent>
      <p:sp>
        <p:nvSpPr>
          <p:cNvPr id="90001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13 / 113</a:t>
            </a:r>
          </a:p>
        </p:txBody>
      </p:sp>
    </p:spTree>
    <p:extLst>
      <p:ext uri="{BB962C8B-B14F-4D97-AF65-F5344CB8AC3E}">
        <p14:creationId xmlns:p14="http://schemas.microsoft.com/office/powerpoint/2010/main" val="3519128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22" name="Text 2">
            <a:extLst>
              <a:ext uri="{FF2B5EF4-FFF2-40B4-BE49-F238E27FC236}">
                <a16:creationId xmlns:a16="http://schemas.microsoft.com/office/drawing/2014/main" id="{037FE2C0-2375-4850-8DCC-94A9998EA7D7}"/>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23" name="Text 3">
                <a:extLst>
                  <a:ext uri="{FF2B5EF4-FFF2-40B4-BE49-F238E27FC236}">
                    <a16:creationId xmlns:a16="http://schemas.microsoft.com/office/drawing/2014/main" id="{5B1E50FE-01B8-442F-BCE5-81A88341C6E2}"/>
                  </a:ext>
                </a:extLst>
              </p:cNvPr>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3" name="Text 3">
                <a:extLst>
                  <a:ext uri="{FF2B5EF4-FFF2-40B4-BE49-F238E27FC236}">
                    <a16:creationId xmlns:a16="http://schemas.microsoft.com/office/drawing/2014/main" id="{5B1E50FE-01B8-442F-BCE5-81A88341C6E2}"/>
                  </a:ext>
                </a:extLst>
              </p:cNvPr>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24" name="Text 4">
            <a:extLst>
              <a:ext uri="{FF2B5EF4-FFF2-40B4-BE49-F238E27FC236}">
                <a16:creationId xmlns:a16="http://schemas.microsoft.com/office/drawing/2014/main" id="{F29F60D6-6BCD-4B66-8A2C-A4AAC2A49899}"/>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b="1" i="1" smtClean="0">
                                      <a:latin typeface="Cambria Math" panose="02040503050406030204" pitchFamily="18" charset="0"/>
                                    </a:rPr>
                                  </m:ctrlPr>
                                </m:sSubPr>
                                <m:e>
                                  <m:r>
                                    <a:rPr lang="en-US" sz="1500" b="1" i="1">
                                      <a:latin typeface="Cambria Math"/>
                                    </a:rPr>
                                    <m:t>𝐔</m:t>
                                  </m:r>
                                </m:e>
                                <m:sub>
                                  <m:r>
                                    <a:rPr lang="en-US" sz="1500" b="1" i="1">
                                      <a:latin typeface="Cambria Math"/>
                                    </a:rPr>
                                    <m:t>𝐅𝐮𝐞𝐥</m:t>
                                  </m:r>
                                  <m:r>
                                    <m:rPr>
                                      <m:nor/>
                                    </m:rPr>
                                    <a:rPr lang="en-US" sz="1500" b="1">
                                      <a:latin typeface="Cambria Math"/>
                                    </a:rPr>
                                    <m:t>,</m:t>
                                  </m:r>
                                  <m:r>
                                    <a:rPr lang="tr-TR" sz="1500" b="1" i="1" smtClean="0">
                                      <a:latin typeface="Cambria Math" panose="02040503050406030204" pitchFamily="18" charset="0"/>
                                    </a:rPr>
                                    <m:t>𝒌</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F9D6F77-615C-4A8A-A54F-23A7ACD21395}"/>
                  </a:ext>
                </a:extLst>
              </p:cNvPr>
              <p:cNvSpPr txBox="1"/>
              <p:nvPr/>
            </p:nvSpPr>
            <p:spPr>
              <a:xfrm>
                <a:off x="9558198" y="2384770"/>
                <a:ext cx="2792627"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tr-TR" sz="1400" i="1" smtClean="0">
                              <a:effectLst/>
                              <a:latin typeface="Cambria Math" panose="02040503050406030204" pitchFamily="18"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𝑈</m:t>
                          </m:r>
                        </m:e>
                        <m:sub>
                          <m:r>
                            <a:rPr lang="en-US" sz="1400" i="1">
                              <a:effectLst/>
                              <a:latin typeface="Cambria Math" panose="02040503050406030204" pitchFamily="18" charset="0"/>
                              <a:ea typeface="Calibri" panose="020F0502020204030204" pitchFamily="34" charset="0"/>
                              <a:cs typeface="Arial" panose="020B0604020202020204" pitchFamily="34" charset="0"/>
                            </a:rPr>
                            <m:t>𝐹𝑢𝑒𝑙</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𝑘</m:t>
                          </m:r>
                        </m:sub>
                      </m:sSub>
                      <m:d>
                        <m:dPr>
                          <m:ctrlPr>
                            <a:rPr lang="tr-TR" sz="1400" i="1">
                              <a:effectLst/>
                              <a:latin typeface="Cambria Math" panose="02040503050406030204" pitchFamily="18"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r>
                        <a:rPr lang="en-US" sz="1400" i="1">
                          <a:effectLst/>
                          <a:latin typeface="Cambria Math" panose="02040503050406030204" pitchFamily="18" charset="0"/>
                          <a:ea typeface="Calibri" panose="020F0502020204030204" pitchFamily="34" charset="0"/>
                          <a:cs typeface="Arial" panose="020B0604020202020204" pitchFamily="34" charset="0"/>
                        </a:rPr>
                        <m:t>=</m:t>
                      </m:r>
                      <m:d>
                        <m:dPr>
                          <m:begChr m:val="["/>
                          <m:endChr m:val="]"/>
                          <m:ctrlPr>
                            <a:rPr lang="tr-TR" sz="1400" i="1">
                              <a:effectLst/>
                              <a:latin typeface="Cambria Math" panose="02040503050406030204" pitchFamily="18" charset="0"/>
                            </a:rPr>
                          </m:ctrlPr>
                        </m:dPr>
                        <m:e>
                          <m:eqArr>
                            <m:eqArrPr>
                              <m:ctrlPr>
                                <a:rPr lang="tr-TR" sz="1400" i="1">
                                  <a:effectLst/>
                                  <a:latin typeface="Cambria Math" panose="02040503050406030204" pitchFamily="18" charset="0"/>
                                </a:rPr>
                              </m:ctrlPr>
                            </m:eqArrPr>
                            <m:e>
                              <m:sSub>
                                <m:sSubPr>
                                  <m:ctrlPr>
                                    <a:rPr lang="tr-TR" sz="1400" i="1">
                                      <a:effectLst/>
                                      <a:latin typeface="Cambria Math" panose="02040503050406030204" pitchFamily="18"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type</m:t>
                                  </m:r>
                                </m:sub>
                              </m:sSub>
                              <m:d>
                                <m:dPr>
                                  <m:ctrlPr>
                                    <a:rPr lang="tr-TR" sz="1400" i="1">
                                      <a:effectLst/>
                                      <a:latin typeface="Cambria Math" panose="02040503050406030204" pitchFamily="18"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
                              <m:r>
                                <a:rPr lang="en-US" sz="1400" i="1">
                                  <a:effectLst/>
                                  <a:latin typeface="Cambria Math" panose="02040503050406030204" pitchFamily="18" charset="0"/>
                                  <a:ea typeface="Calibri" panose="020F0502020204030204" pitchFamily="34" charset="0"/>
                                  <a:cs typeface="Arial" panose="020B0604020202020204" pitchFamily="34" charset="0"/>
                                </a:rPr>
                                <m:t> </m:t>
                              </m:r>
                              <m:sSub>
                                <m:sSubPr>
                                  <m:ctrlPr>
                                    <a:rPr lang="tr-TR" sz="1400" i="1">
                                      <a:effectLst/>
                                      <a:latin typeface="Cambria Math" panose="02040503050406030204" pitchFamily="18"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a:rPr lang="en-US" sz="1400" i="1">
                                      <a:effectLst/>
                                      <a:latin typeface="Cambria Math" panose="02040503050406030204" pitchFamily="18" charset="0"/>
                                      <a:ea typeface="Calibri" panose="020F0502020204030204" pitchFamily="34" charset="0"/>
                                      <a:cs typeface="Arial" panose="020B0604020202020204" pitchFamily="34" charset="0"/>
                                    </a:rPr>
                                    <m:t>𝑙𝑜𝑎𝑑</m:t>
                                  </m:r>
                                  <m:r>
                                    <a:rPr lang="en-US" sz="1400" i="1">
                                      <a:effectLst/>
                                      <a:latin typeface="Cambria Math" panose="02040503050406030204" pitchFamily="18" charset="0"/>
                                      <a:ea typeface="Calibri" panose="020F0502020204030204" pitchFamily="34" charset="0"/>
                                      <a:cs typeface="Arial" panose="020B0604020202020204" pitchFamily="34" charset="0"/>
                                    </a:rPr>
                                    <m:t>,0</m:t>
                                  </m:r>
                                </m:sub>
                              </m:sSub>
                              <m:d>
                                <m:dPr>
                                  <m:ctrlPr>
                                    <a:rPr lang="tr-TR" sz="1400" i="1">
                                      <a:effectLst/>
                                      <a:latin typeface="Cambria Math" panose="02040503050406030204" pitchFamily="18"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
                              <m:sSub>
                                <m:sSubPr>
                                  <m:ctrlPr>
                                    <a:rPr lang="tr-TR" sz="1400" i="1">
                                      <a:effectLst/>
                                      <a:latin typeface="Cambria Math" panose="02040503050406030204" pitchFamily="18" charset="0"/>
                                    </a:rPr>
                                  </m:ctrlPr>
                                </m:sSubPr>
                                <m:e>
                                  <m:r>
                                    <a:rPr lang="en-US" sz="1400" i="1">
                                      <a:effectLst/>
                                      <a:latin typeface="Cambria Math" panose="02040503050406030204" pitchFamily="18" charset="0"/>
                                      <a:ea typeface="Calibri" panose="020F0502020204030204" pitchFamily="34" charset="0"/>
                                      <a:cs typeface="Arial" panose="020B0604020202020204" pitchFamily="34" charset="0"/>
                                    </a:rPr>
                                    <m:t>𝐹</m:t>
                                  </m:r>
                                </m:e>
                                <m:sub>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moist</m:t>
                                  </m:r>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m:t>
                                  </m:r>
                                  <m:r>
                                    <m:rPr>
                                      <m:nor/>
                                    </m:rPr>
                                    <a:rPr lang="en-US" sz="1400" i="1">
                                      <a:effectLst/>
                                      <a:latin typeface="Times New Roman" panose="02020603050405020304" pitchFamily="18" charset="0"/>
                                      <a:ea typeface="Calibri" panose="020F0502020204030204" pitchFamily="34" charset="0"/>
                                      <a:cs typeface="Arial" panose="020B0604020202020204" pitchFamily="34" charset="0"/>
                                    </a:rPr>
                                    <m:t>k</m:t>
                                  </m:r>
                                </m:sub>
                              </m:sSub>
                              <m:d>
                                <m:dPr>
                                  <m:ctrlPr>
                                    <a:rPr lang="tr-TR" sz="1400" i="1">
                                      <a:effectLst/>
                                      <a:latin typeface="Cambria Math" panose="02040503050406030204" pitchFamily="18" charset="0"/>
                                    </a:rPr>
                                  </m:ctrlPr>
                                </m:dPr>
                                <m:e>
                                  <m:r>
                                    <a:rPr lang="en-US" sz="1400" i="1">
                                      <a:effectLst/>
                                      <a:latin typeface="Cambria Math" panose="02040503050406030204" pitchFamily="18" charset="0"/>
                                      <a:ea typeface="Calibri" panose="020F0502020204030204" pitchFamily="34" charset="0"/>
                                      <a:cs typeface="Arial" panose="020B0604020202020204" pitchFamily="34" charset="0"/>
                                    </a:rPr>
                                    <m:t>𝑥</m:t>
                                  </m:r>
                                  <m:r>
                                    <a:rPr lang="en-US" sz="1400" i="1">
                                      <a:effectLst/>
                                      <a:latin typeface="Cambria Math" panose="02040503050406030204" pitchFamily="18" charset="0"/>
                                      <a:ea typeface="Calibri" panose="020F0502020204030204" pitchFamily="34" charset="0"/>
                                      <a:cs typeface="Arial" panose="020B0604020202020204" pitchFamily="34" charset="0"/>
                                    </a:rPr>
                                    <m:t>,</m:t>
                                  </m:r>
                                  <m:r>
                                    <a:rPr lang="en-US" sz="1400" i="1">
                                      <a:effectLst/>
                                      <a:latin typeface="Cambria Math" panose="02040503050406030204" pitchFamily="18" charset="0"/>
                                      <a:ea typeface="Calibri" panose="020F0502020204030204" pitchFamily="34" charset="0"/>
                                      <a:cs typeface="Arial" panose="020B0604020202020204" pitchFamily="34" charset="0"/>
                                    </a:rPr>
                                    <m:t>𝑦</m:t>
                                  </m:r>
                                </m:e>
                              </m:d>
                            </m:e>
                          </m:eqArr>
                        </m:e>
                      </m:d>
                    </m:oMath>
                  </m:oMathPara>
                </a14:m>
                <a:endParaRPr lang="tr-TR" sz="1400" dirty="0"/>
              </a:p>
            </p:txBody>
          </p:sp>
        </mc:Choice>
        <mc:Fallback xmlns="">
          <p:sp>
            <p:nvSpPr>
              <p:cNvPr id="16" name="TextBox 15">
                <a:extLst>
                  <a:ext uri="{FF2B5EF4-FFF2-40B4-BE49-F238E27FC236}">
                    <a16:creationId xmlns:a16="http://schemas.microsoft.com/office/drawing/2014/main" id="{1F9D6F77-615C-4A8A-A54F-23A7ACD21395}"/>
                  </a:ext>
                </a:extLst>
              </p:cNvPr>
              <p:cNvSpPr txBox="1">
                <a:spLocks noRot="1" noChangeAspect="1" noMove="1" noResize="1" noEditPoints="1" noAdjustHandles="1" noChangeArrowheads="1" noChangeShapeType="1" noTextEdit="1"/>
              </p:cNvSpPr>
              <p:nvPr/>
            </p:nvSpPr>
            <p:spPr>
              <a:xfrm>
                <a:off x="9558198" y="2384770"/>
                <a:ext cx="2792627" cy="886012"/>
              </a:xfrm>
              <a:prstGeom prst="rect">
                <a:avLst/>
              </a:prstGeom>
              <a:blipFill>
                <a:blip r:embed="rId8"/>
                <a:stretch>
                  <a:fillRect/>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883170748"/>
                  </p:ext>
                </p:extLst>
              </p:nvPr>
            </p:nvGraphicFramePr>
            <p:xfrm>
              <a:off x="5715000" y="3400142"/>
              <a:ext cx="6381922" cy="2351788"/>
            </p:xfrm>
            <a:graphic>
              <a:graphicData uri="http://schemas.openxmlformats.org/drawingml/2006/table">
                <a:tbl>
                  <a:tblPr firstRow="1" firstCol="1" bandRow="1">
                    <a:tableStyleId>{93296810-A885-4BE3-A3E7-6D5BEEA58F35}</a:tableStyleId>
                  </a:tblPr>
                  <a:tblGrid>
                    <a:gridCol w="2018420">
                      <a:extLst>
                        <a:ext uri="{9D8B030D-6E8A-4147-A177-3AD203B41FA5}">
                          <a16:colId xmlns:a16="http://schemas.microsoft.com/office/drawing/2014/main" val="3500361675"/>
                        </a:ext>
                      </a:extLst>
                    </a:gridCol>
                    <a:gridCol w="925665">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0">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80016955"/>
                      </a:ext>
                    </a:extLst>
                  </a:tr>
                  <a:tr h="0">
                    <a:tc>
                      <a:txBody>
                        <a:bodyPr/>
                        <a:lstStyle/>
                        <a:p>
                          <a:pPr algn="just">
                            <a:lnSpc>
                              <a:spcPct val="150000"/>
                            </a:lnSpc>
                          </a:pPr>
                          <a:r>
                            <a:rPr lang="en-US" sz="1200" dirty="0">
                              <a:effectLst/>
                            </a:rPr>
                            <a:t>Fuel Type</a:t>
                          </a:r>
                          <a:r>
                            <a:rPr lang="tr-TR" sz="1200" dirty="0">
                              <a:effectLst/>
                            </a:rPr>
                            <a:t> </a:t>
                          </a:r>
                          <a:r>
                            <a:rPr lang="en-US" sz="1200" dirty="0">
                              <a:effectLst/>
                            </a:rPr>
                            <a:t>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a:effectLst/>
                                    </a:rPr>
                                    <m:t>type</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Defines the vegetation within each grid cell and determines combustion characteristics such as burn rate and heat release behavior.</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81984423"/>
                      </a:ext>
                    </a:extLst>
                  </a:tr>
                  <a:tr h="0">
                    <a:tc>
                      <a:txBody>
                        <a:bodyPr/>
                        <a:lstStyle/>
                        <a:p>
                          <a:pPr algn="just">
                            <a:lnSpc>
                              <a:spcPct val="150000"/>
                            </a:lnSpc>
                          </a:pPr>
                          <a:r>
                            <a:rPr lang="en-US" sz="1200" dirty="0">
                              <a:effectLst/>
                            </a:rPr>
                            <a:t>Fuel Load</a:t>
                          </a:r>
                          <a:r>
                            <a:rPr lang="tr-TR" sz="1200" dirty="0">
                              <a:effectLst/>
                            </a:rPr>
                            <a:t> </a:t>
                          </a:r>
                          <a:r>
                            <a:rPr lang="en-US" sz="1200" dirty="0">
                              <a:effectLst/>
                            </a:rPr>
                            <a:t>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a:effectLst/>
                                    </a:rPr>
                                    <m:t>load</m:t>
                                  </m:r>
                                  <m:r>
                                    <m:rPr>
                                      <m:nor/>
                                    </m:rPr>
                                    <a:rPr lang="en-US" sz="1200">
                                      <a:effectLst/>
                                    </a:rPr>
                                    <m:t>,0</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[0,1]</a:t>
                          </a:r>
                          <a14:m>
                            <m:oMath xmlns:m="http://schemas.openxmlformats.org/officeDocument/2006/math">
                              <m:r>
                                <a:rPr lang="en-US" sz="1200">
                                  <a:effectLst/>
                                  <a:latin typeface="Cambria Math" panose="02040503050406030204" pitchFamily="18" charset="0"/>
                                </a:rPr>
                                <m:t> </m:t>
                              </m:r>
                              <m:f>
                                <m:fPr>
                                  <m:ctrlPr>
                                    <a:rPr lang="tr-TR" sz="1200" i="1">
                                      <a:effectLst/>
                                      <a:latin typeface="Cambria Math" panose="02040503050406030204" pitchFamily="18" charset="0"/>
                                    </a:rPr>
                                  </m:ctrlPr>
                                </m:fPr>
                                <m:num>
                                  <m:r>
                                    <a:rPr lang="en-US" sz="1200">
                                      <a:effectLst/>
                                      <a:latin typeface="Cambria Math" panose="02040503050406030204" pitchFamily="18" charset="0"/>
                                    </a:rPr>
                                    <m:t>𝑘𝑔</m:t>
                                  </m:r>
                                </m:num>
                                <m:den>
                                  <m:sSup>
                                    <m:sSupPr>
                                      <m:ctrlPr>
                                        <a:rPr lang="tr-TR" sz="1200" i="1">
                                          <a:effectLst/>
                                          <a:latin typeface="Cambria Math" panose="02040503050406030204" pitchFamily="18" charset="0"/>
                                        </a:rPr>
                                      </m:ctrlPr>
                                    </m:sSupPr>
                                    <m:e>
                                      <m:r>
                                        <a:rPr lang="en-US" sz="1200">
                                          <a:effectLst/>
                                          <a:latin typeface="Cambria Math" panose="02040503050406030204" pitchFamily="18" charset="0"/>
                                        </a:rPr>
                                        <m:t>𝑚</m:t>
                                      </m:r>
                                    </m:e>
                                    <m:sup>
                                      <m:r>
                                        <a:rPr lang="en-US" sz="1200">
                                          <a:effectLst/>
                                          <a:latin typeface="Cambria Math" panose="02040503050406030204" pitchFamily="18" charset="0"/>
                                        </a:rPr>
                                        <m:t>2</m:t>
                                      </m:r>
                                    </m:sup>
                                  </m:sSup>
                                </m:den>
                              </m:f>
                            </m:oMath>
                          </a14:m>
                          <a:r>
                            <a:rPr lang="en-US" sz="1200">
                              <a:effectLst/>
                            </a:rPr>
                            <a:t> (norm.)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Represents the available combustible mass in each grid cell and directly controls fire intensity, burn duration, and energy release.</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02531926"/>
                      </a:ext>
                    </a:extLst>
                  </a:tr>
                  <a:tr h="0">
                    <a:tc>
                      <a:txBody>
                        <a:bodyPr/>
                        <a:lstStyle/>
                        <a:p>
                          <a:pPr algn="just">
                            <a:lnSpc>
                              <a:spcPct val="150000"/>
                            </a:lnSpc>
                          </a:pPr>
                          <a:r>
                            <a:rPr lang="en-US" sz="1200" dirty="0">
                              <a:effectLst/>
                            </a:rPr>
                            <a:t>Fuel Moisture</a:t>
                          </a:r>
                          <a:r>
                            <a:rPr lang="tr-TR" sz="1200" dirty="0">
                              <a:effectLst/>
                            </a:rPr>
                            <a:t> </a:t>
                          </a:r>
                          <a14:m>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𝑭</m:t>
                                  </m:r>
                                </m:e>
                                <m:sub>
                                  <m:r>
                                    <m:rPr>
                                      <m:nor/>
                                    </m:rPr>
                                    <a:rPr lang="en-US" sz="1200">
                                      <a:effectLst/>
                                    </a:rPr>
                                    <m:t>moist</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 (mass fraction)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moisture of surface fuels and determines ignition probability and combustion sustainability.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73764920"/>
                      </a:ext>
                    </a:extLst>
                  </a:tr>
                </a:tbl>
              </a:graphicData>
            </a:graphic>
          </p:graphicFrame>
        </mc:Choice>
        <mc:Fallback xmlns="">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3883170748"/>
                  </p:ext>
                </p:extLst>
              </p:nvPr>
            </p:nvGraphicFramePr>
            <p:xfrm>
              <a:off x="5715000" y="3400142"/>
              <a:ext cx="6381922" cy="2351788"/>
            </p:xfrm>
            <a:graphic>
              <a:graphicData uri="http://schemas.openxmlformats.org/drawingml/2006/table">
                <a:tbl>
                  <a:tblPr firstRow="1" firstCol="1" bandRow="1">
                    <a:tableStyleId>{93296810-A885-4BE3-A3E7-6D5BEEA58F35}</a:tableStyleId>
                  </a:tblPr>
                  <a:tblGrid>
                    <a:gridCol w="2018420">
                      <a:extLst>
                        <a:ext uri="{9D8B030D-6E8A-4147-A177-3AD203B41FA5}">
                          <a16:colId xmlns:a16="http://schemas.microsoft.com/office/drawing/2014/main" val="3500361675"/>
                        </a:ext>
                      </a:extLst>
                    </a:gridCol>
                    <a:gridCol w="925665">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245047">
                    <a:tc>
                      <a:txBody>
                        <a:bodyPr/>
                        <a:lstStyle/>
                        <a:p>
                          <a:pPr algn="just">
                            <a:lnSpc>
                              <a:spcPct val="150000"/>
                            </a:lnSpc>
                          </a:pPr>
                          <a:r>
                            <a:rPr lang="en-US" sz="1200">
                              <a:effectLst/>
                            </a:rPr>
                            <a:t>Parameter </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80016955"/>
                      </a:ext>
                    </a:extLst>
                  </a:tr>
                  <a:tr h="793687">
                    <a:tc>
                      <a:txBody>
                        <a:bodyPr/>
                        <a:lstStyle/>
                        <a:p>
                          <a:endParaRPr lang="tr-TR"/>
                        </a:p>
                      </a:txBody>
                      <a:tcPr marL="68580" marR="68580" marT="0" marB="0">
                        <a:blipFill>
                          <a:blip r:embed="rId9"/>
                          <a:stretch>
                            <a:fillRect l="-302" t="-31298" r="-217825" b="-177099"/>
                          </a:stretch>
                        </a:blipFill>
                      </a:tcPr>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a:effectLst/>
                            </a:rPr>
                            <a:t>Defines the vegetation within each grid cell and determines combustion characteristics such as burn rate and heat release behavior.</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81984423"/>
                      </a:ext>
                    </a:extLst>
                  </a:tr>
                  <a:tr h="793687">
                    <a:tc>
                      <a:txBody>
                        <a:bodyPr/>
                        <a:lstStyle/>
                        <a:p>
                          <a:endParaRPr lang="tr-TR"/>
                        </a:p>
                      </a:txBody>
                      <a:tcPr marL="68580" marR="68580" marT="0" marB="0">
                        <a:blipFill>
                          <a:blip r:embed="rId9"/>
                          <a:stretch>
                            <a:fillRect l="-302" t="-131298" r="-217825" b="-77099"/>
                          </a:stretch>
                        </a:blipFill>
                      </a:tcPr>
                    </a:tc>
                    <a:tc>
                      <a:txBody>
                        <a:bodyPr/>
                        <a:lstStyle/>
                        <a:p>
                          <a:endParaRPr lang="tr-TR"/>
                        </a:p>
                      </a:txBody>
                      <a:tcPr marL="68580" marR="68580" marT="0" marB="0">
                        <a:blipFill>
                          <a:blip r:embed="rId9"/>
                          <a:stretch>
                            <a:fillRect l="-218421" t="-131298" r="-374342" b="-77099"/>
                          </a:stretch>
                        </a:blipFill>
                      </a:tcPr>
                    </a:tc>
                    <a:tc>
                      <a:txBody>
                        <a:bodyPr/>
                        <a:lstStyle/>
                        <a:p>
                          <a:pPr algn="just">
                            <a:lnSpc>
                              <a:spcPct val="150000"/>
                            </a:lnSpc>
                          </a:pPr>
                          <a:r>
                            <a:rPr lang="en-US" sz="1200">
                              <a:effectLst/>
                            </a:rPr>
                            <a:t>Represents the available combustible mass in each grid cell and directly controls fire intensity, burn duration, and energy release.</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02531926"/>
                      </a:ext>
                    </a:extLst>
                  </a:tr>
                  <a:tr h="519367">
                    <a:tc>
                      <a:txBody>
                        <a:bodyPr/>
                        <a:lstStyle/>
                        <a:p>
                          <a:endParaRPr lang="tr-TR"/>
                        </a:p>
                      </a:txBody>
                      <a:tcPr marL="68580" marR="68580" marT="0" marB="0">
                        <a:blipFill>
                          <a:blip r:embed="rId9"/>
                          <a:stretch>
                            <a:fillRect l="-302" t="-356471" r="-217825" b="-18824"/>
                          </a:stretch>
                        </a:blipFill>
                      </a:tcPr>
                    </a:tc>
                    <a:tc>
                      <a:txBody>
                        <a:bodyPr/>
                        <a:lstStyle/>
                        <a:p>
                          <a:pPr algn="just">
                            <a:lnSpc>
                              <a:spcPct val="150000"/>
                            </a:lnSpc>
                          </a:pPr>
                          <a:r>
                            <a:rPr lang="en-US" sz="1200" dirty="0">
                              <a:effectLst/>
                            </a:rPr>
                            <a:t>– (mass fraction)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200" dirty="0">
                              <a:effectLst/>
                            </a:rPr>
                            <a:t>Represents moisture of surface fuels and determines ignition probability and combustion sustainability.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73764920"/>
                      </a:ext>
                    </a:extLst>
                  </a:tr>
                </a:tbl>
              </a:graphicData>
            </a:graphic>
          </p:graphicFrame>
        </mc:Fallback>
      </mc:AlternateContent>
      <p:sp>
        <p:nvSpPr>
          <p:cNvPr id="90001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14 / 113</a:t>
            </a:r>
          </a:p>
        </p:txBody>
      </p:sp>
    </p:spTree>
    <p:extLst>
      <p:ext uri="{BB962C8B-B14F-4D97-AF65-F5344CB8AC3E}">
        <p14:creationId xmlns:p14="http://schemas.microsoft.com/office/powerpoint/2010/main" val="361192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22" name="Text 2">
            <a:extLst>
              <a:ext uri="{FF2B5EF4-FFF2-40B4-BE49-F238E27FC236}">
                <a16:creationId xmlns:a16="http://schemas.microsoft.com/office/drawing/2014/main" id="{037FE2C0-2375-4850-8DCC-94A9998EA7D7}"/>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23" name="Text 3">
                <a:extLst>
                  <a:ext uri="{FF2B5EF4-FFF2-40B4-BE49-F238E27FC236}">
                    <a16:creationId xmlns:a16="http://schemas.microsoft.com/office/drawing/2014/main" id="{5B1E50FE-01B8-442F-BCE5-81A88341C6E2}"/>
                  </a:ext>
                </a:extLst>
              </p:cNvPr>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3" name="Text 3">
                <a:extLst>
                  <a:ext uri="{FF2B5EF4-FFF2-40B4-BE49-F238E27FC236}">
                    <a16:creationId xmlns:a16="http://schemas.microsoft.com/office/drawing/2014/main" id="{5B1E50FE-01B8-442F-BCE5-81A88341C6E2}"/>
                  </a:ext>
                </a:extLst>
              </p:cNvPr>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24" name="Text 4">
            <a:extLst>
              <a:ext uri="{FF2B5EF4-FFF2-40B4-BE49-F238E27FC236}">
                <a16:creationId xmlns:a16="http://schemas.microsoft.com/office/drawing/2014/main" id="{F29F60D6-6BCD-4B66-8A2C-A4AAC2A49899}"/>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b="0" i="1">
                                      <a:latin typeface="Cambria Math"/>
                                    </a:rPr>
                                    <m:t>𝑈</m:t>
                                  </m:r>
                                </m:e>
                                <m:sub>
                                  <m:r>
                                    <a:rPr lang="en-US" sz="1500" b="0" i="1">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b="1" i="1">
                                      <a:latin typeface="Cambria Math" panose="02040503050406030204" pitchFamily="18" charset="0"/>
                                    </a:rPr>
                                  </m:ctrlPr>
                                </m:sSubPr>
                                <m:e>
                                  <m:r>
                                    <a:rPr lang="en-US" sz="1500" b="1" i="1">
                                      <a:latin typeface="Cambria Math"/>
                                    </a:rPr>
                                    <m:t>𝐔</m:t>
                                  </m:r>
                                </m:e>
                                <m:sub>
                                  <m:r>
                                    <a:rPr lang="en-US" sz="1500" b="1" i="1">
                                      <a:latin typeface="Cambria Math"/>
                                    </a:rPr>
                                    <m:t>𝐈𝐠𝐧</m:t>
                                  </m:r>
                                  <m:r>
                                    <a:rPr lang="en-US" sz="1500" b="1">
                                      <a:latin typeface="Cambria Math"/>
                                    </a:rPr>
                                    <m:t>,</m:t>
                                  </m:r>
                                  <m:r>
                                    <a:rPr lang="en-US" sz="1500" b="1" i="1">
                                      <a:latin typeface="Cambria Math"/>
                                    </a:rPr>
                                    <m:t>𝐤</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2064F4D-04F1-4A12-9804-1BB645F52292}"/>
                  </a:ext>
                </a:extLst>
              </p:cNvPr>
              <p:cNvSpPr txBox="1"/>
              <p:nvPr/>
            </p:nvSpPr>
            <p:spPr>
              <a:xfrm>
                <a:off x="9646920" y="2684085"/>
                <a:ext cx="2339546" cy="3306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tr-TR" sz="1400" i="1" smtClean="0">
                              <a:solidFill>
                                <a:srgbClr val="836967"/>
                              </a:solidFill>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𝐼𝑔𝑛</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𝐼</m:t>
                                  </m:r>
                                </m:e>
                                <m:sub>
                                  <m:r>
                                    <a:rPr lang="tr-TR" sz="1400" i="1">
                                      <a:latin typeface="Cambria Math" panose="02040503050406030204" pitchFamily="18" charset="0"/>
                                    </a:rPr>
                                    <m:t>𝐼𝑔𝑛</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62064F4D-04F1-4A12-9804-1BB645F52292}"/>
                  </a:ext>
                </a:extLst>
              </p:cNvPr>
              <p:cNvSpPr txBox="1">
                <a:spLocks noRot="1" noChangeAspect="1" noMove="1" noResize="1" noEditPoints="1" noAdjustHandles="1" noChangeArrowheads="1" noChangeShapeType="1" noTextEdit="1"/>
              </p:cNvSpPr>
              <p:nvPr/>
            </p:nvSpPr>
            <p:spPr>
              <a:xfrm>
                <a:off x="9646920" y="2684085"/>
                <a:ext cx="2339546" cy="330603"/>
              </a:xfrm>
              <a:prstGeom prst="rect">
                <a:avLst/>
              </a:prstGeom>
              <a:blipFill>
                <a:blip r:embed="rId8"/>
                <a:stretch>
                  <a:fillRect b="-1818"/>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790E5A2-0504-43F5-AFFA-BAD737CAA648}"/>
                  </a:ext>
                </a:extLst>
              </p:cNvPr>
              <p:cNvSpPr txBox="1"/>
              <p:nvPr/>
            </p:nvSpPr>
            <p:spPr>
              <a:xfrm>
                <a:off x="6533429" y="3863744"/>
                <a:ext cx="5453037" cy="325282"/>
              </a:xfrm>
              <a:prstGeom prst="rect">
                <a:avLst/>
              </a:prstGeom>
              <a:noFill/>
            </p:spPr>
            <p:txBody>
              <a:bodyPr wrap="square">
                <a:spAutoFit/>
              </a:bodyPr>
              <a:lstStyle/>
              <a:p>
                <a14:m>
                  <m:oMath xmlns:m="http://schemas.openxmlformats.org/officeDocument/2006/math">
                    <m:sSub>
                      <m:sSubPr>
                        <m:ctrlPr>
                          <a:rPr lang="tr-TR" sz="1400" b="1" i="1" smtClean="0">
                            <a:effectLst/>
                            <a:latin typeface="Cambria Math" panose="02040503050406030204" pitchFamily="18" charset="0"/>
                            <a:ea typeface="Times New Roman" panose="02020603050405020304" pitchFamily="18" charset="0"/>
                          </a:rPr>
                        </m:ctrlPr>
                      </m:sSubPr>
                      <m:e>
                        <m:r>
                          <a:rPr lang="en-US" sz="1400" b="1" i="1">
                            <a:effectLst/>
                            <a:latin typeface="Cambria Math" panose="02040503050406030204" pitchFamily="18" charset="0"/>
                            <a:ea typeface="Times New Roman" panose="02020603050405020304" pitchFamily="18" charset="0"/>
                            <a:cs typeface="Arial" panose="020B0604020202020204" pitchFamily="34" charset="0"/>
                          </a:rPr>
                          <m:t>𝑰</m:t>
                        </m:r>
                      </m:e>
                      <m:sub>
                        <m:r>
                          <a:rPr lang="en-US" sz="1400" b="1" i="1">
                            <a:effectLst/>
                            <a:latin typeface="Cambria Math" panose="02040503050406030204" pitchFamily="18" charset="0"/>
                            <a:ea typeface="Times New Roman" panose="02020603050405020304" pitchFamily="18" charset="0"/>
                            <a:cs typeface="Arial" panose="020B0604020202020204" pitchFamily="34" charset="0"/>
                          </a:rPr>
                          <m:t>𝑰𝒈𝒏</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𝒌</m:t>
                        </m:r>
                      </m:sub>
                    </m:sSub>
                    <m:r>
                      <a:rPr lang="en-US" sz="1400" b="1" i="1">
                        <a:effectLst/>
                        <a:latin typeface="Cambria Math" panose="02040503050406030204" pitchFamily="18" charset="0"/>
                        <a:ea typeface="Times New Roman" panose="02020603050405020304" pitchFamily="18" charset="0"/>
                        <a:cs typeface="Arial" panose="020B0604020202020204" pitchFamily="34" charset="0"/>
                      </a:rPr>
                      <m:t>  (</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𝒙</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r>
                      <a:rPr lang="en-US" sz="1400" b="1" i="1">
                        <a:effectLst/>
                        <a:latin typeface="Cambria Math" panose="02040503050406030204" pitchFamily="18" charset="0"/>
                        <a:ea typeface="Times New Roman" panose="02020603050405020304" pitchFamily="18" charset="0"/>
                        <a:cs typeface="Arial" panose="020B0604020202020204" pitchFamily="34" charset="0"/>
                      </a:rPr>
                      <m:t>𝒚</m:t>
                    </m:r>
                    <m:r>
                      <a:rPr lang="en-US" sz="1400" b="1" i="1">
                        <a:effectLst/>
                        <a:latin typeface="Cambria Math" panose="02040503050406030204" pitchFamily="18" charset="0"/>
                        <a:ea typeface="Times New Roman" panose="02020603050405020304" pitchFamily="18" charset="0"/>
                        <a:cs typeface="Arial" panose="020B0604020202020204" pitchFamily="34" charset="0"/>
                      </a:rPr>
                      <m:t>)</m:t>
                    </m:r>
                  </m:oMath>
                </a14:m>
                <a:r>
                  <a:rPr lang="en-US" sz="1400" b="1" dirty="0">
                    <a:effectLst/>
                    <a:latin typeface="Times New Roman" panose="02020603050405020304" pitchFamily="18" charset="0"/>
                    <a:ea typeface="Times New Roman" panose="02020603050405020304" pitchFamily="18" charset="0"/>
                    <a:cs typeface="Arial" panose="020B0604020202020204" pitchFamily="34" charset="0"/>
                  </a:rPr>
                  <a:t> is</a:t>
                </a:r>
                <a:r>
                  <a:rPr lang="en-US" sz="1400" b="1" dirty="0">
                    <a:effectLst/>
                    <a:latin typeface="Times New Roman" panose="02020603050405020304" pitchFamily="18" charset="0"/>
                    <a:ea typeface="Calibri" panose="020F0502020204030204" pitchFamily="34" charset="0"/>
                    <a:cs typeface="Arial" panose="020B0604020202020204" pitchFamily="34" charset="0"/>
                  </a:rPr>
                  <a:t> a binary ignition injection indicator</a:t>
                </a:r>
                <a:endParaRPr lang="tr-TR" sz="1400" b="1" dirty="0"/>
              </a:p>
            </p:txBody>
          </p:sp>
        </mc:Choice>
        <mc:Fallback xmlns="">
          <p:sp>
            <p:nvSpPr>
              <p:cNvPr id="15" name="TextBox 14">
                <a:extLst>
                  <a:ext uri="{FF2B5EF4-FFF2-40B4-BE49-F238E27FC236}">
                    <a16:creationId xmlns:a16="http://schemas.microsoft.com/office/drawing/2014/main" id="{4790E5A2-0504-43F5-AFFA-BAD737CAA648}"/>
                  </a:ext>
                </a:extLst>
              </p:cNvPr>
              <p:cNvSpPr txBox="1">
                <a:spLocks noRot="1" noChangeAspect="1" noMove="1" noResize="1" noEditPoints="1" noAdjustHandles="1" noChangeArrowheads="1" noChangeShapeType="1" noTextEdit="1"/>
              </p:cNvSpPr>
              <p:nvPr/>
            </p:nvSpPr>
            <p:spPr>
              <a:xfrm>
                <a:off x="6533429" y="3863744"/>
                <a:ext cx="5453037" cy="325282"/>
              </a:xfrm>
              <a:prstGeom prst="rect">
                <a:avLst/>
              </a:prstGeom>
              <a:blipFill>
                <a:blip r:embed="rId9"/>
                <a:stretch>
                  <a:fillRect t="-3774" b="-13208"/>
                </a:stretch>
              </a:blipFill>
            </p:spPr>
            <p:txBody>
              <a:bodyPr/>
              <a:lstStyle/>
              <a:p>
                <a:r>
                  <a:rPr lang="tr-TR">
                    <a:noFill/>
                  </a:rPr>
                  <a:t/>
                </a:r>
              </a:p>
            </p:txBody>
          </p:sp>
        </mc:Fallback>
      </mc:AlternateContent>
      <p:sp>
        <p:nvSpPr>
          <p:cNvPr id="90001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15 / 113</a:t>
            </a:r>
          </a:p>
        </p:txBody>
      </p:sp>
    </p:spTree>
    <p:extLst>
      <p:ext uri="{BB962C8B-B14F-4D97-AF65-F5344CB8AC3E}">
        <p14:creationId xmlns:p14="http://schemas.microsoft.com/office/powerpoint/2010/main" val="3906716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22" name="Text 2">
            <a:extLst>
              <a:ext uri="{FF2B5EF4-FFF2-40B4-BE49-F238E27FC236}">
                <a16:creationId xmlns:a16="http://schemas.microsoft.com/office/drawing/2014/main" id="{037FE2C0-2375-4850-8DCC-94A9998EA7D7}"/>
              </a:ext>
            </a:extLst>
          </p:cNvPr>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23" name="Text 3">
                <a:extLst>
                  <a:ext uri="{FF2B5EF4-FFF2-40B4-BE49-F238E27FC236}">
                    <a16:creationId xmlns:a16="http://schemas.microsoft.com/office/drawing/2014/main" id="{5B1E50FE-01B8-442F-BCE5-81A88341C6E2}"/>
                  </a:ext>
                </a:extLst>
              </p:cNvPr>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23" name="Text 3">
                <a:extLst>
                  <a:ext uri="{FF2B5EF4-FFF2-40B4-BE49-F238E27FC236}">
                    <a16:creationId xmlns:a16="http://schemas.microsoft.com/office/drawing/2014/main" id="{5B1E50FE-01B8-442F-BCE5-81A88341C6E2}"/>
                  </a:ext>
                </a:extLst>
              </p:cNvPr>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24" name="Text 4">
            <a:extLst>
              <a:ext uri="{FF2B5EF4-FFF2-40B4-BE49-F238E27FC236}">
                <a16:creationId xmlns:a16="http://schemas.microsoft.com/office/drawing/2014/main" id="{F29F60D6-6BCD-4B66-8A2C-A4AAC2A49899}"/>
              </a:ext>
            </a:extLst>
          </p:cNvPr>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25" name="Text 5">
                <a:extLst>
                  <a:ext uri="{FF2B5EF4-FFF2-40B4-BE49-F238E27FC236}">
                    <a16:creationId xmlns:a16="http://schemas.microsoft.com/office/drawing/2014/main" id="{EC65DB17-2507-4A91-9DDF-59F3BB29910E}"/>
                  </a:ext>
                </a:extLst>
              </p:cNvPr>
              <p:cNvSpPr/>
              <p:nvPr/>
            </p:nvSpPr>
            <p:spPr>
              <a:xfrm>
                <a:off x="5715000" y="2560320"/>
                <a:ext cx="393192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b="0" i="1">
                                  <a:latin typeface="Cambria Math"/>
                                </a:rPr>
                                <m:t>𝑈</m:t>
                              </m:r>
                            </m:e>
                            <m:sub>
                              <m:r>
                                <a:rPr lang="en-US" sz="1500" b="0" i="1">
                                  <a:latin typeface="Cambria Math"/>
                                </a:rPr>
                                <m:t>𝑀𝑒𝑡𝑒𝑜</m:t>
                              </m:r>
                              <m:r>
                                <a:rPr lang="en-US" sz="1500" b="0">
                                  <a:latin typeface="Cambria Math"/>
                                </a:rPr>
                                <m:t>,</m:t>
                              </m:r>
                              <m:r>
                                <a:rPr lang="en-US" sz="1500" b="0" i="1">
                                  <a:latin typeface="Cambria Math"/>
                                </a:rPr>
                                <m:t>𝑘</m:t>
                              </m:r>
                            </m:sub>
                          </m:sSub>
                          <m:r>
                            <a:rPr lang="en-US" sz="1500" b="1">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b="0" i="1">
                                      <a:latin typeface="Cambria Math"/>
                                    </a:rPr>
                                    <m:t>𝑈</m:t>
                                  </m:r>
                                </m:e>
                                <m:sub>
                                  <m:r>
                                    <a:rPr lang="en-US" sz="1500" b="0" i="1">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b="1" i="1">
                                  <a:latin typeface="Cambria Math"/>
                                </a:rPr>
                                <m:t>𝐔</m:t>
                              </m:r>
                            </m:e>
                            <m:sub>
                              <m:r>
                                <a:rPr lang="en-US" sz="1500" b="1" i="1">
                                  <a:latin typeface="Cambria Math"/>
                                </a:rPr>
                                <m:t>𝐃𝐒𝐒</m:t>
                              </m:r>
                              <m:r>
                                <a:rPr lang="en-US" sz="1500" b="1">
                                  <a:latin typeface="Cambria Math"/>
                                </a:rPr>
                                <m:t>,</m:t>
                              </m:r>
                              <m:r>
                                <a:rPr lang="en-US" sz="1500" b="1" i="1">
                                  <a:latin typeface="Cambria Math"/>
                                </a:rPr>
                                <m:t>𝐤</m:t>
                              </m:r>
                            </m:sub>
                          </m:sSub>
                        </m:e>
                      </m:d>
                    </m:oMath>
                  </m:oMathPara>
                </a14:m>
                <a:endParaRPr lang="en-US" sz="1600" dirty="0"/>
              </a:p>
            </p:txBody>
          </p:sp>
        </mc:Choice>
        <mc:Fallback xmlns="">
          <p:sp>
            <p:nvSpPr>
              <p:cNvPr id="25" name="Text 5">
                <a:extLst>
                  <a:ext uri="{FF2B5EF4-FFF2-40B4-BE49-F238E27FC236}">
                    <a16:creationId xmlns:a16="http://schemas.microsoft.com/office/drawing/2014/main" id="{EC65DB17-2507-4A91-9DDF-59F3BB29910E}"/>
                  </a:ext>
                </a:extLst>
              </p:cNvPr>
              <p:cNvSpPr>
                <a:spLocks noRot="1" noChangeAspect="1" noMove="1" noResize="1" noEditPoints="1" noAdjustHandles="1" noChangeArrowheads="1" noChangeShapeType="1" noTextEdit="1"/>
              </p:cNvSpPr>
              <p:nvPr/>
            </p:nvSpPr>
            <p:spPr>
              <a:xfrm>
                <a:off x="5715000" y="2560320"/>
                <a:ext cx="393192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4171409669"/>
                  </p:ext>
                </p:extLst>
              </p:nvPr>
            </p:nvGraphicFramePr>
            <p:xfrm>
              <a:off x="5715000" y="3400142"/>
              <a:ext cx="6381922" cy="2130618"/>
            </p:xfrm>
            <a:graphic>
              <a:graphicData uri="http://schemas.openxmlformats.org/drawingml/2006/table">
                <a:tbl>
                  <a:tblPr firstRow="1" firstCol="1" bandRow="1">
                    <a:tableStyleId>{93296810-A885-4BE3-A3E7-6D5BEEA58F35}</a:tableStyleId>
                  </a:tblPr>
                  <a:tblGrid>
                    <a:gridCol w="2326455">
                      <a:extLst>
                        <a:ext uri="{9D8B030D-6E8A-4147-A177-3AD203B41FA5}">
                          <a16:colId xmlns:a16="http://schemas.microsoft.com/office/drawing/2014/main" val="3500361675"/>
                        </a:ext>
                      </a:extLst>
                    </a:gridCol>
                    <a:gridCol w="617630">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0">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780016955"/>
                      </a:ext>
                    </a:extLst>
                  </a:tr>
                  <a:tr h="0">
                    <a:tc>
                      <a:txBody>
                        <a:bodyPr/>
                        <a:lstStyle/>
                        <a:p>
                          <a:pPr algn="just">
                            <a:lnSpc>
                              <a:spcPct val="150000"/>
                            </a:lnSpc>
                          </a:pPr>
                          <a:r>
                            <a:rPr lang="en-US" sz="1200" dirty="0">
                              <a:effectLst/>
                            </a:rPr>
                            <a:t>Suppression Capacity </a:t>
                          </a:r>
                          <a14:m>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cap</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available suppression capability (i.e., water volume or manpower at grid cell at time step k).</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681984423"/>
                      </a:ext>
                    </a:extLst>
                  </a:tr>
                  <a:tr h="0">
                    <a:tc>
                      <a:txBody>
                        <a:bodyPr/>
                        <a:lstStyle/>
                        <a:p>
                          <a:pPr algn="just">
                            <a:lnSpc>
                              <a:spcPct val="150000"/>
                            </a:lnSpc>
                          </a:pPr>
                          <a:r>
                            <a:rPr lang="en-US" sz="1200" dirty="0">
                              <a:effectLst/>
                            </a:rPr>
                            <a:t>Travel Time </a:t>
                          </a:r>
                          <a14:m>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time</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estimated time required to reach a grid cell from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802531926"/>
                      </a:ext>
                    </a:extLst>
                  </a:tr>
                  <a:tr h="0">
                    <a:tc>
                      <a:txBody>
                        <a:bodyPr/>
                        <a:lstStyle/>
                        <a:p>
                          <a:pPr algn="just">
                            <a:lnSpc>
                              <a:spcPct val="150000"/>
                            </a:lnSpc>
                          </a:pPr>
                          <a:r>
                            <a:rPr lang="en-US" sz="1200" dirty="0">
                              <a:effectLst/>
                            </a:rPr>
                            <a:t>Suppression Efficiency </a:t>
                          </a:r>
                          <a14:m>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eff</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Quantifies how effectively a resource reduces fuel load or fire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573764920"/>
                      </a:ext>
                    </a:extLst>
                  </a:tr>
                  <a:tr h="0">
                    <a:tc>
                      <a:txBody>
                        <a:bodyPr/>
                        <a:lstStyle/>
                        <a:p>
                          <a:pPr algn="just">
                            <a:lnSpc>
                              <a:spcPct val="150000"/>
                            </a:lnSpc>
                          </a:pPr>
                          <a:r>
                            <a:rPr lang="en-US" sz="1200" dirty="0">
                              <a:effectLst/>
                            </a:rPr>
                            <a:t>Resource Availability </a:t>
                          </a:r>
                          <a14:m>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avail</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Degree to which the resource is currently deployable.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921179270"/>
                      </a:ext>
                    </a:extLst>
                  </a:tr>
                </a:tbl>
              </a:graphicData>
            </a:graphic>
          </p:graphicFrame>
        </mc:Choice>
        <mc:Fallback xmlns="">
          <p:graphicFrame>
            <p:nvGraphicFramePr>
              <p:cNvPr id="17" name="Table 16">
                <a:extLst>
                  <a:ext uri="{FF2B5EF4-FFF2-40B4-BE49-F238E27FC236}">
                    <a16:creationId xmlns:a16="http://schemas.microsoft.com/office/drawing/2014/main" id="{39ECD6AD-DE5D-46F7-9CCC-AFD2499C0765}"/>
                  </a:ext>
                </a:extLst>
              </p:cNvPr>
              <p:cNvGraphicFramePr>
                <a:graphicFrameLocks noGrp="1"/>
              </p:cNvGraphicFramePr>
              <p:nvPr>
                <p:extLst>
                  <p:ext uri="{D42A27DB-BD31-4B8C-83A1-F6EECF244321}">
                    <p14:modId xmlns:p14="http://schemas.microsoft.com/office/powerpoint/2010/main" val="4171409669"/>
                  </p:ext>
                </p:extLst>
              </p:nvPr>
            </p:nvGraphicFramePr>
            <p:xfrm>
              <a:off x="5715000" y="3400142"/>
              <a:ext cx="6381922" cy="2130618"/>
            </p:xfrm>
            <a:graphic>
              <a:graphicData uri="http://schemas.openxmlformats.org/drawingml/2006/table">
                <a:tbl>
                  <a:tblPr firstRow="1" firstCol="1" bandRow="1">
                    <a:tableStyleId>{93296810-A885-4BE3-A3E7-6D5BEEA58F35}</a:tableStyleId>
                  </a:tblPr>
                  <a:tblGrid>
                    <a:gridCol w="2326455">
                      <a:extLst>
                        <a:ext uri="{9D8B030D-6E8A-4147-A177-3AD203B41FA5}">
                          <a16:colId xmlns:a16="http://schemas.microsoft.com/office/drawing/2014/main" val="3500361675"/>
                        </a:ext>
                      </a:extLst>
                    </a:gridCol>
                    <a:gridCol w="617630">
                      <a:extLst>
                        <a:ext uri="{9D8B030D-6E8A-4147-A177-3AD203B41FA5}">
                          <a16:colId xmlns:a16="http://schemas.microsoft.com/office/drawing/2014/main" val="2696332576"/>
                        </a:ext>
                      </a:extLst>
                    </a:gridCol>
                    <a:gridCol w="3437837">
                      <a:extLst>
                        <a:ext uri="{9D8B030D-6E8A-4147-A177-3AD203B41FA5}">
                          <a16:colId xmlns:a16="http://schemas.microsoft.com/office/drawing/2014/main" val="3051551869"/>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780016955"/>
                      </a:ext>
                    </a:extLst>
                  </a:tr>
                  <a:tr h="519367">
                    <a:tc>
                      <a:txBody>
                        <a:bodyPr/>
                        <a:lstStyle/>
                        <a:p>
                          <a:endParaRPr lang="tr-TR"/>
                        </a:p>
                      </a:txBody>
                      <a:tcPr marL="17780" marR="17780" marT="0" marB="0">
                        <a:blipFill>
                          <a:blip r:embed="rId8"/>
                          <a:stretch>
                            <a:fillRect l="-262" t="-47674" r="-175393" b="-273256"/>
                          </a:stretch>
                        </a:blipFill>
                      </a:tcPr>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available suppression capability (i.e., water volume or manpower at grid cell at time step k).</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681984423"/>
                      </a:ext>
                    </a:extLst>
                  </a:tr>
                  <a:tr h="519367">
                    <a:tc>
                      <a:txBody>
                        <a:bodyPr/>
                        <a:lstStyle/>
                        <a:p>
                          <a:endParaRPr lang="tr-TR"/>
                        </a:p>
                      </a:txBody>
                      <a:tcPr marL="17780" marR="17780" marT="0" marB="0">
                        <a:blipFill>
                          <a:blip r:embed="rId8"/>
                          <a:stretch>
                            <a:fillRect l="-262" t="-149412" r="-175393" b="-176471"/>
                          </a:stretch>
                        </a:blipFill>
                      </a:tcPr>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estimated time required to reach a grid cell from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802531926"/>
                      </a:ext>
                    </a:extLst>
                  </a:tr>
                  <a:tr h="519367">
                    <a:tc>
                      <a:txBody>
                        <a:bodyPr/>
                        <a:lstStyle/>
                        <a:p>
                          <a:endParaRPr lang="tr-TR"/>
                        </a:p>
                      </a:txBody>
                      <a:tcPr marL="17780" marR="17780" marT="0" marB="0">
                        <a:blipFill>
                          <a:blip r:embed="rId8"/>
                          <a:stretch>
                            <a:fillRect l="-262" t="-246512" r="-175393" b="-74419"/>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Quantifies how effectively a resource reduces fuel load or fire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573764920"/>
                      </a:ext>
                    </a:extLst>
                  </a:tr>
                  <a:tr h="327470">
                    <a:tc>
                      <a:txBody>
                        <a:bodyPr/>
                        <a:lstStyle/>
                        <a:p>
                          <a:endParaRPr lang="tr-TR"/>
                        </a:p>
                      </a:txBody>
                      <a:tcPr marL="17780" marR="17780" marT="0" marB="0">
                        <a:blipFill>
                          <a:blip r:embed="rId8"/>
                          <a:stretch>
                            <a:fillRect l="-262" t="-551852" r="-175393" b="-18519"/>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Degree to which the resource is currently deployable.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921179270"/>
                      </a:ext>
                    </a:extLst>
                  </a:tr>
                </a:tbl>
              </a:graphicData>
            </a:graphic>
          </p:graphicFrame>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2C8D425-6532-458E-BBC7-68AEB345B4C5}"/>
                  </a:ext>
                </a:extLst>
              </p:cNvPr>
              <p:cNvSpPr txBox="1"/>
              <p:nvPr/>
            </p:nvSpPr>
            <p:spPr>
              <a:xfrm>
                <a:off x="9586866" y="2262852"/>
                <a:ext cx="2605134" cy="106022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tr-TR" sz="1400" i="1" smtClean="0">
                              <a:solidFill>
                                <a:srgbClr val="836967"/>
                              </a:solidFill>
                              <a:latin typeface="Cambria Math" panose="02040503050406030204" pitchFamily="18" charset="0"/>
                            </a:rPr>
                          </m:ctrlPr>
                        </m:sSubPr>
                        <m:e>
                          <m:r>
                            <a:rPr lang="tr-TR" sz="1400" i="1">
                              <a:latin typeface="Cambria Math" panose="02040503050406030204" pitchFamily="18" charset="0"/>
                            </a:rPr>
                            <m:t>𝑈</m:t>
                          </m:r>
                        </m:e>
                        <m:sub>
                          <m:r>
                            <a:rPr lang="tr-TR" sz="1400" i="1">
                              <a:latin typeface="Cambria Math" panose="02040503050406030204" pitchFamily="18" charset="0"/>
                            </a:rPr>
                            <m:t>𝐷𝑆𝑆</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r>
                        <a:rPr lang="tr-TR" sz="1400" i="0">
                          <a:latin typeface="Cambria Math" panose="02040503050406030204" pitchFamily="18" charset="0"/>
                        </a:rPr>
                        <m:t>= </m:t>
                      </m:r>
                      <m:d>
                        <m:dPr>
                          <m:begChr m:val="["/>
                          <m:endChr m:val="]"/>
                          <m:ctrlPr>
                            <a:rPr lang="tr-TR" sz="1400" i="1">
                              <a:solidFill>
                                <a:srgbClr val="836967"/>
                              </a:solidFill>
                              <a:latin typeface="Cambria Math" panose="02040503050406030204" pitchFamily="18" charset="0"/>
                            </a:rPr>
                          </m:ctrlPr>
                        </m:dPr>
                        <m:e>
                          <m:eqArr>
                            <m:eqArrPr>
                              <m:ctrlPr>
                                <a:rPr lang="tr-TR" sz="1400" i="1">
                                  <a:solidFill>
                                    <a:srgbClr val="836967"/>
                                  </a:solidFill>
                                  <a:latin typeface="Cambria Math" panose="02040503050406030204" pitchFamily="18" charset="0"/>
                                </a:rPr>
                              </m:ctrlPr>
                            </m:eqArrPr>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𝑐𝑎𝑝</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𝑎𝑣𝑎𝑖𝑙</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𝑒𝑓𝑓</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
                              <m:r>
                                <a:rPr lang="tr-TR" sz="1400" i="0">
                                  <a:latin typeface="Cambria Math" panose="02040503050406030204" pitchFamily="18" charset="0"/>
                                </a:rPr>
                                <m:t>&amp;</m:t>
                              </m:r>
                              <m:sSub>
                                <m:sSubPr>
                                  <m:ctrlPr>
                                    <a:rPr lang="tr-TR" sz="1400" i="1">
                                      <a:solidFill>
                                        <a:srgbClr val="836967"/>
                                      </a:solidFill>
                                      <a:latin typeface="Cambria Math" panose="02040503050406030204" pitchFamily="18" charset="0"/>
                                    </a:rPr>
                                  </m:ctrlPr>
                                </m:sSubPr>
                                <m:e>
                                  <m:r>
                                    <a:rPr lang="tr-TR" sz="1400" i="1">
                                      <a:latin typeface="Cambria Math" panose="02040503050406030204" pitchFamily="18" charset="0"/>
                                    </a:rPr>
                                    <m:t>𝑅</m:t>
                                  </m:r>
                                </m:e>
                                <m:sub>
                                  <m:r>
                                    <a:rPr lang="tr-TR" sz="1400" i="1">
                                      <a:latin typeface="Cambria Math" panose="02040503050406030204" pitchFamily="18" charset="0"/>
                                    </a:rPr>
                                    <m:t>𝑡𝑖𝑚𝑒</m:t>
                                  </m:r>
                                  <m:r>
                                    <a:rPr lang="tr-TR" sz="1400" i="0">
                                      <a:latin typeface="Cambria Math" panose="02040503050406030204" pitchFamily="18" charset="0"/>
                                    </a:rPr>
                                    <m:t>,</m:t>
                                  </m:r>
                                  <m:r>
                                    <a:rPr lang="tr-TR" sz="1400" i="1">
                                      <a:latin typeface="Cambria Math" panose="02040503050406030204" pitchFamily="18" charset="0"/>
                                    </a:rPr>
                                    <m:t>𝑘</m:t>
                                  </m:r>
                                </m:sub>
                              </m:sSub>
                              <m:d>
                                <m:dPr>
                                  <m:ctrlPr>
                                    <a:rPr lang="tr-TR" sz="1400" i="1">
                                      <a:solidFill>
                                        <a:srgbClr val="836967"/>
                                      </a:solidFill>
                                      <a:latin typeface="Cambria Math" panose="02040503050406030204" pitchFamily="18" charset="0"/>
                                    </a:rPr>
                                  </m:ctrlPr>
                                </m:dPr>
                                <m:e>
                                  <m:r>
                                    <a:rPr lang="tr-TR" sz="1400" i="1">
                                      <a:latin typeface="Cambria Math" panose="02040503050406030204" pitchFamily="18" charset="0"/>
                                    </a:rPr>
                                    <m:t>𝑥</m:t>
                                  </m:r>
                                  <m:r>
                                    <a:rPr lang="tr-TR" sz="1400" i="0">
                                      <a:latin typeface="Cambria Math" panose="02040503050406030204" pitchFamily="18" charset="0"/>
                                    </a:rPr>
                                    <m:t>,</m:t>
                                  </m:r>
                                  <m:r>
                                    <a:rPr lang="tr-TR" sz="1400" i="1">
                                      <a:latin typeface="Cambria Math" panose="02040503050406030204" pitchFamily="18" charset="0"/>
                                    </a:rPr>
                                    <m:t>𝑦</m:t>
                                  </m:r>
                                </m:e>
                              </m:d>
                            </m:e>
                          </m:eqArr>
                        </m:e>
                      </m:d>
                    </m:oMath>
                  </m:oMathPara>
                </a14:m>
                <a:endParaRPr lang="tr-TR" sz="1400" dirty="0"/>
              </a:p>
            </p:txBody>
          </p:sp>
        </mc:Choice>
        <mc:Fallback xmlns="">
          <p:sp>
            <p:nvSpPr>
              <p:cNvPr id="14" name="TextBox 13">
                <a:extLst>
                  <a:ext uri="{FF2B5EF4-FFF2-40B4-BE49-F238E27FC236}">
                    <a16:creationId xmlns:a16="http://schemas.microsoft.com/office/drawing/2014/main" id="{A2C8D425-6532-458E-BBC7-68AEB345B4C5}"/>
                  </a:ext>
                </a:extLst>
              </p:cNvPr>
              <p:cNvSpPr txBox="1">
                <a:spLocks noRot="1" noChangeAspect="1" noMove="1" noResize="1" noEditPoints="1" noAdjustHandles="1" noChangeArrowheads="1" noChangeShapeType="1" noTextEdit="1"/>
              </p:cNvSpPr>
              <p:nvPr/>
            </p:nvSpPr>
            <p:spPr>
              <a:xfrm>
                <a:off x="9586866" y="2262852"/>
                <a:ext cx="2605134" cy="1060227"/>
              </a:xfrm>
              <a:prstGeom prst="rect">
                <a:avLst/>
              </a:prstGeom>
              <a:blipFill>
                <a:blip r:embed="rId9"/>
                <a:stretch>
                  <a:fillRect/>
                </a:stretch>
              </a:blipFill>
            </p:spPr>
            <p:txBody>
              <a:bodyPr/>
              <a:lstStyle/>
              <a:p>
                <a:r>
                  <a:rPr lang="tr-TR">
                    <a:noFill/>
                  </a:rPr>
                  <a:t/>
                </a:r>
              </a:p>
            </p:txBody>
          </p:sp>
        </mc:Fallback>
      </mc:AlternateContent>
      <p:sp>
        <p:nvSpPr>
          <p:cNvPr id="90001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16 / 113</a:t>
            </a:r>
          </a:p>
        </p:txBody>
      </p:sp>
    </p:spTree>
    <p:extLst>
      <p:ext uri="{BB962C8B-B14F-4D97-AF65-F5344CB8AC3E}">
        <p14:creationId xmlns:p14="http://schemas.microsoft.com/office/powerpoint/2010/main" val="14255553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The Simulation Input Field</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715000" y="1371600"/>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The world advances one step at a time, through a single transition operator:</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15000" y="1700784"/>
                <a:ext cx="603504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15000" y="1700784"/>
                <a:ext cx="6035040" cy="457200"/>
              </a:xfrm>
              <a:prstGeom prst="rect">
                <a:avLst/>
              </a:prstGeom>
              <a:blipFill>
                <a:blip r:embed="rId6"/>
                <a:stretch>
                  <a:fillRect/>
                </a:stretch>
              </a:blipFill>
              <a:ln/>
            </p:spPr>
            <p:txBody>
              <a:bodyPr/>
              <a:lstStyle/>
              <a:p>
                <a:r>
                  <a:rPr lang="tr-TR">
                    <a:noFill/>
                  </a:rPr>
                  <a:t/>
                </a:r>
              </a:p>
            </p:txBody>
          </p:sp>
        </mc:Fallback>
      </mc:AlternateContent>
      <p:sp>
        <p:nvSpPr>
          <p:cNvPr id="9" name="Text 4"/>
          <p:cNvSpPr/>
          <p:nvPr/>
        </p:nvSpPr>
        <p:spPr>
          <a:xfrm>
            <a:off x="5715000" y="2231136"/>
            <a:ext cx="6035040" cy="320040"/>
          </a:xfrm>
          <a:prstGeom prst="rect">
            <a:avLst/>
          </a:prstGeom>
          <a:noFill/>
          <a:ln/>
        </p:spPr>
        <p:txBody>
          <a:bodyPr wrap="square" lIns="0" tIns="0" rIns="0" bIns="0" rtlCol="0" anchor="t"/>
          <a:lstStyle/>
          <a:p>
            <a:pPr marL="0" indent="0">
              <a:lnSpc>
                <a:spcPct val="104000"/>
              </a:lnSpc>
              <a:buNone/>
            </a:pPr>
            <a:r>
              <a:rPr lang="en-US" sz="1500" b="1" dirty="0">
                <a:solidFill>
                  <a:srgbClr val="222222"/>
                </a:solidFill>
                <a:latin typeface="Calibri" pitchFamily="34" charset="0"/>
                <a:ea typeface="Calibri" pitchFamily="34" charset="-122"/>
                <a:cs typeface="Calibri" pitchFamily="34" charset="-120"/>
              </a:rPr>
              <a:t>• Everything the world can feel enters through one typed field:</a:t>
            </a:r>
            <a:endParaRPr lang="en-US" sz="1500" dirty="0"/>
          </a:p>
        </p:txBody>
      </p:sp>
      <mc:AlternateContent xmlns:mc="http://schemas.openxmlformats.org/markup-compatibility/2006" xmlns:a14="http://schemas.microsoft.com/office/drawing/2010/main">
        <mc:Choice Requires="a14">
          <p:sp>
            <p:nvSpPr>
              <p:cNvPr id="10" name="Text 5"/>
              <p:cNvSpPr/>
              <p:nvPr/>
            </p:nvSpPr>
            <p:spPr>
              <a:xfrm>
                <a:off x="5715000" y="2560320"/>
                <a:ext cx="60350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sz="1500">
                              <a:latin typeface="Cambria Math"/>
                            </a:rPr>
                            <m:t>ℱ</m:t>
                          </m:r>
                        </m:e>
                        <m:sub>
                          <m:r>
                            <a:rPr lang="en-US" sz="1500">
                              <a:latin typeface="Cambria Math"/>
                            </a:rPr>
                            <m:t>𝑖𝑛</m:t>
                          </m:r>
                          <m:r>
                            <a:rPr lang="en-US" sz="1500">
                              <a:latin typeface="Cambria Math"/>
                            </a:rPr>
                            <m:t>,</m:t>
                          </m:r>
                          <m:r>
                            <a:rPr lang="en-US" sz="1500">
                              <a:latin typeface="Cambria Math"/>
                            </a:rPr>
                            <m:t>𝑘</m:t>
                          </m:r>
                        </m:sub>
                      </m:sSub>
                      <m:r>
                        <a:rPr lang="en-US" sz="15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𝑀𝑒𝑡𝑒𝑜</m:t>
                              </m:r>
                              <m:r>
                                <a:rPr lang="en-US" sz="1500">
                                  <a:latin typeface="Cambria Math"/>
                                </a:rPr>
                                <m:t>,</m:t>
                              </m:r>
                              <m:r>
                                <a:rPr lang="en-US" sz="1500">
                                  <a:latin typeface="Cambria Math"/>
                                </a:rPr>
                                <m:t>𝑘</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𝐺𝑒𝑜</m:t>
                              </m:r>
                            </m:sub>
                          </m:sSub>
                          <m:r>
                            <a:rPr lang="en-US" sz="1500">
                              <a:latin typeface="Cambria Math"/>
                            </a:rPr>
                            <m:t>, </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sz="1500">
                                      <a:latin typeface="Cambria Math"/>
                                    </a:rPr>
                                    <m:t>𝑈</m:t>
                                  </m:r>
                                </m:e>
                                <m:sub>
                                  <m:r>
                                    <a:rPr lang="en-US" sz="1500">
                                      <a:latin typeface="Cambria Math"/>
                                    </a:rPr>
                                    <m:t>𝐹𝑢𝑒𝑙</m:t>
                                  </m:r>
                                  <m:r>
                                    <m:rPr>
                                      <m:nor/>
                                    </m:rPr>
                                    <a:rPr lang="en-US" sz="1500">
                                      <a:latin typeface="Cambria Math"/>
                                    </a:rPr>
                                    <m:t>,</m:t>
                                  </m:r>
                                  <m:r>
                                    <a:rPr lang="tr-TR" sz="1500" b="0" i="1" smtClean="0">
                                      <a:latin typeface="Cambria Math" panose="02040503050406030204" pitchFamily="18" charset="0"/>
                                    </a:rPr>
                                    <m:t>𝑘</m:t>
                                  </m:r>
                                </m:sub>
                              </m:sSub>
                              <m:r>
                                <a:rPr lang="tr-TR" sz="1500" b="1" i="1">
                                  <a:latin typeface="Cambria Math" panose="02040503050406030204" pitchFamily="18" charset="0"/>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𝐼𝑔𝑛</m:t>
                                  </m:r>
                                  <m:r>
                                    <a:rPr lang="en-US" sz="1500">
                                      <a:latin typeface="Cambria Math"/>
                                    </a:rPr>
                                    <m:t>,</m:t>
                                  </m:r>
                                  <m:r>
                                    <a:rPr lang="en-US" sz="1500">
                                      <a:latin typeface="Cambria Math"/>
                                    </a:rPr>
                                    <m:t>𝑘</m:t>
                                  </m:r>
                                </m:sub>
                              </m:sSub>
                              <m:r>
                                <a:rPr lang="en-US" sz="1500">
                                  <a:latin typeface="Cambria Math"/>
                                </a:rPr>
                                <m:t>, </m:t>
                              </m:r>
                              <m:r>
                                <a:rPr lang="en-US" sz="1500">
                                  <a:latin typeface="Cambria Math"/>
                                </a:rPr>
                                <m:t>𝑈</m:t>
                              </m:r>
                            </m:e>
                            <m:sub>
                              <m:r>
                                <a:rPr lang="en-US" sz="1500">
                                  <a:latin typeface="Cambria Math"/>
                                </a:rPr>
                                <m:t>𝐷𝑆𝑆</m:t>
                              </m:r>
                              <m:r>
                                <a:rPr lang="en-US" sz="1500">
                                  <a:latin typeface="Cambria Math"/>
                                </a:rPr>
                                <m:t>,</m:t>
                              </m:r>
                              <m:r>
                                <a:rPr lang="en-US" sz="1500">
                                  <a:latin typeface="Cambria Math"/>
                                </a:rPr>
                                <m:t>𝑘</m:t>
                              </m:r>
                            </m:sub>
                          </m:sSub>
                        </m:e>
                      </m:d>
                    </m:oMath>
                  </m:oMathPara>
                </a14:m>
                <a:endParaRPr lang="en-US" sz="1600" dirty="0"/>
              </a:p>
            </p:txBody>
          </p:sp>
        </mc:Choice>
        <mc:Fallback xmlns="">
          <p:sp>
            <p:nvSpPr>
              <p:cNvPr id="10" name="Text 5"/>
              <p:cNvSpPr>
                <a:spLocks noRot="1" noChangeAspect="1" noMove="1" noResize="1" noEditPoints="1" noAdjustHandles="1" noChangeArrowheads="1" noChangeShapeType="1" noTextEdit="1"/>
              </p:cNvSpPr>
              <p:nvPr/>
            </p:nvSpPr>
            <p:spPr>
              <a:xfrm>
                <a:off x="5715000" y="2560320"/>
                <a:ext cx="6035040" cy="45720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3108960"/>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𝑀𝑒𝑡𝑒𝑜</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meteorology: temperature, humidity, wind speed and direction, gusts, precipitation (time-varying)</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3108960"/>
                <a:ext cx="5806440" cy="502920"/>
              </a:xfrm>
              <a:prstGeom prst="rect">
                <a:avLst/>
              </a:prstGeom>
              <a:blipFill>
                <a:blip r:embed="rId8"/>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p:cNvSpPr/>
              <p:nvPr/>
            </p:nvSpPr>
            <p:spPr>
              <a:xfrm>
                <a:off x="5943600" y="3639312"/>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𝐺𝑒𝑜</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topography: elevation, slope, aspect, and access (static)</a:t>
                </a:r>
                <a:endParaRPr lang="en-US" sz="1350" dirty="0"/>
              </a:p>
            </p:txBody>
          </p:sp>
        </mc:Choice>
        <mc:Fallback xmlns="">
          <p:sp>
            <p:nvSpPr>
              <p:cNvPr id="12" name="Text 7"/>
              <p:cNvSpPr>
                <a:spLocks noRot="1" noChangeAspect="1" noMove="1" noResize="1" noEditPoints="1" noAdjustHandles="1" noChangeArrowheads="1" noChangeShapeType="1" noTextEdit="1"/>
              </p:cNvSpPr>
              <p:nvPr/>
            </p:nvSpPr>
            <p:spPr>
              <a:xfrm>
                <a:off x="5943600" y="3639312"/>
                <a:ext cx="5806440" cy="320040"/>
              </a:xfrm>
              <a:prstGeom prst="rect">
                <a:avLst/>
              </a:prstGeom>
              <a:blipFill>
                <a:blip r:embed="rId9"/>
                <a:stretch>
                  <a:fillRect l="-944" t="-1887" b="-1132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5943600" y="3986784"/>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𝐹𝑢𝑒𝑙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fuel load and fuel moisture, per fuel type</a:t>
                </a:r>
                <a:endParaRPr lang="en-US" sz="1350" dirty="0"/>
              </a:p>
            </p:txBody>
          </p:sp>
        </mc:Choice>
        <mc:Fallback xmlns="">
          <p:sp>
            <p:nvSpPr>
              <p:cNvPr id="13" name="Text 8"/>
              <p:cNvSpPr>
                <a:spLocks noRot="1" noChangeAspect="1" noMove="1" noResize="1" noEditPoints="1" noAdjustHandles="1" noChangeArrowheads="1" noChangeShapeType="1" noTextEdit="1"/>
              </p:cNvSpPr>
              <p:nvPr/>
            </p:nvSpPr>
            <p:spPr>
              <a:xfrm>
                <a:off x="5943600" y="3986784"/>
                <a:ext cx="5806440" cy="320040"/>
              </a:xfrm>
              <a:prstGeom prst="rect">
                <a:avLst/>
              </a:prstGeom>
              <a:blipFill>
                <a:blip r:embed="rId10"/>
                <a:stretch>
                  <a:fillRect l="-944" b="-1509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5943600" y="4334256"/>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𝐼𝑔𝑛</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ignition injection (binary ignition events)</a:t>
                </a:r>
                <a:endParaRPr lang="en-US" sz="1350" dirty="0"/>
              </a:p>
            </p:txBody>
          </p:sp>
        </mc:Choice>
        <mc:Fallback xmlns="">
          <p:sp>
            <p:nvSpPr>
              <p:cNvPr id="14" name="Text 9"/>
              <p:cNvSpPr>
                <a:spLocks noRot="1" noChangeAspect="1" noMove="1" noResize="1" noEditPoints="1" noAdjustHandles="1" noChangeArrowheads="1" noChangeShapeType="1" noTextEdit="1"/>
              </p:cNvSpPr>
              <p:nvPr/>
            </p:nvSpPr>
            <p:spPr>
              <a:xfrm>
                <a:off x="5943600" y="4334256"/>
                <a:ext cx="5806440" cy="320040"/>
              </a:xfrm>
              <a:prstGeom prst="rect">
                <a:avLst/>
              </a:prstGeom>
              <a:blipFill>
                <a:blip r:embed="rId11"/>
                <a:stretch>
                  <a:fillRect l="-944" b="-1698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5" name="Text 10"/>
              <p:cNvSpPr/>
              <p:nvPr/>
            </p:nvSpPr>
            <p:spPr>
              <a:xfrm>
                <a:off x="5943600" y="4681728"/>
                <a:ext cx="580644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𝐷𝑆𝑆</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b="1" dirty="0">
                    <a:solidFill>
                      <a:srgbClr val="222222"/>
                    </a:solidFill>
                    <a:latin typeface="Calibri" pitchFamily="34" charset="0"/>
                    <a:ea typeface="Calibri" pitchFamily="34" charset="-122"/>
                    <a:cs typeface="Calibri" pitchFamily="34" charset="-120"/>
                  </a:rPr>
                  <a:t> — the fielded decision: the only channel through which the DSS touches the world</a:t>
                </a:r>
                <a:endParaRPr lang="en-US" sz="1350" dirty="0"/>
              </a:p>
            </p:txBody>
          </p:sp>
        </mc:Choice>
        <mc:Fallback xmlns="">
          <p:sp>
            <p:nvSpPr>
              <p:cNvPr id="15" name="Text 10"/>
              <p:cNvSpPr>
                <a:spLocks noRot="1" noChangeAspect="1" noMove="1" noResize="1" noEditPoints="1" noAdjustHandles="1" noChangeArrowheads="1" noChangeShapeType="1" noTextEdit="1"/>
              </p:cNvSpPr>
              <p:nvPr/>
            </p:nvSpPr>
            <p:spPr>
              <a:xfrm>
                <a:off x="5943600" y="4681728"/>
                <a:ext cx="5806440" cy="502920"/>
              </a:xfrm>
              <a:prstGeom prst="rect">
                <a:avLst/>
              </a:prstGeom>
              <a:blipFill>
                <a:blip r:embed="rId12"/>
                <a:stretch>
                  <a:fillRect l="-1784" b="-1927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 11"/>
              <p:cNvSpPr/>
              <p:nvPr/>
            </p:nvSpPr>
            <p:spPr>
              <a:xfrm>
                <a:off x="5715000" y="5257800"/>
                <a:ext cx="6035040" cy="502920"/>
              </a:xfrm>
              <a:prstGeom prst="rect">
                <a:avLst/>
              </a:prstGeom>
              <a:noFill/>
              <a:ln/>
            </p:spPr>
            <p:txBody>
              <a:bodyPr wrap="square" lIns="0" tIns="0" rIns="0" bIns="0" rtlCol="0" anchor="t"/>
              <a:lstStyle/>
              <a:p>
                <a:pPr marL="0" indent="0">
                  <a:lnSpc>
                    <a:spcPct val="104000"/>
                  </a:lnSpc>
                  <a:buNone/>
                </a:pPr>
                <a:r>
                  <a:rPr lang="en-US" sz="1400" b="1" dirty="0">
                    <a:solidFill>
                      <a:srgbClr val="222222"/>
                    </a:solidFill>
                    <a:latin typeface="Calibri" pitchFamily="34" charset="0"/>
                    <a:ea typeface="Calibri" pitchFamily="34" charset="-122"/>
                    <a:cs typeface="Calibri" pitchFamily="34" charset="-120"/>
                  </a:rPr>
                  <a:t>• Per-cell state carried by </a:t>
                </a:r>
                <a14:m>
                  <m:oMath xmlns:m="http://schemas.openxmlformats.org/officeDocument/2006/math">
                    <m:r>
                      <a:rPr lang="en-US" sz="1400">
                        <a:latin typeface="Cambria Math"/>
                      </a:rPr>
                      <m:t>𝛷</m:t>
                    </m:r>
                  </m:oMath>
                </a14:m>
                <a:r>
                  <a:rPr lang="en-US" sz="1400" dirty="0">
                    <a:solidFill>
                      <a:srgbClr val="222222"/>
                    </a:solidFill>
                    <a:latin typeface="Calibri" pitchFamily="34" charset="0"/>
                    <a:ea typeface="Calibri" pitchFamily="34" charset="-122"/>
                    <a:cs typeface="Calibri" pitchFamily="34" charset="-120"/>
                  </a:rPr>
                  <a:t>: burning status, fuel mass, intensity, time since ignition — updated once per </a:t>
                </a:r>
                <a14:m>
                  <m:oMath xmlns:m="http://schemas.openxmlformats.org/officeDocument/2006/math">
                    <m:r>
                      <a:rPr lang="en-US" sz="1400">
                        <a:latin typeface="Cambria Math"/>
                      </a:rPr>
                      <m:t>𝛥</m:t>
                    </m:r>
                    <m:sSub>
                      <m:sSubPr>
                        <m:ctrlPr>
                          <a:rPr lang="en-US" i="1">
                            <a:latin typeface="Cambria Math" panose="02040503050406030204" pitchFamily="18" charset="0"/>
                          </a:rPr>
                        </m:ctrlPr>
                      </m:sSubPr>
                      <m:e>
                        <m:r>
                          <a:rPr lang="en-US" sz="1400">
                            <a:latin typeface="Cambria Math"/>
                          </a:rPr>
                          <m:t>𝑡</m:t>
                        </m:r>
                      </m:e>
                      <m:sub>
                        <m:r>
                          <a:rPr lang="en-US" sz="1400">
                            <a:latin typeface="Cambria Math"/>
                          </a:rPr>
                          <m:t>𝑠𝑖𝑚</m:t>
                        </m:r>
                      </m:sub>
                    </m:sSub>
                  </m:oMath>
                </a14:m>
                <a:endParaRPr lang="en-US" sz="1400" dirty="0"/>
              </a:p>
            </p:txBody>
          </p:sp>
        </mc:Choice>
        <mc:Fallback xmlns="">
          <p:sp>
            <p:nvSpPr>
              <p:cNvPr id="16" name="Text 11"/>
              <p:cNvSpPr>
                <a:spLocks noRot="1" noChangeAspect="1" noMove="1" noResize="1" noEditPoints="1" noAdjustHandles="1" noChangeArrowheads="1" noChangeShapeType="1" noTextEdit="1"/>
              </p:cNvSpPr>
              <p:nvPr/>
            </p:nvSpPr>
            <p:spPr>
              <a:xfrm>
                <a:off x="5715000" y="5257800"/>
                <a:ext cx="6035040" cy="502920"/>
              </a:xfrm>
              <a:prstGeom prst="rect">
                <a:avLst/>
              </a:prstGeom>
              <a:blipFill>
                <a:blip r:embed="rId13"/>
                <a:stretch>
                  <a:fillRect l="-1818" t="-12195" b="-853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7" name="Text 12"/>
              <p:cNvSpPr/>
              <p:nvPr/>
            </p:nvSpPr>
            <p:spPr>
              <a:xfrm>
                <a:off x="5715000" y="5779008"/>
                <a:ext cx="603504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100">
                              <a:latin typeface="Cambria Math"/>
                            </a:rPr>
                            <m:t>𝑠</m:t>
                          </m:r>
                        </m:e>
                        <m:sub>
                          <m:r>
                            <a:rPr lang="en-US" sz="1100">
                              <a:latin typeface="Cambria Math"/>
                            </a:rPr>
                            <m:t>𝑘</m:t>
                          </m:r>
                        </m:sub>
                      </m:sSub>
                      <m:r>
                        <m:rPr>
                          <m:aln/>
                        </m:rPr>
                        <a:rPr lang="en-US" sz="1100">
                          <a:latin typeface="Cambria Math"/>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sz="1100">
                                      <a:latin typeface="Cambria Math"/>
                                    </a:rPr>
                                    <m:t>𝐵</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𝐹</m:t>
                                  </m:r>
                                </m:e>
                                <m:sub>
                                  <m:r>
                                    <a:rPr lang="en-US" sz="1100">
                                      <a:latin typeface="Cambria Math"/>
                                    </a:rPr>
                                    <m:t>𝑙𝑜𝑎𝑑</m:t>
                                  </m:r>
                                  <m:r>
                                    <a:rPr lang="en-US" sz="1100">
                                      <a:latin typeface="Cambria Math"/>
                                    </a:rPr>
                                    <m:t>,</m:t>
                                  </m:r>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𝐼</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
                              <m:sSub>
                                <m:sSubPr>
                                  <m:ctrlPr>
                                    <a:rPr lang="en-US" i="1">
                                      <a:latin typeface="Cambria Math" panose="02040503050406030204" pitchFamily="18" charset="0"/>
                                    </a:rPr>
                                  </m:ctrlPr>
                                </m:sSubPr>
                                <m:e>
                                  <m:r>
                                    <a:rPr lang="en-US" sz="1100">
                                      <a:latin typeface="Cambria Math"/>
                                    </a:rPr>
                                    <m:t>𝜏</m:t>
                                  </m:r>
                                </m:e>
                                <m:sub>
                                  <m:r>
                                    <a:rPr lang="en-US" sz="1100">
                                      <a:latin typeface="Cambria Math"/>
                                    </a:rPr>
                                    <m:t>𝑘</m:t>
                                  </m:r>
                                </m:sub>
                              </m:sSub>
                              <m:d>
                                <m:dPr>
                                  <m:ctrlPr>
                                    <a:rPr lang="en-US" i="1">
                                      <a:latin typeface="Cambria Math" panose="02040503050406030204" pitchFamily="18" charset="0"/>
                                    </a:rPr>
                                  </m:ctrlPr>
                                </m:dPr>
                                <m:e>
                                  <m:r>
                                    <a:rPr lang="en-US" sz="1100">
                                      <a:latin typeface="Cambria Math"/>
                                    </a:rPr>
                                    <m:t>𝑥</m:t>
                                  </m:r>
                                  <m:r>
                                    <a:rPr lang="en-US" sz="1100">
                                      <a:latin typeface="Cambria Math"/>
                                    </a:rPr>
                                    <m:t>,</m:t>
                                  </m:r>
                                  <m:r>
                                    <a:rPr lang="en-US" sz="1100">
                                      <a:latin typeface="Cambria Math"/>
                                    </a:rPr>
                                    <m:t>𝑦</m:t>
                                  </m:r>
                                </m:e>
                              </m:d>
                            </m:e>
                          </m:eqArr>
                        </m:e>
                      </m:d>
                    </m:oMath>
                  </m:oMathPara>
                </a14:m>
                <a:endParaRPr lang="en-US" sz="1600" dirty="0"/>
              </a:p>
            </p:txBody>
          </p:sp>
        </mc:Choice>
        <mc:Fallback xmlns="">
          <p:sp>
            <p:nvSpPr>
              <p:cNvPr id="17" name="Text 12"/>
              <p:cNvSpPr>
                <a:spLocks noRot="1" noChangeAspect="1" noMove="1" noResize="1" noEditPoints="1" noAdjustHandles="1" noChangeArrowheads="1" noChangeShapeType="1" noTextEdit="1"/>
              </p:cNvSpPr>
              <p:nvPr/>
            </p:nvSpPr>
            <p:spPr>
              <a:xfrm>
                <a:off x="5715000" y="5779008"/>
                <a:ext cx="6035040" cy="777240"/>
              </a:xfrm>
              <a:prstGeom prst="rect">
                <a:avLst/>
              </a:prstGeom>
              <a:blipFill>
                <a:blip r:embed="rId14"/>
                <a:stretch>
                  <a:fillRect t="-18750" b="-23438"/>
                </a:stretch>
              </a:blipFill>
              <a:ln/>
            </p:spPr>
            <p:txBody>
              <a:bodyPr/>
              <a:lstStyle/>
              <a:p>
                <a:r>
                  <a:rPr lang="tr-TR">
                    <a:noFill/>
                  </a:rPr>
                  <a:t/>
                </a:r>
              </a:p>
            </p:txBody>
          </p:sp>
        </mc:Fallback>
      </mc:AlternateContent>
      <p:sp>
        <p:nvSpPr>
          <p:cNvPr id="90001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17 / 113</a:t>
            </a:r>
          </a:p>
        </p:txBody>
      </p:sp>
    </p:spTree>
    <p:extLst>
      <p:ext uri="{BB962C8B-B14F-4D97-AF65-F5344CB8AC3E}">
        <p14:creationId xmlns:p14="http://schemas.microsoft.com/office/powerpoint/2010/main" val="705379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r>
              <a:rPr lang="tr-TR" sz="1300" b="1" kern="0" spc="200" dirty="0">
                <a:solidFill>
                  <a:srgbClr val="E31836"/>
                </a:solidFill>
                <a:latin typeface="Calibri" pitchFamily="34" charset="0"/>
                <a:ea typeface="Calibri" pitchFamily="34" charset="-122"/>
                <a:cs typeface="Calibri" pitchFamily="34" charset="-120"/>
              </a:rPr>
              <a:t> – STATE TRANSITION</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p:grpSp>
        <p:nvGrpSpPr>
          <p:cNvPr id="12" name="Group 11">
            <a:extLst>
              <a:ext uri="{FF2B5EF4-FFF2-40B4-BE49-F238E27FC236}">
                <a16:creationId xmlns:a16="http://schemas.microsoft.com/office/drawing/2014/main" id="{7051252B-8669-40EC-8F57-5CB351DA7216}"/>
              </a:ext>
            </a:extLst>
          </p:cNvPr>
          <p:cNvGrpSpPr/>
          <p:nvPr/>
        </p:nvGrpSpPr>
        <p:grpSpPr>
          <a:xfrm>
            <a:off x="7193280" y="844952"/>
            <a:ext cx="4457700" cy="5628999"/>
            <a:chOff x="679434" y="844952"/>
            <a:chExt cx="10585974" cy="5628999"/>
          </a:xfrm>
        </p:grpSpPr>
        <p:sp>
          <p:nvSpPr>
            <p:cNvPr id="13" name="Shape 4">
              <a:extLst>
                <a:ext uri="{FF2B5EF4-FFF2-40B4-BE49-F238E27FC236}">
                  <a16:creationId xmlns:a16="http://schemas.microsoft.com/office/drawing/2014/main" id="{0DB5810F-6586-469D-A023-F88F8742EF5C}"/>
                </a:ext>
              </a:extLst>
            </p:cNvPr>
            <p:cNvSpPr/>
            <p:nvPr/>
          </p:nvSpPr>
          <p:spPr>
            <a:xfrm>
              <a:off x="679434" y="844952"/>
              <a:ext cx="10585974" cy="5628999"/>
            </a:xfrm>
            <a:prstGeom prst="roundRect">
              <a:avLst>
                <a:gd name="adj" fmla="val 4000"/>
              </a:avLst>
            </a:prstGeom>
            <a:solidFill>
              <a:srgbClr val="F2F2F2"/>
            </a:solidFill>
            <a:ln/>
          </p:spPr>
        </p:sp>
        <p:sp>
          <p:nvSpPr>
            <p:cNvPr id="14" name="Text 5">
              <a:extLst>
                <a:ext uri="{FF2B5EF4-FFF2-40B4-BE49-F238E27FC236}">
                  <a16:creationId xmlns:a16="http://schemas.microsoft.com/office/drawing/2014/main" id="{C99A4777-2412-4921-AB4D-D01B7E7C6BC9}"/>
                </a:ext>
              </a:extLst>
            </p:cNvPr>
            <p:cNvSpPr/>
            <p:nvPr/>
          </p:nvSpPr>
          <p:spPr>
            <a:xfrm>
              <a:off x="926592" y="972273"/>
              <a:ext cx="10011484" cy="5347504"/>
            </a:xfrm>
            <a:prstGeom prst="rect">
              <a:avLst/>
            </a:prstGeom>
            <a:noFill/>
            <a:ln/>
          </p:spPr>
          <p:txBody>
            <a:bodyPr wrap="square" lIns="0" tIns="0" rIns="0" bIns="0" rtlCol="0" anchor="ctr"/>
            <a:lstStyle/>
            <a:p>
              <a:r>
                <a:rPr lang="en-US" dirty="0"/>
                <a:t>Why a cellular state-transition model rather than a vector-front model?</a:t>
              </a:r>
            </a:p>
            <a:p>
              <a:endParaRPr lang="en-US" dirty="0"/>
            </a:p>
            <a:p>
              <a:pPr marL="285750" indent="-285750">
                <a:buFont typeface="Wingdings" panose="05000000000000000000" pitchFamily="2" charset="2"/>
                <a:buChar char="v"/>
              </a:pPr>
              <a:r>
                <a:rPr lang="en-US" dirty="0"/>
                <a:t>A per-cell state with one transition operator gives three things the evaluation needs: </a:t>
              </a:r>
              <a:endParaRPr lang="tr-TR" dirty="0"/>
            </a:p>
            <a:p>
              <a:pPr marL="285750" indent="-285750">
                <a:buFont typeface="Wingdings" panose="05000000000000000000" pitchFamily="2" charset="2"/>
                <a:buChar char="v"/>
              </a:pPr>
              <a:r>
                <a:rPr lang="en-US" dirty="0"/>
                <a:t>locality (interventions act on cells through defined effects), </a:t>
              </a:r>
              <a:endParaRPr lang="tr-TR" dirty="0"/>
            </a:p>
            <a:p>
              <a:pPr marL="285750" indent="-285750">
                <a:buFont typeface="Wingdings" panose="05000000000000000000" pitchFamily="2" charset="2"/>
                <a:buChar char="v"/>
              </a:pPr>
              <a:r>
                <a:rPr lang="en-US" dirty="0"/>
                <a:t>exact replay (the operator is deterministic given the seed), </a:t>
              </a:r>
              <a:endParaRPr lang="tr-TR" dirty="0"/>
            </a:p>
            <a:p>
              <a:pPr marL="285750" indent="-285750">
                <a:buFont typeface="Wingdings" panose="05000000000000000000" pitchFamily="2" charset="2"/>
                <a:buChar char="v"/>
              </a:pPr>
              <a:r>
                <a:rPr lang="en-US" dirty="0"/>
                <a:t>and a clean observation model (per-cell confidence). </a:t>
              </a:r>
              <a:endParaRPr lang="tr-TR" dirty="0"/>
            </a:p>
            <a:p>
              <a:pPr marL="285750" indent="-285750">
                <a:buFont typeface="Wingdings" panose="05000000000000000000" pitchFamily="2" charset="2"/>
                <a:buChar char="v"/>
              </a:pPr>
              <a:r>
                <a:rPr lang="en-US" dirty="0"/>
                <a:t>Vector-front models like FARSITE's are excellent for perimeter prediction but do not expose a controllable per-cell intervention surface.</a:t>
              </a:r>
            </a:p>
          </p:txBody>
        </p:sp>
      </p:grpSp>
      <p:pic>
        <p:nvPicPr>
          <p:cNvPr id="15" name="Image 0" descr="/tmp/thx/deck/figs/Figure3_3.png">
            <a:extLst>
              <a:ext uri="{FF2B5EF4-FFF2-40B4-BE49-F238E27FC236}">
                <a16:creationId xmlns:a16="http://schemas.microsoft.com/office/drawing/2014/main" id="{8D99A245-E1E0-4FE0-BE4B-6093935856C6}"/>
              </a:ext>
            </a:extLst>
          </p:cNvPr>
          <p:cNvPicPr>
            <a:picLocks noChangeAspect="1"/>
          </p:cNvPicPr>
          <p:nvPr/>
        </p:nvPicPr>
        <p:blipFill>
          <a:blip r:embed="rId5"/>
          <a:stretch>
            <a:fillRect/>
          </a:stretch>
        </p:blipFill>
        <p:spPr>
          <a:xfrm>
            <a:off x="541020" y="1297666"/>
            <a:ext cx="6254479" cy="5122203"/>
          </a:xfrm>
          <a:prstGeom prst="rect">
            <a:avLst/>
          </a:prstGeom>
        </p:spPr>
      </p:pic>
      <p:sp>
        <p:nvSpPr>
          <p:cNvPr id="90001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18 / 113</a:t>
            </a:r>
          </a:p>
        </p:txBody>
      </p:sp>
    </p:spTree>
    <p:extLst>
      <p:ext uri="{BB962C8B-B14F-4D97-AF65-F5344CB8AC3E}">
        <p14:creationId xmlns:p14="http://schemas.microsoft.com/office/powerpoint/2010/main" val="100571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r>
              <a:rPr lang="tr-TR" sz="1300" b="1" kern="0" spc="200" dirty="0">
                <a:solidFill>
                  <a:srgbClr val="E31836"/>
                </a:solidFill>
                <a:latin typeface="Calibri" pitchFamily="34" charset="0"/>
                <a:ea typeface="Calibri" pitchFamily="34" charset="-122"/>
                <a:cs typeface="Calibri" pitchFamily="34" charset="-120"/>
              </a:rPr>
              <a:t> </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7" name="Text 2">
            <a:extLst>
              <a:ext uri="{FF2B5EF4-FFF2-40B4-BE49-F238E27FC236}">
                <a16:creationId xmlns:a16="http://schemas.microsoft.com/office/drawing/2014/main" id="{45C70648-CC1E-4509-8471-E814689E4369}"/>
              </a:ext>
            </a:extLst>
          </p:cNvPr>
          <p:cNvSpPr/>
          <p:nvPr/>
        </p:nvSpPr>
        <p:spPr>
          <a:xfrm>
            <a:off x="6410960" y="1235675"/>
            <a:ext cx="548640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The discretized world</a:t>
            </a:r>
            <a:endParaRPr lang="en-US" sz="1500" dirty="0"/>
          </a:p>
        </p:txBody>
      </p:sp>
      <mc:AlternateContent xmlns:mc="http://schemas.openxmlformats.org/markup-compatibility/2006" xmlns:a14="http://schemas.microsoft.com/office/drawing/2010/main">
        <mc:Choice Requires="a14">
          <p:sp>
            <p:nvSpPr>
              <p:cNvPr id="18" name="Text 3">
                <a:extLst>
                  <a:ext uri="{FF2B5EF4-FFF2-40B4-BE49-F238E27FC236}">
                    <a16:creationId xmlns:a16="http://schemas.microsoft.com/office/drawing/2014/main" id="{70A29A39-4D26-46DC-A2DE-98E7CDB82810}"/>
                  </a:ext>
                </a:extLst>
              </p:cNvPr>
              <p:cNvSpPr/>
              <p:nvPr/>
            </p:nvSpPr>
            <p:spPr>
              <a:xfrm>
                <a:off x="6416431" y="1421892"/>
                <a:ext cx="323049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𝒢</m:t>
                      </m:r>
                      <m:r>
                        <a:rPr lang="en-US" sz="1400">
                          <a:latin typeface="Cambria Math"/>
                        </a:rPr>
                        <m:t>=</m:t>
                      </m:r>
                      <m:d>
                        <m:dPr>
                          <m:begChr m:val="{"/>
                          <m:endChr m:val="}"/>
                          <m:sepChr m:val="∣"/>
                          <m:ctrlPr>
                            <a:rPr lang="en-US" i="1">
                              <a:latin typeface="Cambria Math" panose="02040503050406030204" pitchFamily="18" charset="0"/>
                            </a:rPr>
                          </m:ctrlPr>
                        </m:dPr>
                        <m:e>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e>
                          <m:r>
                            <a:rPr lang="en-US" sz="1400">
                              <a:latin typeface="Cambria Math"/>
                            </a:rPr>
                            <m:t>𝑥</m:t>
                          </m:r>
                          <m:r>
                            <a:rPr lang="en-US" sz="1400">
                              <a:latin typeface="Cambria Math"/>
                            </a:rPr>
                            <m:t>=1,…,</m:t>
                          </m:r>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𝑥</m:t>
                              </m:r>
                            </m:sub>
                          </m:sSub>
                          <m:r>
                            <a:rPr lang="en-US" sz="1400">
                              <a:latin typeface="Cambria Math"/>
                            </a:rPr>
                            <m:t>,</m:t>
                          </m:r>
                          <m:r>
                            <m:rPr>
                              <m:nor/>
                            </m:rPr>
                            <a:rPr lang="en-US" sz="1400">
                              <a:latin typeface="Cambria Math"/>
                            </a:rPr>
                            <m:t> </m:t>
                          </m:r>
                          <m:r>
                            <a:rPr lang="en-US" sz="1400">
                              <a:latin typeface="Cambria Math"/>
                            </a:rPr>
                            <m:t>𝑦</m:t>
                          </m:r>
                          <m:r>
                            <a:rPr lang="en-US" sz="1400">
                              <a:latin typeface="Cambria Math"/>
                            </a:rPr>
                            <m:t>=1,…,</m:t>
                          </m:r>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𝑦</m:t>
                              </m:r>
                            </m:sub>
                          </m:sSub>
                        </m:e>
                      </m:d>
                    </m:oMath>
                  </m:oMathPara>
                </a14:m>
                <a:endParaRPr lang="en-US" sz="1400" dirty="0"/>
              </a:p>
            </p:txBody>
          </p:sp>
        </mc:Choice>
        <mc:Fallback xmlns="">
          <p:sp>
            <p:nvSpPr>
              <p:cNvPr id="18" name="Text 3">
                <a:extLst>
                  <a:ext uri="{FF2B5EF4-FFF2-40B4-BE49-F238E27FC236}">
                    <a16:creationId xmlns:a16="http://schemas.microsoft.com/office/drawing/2014/main" id="{70A29A39-4D26-46DC-A2DE-98E7CDB82810}"/>
                  </a:ext>
                </a:extLst>
              </p:cNvPr>
              <p:cNvSpPr>
                <a:spLocks noRot="1" noChangeAspect="1" noMove="1" noResize="1" noEditPoints="1" noAdjustHandles="1" noChangeArrowheads="1" noChangeShapeType="1" noTextEdit="1"/>
              </p:cNvSpPr>
              <p:nvPr/>
            </p:nvSpPr>
            <p:spPr>
              <a:xfrm>
                <a:off x="6416431" y="1421892"/>
                <a:ext cx="3230490" cy="502920"/>
              </a:xfrm>
              <a:prstGeom prst="rect">
                <a:avLst/>
              </a:prstGeom>
              <a:blipFill>
                <a:blip r:embed="rId5"/>
                <a:stretch>
                  <a:fillRect l="-226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9" name="Text 4">
                <a:extLst>
                  <a:ext uri="{FF2B5EF4-FFF2-40B4-BE49-F238E27FC236}">
                    <a16:creationId xmlns:a16="http://schemas.microsoft.com/office/drawing/2014/main" id="{9FA6B694-0BE1-456B-84DE-EAFCE5827742}"/>
                  </a:ext>
                </a:extLst>
              </p:cNvPr>
              <p:cNvSpPr/>
              <p:nvPr/>
            </p:nvSpPr>
            <p:spPr>
              <a:xfrm>
                <a:off x="9646529" y="1418489"/>
                <a:ext cx="2256302"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300">
                              <a:latin typeface="Cambria Math"/>
                            </a:rPr>
                            <m:t>𝑆</m:t>
                          </m:r>
                        </m:e>
                        <m:sub>
                          <m:r>
                            <a:rPr lang="en-US" sz="1300">
                              <a:latin typeface="Cambria Math"/>
                            </a:rPr>
                            <m:t>𝑘</m:t>
                          </m:r>
                        </m:sub>
                      </m:sSub>
                      <m:r>
                        <m:rPr>
                          <m:aln/>
                        </m:rPr>
                        <a:rPr lang="en-US" sz="1300">
                          <a:latin typeface="Cambria Math"/>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𝑠</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r>
                            <a:rPr lang="en-US" sz="1300">
                              <a:latin typeface="Cambria Math"/>
                            </a:rPr>
                            <m:t>𝒢</m:t>
                          </m:r>
                        </m:e>
                      </m:d>
                    </m:oMath>
                  </m:oMathPara>
                </a14:m>
                <a:endParaRPr lang="en-US" sz="1400" dirty="0"/>
              </a:p>
            </p:txBody>
          </p:sp>
        </mc:Choice>
        <mc:Fallback xmlns="">
          <p:sp>
            <p:nvSpPr>
              <p:cNvPr id="19" name="Text 4">
                <a:extLst>
                  <a:ext uri="{FF2B5EF4-FFF2-40B4-BE49-F238E27FC236}">
                    <a16:creationId xmlns:a16="http://schemas.microsoft.com/office/drawing/2014/main" id="{9FA6B694-0BE1-456B-84DE-EAFCE5827742}"/>
                  </a:ext>
                </a:extLst>
              </p:cNvPr>
              <p:cNvSpPr>
                <a:spLocks noRot="1" noChangeAspect="1" noMove="1" noResize="1" noEditPoints="1" noAdjustHandles="1" noChangeArrowheads="1" noChangeShapeType="1" noTextEdit="1"/>
              </p:cNvSpPr>
              <p:nvPr/>
            </p:nvSpPr>
            <p:spPr>
              <a:xfrm>
                <a:off x="9646529" y="1418489"/>
                <a:ext cx="2256302" cy="50292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0" name="Text 5">
                <a:extLst>
                  <a:ext uri="{FF2B5EF4-FFF2-40B4-BE49-F238E27FC236}">
                    <a16:creationId xmlns:a16="http://schemas.microsoft.com/office/drawing/2014/main" id="{9D2C264E-24E0-4A8F-897E-1DA6215BFBED}"/>
                  </a:ext>
                </a:extLst>
              </p:cNvPr>
              <p:cNvSpPr/>
              <p:nvPr/>
            </p:nvSpPr>
            <p:spPr>
              <a:xfrm>
                <a:off x="6400800" y="1823970"/>
                <a:ext cx="1740095" cy="17373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300">
                              <a:latin typeface="Cambria Math"/>
                            </a:rPr>
                            <m:t>𝑠</m:t>
                          </m:r>
                        </m:e>
                        <m:sub>
                          <m:r>
                            <a:rPr lang="en-US" sz="1300">
                              <a:latin typeface="Cambria Math"/>
                            </a:rPr>
                            <m:t>𝑘</m:t>
                          </m:r>
                        </m:sub>
                      </m:sSub>
                      <m:r>
                        <m:rPr>
                          <m:aln/>
                        </m:rPr>
                        <a:rPr lang="en-US" sz="1300">
                          <a:latin typeface="Cambria Math"/>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e>
                              <m:sSub>
                                <m:sSubPr>
                                  <m:ctrlPr>
                                    <a:rPr lang="en-US" i="1">
                                      <a:latin typeface="Cambria Math" panose="02040503050406030204" pitchFamily="18" charset="0"/>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e>
                              <m:sSub>
                                <m:sSubPr>
                                  <m:ctrlPr>
                                    <a:rPr lang="en-US" i="1">
                                      <a:latin typeface="Cambria Math" panose="02040503050406030204" pitchFamily="18" charset="0"/>
                                    </a:rPr>
                                  </m:ctrlPr>
                                </m:sSubPr>
                                <m:e>
                                  <m:r>
                                    <a:rPr lang="en-US" sz="1300">
                                      <a:latin typeface="Cambria Math"/>
                                    </a:rPr>
                                    <m:t>𝐼</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e>
                              <m:sSub>
                                <m:sSubPr>
                                  <m:ctrlPr>
                                    <a:rPr lang="en-US" i="1">
                                      <a:latin typeface="Cambria Math" panose="02040503050406030204" pitchFamily="18" charset="0"/>
                                    </a:rPr>
                                  </m:ctrlPr>
                                </m:sSubPr>
                                <m:e>
                                  <m:r>
                                    <a:rPr lang="en-US" sz="1300">
                                      <a:latin typeface="Cambria Math"/>
                                    </a:rPr>
                                    <m:t>𝜏</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eqArr>
                        </m:e>
                      </m:d>
                    </m:oMath>
                  </m:oMathPara>
                </a14:m>
                <a:endParaRPr lang="en-US" sz="1400" dirty="0"/>
              </a:p>
            </p:txBody>
          </p:sp>
        </mc:Choice>
        <mc:Fallback xmlns="">
          <p:sp>
            <p:nvSpPr>
              <p:cNvPr id="20" name="Text 5">
                <a:extLst>
                  <a:ext uri="{FF2B5EF4-FFF2-40B4-BE49-F238E27FC236}">
                    <a16:creationId xmlns:a16="http://schemas.microsoft.com/office/drawing/2014/main" id="{9D2C264E-24E0-4A8F-897E-1DA6215BFBED}"/>
                  </a:ext>
                </a:extLst>
              </p:cNvPr>
              <p:cNvSpPr>
                <a:spLocks noRot="1" noChangeAspect="1" noMove="1" noResize="1" noEditPoints="1" noAdjustHandles="1" noChangeArrowheads="1" noChangeShapeType="1" noTextEdit="1"/>
              </p:cNvSpPr>
              <p:nvPr/>
            </p:nvSpPr>
            <p:spPr>
              <a:xfrm>
                <a:off x="6400800" y="1823970"/>
                <a:ext cx="1740095" cy="1737360"/>
              </a:xfrm>
              <a:prstGeom prst="rect">
                <a:avLst/>
              </a:prstGeom>
              <a:blipFill>
                <a:blip r:embed="rId7"/>
                <a:stretch>
                  <a:fillRect/>
                </a:stretch>
              </a:blipFill>
              <a:ln/>
            </p:spPr>
            <p:txBody>
              <a:bodyPr/>
              <a:lstStyle/>
              <a:p>
                <a:r>
                  <a:rPr lang="tr-TR">
                    <a:noFill/>
                  </a:rPr>
                  <a:t/>
                </a:r>
              </a:p>
            </p:txBody>
          </p:sp>
        </mc:Fallback>
      </mc:AlternateContent>
      <p:sp>
        <p:nvSpPr>
          <p:cNvPr id="21" name="Text 6">
            <a:extLst>
              <a:ext uri="{FF2B5EF4-FFF2-40B4-BE49-F238E27FC236}">
                <a16:creationId xmlns:a16="http://schemas.microsoft.com/office/drawing/2014/main" id="{8A6C24BA-3D61-47EA-A778-653EAD9582B7}"/>
              </a:ext>
            </a:extLst>
          </p:cNvPr>
          <p:cNvSpPr/>
          <p:nvPr/>
        </p:nvSpPr>
        <p:spPr>
          <a:xfrm>
            <a:off x="8099474" y="2136161"/>
            <a:ext cx="4092526" cy="1277425"/>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Burning status — is the cell burning (0/1)</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Available fuel mass — combustible material remaining</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Fire intensity — bounded local intensity proxy</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Time since ignition — for persistence and extinction</a:t>
            </a:r>
            <a:endParaRPr lang="en-US" sz="1350" dirty="0"/>
          </a:p>
        </p:txBody>
      </p:sp>
      <p:sp>
        <p:nvSpPr>
          <p:cNvPr id="22" name="Text 7">
            <a:extLst>
              <a:ext uri="{FF2B5EF4-FFF2-40B4-BE49-F238E27FC236}">
                <a16:creationId xmlns:a16="http://schemas.microsoft.com/office/drawing/2014/main" id="{92B814D4-9276-4488-9661-AE240F4EC8A1}"/>
              </a:ext>
            </a:extLst>
          </p:cNvPr>
          <p:cNvSpPr/>
          <p:nvPr/>
        </p:nvSpPr>
        <p:spPr>
          <a:xfrm>
            <a:off x="6416431" y="3490426"/>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One deterministic-plus-stochastic step</a:t>
            </a:r>
            <a:endParaRPr lang="en-US" sz="1500" dirty="0"/>
          </a:p>
        </p:txBody>
      </p:sp>
      <mc:AlternateContent xmlns:mc="http://schemas.openxmlformats.org/markup-compatibility/2006" xmlns:a14="http://schemas.microsoft.com/office/drawing/2010/main">
        <mc:Choice Requires="a14">
          <p:sp>
            <p:nvSpPr>
              <p:cNvPr id="23" name="Text 8">
                <a:extLst>
                  <a:ext uri="{FF2B5EF4-FFF2-40B4-BE49-F238E27FC236}">
                    <a16:creationId xmlns:a16="http://schemas.microsoft.com/office/drawing/2014/main" id="{46FD9A28-DCBD-4208-9E7E-867E8C30D071}"/>
                  </a:ext>
                </a:extLst>
              </p:cNvPr>
              <p:cNvSpPr/>
              <p:nvPr/>
            </p:nvSpPr>
            <p:spPr>
              <a:xfrm>
                <a:off x="6400800" y="3670561"/>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r>
                            <a:rPr lang="en-US" sz="1600">
                              <a:latin typeface="Cambria Math"/>
                            </a:rPr>
                            <m:t>+1</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r>
                        <m:rPr>
                          <m:sty m:val="p"/>
                        </m:rPr>
                        <a:rPr lang="en-US" sz="1600">
                          <a:latin typeface="Cambria Math"/>
                        </a:rPr>
                        <m:t>Φ</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600">
                                  <a:latin typeface="Cambria Math"/>
                                </a:rPr>
                                <m:t>𝑆</m:t>
                              </m:r>
                            </m:e>
                            <m:sub>
                              <m:r>
                                <a:rPr lang="en-US" sz="1600">
                                  <a:latin typeface="Cambria Math"/>
                                </a:rPr>
                                <m:t>𝑘</m:t>
                              </m:r>
                            </m:sub>
                          </m:sSub>
                          <m:d>
                            <m:dPr>
                              <m:ctrlPr>
                                <a:rPr lang="en-US" i="1">
                                  <a:latin typeface="Cambria Math" panose="02040503050406030204" pitchFamily="18" charset="0"/>
                                </a:rPr>
                              </m:ctrlPr>
                            </m:dPr>
                            <m:e>
                              <m:r>
                                <a:rPr lang="en-US" sz="1600">
                                  <a:latin typeface="Cambria Math"/>
                                </a:rPr>
                                <m:t>𝑥</m:t>
                              </m:r>
                              <m:r>
                                <a:rPr lang="en-US" sz="1600">
                                  <a:latin typeface="Cambria Math"/>
                                </a:rPr>
                                <m:t>,</m:t>
                              </m:r>
                              <m:r>
                                <a:rPr lang="en-US" sz="1600">
                                  <a:latin typeface="Cambria Math"/>
                                </a:rPr>
                                <m:t>𝑦</m:t>
                              </m:r>
                            </m:e>
                          </m:d>
                          <m:r>
                            <a:rPr lang="en-US" sz="1600">
                              <a:latin typeface="Cambria Math"/>
                            </a:rPr>
                            <m:t>,</m:t>
                          </m:r>
                          <m:sSub>
                            <m:sSubPr>
                              <m:ctrlPr>
                                <a:rPr lang="en-US" i="1">
                                  <a:latin typeface="Cambria Math" panose="02040503050406030204" pitchFamily="18" charset="0"/>
                                </a:rPr>
                              </m:ctrlPr>
                            </m:sSubPr>
                            <m:e>
                              <m:r>
                                <a:rPr lang="en-US" sz="1600">
                                  <a:latin typeface="Cambria Math"/>
                                </a:rPr>
                                <m:t>ℱ</m:t>
                              </m:r>
                            </m:e>
                            <m:sub>
                              <m:r>
                                <a:rPr lang="en-US" sz="1600">
                                  <a:latin typeface="Cambria Math"/>
                                </a:rPr>
                                <m:t>𝑖𝑛</m:t>
                              </m:r>
                              <m:r>
                                <a:rPr lang="en-US" sz="1600">
                                  <a:latin typeface="Cambria Math"/>
                                </a:rPr>
                                <m:t>,</m:t>
                              </m:r>
                              <m:r>
                                <a:rPr lang="en-US" sz="1600">
                                  <a:latin typeface="Cambria Math"/>
                                </a:rPr>
                                <m:t>𝑘</m:t>
                              </m:r>
                            </m:sub>
                          </m:sSub>
                        </m:e>
                      </m:d>
                    </m:oMath>
                  </m:oMathPara>
                </a14:m>
                <a:endParaRPr lang="en-US" sz="1400" dirty="0"/>
              </a:p>
            </p:txBody>
          </p:sp>
        </mc:Choice>
        <mc:Fallback xmlns="">
          <p:sp>
            <p:nvSpPr>
              <p:cNvPr id="23" name="Text 8">
                <a:extLst>
                  <a:ext uri="{FF2B5EF4-FFF2-40B4-BE49-F238E27FC236}">
                    <a16:creationId xmlns:a16="http://schemas.microsoft.com/office/drawing/2014/main" id="{46FD9A28-DCBD-4208-9E7E-867E8C30D071}"/>
                  </a:ext>
                </a:extLst>
              </p:cNvPr>
              <p:cNvSpPr>
                <a:spLocks noRot="1" noChangeAspect="1" noMove="1" noResize="1" noEditPoints="1" noAdjustHandles="1" noChangeArrowheads="1" noChangeShapeType="1" noTextEdit="1"/>
              </p:cNvSpPr>
              <p:nvPr/>
            </p:nvSpPr>
            <p:spPr>
              <a:xfrm>
                <a:off x="6400800" y="3670561"/>
                <a:ext cx="5440680" cy="548640"/>
              </a:xfrm>
              <a:prstGeom prst="rect">
                <a:avLst/>
              </a:prstGeom>
              <a:blipFill>
                <a:blip r:embed="rId8"/>
                <a:stretch>
                  <a:fillRect/>
                </a:stretch>
              </a:blipFill>
              <a:ln/>
            </p:spPr>
            <p:txBody>
              <a:bodyPr/>
              <a:lstStyle/>
              <a:p>
                <a:r>
                  <a:rPr lang="tr-TR">
                    <a:noFill/>
                  </a:rPr>
                  <a:t/>
                </a:r>
              </a:p>
            </p:txBody>
          </p:sp>
        </mc:Fallback>
      </mc:AlternateContent>
      <p:sp>
        <p:nvSpPr>
          <p:cNvPr id="24" name="Text 9">
            <a:extLst>
              <a:ext uri="{FF2B5EF4-FFF2-40B4-BE49-F238E27FC236}">
                <a16:creationId xmlns:a16="http://schemas.microsoft.com/office/drawing/2014/main" id="{47A6F6AC-071B-43F1-A75A-D9ED93AE5CEE}"/>
              </a:ext>
            </a:extLst>
          </p:cNvPr>
          <p:cNvSpPr/>
          <p:nvPr/>
        </p:nvSpPr>
        <p:spPr>
          <a:xfrm>
            <a:off x="6400800" y="4198627"/>
            <a:ext cx="5440680" cy="2596896"/>
          </a:xfrm>
          <a:prstGeom prst="rect">
            <a:avLst/>
          </a:prstGeom>
          <a:noFill/>
          <a:ln/>
        </p:spPr>
        <p:txBody>
          <a:bodyPr wrap="square" lIns="0" tIns="0" rIns="0" bIns="0" rtlCol="0" anchor="t"/>
          <a:lstStyle/>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Φ applies four evolutions to every cell, once per simulation step:</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① </a:t>
            </a:r>
            <a:r>
              <a:rPr lang="en-US" sz="1350" b="1" dirty="0">
                <a:solidFill>
                  <a:srgbClr val="222222"/>
                </a:solidFill>
                <a:latin typeface="Calibri" pitchFamily="34" charset="0"/>
                <a:ea typeface="Calibri" pitchFamily="34" charset="-122"/>
                <a:cs typeface="Calibri" pitchFamily="34" charset="-120"/>
              </a:rPr>
              <a:t>Burning status</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Deterministic persistence ⊕ stochastic, wind-anisotropic propagation ⊕ ignition injection</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② </a:t>
            </a:r>
            <a:r>
              <a:rPr lang="en-US" sz="1350" b="1" dirty="0">
                <a:solidFill>
                  <a:srgbClr val="222222"/>
                </a:solidFill>
                <a:latin typeface="Calibri" pitchFamily="34" charset="0"/>
                <a:ea typeface="Calibri" pitchFamily="34" charset="-122"/>
                <a:cs typeface="Calibri" pitchFamily="34" charset="-120"/>
              </a:rPr>
              <a:t>Fuel mass</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Combustion depletion minus suppression-driven reduction, floored at zero</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③ </a:t>
            </a:r>
            <a:r>
              <a:rPr lang="en-US" sz="1350" b="1" dirty="0">
                <a:solidFill>
                  <a:srgbClr val="222222"/>
                </a:solidFill>
                <a:latin typeface="Calibri" pitchFamily="34" charset="0"/>
                <a:ea typeface="Calibri" pitchFamily="34" charset="-122"/>
                <a:cs typeface="Calibri" pitchFamily="34" charset="-120"/>
              </a:rPr>
              <a:t>Fire intensity</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Bounded (tanh) combination of fuel, wind, and slope</a:t>
            </a:r>
            <a:endParaRPr lang="en-US" sz="1350" dirty="0"/>
          </a:p>
          <a:p>
            <a:pPr algn="just">
              <a:lnSpc>
                <a:spcPct val="105000"/>
              </a:lnSpc>
              <a:spcAft>
                <a:spcPts val="700"/>
              </a:spcAft>
              <a:buSzPct val="100000"/>
            </a:pPr>
            <a:r>
              <a:rPr lang="en-US" sz="1350" dirty="0">
                <a:solidFill>
                  <a:srgbClr val="222222"/>
                </a:solidFill>
                <a:latin typeface="Calibri" pitchFamily="34" charset="0"/>
                <a:ea typeface="Calibri" pitchFamily="34" charset="-122"/>
                <a:cs typeface="Calibri" pitchFamily="34" charset="-120"/>
              </a:rPr>
              <a:t>④ </a:t>
            </a:r>
            <a:r>
              <a:rPr lang="en-US" sz="1350" b="1" dirty="0">
                <a:solidFill>
                  <a:srgbClr val="222222"/>
                </a:solidFill>
                <a:latin typeface="Calibri" pitchFamily="34" charset="0"/>
                <a:ea typeface="Calibri" pitchFamily="34" charset="-122"/>
                <a:cs typeface="Calibri" pitchFamily="34" charset="-120"/>
              </a:rPr>
              <a:t>Ignition time</a:t>
            </a:r>
            <a:r>
              <a:rPr lang="tr-TR" sz="1350" dirty="0">
                <a:solidFill>
                  <a:srgbClr val="222222"/>
                </a:solidFill>
                <a:latin typeface="Calibri" pitchFamily="34" charset="0"/>
                <a:ea typeface="Calibri" pitchFamily="34" charset="-122"/>
                <a:cs typeface="Calibri" pitchFamily="34" charset="-120"/>
              </a:rPr>
              <a:t>:</a:t>
            </a:r>
            <a:r>
              <a:rPr lang="en-US" sz="1350" dirty="0">
                <a:solidFill>
                  <a:srgbClr val="222222"/>
                </a:solidFill>
                <a:latin typeface="Calibri" pitchFamily="34" charset="0"/>
                <a:ea typeface="Calibri" pitchFamily="34" charset="-122"/>
                <a:cs typeface="Calibri" pitchFamily="34" charset="-120"/>
              </a:rPr>
              <a:t> Reset on new ignition, advanced while burning, cleared on extinction</a:t>
            </a:r>
            <a:endParaRPr lang="en-US" sz="1350" dirty="0"/>
          </a:p>
          <a:p>
            <a:pPr algn="just">
              <a:lnSpc>
                <a:spcPct val="105000"/>
              </a:lnSpc>
              <a:spcAft>
                <a:spcPts val="700"/>
              </a:spcAft>
              <a:buSzPct val="100000"/>
            </a:pPr>
            <a:r>
              <a:rPr lang="en-US" sz="1350" b="1" dirty="0">
                <a:solidFill>
                  <a:srgbClr val="222222"/>
                </a:solidFill>
                <a:latin typeface="Calibri" pitchFamily="34" charset="0"/>
                <a:ea typeface="Calibri" pitchFamily="34" charset="-122"/>
                <a:cs typeface="Calibri" pitchFamily="34" charset="-120"/>
              </a:rPr>
              <a:t>Deterministic given the seed — identical worlds can be replayed under different decision configurations</a:t>
            </a:r>
            <a:endParaRPr lang="en-US" sz="1350" dirty="0"/>
          </a:p>
        </p:txBody>
      </p:sp>
      <p:pic>
        <p:nvPicPr>
          <p:cNvPr id="25" name="Image 0" descr="/tmp/thx/deck/figs/Figure3_3.png">
            <a:extLst>
              <a:ext uri="{FF2B5EF4-FFF2-40B4-BE49-F238E27FC236}">
                <a16:creationId xmlns:a16="http://schemas.microsoft.com/office/drawing/2014/main" id="{54EE3A82-FAE0-4377-973E-6BB15DD238B5}"/>
              </a:ext>
            </a:extLst>
          </p:cNvPr>
          <p:cNvPicPr>
            <a:picLocks noChangeAspect="1"/>
          </p:cNvPicPr>
          <p:nvPr/>
        </p:nvPicPr>
        <p:blipFill>
          <a:blip r:embed="rId9"/>
          <a:stretch>
            <a:fillRect/>
          </a:stretch>
        </p:blipFill>
        <p:spPr>
          <a:xfrm>
            <a:off x="138505" y="1351749"/>
            <a:ext cx="6254479" cy="5122203"/>
          </a:xfrm>
          <a:prstGeom prst="rect">
            <a:avLst/>
          </a:prstGeom>
        </p:spPr>
      </p:pic>
      <p:sp>
        <p:nvSpPr>
          <p:cNvPr id="90001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19 / 113</a:t>
            </a:r>
          </a:p>
        </p:txBody>
      </p:sp>
    </p:spTree>
    <p:extLst>
      <p:ext uri="{BB962C8B-B14F-4D97-AF65-F5344CB8AC3E}">
        <p14:creationId xmlns:p14="http://schemas.microsoft.com/office/powerpoint/2010/main" val="216522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Per-Cell State, </a:t>
            </a:r>
            <a:r>
              <a:rPr lang="tr-TR" sz="2900" b="1" dirty="0" err="1">
                <a:solidFill>
                  <a:srgbClr val="000000"/>
                </a:solidFill>
                <a:latin typeface="Cambria" pitchFamily="34" charset="0"/>
                <a:ea typeface="Cambria" pitchFamily="34" charset="-122"/>
                <a:cs typeface="Cambria" pitchFamily="34" charset="-120"/>
              </a:rPr>
              <a:t>State</a:t>
            </a:r>
            <a:r>
              <a:rPr lang="en-US" sz="2900" b="1" dirty="0">
                <a:solidFill>
                  <a:srgbClr val="000000"/>
                </a:solidFill>
                <a:latin typeface="Cambria" pitchFamily="34" charset="0"/>
                <a:ea typeface="Cambria" pitchFamily="34" charset="-122"/>
                <a:cs typeface="Cambria" pitchFamily="34" charset="-120"/>
              </a:rPr>
              <a:t> Transition</a:t>
            </a:r>
            <a:r>
              <a:rPr lang="tr-TR" sz="2900" b="1" dirty="0">
                <a:solidFill>
                  <a:srgbClr val="000000"/>
                </a:solidFill>
                <a:latin typeface="Cambria" pitchFamily="34" charset="0"/>
                <a:ea typeface="Cambria" pitchFamily="34" charset="-122"/>
                <a:cs typeface="Cambria" pitchFamily="34" charset="-120"/>
              </a:rPr>
              <a:t> </a:t>
            </a:r>
            <a:r>
              <a:rPr lang="en-US" sz="2900" b="1" dirty="0">
                <a:solidFill>
                  <a:srgbClr val="000000"/>
                </a:solidFill>
                <a:latin typeface="Cambria" pitchFamily="34" charset="0"/>
                <a:ea typeface="Cambria" pitchFamily="34" charset="-122"/>
                <a:cs typeface="Cambria" pitchFamily="34" charset="-120"/>
              </a:rPr>
              <a:t>①</a:t>
            </a:r>
            <a:r>
              <a:rPr lang="tr-TR" sz="2900" b="1" dirty="0">
                <a:solidFill>
                  <a:srgbClr val="000000"/>
                </a:solidFill>
                <a:latin typeface="Cambria" pitchFamily="34" charset="0"/>
                <a:ea typeface="Cambria" pitchFamily="34" charset="-122"/>
                <a:cs typeface="Cambria" pitchFamily="34" charset="-120"/>
              </a:rPr>
              <a:t> </a:t>
            </a:r>
            <a:endParaRPr lang="en-US" sz="2900" dirty="0"/>
          </a:p>
        </p:txBody>
      </p:sp>
      <p:pic>
        <p:nvPicPr>
          <p:cNvPr id="9" name="Image 4"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0" name="Image 5"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35" name="Text 2">
                <a:extLst>
                  <a:ext uri="{FF2B5EF4-FFF2-40B4-BE49-F238E27FC236}">
                    <a16:creationId xmlns:a16="http://schemas.microsoft.com/office/drawing/2014/main" id="{D365A081-EC97-4F4F-8394-5A3EB4A35E2D}"/>
                  </a:ext>
                </a:extLst>
              </p:cNvPr>
              <p:cNvSpPr/>
              <p:nvPr/>
            </p:nvSpPr>
            <p:spPr>
              <a:xfrm>
                <a:off x="387097" y="1311638"/>
                <a:ext cx="11353799"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a:latin typeface="Cambria Math"/>
                            </a:rPr>
                            <m:t>𝐵</m:t>
                          </m:r>
                        </m:e>
                        <m:sub>
                          <m:r>
                            <a:rPr lang="en-US">
                              <a:latin typeface="Cambria Math"/>
                            </a:rPr>
                            <m:t>𝑘</m:t>
                          </m:r>
                          <m:r>
                            <a:rPr lang="en-US">
                              <a:latin typeface="Cambria Math"/>
                            </a:rPr>
                            <m:t>+1</m:t>
                          </m:r>
                        </m:sub>
                      </m:sSub>
                      <m:d>
                        <m:dPr>
                          <m:ctrlPr>
                            <a:rPr lang="en-US" sz="2400"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func>
                        <m:funcPr>
                          <m:ctrlPr>
                            <a:rPr lang="en-US" sz="2400" i="1">
                              <a:latin typeface="Cambria Math" panose="02040503050406030204" pitchFamily="18" charset="0"/>
                            </a:rPr>
                          </m:ctrlPr>
                        </m:funcPr>
                        <m:fName>
                          <m:r>
                            <m:rPr>
                              <m:sty m:val="p"/>
                            </m:rPr>
                            <a:rPr lang="en-US">
                              <a:latin typeface="Cambria Math"/>
                            </a:rPr>
                            <m:t>max</m:t>
                          </m:r>
                        </m:fName>
                        <m:e>
                          <m:d>
                            <m:dPr>
                              <m:ctrlPr>
                                <a:rPr lang="en-US" sz="2400" i="1">
                                  <a:latin typeface="Cambria Math" panose="02040503050406030204" pitchFamily="18" charset="0"/>
                                </a:rPr>
                              </m:ctrlPr>
                            </m:dPr>
                            <m:e>
                              <m:sSubSup>
                                <m:sSubSupPr>
                                  <m:ctrlPr>
                                    <a:rPr lang="en-US" sz="2400" i="1">
                                      <a:latin typeface="Cambria Math" panose="02040503050406030204" pitchFamily="18" charset="0"/>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𝑝𝑒𝑟𝑠</m:t>
                                  </m:r>
                                </m:sup>
                              </m:sSubSup>
                              <m:d>
                                <m:dPr>
                                  <m:ctrlPr>
                                    <a:rPr lang="en-US" sz="2400"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bSup>
                                <m:sSubSupPr>
                                  <m:ctrlPr>
                                    <a:rPr lang="en-US" sz="2400" i="1">
                                      <a:latin typeface="Cambria Math" panose="02040503050406030204" pitchFamily="18" charset="0"/>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𝑝𝑟𝑜𝑝</m:t>
                                  </m:r>
                                </m:sup>
                              </m:sSubSup>
                              <m:d>
                                <m:dPr>
                                  <m:ctrlPr>
                                    <a:rPr lang="en-US" sz="2400"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bSup>
                                <m:sSubSupPr>
                                  <m:ctrlPr>
                                    <a:rPr lang="en-US" sz="2400" i="1">
                                      <a:latin typeface="Cambria Math" panose="02040503050406030204" pitchFamily="18" charset="0"/>
                                    </a:rPr>
                                  </m:ctrlPr>
                                </m:sSubSupPr>
                                <m:e>
                                  <m:r>
                                    <a:rPr lang="en-US">
                                      <a:latin typeface="Cambria Math"/>
                                    </a:rPr>
                                    <m:t>𝐵</m:t>
                                  </m:r>
                                </m:e>
                                <m:sub>
                                  <m:r>
                                    <a:rPr lang="en-US">
                                      <a:latin typeface="Cambria Math"/>
                                    </a:rPr>
                                    <m:t>𝑘</m:t>
                                  </m:r>
                                  <m:r>
                                    <a:rPr lang="en-US">
                                      <a:latin typeface="Cambria Math"/>
                                    </a:rPr>
                                    <m:t>+1</m:t>
                                  </m:r>
                                </m:sub>
                                <m:sup>
                                  <m:r>
                                    <a:rPr lang="en-US">
                                      <a:latin typeface="Cambria Math"/>
                                    </a:rPr>
                                    <m:t>𝑠𝑝𝑜𝑡</m:t>
                                  </m:r>
                                </m:sup>
                              </m:sSubSup>
                              <m:d>
                                <m:dPr>
                                  <m:ctrlPr>
                                    <a:rPr lang="en-US" sz="2400"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b>
                                <m:sSubPr>
                                  <m:ctrlPr>
                                    <a:rPr lang="en-US" sz="2400" i="1">
                                      <a:latin typeface="Cambria Math" panose="02040503050406030204" pitchFamily="18" charset="0"/>
                                    </a:rPr>
                                  </m:ctrlPr>
                                </m:sSubPr>
                                <m:e>
                                  <m:r>
                                    <a:rPr lang="en-US">
                                      <a:latin typeface="Cambria Math"/>
                                    </a:rPr>
                                    <m:t>𝐼</m:t>
                                  </m:r>
                                </m:e>
                                <m:sub>
                                  <m:r>
                                    <a:rPr lang="en-US">
                                      <a:latin typeface="Cambria Math"/>
                                    </a:rPr>
                                    <m:t>𝐼𝑔𝑛</m:t>
                                  </m:r>
                                  <m:r>
                                    <a:rPr lang="en-US">
                                      <a:latin typeface="Cambria Math"/>
                                    </a:rPr>
                                    <m:t>,</m:t>
                                  </m:r>
                                  <m:r>
                                    <a:rPr lang="en-US">
                                      <a:latin typeface="Cambria Math"/>
                                    </a:rPr>
                                    <m:t>𝑘</m:t>
                                  </m:r>
                                </m:sub>
                              </m:sSub>
                              <m:d>
                                <m:dPr>
                                  <m:ctrlPr>
                                    <a:rPr lang="en-US" sz="2400"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e>
                          </m:d>
                        </m:e>
                      </m:func>
                    </m:oMath>
                  </m:oMathPara>
                </a14:m>
                <a:endParaRPr lang="en-US" dirty="0"/>
              </a:p>
            </p:txBody>
          </p:sp>
        </mc:Choice>
        <mc:Fallback xmlns="">
          <p:sp>
            <p:nvSpPr>
              <p:cNvPr id="35" name="Text 2">
                <a:extLst>
                  <a:ext uri="{FF2B5EF4-FFF2-40B4-BE49-F238E27FC236}">
                    <a16:creationId xmlns:a16="http://schemas.microsoft.com/office/drawing/2014/main" id="{D365A081-EC97-4F4F-8394-5A3EB4A35E2D}"/>
                  </a:ext>
                </a:extLst>
              </p:cNvPr>
              <p:cNvSpPr>
                <a:spLocks noRot="1" noChangeAspect="1" noMove="1" noResize="1" noEditPoints="1" noAdjustHandles="1" noChangeArrowheads="1" noChangeShapeType="1" noTextEdit="1"/>
              </p:cNvSpPr>
              <p:nvPr/>
            </p:nvSpPr>
            <p:spPr>
              <a:xfrm>
                <a:off x="387097" y="1311638"/>
                <a:ext cx="11353799" cy="548640"/>
              </a:xfrm>
              <a:prstGeom prst="rect">
                <a:avLst/>
              </a:prstGeom>
              <a:blipFill>
                <a:blip r:embed="rId5"/>
                <a:stretch>
                  <a:fillRect b="-1111"/>
                </a:stretch>
              </a:blipFill>
              <a:ln/>
            </p:spPr>
            <p:txBody>
              <a:bodyPr/>
              <a:lstStyle/>
              <a:p>
                <a:r>
                  <a:rPr lang="tr-TR">
                    <a:noFill/>
                  </a:rPr>
                  <a:t/>
                </a:r>
              </a:p>
            </p:txBody>
          </p:sp>
        </mc:Fallback>
      </mc:AlternateContent>
      <p:sp>
        <p:nvSpPr>
          <p:cNvPr id="36" name="Text 3">
            <a:extLst>
              <a:ext uri="{FF2B5EF4-FFF2-40B4-BE49-F238E27FC236}">
                <a16:creationId xmlns:a16="http://schemas.microsoft.com/office/drawing/2014/main" id="{1A93951C-BDCF-4C92-8A45-6E1AB7CB7438}"/>
              </a:ext>
            </a:extLst>
          </p:cNvPr>
          <p:cNvSpPr/>
          <p:nvPr/>
        </p:nvSpPr>
        <p:spPr>
          <a:xfrm>
            <a:off x="502921" y="2162030"/>
            <a:ext cx="11247120" cy="36576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A cell burns at the next step if it keeps burning, or fire propagates into it, or an ignition is injected.</a:t>
            </a:r>
            <a:endParaRPr lang="en-US" sz="1400" dirty="0"/>
          </a:p>
        </p:txBody>
      </p:sp>
      <p:sp>
        <p:nvSpPr>
          <p:cNvPr id="37" name="Text 4">
            <a:extLst>
              <a:ext uri="{FF2B5EF4-FFF2-40B4-BE49-F238E27FC236}">
                <a16:creationId xmlns:a16="http://schemas.microsoft.com/office/drawing/2014/main" id="{1071B7E4-5B74-4EEF-BFEF-ED97C8C36C96}"/>
              </a:ext>
            </a:extLst>
          </p:cNvPr>
          <p:cNvSpPr/>
          <p:nvPr/>
        </p:nvSpPr>
        <p:spPr>
          <a:xfrm>
            <a:off x="502921" y="2710670"/>
            <a:ext cx="5486400" cy="310896"/>
          </a:xfrm>
          <a:prstGeom prst="rect">
            <a:avLst/>
          </a:prstGeom>
          <a:noFill/>
          <a:ln/>
        </p:spPr>
        <p:txBody>
          <a:bodyPr wrap="square" lIns="0" tIns="0" rIns="0" bIns="0" rtlCol="0" anchor="ctr"/>
          <a:lstStyle/>
          <a:p>
            <a:pPr marL="0" indent="0">
              <a:buNone/>
            </a:pPr>
            <a:r>
              <a:rPr lang="en-US" sz="1600" b="1" dirty="0">
                <a:solidFill>
                  <a:srgbClr val="E31836"/>
                </a:solidFill>
                <a:latin typeface="Calibri" pitchFamily="34" charset="0"/>
                <a:ea typeface="Calibri" pitchFamily="34" charset="-122"/>
                <a:cs typeface="Calibri" pitchFamily="34" charset="-120"/>
              </a:rPr>
              <a:t>①</a:t>
            </a:r>
            <a:r>
              <a:rPr lang="en-US" sz="1600" b="1" dirty="0">
                <a:solidFill>
                  <a:srgbClr val="FF0000"/>
                </a:solidFill>
                <a:latin typeface="Calibri" pitchFamily="34" charset="0"/>
                <a:ea typeface="Calibri" pitchFamily="34" charset="-122"/>
                <a:cs typeface="Calibri" pitchFamily="34" charset="-120"/>
              </a:rPr>
              <a:t> </a:t>
            </a:r>
            <a:r>
              <a:rPr lang="en-US" sz="1500" b="1" dirty="0">
                <a:solidFill>
                  <a:srgbClr val="E31836"/>
                </a:solidFill>
                <a:latin typeface="Calibri" pitchFamily="34" charset="0"/>
                <a:ea typeface="Calibri" pitchFamily="34" charset="-122"/>
                <a:cs typeface="Calibri" pitchFamily="34" charset="-120"/>
              </a:rPr>
              <a:t>Deterministic persistence</a:t>
            </a:r>
            <a:endParaRPr lang="en-US" sz="1500" dirty="0"/>
          </a:p>
        </p:txBody>
      </p:sp>
      <mc:AlternateContent xmlns:mc="http://schemas.openxmlformats.org/markup-compatibility/2006" xmlns:a14="http://schemas.microsoft.com/office/drawing/2010/main">
        <mc:Choice Requires="a14">
          <p:sp>
            <p:nvSpPr>
              <p:cNvPr id="38" name="Text 5">
                <a:extLst>
                  <a:ext uri="{FF2B5EF4-FFF2-40B4-BE49-F238E27FC236}">
                    <a16:creationId xmlns:a16="http://schemas.microsoft.com/office/drawing/2014/main" id="{5C91C2B7-3848-43A0-9580-287C64A4C4D2}"/>
                  </a:ext>
                </a:extLst>
              </p:cNvPr>
              <p:cNvSpPr/>
              <p:nvPr/>
            </p:nvSpPr>
            <p:spPr>
              <a:xfrm>
                <a:off x="396240" y="3140438"/>
                <a:ext cx="5486400" cy="8686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300">
                              <a:latin typeface="Cambria Math"/>
                            </a:rPr>
                            <m:t>𝐵</m:t>
                          </m:r>
                        </m:e>
                        <m:sub>
                          <m:r>
                            <a:rPr lang="en-US" sz="1300">
                              <a:latin typeface="Cambria Math"/>
                            </a:rPr>
                            <m:t>𝑘</m:t>
                          </m:r>
                          <m:r>
                            <a:rPr lang="en-US" sz="1300">
                              <a:latin typeface="Cambria Math"/>
                            </a:rPr>
                            <m:t>+1</m:t>
                          </m:r>
                        </m:sub>
                        <m:sup>
                          <m:r>
                            <a:rPr lang="en-US" sz="1300">
                              <a:latin typeface="Cambria Math"/>
                            </a:rPr>
                            <m:t>𝑝𝑒𝑟𝑠</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r>
                        <a:rPr lang="en-US" sz="1300">
                          <a:latin typeface="Cambria Math"/>
                        </a:rPr>
                        <m:t>𝟏</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&gt;</m:t>
                          </m:r>
                          <m:sSub>
                            <m:sSubPr>
                              <m:ctrlPr>
                                <a:rPr lang="en-US" i="1">
                                  <a:latin typeface="Cambria Math" panose="02040503050406030204" pitchFamily="18" charset="0"/>
                                </a:rPr>
                              </m:ctrlPr>
                            </m:sSubPr>
                            <m:e>
                              <m:r>
                                <a:rPr lang="en-US" sz="1300">
                                  <a:latin typeface="Cambria Math"/>
                                </a:rPr>
                                <m:t>𝜀</m:t>
                              </m:r>
                            </m:e>
                            <m:sub>
                              <m:r>
                                <a:rPr lang="en-US" sz="1300">
                                  <a:latin typeface="Cambria Math"/>
                                </a:rPr>
                                <m:t>𝑓𝑢𝑒</m:t>
                              </m:r>
                              <m:sSub>
                                <m:sSubPr>
                                  <m:ctrlPr>
                                    <a:rPr lang="en-US" i="1">
                                      <a:latin typeface="Cambria Math" panose="02040503050406030204" pitchFamily="18" charset="0"/>
                                    </a:rPr>
                                  </m:ctrlPr>
                                </m:sSubPr>
                                <m:e>
                                  <m:r>
                                    <a:rPr lang="en-US" sz="1300">
                                      <a:latin typeface="Cambria Math"/>
                                    </a:rPr>
                                    <m:t>𝑙</m:t>
                                  </m:r>
                                </m:e>
                                <m:sub>
                                  <m:r>
                                    <a:rPr lang="en-US" sz="1300">
                                      <a:latin typeface="Cambria Math"/>
                                    </a:rPr>
                                    <m:t>𝑙𝑜𝑎𝑑</m:t>
                                  </m:r>
                                </m:sub>
                              </m:sSub>
                            </m:sub>
                          </m:sSub>
                          <m:r>
                            <a:rPr lang="en-US" sz="1300">
                              <a:latin typeface="Cambria Math"/>
                            </a:rPr>
                            <m:t> </m:t>
                          </m:r>
                        </m:e>
                      </m:d>
                      <m:r>
                        <a:rPr lang="en-US" sz="1300">
                          <a:latin typeface="Cambria Math"/>
                        </a:rPr>
                        <m:t>⋅</m:t>
                      </m:r>
                      <m:r>
                        <a:rPr lang="en-US" sz="1300">
                          <a:latin typeface="Cambria Math"/>
                        </a:rPr>
                        <m:t>𝟏</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𝐹</m:t>
                              </m:r>
                            </m:e>
                            <m:sub>
                              <m:r>
                                <a:rPr lang="en-US" sz="1300">
                                  <a:latin typeface="Cambria Math"/>
                                </a:rPr>
                                <m:t>𝑚𝑜𝑖𝑠𝑡</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&lt;</m:t>
                          </m:r>
                          <m:sSub>
                            <m:sSubPr>
                              <m:ctrlPr>
                                <a:rPr lang="en-US" i="1">
                                  <a:latin typeface="Cambria Math" panose="02040503050406030204" pitchFamily="18" charset="0"/>
                                </a:rPr>
                              </m:ctrlPr>
                            </m:sSubPr>
                            <m:e>
                              <m:r>
                                <a:rPr lang="en-US" sz="1300">
                                  <a:latin typeface="Cambria Math"/>
                                </a:rPr>
                                <m:t>𝑚</m:t>
                              </m:r>
                            </m:e>
                            <m:sub>
                              <m:r>
                                <a:rPr lang="en-US" sz="1300">
                                  <a:latin typeface="Cambria Math"/>
                                </a:rPr>
                                <m:t>𝑒𝑥𝑡</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𝐹</m:t>
                                  </m:r>
                                </m:e>
                                <m:sub>
                                  <m:r>
                                    <a:rPr lang="en-US" sz="1300">
                                      <a:latin typeface="Cambria Math"/>
                                    </a:rPr>
                                    <m:t>𝑡𝑦𝑝𝑒</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d>
                        </m:e>
                      </m:d>
                    </m:oMath>
                  </m:oMathPara>
                </a14:m>
                <a:endParaRPr lang="en-US" sz="1400" dirty="0"/>
              </a:p>
            </p:txBody>
          </p:sp>
        </mc:Choice>
        <mc:Fallback xmlns="">
          <p:sp>
            <p:nvSpPr>
              <p:cNvPr id="38" name="Text 5">
                <a:extLst>
                  <a:ext uri="{FF2B5EF4-FFF2-40B4-BE49-F238E27FC236}">
                    <a16:creationId xmlns:a16="http://schemas.microsoft.com/office/drawing/2014/main" id="{5C91C2B7-3848-43A0-9580-287C64A4C4D2}"/>
                  </a:ext>
                </a:extLst>
              </p:cNvPr>
              <p:cNvSpPr>
                <a:spLocks noRot="1" noChangeAspect="1" noMove="1" noResize="1" noEditPoints="1" noAdjustHandles="1" noChangeArrowheads="1" noChangeShapeType="1" noTextEdit="1"/>
              </p:cNvSpPr>
              <p:nvPr/>
            </p:nvSpPr>
            <p:spPr>
              <a:xfrm>
                <a:off x="396240" y="3140438"/>
                <a:ext cx="5486400" cy="868680"/>
              </a:xfrm>
              <a:prstGeom prst="rect">
                <a:avLst/>
              </a:prstGeom>
              <a:blipFill>
                <a:blip r:embed="rId6"/>
                <a:stretch>
                  <a:fillRect t="-4196" b="-7692"/>
                </a:stretch>
              </a:blipFill>
              <a:ln/>
            </p:spPr>
            <p:txBody>
              <a:bodyPr/>
              <a:lstStyle/>
              <a:p>
                <a:r>
                  <a:rPr lang="tr-TR">
                    <a:noFill/>
                  </a:rPr>
                  <a:t/>
                </a:r>
              </a:p>
            </p:txBody>
          </p:sp>
        </mc:Fallback>
      </mc:AlternateContent>
      <p:sp>
        <p:nvSpPr>
          <p:cNvPr id="39" name="Text 6">
            <a:extLst>
              <a:ext uri="{FF2B5EF4-FFF2-40B4-BE49-F238E27FC236}">
                <a16:creationId xmlns:a16="http://schemas.microsoft.com/office/drawing/2014/main" id="{FE1C66D7-264F-4F48-AD31-C3F53570CF92}"/>
              </a:ext>
            </a:extLst>
          </p:cNvPr>
          <p:cNvSpPr/>
          <p:nvPr/>
        </p:nvSpPr>
        <p:spPr>
          <a:xfrm>
            <a:off x="502921" y="4127990"/>
            <a:ext cx="5486400" cy="20116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A burning cell keeps burning while fuel remains above the load threshold…</a:t>
            </a:r>
            <a:endParaRPr lang="en-US" sz="1350" dirty="0"/>
          </a:p>
          <a:p>
            <a:pPr marL="152400" indent="-152400">
              <a:lnSpc>
                <a:spcPct val="105000"/>
              </a:lnSpc>
              <a:spcAft>
                <a:spcPts val="700"/>
              </a:spcAft>
              <a:buSzPct val="100000"/>
              <a:buChar char="•"/>
            </a:pPr>
            <a:r>
              <a:rPr lang="en-US" sz="1350" dirty="0">
                <a:solidFill>
                  <a:srgbClr val="222222"/>
                </a:solidFill>
                <a:latin typeface="Calibri" pitchFamily="34" charset="0"/>
                <a:ea typeface="Calibri" pitchFamily="34" charset="-122"/>
                <a:cs typeface="Calibri" pitchFamily="34" charset="-120"/>
              </a:rPr>
              <a:t>…and moisture stays below the fuel-type extinction moisture</a:t>
            </a:r>
            <a:endParaRPr lang="en-US" sz="1350" dirty="0"/>
          </a:p>
          <a:p>
            <a:pPr marL="152400" indent="-152400">
              <a:lnSpc>
                <a:spcPct val="105000"/>
              </a:lnSpc>
              <a:spcAft>
                <a:spcPts val="700"/>
              </a:spcAft>
              <a:buSzPct val="100000"/>
              <a:buChar char="•"/>
            </a:pPr>
            <a:r>
              <a:rPr lang="en-US" sz="1350" b="1" dirty="0">
                <a:solidFill>
                  <a:srgbClr val="222222"/>
                </a:solidFill>
                <a:latin typeface="Calibri" pitchFamily="34" charset="0"/>
                <a:ea typeface="Calibri" pitchFamily="34" charset="-122"/>
                <a:cs typeface="Calibri" pitchFamily="34" charset="-120"/>
              </a:rPr>
              <a:t>Rain or fuel exhaustion extinguishes deterministically</a:t>
            </a:r>
            <a:endParaRPr lang="en-US" sz="1350" dirty="0"/>
          </a:p>
        </p:txBody>
      </p:sp>
      <p:sp>
        <p:nvSpPr>
          <p:cNvPr id="40" name="Text 7">
            <a:extLst>
              <a:ext uri="{FF2B5EF4-FFF2-40B4-BE49-F238E27FC236}">
                <a16:creationId xmlns:a16="http://schemas.microsoft.com/office/drawing/2014/main" id="{E6ACF31A-B270-4D04-A29A-B3BD79B5027F}"/>
              </a:ext>
            </a:extLst>
          </p:cNvPr>
          <p:cNvSpPr/>
          <p:nvPr/>
        </p:nvSpPr>
        <p:spPr>
          <a:xfrm>
            <a:off x="6309361" y="2710670"/>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Stochastic, wind-anisotropic propagation</a:t>
            </a:r>
            <a:endParaRPr lang="en-US" sz="1500" dirty="0"/>
          </a:p>
        </p:txBody>
      </p:sp>
      <mc:AlternateContent xmlns:mc="http://schemas.openxmlformats.org/markup-compatibility/2006" xmlns:a14="http://schemas.microsoft.com/office/drawing/2010/main">
        <mc:Choice Requires="a14">
          <p:sp>
            <p:nvSpPr>
              <p:cNvPr id="41" name="Text 8">
                <a:extLst>
                  <a:ext uri="{FF2B5EF4-FFF2-40B4-BE49-F238E27FC236}">
                    <a16:creationId xmlns:a16="http://schemas.microsoft.com/office/drawing/2014/main" id="{D4A08147-10D0-42F8-8840-9B07BFE0BB7C}"/>
                  </a:ext>
                </a:extLst>
              </p:cNvPr>
              <p:cNvSpPr/>
              <p:nvPr/>
            </p:nvSpPr>
            <p:spPr>
              <a:xfrm>
                <a:off x="6309361" y="3076430"/>
                <a:ext cx="5440680" cy="7315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en-US" sz="1300">
                              <a:latin typeface="Cambria Math"/>
                            </a:rPr>
                            <m:t>Ψ</m:t>
                          </m:r>
                        </m:e>
                        <m:sub>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f>
                        <m:fPr>
                          <m:ctrlPr>
                            <a:rPr lang="en-US" i="1">
                              <a:latin typeface="Cambria Math" panose="02040503050406030204" pitchFamily="18" charset="0"/>
                            </a:rPr>
                          </m:ctrlPr>
                        </m:fPr>
                        <m:num>
                          <m:r>
                            <a:rPr lang="en-US" sz="1300">
                              <a:latin typeface="Cambria Math"/>
                            </a:rPr>
                            <m:t>1</m:t>
                          </m:r>
                        </m:num>
                        <m:den>
                          <m:r>
                            <a:rPr lang="en-US" sz="1300">
                              <a:latin typeface="Cambria Math"/>
                            </a:rPr>
                            <m:t>8</m:t>
                          </m:r>
                        </m:den>
                      </m:f>
                      <m:nary>
                        <m:naryPr>
                          <m:chr m:val="∑"/>
                          <m:limLoc m:val="undOvr"/>
                          <m:ctrlPr>
                            <a:rPr lang="en-US" i="1">
                              <a:latin typeface="Cambria Math" panose="02040503050406030204" pitchFamily="18" charset="0"/>
                            </a:rPr>
                          </m:ctrlPr>
                        </m:naryPr>
                        <m:sub>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sSup>
                                <m:sSupPr>
                                  <m:ctrlPr>
                                    <a:rPr lang="en-US" i="1">
                                      <a:latin typeface="Cambria Math" panose="02040503050406030204" pitchFamily="18" charset="0"/>
                                    </a:rPr>
                                  </m:ctrlPr>
                                </m:sSupPr>
                                <m:e>
                                  <m:r>
                                    <a:rPr lang="en-US" sz="1300">
                                      <a:latin typeface="Cambria Math"/>
                                    </a:rPr>
                                    <m:t>𝒩</m:t>
                                  </m:r>
                                </m:e>
                                <m:sup>
                                  <m:r>
                                    <a:rPr lang="en-US" sz="1300">
                                      <a:latin typeface="Cambria Math"/>
                                    </a:rPr>
                                    <m:t>8</m:t>
                                  </m:r>
                                </m:sup>
                              </m:sSup>
                              <m:r>
                                <a:rPr lang="en-US" sz="1300">
                                  <a:latin typeface="Cambria Math"/>
                                </a:rPr>
                                <m:t>(</m:t>
                              </m:r>
                              <m:r>
                                <a:rPr lang="en-US" sz="1300">
                                  <a:latin typeface="Cambria Math"/>
                                </a:rPr>
                                <m:t>𝑥</m:t>
                              </m:r>
                              <m:r>
                                <a:rPr lang="en-US" sz="1300">
                                  <a:latin typeface="Cambria Math"/>
                                </a:rPr>
                                <m:t>,</m:t>
                              </m:r>
                              <m:r>
                                <a:rPr lang="en-US" sz="1300">
                                  <a:latin typeface="Cambria Math"/>
                                </a:rPr>
                                <m:t>𝑦</m:t>
                              </m:r>
                            </m:e>
                          </m:d>
                        </m:sub>
                        <m:sup/>
                        <m:e>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sub>
                          </m:sSub>
                        </m:e>
                      </m:nary>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m:t>
                      </m:r>
                      <m:sSub>
                        <m:sSubPr>
                          <m:ctrlPr>
                            <a:rPr lang="en-US" i="1">
                              <a:latin typeface="Cambria Math" panose="02040503050406030204" pitchFamily="18" charset="0"/>
                            </a:rPr>
                          </m:ctrlPr>
                        </m:sSubPr>
                        <m:e>
                          <m:r>
                            <a:rPr lang="en-US" sz="1300">
                              <a:latin typeface="Cambria Math"/>
                            </a:rPr>
                            <m:t>𝑅</m:t>
                          </m:r>
                        </m:e>
                        <m:sub>
                          <m:r>
                            <a:rPr lang="en-US" sz="1300">
                              <a:latin typeface="Cambria Math"/>
                            </a:rPr>
                            <m:t>𝑠𝑝𝑟𝑒𝑎𝑑</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 </m:t>
                      </m:r>
                      <m:sSubSup>
                        <m:sSubSupPr>
                          <m:ctrlPr>
                            <a:rPr lang="en-US" i="1">
                              <a:latin typeface="Cambria Math" panose="02040503050406030204" pitchFamily="18" charset="0"/>
                            </a:rPr>
                          </m:ctrlPr>
                        </m:sSubSupPr>
                        <m:e>
                          <m:r>
                            <a:rPr lang="en-US" sz="1300">
                              <a:latin typeface="Cambria Math"/>
                            </a:rPr>
                            <m:t>𝑔</m:t>
                          </m:r>
                        </m:e>
                        <m:sub>
                          <m:r>
                            <a:rPr lang="en-US" sz="1300">
                              <a:latin typeface="Cambria Math"/>
                            </a:rPr>
                            <m:t>𝑑𝑖𝑟</m:t>
                          </m:r>
                          <m:r>
                            <a:rPr lang="en-US" sz="1300">
                              <a:latin typeface="Cambria Math"/>
                            </a:rPr>
                            <m:t>,</m:t>
                          </m:r>
                          <m:r>
                            <a:rPr lang="en-US" sz="1300">
                              <a:latin typeface="Cambria Math"/>
                            </a:rPr>
                            <m:t>𝑘</m:t>
                          </m:r>
                        </m:sub>
                        <m:sup>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p>
                      </m:sSubSup>
                    </m:oMath>
                  </m:oMathPara>
                </a14:m>
                <a:endParaRPr lang="en-US" sz="1400" dirty="0"/>
              </a:p>
            </p:txBody>
          </p:sp>
        </mc:Choice>
        <mc:Fallback xmlns="">
          <p:sp>
            <p:nvSpPr>
              <p:cNvPr id="41" name="Text 8">
                <a:extLst>
                  <a:ext uri="{FF2B5EF4-FFF2-40B4-BE49-F238E27FC236}">
                    <a16:creationId xmlns:a16="http://schemas.microsoft.com/office/drawing/2014/main" id="{D4A08147-10D0-42F8-8840-9B07BFE0BB7C}"/>
                  </a:ext>
                </a:extLst>
              </p:cNvPr>
              <p:cNvSpPr>
                <a:spLocks noRot="1" noChangeAspect="1" noMove="1" noResize="1" noEditPoints="1" noAdjustHandles="1" noChangeArrowheads="1" noChangeShapeType="1" noTextEdit="1"/>
              </p:cNvSpPr>
              <p:nvPr/>
            </p:nvSpPr>
            <p:spPr>
              <a:xfrm>
                <a:off x="6309361" y="3076430"/>
                <a:ext cx="5440680" cy="731520"/>
              </a:xfrm>
              <a:prstGeom prst="rect">
                <a:avLst/>
              </a:prstGeom>
              <a:blipFill>
                <a:blip r:embed="rId7"/>
                <a:stretch>
                  <a:fillRect b="-5000"/>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42" name="Text 9">
                <a:extLst>
                  <a:ext uri="{FF2B5EF4-FFF2-40B4-BE49-F238E27FC236}">
                    <a16:creationId xmlns:a16="http://schemas.microsoft.com/office/drawing/2014/main" id="{F204B7BB-9AA0-4738-BF07-9DD2EFD68AFA}"/>
                  </a:ext>
                </a:extLst>
              </p:cNvPr>
              <p:cNvSpPr/>
              <p:nvPr/>
            </p:nvSpPr>
            <p:spPr>
              <a:xfrm>
                <a:off x="6309361" y="3853670"/>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300">
                              <a:latin typeface="Cambria Math"/>
                            </a:rPr>
                            <m:t>𝑔</m:t>
                          </m:r>
                        </m:e>
                        <m:sub>
                          <m:r>
                            <a:rPr lang="en-US" sz="1300">
                              <a:latin typeface="Cambria Math"/>
                            </a:rPr>
                            <m:t>𝑑𝑖𝑟</m:t>
                          </m:r>
                          <m:r>
                            <a:rPr lang="en-US" sz="1300">
                              <a:latin typeface="Cambria Math"/>
                            </a:rPr>
                            <m:t>,</m:t>
                          </m:r>
                          <m:r>
                            <a:rPr lang="en-US" sz="1300">
                              <a:latin typeface="Cambria Math"/>
                            </a:rPr>
                            <m:t>𝑘</m:t>
                          </m:r>
                        </m:sub>
                        <m:sup>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p>
                      </m:sSubSup>
                      <m:r>
                        <a:rPr lang="en-US" sz="1300">
                          <a:latin typeface="Cambria Math"/>
                        </a:rPr>
                        <m:t>=</m:t>
                      </m:r>
                      <m:func>
                        <m:funcPr>
                          <m:ctrlPr>
                            <a:rPr lang="en-US" i="1">
                              <a:latin typeface="Cambria Math" panose="02040503050406030204" pitchFamily="18" charset="0"/>
                            </a:rPr>
                          </m:ctrlPr>
                        </m:funcPr>
                        <m:fName>
                          <m:r>
                            <m:rPr>
                              <m:sty m:val="p"/>
                            </m:rPr>
                            <a:rPr lang="en-US" sz="1300">
                              <a:latin typeface="Cambria Math"/>
                            </a:rPr>
                            <m:t>max</m:t>
                          </m:r>
                        </m:fName>
                        <m:e>
                          <m:d>
                            <m:dPr>
                              <m:ctrlPr>
                                <a:rPr lang="en-US" i="1">
                                  <a:latin typeface="Cambria Math" panose="02040503050406030204" pitchFamily="18" charset="0"/>
                                </a:rPr>
                              </m:ctrlPr>
                            </m:dPr>
                            <m:e>
                              <m:r>
                                <a:rPr lang="en-US" sz="1300">
                                  <a:latin typeface="Cambria Math"/>
                                </a:rPr>
                                <m:t>0,</m:t>
                              </m:r>
                              <m:func>
                                <m:funcPr>
                                  <m:ctrlPr>
                                    <a:rPr lang="en-US" i="1">
                                      <a:latin typeface="Cambria Math" panose="02040503050406030204" pitchFamily="18" charset="0"/>
                                    </a:rPr>
                                  </m:ctrlPr>
                                </m:funcPr>
                                <m:fName>
                                  <m:r>
                                    <a:rPr lang="en-US" sz="1300">
                                      <a:latin typeface="Cambria Math"/>
                                    </a:rPr>
                                    <m:t>𝑐𝑜𝑠</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𝑊</m:t>
                                          </m:r>
                                        </m:e>
                                        <m:sub>
                                          <m:r>
                                            <a:rPr lang="en-US" sz="1300">
                                              <a:latin typeface="Cambria Math"/>
                                            </a:rPr>
                                            <m:t>𝑤𝑑</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e>
                                      </m:d>
                                      <m:r>
                                        <a:rPr lang="en-US" sz="1300">
                                          <a:latin typeface="Cambria Math"/>
                                        </a:rPr>
                                        <m:t>−</m:t>
                                      </m:r>
                                      <m:sSub>
                                        <m:sSubPr>
                                          <m:ctrlPr>
                                            <a:rPr lang="en-US" i="1">
                                              <a:latin typeface="Cambria Math" panose="02040503050406030204" pitchFamily="18" charset="0"/>
                                            </a:rPr>
                                          </m:ctrlPr>
                                        </m:sSubPr>
                                        <m:e>
                                          <m:r>
                                            <a:rPr lang="en-US" sz="1300">
                                              <a:latin typeface="Cambria Math"/>
                                            </a:rPr>
                                            <m:t>𝜑</m:t>
                                          </m:r>
                                        </m:e>
                                        <m:sub>
                                          <m:d>
                                            <m:dPr>
                                              <m:ctrlPr>
                                                <a:rPr lang="en-US" i="1">
                                                  <a:latin typeface="Cambria Math" panose="02040503050406030204" pitchFamily="18" charset="0"/>
                                                </a:rPr>
                                              </m:ctrlPr>
                                            </m:dPr>
                                            <m:e>
                                              <m:r>
                                                <a:rPr lang="en-US" sz="1300">
                                                  <a:latin typeface="Cambria Math"/>
                                                </a:rPr>
                                                <m:t>𝑖</m:t>
                                              </m:r>
                                              <m:r>
                                                <a:rPr lang="en-US" sz="1300">
                                                  <a:latin typeface="Cambria Math"/>
                                                </a:rPr>
                                                <m:t>,</m:t>
                                              </m:r>
                                              <m:r>
                                                <a:rPr lang="en-US" sz="1300">
                                                  <a:latin typeface="Cambria Math"/>
                                                </a:rPr>
                                                <m:t>𝑗</m:t>
                                              </m:r>
                                              <m:r>
                                                <a:rPr lang="en-US" sz="1300">
                                                  <a:latin typeface="Cambria Math"/>
                                                </a:rPr>
                                                <m:t>)→(</m:t>
                                              </m:r>
                                              <m:r>
                                                <a:rPr lang="en-US" sz="1300">
                                                  <a:latin typeface="Cambria Math"/>
                                                </a:rPr>
                                                <m:t>𝑥</m:t>
                                              </m:r>
                                              <m:r>
                                                <a:rPr lang="en-US" sz="1300">
                                                  <a:latin typeface="Cambria Math"/>
                                                </a:rPr>
                                                <m:t>,</m:t>
                                              </m:r>
                                              <m:r>
                                                <a:rPr lang="en-US" sz="1300">
                                                  <a:latin typeface="Cambria Math"/>
                                                </a:rPr>
                                                <m:t>𝑦</m:t>
                                              </m:r>
                                            </m:e>
                                          </m:d>
                                        </m:sub>
                                      </m:sSub>
                                    </m:e>
                                  </m:d>
                                </m:e>
                              </m:func>
                            </m:e>
                          </m:d>
                        </m:e>
                      </m:func>
                    </m:oMath>
                  </m:oMathPara>
                </a14:m>
                <a:endParaRPr lang="en-US" sz="1400" dirty="0"/>
              </a:p>
            </p:txBody>
          </p:sp>
        </mc:Choice>
        <mc:Fallback xmlns="">
          <p:sp>
            <p:nvSpPr>
              <p:cNvPr id="42" name="Text 9">
                <a:extLst>
                  <a:ext uri="{FF2B5EF4-FFF2-40B4-BE49-F238E27FC236}">
                    <a16:creationId xmlns:a16="http://schemas.microsoft.com/office/drawing/2014/main" id="{F204B7BB-9AA0-4738-BF07-9DD2EFD68AFA}"/>
                  </a:ext>
                </a:extLst>
              </p:cNvPr>
              <p:cNvSpPr>
                <a:spLocks noRot="1" noChangeAspect="1" noMove="1" noResize="1" noEditPoints="1" noAdjustHandles="1" noChangeArrowheads="1" noChangeShapeType="1" noTextEdit="1"/>
              </p:cNvSpPr>
              <p:nvPr/>
            </p:nvSpPr>
            <p:spPr>
              <a:xfrm>
                <a:off x="6309361" y="3853670"/>
                <a:ext cx="5440680" cy="54864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43" name="Text 10">
                <a:extLst>
                  <a:ext uri="{FF2B5EF4-FFF2-40B4-BE49-F238E27FC236}">
                    <a16:creationId xmlns:a16="http://schemas.microsoft.com/office/drawing/2014/main" id="{1E326E43-7667-4D5D-9288-BE6C6941C07A}"/>
                  </a:ext>
                </a:extLst>
              </p:cNvPr>
              <p:cNvSpPr/>
              <p:nvPr/>
            </p:nvSpPr>
            <p:spPr>
              <a:xfrm>
                <a:off x="6309361" y="4448030"/>
                <a:ext cx="544068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𝐵</m:t>
                          </m:r>
                        </m:e>
                        <m:sub>
                          <m:r>
                            <a:rPr lang="en-US" sz="1400">
                              <a:latin typeface="Cambria Math"/>
                            </a:rPr>
                            <m:t>𝑘</m:t>
                          </m:r>
                          <m:r>
                            <a:rPr lang="en-US" sz="1400">
                              <a:latin typeface="Cambria Math"/>
                            </a:rPr>
                            <m:t>+1</m:t>
                          </m:r>
                        </m:sub>
                        <m:sup>
                          <m:r>
                            <a:rPr lang="en-US" sz="1400">
                              <a:latin typeface="Cambria Math"/>
                            </a:rPr>
                            <m:t>𝑝𝑟𝑜𝑝</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𝟏</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m:rPr>
                                  <m:sty m:val="p"/>
                                </m:rPr>
                                <a:rPr lang="en-US" sz="1400">
                                  <a:latin typeface="Cambria Math"/>
                                </a:rPr>
                                <m:t>Ψ</m:t>
                              </m:r>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&gt; </m:t>
                          </m:r>
                          <m:sSub>
                            <m:sSubPr>
                              <m:ctrlPr>
                                <a:rPr lang="en-US" i="1">
                                  <a:latin typeface="Cambria Math" panose="02040503050406030204" pitchFamily="18" charset="0"/>
                                </a:rPr>
                              </m:ctrlPr>
                            </m:sSubPr>
                            <m:e>
                              <m:r>
                                <m:rPr>
                                  <m:sty m:val="p"/>
                                </m:rPr>
                                <a:rPr lang="en-US" sz="1400">
                                  <a:latin typeface="Cambria Math"/>
                                </a:rPr>
                                <m:t>Θ</m:t>
                              </m:r>
                            </m:e>
                            <m:sub>
                              <m:r>
                                <a:rPr lang="en-US" sz="1400">
                                  <a:latin typeface="Cambria Math"/>
                                </a:rPr>
                                <m:t>𝑖𝑔𝑛</m:t>
                              </m:r>
                            </m:sub>
                          </m:sSub>
                        </m:e>
                      </m:d>
                    </m:oMath>
                  </m:oMathPara>
                </a14:m>
                <a:endParaRPr lang="en-US" sz="1400" dirty="0"/>
              </a:p>
            </p:txBody>
          </p:sp>
        </mc:Choice>
        <mc:Fallback xmlns="">
          <p:sp>
            <p:nvSpPr>
              <p:cNvPr id="43" name="Text 10">
                <a:extLst>
                  <a:ext uri="{FF2B5EF4-FFF2-40B4-BE49-F238E27FC236}">
                    <a16:creationId xmlns:a16="http://schemas.microsoft.com/office/drawing/2014/main" id="{1E326E43-7667-4D5D-9288-BE6C6941C07A}"/>
                  </a:ext>
                </a:extLst>
              </p:cNvPr>
              <p:cNvSpPr>
                <a:spLocks noRot="1" noChangeAspect="1" noMove="1" noResize="1" noEditPoints="1" noAdjustHandles="1" noChangeArrowheads="1" noChangeShapeType="1" noTextEdit="1"/>
              </p:cNvSpPr>
              <p:nvPr/>
            </p:nvSpPr>
            <p:spPr>
              <a:xfrm>
                <a:off x="6309361" y="4448030"/>
                <a:ext cx="5440680" cy="457200"/>
              </a:xfrm>
              <a:prstGeom prst="rect">
                <a:avLst/>
              </a:prstGeom>
              <a:blipFill>
                <a:blip r:embed="rId9"/>
                <a:stretch>
                  <a:fillRect/>
                </a:stretch>
              </a:blipFill>
              <a:ln/>
            </p:spPr>
            <p:txBody>
              <a:bodyPr/>
              <a:lstStyle/>
              <a:p>
                <a:r>
                  <a:rPr lang="tr-TR">
                    <a:noFill/>
                  </a:rPr>
                  <a:t/>
                </a:r>
              </a:p>
            </p:txBody>
          </p:sp>
        </mc:Fallback>
      </mc:AlternateContent>
      <p:sp>
        <p:nvSpPr>
          <p:cNvPr id="44" name="Text 11">
            <a:extLst>
              <a:ext uri="{FF2B5EF4-FFF2-40B4-BE49-F238E27FC236}">
                <a16:creationId xmlns:a16="http://schemas.microsoft.com/office/drawing/2014/main" id="{B5676797-3D69-4760-9126-41BCE8658A4B}"/>
              </a:ext>
            </a:extLst>
          </p:cNvPr>
          <p:cNvSpPr/>
          <p:nvPr/>
        </p:nvSpPr>
        <p:spPr>
          <a:xfrm>
            <a:off x="6309361" y="4996670"/>
            <a:ext cx="5440680" cy="173736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250" dirty="0">
                <a:solidFill>
                  <a:srgbClr val="222222"/>
                </a:solidFill>
                <a:latin typeface="Calibri" pitchFamily="34" charset="0"/>
                <a:ea typeface="Calibri" pitchFamily="34" charset="-122"/>
                <a:cs typeface="Calibri" pitchFamily="34" charset="-120"/>
              </a:rPr>
              <a:t>Influence Ψ sums the 8 neighbors: burning status × semi-empirical spread rate × directional factor</a:t>
            </a:r>
            <a:endParaRPr lang="en-US" sz="1250" dirty="0"/>
          </a:p>
          <a:p>
            <a:pPr marL="152400" indent="-152400">
              <a:lnSpc>
                <a:spcPct val="105000"/>
              </a:lnSpc>
              <a:spcAft>
                <a:spcPts val="700"/>
              </a:spcAft>
              <a:buSzPct val="100000"/>
              <a:buChar char="•"/>
            </a:pPr>
            <a:r>
              <a:rPr lang="en-US" sz="1250" dirty="0">
                <a:solidFill>
                  <a:srgbClr val="222222"/>
                </a:solidFill>
                <a:latin typeface="Calibri" pitchFamily="34" charset="0"/>
                <a:ea typeface="Calibri" pitchFamily="34" charset="-122"/>
                <a:cs typeface="Calibri" pitchFamily="34" charset="-120"/>
              </a:rPr>
              <a:t>Directional factor: cosine of the angle between wind and the neighbor direction, clipped at zero (Rothermel-type anisotropy)</a:t>
            </a:r>
            <a:endParaRPr lang="en-US" sz="1250" dirty="0"/>
          </a:p>
          <a:p>
            <a:pPr marL="152400" indent="-152400">
              <a:lnSpc>
                <a:spcPct val="105000"/>
              </a:lnSpc>
              <a:spcAft>
                <a:spcPts val="700"/>
              </a:spcAft>
              <a:buSzPct val="100000"/>
              <a:buChar char="•"/>
            </a:pPr>
            <a:r>
              <a:rPr lang="en-US" sz="1250" b="1" dirty="0">
                <a:solidFill>
                  <a:srgbClr val="222222"/>
                </a:solidFill>
                <a:latin typeface="Calibri" pitchFamily="34" charset="0"/>
                <a:ea typeface="Calibri" pitchFamily="34" charset="-122"/>
                <a:cs typeface="Calibri" pitchFamily="34" charset="-120"/>
              </a:rPr>
              <a:t>Ignition fires when Ψ crosses the calibrated threshold</a:t>
            </a:r>
            <a:endParaRPr lang="en-US" sz="1250" dirty="0"/>
          </a:p>
        </p:txBody>
      </p:sp>
      <p:sp>
        <p:nvSpPr>
          <p:cNvPr id="90002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20 / 113</a:t>
            </a:r>
          </a:p>
        </p:txBody>
      </p:sp>
      <p:sp>
        <p:nvSpPr>
          <p:cNvPr id="890001" name="RothermelBadge"/>
          <p:cNvSpPr txBox="1"/>
          <p:nvPr/>
        </p:nvSpPr>
        <p:spPr>
          <a:xfrm>
            <a:off x="411480" y="6180000"/>
            <a:ext cx="10800000" cy="500000"/>
          </a:xfrm>
          <a:prstGeom prst="roundRect">
            <a:avLst>
              <a:gd name="adj" fmla="val 12000"/>
            </a:avLst>
          </a:prstGeom>
          <a:solidFill>
            <a:srgbClr val="FDE8EB"/>
          </a:solidFill>
          <a:ln w="12700">
            <a:solidFill>
              <a:srgbClr val="E31836"/>
            </a:solidFill>
          </a:ln>
        </p:spPr>
        <p:txBody>
          <a:bodyPr lIns="182880" rIns="182880" anchor="ctr"/>
          <a:lstStyle/>
          <a:p>
            <a:r>
              <a:rPr lang="en-US" sz="1200" b="1">
                <a:solidFill>
                  <a:srgbClr val="E31836"/>
                </a:solidFill>
                <a:latin typeface="Calibri"/>
              </a:rPr>
              <a:t>Where Rothermel lives: </a:t>
            </a:r>
            <a:r>
              <a:rPr lang="en-US" sz="1200">
                <a:solidFill>
                  <a:srgbClr val="222222"/>
                </a:solidFill>
                <a:latin typeface="Calibri"/>
              </a:rPr>
              <a:t>the spread rate inside Ψ is a Rothermel-like semi-empirical mapping (Rothermel, 1972) — base rate by fuel type × moisture damping × tanh-saturated wind × slope × aspect–wind alignment; the directional cosine above is its anisotropy. Full formulation and fuel-type calibration: Backup · Appendix A.</a:t>
            </a:r>
          </a:p>
        </p:txBody>
      </p:sp>
    </p:spTree>
    <p:extLst>
      <p:ext uri="{BB962C8B-B14F-4D97-AF65-F5344CB8AC3E}">
        <p14:creationId xmlns:p14="http://schemas.microsoft.com/office/powerpoint/2010/main" val="1794984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SIMULATION COR</a:t>
            </a:r>
            <a:r>
              <a:rPr lang="tr-TR" sz="1300" b="1" kern="0" spc="200" dirty="0">
                <a:solidFill>
                  <a:srgbClr val="E31836"/>
                </a:solidFill>
                <a:latin typeface="Calibri" pitchFamily="34" charset="0"/>
                <a:ea typeface="Calibri" pitchFamily="34" charset="-122"/>
                <a:cs typeface="Calibri" pitchFamily="34" charset="-120"/>
              </a:rPr>
              <a:t>E</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Per-Cell State, </a:t>
            </a:r>
            <a:r>
              <a:rPr lang="tr-TR" sz="2800" b="1" dirty="0" err="1">
                <a:solidFill>
                  <a:srgbClr val="000000"/>
                </a:solidFill>
                <a:latin typeface="Cambria" pitchFamily="34" charset="0"/>
                <a:ea typeface="Cambria" pitchFamily="34" charset="-122"/>
                <a:cs typeface="Cambria" pitchFamily="34" charset="-120"/>
              </a:rPr>
              <a:t>State</a:t>
            </a:r>
            <a:r>
              <a:rPr lang="en-US" sz="2800" b="1" dirty="0">
                <a:solidFill>
                  <a:srgbClr val="000000"/>
                </a:solidFill>
                <a:latin typeface="Cambria" pitchFamily="34" charset="0"/>
                <a:ea typeface="Cambria" pitchFamily="34" charset="-122"/>
                <a:cs typeface="Cambria" pitchFamily="34" charset="-120"/>
              </a:rPr>
              <a:t> Transition</a:t>
            </a:r>
            <a:r>
              <a:rPr lang="tr-TR" sz="2800" b="1" dirty="0">
                <a:solidFill>
                  <a:srgbClr val="000000"/>
                </a:solidFill>
                <a:latin typeface="Cambria" pitchFamily="34" charset="0"/>
                <a:ea typeface="Cambria" pitchFamily="34" charset="-122"/>
                <a:cs typeface="Cambria" pitchFamily="34" charset="-120"/>
              </a:rPr>
              <a:t> </a:t>
            </a:r>
            <a:r>
              <a:rPr lang="en-US" sz="2800" b="1" dirty="0">
                <a:solidFill>
                  <a:srgbClr val="000000"/>
                </a:solidFill>
                <a:latin typeface="Cambria" pitchFamily="34" charset="0"/>
                <a:ea typeface="Cambria" pitchFamily="34" charset="-122"/>
                <a:cs typeface="Cambria" pitchFamily="34" charset="-120"/>
              </a:rPr>
              <a:t>②③④</a:t>
            </a:r>
            <a:r>
              <a:rPr lang="tr-TR" sz="2800" b="1" dirty="0">
                <a:solidFill>
                  <a:srgbClr val="000000"/>
                </a:solidFill>
                <a:latin typeface="Cambria" pitchFamily="34" charset="0"/>
                <a:ea typeface="Cambria" pitchFamily="34" charset="-122"/>
                <a:cs typeface="Cambria" pitchFamily="34" charset="-120"/>
              </a:rPr>
              <a:t> </a:t>
            </a:r>
            <a:endParaRPr lang="en-US" sz="28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371600"/>
            <a:ext cx="557784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② Fuel mass — combustion and suppression</a:t>
            </a:r>
            <a:endParaRPr lang="en-US" sz="1500" dirty="0"/>
          </a:p>
        </p:txBody>
      </p:sp>
      <mc:AlternateContent xmlns:mc="http://schemas.openxmlformats.org/markup-compatibility/2006" xmlns:a14="http://schemas.microsoft.com/office/drawing/2010/main">
        <mc:Choice Requires="a14">
          <p:sp>
            <p:nvSpPr>
              <p:cNvPr id="7" name="Text 3"/>
              <p:cNvSpPr/>
              <p:nvPr/>
            </p:nvSpPr>
            <p:spPr>
              <a:xfrm>
                <a:off x="502920" y="1737360"/>
                <a:ext cx="5577840" cy="10515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r>
                            <a:rPr lang="en-US" sz="1250">
                              <a:latin typeface="Cambria Math"/>
                            </a:rPr>
                            <m:t>+1</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func>
                        <m:funcPr>
                          <m:ctrlPr>
                            <a:rPr lang="en-US" i="1">
                              <a:latin typeface="Cambria Math" panose="02040503050406030204" pitchFamily="18" charset="0"/>
                            </a:rPr>
                          </m:ctrlPr>
                        </m:funcPr>
                        <m:fName>
                          <m:r>
                            <m:rPr>
                              <m:sty m:val="p"/>
                            </m:rPr>
                            <a:rPr lang="en-US" sz="1250">
                              <a:latin typeface="Cambria Math"/>
                            </a:rPr>
                            <m:t>max</m:t>
                          </m:r>
                        </m:fName>
                        <m:e>
                          <m:d>
                            <m:dPr>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sz="1250">
                                      <a:latin typeface="Cambria Math"/>
                                    </a:rPr>
                                    <m:t>0, </m:t>
                                  </m:r>
                                  <m:d>
                                    <m:dPr>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e>
                                        <m:e>
                                          <m:r>
                                            <a:rPr lang="en-US" sz="1250">
                                              <a:latin typeface="Cambria Math"/>
                                            </a:rPr>
                                            <m:t>−</m:t>
                                          </m:r>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𝑙𝑜𝑎𝑑</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 </m:t>
                                          </m:r>
                                          <m:sSub>
                                            <m:sSubPr>
                                              <m:ctrlPr>
                                                <a:rPr lang="en-US" i="1">
                                                  <a:latin typeface="Cambria Math" panose="02040503050406030204" pitchFamily="18" charset="0"/>
                                                </a:rPr>
                                              </m:ctrlPr>
                                            </m:sSubPr>
                                            <m:e>
                                              <m:r>
                                                <a:rPr lang="en-US" sz="1250">
                                                  <a:latin typeface="Cambria Math"/>
                                                </a:rPr>
                                                <m:t>𝐵</m:t>
                                              </m:r>
                                            </m:e>
                                            <m:sub>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  </m:t>
                                          </m:r>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𝑏𝑢𝑟𝑛</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e>
                                        <m:e>
                                          <m:r>
                                            <a:rPr lang="en-US" sz="1250">
                                              <a:latin typeface="Cambria Math"/>
                                            </a:rPr>
                                            <m:t>−</m:t>
                                          </m:r>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𝑟𝑒𝑑</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e>
                                      </m:eqArr>
                                    </m:e>
                                  </m:d>
                                </m:e>
                              </m:eqArr>
                            </m:e>
                          </m:d>
                        </m:e>
                      </m:func>
                    </m:oMath>
                  </m:oMathPara>
                </a14:m>
                <a:endParaRPr lang="en-US" sz="1400" dirty="0"/>
              </a:p>
            </p:txBody>
          </p:sp>
        </mc:Choice>
        <mc:Fallback xmlns="">
          <p:sp>
            <p:nvSpPr>
              <p:cNvPr id="7" name="Text 3"/>
              <p:cNvSpPr>
                <a:spLocks noRot="1" noChangeAspect="1" noMove="1" noResize="1" noEditPoints="1" noAdjustHandles="1" noChangeArrowheads="1" noChangeShapeType="1" noTextEdit="1"/>
              </p:cNvSpPr>
              <p:nvPr/>
            </p:nvSpPr>
            <p:spPr>
              <a:xfrm>
                <a:off x="502920" y="1737360"/>
                <a:ext cx="5577840" cy="1051560"/>
              </a:xfrm>
              <a:prstGeom prst="rect">
                <a:avLst/>
              </a:prstGeom>
              <a:blipFill>
                <a:blip r:embed="rId5"/>
                <a:stretch>
                  <a:fillRect/>
                </a:stretch>
              </a:blipFill>
              <a:ln/>
            </p:spPr>
            <p:txBody>
              <a:bodyPr/>
              <a:lstStyle/>
              <a:p>
                <a:r>
                  <a:rPr lang="tr-TR">
                    <a:noFill/>
                  </a:rPr>
                  <a:t/>
                </a:r>
              </a:p>
            </p:txBody>
          </p:sp>
        </mc:Fallback>
      </mc:AlternateContent>
      <p:sp>
        <p:nvSpPr>
          <p:cNvPr id="8" name="Text 4"/>
          <p:cNvSpPr/>
          <p:nvPr/>
        </p:nvSpPr>
        <p:spPr>
          <a:xfrm>
            <a:off x="502920" y="2880360"/>
            <a:ext cx="5577840" cy="118872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Depletion by combustion (fractional burn rate) minus suppression-driven reduction, floored at zero</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Fuel cannot become negative and cannot increase</a:t>
            </a:r>
            <a:endParaRPr lang="en-US" sz="1300" dirty="0"/>
          </a:p>
        </p:txBody>
      </p:sp>
      <mc:AlternateContent xmlns:mc="http://schemas.openxmlformats.org/markup-compatibility/2006" xmlns:a14="http://schemas.microsoft.com/office/drawing/2010/main">
        <mc:Choice Requires="a14">
          <p:sp>
            <p:nvSpPr>
              <p:cNvPr id="9" name="Text 5"/>
              <p:cNvSpPr/>
              <p:nvPr/>
            </p:nvSpPr>
            <p:spPr>
              <a:xfrm>
                <a:off x="502920" y="4160520"/>
                <a:ext cx="5577840" cy="8686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50">
                              <a:latin typeface="Cambria Math"/>
                            </a:rPr>
                            <m:t>𝐹</m:t>
                          </m:r>
                        </m:e>
                        <m:sub>
                          <m:r>
                            <a:rPr lang="en-US" sz="1250">
                              <a:latin typeface="Cambria Math"/>
                            </a:rPr>
                            <m:t>𝑟𝑒𝑑</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i="1">
                              <a:latin typeface="Cambria Math" panose="02040503050406030204" pitchFamily="18" charset="0"/>
                            </a:rPr>
                          </m:ctrlPr>
                        </m:sSubPr>
                        <m:e>
                          <m:r>
                            <a:rPr lang="en-US" sz="1250">
                              <a:latin typeface="Cambria Math"/>
                            </a:rPr>
                            <m:t>𝑓</m:t>
                          </m:r>
                        </m:e>
                        <m:sub>
                          <m:r>
                            <a:rPr lang="en-US" sz="1250">
                              <a:latin typeface="Cambria Math"/>
                            </a:rPr>
                            <m:t>𝑠𝑢𝑝𝑝</m:t>
                          </m:r>
                        </m:sub>
                      </m:sSub>
                      <m:r>
                        <a:rPr lang="en-US" sz="1250">
                          <a:latin typeface="Cambria Math"/>
                        </a:rPr>
                        <m:t> </m:t>
                      </m:r>
                      <m:d>
                        <m:dPr>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sz="1250">
                                      <a:latin typeface="Cambria Math"/>
                                    </a:rPr>
                                    <m:t>𝑅</m:t>
                                  </m:r>
                                </m:e>
                                <m:sub>
                                  <m:r>
                                    <a:rPr lang="en-US" sz="1250">
                                      <a:latin typeface="Cambria Math"/>
                                    </a:rPr>
                                    <m:t>𝑐𝑎𝑝</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i="1">
                                      <a:latin typeface="Cambria Math" panose="02040503050406030204" pitchFamily="18" charset="0"/>
                                    </a:rPr>
                                  </m:ctrlPr>
                                </m:sSubPr>
                                <m:e>
                                  <m:r>
                                    <a:rPr lang="en-US" sz="1250">
                                      <a:latin typeface="Cambria Math"/>
                                    </a:rPr>
                                    <m:t>𝑅</m:t>
                                  </m:r>
                                </m:e>
                                <m:sub>
                                  <m:r>
                                    <a:rPr lang="en-US" sz="1250">
                                      <a:latin typeface="Cambria Math"/>
                                    </a:rPr>
                                    <m:t>𝑎𝑣𝑎𝑖𝑙</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i="1">
                                      <a:latin typeface="Cambria Math" panose="02040503050406030204" pitchFamily="18" charset="0"/>
                                    </a:rPr>
                                  </m:ctrlPr>
                                </m:sSubPr>
                                <m:e>
                                  <m:r>
                                    <a:rPr lang="en-US" sz="1250">
                                      <a:latin typeface="Cambria Math"/>
                                    </a:rPr>
                                    <m:t>𝑅</m:t>
                                  </m:r>
                                </m:e>
                                <m:sub>
                                  <m:r>
                                    <a:rPr lang="en-US" sz="1250">
                                      <a:latin typeface="Cambria Math"/>
                                    </a:rPr>
                                    <m:t>𝑒𝑓𝑓</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e>
                            <m:e>
                              <m:sSub>
                                <m:sSubPr>
                                  <m:ctrlPr>
                                    <a:rPr lang="en-US" i="1">
                                      <a:latin typeface="Cambria Math" panose="02040503050406030204" pitchFamily="18" charset="0"/>
                                    </a:rPr>
                                  </m:ctrlPr>
                                </m:sSubPr>
                                <m:e>
                                  <m:r>
                                    <a:rPr lang="en-US" sz="1250">
                                      <a:latin typeface="Cambria Math"/>
                                    </a:rPr>
                                    <m:t>𝑅</m:t>
                                  </m:r>
                                </m:e>
                                <m:sub>
                                  <m:r>
                                    <a:rPr lang="en-US" sz="1250">
                                      <a:latin typeface="Cambria Math"/>
                                    </a:rPr>
                                    <m:t>𝑡𝑖𝑚𝑒</m:t>
                                  </m:r>
                                  <m:r>
                                    <a:rPr lang="en-US" sz="1250">
                                      <a:latin typeface="Cambria Math"/>
                                    </a:rPr>
                                    <m:t>,</m:t>
                                  </m:r>
                                  <m:r>
                                    <a:rPr lang="en-US" sz="1250">
                                      <a:latin typeface="Cambria Math"/>
                                    </a:rPr>
                                    <m:t>𝑘</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r>
                                <a:rPr lang="en-US" sz="1250">
                                  <a:latin typeface="Cambria Math"/>
                                </a:rPr>
                                <m:t>,</m:t>
                              </m:r>
                              <m:sSub>
                                <m:sSubPr>
                                  <m:ctrlPr>
                                    <a:rPr lang="en-US" i="1">
                                      <a:latin typeface="Cambria Math" panose="02040503050406030204" pitchFamily="18" charset="0"/>
                                    </a:rPr>
                                  </m:ctrlPr>
                                </m:sSubPr>
                                <m:e>
                                  <m:r>
                                    <a:rPr lang="en-US" sz="1250">
                                      <a:latin typeface="Cambria Math"/>
                                    </a:rPr>
                                    <m:t>𝐺</m:t>
                                  </m:r>
                                </m:e>
                                <m:sub>
                                  <m:r>
                                    <a:rPr lang="en-US" sz="1250">
                                      <a:latin typeface="Cambria Math"/>
                                    </a:rPr>
                                    <m:t>𝑎𝑐𝑐𝑒𝑠𝑠</m:t>
                                  </m:r>
                                </m:sub>
                              </m:sSub>
                              <m:d>
                                <m:dPr>
                                  <m:ctrlPr>
                                    <a:rPr lang="en-US" i="1">
                                      <a:latin typeface="Cambria Math" panose="02040503050406030204" pitchFamily="18" charset="0"/>
                                    </a:rPr>
                                  </m:ctrlPr>
                                </m:dPr>
                                <m:e>
                                  <m:r>
                                    <a:rPr lang="en-US" sz="1250">
                                      <a:latin typeface="Cambria Math"/>
                                    </a:rPr>
                                    <m:t>𝑥</m:t>
                                  </m:r>
                                  <m:r>
                                    <a:rPr lang="en-US" sz="1250">
                                      <a:latin typeface="Cambria Math"/>
                                    </a:rPr>
                                    <m:t>,</m:t>
                                  </m:r>
                                  <m:r>
                                    <a:rPr lang="en-US" sz="1250">
                                      <a:latin typeface="Cambria Math"/>
                                    </a:rPr>
                                    <m:t>𝑦</m:t>
                                  </m:r>
                                </m:e>
                              </m:d>
                            </m:e>
                          </m:eqArr>
                        </m:e>
                      </m:d>
                    </m:oMath>
                  </m:oMathPara>
                </a14:m>
                <a:endParaRPr lang="en-US" sz="1400" dirty="0"/>
              </a:p>
            </p:txBody>
          </p:sp>
        </mc:Choice>
        <mc:Fallback xmlns="">
          <p:sp>
            <p:nvSpPr>
              <p:cNvPr id="9" name="Text 5"/>
              <p:cNvSpPr>
                <a:spLocks noRot="1" noChangeAspect="1" noMove="1" noResize="1" noEditPoints="1" noAdjustHandles="1" noChangeArrowheads="1" noChangeShapeType="1" noTextEdit="1"/>
              </p:cNvSpPr>
              <p:nvPr/>
            </p:nvSpPr>
            <p:spPr>
              <a:xfrm>
                <a:off x="502920" y="4160520"/>
                <a:ext cx="5577840" cy="868680"/>
              </a:xfrm>
              <a:prstGeom prst="rect">
                <a:avLst/>
              </a:prstGeom>
              <a:blipFill>
                <a:blip r:embed="rId6"/>
                <a:stretch>
                  <a:fillRect/>
                </a:stretch>
              </a:blipFill>
              <a:ln/>
            </p:spPr>
            <p:txBody>
              <a:bodyPr/>
              <a:lstStyle/>
              <a:p>
                <a:r>
                  <a:rPr lang="tr-TR">
                    <a:noFill/>
                  </a:rPr>
                  <a:t/>
                </a:r>
              </a:p>
            </p:txBody>
          </p:sp>
        </mc:Fallback>
      </mc:AlternateContent>
      <p:sp>
        <p:nvSpPr>
          <p:cNvPr id="10" name="Text 6"/>
          <p:cNvSpPr/>
          <p:nvPr/>
        </p:nvSpPr>
        <p:spPr>
          <a:xfrm>
            <a:off x="502920" y="5120640"/>
            <a:ext cx="5577840" cy="100584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Suppression acts only through fuel reduction — scaled by committed capacity, availability, effectiveness, travel time, and access</a:t>
            </a:r>
            <a:endParaRPr lang="en-US" sz="1300" dirty="0"/>
          </a:p>
        </p:txBody>
      </p:sp>
      <p:sp>
        <p:nvSpPr>
          <p:cNvPr id="11" name="Text 7"/>
          <p:cNvSpPr/>
          <p:nvPr/>
        </p:nvSpPr>
        <p:spPr>
          <a:xfrm>
            <a:off x="6309360" y="1371600"/>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③ Fire intensity — bounded proxy</a:t>
            </a:r>
            <a:endParaRPr lang="en-US" sz="1500" dirty="0"/>
          </a:p>
        </p:txBody>
      </p:sp>
      <mc:AlternateContent xmlns:mc="http://schemas.openxmlformats.org/markup-compatibility/2006" xmlns:a14="http://schemas.microsoft.com/office/drawing/2010/main">
        <mc:Choice Requires="a14">
          <p:sp>
            <p:nvSpPr>
              <p:cNvPr id="12" name="Text 8"/>
              <p:cNvSpPr/>
              <p:nvPr/>
            </p:nvSpPr>
            <p:spPr>
              <a:xfrm>
                <a:off x="6309360" y="1737360"/>
                <a:ext cx="54406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300">
                              <a:latin typeface="Cambria Math"/>
                            </a:rPr>
                            <m:t>𝐼</m:t>
                          </m:r>
                        </m:e>
                        <m:sub>
                          <m:r>
                            <a:rPr lang="en-US" sz="1300">
                              <a:latin typeface="Cambria Math"/>
                            </a:rPr>
                            <m:t>𝑘</m:t>
                          </m:r>
                          <m:r>
                            <a:rPr lang="en-US" sz="1300">
                              <a:latin typeface="Cambria Math"/>
                            </a:rPr>
                            <m:t>+1</m:t>
                          </m:r>
                        </m:sub>
                      </m:sSub>
                      <m:d>
                        <m:dPr>
                          <m:ctrlPr>
                            <a:rPr lang="en-US" i="1">
                              <a:latin typeface="Cambria Math" panose="02040503050406030204" pitchFamily="18" charset="0"/>
                            </a:rPr>
                          </m:ctrlPr>
                        </m:dPr>
                        <m:e>
                          <m:r>
                            <m:rPr>
                              <m:sty m:val="p"/>
                            </m:rPr>
                            <a:rPr lang="en-US" sz="1300">
                              <a:latin typeface="Cambria Math"/>
                            </a:rPr>
                            <m:t>x</m:t>
                          </m:r>
                          <m:r>
                            <a:rPr lang="en-US" sz="1300">
                              <a:latin typeface="Cambria Math"/>
                            </a:rPr>
                            <m:t>,</m:t>
                          </m:r>
                          <m:r>
                            <m:rPr>
                              <m:sty m:val="p"/>
                            </m:rPr>
                            <a:rPr lang="en-US" sz="1300">
                              <a:latin typeface="Cambria Math"/>
                            </a:rPr>
                            <m:t>y</m:t>
                          </m:r>
                        </m:e>
                      </m:d>
                      <m:r>
                        <a:rPr lang="en-US" sz="1300">
                          <a:latin typeface="Cambria Math"/>
                        </a:rPr>
                        <m:t>=</m:t>
                      </m:r>
                      <m:sSub>
                        <m:sSubPr>
                          <m:ctrlPr>
                            <a:rPr lang="en-US" i="1">
                              <a:latin typeface="Cambria Math" panose="02040503050406030204" pitchFamily="18" charset="0"/>
                            </a:rPr>
                          </m:ctrlPr>
                        </m:sSubPr>
                        <m:e>
                          <m:r>
                            <a:rPr lang="en-US" sz="1300">
                              <a:latin typeface="Cambria Math"/>
                            </a:rPr>
                            <m:t>𝑓</m:t>
                          </m:r>
                        </m:e>
                        <m:sub>
                          <m:r>
                            <a:rPr lang="en-US" sz="1300">
                              <a:latin typeface="Cambria Math"/>
                            </a:rPr>
                            <m:t>𝑖𝑛𝑡𝑒𝑛𝑠𝑖𝑡𝑦</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300">
                                  <a:latin typeface="Cambria Math"/>
                                </a:rPr>
                                <m:t>𝐹</m:t>
                              </m:r>
                            </m:e>
                            <m:sub>
                              <m:r>
                                <a:rPr lang="en-US" sz="1300">
                                  <a:latin typeface="Cambria Math"/>
                                </a:rPr>
                                <m:t>𝑙𝑜𝑎𝑑</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i="1">
                                  <a:latin typeface="Cambria Math" panose="02040503050406030204" pitchFamily="18" charset="0"/>
                                </a:rPr>
                              </m:ctrlPr>
                            </m:sSubPr>
                            <m:e>
                              <m:r>
                                <a:rPr lang="en-US" sz="1300">
                                  <a:latin typeface="Cambria Math"/>
                                </a:rPr>
                                <m:t>𝑊</m:t>
                              </m:r>
                            </m:e>
                            <m:sub>
                              <m:r>
                                <a:rPr lang="en-US" sz="1300">
                                  <a:latin typeface="Cambria Math"/>
                                </a:rPr>
                                <m:t>𝑤𝑠</m:t>
                              </m:r>
                              <m:r>
                                <a:rPr lang="en-US" sz="1300">
                                  <a:latin typeface="Cambria Math"/>
                                </a:rPr>
                                <m:t>,</m:t>
                              </m:r>
                              <m:r>
                                <a:rPr lang="en-US" sz="1300">
                                  <a:latin typeface="Cambria Math"/>
                                </a:rPr>
                                <m:t>𝑘</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i="1">
                                  <a:latin typeface="Cambria Math" panose="02040503050406030204" pitchFamily="18" charset="0"/>
                                </a:rPr>
                              </m:ctrlPr>
                            </m:sSubPr>
                            <m:e>
                              <m:r>
                                <a:rPr lang="en-US" sz="1300">
                                  <a:latin typeface="Cambria Math"/>
                                </a:rPr>
                                <m:t>𝐺</m:t>
                              </m:r>
                            </m:e>
                            <m:sub>
                              <m:r>
                                <a:rPr lang="en-US" sz="1300">
                                  <a:latin typeface="Cambria Math"/>
                                </a:rPr>
                                <m:t>𝑠𝑙𝑜𝑝𝑒</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e>
                      </m:d>
                    </m:oMath>
                  </m:oMathPara>
                </a14:m>
                <a:endParaRPr lang="en-US" sz="1400" dirty="0"/>
              </a:p>
            </p:txBody>
          </p:sp>
        </mc:Choice>
        <mc:Fallback xmlns="">
          <p:sp>
            <p:nvSpPr>
              <p:cNvPr id="12" name="Text 8"/>
              <p:cNvSpPr>
                <a:spLocks noRot="1" noChangeAspect="1" noMove="1" noResize="1" noEditPoints="1" noAdjustHandles="1" noChangeArrowheads="1" noChangeShapeType="1" noTextEdit="1"/>
              </p:cNvSpPr>
              <p:nvPr/>
            </p:nvSpPr>
            <p:spPr>
              <a:xfrm>
                <a:off x="6309360" y="1737360"/>
                <a:ext cx="5440680" cy="548640"/>
              </a:xfrm>
              <a:prstGeom prst="rect">
                <a:avLst/>
              </a:prstGeom>
              <a:blipFill>
                <a:blip r:embed="rId7"/>
                <a:stretch>
                  <a:fillRect/>
                </a:stretch>
              </a:blipFill>
              <a:ln/>
            </p:spPr>
            <p:txBody>
              <a:bodyPr/>
              <a:lstStyle/>
              <a:p>
                <a:r>
                  <a:rPr lang="tr-TR">
                    <a:noFill/>
                  </a:rPr>
                  <a:t/>
                </a:r>
              </a:p>
            </p:txBody>
          </p:sp>
        </mc:Fallback>
      </mc:AlternateContent>
      <p:sp>
        <p:nvSpPr>
          <p:cNvPr id="13" name="Text 9"/>
          <p:cNvSpPr/>
          <p:nvPr/>
        </p:nvSpPr>
        <p:spPr>
          <a:xfrm>
            <a:off x="6309360" y="2377440"/>
            <a:ext cx="5440680" cy="8686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Bounded nonlinear combination of fuel, wind, and slope — ordinal prioritization, not flame physics</a:t>
            </a:r>
            <a:endParaRPr lang="en-US" sz="1300" dirty="0"/>
          </a:p>
        </p:txBody>
      </p:sp>
      <p:sp>
        <p:nvSpPr>
          <p:cNvPr id="14" name="Text 10"/>
          <p:cNvSpPr/>
          <p:nvPr/>
        </p:nvSpPr>
        <p:spPr>
          <a:xfrm>
            <a:off x="6309360" y="3337560"/>
            <a:ext cx="5440680" cy="310896"/>
          </a:xfrm>
          <a:prstGeom prst="rect">
            <a:avLst/>
          </a:prstGeom>
          <a:noFill/>
          <a:ln/>
        </p:spPr>
        <p:txBody>
          <a:bodyPr wrap="square" lIns="0" tIns="0" rIns="0" bIns="0" rtlCol="0" anchor="ctr"/>
          <a:lstStyle/>
          <a:p>
            <a:pPr marL="0" indent="0">
              <a:buNone/>
            </a:pPr>
            <a:r>
              <a:rPr lang="en-US" sz="1500" b="1" dirty="0">
                <a:solidFill>
                  <a:srgbClr val="E31836"/>
                </a:solidFill>
                <a:latin typeface="Calibri" pitchFamily="34" charset="0"/>
                <a:ea typeface="Calibri" pitchFamily="34" charset="-122"/>
                <a:cs typeface="Calibri" pitchFamily="34" charset="-120"/>
              </a:rPr>
              <a:t>④ Time since ignition — bookkeeping</a:t>
            </a:r>
            <a:endParaRPr lang="en-US" sz="1500" dirty="0"/>
          </a:p>
        </p:txBody>
      </p:sp>
      <mc:AlternateContent xmlns:mc="http://schemas.openxmlformats.org/markup-compatibility/2006" xmlns:a14="http://schemas.microsoft.com/office/drawing/2010/main">
        <mc:Choice Requires="a14">
          <p:sp>
            <p:nvSpPr>
              <p:cNvPr id="15" name="Text 11"/>
              <p:cNvSpPr/>
              <p:nvPr/>
            </p:nvSpPr>
            <p:spPr>
              <a:xfrm>
                <a:off x="6309360" y="3703320"/>
                <a:ext cx="5440680" cy="11887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300">
                              <a:latin typeface="Cambria Math"/>
                            </a:rPr>
                            <m:t>𝜏</m:t>
                          </m:r>
                        </m:e>
                        <m:sub>
                          <m:r>
                            <a:rPr lang="en-US" sz="1300">
                              <a:latin typeface="Cambria Math"/>
                            </a:rPr>
                            <m:t>𝑘</m:t>
                          </m:r>
                          <m:r>
                            <a:rPr lang="en-US" sz="1300">
                              <a:latin typeface="Cambria Math"/>
                            </a:rPr>
                            <m:t>+1</m:t>
                          </m:r>
                        </m:sub>
                      </m:sSub>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a:rPr lang="en-US" sz="1300">
                                    <a:latin typeface="Cambria Math"/>
                                  </a:rPr>
                                  <m:t>0,</m:t>
                                </m:r>
                              </m:e>
                              <m:e>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=1∧</m:t>
                                </m:r>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sub>
                                </m:sSub>
                                <m:r>
                                  <a:rPr lang="en-US" sz="1300">
                                    <a:latin typeface="Cambria Math"/>
                                  </a:rPr>
                                  <m:t>=0</m:t>
                                </m:r>
                              </m:e>
                            </m:mr>
                            <m:mr>
                              <m:e>
                                <m:sSub>
                                  <m:sSubPr>
                                    <m:ctrlPr>
                                      <a:rPr lang="en-US" i="1">
                                        <a:latin typeface="Cambria Math" panose="02040503050406030204" pitchFamily="18" charset="0"/>
                                      </a:rPr>
                                    </m:ctrlPr>
                                  </m:sSubPr>
                                  <m:e>
                                    <m:r>
                                      <a:rPr lang="en-US" sz="1300">
                                        <a:latin typeface="Cambria Math"/>
                                      </a:rPr>
                                      <m:t>𝜏</m:t>
                                    </m:r>
                                  </m:e>
                                  <m:sub>
                                    <m:r>
                                      <a:rPr lang="en-US" sz="1300">
                                        <a:latin typeface="Cambria Math"/>
                                      </a:rPr>
                                      <m:t>𝑘</m:t>
                                    </m:r>
                                  </m:sub>
                                </m:sSub>
                                <m:r>
                                  <a:rPr lang="en-US" sz="1300">
                                    <a:latin typeface="Cambria Math"/>
                                  </a:rPr>
                                  <m:t>+</m:t>
                                </m:r>
                                <m:r>
                                  <m:rPr>
                                    <m:sty m:val="p"/>
                                  </m:rPr>
                                  <a:rPr lang="en-US" sz="1300">
                                    <a:latin typeface="Cambria Math"/>
                                  </a:rPr>
                                  <m:t>Δ</m:t>
                                </m:r>
                                <m:r>
                                  <a:rPr lang="en-US" sz="1300">
                                    <a:latin typeface="Cambria Math"/>
                                  </a:rPr>
                                  <m:t>𝑡</m:t>
                                </m:r>
                                <m:r>
                                  <a:rPr lang="en-US" sz="1300">
                                    <a:latin typeface="Cambria Math"/>
                                  </a:rPr>
                                  <m:t>,</m:t>
                                </m:r>
                              </m:e>
                              <m:e>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=1∧</m:t>
                                </m:r>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sub>
                                </m:sSub>
                                <m:r>
                                  <a:rPr lang="en-US" sz="1300">
                                    <a:latin typeface="Cambria Math"/>
                                  </a:rPr>
                                  <m:t>=1</m:t>
                                </m:r>
                              </m:e>
                            </m:mr>
                            <m:mr>
                              <m:e>
                                <m:r>
                                  <a:rPr lang="en-US" sz="1300">
                                    <a:latin typeface="Cambria Math"/>
                                  </a:rPr>
                                  <m:t>0,</m:t>
                                </m:r>
                              </m:e>
                              <m:e>
                                <m:sSub>
                                  <m:sSubPr>
                                    <m:ctrlPr>
                                      <a:rPr lang="en-US" i="1">
                                        <a:latin typeface="Cambria Math" panose="02040503050406030204" pitchFamily="18" charset="0"/>
                                      </a:rPr>
                                    </m:ctrlPr>
                                  </m:sSubPr>
                                  <m:e>
                                    <m:r>
                                      <a:rPr lang="en-US" sz="1300">
                                        <a:latin typeface="Cambria Math"/>
                                      </a:rPr>
                                      <m:t>𝐵</m:t>
                                    </m:r>
                                  </m:e>
                                  <m:sub>
                                    <m:r>
                                      <a:rPr lang="en-US" sz="1300">
                                        <a:latin typeface="Cambria Math"/>
                                      </a:rPr>
                                      <m:t>𝑘</m:t>
                                    </m:r>
                                    <m:r>
                                      <a:rPr lang="en-US" sz="1300">
                                        <a:latin typeface="Cambria Math"/>
                                      </a:rPr>
                                      <m:t>+1</m:t>
                                    </m:r>
                                  </m:sub>
                                </m:sSub>
                                <m:r>
                                  <a:rPr lang="en-US" sz="1300">
                                    <a:latin typeface="Cambria Math"/>
                                  </a:rPr>
                                  <m:t>=0</m:t>
                                </m:r>
                              </m:e>
                            </m:mr>
                          </m:m>
                        </m:e>
                      </m:d>
                    </m:oMath>
                  </m:oMathPara>
                </a14:m>
                <a:endParaRPr lang="en-US" sz="1400" dirty="0"/>
              </a:p>
            </p:txBody>
          </p:sp>
        </mc:Choice>
        <mc:Fallback xmlns="">
          <p:sp>
            <p:nvSpPr>
              <p:cNvPr id="15" name="Text 11"/>
              <p:cNvSpPr>
                <a:spLocks noRot="1" noChangeAspect="1" noMove="1" noResize="1" noEditPoints="1" noAdjustHandles="1" noChangeArrowheads="1" noChangeShapeType="1" noTextEdit="1"/>
              </p:cNvSpPr>
              <p:nvPr/>
            </p:nvSpPr>
            <p:spPr>
              <a:xfrm>
                <a:off x="6309360" y="3703320"/>
                <a:ext cx="5440680" cy="1188720"/>
              </a:xfrm>
              <a:prstGeom prst="rect">
                <a:avLst/>
              </a:prstGeom>
              <a:blipFill>
                <a:blip r:embed="rId8"/>
                <a:stretch>
                  <a:fillRect/>
                </a:stretch>
              </a:blipFill>
              <a:ln/>
            </p:spPr>
            <p:txBody>
              <a:bodyPr/>
              <a:lstStyle/>
              <a:p>
                <a:r>
                  <a:rPr lang="tr-TR">
                    <a:noFill/>
                  </a:rPr>
                  <a:t/>
                </a:r>
              </a:p>
            </p:txBody>
          </p:sp>
        </mc:Fallback>
      </mc:AlternateContent>
      <p:sp>
        <p:nvSpPr>
          <p:cNvPr id="16" name="Text 12"/>
          <p:cNvSpPr/>
          <p:nvPr/>
        </p:nvSpPr>
        <p:spPr>
          <a:xfrm>
            <a:off x="6309360" y="4983480"/>
            <a:ext cx="5440680" cy="10972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Reset on new ignition, advanced while burning, cleared on extinction</a:t>
            </a:r>
            <a:endParaRPr lang="en-US" sz="1300" dirty="0"/>
          </a:p>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Supports persistence, extinction, and intensity dynamics</a:t>
            </a:r>
            <a:endParaRPr lang="en-US" sz="1300" dirty="0"/>
          </a:p>
        </p:txBody>
      </p:sp>
      <p:sp>
        <p:nvSpPr>
          <p:cNvPr id="90002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21 / 113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tr-TR" sz="2700" b="1" dirty="0" err="1">
                <a:solidFill>
                  <a:srgbClr val="000000"/>
                </a:solidFill>
                <a:latin typeface="Cambria" pitchFamily="34" charset="0"/>
                <a:ea typeface="Cambria" pitchFamily="34" charset="-122"/>
                <a:cs typeface="Cambria" pitchFamily="34" charset="-120"/>
              </a:rPr>
              <a:t>Input</a:t>
            </a:r>
            <a:r>
              <a:rPr lang="tr-TR" sz="2700" b="1" dirty="0">
                <a:solidFill>
                  <a:srgbClr val="000000"/>
                </a:solidFill>
                <a:latin typeface="Cambria" pitchFamily="34" charset="0"/>
                <a:ea typeface="Cambria" pitchFamily="34" charset="-122"/>
                <a:cs typeface="Cambria" pitchFamily="34" charset="-120"/>
              </a:rPr>
              <a:t> </a:t>
            </a:r>
            <a:r>
              <a:rPr lang="tr-TR" sz="2700" b="1" dirty="0" err="1">
                <a:solidFill>
                  <a:srgbClr val="000000"/>
                </a:solidFill>
                <a:latin typeface="Cambria" pitchFamily="34" charset="0"/>
                <a:ea typeface="Cambria" pitchFamily="34" charset="-122"/>
                <a:cs typeface="Cambria" pitchFamily="34" charset="-120"/>
              </a:rPr>
              <a:t>Field</a:t>
            </a:r>
            <a:r>
              <a:rPr lang="tr-TR" sz="2700" b="1" dirty="0">
                <a:solidFill>
                  <a:srgbClr val="000000"/>
                </a:solidFill>
                <a:latin typeface="Cambria" pitchFamily="34" charset="0"/>
                <a:ea typeface="Cambria" pitchFamily="34" charset="-122"/>
                <a:cs typeface="Cambria" pitchFamily="34" charset="-120"/>
              </a:rPr>
              <a:t> </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829300" y="109728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52904" y="138074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b="1" i="1">
                              <a:latin typeface="Cambria Math" panose="02040503050406030204" pitchFamily="18" charset="0"/>
                            </a:rPr>
                          </m:ctrlPr>
                        </m:sSubPr>
                        <m:e>
                          <m:r>
                            <a:rPr lang="en-US" sz="1500" b="1" i="1">
                              <a:latin typeface="Cambria Math"/>
                            </a:rPr>
                            <m:t>𝐔</m:t>
                          </m:r>
                        </m:e>
                        <m:sub>
                          <m:r>
                            <a:rPr lang="en-US" sz="1500" b="1" i="1">
                              <a:latin typeface="Cambria Math"/>
                            </a:rPr>
                            <m:t>𝐕𝐚𝐥</m:t>
                          </m:r>
                          <m:r>
                            <a:rPr lang="en-US" sz="1500" b="1">
                              <a:latin typeface="Cambria Math"/>
                            </a:rPr>
                            <m:t>,</m:t>
                          </m:r>
                          <m:r>
                            <a:rPr lang="en-US" sz="1500" b="1" i="1">
                              <a:latin typeface="Cambria Math"/>
                            </a:rPr>
                            <m:t>𝐤</m:t>
                          </m:r>
                        </m:sub>
                      </m:sSub>
                      <m:r>
                        <a:rPr lang="en-US" sz="1500">
                          <a:latin typeface="Cambria Math"/>
                        </a:rPr>
                        <m:t>, </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𝑅𝑒𝑠</m:t>
                          </m:r>
                          <m:r>
                            <a:rPr lang="en-US" sz="1500">
                              <a:latin typeface="Cambria Math"/>
                            </a:rPr>
                            <m:t>,</m:t>
                          </m:r>
                          <m:r>
                            <a:rPr lang="en-US" sz="1500">
                              <a:latin typeface="Cambria Math"/>
                            </a:rPr>
                            <m:t>𝑘</m:t>
                          </m:r>
                        </m:sub>
                      </m:sSub>
                      <m:r>
                        <a:rPr lang="en-US" sz="15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52904" y="138074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81504" y="1828800"/>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b="1" i="1">
                            <a:latin typeface="Cambria Math" panose="02040503050406030204" pitchFamily="18" charset="0"/>
                          </a:rPr>
                        </m:ctrlPr>
                      </m:sSubPr>
                      <m:e>
                        <m:r>
                          <a:rPr lang="en-US" sz="1300" b="1" i="1">
                            <a:latin typeface="Cambria Math"/>
                          </a:rPr>
                          <m:t>𝐔</m:t>
                        </m:r>
                      </m:e>
                      <m:sub>
                        <m:r>
                          <a:rPr lang="en-US" sz="1300" b="1" i="1">
                            <a:latin typeface="Cambria Math"/>
                          </a:rPr>
                          <m:t>𝐕𝐚𝐥</m:t>
                        </m:r>
                        <m:r>
                          <a:rPr lang="en-US" sz="1300" b="1">
                            <a:latin typeface="Cambria Math"/>
                          </a:rPr>
                          <m:t>,</m:t>
                        </m:r>
                        <m:r>
                          <a:rPr lang="en-US" sz="1300" b="1" i="1">
                            <a:latin typeface="Cambria Math"/>
                          </a:rPr>
                          <m:t>𝐤</m:t>
                        </m:r>
                      </m:sub>
                    </m:sSub>
                    <m:r>
                      <a:rPr lang="en-US" sz="1300" b="1">
                        <a:latin typeface="Cambria Math"/>
                      </a:rPr>
                      <m:t>(</m:t>
                    </m:r>
                    <m:r>
                      <a:rPr lang="en-US" sz="1300" b="1" i="1">
                        <a:latin typeface="Cambria Math"/>
                      </a:rPr>
                      <m:t>𝐱</m:t>
                    </m:r>
                    <m:r>
                      <a:rPr lang="en-US" sz="1300" b="1">
                        <a:latin typeface="Cambria Math"/>
                      </a:rPr>
                      <m:t>,</m:t>
                    </m:r>
                    <m:r>
                      <a:rPr lang="en-US" sz="1300" b="1" i="1">
                        <a:latin typeface="Cambria Math"/>
                      </a:rPr>
                      <m:t>𝐲</m:t>
                    </m:r>
                    <m:r>
                      <a:rPr lang="en-US" sz="1300" b="1">
                        <a:latin typeface="Cambria Math"/>
                      </a:rPr>
                      <m:t>)</m:t>
                    </m:r>
                  </m:oMath>
                </a14:m>
                <a:r>
                  <a:rPr lang="en-US" sz="1350" b="1" dirty="0">
                    <a:solidFill>
                      <a:srgbClr val="222222"/>
                    </a:solidFill>
                    <a:latin typeface="Calibri" pitchFamily="34" charset="0"/>
                    <a:ea typeface="Calibri" pitchFamily="34" charset="-122"/>
                    <a:cs typeface="Calibri" pitchFamily="34" charset="-120"/>
                  </a:rPr>
                  <a:t> — value-at-risk priorities</a:t>
                </a:r>
                <a:endParaRPr lang="en-US" sz="1350" b="1" dirty="0"/>
              </a:p>
            </p:txBody>
          </p:sp>
        </mc:Choice>
        <mc:Fallback xmlns="">
          <p:sp>
            <p:nvSpPr>
              <p:cNvPr id="9" name="Text 4"/>
              <p:cNvSpPr>
                <a:spLocks noRot="1" noChangeAspect="1" noMove="1" noResize="1" noEditPoints="1" noAdjustHandles="1" noChangeArrowheads="1" noChangeShapeType="1" noTextEdit="1"/>
              </p:cNvSpPr>
              <p:nvPr/>
            </p:nvSpPr>
            <p:spPr>
              <a:xfrm>
                <a:off x="5981504" y="1828800"/>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136730"/>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𝑅𝑒𝑠</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resource pool: capacity, availability, effectiveness, travel time</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2136730"/>
                <a:ext cx="5806440" cy="320040"/>
              </a:xfrm>
              <a:prstGeom prst="rect">
                <a:avLst/>
              </a:prstGeom>
              <a:blipFill>
                <a:blip r:embed="rId8"/>
                <a:stretch>
                  <a:fillRect l="-944" b="-17308"/>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2135384095"/>
                  </p:ext>
                </p:extLst>
              </p:nvPr>
            </p:nvGraphicFramePr>
            <p:xfrm>
              <a:off x="5752904" y="2567487"/>
              <a:ext cx="6187832" cy="3199751"/>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192083">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05288991"/>
                      </a:ext>
                    </a:extLst>
                  </a:tr>
                  <a:tr h="622190">
                    <a:tc>
                      <a:txBody>
                        <a:bodyPr/>
                        <a:lstStyle/>
                        <a:p>
                          <a:pPr algn="just">
                            <a:lnSpc>
                              <a:spcPct val="150000"/>
                            </a:lnSpc>
                          </a:pPr>
                          <a:r>
                            <a:rPr lang="en-US" sz="1200" dirty="0">
                              <a:effectLst/>
                            </a:rPr>
                            <a:t>Building Footprint</a:t>
                          </a:r>
                          <a:r>
                            <a:rPr lang="tr-TR" sz="1200" dirty="0">
                              <a:effectLst/>
                            </a:rPr>
                            <a:t> </a:t>
                          </a: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a:effectLst/>
                                      </a:rPr>
                                      <m:t>bld</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Represents the presence of residential or commercial structures and enables identification of wildland-urban zones.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4289072623"/>
                      </a:ext>
                    </a:extLst>
                  </a:tr>
                  <a:tr h="454433">
                    <a:tc>
                      <a:txBody>
                        <a:bodyPr/>
                        <a:lstStyle/>
                        <a:p>
                          <a:pPr algn="just">
                            <a:lnSpc>
                              <a:spcPct val="150000"/>
                            </a:lnSpc>
                          </a:pPr>
                          <a:r>
                            <a:rPr lang="en-US" sz="1200" dirty="0">
                              <a:effectLst/>
                            </a:rPr>
                            <a:t>Critical Facility Index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a:effectLst/>
                                      </a:rPr>
                                      <m:t>crit</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Identifies high-priority assets such as hospitals, power plants, fuel depots, and water infrastructure.</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61369388"/>
                      </a:ext>
                    </a:extLst>
                  </a:tr>
                  <a:tr h="466538">
                    <a:tc>
                      <a:txBody>
                        <a:bodyPr/>
                        <a:lstStyle/>
                        <a:p>
                          <a:pPr algn="just">
                            <a:lnSpc>
                              <a:spcPct val="150000"/>
                            </a:lnSpc>
                          </a:pPr>
                          <a:r>
                            <a:rPr lang="en-US" sz="1200" dirty="0">
                              <a:effectLst/>
                            </a:rPr>
                            <a:t>Population Density</a:t>
                          </a:r>
                          <a:endParaRPr lang="tr-TR" sz="1200" b="1" i="0" dirty="0">
                            <a:effectLst/>
                            <a:latin typeface="Cambria Math" panose="02040503050406030204" pitchFamily="18" charset="0"/>
                          </a:endParaRPr>
                        </a:p>
                        <a:p>
                          <a:pPr algn="just">
                            <a:lnSpc>
                              <a:spcPct val="150000"/>
                            </a:lnSpc>
                          </a:pPr>
                          <a14:m>
                            <m:oMathPara xmlns:m="http://schemas.openxmlformats.org/officeDocument/2006/math">
                              <m:oMathParaPr>
                                <m:jc m:val="centerGroup"/>
                              </m:oMathParaPr>
                              <m:oMath xmlns:m="http://schemas.openxmlformats.org/officeDocument/2006/math">
                                <m:r>
                                  <a:rPr lang="tr-TR" sz="1200" b="1" i="0" smtClean="0">
                                    <a:effectLst/>
                                    <a:latin typeface="Cambria Math" panose="02040503050406030204" pitchFamily="18" charset="0"/>
                                  </a:rPr>
                                  <m:t> </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a:effectLst/>
                                      </a:rPr>
                                      <m:t>pop</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person/km²</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Represents exposed population per grid cell and supports evacuation and safety prioritization.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764470451"/>
                      </a:ext>
                    </a:extLst>
                  </a:tr>
                  <a:tr h="594264">
                    <a:tc>
                      <a:txBody>
                        <a:bodyPr/>
                        <a:lstStyle/>
                        <a:p>
                          <a:pPr algn="just">
                            <a:lnSpc>
                              <a:spcPct val="150000"/>
                            </a:lnSpc>
                          </a:pPr>
                          <a:r>
                            <a:rPr lang="en-US" sz="1200" dirty="0">
                              <a:effectLst/>
                            </a:rPr>
                            <a:t>Access to Evacuation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a:effectLst/>
                                      </a:rPr>
                                      <m:t>evac</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Indicates proximity to evacuation infrastructure and supports emergency planning decisions.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028413603"/>
                      </a:ext>
                    </a:extLst>
                  </a:tr>
                  <a:tr h="479229">
                    <a:tc>
                      <a:txBody>
                        <a:bodyPr/>
                        <a:lstStyle/>
                        <a:p>
                          <a:pPr algn="just">
                            <a:lnSpc>
                              <a:spcPct val="150000"/>
                            </a:lnSpc>
                          </a:pPr>
                          <a:r>
                            <a:rPr lang="en-US" sz="1200" dirty="0">
                              <a:effectLst/>
                            </a:rPr>
                            <a:t>Protection Priority</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𝑽</m:t>
                                    </m:r>
                                  </m:e>
                                  <m:sub>
                                    <m:r>
                                      <m:rPr>
                                        <m:nor/>
                                      </m:rPr>
                                      <a:rPr lang="en-US" sz="1200">
                                        <a:effectLst/>
                                      </a:rPr>
                                      <m:t>prio</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Aggregated weighting factor combining multiple exposure indicators to rank cells by importance.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42714893"/>
                      </a:ext>
                    </a:extLst>
                  </a:tr>
                </a:tbl>
              </a:graphicData>
            </a:graphic>
          </p:graphicFrame>
        </mc:Choice>
        <mc:Fallback xmlns="">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2135384095"/>
                  </p:ext>
                </p:extLst>
              </p:nvPr>
            </p:nvGraphicFramePr>
            <p:xfrm>
              <a:off x="5752904" y="2567487"/>
              <a:ext cx="6187832" cy="3199751"/>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Purpose in Simulation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05288991"/>
                      </a:ext>
                    </a:extLst>
                  </a:tr>
                  <a:tr h="622190">
                    <a:tc>
                      <a:txBody>
                        <a:bodyPr/>
                        <a:lstStyle/>
                        <a:p>
                          <a:endParaRPr lang="tr-TR"/>
                        </a:p>
                      </a:txBody>
                      <a:tcPr marL="62697" marR="62697" marT="0" marB="0">
                        <a:blipFill>
                          <a:blip r:embed="rId9"/>
                          <a:stretch>
                            <a:fillRect l="-375" t="-39806" r="-282022" b="-377670"/>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Represents the presence of residential or commercial structures and enables identification of wildland-urban zones.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4289072623"/>
                      </a:ext>
                    </a:extLst>
                  </a:tr>
                  <a:tr h="560769">
                    <a:tc>
                      <a:txBody>
                        <a:bodyPr/>
                        <a:lstStyle/>
                        <a:p>
                          <a:endParaRPr lang="tr-TR"/>
                        </a:p>
                      </a:txBody>
                      <a:tcPr marL="62697" marR="62697" marT="0" marB="0">
                        <a:blipFill>
                          <a:blip r:embed="rId9"/>
                          <a:stretch>
                            <a:fillRect l="-375" t="-156522" r="-282022" b="-322826"/>
                          </a:stretch>
                        </a:blipFill>
                      </a:tcPr>
                    </a:tc>
                    <a:tc>
                      <a:txBody>
                        <a:bodyPr/>
                        <a:lstStyle/>
                        <a:p>
                          <a:pPr algn="just">
                            <a:lnSpc>
                              <a:spcPct val="150000"/>
                            </a:lnSpc>
                          </a:pPr>
                          <a:r>
                            <a:rPr lang="en-US" sz="1200">
                              <a:effectLst/>
                            </a:rPr>
                            <a:t>{0,1}</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Identifies high-priority assets such as hospitals, power plants, fuel depots, and water infrastructure.</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61369388"/>
                      </a:ext>
                    </a:extLst>
                  </a:tr>
                  <a:tr h="578739">
                    <a:tc>
                      <a:txBody>
                        <a:bodyPr/>
                        <a:lstStyle/>
                        <a:p>
                          <a:endParaRPr lang="tr-TR"/>
                        </a:p>
                      </a:txBody>
                      <a:tcPr marL="62697" marR="62697" marT="0" marB="0">
                        <a:blipFill>
                          <a:blip r:embed="rId9"/>
                          <a:stretch>
                            <a:fillRect l="-375" t="-248421" r="-282022" b="-212632"/>
                          </a:stretch>
                        </a:blipFill>
                      </a:tcPr>
                    </a:tc>
                    <a:tc>
                      <a:txBody>
                        <a:bodyPr/>
                        <a:lstStyle/>
                        <a:p>
                          <a:pPr algn="just">
                            <a:lnSpc>
                              <a:spcPct val="150000"/>
                            </a:lnSpc>
                          </a:pPr>
                          <a:r>
                            <a:rPr lang="en-US" sz="1200">
                              <a:effectLst/>
                            </a:rPr>
                            <a:t>person/km²</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Represents exposed population per grid cell and supports evacuation and safety prioritization.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764470451"/>
                      </a:ext>
                    </a:extLst>
                  </a:tr>
                  <a:tr h="594264">
                    <a:tc>
                      <a:txBody>
                        <a:bodyPr/>
                        <a:lstStyle/>
                        <a:p>
                          <a:endParaRPr lang="tr-TR"/>
                        </a:p>
                      </a:txBody>
                      <a:tcPr marL="62697" marR="62697" marT="0" marB="0">
                        <a:blipFill>
                          <a:blip r:embed="rId9"/>
                          <a:stretch>
                            <a:fillRect l="-375" t="-337755" r="-282022" b="-106122"/>
                          </a:stretch>
                        </a:blipFill>
                      </a:tcPr>
                    </a:tc>
                    <a:tc>
                      <a:txBody>
                        <a:bodyPr/>
                        <a:lstStyle/>
                        <a:p>
                          <a:pPr algn="just">
                            <a:lnSpc>
                              <a:spcPct val="150000"/>
                            </a:lnSpc>
                          </a:pPr>
                          <a:r>
                            <a:rPr lang="en-US" sz="1200">
                              <a:effectLst/>
                            </a:rPr>
                            <a:t>m</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a:effectLst/>
                            </a:rPr>
                            <a:t>Indicates proximity to evacuation infrastructure and supports emergency planning decisions.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2028413603"/>
                      </a:ext>
                    </a:extLst>
                  </a:tr>
                  <a:tr h="598742">
                    <a:tc>
                      <a:txBody>
                        <a:bodyPr/>
                        <a:lstStyle/>
                        <a:p>
                          <a:endParaRPr lang="tr-TR"/>
                        </a:p>
                      </a:txBody>
                      <a:tcPr marL="62697" marR="62697" marT="0" marB="0">
                        <a:blipFill>
                          <a:blip r:embed="rId9"/>
                          <a:stretch>
                            <a:fillRect l="-375" t="-437755" r="-282022" b="-6122"/>
                          </a:stretch>
                        </a:blipFill>
                      </a:tcPr>
                    </a:tc>
                    <a:tc>
                      <a:txBody>
                        <a:bodyPr/>
                        <a:lstStyle/>
                        <a:p>
                          <a:pPr algn="just">
                            <a:lnSpc>
                              <a:spcPct val="150000"/>
                            </a:lnSpc>
                          </a:pPr>
                          <a:r>
                            <a:rPr lang="en-US" sz="1200" dirty="0">
                              <a:effectLst/>
                            </a:rPr>
                            <a:t>–</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tc>
                      <a:txBody>
                        <a:bodyPr/>
                        <a:lstStyle/>
                        <a:p>
                          <a:pPr algn="just">
                            <a:lnSpc>
                              <a:spcPct val="150000"/>
                            </a:lnSpc>
                          </a:pPr>
                          <a:r>
                            <a:rPr lang="en-US" sz="1200" dirty="0">
                              <a:effectLst/>
                            </a:rPr>
                            <a:t>Aggregated weighting factor combining multiple exposure indicators to rank cells by importance.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2697" marR="62697" marT="0" marB="0"/>
                    </a:tc>
                    <a:extLst>
                      <a:ext uri="{0D108BD9-81ED-4DB2-BD59-A6C34878D82A}">
                        <a16:rowId xmlns:a16="http://schemas.microsoft.com/office/drawing/2014/main" val="3142714893"/>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8030C30-86CC-4B35-ACF5-CB70621AC381}"/>
                  </a:ext>
                </a:extLst>
              </p:cNvPr>
              <p:cNvSpPr txBox="1"/>
              <p:nvPr/>
            </p:nvSpPr>
            <p:spPr>
              <a:xfrm>
                <a:off x="5752903" y="5787234"/>
                <a:ext cx="6187833" cy="347724"/>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en-US" sz="1400">
                              <a:latin typeface="Cambria Math"/>
                            </a:rPr>
                            <m:t>𝑉</m:t>
                          </m:r>
                        </m:e>
                        <m:sub>
                          <m:r>
                            <a:rPr lang="en-US" sz="1400">
                              <a:latin typeface="Cambria Math"/>
                            </a:rPr>
                            <m:t>𝑝𝑟𝑖𝑜</m:t>
                          </m:r>
                        </m:sub>
                      </m:sSub>
                      <m:r>
                        <a:rPr lang="en-US" sz="1400">
                          <a:latin typeface="Cambria Math"/>
                        </a:rPr>
                        <m:t> = </m:t>
                      </m:r>
                      <m:sSub>
                        <m:sSubPr>
                          <m:ctrlPr>
                            <a:rPr lang="en-US" sz="1400" i="1">
                              <a:latin typeface="Cambria Math" panose="02040503050406030204" pitchFamily="18" charset="0"/>
                            </a:rPr>
                          </m:ctrlPr>
                        </m:sSubPr>
                        <m:e>
                          <m:r>
                            <a:rPr lang="en-US" sz="1400">
                              <a:latin typeface="Cambria Math"/>
                            </a:rPr>
                            <m:t>𝑤</m:t>
                          </m:r>
                        </m:e>
                        <m:sub>
                          <m:r>
                            <a:rPr lang="en-US" sz="1400">
                              <a:latin typeface="Cambria Math"/>
                            </a:rPr>
                            <m:t>𝑏𝑙𝑑</m:t>
                          </m:r>
                        </m:sub>
                      </m:sSub>
                      <m:r>
                        <a:rPr lang="en-US" sz="1400">
                          <a:latin typeface="Cambria Math"/>
                        </a:rPr>
                        <m:t> · </m:t>
                      </m:r>
                      <m:sSub>
                        <m:sSubPr>
                          <m:ctrlPr>
                            <a:rPr lang="en-US" sz="1400" i="1">
                              <a:latin typeface="Cambria Math" panose="02040503050406030204" pitchFamily="18" charset="0"/>
                            </a:rPr>
                          </m:ctrlPr>
                        </m:sSubPr>
                        <m:e>
                          <m:r>
                            <a:rPr lang="en-US" sz="1400">
                              <a:latin typeface="Cambria Math"/>
                            </a:rPr>
                            <m:t>𝑉</m:t>
                          </m:r>
                        </m:e>
                        <m:sub>
                          <m:r>
                            <a:rPr lang="en-US" sz="1400">
                              <a:latin typeface="Cambria Math"/>
                            </a:rPr>
                            <m:t>𝑏𝑙𝑑</m:t>
                          </m:r>
                        </m:sub>
                      </m:sSub>
                      <m:r>
                        <a:rPr lang="en-US" sz="1400">
                          <a:latin typeface="Cambria Math"/>
                        </a:rPr>
                        <m:t> + </m:t>
                      </m:r>
                      <m:sSub>
                        <m:sSubPr>
                          <m:ctrlPr>
                            <a:rPr lang="en-US" sz="1400" i="1">
                              <a:latin typeface="Cambria Math" panose="02040503050406030204" pitchFamily="18" charset="0"/>
                            </a:rPr>
                          </m:ctrlPr>
                        </m:sSubPr>
                        <m:e>
                          <m:r>
                            <a:rPr lang="en-US" sz="1400">
                              <a:latin typeface="Cambria Math"/>
                            </a:rPr>
                            <m:t>𝑤</m:t>
                          </m:r>
                        </m:e>
                        <m:sub>
                          <m:r>
                            <a:rPr lang="en-US" sz="1400">
                              <a:latin typeface="Cambria Math"/>
                            </a:rPr>
                            <m:t>𝑐𝑟𝑖𝑡</m:t>
                          </m:r>
                        </m:sub>
                      </m:sSub>
                      <m:r>
                        <a:rPr lang="en-US" sz="1400">
                          <a:latin typeface="Cambria Math"/>
                        </a:rPr>
                        <m:t> · </m:t>
                      </m:r>
                      <m:sSub>
                        <m:sSubPr>
                          <m:ctrlPr>
                            <a:rPr lang="en-US" sz="1400" i="1">
                              <a:latin typeface="Cambria Math" panose="02040503050406030204" pitchFamily="18" charset="0"/>
                            </a:rPr>
                          </m:ctrlPr>
                        </m:sSubPr>
                        <m:e>
                          <m:r>
                            <a:rPr lang="en-US" sz="1400">
                              <a:latin typeface="Cambria Math"/>
                            </a:rPr>
                            <m:t>𝑉</m:t>
                          </m:r>
                        </m:e>
                        <m:sub>
                          <m:r>
                            <a:rPr lang="en-US" sz="1400">
                              <a:latin typeface="Cambria Math"/>
                            </a:rPr>
                            <m:t>𝑐𝑟𝑖𝑡</m:t>
                          </m:r>
                        </m:sub>
                      </m:sSub>
                      <m:r>
                        <a:rPr lang="en-US" sz="1400">
                          <a:latin typeface="Cambria Math"/>
                        </a:rPr>
                        <m:t> + </m:t>
                      </m:r>
                      <m:sSub>
                        <m:sSubPr>
                          <m:ctrlPr>
                            <a:rPr lang="en-US" sz="1400" i="1">
                              <a:latin typeface="Cambria Math" panose="02040503050406030204" pitchFamily="18" charset="0"/>
                            </a:rPr>
                          </m:ctrlPr>
                        </m:sSubPr>
                        <m:e>
                          <m:r>
                            <a:rPr lang="en-US" sz="1400">
                              <a:latin typeface="Cambria Math"/>
                            </a:rPr>
                            <m:t>𝑤</m:t>
                          </m:r>
                        </m:e>
                        <m:sub>
                          <m:r>
                            <a:rPr lang="en-US" sz="1400">
                              <a:latin typeface="Cambria Math"/>
                            </a:rPr>
                            <m:t>𝑝𝑜𝑝</m:t>
                          </m:r>
                        </m:sub>
                      </m:sSub>
                      <m:r>
                        <a:rPr lang="en-US" sz="1400">
                          <a:latin typeface="Cambria Math"/>
                        </a:rPr>
                        <m:t> · </m:t>
                      </m:r>
                      <m:sSubSup>
                        <m:sSubSupPr>
                          <m:ctrlPr>
                            <a:rPr lang="en-US" sz="1400" i="1">
                              <a:latin typeface="Cambria Math" panose="02040503050406030204" pitchFamily="18" charset="0"/>
                            </a:rPr>
                          </m:ctrlPr>
                        </m:sSubSupPr>
                        <m:e>
                          <m:r>
                            <a:rPr lang="en-US" sz="1400">
                              <a:latin typeface="Cambria Math"/>
                            </a:rPr>
                            <m:t>𝑉</m:t>
                          </m:r>
                        </m:e>
                        <m:sub>
                          <m:r>
                            <a:rPr lang="en-US" sz="1400">
                              <a:latin typeface="Cambria Math"/>
                            </a:rPr>
                            <m:t>𝑝𝑜𝑝</m:t>
                          </m:r>
                        </m:sub>
                        <m:sup/>
                      </m:sSubSup>
                      <m:r>
                        <a:rPr lang="en-US" sz="1400">
                          <a:latin typeface="Cambria Math"/>
                        </a:rPr>
                        <m:t> + </m:t>
                      </m:r>
                      <m:sSub>
                        <m:sSubPr>
                          <m:ctrlPr>
                            <a:rPr lang="en-US" sz="1400" i="1">
                              <a:latin typeface="Cambria Math" panose="02040503050406030204" pitchFamily="18" charset="0"/>
                            </a:rPr>
                          </m:ctrlPr>
                        </m:sSubPr>
                        <m:e>
                          <m:r>
                            <a:rPr lang="en-US" sz="1400">
                              <a:latin typeface="Cambria Math"/>
                            </a:rPr>
                            <m:t>𝑤</m:t>
                          </m:r>
                        </m:e>
                        <m:sub>
                          <m:r>
                            <a:rPr lang="en-US" sz="1400">
                              <a:latin typeface="Cambria Math"/>
                            </a:rPr>
                            <m:t>𝑒𝑣𝑎𝑐</m:t>
                          </m:r>
                        </m:sub>
                      </m:sSub>
                      <m:r>
                        <a:rPr lang="en-US" sz="1400">
                          <a:latin typeface="Cambria Math"/>
                        </a:rPr>
                        <m:t> · </m:t>
                      </m:r>
                      <m:sSubSup>
                        <m:sSubSupPr>
                          <m:ctrlPr>
                            <a:rPr lang="en-US" sz="1400" i="1">
                              <a:latin typeface="Cambria Math" panose="02040503050406030204" pitchFamily="18" charset="0"/>
                            </a:rPr>
                          </m:ctrlPr>
                        </m:sSubSupPr>
                        <m:e>
                          <m:r>
                            <a:rPr lang="en-US" sz="1400">
                              <a:latin typeface="Cambria Math"/>
                            </a:rPr>
                            <m:t>𝑉</m:t>
                          </m:r>
                        </m:e>
                        <m:sub>
                          <m:r>
                            <a:rPr lang="en-US" sz="1400">
                              <a:latin typeface="Cambria Math"/>
                            </a:rPr>
                            <m:t>𝑒𝑣𝑎𝑐</m:t>
                          </m:r>
                        </m:sub>
                        <m:sup/>
                      </m:sSubSup>
                    </m:oMath>
                  </m:oMathPara>
                </a14:m>
                <a:endParaRPr lang="en-US" sz="1400" dirty="0"/>
              </a:p>
            </p:txBody>
          </p:sp>
        </mc:Choice>
        <mc:Fallback xmlns="">
          <p:sp>
            <p:nvSpPr>
              <p:cNvPr id="13" name="TextBox 12">
                <a:extLst>
                  <a:ext uri="{FF2B5EF4-FFF2-40B4-BE49-F238E27FC236}">
                    <a16:creationId xmlns:a16="http://schemas.microsoft.com/office/drawing/2014/main" id="{28030C30-86CC-4B35-ACF5-CB70621AC381}"/>
                  </a:ext>
                </a:extLst>
              </p:cNvPr>
              <p:cNvSpPr txBox="1">
                <a:spLocks noRot="1" noChangeAspect="1" noMove="1" noResize="1" noEditPoints="1" noAdjustHandles="1" noChangeArrowheads="1" noChangeShapeType="1" noTextEdit="1"/>
              </p:cNvSpPr>
              <p:nvPr/>
            </p:nvSpPr>
            <p:spPr>
              <a:xfrm>
                <a:off x="5752903" y="5787234"/>
                <a:ext cx="6187833" cy="347724"/>
              </a:xfrm>
              <a:prstGeom prst="rect">
                <a:avLst/>
              </a:prstGeom>
              <a:blipFill>
                <a:blip r:embed="rId10"/>
                <a:stretch>
                  <a:fillRect b="-3509"/>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3F5CABA-BD6D-46EF-A465-5FFB9B608B07}"/>
                  </a:ext>
                </a:extLst>
              </p:cNvPr>
              <p:cNvSpPr txBox="1"/>
              <p:nvPr/>
            </p:nvSpPr>
            <p:spPr>
              <a:xfrm>
                <a:off x="5752902" y="6113496"/>
                <a:ext cx="6187833" cy="347724"/>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en-US" sz="1400">
                              <a:latin typeface="Cambria Math"/>
                            </a:rPr>
                            <m:t>𝑉</m:t>
                          </m:r>
                        </m:e>
                        <m:sub>
                          <m:r>
                            <a:rPr lang="en-US" sz="1400">
                              <a:latin typeface="Cambria Math"/>
                            </a:rPr>
                            <m:t>𝑝𝑟𝑖𝑜</m:t>
                          </m:r>
                        </m:sub>
                      </m:sSub>
                      <m:r>
                        <a:rPr lang="en-US" sz="1400">
                          <a:latin typeface="Cambria Math"/>
                        </a:rPr>
                        <m:t> =</m:t>
                      </m:r>
                      <m:r>
                        <a:rPr lang="tr-TR" sz="1400" b="0" i="1" smtClean="0">
                          <a:latin typeface="Cambria Math" panose="02040503050406030204" pitchFamily="18" charset="0"/>
                        </a:rPr>
                        <m:t>0.2</m:t>
                      </m:r>
                      <m:r>
                        <a:rPr lang="en-US" sz="1400">
                          <a:latin typeface="Cambria Math"/>
                        </a:rPr>
                        <m:t> · </m:t>
                      </m:r>
                      <m:sSub>
                        <m:sSubPr>
                          <m:ctrlPr>
                            <a:rPr lang="en-US" sz="1400" i="1">
                              <a:latin typeface="Cambria Math" panose="02040503050406030204" pitchFamily="18" charset="0"/>
                            </a:rPr>
                          </m:ctrlPr>
                        </m:sSubPr>
                        <m:e>
                          <m:r>
                            <a:rPr lang="en-US" sz="1400">
                              <a:latin typeface="Cambria Math"/>
                            </a:rPr>
                            <m:t>𝑉</m:t>
                          </m:r>
                        </m:e>
                        <m:sub>
                          <m:r>
                            <a:rPr lang="en-US" sz="1400">
                              <a:latin typeface="Cambria Math"/>
                            </a:rPr>
                            <m:t>𝑏𝑙𝑑</m:t>
                          </m:r>
                        </m:sub>
                      </m:sSub>
                      <m:r>
                        <a:rPr lang="en-US" sz="1400">
                          <a:latin typeface="Cambria Math"/>
                        </a:rPr>
                        <m:t> +</m:t>
                      </m:r>
                      <m:r>
                        <a:rPr lang="tr-TR" sz="1400" b="0" i="1" smtClean="0">
                          <a:latin typeface="Cambria Math" panose="02040503050406030204" pitchFamily="18" charset="0"/>
                        </a:rPr>
                        <m:t>0.4</m:t>
                      </m:r>
                      <m:r>
                        <a:rPr lang="en-US" sz="1400">
                          <a:latin typeface="Cambria Math"/>
                        </a:rPr>
                        <m:t> · </m:t>
                      </m:r>
                      <m:sSub>
                        <m:sSubPr>
                          <m:ctrlPr>
                            <a:rPr lang="en-US" sz="1400" i="1">
                              <a:latin typeface="Cambria Math" panose="02040503050406030204" pitchFamily="18" charset="0"/>
                            </a:rPr>
                          </m:ctrlPr>
                        </m:sSubPr>
                        <m:e>
                          <m:r>
                            <a:rPr lang="en-US" sz="1400">
                              <a:latin typeface="Cambria Math"/>
                            </a:rPr>
                            <m:t>𝑉</m:t>
                          </m:r>
                        </m:e>
                        <m:sub>
                          <m:r>
                            <a:rPr lang="en-US" sz="1400">
                              <a:latin typeface="Cambria Math"/>
                            </a:rPr>
                            <m:t>𝑐𝑟𝑖𝑡</m:t>
                          </m:r>
                        </m:sub>
                      </m:sSub>
                      <m:r>
                        <a:rPr lang="en-US" sz="1400">
                          <a:latin typeface="Cambria Math"/>
                        </a:rPr>
                        <m:t> +</m:t>
                      </m:r>
                      <m:r>
                        <a:rPr lang="tr-TR" sz="1400" b="0" i="1" smtClean="0">
                          <a:latin typeface="Cambria Math" panose="02040503050406030204" pitchFamily="18" charset="0"/>
                        </a:rPr>
                        <m:t>0.25</m:t>
                      </m:r>
                      <m:r>
                        <a:rPr lang="en-US" sz="1400">
                          <a:latin typeface="Cambria Math"/>
                        </a:rPr>
                        <m:t> · </m:t>
                      </m:r>
                      <m:sSubSup>
                        <m:sSubSupPr>
                          <m:ctrlPr>
                            <a:rPr lang="en-US" sz="1400" i="1">
                              <a:latin typeface="Cambria Math" panose="02040503050406030204" pitchFamily="18" charset="0"/>
                            </a:rPr>
                          </m:ctrlPr>
                        </m:sSubSupPr>
                        <m:e>
                          <m:r>
                            <a:rPr lang="en-US" sz="1400">
                              <a:latin typeface="Cambria Math"/>
                            </a:rPr>
                            <m:t>𝑉</m:t>
                          </m:r>
                        </m:e>
                        <m:sub>
                          <m:r>
                            <a:rPr lang="en-US" sz="1400">
                              <a:latin typeface="Cambria Math"/>
                            </a:rPr>
                            <m:t>𝑝𝑜𝑝</m:t>
                          </m:r>
                        </m:sub>
                        <m:sup/>
                      </m:sSubSup>
                      <m:r>
                        <a:rPr lang="en-US" sz="1400">
                          <a:latin typeface="Cambria Math"/>
                        </a:rPr>
                        <m:t> +</m:t>
                      </m:r>
                      <m:r>
                        <a:rPr lang="tr-TR" sz="1400" b="0" i="0" smtClean="0">
                          <a:latin typeface="Cambria Math" panose="02040503050406030204" pitchFamily="18" charset="0"/>
                        </a:rPr>
                        <m:t>0.15</m:t>
                      </m:r>
                      <m:r>
                        <a:rPr lang="en-US" sz="1400">
                          <a:latin typeface="Cambria Math"/>
                        </a:rPr>
                        <m:t>· </m:t>
                      </m:r>
                      <m:sSubSup>
                        <m:sSubSupPr>
                          <m:ctrlPr>
                            <a:rPr lang="en-US" sz="1400" i="1">
                              <a:latin typeface="Cambria Math" panose="02040503050406030204" pitchFamily="18" charset="0"/>
                            </a:rPr>
                          </m:ctrlPr>
                        </m:sSubSupPr>
                        <m:e>
                          <m:r>
                            <a:rPr lang="en-US" sz="1400">
                              <a:latin typeface="Cambria Math"/>
                            </a:rPr>
                            <m:t>𝑉</m:t>
                          </m:r>
                        </m:e>
                        <m:sub>
                          <m:r>
                            <a:rPr lang="en-US" sz="1400">
                              <a:latin typeface="Cambria Math"/>
                            </a:rPr>
                            <m:t>𝑒𝑣𝑎𝑐</m:t>
                          </m:r>
                        </m:sub>
                        <m:sup/>
                      </m:sSubSup>
                    </m:oMath>
                  </m:oMathPara>
                </a14:m>
                <a:endParaRPr lang="en-US" sz="1400" dirty="0"/>
              </a:p>
            </p:txBody>
          </p:sp>
        </mc:Choice>
        <mc:Fallback xmlns="">
          <p:sp>
            <p:nvSpPr>
              <p:cNvPr id="14" name="TextBox 13">
                <a:extLst>
                  <a:ext uri="{FF2B5EF4-FFF2-40B4-BE49-F238E27FC236}">
                    <a16:creationId xmlns:a16="http://schemas.microsoft.com/office/drawing/2014/main" id="{93F5CABA-BD6D-46EF-A465-5FFB9B608B07}"/>
                  </a:ext>
                </a:extLst>
              </p:cNvPr>
              <p:cNvSpPr txBox="1">
                <a:spLocks noRot="1" noChangeAspect="1" noMove="1" noResize="1" noEditPoints="1" noAdjustHandles="1" noChangeArrowheads="1" noChangeShapeType="1" noTextEdit="1"/>
              </p:cNvSpPr>
              <p:nvPr/>
            </p:nvSpPr>
            <p:spPr>
              <a:xfrm>
                <a:off x="5752902" y="6113496"/>
                <a:ext cx="6187833" cy="347724"/>
              </a:xfrm>
              <a:prstGeom prst="rect">
                <a:avLst/>
              </a:prstGeom>
              <a:blipFill>
                <a:blip r:embed="rId11"/>
                <a:stretch>
                  <a:fillRect b="-3509"/>
                </a:stretch>
              </a:blipFill>
            </p:spPr>
            <p:txBody>
              <a:bodyPr/>
              <a:lstStyle/>
              <a:p>
                <a:r>
                  <a:rPr lang="tr-TR">
                    <a:noFill/>
                  </a:rPr>
                  <a:t/>
                </a:r>
              </a:p>
            </p:txBody>
          </p:sp>
        </mc:Fallback>
      </mc:AlternateContent>
      <p:sp>
        <p:nvSpPr>
          <p:cNvPr id="90002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22 / 113</a:t>
            </a:r>
          </a:p>
        </p:txBody>
      </p:sp>
    </p:spTree>
    <p:extLst>
      <p:ext uri="{BB962C8B-B14F-4D97-AF65-F5344CB8AC3E}">
        <p14:creationId xmlns:p14="http://schemas.microsoft.com/office/powerpoint/2010/main" val="760329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tr-TR" sz="2700" b="1" dirty="0" err="1">
                <a:solidFill>
                  <a:srgbClr val="000000"/>
                </a:solidFill>
                <a:latin typeface="Cambria" pitchFamily="34" charset="0"/>
                <a:ea typeface="Cambria" pitchFamily="34" charset="-122"/>
                <a:cs typeface="Cambria" pitchFamily="34" charset="-120"/>
              </a:rPr>
              <a:t>Input</a:t>
            </a:r>
            <a:r>
              <a:rPr lang="tr-TR" sz="2700" b="1" dirty="0">
                <a:solidFill>
                  <a:srgbClr val="000000"/>
                </a:solidFill>
                <a:latin typeface="Cambria" pitchFamily="34" charset="0"/>
                <a:ea typeface="Cambria" pitchFamily="34" charset="-122"/>
                <a:cs typeface="Cambria" pitchFamily="34" charset="-120"/>
              </a:rPr>
              <a:t> </a:t>
            </a:r>
            <a:r>
              <a:rPr lang="tr-TR" sz="2700" b="1" dirty="0" err="1">
                <a:solidFill>
                  <a:srgbClr val="000000"/>
                </a:solidFill>
                <a:latin typeface="Cambria" pitchFamily="34" charset="0"/>
                <a:ea typeface="Cambria" pitchFamily="34" charset="-122"/>
                <a:cs typeface="Cambria" pitchFamily="34" charset="-120"/>
              </a:rPr>
              <a:t>Field</a:t>
            </a:r>
            <a:r>
              <a:rPr lang="tr-TR" sz="2700" b="1" dirty="0">
                <a:solidFill>
                  <a:srgbClr val="000000"/>
                </a:solidFill>
                <a:latin typeface="Cambria" pitchFamily="34" charset="0"/>
                <a:ea typeface="Cambria" pitchFamily="34" charset="-122"/>
                <a:cs typeface="Cambria" pitchFamily="34" charset="-120"/>
              </a:rPr>
              <a:t> </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829300" y="109728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52904" y="138074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𝑉𝑎𝑙</m:t>
                          </m:r>
                          <m:r>
                            <a:rPr lang="en-US" sz="1500">
                              <a:latin typeface="Cambria Math"/>
                            </a:rPr>
                            <m:t>,</m:t>
                          </m:r>
                          <m:r>
                            <a:rPr lang="en-US" sz="1500">
                              <a:latin typeface="Cambria Math"/>
                            </a:rPr>
                            <m:t>𝑘</m:t>
                          </m:r>
                        </m:sub>
                      </m:sSub>
                      <m:r>
                        <a:rPr lang="en-US" sz="1500">
                          <a:latin typeface="Cambria Math"/>
                        </a:rPr>
                        <m:t>, </m:t>
                      </m:r>
                      <m:sSub>
                        <m:sSubPr>
                          <m:ctrlPr>
                            <a:rPr lang="en-US" b="1" i="1">
                              <a:latin typeface="Cambria Math" panose="02040503050406030204" pitchFamily="18" charset="0"/>
                            </a:rPr>
                          </m:ctrlPr>
                        </m:sSubPr>
                        <m:e>
                          <m:r>
                            <a:rPr lang="en-US" sz="1500" b="1" i="1">
                              <a:latin typeface="Cambria Math"/>
                            </a:rPr>
                            <m:t>𝐔</m:t>
                          </m:r>
                        </m:e>
                        <m:sub>
                          <m:r>
                            <a:rPr lang="en-US" sz="1500" b="1" i="1">
                              <a:latin typeface="Cambria Math"/>
                            </a:rPr>
                            <m:t>𝐑𝐞𝐬</m:t>
                          </m:r>
                          <m:r>
                            <a:rPr lang="en-US" sz="1500" b="1">
                              <a:latin typeface="Cambria Math"/>
                            </a:rPr>
                            <m:t>,</m:t>
                          </m:r>
                          <m:r>
                            <a:rPr lang="en-US" sz="1500" b="1" i="1">
                              <a:latin typeface="Cambria Math"/>
                            </a:rPr>
                            <m:t>𝐤</m:t>
                          </m:r>
                        </m:sub>
                      </m:sSub>
                      <m:r>
                        <a:rPr lang="en-US" sz="1500" b="1">
                          <a:latin typeface="Cambria Math"/>
                        </a:rPr>
                        <m:t>}</m:t>
                      </m:r>
                    </m:oMath>
                  </m:oMathPara>
                </a14:m>
                <a:endParaRPr lang="en-US" sz="1600" b="1" dirty="0"/>
              </a:p>
            </p:txBody>
          </p:sp>
        </mc:Choice>
        <mc:Fallback xmlns="">
          <p:sp>
            <p:nvSpPr>
              <p:cNvPr id="8" name="Text 3"/>
              <p:cNvSpPr>
                <a:spLocks noRot="1" noChangeAspect="1" noMove="1" noResize="1" noEditPoints="1" noAdjustHandles="1" noChangeArrowheads="1" noChangeShapeType="1" noTextEdit="1"/>
              </p:cNvSpPr>
              <p:nvPr/>
            </p:nvSpPr>
            <p:spPr>
              <a:xfrm>
                <a:off x="5752904" y="138074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43600" y="1856232"/>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𝑉𝑎𝑙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value-at-risk priorities</a:t>
                </a:r>
                <a:endParaRPr lang="en-US" sz="1350" dirty="0"/>
              </a:p>
            </p:txBody>
          </p:sp>
        </mc:Choice>
        <mc:Fallback xmlns="">
          <p:sp>
            <p:nvSpPr>
              <p:cNvPr id="9" name="Text 4"/>
              <p:cNvSpPr>
                <a:spLocks noRot="1" noChangeAspect="1" noMove="1" noResize="1" noEditPoints="1" noAdjustHandles="1" noChangeArrowheads="1" noChangeShapeType="1" noTextEdit="1"/>
              </p:cNvSpPr>
              <p:nvPr/>
            </p:nvSpPr>
            <p:spPr>
              <a:xfrm>
                <a:off x="5943600" y="1856232"/>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136730"/>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b="1" i="1">
                            <a:latin typeface="Cambria Math" panose="02040503050406030204" pitchFamily="18" charset="0"/>
                          </a:rPr>
                        </m:ctrlPr>
                      </m:sSubPr>
                      <m:e>
                        <m:r>
                          <a:rPr lang="en-US" sz="1300" b="1" i="1">
                            <a:latin typeface="Cambria Math"/>
                          </a:rPr>
                          <m:t>𝐔</m:t>
                        </m:r>
                      </m:e>
                      <m:sub>
                        <m:r>
                          <a:rPr lang="en-US" sz="1300" b="1" i="1">
                            <a:latin typeface="Cambria Math"/>
                          </a:rPr>
                          <m:t>𝐑𝐞𝐬</m:t>
                        </m:r>
                        <m:r>
                          <a:rPr lang="en-US" sz="1300" b="1">
                            <a:latin typeface="Cambria Math"/>
                          </a:rPr>
                          <m:t>,</m:t>
                        </m:r>
                        <m:r>
                          <a:rPr lang="en-US" sz="1300" b="1" i="1">
                            <a:latin typeface="Cambria Math"/>
                          </a:rPr>
                          <m:t>𝐤</m:t>
                        </m:r>
                      </m:sub>
                    </m:sSub>
                    <m:r>
                      <a:rPr lang="en-US" sz="1300" b="1">
                        <a:latin typeface="Cambria Math"/>
                      </a:rPr>
                      <m:t>(</m:t>
                    </m:r>
                    <m:r>
                      <a:rPr lang="en-US" sz="1300" b="1" i="1">
                        <a:latin typeface="Cambria Math"/>
                      </a:rPr>
                      <m:t>𝐱</m:t>
                    </m:r>
                    <m:r>
                      <a:rPr lang="en-US" sz="1300" b="1">
                        <a:latin typeface="Cambria Math"/>
                      </a:rPr>
                      <m:t>,</m:t>
                    </m:r>
                    <m:r>
                      <a:rPr lang="en-US" sz="1300" b="1" i="1">
                        <a:latin typeface="Cambria Math"/>
                      </a:rPr>
                      <m:t>𝐲</m:t>
                    </m:r>
                    <m:r>
                      <a:rPr lang="en-US" sz="1300" b="1">
                        <a:latin typeface="Cambria Math"/>
                      </a:rPr>
                      <m:t>)</m:t>
                    </m:r>
                  </m:oMath>
                </a14:m>
                <a:r>
                  <a:rPr lang="en-US" sz="1350" b="1" dirty="0">
                    <a:solidFill>
                      <a:srgbClr val="222222"/>
                    </a:solidFill>
                    <a:latin typeface="Calibri" pitchFamily="34" charset="0"/>
                    <a:ea typeface="Calibri" pitchFamily="34" charset="-122"/>
                    <a:cs typeface="Calibri" pitchFamily="34" charset="-120"/>
                  </a:rPr>
                  <a:t> — resource pool: capacity, availability, effectiveness, travel time</a:t>
                </a:r>
                <a:endParaRPr lang="en-US" sz="1350" b="1" dirty="0"/>
              </a:p>
            </p:txBody>
          </p:sp>
        </mc:Choice>
        <mc:Fallback xmlns="">
          <p:sp>
            <p:nvSpPr>
              <p:cNvPr id="11" name="Text 6"/>
              <p:cNvSpPr>
                <a:spLocks noRot="1" noChangeAspect="1" noMove="1" noResize="1" noEditPoints="1" noAdjustHandles="1" noChangeArrowheads="1" noChangeShapeType="1" noTextEdit="1"/>
              </p:cNvSpPr>
              <p:nvPr/>
            </p:nvSpPr>
            <p:spPr>
              <a:xfrm>
                <a:off x="5943600" y="2136730"/>
                <a:ext cx="5806440" cy="320040"/>
              </a:xfrm>
              <a:prstGeom prst="rect">
                <a:avLst/>
              </a:prstGeom>
              <a:blipFill>
                <a:blip r:embed="rId8"/>
                <a:stretch>
                  <a:fillRect l="-944" b="-17308"/>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1042375054"/>
                  </p:ext>
                </p:extLst>
              </p:nvPr>
            </p:nvGraphicFramePr>
            <p:xfrm>
              <a:off x="5752904" y="2567487"/>
              <a:ext cx="6187832" cy="2779968"/>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192083">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105288991"/>
                      </a:ext>
                    </a:extLst>
                  </a:tr>
                  <a:tr h="622190">
                    <a:tc>
                      <a:txBody>
                        <a:bodyPr/>
                        <a:lstStyle/>
                        <a:p>
                          <a:pPr algn="just">
                            <a:lnSpc>
                              <a:spcPct val="150000"/>
                            </a:lnSpc>
                          </a:pPr>
                          <a:r>
                            <a:rPr lang="en-US" sz="1200" dirty="0">
                              <a:effectLst/>
                            </a:rPr>
                            <a:t>Suppression Capacity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cap</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available suppression capability (i.e., water volume or manpower at grid cell at time step k).</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4289072623"/>
                      </a:ext>
                    </a:extLst>
                  </a:tr>
                  <a:tr h="454433">
                    <a:tc>
                      <a:txBody>
                        <a:bodyPr/>
                        <a:lstStyle/>
                        <a:p>
                          <a:pPr algn="just">
                            <a:lnSpc>
                              <a:spcPct val="150000"/>
                            </a:lnSpc>
                          </a:pPr>
                          <a:r>
                            <a:rPr lang="en-US" sz="1200" dirty="0">
                              <a:effectLst/>
                            </a:rPr>
                            <a:t>Travel Time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time</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estimated time required to reach a grid cell from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61369388"/>
                      </a:ext>
                    </a:extLst>
                  </a:tr>
                  <a:tr h="466538">
                    <a:tc>
                      <a:txBody>
                        <a:bodyPr/>
                        <a:lstStyle/>
                        <a:p>
                          <a:pPr algn="just">
                            <a:lnSpc>
                              <a:spcPct val="150000"/>
                            </a:lnSpc>
                          </a:pPr>
                          <a:r>
                            <a:rPr lang="en-US" sz="1200" dirty="0">
                              <a:effectLst/>
                            </a:rPr>
                            <a:t>Suppression Efficiency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eff</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Quantifies how effectively a resource reduces fuel load or fire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764470451"/>
                      </a:ext>
                    </a:extLst>
                  </a:tr>
                  <a:tr h="594264">
                    <a:tc>
                      <a:txBody>
                        <a:bodyPr/>
                        <a:lstStyle/>
                        <a:p>
                          <a:pPr algn="just">
                            <a:lnSpc>
                              <a:spcPct val="150000"/>
                            </a:lnSpc>
                          </a:pPr>
                          <a:r>
                            <a:rPr lang="en-US" sz="1200" dirty="0">
                              <a:effectLst/>
                            </a:rPr>
                            <a:t>Resource Availability </a:t>
                          </a:r>
                          <a:endParaRPr lang="tr-TR" sz="1200" dirty="0">
                            <a:effectLst/>
                          </a:endParaRPr>
                        </a:p>
                        <a:p>
                          <a:pPr algn="just">
                            <a:lnSpc>
                              <a:spcPct val="150000"/>
                            </a:lnSpc>
                          </a:pPr>
                          <a14:m>
                            <m:oMathPara xmlns:m="http://schemas.openxmlformats.org/officeDocument/2006/math">
                              <m:oMathParaPr>
                                <m:jc m:val="centerGroup"/>
                              </m:oMathParaPr>
                              <m:oMath xmlns:m="http://schemas.openxmlformats.org/officeDocument/2006/math">
                                <m:sSub>
                                  <m:sSubPr>
                                    <m:ctrlPr>
                                      <a:rPr lang="tr-TR" sz="1200" i="1">
                                        <a:effectLst/>
                                        <a:latin typeface="Cambria Math" panose="02040503050406030204" pitchFamily="18" charset="0"/>
                                      </a:rPr>
                                    </m:ctrlPr>
                                  </m:sSubPr>
                                  <m:e>
                                    <m:bar>
                                      <m:barPr>
                                        <m:pos m:val="top"/>
                                        <m:ctrlPr>
                                          <a:rPr lang="tr-TR" sz="1200" i="1">
                                            <a:effectLst/>
                                            <a:latin typeface="Cambria Math" panose="02040503050406030204" pitchFamily="18" charset="0"/>
                                          </a:rPr>
                                        </m:ctrlPr>
                                      </m:barPr>
                                      <m:e>
                                        <m:r>
                                          <a:rPr lang="en-US" sz="1200">
                                            <a:effectLst/>
                                            <a:latin typeface="Cambria Math" panose="02040503050406030204" pitchFamily="18" charset="0"/>
                                          </a:rPr>
                                          <m:t>𝑹</m:t>
                                        </m:r>
                                      </m:e>
                                    </m:bar>
                                  </m:e>
                                  <m:sub>
                                    <m:r>
                                      <m:rPr>
                                        <m:nor/>
                                      </m:rPr>
                                      <a:rPr lang="en-US" sz="1200">
                                        <a:effectLst/>
                                      </a:rPr>
                                      <m:t>avail</m:t>
                                    </m:r>
                                    <m:r>
                                      <m:rPr>
                                        <m:nor/>
                                      </m:rPr>
                                      <a:rPr lang="en-US" sz="1200">
                                        <a:effectLst/>
                                      </a:rPr>
                                      <m:t>,</m:t>
                                    </m:r>
                                    <m:r>
                                      <m:rPr>
                                        <m:nor/>
                                      </m:rPr>
                                      <a:rPr lang="en-US" sz="1200">
                                        <a:effectLst/>
                                      </a:rPr>
                                      <m:t>k</m:t>
                                    </m:r>
                                  </m:sub>
                                </m:sSub>
                                <m:d>
                                  <m:dPr>
                                    <m:ctrlPr>
                                      <a:rPr lang="tr-TR" sz="1200" i="1">
                                        <a:effectLst/>
                                        <a:latin typeface="Cambria Math" panose="02040503050406030204" pitchFamily="18" charset="0"/>
                                      </a:rPr>
                                    </m:ctrlPr>
                                  </m:dPr>
                                  <m:e>
                                    <m:r>
                                      <a:rPr lang="en-US" sz="1200">
                                        <a:effectLst/>
                                        <a:latin typeface="Cambria Math" panose="02040503050406030204" pitchFamily="18" charset="0"/>
                                      </a:rPr>
                                      <m:t>𝒙</m:t>
                                    </m:r>
                                    <m:r>
                                      <a:rPr lang="en-US" sz="1200">
                                        <a:effectLst/>
                                        <a:latin typeface="Cambria Math" panose="02040503050406030204" pitchFamily="18" charset="0"/>
                                      </a:rPr>
                                      <m:t>,</m:t>
                                    </m:r>
                                    <m:r>
                                      <a:rPr lang="en-US" sz="1200">
                                        <a:effectLst/>
                                        <a:latin typeface="Cambria Math" panose="02040503050406030204" pitchFamily="18" charset="0"/>
                                      </a:rPr>
                                      <m:t>𝒚</m:t>
                                    </m:r>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Degree to which the resource is currently deployable.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28413603"/>
                      </a:ext>
                    </a:extLst>
                  </a:tr>
                </a:tbl>
              </a:graphicData>
            </a:graphic>
          </p:graphicFrame>
        </mc:Choice>
        <mc:Fallback xmlns="">
          <p:graphicFrame>
            <p:nvGraphicFramePr>
              <p:cNvPr id="10" name="Table 9">
                <a:extLst>
                  <a:ext uri="{FF2B5EF4-FFF2-40B4-BE49-F238E27FC236}">
                    <a16:creationId xmlns:a16="http://schemas.microsoft.com/office/drawing/2014/main" id="{098AF497-9BAD-4DBD-9FCA-7A884A1A2873}"/>
                  </a:ext>
                </a:extLst>
              </p:cNvPr>
              <p:cNvGraphicFramePr>
                <a:graphicFrameLocks noGrp="1"/>
              </p:cNvGraphicFramePr>
              <p:nvPr>
                <p:extLst>
                  <p:ext uri="{D42A27DB-BD31-4B8C-83A1-F6EECF244321}">
                    <p14:modId xmlns:p14="http://schemas.microsoft.com/office/powerpoint/2010/main" val="1042375054"/>
                  </p:ext>
                </p:extLst>
              </p:nvPr>
            </p:nvGraphicFramePr>
            <p:xfrm>
              <a:off x="5752904" y="2567487"/>
              <a:ext cx="6187832" cy="2779968"/>
            </p:xfrm>
            <a:graphic>
              <a:graphicData uri="http://schemas.openxmlformats.org/drawingml/2006/table">
                <a:tbl>
                  <a:tblPr firstRow="1" firstCol="1" bandRow="1">
                    <a:tableStyleId>{93296810-A885-4BE3-A3E7-6D5BEEA58F35}</a:tableStyleId>
                  </a:tblPr>
                  <a:tblGrid>
                    <a:gridCol w="1624080">
                      <a:extLst>
                        <a:ext uri="{9D8B030D-6E8A-4147-A177-3AD203B41FA5}">
                          <a16:colId xmlns:a16="http://schemas.microsoft.com/office/drawing/2014/main" val="277425698"/>
                        </a:ext>
                      </a:extLst>
                    </a:gridCol>
                    <a:gridCol w="605481">
                      <a:extLst>
                        <a:ext uri="{9D8B030D-6E8A-4147-A177-3AD203B41FA5}">
                          <a16:colId xmlns:a16="http://schemas.microsoft.com/office/drawing/2014/main" val="2279409957"/>
                        </a:ext>
                      </a:extLst>
                    </a:gridCol>
                    <a:gridCol w="3958271">
                      <a:extLst>
                        <a:ext uri="{9D8B030D-6E8A-4147-A177-3AD203B41FA5}">
                          <a16:colId xmlns:a16="http://schemas.microsoft.com/office/drawing/2014/main" val="3088005188"/>
                        </a:ext>
                      </a:extLst>
                    </a:gridCol>
                  </a:tblGrid>
                  <a:tr h="245047">
                    <a:tc>
                      <a:txBody>
                        <a:bodyPr/>
                        <a:lstStyle/>
                        <a:p>
                          <a:pPr algn="just">
                            <a:lnSpc>
                              <a:spcPct val="150000"/>
                            </a:lnSpc>
                          </a:pPr>
                          <a:r>
                            <a:rPr lang="en-US" sz="1200" dirty="0">
                              <a:effectLst/>
                            </a:rPr>
                            <a:t>Parameter </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Unit</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a:effectLst/>
                            </a:rPr>
                            <a:t>Purpose in Simulation</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105288991"/>
                      </a:ext>
                    </a:extLst>
                  </a:tr>
                  <a:tr h="639445">
                    <a:tc>
                      <a:txBody>
                        <a:bodyPr/>
                        <a:lstStyle/>
                        <a:p>
                          <a:endParaRPr lang="tr-TR"/>
                        </a:p>
                      </a:txBody>
                      <a:tcPr marL="17780" marR="17780" marT="0" marB="0">
                        <a:blipFill>
                          <a:blip r:embed="rId9"/>
                          <a:stretch>
                            <a:fillRect l="-375" t="-39048" r="-282022" b="-300952"/>
                          </a:stretch>
                        </a:blipFill>
                      </a:tcPr>
                    </a:tc>
                    <a:tc>
                      <a:txBody>
                        <a:bodyPr/>
                        <a:lstStyle/>
                        <a:p>
                          <a:pPr algn="just">
                            <a:lnSpc>
                              <a:spcPct val="150000"/>
                            </a:lnSpc>
                          </a:pPr>
                          <a:r>
                            <a:rPr lang="en-US" sz="1200" dirty="0">
                              <a:effectLst/>
                            </a:rPr>
                            <a:t>m³ / step</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available suppression capability (i.e., water volume or manpower at grid cell at time step k).</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4289072623"/>
                      </a:ext>
                    </a:extLst>
                  </a:tr>
                  <a:tr h="631508">
                    <a:tc>
                      <a:txBody>
                        <a:bodyPr/>
                        <a:lstStyle/>
                        <a:p>
                          <a:endParaRPr lang="tr-TR"/>
                        </a:p>
                      </a:txBody>
                      <a:tcPr marL="17780" marR="17780" marT="0" marB="0">
                        <a:blipFill>
                          <a:blip r:embed="rId9"/>
                          <a:stretch>
                            <a:fillRect l="-375" t="-140385" r="-282022" b="-203846"/>
                          </a:stretch>
                        </a:blipFill>
                      </a:tcPr>
                    </a:tc>
                    <a:tc>
                      <a:txBody>
                        <a:bodyPr/>
                        <a:lstStyle/>
                        <a:p>
                          <a:pPr algn="just">
                            <a:lnSpc>
                              <a:spcPct val="150000"/>
                            </a:lnSpc>
                          </a:pPr>
                          <a:r>
                            <a:rPr lang="en-US" sz="1200" dirty="0">
                              <a:effectLst/>
                            </a:rPr>
                            <a:t>min or h</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Represents estimated time required to reach a grid cell from current position.</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61369388"/>
                      </a:ext>
                    </a:extLst>
                  </a:tr>
                  <a:tr h="632460">
                    <a:tc>
                      <a:txBody>
                        <a:bodyPr/>
                        <a:lstStyle/>
                        <a:p>
                          <a:endParaRPr lang="tr-TR"/>
                        </a:p>
                      </a:txBody>
                      <a:tcPr marL="17780" marR="17780" marT="0" marB="0">
                        <a:blipFill>
                          <a:blip r:embed="rId9"/>
                          <a:stretch>
                            <a:fillRect l="-375" t="-240385" r="-282022" b="-103846"/>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Quantifies how effectively a resource reduces fuel load or fire intensity.</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764470451"/>
                      </a:ext>
                    </a:extLst>
                  </a:tr>
                  <a:tr h="631508">
                    <a:tc>
                      <a:txBody>
                        <a:bodyPr/>
                        <a:lstStyle/>
                        <a:p>
                          <a:endParaRPr lang="tr-TR"/>
                        </a:p>
                      </a:txBody>
                      <a:tcPr marL="17780" marR="17780" marT="0" marB="0">
                        <a:blipFill>
                          <a:blip r:embed="rId9"/>
                          <a:stretch>
                            <a:fillRect l="-375" t="-340385" r="-282022" b="-3846"/>
                          </a:stretch>
                        </a:blipFill>
                      </a:tcPr>
                    </a:tc>
                    <a:tc>
                      <a:txBody>
                        <a:bodyPr/>
                        <a:lstStyle/>
                        <a:p>
                          <a:pPr algn="just">
                            <a:lnSpc>
                              <a:spcPct val="150000"/>
                            </a:lnSpc>
                          </a:pPr>
                          <a:r>
                            <a:rPr lang="en-US" sz="1200" dirty="0">
                              <a:effectLst/>
                            </a:rPr>
                            <a:t>[0,1]</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200" dirty="0">
                              <a:effectLst/>
                            </a:rPr>
                            <a:t>Degree to which the resource is currently deployable.</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28413603"/>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5B8BA42-EDF4-40F1-B08C-8F67AAE93352}"/>
                  </a:ext>
                </a:extLst>
              </p:cNvPr>
              <p:cNvSpPr txBox="1"/>
              <p:nvPr/>
            </p:nvSpPr>
            <p:spPr>
              <a:xfrm>
                <a:off x="7312464" y="5562717"/>
                <a:ext cx="2915920" cy="396006"/>
              </a:xfrm>
              <a:prstGeom prst="rect">
                <a:avLst/>
              </a:prstGeom>
              <a:noFill/>
            </p:spPr>
            <p:txBody>
              <a:bodyPr wrap="square">
                <a:spAutoFit/>
              </a:bodyPr>
              <a:lstStyle/>
              <a:p>
                <a14:m>
                  <m:oMath xmlns:m="http://schemas.openxmlformats.org/officeDocument/2006/math">
                    <m:sSub>
                      <m:sSubPr>
                        <m:ctrlPr>
                          <a:rPr lang="en-US" b="1" i="1" smtClean="0">
                            <a:latin typeface="Cambria Math" panose="02040503050406030204" pitchFamily="18" charset="0"/>
                          </a:rPr>
                        </m:ctrlPr>
                      </m:sSubPr>
                      <m:e>
                        <m:r>
                          <a:rPr lang="en-US" sz="1800" b="1" i="1">
                            <a:latin typeface="Cambria Math"/>
                          </a:rPr>
                          <m:t>𝑼</m:t>
                        </m:r>
                      </m:e>
                      <m:sub>
                        <m:r>
                          <a:rPr lang="en-US" sz="1800" b="1" i="1">
                            <a:latin typeface="Cambria Math"/>
                          </a:rPr>
                          <m:t>𝑹𝒆𝒔</m:t>
                        </m:r>
                        <m:r>
                          <a:rPr lang="en-US" sz="1800" b="1" i="1">
                            <a:latin typeface="Cambria Math"/>
                          </a:rPr>
                          <m:t>,</m:t>
                        </m:r>
                        <m:r>
                          <a:rPr lang="en-US" sz="1800" b="1" i="1">
                            <a:latin typeface="Cambria Math"/>
                          </a:rPr>
                          <m:t>𝒌</m:t>
                        </m:r>
                      </m:sub>
                    </m:sSub>
                    <m:d>
                      <m:dPr>
                        <m:ctrlPr>
                          <a:rPr lang="en-US" sz="1800" b="1" i="1">
                            <a:latin typeface="Cambria Math" panose="02040503050406030204" pitchFamily="18" charset="0"/>
                          </a:rPr>
                        </m:ctrlPr>
                      </m:dPr>
                      <m:e>
                        <m:r>
                          <a:rPr lang="en-US" sz="1800" b="1" i="1">
                            <a:latin typeface="Cambria Math"/>
                          </a:rPr>
                          <m:t>𝒙</m:t>
                        </m:r>
                        <m:r>
                          <a:rPr lang="en-US" sz="1800" b="1" i="1">
                            <a:latin typeface="Cambria Math"/>
                          </a:rPr>
                          <m:t>,</m:t>
                        </m:r>
                        <m:r>
                          <a:rPr lang="en-US" sz="1800" b="1" i="1">
                            <a:latin typeface="Cambria Math"/>
                          </a:rPr>
                          <m:t>𝒚</m:t>
                        </m:r>
                      </m:e>
                    </m:d>
                    <m:r>
                      <a:rPr lang="en-US" sz="1800" b="1" i="1" smtClean="0">
                        <a:latin typeface="Cambria Math" panose="02040503050406030204" pitchFamily="18" charset="0"/>
                        <a:ea typeface="Cambria Math" panose="02040503050406030204" pitchFamily="18" charset="0"/>
                      </a:rPr>
                      <m:t>≡</m:t>
                    </m:r>
                    <m:sSub>
                      <m:sSubPr>
                        <m:ctrlPr>
                          <a:rPr lang="tr-TR" sz="1800" b="1" i="1" smtClean="0">
                            <a:latin typeface="Cambria Math" panose="02040503050406030204" pitchFamily="18" charset="0"/>
                            <a:ea typeface="Cambria Math" panose="02040503050406030204" pitchFamily="18" charset="0"/>
                          </a:rPr>
                        </m:ctrlPr>
                      </m:sSubPr>
                      <m:e>
                        <m:r>
                          <a:rPr lang="tr-TR" sz="1800" b="1" i="1" smtClean="0">
                            <a:latin typeface="Cambria Math" panose="02040503050406030204" pitchFamily="18" charset="0"/>
                            <a:ea typeface="Cambria Math" panose="02040503050406030204" pitchFamily="18" charset="0"/>
                          </a:rPr>
                          <m:t>𝑼</m:t>
                        </m:r>
                      </m:e>
                      <m:sub>
                        <m:r>
                          <a:rPr lang="tr-TR" sz="1800" b="1" i="1" smtClean="0">
                            <a:latin typeface="Cambria Math" panose="02040503050406030204" pitchFamily="18" charset="0"/>
                            <a:ea typeface="Cambria Math" panose="02040503050406030204" pitchFamily="18" charset="0"/>
                          </a:rPr>
                          <m:t>𝑫𝑺𝑺</m:t>
                        </m:r>
                        <m:r>
                          <a:rPr lang="tr-TR" sz="1800" b="1" i="1" smtClean="0">
                            <a:latin typeface="Cambria Math" panose="02040503050406030204" pitchFamily="18" charset="0"/>
                            <a:ea typeface="Cambria Math" panose="02040503050406030204" pitchFamily="18" charset="0"/>
                          </a:rPr>
                          <m:t>,</m:t>
                        </m:r>
                        <m:r>
                          <a:rPr lang="tr-TR" sz="1800" b="1" i="1" smtClean="0">
                            <a:latin typeface="Cambria Math" panose="02040503050406030204" pitchFamily="18" charset="0"/>
                            <a:ea typeface="Cambria Math" panose="02040503050406030204" pitchFamily="18" charset="0"/>
                          </a:rPr>
                          <m:t>𝒌</m:t>
                        </m:r>
                      </m:sub>
                    </m:sSub>
                    <m:r>
                      <a:rPr lang="tr-TR" sz="1800" b="1" i="1" smtClean="0">
                        <a:latin typeface="Cambria Math" panose="02040503050406030204" pitchFamily="18" charset="0"/>
                        <a:ea typeface="Cambria Math" panose="02040503050406030204" pitchFamily="18" charset="0"/>
                      </a:rPr>
                      <m:t> (</m:t>
                    </m:r>
                    <m:r>
                      <a:rPr lang="tr-TR" sz="1800" b="1" i="1" smtClean="0">
                        <a:latin typeface="Cambria Math" panose="02040503050406030204" pitchFamily="18" charset="0"/>
                        <a:ea typeface="Cambria Math" panose="02040503050406030204" pitchFamily="18" charset="0"/>
                      </a:rPr>
                      <m:t>𝒙</m:t>
                    </m:r>
                    <m:r>
                      <a:rPr lang="tr-TR" sz="1800" b="1" i="1" smtClean="0">
                        <a:latin typeface="Cambria Math" panose="02040503050406030204" pitchFamily="18" charset="0"/>
                        <a:ea typeface="Cambria Math" panose="02040503050406030204" pitchFamily="18" charset="0"/>
                      </a:rPr>
                      <m:t>,</m:t>
                    </m:r>
                    <m:r>
                      <a:rPr lang="tr-TR" sz="1800" b="1" i="1" smtClean="0">
                        <a:latin typeface="Cambria Math" panose="02040503050406030204" pitchFamily="18" charset="0"/>
                        <a:ea typeface="Cambria Math" panose="02040503050406030204" pitchFamily="18" charset="0"/>
                      </a:rPr>
                      <m:t>𝒚</m:t>
                    </m:r>
                    <m:r>
                      <a:rPr lang="tr-TR" sz="1800" b="1" i="1" smtClean="0">
                        <a:latin typeface="Cambria Math" panose="02040503050406030204" pitchFamily="18" charset="0"/>
                        <a:ea typeface="Cambria Math" panose="02040503050406030204" pitchFamily="18" charset="0"/>
                      </a:rPr>
                      <m:t>)</m:t>
                    </m:r>
                  </m:oMath>
                </a14:m>
                <a:r>
                  <a:rPr lang="en-US" sz="1800" b="1" i="1" dirty="0">
                    <a:solidFill>
                      <a:srgbClr val="222222"/>
                    </a:solidFill>
                    <a:latin typeface="Calibri" pitchFamily="34" charset="0"/>
                    <a:ea typeface="Calibri" pitchFamily="34" charset="-122"/>
                    <a:cs typeface="Calibri" pitchFamily="34" charset="-120"/>
                  </a:rPr>
                  <a:t> </a:t>
                </a:r>
                <a:endParaRPr lang="tr-TR" i="1" dirty="0"/>
              </a:p>
            </p:txBody>
          </p:sp>
        </mc:Choice>
        <mc:Fallback xmlns="">
          <p:sp>
            <p:nvSpPr>
              <p:cNvPr id="16" name="TextBox 15">
                <a:extLst>
                  <a:ext uri="{FF2B5EF4-FFF2-40B4-BE49-F238E27FC236}">
                    <a16:creationId xmlns:a16="http://schemas.microsoft.com/office/drawing/2014/main" id="{75B8BA42-EDF4-40F1-B08C-8F67AAE93352}"/>
                  </a:ext>
                </a:extLst>
              </p:cNvPr>
              <p:cNvSpPr txBox="1">
                <a:spLocks noRot="1" noChangeAspect="1" noMove="1" noResize="1" noEditPoints="1" noAdjustHandles="1" noChangeArrowheads="1" noChangeShapeType="1" noTextEdit="1"/>
              </p:cNvSpPr>
              <p:nvPr/>
            </p:nvSpPr>
            <p:spPr>
              <a:xfrm>
                <a:off x="7312464" y="5562717"/>
                <a:ext cx="2915920" cy="396006"/>
              </a:xfrm>
              <a:prstGeom prst="rect">
                <a:avLst/>
              </a:prstGeom>
              <a:blipFill>
                <a:blip r:embed="rId10"/>
                <a:stretch>
                  <a:fillRect b="-7813"/>
                </a:stretch>
              </a:blipFill>
            </p:spPr>
            <p:txBody>
              <a:bodyPr/>
              <a:lstStyle/>
              <a:p>
                <a:r>
                  <a:rPr lang="tr-TR">
                    <a:noFill/>
                  </a:rPr>
                  <a:t/>
                </a:r>
              </a:p>
            </p:txBody>
          </p:sp>
        </mc:Fallback>
      </mc:AlternateContent>
      <p:sp>
        <p:nvSpPr>
          <p:cNvPr id="90002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23 / 113</a:t>
            </a:r>
          </a:p>
        </p:txBody>
      </p:sp>
    </p:spTree>
    <p:extLst>
      <p:ext uri="{BB962C8B-B14F-4D97-AF65-F5344CB8AC3E}">
        <p14:creationId xmlns:p14="http://schemas.microsoft.com/office/powerpoint/2010/main" val="20021046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en-US" sz="2700" b="1" dirty="0">
                <a:solidFill>
                  <a:srgbClr val="000000"/>
                </a:solidFill>
                <a:latin typeface="Cambria" pitchFamily="34" charset="0"/>
                <a:ea typeface="Cambria" pitchFamily="34" charset="-122"/>
                <a:cs typeface="Cambria" pitchFamily="34" charset="-120"/>
              </a:rPr>
              <a:t>Observation and Decision Return</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p:sp>
        <p:nvSpPr>
          <p:cNvPr id="7" name="Text 2"/>
          <p:cNvSpPr/>
          <p:nvPr/>
        </p:nvSpPr>
        <p:spPr>
          <a:xfrm>
            <a:off x="5715000" y="1371600"/>
            <a:ext cx="6035040" cy="3200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Decisional context, read only by the DSS (invisible to the fire physics):</a:t>
            </a:r>
            <a:endParaRPr lang="en-US" sz="1500" dirty="0"/>
          </a:p>
        </p:txBody>
      </p:sp>
      <mc:AlternateContent xmlns:mc="http://schemas.openxmlformats.org/markup-compatibility/2006" xmlns:a14="http://schemas.microsoft.com/office/drawing/2010/main">
        <mc:Choice Requires="a14">
          <p:sp>
            <p:nvSpPr>
              <p:cNvPr id="8" name="Text 3"/>
              <p:cNvSpPr/>
              <p:nvPr/>
            </p:nvSpPr>
            <p:spPr>
              <a:xfrm>
                <a:off x="5715000" y="1700784"/>
                <a:ext cx="6035040" cy="384048"/>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500">
                              <a:latin typeface="Cambria Math"/>
                            </a:rPr>
                            <m:t>ℱ</m:t>
                          </m:r>
                        </m:e>
                        <m:sub>
                          <m:r>
                            <a:rPr lang="en-US" sz="1500">
                              <a:latin typeface="Cambria Math"/>
                            </a:rPr>
                            <m:t>𝐷𝑆𝑆</m:t>
                          </m:r>
                          <m:r>
                            <a:rPr lang="en-US" sz="1500">
                              <a:latin typeface="Cambria Math"/>
                            </a:rPr>
                            <m:t>,</m:t>
                          </m:r>
                          <m:r>
                            <a:rPr lang="en-US" sz="1500">
                              <a:latin typeface="Cambria Math"/>
                            </a:rPr>
                            <m:t>𝑘</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𝑉𝑎𝑙</m:t>
                          </m:r>
                          <m:r>
                            <a:rPr lang="en-US" sz="1500">
                              <a:latin typeface="Cambria Math"/>
                            </a:rPr>
                            <m:t>,</m:t>
                          </m:r>
                          <m:r>
                            <a:rPr lang="en-US" sz="1500">
                              <a:latin typeface="Cambria Math"/>
                            </a:rPr>
                            <m:t>𝑘</m:t>
                          </m:r>
                        </m:sub>
                      </m:sSub>
                      <m:r>
                        <a:rPr lang="en-US" sz="1500">
                          <a:latin typeface="Cambria Math"/>
                        </a:rPr>
                        <m:t>, </m:t>
                      </m:r>
                      <m:sSub>
                        <m:sSubPr>
                          <m:ctrlPr>
                            <a:rPr lang="en-US" i="1">
                              <a:latin typeface="Cambria Math" panose="02040503050406030204" pitchFamily="18" charset="0"/>
                            </a:rPr>
                          </m:ctrlPr>
                        </m:sSubPr>
                        <m:e>
                          <m:r>
                            <a:rPr lang="en-US" sz="1500">
                              <a:latin typeface="Cambria Math"/>
                            </a:rPr>
                            <m:t>𝑈</m:t>
                          </m:r>
                        </m:e>
                        <m:sub>
                          <m:r>
                            <a:rPr lang="en-US" sz="1500">
                              <a:latin typeface="Cambria Math"/>
                            </a:rPr>
                            <m:t>𝑅𝑒𝑠</m:t>
                          </m:r>
                          <m:r>
                            <a:rPr lang="en-US" sz="1500">
                              <a:latin typeface="Cambria Math"/>
                            </a:rPr>
                            <m:t>,</m:t>
                          </m:r>
                          <m:r>
                            <a:rPr lang="en-US" sz="1500">
                              <a:latin typeface="Cambria Math"/>
                            </a:rPr>
                            <m:t>𝑘</m:t>
                          </m:r>
                        </m:sub>
                      </m:sSub>
                      <m:r>
                        <a:rPr lang="en-US" sz="15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5715000" y="1700784"/>
                <a:ext cx="6035040" cy="384048"/>
              </a:xfrm>
              <a:prstGeom prst="rect">
                <a:avLst/>
              </a:prstGeom>
              <a:blipFill>
                <a:blip r:embed="rId6"/>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5943600" y="2139696"/>
                <a:ext cx="5806440" cy="292608"/>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𝑉𝑎𝑙</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value-at-risk priorities:</a:t>
                </a:r>
                <a:endParaRPr lang="en-US" sz="1350" dirty="0"/>
              </a:p>
            </p:txBody>
          </p:sp>
        </mc:Choice>
        <mc:Fallback xmlns="">
          <p:sp>
            <p:nvSpPr>
              <p:cNvPr id="9" name="Text 4"/>
              <p:cNvSpPr>
                <a:spLocks noRot="1" noChangeAspect="1" noMove="1" noResize="1" noEditPoints="1" noAdjustHandles="1" noChangeArrowheads="1" noChangeShapeType="1" noTextEdit="1"/>
              </p:cNvSpPr>
              <p:nvPr/>
            </p:nvSpPr>
            <p:spPr>
              <a:xfrm>
                <a:off x="5943600" y="2139696"/>
                <a:ext cx="5806440" cy="292608"/>
              </a:xfrm>
              <a:prstGeom prst="rect">
                <a:avLst/>
              </a:prstGeom>
              <a:blipFill>
                <a:blip r:embed="rId7"/>
                <a:stretch>
                  <a:fillRect l="-944" b="-2708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5943600" y="2532888"/>
                <a:ext cx="5806440" cy="32004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300">
                            <a:latin typeface="Cambria Math"/>
                          </a:rPr>
                          <m:t>𝑈</m:t>
                        </m:r>
                      </m:e>
                      <m:sub>
                        <m:r>
                          <a:rPr lang="en-US" sz="1300">
                            <a:latin typeface="Cambria Math"/>
                          </a:rPr>
                          <m:t>𝑅𝑒𝑠</m:t>
                        </m:r>
                        <m:r>
                          <a:rPr lang="en-US" sz="1300">
                            <a:latin typeface="Cambria Math"/>
                          </a:rPr>
                          <m:t>,</m:t>
                        </m:r>
                        <m:r>
                          <a:rPr lang="en-US" sz="1300">
                            <a:latin typeface="Cambria Math"/>
                          </a:rPr>
                          <m:t>𝑘</m:t>
                        </m:r>
                      </m:sub>
                    </m:sSub>
                    <m:r>
                      <a:rPr lang="en-US" sz="1300">
                        <a:latin typeface="Cambria Math"/>
                      </a:rPr>
                      <m:t>(</m:t>
                    </m:r>
                    <m:r>
                      <a:rPr lang="en-US" sz="1300">
                        <a:latin typeface="Cambria Math"/>
                      </a:rPr>
                      <m:t>𝑥</m:t>
                    </m:r>
                    <m:r>
                      <a:rPr lang="en-US" sz="1300">
                        <a:latin typeface="Cambria Math"/>
                      </a:rPr>
                      <m:t>,</m:t>
                    </m:r>
                    <m:r>
                      <a:rPr lang="en-US" sz="1300">
                        <a:latin typeface="Cambria Math"/>
                      </a:rPr>
                      <m:t>𝑦</m:t>
                    </m:r>
                    <m:r>
                      <a:rPr lang="en-US" sz="1300">
                        <a:latin typeface="Cambria Math"/>
                      </a:rPr>
                      <m:t>)</m:t>
                    </m:r>
                  </m:oMath>
                </a14:m>
                <a:r>
                  <a:rPr lang="en-US" sz="1350" dirty="0">
                    <a:solidFill>
                      <a:srgbClr val="222222"/>
                    </a:solidFill>
                    <a:latin typeface="Calibri" pitchFamily="34" charset="0"/>
                    <a:ea typeface="Calibri" pitchFamily="34" charset="-122"/>
                    <a:cs typeface="Calibri" pitchFamily="34" charset="-120"/>
                  </a:rPr>
                  <a:t> — resource pool: capacity, availability, effectiveness, travel time</a:t>
                </a:r>
                <a:endParaRPr lang="en-US" sz="1350" dirty="0"/>
              </a:p>
            </p:txBody>
          </p:sp>
        </mc:Choice>
        <mc:Fallback xmlns="">
          <p:sp>
            <p:nvSpPr>
              <p:cNvPr id="11" name="Text 6"/>
              <p:cNvSpPr>
                <a:spLocks noRot="1" noChangeAspect="1" noMove="1" noResize="1" noEditPoints="1" noAdjustHandles="1" noChangeArrowheads="1" noChangeShapeType="1" noTextEdit="1"/>
              </p:cNvSpPr>
              <p:nvPr/>
            </p:nvSpPr>
            <p:spPr>
              <a:xfrm>
                <a:off x="5943600" y="2532888"/>
                <a:ext cx="5806440" cy="320040"/>
              </a:xfrm>
              <a:prstGeom prst="rect">
                <a:avLst/>
              </a:prstGeom>
              <a:blipFill>
                <a:blip r:embed="rId8"/>
                <a:stretch>
                  <a:fillRect l="-944" b="-17308"/>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7"/>
              <p:cNvSpPr/>
              <p:nvPr/>
            </p:nvSpPr>
            <p:spPr>
              <a:xfrm>
                <a:off x="5715000" y="3012948"/>
                <a:ext cx="6035040" cy="50292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The DSS never reads the true state </a:t>
                </a:r>
                <a14:m>
                  <m:oMath xmlns:m="http://schemas.openxmlformats.org/officeDocument/2006/math">
                    <m:sSub>
                      <m:sSubPr>
                        <m:ctrlPr>
                          <a:rPr lang="en-US" i="1">
                            <a:latin typeface="Cambria Math" panose="02040503050406030204" pitchFamily="18" charset="0"/>
                          </a:rPr>
                        </m:ctrlPr>
                      </m:sSubPr>
                      <m:e>
                        <m:r>
                          <a:rPr lang="en-US" sz="1400">
                            <a:latin typeface="Cambria Math"/>
                          </a:rPr>
                          <m:t>𝑆</m:t>
                        </m:r>
                      </m:e>
                      <m:sub>
                        <m:r>
                          <a:rPr lang="en-US" sz="1400">
                            <a:latin typeface="Cambria Math"/>
                          </a:rPr>
                          <m:t>𝑘</m:t>
                        </m:r>
                      </m:sub>
                    </m:sSub>
                    <m:r>
                      <a:rPr lang="tr-TR" sz="1400" b="1" i="0" smtClean="0">
                        <a:latin typeface="Cambria Math" panose="02040503050406030204" pitchFamily="18" charset="0"/>
                      </a:rPr>
                      <m:t>;</m:t>
                    </m:r>
                  </m:oMath>
                </a14:m>
                <a:r>
                  <a:rPr lang="tr-TR" sz="1500" b="1" dirty="0">
                    <a:solidFill>
                      <a:srgbClr val="222222"/>
                    </a:solidFill>
                    <a:latin typeface="Calibri" pitchFamily="34" charset="0"/>
                    <a:ea typeface="Calibri" pitchFamily="34" charset="-122"/>
                    <a:cs typeface="Calibri" pitchFamily="34" charset="-120"/>
                  </a:rPr>
                  <a:t> it</a:t>
                </a:r>
                <a:r>
                  <a:rPr lang="en-US" sz="1500" b="1" dirty="0">
                    <a:solidFill>
                      <a:srgbClr val="222222"/>
                    </a:solidFill>
                    <a:latin typeface="Calibri" pitchFamily="34" charset="0"/>
                    <a:ea typeface="Calibri" pitchFamily="34" charset="-122"/>
                    <a:cs typeface="Calibri" pitchFamily="34" charset="-120"/>
                  </a:rPr>
                  <a:t> sees only its observation, with an error bounded by confidence:</a:t>
                </a:r>
                <a:endParaRPr lang="en-US" sz="1500" dirty="0"/>
              </a:p>
            </p:txBody>
          </p:sp>
        </mc:Choice>
        <mc:Fallback xmlns="">
          <p:sp>
            <p:nvSpPr>
              <p:cNvPr id="12" name="Text 7"/>
              <p:cNvSpPr>
                <a:spLocks noRot="1" noChangeAspect="1" noMove="1" noResize="1" noEditPoints="1" noAdjustHandles="1" noChangeArrowheads="1" noChangeShapeType="1" noTextEdit="1"/>
              </p:cNvSpPr>
              <p:nvPr/>
            </p:nvSpPr>
            <p:spPr>
              <a:xfrm>
                <a:off x="5715000" y="3012948"/>
                <a:ext cx="6035040" cy="502920"/>
              </a:xfrm>
              <a:prstGeom prst="rect">
                <a:avLst/>
              </a:prstGeom>
              <a:blipFill>
                <a:blip r:embed="rId9"/>
                <a:stretch>
                  <a:fillRect l="-1919" t="-4819" r="-1818" b="-2289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7090719" y="3547872"/>
                <a:ext cx="3811743" cy="384048"/>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n-US" sz="1400" i="1">
                              <a:latin typeface="Cambria Math" panose="02040503050406030204" pitchFamily="18" charset="0"/>
                            </a:rPr>
                          </m:ctrlPr>
                        </m:sSubSupPr>
                        <m:e>
                          <m:r>
                            <a:rPr lang="en-US" sz="1400">
                              <a:latin typeface="Cambria Math"/>
                            </a:rPr>
                            <m:t>𝑂</m:t>
                          </m:r>
                        </m:e>
                        <m:sub>
                          <m:r>
                            <a:rPr lang="en-US" sz="1400">
                              <a:latin typeface="Cambria Math"/>
                            </a:rPr>
                            <m:t>𝑘</m:t>
                          </m:r>
                        </m:sub>
                        <m:sup>
                          <m:r>
                            <a:rPr lang="en-US" sz="1400">
                              <a:latin typeface="Cambria Math"/>
                            </a:rPr>
                            <m:t>𝑖</m:t>
                          </m:r>
                        </m:sup>
                      </m:sSubSup>
                      <m:d>
                        <m:dPr>
                          <m:ctrlPr>
                            <a:rPr lang="en-US" sz="1400"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i="1">
                              <a:latin typeface="Cambria Math" panose="02040503050406030204" pitchFamily="18" charset="0"/>
                            </a:rPr>
                          </m:ctrlPr>
                        </m:sSupPr>
                        <m:e>
                          <m:r>
                            <a:rPr lang="en-US" sz="1400">
                              <a:latin typeface="Cambria Math"/>
                            </a:rPr>
                            <m:t>h</m:t>
                          </m:r>
                        </m:e>
                        <m:sup>
                          <m:r>
                            <a:rPr lang="en-US" sz="1400">
                              <a:latin typeface="Cambria Math"/>
                            </a:rPr>
                            <m:t>𝑖</m:t>
                          </m:r>
                        </m:sup>
                      </m:sSup>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a:latin typeface="Cambria Math"/>
                                </a:rPr>
                                <m:t>𝑆</m:t>
                              </m:r>
                            </m:e>
                            <m:sub>
                              <m:r>
                                <a:rPr lang="en-US" sz="1400">
                                  <a:latin typeface="Cambria Math"/>
                                </a:rPr>
                                <m:t>𝑘</m:t>
                              </m:r>
                            </m:sub>
                          </m:sSub>
                          <m:d>
                            <m:dPr>
                              <m:ctrlPr>
                                <a:rPr lang="en-US" sz="1400"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Sup>
                            <m:sSubSupPr>
                              <m:ctrlPr>
                                <a:rPr lang="en-US" sz="1400" i="1">
                                  <a:latin typeface="Cambria Math" panose="02040503050406030204" pitchFamily="18" charset="0"/>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sz="1400"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, </m:t>
                      </m:r>
                      <m:d>
                        <m:dPr>
                          <m:ctrlPr>
                            <a:rPr lang="en-US" sz="1400"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sz="1400" i="1">
                              <a:latin typeface="Cambria Math" panose="02040503050406030204" pitchFamily="18" charset="0"/>
                            </a:rPr>
                          </m:ctrlPr>
                        </m:sSupPr>
                        <m:e>
                          <m:r>
                            <a:rPr lang="en-US" sz="1400">
                              <a:latin typeface="Cambria Math"/>
                            </a:rPr>
                            <m:t>𝒢</m:t>
                          </m:r>
                        </m:e>
                        <m:sup>
                          <m:r>
                            <a:rPr lang="en-US" sz="1400">
                              <a:latin typeface="Cambria Math"/>
                            </a:rPr>
                            <m:t>𝑖</m:t>
                          </m:r>
                        </m:sup>
                      </m:sSup>
                    </m:oMath>
                  </m:oMathPara>
                </a14:m>
                <a:endParaRPr lang="en-US" sz="1400" dirty="0"/>
              </a:p>
            </p:txBody>
          </p:sp>
        </mc:Choice>
        <mc:Fallback xmlns="">
          <p:sp>
            <p:nvSpPr>
              <p:cNvPr id="13" name="Text 8"/>
              <p:cNvSpPr>
                <a:spLocks noRot="1" noChangeAspect="1" noMove="1" noResize="1" noEditPoints="1" noAdjustHandles="1" noChangeArrowheads="1" noChangeShapeType="1" noTextEdit="1"/>
              </p:cNvSpPr>
              <p:nvPr/>
            </p:nvSpPr>
            <p:spPr>
              <a:xfrm>
                <a:off x="7090719" y="3547872"/>
                <a:ext cx="3811743" cy="384048"/>
              </a:xfrm>
              <a:prstGeom prst="rect">
                <a:avLst/>
              </a:prstGeom>
              <a:blipFill>
                <a:blip r:embed="rId10"/>
                <a:stretch>
                  <a:fillRect b="-476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7223760" y="4304488"/>
                <a:ext cx="3017520" cy="384048"/>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300">
                          <a:latin typeface="Cambria Math"/>
                        </a:rPr>
                        <m:t>|</m:t>
                      </m:r>
                      <m:sSubSup>
                        <m:sSubSupPr>
                          <m:ctrlPr>
                            <a:rPr lang="en-US" i="1">
                              <a:latin typeface="Cambria Math" panose="02040503050406030204" pitchFamily="18" charset="0"/>
                            </a:rPr>
                          </m:ctrlPr>
                        </m:sSubSupPr>
                        <m:e>
                          <m:r>
                            <a:rPr lang="en-US" sz="1300">
                              <a:latin typeface="Cambria Math"/>
                            </a:rPr>
                            <m:t>𝜀</m:t>
                          </m:r>
                        </m:e>
                        <m:sub>
                          <m:r>
                            <a:rPr lang="en-US" sz="1300">
                              <a:latin typeface="Cambria Math"/>
                            </a:rPr>
                            <m:t>𝑘</m:t>
                          </m:r>
                        </m:sub>
                        <m:sup>
                          <m:r>
                            <a:rPr lang="en-US" sz="1300">
                              <a:latin typeface="Cambria Math"/>
                            </a:rPr>
                            <m:t>𝑖</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|≤(1−</m:t>
                      </m:r>
                      <m:sSubSup>
                        <m:sSubSupPr>
                          <m:ctrlPr>
                            <a:rPr lang="en-US" i="1">
                              <a:latin typeface="Cambria Math" panose="02040503050406030204" pitchFamily="18" charset="0"/>
                            </a:rPr>
                          </m:ctrlPr>
                        </m:sSubSupPr>
                        <m:e>
                          <m:r>
                            <a:rPr lang="en-US" sz="1300">
                              <a:latin typeface="Cambria Math"/>
                            </a:rPr>
                            <m:t>𝛾</m:t>
                          </m:r>
                        </m:e>
                        <m:sub>
                          <m:r>
                            <a:rPr lang="en-US" sz="1300">
                              <a:latin typeface="Cambria Math"/>
                            </a:rPr>
                            <m:t>𝑘</m:t>
                          </m:r>
                        </m:sub>
                        <m:sup>
                          <m:r>
                            <a:rPr lang="en-US" sz="1300">
                              <a:latin typeface="Cambria Math"/>
                            </a:rPr>
                            <m:t>𝑖</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i="1">
                              <a:latin typeface="Cambria Math" panose="02040503050406030204" pitchFamily="18" charset="0"/>
                            </a:rPr>
                          </m:ctrlPr>
                        </m:sSubPr>
                        <m:e>
                          <m:r>
                            <a:rPr lang="en-US" sz="1300">
                              <a:latin typeface="Cambria Math"/>
                            </a:rPr>
                            <m:t>𝜀</m:t>
                          </m:r>
                        </m:e>
                        <m:sub>
                          <m:r>
                            <a:rPr lang="en-US" sz="1300">
                              <a:latin typeface="Cambria Math"/>
                            </a:rPr>
                            <m:t>𝑚𝑎𝑥</m:t>
                          </m:r>
                        </m:sub>
                      </m:sSub>
                    </m:oMath>
                  </m:oMathPara>
                </a14:m>
                <a:endParaRPr lang="en-US" sz="1600" dirty="0"/>
              </a:p>
            </p:txBody>
          </p:sp>
        </mc:Choice>
        <mc:Fallback xmlns="">
          <p:sp>
            <p:nvSpPr>
              <p:cNvPr id="14" name="Text 9"/>
              <p:cNvSpPr>
                <a:spLocks noRot="1" noChangeAspect="1" noMove="1" noResize="1" noEditPoints="1" noAdjustHandles="1" noChangeArrowheads="1" noChangeShapeType="1" noTextEdit="1"/>
              </p:cNvSpPr>
              <p:nvPr/>
            </p:nvSpPr>
            <p:spPr>
              <a:xfrm>
                <a:off x="7223760" y="4304488"/>
                <a:ext cx="3017520" cy="384048"/>
              </a:xfrm>
              <a:prstGeom prst="rect">
                <a:avLst/>
              </a:prstGeom>
              <a:blipFill>
                <a:blip r:embed="rId11"/>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9" name="Text 5">
                <a:extLst>
                  <a:ext uri="{FF2B5EF4-FFF2-40B4-BE49-F238E27FC236}">
                    <a16:creationId xmlns:a16="http://schemas.microsoft.com/office/drawing/2014/main" id="{A1B6E5EE-B28C-41C6-9CC2-19940B1EF136}"/>
                  </a:ext>
                </a:extLst>
              </p:cNvPr>
              <p:cNvSpPr/>
              <p:nvPr/>
            </p:nvSpPr>
            <p:spPr>
              <a:xfrm>
                <a:off x="5943600" y="3890112"/>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𝑚𝑖𝑛</m:t>
                      </m:r>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𝑜𝑏𝑠</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𝑐𝑜𝑣</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𝑓𝑟𝑒</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𝑟𝑒𝑙</m:t>
                          </m:r>
                        </m:sub>
                      </m:sSub>
                      <m:r>
                        <a:rPr lang="en-US" sz="1400">
                          <a:latin typeface="Cambria Math"/>
                        </a:rPr>
                        <m:t>}</m:t>
                      </m:r>
                    </m:oMath>
                  </m:oMathPara>
                </a14:m>
                <a:endParaRPr lang="en-US" sz="1400" dirty="0"/>
              </a:p>
            </p:txBody>
          </p:sp>
        </mc:Choice>
        <mc:Fallback xmlns="">
          <p:sp>
            <p:nvSpPr>
              <p:cNvPr id="19" name="Text 5">
                <a:extLst>
                  <a:ext uri="{FF2B5EF4-FFF2-40B4-BE49-F238E27FC236}">
                    <a16:creationId xmlns:a16="http://schemas.microsoft.com/office/drawing/2014/main" id="{A1B6E5EE-B28C-41C6-9CC2-19940B1EF136}"/>
                  </a:ext>
                </a:extLst>
              </p:cNvPr>
              <p:cNvSpPr>
                <a:spLocks noRot="1" noChangeAspect="1" noMove="1" noResize="1" noEditPoints="1" noAdjustHandles="1" noChangeArrowheads="1" noChangeShapeType="1" noTextEdit="1"/>
              </p:cNvSpPr>
              <p:nvPr/>
            </p:nvSpPr>
            <p:spPr>
              <a:xfrm>
                <a:off x="5943600" y="3890112"/>
                <a:ext cx="5486400" cy="502920"/>
              </a:xfrm>
              <a:prstGeom prst="rect">
                <a:avLst/>
              </a:prstGeom>
              <a:blipFill>
                <a:blip r:embed="rId12"/>
                <a:stretch>
                  <a:fillRect/>
                </a:stretch>
              </a:blipFill>
              <a:ln/>
            </p:spPr>
            <p:txBody>
              <a:bodyPr/>
              <a:lstStyle/>
              <a:p>
                <a:r>
                  <a:rPr lang="tr-TR">
                    <a:noFill/>
                  </a:rPr>
                  <a:t/>
                </a:r>
              </a:p>
            </p:txBody>
          </p:sp>
        </mc:Fallback>
      </mc:AlternateContent>
      <p:sp>
        <p:nvSpPr>
          <p:cNvPr id="90002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24 / 113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tr-TR" sz="2700" b="1" dirty="0">
                <a:solidFill>
                  <a:srgbClr val="000000"/>
                </a:solidFill>
                <a:latin typeface="Cambria" pitchFamily="34" charset="0"/>
                <a:ea typeface="Cambria" pitchFamily="34" charset="-122"/>
                <a:cs typeface="Cambria" pitchFamily="34" charset="-120"/>
              </a:rPr>
              <a:t>DSS – </a:t>
            </a:r>
            <a:r>
              <a:rPr lang="en-US" sz="2700" b="1" dirty="0">
                <a:solidFill>
                  <a:srgbClr val="000000"/>
                </a:solidFill>
                <a:latin typeface="Cambria" pitchFamily="34" charset="0"/>
                <a:ea typeface="Cambria" pitchFamily="34" charset="-122"/>
                <a:cs typeface="Cambria" pitchFamily="34" charset="-120"/>
              </a:rPr>
              <a:t>Observation and Decision Return</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mc:AlternateContent xmlns:mc="http://schemas.openxmlformats.org/markup-compatibility/2006" xmlns:a14="http://schemas.microsoft.com/office/drawing/2010/main">
        <mc:Choice Requires="a14">
          <p:sp>
            <p:nvSpPr>
              <p:cNvPr id="15" name="Text 10"/>
              <p:cNvSpPr/>
              <p:nvPr/>
            </p:nvSpPr>
            <p:spPr>
              <a:xfrm>
                <a:off x="5715000" y="1466815"/>
                <a:ext cx="6035040" cy="548640"/>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The decision returns as a typed field — </a:t>
                </a:r>
                <a14:m>
                  <m:oMath xmlns:m="http://schemas.openxmlformats.org/officeDocument/2006/math">
                    <m:sSub>
                      <m:sSubPr>
                        <m:ctrlPr>
                          <a:rPr lang="en-US" i="1">
                            <a:latin typeface="Cambria Math" panose="02040503050406030204" pitchFamily="18" charset="0"/>
                          </a:rPr>
                        </m:ctrlPr>
                      </m:sSubPr>
                      <m:e>
                        <m:r>
                          <a:rPr lang="en-US" sz="1400">
                            <a:latin typeface="Cambria Math"/>
                          </a:rPr>
                          <m:t>𝜋</m:t>
                        </m:r>
                      </m:e>
                      <m:sub>
                        <m:r>
                          <a:rPr lang="en-US" sz="1400">
                            <a:latin typeface="Cambria Math"/>
                          </a:rPr>
                          <m:t>𝐷𝑆𝑆</m:t>
                        </m:r>
                      </m:sub>
                    </m:sSub>
                  </m:oMath>
                </a14:m>
                <a:r>
                  <a:rPr lang="en-US" sz="1500" b="1" dirty="0">
                    <a:solidFill>
                      <a:srgbClr val="222222"/>
                    </a:solidFill>
                    <a:latin typeface="Calibri" pitchFamily="34" charset="0"/>
                    <a:ea typeface="Calibri" pitchFamily="34" charset="-122"/>
                    <a:cs typeface="Calibri" pitchFamily="34" charset="-120"/>
                  </a:rPr>
                  <a:t> is the four-layer pipeline (features with confidence → concepts → rules → cost and quality tests):</a:t>
                </a:r>
                <a:endParaRPr lang="en-US" sz="1500" dirty="0"/>
              </a:p>
            </p:txBody>
          </p:sp>
        </mc:Choice>
        <mc:Fallback xmlns="">
          <p:sp>
            <p:nvSpPr>
              <p:cNvPr id="15" name="Text 10"/>
              <p:cNvSpPr>
                <a:spLocks noRot="1" noChangeAspect="1" noMove="1" noResize="1" noEditPoints="1" noAdjustHandles="1" noChangeArrowheads="1" noChangeShapeType="1" noTextEdit="1"/>
              </p:cNvSpPr>
              <p:nvPr/>
            </p:nvSpPr>
            <p:spPr>
              <a:xfrm>
                <a:off x="5715000" y="1466815"/>
                <a:ext cx="6035040" cy="548640"/>
              </a:xfrm>
              <a:prstGeom prst="rect">
                <a:avLst/>
              </a:prstGeom>
              <a:blipFill>
                <a:blip r:embed="rId6"/>
                <a:stretch>
                  <a:fillRect l="-1919" t="-5556" r="-1818" b="-1333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6" name="Text 11"/>
              <p:cNvSpPr/>
              <p:nvPr/>
            </p:nvSpPr>
            <p:spPr>
              <a:xfrm>
                <a:off x="5715000" y="2015455"/>
                <a:ext cx="6035040" cy="420624"/>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tr-TR" sz="1400" b="0" i="1" smtClean="0">
                              <a:latin typeface="Cambria Math" panose="02040503050406030204" pitchFamily="18" charset="0"/>
                            </a:rPr>
                          </m:ctrlPr>
                        </m:sSubSup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up>
                          <m:r>
                            <m:rPr>
                              <m:sty m:val="p"/>
                            </m:rPr>
                            <a:rPr lang="tr-TR" sz="1400" b="0" i="0" smtClean="0">
                              <a:latin typeface="Cambria Math" panose="02040503050406030204" pitchFamily="18" charset="0"/>
                            </a:rPr>
                            <m:t>i</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 </m:t>
                      </m:r>
                      <m:sSubSup>
                        <m:sSubSupPr>
                          <m:ctrlPr>
                            <a:rPr lang="en-US" i="1">
                              <a:latin typeface="Cambria Math" panose="02040503050406030204" pitchFamily="18" charset="0"/>
                            </a:rPr>
                          </m:ctrlPr>
                        </m:sSubSupPr>
                        <m:e>
                          <m:r>
                            <a:rPr lang="en-US" sz="1400">
                              <a:latin typeface="Cambria Math"/>
                            </a:rPr>
                            <m:t>𝜋</m:t>
                          </m:r>
                        </m:e>
                        <m:sub>
                          <m:r>
                            <a:rPr lang="en-US" sz="1400">
                              <a:latin typeface="Cambria Math"/>
                            </a:rPr>
                            <m:t>𝐷𝑆𝑆</m:t>
                          </m:r>
                        </m:sub>
                        <m:sup>
                          <m:r>
                            <a:rPr lang="en-US" sz="1400">
                              <a:latin typeface="Cambria Math"/>
                            </a:rPr>
                            <m:t>𝑖</m:t>
                          </m:r>
                        </m:sup>
                      </m:sSubSup>
                      <m:d>
                        <m:dPr>
                          <m:ctrlPr>
                            <a:rPr lang="en-US" i="1">
                              <a:latin typeface="Cambria Math" panose="02040503050406030204" pitchFamily="18" charset="0"/>
                            </a:rPr>
                          </m:ctrlPr>
                        </m:dPr>
                        <m:e>
                          <m:sSubSup>
                            <m:sSubSupPr>
                              <m:ctrlPr>
                                <a:rPr lang="tr-TR" sz="1400" b="0" i="1" smtClean="0">
                                  <a:latin typeface="Cambria Math" panose="02040503050406030204" pitchFamily="18" charset="0"/>
                                </a:rPr>
                              </m:ctrlPr>
                            </m:sSubSupPr>
                            <m:e>
                              <m:r>
                                <a:rPr lang="en-US" sz="1400">
                                  <a:latin typeface="Cambria Math"/>
                                </a:rPr>
                                <m:t>𝑂</m:t>
                              </m:r>
                            </m:e>
                            <m:sub>
                              <m:r>
                                <a:rPr lang="en-US" sz="1400">
                                  <a:latin typeface="Cambria Math"/>
                                </a:rPr>
                                <m:t>𝑘</m:t>
                              </m:r>
                            </m:sub>
                            <m:sup>
                              <m:r>
                                <m:rPr>
                                  <m:sty m:val="p"/>
                                </m:rPr>
                                <a:rPr lang="tr-TR" sz="1400" b="0" i="0" smtClean="0">
                                  <a:latin typeface="Cambria Math" panose="02040503050406030204" pitchFamily="18" charset="0"/>
                                </a:rPr>
                                <m:t>i</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ℱ</m:t>
                              </m:r>
                            </m:e>
                            <m:sub>
                              <m:r>
                                <a:rPr lang="en-US" sz="1400">
                                  <a:latin typeface="Cambria Math"/>
                                </a:rPr>
                                <m:t>𝐷𝑆𝑆</m:t>
                              </m:r>
                              <m:r>
                                <a:rPr lang="en-US" sz="1400">
                                  <a:latin typeface="Cambria Math"/>
                                </a:rPr>
                                <m:t>,</m:t>
                              </m:r>
                              <m:r>
                                <a:rPr lang="en-US" sz="1400">
                                  <a:latin typeface="Cambria Math"/>
                                </a:rPr>
                                <m:t>𝑘</m:t>
                              </m:r>
                            </m:sub>
                          </m:sSub>
                        </m:e>
                      </m:d>
                      <m:r>
                        <a:rPr lang="en-US" sz="1400">
                          <a:latin typeface="Cambria Math"/>
                        </a:rPr>
                        <m:t> ⊂ </m:t>
                      </m:r>
                      <m:sSub>
                        <m:sSubPr>
                          <m:ctrlPr>
                            <a:rPr lang="en-US" i="1">
                              <a:latin typeface="Cambria Math" panose="02040503050406030204" pitchFamily="18" charset="0"/>
                            </a:rPr>
                          </m:ctrlPr>
                        </m:sSubPr>
                        <m:e>
                          <m:r>
                            <a:rPr lang="en-US" sz="1400">
                              <a:latin typeface="Cambria Math"/>
                            </a:rPr>
                            <m:t>ℱ</m:t>
                          </m:r>
                        </m:e>
                        <m:sub>
                          <m:r>
                            <a:rPr lang="en-US" sz="1400">
                              <a:latin typeface="Cambria Math"/>
                            </a:rPr>
                            <m:t>𝑖𝑛</m:t>
                          </m:r>
                          <m:r>
                            <a:rPr lang="en-US" sz="1400">
                              <a:latin typeface="Cambria Math"/>
                            </a:rPr>
                            <m:t>,</m:t>
                          </m:r>
                          <m:r>
                            <a:rPr lang="en-US" sz="1400">
                              <a:latin typeface="Cambria Math"/>
                            </a:rPr>
                            <m:t>𝑘</m:t>
                          </m:r>
                        </m:sub>
                      </m:sSub>
                    </m:oMath>
                  </m:oMathPara>
                </a14:m>
                <a:endParaRPr lang="en-US" sz="1600" dirty="0"/>
              </a:p>
            </p:txBody>
          </p:sp>
        </mc:Choice>
        <mc:Fallback xmlns="">
          <p:sp>
            <p:nvSpPr>
              <p:cNvPr id="16" name="Text 11"/>
              <p:cNvSpPr>
                <a:spLocks noRot="1" noChangeAspect="1" noMove="1" noResize="1" noEditPoints="1" noAdjustHandles="1" noChangeArrowheads="1" noChangeShapeType="1" noTextEdit="1"/>
              </p:cNvSpPr>
              <p:nvPr/>
            </p:nvSpPr>
            <p:spPr>
              <a:xfrm>
                <a:off x="5715000" y="2015455"/>
                <a:ext cx="6035040" cy="420624"/>
              </a:xfrm>
              <a:prstGeom prst="rect">
                <a:avLst/>
              </a:prstGeom>
              <a:blipFill>
                <a:blip r:embed="rId7"/>
                <a:stretch>
                  <a:fillRect/>
                </a:stretch>
              </a:blipFill>
              <a:ln/>
            </p:spPr>
            <p:txBody>
              <a:bodyPr/>
              <a:lstStyle/>
              <a:p>
                <a:r>
                  <a:rPr lang="tr-TR">
                    <a:noFill/>
                  </a:rPr>
                  <a:t/>
                </a:r>
              </a:p>
            </p:txBody>
          </p:sp>
        </mc:Fallback>
      </mc:AlternateContent>
      <p:sp>
        <p:nvSpPr>
          <p:cNvPr id="17" name="Text 12"/>
          <p:cNvSpPr/>
          <p:nvPr/>
        </p:nvSpPr>
        <p:spPr>
          <a:xfrm>
            <a:off x="5705856" y="5888736"/>
            <a:ext cx="6035040" cy="292608"/>
          </a:xfrm>
          <a:prstGeom prst="rect">
            <a:avLst/>
          </a:prstGeom>
          <a:noFill/>
          <a:ln/>
        </p:spPr>
        <p:txBody>
          <a:bodyPr wrap="square" lIns="0" tIns="0" rIns="0" bIns="0" rtlCol="0" anchor="t"/>
          <a:lstStyle/>
          <a:p>
            <a:pPr marL="0" indent="0" algn="just">
              <a:lnSpc>
                <a:spcPct val="104000"/>
              </a:lnSpc>
              <a:buNone/>
            </a:pPr>
            <a:r>
              <a:rPr lang="en-US" sz="1500" b="1" dirty="0">
                <a:solidFill>
                  <a:srgbClr val="222222"/>
                </a:solidFill>
                <a:latin typeface="Calibri" pitchFamily="34" charset="0"/>
                <a:ea typeface="Calibri" pitchFamily="34" charset="-122"/>
                <a:cs typeface="Calibri" pitchFamily="34" charset="-120"/>
              </a:rPr>
              <a:t>• One closed loop per decision cycle:</a:t>
            </a:r>
            <a:endParaRPr lang="en-US" sz="1500" dirty="0"/>
          </a:p>
        </p:txBody>
      </p:sp>
      <mc:AlternateContent xmlns:mc="http://schemas.openxmlformats.org/markup-compatibility/2006" xmlns:a14="http://schemas.microsoft.com/office/drawing/2010/main">
        <mc:Choice Requires="a14">
          <p:sp>
            <p:nvSpPr>
              <p:cNvPr id="18" name="Text 13"/>
              <p:cNvSpPr/>
              <p:nvPr/>
            </p:nvSpPr>
            <p:spPr>
              <a:xfrm>
                <a:off x="5705856" y="6181344"/>
                <a:ext cx="6035040" cy="420624"/>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tr-TR" sz="1300" b="0" i="1" smtClean="0">
                              <a:latin typeface="Cambria Math" panose="02040503050406030204" pitchFamily="18" charset="0"/>
                            </a:rPr>
                          </m:ctrlPr>
                        </m:sSubSupPr>
                        <m:e>
                          <m:r>
                            <a:rPr lang="en-US" sz="1300">
                              <a:latin typeface="Cambria Math"/>
                            </a:rPr>
                            <m:t>𝑆</m:t>
                          </m:r>
                        </m:e>
                        <m:sub>
                          <m:r>
                            <a:rPr lang="en-US" sz="1300">
                              <a:latin typeface="Cambria Math"/>
                            </a:rPr>
                            <m:t>𝑘</m:t>
                          </m:r>
                        </m:sub>
                        <m:sup>
                          <m:r>
                            <m:rPr>
                              <m:sty m:val="p"/>
                            </m:rPr>
                            <a:rPr lang="tr-TR" sz="1300" b="0" i="0" smtClean="0">
                              <a:latin typeface="Cambria Math" panose="02040503050406030204" pitchFamily="18" charset="0"/>
                            </a:rPr>
                            <m:t>i</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 </m:t>
                      </m:r>
                      <m:sSubSup>
                        <m:sSubSupPr>
                          <m:ctrlPr>
                            <a:rPr lang="tr-TR" sz="1300" b="0" i="1" smtClean="0">
                              <a:latin typeface="Cambria Math" panose="02040503050406030204" pitchFamily="18" charset="0"/>
                            </a:rPr>
                          </m:ctrlPr>
                        </m:sSubSupPr>
                        <m:e>
                          <m:r>
                            <a:rPr lang="en-US" sz="1300">
                              <a:latin typeface="Cambria Math"/>
                            </a:rPr>
                            <m:t>𝑂</m:t>
                          </m:r>
                        </m:e>
                        <m:sub>
                          <m:r>
                            <a:rPr lang="en-US" sz="1300">
                              <a:latin typeface="Cambria Math"/>
                            </a:rPr>
                            <m:t>𝑘</m:t>
                          </m:r>
                        </m:sub>
                        <m:sup>
                          <m:r>
                            <a:rPr lang="tr-TR" sz="1300" b="0" i="1" smtClean="0">
                              <a:latin typeface="Cambria Math" panose="02040503050406030204" pitchFamily="18" charset="0"/>
                            </a:rPr>
                            <m:t>𝑖</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sSub>
                        <m:sSubPr>
                          <m:ctrlPr>
                            <a:rPr lang="en-US" i="1">
                              <a:latin typeface="Cambria Math" panose="02040503050406030204" pitchFamily="18" charset="0"/>
                            </a:rPr>
                          </m:ctrlPr>
                        </m:sSubPr>
                        <m:e>
                          <m:r>
                            <a:rPr lang="en-US" sz="1300">
                              <a:latin typeface="Cambria Math"/>
                            </a:rPr>
                            <m:t>ℱ</m:t>
                          </m:r>
                        </m:e>
                        <m:sub>
                          <m:r>
                            <a:rPr lang="en-US" sz="1300">
                              <a:latin typeface="Cambria Math"/>
                            </a:rPr>
                            <m:t>𝐷𝑆𝑆</m:t>
                          </m:r>
                          <m:r>
                            <a:rPr lang="en-US" sz="1300">
                              <a:latin typeface="Cambria Math"/>
                            </a:rPr>
                            <m:t>,</m:t>
                          </m:r>
                          <m:r>
                            <a:rPr lang="en-US" sz="1300">
                              <a:latin typeface="Cambria Math"/>
                            </a:rPr>
                            <m:t>𝑘</m:t>
                          </m:r>
                        </m:sub>
                      </m:sSub>
                      <m:r>
                        <a:rPr lang="en-US" sz="1300">
                          <a:latin typeface="Cambria Math"/>
                        </a:rPr>
                        <m:t>→</m:t>
                      </m:r>
                      <m:sSubSup>
                        <m:sSubSupPr>
                          <m:ctrlPr>
                            <a:rPr lang="tr-TR" sz="1300" i="1">
                              <a:latin typeface="Cambria Math" panose="02040503050406030204" pitchFamily="18" charset="0"/>
                            </a:rPr>
                          </m:ctrlPr>
                        </m:sSubSupPr>
                        <m:e>
                          <m:r>
                            <a:rPr lang="en-US" sz="1300">
                              <a:latin typeface="Cambria Math"/>
                            </a:rPr>
                            <m:t>𝑈</m:t>
                          </m:r>
                        </m:e>
                        <m:sub>
                          <m:r>
                            <a:rPr lang="en-US" sz="1300">
                              <a:latin typeface="Cambria Math"/>
                            </a:rPr>
                            <m:t>𝐷𝑆𝑆</m:t>
                          </m:r>
                          <m:r>
                            <a:rPr lang="en-US" sz="1300">
                              <a:latin typeface="Cambria Math"/>
                            </a:rPr>
                            <m:t>,</m:t>
                          </m:r>
                          <m:r>
                            <a:rPr lang="en-US" sz="1300">
                              <a:latin typeface="Cambria Math"/>
                            </a:rPr>
                            <m:t>𝑘</m:t>
                          </m:r>
                        </m:sub>
                        <m:sup>
                          <m:r>
                            <a:rPr lang="tr-TR" sz="1300" i="1">
                              <a:latin typeface="Cambria Math" panose="02040503050406030204" pitchFamily="18" charset="0"/>
                            </a:rPr>
                            <m:t>𝑖</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r>
                        <a:rPr lang="en-US" sz="1300">
                          <a:latin typeface="Cambria Math"/>
                        </a:rPr>
                        <m:t>→</m:t>
                      </m:r>
                      <m:r>
                        <m:rPr>
                          <m:sty m:val="p"/>
                        </m:rPr>
                        <a:rPr lang="en-US" sz="1300">
                          <a:latin typeface="Cambria Math"/>
                        </a:rPr>
                        <m:t>Φ</m:t>
                      </m:r>
                      <m:d>
                        <m:dPr>
                          <m:ctrlPr>
                            <a:rPr lang="en-US" i="1">
                              <a:latin typeface="Cambria Math" panose="02040503050406030204" pitchFamily="18" charset="0"/>
                            </a:rPr>
                          </m:ctrlPr>
                        </m:dPr>
                        <m:e>
                          <m:r>
                            <a:rPr lang="en-US" sz="1300">
                              <a:latin typeface="Cambria Math"/>
                            </a:rPr>
                            <m:t>∙</m:t>
                          </m:r>
                        </m:e>
                      </m:d>
                      <m:r>
                        <a:rPr lang="en-US" sz="1300">
                          <a:latin typeface="Cambria Math"/>
                        </a:rPr>
                        <m:t>→</m:t>
                      </m:r>
                      <m:sSubSup>
                        <m:sSubSupPr>
                          <m:ctrlPr>
                            <a:rPr lang="tr-TR" sz="1300" i="1">
                              <a:latin typeface="Cambria Math" panose="02040503050406030204" pitchFamily="18" charset="0"/>
                            </a:rPr>
                          </m:ctrlPr>
                        </m:sSubSupPr>
                        <m:e>
                          <m:r>
                            <a:rPr lang="en-US" sz="1300">
                              <a:latin typeface="Cambria Math"/>
                            </a:rPr>
                            <m:t>𝑆</m:t>
                          </m:r>
                        </m:e>
                        <m:sub>
                          <m:r>
                            <a:rPr lang="en-US" sz="1300">
                              <a:latin typeface="Cambria Math"/>
                            </a:rPr>
                            <m:t>𝑘</m:t>
                          </m:r>
                          <m:r>
                            <a:rPr lang="en-US" sz="1300">
                              <a:latin typeface="Cambria Math"/>
                            </a:rPr>
                            <m:t>+1</m:t>
                          </m:r>
                        </m:sub>
                        <m:sup>
                          <m:r>
                            <a:rPr lang="tr-TR" sz="1300" i="1">
                              <a:latin typeface="Cambria Math" panose="02040503050406030204" pitchFamily="18" charset="0"/>
                            </a:rPr>
                            <m:t>𝑖</m:t>
                          </m:r>
                        </m:sup>
                      </m:sSubSup>
                      <m:d>
                        <m:dPr>
                          <m:ctrlPr>
                            <a:rPr lang="en-US" i="1">
                              <a:latin typeface="Cambria Math" panose="02040503050406030204" pitchFamily="18" charset="0"/>
                            </a:rPr>
                          </m:ctrlPr>
                        </m:dPr>
                        <m:e>
                          <m:r>
                            <a:rPr lang="en-US" sz="1300">
                              <a:latin typeface="Cambria Math"/>
                            </a:rPr>
                            <m:t>𝑥</m:t>
                          </m:r>
                          <m:r>
                            <a:rPr lang="en-US" sz="1300">
                              <a:latin typeface="Cambria Math"/>
                            </a:rPr>
                            <m:t>,</m:t>
                          </m:r>
                          <m:r>
                            <a:rPr lang="en-US" sz="1300">
                              <a:latin typeface="Cambria Math"/>
                            </a:rPr>
                            <m:t>𝑦</m:t>
                          </m:r>
                        </m:e>
                      </m:d>
                    </m:oMath>
                  </m:oMathPara>
                </a14:m>
                <a:endParaRPr lang="en-US" sz="1600" dirty="0"/>
              </a:p>
            </p:txBody>
          </p:sp>
        </mc:Choice>
        <mc:Fallback xmlns="">
          <p:sp>
            <p:nvSpPr>
              <p:cNvPr id="18" name="Text 13"/>
              <p:cNvSpPr>
                <a:spLocks noRot="1" noChangeAspect="1" noMove="1" noResize="1" noEditPoints="1" noAdjustHandles="1" noChangeArrowheads="1" noChangeShapeType="1" noTextEdit="1"/>
              </p:cNvSpPr>
              <p:nvPr/>
            </p:nvSpPr>
            <p:spPr>
              <a:xfrm>
                <a:off x="5705856" y="6181344"/>
                <a:ext cx="6035040" cy="420624"/>
              </a:xfrm>
              <a:prstGeom prst="rect">
                <a:avLst/>
              </a:prstGeom>
              <a:blipFill>
                <a:blip r:embed="rId8"/>
                <a:stretch>
                  <a:fillRect/>
                </a:stretch>
              </a:blipFill>
              <a:ln/>
            </p:spPr>
            <p:txBody>
              <a:bodyPr/>
              <a:lstStyle/>
              <a:p>
                <a:r>
                  <a:rPr lang="tr-TR">
                    <a:noFill/>
                  </a:rPr>
                  <a:t/>
                </a:r>
              </a:p>
            </p:txBody>
          </p:sp>
        </mc:Fallback>
      </mc:AlternateContent>
      <p:sp>
        <p:nvSpPr>
          <p:cNvPr id="19" name="Text 4">
            <a:extLst>
              <a:ext uri="{FF2B5EF4-FFF2-40B4-BE49-F238E27FC236}">
                <a16:creationId xmlns:a16="http://schemas.microsoft.com/office/drawing/2014/main" id="{E26E6661-D2F8-45B4-AC9A-9845494278C3}"/>
              </a:ext>
            </a:extLst>
          </p:cNvPr>
          <p:cNvSpPr/>
          <p:nvPr/>
        </p:nvSpPr>
        <p:spPr>
          <a:xfrm>
            <a:off x="5927558" y="2564095"/>
            <a:ext cx="5822482" cy="15544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π is the decision policy: features with confidence → concepts → rules → cost and quality tests</a:t>
            </a:r>
            <a:endParaRPr lang="tr-TR" sz="1400" dirty="0">
              <a:solidFill>
                <a:srgbClr val="222222"/>
              </a:solidFill>
              <a:latin typeface="Calibri" pitchFamily="34" charset="0"/>
              <a:ea typeface="Calibri" pitchFamily="34" charset="-122"/>
              <a:cs typeface="Calibri" pitchFamily="34" charset="-120"/>
            </a:endParaRPr>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Its inputs are only the observation and the decisional context — the true state is not an argument</a:t>
            </a:r>
            <a:endParaRPr lang="en-US" sz="1400" dirty="0"/>
          </a:p>
          <a:p>
            <a:pPr marL="152400" indent="-152400">
              <a:lnSpc>
                <a:spcPct val="105000"/>
              </a:lnSpc>
              <a:spcAft>
                <a:spcPts val="700"/>
              </a:spcAft>
              <a:buSzPct val="100000"/>
              <a:buChar char="•"/>
            </a:pPr>
            <a:r>
              <a:rPr lang="en-US" sz="1400" b="1" dirty="0">
                <a:solidFill>
                  <a:srgbClr val="222222"/>
                </a:solidFill>
                <a:latin typeface="Calibri" pitchFamily="34" charset="0"/>
                <a:ea typeface="Calibri" pitchFamily="34" charset="-122"/>
                <a:cs typeface="Calibri" pitchFamily="34" charset="-120"/>
              </a:rPr>
              <a:t>The decisional context is a subset of the input set: the boundary is closed</a:t>
            </a:r>
            <a:endParaRPr lang="en-US" sz="1400" dirty="0"/>
          </a:p>
        </p:txBody>
      </p:sp>
      <p:sp>
        <p:nvSpPr>
          <p:cNvPr id="20" name="Text 5">
            <a:extLst>
              <a:ext uri="{FF2B5EF4-FFF2-40B4-BE49-F238E27FC236}">
                <a16:creationId xmlns:a16="http://schemas.microsoft.com/office/drawing/2014/main" id="{9DC80B8A-7DB0-4D81-B0E7-17CD60BEA173}"/>
              </a:ext>
            </a:extLst>
          </p:cNvPr>
          <p:cNvSpPr/>
          <p:nvPr/>
        </p:nvSpPr>
        <p:spPr>
          <a:xfrm>
            <a:off x="5715000" y="4008847"/>
            <a:ext cx="6324600" cy="320040"/>
          </a:xfrm>
          <a:prstGeom prst="rect">
            <a:avLst/>
          </a:prstGeom>
          <a:noFill/>
          <a:ln/>
        </p:spPr>
        <p:txBody>
          <a:bodyPr wrap="square" lIns="0" tIns="0" rIns="0" bIns="0" rtlCol="0" anchor="t"/>
          <a:lstStyle/>
          <a:p>
            <a:pPr marL="0" indent="0">
              <a:lnSpc>
                <a:spcPct val="105000"/>
              </a:lnSpc>
              <a:buNone/>
            </a:pPr>
            <a:r>
              <a:rPr lang="en-US" sz="1500" b="1" dirty="0">
                <a:solidFill>
                  <a:srgbClr val="222222"/>
                </a:solidFill>
                <a:latin typeface="Calibri" pitchFamily="34" charset="0"/>
                <a:ea typeface="Calibri" pitchFamily="34" charset="-122"/>
                <a:cs typeface="Calibri" pitchFamily="34" charset="-120"/>
              </a:rPr>
              <a:t>• Inside the world, the order can act only through seven verified physical effects:</a:t>
            </a:r>
            <a:endParaRPr lang="en-US" sz="1500" dirty="0"/>
          </a:p>
        </p:txBody>
      </p:sp>
      <p:sp>
        <p:nvSpPr>
          <p:cNvPr id="21" name="Text 6">
            <a:extLst>
              <a:ext uri="{FF2B5EF4-FFF2-40B4-BE49-F238E27FC236}">
                <a16:creationId xmlns:a16="http://schemas.microsoft.com/office/drawing/2014/main" id="{C3E85245-712F-4E9B-A382-407503EA0EB8}"/>
              </a:ext>
            </a:extLst>
          </p:cNvPr>
          <p:cNvSpPr/>
          <p:nvPr/>
        </p:nvSpPr>
        <p:spPr>
          <a:xfrm>
            <a:off x="5927557" y="4568225"/>
            <a:ext cx="6112043" cy="1205414"/>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wet (moisture increase) · clear (fuel removal) · ignite (backburn) · coat (asset protection) · evacuate · prime · draft</a:t>
            </a:r>
            <a:endParaRPr lang="en-US" sz="1400" dirty="0"/>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An order cannot delete fire or rewrite state — it changes the conditions the fire evolves under</a:t>
            </a:r>
          </a:p>
        </p:txBody>
      </p:sp>
      <p:sp>
        <p:nvSpPr>
          <p:cNvPr id="90002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25 / 113</a:t>
            </a:r>
          </a:p>
        </p:txBody>
      </p:sp>
    </p:spTree>
    <p:extLst>
      <p:ext uri="{BB962C8B-B14F-4D97-AF65-F5344CB8AC3E}">
        <p14:creationId xmlns:p14="http://schemas.microsoft.com/office/powerpoint/2010/main" val="4242439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SIMULATION FRAMEWORK : ARCHITECTURE</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700" b="1" dirty="0">
                <a:solidFill>
                  <a:srgbClr val="000000"/>
                </a:solidFill>
                <a:latin typeface="Cambria" pitchFamily="34" charset="0"/>
                <a:ea typeface="Cambria" pitchFamily="34" charset="-122"/>
                <a:cs typeface="Cambria" pitchFamily="34" charset="-120"/>
              </a:rPr>
              <a:t>Scenario Control</a:t>
            </a:r>
            <a:endParaRPr lang="en-US" sz="27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3_1.png"/>
          <p:cNvPicPr>
            <a:picLocks noChangeAspect="1"/>
          </p:cNvPicPr>
          <p:nvPr/>
        </p:nvPicPr>
        <p:blipFill>
          <a:blip r:embed="rId5"/>
          <a:stretch>
            <a:fillRect/>
          </a:stretch>
        </p:blipFill>
        <p:spPr>
          <a:xfrm>
            <a:off x="365760" y="1815950"/>
            <a:ext cx="5074920" cy="4323379"/>
          </a:xfrm>
          <a:prstGeom prst="rect">
            <a:avLst/>
          </a:prstGeom>
        </p:spPr>
      </p:pic>
      <mc:AlternateContent xmlns:mc="http://schemas.openxmlformats.org/markup-compatibility/2006" xmlns:a14="http://schemas.microsoft.com/office/drawing/2010/main">
        <mc:Choice Requires="a14">
          <p:sp>
            <p:nvSpPr>
              <p:cNvPr id="22" name="Text 2">
                <a:extLst>
                  <a:ext uri="{FF2B5EF4-FFF2-40B4-BE49-F238E27FC236}">
                    <a16:creationId xmlns:a16="http://schemas.microsoft.com/office/drawing/2014/main" id="{C80D4747-2928-47BA-A0FC-8A581B417C05}"/>
                  </a:ext>
                </a:extLst>
              </p:cNvPr>
              <p:cNvSpPr/>
              <p:nvPr/>
            </p:nvSpPr>
            <p:spPr>
              <a:xfrm>
                <a:off x="6411351" y="1580739"/>
                <a:ext cx="5223972" cy="7315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en-US" sz="1500">
                              <a:latin typeface="Cambria Math"/>
                            </a:rPr>
                            <m:t>Θ</m:t>
                          </m:r>
                        </m:e>
                        <m:sub>
                          <m:r>
                            <a:rPr lang="en-US" sz="1500">
                              <a:latin typeface="Cambria Math"/>
                            </a:rPr>
                            <m:t>𝑈𝐼</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ℱ</m:t>
                          </m:r>
                        </m:e>
                        <m:sub>
                          <m:r>
                            <a:rPr lang="en-US" sz="1500">
                              <a:latin typeface="Cambria Math"/>
                            </a:rPr>
                            <m:t>𝑖𝑛</m:t>
                          </m:r>
                        </m:sub>
                      </m:sSub>
                      <m:r>
                        <a:rPr lang="en-US" sz="1500">
                          <a:latin typeface="Cambria Math"/>
                        </a:rPr>
                        <m:t>×</m:t>
                      </m:r>
                      <m:sSub>
                        <m:sSubPr>
                          <m:ctrlPr>
                            <a:rPr lang="en-US" i="1">
                              <a:latin typeface="Cambria Math" panose="02040503050406030204" pitchFamily="18" charset="0"/>
                            </a:rPr>
                          </m:ctrlPr>
                        </m:sSubPr>
                        <m:e>
                          <m:r>
                            <a:rPr lang="en-US" sz="1500">
                              <a:latin typeface="Cambria Math"/>
                            </a:rPr>
                            <m:t>ℱ</m:t>
                          </m:r>
                        </m:e>
                        <m:sub>
                          <m:r>
                            <a:rPr lang="en-US" sz="1500">
                              <a:latin typeface="Cambria Math"/>
                            </a:rPr>
                            <m:t>𝐷𝑆𝑆</m:t>
                          </m:r>
                        </m:sub>
                      </m:sSub>
                      <m:r>
                        <m:rPr>
                          <m:nor/>
                        </m:rPr>
                        <a:rPr lang="en-US" sz="1500">
                          <a:latin typeface="Cambria Math"/>
                        </a:rPr>
                        <m:t> </m:t>
                      </m:r>
                      <m:r>
                        <a:rPr lang="en-US" sz="1500">
                          <a:latin typeface="Cambria Math"/>
                        </a:rPr>
                        <m:t>⟶</m:t>
                      </m:r>
                      <m:r>
                        <m:rPr>
                          <m:nor/>
                        </m:rPr>
                        <a:rPr lang="en-US" sz="1500">
                          <a:latin typeface="Cambria Math"/>
                        </a:rPr>
                        <m:t> </m:t>
                      </m:r>
                      <m:sSubSup>
                        <m:sSubSupPr>
                          <m:ctrlPr>
                            <a:rPr lang="en-US" i="1">
                              <a:latin typeface="Cambria Math" panose="02040503050406030204" pitchFamily="18" charset="0"/>
                            </a:rPr>
                          </m:ctrlPr>
                        </m:sSubSupPr>
                        <m:e>
                          <m:r>
                            <a:rPr lang="en-US" sz="1500">
                              <a:latin typeface="Cambria Math"/>
                            </a:rPr>
                            <m:t>ℱ</m:t>
                          </m:r>
                        </m:e>
                        <m:sub>
                          <m:r>
                            <a:rPr lang="en-US" sz="1500">
                              <a:latin typeface="Cambria Math"/>
                            </a:rPr>
                            <m:t>𝑖𝑛</m:t>
                          </m:r>
                        </m:sub>
                        <m:sup>
                          <m:r>
                            <a:rPr lang="en-US" sz="1500">
                              <a:latin typeface="Cambria Math"/>
                            </a:rPr>
                            <m:t>∗</m:t>
                          </m:r>
                        </m:sup>
                      </m:sSubSup>
                      <m:r>
                        <a:rPr lang="en-US" sz="1500">
                          <a:latin typeface="Cambria Math"/>
                        </a:rPr>
                        <m:t>×</m:t>
                      </m:r>
                      <m:sSubSup>
                        <m:sSubSupPr>
                          <m:ctrlPr>
                            <a:rPr lang="en-US" i="1">
                              <a:latin typeface="Cambria Math" panose="02040503050406030204" pitchFamily="18" charset="0"/>
                            </a:rPr>
                          </m:ctrlPr>
                        </m:sSubSupPr>
                        <m:e>
                          <m:r>
                            <a:rPr lang="en-US" sz="1500">
                              <a:latin typeface="Cambria Math"/>
                            </a:rPr>
                            <m:t>ℱ</m:t>
                          </m:r>
                        </m:e>
                        <m:sub>
                          <m:r>
                            <a:rPr lang="en-US" sz="1500">
                              <a:latin typeface="Cambria Math"/>
                            </a:rPr>
                            <m:t>𝐷𝑆𝑆</m:t>
                          </m:r>
                        </m:sub>
                        <m:sup>
                          <m:r>
                            <a:rPr lang="en-US" sz="1500">
                              <a:latin typeface="Cambria Math"/>
                            </a:rPr>
                            <m:t>∗</m:t>
                          </m:r>
                        </m:sup>
                      </m:sSubSup>
                    </m:oMath>
                  </m:oMathPara>
                </a14:m>
                <a:endParaRPr lang="en-US" sz="1400" dirty="0"/>
              </a:p>
            </p:txBody>
          </p:sp>
        </mc:Choice>
        <mc:Fallback xmlns="">
          <p:sp>
            <p:nvSpPr>
              <p:cNvPr id="22" name="Text 2">
                <a:extLst>
                  <a:ext uri="{FF2B5EF4-FFF2-40B4-BE49-F238E27FC236}">
                    <a16:creationId xmlns:a16="http://schemas.microsoft.com/office/drawing/2014/main" id="{C80D4747-2928-47BA-A0FC-8A581B417C05}"/>
                  </a:ext>
                </a:extLst>
              </p:cNvPr>
              <p:cNvSpPr>
                <a:spLocks noRot="1" noChangeAspect="1" noMove="1" noResize="1" noEditPoints="1" noAdjustHandles="1" noChangeArrowheads="1" noChangeShapeType="1" noTextEdit="1"/>
              </p:cNvSpPr>
              <p:nvPr/>
            </p:nvSpPr>
            <p:spPr>
              <a:xfrm>
                <a:off x="6411351" y="1580739"/>
                <a:ext cx="5223972" cy="731520"/>
              </a:xfrm>
              <a:prstGeom prst="rect">
                <a:avLst/>
              </a:prstGeom>
              <a:blipFill>
                <a:blip r:embed="rId6"/>
                <a:stretch>
                  <a:fillRect/>
                </a:stretch>
              </a:blipFill>
              <a:ln/>
            </p:spPr>
            <p:txBody>
              <a:bodyPr/>
              <a:lstStyle/>
              <a:p>
                <a:r>
                  <a:rPr lang="tr-TR">
                    <a:noFill/>
                  </a:rPr>
                  <a:t/>
                </a:r>
              </a:p>
            </p:txBody>
          </p:sp>
        </mc:Fallback>
      </mc:AlternateContent>
      <p:sp>
        <p:nvSpPr>
          <p:cNvPr id="23" name="Text 3">
            <a:extLst>
              <a:ext uri="{FF2B5EF4-FFF2-40B4-BE49-F238E27FC236}">
                <a16:creationId xmlns:a16="http://schemas.microsoft.com/office/drawing/2014/main" id="{D9CFACDF-819E-4790-B9E8-9588EE601251}"/>
              </a:ext>
            </a:extLst>
          </p:cNvPr>
          <p:cNvSpPr/>
          <p:nvPr/>
        </p:nvSpPr>
        <p:spPr>
          <a:xfrm>
            <a:off x="6594231" y="2649414"/>
            <a:ext cx="5011615" cy="3108960"/>
          </a:xfrm>
          <a:prstGeom prst="rect">
            <a:avLst/>
          </a:prstGeom>
          <a:noFill/>
          <a:ln/>
        </p:spPr>
        <p:txBody>
          <a:bodyPr wrap="square" lIns="0" tIns="0" rIns="0" bIns="0" rtlCol="0" anchor="t"/>
          <a:lstStyle/>
          <a:p>
            <a:pPr>
              <a:lnSpc>
                <a:spcPct val="105000"/>
              </a:lnSpc>
              <a:spcAft>
                <a:spcPts val="700"/>
              </a:spcAft>
              <a:buSzPct val="100000"/>
            </a:pPr>
            <a:r>
              <a:rPr lang="en-US" sz="1500" dirty="0">
                <a:solidFill>
                  <a:srgbClr val="222222"/>
                </a:solidFill>
                <a:latin typeface="Calibri" pitchFamily="34" charset="0"/>
                <a:ea typeface="Calibri" pitchFamily="34" charset="-122"/>
                <a:cs typeface="Calibri" pitchFamily="34" charset="-120"/>
              </a:rPr>
              <a:t>The operator maps the current input and decisional fields to operator-modified versions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Ignition injection</a:t>
            </a:r>
            <a:r>
              <a:rPr lang="tr-TR" sz="1500" b="1" dirty="0">
                <a:solidFill>
                  <a:srgbClr val="222222"/>
                </a:solidFill>
                <a:latin typeface="Calibri" pitchFamily="34" charset="0"/>
                <a:ea typeface="Calibri" pitchFamily="34" charset="-122"/>
                <a:cs typeface="Calibri" pitchFamily="34" charset="-120"/>
              </a:rPr>
              <a:t>: </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place ignitions for scenario families and hindcast replication</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Resource reconfiguration</a:t>
            </a:r>
            <a:r>
              <a:rPr lang="tr-TR" sz="1500" b="1" dirty="0">
                <a:solidFill>
                  <a:srgbClr val="222222"/>
                </a:solidFill>
                <a:latin typeface="Calibri" pitchFamily="34" charset="0"/>
                <a:ea typeface="Calibri" pitchFamily="34" charset="-122"/>
                <a:cs typeface="Calibri" pitchFamily="34" charset="-120"/>
              </a:rPr>
              <a:t>:</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change the pool to sweep resource-sufficiency axes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What-if meteorology</a:t>
            </a:r>
            <a:r>
              <a:rPr lang="tr-TR" sz="1500" b="1" dirty="0">
                <a:solidFill>
                  <a:srgbClr val="222222"/>
                </a:solidFill>
                <a:latin typeface="Calibri" pitchFamily="34" charset="0"/>
                <a:ea typeface="Calibri" pitchFamily="34" charset="-122"/>
                <a:cs typeface="Calibri" pitchFamily="34" charset="-120"/>
              </a:rPr>
              <a:t>:</a:t>
            </a:r>
            <a:r>
              <a:rPr lang="en-US" sz="1500" b="1" dirty="0">
                <a:solidFill>
                  <a:srgbClr val="222222"/>
                </a:solidFill>
                <a:latin typeface="Calibri" pitchFamily="34" charset="0"/>
                <a:ea typeface="Calibri" pitchFamily="34" charset="-122"/>
                <a:cs typeface="Calibri" pitchFamily="34" charset="-120"/>
              </a:rPr>
              <a:t> </a:t>
            </a:r>
            <a:r>
              <a:rPr lang="en-US" sz="1500" dirty="0">
                <a:solidFill>
                  <a:srgbClr val="222222"/>
                </a:solidFill>
                <a:latin typeface="Calibri" pitchFamily="34" charset="0"/>
                <a:ea typeface="Calibri" pitchFamily="34" charset="-122"/>
                <a:cs typeface="Calibri" pitchFamily="34" charset="-120"/>
              </a:rPr>
              <a:t>perturb weather for sensitivity and robustness studies</a:t>
            </a:r>
            <a:endParaRPr lang="en-US" sz="1500" dirty="0"/>
          </a:p>
          <a:p>
            <a:pPr marL="152400" indent="-152400">
              <a:lnSpc>
                <a:spcPct val="105000"/>
              </a:lnSpc>
              <a:spcAft>
                <a:spcPts val="700"/>
              </a:spcAft>
              <a:buSzPct val="100000"/>
              <a:buChar char="•"/>
            </a:pPr>
            <a:r>
              <a:rPr lang="en-US" sz="1500" b="1" dirty="0">
                <a:solidFill>
                  <a:srgbClr val="222222"/>
                </a:solidFill>
                <a:latin typeface="Calibri" pitchFamily="34" charset="0"/>
                <a:ea typeface="Calibri" pitchFamily="34" charset="-122"/>
                <a:cs typeface="Calibri" pitchFamily="34" charset="-120"/>
              </a:rPr>
              <a:t>Scenario control touches only the external fields — never the DSS internals, never the state directly</a:t>
            </a:r>
            <a:endParaRPr lang="en-US" sz="1500" dirty="0"/>
          </a:p>
        </p:txBody>
      </p:sp>
      <p:sp>
        <p:nvSpPr>
          <p:cNvPr id="90002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26 / 113</a:t>
            </a:r>
          </a:p>
        </p:txBody>
      </p:sp>
    </p:spTree>
    <p:extLst>
      <p:ext uri="{BB962C8B-B14F-4D97-AF65-F5344CB8AC3E}">
        <p14:creationId xmlns:p14="http://schemas.microsoft.com/office/powerpoint/2010/main" val="35581350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3</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The Four-Layer DSS</a:t>
            </a:r>
            <a:endParaRPr lang="en-US" sz="4800" dirty="0"/>
          </a:p>
        </p:txBody>
      </p:sp>
      <p:sp>
        <p:nvSpPr>
          <p:cNvPr id="4" name="Text 2"/>
          <p:cNvSpPr/>
          <p:nvPr/>
        </p:nvSpPr>
        <p:spPr>
          <a:xfrm>
            <a:off x="822960" y="3703320"/>
            <a:ext cx="10607040" cy="1097280"/>
          </a:xfrm>
          <a:prstGeom prst="rect">
            <a:avLst/>
          </a:prstGeom>
          <a:noFill/>
          <a:ln/>
        </p:spPr>
        <p:txBody>
          <a:bodyPr wrap="square" lIns="0" tIns="0" rIns="0" bIns="0" rtlCol="0" anchor="ctr"/>
          <a:lstStyle/>
          <a:p>
            <a:pPr marL="0" indent="0">
              <a:buNone/>
            </a:pPr>
            <a:r>
              <a:rPr lang="en-US" sz="1800" dirty="0">
                <a:solidFill>
                  <a:srgbClr val="D9D9D9"/>
                </a:solidFill>
                <a:latin typeface="Calibri" pitchFamily="34" charset="0"/>
                <a:ea typeface="Calibri" pitchFamily="34" charset="-122"/>
                <a:cs typeface="Calibri" pitchFamily="34" charset="-120"/>
              </a:rPr>
              <a:t>Each layer in detail : its role, its flow, and its mathematics (Chapter 4)</a:t>
            </a:r>
            <a:endParaRPr lang="en-US" sz="1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2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27 / 113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1 : </a:t>
            </a:r>
            <a:r>
              <a:rPr lang="en-US" sz="1600" b="1" dirty="0">
                <a:solidFill>
                  <a:srgbClr val="222222"/>
                </a:solidFill>
                <a:highlight>
                  <a:srgbClr val="C0C0C0"/>
                </a:highlight>
                <a:latin typeface="Calibri" pitchFamily="34" charset="0"/>
                <a:ea typeface="Calibri" pitchFamily="34" charset="-122"/>
                <a:cs typeface="Calibri" pitchFamily="34" charset="-120"/>
              </a:rPr>
              <a:t>Input space</a:t>
            </a:r>
            <a:r>
              <a:rPr lang="tr-TR" sz="1600" b="1" dirty="0">
                <a:solidFill>
                  <a:srgbClr val="222222"/>
                </a:solidFill>
                <a:highlight>
                  <a:srgbClr val="C0C0C0"/>
                </a:highlight>
                <a:latin typeface="Calibri" pitchFamily="34" charset="0"/>
                <a:ea typeface="Calibri" pitchFamily="34" charset="-122"/>
                <a:cs typeface="Calibri" pitchFamily="34" charset="-120"/>
              </a:rPr>
              <a:t> - </a:t>
            </a:r>
            <a:r>
              <a:rPr lang="en-US" sz="1600" dirty="0">
                <a:solidFill>
                  <a:srgbClr val="222222"/>
                </a:solidFill>
                <a:highlight>
                  <a:srgbClr val="C0C0C0"/>
                </a:highlight>
                <a:latin typeface="Calibri" pitchFamily="34" charset="0"/>
                <a:ea typeface="Calibri" pitchFamily="34" charset="-122"/>
                <a:cs typeface="Calibri" pitchFamily="34" charset="-120"/>
              </a:rPr>
              <a:t>heterogeneous, spatio-temporal measurements</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2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28 / 113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1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1 : Input Space</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What the Agent Can Know</a:t>
            </a:r>
            <a:endParaRPr lang="en-US" sz="2900" dirty="0"/>
          </a:p>
        </p:txBody>
      </p:sp>
      <p:sp>
        <p:nvSpPr>
          <p:cNvPr id="5" name="Text 2"/>
          <p:cNvSpPr/>
          <p:nvPr/>
        </p:nvSpPr>
        <p:spPr>
          <a:xfrm>
            <a:off x="685800" y="4663440"/>
            <a:ext cx="10881360" cy="192024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tr-TR" sz="1650" dirty="0" err="1">
                <a:solidFill>
                  <a:srgbClr val="222222"/>
                </a:solidFill>
                <a:latin typeface="Calibri" pitchFamily="34" charset="0"/>
                <a:ea typeface="Calibri" pitchFamily="34" charset="-122"/>
                <a:cs typeface="Calibri" pitchFamily="34" charset="-120"/>
              </a:rPr>
              <a:t>Almost</a:t>
            </a:r>
            <a:r>
              <a:rPr lang="tr-TR" sz="1650" dirty="0">
                <a:solidFill>
                  <a:srgbClr val="222222"/>
                </a:solidFill>
                <a:latin typeface="Calibri" pitchFamily="34" charset="0"/>
                <a:ea typeface="Calibri" pitchFamily="34" charset="-122"/>
                <a:cs typeface="Calibri" pitchFamily="34" charset="-120"/>
              </a:rPr>
              <a:t> 15</a:t>
            </a:r>
            <a:r>
              <a:rPr lang="en-US" sz="1650" dirty="0">
                <a:solidFill>
                  <a:srgbClr val="222222"/>
                </a:solidFill>
                <a:latin typeface="Calibri" pitchFamily="34" charset="0"/>
                <a:ea typeface="Calibri" pitchFamily="34" charset="-122"/>
                <a:cs typeface="Calibri" pitchFamily="34" charset="-120"/>
              </a:rPr>
              <a:t> heterogeneous source families: </a:t>
            </a:r>
            <a:r>
              <a:rPr lang="en-US" sz="1650" i="1" dirty="0">
                <a:solidFill>
                  <a:srgbClr val="222222"/>
                </a:solidFill>
                <a:latin typeface="Calibri" pitchFamily="34" charset="0"/>
                <a:ea typeface="Calibri" pitchFamily="34" charset="-122"/>
                <a:cs typeface="Calibri" pitchFamily="34" charset="-120"/>
              </a:rPr>
              <a:t>stations, forecasts, satellite / aerial / ground imagery, ignition detections, terrain, fuel, roads, value-at-risk, resources, field reports</a:t>
            </a:r>
            <a:endParaRPr lang="en-US" sz="1650" i="1" dirty="0"/>
          </a:p>
          <a:p>
            <a:pPr marL="152400" indent="-152400">
              <a:lnSpc>
                <a:spcPct val="105000"/>
              </a:lnSpc>
              <a:spcAft>
                <a:spcPts val="1000"/>
              </a:spcAft>
              <a:buSzPct val="100000"/>
              <a:buChar char="•"/>
            </a:pPr>
            <a:r>
              <a:rPr lang="en-US" sz="1650" dirty="0">
                <a:solidFill>
                  <a:srgbClr val="222222"/>
                </a:solidFill>
                <a:latin typeface="Calibri" pitchFamily="34" charset="0"/>
                <a:ea typeface="Calibri" pitchFamily="34" charset="-122"/>
                <a:cs typeface="Calibri" pitchFamily="34" charset="-120"/>
              </a:rPr>
              <a:t>These are exactly the external data layers formalized in Chapter 3 : the DSS reads them only as observations, never as ground truth</a:t>
            </a:r>
            <a:endParaRPr lang="en-US" sz="1650" dirty="0"/>
          </a:p>
          <a:p>
            <a:pPr marL="152400" indent="-152400">
              <a:lnSpc>
                <a:spcPct val="105000"/>
              </a:lnSpc>
              <a:spcAft>
                <a:spcPts val="1000"/>
              </a:spcAft>
              <a:buSzPct val="100000"/>
              <a:buChar char="•"/>
            </a:pPr>
            <a:r>
              <a:rPr lang="en-US" sz="1650" b="1" dirty="0">
                <a:solidFill>
                  <a:srgbClr val="222222"/>
                </a:solidFill>
                <a:latin typeface="Calibri" pitchFamily="34" charset="0"/>
                <a:ea typeface="Calibri" pitchFamily="34" charset="-122"/>
                <a:cs typeface="Calibri" pitchFamily="34" charset="-120"/>
              </a:rPr>
              <a:t>Spatio-temporal: every measurement is indexed by cell (x, y) and step k</a:t>
            </a:r>
            <a:endParaRPr lang="en-US" sz="1650" dirty="0"/>
          </a:p>
        </p:txBody>
      </p:sp>
      <p:pic>
        <p:nvPicPr>
          <p:cNvPr id="6"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9" name="Image 0" descr="/tmp/thx/deck/figs/Figure4_1.png">
            <a:extLst>
              <a:ext uri="{FF2B5EF4-FFF2-40B4-BE49-F238E27FC236}">
                <a16:creationId xmlns:a16="http://schemas.microsoft.com/office/drawing/2014/main" id="{A2CA2966-2BC2-465E-937C-6E9CBD1B4E11}"/>
              </a:ext>
            </a:extLst>
          </p:cNvPr>
          <p:cNvPicPr>
            <a:picLocks noChangeAspect="1"/>
          </p:cNvPicPr>
          <p:nvPr/>
        </p:nvPicPr>
        <p:blipFill rotWithShape="1">
          <a:blip r:embed="rId5"/>
          <a:srcRect r="14164" b="84597"/>
          <a:stretch/>
        </p:blipFill>
        <p:spPr>
          <a:xfrm>
            <a:off x="1247600" y="1371600"/>
            <a:ext cx="9550103" cy="2879388"/>
          </a:xfrm>
          <a:prstGeom prst="rect">
            <a:avLst/>
          </a:prstGeom>
        </p:spPr>
      </p:pic>
      <p:sp>
        <p:nvSpPr>
          <p:cNvPr id="90002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29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2 : </a:t>
            </a:r>
            <a:r>
              <a:rPr lang="en-US" sz="1600" b="1" dirty="0">
                <a:solidFill>
                  <a:srgbClr val="222222"/>
                </a:solidFill>
                <a:highlight>
                  <a:srgbClr val="C0C0C0"/>
                </a:highlight>
                <a:latin typeface="Calibri" pitchFamily="34" charset="0"/>
                <a:ea typeface="Calibri" pitchFamily="34" charset="-122"/>
                <a:cs typeface="Calibri" pitchFamily="34" charset="-120"/>
              </a:rPr>
              <a:t>Perception</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fusion into features with explicit confidence</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3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30 / 113</a:t>
            </a:r>
          </a:p>
        </p:txBody>
      </p:sp>
    </p:spTree>
    <p:extLst>
      <p:ext uri="{BB962C8B-B14F-4D97-AF65-F5344CB8AC3E}">
        <p14:creationId xmlns:p14="http://schemas.microsoft.com/office/powerpoint/2010/main" val="32291926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13" name="Image 0" descr="/tmp/thx/deck/figs/Figure4_1.png">
            <a:extLst>
              <a:ext uri="{FF2B5EF4-FFF2-40B4-BE49-F238E27FC236}">
                <a16:creationId xmlns:a16="http://schemas.microsoft.com/office/drawing/2014/main" id="{E41E7CAB-6CFD-414D-9826-B113269865A7}"/>
              </a:ext>
            </a:extLst>
          </p:cNvPr>
          <p:cNvPicPr>
            <a:picLocks noChangeAspect="1"/>
          </p:cNvPicPr>
          <p:nvPr/>
        </p:nvPicPr>
        <p:blipFill rotWithShape="1">
          <a:blip r:embed="rId3"/>
          <a:srcRect l="1" t="168" r="-411" b="59109"/>
          <a:stretch/>
        </p:blipFill>
        <p:spPr>
          <a:xfrm>
            <a:off x="0" y="1243584"/>
            <a:ext cx="7262004" cy="5175462"/>
          </a:xfrm>
          <a:prstGeom prst="rect">
            <a:avLst/>
          </a:prstGeom>
        </p:spPr>
      </p:pic>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2 : Perception</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Observation</a:t>
            </a:r>
            <a:endParaRPr lang="en-US" sz="2900" dirty="0"/>
          </a:p>
        </p:txBody>
      </p:sp>
      <mc:AlternateContent xmlns:mc="http://schemas.openxmlformats.org/markup-compatibility/2006" xmlns:a14="http://schemas.microsoft.com/office/drawing/2010/main">
        <mc:Choice Requires="a14">
          <p:sp>
            <p:nvSpPr>
              <p:cNvPr id="5" name="Equation 37"/>
              <p:cNvSpPr txBox="1"/>
              <p:nvPr/>
            </p:nvSpPr>
            <p:spPr>
              <a:xfrm>
                <a:off x="6926008" y="2668141"/>
                <a:ext cx="5074920" cy="281306"/>
              </a:xfrm>
              <a:prstGeom prst="rect">
                <a:avLst/>
              </a:prstGeom>
              <a:noFill/>
            </p:spPr>
            <p:txBody>
              <a:bodyPr wrap="square" lIns="0" tIns="0" rIns="0" bIns="0" anchor="ctr">
                <a:noAutofit/>
              </a:bodyPr>
              <a:lstStyle/>
              <a:p>
                <a:pPr algn="ctr"/>
                <a14:m>
                  <m:oMath xmlns:m="http://schemas.openxmlformats.org/officeDocument/2006/math">
                    <m:sSubSup>
                      <m:sSubSupPr>
                        <m:ctrlPr>
                          <a:rPr lang="en-US" i="1">
                            <a:latin typeface="Cambria Math" panose="02040503050406030204" pitchFamily="18" charset="0"/>
                          </a:rPr>
                        </m:ctrlPr>
                      </m:sSubSupPr>
                      <m:e>
                        <m:r>
                          <a:rPr lang="en-US">
                            <a:latin typeface="Cambria Math"/>
                          </a:rPr>
                          <m:t>𝑂</m:t>
                        </m:r>
                      </m:e>
                      <m:sub>
                        <m:r>
                          <a:rPr lang="en-US">
                            <a:latin typeface="Cambria Math"/>
                          </a:rPr>
                          <m:t>𝑘</m:t>
                        </m:r>
                      </m:sub>
                      <m:sup>
                        <m:r>
                          <a:rPr lang="en-US">
                            <a:latin typeface="Cambria Math"/>
                          </a:rPr>
                          <m:t>𝑖</m:t>
                        </m:r>
                      </m:sup>
                    </m:sSubSup>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p>
                      <m:sSupPr>
                        <m:ctrlPr>
                          <a:rPr lang="en-US" i="1">
                            <a:latin typeface="Cambria Math" panose="02040503050406030204" pitchFamily="18" charset="0"/>
                          </a:rPr>
                        </m:ctrlPr>
                      </m:sSupPr>
                      <m:e>
                        <m:r>
                          <a:rPr lang="en-US">
                            <a:latin typeface="Cambria Math"/>
                          </a:rPr>
                          <m:t>h</m:t>
                        </m:r>
                      </m:e>
                      <m:sup>
                        <m:r>
                          <a:rPr lang="en-US">
                            <a:latin typeface="Cambria Math"/>
                          </a:rPr>
                          <m:t>𝑖</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a:latin typeface="Cambria Math"/>
                              </a:rPr>
                              <m:t>𝑆</m:t>
                            </m:r>
                          </m:e>
                          <m:sub>
                            <m:r>
                              <a:rPr lang="en-US">
                                <a:latin typeface="Cambria Math"/>
                              </a:rPr>
                              <m:t>𝑘</m:t>
                            </m:r>
                          </m:sub>
                        </m:sSub>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 </m:t>
                        </m:r>
                        <m:sSubSup>
                          <m:sSubSupPr>
                            <m:ctrlPr>
                              <a:rPr lang="en-US" i="1">
                                <a:latin typeface="Cambria Math" panose="02040503050406030204" pitchFamily="18" charset="0"/>
                              </a:rPr>
                            </m:ctrlPr>
                          </m:sSubSupPr>
                          <m:e>
                            <m:r>
                              <a:rPr lang="en-US">
                                <a:latin typeface="Cambria Math"/>
                              </a:rPr>
                              <m:t>𝜀</m:t>
                            </m:r>
                          </m:e>
                          <m:sub>
                            <m:r>
                              <a:rPr lang="en-US">
                                <a:latin typeface="Cambria Math"/>
                              </a:rPr>
                              <m:t>𝑘</m:t>
                            </m:r>
                          </m:sub>
                          <m:sup>
                            <m:r>
                              <a:rPr lang="en-US">
                                <a:latin typeface="Cambria Math"/>
                              </a:rPr>
                              <m:t>𝑖</m:t>
                            </m:r>
                          </m:sup>
                        </m:sSubSup>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e>
                    </m:d>
                    <m:r>
                      <a:rPr lang="en-US">
                        <a:latin typeface="Cambria Math"/>
                      </a:rPr>
                      <m:t>, </m:t>
                    </m:r>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p>
                      <m:sSupPr>
                        <m:ctrlPr>
                          <a:rPr lang="en-US" i="1">
                            <a:latin typeface="Cambria Math" panose="02040503050406030204" pitchFamily="18" charset="0"/>
                          </a:rPr>
                        </m:ctrlPr>
                      </m:sSupPr>
                      <m:e>
                        <m:r>
                          <a:rPr lang="en-US">
                            <a:latin typeface="Cambria Math"/>
                          </a:rPr>
                          <m:t>𝒢</m:t>
                        </m:r>
                      </m:e>
                      <m:sup>
                        <m:r>
                          <a:rPr lang="en-US">
                            <a:latin typeface="Cambria Math"/>
                          </a:rPr>
                          <m:t>𝑖</m:t>
                        </m:r>
                      </m:sup>
                    </m:sSup>
                  </m:oMath>
                </a14:m>
                <a:r>
                  <a:rPr lang="en-US" dirty="0">
                    <a:solidFill>
                      <a:srgbClr val="6E6E6E"/>
                    </a:solidFill>
                  </a:rPr>
                  <a:t> </a:t>
                </a:r>
              </a:p>
            </p:txBody>
          </p:sp>
        </mc:Choice>
        <mc:Fallback xmlns="">
          <p:sp>
            <p:nvSpPr>
              <p:cNvPr id="5" name="Equation 37"/>
              <p:cNvSpPr txBox="1">
                <a:spLocks noRot="1" noChangeAspect="1" noMove="1" noResize="1" noEditPoints="1" noAdjustHandles="1" noChangeArrowheads="1" noChangeShapeType="1" noTextEdit="1"/>
              </p:cNvSpPr>
              <p:nvPr/>
            </p:nvSpPr>
            <p:spPr>
              <a:xfrm>
                <a:off x="6926008" y="2668141"/>
                <a:ext cx="5074920" cy="281306"/>
              </a:xfrm>
              <a:prstGeom prst="rect">
                <a:avLst/>
              </a:prstGeom>
              <a:blipFill>
                <a:blip r:embed="rId4"/>
                <a:stretch>
                  <a:fillRect t="-30435" b="-47826"/>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6" name="Equation 38"/>
              <p:cNvSpPr txBox="1"/>
              <p:nvPr/>
            </p:nvSpPr>
            <p:spPr>
              <a:xfrm>
                <a:off x="7139341" y="3724554"/>
                <a:ext cx="4648254" cy="277505"/>
              </a:xfrm>
              <a:prstGeom prst="rect">
                <a:avLst/>
              </a:prstGeom>
              <a:noFill/>
            </p:spPr>
            <p:txBody>
              <a:bodyPr wrap="square" lIns="0" tIns="0" rIns="0" bIns="0" anchor="ctr">
                <a:noAutofit/>
              </a:bodyPr>
              <a:lstStyle/>
              <a:p>
                <a:pPr algn="ct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a:latin typeface="Cambria Math"/>
                            </a:rPr>
                            <m:t>𝛾</m:t>
                          </m:r>
                        </m:e>
                        <m:sub>
                          <m:r>
                            <a:rPr lang="en-US">
                              <a:latin typeface="Cambria Math"/>
                            </a:rPr>
                            <m:t>𝑘</m:t>
                          </m:r>
                        </m:sub>
                        <m:sup>
                          <m:r>
                            <a:rPr lang="en-US">
                              <a:latin typeface="Cambria Math"/>
                            </a:rPr>
                            <m:t>𝑖</m:t>
                          </m:r>
                        </m:sup>
                      </m:sSubSup>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r>
                        <a:rPr lang="en-US">
                          <a:latin typeface="Cambria Math"/>
                        </a:rPr>
                        <m:t>𝑚𝑖</m:t>
                      </m:r>
                      <m:func>
                        <m:funcPr>
                          <m:ctrlPr>
                            <a:rPr lang="en-US" i="1">
                              <a:latin typeface="Cambria Math" panose="02040503050406030204" pitchFamily="18" charset="0"/>
                            </a:rPr>
                          </m:ctrlPr>
                        </m:funcPr>
                        <m:fName>
                          <m:r>
                            <a:rPr lang="en-US">
                              <a:latin typeface="Cambria Math"/>
                            </a:rPr>
                            <m:t>𝑛</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a:latin typeface="Cambria Math"/>
                                    </a:rPr>
                                    <m:t>𝛾</m:t>
                                  </m:r>
                                </m:e>
                                <m:sub>
                                  <m:r>
                                    <a:rPr lang="en-US">
                                      <a:latin typeface="Cambria Math"/>
                                    </a:rPr>
                                    <m:t>𝑜𝑏𝑠</m:t>
                                  </m:r>
                                </m:sub>
                              </m:sSub>
                              <m:r>
                                <a:rPr lang="en-US">
                                  <a:latin typeface="Cambria Math"/>
                                </a:rPr>
                                <m:t>,</m:t>
                              </m:r>
                              <m:sSub>
                                <m:sSubPr>
                                  <m:ctrlPr>
                                    <a:rPr lang="en-US" i="1">
                                      <a:latin typeface="Cambria Math" panose="02040503050406030204" pitchFamily="18" charset="0"/>
                                    </a:rPr>
                                  </m:ctrlPr>
                                </m:sSubPr>
                                <m:e>
                                  <m:r>
                                    <a:rPr lang="en-US">
                                      <a:latin typeface="Cambria Math"/>
                                    </a:rPr>
                                    <m:t>𝛾</m:t>
                                  </m:r>
                                </m:e>
                                <m:sub>
                                  <m:r>
                                    <a:rPr lang="en-US">
                                      <a:latin typeface="Cambria Math"/>
                                    </a:rPr>
                                    <m:t>𝑐𝑜𝑣</m:t>
                                  </m:r>
                                </m:sub>
                              </m:sSub>
                              <m:r>
                                <a:rPr lang="en-US">
                                  <a:latin typeface="Cambria Math"/>
                                </a:rPr>
                                <m:t>,</m:t>
                              </m:r>
                              <m:sSub>
                                <m:sSubPr>
                                  <m:ctrlPr>
                                    <a:rPr lang="en-US" i="1">
                                      <a:latin typeface="Cambria Math" panose="02040503050406030204" pitchFamily="18" charset="0"/>
                                    </a:rPr>
                                  </m:ctrlPr>
                                </m:sSubPr>
                                <m:e>
                                  <m:r>
                                    <a:rPr lang="en-US">
                                      <a:latin typeface="Cambria Math"/>
                                    </a:rPr>
                                    <m:t>𝛾</m:t>
                                  </m:r>
                                </m:e>
                                <m:sub>
                                  <m:r>
                                    <a:rPr lang="en-US">
                                      <a:latin typeface="Cambria Math"/>
                                    </a:rPr>
                                    <m:t>𝑓𝑟𝑒</m:t>
                                  </m:r>
                                </m:sub>
                              </m:sSub>
                              <m:r>
                                <a:rPr lang="en-US">
                                  <a:latin typeface="Cambria Math"/>
                                </a:rPr>
                                <m:t>,</m:t>
                              </m:r>
                              <m:sSub>
                                <m:sSubPr>
                                  <m:ctrlPr>
                                    <a:rPr lang="en-US" i="1">
                                      <a:latin typeface="Cambria Math" panose="02040503050406030204" pitchFamily="18" charset="0"/>
                                    </a:rPr>
                                  </m:ctrlPr>
                                </m:sSubPr>
                                <m:e>
                                  <m:r>
                                    <a:rPr lang="en-US">
                                      <a:latin typeface="Cambria Math"/>
                                    </a:rPr>
                                    <m:t>𝛾</m:t>
                                  </m:r>
                                </m:e>
                                <m:sub>
                                  <m:r>
                                    <a:rPr lang="en-US">
                                      <a:latin typeface="Cambria Math"/>
                                    </a:rPr>
                                    <m:t>𝑟𝑒𝑙</m:t>
                                  </m:r>
                                </m:sub>
                              </m:sSub>
                            </m:e>
                          </m:d>
                        </m:e>
                      </m:func>
                    </m:oMath>
                  </m:oMathPara>
                </a14:m>
                <a:endParaRPr lang="en-US" dirty="0"/>
              </a:p>
            </p:txBody>
          </p:sp>
        </mc:Choice>
        <mc:Fallback xmlns="">
          <p:sp>
            <p:nvSpPr>
              <p:cNvPr id="6" name="Equation 38"/>
              <p:cNvSpPr txBox="1">
                <a:spLocks noRot="1" noChangeAspect="1" noMove="1" noResize="1" noEditPoints="1" noAdjustHandles="1" noChangeArrowheads="1" noChangeShapeType="1" noTextEdit="1"/>
              </p:cNvSpPr>
              <p:nvPr/>
            </p:nvSpPr>
            <p:spPr>
              <a:xfrm>
                <a:off x="7139341" y="3724554"/>
                <a:ext cx="4648254" cy="277505"/>
              </a:xfrm>
              <a:prstGeom prst="rect">
                <a:avLst/>
              </a:prstGeom>
              <a:blipFill>
                <a:blip r:embed="rId5"/>
                <a:stretch>
                  <a:fillRect t="-10870" b="-36957"/>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7" name="Equation 39"/>
              <p:cNvSpPr txBox="1"/>
              <p:nvPr/>
            </p:nvSpPr>
            <p:spPr>
              <a:xfrm>
                <a:off x="6926008" y="3196348"/>
                <a:ext cx="5074920" cy="281306"/>
              </a:xfrm>
              <a:prstGeom prst="rect">
                <a:avLst/>
              </a:prstGeom>
              <a:noFill/>
            </p:spPr>
            <p:txBody>
              <a:bodyPr wrap="square" lIns="0" tIns="0" rIns="0" bIns="0" anchor="ctr">
                <a:noAutofit/>
              </a:bodyPr>
              <a:lstStyle/>
              <a:p>
                <a:pPr algn="ctr"/>
                <a14:m>
                  <m:oMath xmlns:m="http://schemas.openxmlformats.org/officeDocument/2006/math">
                    <m:r>
                      <a:rPr lang="en-US" smtClean="0">
                        <a:latin typeface="Cambria Math"/>
                      </a:rPr>
                      <m:t>|</m:t>
                    </m:r>
                    <m:sSubSup>
                      <m:sSubSupPr>
                        <m:ctrlPr>
                          <a:rPr lang="en-US" i="1">
                            <a:latin typeface="Cambria Math" panose="02040503050406030204" pitchFamily="18" charset="0"/>
                          </a:rPr>
                        </m:ctrlPr>
                      </m:sSubSupPr>
                      <m:e>
                        <m:r>
                          <a:rPr lang="en-US">
                            <a:latin typeface="Cambria Math"/>
                          </a:rPr>
                          <m:t>𝜀</m:t>
                        </m:r>
                      </m:e>
                      <m:sub>
                        <m:r>
                          <a:rPr lang="en-US">
                            <a:latin typeface="Cambria Math"/>
                          </a:rPr>
                          <m:t>𝑘</m:t>
                        </m:r>
                      </m:sub>
                      <m:sup>
                        <m:r>
                          <a:rPr lang="en-US">
                            <a:latin typeface="Cambria Math"/>
                          </a:rPr>
                          <m:t>𝑖</m:t>
                        </m:r>
                      </m:sup>
                    </m:sSubSup>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|≤(1−</m:t>
                    </m:r>
                    <m:sSubSup>
                      <m:sSubSupPr>
                        <m:ctrlPr>
                          <a:rPr lang="en-US" i="1">
                            <a:latin typeface="Cambria Math" panose="02040503050406030204" pitchFamily="18" charset="0"/>
                          </a:rPr>
                        </m:ctrlPr>
                      </m:sSubSupPr>
                      <m:e>
                        <m:r>
                          <a:rPr lang="en-US">
                            <a:latin typeface="Cambria Math"/>
                          </a:rPr>
                          <m:t>𝛾</m:t>
                        </m:r>
                      </m:e>
                      <m:sub>
                        <m:r>
                          <a:rPr lang="en-US">
                            <a:latin typeface="Cambria Math"/>
                          </a:rPr>
                          <m:t>𝑘</m:t>
                        </m:r>
                      </m:sub>
                      <m:sup>
                        <m:r>
                          <a:rPr lang="en-US">
                            <a:latin typeface="Cambria Math"/>
                          </a:rPr>
                          <m:t>𝑖</m:t>
                        </m:r>
                      </m:sup>
                    </m:sSubSup>
                    <m:d>
                      <m:dPr>
                        <m:ctrlPr>
                          <a:rPr lang="en-US" i="1">
                            <a:latin typeface="Cambria Math" panose="02040503050406030204" pitchFamily="18" charset="0"/>
                          </a:rPr>
                        </m:ctrlPr>
                      </m:dPr>
                      <m:e>
                        <m:r>
                          <a:rPr lang="en-US">
                            <a:latin typeface="Cambria Math"/>
                          </a:rPr>
                          <m:t>𝑥</m:t>
                        </m:r>
                        <m:r>
                          <a:rPr lang="en-US">
                            <a:latin typeface="Cambria Math"/>
                          </a:rPr>
                          <m:t>,</m:t>
                        </m:r>
                        <m:r>
                          <a:rPr lang="en-US">
                            <a:latin typeface="Cambria Math"/>
                          </a:rPr>
                          <m:t>𝑦</m:t>
                        </m:r>
                      </m:e>
                    </m:d>
                    <m:r>
                      <a:rPr lang="en-US">
                        <a:latin typeface="Cambria Math"/>
                      </a:rPr>
                      <m:t>)⋅</m:t>
                    </m:r>
                    <m:sSub>
                      <m:sSubPr>
                        <m:ctrlPr>
                          <a:rPr lang="en-US" i="1">
                            <a:latin typeface="Cambria Math" panose="02040503050406030204" pitchFamily="18" charset="0"/>
                          </a:rPr>
                        </m:ctrlPr>
                      </m:sSubPr>
                      <m:e>
                        <m:r>
                          <a:rPr lang="en-US">
                            <a:latin typeface="Cambria Math"/>
                          </a:rPr>
                          <m:t>𝜀</m:t>
                        </m:r>
                      </m:e>
                      <m:sub>
                        <m:r>
                          <a:rPr lang="en-US">
                            <a:latin typeface="Cambria Math"/>
                          </a:rPr>
                          <m:t>𝑚𝑎𝑥</m:t>
                        </m:r>
                      </m:sub>
                    </m:sSub>
                  </m:oMath>
                </a14:m>
                <a:r>
                  <a:rPr lang="en-US" dirty="0">
                    <a:solidFill>
                      <a:srgbClr val="6E6E6E"/>
                    </a:solidFill>
                  </a:rPr>
                  <a:t> </a:t>
                </a:r>
              </a:p>
            </p:txBody>
          </p:sp>
        </mc:Choice>
        <mc:Fallback xmlns="">
          <p:sp>
            <p:nvSpPr>
              <p:cNvPr id="7" name="Equation 39"/>
              <p:cNvSpPr txBox="1">
                <a:spLocks noRot="1" noChangeAspect="1" noMove="1" noResize="1" noEditPoints="1" noAdjustHandles="1" noChangeArrowheads="1" noChangeShapeType="1" noTextEdit="1"/>
              </p:cNvSpPr>
              <p:nvPr/>
            </p:nvSpPr>
            <p:spPr>
              <a:xfrm>
                <a:off x="6926008" y="3196348"/>
                <a:ext cx="5074920" cy="281306"/>
              </a:xfrm>
              <a:prstGeom prst="rect">
                <a:avLst/>
              </a:prstGeom>
              <a:blipFill>
                <a:blip r:embed="rId6"/>
                <a:stretch>
                  <a:fillRect t="-4348" b="-39130"/>
                </a:stretch>
              </a:blipFill>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Equation 40"/>
              <p:cNvSpPr txBox="1"/>
              <p:nvPr/>
            </p:nvSpPr>
            <p:spPr>
              <a:xfrm>
                <a:off x="6995160" y="6002788"/>
                <a:ext cx="5074920" cy="277505"/>
              </a:xfrm>
              <a:prstGeom prst="rect">
                <a:avLst/>
              </a:prstGeom>
              <a:noFill/>
            </p:spPr>
            <p:txBody>
              <a:bodyPr wrap="square" lIns="0" tIns="0" rIns="0" bIns="0" anchor="ctr">
                <a:noAutofit/>
              </a:bodyPr>
              <a:lstStyle/>
              <a:p>
                <a:pPr algn="ct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a:latin typeface="Cambria Math"/>
                            </a:rPr>
                            <m:t>𝑧</m:t>
                          </m:r>
                        </m:e>
                        <m:sub>
                          <m:r>
                            <a:rPr lang="en-US">
                              <a:latin typeface="Cambria Math"/>
                            </a:rPr>
                            <m:t>𝑓</m:t>
                          </m:r>
                          <m:r>
                            <a:rPr lang="en-US">
                              <a:latin typeface="Cambria Math"/>
                            </a:rPr>
                            <m:t>,</m:t>
                          </m:r>
                          <m:r>
                            <a:rPr lang="en-US">
                              <a:latin typeface="Cambria Math"/>
                            </a:rPr>
                            <m:t>𝑘</m:t>
                          </m:r>
                        </m:sub>
                        <m:sup>
                          <m:r>
                            <a:rPr lang="en-US">
                              <a:latin typeface="Cambria Math"/>
                            </a:rPr>
                            <m:t>𝑖</m:t>
                          </m:r>
                        </m:sup>
                      </m:sSubSup>
                      <m:r>
                        <a:rPr lang="en-US">
                          <a:latin typeface="Cambria Math"/>
                        </a:rPr>
                        <m:t>=</m:t>
                      </m:r>
                      <m:sSub>
                        <m:sSubPr>
                          <m:ctrlPr>
                            <a:rPr lang="en-US" i="1">
                              <a:latin typeface="Cambria Math" panose="02040503050406030204" pitchFamily="18" charset="0"/>
                            </a:rPr>
                          </m:ctrlPr>
                        </m:sSubPr>
                        <m:e>
                          <m:r>
                            <a:rPr lang="en-US">
                              <a:latin typeface="Cambria Math"/>
                            </a:rPr>
                            <m:t>𝜉</m:t>
                          </m:r>
                        </m:e>
                        <m:sub>
                          <m:r>
                            <a:rPr lang="en-US">
                              <a:latin typeface="Cambria Math"/>
                            </a:rPr>
                            <m:t>𝑓</m:t>
                          </m:r>
                        </m:sub>
                      </m:sSub>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a:latin typeface="Cambria Math"/>
                                </a:rPr>
                                <m:t>𝑂</m:t>
                              </m:r>
                            </m:e>
                            <m:sub>
                              <m:r>
                                <a:rPr lang="en-US">
                                  <a:latin typeface="Cambria Math"/>
                                </a:rPr>
                                <m:t>𝑘</m:t>
                              </m:r>
                            </m:sub>
                            <m:sup>
                              <m:r>
                                <a:rPr lang="en-US">
                                  <a:latin typeface="Cambria Math"/>
                                </a:rPr>
                                <m:t>𝑖</m:t>
                              </m:r>
                            </m:sup>
                          </m:sSubSup>
                        </m:e>
                      </m:d>
                      <m:r>
                        <a:rPr lang="en-US">
                          <a:latin typeface="Cambria Math"/>
                        </a:rPr>
                        <m:t>∈[0,1], </m:t>
                      </m:r>
                      <m:r>
                        <a:rPr lang="en-US">
                          <a:latin typeface="Cambria Math"/>
                        </a:rPr>
                        <m:t>𝑓</m:t>
                      </m:r>
                      <m:r>
                        <a:rPr lang="en-US">
                          <a:latin typeface="Cambria Math"/>
                        </a:rPr>
                        <m:t>=1,…,</m:t>
                      </m:r>
                      <m:sSub>
                        <m:sSubPr>
                          <m:ctrlPr>
                            <a:rPr lang="en-US" i="1">
                              <a:latin typeface="Cambria Math" panose="02040503050406030204" pitchFamily="18" charset="0"/>
                            </a:rPr>
                          </m:ctrlPr>
                        </m:sSubPr>
                        <m:e>
                          <m:r>
                            <a:rPr lang="en-US">
                              <a:latin typeface="Cambria Math"/>
                            </a:rPr>
                            <m:t>𝑁</m:t>
                          </m:r>
                        </m:e>
                        <m:sub>
                          <m:r>
                            <a:rPr lang="en-US">
                              <a:latin typeface="Cambria Math"/>
                            </a:rPr>
                            <m:t>𝑓𝑒𝑎𝑡𝑢𝑟𝑒</m:t>
                          </m:r>
                        </m:sub>
                      </m:sSub>
                    </m:oMath>
                  </m:oMathPara>
                </a14:m>
                <a:endParaRPr lang="en-US" dirty="0">
                  <a:solidFill>
                    <a:srgbClr val="6E6E6E"/>
                  </a:solidFill>
                </a:endParaRPr>
              </a:p>
            </p:txBody>
          </p:sp>
        </mc:Choice>
        <mc:Fallback xmlns="">
          <p:sp>
            <p:nvSpPr>
              <p:cNvPr id="8" name="Equation 40"/>
              <p:cNvSpPr txBox="1">
                <a:spLocks noRot="1" noChangeAspect="1" noMove="1" noResize="1" noEditPoints="1" noAdjustHandles="1" noChangeArrowheads="1" noChangeShapeType="1" noTextEdit="1"/>
              </p:cNvSpPr>
              <p:nvPr/>
            </p:nvSpPr>
            <p:spPr>
              <a:xfrm>
                <a:off x="6995160" y="6002788"/>
                <a:ext cx="5074920" cy="277505"/>
              </a:xfrm>
              <a:prstGeom prst="rect">
                <a:avLst/>
              </a:prstGeom>
              <a:blipFill>
                <a:blip r:embed="rId7"/>
                <a:stretch>
                  <a:fillRect t="-31111" b="-51111"/>
                </a:stretch>
              </a:blipFill>
            </p:spPr>
            <p:txBody>
              <a:bodyPr/>
              <a:lstStyle/>
              <a:p>
                <a:r>
                  <a:rPr lang="tr-TR">
                    <a:noFill/>
                  </a:rPr>
                  <a:t/>
                </a:r>
              </a:p>
            </p:txBody>
          </p:sp>
        </mc:Fallback>
      </mc:AlternateContent>
      <p:pic>
        <p:nvPicPr>
          <p:cNvPr id="10" name="Image 5" descr="/tmp/thx/deck/figs/metu_emblem.png"/>
          <p:cNvPicPr>
            <a:picLocks noChangeAspect="1"/>
          </p:cNvPicPr>
          <p:nvPr/>
        </p:nvPicPr>
        <p:blipFill>
          <a:blip r:embed="rId8"/>
          <a:stretch>
            <a:fillRect/>
          </a:stretch>
        </p:blipFill>
        <p:spPr>
          <a:xfrm>
            <a:off x="10716768" y="184607"/>
            <a:ext cx="475488" cy="398882"/>
          </a:xfrm>
          <a:prstGeom prst="rect">
            <a:avLst/>
          </a:prstGeom>
        </p:spPr>
      </p:pic>
      <p:pic>
        <p:nvPicPr>
          <p:cNvPr id="11" name="Image 6" descr="/tmp/thx/deck/figs/eee_logo.png"/>
          <p:cNvPicPr>
            <a:picLocks noChangeAspect="1"/>
          </p:cNvPicPr>
          <p:nvPr/>
        </p:nvPicPr>
        <p:blipFill>
          <a:blip r:embed="rId9"/>
          <a:stretch>
            <a:fillRect/>
          </a:stretch>
        </p:blipFill>
        <p:spPr>
          <a:xfrm>
            <a:off x="11265408" y="186217"/>
            <a:ext cx="475488" cy="395662"/>
          </a:xfrm>
          <a:prstGeom prst="rect">
            <a:avLst/>
          </a:prstGeom>
        </p:spPr>
      </p:pic>
      <p:sp>
        <p:nvSpPr>
          <p:cNvPr id="90003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31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800" b="1" dirty="0">
                <a:solidFill>
                  <a:srgbClr val="000000"/>
                </a:solidFill>
                <a:latin typeface="Cambria" pitchFamily="34" charset="0"/>
                <a:ea typeface="Cambria" pitchFamily="34" charset="-122"/>
                <a:cs typeface="Cambria" pitchFamily="34" charset="-120"/>
              </a:rPr>
              <a:t>Layer 2 : Perception</a:t>
            </a:r>
            <a:r>
              <a:rPr lang="tr-TR" sz="2800" b="1" dirty="0">
                <a:solidFill>
                  <a:srgbClr val="000000"/>
                </a:solidFill>
                <a:latin typeface="Cambria" pitchFamily="34" charset="0"/>
                <a:ea typeface="Cambria" pitchFamily="34" charset="-122"/>
                <a:cs typeface="Cambria" pitchFamily="34" charset="-120"/>
              </a:rPr>
              <a:t> – </a:t>
            </a:r>
            <a:r>
              <a:rPr lang="en-US" sz="2800" b="1" dirty="0">
                <a:solidFill>
                  <a:srgbClr val="000000"/>
                </a:solidFill>
                <a:latin typeface="Cambria" pitchFamily="34" charset="0"/>
                <a:ea typeface="Cambria" pitchFamily="34" charset="-122"/>
                <a:cs typeface="Cambria" pitchFamily="34" charset="-120"/>
              </a:rPr>
              <a:t>Observation, Confidence Gating</a:t>
            </a:r>
            <a:endParaRPr lang="en-US" sz="28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9" name="Text 2">
            <a:extLst>
              <a:ext uri="{FF2B5EF4-FFF2-40B4-BE49-F238E27FC236}">
                <a16:creationId xmlns:a16="http://schemas.microsoft.com/office/drawing/2014/main" id="{75F05216-CBD1-4FDE-AE90-EEDD919D3C03}"/>
              </a:ext>
            </a:extLst>
          </p:cNvPr>
          <p:cNvSpPr/>
          <p:nvPr/>
        </p:nvSpPr>
        <p:spPr>
          <a:xfrm>
            <a:off x="502920" y="1325880"/>
            <a:ext cx="5577840" cy="59436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 Region-restricted observation — the only window onto the world:</a:t>
            </a:r>
            <a:endParaRPr lang="en-US" sz="1400" dirty="0"/>
          </a:p>
        </p:txBody>
      </p:sp>
      <mc:AlternateContent xmlns:mc="http://schemas.openxmlformats.org/markup-compatibility/2006" xmlns:a14="http://schemas.microsoft.com/office/drawing/2010/main">
        <mc:Choice Requires="a14">
          <p:sp>
            <p:nvSpPr>
              <p:cNvPr id="20" name="Text 3">
                <a:extLst>
                  <a:ext uri="{FF2B5EF4-FFF2-40B4-BE49-F238E27FC236}">
                    <a16:creationId xmlns:a16="http://schemas.microsoft.com/office/drawing/2014/main" id="{D6F24581-C38B-42E5-8E20-A07C8A61C657}"/>
                  </a:ext>
                </a:extLst>
              </p:cNvPr>
              <p:cNvSpPr/>
              <p:nvPr/>
            </p:nvSpPr>
            <p:spPr>
              <a:xfrm>
                <a:off x="502920" y="1965960"/>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𝑂</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i="1">
                              <a:latin typeface="Cambria Math" panose="02040503050406030204" pitchFamily="18" charset="0"/>
                            </a:rPr>
                          </m:ctrlPr>
                        </m:sSupPr>
                        <m:e>
                          <m:r>
                            <a:rPr lang="en-US" sz="1400">
                              <a:latin typeface="Cambria Math"/>
                            </a:rPr>
                            <m:t>h</m:t>
                          </m:r>
                        </m:e>
                        <m:sup>
                          <m:r>
                            <a:rPr lang="en-US" sz="1400">
                              <a:latin typeface="Cambria Math"/>
                            </a:rPr>
                            <m:t>𝑖</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𝑆</m:t>
                              </m:r>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Sup>
                            <m:sSubSupPr>
                              <m:ctrlPr>
                                <a:rPr lang="en-US" i="1">
                                  <a:latin typeface="Cambria Math" panose="02040503050406030204" pitchFamily="18" charset="0"/>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, </m:t>
                      </m:r>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p>
                        <m:sSupPr>
                          <m:ctrlPr>
                            <a:rPr lang="en-US" i="1">
                              <a:latin typeface="Cambria Math" panose="02040503050406030204" pitchFamily="18" charset="0"/>
                            </a:rPr>
                          </m:ctrlPr>
                        </m:sSupPr>
                        <m:e>
                          <m:r>
                            <a:rPr lang="en-US" sz="1400">
                              <a:latin typeface="Cambria Math"/>
                            </a:rPr>
                            <m:t>𝒢</m:t>
                          </m:r>
                        </m:e>
                        <m:sup>
                          <m:r>
                            <a:rPr lang="en-US" sz="1400">
                              <a:latin typeface="Cambria Math"/>
                            </a:rPr>
                            <m:t>𝑖</m:t>
                          </m:r>
                        </m:sup>
                      </m:sSup>
                    </m:oMath>
                  </m:oMathPara>
                </a14:m>
                <a:endParaRPr lang="en-US" sz="1400" dirty="0"/>
              </a:p>
            </p:txBody>
          </p:sp>
        </mc:Choice>
        <mc:Fallback xmlns="">
          <p:sp>
            <p:nvSpPr>
              <p:cNvPr id="20" name="Text 3">
                <a:extLst>
                  <a:ext uri="{FF2B5EF4-FFF2-40B4-BE49-F238E27FC236}">
                    <a16:creationId xmlns:a16="http://schemas.microsoft.com/office/drawing/2014/main" id="{D6F24581-C38B-42E5-8E20-A07C8A61C657}"/>
                  </a:ext>
                </a:extLst>
              </p:cNvPr>
              <p:cNvSpPr>
                <a:spLocks noRot="1" noChangeAspect="1" noMove="1" noResize="1" noEditPoints="1" noAdjustHandles="1" noChangeArrowheads="1" noChangeShapeType="1" noTextEdit="1"/>
              </p:cNvSpPr>
              <p:nvPr/>
            </p:nvSpPr>
            <p:spPr>
              <a:xfrm>
                <a:off x="502920" y="1965960"/>
                <a:ext cx="5486400" cy="502920"/>
              </a:xfrm>
              <a:prstGeom prst="rect">
                <a:avLst/>
              </a:prstGeom>
              <a:blipFill>
                <a:blip r:embed="rId5"/>
                <a:stretch>
                  <a:fillRect/>
                </a:stretch>
              </a:blipFill>
              <a:ln/>
            </p:spPr>
            <p:txBody>
              <a:bodyPr/>
              <a:lstStyle/>
              <a:p>
                <a:r>
                  <a:rPr lang="tr-TR">
                    <a:noFill/>
                  </a:rPr>
                  <a:t/>
                </a:r>
              </a:p>
            </p:txBody>
          </p:sp>
        </mc:Fallback>
      </mc:AlternateContent>
      <p:sp>
        <p:nvSpPr>
          <p:cNvPr id="21" name="Text 4">
            <a:extLst>
              <a:ext uri="{FF2B5EF4-FFF2-40B4-BE49-F238E27FC236}">
                <a16:creationId xmlns:a16="http://schemas.microsoft.com/office/drawing/2014/main" id="{D9D0A11B-BC8C-4F11-9249-E68789535091}"/>
              </a:ext>
            </a:extLst>
          </p:cNvPr>
          <p:cNvSpPr/>
          <p:nvPr/>
        </p:nvSpPr>
        <p:spPr>
          <a:xfrm>
            <a:off x="502920" y="2697480"/>
            <a:ext cx="5577840" cy="59436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 Observation confidence — the minimum of four factors, per cell:</a:t>
            </a:r>
            <a:endParaRPr lang="en-US" sz="1400" dirty="0"/>
          </a:p>
        </p:txBody>
      </p:sp>
      <mc:AlternateContent xmlns:mc="http://schemas.openxmlformats.org/markup-compatibility/2006" xmlns:a14="http://schemas.microsoft.com/office/drawing/2010/main">
        <mc:Choice Requires="a14">
          <p:sp>
            <p:nvSpPr>
              <p:cNvPr id="22" name="Text 5">
                <a:extLst>
                  <a:ext uri="{FF2B5EF4-FFF2-40B4-BE49-F238E27FC236}">
                    <a16:creationId xmlns:a16="http://schemas.microsoft.com/office/drawing/2014/main" id="{FECCE786-F16F-4D58-AFA6-1D375DCAD440}"/>
                  </a:ext>
                </a:extLst>
              </p:cNvPr>
              <p:cNvSpPr/>
              <p:nvPr/>
            </p:nvSpPr>
            <p:spPr>
              <a:xfrm>
                <a:off x="502920" y="3337560"/>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a:rPr lang="en-US" sz="1400">
                          <a:latin typeface="Cambria Math"/>
                        </a:rPr>
                        <m:t>𝑚𝑖𝑛</m:t>
                      </m:r>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𝑜𝑏𝑠</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𝑐𝑜𝑣</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𝑓𝑟𝑒</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𝑟𝑒𝑙</m:t>
                          </m:r>
                        </m:sub>
                      </m:sSub>
                      <m:r>
                        <a:rPr lang="en-US" sz="1400">
                          <a:latin typeface="Cambria Math"/>
                        </a:rPr>
                        <m:t>}</m:t>
                      </m:r>
                    </m:oMath>
                  </m:oMathPara>
                </a14:m>
                <a:endParaRPr lang="en-US" sz="1400" dirty="0"/>
              </a:p>
            </p:txBody>
          </p:sp>
        </mc:Choice>
        <mc:Fallback xmlns="">
          <p:sp>
            <p:nvSpPr>
              <p:cNvPr id="22" name="Text 5">
                <a:extLst>
                  <a:ext uri="{FF2B5EF4-FFF2-40B4-BE49-F238E27FC236}">
                    <a16:creationId xmlns:a16="http://schemas.microsoft.com/office/drawing/2014/main" id="{FECCE786-F16F-4D58-AFA6-1D375DCAD440}"/>
                  </a:ext>
                </a:extLst>
              </p:cNvPr>
              <p:cNvSpPr>
                <a:spLocks noRot="1" noChangeAspect="1" noMove="1" noResize="1" noEditPoints="1" noAdjustHandles="1" noChangeArrowheads="1" noChangeShapeType="1" noTextEdit="1"/>
              </p:cNvSpPr>
              <p:nvPr/>
            </p:nvSpPr>
            <p:spPr>
              <a:xfrm>
                <a:off x="502920" y="3337560"/>
                <a:ext cx="5486400" cy="502920"/>
              </a:xfrm>
              <a:prstGeom prst="rect">
                <a:avLst/>
              </a:prstGeom>
              <a:blipFill>
                <a:blip r:embed="rId6"/>
                <a:stretch>
                  <a:fillRect/>
                </a:stretch>
              </a:blipFill>
              <a:ln/>
            </p:spPr>
            <p:txBody>
              <a:bodyPr/>
              <a:lstStyle/>
              <a:p>
                <a:r>
                  <a:rPr lang="tr-TR">
                    <a:noFill/>
                  </a:rPr>
                  <a:t/>
                </a:r>
              </a:p>
            </p:txBody>
          </p:sp>
        </mc:Fallback>
      </mc:AlternateContent>
      <p:sp>
        <p:nvSpPr>
          <p:cNvPr id="23" name="Text 6">
            <a:extLst>
              <a:ext uri="{FF2B5EF4-FFF2-40B4-BE49-F238E27FC236}">
                <a16:creationId xmlns:a16="http://schemas.microsoft.com/office/drawing/2014/main" id="{9A091E67-8194-4586-B2D6-AD2213B0AF18}"/>
              </a:ext>
            </a:extLst>
          </p:cNvPr>
          <p:cNvSpPr/>
          <p:nvPr/>
        </p:nvSpPr>
        <p:spPr>
          <a:xfrm>
            <a:off x="502920" y="4069080"/>
            <a:ext cx="5577840" cy="36576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 The error is bounded, not modeled statistically:</a:t>
            </a:r>
            <a:endParaRPr lang="en-US" sz="1400" dirty="0"/>
          </a:p>
        </p:txBody>
      </p:sp>
      <mc:AlternateContent xmlns:mc="http://schemas.openxmlformats.org/markup-compatibility/2006" xmlns:a14="http://schemas.microsoft.com/office/drawing/2010/main">
        <mc:Choice Requires="a14">
          <p:sp>
            <p:nvSpPr>
              <p:cNvPr id="24" name="Text 7">
                <a:extLst>
                  <a:ext uri="{FF2B5EF4-FFF2-40B4-BE49-F238E27FC236}">
                    <a16:creationId xmlns:a16="http://schemas.microsoft.com/office/drawing/2014/main" id="{3F4B75BE-484D-4272-BA5A-1C98DC60C70E}"/>
                  </a:ext>
                </a:extLst>
              </p:cNvPr>
              <p:cNvSpPr/>
              <p:nvPr/>
            </p:nvSpPr>
            <p:spPr>
              <a:xfrm>
                <a:off x="502920" y="4462272"/>
                <a:ext cx="548640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m:t>
                      </m:r>
                      <m:sSubSup>
                        <m:sSubSupPr>
                          <m:ctrlPr>
                            <a:rPr lang="en-US" i="1">
                              <a:latin typeface="Cambria Math" panose="02040503050406030204" pitchFamily="18" charset="0"/>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|≤(1−</m:t>
                      </m:r>
                      <m:sSubSup>
                        <m:sSubSupPr>
                          <m:ctrlPr>
                            <a:rPr lang="en-US" i="1">
                              <a:latin typeface="Cambria Math" panose="02040503050406030204" pitchFamily="18" charset="0"/>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𝜀</m:t>
                          </m:r>
                        </m:e>
                        <m:sub>
                          <m:r>
                            <a:rPr lang="en-US" sz="1400">
                              <a:latin typeface="Cambria Math"/>
                            </a:rPr>
                            <m:t>𝑚𝑎𝑥</m:t>
                          </m:r>
                        </m:sub>
                      </m:sSub>
                    </m:oMath>
                  </m:oMathPara>
                </a14:m>
                <a:endParaRPr lang="en-US" sz="1400" dirty="0"/>
              </a:p>
            </p:txBody>
          </p:sp>
        </mc:Choice>
        <mc:Fallback xmlns="">
          <p:sp>
            <p:nvSpPr>
              <p:cNvPr id="24" name="Text 7">
                <a:extLst>
                  <a:ext uri="{FF2B5EF4-FFF2-40B4-BE49-F238E27FC236}">
                    <a16:creationId xmlns:a16="http://schemas.microsoft.com/office/drawing/2014/main" id="{3F4B75BE-484D-4272-BA5A-1C98DC60C70E}"/>
                  </a:ext>
                </a:extLst>
              </p:cNvPr>
              <p:cNvSpPr>
                <a:spLocks noRot="1" noChangeAspect="1" noMove="1" noResize="1" noEditPoints="1" noAdjustHandles="1" noChangeArrowheads="1" noChangeShapeType="1" noTextEdit="1"/>
              </p:cNvSpPr>
              <p:nvPr/>
            </p:nvSpPr>
            <p:spPr>
              <a:xfrm>
                <a:off x="502920" y="4462272"/>
                <a:ext cx="5486400" cy="502920"/>
              </a:xfrm>
              <a:prstGeom prst="rect">
                <a:avLst/>
              </a:prstGeom>
              <a:blipFill>
                <a:blip r:embed="rId7"/>
                <a:stretch>
                  <a:fillRect/>
                </a:stretch>
              </a:blipFill>
              <a:ln/>
            </p:spPr>
            <p:txBody>
              <a:bodyPr/>
              <a:lstStyle/>
              <a:p>
                <a:r>
                  <a:rPr lang="tr-TR">
                    <a:noFill/>
                  </a:rPr>
                  <a:t/>
                </a:r>
              </a:p>
            </p:txBody>
          </p:sp>
        </mc:Fallback>
      </mc:AlternateContent>
      <p:sp>
        <p:nvSpPr>
          <p:cNvPr id="25" name="Text 8">
            <a:extLst>
              <a:ext uri="{FF2B5EF4-FFF2-40B4-BE49-F238E27FC236}">
                <a16:creationId xmlns:a16="http://schemas.microsoft.com/office/drawing/2014/main" id="{F94A8106-903F-4D10-8A34-4AF41E7B3920}"/>
              </a:ext>
            </a:extLst>
          </p:cNvPr>
          <p:cNvSpPr/>
          <p:nvPr/>
        </p:nvSpPr>
        <p:spPr>
          <a:xfrm>
            <a:off x="6309360" y="1371600"/>
            <a:ext cx="5440680" cy="283464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Observability — is the quantity sensible at all (occlusion, line of sight, product availability)</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Coverage — computed from the covering footprints of satellite, aerial, and in-situ assets</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Freshness — decays exponentially with report age (half-life 90 minutes)</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Reliability — trust of the reporting channel (calibrated sensors near 1, unproven reports lower)</a:t>
            </a:r>
            <a:endParaRPr lang="en-US" sz="1300" dirty="0"/>
          </a:p>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Minimum, not average — the weakest factor rules (conservative by design)</a:t>
            </a:r>
            <a:endParaRPr lang="en-US" sz="1300" dirty="0"/>
          </a:p>
        </p:txBody>
      </p:sp>
      <p:sp>
        <p:nvSpPr>
          <p:cNvPr id="26" name="Text 9">
            <a:extLst>
              <a:ext uri="{FF2B5EF4-FFF2-40B4-BE49-F238E27FC236}">
                <a16:creationId xmlns:a16="http://schemas.microsoft.com/office/drawing/2014/main" id="{DFECCAD8-773F-4C48-8DE5-ABE92F927999}"/>
              </a:ext>
            </a:extLst>
          </p:cNvPr>
          <p:cNvSpPr/>
          <p:nvPr/>
        </p:nvSpPr>
        <p:spPr>
          <a:xfrm>
            <a:off x="6309360" y="4343400"/>
            <a:ext cx="5440680" cy="201168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ε is never computed by the DSS — it is the disturbance the simulator injects; the DSS only knows its bound</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Full confidence (γ = 1): the observation is exact; a blind cell (γ = 0) admits the worst-case disturbance</a:t>
            </a:r>
            <a:endParaRPr lang="en-US" sz="1300" dirty="0"/>
          </a:p>
          <a:p>
            <a:pPr marL="152400" indent="-152400">
              <a:lnSpc>
                <a:spcPct val="105000"/>
              </a:lnSpc>
              <a:spcAft>
                <a:spcPts val="700"/>
              </a:spcAft>
              <a:buSzPct val="100000"/>
              <a:buChar char="•"/>
            </a:pPr>
            <a:r>
              <a:rPr lang="en-US" sz="1300" dirty="0">
                <a:solidFill>
                  <a:srgbClr val="222222"/>
                </a:solidFill>
                <a:latin typeface="Calibri" pitchFamily="34" charset="0"/>
                <a:ea typeface="Calibri" pitchFamily="34" charset="-122"/>
                <a:cs typeface="Calibri" pitchFamily="34" charset="-120"/>
              </a:rPr>
              <a:t>Degradation is linear and graceful — no distributional assumption anywhere</a:t>
            </a:r>
            <a:endParaRPr lang="en-US" sz="1300" dirty="0"/>
          </a:p>
          <a:p>
            <a:pPr marL="152400" indent="-152400">
              <a:lnSpc>
                <a:spcPct val="105000"/>
              </a:lnSpc>
              <a:spcAft>
                <a:spcPts val="700"/>
              </a:spcAft>
              <a:buSzPct val="100000"/>
              <a:buChar char="•"/>
            </a:pPr>
            <a:r>
              <a:rPr lang="en-US" sz="1300" b="1" dirty="0">
                <a:solidFill>
                  <a:srgbClr val="222222"/>
                </a:solidFill>
                <a:latin typeface="Calibri" pitchFamily="34" charset="0"/>
                <a:ea typeface="Calibri" pitchFamily="34" charset="-122"/>
                <a:cs typeface="Calibri" pitchFamily="34" charset="-120"/>
              </a:rPr>
              <a:t>Missing observations fall back to a persistence prior that decays over time</a:t>
            </a:r>
            <a:endParaRPr lang="en-US" sz="1300" dirty="0"/>
          </a:p>
        </p:txBody>
      </p:sp>
      <p:sp>
        <p:nvSpPr>
          <p:cNvPr id="90003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32 / 113</a:t>
            </a:r>
          </a:p>
        </p:txBody>
      </p:sp>
    </p:spTree>
    <p:extLst>
      <p:ext uri="{BB962C8B-B14F-4D97-AF65-F5344CB8AC3E}">
        <p14:creationId xmlns:p14="http://schemas.microsoft.com/office/powerpoint/2010/main" val="22441544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6012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6" name="Text 2"/>
              <p:cNvSpPr/>
              <p:nvPr/>
            </p:nvSpPr>
            <p:spPr>
              <a:xfrm>
                <a:off x="2880360" y="1366520"/>
                <a:ext cx="576072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m:t>
                      </m:r>
                      <m:sSubSup>
                        <m:sSubSupPr>
                          <m:ctrlPr>
                            <a:rPr lang="en-US" i="1">
                              <a:latin typeface="Cambria Math" panose="02040503050406030204" pitchFamily="18" charset="0"/>
                            </a:rPr>
                          </m:ctrlPr>
                        </m:sSubSupPr>
                        <m:e>
                          <m:r>
                            <a:rPr lang="en-US" sz="1400">
                              <a:latin typeface="Cambria Math"/>
                            </a:rPr>
                            <m:t>𝜀</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|≤(1−</m:t>
                      </m:r>
                      <m:sSubSup>
                        <m:sSubSupPr>
                          <m:ctrlPr>
                            <a:rPr lang="en-US" i="1">
                              <a:latin typeface="Cambria Math" panose="02040503050406030204" pitchFamily="18" charset="0"/>
                            </a:rPr>
                          </m:ctrlPr>
                        </m:sSubSupPr>
                        <m:e>
                          <m:r>
                            <a:rPr lang="en-US" sz="1400">
                              <a:latin typeface="Cambria Math"/>
                            </a:rPr>
                            <m:t>𝛾</m:t>
                          </m:r>
                        </m:e>
                        <m:sub>
                          <m:r>
                            <a:rPr lang="en-US" sz="1400">
                              <a:latin typeface="Cambria Math"/>
                            </a:rPr>
                            <m:t>𝑘</m:t>
                          </m:r>
                        </m:sub>
                        <m:sup>
                          <m:r>
                            <a:rPr lang="en-US" sz="1400">
                              <a:latin typeface="Cambria Math"/>
                            </a:rPr>
                            <m:t>𝑖</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𝜀</m:t>
                          </m:r>
                        </m:e>
                        <m:sub>
                          <m:r>
                            <a:rPr lang="en-US" sz="1400">
                              <a:latin typeface="Cambria Math"/>
                            </a:rPr>
                            <m:t>𝑚𝑎𝑥</m:t>
                          </m:r>
                        </m:sub>
                      </m:sSub>
                    </m:oMath>
                  </m:oMathPara>
                </a14:m>
                <a:endParaRPr lang="en-US" sz="1400" dirty="0"/>
              </a:p>
            </p:txBody>
          </p:sp>
        </mc:Choice>
        <mc:Fallback xmlns="">
          <p:sp>
            <p:nvSpPr>
              <p:cNvPr id="6" name="Text 2"/>
              <p:cNvSpPr>
                <a:spLocks noRot="1" noChangeAspect="1" noMove="1" noResize="1" noEditPoints="1" noAdjustHandles="1" noChangeArrowheads="1" noChangeShapeType="1" noTextEdit="1"/>
              </p:cNvSpPr>
              <p:nvPr/>
            </p:nvSpPr>
            <p:spPr>
              <a:xfrm>
                <a:off x="2880360" y="1366520"/>
                <a:ext cx="5760720" cy="502920"/>
              </a:xfrm>
              <a:prstGeom prst="rect">
                <a:avLst/>
              </a:prstGeom>
              <a:blipFill>
                <a:blip r:embed="rId5"/>
                <a:stretch>
                  <a:fillRect/>
                </a:stretch>
              </a:blipFill>
              <a:ln/>
            </p:spPr>
            <p:txBody>
              <a:bodyPr/>
              <a:lstStyle/>
              <a:p>
                <a:r>
                  <a:rPr lang="tr-TR">
                    <a:noFill/>
                  </a:rPr>
                  <a:t/>
                </a:r>
              </a:p>
            </p:txBody>
          </p:sp>
        </mc:Fallback>
      </mc:AlternateContent>
      <p:graphicFrame>
        <p:nvGraphicFramePr>
          <p:cNvPr id="8" name="Table 0"/>
          <p:cNvGraphicFramePr>
            <a:graphicFrameLocks noGrp="1"/>
          </p:cNvGraphicFramePr>
          <p:nvPr>
            <p:extLst>
              <p:ext uri="{D42A27DB-BD31-4B8C-83A1-F6EECF244321}">
                <p14:modId xmlns:p14="http://schemas.microsoft.com/office/powerpoint/2010/main" val="2022855538"/>
              </p:ext>
            </p:extLst>
          </p:nvPr>
        </p:nvGraphicFramePr>
        <p:xfrm>
          <a:off x="502920" y="2487168"/>
          <a:ext cx="11201400" cy="3029712"/>
        </p:xfrm>
        <a:graphic>
          <a:graphicData uri="http://schemas.openxmlformats.org/drawingml/2006/table">
            <a:tbl>
              <a:tblPr/>
              <a:tblGrid>
                <a:gridCol w="3200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5166360">
                  <a:extLst>
                    <a:ext uri="{9D8B030D-6E8A-4147-A177-3AD203B41FA5}">
                      <a16:colId xmlns:a16="http://schemas.microsoft.com/office/drawing/2014/main" val="20004"/>
                    </a:ext>
                  </a:extLst>
                </a:gridCol>
              </a:tblGrid>
              <a:tr h="42062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Observation channel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|ε|</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Latency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Coverage radius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Operational analogue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Environmental ground sensors (in-situ) — fuel load</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&lt; 1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1.5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RAWS-class weather / fuel-moisture stations: calibrated, point-accurate, continuous</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UAV / aerial thermal reconnaissance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2.5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Thermal-IR drone sorties over the incident: high accuracy, narrow footprint, minutes-fresh</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Satellite imagery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20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whole map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GEO fire products (5–10 min cadence, coarse pixels) to LEO 375 m detections (hours): wide, coarser, delayed</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Fixed lookout camera — burning, intensity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4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Lookout / smoke-camera networks: near-real-time, line-of-sight and smoke-occlusion limited</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First-responder field data — burning, time-since-ignition</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Crew radio reports: trained observers, localized, radio-lag delayed</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20624">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Public reports / calls — burning</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 0.20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 1.2 km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Emergency-call reports: earliest signal, poorest localization and reliability</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1" name="Text 1">
            <a:extLst>
              <a:ext uri="{FF2B5EF4-FFF2-40B4-BE49-F238E27FC236}">
                <a16:creationId xmlns:a16="http://schemas.microsoft.com/office/drawing/2014/main" id="{23460F3A-FD66-427C-93F6-20A1F7C75A4F}"/>
              </a:ext>
            </a:extLst>
          </p:cNvPr>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2 : Perception</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Observation</a:t>
            </a:r>
            <a:endParaRPr lang="en-US" sz="2900" dirty="0"/>
          </a:p>
        </p:txBody>
      </p:sp>
      <p:sp>
        <p:nvSpPr>
          <p:cNvPr id="90003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33 / 113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2 : Perception</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Features with Explicit Confidence</a:t>
            </a:r>
            <a:endParaRPr lang="en-US" sz="2900" dirty="0"/>
          </a:p>
        </p:txBody>
      </p:sp>
      <p:pic>
        <p:nvPicPr>
          <p:cNvPr id="10" name="Image 5"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1" name="Image 6"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0C1E034-5F60-4C40-870E-41070058BAE4}"/>
                  </a:ext>
                </a:extLst>
              </p:cNvPr>
              <p:cNvGraphicFramePr>
                <a:graphicFrameLocks noGrp="1"/>
              </p:cNvGraphicFramePr>
              <p:nvPr>
                <p:extLst>
                  <p:ext uri="{D42A27DB-BD31-4B8C-83A1-F6EECF244321}">
                    <p14:modId xmlns:p14="http://schemas.microsoft.com/office/powerpoint/2010/main" val="2643848517"/>
                  </p:ext>
                </p:extLst>
              </p:nvPr>
            </p:nvGraphicFramePr>
            <p:xfrm>
              <a:off x="138897" y="1075179"/>
              <a:ext cx="11880385" cy="5700210"/>
            </p:xfrm>
            <a:graphic>
              <a:graphicData uri="http://schemas.openxmlformats.org/drawingml/2006/table">
                <a:tbl>
                  <a:tblPr firstRow="1" firstCol="1" bandRow="1">
                    <a:tableStyleId>{93296810-A885-4BE3-A3E7-6D5BEEA58F35}</a:tableStyleId>
                  </a:tblPr>
                  <a:tblGrid>
                    <a:gridCol w="1692955">
                      <a:extLst>
                        <a:ext uri="{9D8B030D-6E8A-4147-A177-3AD203B41FA5}">
                          <a16:colId xmlns:a16="http://schemas.microsoft.com/office/drawing/2014/main" val="3627290206"/>
                        </a:ext>
                      </a:extLst>
                    </a:gridCol>
                    <a:gridCol w="2732489">
                      <a:extLst>
                        <a:ext uri="{9D8B030D-6E8A-4147-A177-3AD203B41FA5}">
                          <a16:colId xmlns:a16="http://schemas.microsoft.com/office/drawing/2014/main" val="760967356"/>
                        </a:ext>
                      </a:extLst>
                    </a:gridCol>
                    <a:gridCol w="7454941">
                      <a:extLst>
                        <a:ext uri="{9D8B030D-6E8A-4147-A177-3AD203B41FA5}">
                          <a16:colId xmlns:a16="http://schemas.microsoft.com/office/drawing/2014/main" val="1803707285"/>
                        </a:ext>
                      </a:extLst>
                    </a:gridCol>
                  </a:tblGrid>
                  <a:tr h="279457">
                    <a:tc>
                      <a:txBody>
                        <a:bodyPr/>
                        <a:lstStyle/>
                        <a:p>
                          <a:pPr algn="just">
                            <a:lnSpc>
                              <a:spcPct val="150000"/>
                            </a:lnSpc>
                          </a:pPr>
                          <a:r>
                            <a:rPr lang="en-US" sz="1400">
                              <a:effectLst/>
                            </a:rPr>
                            <a:t>Feature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Primary source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Rationale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318556470"/>
                      </a:ext>
                    </a:extLst>
                  </a:tr>
                  <a:tr h="592380">
                    <a:tc>
                      <a:txBody>
                        <a:bodyPr/>
                        <a:lstStyle/>
                        <a:p>
                          <a:pPr algn="just">
                            <a:lnSpc>
                              <a:spcPct val="150000"/>
                            </a:lnSpc>
                          </a:pPr>
                          <a:r>
                            <a:rPr lang="en-US" sz="1400">
                              <a:effectLst/>
                            </a:rPr>
                            <a:t>Fire intensity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𝟏</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 state estimation from imagery and in-situ sensing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Fireline intensity in the tradition of Byram and the Rothermel model is the standard descriptor of how intensely a front is burning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45247736"/>
                      </a:ext>
                    </a:extLst>
                  </a:tr>
                  <a:tr h="592380">
                    <a:tc>
                      <a:txBody>
                        <a:bodyPr/>
                        <a:lstStyle/>
                        <a:p>
                          <a:pPr algn="just">
                            <a:lnSpc>
                              <a:spcPct val="150000"/>
                            </a:lnSpc>
                          </a:pPr>
                          <a:r>
                            <a:rPr lang="en-US" sz="1400">
                              <a:effectLst/>
                            </a:rPr>
                            <a:t>Spread potential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𝟐</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 state and weather</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Rate of spread from fuel, wind, and slope in the Rothermel tradition remains the operational basis of spread assessment</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509444383"/>
                      </a:ext>
                    </a:extLst>
                  </a:tr>
                  <a:tr h="592380">
                    <a:tc>
                      <a:txBody>
                        <a:bodyPr/>
                        <a:lstStyle/>
                        <a:p>
                          <a:pPr algn="just">
                            <a:lnSpc>
                              <a:spcPct val="150000"/>
                            </a:lnSpc>
                          </a:pPr>
                          <a:r>
                            <a:rPr lang="en-US" sz="1400" dirty="0">
                              <a:effectLst/>
                            </a:rPr>
                            <a:t>Weather severity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𝟑</m:t>
                                  </m:r>
                                </m:sub>
                              </m:sSub>
                            </m:oMath>
                          </a14:m>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Weather stations and forecasts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Fire-weather index systems condense a small set of weather observations into spread and intensity potential</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347831255"/>
                      </a:ext>
                    </a:extLst>
                  </a:tr>
                  <a:tr h="592380">
                    <a:tc>
                      <a:txBody>
                        <a:bodyPr/>
                        <a:lstStyle/>
                        <a:p>
                          <a:pPr algn="just">
                            <a:lnSpc>
                              <a:spcPct val="150000"/>
                            </a:lnSpc>
                          </a:pPr>
                          <a:r>
                            <a:rPr lang="en-US" sz="1400" dirty="0">
                              <a:effectLst/>
                            </a:rPr>
                            <a:t>Ignition proximity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𝟒</m:t>
                                  </m:r>
                                </m:sub>
                              </m:sSub>
                            </m:oMath>
                          </a14:m>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GIS road and infrastructure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Human-caused ignitions cluster near roads and infrastructure, so distance to them drives ignition probability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898950483"/>
                      </a:ext>
                    </a:extLst>
                  </a:tr>
                  <a:tr h="279457">
                    <a:tc>
                      <a:txBody>
                        <a:bodyPr/>
                        <a:lstStyle/>
                        <a:p>
                          <a:pPr algn="just">
                            <a:lnSpc>
                              <a:spcPct val="150000"/>
                            </a:lnSpc>
                          </a:pPr>
                          <a:r>
                            <a:rPr lang="en-US" sz="1400">
                              <a:effectLst/>
                            </a:rPr>
                            <a:t>Fuel load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𝟓</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Fuel model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Standard fuel models parameterize combustible load and drive every surface-fire prediction</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290824786"/>
                      </a:ext>
                    </a:extLst>
                  </a:tr>
                  <a:tr h="279457">
                    <a:tc>
                      <a:txBody>
                        <a:bodyPr/>
                        <a:lstStyle/>
                        <a:p>
                          <a:pPr algn="just">
                            <a:lnSpc>
                              <a:spcPct val="150000"/>
                            </a:lnSpc>
                          </a:pPr>
                          <a:r>
                            <a:rPr lang="en-US" sz="1400">
                              <a:effectLst/>
                            </a:rPr>
                            <a:t>Asset exposure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𝟔</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GIS asset and urban interface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Values-at-risk mapping quantifies what a fire threatens and supports risk-based response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54649194"/>
                      </a:ext>
                    </a:extLst>
                  </a:tr>
                  <a:tr h="588406">
                    <a:tc>
                      <a:txBody>
                        <a:bodyPr/>
                        <a:lstStyle/>
                        <a:p>
                          <a:pPr algn="just">
                            <a:lnSpc>
                              <a:spcPct val="150000"/>
                            </a:lnSpc>
                          </a:pPr>
                          <a:r>
                            <a:rPr lang="en-US" sz="1400">
                              <a:effectLst/>
                            </a:rPr>
                            <a:t>Resource accessibility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𝟕</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Terrain, fuel, and access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Suppression difficulty combines the terrain, fuel, and access conditions of a site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316389966"/>
                      </a:ext>
                    </a:extLst>
                  </a:tr>
                  <a:tr h="588406">
                    <a:tc>
                      <a:txBody>
                        <a:bodyPr/>
                        <a:lstStyle/>
                        <a:p>
                          <a:pPr algn="just">
                            <a:lnSpc>
                              <a:spcPct val="150000"/>
                            </a:lnSpc>
                          </a:pPr>
                          <a:r>
                            <a:rPr lang="en-US" sz="1400">
                              <a:effectLst/>
                            </a:rPr>
                            <a:t>Access and road status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𝟖</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GIS road status and field reports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Access governs both suppression logistics and evacuation egress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809221389"/>
                      </a:ext>
                    </a:extLst>
                  </a:tr>
                  <a:tr h="592380">
                    <a:tc>
                      <a:txBody>
                        <a:bodyPr/>
                        <a:lstStyle/>
                        <a:p>
                          <a:pPr algn="just">
                            <a:lnSpc>
                              <a:spcPct val="150000"/>
                            </a:lnSpc>
                          </a:pPr>
                          <a:r>
                            <a:rPr lang="en-US" sz="1400">
                              <a:effectLst/>
                            </a:rPr>
                            <a:t>Suppression availability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𝟗</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Resource tracking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Fireline production rates and available capacity determine whether suppression can be mounted</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973674359"/>
                      </a:ext>
                    </a:extLst>
                  </a:tr>
                  <a:tr h="592380">
                    <a:tc>
                      <a:txBody>
                        <a:bodyPr/>
                        <a:lstStyle/>
                        <a:p>
                          <a:pPr algn="just">
                            <a:lnSpc>
                              <a:spcPct val="150000"/>
                            </a:lnSpc>
                          </a:pPr>
                          <a:r>
                            <a:rPr lang="en-US" sz="1400">
                              <a:effectLst/>
                            </a:rPr>
                            <a:t>Temporal urgency </a:t>
                          </a:r>
                          <a14:m>
                            <m:oMath xmlns:m="http://schemas.openxmlformats.org/officeDocument/2006/math">
                              <m:sSub>
                                <m:sSubPr>
                                  <m:ctrlPr>
                                    <a:rPr lang="tr-TR" sz="1400" i="1">
                                      <a:effectLst/>
                                      <a:latin typeface="Cambria Math" panose="02040503050406030204" pitchFamily="18" charset="0"/>
                                    </a:rPr>
                                  </m:ctrlPr>
                                </m:sSubPr>
                                <m:e>
                                  <m:r>
                                    <a:rPr lang="en-US" sz="1400">
                                      <a:effectLst/>
                                      <a:latin typeface="Cambria Math" panose="02040503050406030204" pitchFamily="18" charset="0"/>
                                    </a:rPr>
                                    <m:t>𝒛</m:t>
                                  </m:r>
                                </m:e>
                                <m:sub>
                                  <m:r>
                                    <a:rPr lang="en-US" sz="1400">
                                      <a:effectLst/>
                                      <a:latin typeface="Cambria Math" panose="02040503050406030204" pitchFamily="18" charset="0"/>
                                    </a:rPr>
                                    <m:t>𝟏𝟎</m:t>
                                  </m:r>
                                </m:sub>
                              </m:sSub>
                            </m:oMath>
                          </a14:m>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Ignition timing and incident clock</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dirty="0">
                              <a:effectLst/>
                            </a:rPr>
                            <a:t>Incident command is time-critical; recognition-primed decision research formalizes acting under urgency</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539770244"/>
                      </a:ext>
                    </a:extLst>
                  </a:tr>
                </a:tbl>
              </a:graphicData>
            </a:graphic>
          </p:graphicFrame>
        </mc:Choice>
        <mc:Fallback xmlns="">
          <p:graphicFrame>
            <p:nvGraphicFramePr>
              <p:cNvPr id="4" name="Table 3">
                <a:extLst>
                  <a:ext uri="{FF2B5EF4-FFF2-40B4-BE49-F238E27FC236}">
                    <a16:creationId xmlns:a16="http://schemas.microsoft.com/office/drawing/2014/main" id="{90C1E034-5F60-4C40-870E-41070058BAE4}"/>
                  </a:ext>
                </a:extLst>
              </p:cNvPr>
              <p:cNvGraphicFramePr>
                <a:graphicFrameLocks noGrp="1"/>
              </p:cNvGraphicFramePr>
              <p:nvPr>
                <p:extLst>
                  <p:ext uri="{D42A27DB-BD31-4B8C-83A1-F6EECF244321}">
                    <p14:modId xmlns:p14="http://schemas.microsoft.com/office/powerpoint/2010/main" val="2643848517"/>
                  </p:ext>
                </p:extLst>
              </p:nvPr>
            </p:nvGraphicFramePr>
            <p:xfrm>
              <a:off x="138897" y="1075179"/>
              <a:ext cx="11880385" cy="5700210"/>
            </p:xfrm>
            <a:graphic>
              <a:graphicData uri="http://schemas.openxmlformats.org/drawingml/2006/table">
                <a:tbl>
                  <a:tblPr firstRow="1" firstCol="1" bandRow="1">
                    <a:tableStyleId>{93296810-A885-4BE3-A3E7-6D5BEEA58F35}</a:tableStyleId>
                  </a:tblPr>
                  <a:tblGrid>
                    <a:gridCol w="1692955">
                      <a:extLst>
                        <a:ext uri="{9D8B030D-6E8A-4147-A177-3AD203B41FA5}">
                          <a16:colId xmlns:a16="http://schemas.microsoft.com/office/drawing/2014/main" val="3627290206"/>
                        </a:ext>
                      </a:extLst>
                    </a:gridCol>
                    <a:gridCol w="2732489">
                      <a:extLst>
                        <a:ext uri="{9D8B030D-6E8A-4147-A177-3AD203B41FA5}">
                          <a16:colId xmlns:a16="http://schemas.microsoft.com/office/drawing/2014/main" val="760967356"/>
                        </a:ext>
                      </a:extLst>
                    </a:gridCol>
                    <a:gridCol w="7454941">
                      <a:extLst>
                        <a:ext uri="{9D8B030D-6E8A-4147-A177-3AD203B41FA5}">
                          <a16:colId xmlns:a16="http://schemas.microsoft.com/office/drawing/2014/main" val="1803707285"/>
                        </a:ext>
                      </a:extLst>
                    </a:gridCol>
                  </a:tblGrid>
                  <a:tr h="285814">
                    <a:tc>
                      <a:txBody>
                        <a:bodyPr/>
                        <a:lstStyle/>
                        <a:p>
                          <a:pPr algn="just">
                            <a:lnSpc>
                              <a:spcPct val="150000"/>
                            </a:lnSpc>
                          </a:pPr>
                          <a:r>
                            <a:rPr lang="en-US" sz="1400">
                              <a:effectLst/>
                            </a:rPr>
                            <a:t>Feature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Primary source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Rationale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318556470"/>
                      </a:ext>
                    </a:extLst>
                  </a:tr>
                  <a:tr h="605854">
                    <a:tc>
                      <a:txBody>
                        <a:bodyPr/>
                        <a:lstStyle/>
                        <a:p>
                          <a:endParaRPr lang="tr-TR"/>
                        </a:p>
                      </a:txBody>
                      <a:tcPr marL="17780" marR="17780" marT="0" marB="0">
                        <a:blipFill>
                          <a:blip r:embed="rId5"/>
                          <a:stretch>
                            <a:fillRect l="-360" t="-48485" r="-602878" b="-816162"/>
                          </a:stretch>
                        </a:blipFill>
                      </a:tcPr>
                    </a:tc>
                    <a:tc>
                      <a:txBody>
                        <a:bodyPr/>
                        <a:lstStyle/>
                        <a:p>
                          <a:pPr algn="just">
                            <a:lnSpc>
                              <a:spcPct val="150000"/>
                            </a:lnSpc>
                          </a:pPr>
                          <a:r>
                            <a:rPr lang="en-US" sz="1400">
                              <a:effectLst/>
                            </a:rPr>
                            <a:t>Fire state estimation from imagery and in-situ sensing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Fireline intensity in the tradition of Byram and the Rothermel model is the standard descriptor of how intensely a front is burning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45247736"/>
                      </a:ext>
                    </a:extLst>
                  </a:tr>
                  <a:tr h="605854">
                    <a:tc>
                      <a:txBody>
                        <a:bodyPr/>
                        <a:lstStyle/>
                        <a:p>
                          <a:endParaRPr lang="tr-TR"/>
                        </a:p>
                      </a:txBody>
                      <a:tcPr marL="17780" marR="17780" marT="0" marB="0">
                        <a:blipFill>
                          <a:blip r:embed="rId5"/>
                          <a:stretch>
                            <a:fillRect l="-360" t="-147000" r="-602878" b="-708000"/>
                          </a:stretch>
                        </a:blipFill>
                      </a:tcPr>
                    </a:tc>
                    <a:tc>
                      <a:txBody>
                        <a:bodyPr/>
                        <a:lstStyle/>
                        <a:p>
                          <a:pPr algn="just">
                            <a:lnSpc>
                              <a:spcPct val="150000"/>
                            </a:lnSpc>
                          </a:pPr>
                          <a:r>
                            <a:rPr lang="en-US" sz="1400">
                              <a:effectLst/>
                            </a:rPr>
                            <a:t>Fire state and weather</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Rate of spread from fuel, wind, and slope in the Rothermel tradition remains the operational basis of spread assessment</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509444383"/>
                      </a:ext>
                    </a:extLst>
                  </a:tr>
                  <a:tr h="605854">
                    <a:tc>
                      <a:txBody>
                        <a:bodyPr/>
                        <a:lstStyle/>
                        <a:p>
                          <a:endParaRPr lang="tr-TR"/>
                        </a:p>
                      </a:txBody>
                      <a:tcPr marL="17780" marR="17780" marT="0" marB="0">
                        <a:blipFill>
                          <a:blip r:embed="rId5"/>
                          <a:stretch>
                            <a:fillRect l="-360" t="-249495" r="-602878" b="-615152"/>
                          </a:stretch>
                        </a:blipFill>
                      </a:tcPr>
                    </a:tc>
                    <a:tc>
                      <a:txBody>
                        <a:bodyPr/>
                        <a:lstStyle/>
                        <a:p>
                          <a:pPr algn="just">
                            <a:lnSpc>
                              <a:spcPct val="150000"/>
                            </a:lnSpc>
                          </a:pPr>
                          <a:r>
                            <a:rPr lang="en-US" sz="1400">
                              <a:effectLst/>
                            </a:rPr>
                            <a:t>Weather stations and forecasts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Fire-weather index systems condense a small set of weather observations into spread and intensity potential</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347831255"/>
                      </a:ext>
                    </a:extLst>
                  </a:tr>
                  <a:tr h="605854">
                    <a:tc>
                      <a:txBody>
                        <a:bodyPr/>
                        <a:lstStyle/>
                        <a:p>
                          <a:endParaRPr lang="tr-TR"/>
                        </a:p>
                      </a:txBody>
                      <a:tcPr marL="17780" marR="17780" marT="0" marB="0">
                        <a:blipFill>
                          <a:blip r:embed="rId5"/>
                          <a:stretch>
                            <a:fillRect l="-360" t="-346000" r="-602878" b="-509000"/>
                          </a:stretch>
                        </a:blipFill>
                      </a:tcPr>
                    </a:tc>
                    <a:tc>
                      <a:txBody>
                        <a:bodyPr/>
                        <a:lstStyle/>
                        <a:p>
                          <a:pPr algn="just">
                            <a:lnSpc>
                              <a:spcPct val="150000"/>
                            </a:lnSpc>
                          </a:pPr>
                          <a:r>
                            <a:rPr lang="en-US" sz="1400">
                              <a:effectLst/>
                            </a:rPr>
                            <a:t>GIS road and infrastructure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Human-caused ignitions cluster near roads and infrastructure, so distance to them drives ignition probability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898950483"/>
                      </a:ext>
                    </a:extLst>
                  </a:tr>
                  <a:tr h="285814">
                    <a:tc>
                      <a:txBody>
                        <a:bodyPr/>
                        <a:lstStyle/>
                        <a:p>
                          <a:endParaRPr lang="tr-TR"/>
                        </a:p>
                      </a:txBody>
                      <a:tcPr marL="17780" marR="17780" marT="0" marB="0">
                        <a:blipFill>
                          <a:blip r:embed="rId5"/>
                          <a:stretch>
                            <a:fillRect l="-360" t="-948936" r="-602878" b="-982979"/>
                          </a:stretch>
                        </a:blipFill>
                      </a:tcPr>
                    </a:tc>
                    <a:tc>
                      <a:txBody>
                        <a:bodyPr/>
                        <a:lstStyle/>
                        <a:p>
                          <a:pPr algn="just">
                            <a:lnSpc>
                              <a:spcPct val="150000"/>
                            </a:lnSpc>
                          </a:pPr>
                          <a:r>
                            <a:rPr lang="en-US" sz="1400">
                              <a:effectLst/>
                            </a:rPr>
                            <a:t>Fuel model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Standard fuel models parameterize combustible load and drive every surface-fire prediction</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290824786"/>
                      </a:ext>
                    </a:extLst>
                  </a:tr>
                  <a:tr h="285814">
                    <a:tc>
                      <a:txBody>
                        <a:bodyPr/>
                        <a:lstStyle/>
                        <a:p>
                          <a:endParaRPr lang="tr-TR"/>
                        </a:p>
                      </a:txBody>
                      <a:tcPr marL="17780" marR="17780" marT="0" marB="0">
                        <a:blipFill>
                          <a:blip r:embed="rId5"/>
                          <a:stretch>
                            <a:fillRect l="-360" t="-1048936" r="-602878" b="-882979"/>
                          </a:stretch>
                        </a:blipFill>
                      </a:tcPr>
                    </a:tc>
                    <a:tc>
                      <a:txBody>
                        <a:bodyPr/>
                        <a:lstStyle/>
                        <a:p>
                          <a:pPr algn="just">
                            <a:lnSpc>
                              <a:spcPct val="150000"/>
                            </a:lnSpc>
                          </a:pPr>
                          <a:r>
                            <a:rPr lang="en-US" sz="1400">
                              <a:effectLst/>
                            </a:rPr>
                            <a:t>GIS asset and urban interface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Values-at-risk mapping quantifies what a fire threatens and supports risk-based response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054649194"/>
                      </a:ext>
                    </a:extLst>
                  </a:tr>
                  <a:tr h="601790">
                    <a:tc>
                      <a:txBody>
                        <a:bodyPr/>
                        <a:lstStyle/>
                        <a:p>
                          <a:endParaRPr lang="tr-TR"/>
                        </a:p>
                      </a:txBody>
                      <a:tcPr marL="17780" marR="17780" marT="0" marB="0">
                        <a:blipFill>
                          <a:blip r:embed="rId5"/>
                          <a:stretch>
                            <a:fillRect l="-360" t="-545455" r="-602878" b="-319192"/>
                          </a:stretch>
                        </a:blipFill>
                      </a:tcPr>
                    </a:tc>
                    <a:tc>
                      <a:txBody>
                        <a:bodyPr/>
                        <a:lstStyle/>
                        <a:p>
                          <a:pPr algn="just">
                            <a:lnSpc>
                              <a:spcPct val="150000"/>
                            </a:lnSpc>
                          </a:pPr>
                          <a:r>
                            <a:rPr lang="en-US" sz="1400">
                              <a:effectLst/>
                            </a:rPr>
                            <a:t>Terrain, fuel, and access layers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Suppression difficulty combines the terrain, fuel, and access conditions of a site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316389966"/>
                      </a:ext>
                    </a:extLst>
                  </a:tr>
                  <a:tr h="605854">
                    <a:tc>
                      <a:txBody>
                        <a:bodyPr/>
                        <a:lstStyle/>
                        <a:p>
                          <a:endParaRPr lang="tr-TR"/>
                        </a:p>
                      </a:txBody>
                      <a:tcPr marL="17780" marR="17780" marT="0" marB="0">
                        <a:blipFill>
                          <a:blip r:embed="rId5"/>
                          <a:stretch>
                            <a:fillRect l="-360" t="-645455" r="-602878" b="-219192"/>
                          </a:stretch>
                        </a:blipFill>
                      </a:tcPr>
                    </a:tc>
                    <a:tc>
                      <a:txBody>
                        <a:bodyPr/>
                        <a:lstStyle/>
                        <a:p>
                          <a:pPr algn="just">
                            <a:lnSpc>
                              <a:spcPct val="150000"/>
                            </a:lnSpc>
                          </a:pPr>
                          <a:r>
                            <a:rPr lang="en-US" sz="1400">
                              <a:effectLst/>
                            </a:rPr>
                            <a:t>GIS road status and field reports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Access governs both suppression logistics and evacuation egress</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2809221389"/>
                      </a:ext>
                    </a:extLst>
                  </a:tr>
                  <a:tr h="605854">
                    <a:tc>
                      <a:txBody>
                        <a:bodyPr/>
                        <a:lstStyle/>
                        <a:p>
                          <a:endParaRPr lang="tr-TR"/>
                        </a:p>
                      </a:txBody>
                      <a:tcPr marL="17780" marR="17780" marT="0" marB="0">
                        <a:blipFill>
                          <a:blip r:embed="rId5"/>
                          <a:stretch>
                            <a:fillRect l="-360" t="-738000" r="-602878" b="-117000"/>
                          </a:stretch>
                        </a:blipFill>
                      </a:tcPr>
                    </a:tc>
                    <a:tc>
                      <a:txBody>
                        <a:bodyPr/>
                        <a:lstStyle/>
                        <a:p>
                          <a:pPr algn="just">
                            <a:lnSpc>
                              <a:spcPct val="150000"/>
                            </a:lnSpc>
                          </a:pPr>
                          <a:r>
                            <a:rPr lang="en-US" sz="1400">
                              <a:effectLst/>
                            </a:rPr>
                            <a:t>Resource tracking</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a:effectLst/>
                            </a:rPr>
                            <a:t>Fireline production rates and available capacity determine whether suppression can be mounted</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1973674359"/>
                      </a:ext>
                    </a:extLst>
                  </a:tr>
                  <a:tr h="605854">
                    <a:tc>
                      <a:txBody>
                        <a:bodyPr/>
                        <a:lstStyle/>
                        <a:p>
                          <a:endParaRPr lang="tr-TR"/>
                        </a:p>
                      </a:txBody>
                      <a:tcPr marL="17780" marR="17780" marT="0" marB="0">
                        <a:blipFill>
                          <a:blip r:embed="rId5"/>
                          <a:stretch>
                            <a:fillRect l="-360" t="-846465" r="-602878" b="-18182"/>
                          </a:stretch>
                        </a:blipFill>
                      </a:tcPr>
                    </a:tc>
                    <a:tc>
                      <a:txBody>
                        <a:bodyPr/>
                        <a:lstStyle/>
                        <a:p>
                          <a:pPr algn="just">
                            <a:lnSpc>
                              <a:spcPct val="150000"/>
                            </a:lnSpc>
                          </a:pPr>
                          <a:r>
                            <a:rPr lang="en-US" sz="1400">
                              <a:effectLst/>
                            </a:rPr>
                            <a:t>Ignition timing and incident clock</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tc>
                      <a:txBody>
                        <a:bodyPr/>
                        <a:lstStyle/>
                        <a:p>
                          <a:pPr algn="just">
                            <a:lnSpc>
                              <a:spcPct val="150000"/>
                            </a:lnSpc>
                          </a:pPr>
                          <a:r>
                            <a:rPr lang="en-US" sz="1400" dirty="0">
                              <a:effectLst/>
                            </a:rPr>
                            <a:t>Incident command is time-critical; recognition-primed decision research formalizes acting under urgency</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17780" marR="17780" marT="0" marB="0"/>
                    </a:tc>
                    <a:extLst>
                      <a:ext uri="{0D108BD9-81ED-4DB2-BD59-A6C34878D82A}">
                        <a16:rowId xmlns:a16="http://schemas.microsoft.com/office/drawing/2014/main" val="3539770244"/>
                      </a:ext>
                    </a:extLst>
                  </a:tr>
                </a:tbl>
              </a:graphicData>
            </a:graphic>
          </p:graphicFrame>
        </mc:Fallback>
      </mc:AlternateContent>
      <p:pic>
        <p:nvPicPr>
          <p:cNvPr id="15" name="Image 0" descr="/tmp/thx/deck/figs/Figure4_1.png">
            <a:extLst>
              <a:ext uri="{FF2B5EF4-FFF2-40B4-BE49-F238E27FC236}">
                <a16:creationId xmlns:a16="http://schemas.microsoft.com/office/drawing/2014/main" id="{E2D8BB16-7351-4E35-A1AD-ACAA2235E08A}"/>
              </a:ext>
            </a:extLst>
          </p:cNvPr>
          <p:cNvPicPr>
            <a:picLocks noChangeAspect="1"/>
          </p:cNvPicPr>
          <p:nvPr/>
        </p:nvPicPr>
        <p:blipFill>
          <a:blip r:embed="rId6"/>
          <a:stretch>
            <a:fillRect/>
          </a:stretch>
        </p:blipFill>
        <p:spPr>
          <a:xfrm>
            <a:off x="2231" y="8254"/>
            <a:ext cx="136665" cy="229622"/>
          </a:xfrm>
          <a:prstGeom prst="rect">
            <a:avLst/>
          </a:prstGeom>
        </p:spPr>
      </p:pic>
      <p:sp>
        <p:nvSpPr>
          <p:cNvPr id="90003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34 / 113</a:t>
            </a:r>
          </a:p>
        </p:txBody>
      </p:sp>
    </p:spTree>
    <p:extLst>
      <p:ext uri="{BB962C8B-B14F-4D97-AF65-F5344CB8AC3E}">
        <p14:creationId xmlns:p14="http://schemas.microsoft.com/office/powerpoint/2010/main" val="10012056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2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2 : Perception</a:t>
            </a:r>
            <a:r>
              <a:rPr lang="tr-TR" sz="2900" b="1" dirty="0">
                <a:solidFill>
                  <a:srgbClr val="000000"/>
                </a:solidFill>
                <a:latin typeface="Cambria" pitchFamily="34" charset="0"/>
                <a:ea typeface="Cambria" pitchFamily="34" charset="-122"/>
                <a:cs typeface="Cambria" pitchFamily="34" charset="-120"/>
              </a:rPr>
              <a:t> - </a:t>
            </a:r>
            <a:r>
              <a:rPr lang="en-US" sz="2900" b="1" dirty="0">
                <a:solidFill>
                  <a:srgbClr val="000000"/>
                </a:solidFill>
                <a:latin typeface="Cambria" pitchFamily="34" charset="0"/>
                <a:ea typeface="Cambria" pitchFamily="34" charset="-122"/>
                <a:cs typeface="Cambria" pitchFamily="34" charset="-120"/>
              </a:rPr>
              <a:t>Features with Explicit Confidence</a:t>
            </a:r>
            <a:endParaRPr lang="en-US" sz="2900" dirty="0"/>
          </a:p>
        </p:txBody>
      </p:sp>
      <p:pic>
        <p:nvPicPr>
          <p:cNvPr id="10" name="Image 5"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1" name="Image 6"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7" name="Shape 2">
            <a:extLst>
              <a:ext uri="{FF2B5EF4-FFF2-40B4-BE49-F238E27FC236}">
                <a16:creationId xmlns:a16="http://schemas.microsoft.com/office/drawing/2014/main" id="{9A8F3B09-F2D2-4F6C-9C68-07E9863F599C}"/>
              </a:ext>
            </a:extLst>
          </p:cNvPr>
          <p:cNvSpPr/>
          <p:nvPr/>
        </p:nvSpPr>
        <p:spPr>
          <a:xfrm>
            <a:off x="502920" y="1234440"/>
            <a:ext cx="11201400" cy="1097280"/>
          </a:xfrm>
          <a:prstGeom prst="roundRect">
            <a:avLst>
              <a:gd name="adj" fmla="val 4902"/>
            </a:avLst>
          </a:prstGeom>
          <a:solidFill>
            <a:srgbClr val="F2F2F2"/>
          </a:solidFill>
          <a:ln/>
        </p:spPr>
      </p:sp>
      <mc:AlternateContent xmlns:mc="http://schemas.openxmlformats.org/markup-compatibility/2006" xmlns:a14="http://schemas.microsoft.com/office/drawing/2010/main">
        <mc:Choice Requires="a14">
          <p:sp>
            <p:nvSpPr>
              <p:cNvPr id="8" name="Text 3">
                <a:extLst>
                  <a:ext uri="{FF2B5EF4-FFF2-40B4-BE49-F238E27FC236}">
                    <a16:creationId xmlns:a16="http://schemas.microsoft.com/office/drawing/2014/main" id="{355717C5-69A4-4696-970C-9C7864312D2D}"/>
                  </a:ext>
                </a:extLst>
              </p:cNvPr>
              <p:cNvSpPr/>
              <p:nvPr/>
            </p:nvSpPr>
            <p:spPr>
              <a:xfrm>
                <a:off x="731520" y="1298448"/>
                <a:ext cx="10789920" cy="841248"/>
              </a:xfrm>
              <a:prstGeom prst="rect">
                <a:avLst/>
              </a:prstGeom>
              <a:noFill/>
              <a:ln/>
            </p:spPr>
            <p:txBody>
              <a:bodyPr wrap="square" lIns="0" tIns="0" rIns="0" bIns="0" rtlCol="0" anchor="ctr"/>
              <a:lstStyle/>
              <a:p>
                <a:pPr marL="0" indent="0">
                  <a:lnSpc>
                    <a:spcPct val="105000"/>
                  </a:lnSpc>
                  <a:buNone/>
                </a:pPr>
                <a:r>
                  <a:rPr lang="en-US" sz="1300" b="1" dirty="0">
                    <a:solidFill>
                      <a:srgbClr val="000000"/>
                    </a:solidFill>
                    <a:latin typeface="Calibri" pitchFamily="34" charset="0"/>
                    <a:ea typeface="Calibri" pitchFamily="34" charset="-122"/>
                    <a:cs typeface="Calibri" pitchFamily="34" charset="-120"/>
                  </a:rPr>
                  <a:t>fire intensity · spread potential · weather severity · ignition proximity · fuel load · asset exposure · resource accessibility · access / road status · suppression availability · temporal urgency</a:t>
                </a:r>
                <a:endParaRPr lang="en-US" sz="1300" dirty="0"/>
              </a:p>
              <a:p>
                <a:pPr marL="0" indent="0">
                  <a:lnSpc>
                    <a:spcPct val="105000"/>
                  </a:lnSpc>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𝑧</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sSub>
                        <m:sSubPr>
                          <m:ctrlPr>
                            <a:rPr lang="en-US" i="1">
                              <a:latin typeface="Cambria Math" panose="02040503050406030204" pitchFamily="18" charset="0"/>
                            </a:rPr>
                          </m:ctrlPr>
                        </m:sSubPr>
                        <m:e>
                          <m:r>
                            <a:rPr lang="en-US" sz="1400">
                              <a:latin typeface="Cambria Math"/>
                            </a:rPr>
                            <m:t>𝜉</m:t>
                          </m:r>
                        </m:e>
                        <m:sub>
                          <m:r>
                            <a:rPr lang="en-US" sz="1400">
                              <a:latin typeface="Cambria Math"/>
                            </a:rPr>
                            <m:t>𝑓</m:t>
                          </m:r>
                        </m:sub>
                      </m:sSub>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sz="1400">
                                  <a:latin typeface="Cambria Math"/>
                                </a:rPr>
                                <m:t>𝑂</m:t>
                              </m:r>
                            </m:e>
                            <m:sub>
                              <m:r>
                                <a:rPr lang="en-US" sz="1400">
                                  <a:latin typeface="Cambria Math"/>
                                </a:rPr>
                                <m:t>𝑘</m:t>
                              </m:r>
                            </m:sub>
                            <m:sup>
                              <m:r>
                                <a:rPr lang="en-US" sz="1400">
                                  <a:latin typeface="Cambria Math"/>
                                </a:rPr>
                                <m:t>𝑖</m:t>
                              </m:r>
                            </m:sup>
                          </m:sSubSup>
                        </m:e>
                      </m:d>
                      <m:r>
                        <a:rPr lang="en-US" sz="1400">
                          <a:latin typeface="Cambria Math"/>
                        </a:rPr>
                        <m:t>∈[0,1], </m:t>
                      </m:r>
                      <m:r>
                        <a:rPr lang="en-US" sz="1400">
                          <a:latin typeface="Cambria Math"/>
                        </a:rPr>
                        <m:t>𝑓</m:t>
                      </m:r>
                      <m:r>
                        <a:rPr lang="en-US" sz="1400">
                          <a:latin typeface="Cambria Math"/>
                        </a:rPr>
                        <m:t>=1,…,</m:t>
                      </m:r>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𝑓𝑒𝑎𝑡𝑢𝑟𝑒</m:t>
                          </m:r>
                        </m:sub>
                      </m:sSub>
                    </m:oMath>
                  </m:oMathPara>
                </a14:m>
                <a:endParaRPr lang="en-US" sz="1300" dirty="0"/>
              </a:p>
            </p:txBody>
          </p:sp>
        </mc:Choice>
        <mc:Fallback xmlns="">
          <p:sp>
            <p:nvSpPr>
              <p:cNvPr id="8" name="Text 3">
                <a:extLst>
                  <a:ext uri="{FF2B5EF4-FFF2-40B4-BE49-F238E27FC236}">
                    <a16:creationId xmlns:a16="http://schemas.microsoft.com/office/drawing/2014/main" id="{355717C5-69A4-4696-970C-9C7864312D2D}"/>
                  </a:ext>
                </a:extLst>
              </p:cNvPr>
              <p:cNvSpPr>
                <a:spLocks noRot="1" noChangeAspect="1" noMove="1" noResize="1" noEditPoints="1" noAdjustHandles="1" noChangeArrowheads="1" noChangeShapeType="1" noTextEdit="1"/>
              </p:cNvSpPr>
              <p:nvPr/>
            </p:nvSpPr>
            <p:spPr>
              <a:xfrm>
                <a:off x="731520" y="1298448"/>
                <a:ext cx="10789920" cy="841248"/>
              </a:xfrm>
              <a:prstGeom prst="rect">
                <a:avLst/>
              </a:prstGeom>
              <a:blipFill>
                <a:blip r:embed="rId5"/>
                <a:stretch>
                  <a:fillRect l="-904" b="-1449"/>
                </a:stretch>
              </a:blipFill>
              <a:ln/>
            </p:spPr>
            <p:txBody>
              <a:bodyPr/>
              <a:lstStyle/>
              <a:p>
                <a:r>
                  <a:rPr lang="tr-TR">
                    <a:noFill/>
                  </a:rPr>
                  <a:t/>
                </a:r>
              </a:p>
            </p:txBody>
          </p:sp>
        </mc:Fallback>
      </mc:AlternateContent>
      <p:sp>
        <p:nvSpPr>
          <p:cNvPr id="9" name="Text 4">
            <a:extLst>
              <a:ext uri="{FF2B5EF4-FFF2-40B4-BE49-F238E27FC236}">
                <a16:creationId xmlns:a16="http://schemas.microsoft.com/office/drawing/2014/main" id="{D8821519-89C5-43EE-B5E3-DC5C8F2F7EE5}"/>
              </a:ext>
            </a:extLst>
          </p:cNvPr>
          <p:cNvSpPr/>
          <p:nvPr/>
        </p:nvSpPr>
        <p:spPr>
          <a:xfrm>
            <a:off x="502920" y="2331720"/>
            <a:ext cx="11155680" cy="320040"/>
          </a:xfrm>
          <a:prstGeom prst="rect">
            <a:avLst/>
          </a:prstGeom>
          <a:noFill/>
          <a:ln/>
        </p:spPr>
        <p:txBody>
          <a:bodyPr wrap="square" lIns="0" tIns="0" rIns="0" bIns="0" rtlCol="0" anchor="ctr"/>
          <a:lstStyle/>
          <a:p>
            <a:pPr marL="0" indent="0">
              <a:buNone/>
            </a:pPr>
            <a:r>
              <a:rPr lang="en-US" sz="1400" b="1" dirty="0">
                <a:solidFill>
                  <a:srgbClr val="222222"/>
                </a:solidFill>
                <a:latin typeface="Calibri" pitchFamily="34" charset="0"/>
                <a:ea typeface="Calibri" pitchFamily="34" charset="-122"/>
                <a:cs typeface="Calibri" pitchFamily="34" charset="-120"/>
              </a:rPr>
              <a:t>A quantity is admitted to the feature set only if it satisfies all four conditions:</a:t>
            </a:r>
            <a:endParaRPr lang="en-US" sz="1400" dirty="0"/>
          </a:p>
        </p:txBody>
      </p:sp>
      <p:sp>
        <p:nvSpPr>
          <p:cNvPr id="12" name="Shape 5">
            <a:extLst>
              <a:ext uri="{FF2B5EF4-FFF2-40B4-BE49-F238E27FC236}">
                <a16:creationId xmlns:a16="http://schemas.microsoft.com/office/drawing/2014/main" id="{F5ADDF04-57F5-4DEF-A30D-7CAB01672E9A}"/>
              </a:ext>
            </a:extLst>
          </p:cNvPr>
          <p:cNvSpPr/>
          <p:nvPr/>
        </p:nvSpPr>
        <p:spPr>
          <a:xfrm>
            <a:off x="502920" y="2724912"/>
            <a:ext cx="5486400" cy="950976"/>
          </a:xfrm>
          <a:prstGeom prst="roundRect">
            <a:avLst>
              <a:gd name="adj" fmla="val 4808"/>
            </a:avLst>
          </a:prstGeom>
          <a:solidFill>
            <a:srgbClr val="F2F2F2"/>
          </a:solidFill>
          <a:ln/>
        </p:spPr>
      </p:sp>
      <p:sp>
        <p:nvSpPr>
          <p:cNvPr id="13" name="Text 6">
            <a:extLst>
              <a:ext uri="{FF2B5EF4-FFF2-40B4-BE49-F238E27FC236}">
                <a16:creationId xmlns:a16="http://schemas.microsoft.com/office/drawing/2014/main" id="{FEB6C8D5-537D-4A47-9FE3-2772CAF502C2}"/>
              </a:ext>
            </a:extLst>
          </p:cNvPr>
          <p:cNvSpPr/>
          <p:nvPr/>
        </p:nvSpPr>
        <p:spPr>
          <a:xfrm>
            <a:off x="704088" y="2788920"/>
            <a:ext cx="5120640" cy="841248"/>
          </a:xfrm>
          <a:prstGeom prst="rect">
            <a:avLst/>
          </a:prstGeom>
          <a:noFill/>
          <a:ln/>
        </p:spPr>
        <p:txBody>
          <a:bodyPr wrap="square" lIns="0" tIns="0" rIns="0" bIns="0" rtlCol="0" anchor="t"/>
          <a:lstStyle/>
          <a:p>
            <a:pPr marL="0" indent="0">
              <a:lnSpc>
                <a:spcPct val="102000"/>
              </a:lnSpc>
              <a:buNone/>
            </a:pPr>
            <a:r>
              <a:rPr lang="en-US" sz="1600" b="1" dirty="0">
                <a:solidFill>
                  <a:srgbClr val="E31836"/>
                </a:solidFill>
                <a:latin typeface="Calibri" pitchFamily="34" charset="0"/>
                <a:ea typeface="Calibri" pitchFamily="34" charset="-122"/>
                <a:cs typeface="Calibri" pitchFamily="34" charset="-120"/>
              </a:rPr>
              <a:t>1. Observability</a:t>
            </a:r>
            <a:r>
              <a:rPr lang="en-US" sz="1400" dirty="0">
                <a:solidFill>
                  <a:srgbClr val="222222"/>
                </a:solidFill>
                <a:latin typeface="Calibri" pitchFamily="34" charset="0"/>
                <a:ea typeface="Calibri" pitchFamily="34" charset="-122"/>
                <a:cs typeface="Calibri" pitchFamily="34" charset="-120"/>
              </a:rPr>
              <a:t>Computable from what sensors and reports actually deliver — never from hidden simulator state.</a:t>
            </a:r>
            <a:endParaRPr lang="en-US" sz="1600" dirty="0"/>
          </a:p>
        </p:txBody>
      </p:sp>
      <p:sp>
        <p:nvSpPr>
          <p:cNvPr id="14" name="Shape 7">
            <a:extLst>
              <a:ext uri="{FF2B5EF4-FFF2-40B4-BE49-F238E27FC236}">
                <a16:creationId xmlns:a16="http://schemas.microsoft.com/office/drawing/2014/main" id="{8DC0E5A2-5C77-4DDB-83CC-FB161B4811E1}"/>
              </a:ext>
            </a:extLst>
          </p:cNvPr>
          <p:cNvSpPr/>
          <p:nvPr/>
        </p:nvSpPr>
        <p:spPr>
          <a:xfrm>
            <a:off x="6217920" y="2724912"/>
            <a:ext cx="5486400" cy="950976"/>
          </a:xfrm>
          <a:prstGeom prst="roundRect">
            <a:avLst>
              <a:gd name="adj" fmla="val 4808"/>
            </a:avLst>
          </a:prstGeom>
          <a:solidFill>
            <a:srgbClr val="F2F2F2"/>
          </a:solidFill>
          <a:ln/>
        </p:spPr>
      </p:sp>
      <p:sp>
        <p:nvSpPr>
          <p:cNvPr id="15" name="Text 8">
            <a:extLst>
              <a:ext uri="{FF2B5EF4-FFF2-40B4-BE49-F238E27FC236}">
                <a16:creationId xmlns:a16="http://schemas.microsoft.com/office/drawing/2014/main" id="{FFCAB5AF-DD03-4F30-B56C-21715853261D}"/>
              </a:ext>
            </a:extLst>
          </p:cNvPr>
          <p:cNvSpPr/>
          <p:nvPr/>
        </p:nvSpPr>
        <p:spPr>
          <a:xfrm>
            <a:off x="6419088" y="2788920"/>
            <a:ext cx="5120640" cy="841248"/>
          </a:xfrm>
          <a:prstGeom prst="rect">
            <a:avLst/>
          </a:prstGeom>
          <a:noFill/>
          <a:ln/>
        </p:spPr>
        <p:txBody>
          <a:bodyPr wrap="square" lIns="0" tIns="0" rIns="0" bIns="0" rtlCol="0" anchor="t"/>
          <a:lstStyle/>
          <a:p>
            <a:pPr marL="0" indent="0">
              <a:lnSpc>
                <a:spcPct val="102000"/>
              </a:lnSpc>
              <a:buNone/>
            </a:pPr>
            <a:r>
              <a:rPr lang="en-US" sz="1600" b="1" dirty="0">
                <a:solidFill>
                  <a:srgbClr val="E31836"/>
                </a:solidFill>
                <a:latin typeface="Calibri" pitchFamily="34" charset="0"/>
                <a:ea typeface="Calibri" pitchFamily="34" charset="-122"/>
                <a:cs typeface="Calibri" pitchFamily="34" charset="-120"/>
              </a:rPr>
              <a:t>2. Boundedness</a:t>
            </a:r>
            <a:r>
              <a:rPr lang="en-US" sz="1400" dirty="0">
                <a:solidFill>
                  <a:srgbClr val="222222"/>
                </a:solidFill>
                <a:latin typeface="Calibri" pitchFamily="34" charset="0"/>
                <a:ea typeface="Calibri" pitchFamily="34" charset="-122"/>
                <a:cs typeface="Calibri" pitchFamily="34" charset="-120"/>
              </a:rPr>
              <a:t>Admits normalization to a fixed interval, so membership functions remain stable across scenarios.</a:t>
            </a:r>
            <a:endParaRPr lang="en-US" sz="1600" dirty="0"/>
          </a:p>
        </p:txBody>
      </p:sp>
      <p:sp>
        <p:nvSpPr>
          <p:cNvPr id="16" name="Shape 9">
            <a:extLst>
              <a:ext uri="{FF2B5EF4-FFF2-40B4-BE49-F238E27FC236}">
                <a16:creationId xmlns:a16="http://schemas.microsoft.com/office/drawing/2014/main" id="{D447FBF1-CF32-4BAB-B3D5-918FE552E4CE}"/>
              </a:ext>
            </a:extLst>
          </p:cNvPr>
          <p:cNvSpPr/>
          <p:nvPr/>
        </p:nvSpPr>
        <p:spPr>
          <a:xfrm>
            <a:off x="502920" y="3803904"/>
            <a:ext cx="5486400" cy="950976"/>
          </a:xfrm>
          <a:prstGeom prst="roundRect">
            <a:avLst>
              <a:gd name="adj" fmla="val 4808"/>
            </a:avLst>
          </a:prstGeom>
          <a:solidFill>
            <a:srgbClr val="F2F2F2"/>
          </a:solidFill>
          <a:ln/>
        </p:spPr>
      </p:sp>
      <p:sp>
        <p:nvSpPr>
          <p:cNvPr id="17" name="Text 10">
            <a:extLst>
              <a:ext uri="{FF2B5EF4-FFF2-40B4-BE49-F238E27FC236}">
                <a16:creationId xmlns:a16="http://schemas.microsoft.com/office/drawing/2014/main" id="{C48D936C-08C8-4628-8FD8-CA78FA836391}"/>
              </a:ext>
            </a:extLst>
          </p:cNvPr>
          <p:cNvSpPr/>
          <p:nvPr/>
        </p:nvSpPr>
        <p:spPr>
          <a:xfrm>
            <a:off x="704088" y="3867912"/>
            <a:ext cx="5120640" cy="841248"/>
          </a:xfrm>
          <a:prstGeom prst="rect">
            <a:avLst/>
          </a:prstGeom>
          <a:noFill/>
          <a:ln/>
        </p:spPr>
        <p:txBody>
          <a:bodyPr wrap="square" lIns="0" tIns="0" rIns="0" bIns="0" rtlCol="0" anchor="t"/>
          <a:lstStyle/>
          <a:p>
            <a:pPr marL="0" indent="0">
              <a:lnSpc>
                <a:spcPct val="102000"/>
              </a:lnSpc>
              <a:buNone/>
            </a:pPr>
            <a:r>
              <a:rPr lang="en-US" sz="1600" b="1" dirty="0">
                <a:solidFill>
                  <a:srgbClr val="E31836"/>
                </a:solidFill>
                <a:latin typeface="Calibri" pitchFamily="34" charset="0"/>
                <a:ea typeface="Calibri" pitchFamily="34" charset="-122"/>
                <a:cs typeface="Calibri" pitchFamily="34" charset="-120"/>
              </a:rPr>
              <a:t>3. Operational meaning</a:t>
            </a:r>
            <a:r>
              <a:rPr lang="en-US" sz="1400" dirty="0">
                <a:solidFill>
                  <a:srgbClr val="222222"/>
                </a:solidFill>
                <a:latin typeface="Calibri" pitchFamily="34" charset="0"/>
                <a:ea typeface="Calibri" pitchFamily="34" charset="-122"/>
                <a:cs typeface="Calibri" pitchFamily="34" charset="-120"/>
              </a:rPr>
              <a:t>An expert can read it and phrase rules over it without translation.</a:t>
            </a:r>
            <a:endParaRPr lang="en-US" sz="1600" dirty="0"/>
          </a:p>
        </p:txBody>
      </p:sp>
      <p:sp>
        <p:nvSpPr>
          <p:cNvPr id="18" name="Shape 11">
            <a:extLst>
              <a:ext uri="{FF2B5EF4-FFF2-40B4-BE49-F238E27FC236}">
                <a16:creationId xmlns:a16="http://schemas.microsoft.com/office/drawing/2014/main" id="{F889E1EC-D26E-4FF2-9B9F-6CDF4C9A8498}"/>
              </a:ext>
            </a:extLst>
          </p:cNvPr>
          <p:cNvSpPr/>
          <p:nvPr/>
        </p:nvSpPr>
        <p:spPr>
          <a:xfrm>
            <a:off x="6217920" y="3803904"/>
            <a:ext cx="5486400" cy="950976"/>
          </a:xfrm>
          <a:prstGeom prst="roundRect">
            <a:avLst>
              <a:gd name="adj" fmla="val 4808"/>
            </a:avLst>
          </a:prstGeom>
          <a:solidFill>
            <a:srgbClr val="F2F2F2"/>
          </a:solidFill>
          <a:ln/>
        </p:spPr>
      </p:sp>
      <p:sp>
        <p:nvSpPr>
          <p:cNvPr id="19" name="Text 12">
            <a:extLst>
              <a:ext uri="{FF2B5EF4-FFF2-40B4-BE49-F238E27FC236}">
                <a16:creationId xmlns:a16="http://schemas.microsoft.com/office/drawing/2014/main" id="{8F5C1560-826A-4CCF-8A74-65C394F6C1D1}"/>
              </a:ext>
            </a:extLst>
          </p:cNvPr>
          <p:cNvSpPr/>
          <p:nvPr/>
        </p:nvSpPr>
        <p:spPr>
          <a:xfrm>
            <a:off x="6419088" y="3867912"/>
            <a:ext cx="5120640" cy="841248"/>
          </a:xfrm>
          <a:prstGeom prst="rect">
            <a:avLst/>
          </a:prstGeom>
          <a:noFill/>
          <a:ln/>
        </p:spPr>
        <p:txBody>
          <a:bodyPr wrap="square" lIns="0" tIns="0" rIns="0" bIns="0" rtlCol="0" anchor="t"/>
          <a:lstStyle/>
          <a:p>
            <a:pPr marL="0" indent="0">
              <a:lnSpc>
                <a:spcPct val="102000"/>
              </a:lnSpc>
              <a:buNone/>
            </a:pPr>
            <a:r>
              <a:rPr lang="en-US" sz="1600" b="1" dirty="0">
                <a:solidFill>
                  <a:srgbClr val="E31836"/>
                </a:solidFill>
                <a:latin typeface="Calibri" pitchFamily="34" charset="0"/>
                <a:ea typeface="Calibri" pitchFamily="34" charset="-122"/>
                <a:cs typeface="Calibri" pitchFamily="34" charset="-120"/>
              </a:rPr>
              <a:t>4. Non-redundancy</a:t>
            </a:r>
            <a:r>
              <a:rPr lang="en-US" sz="1400" dirty="0">
                <a:solidFill>
                  <a:srgbClr val="222222"/>
                </a:solidFill>
                <a:latin typeface="Calibri" pitchFamily="34" charset="0"/>
                <a:ea typeface="Calibri" pitchFamily="34" charset="-122"/>
                <a:cs typeface="Calibri" pitchFamily="34" charset="-120"/>
              </a:rPr>
              <a:t>Contributes discriminative information the remaining features do not already carry.</a:t>
            </a:r>
            <a:endParaRPr lang="en-US" sz="1600" dirty="0"/>
          </a:p>
        </p:txBody>
      </p:sp>
      <p:sp>
        <p:nvSpPr>
          <p:cNvPr id="20" name="Shape 13">
            <a:extLst>
              <a:ext uri="{FF2B5EF4-FFF2-40B4-BE49-F238E27FC236}">
                <a16:creationId xmlns:a16="http://schemas.microsoft.com/office/drawing/2014/main" id="{0492C28F-A8A9-4D81-A41C-A2E7F5CC81DB}"/>
              </a:ext>
            </a:extLst>
          </p:cNvPr>
          <p:cNvSpPr/>
          <p:nvPr/>
        </p:nvSpPr>
        <p:spPr>
          <a:xfrm>
            <a:off x="502920" y="4983480"/>
            <a:ext cx="11201400" cy="1776134"/>
          </a:xfrm>
          <a:prstGeom prst="roundRect">
            <a:avLst>
              <a:gd name="adj" fmla="val 3226"/>
            </a:avLst>
          </a:prstGeom>
          <a:solidFill>
            <a:srgbClr val="FDE8EB"/>
          </a:solidFill>
          <a:ln/>
        </p:spPr>
      </p:sp>
      <p:sp>
        <p:nvSpPr>
          <p:cNvPr id="21" name="Text 14">
            <a:extLst>
              <a:ext uri="{FF2B5EF4-FFF2-40B4-BE49-F238E27FC236}">
                <a16:creationId xmlns:a16="http://schemas.microsoft.com/office/drawing/2014/main" id="{675DE529-4225-4C2D-BE9B-0FC1B5D2D304}"/>
              </a:ext>
            </a:extLst>
          </p:cNvPr>
          <p:cNvSpPr/>
          <p:nvPr/>
        </p:nvSpPr>
        <p:spPr>
          <a:xfrm>
            <a:off x="777240" y="5074919"/>
            <a:ext cx="10698480" cy="1684695"/>
          </a:xfrm>
          <a:prstGeom prst="rect">
            <a:avLst/>
          </a:prstGeom>
          <a:noFill/>
          <a:ln/>
        </p:spPr>
        <p:txBody>
          <a:bodyPr wrap="square" lIns="0" tIns="0" rIns="0" bIns="0" rtlCol="0" anchor="t"/>
          <a:lstStyle/>
          <a:p>
            <a:pPr>
              <a:lnSpc>
                <a:spcPct val="106000"/>
              </a:lnSpc>
            </a:pPr>
            <a:r>
              <a:rPr lang="en-US" b="1" dirty="0">
                <a:solidFill>
                  <a:srgbClr val="000000"/>
                </a:solidFill>
                <a:latin typeface="Calibri" pitchFamily="34" charset="0"/>
                <a:ea typeface="Calibri" pitchFamily="34" charset="-122"/>
                <a:cs typeface="Calibri" pitchFamily="34" charset="-120"/>
              </a:rPr>
              <a:t>Why </a:t>
            </a:r>
            <a:r>
              <a:rPr lang="tr-TR" b="1" dirty="0">
                <a:solidFill>
                  <a:srgbClr val="000000"/>
                </a:solidFill>
                <a:latin typeface="Calibri" pitchFamily="34" charset="0"/>
                <a:ea typeface="Calibri" pitchFamily="34" charset="-122"/>
                <a:cs typeface="Calibri" pitchFamily="34" charset="-120"/>
              </a:rPr>
              <a:t>10 </a:t>
            </a:r>
            <a:r>
              <a:rPr lang="tr-TR" b="1" dirty="0" err="1">
                <a:solidFill>
                  <a:srgbClr val="000000"/>
                </a:solidFill>
                <a:latin typeface="Calibri" pitchFamily="34" charset="0"/>
                <a:ea typeface="Calibri" pitchFamily="34" charset="-122"/>
                <a:cs typeface="Calibri" pitchFamily="34" charset="-120"/>
              </a:rPr>
              <a:t>feature</a:t>
            </a:r>
            <a:r>
              <a:rPr lang="tr-TR" b="1" dirty="0">
                <a:solidFill>
                  <a:srgbClr val="000000"/>
                </a:solidFill>
                <a:latin typeface="Calibri" pitchFamily="34" charset="0"/>
                <a:ea typeface="Calibri" pitchFamily="34" charset="-122"/>
                <a:cs typeface="Calibri" pitchFamily="34" charset="-120"/>
              </a:rPr>
              <a:t> set</a:t>
            </a:r>
            <a:r>
              <a:rPr lang="en-US" b="1" dirty="0">
                <a:solidFill>
                  <a:srgbClr val="000000"/>
                </a:solidFill>
                <a:latin typeface="Calibri" pitchFamily="34" charset="0"/>
                <a:ea typeface="Calibri" pitchFamily="34" charset="-122"/>
                <a:cs typeface="Calibri" pitchFamily="34" charset="-120"/>
              </a:rPr>
              <a:t> is sufficient</a:t>
            </a:r>
            <a:r>
              <a:rPr lang="tr-TR" b="1" dirty="0">
                <a:solidFill>
                  <a:srgbClr val="000000"/>
                </a:solidFill>
                <a:latin typeface="Calibri" pitchFamily="34" charset="0"/>
                <a:ea typeface="Calibri" pitchFamily="34" charset="-122"/>
                <a:cs typeface="Calibri" pitchFamily="34" charset="-120"/>
              </a:rPr>
              <a:t>?</a:t>
            </a:r>
          </a:p>
          <a:p>
            <a:pPr marL="285750" indent="-285750">
              <a:lnSpc>
                <a:spcPct val="106000"/>
              </a:lnSpc>
              <a:buFont typeface="Arial" panose="020B0604020202020204" pitchFamily="34" charset="0"/>
              <a:buChar char="•"/>
            </a:pPr>
            <a:r>
              <a:rPr lang="en-US" sz="1600" dirty="0">
                <a:solidFill>
                  <a:srgbClr val="222222"/>
                </a:solidFill>
                <a:latin typeface="Calibri" pitchFamily="34" charset="0"/>
                <a:ea typeface="Calibri" pitchFamily="34" charset="-122"/>
                <a:cs typeface="Calibri" pitchFamily="34" charset="-120"/>
              </a:rPr>
              <a:t>Coverage</a:t>
            </a:r>
            <a:r>
              <a:rPr lang="tr-TR" sz="1600" dirty="0">
                <a:solidFill>
                  <a:srgbClr val="222222"/>
                </a:solidFill>
                <a:latin typeface="Calibri" pitchFamily="34" charset="0"/>
                <a:ea typeface="Calibri" pitchFamily="34" charset="-122"/>
                <a:cs typeface="Calibri" pitchFamily="34" charset="-120"/>
              </a:rPr>
              <a:t>: E</a:t>
            </a:r>
            <a:r>
              <a:rPr lang="en-US" sz="1600" dirty="0">
                <a:solidFill>
                  <a:srgbClr val="222222"/>
                </a:solidFill>
                <a:latin typeface="Calibri" pitchFamily="34" charset="0"/>
                <a:ea typeface="Calibri" pitchFamily="34" charset="-122"/>
                <a:cs typeface="Calibri" pitchFamily="34" charset="-120"/>
              </a:rPr>
              <a:t>very operational question has a supporting feature</a:t>
            </a:r>
            <a:endParaRPr lang="tr-TR" sz="1600" dirty="0">
              <a:solidFill>
                <a:srgbClr val="222222"/>
              </a:solidFill>
              <a:latin typeface="Calibri" pitchFamily="34" charset="0"/>
              <a:ea typeface="Calibri" pitchFamily="34" charset="-122"/>
              <a:cs typeface="Calibri" pitchFamily="34" charset="-120"/>
            </a:endParaRPr>
          </a:p>
          <a:p>
            <a:pPr marL="285750" indent="-285750">
              <a:lnSpc>
                <a:spcPct val="106000"/>
              </a:lnSpc>
              <a:buFont typeface="Arial" panose="020B0604020202020204" pitchFamily="34" charset="0"/>
              <a:buChar char="•"/>
            </a:pPr>
            <a:r>
              <a:rPr lang="en-US" sz="1600" dirty="0">
                <a:solidFill>
                  <a:srgbClr val="222222"/>
                </a:solidFill>
                <a:latin typeface="Calibri" pitchFamily="34" charset="0"/>
                <a:ea typeface="Calibri" pitchFamily="34" charset="-122"/>
                <a:cs typeface="Calibri" pitchFamily="34" charset="-120"/>
              </a:rPr>
              <a:t>Grounding</a:t>
            </a:r>
            <a:r>
              <a:rPr lang="tr-TR" sz="1600" dirty="0">
                <a:solidFill>
                  <a:srgbClr val="222222"/>
                </a:solidFill>
                <a:latin typeface="Calibri" pitchFamily="34" charset="0"/>
                <a:ea typeface="Calibri" pitchFamily="34" charset="-122"/>
                <a:cs typeface="Calibri" pitchFamily="34" charset="-120"/>
              </a:rPr>
              <a:t>: E</a:t>
            </a:r>
            <a:r>
              <a:rPr lang="en-US" sz="1600" dirty="0">
                <a:solidFill>
                  <a:srgbClr val="222222"/>
                </a:solidFill>
                <a:latin typeface="Calibri" pitchFamily="34" charset="0"/>
                <a:ea typeface="Calibri" pitchFamily="34" charset="-122"/>
                <a:cs typeface="Calibri" pitchFamily="34" charset="-120"/>
              </a:rPr>
              <a:t>ach feature rests on cited wildfire science</a:t>
            </a:r>
            <a:endParaRPr lang="tr-TR" sz="1600" dirty="0">
              <a:solidFill>
                <a:srgbClr val="222222"/>
              </a:solidFill>
              <a:latin typeface="Calibri" pitchFamily="34" charset="0"/>
              <a:ea typeface="Calibri" pitchFamily="34" charset="-122"/>
              <a:cs typeface="Calibri" pitchFamily="34" charset="-120"/>
            </a:endParaRPr>
          </a:p>
          <a:p>
            <a:pPr marL="285750" indent="-285750">
              <a:lnSpc>
                <a:spcPct val="106000"/>
              </a:lnSpc>
              <a:buFont typeface="Arial" panose="020B0604020202020204" pitchFamily="34" charset="0"/>
              <a:buChar char="•"/>
            </a:pPr>
            <a:r>
              <a:rPr lang="en-US" sz="1600" dirty="0">
                <a:solidFill>
                  <a:srgbClr val="222222"/>
                </a:solidFill>
                <a:latin typeface="Calibri" pitchFamily="34" charset="0"/>
                <a:ea typeface="Calibri" pitchFamily="34" charset="-122"/>
                <a:cs typeface="Calibri" pitchFamily="34" charset="-120"/>
              </a:rPr>
              <a:t>Non-duplication</a:t>
            </a:r>
            <a:r>
              <a:rPr lang="tr-TR" sz="1600"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a:t>
            </a:r>
            <a:r>
              <a:rPr lang="tr-TR" sz="1600" dirty="0">
                <a:solidFill>
                  <a:srgbClr val="222222"/>
                </a:solidFill>
                <a:latin typeface="Calibri" pitchFamily="34" charset="0"/>
                <a:ea typeface="Calibri" pitchFamily="34" charset="-122"/>
                <a:cs typeface="Calibri" pitchFamily="34" charset="-120"/>
              </a:rPr>
              <a:t>N</a:t>
            </a:r>
            <a:r>
              <a:rPr lang="en-US" sz="1600" dirty="0">
                <a:solidFill>
                  <a:srgbClr val="222222"/>
                </a:solidFill>
                <a:latin typeface="Calibri" pitchFamily="34" charset="0"/>
                <a:ea typeface="Calibri" pitchFamily="34" charset="-122"/>
                <a:cs typeface="Calibri" pitchFamily="34" charset="-120"/>
              </a:rPr>
              <a:t>o feature repeats information carried by another. </a:t>
            </a:r>
            <a:endParaRPr lang="tr-TR" sz="1600" dirty="0">
              <a:solidFill>
                <a:srgbClr val="222222"/>
              </a:solidFill>
              <a:latin typeface="Calibri" pitchFamily="34" charset="0"/>
              <a:ea typeface="Calibri" pitchFamily="34" charset="-122"/>
              <a:cs typeface="Calibri" pitchFamily="34" charset="-120"/>
            </a:endParaRPr>
          </a:p>
        </p:txBody>
      </p:sp>
      <p:pic>
        <p:nvPicPr>
          <p:cNvPr id="24" name="Image 0" descr="/tmp/thx/deck/figs/Figure4_1.png">
            <a:extLst>
              <a:ext uri="{FF2B5EF4-FFF2-40B4-BE49-F238E27FC236}">
                <a16:creationId xmlns:a16="http://schemas.microsoft.com/office/drawing/2014/main" id="{0DA6E29E-38A2-46C6-ABE5-64B754FC135E}"/>
              </a:ext>
            </a:extLst>
          </p:cNvPr>
          <p:cNvPicPr>
            <a:picLocks noChangeAspect="1"/>
          </p:cNvPicPr>
          <p:nvPr/>
        </p:nvPicPr>
        <p:blipFill>
          <a:blip r:embed="rId6"/>
          <a:stretch>
            <a:fillRect/>
          </a:stretch>
        </p:blipFill>
        <p:spPr>
          <a:xfrm>
            <a:off x="2231" y="8254"/>
            <a:ext cx="136665" cy="229622"/>
          </a:xfrm>
          <a:prstGeom prst="rect">
            <a:avLst/>
          </a:prstGeom>
        </p:spPr>
      </p:pic>
      <p:sp>
        <p:nvSpPr>
          <p:cNvPr id="90003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35 / 113</a:t>
            </a:r>
          </a:p>
        </p:txBody>
      </p:sp>
    </p:spTree>
    <p:extLst>
      <p:ext uri="{BB962C8B-B14F-4D97-AF65-F5344CB8AC3E}">
        <p14:creationId xmlns:p14="http://schemas.microsoft.com/office/powerpoint/2010/main" val="4204625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3 : </a:t>
            </a:r>
            <a:r>
              <a:rPr lang="en-US" sz="1600" b="1" dirty="0">
                <a:solidFill>
                  <a:srgbClr val="222222"/>
                </a:solidFill>
                <a:highlight>
                  <a:srgbClr val="C0C0C0"/>
                </a:highlight>
                <a:latin typeface="Calibri" pitchFamily="34" charset="0"/>
                <a:ea typeface="Calibri" pitchFamily="34" charset="-122"/>
                <a:cs typeface="Calibri" pitchFamily="34" charset="-120"/>
              </a:rPr>
              <a:t>Concept space</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hierarchical fuzzification into five decision concepts</a:t>
            </a:r>
            <a:endParaRPr lang="en-US" sz="1600" dirty="0">
              <a:highlight>
                <a:srgbClr val="C0C0C0"/>
              </a:highlight>
            </a:endParaRPr>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4 : </a:t>
            </a:r>
            <a:r>
              <a:rPr lang="en-US" sz="1600" b="1" dirty="0">
                <a:solidFill>
                  <a:srgbClr val="222222"/>
                </a:solidFill>
                <a:latin typeface="Calibri" pitchFamily="34" charset="0"/>
                <a:ea typeface="Calibri" pitchFamily="34" charset="-122"/>
                <a:cs typeface="Calibri" pitchFamily="34" charset="-120"/>
              </a:rPr>
              <a:t>Decision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rules, satisficing tests, staged adaptation, fail-safe</a:t>
            </a:r>
            <a:endParaRPr lang="en-US" sz="1600" dirty="0"/>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3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36 / 113</a:t>
            </a:r>
          </a:p>
        </p:txBody>
      </p:sp>
    </p:spTree>
    <p:extLst>
      <p:ext uri="{BB962C8B-B14F-4D97-AF65-F5344CB8AC3E}">
        <p14:creationId xmlns:p14="http://schemas.microsoft.com/office/powerpoint/2010/main" val="1051466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 Killing the Rule Explosion</a:t>
            </a:r>
            <a:endParaRPr lang="en-US" sz="2900" dirty="0"/>
          </a:p>
        </p:txBody>
      </p:sp>
      <mc:AlternateContent xmlns:mc="http://schemas.openxmlformats.org/markup-compatibility/2006" xmlns:a14="http://schemas.microsoft.com/office/drawing/2010/main">
        <mc:Choice Requires="a14">
          <p:sp>
            <p:nvSpPr>
              <p:cNvPr id="5" name="Text 2"/>
              <p:cNvSpPr/>
              <p:nvPr/>
            </p:nvSpPr>
            <p:spPr>
              <a:xfrm>
                <a:off x="6949440" y="1554480"/>
                <a:ext cx="237744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p>
                        <m:sSupPr>
                          <m:ctrlPr>
                            <a:rPr lang="en-US" sz="2800" b="1" i="1" dirty="0" smtClean="0">
                              <a:solidFill>
                                <a:srgbClr val="6E6E6E"/>
                              </a:solidFill>
                              <a:latin typeface="Cambria Math" panose="02040503050406030204" pitchFamily="18" charset="0"/>
                              <a:ea typeface="Cambria" pitchFamily="34" charset="-122"/>
                              <a:cs typeface="Cambria" pitchFamily="34" charset="-120"/>
                            </a:rPr>
                          </m:ctrlPr>
                        </m:sSupPr>
                        <m:e>
                          <m:r>
                            <a:rPr lang="en-US" sz="2800" b="1" i="1" dirty="0" smtClean="0">
                              <a:solidFill>
                                <a:srgbClr val="6E6E6E"/>
                              </a:solidFill>
                              <a:latin typeface="Cambria Math" panose="02040503050406030204" pitchFamily="18" charset="0"/>
                              <a:ea typeface="Cambria" pitchFamily="34" charset="-122"/>
                              <a:cs typeface="Cambria" pitchFamily="34" charset="-120"/>
                            </a:rPr>
                            <m:t>𝟓</m:t>
                          </m:r>
                        </m:e>
                        <m:sup>
                          <m:r>
                            <a:rPr lang="en-US" sz="2800" b="1" i="1" dirty="0" smtClean="0">
                              <a:solidFill>
                                <a:srgbClr val="6E6E6E"/>
                              </a:solidFill>
                              <a:latin typeface="Cambria Math" panose="02040503050406030204" pitchFamily="18" charset="0"/>
                              <a:ea typeface="Cambria" pitchFamily="34" charset="-122"/>
                              <a:cs typeface="Cambria" pitchFamily="34" charset="-120"/>
                            </a:rPr>
                            <m:t>𝟏𝟎</m:t>
                          </m:r>
                        </m:sup>
                      </m:sSup>
                      <m:r>
                        <a:rPr lang="en-US" sz="2800" b="1" i="1" dirty="0" smtClean="0">
                          <a:solidFill>
                            <a:srgbClr val="6E6E6E"/>
                          </a:solidFill>
                          <a:latin typeface="Cambria Math" panose="02040503050406030204" pitchFamily="18" charset="0"/>
                          <a:ea typeface="Cambria" pitchFamily="34" charset="-122"/>
                          <a:cs typeface="Cambria" pitchFamily="34" charset="-120"/>
                        </a:rPr>
                        <m:t> = </m:t>
                      </m:r>
                      <m:r>
                        <a:rPr lang="en-US" sz="2800" b="1" i="1" dirty="0" smtClean="0">
                          <a:solidFill>
                            <a:srgbClr val="6E6E6E"/>
                          </a:solidFill>
                          <a:latin typeface="Cambria Math" panose="02040503050406030204" pitchFamily="18" charset="0"/>
                          <a:ea typeface="Cambria" pitchFamily="34" charset="-122"/>
                          <a:cs typeface="Cambria" pitchFamily="34" charset="-120"/>
                        </a:rPr>
                        <m:t>𝟗</m:t>
                      </m:r>
                      <m:r>
                        <a:rPr lang="en-US" sz="2800" b="1" i="1" dirty="0" smtClean="0">
                          <a:solidFill>
                            <a:srgbClr val="6E6E6E"/>
                          </a:solidFill>
                          <a:latin typeface="Cambria Math" panose="02040503050406030204" pitchFamily="18" charset="0"/>
                          <a:ea typeface="Cambria" pitchFamily="34" charset="-122"/>
                          <a:cs typeface="Cambria" pitchFamily="34" charset="-120"/>
                        </a:rPr>
                        <m:t>.</m:t>
                      </m:r>
                      <m:r>
                        <a:rPr lang="en-US" sz="2800" b="1" i="1" dirty="0" smtClean="0">
                          <a:solidFill>
                            <a:srgbClr val="6E6E6E"/>
                          </a:solidFill>
                          <a:latin typeface="Cambria Math" panose="02040503050406030204" pitchFamily="18" charset="0"/>
                          <a:ea typeface="Cambria" pitchFamily="34" charset="-122"/>
                          <a:cs typeface="Cambria" pitchFamily="34" charset="-120"/>
                        </a:rPr>
                        <m:t>𝟖</m:t>
                      </m:r>
                      <m:r>
                        <a:rPr lang="en-US" sz="2800" b="1" i="1" dirty="0" smtClean="0">
                          <a:solidFill>
                            <a:srgbClr val="6E6E6E"/>
                          </a:solidFill>
                          <a:latin typeface="Cambria Math" panose="02040503050406030204" pitchFamily="18" charset="0"/>
                          <a:ea typeface="Cambria" pitchFamily="34" charset="-122"/>
                          <a:cs typeface="Cambria" pitchFamily="34" charset="-120"/>
                        </a:rPr>
                        <m:t> </m:t>
                      </m:r>
                      <m:r>
                        <a:rPr lang="en-US" sz="2800" b="1" i="1" dirty="0">
                          <a:solidFill>
                            <a:srgbClr val="6E6E6E"/>
                          </a:solidFill>
                          <a:latin typeface="Cambria Math" panose="02040503050406030204" pitchFamily="18" charset="0"/>
                          <a:ea typeface="Cambria" pitchFamily="34" charset="-122"/>
                          <a:cs typeface="Cambria" pitchFamily="34" charset="-120"/>
                        </a:rPr>
                        <m:t>𝑴</m:t>
                      </m:r>
                    </m:oMath>
                  </m:oMathPara>
                </a14:m>
                <a:endParaRPr lang="en-US" sz="2800" dirty="0"/>
              </a:p>
            </p:txBody>
          </p:sp>
        </mc:Choice>
        <mc:Fallback xmlns="">
          <p:sp>
            <p:nvSpPr>
              <p:cNvPr id="5" name="Text 2"/>
              <p:cNvSpPr>
                <a:spLocks noRot="1" noChangeAspect="1" noMove="1" noResize="1" noEditPoints="1" noAdjustHandles="1" noChangeArrowheads="1" noChangeShapeType="1" noTextEdit="1"/>
              </p:cNvSpPr>
              <p:nvPr/>
            </p:nvSpPr>
            <p:spPr>
              <a:xfrm>
                <a:off x="6949440" y="1554480"/>
                <a:ext cx="2377440" cy="777240"/>
              </a:xfrm>
              <a:prstGeom prst="rect">
                <a:avLst/>
              </a:prstGeom>
              <a:blipFill>
                <a:blip r:embed="rId3"/>
                <a:stretch>
                  <a:fillRect/>
                </a:stretch>
              </a:blipFill>
              <a:ln/>
            </p:spPr>
            <p:txBody>
              <a:bodyPr/>
              <a:lstStyle/>
              <a:p>
                <a:r>
                  <a:rPr lang="tr-TR">
                    <a:noFill/>
                  </a:rPr>
                  <a:t/>
                </a:r>
              </a:p>
            </p:txBody>
          </p:sp>
        </mc:Fallback>
      </mc:AlternateContent>
      <p:sp>
        <p:nvSpPr>
          <p:cNvPr id="6" name="Text 3"/>
          <p:cNvSpPr/>
          <p:nvPr/>
        </p:nvSpPr>
        <p:spPr>
          <a:xfrm>
            <a:off x="6949440" y="2331720"/>
            <a:ext cx="2377440" cy="594360"/>
          </a:xfrm>
          <a:prstGeom prst="rect">
            <a:avLst/>
          </a:prstGeom>
          <a:noFill/>
          <a:ln/>
        </p:spPr>
        <p:txBody>
          <a:bodyPr wrap="square" lIns="0" tIns="0" rIns="0" bIns="0" rtlCol="0" anchor="ctr"/>
          <a:lstStyle/>
          <a:p>
            <a:pPr marL="0" indent="0" algn="ctr">
              <a:buNone/>
            </a:pPr>
            <a:r>
              <a:rPr lang="en-US" sz="1400" dirty="0">
                <a:solidFill>
                  <a:srgbClr val="222222"/>
                </a:solidFill>
                <a:latin typeface="Calibri" pitchFamily="34" charset="0"/>
                <a:ea typeface="Calibri" pitchFamily="34" charset="-122"/>
                <a:cs typeface="Calibri" pitchFamily="34" charset="-120"/>
              </a:rPr>
              <a:t>flat rule combinations over 10 features × 5 terms</a:t>
            </a:r>
            <a:endParaRPr lang="en-US" sz="1400" dirty="0"/>
          </a:p>
        </p:txBody>
      </p:sp>
      <mc:AlternateContent xmlns:mc="http://schemas.openxmlformats.org/markup-compatibility/2006" xmlns:a14="http://schemas.microsoft.com/office/drawing/2010/main">
        <mc:Choice Requires="a14">
          <p:sp>
            <p:nvSpPr>
              <p:cNvPr id="7" name="Text 4"/>
              <p:cNvSpPr/>
              <p:nvPr/>
            </p:nvSpPr>
            <p:spPr>
              <a:xfrm>
                <a:off x="9372600" y="1554480"/>
                <a:ext cx="237744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p>
                        <m:sSupPr>
                          <m:ctrlPr>
                            <a:rPr lang="en-US" sz="3200" b="1" i="1" dirty="0" smtClean="0">
                              <a:solidFill>
                                <a:srgbClr val="E31836"/>
                              </a:solidFill>
                              <a:latin typeface="Cambria Math" panose="02040503050406030204" pitchFamily="18" charset="0"/>
                              <a:ea typeface="Cambria" pitchFamily="34" charset="-122"/>
                              <a:cs typeface="Cambria" pitchFamily="34" charset="-120"/>
                            </a:rPr>
                          </m:ctrlPr>
                        </m:sSupPr>
                        <m:e>
                          <m:r>
                            <a:rPr lang="en-US" sz="3200" b="1" i="1" dirty="0" smtClean="0">
                              <a:solidFill>
                                <a:srgbClr val="E31836"/>
                              </a:solidFill>
                              <a:latin typeface="Cambria Math" panose="02040503050406030204" pitchFamily="18" charset="0"/>
                              <a:ea typeface="Cambria" pitchFamily="34" charset="-122"/>
                              <a:cs typeface="Cambria" pitchFamily="34" charset="-120"/>
                            </a:rPr>
                            <m:t>𝟓</m:t>
                          </m:r>
                        </m:e>
                        <m:sup>
                          <m:r>
                            <a:rPr lang="en-US" sz="3200" b="1" i="1" dirty="0" smtClean="0">
                              <a:solidFill>
                                <a:srgbClr val="E31836"/>
                              </a:solidFill>
                              <a:latin typeface="Cambria Math" panose="02040503050406030204" pitchFamily="18" charset="0"/>
                              <a:ea typeface="Cambria" pitchFamily="34" charset="-122"/>
                              <a:cs typeface="Cambria" pitchFamily="34" charset="-120"/>
                            </a:rPr>
                            <m:t>𝟓</m:t>
                          </m:r>
                        </m:sup>
                      </m:sSup>
                      <m:r>
                        <a:rPr lang="en-US" sz="3200" b="1" i="1" dirty="0" smtClean="0">
                          <a:solidFill>
                            <a:srgbClr val="E31836"/>
                          </a:solidFill>
                          <a:latin typeface="Cambria Math" panose="02040503050406030204" pitchFamily="18" charset="0"/>
                          <a:ea typeface="Cambria" pitchFamily="34" charset="-122"/>
                          <a:cs typeface="Cambria" pitchFamily="34" charset="-120"/>
                        </a:rPr>
                        <m:t>=</m:t>
                      </m:r>
                      <m:r>
                        <a:rPr lang="en-US" sz="3200" b="1" i="1" dirty="0" smtClean="0">
                          <a:solidFill>
                            <a:srgbClr val="E31836"/>
                          </a:solidFill>
                          <a:latin typeface="Cambria Math" panose="02040503050406030204" pitchFamily="18" charset="0"/>
                          <a:ea typeface="Cambria" pitchFamily="34" charset="-122"/>
                          <a:cs typeface="Cambria" pitchFamily="34" charset="-120"/>
                        </a:rPr>
                        <m:t>𝟑</m:t>
                      </m:r>
                      <m:r>
                        <a:rPr lang="en-US" sz="3200" b="1" i="1" dirty="0" smtClean="0">
                          <a:solidFill>
                            <a:srgbClr val="E31836"/>
                          </a:solidFill>
                          <a:latin typeface="Cambria Math" panose="02040503050406030204" pitchFamily="18" charset="0"/>
                          <a:ea typeface="Cambria" pitchFamily="34" charset="-122"/>
                          <a:cs typeface="Cambria" pitchFamily="34" charset="-120"/>
                        </a:rPr>
                        <m:t> </m:t>
                      </m:r>
                      <m:r>
                        <a:rPr lang="en-US" sz="3200" b="1" i="1" dirty="0">
                          <a:solidFill>
                            <a:srgbClr val="E31836"/>
                          </a:solidFill>
                          <a:latin typeface="Cambria Math" panose="02040503050406030204" pitchFamily="18" charset="0"/>
                          <a:ea typeface="Cambria" pitchFamily="34" charset="-122"/>
                          <a:cs typeface="Cambria" pitchFamily="34" charset="-120"/>
                        </a:rPr>
                        <m:t>𝟏𝟐𝟓</m:t>
                      </m:r>
                    </m:oMath>
                  </m:oMathPara>
                </a14:m>
                <a:endParaRPr lang="en-US" sz="3200" dirty="0"/>
              </a:p>
            </p:txBody>
          </p:sp>
        </mc:Choice>
        <mc:Fallback xmlns="">
          <p:sp>
            <p:nvSpPr>
              <p:cNvPr id="7" name="Text 4"/>
              <p:cNvSpPr>
                <a:spLocks noRot="1" noChangeAspect="1" noMove="1" noResize="1" noEditPoints="1" noAdjustHandles="1" noChangeArrowheads="1" noChangeShapeType="1" noTextEdit="1"/>
              </p:cNvSpPr>
              <p:nvPr/>
            </p:nvSpPr>
            <p:spPr>
              <a:xfrm>
                <a:off x="9372600" y="1554480"/>
                <a:ext cx="2377440" cy="777240"/>
              </a:xfrm>
              <a:prstGeom prst="rect">
                <a:avLst/>
              </a:prstGeom>
              <a:blipFill>
                <a:blip r:embed="rId4"/>
                <a:stretch>
                  <a:fillRect/>
                </a:stretch>
              </a:blipFill>
              <a:ln/>
            </p:spPr>
            <p:txBody>
              <a:bodyPr/>
              <a:lstStyle/>
              <a:p>
                <a:r>
                  <a:rPr lang="tr-TR">
                    <a:noFill/>
                  </a:rPr>
                  <a:t/>
                </a:r>
              </a:p>
            </p:txBody>
          </p:sp>
        </mc:Fallback>
      </mc:AlternateContent>
      <p:sp>
        <p:nvSpPr>
          <p:cNvPr id="8" name="Text 5"/>
          <p:cNvSpPr/>
          <p:nvPr/>
        </p:nvSpPr>
        <p:spPr>
          <a:xfrm>
            <a:off x="9372600" y="2331720"/>
            <a:ext cx="2377440" cy="594360"/>
          </a:xfrm>
          <a:prstGeom prst="rect">
            <a:avLst/>
          </a:prstGeom>
          <a:noFill/>
          <a:ln/>
        </p:spPr>
        <p:txBody>
          <a:bodyPr wrap="square" lIns="0" tIns="0" rIns="0" bIns="0" rtlCol="0" anchor="ctr"/>
          <a:lstStyle/>
          <a:p>
            <a:pPr marL="0" indent="0" algn="ctr">
              <a:buNone/>
            </a:pPr>
            <a:r>
              <a:rPr lang="en-US" sz="1400" dirty="0">
                <a:solidFill>
                  <a:srgbClr val="222222"/>
                </a:solidFill>
                <a:latin typeface="Calibri" pitchFamily="34" charset="0"/>
                <a:ea typeface="Calibri" pitchFamily="34" charset="-122"/>
                <a:cs typeface="Calibri" pitchFamily="34" charset="-120"/>
              </a:rPr>
              <a:t>combinations over the 5 decision concepts</a:t>
            </a:r>
            <a:endParaRPr lang="en-US" sz="1400" dirty="0"/>
          </a:p>
        </p:txBody>
      </p:sp>
      <p:sp>
        <p:nvSpPr>
          <p:cNvPr id="10" name="Text 6"/>
          <p:cNvSpPr/>
          <p:nvPr/>
        </p:nvSpPr>
        <p:spPr>
          <a:xfrm>
            <a:off x="502920" y="6096950"/>
            <a:ext cx="11247120" cy="76105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Ten features → six base concepts → three mid + two higher decision concepts → one coordination concept</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Five decision concepts answer the five canonical command questions : severity, exposure, feasibility, urgency, evacuation</a:t>
            </a:r>
            <a:endParaRPr lang="en-US" sz="1550" dirty="0"/>
          </a:p>
        </p:txBody>
      </p:sp>
      <p:pic>
        <p:nvPicPr>
          <p:cNvPr id="11" name="Image 2" descr="/tmp/thx/deck/figs/metu_emblem.png"/>
          <p:cNvPicPr>
            <a:picLocks noChangeAspect="1"/>
          </p:cNvPicPr>
          <p:nvPr/>
        </p:nvPicPr>
        <p:blipFill>
          <a:blip r:embed="rId5"/>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6"/>
          <a:stretch>
            <a:fillRect/>
          </a:stretch>
        </p:blipFill>
        <p:spPr>
          <a:xfrm>
            <a:off x="11265408" y="186217"/>
            <a:ext cx="475488" cy="395662"/>
          </a:xfrm>
          <a:prstGeom prst="rect">
            <a:avLst/>
          </a:prstGeom>
        </p:spPr>
      </p:pic>
      <p:pic>
        <p:nvPicPr>
          <p:cNvPr id="14" name="Image 0" descr="/tmp/thx/deck/figs/Figure4_1.png">
            <a:extLst>
              <a:ext uri="{FF2B5EF4-FFF2-40B4-BE49-F238E27FC236}">
                <a16:creationId xmlns:a16="http://schemas.microsoft.com/office/drawing/2014/main" id="{4B8C3F6D-8DE6-4BAC-86C8-0F27E4DF1198}"/>
              </a:ext>
            </a:extLst>
          </p:cNvPr>
          <p:cNvPicPr>
            <a:picLocks noChangeAspect="1"/>
          </p:cNvPicPr>
          <p:nvPr/>
        </p:nvPicPr>
        <p:blipFill rotWithShape="1">
          <a:blip r:embed="rId7"/>
          <a:srcRect l="-410" t="28767" b="30510"/>
          <a:stretch/>
        </p:blipFill>
        <p:spPr>
          <a:xfrm>
            <a:off x="182880" y="1393445"/>
            <a:ext cx="6446520" cy="4594285"/>
          </a:xfrm>
          <a:prstGeom prst="rect">
            <a:avLst/>
          </a:prstGeom>
        </p:spPr>
      </p:pic>
      <p:sp>
        <p:nvSpPr>
          <p:cNvPr id="90003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37 / 113</a:t>
            </a:r>
          </a:p>
        </p:txBody>
      </p:sp>
    </p:spTree>
    <p:extLst>
      <p:ext uri="{BB962C8B-B14F-4D97-AF65-F5344CB8AC3E}">
        <p14:creationId xmlns:p14="http://schemas.microsoft.com/office/powerpoint/2010/main" val="35944394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a:t>
            </a:r>
            <a:r>
              <a:rPr lang="tr-TR" sz="2900" b="1" dirty="0">
                <a:solidFill>
                  <a:srgbClr val="000000"/>
                </a:solidFill>
                <a:latin typeface="Cambria" pitchFamily="34" charset="0"/>
                <a:ea typeface="Cambria" pitchFamily="34" charset="-122"/>
                <a:cs typeface="Cambria" pitchFamily="34" charset="-120"/>
              </a:rPr>
              <a:t> – </a:t>
            </a:r>
            <a:r>
              <a:rPr lang="tr-TR" sz="2900" b="1" dirty="0" err="1">
                <a:solidFill>
                  <a:srgbClr val="000000"/>
                </a:solidFill>
                <a:latin typeface="Cambria" pitchFamily="34" charset="0"/>
                <a:ea typeface="Cambria" pitchFamily="34" charset="-122"/>
                <a:cs typeface="Cambria" pitchFamily="34" charset="-120"/>
              </a:rPr>
              <a:t>Operational</a:t>
            </a:r>
            <a:r>
              <a:rPr lang="tr-TR" sz="2900" b="1" dirty="0">
                <a:solidFill>
                  <a:srgbClr val="000000"/>
                </a:solidFill>
                <a:latin typeface="Cambria" pitchFamily="34" charset="0"/>
                <a:ea typeface="Cambria" pitchFamily="34" charset="-122"/>
                <a:cs typeface="Cambria" pitchFamily="34" charset="-120"/>
              </a:rPr>
              <a:t> </a:t>
            </a:r>
            <a:r>
              <a:rPr lang="tr-TR" sz="2900" b="1" dirty="0" err="1">
                <a:solidFill>
                  <a:srgbClr val="000000"/>
                </a:solidFill>
                <a:latin typeface="Cambria" pitchFamily="34" charset="0"/>
                <a:ea typeface="Cambria" pitchFamily="34" charset="-122"/>
                <a:cs typeface="Cambria" pitchFamily="34" charset="-120"/>
              </a:rPr>
              <a:t>Questions</a:t>
            </a:r>
            <a:endParaRPr lang="en-US" sz="2900" dirty="0"/>
          </a:p>
        </p:txBody>
      </p:sp>
      <p:sp>
        <p:nvSpPr>
          <p:cNvPr id="10" name="Text 6"/>
          <p:cNvSpPr/>
          <p:nvPr/>
        </p:nvSpPr>
        <p:spPr>
          <a:xfrm>
            <a:off x="502920" y="6096950"/>
            <a:ext cx="11247120" cy="76105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Ten features → six base concepts → three mid + two higher decision concepts → one coordination concept</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Five decision concepts answer the five canonical command questions : severity, exposure, feasibility, urgency, evacuation</a:t>
            </a:r>
            <a:endParaRPr lang="en-US" sz="1550" dirty="0"/>
          </a:p>
        </p:txBody>
      </p:sp>
      <p:pic>
        <p:nvPicPr>
          <p:cNvPr id="11" name="Image 2"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4" name="Image 0" descr="/tmp/thx/deck/figs/Figure4_1.png">
            <a:extLst>
              <a:ext uri="{FF2B5EF4-FFF2-40B4-BE49-F238E27FC236}">
                <a16:creationId xmlns:a16="http://schemas.microsoft.com/office/drawing/2014/main" id="{4B8C3F6D-8DE6-4BAC-86C8-0F27E4DF1198}"/>
              </a:ext>
            </a:extLst>
          </p:cNvPr>
          <p:cNvPicPr>
            <a:picLocks noChangeAspect="1"/>
          </p:cNvPicPr>
          <p:nvPr/>
        </p:nvPicPr>
        <p:blipFill rotWithShape="1">
          <a:blip r:embed="rId5"/>
          <a:srcRect l="-410" t="28767" b="30510"/>
          <a:stretch/>
        </p:blipFill>
        <p:spPr>
          <a:xfrm>
            <a:off x="182880" y="1393445"/>
            <a:ext cx="6446520" cy="4594285"/>
          </a:xfrm>
          <a:prstGeom prst="rect">
            <a:avLst/>
          </a:prstGeom>
        </p:spPr>
      </p:pic>
      <p:graphicFrame>
        <p:nvGraphicFramePr>
          <p:cNvPr id="15" name="Table 14">
            <a:extLst>
              <a:ext uri="{FF2B5EF4-FFF2-40B4-BE49-F238E27FC236}">
                <a16:creationId xmlns:a16="http://schemas.microsoft.com/office/drawing/2014/main" id="{FE9BBACC-70A3-423F-BE05-2EA168E13E6C}"/>
              </a:ext>
            </a:extLst>
          </p:cNvPr>
          <p:cNvGraphicFramePr>
            <a:graphicFrameLocks noGrp="1"/>
          </p:cNvGraphicFramePr>
          <p:nvPr>
            <p:extLst>
              <p:ext uri="{D42A27DB-BD31-4B8C-83A1-F6EECF244321}">
                <p14:modId xmlns:p14="http://schemas.microsoft.com/office/powerpoint/2010/main" val="1936598420"/>
              </p:ext>
            </p:extLst>
          </p:nvPr>
        </p:nvGraphicFramePr>
        <p:xfrm>
          <a:off x="7215233" y="2386486"/>
          <a:ext cx="4050175" cy="2995044"/>
        </p:xfrm>
        <a:graphic>
          <a:graphicData uri="http://schemas.openxmlformats.org/drawingml/2006/table">
            <a:tbl>
              <a:tblPr firstRow="1" firstCol="1" bandRow="1">
                <a:tableStyleId>{93296810-A885-4BE3-A3E7-6D5BEEA58F35}</a:tableStyleId>
              </a:tblPr>
              <a:tblGrid>
                <a:gridCol w="2119862">
                  <a:extLst>
                    <a:ext uri="{9D8B030D-6E8A-4147-A177-3AD203B41FA5}">
                      <a16:colId xmlns:a16="http://schemas.microsoft.com/office/drawing/2014/main" val="408930425"/>
                    </a:ext>
                  </a:extLst>
                </a:gridCol>
                <a:gridCol w="1930313">
                  <a:extLst>
                    <a:ext uri="{9D8B030D-6E8A-4147-A177-3AD203B41FA5}">
                      <a16:colId xmlns:a16="http://schemas.microsoft.com/office/drawing/2014/main" val="1739012305"/>
                    </a:ext>
                  </a:extLst>
                </a:gridCol>
              </a:tblGrid>
              <a:tr h="0">
                <a:tc>
                  <a:txBody>
                    <a:bodyPr/>
                    <a:lstStyle/>
                    <a:p>
                      <a:pPr algn="just">
                        <a:lnSpc>
                          <a:spcPct val="150000"/>
                        </a:lnSpc>
                      </a:pPr>
                      <a:r>
                        <a:rPr lang="en-US" sz="1400">
                          <a:effectLst/>
                        </a:rPr>
                        <a:t>Operational question</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Decision concept</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63646761"/>
                  </a:ext>
                </a:extLst>
              </a:tr>
              <a:tr h="0">
                <a:tc>
                  <a:txBody>
                    <a:bodyPr/>
                    <a:lstStyle/>
                    <a:p>
                      <a:pPr algn="just">
                        <a:lnSpc>
                          <a:spcPct val="150000"/>
                        </a:lnSpc>
                      </a:pPr>
                      <a:r>
                        <a:rPr lang="en-US" sz="1400">
                          <a:effectLst/>
                        </a:rPr>
                        <a:t>How severe is the fire threat in this cell?</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Fire Threat Level</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65055568"/>
                  </a:ext>
                </a:extLst>
              </a:tr>
              <a:tr h="0">
                <a:tc>
                  <a:txBody>
                    <a:bodyPr/>
                    <a:lstStyle/>
                    <a:p>
                      <a:pPr algn="just">
                        <a:lnSpc>
                          <a:spcPct val="150000"/>
                        </a:lnSpc>
                      </a:pPr>
                      <a:r>
                        <a:rPr lang="en-US" sz="1400">
                          <a:effectLst/>
                        </a:rPr>
                        <a:t>Can an intervention feasibly be mounted here?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Suppression Feasibility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64981675"/>
                  </a:ext>
                </a:extLst>
              </a:tr>
              <a:tr h="0">
                <a:tc>
                  <a:txBody>
                    <a:bodyPr/>
                    <a:lstStyle/>
                    <a:p>
                      <a:pPr algn="just">
                        <a:lnSpc>
                          <a:spcPct val="150000"/>
                        </a:lnSpc>
                      </a:pPr>
                      <a:r>
                        <a:rPr lang="en-US" sz="1400">
                          <a:effectLst/>
                        </a:rPr>
                        <a:t>How exposed are the assets here?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Asset Exposure Risk</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06404420"/>
                  </a:ext>
                </a:extLst>
              </a:tr>
              <a:tr h="0">
                <a:tc>
                  <a:txBody>
                    <a:bodyPr/>
                    <a:lstStyle/>
                    <a:p>
                      <a:pPr algn="just">
                        <a:lnSpc>
                          <a:spcPct val="150000"/>
                        </a:lnSpc>
                      </a:pPr>
                      <a:r>
                        <a:rPr lang="en-US" sz="1400">
                          <a:effectLst/>
                        </a:rPr>
                        <a:t>How urgent is action here?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a:effectLst/>
                        </a:rPr>
                        <a:t>Intervention Urgency</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34398677"/>
                  </a:ext>
                </a:extLst>
              </a:tr>
              <a:tr h="0">
                <a:tc>
                  <a:txBody>
                    <a:bodyPr/>
                    <a:lstStyle/>
                    <a:p>
                      <a:pPr algn="just">
                        <a:lnSpc>
                          <a:spcPct val="150000"/>
                        </a:lnSpc>
                      </a:pPr>
                      <a:r>
                        <a:rPr lang="en-US" sz="1400">
                          <a:effectLst/>
                        </a:rPr>
                        <a:t>Is evacuation pressure building here?</a:t>
                      </a:r>
                      <a:endParaRPr lang="tr-TR" sz="14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pPr>
                      <a:r>
                        <a:rPr lang="en-US" sz="1400" dirty="0">
                          <a:effectLst/>
                        </a:rPr>
                        <a:t>Evacuation Pressure</a:t>
                      </a:r>
                      <a:endParaRPr lang="tr-TR" sz="14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5540589"/>
                  </a:ext>
                </a:extLst>
              </a:tr>
            </a:tbl>
          </a:graphicData>
        </a:graphic>
      </p:graphicFrame>
      <p:sp>
        <p:nvSpPr>
          <p:cNvPr id="90003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38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a:t>
            </a:r>
            <a:r>
              <a:rPr lang="tr-TR" sz="2900" b="1" dirty="0">
                <a:solidFill>
                  <a:srgbClr val="000000"/>
                </a:solidFill>
                <a:latin typeface="Cambria" pitchFamily="34" charset="0"/>
                <a:ea typeface="Cambria" pitchFamily="34" charset="-122"/>
                <a:cs typeface="Cambria" pitchFamily="34" charset="-120"/>
              </a:rPr>
              <a:t> </a:t>
            </a:r>
            <a:r>
              <a:rPr lang="tr-TR" sz="2900" b="1" dirty="0" err="1">
                <a:solidFill>
                  <a:srgbClr val="000000"/>
                </a:solidFill>
                <a:latin typeface="Cambria" pitchFamily="34" charset="0"/>
                <a:ea typeface="Cambria" pitchFamily="34" charset="-122"/>
                <a:cs typeface="Cambria" pitchFamily="34" charset="-120"/>
              </a:rPr>
              <a:t>Levels</a:t>
            </a:r>
            <a:r>
              <a:rPr lang="tr-TR" sz="2900" b="1" dirty="0">
                <a:solidFill>
                  <a:srgbClr val="000000"/>
                </a:solidFill>
                <a:latin typeface="Cambria" pitchFamily="34" charset="0"/>
                <a:ea typeface="Cambria" pitchFamily="34" charset="-122"/>
                <a:cs typeface="Cambria" pitchFamily="34" charset="-120"/>
              </a:rPr>
              <a:t> </a:t>
            </a:r>
            <a:endParaRPr lang="en-US" sz="2900" dirty="0"/>
          </a:p>
        </p:txBody>
      </p:sp>
      <p:pic>
        <p:nvPicPr>
          <p:cNvPr id="11" name="Image 2"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6" name="Picture 15">
            <a:extLst>
              <a:ext uri="{FF2B5EF4-FFF2-40B4-BE49-F238E27FC236}">
                <a16:creationId xmlns:a16="http://schemas.microsoft.com/office/drawing/2014/main" id="{67672472-2578-4B3A-97B2-C6E9A1AE4EA5}"/>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2920" y="1243583"/>
            <a:ext cx="6617338" cy="4853367"/>
          </a:xfrm>
          <a:prstGeom prst="rect">
            <a:avLst/>
          </a:prstGeom>
          <a:noFill/>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extLst>
                  <p:ext uri="{D42A27DB-BD31-4B8C-83A1-F6EECF244321}">
                    <p14:modId xmlns:p14="http://schemas.microsoft.com/office/powerpoint/2010/main" val="1995564045"/>
                  </p:ext>
                </p:extLst>
              </p:nvPr>
            </p:nvGraphicFramePr>
            <p:xfrm>
              <a:off x="7568314" y="1250127"/>
              <a:ext cx="4172582" cy="2628837"/>
            </p:xfrm>
            <a:graphic>
              <a:graphicData uri="http://schemas.openxmlformats.org/drawingml/2006/table">
                <a:tbl>
                  <a:tblPr firstRow="1" firstCol="1" bandRow="1">
                    <a:tableStyleId>{2D5ABB26-0587-4C30-8999-92F81FD0307C}</a:tableStyleId>
                  </a:tblPr>
                  <a:tblGrid>
                    <a:gridCol w="2086291">
                      <a:extLst>
                        <a:ext uri="{9D8B030D-6E8A-4147-A177-3AD203B41FA5}">
                          <a16:colId xmlns:a16="http://schemas.microsoft.com/office/drawing/2014/main" val="642329100"/>
                        </a:ext>
                      </a:extLst>
                    </a:gridCol>
                    <a:gridCol w="2086291">
                      <a:extLst>
                        <a:ext uri="{9D8B030D-6E8A-4147-A177-3AD203B41FA5}">
                          <a16:colId xmlns:a16="http://schemas.microsoft.com/office/drawing/2014/main" val="2705746310"/>
                        </a:ext>
                      </a:extLst>
                    </a:gridCol>
                  </a:tblGrid>
                  <a:tr h="0">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0">
                    <a:tc>
                      <a:txBody>
                        <a:bodyPr/>
                        <a:lstStyle/>
                        <a:p>
                          <a:pPr algn="just">
                            <a:lnSpc>
                              <a:spcPct val="150000"/>
                            </a:lnSpc>
                          </a:pPr>
                          <a14:m>
                            <m:oMathPara xmlns:m="http://schemas.openxmlformats.org/officeDocument/2006/math">
                              <m:oMathParaPr>
                                <m:jc m:val="centerGroup"/>
                              </m:oMathParaPr>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e>
                                </m:d>
                              </m:oMath>
                              <m:oMath xmlns:m="http://schemas.openxmlformats.org/officeDocument/2006/math">
                                <m:r>
                                  <a:rPr lang="en-US" sz="1200">
                                    <a:effectLst/>
                                    <a:latin typeface="Cambria Math" panose="02040503050406030204" pitchFamily="18" charset="0"/>
                                  </a:rPr>
                                  <m:t> </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4</m:t>
                                        </m:r>
                                      </m:sub>
                                    </m:sSub>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5</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6</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7</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9</m:t>
                                        </m:r>
                                      </m:sub>
                                    </m:sSub>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14:m>
                            <m:oMathPara xmlns:m="http://schemas.openxmlformats.org/officeDocument/2006/math">
                              <m:oMathParaPr>
                                <m:jc m:val="centerGroup"/>
                              </m:oMathParaPr>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,1−</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(4)</m:t>
                                    </m:r>
                                  </m:sup>
                                </m:sSubSup>
                                <m:r>
                                  <m:rPr>
                                    <m:aln/>
                                  </m:rPr>
                                  <a:rPr lang="en-US" sz="1200">
                                    <a:effectLst/>
                                    <a:latin typeface="Cambria Math" panose="02040503050406030204" pitchFamily="18" charset="0"/>
                                  </a:rPr>
                                  <m:t>=</m:t>
                                </m:r>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1073945"/>
                      </a:ext>
                    </a:extLst>
                  </a:tr>
                </a:tbl>
              </a:graphicData>
            </a:graphic>
          </p:graphicFrame>
        </mc:Choice>
        <mc:Fallback xmlns="">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extLst>
                  <p:ext uri="{D42A27DB-BD31-4B8C-83A1-F6EECF244321}">
                    <p14:modId xmlns:p14="http://schemas.microsoft.com/office/powerpoint/2010/main" val="1995564045"/>
                  </p:ext>
                </p:extLst>
              </p:nvPr>
            </p:nvGraphicFramePr>
            <p:xfrm>
              <a:off x="7568314" y="1250127"/>
              <a:ext cx="4172582" cy="2632393"/>
            </p:xfrm>
            <a:graphic>
              <a:graphicData uri="http://schemas.openxmlformats.org/drawingml/2006/table">
                <a:tbl>
                  <a:tblPr firstRow="1" firstCol="1" bandRow="1">
                    <a:tableStyleId>{2D5ABB26-0587-4C30-8999-92F81FD0307C}</a:tableStyleId>
                  </a:tblPr>
                  <a:tblGrid>
                    <a:gridCol w="2086291">
                      <a:extLst>
                        <a:ext uri="{9D8B030D-6E8A-4147-A177-3AD203B41FA5}">
                          <a16:colId xmlns:a16="http://schemas.microsoft.com/office/drawing/2014/main" val="642329100"/>
                        </a:ext>
                      </a:extLst>
                    </a:gridCol>
                    <a:gridCol w="2086291">
                      <a:extLst>
                        <a:ext uri="{9D8B030D-6E8A-4147-A177-3AD203B41FA5}">
                          <a16:colId xmlns:a16="http://schemas.microsoft.com/office/drawing/2014/main" val="2705746310"/>
                        </a:ext>
                      </a:extLst>
                    </a:gridCol>
                  </a:tblGrid>
                  <a:tr h="245047">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2387346">
                    <a:tc>
                      <a:txBody>
                        <a:bodyPr/>
                        <a:lstStyle/>
                        <a:p>
                          <a:endParaRPr lang="tr-TR"/>
                        </a:p>
                      </a:txBody>
                      <a:tcPr marL="68580" marR="68580" marT="0" marB="0" anchor="ctr">
                        <a:blipFill>
                          <a:blip r:embed="rId6"/>
                          <a:stretch>
                            <a:fillRect t="-10204" r="-99708" b="-1020"/>
                          </a:stretch>
                        </a:blipFill>
                      </a:tcPr>
                    </a:tc>
                    <a:tc>
                      <a:txBody>
                        <a:bodyPr/>
                        <a:lstStyle/>
                        <a:p>
                          <a:endParaRPr lang="tr-TR"/>
                        </a:p>
                      </a:txBody>
                      <a:tcPr marL="68580" marR="68580" marT="0" marB="0" anchor="ctr">
                        <a:blipFill>
                          <a:blip r:embed="rId6"/>
                          <a:stretch>
                            <a:fillRect l="-100292" t="-10204" b="-1020"/>
                          </a:stretch>
                        </a:blipFill>
                      </a:tcPr>
                    </a:tc>
                    <a:extLst>
                      <a:ext uri="{0D108BD9-81ED-4DB2-BD59-A6C34878D82A}">
                        <a16:rowId xmlns:a16="http://schemas.microsoft.com/office/drawing/2014/main" val="31073945"/>
                      </a:ext>
                    </a:extLst>
                  </a:tr>
                </a:tbl>
              </a:graphicData>
            </a:graphic>
          </p:graphicFrame>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BC3C359-A415-424F-9DE6-5B5DD8B6E6CD}"/>
                  </a:ext>
                </a:extLst>
              </p:cNvPr>
              <p:cNvSpPr txBox="1"/>
              <p:nvPr/>
            </p:nvSpPr>
            <p:spPr>
              <a:xfrm>
                <a:off x="7516498" y="4195094"/>
                <a:ext cx="4172582" cy="158928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tr-TR" i="1" smtClean="0">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𝑓</m:t>
                          </m:r>
                          <m:r>
                            <a:rPr lang="tr-TR" i="0">
                              <a:latin typeface="Cambria Math" panose="02040503050406030204" pitchFamily="18" charset="0"/>
                            </a:rPr>
                            <m:t>∈</m:t>
                          </m:r>
                          <m:sSub>
                            <m:sSubPr>
                              <m:ctrlPr>
                                <a:rPr lang="tr-TR" i="1">
                                  <a:solidFill>
                                    <a:srgbClr val="836967"/>
                                  </a:solidFill>
                                  <a:latin typeface="Cambria Math" panose="02040503050406030204" pitchFamily="18" charset="0"/>
                                </a:rPr>
                              </m:ctrlPr>
                            </m:sSubPr>
                            <m:e>
                              <m:r>
                                <a:rPr lang="tr-TR" i="0">
                                  <a:latin typeface="Cambria Math" panose="02040503050406030204" pitchFamily="18" charset="0"/>
                                </a:rPr>
                                <m:t>𝒵</m:t>
                              </m:r>
                            </m:e>
                            <m:sub>
                              <m:r>
                                <a:rPr lang="tr-TR" i="1">
                                  <a:latin typeface="Cambria Math" panose="02040503050406030204" pitchFamily="18" charset="0"/>
                                </a:rPr>
                                <m:t>𝑛</m:t>
                              </m:r>
                            </m:sub>
                          </m:sSub>
                        </m:sub>
                        <m:sup/>
                        <m:e>
                          <m:sSub>
                            <m:sSubPr>
                              <m:ctrlPr>
                                <a:rPr lang="tr-TR" i="1">
                                  <a:solidFill>
                                    <a:srgbClr val="836967"/>
                                  </a:solidFill>
                                  <a:latin typeface="Cambria Math" panose="02040503050406030204" pitchFamily="18" charset="0"/>
                                </a:rPr>
                              </m:ctrlPr>
                            </m:sSub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r>
                            <a:rPr lang="tr-TR" i="0">
                              <a:latin typeface="Cambria Math" panose="02040503050406030204" pitchFamily="18" charset="0"/>
                            </a:rPr>
                            <m:t>⋅</m:t>
                          </m:r>
                          <m:sSub>
                            <m:sSubPr>
                              <m:ctrlPr>
                                <a:rPr lang="tr-TR" i="1">
                                  <a:solidFill>
                                    <a:srgbClr val="836967"/>
                                  </a:solidFill>
                                  <a:latin typeface="Cambria Math" panose="02040503050406030204" pitchFamily="18" charset="0"/>
                                </a:rPr>
                              </m:ctrlPr>
                            </m:sSubPr>
                            <m:e>
                              <m:r>
                                <a:rPr lang="tr-TR" i="1">
                                  <a:latin typeface="Cambria Math" panose="02040503050406030204" pitchFamily="18" charset="0"/>
                                </a:rPr>
                                <m:t>𝜇</m:t>
                              </m:r>
                            </m:e>
                            <m:sub>
                              <m:sSub>
                                <m:sSubPr>
                                  <m:ctrlPr>
                                    <a:rPr lang="tr-TR" i="1">
                                      <a:solidFill>
                                        <a:srgbClr val="836967"/>
                                      </a:solidFill>
                                      <a:latin typeface="Cambria Math" panose="02040503050406030204" pitchFamily="18" charset="0"/>
                                    </a:rPr>
                                  </m:ctrlPr>
                                </m:sSubPr>
                                <m:e>
                                  <m:r>
                                    <a:rPr lang="tr-TR" i="0">
                                      <a:latin typeface="Cambria Math" panose="02040503050406030204" pitchFamily="18" charset="0"/>
                                    </a:rPr>
                                    <m:t>𝒜</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sub>
                          </m:sSub>
                          <m:d>
                            <m:dPr>
                              <m:ctrlPr>
                                <a:rPr lang="tr-TR" i="1">
                                  <a:solidFill>
                                    <a:srgbClr val="836967"/>
                                  </a:solidFill>
                                  <a:latin typeface="Cambria Math" panose="02040503050406030204" pitchFamily="18" charset="0"/>
                                </a:rPr>
                              </m:ctrlPr>
                            </m:dPr>
                            <m:e>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𝑧</m:t>
                                  </m:r>
                                </m:e>
                                <m:sub>
                                  <m:r>
                                    <a:rPr lang="tr-TR" i="1">
                                      <a:latin typeface="Cambria Math" panose="02040503050406030204" pitchFamily="18" charset="0"/>
                                    </a:rPr>
                                    <m:t>𝑓</m:t>
                                  </m:r>
                                  <m:r>
                                    <a:rPr lang="tr-TR" i="0">
                                      <a:latin typeface="Cambria Math" panose="02040503050406030204" pitchFamily="18" charset="0"/>
                                    </a:rPr>
                                    <m:t>,</m:t>
                                  </m:r>
                                  <m:r>
                                    <a:rPr lang="tr-TR" i="1">
                                      <a:latin typeface="Cambria Math" panose="02040503050406030204" pitchFamily="18" charset="0"/>
                                    </a:rPr>
                                    <m:t>𝑘</m:t>
                                  </m:r>
                                </m:sub>
                                <m:sup>
                                  <m:r>
                                    <a:rPr lang="tr-TR" i="1">
                                      <a:latin typeface="Cambria Math" panose="02040503050406030204" pitchFamily="18" charset="0"/>
                                    </a:rPr>
                                    <m:t>𝑖</m:t>
                                  </m:r>
                                </m:sup>
                              </m:sSubSup>
                            </m:e>
                          </m:d>
                        </m:e>
                      </m:nary>
                    </m:oMath>
                  </m:oMathPara>
                </a14:m>
                <a:endParaRPr lang="tr-TR"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𝑚</m:t>
                          </m:r>
                          <m:r>
                            <a:rPr lang="tr-TR" i="0">
                              <a:latin typeface="Cambria Math" panose="02040503050406030204" pitchFamily="18" charset="0"/>
                            </a:rPr>
                            <m:t>∈</m:t>
                          </m:r>
                          <m:sSubSup>
                            <m:sSubSupPr>
                              <m:ctrlPr>
                                <a:rPr lang="tr-TR" i="1">
                                  <a:solidFill>
                                    <a:srgbClr val="836967"/>
                                  </a:solidFill>
                                  <a:latin typeface="Cambria Math" panose="02040503050406030204" pitchFamily="18" charset="0"/>
                                </a:rPr>
                              </m:ctrlPr>
                            </m:sSubSupPr>
                            <m:e>
                              <m:r>
                                <a:rPr lang="tr-TR" i="0">
                                  <a:latin typeface="Cambria Math" panose="02040503050406030204" pitchFamily="18" charset="0"/>
                                </a:rPr>
                                <m:t>𝒞</m:t>
                              </m:r>
                            </m:e>
                            <m:sub>
                              <m:r>
                                <a:rPr lang="tr-TR" i="1">
                                  <a:latin typeface="Cambria Math" panose="02040503050406030204" pitchFamily="18" charset="0"/>
                                </a:rPr>
                                <m:t>𝑛</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sub>
                        <m:sup/>
                        <m:e>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𝑚</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r>
                            <a:rPr lang="tr-TR" i="0">
                              <a:latin typeface="Cambria Math" panose="02040503050406030204" pitchFamily="18" charset="0"/>
                            </a:rPr>
                            <m:t>⋅</m:t>
                          </m:r>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𝑚</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e>
                      </m:nary>
                      <m:r>
                        <a:rPr lang="tr-TR" i="0">
                          <a:latin typeface="Cambria Math" panose="02040503050406030204" pitchFamily="18" charset="0"/>
                        </a:rPr>
                        <m:t>, </m:t>
                      </m:r>
                      <m:r>
                        <a:rPr lang="tr-TR" i="1">
                          <a:latin typeface="Cambria Math" panose="02040503050406030204" pitchFamily="18" charset="0"/>
                        </a:rPr>
                        <m:t>𝑙</m:t>
                      </m:r>
                      <m:r>
                        <a:rPr lang="tr-TR" i="0">
                          <a:latin typeface="Cambria Math" panose="02040503050406030204" pitchFamily="18" charset="0"/>
                        </a:rPr>
                        <m:t>=2,3,4</m:t>
                      </m:r>
                    </m:oMath>
                  </m:oMathPara>
                </a14:m>
                <a:endParaRPr lang="tr-TR" dirty="0"/>
              </a:p>
            </p:txBody>
          </p:sp>
        </mc:Choice>
        <mc:Fallback xmlns="">
          <p:sp>
            <p:nvSpPr>
              <p:cNvPr id="17" name="TextBox 16">
                <a:extLst>
                  <a:ext uri="{FF2B5EF4-FFF2-40B4-BE49-F238E27FC236}">
                    <a16:creationId xmlns:a16="http://schemas.microsoft.com/office/drawing/2014/main" id="{7BC3C359-A415-424F-9DE6-5B5DD8B6E6CD}"/>
                  </a:ext>
                </a:extLst>
              </p:cNvPr>
              <p:cNvSpPr txBox="1">
                <a:spLocks noRot="1" noChangeAspect="1" noMove="1" noResize="1" noEditPoints="1" noAdjustHandles="1" noChangeArrowheads="1" noChangeShapeType="1" noTextEdit="1"/>
              </p:cNvSpPr>
              <p:nvPr/>
            </p:nvSpPr>
            <p:spPr>
              <a:xfrm>
                <a:off x="7516498" y="4195094"/>
                <a:ext cx="4172582" cy="1589281"/>
              </a:xfrm>
              <a:prstGeom prst="rect">
                <a:avLst/>
              </a:prstGeom>
              <a:blipFill>
                <a:blip r:embed="rId7"/>
                <a:stretch>
                  <a:fillRect/>
                </a:stretch>
              </a:blipFill>
            </p:spPr>
            <p:txBody>
              <a:bodyPr/>
              <a:lstStyle/>
              <a:p>
                <a:r>
                  <a:rPr lang="tr-TR">
                    <a:noFill/>
                  </a:rPr>
                  <a:t/>
                </a:r>
              </a:p>
            </p:txBody>
          </p:sp>
        </mc:Fallback>
      </mc:AlternateContent>
      <p:sp>
        <p:nvSpPr>
          <p:cNvPr id="90003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39 / 113</a:t>
            </a:r>
          </a:p>
        </p:txBody>
      </p:sp>
    </p:spTree>
    <p:extLst>
      <p:ext uri="{BB962C8B-B14F-4D97-AF65-F5344CB8AC3E}">
        <p14:creationId xmlns:p14="http://schemas.microsoft.com/office/powerpoint/2010/main" val="4228525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Concept Space</a:t>
            </a:r>
            <a:r>
              <a:rPr lang="tr-TR" sz="2900" b="1" dirty="0">
                <a:solidFill>
                  <a:srgbClr val="000000"/>
                </a:solidFill>
                <a:latin typeface="Cambria" pitchFamily="34" charset="0"/>
                <a:ea typeface="Cambria" pitchFamily="34" charset="-122"/>
                <a:cs typeface="Cambria" pitchFamily="34" charset="-120"/>
              </a:rPr>
              <a:t> </a:t>
            </a:r>
            <a:r>
              <a:rPr lang="tr-TR" sz="2900" b="1" dirty="0" err="1">
                <a:solidFill>
                  <a:srgbClr val="000000"/>
                </a:solidFill>
                <a:latin typeface="Cambria" pitchFamily="34" charset="0"/>
                <a:ea typeface="Cambria" pitchFamily="34" charset="-122"/>
                <a:cs typeface="Cambria" pitchFamily="34" charset="-120"/>
              </a:rPr>
              <a:t>Levels</a:t>
            </a:r>
            <a:r>
              <a:rPr lang="tr-TR" sz="2900" b="1" dirty="0">
                <a:solidFill>
                  <a:srgbClr val="000000"/>
                </a:solidFill>
                <a:latin typeface="Cambria" pitchFamily="34" charset="0"/>
                <a:ea typeface="Cambria" pitchFamily="34" charset="-122"/>
                <a:cs typeface="Cambria" pitchFamily="34" charset="-120"/>
              </a:rPr>
              <a:t> </a:t>
            </a:r>
            <a:endParaRPr lang="en-US" sz="2900" dirty="0"/>
          </a:p>
        </p:txBody>
      </p:sp>
      <p:pic>
        <p:nvPicPr>
          <p:cNvPr id="11" name="Image 2"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12" name="Image 3"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nvGraphicFramePr>
            <p:xfrm>
              <a:off x="7568314" y="1250127"/>
              <a:ext cx="4172582" cy="2628837"/>
            </p:xfrm>
            <a:graphic>
              <a:graphicData uri="http://schemas.openxmlformats.org/drawingml/2006/table">
                <a:tbl>
                  <a:tblPr firstRow="1" firstCol="1" bandRow="1">
                    <a:tableStyleId>{2D5ABB26-0587-4C30-8999-92F81FD0307C}</a:tableStyleId>
                  </a:tblPr>
                  <a:tblGrid>
                    <a:gridCol w="2086291">
                      <a:extLst>
                        <a:ext uri="{9D8B030D-6E8A-4147-A177-3AD203B41FA5}">
                          <a16:colId xmlns:a16="http://schemas.microsoft.com/office/drawing/2014/main" val="642329100"/>
                        </a:ext>
                      </a:extLst>
                    </a:gridCol>
                    <a:gridCol w="2086291">
                      <a:extLst>
                        <a:ext uri="{9D8B030D-6E8A-4147-A177-3AD203B41FA5}">
                          <a16:colId xmlns:a16="http://schemas.microsoft.com/office/drawing/2014/main" val="2705746310"/>
                        </a:ext>
                      </a:extLst>
                    </a:gridCol>
                  </a:tblGrid>
                  <a:tr h="0">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0">
                    <a:tc>
                      <a:txBody>
                        <a:bodyPr/>
                        <a:lstStyle/>
                        <a:p>
                          <a:pPr algn="just">
                            <a:lnSpc>
                              <a:spcPct val="150000"/>
                            </a:lnSpc>
                          </a:pPr>
                          <a14:m>
                            <m:oMathPara xmlns:m="http://schemas.openxmlformats.org/officeDocument/2006/math">
                              <m:oMathParaPr>
                                <m:jc m:val="centerGroup"/>
                              </m:oMathParaPr>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e>
                                </m:d>
                              </m:oMath>
                              <m:oMath xmlns:m="http://schemas.openxmlformats.org/officeDocument/2006/math">
                                <m:r>
                                  <a:rPr lang="en-US" sz="1200">
                                    <a:effectLst/>
                                    <a:latin typeface="Cambria Math" panose="02040503050406030204" pitchFamily="18" charset="0"/>
                                  </a:rPr>
                                  <m:t> </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2</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4</m:t>
                                        </m:r>
                                      </m:sub>
                                    </m:sSub>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3</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5</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6</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7</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9</m:t>
                                        </m:r>
                                      </m:sub>
                                    </m:sSub>
                                  </m:e>
                                </m:d>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14:m>
                            <m:oMathPara xmlns:m="http://schemas.openxmlformats.org/officeDocument/2006/math">
                              <m:oMathParaPr>
                                <m:jc m:val="centerGroup"/>
                              </m:oMathParaPr>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3</m:t>
                                        </m:r>
                                      </m:sub>
                                      <m:sup>
                                        <m:r>
                                          <a:rPr lang="en-US" sz="1200">
                                            <a:effectLst/>
                                            <a:latin typeface="Cambria Math" panose="02040503050406030204" pitchFamily="18" charset="0"/>
                                          </a:rPr>
                                          <m:t>(1)</m:t>
                                        </m:r>
                                      </m:sup>
                                    </m:sSubSup>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4</m:t>
                                        </m:r>
                                      </m:sub>
                                      <m:sup>
                                        <m:r>
                                          <a:rPr lang="en-US" sz="1200">
                                            <a:effectLst/>
                                            <a:latin typeface="Cambria Math" panose="02040503050406030204" pitchFamily="18" charset="0"/>
                                          </a:rPr>
                                          <m:t>(1)</m:t>
                                        </m:r>
                                      </m:sup>
                                    </m:sSubSup>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3</m:t>
                                    </m:r>
                                  </m:sub>
                                  <m:sup>
                                    <m:r>
                                      <a:rPr lang="en-US" sz="1200">
                                        <a:effectLst/>
                                        <a:latin typeface="Cambria Math" panose="02040503050406030204" pitchFamily="18" charset="0"/>
                                      </a:rPr>
                                      <m:t>(2)</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5</m:t>
                                        </m:r>
                                      </m:sub>
                                      <m:sup>
                                        <m:r>
                                          <a:rPr lang="en-US" sz="1200">
                                            <a:effectLst/>
                                            <a:latin typeface="Cambria Math" panose="02040503050406030204" pitchFamily="18" charset="0"/>
                                          </a:rPr>
                                          <m:t>(1)</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6</m:t>
                                        </m:r>
                                      </m:sub>
                                      <m:sup>
                                        <m:r>
                                          <a:rPr lang="en-US" sz="1200">
                                            <a:effectLst/>
                                            <a:latin typeface="Cambria Math" panose="02040503050406030204" pitchFamily="18" charset="0"/>
                                          </a:rPr>
                                          <m:t>(1)</m:t>
                                        </m:r>
                                      </m:sup>
                                    </m:sSubSup>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r>
                                  <a:rPr lang="en-US" sz="1200">
                                    <a:effectLst/>
                                    <a:latin typeface="Cambria Math" panose="02040503050406030204" pitchFamily="18" charset="0"/>
                                  </a:rPr>
                                  <m:t>, </m:t>
                                </m:r>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2</m:t>
                                    </m:r>
                                  </m:sub>
                                  <m:sup>
                                    <m:r>
                                      <a:rPr lang="en-US" sz="1200">
                                        <a:effectLst/>
                                        <a:latin typeface="Cambria Math" panose="02040503050406030204" pitchFamily="18" charset="0"/>
                                      </a:rPr>
                                      <m:t>(3)</m:t>
                                    </m:r>
                                  </m:sup>
                                </m:sSubSup>
                                <m:r>
                                  <m:rPr>
                                    <m:aln/>
                                  </m:rPr>
                                  <a:rPr lang="en-US" sz="1200">
                                    <a:effectLst/>
                                    <a:latin typeface="Cambria Math" panose="02040503050406030204" pitchFamily="18" charset="0"/>
                                  </a:rPr>
                                  <m:t>=</m:t>
                                </m:r>
                                <m:d>
                                  <m:dPr>
                                    <m:begChr m:val="{"/>
                                    <m:endChr m:val="}"/>
                                    <m:ctrlPr>
                                      <a:rPr lang="tr-TR" sz="1200" i="1">
                                        <a:effectLst/>
                                        <a:latin typeface="Cambria Math" panose="02040503050406030204" pitchFamily="18" charset="0"/>
                                      </a:rPr>
                                    </m:ctrlPr>
                                  </m:dPr>
                                  <m:e>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,1−</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8</m:t>
                                        </m:r>
                                      </m:sub>
                                    </m:sSub>
                                    <m:r>
                                      <a:rPr lang="en-US" sz="1200">
                                        <a:effectLst/>
                                        <a:latin typeface="Cambria Math" panose="02040503050406030204" pitchFamily="18" charset="0"/>
                                      </a:rPr>
                                      <m:t>,</m:t>
                                    </m:r>
                                    <m:sSub>
                                      <m:sSubPr>
                                        <m:ctrlPr>
                                          <a:rPr lang="tr-TR" sz="1200" i="1">
                                            <a:effectLst/>
                                            <a:latin typeface="Cambria Math" panose="02040503050406030204" pitchFamily="18" charset="0"/>
                                          </a:rPr>
                                        </m:ctrlPr>
                                      </m:sSubPr>
                                      <m:e>
                                        <m:r>
                                          <a:rPr lang="en-US" sz="1200">
                                            <a:effectLst/>
                                            <a:latin typeface="Cambria Math" panose="02040503050406030204" pitchFamily="18" charset="0"/>
                                          </a:rPr>
                                          <m:t>𝑧</m:t>
                                        </m:r>
                                      </m:e>
                                      <m:sub>
                                        <m:r>
                                          <a:rPr lang="en-US" sz="1200">
                                            <a:effectLst/>
                                            <a:latin typeface="Cambria Math" panose="02040503050406030204" pitchFamily="18" charset="0"/>
                                          </a:rPr>
                                          <m:t>10</m:t>
                                        </m:r>
                                      </m:sub>
                                    </m:sSub>
                                  </m:e>
                                </m:d>
                              </m:oMath>
                              <m:oMath xmlns:m="http://schemas.openxmlformats.org/officeDocument/2006/math">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𝒞</m:t>
                                    </m:r>
                                  </m:e>
                                  <m:sub>
                                    <m:r>
                                      <a:rPr lang="en-US" sz="1200">
                                        <a:effectLst/>
                                        <a:latin typeface="Cambria Math" panose="02040503050406030204" pitchFamily="18" charset="0"/>
                                      </a:rPr>
                                      <m:t>1</m:t>
                                    </m:r>
                                  </m:sub>
                                  <m:sup>
                                    <m:r>
                                      <a:rPr lang="en-US" sz="1200">
                                        <a:effectLst/>
                                        <a:latin typeface="Cambria Math" panose="02040503050406030204" pitchFamily="18" charset="0"/>
                                      </a:rPr>
                                      <m:t>(4)</m:t>
                                    </m:r>
                                  </m:sup>
                                </m:sSubSup>
                                <m:r>
                                  <m:rPr>
                                    <m:aln/>
                                  </m:rPr>
                                  <a:rPr lang="en-US" sz="1200">
                                    <a:effectLst/>
                                    <a:latin typeface="Cambria Math" panose="02040503050406030204" pitchFamily="18" charset="0"/>
                                  </a:rPr>
                                  <m:t>=</m:t>
                                </m:r>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1</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sSubSup>
                                  <m:sSubSupPr>
                                    <m:ctrlPr>
                                      <a:rPr lang="tr-TR" sz="1200" i="1">
                                        <a:effectLst/>
                                        <a:latin typeface="Cambria Math" panose="02040503050406030204" pitchFamily="18" charset="0"/>
                                      </a:rPr>
                                    </m:ctrlPr>
                                  </m:sSubSupPr>
                                  <m:e>
                                    <m:r>
                                      <a:rPr lang="en-US" sz="1200">
                                        <a:effectLst/>
                                        <a:latin typeface="Cambria Math" panose="02040503050406030204" pitchFamily="18" charset="0"/>
                                      </a:rPr>
                                      <m:t>𝑐</m:t>
                                    </m:r>
                                  </m:e>
                                  <m:sub>
                                    <m:r>
                                      <a:rPr lang="en-US" sz="1200">
                                        <a:effectLst/>
                                        <a:latin typeface="Cambria Math" panose="02040503050406030204" pitchFamily="18" charset="0"/>
                                      </a:rPr>
                                      <m:t>2</m:t>
                                    </m:r>
                                  </m:sub>
                                  <m:sup>
                                    <m:r>
                                      <a:rPr lang="en-US" sz="1200">
                                        <a:effectLst/>
                                        <a:latin typeface="Cambria Math" panose="02040503050406030204" pitchFamily="18" charset="0"/>
                                      </a:rPr>
                                      <m:t>(2)</m:t>
                                    </m:r>
                                  </m:sup>
                                </m:sSubSup>
                                <m:r>
                                  <a:rPr lang="en-US" sz="1200">
                                    <a:effectLst/>
                                    <a:latin typeface="Cambria Math" panose="02040503050406030204" pitchFamily="18" charset="0"/>
                                  </a:rPr>
                                  <m:t>}</m:t>
                                </m:r>
                              </m:oMath>
                            </m:oMathPara>
                          </a14:m>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1073945"/>
                      </a:ext>
                    </a:extLst>
                  </a:tr>
                </a:tbl>
              </a:graphicData>
            </a:graphic>
          </p:graphicFrame>
        </mc:Choice>
        <mc:Fallback xmlns="">
          <p:graphicFrame>
            <p:nvGraphicFramePr>
              <p:cNvPr id="4" name="Table 3">
                <a:extLst>
                  <a:ext uri="{FF2B5EF4-FFF2-40B4-BE49-F238E27FC236}">
                    <a16:creationId xmlns:a16="http://schemas.microsoft.com/office/drawing/2014/main" id="{20FA6669-5258-4D42-911D-CE1B7C3FAF82}"/>
                  </a:ext>
                </a:extLst>
              </p:cNvPr>
              <p:cNvGraphicFramePr>
                <a:graphicFrameLocks noGrp="1"/>
              </p:cNvGraphicFramePr>
              <p:nvPr/>
            </p:nvGraphicFramePr>
            <p:xfrm>
              <a:off x="7568314" y="1250127"/>
              <a:ext cx="4172582" cy="2632393"/>
            </p:xfrm>
            <a:graphic>
              <a:graphicData uri="http://schemas.openxmlformats.org/drawingml/2006/table">
                <a:tbl>
                  <a:tblPr firstRow="1" firstCol="1" bandRow="1">
                    <a:tableStyleId>{2D5ABB26-0587-4C30-8999-92F81FD0307C}</a:tableStyleId>
                  </a:tblPr>
                  <a:tblGrid>
                    <a:gridCol w="2086291">
                      <a:extLst>
                        <a:ext uri="{9D8B030D-6E8A-4147-A177-3AD203B41FA5}">
                          <a16:colId xmlns:a16="http://schemas.microsoft.com/office/drawing/2014/main" val="642329100"/>
                        </a:ext>
                      </a:extLst>
                    </a:gridCol>
                    <a:gridCol w="2086291">
                      <a:extLst>
                        <a:ext uri="{9D8B030D-6E8A-4147-A177-3AD203B41FA5}">
                          <a16:colId xmlns:a16="http://schemas.microsoft.com/office/drawing/2014/main" val="2705746310"/>
                        </a:ext>
                      </a:extLst>
                    </a:gridCol>
                  </a:tblGrid>
                  <a:tr h="245047">
                    <a:tc>
                      <a:txBody>
                        <a:bodyPr/>
                        <a:lstStyle/>
                        <a:p>
                          <a:pPr algn="just">
                            <a:lnSpc>
                              <a:spcPct val="150000"/>
                            </a:lnSpc>
                          </a:pPr>
                          <a:r>
                            <a:rPr lang="en-US" sz="1200">
                              <a:effectLst/>
                            </a:rPr>
                            <a:t>Base Concepts</a:t>
                          </a:r>
                          <a:endParaRPr lang="tr-TR" sz="120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just">
                            <a:lnSpc>
                              <a:spcPct val="150000"/>
                            </a:lnSpc>
                          </a:pPr>
                          <a:r>
                            <a:rPr lang="en-US" sz="1200" dirty="0">
                              <a:effectLst/>
                            </a:rPr>
                            <a:t>Decisional Concepts</a:t>
                          </a:r>
                          <a:endParaRPr lang="tr-TR" sz="1200" dirty="0">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918569"/>
                      </a:ext>
                    </a:extLst>
                  </a:tr>
                  <a:tr h="2387346">
                    <a:tc>
                      <a:txBody>
                        <a:bodyPr/>
                        <a:lstStyle/>
                        <a:p>
                          <a:endParaRPr lang="tr-TR"/>
                        </a:p>
                      </a:txBody>
                      <a:tcPr marL="68580" marR="68580" marT="0" marB="0" anchor="ctr">
                        <a:blipFill>
                          <a:blip r:embed="rId5"/>
                          <a:stretch>
                            <a:fillRect t="-10204" r="-99708" b="-1020"/>
                          </a:stretch>
                        </a:blipFill>
                      </a:tcPr>
                    </a:tc>
                    <a:tc>
                      <a:txBody>
                        <a:bodyPr/>
                        <a:lstStyle/>
                        <a:p>
                          <a:endParaRPr lang="tr-TR"/>
                        </a:p>
                      </a:txBody>
                      <a:tcPr marL="68580" marR="68580" marT="0" marB="0" anchor="ctr">
                        <a:blipFill>
                          <a:blip r:embed="rId5"/>
                          <a:stretch>
                            <a:fillRect l="-100292" t="-10204" b="-1020"/>
                          </a:stretch>
                        </a:blipFill>
                      </a:tcPr>
                    </a:tc>
                    <a:extLst>
                      <a:ext uri="{0D108BD9-81ED-4DB2-BD59-A6C34878D82A}">
                        <a16:rowId xmlns:a16="http://schemas.microsoft.com/office/drawing/2014/main" val="31073945"/>
                      </a:ext>
                    </a:extLst>
                  </a:tr>
                </a:tbl>
              </a:graphicData>
            </a:graphic>
          </p:graphicFrame>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BC3C359-A415-424F-9DE6-5B5DD8B6E6CD}"/>
                  </a:ext>
                </a:extLst>
              </p:cNvPr>
              <p:cNvSpPr txBox="1"/>
              <p:nvPr/>
            </p:nvSpPr>
            <p:spPr>
              <a:xfrm>
                <a:off x="7516498" y="4195094"/>
                <a:ext cx="4172582" cy="158928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tr-TR" i="1" smtClean="0">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𝑓</m:t>
                          </m:r>
                          <m:r>
                            <a:rPr lang="tr-TR" i="0">
                              <a:latin typeface="Cambria Math" panose="02040503050406030204" pitchFamily="18" charset="0"/>
                            </a:rPr>
                            <m:t>∈</m:t>
                          </m:r>
                          <m:sSub>
                            <m:sSubPr>
                              <m:ctrlPr>
                                <a:rPr lang="tr-TR" i="1">
                                  <a:solidFill>
                                    <a:srgbClr val="836967"/>
                                  </a:solidFill>
                                  <a:latin typeface="Cambria Math" panose="02040503050406030204" pitchFamily="18" charset="0"/>
                                </a:rPr>
                              </m:ctrlPr>
                            </m:sSubPr>
                            <m:e>
                              <m:r>
                                <a:rPr lang="tr-TR" i="0">
                                  <a:latin typeface="Cambria Math" panose="02040503050406030204" pitchFamily="18" charset="0"/>
                                </a:rPr>
                                <m:t>𝒵</m:t>
                              </m:r>
                            </m:e>
                            <m:sub>
                              <m:r>
                                <a:rPr lang="tr-TR" i="1">
                                  <a:latin typeface="Cambria Math" panose="02040503050406030204" pitchFamily="18" charset="0"/>
                                </a:rPr>
                                <m:t>𝑛</m:t>
                              </m:r>
                            </m:sub>
                          </m:sSub>
                        </m:sub>
                        <m:sup/>
                        <m:e>
                          <m:sSub>
                            <m:sSubPr>
                              <m:ctrlPr>
                                <a:rPr lang="tr-TR" i="1">
                                  <a:solidFill>
                                    <a:srgbClr val="836967"/>
                                  </a:solidFill>
                                  <a:latin typeface="Cambria Math" panose="02040503050406030204" pitchFamily="18" charset="0"/>
                                </a:rPr>
                              </m:ctrlPr>
                            </m:sSub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r>
                            <a:rPr lang="tr-TR" i="0">
                              <a:latin typeface="Cambria Math" panose="02040503050406030204" pitchFamily="18" charset="0"/>
                            </a:rPr>
                            <m:t>⋅</m:t>
                          </m:r>
                          <m:sSub>
                            <m:sSubPr>
                              <m:ctrlPr>
                                <a:rPr lang="tr-TR" i="1">
                                  <a:solidFill>
                                    <a:srgbClr val="836967"/>
                                  </a:solidFill>
                                  <a:latin typeface="Cambria Math" panose="02040503050406030204" pitchFamily="18" charset="0"/>
                                </a:rPr>
                              </m:ctrlPr>
                            </m:sSubPr>
                            <m:e>
                              <m:r>
                                <a:rPr lang="tr-TR" i="1">
                                  <a:latin typeface="Cambria Math" panose="02040503050406030204" pitchFamily="18" charset="0"/>
                                </a:rPr>
                                <m:t>𝜇</m:t>
                              </m:r>
                            </m:e>
                            <m:sub>
                              <m:sSub>
                                <m:sSubPr>
                                  <m:ctrlPr>
                                    <a:rPr lang="tr-TR" i="1">
                                      <a:solidFill>
                                        <a:srgbClr val="836967"/>
                                      </a:solidFill>
                                      <a:latin typeface="Cambria Math" panose="02040503050406030204" pitchFamily="18" charset="0"/>
                                    </a:rPr>
                                  </m:ctrlPr>
                                </m:sSubPr>
                                <m:e>
                                  <m:r>
                                    <a:rPr lang="tr-TR" i="0">
                                      <a:latin typeface="Cambria Math" panose="02040503050406030204" pitchFamily="18" charset="0"/>
                                    </a:rPr>
                                    <m:t>𝒜</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𝑓</m:t>
                                  </m:r>
                                </m:sub>
                              </m:sSub>
                            </m:sub>
                          </m:sSub>
                          <m:d>
                            <m:dPr>
                              <m:ctrlPr>
                                <a:rPr lang="tr-TR" i="1">
                                  <a:solidFill>
                                    <a:srgbClr val="836967"/>
                                  </a:solidFill>
                                  <a:latin typeface="Cambria Math" panose="02040503050406030204" pitchFamily="18" charset="0"/>
                                </a:rPr>
                              </m:ctrlPr>
                            </m:dPr>
                            <m:e>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𝑧</m:t>
                                  </m:r>
                                </m:e>
                                <m:sub>
                                  <m:r>
                                    <a:rPr lang="tr-TR" i="1">
                                      <a:latin typeface="Cambria Math" panose="02040503050406030204" pitchFamily="18" charset="0"/>
                                    </a:rPr>
                                    <m:t>𝑓</m:t>
                                  </m:r>
                                  <m:r>
                                    <a:rPr lang="tr-TR" i="0">
                                      <a:latin typeface="Cambria Math" panose="02040503050406030204" pitchFamily="18" charset="0"/>
                                    </a:rPr>
                                    <m:t>,</m:t>
                                  </m:r>
                                  <m:r>
                                    <a:rPr lang="tr-TR" i="1">
                                      <a:latin typeface="Cambria Math" panose="02040503050406030204" pitchFamily="18" charset="0"/>
                                    </a:rPr>
                                    <m:t>𝑘</m:t>
                                  </m:r>
                                </m:sub>
                                <m:sup>
                                  <m:r>
                                    <a:rPr lang="tr-TR" i="1">
                                      <a:latin typeface="Cambria Math" panose="02040503050406030204" pitchFamily="18" charset="0"/>
                                    </a:rPr>
                                    <m:t>𝑖</m:t>
                                  </m:r>
                                </m:sup>
                              </m:sSubSup>
                            </m:e>
                          </m:d>
                        </m:e>
                      </m:nary>
                    </m:oMath>
                  </m:oMathPara>
                </a14:m>
                <a:endParaRPr lang="tr-TR"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e>
                          </m:d>
                          <m:r>
                            <a:rPr lang="tr-TR" i="0">
                              <a:latin typeface="Cambria Math" panose="02040503050406030204" pitchFamily="18" charset="0"/>
                            </a:rPr>
                            <m:t>,</m:t>
                          </m:r>
                          <m:r>
                            <a:rPr lang="tr-TR" i="1">
                              <a:latin typeface="Cambria Math" panose="02040503050406030204" pitchFamily="18" charset="0"/>
                            </a:rPr>
                            <m:t>𝑖</m:t>
                          </m:r>
                        </m:sup>
                      </m:sSubSup>
                      <m:r>
                        <a:rPr lang="tr-TR" i="0">
                          <a:latin typeface="Cambria Math" panose="02040503050406030204" pitchFamily="18" charset="0"/>
                        </a:rPr>
                        <m:t>=</m:t>
                      </m:r>
                      <m:nary>
                        <m:naryPr>
                          <m:chr m:val="∑"/>
                          <m:limLoc m:val="undOvr"/>
                          <m:supHide m:val="on"/>
                          <m:ctrlPr>
                            <a:rPr lang="tr-TR" i="1">
                              <a:latin typeface="Cambria Math" panose="02040503050406030204" pitchFamily="18" charset="0"/>
                            </a:rPr>
                          </m:ctrlPr>
                        </m:naryPr>
                        <m:sub>
                          <m:r>
                            <a:rPr lang="tr-TR" i="1">
                              <a:latin typeface="Cambria Math" panose="02040503050406030204" pitchFamily="18" charset="0"/>
                            </a:rPr>
                            <m:t>𝑚</m:t>
                          </m:r>
                          <m:r>
                            <a:rPr lang="tr-TR" i="0">
                              <a:latin typeface="Cambria Math" panose="02040503050406030204" pitchFamily="18" charset="0"/>
                            </a:rPr>
                            <m:t>∈</m:t>
                          </m:r>
                          <m:sSubSup>
                            <m:sSubSupPr>
                              <m:ctrlPr>
                                <a:rPr lang="tr-TR" i="1">
                                  <a:solidFill>
                                    <a:srgbClr val="836967"/>
                                  </a:solidFill>
                                  <a:latin typeface="Cambria Math" panose="02040503050406030204" pitchFamily="18" charset="0"/>
                                </a:rPr>
                              </m:ctrlPr>
                            </m:sSubSupPr>
                            <m:e>
                              <m:r>
                                <a:rPr lang="tr-TR" i="0">
                                  <a:latin typeface="Cambria Math" panose="02040503050406030204" pitchFamily="18" charset="0"/>
                                </a:rPr>
                                <m:t>𝒞</m:t>
                              </m:r>
                            </m:e>
                            <m:sub>
                              <m:r>
                                <a:rPr lang="tr-TR" i="1">
                                  <a:latin typeface="Cambria Math" panose="02040503050406030204" pitchFamily="18" charset="0"/>
                                </a:rPr>
                                <m:t>𝑛</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sub>
                        <m:sup/>
                        <m:e>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𝜔</m:t>
                              </m:r>
                            </m:e>
                            <m:sub>
                              <m:r>
                                <a:rPr lang="tr-TR" i="1">
                                  <a:latin typeface="Cambria Math" panose="02040503050406030204" pitchFamily="18" charset="0"/>
                                </a:rPr>
                                <m:t>𝑛</m:t>
                              </m:r>
                              <m:r>
                                <a:rPr lang="tr-TR" i="0">
                                  <a:latin typeface="Cambria Math" panose="02040503050406030204" pitchFamily="18" charset="0"/>
                                </a:rPr>
                                <m:t>,</m:t>
                              </m:r>
                              <m:r>
                                <a:rPr lang="tr-TR" i="1">
                                  <a:latin typeface="Cambria Math" panose="02040503050406030204" pitchFamily="18" charset="0"/>
                                </a:rPr>
                                <m:t>𝑚</m:t>
                              </m:r>
                            </m:sub>
                            <m:sup>
                              <m:d>
                                <m:dPr>
                                  <m:ctrlPr>
                                    <a:rPr lang="tr-TR" i="1">
                                      <a:latin typeface="Cambria Math" panose="02040503050406030204" pitchFamily="18" charset="0"/>
                                    </a:rPr>
                                  </m:ctrlPr>
                                </m:dPr>
                                <m:e>
                                  <m:r>
                                    <a:rPr lang="tr-TR" i="1">
                                      <a:latin typeface="Cambria Math" panose="02040503050406030204" pitchFamily="18" charset="0"/>
                                    </a:rPr>
                                    <m:t>𝑙</m:t>
                                  </m:r>
                                </m:e>
                              </m:d>
                            </m:sup>
                          </m:sSubSup>
                          <m:r>
                            <a:rPr lang="tr-TR" i="0">
                              <a:latin typeface="Cambria Math" panose="02040503050406030204" pitchFamily="18" charset="0"/>
                            </a:rPr>
                            <m:t>⋅</m:t>
                          </m:r>
                          <m:sSubSup>
                            <m:sSubSupPr>
                              <m:ctrlPr>
                                <a:rPr lang="tr-TR" i="1">
                                  <a:solidFill>
                                    <a:srgbClr val="836967"/>
                                  </a:solidFill>
                                  <a:latin typeface="Cambria Math" panose="02040503050406030204" pitchFamily="18" charset="0"/>
                                </a:rPr>
                              </m:ctrlPr>
                            </m:sSubSupPr>
                            <m:e>
                              <m:r>
                                <a:rPr lang="tr-TR" i="1">
                                  <a:latin typeface="Cambria Math" panose="02040503050406030204" pitchFamily="18" charset="0"/>
                                </a:rPr>
                                <m:t>𝑎</m:t>
                              </m:r>
                            </m:e>
                            <m:sub>
                              <m:r>
                                <a:rPr lang="tr-TR" i="1">
                                  <a:latin typeface="Cambria Math" panose="02040503050406030204" pitchFamily="18" charset="0"/>
                                </a:rPr>
                                <m:t>𝑚</m:t>
                              </m:r>
                              <m:r>
                                <a:rPr lang="tr-TR" i="0">
                                  <a:latin typeface="Cambria Math" panose="02040503050406030204" pitchFamily="18" charset="0"/>
                                </a:rPr>
                                <m:t>,</m:t>
                              </m:r>
                              <m:r>
                                <a:rPr lang="tr-TR" i="1">
                                  <a:latin typeface="Cambria Math" panose="02040503050406030204" pitchFamily="18" charset="0"/>
                                </a:rPr>
                                <m:t>𝑘</m:t>
                              </m:r>
                            </m:sub>
                            <m:sup>
                              <m:d>
                                <m:dPr>
                                  <m:ctrlPr>
                                    <a:rPr lang="tr-TR" i="1">
                                      <a:latin typeface="Cambria Math" panose="02040503050406030204" pitchFamily="18" charset="0"/>
                                    </a:rPr>
                                  </m:ctrlPr>
                                </m:dPr>
                                <m:e>
                                  <m:r>
                                    <a:rPr lang="tr-TR" i="1">
                                      <a:latin typeface="Cambria Math" panose="02040503050406030204" pitchFamily="18" charset="0"/>
                                    </a:rPr>
                                    <m:t>𝑙</m:t>
                                  </m:r>
                                  <m:r>
                                    <a:rPr lang="tr-TR" i="0">
                                      <a:latin typeface="Cambria Math" panose="02040503050406030204" pitchFamily="18" charset="0"/>
                                    </a:rPr>
                                    <m:t>−1</m:t>
                                  </m:r>
                                </m:e>
                              </m:d>
                              <m:r>
                                <a:rPr lang="tr-TR" i="0">
                                  <a:latin typeface="Cambria Math" panose="02040503050406030204" pitchFamily="18" charset="0"/>
                                </a:rPr>
                                <m:t>,</m:t>
                              </m:r>
                              <m:r>
                                <a:rPr lang="tr-TR" i="1">
                                  <a:latin typeface="Cambria Math" panose="02040503050406030204" pitchFamily="18" charset="0"/>
                                </a:rPr>
                                <m:t>𝑖</m:t>
                              </m:r>
                            </m:sup>
                          </m:sSubSup>
                        </m:e>
                      </m:nary>
                      <m:r>
                        <a:rPr lang="tr-TR" i="0">
                          <a:latin typeface="Cambria Math" panose="02040503050406030204" pitchFamily="18" charset="0"/>
                        </a:rPr>
                        <m:t>, </m:t>
                      </m:r>
                      <m:r>
                        <a:rPr lang="tr-TR" i="1">
                          <a:latin typeface="Cambria Math" panose="02040503050406030204" pitchFamily="18" charset="0"/>
                        </a:rPr>
                        <m:t>𝑙</m:t>
                      </m:r>
                      <m:r>
                        <a:rPr lang="tr-TR" i="0">
                          <a:latin typeface="Cambria Math" panose="02040503050406030204" pitchFamily="18" charset="0"/>
                        </a:rPr>
                        <m:t>=2,3,4</m:t>
                      </m:r>
                    </m:oMath>
                  </m:oMathPara>
                </a14:m>
                <a:endParaRPr lang="tr-TR" dirty="0"/>
              </a:p>
            </p:txBody>
          </p:sp>
        </mc:Choice>
        <mc:Fallback xmlns="">
          <p:sp>
            <p:nvSpPr>
              <p:cNvPr id="17" name="TextBox 16">
                <a:extLst>
                  <a:ext uri="{FF2B5EF4-FFF2-40B4-BE49-F238E27FC236}">
                    <a16:creationId xmlns:a16="http://schemas.microsoft.com/office/drawing/2014/main" id="{7BC3C359-A415-424F-9DE6-5B5DD8B6E6CD}"/>
                  </a:ext>
                </a:extLst>
              </p:cNvPr>
              <p:cNvSpPr txBox="1">
                <a:spLocks noRot="1" noChangeAspect="1" noMove="1" noResize="1" noEditPoints="1" noAdjustHandles="1" noChangeArrowheads="1" noChangeShapeType="1" noTextEdit="1"/>
              </p:cNvSpPr>
              <p:nvPr/>
            </p:nvSpPr>
            <p:spPr>
              <a:xfrm>
                <a:off x="7516498" y="4195094"/>
                <a:ext cx="4172582" cy="1589281"/>
              </a:xfrm>
              <a:prstGeom prst="rect">
                <a:avLst/>
              </a:prstGeom>
              <a:blipFill>
                <a:blip r:embed="rId6"/>
                <a:stretch>
                  <a:fillRect/>
                </a:stretch>
              </a:blipFill>
            </p:spPr>
            <p:txBody>
              <a:bodyPr/>
              <a:lstStyle/>
              <a:p>
                <a:r>
                  <a:rPr lang="tr-TR">
                    <a:noFill/>
                  </a:rPr>
                  <a:t/>
                </a:r>
              </a:p>
            </p:txBody>
          </p:sp>
        </mc:Fallback>
      </mc:AlternateContent>
      <p:pic>
        <p:nvPicPr>
          <p:cNvPr id="8" name="Picture 7">
            <a:extLst>
              <a:ext uri="{FF2B5EF4-FFF2-40B4-BE49-F238E27FC236}">
                <a16:creationId xmlns:a16="http://schemas.microsoft.com/office/drawing/2014/main" id="{3E6F9B69-7D3E-4750-9BE5-721785B13BFA}"/>
              </a:ext>
            </a:extLst>
          </p:cNvPr>
          <p:cNvPicPr>
            <a:picLocks noChangeAspect="1"/>
          </p:cNvPicPr>
          <p:nvPr/>
        </p:nvPicPr>
        <p:blipFill>
          <a:blip r:embed="rId7"/>
          <a:stretch>
            <a:fillRect/>
          </a:stretch>
        </p:blipFill>
        <p:spPr>
          <a:xfrm>
            <a:off x="480277" y="1243584"/>
            <a:ext cx="6700085" cy="4858933"/>
          </a:xfrm>
          <a:prstGeom prst="rect">
            <a:avLst/>
          </a:prstGeom>
        </p:spPr>
      </p:pic>
      <p:sp>
        <p:nvSpPr>
          <p:cNvPr id="90004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40 / 113</a:t>
            </a:r>
          </a:p>
        </p:txBody>
      </p:sp>
    </p:spTree>
    <p:extLst>
      <p:ext uri="{BB962C8B-B14F-4D97-AF65-F5344CB8AC3E}">
        <p14:creationId xmlns:p14="http://schemas.microsoft.com/office/powerpoint/2010/main" val="22317345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pPr marL="0" indent="0">
              <a:buNone/>
            </a:pPr>
            <a:r>
              <a:rPr lang="en-US" sz="2400" b="1" dirty="0">
                <a:solidFill>
                  <a:srgbClr val="000000"/>
                </a:solidFill>
                <a:latin typeface="Cambria" pitchFamily="34" charset="0"/>
                <a:ea typeface="Cambria" pitchFamily="34" charset="-122"/>
                <a:cs typeface="Cambria" pitchFamily="34" charset="-120"/>
              </a:rPr>
              <a:t>Layer 3 : Concept Space</a:t>
            </a:r>
            <a:r>
              <a:rPr lang="tr-TR" sz="2400" b="1" dirty="0">
                <a:solidFill>
                  <a:srgbClr val="000000"/>
                </a:solidFill>
                <a:latin typeface="Cambria" pitchFamily="34" charset="0"/>
                <a:ea typeface="Cambria" pitchFamily="34" charset="-122"/>
                <a:cs typeface="Cambria" pitchFamily="34" charset="-120"/>
              </a:rPr>
              <a:t> – </a:t>
            </a:r>
            <a:r>
              <a:rPr lang="en-US" sz="2400" b="1" dirty="0">
                <a:solidFill>
                  <a:srgbClr val="000000"/>
                </a:solidFill>
                <a:latin typeface="Cambria" pitchFamily="34" charset="0"/>
                <a:ea typeface="Cambria" pitchFamily="34" charset="-122"/>
                <a:cs typeface="Cambria" pitchFamily="34" charset="-120"/>
              </a:rPr>
              <a:t>Fuzzy Inference</a:t>
            </a:r>
            <a:endParaRPr lang="en-US" sz="24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12" name="Shape 2">
            <a:extLst>
              <a:ext uri="{FF2B5EF4-FFF2-40B4-BE49-F238E27FC236}">
                <a16:creationId xmlns:a16="http://schemas.microsoft.com/office/drawing/2014/main" id="{FDE032D8-8A58-49F4-8526-A7603D5DFD6E}"/>
              </a:ext>
            </a:extLst>
          </p:cNvPr>
          <p:cNvSpPr/>
          <p:nvPr/>
        </p:nvSpPr>
        <p:spPr>
          <a:xfrm>
            <a:off x="472440" y="1216152"/>
            <a:ext cx="5532120" cy="3246120"/>
          </a:xfrm>
          <a:prstGeom prst="roundRect">
            <a:avLst>
              <a:gd name="adj" fmla="val 1408"/>
            </a:avLst>
          </a:prstGeom>
          <a:solidFill>
            <a:srgbClr val="F2F2F2"/>
          </a:solidFill>
          <a:ln/>
        </p:spPr>
        <p:txBody>
          <a:bodyPr/>
          <a:lstStyle/>
          <a:p>
            <a:endParaRPr lang="tr-TR"/>
          </a:p>
        </p:txBody>
      </p:sp>
      <p:sp>
        <p:nvSpPr>
          <p:cNvPr id="13" name="Shape 3">
            <a:extLst>
              <a:ext uri="{FF2B5EF4-FFF2-40B4-BE49-F238E27FC236}">
                <a16:creationId xmlns:a16="http://schemas.microsoft.com/office/drawing/2014/main" id="{BE6751CE-EA5A-4042-824E-9E5D5BFB8A84}"/>
              </a:ext>
            </a:extLst>
          </p:cNvPr>
          <p:cNvSpPr/>
          <p:nvPr/>
        </p:nvSpPr>
        <p:spPr>
          <a:xfrm>
            <a:off x="6187440" y="1216152"/>
            <a:ext cx="5486400" cy="3246120"/>
          </a:xfrm>
          <a:prstGeom prst="roundRect">
            <a:avLst>
              <a:gd name="adj" fmla="val 1408"/>
            </a:avLst>
          </a:prstGeom>
          <a:solidFill>
            <a:srgbClr val="FDE8EB"/>
          </a:solidFill>
          <a:ln/>
        </p:spPr>
        <p:txBody>
          <a:bodyPr/>
          <a:lstStyle/>
          <a:p>
            <a:endParaRPr lang="tr-TR"/>
          </a:p>
        </p:txBody>
      </p:sp>
      <p:sp>
        <p:nvSpPr>
          <p:cNvPr id="14" name="Text 4">
            <a:extLst>
              <a:ext uri="{FF2B5EF4-FFF2-40B4-BE49-F238E27FC236}">
                <a16:creationId xmlns:a16="http://schemas.microsoft.com/office/drawing/2014/main" id="{66A960F1-0707-493A-A361-E666F81B8B91}"/>
              </a:ext>
            </a:extLst>
          </p:cNvPr>
          <p:cNvSpPr/>
          <p:nvPr/>
        </p:nvSpPr>
        <p:spPr>
          <a:xfrm>
            <a:off x="746760" y="1335024"/>
            <a:ext cx="5029200" cy="2926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kern="0" spc="200" dirty="0">
                <a:solidFill>
                  <a:srgbClr val="6E6E6E"/>
                </a:solidFill>
                <a:latin typeface="Calibri" pitchFamily="34" charset="0"/>
                <a:ea typeface="Calibri" pitchFamily="34" charset="-122"/>
                <a:cs typeface="Calibri" pitchFamily="34" charset="-120"/>
              </a:rPr>
              <a:t>MAMDANI</a:t>
            </a:r>
            <a:endParaRPr lang="en-US" sz="1500" dirty="0"/>
          </a:p>
        </p:txBody>
      </p:sp>
      <p:sp>
        <p:nvSpPr>
          <p:cNvPr id="15" name="Text 5">
            <a:extLst>
              <a:ext uri="{FF2B5EF4-FFF2-40B4-BE49-F238E27FC236}">
                <a16:creationId xmlns:a16="http://schemas.microsoft.com/office/drawing/2014/main" id="{241DAC05-2DF7-48F3-B98E-C6DEA35FD063}"/>
              </a:ext>
            </a:extLst>
          </p:cNvPr>
          <p:cNvSpPr/>
          <p:nvPr/>
        </p:nvSpPr>
        <p:spPr>
          <a:xfrm>
            <a:off x="6461760" y="1335024"/>
            <a:ext cx="5029200" cy="2926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kern="0" spc="100" dirty="0">
                <a:solidFill>
                  <a:srgbClr val="E31836"/>
                </a:solidFill>
                <a:latin typeface="Calibri" pitchFamily="34" charset="0"/>
                <a:ea typeface="Calibri" pitchFamily="34" charset="-122"/>
                <a:cs typeface="Calibri" pitchFamily="34" charset="-120"/>
              </a:rPr>
              <a:t>ZERO-ORDER TAKAGI–SUGENO (this thesis)</a:t>
            </a:r>
            <a:endParaRPr lang="en-US" sz="1500" dirty="0"/>
          </a:p>
        </p:txBody>
      </p:sp>
      <p:sp>
        <p:nvSpPr>
          <p:cNvPr id="16" name="Text 6">
            <a:extLst>
              <a:ext uri="{FF2B5EF4-FFF2-40B4-BE49-F238E27FC236}">
                <a16:creationId xmlns:a16="http://schemas.microsoft.com/office/drawing/2014/main" id="{DFBE0F7B-0AE8-468F-9D91-BD8F3DC5DBD5}"/>
              </a:ext>
            </a:extLst>
          </p:cNvPr>
          <p:cNvSpPr/>
          <p:nvPr/>
        </p:nvSpPr>
        <p:spPr>
          <a:xfrm>
            <a:off x="746760" y="1673352"/>
            <a:ext cx="502920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dirty="0">
                <a:solidFill>
                  <a:srgbClr val="222222"/>
                </a:solidFill>
                <a:latin typeface="Calibri" pitchFamily="34" charset="0"/>
                <a:ea typeface="Calibri" pitchFamily="34" charset="-122"/>
                <a:cs typeface="Calibri" pitchFamily="34" charset="-120"/>
              </a:rPr>
              <a:t>Consequent is a fuzzy set: “…THEN u is HIGH”</a:t>
            </a:r>
            <a:endParaRPr lang="en-US" sz="1300" dirty="0"/>
          </a:p>
        </p:txBody>
      </p:sp>
      <mc:AlternateContent xmlns:mc="http://schemas.openxmlformats.org/markup-compatibility/2006" xmlns:a14="http://schemas.microsoft.com/office/drawing/2010/main">
        <mc:Choice Requires="a14">
          <p:sp>
            <p:nvSpPr>
              <p:cNvPr id="17" name="Text 7">
                <a:extLst>
                  <a:ext uri="{FF2B5EF4-FFF2-40B4-BE49-F238E27FC236}">
                    <a16:creationId xmlns:a16="http://schemas.microsoft.com/office/drawing/2014/main" id="{22874BB7-FBD7-4C5B-A08A-A93B8C5EC660}"/>
                  </a:ext>
                </a:extLst>
              </p:cNvPr>
              <p:cNvSpPr/>
              <p:nvPr/>
            </p:nvSpPr>
            <p:spPr>
              <a:xfrm>
                <a:off x="746760" y="2039112"/>
                <a:ext cx="502920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sz="1400">
                              <a:latin typeface="Cambria Math"/>
                            </a:rPr>
                            <m:t>𝑢</m:t>
                          </m:r>
                        </m:e>
                        <m:sup>
                          <m:r>
                            <a:rPr lang="en-US" sz="1400">
                              <a:latin typeface="Cambria Math"/>
                            </a:rPr>
                            <m:t>∗</m:t>
                          </m:r>
                        </m:sup>
                      </m:sSup>
                      <m:r>
                        <a:rPr lang="en-US" sz="1400">
                          <a:latin typeface="Cambria Math"/>
                        </a:rPr>
                        <m:t>=</m:t>
                      </m:r>
                      <m:f>
                        <m:fPr>
                          <m:ctrlPr>
                            <a:rPr lang="en-US" i="1">
                              <a:latin typeface="Cambria Math" panose="02040503050406030204" pitchFamily="18" charset="0"/>
                            </a:rPr>
                          </m:ctrlPr>
                        </m:fPr>
                        <m:num>
                          <m:r>
                            <a:rPr lang="en-US" sz="1400">
                              <a:latin typeface="Cambria Math"/>
                            </a:rPr>
                            <m:t>∫</m:t>
                          </m:r>
                          <m:r>
                            <a:rPr lang="en-US" sz="1400">
                              <a:latin typeface="Cambria Math"/>
                            </a:rPr>
                            <m:t>𝑢</m:t>
                          </m:r>
                          <m:r>
                            <a:rPr lang="en-US" sz="1400">
                              <a:latin typeface="Cambria Math"/>
                            </a:rPr>
                            <m:t>⋅</m:t>
                          </m:r>
                          <m:sSub>
                            <m:sSubPr>
                              <m:ctrlPr>
                                <a:rPr lang="en-US" i="1">
                                  <a:latin typeface="Cambria Math" panose="02040503050406030204" pitchFamily="18" charset="0"/>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r>
                            <m:rPr>
                              <m:sty m:val="p"/>
                            </m:rPr>
                            <a:rPr lang="en-US" sz="1400">
                              <a:latin typeface="Cambria Math"/>
                            </a:rPr>
                            <m:t>du</m:t>
                          </m:r>
                        </m:num>
                        <m:den>
                          <m:r>
                            <a:rPr lang="en-US" sz="1400">
                              <a:latin typeface="Cambria Math"/>
                            </a:rPr>
                            <m:t>∫</m:t>
                          </m:r>
                          <m:sSub>
                            <m:sSubPr>
                              <m:ctrlPr>
                                <a:rPr lang="en-US" i="1">
                                  <a:latin typeface="Cambria Math" panose="02040503050406030204" pitchFamily="18" charset="0"/>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r>
                            <m:rPr>
                              <m:sty m:val="p"/>
                            </m:rPr>
                            <a:rPr lang="en-US" sz="1400">
                              <a:latin typeface="Cambria Math"/>
                            </a:rPr>
                            <m:t>du</m:t>
                          </m:r>
                        </m:den>
                      </m:f>
                    </m:oMath>
                  </m:oMathPara>
                </a14:m>
                <a:endParaRPr lang="en-US" sz="1300" dirty="0"/>
              </a:p>
            </p:txBody>
          </p:sp>
        </mc:Choice>
        <mc:Fallback xmlns="">
          <p:sp>
            <p:nvSpPr>
              <p:cNvPr id="17" name="Text 7">
                <a:extLst>
                  <a:ext uri="{FF2B5EF4-FFF2-40B4-BE49-F238E27FC236}">
                    <a16:creationId xmlns:a16="http://schemas.microsoft.com/office/drawing/2014/main" id="{22874BB7-FBD7-4C5B-A08A-A93B8C5EC660}"/>
                  </a:ext>
                </a:extLst>
              </p:cNvPr>
              <p:cNvSpPr>
                <a:spLocks noRot="1" noChangeAspect="1" noMove="1" noResize="1" noEditPoints="1" noAdjustHandles="1" noChangeArrowheads="1" noChangeShapeType="1" noTextEdit="1"/>
              </p:cNvSpPr>
              <p:nvPr/>
            </p:nvSpPr>
            <p:spPr>
              <a:xfrm>
                <a:off x="746760" y="2039112"/>
                <a:ext cx="5029200" cy="68580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8" name="Text 8">
                <a:extLst>
                  <a:ext uri="{FF2B5EF4-FFF2-40B4-BE49-F238E27FC236}">
                    <a16:creationId xmlns:a16="http://schemas.microsoft.com/office/drawing/2014/main" id="{CEED5808-43F1-44F2-9A6C-D5A8205A4889}"/>
                  </a:ext>
                </a:extLst>
              </p:cNvPr>
              <p:cNvSpPr/>
              <p:nvPr/>
            </p:nvSpPr>
            <p:spPr>
              <a:xfrm>
                <a:off x="746760" y="2770632"/>
                <a:ext cx="5029200" cy="5029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𝜇</m:t>
                          </m:r>
                        </m:e>
                        <m:sub>
                          <m:r>
                            <a:rPr lang="en-US" sz="1400">
                              <a:latin typeface="Cambria Math"/>
                            </a:rPr>
                            <m:t>𝑎𝑔𝑔</m:t>
                          </m:r>
                        </m:sub>
                      </m:sSub>
                      <m:r>
                        <a:rPr lang="en-US" sz="1400">
                          <a:latin typeface="Cambria Math"/>
                        </a:rPr>
                        <m:t>(</m:t>
                      </m:r>
                      <m:r>
                        <a:rPr lang="en-US" sz="1400">
                          <a:latin typeface="Cambria Math"/>
                        </a:rPr>
                        <m:t>𝑢</m:t>
                      </m:r>
                      <m:r>
                        <a:rPr lang="en-US" sz="1400">
                          <a:latin typeface="Cambria Math"/>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sz="1400">
                                  <a:latin typeface="Cambria Math"/>
                                </a:rPr>
                                <m:t>max</m:t>
                              </m:r>
                            </m:e>
                            <m:lim>
                              <m:r>
                                <a:rPr lang="en-US" sz="1400">
                                  <a:latin typeface="Cambria Math"/>
                                </a:rPr>
                                <m:t>𝑟</m:t>
                              </m:r>
                            </m:lim>
                          </m:limLow>
                        </m:fName>
                        <m:e>
                          <m:r>
                            <m:rPr>
                              <m:sty m:val="p"/>
                            </m:rPr>
                            <a:rPr lang="en-US" sz="1400">
                              <a:latin typeface="Cambria Math"/>
                            </a:rPr>
                            <m:t>min</m:t>
                          </m:r>
                          <m:r>
                            <a:rPr lang="en-US" sz="1400">
                              <a:latin typeface="Cambria Math"/>
                            </a:rPr>
                            <m:t>(</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𝑟</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𝜇</m:t>
                              </m:r>
                            </m:e>
                            <m:sub>
                              <m:sSub>
                                <m:sSubPr>
                                  <m:ctrlPr>
                                    <a:rPr lang="en-US" i="1">
                                      <a:latin typeface="Cambria Math" panose="02040503050406030204" pitchFamily="18" charset="0"/>
                                    </a:rPr>
                                  </m:ctrlPr>
                                </m:sSubPr>
                                <m:e>
                                  <m:r>
                                    <a:rPr lang="en-US" sz="1400">
                                      <a:latin typeface="Cambria Math"/>
                                    </a:rPr>
                                    <m:t>ℬ</m:t>
                                  </m:r>
                                </m:e>
                                <m:sub>
                                  <m:r>
                                    <a:rPr lang="en-US" sz="1400">
                                      <a:latin typeface="Cambria Math"/>
                                    </a:rPr>
                                    <m:t>𝑟</m:t>
                                  </m:r>
                                </m:sub>
                              </m:sSub>
                            </m:sub>
                          </m:sSub>
                          <m:r>
                            <a:rPr lang="en-US" sz="1400">
                              <a:latin typeface="Cambria Math"/>
                            </a:rPr>
                            <m:t>(</m:t>
                          </m:r>
                          <m:r>
                            <a:rPr lang="en-US" sz="1400">
                              <a:latin typeface="Cambria Math"/>
                            </a:rPr>
                            <m:t>𝑢</m:t>
                          </m:r>
                          <m:r>
                            <a:rPr lang="en-US" sz="1400">
                              <a:latin typeface="Cambria Math"/>
                            </a:rPr>
                            <m:t>))</m:t>
                          </m:r>
                        </m:e>
                      </m:func>
                      <m:r>
                        <a:rPr lang="en-US" sz="1400">
                          <a:latin typeface="Cambria Math"/>
                        </a:rPr>
                        <m:t>⁡</m:t>
                      </m:r>
                    </m:oMath>
                  </m:oMathPara>
                </a14:m>
                <a:endParaRPr lang="en-US" sz="1300" dirty="0"/>
              </a:p>
            </p:txBody>
          </p:sp>
        </mc:Choice>
        <mc:Fallback xmlns="">
          <p:sp>
            <p:nvSpPr>
              <p:cNvPr id="18" name="Text 8">
                <a:extLst>
                  <a:ext uri="{FF2B5EF4-FFF2-40B4-BE49-F238E27FC236}">
                    <a16:creationId xmlns:a16="http://schemas.microsoft.com/office/drawing/2014/main" id="{CEED5808-43F1-44F2-9A6C-D5A8205A4889}"/>
                  </a:ext>
                </a:extLst>
              </p:cNvPr>
              <p:cNvSpPr>
                <a:spLocks noRot="1" noChangeAspect="1" noMove="1" noResize="1" noEditPoints="1" noAdjustHandles="1" noChangeArrowheads="1" noChangeShapeType="1" noTextEdit="1"/>
              </p:cNvSpPr>
              <p:nvPr/>
            </p:nvSpPr>
            <p:spPr>
              <a:xfrm>
                <a:off x="746760" y="2770632"/>
                <a:ext cx="5029200" cy="502920"/>
              </a:xfrm>
              <a:prstGeom prst="rect">
                <a:avLst/>
              </a:prstGeom>
              <a:blipFill>
                <a:blip r:embed="rId6"/>
                <a:stretch>
                  <a:fillRect/>
                </a:stretch>
              </a:blipFill>
              <a:ln/>
            </p:spPr>
            <p:txBody>
              <a:bodyPr/>
              <a:lstStyle/>
              <a:p>
                <a:r>
                  <a:rPr lang="tr-TR">
                    <a:noFill/>
                  </a:rPr>
                  <a:t/>
                </a:r>
              </a:p>
            </p:txBody>
          </p:sp>
        </mc:Fallback>
      </mc:AlternateContent>
      <p:sp>
        <p:nvSpPr>
          <p:cNvPr id="19" name="Text 9">
            <a:extLst>
              <a:ext uri="{FF2B5EF4-FFF2-40B4-BE49-F238E27FC236}">
                <a16:creationId xmlns:a16="http://schemas.microsoft.com/office/drawing/2014/main" id="{962D4510-01B5-49B1-BCC0-0AF65EAAE5E1}"/>
              </a:ext>
            </a:extLst>
          </p:cNvPr>
          <p:cNvSpPr/>
          <p:nvPr/>
        </p:nvSpPr>
        <p:spPr>
          <a:xfrm>
            <a:off x="746760" y="3364992"/>
            <a:ext cx="5029200" cy="100584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0" indent="-127000">
              <a:lnSpc>
                <a:spcPct val="102000"/>
              </a:lnSpc>
              <a:spcAft>
                <a:spcPts val="500"/>
              </a:spcAft>
              <a:buSzPct val="100000"/>
              <a:buChar char="•"/>
            </a:pPr>
            <a:r>
              <a:rPr lang="en-US" sz="1250" dirty="0">
                <a:solidFill>
                  <a:srgbClr val="222222"/>
                </a:solidFill>
                <a:latin typeface="Calibri" pitchFamily="34" charset="0"/>
                <a:ea typeface="Calibri" pitchFamily="34" charset="-122"/>
                <a:cs typeface="Calibri" pitchFamily="34" charset="-120"/>
              </a:rPr>
              <a:t>Output sets are clipped, aggregated, then defuzzified (centroid integral)</a:t>
            </a:r>
            <a:endParaRPr lang="en-US" sz="1250" dirty="0"/>
          </a:p>
          <a:p>
            <a:pPr marL="127000" indent="-127000">
              <a:lnSpc>
                <a:spcPct val="102000"/>
              </a:lnSpc>
              <a:spcAft>
                <a:spcPts val="500"/>
              </a:spcAft>
              <a:buSzPct val="100000"/>
              <a:buChar char="•"/>
            </a:pPr>
            <a:r>
              <a:rPr lang="en-US" sz="1250" dirty="0">
                <a:solidFill>
                  <a:srgbClr val="222222"/>
                </a:solidFill>
                <a:latin typeface="Calibri" pitchFamily="34" charset="0"/>
                <a:ea typeface="Calibri" pitchFamily="34" charset="-122"/>
                <a:cs typeface="Calibri" pitchFamily="34" charset="-120"/>
              </a:rPr>
              <a:t>Strength: linguistic output — natural when the answer is a phrase for a human</a:t>
            </a:r>
            <a:endParaRPr lang="en-US" sz="1250" dirty="0"/>
          </a:p>
          <a:p>
            <a:pPr marL="127000" indent="-127000">
              <a:lnSpc>
                <a:spcPct val="102000"/>
              </a:lnSpc>
              <a:buSzPct val="100000"/>
              <a:buChar char="•"/>
            </a:pPr>
            <a:r>
              <a:rPr lang="en-US" sz="1250" dirty="0">
                <a:solidFill>
                  <a:srgbClr val="222222"/>
                </a:solidFill>
                <a:latin typeface="Calibri" pitchFamily="34" charset="0"/>
                <a:ea typeface="Calibri" pitchFamily="34" charset="-122"/>
                <a:cs typeface="Calibri" pitchFamily="34" charset="-120"/>
              </a:rPr>
              <a:t>Cost: the integral blurs which rule ordered what, and tuning means reshaping whole output sets</a:t>
            </a:r>
            <a:endParaRPr lang="en-US" sz="1250" dirty="0"/>
          </a:p>
        </p:txBody>
      </p:sp>
      <p:sp>
        <p:nvSpPr>
          <p:cNvPr id="20" name="Text 10">
            <a:extLst>
              <a:ext uri="{FF2B5EF4-FFF2-40B4-BE49-F238E27FC236}">
                <a16:creationId xmlns:a16="http://schemas.microsoft.com/office/drawing/2014/main" id="{32EC1233-986C-49E2-90E1-E5AC78DE57FC}"/>
              </a:ext>
            </a:extLst>
          </p:cNvPr>
          <p:cNvSpPr/>
          <p:nvPr/>
        </p:nvSpPr>
        <p:spPr>
          <a:xfrm>
            <a:off x="6461760" y="1673352"/>
            <a:ext cx="502920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dirty="0">
                <a:solidFill>
                  <a:srgbClr val="222222"/>
                </a:solidFill>
                <a:latin typeface="Calibri" pitchFamily="34" charset="0"/>
                <a:ea typeface="Calibri" pitchFamily="34" charset="-122"/>
                <a:cs typeface="Calibri" pitchFamily="34" charset="-120"/>
              </a:rPr>
              <a:t>Consequent is a numeric singleton: “…THEN suppression = 0.8”</a:t>
            </a:r>
            <a:endParaRPr lang="en-US" sz="1300" dirty="0"/>
          </a:p>
        </p:txBody>
      </p:sp>
      <mc:AlternateContent xmlns:mc="http://schemas.openxmlformats.org/markup-compatibility/2006" xmlns:a14="http://schemas.microsoft.com/office/drawing/2010/main">
        <mc:Choice Requires="a14">
          <p:sp>
            <p:nvSpPr>
              <p:cNvPr id="21" name="Text 11">
                <a:extLst>
                  <a:ext uri="{FF2B5EF4-FFF2-40B4-BE49-F238E27FC236}">
                    <a16:creationId xmlns:a16="http://schemas.microsoft.com/office/drawing/2014/main" id="{9CBADE3E-3254-4F9E-BB29-926001FFCCEF}"/>
                  </a:ext>
                </a:extLst>
              </p:cNvPr>
              <p:cNvSpPr/>
              <p:nvPr/>
            </p:nvSpPr>
            <p:spPr>
              <a:xfrm>
                <a:off x="6461760" y="2039112"/>
                <a:ext cx="5029200" cy="5029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𝑟</m:t>
                          </m:r>
                        </m:sub>
                      </m:sSub>
                      <m:r>
                        <a:rPr lang="en-US" sz="1400">
                          <a:latin typeface="Cambria Math"/>
                        </a:rPr>
                        <m:t>: </m:t>
                      </m:r>
                      <m:r>
                        <a:rPr lang="en-US" sz="1400">
                          <a:latin typeface="Cambria Math"/>
                        </a:rPr>
                        <m:t>𝐼𝐹</m:t>
                      </m:r>
                      <m:r>
                        <a:rPr lang="en-US" sz="1400">
                          <a:latin typeface="Cambria Math"/>
                        </a:rPr>
                        <m:t> </m:t>
                      </m:r>
                      <m:sSubSup>
                        <m:sSubSupPr>
                          <m:ctrlPr>
                            <a:rPr lang="en-US" i="1">
                              <a:latin typeface="Cambria Math" panose="02040503050406030204" pitchFamily="18" charset="0"/>
                            </a:rPr>
                          </m:ctrlPr>
                        </m:sSubSupPr>
                        <m:e>
                          <m:r>
                            <a:rPr lang="en-US" sz="1400">
                              <a:latin typeface="Cambria Math"/>
                            </a:rPr>
                            <m:t>𝑎</m:t>
                          </m:r>
                        </m:e>
                        <m:sub>
                          <m:r>
                            <a:rPr lang="en-US" sz="1400">
                              <a:latin typeface="Cambria Math"/>
                            </a:rPr>
                            <m:t>1,</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i="1">
                              <a:latin typeface="Cambria Math" panose="02040503050406030204" pitchFamily="18" charset="0"/>
                            </a:rPr>
                          </m:ctrlPr>
                        </m:sSubPr>
                        <m:e>
                          <m:r>
                            <a:rPr lang="en-US" sz="1400">
                              <a:latin typeface="Cambria Math"/>
                            </a:rPr>
                            <m:t>𝒜</m:t>
                          </m:r>
                        </m:e>
                        <m:sub>
                          <m:r>
                            <a:rPr lang="en-US" sz="1400">
                              <a:latin typeface="Cambria Math"/>
                            </a:rPr>
                            <m:t>𝑟</m:t>
                          </m:r>
                          <m:r>
                            <a:rPr lang="en-US" sz="1400">
                              <a:latin typeface="Cambria Math"/>
                            </a:rPr>
                            <m:t>,1</m:t>
                          </m:r>
                        </m:sub>
                      </m:sSub>
                      <m:r>
                        <a:rPr lang="en-US" sz="1400">
                          <a:latin typeface="Cambria Math"/>
                        </a:rPr>
                        <m:t> </m:t>
                      </m:r>
                      <m:r>
                        <a:rPr lang="en-US" sz="1400">
                          <a:latin typeface="Cambria Math"/>
                        </a:rPr>
                        <m:t>𝐴𝑁𝐷</m:t>
                      </m:r>
                      <m:r>
                        <a:rPr lang="en-US" sz="1400">
                          <a:latin typeface="Cambria Math"/>
                        </a:rPr>
                        <m:t> … </m:t>
                      </m:r>
                      <m:r>
                        <a:rPr lang="en-US" sz="1400">
                          <a:latin typeface="Cambria Math"/>
                        </a:rPr>
                        <m:t>𝐴𝑁𝐷</m:t>
                      </m:r>
                      <m:r>
                        <a:rPr lang="en-US" sz="1400">
                          <a:latin typeface="Cambria Math"/>
                        </a:rPr>
                        <m:t> </m:t>
                      </m:r>
                      <m:sSubSup>
                        <m:sSubSupPr>
                          <m:ctrlPr>
                            <a:rPr lang="en-US" i="1">
                              <a:latin typeface="Cambria Math" panose="02040503050406030204" pitchFamily="18" charset="0"/>
                            </a:rPr>
                          </m:ctrlPr>
                        </m:sSubSupPr>
                        <m:e>
                          <m:r>
                            <a:rPr lang="en-US" sz="1400">
                              <a:latin typeface="Cambria Math"/>
                            </a:rPr>
                            <m:t>𝑎</m:t>
                          </m:r>
                        </m:e>
                        <m:sub>
                          <m:r>
                            <a:rPr lang="en-US" sz="1400">
                              <a:latin typeface="Cambria Math"/>
                            </a:rPr>
                            <m:t>5,</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i="1">
                              <a:latin typeface="Cambria Math" panose="02040503050406030204" pitchFamily="18" charset="0"/>
                            </a:rPr>
                          </m:ctrlPr>
                        </m:sSubPr>
                        <m:e>
                          <m:r>
                            <a:rPr lang="en-US" sz="1400">
                              <a:latin typeface="Cambria Math"/>
                            </a:rPr>
                            <m:t>𝒜</m:t>
                          </m:r>
                        </m:e>
                        <m:sub>
                          <m:r>
                            <a:rPr lang="en-US" sz="1400">
                              <a:latin typeface="Cambria Math"/>
                            </a:rPr>
                            <m:t>𝑟</m:t>
                          </m:r>
                          <m:r>
                            <a:rPr lang="en-US" sz="1400">
                              <a:latin typeface="Cambria Math"/>
                            </a:rPr>
                            <m:t>,5</m:t>
                          </m:r>
                        </m:sub>
                      </m:sSub>
                      <m:r>
                        <a:rPr lang="en-US" sz="1400">
                          <a:latin typeface="Cambria Math"/>
                        </a:rPr>
                        <m:t> </m:t>
                      </m:r>
                      <m:r>
                        <a:rPr lang="en-US" sz="1400">
                          <a:latin typeface="Cambria Math"/>
                        </a:rPr>
                        <m:t>𝑇𝐻𝐸𝑁</m:t>
                      </m:r>
                      <m:r>
                        <a:rPr lang="en-US" sz="1400">
                          <a:latin typeface="Cambria Math"/>
                        </a:rPr>
                        <m:t> </m:t>
                      </m:r>
                      <m:sSubSup>
                        <m:sSubSupPr>
                          <m:ctrlPr>
                            <a:rPr lang="en-US" i="1">
                              <a:latin typeface="Cambria Math" panose="02040503050406030204" pitchFamily="18" charset="0"/>
                            </a:rPr>
                          </m:ctrlPr>
                        </m:sSubSup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 </m:t>
                      </m:r>
                      <m:r>
                        <a:rPr lang="en-US" sz="1400">
                          <a:latin typeface="Cambria Math"/>
                        </a:rPr>
                        <m:t>𝑖𝑠</m:t>
                      </m:r>
                      <m:r>
                        <a:rPr lang="en-US" sz="1400">
                          <a:latin typeface="Cambria Math"/>
                        </a:rPr>
                        <m:t> </m:t>
                      </m:r>
                      <m:sSub>
                        <m:sSubPr>
                          <m:ctrlPr>
                            <a:rPr lang="en-US" i="1">
                              <a:latin typeface="Cambria Math" panose="02040503050406030204" pitchFamily="18" charset="0"/>
                            </a:rPr>
                          </m:ctrlPr>
                        </m:sSubPr>
                        <m:e>
                          <m:r>
                            <a:rPr lang="en-US" sz="1400">
                              <a:latin typeface="Cambria Math"/>
                            </a:rPr>
                            <m:t>ℬ</m:t>
                          </m:r>
                        </m:e>
                        <m:sub>
                          <m:r>
                            <a:rPr lang="en-US" sz="1400">
                              <a:latin typeface="Cambria Math"/>
                            </a:rPr>
                            <m:t>𝑟</m:t>
                          </m:r>
                        </m:sub>
                      </m:sSub>
                    </m:oMath>
                  </m:oMathPara>
                </a14:m>
                <a:endParaRPr lang="en-US" sz="1200" dirty="0"/>
              </a:p>
            </p:txBody>
          </p:sp>
        </mc:Choice>
        <mc:Fallback xmlns="">
          <p:sp>
            <p:nvSpPr>
              <p:cNvPr id="21" name="Text 11">
                <a:extLst>
                  <a:ext uri="{FF2B5EF4-FFF2-40B4-BE49-F238E27FC236}">
                    <a16:creationId xmlns:a16="http://schemas.microsoft.com/office/drawing/2014/main" id="{9CBADE3E-3254-4F9E-BB29-926001FFCCEF}"/>
                  </a:ext>
                </a:extLst>
              </p:cNvPr>
              <p:cNvSpPr>
                <a:spLocks noRot="1" noChangeAspect="1" noMove="1" noResize="1" noEditPoints="1" noAdjustHandles="1" noChangeArrowheads="1" noChangeShapeType="1" noTextEdit="1"/>
              </p:cNvSpPr>
              <p:nvPr/>
            </p:nvSpPr>
            <p:spPr>
              <a:xfrm>
                <a:off x="6461760" y="2039112"/>
                <a:ext cx="5029200" cy="502920"/>
              </a:xfrm>
              <a:prstGeom prst="rect">
                <a:avLst/>
              </a:prstGeom>
              <a:blipFill>
                <a:blip r:embed="rId7"/>
                <a:stretch>
                  <a:fillRect l="-1939" r="-24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2" name="Text 12">
                <a:extLst>
                  <a:ext uri="{FF2B5EF4-FFF2-40B4-BE49-F238E27FC236}">
                    <a16:creationId xmlns:a16="http://schemas.microsoft.com/office/drawing/2014/main" id="{39FB4C6D-0B2A-4F3C-BE44-54F451B158B5}"/>
                  </a:ext>
                </a:extLst>
              </p:cNvPr>
              <p:cNvSpPr/>
              <p:nvPr/>
            </p:nvSpPr>
            <p:spPr>
              <a:xfrm>
                <a:off x="6461760" y="2587752"/>
                <a:ext cx="246888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𝑢</m:t>
                          </m:r>
                        </m:e>
                        <m:sub>
                          <m:r>
                            <a:rPr lang="en-US" sz="1400">
                              <a:latin typeface="Cambria Math"/>
                            </a:rPr>
                            <m:t>𝑚</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 </m:t>
                      </m:r>
                      <m:r>
                        <m:rPr>
                          <m:aln/>
                        </m:rPr>
                        <a:rPr lang="en-US" sz="1400">
                          <a:latin typeface="Cambria Math"/>
                        </a:rPr>
                        <m:t>=</m:t>
                      </m:r>
                      <m:r>
                        <a:rPr lang="en-US" sz="1400">
                          <a:latin typeface="Cambria Math"/>
                        </a:rPr>
                        <m:t> </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𝑟</m:t>
                              </m:r>
                            </m:sub>
                            <m:sup/>
                            <m:e>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𝑟</m:t>
                                  </m:r>
                                </m:sub>
                              </m:sSub>
                              <m:r>
                                <a:rPr lang="en-US" sz="1400">
                                  <a:latin typeface="Cambria Math"/>
                                </a:rPr>
                                <m:t> </m:t>
                              </m:r>
                              <m:sSub>
                                <m:sSubPr>
                                  <m:ctrlPr>
                                    <a:rPr lang="en-US" i="1">
                                      <a:latin typeface="Cambria Math" panose="02040503050406030204" pitchFamily="18" charset="0"/>
                                    </a:rPr>
                                  </m:ctrlPr>
                                </m:sSubPr>
                                <m:e>
                                  <m:r>
                                    <a:rPr lang="en-US" sz="1400">
                                      <a:latin typeface="Cambria Math"/>
                                    </a:rPr>
                                    <m:t>𝑣</m:t>
                                  </m:r>
                                </m:e>
                                <m:sub>
                                  <m:r>
                                    <a:rPr lang="en-US" sz="1400">
                                      <a:latin typeface="Cambria Math"/>
                                    </a:rPr>
                                    <m:t>𝑟</m:t>
                                  </m:r>
                                  <m:r>
                                    <a:rPr lang="en-US" sz="1400">
                                      <a:latin typeface="Cambria Math"/>
                                    </a:rPr>
                                    <m:t>,</m:t>
                                  </m:r>
                                  <m:r>
                                    <a:rPr lang="en-US" sz="1400">
                                      <a:latin typeface="Cambria Math"/>
                                    </a:rPr>
                                    <m:t>𝑚</m:t>
                                  </m:r>
                                </m:sub>
                              </m:sSub>
                            </m:e>
                          </m:nary>
                        </m:num>
                        <m:den>
                          <m:r>
                            <a:rPr lang="en-US" sz="1400">
                              <a:latin typeface="Cambria Math"/>
                            </a:rPr>
                            <m:t>𝑚𝑎𝑥</m:t>
                          </m:r>
                          <m:r>
                            <a:rPr lang="en-US" sz="1400">
                              <a:latin typeface="Cambria Math"/>
                            </a:rPr>
                            <m:t>(1, </m:t>
                          </m:r>
                          <m:nary>
                            <m:naryPr>
                              <m:chr m:val="∑"/>
                              <m:limLoc m:val="undOvr"/>
                              <m:ctrlPr>
                                <a:rPr lang="en-US" i="1">
                                  <a:latin typeface="Cambria Math" panose="02040503050406030204" pitchFamily="18" charset="0"/>
                                </a:rPr>
                              </m:ctrlPr>
                            </m:naryPr>
                            <m:sub>
                              <m:r>
                                <a:rPr lang="en-US" sz="1400">
                                  <a:latin typeface="Cambria Math"/>
                                </a:rPr>
                                <m:t>𝑟</m:t>
                              </m:r>
                            </m:sub>
                            <m:sup/>
                            <m:e>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𝑟</m:t>
                                  </m:r>
                                </m:sub>
                              </m:sSub>
                            </m:e>
                          </m:nary>
                          <m:r>
                            <a:rPr lang="en-US" sz="1400">
                              <a:latin typeface="Cambria Math"/>
                            </a:rPr>
                            <m:t>)</m:t>
                          </m:r>
                        </m:den>
                      </m:f>
                    </m:oMath>
                  </m:oMathPara>
                </a14:m>
                <a:endParaRPr lang="en-US" sz="1200" dirty="0"/>
              </a:p>
            </p:txBody>
          </p:sp>
        </mc:Choice>
        <mc:Fallback xmlns="">
          <p:sp>
            <p:nvSpPr>
              <p:cNvPr id="22" name="Text 12">
                <a:extLst>
                  <a:ext uri="{FF2B5EF4-FFF2-40B4-BE49-F238E27FC236}">
                    <a16:creationId xmlns:a16="http://schemas.microsoft.com/office/drawing/2014/main" id="{39FB4C6D-0B2A-4F3C-BE44-54F451B158B5}"/>
                  </a:ext>
                </a:extLst>
              </p:cNvPr>
              <p:cNvSpPr>
                <a:spLocks noRot="1" noChangeAspect="1" noMove="1" noResize="1" noEditPoints="1" noAdjustHandles="1" noChangeArrowheads="1" noChangeShapeType="1" noTextEdit="1"/>
              </p:cNvSpPr>
              <p:nvPr/>
            </p:nvSpPr>
            <p:spPr>
              <a:xfrm>
                <a:off x="6461760" y="2587752"/>
                <a:ext cx="2468880" cy="68580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23" name="Text 13">
                <a:extLst>
                  <a:ext uri="{FF2B5EF4-FFF2-40B4-BE49-F238E27FC236}">
                    <a16:creationId xmlns:a16="http://schemas.microsoft.com/office/drawing/2014/main" id="{2A7F13B5-73BC-4DD6-A727-8BE1BEFB66DD}"/>
                  </a:ext>
                </a:extLst>
              </p:cNvPr>
              <p:cNvSpPr/>
              <p:nvPr/>
            </p:nvSpPr>
            <p:spPr>
              <a:xfrm>
                <a:off x="9022080" y="2587752"/>
                <a:ext cx="2468880" cy="6858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 </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𝑟</m:t>
                          </m:r>
                        </m:sub>
                      </m:sSub>
                      <m:r>
                        <a:rPr lang="en-US" sz="1400">
                          <a:latin typeface="Cambria Math"/>
                        </a:rPr>
                        <m:t> </m:t>
                      </m:r>
                      <m:r>
                        <m:rPr>
                          <m:aln/>
                        </m:rPr>
                        <a:rPr lang="en-US" sz="1400">
                          <a:latin typeface="Cambria Math"/>
                        </a:rPr>
                        <m:t>=</m:t>
                      </m:r>
                      <m:r>
                        <a:rPr lang="en-US" sz="1400">
                          <a:latin typeface="Cambria Math"/>
                        </a:rPr>
                        <m:t> </m:t>
                      </m:r>
                      <m:sSub>
                        <m:sSubPr>
                          <m:ctrlPr>
                            <a:rPr lang="en-US" i="1">
                              <a:latin typeface="Cambria Math" panose="02040503050406030204" pitchFamily="18" charset="0"/>
                            </a:rPr>
                          </m:ctrlPr>
                        </m:sSubPr>
                        <m:e>
                          <m:r>
                            <m:rPr>
                              <m:sty m:val="p"/>
                            </m:rPr>
                            <a:rPr lang="en-US" sz="1400">
                              <a:latin typeface="Cambria Math"/>
                            </a:rPr>
                            <m:t>min</m:t>
                          </m:r>
                        </m:e>
                        <m:sub>
                          <m:r>
                            <a:rPr lang="en-US" sz="1400">
                              <a:latin typeface="Cambria Math"/>
                            </a:rPr>
                            <m:t>𝑛</m:t>
                          </m:r>
                          <m:r>
                            <a:rPr lang="en-US" sz="1400">
                              <a:latin typeface="Cambria Math"/>
                            </a:rPr>
                            <m:t> ∈ </m:t>
                          </m:r>
                          <m:r>
                            <a:rPr lang="en-US" sz="1400">
                              <a:latin typeface="Cambria Math"/>
                            </a:rPr>
                            <m:t>𝑎𝑛𝑡</m:t>
                          </m:r>
                          <m:r>
                            <a:rPr lang="en-US" sz="1400">
                              <a:latin typeface="Cambria Math"/>
                            </a:rPr>
                            <m:t>(</m:t>
                          </m:r>
                          <m:r>
                            <a:rPr lang="en-US" sz="1400">
                              <a:latin typeface="Cambria Math"/>
                            </a:rPr>
                            <m:t>𝑟</m:t>
                          </m:r>
                          <m:r>
                            <a:rPr lang="en-US" sz="1400">
                              <a:latin typeface="Cambria Math"/>
                            </a:rPr>
                            <m:t>)</m:t>
                          </m:r>
                        </m:sub>
                      </m:sSub>
                      <m:r>
                        <a:rPr lang="en-US" sz="1400">
                          <a:latin typeface="Cambria Math"/>
                        </a:rPr>
                        <m:t> </m:t>
                      </m:r>
                      <m:sSub>
                        <m:sSubPr>
                          <m:ctrlPr>
                            <a:rPr lang="en-US" i="1">
                              <a:latin typeface="Cambria Math" panose="02040503050406030204" pitchFamily="18" charset="0"/>
                            </a:rPr>
                          </m:ctrlPr>
                        </m:sSubPr>
                        <m:e>
                          <m:r>
                            <a:rPr lang="en-US" sz="1400">
                              <a:latin typeface="Cambria Math"/>
                            </a:rPr>
                            <m:t>𝜇</m:t>
                          </m:r>
                        </m:e>
                        <m:sub>
                          <m:sSub>
                            <m:sSubPr>
                              <m:ctrlPr>
                                <a:rPr lang="en-US" i="1">
                                  <a:latin typeface="Cambria Math" panose="02040503050406030204" pitchFamily="18" charset="0"/>
                                </a:rPr>
                              </m:ctrlPr>
                            </m:sSubPr>
                            <m:e>
                              <m:r>
                                <a:rPr lang="en-US" sz="1400">
                                  <a:latin typeface="Cambria Math"/>
                                </a:rPr>
                                <m:t>𝐴</m:t>
                              </m:r>
                            </m:e>
                            <m:sub>
                              <m:r>
                                <a:rPr lang="en-US" sz="1400">
                                  <a:latin typeface="Cambria Math"/>
                                </a:rPr>
                                <m:t>𝑟</m:t>
                              </m:r>
                              <m:r>
                                <a:rPr lang="en-US" sz="1400">
                                  <a:latin typeface="Cambria Math"/>
                                </a:rPr>
                                <m:t>,</m:t>
                              </m:r>
                              <m:r>
                                <a:rPr lang="en-US" sz="1400">
                                  <a:latin typeface="Cambria Math"/>
                                </a:rPr>
                                <m:t>𝑛</m:t>
                              </m:r>
                            </m:sub>
                          </m:sSub>
                        </m:sub>
                      </m:sSub>
                      <m:r>
                        <a:rPr lang="en-US" sz="1400">
                          <a:latin typeface="Cambria Math"/>
                        </a:rPr>
                        <m:t>(</m:t>
                      </m:r>
                      <m:sSubSup>
                        <m:sSubSupPr>
                          <m:ctrlPr>
                            <a:rPr lang="en-US"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lang="en-US" sz="1200" dirty="0"/>
              </a:p>
            </p:txBody>
          </p:sp>
        </mc:Choice>
        <mc:Fallback xmlns="">
          <p:sp>
            <p:nvSpPr>
              <p:cNvPr id="23" name="Text 13">
                <a:extLst>
                  <a:ext uri="{FF2B5EF4-FFF2-40B4-BE49-F238E27FC236}">
                    <a16:creationId xmlns:a16="http://schemas.microsoft.com/office/drawing/2014/main" id="{2A7F13B5-73BC-4DD6-A727-8BE1BEFB66DD}"/>
                  </a:ext>
                </a:extLst>
              </p:cNvPr>
              <p:cNvSpPr>
                <a:spLocks noRot="1" noChangeAspect="1" noMove="1" noResize="1" noEditPoints="1" noAdjustHandles="1" noChangeArrowheads="1" noChangeShapeType="1" noTextEdit="1"/>
              </p:cNvSpPr>
              <p:nvPr/>
            </p:nvSpPr>
            <p:spPr>
              <a:xfrm>
                <a:off x="9022080" y="2587752"/>
                <a:ext cx="2468880" cy="685800"/>
              </a:xfrm>
              <a:prstGeom prst="rect">
                <a:avLst/>
              </a:prstGeom>
              <a:blipFill>
                <a:blip r:embed="rId9"/>
                <a:stretch>
                  <a:fillRect l="-494" r="-1975"/>
                </a:stretch>
              </a:blipFill>
              <a:ln/>
            </p:spPr>
            <p:txBody>
              <a:bodyPr/>
              <a:lstStyle/>
              <a:p>
                <a:r>
                  <a:rPr lang="tr-TR">
                    <a:noFill/>
                  </a:rPr>
                  <a:t/>
                </a:r>
              </a:p>
            </p:txBody>
          </p:sp>
        </mc:Fallback>
      </mc:AlternateContent>
      <p:sp>
        <p:nvSpPr>
          <p:cNvPr id="24" name="Text 14">
            <a:extLst>
              <a:ext uri="{FF2B5EF4-FFF2-40B4-BE49-F238E27FC236}">
                <a16:creationId xmlns:a16="http://schemas.microsoft.com/office/drawing/2014/main" id="{0523A97F-25C0-42DF-BF45-1C2FAEA8DADA}"/>
              </a:ext>
            </a:extLst>
          </p:cNvPr>
          <p:cNvSpPr/>
          <p:nvPr/>
        </p:nvSpPr>
        <p:spPr>
          <a:xfrm>
            <a:off x="6461760" y="3364992"/>
            <a:ext cx="5029200" cy="100584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0" indent="-127000">
              <a:lnSpc>
                <a:spcPct val="102000"/>
              </a:lnSpc>
              <a:spcAft>
                <a:spcPts val="500"/>
              </a:spcAft>
              <a:buSzPct val="100000"/>
              <a:buChar char="•"/>
            </a:pPr>
            <a:r>
              <a:rPr lang="en-US" sz="1250" dirty="0">
                <a:solidFill>
                  <a:srgbClr val="222222"/>
                </a:solidFill>
                <a:latin typeface="Calibri" pitchFamily="34" charset="0"/>
                <a:ea typeface="Calibri" pitchFamily="34" charset="-122"/>
                <a:cs typeface="Calibri" pitchFamily="34" charset="-120"/>
              </a:rPr>
              <a:t>No defuzzification: the order is an activation-weighted average of singletons</a:t>
            </a:r>
            <a:endParaRPr lang="en-US" sz="1250" dirty="0"/>
          </a:p>
          <a:p>
            <a:pPr marL="127000" indent="-127000">
              <a:lnSpc>
                <a:spcPct val="102000"/>
              </a:lnSpc>
              <a:spcAft>
                <a:spcPts val="500"/>
              </a:spcAft>
              <a:buSzPct val="100000"/>
              <a:buChar char="•"/>
            </a:pPr>
            <a:r>
              <a:rPr lang="en-US" sz="1250" dirty="0">
                <a:solidFill>
                  <a:srgbClr val="222222"/>
                </a:solidFill>
                <a:latin typeface="Calibri" pitchFamily="34" charset="0"/>
                <a:ea typeface="Calibri" pitchFamily="34" charset="-122"/>
                <a:cs typeface="Calibri" pitchFamily="34" charset="-120"/>
              </a:rPr>
              <a:t>Unit-floored denominator: weak evidence orders weak action</a:t>
            </a:r>
            <a:endParaRPr lang="en-US" sz="1250" dirty="0"/>
          </a:p>
          <a:p>
            <a:pPr marL="127000" indent="-127000">
              <a:lnSpc>
                <a:spcPct val="102000"/>
              </a:lnSpc>
              <a:buSzPct val="100000"/>
              <a:buChar char="•"/>
            </a:pPr>
            <a:r>
              <a:rPr lang="en-US" sz="1250" dirty="0">
                <a:solidFill>
                  <a:srgbClr val="222222"/>
                </a:solidFill>
                <a:latin typeface="Calibri" pitchFamily="34" charset="0"/>
                <a:ea typeface="Calibri" pitchFamily="34" charset="-122"/>
                <a:cs typeface="Calibri" pitchFamily="34" charset="-120"/>
              </a:rPr>
              <a:t>Each rule's contribution to each family stays visible — traceable by construction</a:t>
            </a:r>
            <a:endParaRPr lang="en-US" sz="1250" dirty="0"/>
          </a:p>
        </p:txBody>
      </p:sp>
      <p:sp>
        <p:nvSpPr>
          <p:cNvPr id="25" name="Shape 15">
            <a:extLst>
              <a:ext uri="{FF2B5EF4-FFF2-40B4-BE49-F238E27FC236}">
                <a16:creationId xmlns:a16="http://schemas.microsoft.com/office/drawing/2014/main" id="{4803B180-7FD4-4A46-8571-95CAE7E0DD20}"/>
              </a:ext>
            </a:extLst>
          </p:cNvPr>
          <p:cNvSpPr/>
          <p:nvPr/>
        </p:nvSpPr>
        <p:spPr>
          <a:xfrm>
            <a:off x="472440" y="4599432"/>
            <a:ext cx="11201400" cy="1783080"/>
          </a:xfrm>
          <a:prstGeom prst="roundRect">
            <a:avLst>
              <a:gd name="adj" fmla="val 2564"/>
            </a:avLst>
          </a:prstGeom>
          <a:solidFill>
            <a:srgbClr val="F2F2F2"/>
          </a:solidFill>
          <a:ln/>
        </p:spPr>
        <p:txBody>
          <a:bodyPr/>
          <a:lstStyle/>
          <a:p>
            <a:endParaRPr lang="tr-TR"/>
          </a:p>
        </p:txBody>
      </p:sp>
      <p:sp>
        <p:nvSpPr>
          <p:cNvPr id="26" name="Text 16">
            <a:extLst>
              <a:ext uri="{FF2B5EF4-FFF2-40B4-BE49-F238E27FC236}">
                <a16:creationId xmlns:a16="http://schemas.microsoft.com/office/drawing/2014/main" id="{ED24557F-324B-4FC8-984D-7769AA977E8E}"/>
              </a:ext>
            </a:extLst>
          </p:cNvPr>
          <p:cNvSpPr/>
          <p:nvPr/>
        </p:nvSpPr>
        <p:spPr>
          <a:xfrm>
            <a:off x="746760" y="4690872"/>
            <a:ext cx="10698480" cy="16459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04000"/>
              </a:lnSpc>
              <a:buNone/>
            </a:pPr>
            <a:r>
              <a:rPr lang="en-US" sz="1400" b="1" dirty="0">
                <a:solidFill>
                  <a:srgbClr val="000000"/>
                </a:solidFill>
                <a:latin typeface="Calibri" pitchFamily="34" charset="0"/>
                <a:ea typeface="Calibri" pitchFamily="34" charset="-122"/>
                <a:cs typeface="Calibri" pitchFamily="34" charset="-120"/>
              </a:rPr>
              <a:t>Why the choice follows from the framework, not from taste:</a:t>
            </a:r>
            <a:r>
              <a:rPr lang="en-US" sz="1250" dirty="0">
                <a:solidFill>
                  <a:srgbClr val="222222"/>
                </a:solidFill>
                <a:latin typeface="Calibri" pitchFamily="34" charset="0"/>
                <a:ea typeface="Calibri" pitchFamily="34" charset="-122"/>
                <a:cs typeface="Calibri" pitchFamily="34" charset="-120"/>
              </a:rPr>
              <a:t>1. The consequents are numeric intervention intensities in [0,1] — singletons are their natural form; a fuzzy output set would be an artifact.</a:t>
            </a:r>
            <a:endParaRPr lang="en-US" sz="1400" dirty="0"/>
          </a:p>
          <a:p>
            <a:pPr marL="0" indent="0">
              <a:lnSpc>
                <a:spcPct val="104000"/>
              </a:lnSpc>
              <a:spcAft>
                <a:spcPts val="400"/>
              </a:spcAft>
              <a:buNone/>
            </a:pPr>
            <a:r>
              <a:rPr lang="en-US" sz="1250" dirty="0">
                <a:solidFill>
                  <a:srgbClr val="222222"/>
                </a:solidFill>
                <a:latin typeface="Calibri" pitchFamily="34" charset="0"/>
                <a:ea typeface="Calibri" pitchFamily="34" charset="-122"/>
                <a:cs typeface="Calibri" pitchFamily="34" charset="-120"/>
              </a:rPr>
              <a:t>2. The adaptation loop tunes exactly these singletons: stage-① steps of ±0.05 on the strongest-firing rules are bounded, reversible, and gate-testable. A Mamdani surface offers no equally surgical, auditable handle.</a:t>
            </a:r>
            <a:endParaRPr lang="en-US" sz="1400" dirty="0"/>
          </a:p>
          <a:p>
            <a:pPr marL="0" indent="0">
              <a:lnSpc>
                <a:spcPct val="104000"/>
              </a:lnSpc>
              <a:spcAft>
                <a:spcPts val="400"/>
              </a:spcAft>
              <a:buNone/>
            </a:pPr>
            <a:r>
              <a:rPr lang="en-US" sz="1250" dirty="0">
                <a:solidFill>
                  <a:srgbClr val="222222"/>
                </a:solidFill>
                <a:latin typeface="Calibri" pitchFamily="34" charset="0"/>
                <a:ea typeface="Calibri" pitchFamily="34" charset="-122"/>
                <a:cs typeface="Calibri" pitchFamily="34" charset="-120"/>
              </a:rPr>
              <a:t>3. Traceability (H2) requires attributing every order to named rules with visible strengths — the weighted average preserves this; the centroid integral does not.</a:t>
            </a:r>
            <a:endParaRPr lang="en-US" sz="1400" dirty="0"/>
          </a:p>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4. Linguistic expressiveness is not lost: antecedents remain fully linguistic over the five gated decision concepts — Mamdani's strength is kept where it matters, on the condition side.</a:t>
            </a:r>
            <a:endParaRPr lang="en-US" sz="1400" dirty="0"/>
          </a:p>
        </p:txBody>
      </p:sp>
      <p:sp>
        <p:nvSpPr>
          <p:cNvPr id="90004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41 / 113</a:t>
            </a:r>
          </a:p>
        </p:txBody>
      </p:sp>
    </p:spTree>
    <p:extLst>
      <p:ext uri="{BB962C8B-B14F-4D97-AF65-F5344CB8AC3E}">
        <p14:creationId xmlns:p14="http://schemas.microsoft.com/office/powerpoint/2010/main" val="1932746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493776"/>
            <a:ext cx="11247120" cy="685800"/>
          </a:xfrm>
          <a:prstGeom prst="rect">
            <a:avLst/>
          </a:prstGeom>
          <a:noFill/>
          <a:ln/>
        </p:spPr>
        <p:txBody>
          <a:bodyPr wrap="square" lIns="0" tIns="0" rIns="0" bIns="0" rtlCol="0" anchor="ctr"/>
          <a:lstStyle/>
          <a:p>
            <a:pPr marL="0" indent="0">
              <a:buNone/>
            </a:pPr>
            <a:r>
              <a:rPr lang="en-US" sz="2400" b="1" dirty="0">
                <a:solidFill>
                  <a:srgbClr val="000000"/>
                </a:solidFill>
                <a:latin typeface="Cambria" pitchFamily="34" charset="0"/>
                <a:ea typeface="Cambria" pitchFamily="34" charset="-122"/>
                <a:cs typeface="Cambria" pitchFamily="34" charset="-120"/>
              </a:rPr>
              <a:t>Layer 3 : Concept Space</a:t>
            </a:r>
            <a:r>
              <a:rPr lang="tr-TR" sz="2400" b="1" dirty="0">
                <a:solidFill>
                  <a:srgbClr val="000000"/>
                </a:solidFill>
                <a:latin typeface="Cambria" pitchFamily="34" charset="0"/>
                <a:ea typeface="Cambria" pitchFamily="34" charset="-122"/>
                <a:cs typeface="Cambria" pitchFamily="34" charset="-120"/>
              </a:rPr>
              <a:t> </a:t>
            </a:r>
            <a:r>
              <a:rPr lang="tr-TR" sz="2400" b="1" dirty="0" err="1">
                <a:solidFill>
                  <a:srgbClr val="000000"/>
                </a:solidFill>
                <a:latin typeface="Cambria" pitchFamily="34" charset="0"/>
                <a:ea typeface="Cambria" pitchFamily="34" charset="-122"/>
                <a:cs typeface="Cambria" pitchFamily="34" charset="-120"/>
              </a:rPr>
              <a:t>Levels</a:t>
            </a:r>
            <a:r>
              <a:rPr lang="tr-TR" sz="2400" b="1" dirty="0">
                <a:solidFill>
                  <a:srgbClr val="000000"/>
                </a:solidFill>
                <a:latin typeface="Cambria" pitchFamily="34" charset="0"/>
                <a:ea typeface="Cambria" pitchFamily="34" charset="-122"/>
                <a:cs typeface="Cambria" pitchFamily="34" charset="-120"/>
              </a:rPr>
              <a:t> – </a:t>
            </a:r>
            <a:r>
              <a:rPr lang="tr-TR" sz="2400" b="1" dirty="0" err="1">
                <a:solidFill>
                  <a:srgbClr val="000000"/>
                </a:solidFill>
                <a:latin typeface="Cambria" pitchFamily="34" charset="0"/>
                <a:ea typeface="Cambria" pitchFamily="34" charset="-122"/>
                <a:cs typeface="Cambria" pitchFamily="34" charset="-120"/>
              </a:rPr>
              <a:t>Confidence</a:t>
            </a:r>
            <a:r>
              <a:rPr lang="tr-TR" sz="2400" b="1" dirty="0">
                <a:solidFill>
                  <a:srgbClr val="000000"/>
                </a:solidFill>
                <a:latin typeface="Cambria" pitchFamily="34" charset="0"/>
                <a:ea typeface="Cambria" pitchFamily="34" charset="-122"/>
                <a:cs typeface="Cambria" pitchFamily="34" charset="-120"/>
              </a:rPr>
              <a:t> </a:t>
            </a:r>
            <a:r>
              <a:rPr lang="tr-TR" sz="2400" b="1" dirty="0" err="1">
                <a:solidFill>
                  <a:srgbClr val="000000"/>
                </a:solidFill>
                <a:latin typeface="Cambria" pitchFamily="34" charset="0"/>
                <a:ea typeface="Cambria" pitchFamily="34" charset="-122"/>
                <a:cs typeface="Cambria" pitchFamily="34" charset="-120"/>
              </a:rPr>
              <a:t>Gating</a:t>
            </a:r>
            <a:endParaRPr lang="en-US" sz="24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4.png"/>
          <p:cNvPicPr>
            <a:picLocks noChangeAspect="1"/>
          </p:cNvPicPr>
          <p:nvPr/>
        </p:nvPicPr>
        <p:blipFill>
          <a:blip r:embed="rId5"/>
          <a:stretch>
            <a:fillRect/>
          </a:stretch>
        </p:blipFill>
        <p:spPr>
          <a:xfrm>
            <a:off x="449319" y="1371600"/>
            <a:ext cx="5319282" cy="4846320"/>
          </a:xfrm>
          <a:prstGeom prst="rect">
            <a:avLst/>
          </a:prstGeom>
        </p:spPr>
      </p:pic>
      <p:sp>
        <p:nvSpPr>
          <p:cNvPr id="7" name="Text 2"/>
          <p:cNvSpPr/>
          <p:nvPr/>
        </p:nvSpPr>
        <p:spPr>
          <a:xfrm>
            <a:off x="6035040" y="1371600"/>
            <a:ext cx="5715000" cy="640080"/>
          </a:xfrm>
          <a:prstGeom prst="rect">
            <a:avLst/>
          </a:prstGeom>
          <a:noFill/>
          <a:ln/>
        </p:spPr>
        <p:txBody>
          <a:bodyPr wrap="square" lIns="0" tIns="0" rIns="0" bIns="0" rtlCol="0" anchor="t"/>
          <a:lstStyle/>
          <a:p>
            <a:pPr marL="0" indent="0">
              <a:lnSpc>
                <a:spcPct val="105000"/>
              </a:lnSpc>
              <a:buNone/>
            </a:pPr>
            <a:r>
              <a:rPr lang="en-US" sz="1400" b="1" dirty="0">
                <a:solidFill>
                  <a:srgbClr val="222222"/>
                </a:solidFill>
                <a:latin typeface="Calibri" pitchFamily="34" charset="0"/>
                <a:ea typeface="Calibri" pitchFamily="34" charset="-122"/>
                <a:cs typeface="Calibri" pitchFamily="34" charset="-120"/>
              </a:rPr>
              <a:t>• Raw activations are never consumed directly — every one is gated by its confidence and blended with a persistence prior:</a:t>
            </a:r>
            <a:endParaRPr lang="en-US" sz="1400" dirty="0"/>
          </a:p>
        </p:txBody>
      </p:sp>
      <mc:AlternateContent xmlns:mc="http://schemas.openxmlformats.org/markup-compatibility/2006" xmlns:a14="http://schemas.microsoft.com/office/drawing/2010/main">
        <mc:Choice Requires="a14">
          <p:sp>
            <p:nvSpPr>
              <p:cNvPr id="8" name="Text 3"/>
              <p:cNvSpPr/>
              <p:nvPr/>
            </p:nvSpPr>
            <p:spPr>
              <a:xfrm>
                <a:off x="6035040" y="2057400"/>
                <a:ext cx="571500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m:rPr>
                          <m:aln/>
                        </m:rP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𝑜𝑏𝑠</m:t>
                          </m:r>
                          <m:r>
                            <a:rPr lang="en-US" sz="1400">
                              <a:latin typeface="Cambria Math"/>
                            </a:rPr>
                            <m:t>,</m:t>
                          </m:r>
                          <m:r>
                            <a:rPr lang="en-US" sz="1400">
                              <a:latin typeface="Cambria Math"/>
                            </a:rPr>
                            <m:t>𝑖</m:t>
                          </m:r>
                        </m:sup>
                      </m:sSubSup>
                      <m:r>
                        <a:rPr lang="en-US" sz="1400">
                          <a:latin typeface="Cambria Math"/>
                        </a:rPr>
                        <m:t>+</m:t>
                      </m:r>
                      <m:d>
                        <m:dPr>
                          <m:ctrlPr>
                            <a:rPr lang="en-US" sz="2000" i="1">
                              <a:latin typeface="Cambria Math" panose="02040503050406030204" pitchFamily="18" charset="0"/>
                            </a:rPr>
                          </m:ctrlPr>
                        </m:dPr>
                        <m:e>
                          <m:r>
                            <a:rPr lang="en-US" sz="1400">
                              <a:latin typeface="Cambria Math"/>
                            </a:rPr>
                            <m:t>1−</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e>
                      </m:d>
                      <m:r>
                        <a:rPr lang="en-US" sz="1400">
                          <a:latin typeface="Cambria Math"/>
                        </a:rPr>
                        <m:t>⋅</m:t>
                      </m:r>
                      <m:r>
                        <a:rPr lang="en-US" sz="1400">
                          <a:latin typeface="Cambria Math"/>
                        </a:rPr>
                        <m:t>𝜌</m:t>
                      </m:r>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r>
                            <a:rPr lang="en-US" sz="1400">
                              <a:latin typeface="Cambria Math"/>
                            </a:rPr>
                            <m:t>−1</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lang="en-US" sz="1600" dirty="0"/>
              </a:p>
            </p:txBody>
          </p:sp>
        </mc:Choice>
        <mc:Fallback xmlns="">
          <p:sp>
            <p:nvSpPr>
              <p:cNvPr id="8" name="Text 3"/>
              <p:cNvSpPr>
                <a:spLocks noRot="1" noChangeAspect="1" noMove="1" noResize="1" noEditPoints="1" noAdjustHandles="1" noChangeArrowheads="1" noChangeShapeType="1" noTextEdit="1"/>
              </p:cNvSpPr>
              <p:nvPr/>
            </p:nvSpPr>
            <p:spPr>
              <a:xfrm>
                <a:off x="6035040" y="2057400"/>
                <a:ext cx="5715000" cy="54864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4"/>
              <p:cNvSpPr/>
              <p:nvPr/>
            </p:nvSpPr>
            <p:spPr>
              <a:xfrm>
                <a:off x="6025896" y="2651760"/>
                <a:ext cx="571500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m:rPr>
                          <m:aln/>
                        </m:rPr>
                        <a:rPr lang="en-US" sz="1400">
                          <a:latin typeface="Cambria Math"/>
                        </a:rPr>
                        <m:t>=</m:t>
                      </m:r>
                      <m:r>
                        <a:rPr lang="en-US" sz="1400">
                          <a:latin typeface="Cambria Math"/>
                        </a:rPr>
                        <m:t>𝑚𝑖𝑛</m:t>
                      </m:r>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r>
                        <a:rPr lang="en-US" sz="1400">
                          <a:latin typeface="Cambria Math"/>
                        </a:rPr>
                        <m:t>𝑓</m:t>
                      </m:r>
                      <m:r>
                        <a:rPr lang="en-US" sz="1400">
                          <a:latin typeface="Cambria Math"/>
                        </a:rPr>
                        <m:t>∈</m:t>
                      </m:r>
                      <m:sSub>
                        <m:sSubPr>
                          <m:ctrlPr>
                            <a:rPr lang="en-US" sz="2000" i="1">
                              <a:latin typeface="Cambria Math" panose="02040503050406030204" pitchFamily="18" charset="0"/>
                            </a:rPr>
                          </m:ctrlPr>
                        </m:sSubPr>
                        <m:e>
                          <m:r>
                            <a:rPr lang="en-US" sz="1400">
                              <a:latin typeface="Cambria Math"/>
                            </a:rPr>
                            <m:t>𝒵</m:t>
                          </m:r>
                        </m:e>
                        <m:sub>
                          <m:r>
                            <a:rPr lang="en-US" sz="1400">
                              <a:latin typeface="Cambria Math"/>
                            </a:rPr>
                            <m:t>𝑛</m:t>
                          </m:r>
                        </m:sub>
                      </m:sSub>
                      <m:r>
                        <a:rPr lang="en-US" sz="1400">
                          <a:latin typeface="Cambria Math"/>
                        </a:rPr>
                        <m:t>}</m:t>
                      </m:r>
                    </m:oMath>
                  </m:oMathPara>
                </a14:m>
                <a:endParaRPr lang="en-US" sz="1600" dirty="0"/>
              </a:p>
            </p:txBody>
          </p:sp>
        </mc:Choice>
        <mc:Fallback xmlns="">
          <p:sp>
            <p:nvSpPr>
              <p:cNvPr id="9" name="Text 4"/>
              <p:cNvSpPr>
                <a:spLocks noRot="1" noChangeAspect="1" noMove="1" noResize="1" noEditPoints="1" noAdjustHandles="1" noChangeArrowheads="1" noChangeShapeType="1" noTextEdit="1"/>
              </p:cNvSpPr>
              <p:nvPr/>
            </p:nvSpPr>
            <p:spPr>
              <a:xfrm>
                <a:off x="6025896" y="2651760"/>
                <a:ext cx="5715000" cy="457200"/>
              </a:xfrm>
              <a:prstGeom prst="rect">
                <a:avLst/>
              </a:prstGeom>
              <a:blipFill>
                <a:blip r:embed="rId7"/>
                <a:stretch>
                  <a:fillRect/>
                </a:stretch>
              </a:blipFill>
              <a:ln/>
            </p:spPr>
            <p:txBody>
              <a:bodyPr/>
              <a:lstStyle/>
              <a:p>
                <a:r>
                  <a:rPr lang="tr-TR">
                    <a:noFill/>
                  </a:rPr>
                  <a:t/>
                </a:r>
              </a:p>
            </p:txBody>
          </p:sp>
        </mc:Fallback>
      </mc:AlternateContent>
      <p:sp>
        <p:nvSpPr>
          <p:cNvPr id="10" name="Text 5"/>
          <p:cNvSpPr/>
          <p:nvPr/>
        </p:nvSpPr>
        <p:spPr>
          <a:xfrm>
            <a:off x="6035040" y="3246120"/>
            <a:ext cx="5715000" cy="3108960"/>
          </a:xfrm>
          <a:prstGeom prst="rect">
            <a:avLst/>
          </a:prstGeom>
          <a:noFill/>
          <a:ln/>
        </p:spPr>
        <p:txBody>
          <a:bodyPr wrap="square" lIns="0" tIns="0" rIns="0" bIns="0" rtlCol="0" anchor="t"/>
          <a:lstStyle/>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γ = 1: the observation passes through unchanged; γ = 0: full fallback to the decayed previous estimate</a:t>
            </a:r>
            <a:endParaRPr lang="en-US" sz="1400" dirty="0"/>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The transition between trust and caution is linear — no threshold to tune</a:t>
            </a:r>
            <a:endParaRPr lang="en-US" sz="1400" dirty="0"/>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At concept level, γ is the minimum of the confidences of the features feeding the concept</a:t>
            </a:r>
            <a:endParaRPr lang="en-US" sz="1400" dirty="0"/>
          </a:p>
          <a:p>
            <a:pPr marL="152400" indent="-152400">
              <a:lnSpc>
                <a:spcPct val="105000"/>
              </a:lnSpc>
              <a:spcAft>
                <a:spcPts val="700"/>
              </a:spcAft>
              <a:buSzPct val="100000"/>
              <a:buChar char="•"/>
            </a:pPr>
            <a:r>
              <a:rPr lang="en-US" sz="1400" dirty="0">
                <a:solidFill>
                  <a:srgbClr val="222222"/>
                </a:solidFill>
                <a:latin typeface="Calibri" pitchFamily="34" charset="0"/>
                <a:ea typeface="Calibri" pitchFamily="34" charset="-122"/>
                <a:cs typeface="Calibri" pitchFamily="34" charset="-120"/>
              </a:rPr>
              <a:t>When observation is lost, the effective activation decays geometrically (ρ per step) and snaps back on the first fresh report</a:t>
            </a:r>
            <a:endParaRPr lang="en-US" sz="1400" dirty="0"/>
          </a:p>
          <a:p>
            <a:pPr marL="152400" indent="-152400">
              <a:lnSpc>
                <a:spcPct val="105000"/>
              </a:lnSpc>
              <a:spcAft>
                <a:spcPts val="700"/>
              </a:spcAft>
              <a:buSzPct val="100000"/>
              <a:buChar char="•"/>
            </a:pPr>
            <a:r>
              <a:rPr lang="en-US" sz="1400" b="1" dirty="0">
                <a:solidFill>
                  <a:srgbClr val="222222"/>
                </a:solidFill>
                <a:latin typeface="Calibri" pitchFamily="34" charset="0"/>
                <a:ea typeface="Calibri" pitchFamily="34" charset="-122"/>
                <a:cs typeface="Calibri" pitchFamily="34" charset="-120"/>
              </a:rPr>
              <a:t>Low confidence therefore produces caution — never confident error</a:t>
            </a:r>
            <a:endParaRPr lang="en-US" sz="1400" dirty="0"/>
          </a:p>
        </p:txBody>
      </p:sp>
      <p:sp>
        <p:nvSpPr>
          <p:cNvPr id="90004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42 / 113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3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3 : Activation, Aggregation, and the Confidence Gate</a:t>
            </a:r>
            <a:endParaRPr lang="en-US" sz="2900" dirty="0"/>
          </a:p>
        </p:txBody>
      </p:sp>
      <p:pic>
        <p:nvPicPr>
          <p:cNvPr id="4" name="Image 0" descr="/tmp/thx/deck/figs/Figure4_3.png"/>
          <p:cNvPicPr>
            <a:picLocks noChangeAspect="1"/>
          </p:cNvPicPr>
          <p:nvPr/>
        </p:nvPicPr>
        <p:blipFill>
          <a:blip r:embed="rId3"/>
          <a:stretch>
            <a:fillRect/>
          </a:stretch>
        </p:blipFill>
        <p:spPr>
          <a:xfrm>
            <a:off x="396240" y="1953220"/>
            <a:ext cx="7270916" cy="2951560"/>
          </a:xfrm>
          <a:prstGeom prst="rect">
            <a:avLst/>
          </a:prstGeom>
        </p:spPr>
      </p:pic>
      <mc:AlternateContent xmlns:mc="http://schemas.openxmlformats.org/markup-compatibility/2006">
        <mc:Choice xmlns:a14="http://schemas.microsoft.com/office/drawing/2010/main" Requires="a14">
          <p:sp>
            <p:nvSpPr>
              <p:cNvPr id="6" name="Equation 42"/>
              <p:cNvSpPr txBox="1"/>
              <p:nvPr/>
            </p:nvSpPr>
            <p:spPr>
              <a:xfrm>
                <a:off x="7924800" y="2264278"/>
                <a:ext cx="3870960" cy="974264"/>
              </a:xfrm>
              <a:prstGeom prst="rect">
                <a:avLst/>
              </a:prstGeom>
              <a:noFill/>
            </p:spPr>
            <p:txBody>
              <a:bodyPr wrap="square" lIns="0" tIns="0" rIns="0" bIns="0" anchor="ctr">
                <a:normAutofit fontScale="55000" lnSpcReduction="20000"/>
              </a:bodyPr>
              <a:lstStyle/>
              <a:p>
                <a:pPr algn="ct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800">
                              <a:latin typeface="Cambria Math"/>
                            </a:rPr>
                            <m:t>𝑎</m:t>
                          </m:r>
                        </m:e>
                        <m:sub>
                          <m:r>
                            <a:rPr lang="en-US" sz="1800">
                              <a:latin typeface="Cambria Math"/>
                            </a:rPr>
                            <m:t>𝑛</m:t>
                          </m:r>
                          <m:r>
                            <a:rPr lang="en-US" sz="1800">
                              <a:latin typeface="Cambria Math"/>
                            </a:rPr>
                            <m:t>,</m:t>
                          </m:r>
                          <m:r>
                            <a:rPr lang="en-US" sz="1800">
                              <a:latin typeface="Cambria Math"/>
                            </a:rPr>
                            <m:t>𝑘</m:t>
                          </m:r>
                        </m:sub>
                        <m:sup>
                          <m:r>
                            <a:rPr lang="en-US" sz="1800">
                              <a:latin typeface="Cambria Math"/>
                            </a:rPr>
                            <m:t>(1),</m:t>
                          </m:r>
                          <m:r>
                            <a:rPr lang="en-US" sz="1800">
                              <a:latin typeface="Cambria Math"/>
                            </a:rPr>
                            <m:t>𝑖</m:t>
                          </m:r>
                        </m:sup>
                      </m:sSubSup>
                      <m:r>
                        <m:rPr>
                          <m:aln/>
                        </m:rPr>
                        <a:rPr lang="en-US" sz="1800">
                          <a:latin typeface="Cambria Math"/>
                        </a:rPr>
                        <m:t>=</m:t>
                      </m:r>
                      <m:nary>
                        <m:naryPr>
                          <m:chr m:val="∑"/>
                          <m:limLoc m:val="undOvr"/>
                          <m:ctrlPr>
                            <a:rPr lang="en-US" i="1">
                              <a:latin typeface="Cambria Math" panose="02040503050406030204" pitchFamily="18" charset="0"/>
                            </a:rPr>
                          </m:ctrlPr>
                        </m:naryPr>
                        <m:sub>
                          <m:r>
                            <a:rPr lang="en-US" sz="1800">
                              <a:latin typeface="Cambria Math"/>
                            </a:rPr>
                            <m:t>𝑓</m:t>
                          </m:r>
                          <m:r>
                            <a:rPr lang="en-US" sz="1800">
                              <a:latin typeface="Cambria Math"/>
                            </a:rPr>
                            <m:t>∈</m:t>
                          </m:r>
                          <m:sSub>
                            <m:sSubPr>
                              <m:ctrlPr>
                                <a:rPr lang="en-US" i="1">
                                  <a:latin typeface="Cambria Math" panose="02040503050406030204" pitchFamily="18" charset="0"/>
                                </a:rPr>
                              </m:ctrlPr>
                            </m:sSubPr>
                            <m:e>
                              <m:r>
                                <a:rPr lang="en-US" sz="1800">
                                  <a:latin typeface="Cambria Math"/>
                                </a:rPr>
                                <m:t>𝒵</m:t>
                              </m:r>
                            </m:e>
                            <m:sub>
                              <m:r>
                                <a:rPr lang="en-US" sz="1800">
                                  <a:latin typeface="Cambria Math"/>
                                </a:rPr>
                                <m:t>𝑛</m:t>
                              </m:r>
                            </m:sub>
                          </m:sSub>
                        </m:sub>
                        <m:sup/>
                        <m:e>
                          <m:sSub>
                            <m:sSubPr>
                              <m:ctrlPr>
                                <a:rPr lang="en-US" i="1">
                                  <a:latin typeface="Cambria Math" panose="02040503050406030204" pitchFamily="18" charset="0"/>
                                </a:rPr>
                              </m:ctrlPr>
                            </m:sSubPr>
                            <m:e>
                              <m:r>
                                <a:rPr lang="en-US" sz="1800">
                                  <a:latin typeface="Cambria Math"/>
                                </a:rPr>
                                <m:t>𝜔</m:t>
                              </m:r>
                            </m:e>
                            <m:sub>
                              <m:r>
                                <a:rPr lang="en-US" sz="1800">
                                  <a:latin typeface="Cambria Math"/>
                                </a:rPr>
                                <m:t>𝑛</m:t>
                              </m:r>
                              <m:r>
                                <a:rPr lang="en-US" sz="1800">
                                  <a:latin typeface="Cambria Math"/>
                                </a:rPr>
                                <m:t>,</m:t>
                              </m:r>
                              <m:r>
                                <a:rPr lang="en-US" sz="1800">
                                  <a:latin typeface="Cambria Math"/>
                                </a:rPr>
                                <m:t>𝑓</m:t>
                              </m:r>
                            </m:sub>
                          </m:sSub>
                          <m:r>
                            <a:rPr lang="en-US" sz="1800">
                              <a:latin typeface="Cambria Math"/>
                            </a:rPr>
                            <m:t>⋅</m:t>
                          </m:r>
                          <m:sSub>
                            <m:sSubPr>
                              <m:ctrlPr>
                                <a:rPr lang="en-US" i="1">
                                  <a:latin typeface="Cambria Math" panose="02040503050406030204" pitchFamily="18" charset="0"/>
                                </a:rPr>
                              </m:ctrlPr>
                            </m:sSubPr>
                            <m:e>
                              <m:r>
                                <a:rPr lang="en-US" sz="1800">
                                  <a:latin typeface="Cambria Math"/>
                                </a:rPr>
                                <m:t>𝜇</m:t>
                              </m:r>
                            </m:e>
                            <m:sub>
                              <m:sSub>
                                <m:sSubPr>
                                  <m:ctrlPr>
                                    <a:rPr lang="en-US" i="1">
                                      <a:latin typeface="Cambria Math" panose="02040503050406030204" pitchFamily="18" charset="0"/>
                                    </a:rPr>
                                  </m:ctrlPr>
                                </m:sSubPr>
                                <m:e>
                                  <m:r>
                                    <a:rPr lang="en-US" sz="1800">
                                      <a:latin typeface="Cambria Math"/>
                                    </a:rPr>
                                    <m:t>𝒜</m:t>
                                  </m:r>
                                </m:e>
                                <m:sub>
                                  <m:r>
                                    <a:rPr lang="en-US" sz="1800">
                                      <a:latin typeface="Cambria Math"/>
                                    </a:rPr>
                                    <m:t>𝑛</m:t>
                                  </m:r>
                                  <m:r>
                                    <a:rPr lang="en-US" sz="1800">
                                      <a:latin typeface="Cambria Math"/>
                                    </a:rPr>
                                    <m:t>,</m:t>
                                  </m:r>
                                  <m:r>
                                    <a:rPr lang="en-US" sz="1800">
                                      <a:latin typeface="Cambria Math"/>
                                    </a:rPr>
                                    <m:t>𝑓</m:t>
                                  </m:r>
                                </m:sub>
                              </m:sSub>
                            </m:sub>
                          </m:sSub>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sz="1800">
                                      <a:latin typeface="Cambria Math"/>
                                    </a:rPr>
                                    <m:t>𝑧</m:t>
                                  </m:r>
                                </m:e>
                                <m:sub>
                                  <m:r>
                                    <a:rPr lang="en-US" sz="1800">
                                      <a:latin typeface="Cambria Math"/>
                                    </a:rPr>
                                    <m:t>𝑓</m:t>
                                  </m:r>
                                  <m:r>
                                    <a:rPr lang="en-US" sz="1800">
                                      <a:latin typeface="Cambria Math"/>
                                    </a:rPr>
                                    <m:t>,</m:t>
                                  </m:r>
                                  <m:r>
                                    <a:rPr lang="en-US" sz="1800">
                                      <a:latin typeface="Cambria Math"/>
                                    </a:rPr>
                                    <m:t>𝑘</m:t>
                                  </m:r>
                                </m:sub>
                                <m:sup>
                                  <m:r>
                                    <a:rPr lang="en-US" sz="1800">
                                      <a:latin typeface="Cambria Math"/>
                                    </a:rPr>
                                    <m:t>𝑖</m:t>
                                  </m:r>
                                </m:sup>
                              </m:sSubSup>
                            </m:e>
                          </m:d>
                        </m:e>
                      </m:nary>
                    </m:oMath>
                  </m:oMathPara>
                </a14:m>
                <a:endParaRPr dirty="0"/>
              </a:p>
              <a:p>
                <a:pPr algn="ct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800">
                              <a:latin typeface="Cambria Math"/>
                            </a:rPr>
                            <m:t>𝑎</m:t>
                          </m:r>
                        </m:e>
                        <m:sub>
                          <m:r>
                            <a:rPr lang="en-US" sz="1800">
                              <a:latin typeface="Cambria Math"/>
                            </a:rPr>
                            <m:t>𝑛</m:t>
                          </m:r>
                          <m:r>
                            <a:rPr lang="en-US" sz="1800">
                              <a:latin typeface="Cambria Math"/>
                            </a:rPr>
                            <m:t>,</m:t>
                          </m:r>
                          <m:r>
                            <a:rPr lang="en-US" sz="1800">
                              <a:latin typeface="Cambria Math"/>
                            </a:rPr>
                            <m:t>𝑘</m:t>
                          </m:r>
                        </m:sub>
                        <m:sup>
                          <m:r>
                            <a:rPr lang="en-US" sz="1800">
                              <a:latin typeface="Cambria Math"/>
                            </a:rPr>
                            <m:t>(</m:t>
                          </m:r>
                          <m:r>
                            <a:rPr lang="en-US" sz="1800">
                              <a:latin typeface="Cambria Math"/>
                            </a:rPr>
                            <m:t>𝑙</m:t>
                          </m:r>
                          <m:r>
                            <a:rPr lang="en-US" sz="1800">
                              <a:latin typeface="Cambria Math"/>
                            </a:rPr>
                            <m:t>),</m:t>
                          </m:r>
                          <m:r>
                            <a:rPr lang="en-US" sz="1800">
                              <a:latin typeface="Cambria Math"/>
                            </a:rPr>
                            <m:t>𝑖</m:t>
                          </m:r>
                        </m:sup>
                      </m:sSubSup>
                      <m:r>
                        <m:rPr>
                          <m:aln/>
                        </m:rPr>
                        <a:rPr lang="en-US" sz="1800">
                          <a:latin typeface="Cambria Math"/>
                        </a:rPr>
                        <m:t>=</m:t>
                      </m:r>
                      <m:nary>
                        <m:naryPr>
                          <m:chr m:val="∑"/>
                          <m:limLoc m:val="undOvr"/>
                          <m:ctrlPr>
                            <a:rPr lang="en-US" i="1">
                              <a:latin typeface="Cambria Math" panose="02040503050406030204" pitchFamily="18" charset="0"/>
                            </a:rPr>
                          </m:ctrlPr>
                        </m:naryPr>
                        <m:sub>
                          <m:r>
                            <a:rPr lang="en-US" sz="1800">
                              <a:latin typeface="Cambria Math"/>
                            </a:rPr>
                            <m:t>𝑚</m:t>
                          </m:r>
                          <m:r>
                            <a:rPr lang="en-US" sz="1800">
                              <a:latin typeface="Cambria Math"/>
                            </a:rPr>
                            <m:t>∈</m:t>
                          </m:r>
                          <m:sSubSup>
                            <m:sSubSupPr>
                              <m:ctrlPr>
                                <a:rPr lang="en-US" i="1">
                                  <a:latin typeface="Cambria Math" panose="02040503050406030204" pitchFamily="18" charset="0"/>
                                </a:rPr>
                              </m:ctrlPr>
                            </m:sSubSupPr>
                            <m:e>
                              <m:r>
                                <a:rPr lang="en-US" sz="1800">
                                  <a:latin typeface="Cambria Math"/>
                                </a:rPr>
                                <m:t>𝒞</m:t>
                              </m:r>
                            </m:e>
                            <m:sub>
                              <m:r>
                                <a:rPr lang="en-US" sz="1800">
                                  <a:latin typeface="Cambria Math"/>
                                </a:rPr>
                                <m:t>𝑛</m:t>
                              </m:r>
                            </m:sub>
                            <m:sup>
                              <m:r>
                                <a:rPr lang="en-US" sz="1800">
                                  <a:latin typeface="Cambria Math"/>
                                </a:rPr>
                                <m:t>(</m:t>
                              </m:r>
                              <m:r>
                                <a:rPr lang="en-US" sz="1800">
                                  <a:latin typeface="Cambria Math"/>
                                </a:rPr>
                                <m:t>𝑙</m:t>
                              </m:r>
                              <m:r>
                                <a:rPr lang="en-US" sz="1800">
                                  <a:latin typeface="Cambria Math"/>
                                </a:rPr>
                                <m:t>)</m:t>
                              </m:r>
                            </m:sup>
                          </m:sSubSup>
                        </m:sub>
                        <m:sup/>
                        <m:e>
                          <m:sSubSup>
                            <m:sSubSupPr>
                              <m:ctrlPr>
                                <a:rPr lang="en-US" i="1">
                                  <a:latin typeface="Cambria Math" panose="02040503050406030204" pitchFamily="18" charset="0"/>
                                </a:rPr>
                              </m:ctrlPr>
                            </m:sSubSupPr>
                            <m:e>
                              <m:r>
                                <a:rPr lang="en-US" sz="1800">
                                  <a:latin typeface="Cambria Math"/>
                                </a:rPr>
                                <m:t>𝜔</m:t>
                              </m:r>
                            </m:e>
                            <m:sub>
                              <m:r>
                                <a:rPr lang="en-US" sz="1800">
                                  <a:latin typeface="Cambria Math"/>
                                </a:rPr>
                                <m:t>𝑛</m:t>
                              </m:r>
                              <m:r>
                                <a:rPr lang="en-US" sz="1800">
                                  <a:latin typeface="Cambria Math"/>
                                </a:rPr>
                                <m:t>,</m:t>
                              </m:r>
                              <m:r>
                                <a:rPr lang="en-US" sz="1800">
                                  <a:latin typeface="Cambria Math"/>
                                </a:rPr>
                                <m:t>𝑚</m:t>
                              </m:r>
                            </m:sub>
                            <m:sup>
                              <m:r>
                                <a:rPr lang="en-US" sz="1800">
                                  <a:latin typeface="Cambria Math"/>
                                </a:rPr>
                                <m:t>(</m:t>
                              </m:r>
                              <m:r>
                                <a:rPr lang="en-US" sz="1800">
                                  <a:latin typeface="Cambria Math"/>
                                </a:rPr>
                                <m:t>𝑙</m:t>
                              </m:r>
                              <m:r>
                                <a:rPr lang="en-US" sz="1800">
                                  <a:latin typeface="Cambria Math"/>
                                </a:rPr>
                                <m:t>)</m:t>
                              </m:r>
                            </m:sup>
                          </m:sSubSup>
                          <m:r>
                            <a:rPr lang="en-US" sz="1800">
                              <a:latin typeface="Cambria Math"/>
                            </a:rPr>
                            <m:t>⋅</m:t>
                          </m:r>
                          <m:sSubSup>
                            <m:sSubSupPr>
                              <m:ctrlPr>
                                <a:rPr lang="en-US" i="1">
                                  <a:latin typeface="Cambria Math" panose="02040503050406030204" pitchFamily="18" charset="0"/>
                                </a:rPr>
                              </m:ctrlPr>
                            </m:sSubSupPr>
                            <m:e>
                              <m:r>
                                <a:rPr lang="en-US" sz="1800">
                                  <a:latin typeface="Cambria Math"/>
                                </a:rPr>
                                <m:t>𝑎</m:t>
                              </m:r>
                            </m:e>
                            <m:sub>
                              <m:r>
                                <a:rPr lang="en-US" sz="1800">
                                  <a:latin typeface="Cambria Math"/>
                                </a:rPr>
                                <m:t>𝑚</m:t>
                              </m:r>
                              <m:r>
                                <a:rPr lang="en-US" sz="1800">
                                  <a:latin typeface="Cambria Math"/>
                                </a:rPr>
                                <m:t>,</m:t>
                              </m:r>
                              <m:r>
                                <a:rPr lang="en-US" sz="1800">
                                  <a:latin typeface="Cambria Math"/>
                                </a:rPr>
                                <m:t>𝑘</m:t>
                              </m:r>
                            </m:sub>
                            <m:sup>
                              <m:r>
                                <a:rPr lang="en-US" sz="1800">
                                  <a:latin typeface="Cambria Math"/>
                                </a:rPr>
                                <m:t>(</m:t>
                              </m:r>
                              <m:r>
                                <a:rPr lang="en-US" sz="1800">
                                  <a:latin typeface="Cambria Math"/>
                                </a:rPr>
                                <m:t>𝑙</m:t>
                              </m:r>
                              <m:r>
                                <a:rPr lang="en-US" sz="1800">
                                  <a:latin typeface="Cambria Math"/>
                                </a:rPr>
                                <m:t>−1),</m:t>
                              </m:r>
                              <m:r>
                                <a:rPr lang="en-US" sz="1800">
                                  <a:latin typeface="Cambria Math"/>
                                </a:rPr>
                                <m:t>𝑖</m:t>
                              </m:r>
                            </m:sup>
                          </m:sSubSup>
                        </m:e>
                      </m:nary>
                      <m:r>
                        <a:rPr lang="en-US" sz="1800">
                          <a:latin typeface="Cambria Math"/>
                        </a:rPr>
                        <m:t>, </m:t>
                      </m:r>
                      <m:r>
                        <a:rPr lang="en-US" sz="1800">
                          <a:latin typeface="Cambria Math"/>
                        </a:rPr>
                        <m:t>𝑙</m:t>
                      </m:r>
                      <m:r>
                        <a:rPr lang="en-US" sz="1800">
                          <a:latin typeface="Cambria Math"/>
                        </a:rPr>
                        <m:t>=2,3,4</m:t>
                      </m:r>
                    </m:oMath>
                  </m:oMathPara>
                </a14:m>
                <a:endParaRPr dirty="0"/>
              </a:p>
            </p:txBody>
          </p:sp>
        </mc:Choice>
        <mc:Fallback>
          <p:sp>
            <p:nvSpPr>
              <p:cNvPr id="6" name="Equation 42"/>
              <p:cNvSpPr txBox="1">
                <a:spLocks noRot="1" noChangeAspect="1" noMove="1" noResize="1" noEditPoints="1" noAdjustHandles="1" noChangeArrowheads="1" noChangeShapeType="1" noTextEdit="1"/>
              </p:cNvSpPr>
              <p:nvPr/>
            </p:nvSpPr>
            <p:spPr>
              <a:xfrm>
                <a:off x="7924800" y="2264278"/>
                <a:ext cx="3870960" cy="974264"/>
              </a:xfrm>
              <a:prstGeom prst="rect">
                <a:avLst/>
              </a:prstGeom>
              <a:blipFill>
                <a:blip r:embed="rId4"/>
                <a:stretch>
                  <a:fillRect t="-50000" b="-72500"/>
                </a:stretch>
              </a:blipFill>
            </p:spPr>
            <p:txBody>
              <a:bodyPr/>
              <a:lstStyle/>
              <a:p>
                <a:r>
                  <a:rPr lang="tr-TR">
                    <a:noFill/>
                  </a:rPr>
                  <a:t> </a:t>
                </a:r>
              </a:p>
            </p:txBody>
          </p:sp>
        </mc:Fallback>
      </mc:AlternateContent>
      <mc:AlternateContent xmlns:mc="http://schemas.openxmlformats.org/markup-compatibility/2006" xmlns:a14="http://schemas.microsoft.com/office/drawing/2010/main">
        <mc:Choice Requires="a14">
          <p:sp>
            <p:nvSpPr>
              <p:cNvPr id="7" name="Equation 43"/>
              <p:cNvSpPr txBox="1"/>
              <p:nvPr/>
            </p:nvSpPr>
            <p:spPr>
              <a:xfrm>
                <a:off x="7833360" y="3619459"/>
                <a:ext cx="3779520" cy="575353"/>
              </a:xfrm>
              <a:prstGeom prst="rect">
                <a:avLst/>
              </a:prstGeom>
              <a:noFill/>
            </p:spPr>
            <p:txBody>
              <a:bodyPr wrap="square" lIns="0" tIns="0" rIns="0" bIns="0" anchor="ctr">
                <a:noAutofit/>
              </a:bodyPr>
              <a:lstStyle/>
              <a:p>
                <a:pPr algn="ctr"/>
                <a14:m>
                  <m:oMathPara xmlns:m="http://schemas.openxmlformats.org/officeDocument/2006/math">
                    <m:oMathParaPr>
                      <m:jc m:val="centerGroup"/>
                    </m:oMathParaPr>
                    <m:oMath xmlns:m="http://schemas.openxmlformats.org/officeDocument/2006/math">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𝑒𝑓𝑓</m:t>
                          </m:r>
                          <m:r>
                            <a:rPr lang="en-US" sz="1400">
                              <a:latin typeface="Cambria Math"/>
                            </a:rPr>
                            <m:t>,</m:t>
                          </m:r>
                          <m:r>
                            <a:rPr lang="en-US" sz="1400">
                              <a:latin typeface="Cambria Math"/>
                            </a:rPr>
                            <m:t>𝑖</m:t>
                          </m:r>
                        </m:sup>
                      </m:sSubSup>
                      <m:r>
                        <m:rPr>
                          <m:aln/>
                        </m:rP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𝑜𝑏𝑠</m:t>
                          </m:r>
                          <m:r>
                            <a:rPr lang="en-US" sz="1400">
                              <a:latin typeface="Cambria Math"/>
                            </a:rPr>
                            <m:t>,</m:t>
                          </m:r>
                          <m:r>
                            <a:rPr lang="en-US" sz="1400">
                              <a:latin typeface="Cambria Math"/>
                            </a:rPr>
                            <m:t>𝑖</m:t>
                          </m:r>
                        </m:sup>
                      </m:sSubSup>
                      <m:r>
                        <a:rPr lang="en-US" sz="1400">
                          <a:latin typeface="Cambria Math"/>
                        </a:rPr>
                        <m:t>+</m:t>
                      </m:r>
                      <m:d>
                        <m:dPr>
                          <m:ctrlPr>
                            <a:rPr lang="en-US" sz="2000" i="1">
                              <a:latin typeface="Cambria Math" panose="02040503050406030204" pitchFamily="18" charset="0"/>
                            </a:rPr>
                          </m:ctrlPr>
                        </m:dPr>
                        <m:e>
                          <m:r>
                            <a:rPr lang="en-US" sz="1400">
                              <a:latin typeface="Cambria Math"/>
                            </a:rPr>
                            <m:t>1−</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e>
                      </m:d>
                      <m:r>
                        <a:rPr lang="en-US" sz="1400">
                          <a:latin typeface="Cambria Math"/>
                        </a:rPr>
                        <m:t>⋅</m:t>
                      </m:r>
                      <m:r>
                        <a:rPr lang="en-US" sz="1400">
                          <a:latin typeface="Cambria Math"/>
                        </a:rPr>
                        <m:t>𝜌</m:t>
                      </m:r>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𝑎</m:t>
                          </m:r>
                        </m:e>
                        <m:sub>
                          <m:r>
                            <a:rPr lang="en-US" sz="1400">
                              <a:latin typeface="Cambria Math"/>
                            </a:rPr>
                            <m:t>𝑛</m:t>
                          </m:r>
                          <m:r>
                            <a:rPr lang="en-US" sz="1400">
                              <a:latin typeface="Cambria Math"/>
                            </a:rPr>
                            <m:t>,</m:t>
                          </m:r>
                          <m:r>
                            <a:rPr lang="en-US" sz="1400">
                              <a:latin typeface="Cambria Math"/>
                            </a:rPr>
                            <m:t>𝑘</m:t>
                          </m:r>
                          <m:r>
                            <a:rPr lang="en-US" sz="1400">
                              <a:latin typeface="Cambria Math"/>
                            </a:rPr>
                            <m:t>−1</m:t>
                          </m:r>
                        </m:sub>
                        <m:sup>
                          <m:r>
                            <a:rPr lang="en-US" sz="1400">
                              <a:latin typeface="Cambria Math"/>
                            </a:rPr>
                            <m:t>𝑒𝑓𝑓</m:t>
                          </m:r>
                          <m:r>
                            <a:rPr lang="en-US" sz="1400">
                              <a:latin typeface="Cambria Math"/>
                            </a:rPr>
                            <m:t>,</m:t>
                          </m:r>
                          <m:r>
                            <a:rPr lang="en-US" sz="1400">
                              <a:latin typeface="Cambria Math"/>
                            </a:rPr>
                            <m:t>𝑖</m:t>
                          </m:r>
                        </m:sup>
                      </m:sSubSup>
                      <m:r>
                        <a:rPr lang="en-US" sz="1400">
                          <a:latin typeface="Cambria Math"/>
                        </a:rPr>
                        <m:t>,</m:t>
                      </m:r>
                    </m:oMath>
                  </m:oMathPara>
                </a14:m>
                <a:endParaRPr sz="2000" dirty="0"/>
              </a:p>
              <a:p>
                <a:pPr algn="ctr"/>
                <a14:m>
                  <m:oMathPara xmlns:m="http://schemas.openxmlformats.org/officeDocument/2006/math">
                    <m:oMathParaPr>
                      <m:jc m:val="centerGroup"/>
                    </m:oMathParaPr>
                    <m:oMath xmlns:m="http://schemas.openxmlformats.org/officeDocument/2006/math">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𝑛</m:t>
                          </m:r>
                          <m:r>
                            <a:rPr lang="en-US" sz="1400">
                              <a:latin typeface="Cambria Math"/>
                            </a:rPr>
                            <m:t>,</m:t>
                          </m:r>
                          <m:r>
                            <a:rPr lang="en-US" sz="1400">
                              <a:latin typeface="Cambria Math"/>
                            </a:rPr>
                            <m:t>𝑘</m:t>
                          </m:r>
                        </m:sub>
                        <m:sup>
                          <m:r>
                            <a:rPr lang="en-US" sz="1400">
                              <a:latin typeface="Cambria Math"/>
                            </a:rPr>
                            <m:t>𝑖</m:t>
                          </m:r>
                        </m:sup>
                      </m:sSubSup>
                      <m:r>
                        <m:rPr>
                          <m:aln/>
                        </m:rPr>
                        <a:rPr lang="en-US" sz="1400">
                          <a:latin typeface="Cambria Math"/>
                        </a:rPr>
                        <m:t>=</m:t>
                      </m:r>
                      <m:r>
                        <a:rPr lang="en-US" sz="1400">
                          <a:latin typeface="Cambria Math"/>
                        </a:rPr>
                        <m:t>𝑚𝑖𝑛</m:t>
                      </m:r>
                      <m:r>
                        <a:rPr lang="en-US" sz="1400">
                          <a:latin typeface="Cambria Math"/>
                        </a:rPr>
                        <m:t>⁡{</m:t>
                      </m:r>
                      <m:sSubSup>
                        <m:sSubSupPr>
                          <m:ctrlPr>
                            <a:rPr lang="en-US" sz="2000" i="1">
                              <a:latin typeface="Cambria Math" panose="02040503050406030204" pitchFamily="18" charset="0"/>
                            </a:rPr>
                          </m:ctrlPr>
                        </m:sSubSupPr>
                        <m:e>
                          <m:r>
                            <a:rPr lang="en-US" sz="1400">
                              <a:latin typeface="Cambria Math"/>
                            </a:rPr>
                            <m:t>𝛾</m:t>
                          </m:r>
                        </m:e>
                        <m:sub>
                          <m:r>
                            <a:rPr lang="en-US" sz="1400">
                              <a:latin typeface="Cambria Math"/>
                            </a:rPr>
                            <m:t>𝑓</m:t>
                          </m:r>
                          <m:r>
                            <a:rPr lang="en-US" sz="1400">
                              <a:latin typeface="Cambria Math"/>
                            </a:rPr>
                            <m:t>,</m:t>
                          </m:r>
                          <m:r>
                            <a:rPr lang="en-US" sz="1400">
                              <a:latin typeface="Cambria Math"/>
                            </a:rPr>
                            <m:t>𝑘</m:t>
                          </m:r>
                        </m:sub>
                        <m:sup>
                          <m:r>
                            <a:rPr lang="en-US" sz="1400">
                              <a:latin typeface="Cambria Math"/>
                            </a:rPr>
                            <m:t>𝑖</m:t>
                          </m:r>
                        </m:sup>
                      </m:sSubSup>
                      <m:r>
                        <a:rPr lang="en-US" sz="1400">
                          <a:latin typeface="Cambria Math"/>
                        </a:rPr>
                        <m:t>:</m:t>
                      </m:r>
                      <m:r>
                        <a:rPr lang="en-US" sz="1400">
                          <a:latin typeface="Cambria Math"/>
                        </a:rPr>
                        <m:t>𝑓</m:t>
                      </m:r>
                      <m:r>
                        <a:rPr lang="en-US" sz="1400">
                          <a:latin typeface="Cambria Math"/>
                        </a:rPr>
                        <m:t>∈</m:t>
                      </m:r>
                      <m:sSub>
                        <m:sSubPr>
                          <m:ctrlPr>
                            <a:rPr lang="en-US" sz="2000" i="1">
                              <a:latin typeface="Cambria Math" panose="02040503050406030204" pitchFamily="18" charset="0"/>
                            </a:rPr>
                          </m:ctrlPr>
                        </m:sSubPr>
                        <m:e>
                          <m:r>
                            <a:rPr lang="en-US" sz="1400">
                              <a:latin typeface="Cambria Math"/>
                            </a:rPr>
                            <m:t>𝒵</m:t>
                          </m:r>
                        </m:e>
                        <m:sub>
                          <m:r>
                            <a:rPr lang="en-US" sz="1400">
                              <a:latin typeface="Cambria Math"/>
                            </a:rPr>
                            <m:t>𝑛</m:t>
                          </m:r>
                        </m:sub>
                      </m:sSub>
                      <m:r>
                        <a:rPr lang="en-US" sz="1400">
                          <a:latin typeface="Cambria Math"/>
                        </a:rPr>
                        <m:t>}</m:t>
                      </m:r>
                    </m:oMath>
                  </m:oMathPara>
                </a14:m>
                <a:endParaRPr sz="2000" dirty="0"/>
              </a:p>
            </p:txBody>
          </p:sp>
        </mc:Choice>
        <mc:Fallback xmlns="">
          <p:sp>
            <p:nvSpPr>
              <p:cNvPr id="7" name="Equation 43"/>
              <p:cNvSpPr txBox="1">
                <a:spLocks noRot="1" noChangeAspect="1" noMove="1" noResize="1" noEditPoints="1" noAdjustHandles="1" noChangeArrowheads="1" noChangeShapeType="1" noTextEdit="1"/>
              </p:cNvSpPr>
              <p:nvPr/>
            </p:nvSpPr>
            <p:spPr>
              <a:xfrm>
                <a:off x="7833360" y="3619459"/>
                <a:ext cx="3779520" cy="575353"/>
              </a:xfrm>
              <a:prstGeom prst="rect">
                <a:avLst/>
              </a:prstGeom>
              <a:blipFill>
                <a:blip r:embed="rId5"/>
                <a:stretch>
                  <a:fillRect t="-2128" b="-15957"/>
                </a:stretch>
              </a:blipFill>
            </p:spPr>
            <p:txBody>
              <a:bodyPr/>
              <a:lstStyle/>
              <a:p>
                <a:r>
                  <a:rPr lang="tr-TR">
                    <a:noFill/>
                  </a:rPr>
                  <a:t/>
                </a:r>
              </a:p>
            </p:txBody>
          </p:sp>
        </mc:Fallback>
      </mc:AlternateContent>
      <p:pic>
        <p:nvPicPr>
          <p:cNvPr id="9" name="Image 3" descr="/tmp/thx/deck/figs/metu_emblem.png"/>
          <p:cNvPicPr>
            <a:picLocks noChangeAspect="1"/>
          </p:cNvPicPr>
          <p:nvPr/>
        </p:nvPicPr>
        <p:blipFill>
          <a:blip r:embed="rId6"/>
          <a:stretch>
            <a:fillRect/>
          </a:stretch>
        </p:blipFill>
        <p:spPr>
          <a:xfrm>
            <a:off x="10716768" y="184607"/>
            <a:ext cx="475488" cy="398882"/>
          </a:xfrm>
          <a:prstGeom prst="rect">
            <a:avLst/>
          </a:prstGeom>
        </p:spPr>
      </p:pic>
      <p:pic>
        <p:nvPicPr>
          <p:cNvPr id="10" name="Image 4" descr="/tmp/thx/deck/figs/eee_logo.png"/>
          <p:cNvPicPr>
            <a:picLocks noChangeAspect="1"/>
          </p:cNvPicPr>
          <p:nvPr/>
        </p:nvPicPr>
        <p:blipFill>
          <a:blip r:embed="rId7"/>
          <a:stretch>
            <a:fillRect/>
          </a:stretch>
        </p:blipFill>
        <p:spPr>
          <a:xfrm>
            <a:off x="11265408" y="186217"/>
            <a:ext cx="475488" cy="395662"/>
          </a:xfrm>
          <a:prstGeom prst="rect">
            <a:avLst/>
          </a:prstGeom>
        </p:spPr>
      </p:pic>
      <p:sp>
        <p:nvSpPr>
          <p:cNvPr id="90004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43 / 113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One Agent, Four Layers, One Loop</a:t>
            </a:r>
            <a:endParaRPr lang="en-US" sz="2900" dirty="0"/>
          </a:p>
        </p:txBody>
      </p:sp>
      <p:pic>
        <p:nvPicPr>
          <p:cNvPr id="4" name="Image 0" descr="/tmp/thx/deck/figs/Figure4_1.png"/>
          <p:cNvPicPr>
            <a:picLocks noChangeAspect="1"/>
          </p:cNvPicPr>
          <p:nvPr/>
        </p:nvPicPr>
        <p:blipFill>
          <a:blip r:embed="rId3"/>
          <a:stretch>
            <a:fillRect/>
          </a:stretch>
        </p:blipFill>
        <p:spPr>
          <a:xfrm>
            <a:off x="1695072" y="1371600"/>
            <a:ext cx="3102096" cy="5212080"/>
          </a:xfrm>
          <a:prstGeom prst="rect">
            <a:avLst/>
          </a:prstGeom>
        </p:spPr>
      </p:pic>
      <p:sp>
        <p:nvSpPr>
          <p:cNvPr id="5" name="Text 2"/>
          <p:cNvSpPr/>
          <p:nvPr/>
        </p:nvSpPr>
        <p:spPr>
          <a:xfrm>
            <a:off x="6263640" y="1737360"/>
            <a:ext cx="5486400" cy="45720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1 : </a:t>
            </a:r>
            <a:r>
              <a:rPr lang="en-US" sz="1600" b="1" dirty="0">
                <a:solidFill>
                  <a:srgbClr val="222222"/>
                </a:solidFill>
                <a:latin typeface="Calibri" pitchFamily="34" charset="0"/>
                <a:ea typeface="Calibri" pitchFamily="34" charset="-122"/>
                <a:cs typeface="Calibri" pitchFamily="34" charset="-120"/>
              </a:rPr>
              <a:t>Input space</a:t>
            </a:r>
            <a:r>
              <a:rPr lang="tr-TR" sz="1600" b="1" dirty="0">
                <a:solidFill>
                  <a:srgbClr val="222222"/>
                </a:solidFill>
                <a:latin typeface="Calibri" pitchFamily="34" charset="0"/>
                <a:ea typeface="Calibri" pitchFamily="34" charset="-122"/>
                <a:cs typeface="Calibri" pitchFamily="34" charset="-120"/>
              </a:rPr>
              <a:t> - </a:t>
            </a:r>
            <a:r>
              <a:rPr lang="en-US" sz="1600" dirty="0">
                <a:solidFill>
                  <a:srgbClr val="222222"/>
                </a:solidFill>
                <a:latin typeface="Calibri" pitchFamily="34" charset="0"/>
                <a:ea typeface="Calibri" pitchFamily="34" charset="-122"/>
                <a:cs typeface="Calibri" pitchFamily="34" charset="-120"/>
              </a:rPr>
              <a:t>heterogeneous, spatio-temporal measurements</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2 : </a:t>
            </a:r>
            <a:r>
              <a:rPr lang="en-US" sz="1600" b="1" dirty="0">
                <a:solidFill>
                  <a:srgbClr val="222222"/>
                </a:solidFill>
                <a:latin typeface="Calibri" pitchFamily="34" charset="0"/>
                <a:ea typeface="Calibri" pitchFamily="34" charset="-122"/>
                <a:cs typeface="Calibri" pitchFamily="34" charset="-120"/>
              </a:rPr>
              <a:t>Perception</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fusion into features with explicit confidence</a:t>
            </a:r>
            <a:endParaRPr lang="en-US" sz="1600" dirty="0"/>
          </a:p>
          <a:p>
            <a:pPr marL="152400" indent="-152400">
              <a:lnSpc>
                <a:spcPct val="105000"/>
              </a:lnSpc>
              <a:spcAft>
                <a:spcPts val="1000"/>
              </a:spcAft>
              <a:buSzPct val="100000"/>
              <a:buChar char="•"/>
            </a:pPr>
            <a:r>
              <a:rPr lang="en-US" sz="1600" dirty="0">
                <a:solidFill>
                  <a:srgbClr val="222222"/>
                </a:solidFill>
                <a:latin typeface="Calibri" pitchFamily="34" charset="0"/>
                <a:ea typeface="Calibri" pitchFamily="34" charset="-122"/>
                <a:cs typeface="Calibri" pitchFamily="34" charset="-120"/>
              </a:rPr>
              <a:t>Layer 3 : </a:t>
            </a:r>
            <a:r>
              <a:rPr lang="en-US" sz="1600" b="1" dirty="0">
                <a:solidFill>
                  <a:srgbClr val="222222"/>
                </a:solidFill>
                <a:latin typeface="Calibri" pitchFamily="34" charset="0"/>
                <a:ea typeface="Calibri" pitchFamily="34" charset="-122"/>
                <a:cs typeface="Calibri" pitchFamily="34" charset="-120"/>
              </a:rPr>
              <a:t>Concept space</a:t>
            </a:r>
            <a:r>
              <a:rPr lang="tr-TR" sz="1600" dirty="0">
                <a:solidFill>
                  <a:srgbClr val="222222"/>
                </a:solidFill>
                <a:latin typeface="Calibri" pitchFamily="34" charset="0"/>
                <a:ea typeface="Calibri" pitchFamily="34" charset="-122"/>
                <a:cs typeface="Calibri" pitchFamily="34" charset="-120"/>
              </a:rPr>
              <a:t> </a:t>
            </a:r>
            <a:r>
              <a:rPr lang="tr-TR" sz="1600" b="1" dirty="0">
                <a:solidFill>
                  <a:srgbClr val="222222"/>
                </a:solidFill>
                <a:latin typeface="Calibri" pitchFamily="34" charset="0"/>
                <a:ea typeface="Calibri" pitchFamily="34" charset="-122"/>
                <a:cs typeface="Calibri" pitchFamily="34" charset="-120"/>
              </a:rPr>
              <a:t>-</a:t>
            </a:r>
            <a:r>
              <a:rPr lang="en-US" sz="1600" dirty="0">
                <a:solidFill>
                  <a:srgbClr val="222222"/>
                </a:solidFill>
                <a:latin typeface="Calibri" pitchFamily="34" charset="0"/>
                <a:ea typeface="Calibri" pitchFamily="34" charset="-122"/>
                <a:cs typeface="Calibri" pitchFamily="34" charset="-120"/>
              </a:rPr>
              <a:t> hierarchical fuzzification into five decision concepts</a:t>
            </a:r>
            <a:endParaRPr lang="en-US" sz="1600" dirty="0"/>
          </a:p>
          <a:p>
            <a:pPr marL="152400" indent="-152400">
              <a:lnSpc>
                <a:spcPct val="105000"/>
              </a:lnSpc>
              <a:spcAft>
                <a:spcPts val="1000"/>
              </a:spcAft>
              <a:buSzPct val="100000"/>
              <a:buChar char="•"/>
            </a:pPr>
            <a:r>
              <a:rPr lang="en-US" sz="1600" dirty="0">
                <a:solidFill>
                  <a:srgbClr val="222222"/>
                </a:solidFill>
                <a:highlight>
                  <a:srgbClr val="C0C0C0"/>
                </a:highlight>
                <a:latin typeface="Calibri" pitchFamily="34" charset="0"/>
                <a:ea typeface="Calibri" pitchFamily="34" charset="-122"/>
                <a:cs typeface="Calibri" pitchFamily="34" charset="-120"/>
              </a:rPr>
              <a:t>Layer 4 : </a:t>
            </a:r>
            <a:r>
              <a:rPr lang="en-US" sz="1600" b="1" dirty="0">
                <a:solidFill>
                  <a:srgbClr val="222222"/>
                </a:solidFill>
                <a:highlight>
                  <a:srgbClr val="C0C0C0"/>
                </a:highlight>
                <a:latin typeface="Calibri" pitchFamily="34" charset="0"/>
                <a:ea typeface="Calibri" pitchFamily="34" charset="-122"/>
                <a:cs typeface="Calibri" pitchFamily="34" charset="-120"/>
              </a:rPr>
              <a:t>Decision space</a:t>
            </a:r>
            <a:r>
              <a:rPr lang="tr-TR" sz="1600" dirty="0">
                <a:solidFill>
                  <a:srgbClr val="222222"/>
                </a:solidFill>
                <a:highlight>
                  <a:srgbClr val="C0C0C0"/>
                </a:highlight>
                <a:latin typeface="Calibri" pitchFamily="34" charset="0"/>
                <a:ea typeface="Calibri" pitchFamily="34" charset="-122"/>
                <a:cs typeface="Calibri" pitchFamily="34" charset="-120"/>
              </a:rPr>
              <a:t> </a:t>
            </a:r>
            <a:r>
              <a:rPr lang="tr-TR" sz="1600" b="1" dirty="0">
                <a:solidFill>
                  <a:srgbClr val="222222"/>
                </a:solidFill>
                <a:highlight>
                  <a:srgbClr val="C0C0C0"/>
                </a:highlight>
                <a:latin typeface="Calibri" pitchFamily="34" charset="0"/>
                <a:ea typeface="Calibri" pitchFamily="34" charset="-122"/>
                <a:cs typeface="Calibri" pitchFamily="34" charset="-120"/>
              </a:rPr>
              <a:t>-</a:t>
            </a:r>
            <a:r>
              <a:rPr lang="en-US" sz="1600" dirty="0">
                <a:solidFill>
                  <a:srgbClr val="222222"/>
                </a:solidFill>
                <a:highlight>
                  <a:srgbClr val="C0C0C0"/>
                </a:highlight>
                <a:latin typeface="Calibri" pitchFamily="34" charset="0"/>
                <a:ea typeface="Calibri" pitchFamily="34" charset="-122"/>
                <a:cs typeface="Calibri" pitchFamily="34" charset="-120"/>
              </a:rPr>
              <a:t> rules, satisficing tests, staged adaptation, fail-safe</a:t>
            </a:r>
            <a:endParaRPr lang="en-US" sz="1600" dirty="0">
              <a:highlight>
                <a:srgbClr val="C0C0C0"/>
              </a:highlight>
            </a:endParaRPr>
          </a:p>
          <a:p>
            <a:pPr marL="152400" indent="-152400">
              <a:lnSpc>
                <a:spcPct val="105000"/>
              </a:lnSpc>
              <a:spcAft>
                <a:spcPts val="1000"/>
              </a:spcAft>
              <a:buSzPct val="100000"/>
              <a:buChar char="•"/>
            </a:pPr>
            <a:r>
              <a:rPr lang="en-US" sz="1600" b="1" dirty="0">
                <a:solidFill>
                  <a:srgbClr val="222222"/>
                </a:solidFill>
                <a:latin typeface="Calibri" pitchFamily="34" charset="0"/>
                <a:ea typeface="Calibri" pitchFamily="34" charset="-122"/>
                <a:cs typeface="Calibri" pitchFamily="34" charset="-120"/>
              </a:rPr>
              <a:t>N agents run this loop concurrently on their own regions; a non-inferential Global DSS ranks and allocates</a:t>
            </a:r>
            <a:endParaRPr lang="en-US" sz="1600" dirty="0"/>
          </a:p>
        </p:txBody>
      </p:sp>
      <p:pic>
        <p:nvPicPr>
          <p:cNvPr id="6"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7"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4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44 / 113</a:t>
            </a:r>
          </a:p>
        </p:txBody>
      </p:sp>
    </p:spTree>
    <p:extLst>
      <p:ext uri="{BB962C8B-B14F-4D97-AF65-F5344CB8AC3E}">
        <p14:creationId xmlns:p14="http://schemas.microsoft.com/office/powerpoint/2010/main" val="1629407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sp>
        <p:nvSpPr>
          <p:cNvPr id="5" name="Text 2"/>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five gated concept activations. Output: intensity vector over six intervention families. Nothing else crosses the boundary</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failures summon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sp>
        <p:nvSpPr>
          <p:cNvPr id="6" name="Text 3"/>
          <p:cNvSpPr/>
          <p:nvPr/>
        </p:nvSpPr>
        <p:spPr>
          <a:xfrm>
            <a:off x="502920" y="6263640"/>
            <a:ext cx="11155680" cy="365760"/>
          </a:xfrm>
          <a:prstGeom prst="rect">
            <a:avLst/>
          </a:prstGeom>
          <a:noFill/>
          <a:ln/>
        </p:spPr>
        <p:txBody>
          <a:bodyPr wrap="square" lIns="0" tIns="0" rIns="0" bIns="0" rtlCol="0" anchor="ctr"/>
          <a:lstStyle/>
          <a:p>
            <a:pPr marL="0" indent="0">
              <a:buNone/>
            </a:pPr>
            <a:r>
              <a:rPr lang="en-US" sz="1400" i="1" dirty="0">
                <a:solidFill>
                  <a:srgbClr val="E31836"/>
                </a:solidFill>
                <a:latin typeface="Calibri" pitchFamily="34" charset="0"/>
                <a:ea typeface="Calibri" pitchFamily="34" charset="-122"/>
                <a:cs typeface="Calibri" pitchFamily="34" charset="-120"/>
              </a:rPr>
              <a:t>The next six slides walk this flow: rule base → cost → quality → stages ①②③ → gates → coordination.</a:t>
            </a:r>
            <a:endParaRPr lang="en-US" sz="1400" dirty="0"/>
          </a:p>
        </p:txBody>
      </p:sp>
      <p:pic>
        <p:nvPicPr>
          <p:cNvPr id="7"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0" name="Image 0" descr="/tmp/thx/deck/figs/Figure4_1.png">
            <a:extLst>
              <a:ext uri="{FF2B5EF4-FFF2-40B4-BE49-F238E27FC236}">
                <a16:creationId xmlns:a16="http://schemas.microsoft.com/office/drawing/2014/main" id="{2DC26631-0B92-435B-A091-092C4F22C51C}"/>
              </a:ext>
            </a:extLst>
          </p:cNvPr>
          <p:cNvPicPr>
            <a:picLocks noChangeAspect="1"/>
          </p:cNvPicPr>
          <p:nvPr/>
        </p:nvPicPr>
        <p:blipFill rotWithShape="1">
          <a:blip r:embed="rId5"/>
          <a:srcRect t="65091"/>
          <a:stretch/>
        </p:blipFill>
        <p:spPr>
          <a:xfrm>
            <a:off x="99952" y="1645920"/>
            <a:ext cx="7316774" cy="4291576"/>
          </a:xfrm>
          <a:prstGeom prst="rect">
            <a:avLst/>
          </a:prstGeom>
        </p:spPr>
      </p:pic>
      <p:sp>
        <p:nvSpPr>
          <p:cNvPr id="90004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45 / 113</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Vocabulary of Action: Six Intervention Families, Seven Physical Effects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298448"/>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Six intervention families — the language of orders</a:t>
            </a:r>
            <a:endParaRPr lang="en-US" sz="1400" dirty="0"/>
          </a:p>
        </p:txBody>
      </p:sp>
      <p:graphicFrame>
        <p:nvGraphicFramePr>
          <p:cNvPr id="7" name="Table 0"/>
          <p:cNvGraphicFramePr>
            <a:graphicFrameLocks noGrp="1"/>
          </p:cNvGraphicFramePr>
          <p:nvPr/>
        </p:nvGraphicFramePr>
        <p:xfrm>
          <a:off x="457200" y="1645920"/>
          <a:ext cx="562356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Family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order means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Suppression effort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Direct firefighting intensity applied to the fire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Resource deployment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Committing and moving crews and equipment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Containment line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Building firebreak lines ahead of the fire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 protection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Protecting structures and infrastructure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Evacuation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Moving the exposed population to safety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Public warning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Alerting the population of the risk</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 3"/>
          <p:cNvSpPr/>
          <p:nvPr/>
        </p:nvSpPr>
        <p:spPr>
          <a:xfrm>
            <a:off x="6355080" y="1298448"/>
            <a:ext cx="539496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Seven physical effects — how orders act inside the simulation</a:t>
            </a:r>
            <a:endParaRPr lang="en-US" sz="1400" dirty="0"/>
          </a:p>
        </p:txBody>
      </p:sp>
      <p:graphicFrame>
        <p:nvGraphicFramePr>
          <p:cNvPr id="9" name="Table 1"/>
          <p:cNvGraphicFramePr>
            <a:graphicFrameLocks noGrp="1"/>
          </p:cNvGraphicFramePr>
          <p:nvPr/>
        </p:nvGraphicFramePr>
        <p:xfrm>
          <a:off x="6355080" y="1645920"/>
          <a:ext cx="5394960" cy="3072384"/>
        </p:xfrm>
        <a:graphic>
          <a:graphicData uri="http://schemas.openxmlformats.org/drawingml/2006/table">
            <a:tbl>
              <a:tblPr/>
              <a:tblGrid>
                <a:gridCol w="105156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changes in the world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wet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Raises the fuel moisture of the target cells (water, foam)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clear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Removes fuel from the target cells (firebreak, dozer work)</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ignite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Starts a controlled ignition ahead of the front (backburn)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coat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Applies retardant coating; the cells resist ignition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evacuate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Removes the population from the target cells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prime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Prepares resources and area; later actions become faster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draft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Establishes water supply from a lake, river, or sea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Shape 4"/>
          <p:cNvSpPr/>
          <p:nvPr/>
        </p:nvSpPr>
        <p:spPr>
          <a:xfrm>
            <a:off x="457200" y="5166360"/>
            <a:ext cx="11292840" cy="1325880"/>
          </a:xfrm>
          <a:prstGeom prst="roundRect">
            <a:avLst>
              <a:gd name="adj" fmla="val 3448"/>
            </a:avLst>
          </a:prstGeom>
          <a:solidFill>
            <a:srgbClr val="F2F2F2"/>
          </a:solidFill>
          <a:ln/>
        </p:spPr>
      </p:sp>
      <p:sp>
        <p:nvSpPr>
          <p:cNvPr id="11" name="Text 5"/>
          <p:cNvSpPr/>
          <p:nvPr/>
        </p:nvSpPr>
        <p:spPr>
          <a:xfrm>
            <a:off x="731520" y="5321808"/>
            <a:ext cx="10789920" cy="10972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 decision is an intensity in [0, 1] for each family. The simulation core translates these orders into the seven effects; the effects change fuel, moisture, coating, and population, and the fire then evolves under the ordinary physics.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The two lists are fixed. New macros bundle existing families; new actuators combine existing effects. Nothing outside these lists can ever be ordered.</a:t>
            </a:r>
            <a:endParaRPr lang="en-US" sz="1250" dirty="0"/>
          </a:p>
        </p:txBody>
      </p:sp>
      <p:sp>
        <p:nvSpPr>
          <p:cNvPr id="90004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46 / 113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4957D42-490E-4694-9914-ADE9E7A8EC43}"/>
              </a:ext>
            </a:extLst>
          </p:cNvPr>
          <p:cNvSpPr/>
          <p:nvPr/>
        </p:nvSpPr>
        <p:spPr>
          <a:xfrm>
            <a:off x="2516777" y="2481943"/>
            <a:ext cx="1898469" cy="1602377"/>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2" name="Rectangle 11">
            <a:extLst>
              <a:ext uri="{FF2B5EF4-FFF2-40B4-BE49-F238E27FC236}">
                <a16:creationId xmlns:a16="http://schemas.microsoft.com/office/drawing/2014/main" id="{F4C119C6-E56A-40AA-BA14-5F0DF22A3ACF}"/>
              </a:ext>
            </a:extLst>
          </p:cNvPr>
          <p:cNvSpPr/>
          <p:nvPr/>
        </p:nvSpPr>
        <p:spPr>
          <a:xfrm>
            <a:off x="4197531" y="2804161"/>
            <a:ext cx="1898469" cy="2377440"/>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sp>
        <p:nvSpPr>
          <p:cNvPr id="5" name="Text 2"/>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five gated concept activations. Output: intensity vector over six intervention families. Nothing else crosses the boundary</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failures summon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sp>
        <p:nvSpPr>
          <p:cNvPr id="6" name="Text 3"/>
          <p:cNvSpPr/>
          <p:nvPr/>
        </p:nvSpPr>
        <p:spPr>
          <a:xfrm>
            <a:off x="502920" y="6263640"/>
            <a:ext cx="11155680" cy="365760"/>
          </a:xfrm>
          <a:prstGeom prst="rect">
            <a:avLst/>
          </a:prstGeom>
          <a:noFill/>
          <a:ln/>
        </p:spPr>
        <p:txBody>
          <a:bodyPr wrap="square" lIns="0" tIns="0" rIns="0" bIns="0" rtlCol="0" anchor="ctr"/>
          <a:lstStyle/>
          <a:p>
            <a:pPr marL="0" indent="0">
              <a:buNone/>
            </a:pPr>
            <a:r>
              <a:rPr lang="en-US" sz="1400" i="1" dirty="0">
                <a:solidFill>
                  <a:srgbClr val="E31836"/>
                </a:solidFill>
                <a:latin typeface="Calibri" pitchFamily="34" charset="0"/>
                <a:ea typeface="Calibri" pitchFamily="34" charset="-122"/>
                <a:cs typeface="Calibri" pitchFamily="34" charset="-120"/>
              </a:rPr>
              <a:t>The next six slides walk this flow: rule base → cost → quality → stages ①②③ → gates → coordination.</a:t>
            </a:r>
            <a:endParaRPr lang="en-US" sz="1400" dirty="0"/>
          </a:p>
        </p:txBody>
      </p:sp>
      <p:pic>
        <p:nvPicPr>
          <p:cNvPr id="7" name="Image 1"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2"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10" name="Image 0" descr="/tmp/thx/deck/figs/Figure4_1.png">
            <a:extLst>
              <a:ext uri="{FF2B5EF4-FFF2-40B4-BE49-F238E27FC236}">
                <a16:creationId xmlns:a16="http://schemas.microsoft.com/office/drawing/2014/main" id="{2DC26631-0B92-435B-A091-092C4F22C51C}"/>
              </a:ext>
            </a:extLst>
          </p:cNvPr>
          <p:cNvPicPr>
            <a:picLocks noChangeAspect="1"/>
          </p:cNvPicPr>
          <p:nvPr/>
        </p:nvPicPr>
        <p:blipFill rotWithShape="1">
          <a:blip r:embed="rId5">
            <a:clrChange>
              <a:clrFrom>
                <a:srgbClr val="FFFFFF"/>
              </a:clrFrom>
              <a:clrTo>
                <a:srgbClr val="FFFFFF">
                  <a:alpha val="0"/>
                </a:srgbClr>
              </a:clrTo>
            </a:clrChange>
          </a:blip>
          <a:srcRect t="65091"/>
          <a:stretch/>
        </p:blipFill>
        <p:spPr>
          <a:xfrm>
            <a:off x="134786" y="1645920"/>
            <a:ext cx="7316774" cy="4291576"/>
          </a:xfrm>
          <a:prstGeom prst="rect">
            <a:avLst/>
          </a:prstGeom>
        </p:spPr>
      </p:pic>
      <p:sp>
        <p:nvSpPr>
          <p:cNvPr id="90004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47 / 113</a:t>
            </a:r>
          </a:p>
        </p:txBody>
      </p:sp>
    </p:spTree>
    <p:extLst>
      <p:ext uri="{BB962C8B-B14F-4D97-AF65-F5344CB8AC3E}">
        <p14:creationId xmlns:p14="http://schemas.microsoft.com/office/powerpoint/2010/main" val="848891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Two Boundaries, Two Payloads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11.png"/>
          <p:cNvPicPr>
            <a:picLocks noChangeAspect="1"/>
          </p:cNvPicPr>
          <p:nvPr/>
        </p:nvPicPr>
        <p:blipFill>
          <a:blip r:embed="rId5"/>
          <a:stretch>
            <a:fillRect/>
          </a:stretch>
        </p:blipFill>
        <p:spPr>
          <a:xfrm>
            <a:off x="411480" y="1851863"/>
            <a:ext cx="5212080" cy="3977234"/>
          </a:xfrm>
          <a:prstGeom prst="rect">
            <a:avLst/>
          </a:prstGeom>
        </p:spPr>
      </p:pic>
      <p:sp>
        <p:nvSpPr>
          <p:cNvPr id="7" name="Text 2"/>
          <p:cNvSpPr/>
          <p:nvPr/>
        </p:nvSpPr>
        <p:spPr>
          <a:xfrm>
            <a:off x="5943600" y="1371600"/>
            <a:ext cx="576072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Downward — to the simulation core</a:t>
            </a:r>
            <a:endParaRPr lang="en-US" sz="1400" dirty="0"/>
          </a:p>
        </p:txBody>
      </p:sp>
      <mc:AlternateContent xmlns:mc="http://schemas.openxmlformats.org/markup-compatibility/2006" xmlns:a14="http://schemas.microsoft.com/office/drawing/2010/main">
        <mc:Choice Requires="a14">
          <p:sp>
            <p:nvSpPr>
              <p:cNvPr id="8" name="Text 3"/>
              <p:cNvSpPr/>
              <p:nvPr/>
            </p:nvSpPr>
            <p:spPr>
              <a:xfrm>
                <a:off x="5943600" y="1700784"/>
                <a:ext cx="576072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 </m:t>
                      </m:r>
                      <m:sSubSup>
                        <m:sSubSupPr>
                          <m:ctrlPr>
                            <a:rPr lang="en-US" i="1">
                              <a:latin typeface="Cambria Math" panose="02040503050406030204" pitchFamily="18" charset="0"/>
                            </a:rPr>
                          </m:ctrlPr>
                        </m:sSubSupPr>
                        <m:e>
                          <m:r>
                            <a:rPr lang="en-US" sz="1400">
                              <a:latin typeface="Cambria Math"/>
                            </a:rPr>
                            <m:t>𝜋</m:t>
                          </m:r>
                        </m:e>
                        <m:sub>
                          <m:r>
                            <a:rPr lang="en-US" sz="1400">
                              <a:latin typeface="Cambria Math"/>
                            </a:rPr>
                            <m:t>𝐷𝑆𝑆</m:t>
                          </m:r>
                        </m:sub>
                        <m:sup>
                          <m:r>
                            <a:rPr lang="en-US" sz="1400">
                              <a:latin typeface="Cambria Math"/>
                            </a:rPr>
                            <m:t>𝑖</m:t>
                          </m:r>
                        </m:sup>
                      </m:sSub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𝑂</m:t>
                              </m:r>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ℱ</m:t>
                              </m:r>
                            </m:e>
                            <m:sub>
                              <m:r>
                                <a:rPr lang="en-US" sz="1400">
                                  <a:latin typeface="Cambria Math"/>
                                </a:rPr>
                                <m:t>𝐷𝑆𝑆</m:t>
                              </m:r>
                              <m:r>
                                <a:rPr lang="en-US" sz="1400">
                                  <a:latin typeface="Cambria Math"/>
                                </a:rPr>
                                <m:t>,</m:t>
                              </m:r>
                              <m:r>
                                <a:rPr lang="en-US" sz="1400">
                                  <a:latin typeface="Cambria Math"/>
                                </a:rPr>
                                <m:t>𝑘</m:t>
                              </m:r>
                            </m:sub>
                          </m:sSub>
                        </m:e>
                      </m:d>
                      <m:r>
                        <a:rPr lang="en-US" sz="1400">
                          <a:latin typeface="Cambria Math"/>
                        </a:rPr>
                        <m:t> ⊂ </m:t>
                      </m:r>
                      <m:sSub>
                        <m:sSubPr>
                          <m:ctrlPr>
                            <a:rPr lang="en-US" i="1">
                              <a:latin typeface="Cambria Math" panose="02040503050406030204" pitchFamily="18" charset="0"/>
                            </a:rPr>
                          </m:ctrlPr>
                        </m:sSubPr>
                        <m:e>
                          <m:r>
                            <a:rPr lang="en-US" sz="1400">
                              <a:latin typeface="Cambria Math"/>
                            </a:rPr>
                            <m:t>ℱ</m:t>
                          </m:r>
                        </m:e>
                        <m:sub>
                          <m:r>
                            <a:rPr lang="en-US" sz="1400">
                              <a:latin typeface="Cambria Math"/>
                            </a:rPr>
                            <m:t>𝑖𝑛</m:t>
                          </m:r>
                          <m:r>
                            <a:rPr lang="en-US" sz="1400">
                              <a:latin typeface="Cambria Math"/>
                            </a:rPr>
                            <m:t>,</m:t>
                          </m:r>
                          <m:r>
                            <a:rPr lang="en-US" sz="1400">
                              <a:latin typeface="Cambria Math"/>
                            </a:rPr>
                            <m:t>𝑘</m:t>
                          </m:r>
                        </m:sub>
                      </m:sSub>
                    </m:oMath>
                  </m:oMathPara>
                </a14:m>
                <a:endParaRPr lang="en-US" sz="1300" dirty="0"/>
              </a:p>
            </p:txBody>
          </p:sp>
        </mc:Choice>
        <mc:Fallback xmlns="">
          <p:sp>
            <p:nvSpPr>
              <p:cNvPr id="8" name="Text 3"/>
              <p:cNvSpPr>
                <a:spLocks noRot="1" noChangeAspect="1" noMove="1" noResize="1" noEditPoints="1" noAdjustHandles="1" noChangeArrowheads="1" noChangeShapeType="1" noTextEdit="1"/>
              </p:cNvSpPr>
              <p:nvPr/>
            </p:nvSpPr>
            <p:spPr>
              <a:xfrm>
                <a:off x="5943600" y="1700784"/>
                <a:ext cx="5760720" cy="457200"/>
              </a:xfrm>
              <a:prstGeom prst="rect">
                <a:avLst/>
              </a:prstGeom>
              <a:blipFill>
                <a:blip r:embed="rId6"/>
                <a:stretch>
                  <a:fillRect/>
                </a:stretch>
              </a:blipFill>
              <a:ln/>
            </p:spPr>
            <p:txBody>
              <a:bodyPr/>
              <a:lstStyle/>
              <a:p>
                <a:r>
                  <a:rPr lang="tr-TR">
                    <a:noFill/>
                  </a:rPr>
                  <a:t/>
                </a:r>
              </a:p>
            </p:txBody>
          </p:sp>
        </mc:Fallback>
      </mc:AlternateContent>
      <p:sp>
        <p:nvSpPr>
          <p:cNvPr id="9" name="Text 4"/>
          <p:cNvSpPr/>
          <p:nvPr/>
        </p:nvSpPr>
        <p:spPr>
          <a:xfrm>
            <a:off x="5943600" y="2212848"/>
            <a:ext cx="5760720" cy="160020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fielded field is the intensity vector over the six base intervention families…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…plus orders on admitted macros and clause actuators — which compile into the six base channels and the seven verified effects before touching the world</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Never crosses: the rule base, adaptation state, concept activations, confidences</a:t>
            </a:r>
            <a:endParaRPr lang="en-US" sz="1250" dirty="0"/>
          </a:p>
        </p:txBody>
      </p:sp>
      <p:sp>
        <p:nvSpPr>
          <p:cNvPr id="10" name="Text 5"/>
          <p:cNvSpPr/>
          <p:nvPr/>
        </p:nvSpPr>
        <p:spPr>
          <a:xfrm>
            <a:off x="5943600" y="3931920"/>
            <a:ext cx="576072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Upward — to the Global DSS (coordination, non-inferential)</a:t>
            </a:r>
            <a:endParaRPr lang="en-US" sz="1400" dirty="0"/>
          </a:p>
        </p:txBody>
      </p:sp>
      <p:sp>
        <p:nvSpPr>
          <p:cNvPr id="11" name="Text 6"/>
          <p:cNvSpPr/>
          <p:nvPr/>
        </p:nvSpPr>
        <p:spPr>
          <a:xfrm>
            <a:off x="5943600" y="4279392"/>
            <a:ext cx="5760720" cy="15544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Operational priority (the level-4 coordination concept, scalar)</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Resource request and the confidence summary of the region</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The Global DSS ranks, allocates capacity and attention — it never rewrites the content of a local decision</a:t>
            </a:r>
            <a:endParaRPr lang="en-US" sz="1250" dirty="0"/>
          </a:p>
        </p:txBody>
      </p:sp>
      <p:sp>
        <p:nvSpPr>
          <p:cNvPr id="12" name="Text 7"/>
          <p:cNvSpPr/>
          <p:nvPr/>
        </p:nvSpPr>
        <p:spPr>
          <a:xfrm>
            <a:off x="5943600" y="5943600"/>
            <a:ext cx="5760720" cy="64008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So the earlier one-line claim is exact for the world boundary and is completed here: the world sees only the typed intervention field; the coordinator sees only the summary triple.</a:t>
            </a:r>
            <a:endParaRPr lang="en-US" sz="1200" dirty="0"/>
          </a:p>
        </p:txBody>
      </p:sp>
      <p:sp>
        <p:nvSpPr>
          <p:cNvPr id="90004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48 / 113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Decision Cost J : Definition and Measurement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6" name="Text 2"/>
              <p:cNvSpPr/>
              <p:nvPr/>
            </p:nvSpPr>
            <p:spPr>
              <a:xfrm>
                <a:off x="457200" y="1325880"/>
                <a:ext cx="5852160" cy="30175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𝐽</m:t>
                      </m:r>
                      <m:r>
                        <a:rPr lang="en-US" sz="1400">
                          <a:latin typeface="Cambria Math"/>
                        </a:rPr>
                        <m:t>=</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𝑗</m:t>
                                  </m:r>
                                </m:sub>
                              </m:sSub>
                            </m:e>
                          </m:nary>
                        </m:num>
                        <m:den>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i="1">
                              <a:latin typeface="Cambria Math" panose="02040503050406030204" pitchFamily="18" charset="0"/>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r>
                            <a:rPr lang="en-US" sz="1400">
                              <a:latin typeface="Cambria Math"/>
                            </a:rPr>
                            <m:t>, </m:t>
                          </m:r>
                          <m:r>
                            <a:rPr lang="en-US" sz="1400">
                              <a:latin typeface="Cambria Math"/>
                            </a:rPr>
                            <m:t>𝑟𝑒𝑠𝑝</m:t>
                          </m:r>
                          <m:r>
                            <a:rPr lang="en-US" sz="1400">
                              <a:latin typeface="Cambria Math"/>
                            </a:rPr>
                            <m:t>, </m:t>
                          </m:r>
                          <m:r>
                            <a:rPr lang="en-US" sz="1400">
                              <a:latin typeface="Cambria Math"/>
                            </a:rPr>
                            <m:t>𝑑𝑒𝑙𝑎𝑦</m:t>
                          </m:r>
                        </m:e>
                      </m:d>
                    </m:oMath>
                  </m:oMathPara>
                </a14:m>
                <a:endParaRPr lang="en-US" sz="1300" dirty="0"/>
              </a:p>
            </p:txBody>
          </p:sp>
        </mc:Choice>
        <mc:Fallback xmlns="">
          <p:sp>
            <p:nvSpPr>
              <p:cNvPr id="6" name="Text 2"/>
              <p:cNvSpPr>
                <a:spLocks noRot="1" noChangeAspect="1" noMove="1" noResize="1" noEditPoints="1" noAdjustHandles="1" noChangeArrowheads="1" noChangeShapeType="1" noTextEdit="1"/>
              </p:cNvSpPr>
              <p:nvPr/>
            </p:nvSpPr>
            <p:spPr>
              <a:xfrm>
                <a:off x="457200" y="1325880"/>
                <a:ext cx="5852160" cy="3017520"/>
              </a:xfrm>
              <a:prstGeom prst="rect">
                <a:avLst/>
              </a:prstGeom>
              <a:blipFill>
                <a:blip r:embed="rId5"/>
                <a:stretch>
                  <a:fillRect/>
                </a:stretch>
              </a:blipFill>
              <a:ln/>
            </p:spPr>
            <p:txBody>
              <a:bodyPr/>
              <a:lstStyle/>
              <a:p>
                <a:r>
                  <a:rPr lang="tr-TR">
                    <a:noFill/>
                  </a:rPr>
                  <a:t/>
                </a:r>
              </a:p>
            </p:txBody>
          </p:sp>
        </mc:Fallback>
      </mc:AlternateContent>
      <p:sp>
        <p:nvSpPr>
          <p:cNvPr id="7" name="Text 3"/>
          <p:cNvSpPr/>
          <p:nvPr/>
        </p:nvSpPr>
        <p:spPr>
          <a:xfrm>
            <a:off x="457200" y="4526280"/>
            <a:ext cx="5852160" cy="1005840"/>
          </a:xfrm>
          <a:prstGeom prst="rect">
            <a:avLst/>
          </a:prstGeom>
          <a:noFill/>
          <a:ln/>
        </p:spPr>
        <p:txBody>
          <a:bodyPr wrap="square" lIns="0" tIns="0" rIns="0" bIns="0" rtlCol="0" anchor="t"/>
          <a:lstStyle/>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J is a single number in [0, 1] that prices the forecast end state of the incident. It is measured on the shadow copy of the simulation: the candidate orders are held constant over the forecast horizon, the fire is rolled forward, and each term is read from the resulting state.</a:t>
            </a:r>
            <a:endParaRPr lang="en-US" sz="1250" dirty="0"/>
          </a:p>
        </p:txBody>
      </p:sp>
      <p:sp>
        <p:nvSpPr>
          <p:cNvPr id="8" name="Text 4"/>
          <p:cNvSpPr/>
          <p:nvPr/>
        </p:nvSpPr>
        <p:spPr>
          <a:xfrm>
            <a:off x="6537960" y="1298448"/>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How each term is measured (normalization)</a:t>
            </a:r>
            <a:endParaRPr lang="en-US" sz="1400" dirty="0"/>
          </a:p>
        </p:txBody>
      </p:sp>
      <p:graphicFrame>
        <p:nvGraphicFramePr>
          <p:cNvPr id="9" name="Table 0"/>
          <p:cNvGraphicFramePr>
            <a:graphicFrameLocks noGrp="1"/>
          </p:cNvGraphicFramePr>
          <p:nvPr/>
        </p:nvGraphicFramePr>
        <p:xfrm>
          <a:off x="6537960" y="1645920"/>
          <a:ext cx="5212080" cy="27432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45720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Term (weight)</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Measured as</a:t>
                      </a:r>
                      <a:endParaRPr lang="en-US" sz="11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Burned area (0.29)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burned cells ÷ burnable cells of the scenario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 loss (0.29)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value lost ÷ total exposed value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Population exposure (0.29)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person-steps exposed ÷ (population at risk ×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Response effort (0.06)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committed capacity ÷ total available capacity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Response delay (0.06)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delay steps ÷ reference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Text 5"/>
          <p:cNvSpPr/>
          <p:nvPr/>
        </p:nvSpPr>
        <p:spPr>
          <a:xfrm>
            <a:off x="6537960" y="4343400"/>
            <a:ext cx="5212080" cy="14630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Why these weights: </a:t>
            </a:r>
            <a:r>
              <a:rPr lang="en-US" sz="1250" dirty="0">
                <a:solidFill>
                  <a:srgbClr val="222222"/>
                </a:solidFill>
                <a:latin typeface="Calibri" pitchFamily="34" charset="0"/>
                <a:ea typeface="Calibri" pitchFamily="34" charset="-122"/>
                <a:cs typeface="Calibri" pitchFamily="34" charset="-120"/>
              </a:rPr>
              <a:t>the three physical losses carry equal, dominant weight, so no ranking among land, assets, and life is hard-coded beyond parity. Effort and delay are priced small but non-zero: action is never free, and hesitation is never free. Every term is a ratio, so J is comparable across scenarios of different size.</a:t>
            </a:r>
            <a:endParaRPr lang="en-US" sz="1250" dirty="0"/>
          </a:p>
        </p:txBody>
      </p:sp>
      <p:sp>
        <p:nvSpPr>
          <p:cNvPr id="90004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49 / 113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Why There Are Two Readings of the Same Cost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6" name="Text 2"/>
              <p:cNvSpPr/>
              <p:nvPr/>
            </p:nvSpPr>
            <p:spPr>
              <a:xfrm>
                <a:off x="457200" y="1371600"/>
                <a:ext cx="5394960" cy="8229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𝑃h𝑦</m:t>
                          </m:r>
                        </m:sub>
                      </m:sSub>
                      <m:r>
                        <m:rPr>
                          <m:aln/>
                        </m:rPr>
                        <a:rPr lang="en-US" sz="1400">
                          <a:latin typeface="Cambria Math"/>
                        </a:rPr>
                        <m:t>=</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𝑗</m:t>
                                  </m:r>
                                </m:sub>
                              </m:sSub>
                            </m:e>
                          </m:nary>
                        </m:num>
                        <m:den>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i="1">
                              <a:latin typeface="Cambria Math" panose="02040503050406030204" pitchFamily="18" charset="0"/>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e>
                      </m:d>
                    </m:oMath>
                  </m:oMathPara>
                </a14:m>
                <a:endParaRPr lang="en-US" sz="1300" dirty="0"/>
              </a:p>
            </p:txBody>
          </p:sp>
        </mc:Choice>
        <mc:Fallback xmlns="">
          <p:sp>
            <p:nvSpPr>
              <p:cNvPr id="6" name="Text 2"/>
              <p:cNvSpPr>
                <a:spLocks noRot="1" noChangeAspect="1" noMove="1" noResize="1" noEditPoints="1" noAdjustHandles="1" noChangeArrowheads="1" noChangeShapeType="1" noTextEdit="1"/>
              </p:cNvSpPr>
              <p:nvPr/>
            </p:nvSpPr>
            <p:spPr>
              <a:xfrm>
                <a:off x="457200" y="1371600"/>
                <a:ext cx="5394960" cy="82296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7" name="Text 3"/>
              <p:cNvSpPr/>
              <p:nvPr/>
            </p:nvSpPr>
            <p:spPr>
              <a:xfrm>
                <a:off x="6217920" y="1371600"/>
                <a:ext cx="5486400" cy="8229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𝑇𝑜𝑡</m:t>
                          </m:r>
                        </m:sub>
                      </m:sSub>
                      <m:r>
                        <m:rPr>
                          <m:aln/>
                        </m:rPr>
                        <a:rPr lang="en-US" sz="1400">
                          <a:latin typeface="Cambria Math"/>
                        </a:rPr>
                        <m:t>=</m:t>
                      </m:r>
                      <m:r>
                        <a:rPr lang="en-US" sz="1400">
                          <a:latin typeface="Cambria Math"/>
                        </a:rPr>
                        <m:t> </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𝑗</m:t>
                                  </m:r>
                                </m:sub>
                              </m:sSub>
                            </m:e>
                          </m:nary>
                        </m:num>
                        <m:den>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i="1">
                              <a:latin typeface="Cambria Math" panose="02040503050406030204" pitchFamily="18" charset="0"/>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r>
                            <a:rPr lang="en-US" sz="1400">
                              <a:latin typeface="Cambria Math"/>
                            </a:rPr>
                            <m:t>, </m:t>
                          </m:r>
                          <m:r>
                            <a:rPr lang="en-US" sz="1400">
                              <a:latin typeface="Cambria Math"/>
                            </a:rPr>
                            <m:t>𝑟𝑒𝑠𝑝</m:t>
                          </m:r>
                          <m:r>
                            <a:rPr lang="en-US" sz="1400">
                              <a:latin typeface="Cambria Math"/>
                            </a:rPr>
                            <m:t>, </m:t>
                          </m:r>
                          <m:r>
                            <a:rPr lang="en-US" sz="1400">
                              <a:latin typeface="Cambria Math"/>
                            </a:rPr>
                            <m:t>𝑑𝑒𝑙𝑎𝑦</m:t>
                          </m:r>
                        </m:e>
                      </m:d>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6217920" y="1371600"/>
                <a:ext cx="5486400" cy="82296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457200" y="2423160"/>
                <a:ext cx="5394960" cy="292608"/>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𝑇𝑜𝑡</m:t>
                        </m:r>
                      </m:sub>
                    </m:sSub>
                  </m:oMath>
                </a14:m>
                <a:r>
                  <a:rPr lang="en-US" sz="1400" b="1" dirty="0">
                    <a:solidFill>
                      <a:srgbClr val="E31836"/>
                    </a:solidFill>
                    <a:latin typeface="Calibri" pitchFamily="34" charset="0"/>
                    <a:ea typeface="Calibri" pitchFamily="34" charset="-122"/>
                    <a:cs typeface="Calibri" pitchFamily="34" charset="-120"/>
                  </a:rPr>
                  <a:t> — used by the acceptance test</a:t>
                </a:r>
                <a:endParaRPr lang="en-US" sz="1400" dirty="0"/>
              </a:p>
            </p:txBody>
          </p:sp>
        </mc:Choice>
        <mc:Fallback xmlns="">
          <p:sp>
            <p:nvSpPr>
              <p:cNvPr id="8" name="Text 4"/>
              <p:cNvSpPr>
                <a:spLocks noRot="1" noChangeAspect="1" noMove="1" noResize="1" noEditPoints="1" noAdjustHandles="1" noChangeArrowheads="1" noChangeShapeType="1" noTextEdit="1"/>
              </p:cNvSpPr>
              <p:nvPr/>
            </p:nvSpPr>
            <p:spPr>
              <a:xfrm>
                <a:off x="457200" y="2423160"/>
                <a:ext cx="5394960" cy="292608"/>
              </a:xfrm>
              <a:prstGeom prst="rect">
                <a:avLst/>
              </a:prstGeom>
              <a:blipFill>
                <a:blip r:embed="rId7"/>
                <a:stretch>
                  <a:fillRect l="-1356" b="-33333"/>
                </a:stretch>
              </a:blipFill>
              <a:ln/>
            </p:spPr>
            <p:txBody>
              <a:bodyPr/>
              <a:lstStyle/>
              <a:p>
                <a:r>
                  <a:rPr lang="tr-TR">
                    <a:noFill/>
                  </a:rPr>
                  <a:t/>
                </a:r>
              </a:p>
            </p:txBody>
          </p:sp>
        </mc:Fallback>
      </mc:AlternateContent>
      <p:sp>
        <p:nvSpPr>
          <p:cNvPr id="9" name="Text 5"/>
          <p:cNvSpPr/>
          <p:nvPr/>
        </p:nvSpPr>
        <p:spPr>
          <a:xfrm>
            <a:off x="457200" y="2743200"/>
            <a:ext cx="5394960" cy="2103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All five terms: physical losses plus effort and delay.</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An order that is fielded must be worth its own effort. Without the effort term, the cheapest policy would always be to order maximum action everywhere, because physical losses alone never penalize activity.</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Used once per cycle, on the candidate as a whole.</a:t>
            </a:r>
            <a:endParaRPr lang="en-US" sz="1250" dirty="0"/>
          </a:p>
        </p:txBody>
      </p:sp>
      <mc:AlternateContent xmlns:mc="http://schemas.openxmlformats.org/markup-compatibility/2006" xmlns:a14="http://schemas.microsoft.com/office/drawing/2010/main">
        <mc:Choice Requires="a14">
          <p:sp>
            <p:nvSpPr>
              <p:cNvPr id="10" name="Text 6"/>
              <p:cNvSpPr/>
              <p:nvPr/>
            </p:nvSpPr>
            <p:spPr>
              <a:xfrm>
                <a:off x="6217920" y="2423160"/>
                <a:ext cx="5486400" cy="292608"/>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𝑃h𝑦</m:t>
                        </m:r>
                      </m:sub>
                    </m:sSub>
                  </m:oMath>
                </a14:m>
                <a:r>
                  <a:rPr lang="en-US" sz="1400" b="1" dirty="0">
                    <a:solidFill>
                      <a:srgbClr val="E31836"/>
                    </a:solidFill>
                    <a:latin typeface="Calibri" pitchFamily="34" charset="0"/>
                    <a:ea typeface="Calibri" pitchFamily="34" charset="-122"/>
                    <a:cs typeface="Calibri" pitchFamily="34" charset="-120"/>
                  </a:rPr>
                  <a:t> — used by every trial, gate, and the no-harm veto</a:t>
                </a:r>
                <a:endParaRPr lang="en-US" sz="1400" dirty="0"/>
              </a:p>
            </p:txBody>
          </p:sp>
        </mc:Choice>
        <mc:Fallback xmlns="">
          <p:sp>
            <p:nvSpPr>
              <p:cNvPr id="10" name="Text 6"/>
              <p:cNvSpPr>
                <a:spLocks noRot="1" noChangeAspect="1" noMove="1" noResize="1" noEditPoints="1" noAdjustHandles="1" noChangeArrowheads="1" noChangeShapeType="1" noTextEdit="1"/>
              </p:cNvSpPr>
              <p:nvPr/>
            </p:nvSpPr>
            <p:spPr>
              <a:xfrm>
                <a:off x="6217920" y="2423160"/>
                <a:ext cx="5486400" cy="292608"/>
              </a:xfrm>
              <a:prstGeom prst="rect">
                <a:avLst/>
              </a:prstGeom>
              <a:blipFill>
                <a:blip r:embed="rId8"/>
                <a:stretch>
                  <a:fillRect l="-1333" b="-29167"/>
                </a:stretch>
              </a:blipFill>
              <a:ln/>
            </p:spPr>
            <p:txBody>
              <a:bodyPr/>
              <a:lstStyle/>
              <a:p>
                <a:r>
                  <a:rPr lang="tr-TR">
                    <a:noFill/>
                  </a:rPr>
                  <a:t/>
                </a:r>
              </a:p>
            </p:txBody>
          </p:sp>
        </mc:Fallback>
      </mc:AlternateContent>
      <p:sp>
        <p:nvSpPr>
          <p:cNvPr id="11" name="Text 7"/>
          <p:cNvSpPr/>
          <p:nvPr/>
        </p:nvSpPr>
        <p:spPr>
          <a:xfrm>
            <a:off x="6217920" y="2743200"/>
            <a:ext cx="5486400" cy="2651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Only the three physical terms: burned area, asset loss, population exposure.</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An adaptation trial compares two futures that contain different orders. If the orders themselves were priced, an edit could look good simply by ordering less — without helping the fire at all. Judging on physics alone removes this loophole.</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no-harm veto asks a physical question: is acting better for the world than doing nothing? Effort and delay are irrelevant to that question.</a:t>
            </a:r>
            <a:endParaRPr lang="en-US" sz="1250" dirty="0"/>
          </a:p>
        </p:txBody>
      </p:sp>
      <p:sp>
        <p:nvSpPr>
          <p:cNvPr id="12" name="Shape 8"/>
          <p:cNvSpPr/>
          <p:nvPr/>
        </p:nvSpPr>
        <p:spPr>
          <a:xfrm>
            <a:off x="457200" y="5486400"/>
            <a:ext cx="11292840" cy="960120"/>
          </a:xfrm>
          <a:prstGeom prst="roundRect">
            <a:avLst>
              <a:gd name="adj" fmla="val 4762"/>
            </a:avLst>
          </a:prstGeom>
          <a:solidFill>
            <a:srgbClr val="FDE8EB"/>
          </a:solidFill>
          <a:ln/>
        </p:spPr>
      </p:sp>
      <p:sp>
        <p:nvSpPr>
          <p:cNvPr id="13" name="Text 9"/>
          <p:cNvSpPr/>
          <p:nvPr/>
        </p:nvSpPr>
        <p:spPr>
          <a:xfrm>
            <a:off x="731520" y="5623560"/>
            <a:ext cx="10789920" cy="7772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Same five terms, same weights, two subsets: </a:t>
            </a:r>
            <a:r>
              <a:rPr lang="en-US" sz="1250" dirty="0">
                <a:solidFill>
                  <a:srgbClr val="222222"/>
                </a:solidFill>
                <a:latin typeface="Calibri" pitchFamily="34" charset="0"/>
                <a:ea typeface="Calibri" pitchFamily="34" charset="-122"/>
                <a:cs typeface="Calibri" pitchFamily="34" charset="-120"/>
              </a:rPr>
              <a:t>acceptance reads the full cost because the operator pays for effort; learning and verification read the physical cost because the fire does not care how busy the response is.</a:t>
            </a:r>
            <a:endParaRPr lang="en-US" sz="1250" dirty="0"/>
          </a:p>
        </p:txBody>
      </p:sp>
      <p:sp>
        <p:nvSpPr>
          <p:cNvPr id="90005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50 / 113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Two Tests, Two Different Failures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325880"/>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Test 1 — Satisficing cost: is the outcome acceptable?</a:t>
            </a:r>
            <a:endParaRPr lang="en-US" sz="1400" dirty="0"/>
          </a:p>
        </p:txBody>
      </p:sp>
      <mc:AlternateContent xmlns:mc="http://schemas.openxmlformats.org/markup-compatibility/2006" xmlns:a14="http://schemas.microsoft.com/office/drawing/2010/main">
        <mc:Choice Requires="a14">
          <p:sp>
            <p:nvSpPr>
              <p:cNvPr id="7" name="Text 3"/>
              <p:cNvSpPr/>
              <p:nvPr/>
            </p:nvSpPr>
            <p:spPr>
              <a:xfrm>
                <a:off x="457200" y="1664208"/>
                <a:ext cx="56692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𝐽</m:t>
                              </m:r>
                            </m:e>
                          </m:acc>
                        </m:e>
                        <m:sub>
                          <m:r>
                            <a:rPr lang="en-US" sz="1400">
                              <a:latin typeface="Cambria Math"/>
                            </a:rPr>
                            <m:t>𝑘</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𝑈</m:t>
                              </m:r>
                            </m:e>
                            <m:sub>
                              <m:r>
                                <a:rPr lang="en-US" sz="1400">
                                  <a:latin typeface="Cambria Math"/>
                                </a:rPr>
                                <m:t>𝐷𝑆𝑆</m:t>
                              </m:r>
                              <m:r>
                                <a:rPr lang="en-US" sz="1400">
                                  <a:latin typeface="Cambria Math"/>
                                </a:rPr>
                                <m:t>,</m:t>
                              </m:r>
                              <m:r>
                                <a:rPr lang="en-US" sz="1400">
                                  <a:latin typeface="Cambria Math"/>
                                </a:rPr>
                                <m:t>𝑘</m:t>
                              </m:r>
                            </m:sub>
                          </m:sSub>
                        </m:e>
                      </m:d>
                      <m:r>
                        <a:rPr lang="en-US" sz="1400">
                          <a:latin typeface="Cambria Math"/>
                        </a:rPr>
                        <m:t> ≤ </m:t>
                      </m:r>
                      <m:r>
                        <a:rPr lang="en-US" sz="1400">
                          <a:latin typeface="Cambria Math"/>
                        </a:rPr>
                        <m:t>𝑚𝑖𝑛</m:t>
                      </m:r>
                      <m:r>
                        <a:rPr lang="en-US" sz="1400">
                          <a:latin typeface="Cambria Math"/>
                        </a:rPr>
                        <m:t>(</m:t>
                      </m:r>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𝑇𝐻</m:t>
                          </m:r>
                        </m:sub>
                      </m:sSub>
                      <m:r>
                        <a:rPr lang="en-US" sz="1400">
                          <a:latin typeface="Cambria Math"/>
                        </a:rPr>
                        <m:t>, (1−</m:t>
                      </m:r>
                      <m:sSub>
                        <m:sSubPr>
                          <m:ctrlPr>
                            <a:rPr lang="en-US" i="1">
                              <a:latin typeface="Cambria Math" panose="02040503050406030204" pitchFamily="18" charset="0"/>
                            </a:rPr>
                          </m:ctrlPr>
                        </m:sSubPr>
                        <m:e>
                          <m:r>
                            <a:rPr lang="en-US" sz="1400">
                              <a:latin typeface="Cambria Math"/>
                            </a:rPr>
                            <m:t>𝛿</m:t>
                          </m:r>
                        </m:e>
                        <m:sub>
                          <m:r>
                            <a:rPr lang="en-US" sz="1400">
                              <a:latin typeface="Cambria Math"/>
                            </a:rPr>
                            <m:t>𝑔𝑎𝑖𝑛</m:t>
                          </m:r>
                        </m:sub>
                      </m:sSub>
                      <m:r>
                        <a:rPr lang="en-US" sz="1400">
                          <a:latin typeface="Cambria Math"/>
                        </a:rPr>
                        <m:t>)⋅</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𝐽</m:t>
                              </m:r>
                            </m:e>
                          </m:acc>
                        </m:e>
                        <m:sub>
                          <m:r>
                            <a:rPr lang="en-US" sz="1400">
                              <a:latin typeface="Cambria Math"/>
                            </a:rPr>
                            <m:t>𝑘</m:t>
                          </m:r>
                        </m:sub>
                      </m:sSub>
                      <m:r>
                        <a:rPr lang="en-US" sz="1400">
                          <a:latin typeface="Cambria Math"/>
                        </a:rPr>
                        <m:t>(0))</m:t>
                      </m:r>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457200" y="1664208"/>
                <a:ext cx="5669280" cy="54864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457200" y="2286000"/>
                <a:ext cx="5669280" cy="17373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Bound = the tighter of a fixed ceiling (</a:t>
                </a:r>
                <a14:m>
                  <m:oMath xmlns:m="http://schemas.openxmlformats.org/officeDocument/2006/math">
                    <m:sSub>
                      <m:sSubPr>
                        <m:ctrlPr>
                          <a:rPr lang="en-US" i="1">
                            <a:latin typeface="Cambria Math" panose="02040503050406030204" pitchFamily="18" charset="0"/>
                          </a:rPr>
                        </m:ctrlPr>
                      </m:sSubPr>
                      <m:e>
                        <m:r>
                          <a:rPr lang="en-US" sz="1250">
                            <a:latin typeface="Cambria Math"/>
                          </a:rPr>
                          <m:t>𝐽</m:t>
                        </m:r>
                      </m:e>
                      <m:sub>
                        <m:r>
                          <a:rPr lang="en-US" sz="1250">
                            <a:latin typeface="Cambria Math"/>
                          </a:rPr>
                          <m:t>𝑇𝐻</m:t>
                        </m:r>
                      </m:sub>
                    </m:sSub>
                    <m:r>
                      <a:rPr lang="en-US" sz="1250">
                        <a:latin typeface="Cambria Math"/>
                      </a:rPr>
                      <m:t> = 0.35</m:t>
                    </m:r>
                  </m:oMath>
                </a14:m>
                <a:r>
                  <a:rPr lang="en-US" sz="1250" dirty="0">
                    <a:solidFill>
                      <a:srgbClr val="222222"/>
                    </a:solidFill>
                    <a:latin typeface="Calibri" pitchFamily="34" charset="0"/>
                    <a:ea typeface="Calibri" pitchFamily="34" charset="-122"/>
                    <a:cs typeface="Calibri" pitchFamily="34" charset="-120"/>
                  </a:rPr>
                  <a:t>) and a 5% required gain over the no-action shadow run from the same state</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Ceiling binds on large fires (never leave the incident expensive); margin binds on small fires (never meddle expensively)</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Recomputed every cycle — never entered by hand</a:t>
                </a:r>
                <a:endParaRPr lang="en-US" sz="1250" dirty="0"/>
              </a:p>
            </p:txBody>
          </p:sp>
        </mc:Choice>
        <mc:Fallback xmlns="">
          <p:sp>
            <p:nvSpPr>
              <p:cNvPr id="8" name="Text 4"/>
              <p:cNvSpPr>
                <a:spLocks noRot="1" noChangeAspect="1" noMove="1" noResize="1" noEditPoints="1" noAdjustHandles="1" noChangeArrowheads="1" noChangeShapeType="1" noTextEdit="1"/>
              </p:cNvSpPr>
              <p:nvPr/>
            </p:nvSpPr>
            <p:spPr>
              <a:xfrm>
                <a:off x="457200" y="2286000"/>
                <a:ext cx="5669280" cy="1737360"/>
              </a:xfrm>
              <a:prstGeom prst="rect">
                <a:avLst/>
              </a:prstGeom>
              <a:blipFill>
                <a:blip r:embed="rId6"/>
                <a:stretch>
                  <a:fillRect l="-1720" r="-108"/>
                </a:stretch>
              </a:blipFill>
              <a:ln/>
            </p:spPr>
            <p:txBody>
              <a:bodyPr/>
              <a:lstStyle/>
              <a:p>
                <a:r>
                  <a:rPr lang="tr-TR">
                    <a:noFill/>
                  </a:rPr>
                  <a:t/>
                </a:r>
              </a:p>
            </p:txBody>
          </p:sp>
        </mc:Fallback>
      </mc:AlternateContent>
      <p:sp>
        <p:nvSpPr>
          <p:cNvPr id="9" name="Text 5"/>
          <p:cNvSpPr/>
          <p:nvPr/>
        </p:nvSpPr>
        <p:spPr>
          <a:xfrm>
            <a:off x="6355080" y="1325880"/>
            <a:ext cx="539496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Test 2 — Quality: does the order serve its demanding concepts?</a:t>
            </a:r>
            <a:endParaRPr lang="en-US" sz="1400" dirty="0"/>
          </a:p>
        </p:txBody>
      </p:sp>
      <mc:AlternateContent xmlns:mc="http://schemas.openxmlformats.org/markup-compatibility/2006" xmlns:a14="http://schemas.microsoft.com/office/drawing/2010/main">
        <mc:Choice Requires="a14">
          <p:sp>
            <p:nvSpPr>
              <p:cNvPr id="10" name="Text 6"/>
              <p:cNvSpPr/>
              <p:nvPr/>
            </p:nvSpPr>
            <p:spPr>
              <a:xfrm>
                <a:off x="6355080" y="1664208"/>
                <a:ext cx="539496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𝑄</m:t>
                          </m:r>
                        </m:e>
                        <m:sub>
                          <m:r>
                            <a:rPr lang="en-US" sz="1400">
                              <a:latin typeface="Cambria Math"/>
                            </a:rPr>
                            <m:t>𝑘</m:t>
                          </m:r>
                        </m:sub>
                      </m:sSub>
                      <m:r>
                        <a:rPr lang="en-US" sz="1400">
                          <a:latin typeface="Cambria Math"/>
                        </a:rPr>
                        <m:t>=1−</m:t>
                      </m:r>
                      <m:f>
                        <m:fPr>
                          <m:ctrlPr>
                            <a:rPr lang="en-US" i="1">
                              <a:latin typeface="Cambria Math" panose="02040503050406030204" pitchFamily="18" charset="0"/>
                            </a:rPr>
                          </m:ctrlPr>
                        </m:fPr>
                        <m:num>
                          <m:r>
                            <a:rPr lang="en-US" sz="1400">
                              <a:latin typeface="Cambria Math"/>
                            </a:rPr>
                            <m:t>1</m:t>
                          </m:r>
                        </m:num>
                        <m:den>
                          <m:r>
                            <a:rPr lang="en-US" sz="1400">
                              <a:latin typeface="Cambria Math"/>
                            </a:rPr>
                            <m:t>4</m:t>
                          </m:r>
                        </m:den>
                      </m:f>
                      <m:nary>
                        <m:naryPr>
                          <m:chr m:val="∑"/>
                          <m:limLoc m:val="undOvr"/>
                          <m:ctrlPr>
                            <a:rPr lang="en-US" i="1">
                              <a:latin typeface="Cambria Math" panose="02040503050406030204" pitchFamily="18" charset="0"/>
                            </a:rPr>
                          </m:ctrlPr>
                        </m:naryPr>
                        <m:sub>
                          <m:r>
                            <a:rPr lang="en-US" sz="1400">
                              <a:latin typeface="Cambria Math"/>
                            </a:rPr>
                            <m:t>𝑛</m:t>
                          </m:r>
                          <m:r>
                            <a:rPr lang="en-US" sz="1400">
                              <a:latin typeface="Cambria Math"/>
                            </a:rPr>
                            <m:t>∈</m:t>
                          </m:r>
                          <m:sSub>
                            <m:sSubPr>
                              <m:ctrlPr>
                                <a:rPr lang="en-US" i="1">
                                  <a:latin typeface="Cambria Math" panose="02040503050406030204" pitchFamily="18" charset="0"/>
                                </a:rPr>
                              </m:ctrlPr>
                            </m:sSubPr>
                            <m:e>
                              <m:r>
                                <a:rPr lang="en-US" sz="1400">
                                  <a:latin typeface="Cambria Math"/>
                                </a:rPr>
                                <m:t>𝐶</m:t>
                              </m:r>
                            </m:e>
                            <m:sub>
                              <m:r>
                                <a:rPr lang="en-US" sz="1400">
                                  <a:latin typeface="Cambria Math"/>
                                </a:rPr>
                                <m:t>𝑄</m:t>
                              </m:r>
                            </m:sub>
                          </m:sSub>
                        </m:sub>
                        <m:sup/>
                        <m:e>
                          <m:r>
                            <a:rPr lang="en-US" sz="1400">
                              <a:latin typeface="Cambria Math"/>
                            </a:rPr>
                            <m:t>|</m:t>
                          </m:r>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sz="1400">
                                      <a:latin typeface="Cambria Math"/>
                                    </a:rPr>
                                    <m:t>𝑎</m:t>
                                  </m:r>
                                </m:e>
                                <m:sub>
                                  <m:r>
                                    <a:rPr lang="en-US" sz="1400">
                                      <a:latin typeface="Cambria Math"/>
                                    </a:rPr>
                                    <m:t>𝑛</m:t>
                                  </m:r>
                                </m:sub>
                              </m:sSub>
                            </m:e>
                            <m:sup>
                              <m:r>
                                <a:rPr lang="en-US" sz="1400">
                                  <a:latin typeface="Cambria Math"/>
                                </a:rPr>
                                <m:t>𝑒𝑓𝑓</m:t>
                              </m:r>
                            </m:sup>
                          </m:sSup>
                          <m:r>
                            <a:rPr lang="en-US" sz="1400">
                              <a:latin typeface="Cambria Math"/>
                            </a:rPr>
                            <m:t>−</m:t>
                          </m:r>
                          <m:sSub>
                            <m:sSubPr>
                              <m:ctrlPr>
                                <a:rPr lang="en-US" i="1">
                                  <a:latin typeface="Cambria Math" panose="02040503050406030204" pitchFamily="18" charset="0"/>
                                </a:rPr>
                              </m:ctrlPr>
                            </m:sSubPr>
                            <m:e>
                              <m:r>
                                <a:rPr lang="en-US" sz="1400">
                                  <a:latin typeface="Cambria Math"/>
                                </a:rPr>
                                <m:t>𝑚𝑎𝑥</m:t>
                              </m:r>
                            </m:e>
                            <m:sub>
                              <m:r>
                                <a:rPr lang="en-US" sz="1400">
                                  <a:latin typeface="Cambria Math"/>
                                </a:rPr>
                                <m:t>𝑓</m:t>
                              </m:r>
                              <m:r>
                                <a:rPr lang="en-US" sz="1400">
                                  <a:latin typeface="Cambria Math"/>
                                </a:rPr>
                                <m:t>∈</m:t>
                              </m:r>
                              <m:r>
                                <a:rPr lang="en-US" sz="1400">
                                  <a:latin typeface="Cambria Math"/>
                                </a:rPr>
                                <m:t>𝐹</m:t>
                              </m:r>
                              <m:r>
                                <a:rPr lang="en-US" sz="1400">
                                  <a:latin typeface="Cambria Math"/>
                                </a:rPr>
                                <m:t>(</m:t>
                              </m:r>
                              <m:r>
                                <a:rPr lang="en-US" sz="1400">
                                  <a:latin typeface="Cambria Math"/>
                                </a:rPr>
                                <m:t>𝑛</m:t>
                              </m:r>
                              <m:r>
                                <a:rPr lang="en-US" sz="1400">
                                  <a:latin typeface="Cambria Math"/>
                                </a:rPr>
                                <m:t>)</m:t>
                              </m:r>
                            </m:sub>
                          </m:sSub>
                          <m:r>
                            <a:rPr lang="en-US" sz="1400">
                              <a:latin typeface="Cambria Math"/>
                            </a:rPr>
                            <m:t> </m:t>
                          </m:r>
                          <m:sSub>
                            <m:sSubPr>
                              <m:ctrlPr>
                                <a:rPr lang="en-US" i="1">
                                  <a:latin typeface="Cambria Math" panose="02040503050406030204" pitchFamily="18" charset="0"/>
                                </a:rPr>
                              </m:ctrlPr>
                            </m:sSubPr>
                            <m:e>
                              <m:r>
                                <a:rPr lang="en-US" sz="1400">
                                  <a:latin typeface="Cambria Math"/>
                                </a:rPr>
                                <m:t>𝑢</m:t>
                              </m:r>
                            </m:e>
                            <m:sub>
                              <m:r>
                                <a:rPr lang="en-US" sz="1400">
                                  <a:latin typeface="Cambria Math"/>
                                </a:rPr>
                                <m:t>𝑓</m:t>
                              </m:r>
                            </m:sub>
                          </m:sSub>
                          <m:r>
                            <a:rPr lang="en-US" sz="1400">
                              <a:latin typeface="Cambria Math"/>
                            </a:rPr>
                            <m:t>|</m:t>
                          </m:r>
                        </m:e>
                      </m:nary>
                      <m:r>
                        <a:rPr lang="en-US" sz="1400">
                          <a:latin typeface="Cambria Math"/>
                        </a:rPr>
                        <m:t>,   </m:t>
                      </m:r>
                      <m:r>
                        <a:rPr lang="en-US" sz="1400">
                          <a:latin typeface="Cambria Math"/>
                        </a:rPr>
                        <m:t>𝑎𝑐𝑐𝑒𝑝𝑡</m:t>
                      </m:r>
                      <m:r>
                        <a:rPr lang="en-US" sz="1400">
                          <a:latin typeface="Cambria Math"/>
                        </a:rPr>
                        <m:t> ⇔ </m:t>
                      </m:r>
                      <m:sSub>
                        <m:sSubPr>
                          <m:ctrlPr>
                            <a:rPr lang="en-US" i="1">
                              <a:latin typeface="Cambria Math" panose="02040503050406030204" pitchFamily="18" charset="0"/>
                            </a:rPr>
                          </m:ctrlPr>
                        </m:sSubPr>
                        <m:e>
                          <m:r>
                            <a:rPr lang="en-US" sz="1400">
                              <a:latin typeface="Cambria Math"/>
                            </a:rPr>
                            <m:t>𝑄</m:t>
                          </m:r>
                        </m:e>
                        <m:sub>
                          <m:r>
                            <a:rPr lang="en-US" sz="1400">
                              <a:latin typeface="Cambria Math"/>
                            </a:rPr>
                            <m:t>𝑘</m:t>
                          </m:r>
                        </m:sub>
                      </m:sSub>
                      <m:r>
                        <a:rPr lang="en-US" sz="1400">
                          <a:latin typeface="Cambria Math"/>
                        </a:rPr>
                        <m:t>≥</m:t>
                      </m:r>
                      <m:r>
                        <a:rPr lang="en-US" sz="1400">
                          <a:latin typeface="Cambria Math"/>
                        </a:rPr>
                        <m:t>𝜂</m:t>
                      </m:r>
                    </m:oMath>
                  </m:oMathPara>
                </a14:m>
                <a:endParaRPr lang="en-US" sz="1300" dirty="0"/>
              </a:p>
            </p:txBody>
          </p:sp>
        </mc:Choice>
        <mc:Fallback xmlns="">
          <p:sp>
            <p:nvSpPr>
              <p:cNvPr id="10" name="Text 6"/>
              <p:cNvSpPr>
                <a:spLocks noRot="1" noChangeAspect="1" noMove="1" noResize="1" noEditPoints="1" noAdjustHandles="1" noChangeArrowheads="1" noChangeShapeType="1" noTextEdit="1"/>
              </p:cNvSpPr>
              <p:nvPr/>
            </p:nvSpPr>
            <p:spPr>
              <a:xfrm>
                <a:off x="6355080" y="1664208"/>
                <a:ext cx="5394960" cy="548640"/>
              </a:xfrm>
              <a:prstGeom prst="rect">
                <a:avLst/>
              </a:prstGeom>
              <a:blipFill>
                <a:blip r:embed="rId7"/>
                <a:stretch>
                  <a:fillRect b="-2666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7"/>
              <p:cNvSpPr/>
              <p:nvPr/>
            </p:nvSpPr>
            <p:spPr>
              <a:xfrm>
                <a:off x="6355080" y="2286000"/>
                <a:ext cx="5394960" cy="17373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Each scored concept is paired with the family that answers it: fire threat ↔ suppression, asset risk ↔ protection, urgency ↔ deployment, evacuation pressure ↔ evacuation &amp; warning</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Suppression feasibility is excluded — a modulator, not a demander</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Accept ⇔ </a:t>
                </a:r>
                <a14:m>
                  <m:oMath xmlns:m="http://schemas.openxmlformats.org/officeDocument/2006/math">
                    <m:r>
                      <a:rPr lang="en-US" sz="1250">
                        <a:latin typeface="Cambria Math"/>
                      </a:rPr>
                      <m:t>𝑄</m:t>
                    </m:r>
                    <m:r>
                      <a:rPr lang="en-US" sz="1250">
                        <a:latin typeface="Cambria Math"/>
                      </a:rPr>
                      <m:t> ≥ </m:t>
                    </m:r>
                    <m:r>
                      <a:rPr lang="en-US" sz="1250">
                        <a:latin typeface="Cambria Math"/>
                      </a:rPr>
                      <m:t>𝜂</m:t>
                    </m:r>
                  </m:oMath>
                </a14:m>
                <a:r>
                  <a:rPr lang="en-US" sz="1250" b="1" dirty="0">
                    <a:solidFill>
                      <a:srgbClr val="222222"/>
                    </a:solidFill>
                    <a:latin typeface="Calibri" pitchFamily="34" charset="0"/>
                    <a:ea typeface="Calibri" pitchFamily="34" charset="-122"/>
                    <a:cs typeface="Calibri" pitchFamily="34" charset="-120"/>
                  </a:rPr>
                  <a:t> = 0.60</a:t>
                </a:r>
                <a:endParaRPr lang="en-US" sz="1250" dirty="0"/>
              </a:p>
            </p:txBody>
          </p:sp>
        </mc:Choice>
        <mc:Fallback xmlns="">
          <p:sp>
            <p:nvSpPr>
              <p:cNvPr id="11" name="Text 7"/>
              <p:cNvSpPr>
                <a:spLocks noRot="1" noChangeAspect="1" noMove="1" noResize="1" noEditPoints="1" noAdjustHandles="1" noChangeArrowheads="1" noChangeShapeType="1" noTextEdit="1"/>
              </p:cNvSpPr>
              <p:nvPr/>
            </p:nvSpPr>
            <p:spPr>
              <a:xfrm>
                <a:off x="6355080" y="2286000"/>
                <a:ext cx="5394960" cy="1737360"/>
              </a:xfrm>
              <a:prstGeom prst="rect">
                <a:avLst/>
              </a:prstGeom>
              <a:blipFill>
                <a:blip r:embed="rId8"/>
                <a:stretch>
                  <a:fillRect l="-1921" t="-3158"/>
                </a:stretch>
              </a:blipFill>
              <a:ln/>
            </p:spPr>
            <p:txBody>
              <a:bodyPr/>
              <a:lstStyle/>
              <a:p>
                <a:r>
                  <a:rPr lang="tr-TR">
                    <a:noFill/>
                  </a:rPr>
                  <a:t/>
                </a:r>
              </a:p>
            </p:txBody>
          </p:sp>
        </mc:Fallback>
      </mc:AlternateContent>
      <p:sp>
        <p:nvSpPr>
          <p:cNvPr id="12" name="Shape 8"/>
          <p:cNvSpPr/>
          <p:nvPr/>
        </p:nvSpPr>
        <p:spPr>
          <a:xfrm>
            <a:off x="457200" y="4206240"/>
            <a:ext cx="11247120" cy="2240280"/>
          </a:xfrm>
          <a:prstGeom prst="roundRect">
            <a:avLst>
              <a:gd name="adj" fmla="val 2041"/>
            </a:avLst>
          </a:prstGeom>
          <a:solidFill>
            <a:srgbClr val="FDE8EB"/>
          </a:solidFill>
          <a:ln/>
        </p:spPr>
      </p:sp>
      <p:sp>
        <p:nvSpPr>
          <p:cNvPr id="13" name="Text 9"/>
          <p:cNvSpPr/>
          <p:nvPr/>
        </p:nvSpPr>
        <p:spPr>
          <a:xfrm>
            <a:off x="731520" y="4343400"/>
            <a:ext cx="106984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Why two stages — the failures are orthogonal</a:t>
            </a:r>
            <a:endParaRPr lang="en-US" sz="1400" dirty="0"/>
          </a:p>
        </p:txBody>
      </p:sp>
      <p:sp>
        <p:nvSpPr>
          <p:cNvPr id="14" name="Text 10"/>
          <p:cNvSpPr/>
          <p:nvPr/>
        </p:nvSpPr>
        <p:spPr>
          <a:xfrm>
            <a:off x="777240" y="4709160"/>
            <a:ext cx="10698480" cy="16459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 cheap order can still ignore an urgent demand: cost passes while an evacuation-pressure VH cell receives no evacuation — only Q catches this</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 well-aimed order can still be wasteful: quality passes while the forecast cost stays above the bound — only J catches this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One combined score would let strength in one dimension pay for failure in the other; two sequential gates make each failure visible, attributable, and separately repairable — cost failures summon adaptation, quality deficits summon the fail-safe</a:t>
            </a:r>
            <a:endParaRPr lang="en-US" sz="1250" dirty="0"/>
          </a:p>
        </p:txBody>
      </p:sp>
      <p:sp>
        <p:nvSpPr>
          <p:cNvPr id="90005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51 / 113</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Cost Test, Term by Term</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7" name="Table 0"/>
          <p:cNvGraphicFramePr>
            <a:graphicFrameLocks noGrp="1"/>
          </p:cNvGraphicFramePr>
          <p:nvPr/>
        </p:nvGraphicFramePr>
        <p:xfrm>
          <a:off x="457200" y="1371600"/>
          <a:ext cx="5577840" cy="2688336"/>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Cost term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Weight w</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Candidate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Burned area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0.5218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0.5376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loss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0.2226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0.3061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Population exposure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Response effort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0.0549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0.0300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Response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0.2230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0.0000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Weighted sum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0.8004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200" b="1" dirty="0">
                          <a:solidFill>
                            <a:srgbClr val="E31836"/>
                          </a:solidFill>
                          <a:latin typeface="Calibri" pitchFamily="34" charset="0"/>
                          <a:ea typeface="Calibri" pitchFamily="34" charset="-122"/>
                          <a:cs typeface="Calibri" pitchFamily="34" charset="-120"/>
                        </a:rPr>
                        <a:t>0.8506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2"/>
          <p:cNvSpPr/>
          <p:nvPr/>
        </p:nvSpPr>
        <p:spPr>
          <a:xfrm>
            <a:off x="457200" y="4206240"/>
            <a:ext cx="5577840" cy="86868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Each weighted sum uses w = 1.0 for the three physical terms and w = 0.2 for the two bookkeeping terms. The total weight is 3.4. Normalized, this is exactly the default weight set 0.29 / 0.29 / 0.29 / 0.06 / 0.06.</a:t>
            </a:r>
            <a:endParaRPr lang="en-US" sz="1200" dirty="0"/>
          </a:p>
        </p:txBody>
      </p:sp>
      <p:sp>
        <p:nvSpPr>
          <p:cNvPr id="8" name="Text 3"/>
          <p:cNvSpPr/>
          <p:nvPr/>
        </p:nvSpPr>
        <p:spPr>
          <a:xfrm>
            <a:off x="6400800" y="1325880"/>
            <a:ext cx="534924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Where every number comes from</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6400800" y="1664208"/>
                <a:ext cx="534924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sz="1400">
                                  <a:latin typeface="Cambria Math"/>
                                </a:rPr>
                                <m:t>𝐽</m:t>
                              </m:r>
                            </m:e>
                            <m:sub>
                              <m:r>
                                <m:rPr>
                                  <m:sty m:val="p"/>
                                </m:rPr>
                                <a:rPr lang="en-US" sz="1400">
                                  <a:latin typeface="Cambria Math"/>
                                </a:rPr>
                                <m:t>k</m:t>
                              </m:r>
                            </m:sub>
                          </m:sSub>
                        </m:e>
                      </m:acc>
                      <m:d>
                        <m:dPr>
                          <m:ctrlPr>
                            <a:rPr lang="en-US" i="1">
                              <a:latin typeface="Cambria Math" panose="02040503050406030204" pitchFamily="18" charset="0"/>
                            </a:rPr>
                          </m:ctrlPr>
                        </m:dPr>
                        <m:e>
                          <m:r>
                            <a:rPr lang="en-US" sz="1400">
                              <a:latin typeface="Cambria Math"/>
                            </a:rPr>
                            <m:t>𝑈</m:t>
                          </m:r>
                        </m:e>
                      </m:d>
                      <m:r>
                        <m:rPr>
                          <m:aln/>
                        </m:rPr>
                        <a:rPr lang="en-US" sz="1400">
                          <a:latin typeface="Cambria Math"/>
                        </a:rPr>
                        <m:t>=</m:t>
                      </m:r>
                      <m:r>
                        <a:rPr lang="en-US" sz="1400">
                          <a:latin typeface="Cambria Math"/>
                        </a:rPr>
                        <m:t> </m:t>
                      </m:r>
                      <m:f>
                        <m:fPr>
                          <m:ctrlPr>
                            <a:rPr lang="en-US" i="1">
                              <a:latin typeface="Cambria Math" panose="02040503050406030204" pitchFamily="18" charset="0"/>
                            </a:rPr>
                          </m:ctrlPr>
                        </m:fPr>
                        <m:num>
                          <m:r>
                            <a:rPr lang="en-US" sz="1400">
                              <a:latin typeface="Cambria Math"/>
                            </a:rPr>
                            <m:t>0.8004</m:t>
                          </m:r>
                        </m:num>
                        <m:den>
                          <m:r>
                            <a:rPr lang="en-US" sz="1400">
                              <a:latin typeface="Cambria Math"/>
                            </a:rPr>
                            <m:t>3.4</m:t>
                          </m:r>
                        </m:den>
                      </m:f>
                      <m:r>
                        <a:rPr lang="en-US" sz="1400">
                          <a:latin typeface="Cambria Math"/>
                        </a:rPr>
                        <m:t> = 0.2354</m:t>
                      </m:r>
                    </m:oMath>
                  </m:oMathPara>
                </a14:m>
                <a:endParaRPr lang="en-US" sz="1300" dirty="0"/>
              </a:p>
            </p:txBody>
          </p:sp>
        </mc:Choice>
        <mc:Fallback xmlns="">
          <p:sp>
            <p:nvSpPr>
              <p:cNvPr id="9" name="Text 4"/>
              <p:cNvSpPr>
                <a:spLocks noRot="1" noChangeAspect="1" noMove="1" noResize="1" noEditPoints="1" noAdjustHandles="1" noChangeArrowheads="1" noChangeShapeType="1" noTextEdit="1"/>
              </p:cNvSpPr>
              <p:nvPr/>
            </p:nvSpPr>
            <p:spPr>
              <a:xfrm>
                <a:off x="6400800" y="1664208"/>
                <a:ext cx="5349240" cy="77724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5"/>
              <p:cNvSpPr/>
              <p:nvPr/>
            </p:nvSpPr>
            <p:spPr>
              <a:xfrm>
                <a:off x="6400800" y="2514600"/>
                <a:ext cx="5349240" cy="6858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0.2354 ≤ </m:t>
                      </m:r>
                      <m:r>
                        <m:rPr>
                          <m:sty m:val="p"/>
                        </m:rPr>
                        <a:rPr lang="en-US" sz="1400">
                          <a:latin typeface="Cambria Math"/>
                        </a:rPr>
                        <m:t>min</m:t>
                      </m:r>
                      <m:r>
                        <a:rPr lang="en-US" sz="1400">
                          <a:latin typeface="Cambria Math"/>
                        </a:rPr>
                        <m:t>(0.35, (1−0.05)× 0.2502) = 0.2377</m:t>
                      </m:r>
                    </m:oMath>
                  </m:oMathPara>
                </a14:m>
                <a:endParaRPr lang="en-US" sz="1300" dirty="0"/>
              </a:p>
            </p:txBody>
          </p:sp>
        </mc:Choice>
        <mc:Fallback xmlns="">
          <p:sp>
            <p:nvSpPr>
              <p:cNvPr id="10" name="Text 5"/>
              <p:cNvSpPr>
                <a:spLocks noRot="1" noChangeAspect="1" noMove="1" noResize="1" noEditPoints="1" noAdjustHandles="1" noChangeArrowheads="1" noChangeShapeType="1" noTextEdit="1"/>
              </p:cNvSpPr>
              <p:nvPr/>
            </p:nvSpPr>
            <p:spPr>
              <a:xfrm>
                <a:off x="6400800" y="2514600"/>
                <a:ext cx="5349240" cy="68580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6"/>
              <p:cNvSpPr/>
              <p:nvPr/>
            </p:nvSpPr>
            <p:spPr>
              <a:xfrm>
                <a:off x="6400800" y="3310128"/>
                <a:ext cx="5349240" cy="30175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0.8506 is the weighted sum of the no-action column. Divided by the total weight 3.4, it gives the no-action forecast cost: </a:t>
                </a:r>
                <a14:m>
                  <m:oMath xmlns:m="http://schemas.openxmlformats.org/officeDocument/2006/math">
                    <m:acc>
                      <m:accPr>
                        <m:chr m:val="̂"/>
                        <m:ctrlPr>
                          <a:rPr lang="en-US" i="1">
                            <a:latin typeface="Cambria Math" panose="02040503050406030204" pitchFamily="18" charset="0"/>
                          </a:rPr>
                        </m:ctrlPr>
                      </m:accPr>
                      <m:e>
                        <m:r>
                          <a:rPr lang="en-US" sz="1250">
                            <a:latin typeface="Cambria Math"/>
                          </a:rPr>
                          <m:t>𝐽</m:t>
                        </m:r>
                      </m:e>
                    </m:acc>
                    <m:r>
                      <a:rPr lang="en-US" sz="1250">
                        <a:latin typeface="Cambria Math"/>
                      </a:rPr>
                      <m:t>(0) = 0.2502</m:t>
                    </m:r>
                  </m:oMath>
                </a14:m>
                <a:r>
                  <a:rPr lang="en-US" sz="1250" dirty="0">
                    <a:solidFill>
                      <a:srgbClr val="222222"/>
                    </a:solidFill>
                    <a:latin typeface="Calibri" pitchFamily="34" charset="0"/>
                    <a:ea typeface="Calibri" pitchFamily="34" charset="-122"/>
                    <a:cs typeface="Calibri" pitchFamily="34" charset="-120"/>
                  </a:rPr>
                  <a:t>.</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0.8004 is the weighted sum of the candidate column. Divided by 3.4, it gives the candidate forecast cost: 0.2354.</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bound is the smaller of two numbers: the ceiling 0.35, and the margin 0.95 × 0.2502 = 0.2377. Here the margin is smaller, so the margin binds.</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Decision: 0.2354 ≤ 0.2377, so the candidate is accepted on cost.</a:t>
                </a:r>
                <a:endParaRPr lang="en-US" sz="1250" dirty="0"/>
              </a:p>
            </p:txBody>
          </p:sp>
        </mc:Choice>
        <mc:Fallback xmlns="">
          <p:sp>
            <p:nvSpPr>
              <p:cNvPr id="11" name="Text 6"/>
              <p:cNvSpPr>
                <a:spLocks noRot="1" noChangeAspect="1" noMove="1" noResize="1" noEditPoints="1" noAdjustHandles="1" noChangeArrowheads="1" noChangeShapeType="1" noTextEdit="1"/>
              </p:cNvSpPr>
              <p:nvPr/>
            </p:nvSpPr>
            <p:spPr>
              <a:xfrm>
                <a:off x="6400800" y="3310128"/>
                <a:ext cx="5349240" cy="3017520"/>
              </a:xfrm>
              <a:prstGeom prst="rect">
                <a:avLst/>
              </a:prstGeom>
              <a:blipFill>
                <a:blip r:embed="rId7"/>
                <a:stretch>
                  <a:fillRect l="-1822" t="-1818" r="-2164"/>
                </a:stretch>
              </a:blipFill>
              <a:ln/>
            </p:spPr>
            <p:txBody>
              <a:bodyPr/>
              <a:lstStyle/>
              <a:p>
                <a:r>
                  <a:rPr lang="tr-TR">
                    <a:noFill/>
                  </a:rPr>
                  <a:t/>
                </a:r>
              </a:p>
            </p:txBody>
          </p:sp>
        </mc:Fallback>
      </mc:AlternateContent>
      <p:sp>
        <p:nvSpPr>
          <p:cNvPr id="90005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52 / 113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Quality Test, Term by Term, in Two Regions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8" name="Table 0"/>
              <p:cNvGraphicFramePr>
                <a:graphicFrameLocks noGrp="1"/>
              </p:cNvGraphicFramePr>
              <p:nvPr/>
            </p:nvGraphicFramePr>
            <p:xfrm>
              <a:off x="457200" y="1325880"/>
              <a:ext cx="5943600" cy="3149918"/>
            </p:xfrm>
            <a:graphic>
              <a:graphicData uri="http://schemas.openxmlformats.org/drawingml/2006/table">
                <a:tbl>
                  <a:tblPr/>
                  <a:tblGrid>
                    <a:gridCol w="6400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Region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Concept (demand)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Activation </a:t>
                          </a:r>
                          <a14:m>
                            <m:oMath xmlns:m="http://schemas.openxmlformats.org/officeDocument/2006/math">
                              <m:sSup>
                                <m:sSupPr>
                                  <m:ctrlPr>
                                    <a:rPr lang="en-US" i="1">
                                      <a:latin typeface="Cambria Math" panose="02040503050406030204" pitchFamily="18" charset="0"/>
                                    </a:rPr>
                                  </m:ctrlPr>
                                </m:sSupPr>
                                <m:e>
                                  <m:r>
                                    <a:rPr lang="en-US" sz="1150">
                                      <a:latin typeface="Cambria Math"/>
                                    </a:rPr>
                                    <m:t>𝑎</m:t>
                                  </m:r>
                                </m:e>
                                <m:sup>
                                  <m:r>
                                    <a:rPr lang="en-US" sz="1150">
                                      <a:latin typeface="Cambria Math"/>
                                    </a:rPr>
                                    <m:t>𝑒𝑓𝑓</m:t>
                                  </m:r>
                                </m:sup>
                              </m:sSup>
                            </m:oMath>
                          </a14:m>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Ordered </a:t>
                          </a:r>
                          <a14:m>
                            <m:oMath xmlns:m="http://schemas.openxmlformats.org/officeDocument/2006/math">
                              <m:sSub>
                                <m:sSubPr>
                                  <m:ctrlPr>
                                    <a:rPr lang="en-US" i="1">
                                      <a:latin typeface="Cambria Math" panose="02040503050406030204" pitchFamily="18" charset="0"/>
                                    </a:rPr>
                                  </m:ctrlPr>
                                </m:sSubPr>
                                <m:e>
                                  <m:r>
                                    <a:rPr lang="en-US" sz="1150">
                                      <a:latin typeface="Cambria Math"/>
                                    </a:rPr>
                                    <m:t>𝑢</m:t>
                                  </m:r>
                                </m:e>
                                <m:sub>
                                  <m:r>
                                    <a:rPr lang="en-US" sz="1150">
                                      <a:latin typeface="Cambria Math"/>
                                    </a:rPr>
                                    <m:t>𝑓</m:t>
                                  </m:r>
                                </m:sub>
                              </m:sSub>
                            </m:oMath>
                          </a14:m>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r>
                                  <a:rPr lang="en-US" sz="1150">
                                    <a:latin typeface="Cambria Math"/>
                                  </a:rPr>
                                  <m:t>|</m:t>
                                </m:r>
                                <m:sSup>
                                  <m:sSupPr>
                                    <m:ctrlPr>
                                      <a:rPr lang="en-US" i="1">
                                        <a:latin typeface="Cambria Math" panose="02040503050406030204" pitchFamily="18" charset="0"/>
                                      </a:rPr>
                                    </m:ctrlPr>
                                  </m:sSupPr>
                                  <m:e>
                                    <m:r>
                                      <a:rPr lang="en-US" sz="1150">
                                        <a:latin typeface="Cambria Math"/>
                                      </a:rPr>
                                      <m:t>𝑎</m:t>
                                    </m:r>
                                  </m:e>
                                  <m:sup>
                                    <m:r>
                                      <a:rPr lang="en-US" sz="1150">
                                        <a:latin typeface="Cambria Math"/>
                                      </a:rPr>
                                      <m:t>𝑒𝑓𝑓</m:t>
                                    </m:r>
                                  </m:sup>
                                </m:sSup>
                                <m:r>
                                  <a:rPr lang="en-US" sz="1150">
                                    <a:latin typeface="Cambria Math"/>
                                  </a:rPr>
                                  <m:t>−</m:t>
                                </m:r>
                                <m:sSub>
                                  <m:sSubPr>
                                    <m:ctrlPr>
                                      <a:rPr lang="en-US" i="1">
                                        <a:latin typeface="Cambria Math" panose="02040503050406030204" pitchFamily="18" charset="0"/>
                                      </a:rPr>
                                    </m:ctrlPr>
                                  </m:sSubPr>
                                  <m:e>
                                    <m:r>
                                      <a:rPr lang="en-US" sz="1150">
                                        <a:latin typeface="Cambria Math"/>
                                      </a:rPr>
                                      <m:t>𝑢</m:t>
                                    </m:r>
                                  </m:e>
                                  <m:sub>
                                    <m:r>
                                      <a:rPr lang="en-US" sz="1150">
                                        <a:latin typeface="Cambria Math"/>
                                      </a:rPr>
                                      <m:t>𝑓</m:t>
                                    </m:r>
                                  </m:sub>
                                </m:sSub>
                                <m:r>
                                  <a:rPr lang="en-US" sz="1150">
                                    <a:latin typeface="Cambria Math"/>
                                  </a:rPr>
                                  <m:t>|</m:t>
                                </m:r>
                              </m:oMath>
                            </m:oMathPara>
                          </a14:m>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0.237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0.541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0.049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0.639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0.554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0.085</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0.687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0.327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0.920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0.104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Choice>
        <mc:Fallback xmlns="">
          <p:graphicFrame>
            <p:nvGraphicFramePr>
              <p:cNvPr id="8" name="Table 0"/>
              <p:cNvGraphicFramePr>
                <a:graphicFrameLocks noGrp="1"/>
              </p:cNvGraphicFramePr>
              <p:nvPr/>
            </p:nvGraphicFramePr>
            <p:xfrm>
              <a:off x="457200" y="1325880"/>
              <a:ext cx="5943600" cy="3149918"/>
            </p:xfrm>
            <a:graphic>
              <a:graphicData uri="http://schemas.openxmlformats.org/drawingml/2006/table">
                <a:tbl>
                  <a:tblPr/>
                  <a:tblGrid>
                    <a:gridCol w="6400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51644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Region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Concept (demand)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323418" t="-2353" r="-195570" b="-5105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446000" t="-2353" r="-106000" b="-5105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521656" t="-2353" r="-1274" b="-510588"/>
                          </a:stretch>
                        </a:blipFill>
                      </a:tcPr>
                    </a:tc>
                    <a:extLst>
                      <a:ext uri="{0D108BD9-81ED-4DB2-BD59-A6C34878D82A}">
                        <a16:rowId xmlns:a16="http://schemas.microsoft.com/office/drawing/2014/main" val="10000"/>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0.237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0.541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0.049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0.639</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0.554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0.085</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0.497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fire threat → suppression effort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0.687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0.360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0.327</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asset exposure → asset protection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intervention urgency → deployment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0.920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0.104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evacuation pressure → evacuation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222222"/>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b="1" dirty="0">
                              <a:solidFill>
                                <a:srgbClr val="E31836"/>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Fallback>
      </mc:AlternateContent>
      <p:sp>
        <p:nvSpPr>
          <p:cNvPr id="7" name="Text 2"/>
          <p:cNvSpPr/>
          <p:nvPr/>
        </p:nvSpPr>
        <p:spPr>
          <a:xfrm>
            <a:off x="457200" y="4617720"/>
            <a:ext cx="5943600" cy="91440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Each mismatch is the distance between what the concept demanded and what the candidate ordered from the family that answers it. Ordering too much counts the same as ordering too little (Region 2, urgency: 0.920 ordered against 0.816 demanded).</a:t>
            </a:r>
            <a:endParaRPr lang="en-US" sz="1200" dirty="0"/>
          </a:p>
        </p:txBody>
      </p:sp>
      <p:sp>
        <p:nvSpPr>
          <p:cNvPr id="6" name="Text 3"/>
          <p:cNvSpPr/>
          <p:nvPr/>
        </p:nvSpPr>
        <p:spPr>
          <a:xfrm>
            <a:off x="6629400" y="1325880"/>
            <a:ext cx="5120640" cy="292608"/>
          </a:xfrm>
          <a:prstGeom prst="rect">
            <a:avLst/>
          </a:prstGeom>
          <a:noFill/>
          <a:ln/>
        </p:spPr>
        <p:txBody>
          <a:bodyPr wrap="square" lIns="0" tIns="0" rIns="0" bIns="0" rtlCol="0" anchor="ctr"/>
          <a:lstStyle/>
          <a:p>
            <a:pPr marL="0" indent="0">
              <a:buNone/>
            </a:pPr>
            <a:r>
              <a:rPr lang="en-US" sz="1400" b="1" dirty="0">
                <a:solidFill>
                  <a:srgbClr val="3E7C4F"/>
                </a:solidFill>
                <a:latin typeface="Calibri" pitchFamily="34" charset="0"/>
                <a:ea typeface="Calibri" pitchFamily="34" charset="-122"/>
                <a:cs typeface="Calibri" pitchFamily="34" charset="-120"/>
              </a:rPr>
              <a:t>Region 1 — quality passes</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6629400" y="1645920"/>
                <a:ext cx="512064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𝑄</m:t>
                          </m:r>
                        </m:e>
                        <m:sub>
                          <m:r>
                            <a:rPr lang="en-US" sz="1400">
                              <a:latin typeface="Cambria Math"/>
                            </a:rPr>
                            <m:t>1</m:t>
                          </m:r>
                        </m:sub>
                      </m:sSub>
                      <m:r>
                        <a:rPr lang="en-US" sz="1400">
                          <a:latin typeface="Cambria Math"/>
                        </a:rPr>
                        <m:t> = 1 − </m:t>
                      </m:r>
                      <m:f>
                        <m:fPr>
                          <m:ctrlPr>
                            <a:rPr lang="en-US" i="1">
                              <a:latin typeface="Cambria Math" panose="02040503050406030204" pitchFamily="18" charset="0"/>
                            </a:rPr>
                          </m:ctrlPr>
                        </m:fPr>
                        <m:num>
                          <m:r>
                            <a:rPr lang="en-US" sz="1400">
                              <a:latin typeface="Cambria Math"/>
                            </a:rPr>
                            <m:t>1</m:t>
                          </m:r>
                        </m:num>
                        <m:den>
                          <m:r>
                            <a:rPr lang="en-US" sz="1400">
                              <a:latin typeface="Cambria Math"/>
                            </a:rPr>
                            <m:t>4</m:t>
                          </m:r>
                        </m:den>
                      </m:f>
                      <m:r>
                        <a:rPr lang="en-US" sz="1400">
                          <a:latin typeface="Cambria Math"/>
                        </a:rPr>
                        <m:t>(0.237 + 0.492 + 0.085 + 0.497) = 0.672</m:t>
                      </m:r>
                    </m:oMath>
                  </m:oMathPara>
                </a14:m>
                <a:endParaRPr lang="en-US" sz="1300" dirty="0"/>
              </a:p>
            </p:txBody>
          </p:sp>
        </mc:Choice>
        <mc:Fallback xmlns="">
          <p:sp>
            <p:nvSpPr>
              <p:cNvPr id="9" name="Text 4"/>
              <p:cNvSpPr>
                <a:spLocks noRot="1" noChangeAspect="1" noMove="1" noResize="1" noEditPoints="1" noAdjustHandles="1" noChangeArrowheads="1" noChangeShapeType="1" noTextEdit="1"/>
              </p:cNvSpPr>
              <p:nvPr/>
            </p:nvSpPr>
            <p:spPr>
              <a:xfrm>
                <a:off x="6629400" y="1645920"/>
                <a:ext cx="5120640" cy="640080"/>
              </a:xfrm>
              <a:prstGeom prst="rect">
                <a:avLst/>
              </a:prstGeom>
              <a:blipFill>
                <a:blip r:embed="rId6"/>
                <a:stretch>
                  <a:fillRect/>
                </a:stretch>
              </a:blipFill>
              <a:ln/>
            </p:spPr>
            <p:txBody>
              <a:bodyPr/>
              <a:lstStyle/>
              <a:p>
                <a:r>
                  <a:rPr lang="tr-TR">
                    <a:noFill/>
                  </a:rPr>
                  <a:t/>
                </a:r>
              </a:p>
            </p:txBody>
          </p:sp>
        </mc:Fallback>
      </mc:AlternateContent>
      <p:sp>
        <p:nvSpPr>
          <p:cNvPr id="10" name="Text 5"/>
          <p:cNvSpPr/>
          <p:nvPr/>
        </p:nvSpPr>
        <p:spPr>
          <a:xfrm>
            <a:off x="6629400" y="2331720"/>
            <a:ext cx="5120640" cy="96012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The four addends are the four Region-1 mismatches: 0.237 (fire threat) + 0.492 (asset exposure) + 0.085 (urgency) + 0.497 (evacuation). Their mean is 0.328, and Q₁ = 1 − 0.328 = 0.672 ≥ 0.60. The orders are applied as written.</a:t>
            </a:r>
            <a:endParaRPr lang="en-US" sz="1200" dirty="0"/>
          </a:p>
        </p:txBody>
      </p:sp>
      <p:sp>
        <p:nvSpPr>
          <p:cNvPr id="11" name="Text 6"/>
          <p:cNvSpPr/>
          <p:nvPr/>
        </p:nvSpPr>
        <p:spPr>
          <a:xfrm>
            <a:off x="6629400" y="3383280"/>
            <a:ext cx="512064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Region 2 — quality fails, the fail-safe engages</a:t>
            </a:r>
            <a:endParaRPr lang="en-US" sz="1400" dirty="0"/>
          </a:p>
        </p:txBody>
      </p:sp>
      <mc:AlternateContent xmlns:mc="http://schemas.openxmlformats.org/markup-compatibility/2006" xmlns:a14="http://schemas.microsoft.com/office/drawing/2010/main">
        <mc:Choice Requires="a14">
          <p:sp>
            <p:nvSpPr>
              <p:cNvPr id="12" name="Text 7"/>
              <p:cNvSpPr/>
              <p:nvPr/>
            </p:nvSpPr>
            <p:spPr>
              <a:xfrm>
                <a:off x="6629400" y="3703320"/>
                <a:ext cx="512064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𝑄</m:t>
                          </m:r>
                        </m:e>
                        <m:sub>
                          <m:r>
                            <a:rPr lang="en-US" sz="1400">
                              <a:latin typeface="Cambria Math"/>
                            </a:rPr>
                            <m:t>2</m:t>
                          </m:r>
                        </m:sub>
                      </m:sSub>
                      <m:r>
                        <a:rPr lang="en-US" sz="1400">
                          <a:latin typeface="Cambria Math"/>
                        </a:rPr>
                        <m:t> = 1 − </m:t>
                      </m:r>
                      <m:f>
                        <m:fPr>
                          <m:ctrlPr>
                            <a:rPr lang="en-US" i="1">
                              <a:latin typeface="Cambria Math" panose="02040503050406030204" pitchFamily="18" charset="0"/>
                            </a:rPr>
                          </m:ctrlPr>
                        </m:fPr>
                        <m:num>
                          <m:r>
                            <a:rPr lang="en-US" sz="1400">
                              <a:latin typeface="Cambria Math"/>
                            </a:rPr>
                            <m:t>1</m:t>
                          </m:r>
                        </m:num>
                        <m:den>
                          <m:r>
                            <a:rPr lang="en-US" sz="1400">
                              <a:latin typeface="Cambria Math"/>
                            </a:rPr>
                            <m:t>4</m:t>
                          </m:r>
                        </m:den>
                      </m:f>
                      <m:r>
                        <a:rPr lang="en-US" sz="1400">
                          <a:latin typeface="Cambria Math"/>
                        </a:rPr>
                        <m:t>(0.327 + 0.831 + 0.104 + 0.674) = 0.516</m:t>
                      </m:r>
                    </m:oMath>
                  </m:oMathPara>
                </a14:m>
                <a:endParaRPr lang="en-US" sz="1300" dirty="0"/>
              </a:p>
            </p:txBody>
          </p:sp>
        </mc:Choice>
        <mc:Fallback xmlns="">
          <p:sp>
            <p:nvSpPr>
              <p:cNvPr id="12" name="Text 7"/>
              <p:cNvSpPr>
                <a:spLocks noRot="1" noChangeAspect="1" noMove="1" noResize="1" noEditPoints="1" noAdjustHandles="1" noChangeArrowheads="1" noChangeShapeType="1" noTextEdit="1"/>
              </p:cNvSpPr>
              <p:nvPr/>
            </p:nvSpPr>
            <p:spPr>
              <a:xfrm>
                <a:off x="6629400" y="3703320"/>
                <a:ext cx="5120640" cy="64008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8"/>
              <p:cNvSpPr/>
              <p:nvPr/>
            </p:nvSpPr>
            <p:spPr>
              <a:xfrm>
                <a:off x="6629400" y="4389120"/>
                <a:ext cx="51206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𝑢</m:t>
                          </m:r>
                        </m:e>
                        <m:sub>
                          <m:r>
                            <m:rPr>
                              <m:sty m:val="p"/>
                            </m:rPr>
                            <a:rPr lang="en-US" sz="1400">
                              <a:latin typeface="Cambria Math"/>
                            </a:rPr>
                            <m:t>f</m:t>
                          </m:r>
                        </m:sub>
                      </m:sSub>
                      <m:r>
                        <a:rPr lang="en-US" sz="1400">
                          <a:latin typeface="Cambria Math"/>
                        </a:rPr>
                        <m:t>′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𝑄</m:t>
                              </m:r>
                            </m:e>
                            <m:sub>
                              <m:r>
                                <a:rPr lang="en-US" sz="1400">
                                  <a:latin typeface="Cambria Math"/>
                                </a:rPr>
                                <m:t>2</m:t>
                              </m:r>
                            </m:sub>
                          </m:sSub>
                        </m:num>
                        <m:den>
                          <m:r>
                            <a:rPr lang="en-US" sz="1400">
                              <a:latin typeface="Cambria Math"/>
                            </a:rPr>
                            <m:t>𝜂</m:t>
                          </m:r>
                        </m:den>
                      </m:f>
                      <m:sSub>
                        <m:sSubPr>
                          <m:ctrlPr>
                            <a:rPr lang="en-US" i="1">
                              <a:latin typeface="Cambria Math" panose="02040503050406030204" pitchFamily="18" charset="0"/>
                            </a:rPr>
                          </m:ctrlPr>
                        </m:sSubPr>
                        <m:e>
                          <m:r>
                            <a:rPr lang="en-US" sz="1400">
                              <a:latin typeface="Cambria Math"/>
                            </a:rPr>
                            <m:t>𝑢</m:t>
                          </m:r>
                        </m:e>
                        <m:sub>
                          <m:r>
                            <m:rPr>
                              <m:sty m:val="p"/>
                            </m:rPr>
                            <a:rPr lang="en-US" sz="1400">
                              <a:latin typeface="Cambria Math"/>
                            </a:rPr>
                            <m:t>f</m:t>
                          </m:r>
                        </m:sub>
                      </m:sSub>
                      <m:r>
                        <a:rPr lang="en-US" sz="1400">
                          <a:latin typeface="Cambria Math"/>
                        </a:rPr>
                        <m:t> = 0.86</m:t>
                      </m:r>
                      <m:sSub>
                        <m:sSubPr>
                          <m:ctrlPr>
                            <a:rPr lang="en-US" i="1">
                              <a:latin typeface="Cambria Math" panose="02040503050406030204" pitchFamily="18" charset="0"/>
                            </a:rPr>
                          </m:ctrlPr>
                        </m:sSubPr>
                        <m:e>
                          <m:r>
                            <a:rPr lang="en-US" sz="1400">
                              <a:latin typeface="Cambria Math"/>
                            </a:rPr>
                            <m:t>𝑢</m:t>
                          </m:r>
                        </m:e>
                        <m:sub>
                          <m:r>
                            <m:rPr>
                              <m:sty m:val="p"/>
                            </m:rPr>
                            <a:rPr lang="en-US" sz="1400">
                              <a:latin typeface="Cambria Math"/>
                            </a:rPr>
                            <m:t>f</m:t>
                          </m:r>
                        </m:sub>
                      </m:sSub>
                    </m:oMath>
                  </m:oMathPara>
                </a14:m>
                <a:endParaRPr lang="en-US" sz="1300" dirty="0"/>
              </a:p>
            </p:txBody>
          </p:sp>
        </mc:Choice>
        <mc:Fallback xmlns="">
          <p:sp>
            <p:nvSpPr>
              <p:cNvPr id="13" name="Text 8"/>
              <p:cNvSpPr>
                <a:spLocks noRot="1" noChangeAspect="1" noMove="1" noResize="1" noEditPoints="1" noAdjustHandles="1" noChangeArrowheads="1" noChangeShapeType="1" noTextEdit="1"/>
              </p:cNvSpPr>
              <p:nvPr/>
            </p:nvSpPr>
            <p:spPr>
              <a:xfrm>
                <a:off x="6629400" y="4389120"/>
                <a:ext cx="5120640" cy="54864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4" name="Text 9"/>
              <p:cNvSpPr/>
              <p:nvPr/>
            </p:nvSpPr>
            <p:spPr>
              <a:xfrm>
                <a:off x="6629400" y="4983480"/>
                <a:ext cx="5120640" cy="1691640"/>
              </a:xfrm>
              <a:prstGeom prst="rect">
                <a:avLst/>
              </a:prstGeom>
              <a:noFill/>
              <a:ln/>
            </p:spPr>
            <p:txBody>
              <a:bodyPr wrap="square" lIns="0" tIns="0" rIns="0" bIns="0" rtlCol="0" anchor="t"/>
              <a:lstStyle/>
              <a:p>
                <a:pPr marL="0" indent="0">
                  <a:lnSpc>
                    <a:spcPct val="104000"/>
                  </a:lnSpc>
                  <a:buNone/>
                </a:pPr>
                <a:r>
                  <a:rPr lang="en-US" sz="1150" dirty="0">
                    <a:solidFill>
                      <a:srgbClr val="222222"/>
                    </a:solidFill>
                    <a:latin typeface="Calibri" pitchFamily="34" charset="0"/>
                    <a:ea typeface="Calibri" pitchFamily="34" charset="-122"/>
                    <a:cs typeface="Calibri" pitchFamily="34" charset="-120"/>
                  </a:rPr>
                  <a:t>The addends are the Region-2 mismatches: 0.327 + 0.831 + 0.104 + 0.674. </a:t>
                </a:r>
                <a14:m>
                  <m:oMath xmlns:m="http://schemas.openxmlformats.org/officeDocument/2006/math">
                    <m:sSub>
                      <m:sSubPr>
                        <m:ctrlPr>
                          <a:rPr lang="en-US" i="1">
                            <a:latin typeface="Cambria Math" panose="02040503050406030204" pitchFamily="18" charset="0"/>
                          </a:rPr>
                        </m:ctrlPr>
                      </m:sSubPr>
                      <m:e>
                        <m:r>
                          <a:rPr lang="en-US" sz="1150">
                            <a:latin typeface="Cambria Math"/>
                          </a:rPr>
                          <m:t>𝑄</m:t>
                        </m:r>
                      </m:e>
                      <m:sub>
                        <m:r>
                          <a:rPr lang="en-US" sz="1150">
                            <a:latin typeface="Cambria Math"/>
                          </a:rPr>
                          <m:t>2</m:t>
                        </m:r>
                      </m:sub>
                    </m:sSub>
                    <m:r>
                      <a:rPr lang="en-US" sz="1150">
                        <a:latin typeface="Cambria Math"/>
                      </a:rPr>
                      <m:t> = 0.516 &lt; 0.60</m:t>
                    </m:r>
                  </m:oMath>
                </a14:m>
                <a:r>
                  <a:rPr lang="en-US" sz="1150" dirty="0">
                    <a:solidFill>
                      <a:srgbClr val="222222"/>
                    </a:solidFill>
                    <a:latin typeface="Calibri" pitchFamily="34" charset="0"/>
                    <a:ea typeface="Calibri" pitchFamily="34" charset="-122"/>
                    <a:cs typeface="Calibri" pitchFamily="34" charset="-120"/>
                  </a:rPr>
                  <a:t>, so the fail-safe engages. Here </a:t>
                </a:r>
                <a14:m>
                  <m:oMath xmlns:m="http://schemas.openxmlformats.org/officeDocument/2006/math">
                    <m:sSub>
                      <m:sSubPr>
                        <m:ctrlPr>
                          <a:rPr lang="en-US" i="1">
                            <a:latin typeface="Cambria Math" panose="02040503050406030204" pitchFamily="18" charset="0"/>
                          </a:rPr>
                        </m:ctrlPr>
                      </m:sSubPr>
                      <m:e>
                        <m:r>
                          <a:rPr lang="en-US" sz="1150">
                            <a:latin typeface="Cambria Math"/>
                          </a:rPr>
                          <m:t>𝑢</m:t>
                        </m:r>
                      </m:e>
                      <m:sub>
                        <m:r>
                          <a:rPr lang="en-US" sz="1150">
                            <a:latin typeface="Cambria Math"/>
                          </a:rPr>
                          <m:t>𝑓</m:t>
                        </m:r>
                      </m:sub>
                    </m:sSub>
                  </m:oMath>
                </a14:m>
                <a:r>
                  <a:rPr lang="en-US" sz="1150" dirty="0">
                    <a:solidFill>
                      <a:srgbClr val="222222"/>
                    </a:solidFill>
                    <a:latin typeface="Calibri" pitchFamily="34" charset="0"/>
                    <a:ea typeface="Calibri" pitchFamily="34" charset="-122"/>
                    <a:cs typeface="Calibri" pitchFamily="34" charset="-120"/>
                  </a:rPr>
                  <a:t> is the intensity the candidate ordered for family f — the numbers in the 'Ordered' column. The fail-safe replaces each offensive order by </a:t>
                </a:r>
                <a14:m>
                  <m:oMath xmlns:m="http://schemas.openxmlformats.org/officeDocument/2006/math">
                    <m:sSub>
                      <m:sSubPr>
                        <m:ctrlPr>
                          <a:rPr lang="en-US" i="1">
                            <a:latin typeface="Cambria Math" panose="02040503050406030204" pitchFamily="18" charset="0"/>
                          </a:rPr>
                        </m:ctrlPr>
                      </m:sSubPr>
                      <m:e>
                        <m:r>
                          <a:rPr lang="en-US" sz="1150">
                            <a:latin typeface="Cambria Math"/>
                          </a:rPr>
                          <m:t>𝑢</m:t>
                        </m:r>
                        <m:r>
                          <a:rPr lang="en-US" sz="1150">
                            <a:latin typeface="Cambria Math"/>
                          </a:rPr>
                          <m:t>′</m:t>
                        </m:r>
                      </m:e>
                      <m:sub>
                        <m:r>
                          <a:rPr lang="en-US" sz="1150">
                            <a:latin typeface="Cambria Math"/>
                          </a:rPr>
                          <m:t>𝑓</m:t>
                        </m:r>
                      </m:sub>
                    </m:sSub>
                    <m:r>
                      <a:rPr lang="en-US" sz="1150">
                        <a:latin typeface="Cambria Math"/>
                      </a:rPr>
                      <m:t> = (</m:t>
                    </m:r>
                    <m:sSub>
                      <m:sSubPr>
                        <m:ctrlPr>
                          <a:rPr lang="en-US" i="1">
                            <a:latin typeface="Cambria Math" panose="02040503050406030204" pitchFamily="18" charset="0"/>
                          </a:rPr>
                        </m:ctrlPr>
                      </m:sSubPr>
                      <m:e>
                        <m:r>
                          <a:rPr lang="en-US" sz="1150">
                            <a:latin typeface="Cambria Math"/>
                          </a:rPr>
                          <m:t>𝑄</m:t>
                        </m:r>
                      </m:e>
                      <m:sub>
                        <m:r>
                          <a:rPr lang="en-US" sz="1150">
                            <a:latin typeface="Cambria Math"/>
                          </a:rPr>
                          <m:t>2</m:t>
                        </m:r>
                      </m:sub>
                    </m:sSub>
                    <m:r>
                      <a:rPr lang="en-US" sz="1150">
                        <a:latin typeface="Cambria Math"/>
                      </a:rPr>
                      <m:t>∕</m:t>
                    </m:r>
                    <m:r>
                      <a:rPr lang="en-US" sz="1150">
                        <a:latin typeface="Cambria Math"/>
                      </a:rPr>
                      <m:t>𝜂</m:t>
                    </m:r>
                    <m:r>
                      <a:rPr lang="en-US" sz="1150">
                        <a:latin typeface="Cambria Math"/>
                      </a:rPr>
                      <m:t>)⋅</m:t>
                    </m:r>
                    <m:sSub>
                      <m:sSubPr>
                        <m:ctrlPr>
                          <a:rPr lang="en-US" i="1">
                            <a:latin typeface="Cambria Math" panose="02040503050406030204" pitchFamily="18" charset="0"/>
                          </a:rPr>
                        </m:ctrlPr>
                      </m:sSubPr>
                      <m:e>
                        <m:r>
                          <a:rPr lang="en-US" sz="1150">
                            <a:latin typeface="Cambria Math"/>
                          </a:rPr>
                          <m:t>𝑢</m:t>
                        </m:r>
                      </m:e>
                      <m:sub>
                        <m:r>
                          <a:rPr lang="en-US" sz="1150">
                            <a:latin typeface="Cambria Math"/>
                          </a:rPr>
                          <m:t>𝑓</m:t>
                        </m:r>
                      </m:sub>
                    </m:sSub>
                  </m:oMath>
                </a14:m>
                <a:r>
                  <a:rPr lang="en-US" sz="1150" dirty="0">
                    <a:solidFill>
                      <a:srgbClr val="222222"/>
                    </a:solidFill>
                    <a:latin typeface="Calibri" pitchFamily="34" charset="0"/>
                    <a:ea typeface="Calibri" pitchFamily="34" charset="-122"/>
                    <a:cs typeface="Calibri" pitchFamily="34" charset="-120"/>
                  </a:rPr>
                  <a:t>, that is, every offensive order is multiplied by 0.86 and re-issued at the reduced strength: suppression 0.86 × 0.360 = 0.310, deployment 0.86 × 0.920 = 0.791. The order is weakened, not cancelled. Evacuation and warning are never attenuated; none was ordered here, and that omission is exactly what the quality test recorded — the cost test could not see it, because assets not yet burning carry no cost inside the horizon.</a:t>
                </a:r>
                <a:endParaRPr lang="en-US" sz="1150" dirty="0"/>
              </a:p>
            </p:txBody>
          </p:sp>
        </mc:Choice>
        <mc:Fallback xmlns="">
          <p:sp>
            <p:nvSpPr>
              <p:cNvPr id="14" name="Text 9"/>
              <p:cNvSpPr>
                <a:spLocks noRot="1" noChangeAspect="1" noMove="1" noResize="1" noEditPoints="1" noAdjustHandles="1" noChangeArrowheads="1" noChangeShapeType="1" noTextEdit="1"/>
              </p:cNvSpPr>
              <p:nvPr/>
            </p:nvSpPr>
            <p:spPr>
              <a:xfrm>
                <a:off x="6629400" y="4983480"/>
                <a:ext cx="5120640" cy="1691640"/>
              </a:xfrm>
              <a:prstGeom prst="rect">
                <a:avLst/>
              </a:prstGeom>
              <a:blipFill>
                <a:blip r:embed="rId9"/>
                <a:stretch>
                  <a:fillRect l="-1786" b="-20939"/>
                </a:stretch>
              </a:blipFill>
              <a:ln/>
            </p:spPr>
            <p:txBody>
              <a:bodyPr/>
              <a:lstStyle/>
              <a:p>
                <a:r>
                  <a:rPr lang="tr-TR">
                    <a:noFill/>
                  </a:rPr>
                  <a:t/>
                </a:r>
              </a:p>
            </p:txBody>
          </p:sp>
        </mc:Fallback>
      </mc:AlternateContent>
      <p:sp>
        <p:nvSpPr>
          <p:cNvPr id="90005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53 / 113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Derate, Never Panic; Withhold, Never Pretend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10.png"/>
          <p:cNvPicPr>
            <a:picLocks noChangeAspect="1"/>
          </p:cNvPicPr>
          <p:nvPr/>
        </p:nvPicPr>
        <p:blipFill>
          <a:blip r:embed="rId5"/>
          <a:stretch>
            <a:fillRect/>
          </a:stretch>
        </p:blipFill>
        <p:spPr>
          <a:xfrm>
            <a:off x="411480" y="2012766"/>
            <a:ext cx="6217920" cy="3655428"/>
          </a:xfrm>
          <a:prstGeom prst="rect">
            <a:avLst/>
          </a:prstGeom>
        </p:spPr>
      </p:pic>
      <mc:AlternateContent xmlns:mc="http://schemas.openxmlformats.org/markup-compatibility/2006" xmlns:a14="http://schemas.microsoft.com/office/drawing/2010/main">
        <mc:Choice Requires="a14">
          <p:sp>
            <p:nvSpPr>
              <p:cNvPr id="7" name="Text 2"/>
              <p:cNvSpPr/>
              <p:nvPr/>
            </p:nvSpPr>
            <p:spPr>
              <a:xfrm>
                <a:off x="6858000" y="1554480"/>
                <a:ext cx="4846320" cy="4754880"/>
              </a:xfrm>
              <a:prstGeom prst="rect">
                <a:avLst/>
              </a:prstGeom>
              <a:noFill/>
              <a:ln/>
            </p:spPr>
            <p:txBody>
              <a:bodyPr wrap="square" lIns="0" tIns="0" rIns="0" bIns="0" rtlCol="0" anchor="t"/>
              <a:lstStyle/>
              <a:p>
                <a:pPr marL="152400" indent="-152400">
                  <a:lnSpc>
                    <a:spcPct val="104000"/>
                  </a:lnSpc>
                  <a:spcAft>
                    <a:spcPts val="600"/>
                  </a:spcAft>
                  <a:buSzPct val="100000"/>
                  <a:buChar char="•"/>
                </a:pPr>
                <a14:m>
                  <m:oMath xmlns:m="http://schemas.openxmlformats.org/officeDocument/2006/math">
                    <m:r>
                      <a:rPr lang="en-US" sz="1250">
                        <a:latin typeface="Cambria Math"/>
                      </a:rPr>
                      <m:t>𝑄</m:t>
                    </m:r>
                    <m:r>
                      <a:rPr lang="en-US" sz="1250">
                        <a:latin typeface="Cambria Math"/>
                      </a:rPr>
                      <m:t> ≥ </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 orders issued in full</a:t>
                </a:r>
                <a:endParaRPr lang="en-US" sz="1250" dirty="0"/>
              </a:p>
              <a:p>
                <a:pPr marL="152400" indent="-152400">
                  <a:lnSpc>
                    <a:spcPct val="104000"/>
                  </a:lnSpc>
                  <a:spcAft>
                    <a:spcPts val="600"/>
                  </a:spcAft>
                  <a:buSzPct val="100000"/>
                  <a:buChar char="•"/>
                </a:pPr>
                <a14:m>
                  <m:oMath xmlns:m="http://schemas.openxmlformats.org/officeDocument/2006/math">
                    <m:r>
                      <a:rPr lang="en-US" sz="1250">
                        <a:latin typeface="Cambria Math"/>
                      </a:rPr>
                      <m:t>𝑄</m:t>
                    </m:r>
                    <m:r>
                      <a:rPr lang="en-US" sz="1250">
                        <a:latin typeface="Cambria Math"/>
                      </a:rPr>
                      <m:t> &lt; </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 offensive families (suppression, deployment, containment, protection) scaled by </a:t>
                </a:r>
                <a14:m>
                  <m:oMath xmlns:m="http://schemas.openxmlformats.org/officeDocument/2006/math">
                    <m:r>
                      <a:rPr lang="en-US" sz="1250">
                        <a:latin typeface="Cambria Math"/>
                      </a:rPr>
                      <m:t>𝜆</m:t>
                    </m:r>
                    <m:r>
                      <a:rPr lang="en-US" sz="1250">
                        <a:latin typeface="Cambria Math"/>
                      </a:rPr>
                      <m:t> = </m:t>
                    </m:r>
                    <m:r>
                      <a:rPr lang="en-US" sz="1250">
                        <a:latin typeface="Cambria Math"/>
                      </a:rPr>
                      <m:t>𝑄</m:t>
                    </m:r>
                    <m:r>
                      <a:rPr lang="en-US" sz="1250">
                        <a:latin typeface="Cambria Math"/>
                      </a:rPr>
                      <m:t>∕</m:t>
                    </m:r>
                    <m:r>
                      <a:rPr lang="en-US" sz="1250">
                        <a:latin typeface="Cambria Math"/>
                      </a:rPr>
                      <m:t>𝜂</m:t>
                    </m:r>
                  </m:oMath>
                </a14:m>
                <a:r>
                  <a:rPr lang="en-US" sz="1250" dirty="0">
                    <a:solidFill>
                      <a:srgbClr val="222222"/>
                    </a:solidFill>
                    <a:latin typeface="Calibri" pitchFamily="34" charset="0"/>
                    <a:ea typeface="Calibri" pitchFamily="34" charset="-122"/>
                    <a:cs typeface="Calibri" pitchFamily="34" charset="-120"/>
                  </a:rPr>
                  <a:t> toward the watchful baseline — a linear derating, proportional to the deficit</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Evacuation and public warning are never attenuated — a poorly balanced plan may waste effort, it may not endanger life</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No-harm veto (on </a:t>
                </a:r>
                <a14:m>
                  <m:oMath xmlns:m="http://schemas.openxmlformats.org/officeDocument/2006/math">
                    <m:sSub>
                      <m:sSubPr>
                        <m:ctrlPr>
                          <a:rPr lang="en-US" i="1">
                            <a:latin typeface="Cambria Math" panose="02040503050406030204" pitchFamily="18" charset="0"/>
                          </a:rPr>
                        </m:ctrlPr>
                      </m:sSubPr>
                      <m:e>
                        <m:r>
                          <a:rPr lang="en-US" sz="1250">
                            <a:latin typeface="Cambria Math"/>
                          </a:rPr>
                          <m:t>𝐽</m:t>
                        </m:r>
                      </m:e>
                      <m:sub>
                        <m:r>
                          <a:rPr lang="en-US" sz="1250">
                            <a:latin typeface="Cambria Math"/>
                          </a:rPr>
                          <m:t>𝑃h𝑦</m:t>
                        </m:r>
                      </m:sub>
                    </m:sSub>
                  </m:oMath>
                </a14:m>
                <a:r>
                  <a:rPr lang="en-US" sz="1250" dirty="0">
                    <a:solidFill>
                      <a:srgbClr val="222222"/>
                    </a:solidFill>
                    <a:latin typeface="Calibri" pitchFamily="34" charset="0"/>
                    <a:ea typeface="Calibri" pitchFamily="34" charset="-122"/>
                    <a:cs typeface="Calibri" pitchFamily="34" charset="-120"/>
                  </a:rPr>
                  <a:t> only): if even the adapted candidate forecasts worse physics than doing nothing, the offensive allocation is withheld for the cycle — no capacity fielded, no response cost paid, life-safety orders stand</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Why graduated: a hard cut would oscillate between action and inaction at the threshold; proportional derating keeps the response continuous in the quality deficit</a:t>
                </a:r>
                <a:endParaRPr lang="en-US" sz="1250" dirty="0"/>
              </a:p>
            </p:txBody>
          </p:sp>
        </mc:Choice>
        <mc:Fallback xmlns="">
          <p:sp>
            <p:nvSpPr>
              <p:cNvPr id="7" name="Text 2"/>
              <p:cNvSpPr>
                <a:spLocks noRot="1" noChangeAspect="1" noMove="1" noResize="1" noEditPoints="1" noAdjustHandles="1" noChangeArrowheads="1" noChangeShapeType="1" noTextEdit="1"/>
              </p:cNvSpPr>
              <p:nvPr/>
            </p:nvSpPr>
            <p:spPr>
              <a:xfrm>
                <a:off x="6858000" y="1554480"/>
                <a:ext cx="4846320" cy="4754880"/>
              </a:xfrm>
              <a:prstGeom prst="rect">
                <a:avLst/>
              </a:prstGeom>
              <a:blipFill>
                <a:blip r:embed="rId6"/>
                <a:stretch>
                  <a:fillRect l="-2013" t="-1154" r="-881"/>
                </a:stretch>
              </a:blipFill>
              <a:ln/>
            </p:spPr>
            <p:txBody>
              <a:bodyPr/>
              <a:lstStyle/>
              <a:p>
                <a:r>
                  <a:rPr lang="tr-TR">
                    <a:noFill/>
                  </a:rPr>
                  <a:t/>
                </a:r>
              </a:p>
            </p:txBody>
          </p:sp>
        </mc:Fallback>
      </mc:AlternateContent>
      <p:sp>
        <p:nvSpPr>
          <p:cNvPr id="90005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54 / 113</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4957D42-490E-4694-9914-ADE9E7A8EC43}"/>
              </a:ext>
            </a:extLst>
          </p:cNvPr>
          <p:cNvSpPr/>
          <p:nvPr/>
        </p:nvSpPr>
        <p:spPr>
          <a:xfrm>
            <a:off x="441960" y="2151234"/>
            <a:ext cx="2039983" cy="3657383"/>
          </a:xfrm>
          <a:prstGeom prst="rect">
            <a:avLst/>
          </a:prstGeom>
          <a:solidFill>
            <a:schemeClr val="bg1">
              <a:lumMod val="8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10" name="Image 0" descr="/tmp/thx/deck/figs/Figure4_1.png">
            <a:extLst>
              <a:ext uri="{FF2B5EF4-FFF2-40B4-BE49-F238E27FC236}">
                <a16:creationId xmlns:a16="http://schemas.microsoft.com/office/drawing/2014/main" id="{2DC26631-0B92-435B-A091-092C4F22C51C}"/>
              </a:ext>
            </a:extLst>
          </p:cNvPr>
          <p:cNvPicPr>
            <a:picLocks noChangeAspect="1"/>
          </p:cNvPicPr>
          <p:nvPr/>
        </p:nvPicPr>
        <p:blipFill rotWithShape="1">
          <a:blip r:embed="rId3">
            <a:clrChange>
              <a:clrFrom>
                <a:srgbClr val="FFFFFF"/>
              </a:clrFrom>
              <a:clrTo>
                <a:srgbClr val="FFFFFF">
                  <a:alpha val="0"/>
                </a:srgbClr>
              </a:clrTo>
            </a:clrChange>
          </a:blip>
          <a:srcRect t="65091"/>
          <a:stretch/>
        </p:blipFill>
        <p:spPr>
          <a:xfrm>
            <a:off x="134786" y="1645920"/>
            <a:ext cx="7316774" cy="4291576"/>
          </a:xfrm>
          <a:prstGeom prst="rect">
            <a:avLst/>
          </a:prstGeom>
        </p:spPr>
      </p:pic>
      <p:sp>
        <p:nvSpPr>
          <p:cNvPr id="2" name="Text 0"/>
          <p:cNvSpPr/>
          <p:nvPr/>
        </p:nvSpPr>
        <p:spPr>
          <a:xfrm>
            <a:off x="502920" y="256032"/>
            <a:ext cx="91440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512064"/>
            <a:ext cx="11247120" cy="731520"/>
          </a:xfrm>
          <a:prstGeom prst="rect">
            <a:avLst/>
          </a:prstGeom>
          <a:noFill/>
          <a:ln/>
        </p:spPr>
        <p:txBody>
          <a:bodyPr wrap="square" lIns="0" tIns="0" rIns="0" bIns="0" rtlCol="0" anchor="ctr"/>
          <a:lstStyle/>
          <a:p>
            <a:pPr marL="0" indent="0">
              <a:buNone/>
            </a:pPr>
            <a:r>
              <a:rPr lang="en-US" sz="2900" b="1" dirty="0">
                <a:solidFill>
                  <a:srgbClr val="000000"/>
                </a:solidFill>
                <a:latin typeface="Cambria" pitchFamily="34" charset="0"/>
                <a:ea typeface="Cambria" pitchFamily="34" charset="-122"/>
                <a:cs typeface="Cambria" pitchFamily="34" charset="-120"/>
              </a:rPr>
              <a:t>Layer 4 : Decision Space: Decide, Price, Test, Adapt</a:t>
            </a:r>
            <a:endParaRPr lang="en-US" sz="2900" dirty="0"/>
          </a:p>
        </p:txBody>
      </p:sp>
      <p:sp>
        <p:nvSpPr>
          <p:cNvPr id="5" name="Text 2"/>
          <p:cNvSpPr/>
          <p:nvPr/>
        </p:nvSpPr>
        <p:spPr>
          <a:xfrm>
            <a:off x="7589520" y="1645920"/>
            <a:ext cx="4160520" cy="402336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Runs once per decision cycle, in a fixed order</a:t>
            </a:r>
            <a:endParaRPr lang="en-US" sz="1550" dirty="0"/>
          </a:p>
          <a:p>
            <a:pPr marL="152400" indent="-152400">
              <a:lnSpc>
                <a:spcPct val="105000"/>
              </a:lnSpc>
              <a:spcAft>
                <a:spcPts val="1000"/>
              </a:spcAft>
              <a:buSzPct val="100000"/>
              <a:buChar char="•"/>
            </a:pPr>
            <a:r>
              <a:rPr lang="en-US" sz="1550" b="1" dirty="0">
                <a:solidFill>
                  <a:srgbClr val="222222"/>
                </a:solidFill>
                <a:latin typeface="Calibri" pitchFamily="34" charset="0"/>
                <a:ea typeface="Calibri" pitchFamily="34" charset="-122"/>
                <a:cs typeface="Calibri" pitchFamily="34" charset="-120"/>
              </a:rPr>
              <a:t>Input: five gated concept activations. Output: intensity vector over six intervention families. Nothing else crosses the boundary</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Cost test → quality gate → apply; failures summon the adaptation ladder ① ② ③</a:t>
            </a:r>
            <a:endParaRPr lang="en-US" sz="1550" dirty="0"/>
          </a:p>
          <a:p>
            <a:pPr marL="152400" indent="-152400">
              <a:lnSpc>
                <a:spcPct val="105000"/>
              </a:lnSpc>
              <a:spcAft>
                <a:spcPts val="1000"/>
              </a:spcAft>
              <a:buSzPct val="100000"/>
              <a:buChar char="•"/>
            </a:pPr>
            <a:r>
              <a:rPr lang="en-US" sz="1550" dirty="0">
                <a:solidFill>
                  <a:srgbClr val="222222"/>
                </a:solidFill>
                <a:latin typeface="Calibri" pitchFamily="34" charset="0"/>
                <a:ea typeface="Calibri" pitchFamily="34" charset="-122"/>
                <a:cs typeface="Calibri" pitchFamily="34" charset="-120"/>
              </a:rPr>
              <a:t>Graduated fail-safe attenuates offensive orders; life-safety orders never reduced</a:t>
            </a:r>
            <a:endParaRPr lang="en-US" sz="1550" dirty="0"/>
          </a:p>
        </p:txBody>
      </p:sp>
      <p:sp>
        <p:nvSpPr>
          <p:cNvPr id="6" name="Text 3"/>
          <p:cNvSpPr/>
          <p:nvPr/>
        </p:nvSpPr>
        <p:spPr>
          <a:xfrm>
            <a:off x="502920" y="6263640"/>
            <a:ext cx="11155680" cy="365760"/>
          </a:xfrm>
          <a:prstGeom prst="rect">
            <a:avLst/>
          </a:prstGeom>
          <a:noFill/>
          <a:ln/>
        </p:spPr>
        <p:txBody>
          <a:bodyPr wrap="square" lIns="0" tIns="0" rIns="0" bIns="0" rtlCol="0" anchor="ctr"/>
          <a:lstStyle/>
          <a:p>
            <a:pPr marL="0" indent="0">
              <a:buNone/>
            </a:pPr>
            <a:r>
              <a:rPr lang="en-US" sz="1400" i="1" dirty="0">
                <a:solidFill>
                  <a:srgbClr val="E31836"/>
                </a:solidFill>
                <a:latin typeface="Calibri" pitchFamily="34" charset="0"/>
                <a:ea typeface="Calibri" pitchFamily="34" charset="-122"/>
                <a:cs typeface="Calibri" pitchFamily="34" charset="-120"/>
              </a:rPr>
              <a:t>The next six slides walk this flow: rule base → cost → quality → stages ①②③ → gates → coordination.</a:t>
            </a:r>
            <a:endParaRPr lang="en-US" sz="1400" dirty="0"/>
          </a:p>
        </p:txBody>
      </p:sp>
      <p:pic>
        <p:nvPicPr>
          <p:cNvPr id="7" name="Image 1" descr="/tmp/thx/deck/figs/metu_emblem.png"/>
          <p:cNvPicPr>
            <a:picLocks noChangeAspect="1"/>
          </p:cNvPicPr>
          <p:nvPr/>
        </p:nvPicPr>
        <p:blipFill>
          <a:blip r:embed="rId4"/>
          <a:stretch>
            <a:fillRect/>
          </a:stretch>
        </p:blipFill>
        <p:spPr>
          <a:xfrm>
            <a:off x="10716768" y="184607"/>
            <a:ext cx="475488" cy="398882"/>
          </a:xfrm>
          <a:prstGeom prst="rect">
            <a:avLst/>
          </a:prstGeom>
        </p:spPr>
      </p:pic>
      <p:pic>
        <p:nvPicPr>
          <p:cNvPr id="8" name="Image 2" descr="/tmp/thx/deck/figs/eee_logo.png"/>
          <p:cNvPicPr>
            <a:picLocks noChangeAspect="1"/>
          </p:cNvPicPr>
          <p:nvPr/>
        </p:nvPicPr>
        <p:blipFill>
          <a:blip r:embed="rId5"/>
          <a:stretch>
            <a:fillRect/>
          </a:stretch>
        </p:blipFill>
        <p:spPr>
          <a:xfrm>
            <a:off x="11265408" y="186217"/>
            <a:ext cx="475488" cy="395662"/>
          </a:xfrm>
          <a:prstGeom prst="rect">
            <a:avLst/>
          </a:prstGeom>
        </p:spPr>
      </p:pic>
      <p:sp>
        <p:nvSpPr>
          <p:cNvPr id="90005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55 / 113</a:t>
            </a:r>
          </a:p>
        </p:txBody>
      </p:sp>
    </p:spTree>
    <p:extLst>
      <p:ext uri="{BB962C8B-B14F-4D97-AF65-F5344CB8AC3E}">
        <p14:creationId xmlns:p14="http://schemas.microsoft.com/office/powerpoint/2010/main" val="29044141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Five Seed Rules — the Whole Starting Doctrine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0" name="Table 0"/>
          <p:cNvGraphicFramePr>
            <a:graphicFrameLocks noGrp="1"/>
          </p:cNvGraphicFramePr>
          <p:nvPr/>
        </p:nvGraphicFramePr>
        <p:xfrm>
          <a:off x="457200" y="1325880"/>
          <a:ext cx="11247120" cy="2852928"/>
        </p:xfrm>
        <a:graphic>
          <a:graphicData uri="http://schemas.openxmlformats.org/drawingml/2006/table">
            <a:tbl>
              <a:tblPr/>
              <a:tblGrid>
                <a:gridCol w="5486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 (over gated decision concepts)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 (intensities)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Regime it anchors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R1</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 risk VH ∧ suppression feasibility 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protection 0.9, containment line 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Asset protection when attack is infeasible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R2</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evacuation pressure VH ∧ suppression feasibility VL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evacuation 1.0, public warning 1.0, deployment 0.7 (offensive intensities withdrawn)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Evacuation &amp; warning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R3</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VH ∧ suppression feasibility VL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containment line 0.9, evacuation 0.6, public warning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Feasibility-limited response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R4</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intervention urgency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resource deployment 1.0 (priority preemption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Urgency / preemption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E31836"/>
                          </a:solidFill>
                          <a:latin typeface="Calibri" pitchFamily="34" charset="0"/>
                          <a:ea typeface="Calibri" pitchFamily="34" charset="-122"/>
                          <a:cs typeface="Calibri" pitchFamily="34" charset="-120"/>
                        </a:rPr>
                        <a:t>R5</a:t>
                      </a:r>
                      <a:endParaRPr lang="en-US" sz="125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effort 1.0, resource 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Backbone suppression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2"/>
          <p:cNvSpPr/>
          <p:nvPr/>
        </p:nvSpPr>
        <p:spPr>
          <a:xfrm>
            <a:off x="457200" y="4480560"/>
            <a:ext cx="11247120" cy="1965960"/>
          </a:xfrm>
          <a:prstGeom prst="roundRect">
            <a:avLst>
              <a:gd name="adj" fmla="val 2326"/>
            </a:avLst>
          </a:prstGeom>
          <a:solidFill>
            <a:srgbClr val="F2F2F2"/>
          </a:solidFill>
          <a:ln/>
        </p:spPr>
      </p:sp>
      <p:sp>
        <p:nvSpPr>
          <p:cNvPr id="8" name="Text 3"/>
          <p:cNvSpPr/>
          <p:nvPr/>
        </p:nvSpPr>
        <p:spPr>
          <a:xfrm>
            <a:off x="731520" y="4590288"/>
            <a:ext cx="106984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Why exactly these five</a:t>
            </a:r>
            <a:endParaRPr lang="en-US" sz="1400" dirty="0"/>
          </a:p>
        </p:txBody>
      </p:sp>
      <mc:AlternateContent xmlns:mc="http://schemas.openxmlformats.org/markup-compatibility/2006" xmlns:a14="http://schemas.microsoft.com/office/drawing/2010/main">
        <mc:Choice Requires="a14">
          <p:sp>
            <p:nvSpPr>
              <p:cNvPr id="9" name="Text 4"/>
              <p:cNvSpPr/>
              <p:nvPr/>
            </p:nvSpPr>
            <p:spPr>
              <a:xfrm>
                <a:off x="7955280" y="4617720"/>
                <a:ext cx="3566160" cy="50292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𝑚𝑖𝑛</m:t>
                          </m:r>
                        </m:e>
                        <m:sub>
                          <m:sSup>
                            <m:sSupPr>
                              <m:ctrlPr>
                                <a:rPr lang="en-US" i="1">
                                  <a:latin typeface="Cambria Math" panose="02040503050406030204" pitchFamily="18" charset="0"/>
                                </a:rPr>
                              </m:ctrlPr>
                            </m:sSupPr>
                            <m:e>
                              <m:r>
                                <a:rPr lang="en-US" sz="1400">
                                  <a:latin typeface="Cambria Math"/>
                                </a:rPr>
                                <m:t>𝑎</m:t>
                              </m:r>
                            </m:e>
                            <m:sup>
                              <m:r>
                                <a:rPr lang="en-US" sz="1400">
                                  <a:latin typeface="Cambria Math"/>
                                </a:rPr>
                                <m:t>𝑒𝑓𝑓</m:t>
                              </m:r>
                            </m:sup>
                          </m:sSup>
                          <m:r>
                            <a:rPr lang="en-US" sz="1400">
                              <a:latin typeface="Cambria Math"/>
                            </a:rPr>
                            <m:t>∈[0,1</m:t>
                          </m:r>
                          <m:sSup>
                            <m:sSupPr>
                              <m:ctrlPr>
                                <a:rPr lang="en-US" i="1">
                                  <a:latin typeface="Cambria Math" panose="02040503050406030204" pitchFamily="18" charset="0"/>
                                </a:rPr>
                              </m:ctrlPr>
                            </m:sSupPr>
                            <m:e>
                              <m:r>
                                <a:rPr lang="en-US" sz="1400">
                                  <a:latin typeface="Cambria Math"/>
                                </a:rPr>
                                <m:t>]</m:t>
                              </m:r>
                            </m:e>
                            <m:sup>
                              <m:r>
                                <a:rPr lang="en-US" sz="1400">
                                  <a:latin typeface="Cambria Math"/>
                                </a:rPr>
                                <m:t>5</m:t>
                              </m:r>
                            </m:sup>
                          </m:sSup>
                        </m:sub>
                      </m:sSub>
                      <m:r>
                        <a:rPr lang="en-US" sz="1400">
                          <a:latin typeface="Cambria Math"/>
                        </a:rPr>
                        <m:t> </m:t>
                      </m:r>
                      <m:sSub>
                        <m:sSubPr>
                          <m:ctrlPr>
                            <a:rPr lang="en-US" i="1">
                              <a:latin typeface="Cambria Math" panose="02040503050406030204" pitchFamily="18" charset="0"/>
                            </a:rPr>
                          </m:ctrlPr>
                        </m:sSubPr>
                        <m:e>
                          <m:r>
                            <a:rPr lang="en-US" sz="1400">
                              <a:latin typeface="Cambria Math"/>
                            </a:rPr>
                            <m:t>𝑚𝑎𝑥</m:t>
                          </m:r>
                        </m:e>
                        <m:sub>
                          <m:r>
                            <a:rPr lang="en-US" sz="1400">
                              <a:latin typeface="Cambria Math"/>
                            </a:rPr>
                            <m:t>𝑟</m:t>
                          </m:r>
                        </m:sub>
                      </m:sSub>
                      <m:r>
                        <a:rPr lang="en-US" sz="1400">
                          <a:latin typeface="Cambria Math"/>
                        </a:rPr>
                        <m:t> </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𝑟</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sz="1400">
                                  <a:latin typeface="Cambria Math"/>
                                </a:rPr>
                                <m:t>𝑎</m:t>
                              </m:r>
                            </m:e>
                            <m:sup>
                              <m:r>
                                <a:rPr lang="en-US" sz="1400">
                                  <a:latin typeface="Cambria Math"/>
                                </a:rPr>
                                <m:t>𝑒𝑓𝑓</m:t>
                              </m:r>
                            </m:sup>
                          </m:sSup>
                        </m:e>
                      </m:d>
                      <m:r>
                        <a:rPr lang="en-US" sz="1400">
                          <a:latin typeface="Cambria Math"/>
                        </a:rPr>
                        <m:t>≥</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𝑚𝑖𝑛</m:t>
                          </m:r>
                        </m:sub>
                      </m:sSub>
                      <m:r>
                        <a:rPr lang="en-US" sz="1400">
                          <a:latin typeface="Cambria Math"/>
                        </a:rPr>
                        <m:t>&gt;0</m:t>
                      </m:r>
                    </m:oMath>
                  </m:oMathPara>
                </a14:m>
                <a:endParaRPr lang="en-US" sz="1200" dirty="0"/>
              </a:p>
            </p:txBody>
          </p:sp>
        </mc:Choice>
        <mc:Fallback xmlns="">
          <p:sp>
            <p:nvSpPr>
              <p:cNvPr id="9" name="Text 4"/>
              <p:cNvSpPr>
                <a:spLocks noRot="1" noChangeAspect="1" noMove="1" noResize="1" noEditPoints="1" noAdjustHandles="1" noChangeArrowheads="1" noChangeShapeType="1" noTextEdit="1"/>
              </p:cNvSpPr>
              <p:nvPr/>
            </p:nvSpPr>
            <p:spPr>
              <a:xfrm>
                <a:off x="7955280" y="4617720"/>
                <a:ext cx="3566160" cy="50292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6" name="Text 5"/>
              <p:cNvSpPr/>
              <p:nvPr/>
            </p:nvSpPr>
            <p:spPr>
              <a:xfrm>
                <a:off x="777240" y="4983480"/>
                <a:ext cx="10698480" cy="14173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Each of the five demanding decision concepts anchors at least one rule, so every canonical command question has a first answer</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Together they satisfy the graded coverage condition: at every reachable reading some rule fires with strength ≥ </a:t>
                </a:r>
                <a14:m>
                  <m:oMath xmlns:m="http://schemas.openxmlformats.org/officeDocument/2006/math">
                    <m:sSub>
                      <m:sSubPr>
                        <m:ctrlPr>
                          <a:rPr lang="en-US" i="1">
                            <a:latin typeface="Cambria Math" panose="02040503050406030204" pitchFamily="18" charset="0"/>
                          </a:rPr>
                        </m:ctrlPr>
                      </m:sSubPr>
                      <m:e>
                        <m:r>
                          <a:rPr lang="en-US" sz="1250">
                            <a:latin typeface="Cambria Math"/>
                          </a:rPr>
                          <m:t>𝛼</m:t>
                        </m:r>
                      </m:e>
                      <m:sub>
                        <m:r>
                          <a:rPr lang="en-US" sz="1250">
                            <a:latin typeface="Cambria Math"/>
                          </a:rPr>
                          <m:t>𝑚𝑖𝑛</m:t>
                        </m:r>
                      </m:sub>
                    </m:sSub>
                    <m:r>
                      <a:rPr lang="en-US" sz="1250">
                        <a:latin typeface="Cambria Math"/>
                      </a:rPr>
                      <m:t> = 0.05</m:t>
                    </m:r>
                  </m:oMath>
                </a14:m>
                <a:r>
                  <a:rPr lang="en-US" sz="1250" dirty="0">
                    <a:solidFill>
                      <a:srgbClr val="222222"/>
                    </a:solidFill>
                    <a:latin typeface="Calibri" pitchFamily="34" charset="0"/>
                    <a:ea typeface="Calibri" pitchFamily="34" charset="-122"/>
                    <a:cs typeface="Calibri" pitchFamily="34" charset="-120"/>
                  </a:rPr>
                  <a:t> — no situation is met with silence</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Deliberately minimal: everything beyond this doctrine must be earned by the adaptation ladder under gate evidence — the campaign grows it to 129 tuned trials, 40 instantiated and 47 admitted rules</a:t>
                </a:r>
                <a:endParaRPr lang="en-US" sz="1250" dirty="0"/>
              </a:p>
            </p:txBody>
          </p:sp>
        </mc:Choice>
        <mc:Fallback xmlns="">
          <p:sp>
            <p:nvSpPr>
              <p:cNvPr id="6" name="Text 5"/>
              <p:cNvSpPr>
                <a:spLocks noRot="1" noChangeAspect="1" noMove="1" noResize="1" noEditPoints="1" noAdjustHandles="1" noChangeArrowheads="1" noChangeShapeType="1" noTextEdit="1"/>
              </p:cNvSpPr>
              <p:nvPr/>
            </p:nvSpPr>
            <p:spPr>
              <a:xfrm>
                <a:off x="777240" y="4983480"/>
                <a:ext cx="10698480" cy="1417320"/>
              </a:xfrm>
              <a:prstGeom prst="rect">
                <a:avLst/>
              </a:prstGeom>
              <a:blipFill>
                <a:blip r:embed="rId6"/>
                <a:stretch>
                  <a:fillRect l="-969" t="-4310"/>
                </a:stretch>
              </a:blipFill>
              <a:ln/>
            </p:spPr>
            <p:txBody>
              <a:bodyPr/>
              <a:lstStyle/>
              <a:p>
                <a:r>
                  <a:rPr lang="tr-TR">
                    <a:noFill/>
                  </a:rPr>
                  <a:t/>
                </a:r>
              </a:p>
            </p:txBody>
          </p:sp>
        </mc:Fallback>
      </mc:AlternateContent>
      <p:sp>
        <p:nvSpPr>
          <p:cNvPr id="90005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56 / 113</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How the Adaptation Stage Is Selected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80160"/>
            <a:ext cx="11247120" cy="548640"/>
          </a:xfrm>
          <a:prstGeom prst="rect">
            <a:avLst/>
          </a:prstGeom>
          <a:noFill/>
          <a:ln/>
        </p:spPr>
        <p:txBody>
          <a:bodyPr wrap="square" lIns="0" tIns="0" rIns="0" bIns="0" rtlCol="0" anchor="t"/>
          <a:lstStyle/>
          <a:p>
            <a:pPr marL="0" indent="0">
              <a:lnSpc>
                <a:spcPct val="104000"/>
              </a:lnSpc>
              <a:buNone/>
            </a:pPr>
            <a:r>
              <a:rPr lang="en-US" sz="1350" dirty="0">
                <a:solidFill>
                  <a:srgbClr val="222222"/>
                </a:solidFill>
                <a:latin typeface="Calibri" pitchFamily="34" charset="0"/>
                <a:ea typeface="Calibri" pitchFamily="34" charset="-122"/>
                <a:cs typeface="Calibri" pitchFamily="34" charset="-120"/>
              </a:rPr>
              <a:t>Starting point: the cost test failed in this cycle. The controller will try exactly one adaptation stage. Two facts, both computed in this cycle, drive the choice:</a:t>
            </a:r>
            <a:endParaRPr lang="en-US" sz="1350" dirty="0"/>
          </a:p>
        </p:txBody>
      </p:sp>
      <p:sp>
        <p:nvSpPr>
          <p:cNvPr id="7" name="Shape 3"/>
          <p:cNvSpPr/>
          <p:nvPr/>
        </p:nvSpPr>
        <p:spPr>
          <a:xfrm>
            <a:off x="502920" y="1874520"/>
            <a:ext cx="5486400" cy="868680"/>
          </a:xfrm>
          <a:prstGeom prst="roundRect">
            <a:avLst>
              <a:gd name="adj" fmla="val 5263"/>
            </a:avLst>
          </a:prstGeom>
          <a:solidFill>
            <a:srgbClr val="F2F2F2"/>
          </a:solidFill>
          <a:ln/>
        </p:spPr>
      </p:sp>
      <p:sp>
        <p:nvSpPr>
          <p:cNvPr id="8" name="Text 4"/>
          <p:cNvSpPr/>
          <p:nvPr/>
        </p:nvSpPr>
        <p:spPr>
          <a:xfrm>
            <a:off x="777240" y="1993392"/>
            <a:ext cx="5029200" cy="685800"/>
          </a:xfrm>
          <a:prstGeom prst="rect">
            <a:avLst/>
          </a:prstGeom>
          <a:noFill/>
          <a:ln/>
        </p:spPr>
        <p:txBody>
          <a:bodyPr wrap="square" lIns="0" tIns="0" rIns="0" bIns="0" rtlCol="0" anchor="t"/>
          <a:lstStyle/>
          <a:p>
            <a:pPr marL="0" indent="0">
              <a:lnSpc>
                <a:spcPct val="104000"/>
              </a:lnSpc>
              <a:buNone/>
            </a:pPr>
            <a:r>
              <a:rPr lang="en-US" sz="1300" b="1" dirty="0">
                <a:solidFill>
                  <a:srgbClr val="E31836"/>
                </a:solidFill>
                <a:latin typeface="Calibri" pitchFamily="34" charset="0"/>
                <a:ea typeface="Calibri" pitchFamily="34" charset="-122"/>
                <a:cs typeface="Calibri" pitchFamily="34" charset="-120"/>
              </a:rPr>
              <a:t>Fact 1 — Coverage: </a:t>
            </a:r>
            <a:r>
              <a:rPr lang="en-US" sz="1250" dirty="0">
                <a:solidFill>
                  <a:srgbClr val="222222"/>
                </a:solidFill>
                <a:latin typeface="Calibri" pitchFamily="34" charset="0"/>
                <a:ea typeface="Calibri" pitchFamily="34" charset="-122"/>
                <a:cs typeface="Calibri" pitchFamily="34" charset="-120"/>
              </a:rPr>
              <a:t>does any rule fire above the floor at the current reading? If not, the situation is uncovered.</a:t>
            </a:r>
            <a:endParaRPr lang="en-US" sz="1300" dirty="0"/>
          </a:p>
        </p:txBody>
      </p:sp>
      <p:sp>
        <p:nvSpPr>
          <p:cNvPr id="9" name="Shape 5"/>
          <p:cNvSpPr/>
          <p:nvPr/>
        </p:nvSpPr>
        <p:spPr>
          <a:xfrm>
            <a:off x="6263640" y="1874520"/>
            <a:ext cx="5440680" cy="868680"/>
          </a:xfrm>
          <a:prstGeom prst="roundRect">
            <a:avLst>
              <a:gd name="adj" fmla="val 5263"/>
            </a:avLst>
          </a:prstGeom>
          <a:solidFill>
            <a:srgbClr val="F2F2F2"/>
          </a:solidFill>
          <a:ln/>
        </p:spPr>
      </p:sp>
      <p:sp>
        <p:nvSpPr>
          <p:cNvPr id="10" name="Text 6"/>
          <p:cNvSpPr/>
          <p:nvPr/>
        </p:nvSpPr>
        <p:spPr>
          <a:xfrm>
            <a:off x="6537960" y="1993392"/>
            <a:ext cx="4983480" cy="685800"/>
          </a:xfrm>
          <a:prstGeom prst="rect">
            <a:avLst/>
          </a:prstGeom>
          <a:noFill/>
          <a:ln/>
        </p:spPr>
        <p:txBody>
          <a:bodyPr wrap="square" lIns="0" tIns="0" rIns="0" bIns="0" rtlCol="0" anchor="t"/>
          <a:lstStyle/>
          <a:p>
            <a:pPr marL="0" indent="0">
              <a:lnSpc>
                <a:spcPct val="104000"/>
              </a:lnSpc>
              <a:buNone/>
            </a:pPr>
            <a:r>
              <a:rPr lang="en-US" sz="1300" b="1" dirty="0">
                <a:solidFill>
                  <a:srgbClr val="E31836"/>
                </a:solidFill>
                <a:latin typeface="Calibri" pitchFamily="34" charset="0"/>
                <a:ea typeface="Calibri" pitchFamily="34" charset="-122"/>
                <a:cs typeface="Calibri" pitchFamily="34" charset="-120"/>
              </a:rPr>
              <a:t>Fact 2 — Cost deficit: </a:t>
            </a:r>
            <a:r>
              <a:rPr lang="en-US" sz="1250" dirty="0">
                <a:solidFill>
                  <a:srgbClr val="222222"/>
                </a:solidFill>
                <a:latin typeface="Calibri" pitchFamily="34" charset="0"/>
                <a:ea typeface="Calibri" pitchFamily="34" charset="-122"/>
                <a:cs typeface="Calibri" pitchFamily="34" charset="-120"/>
              </a:rPr>
              <a:t>how far the forecast cost lies above the acceptance bound, grouped into coarse buckets.</a:t>
            </a:r>
            <a:endParaRPr lang="en-US" sz="1300" dirty="0"/>
          </a:p>
        </p:txBody>
      </p:sp>
      <p:sp>
        <p:nvSpPr>
          <p:cNvPr id="11" name="Text 7"/>
          <p:cNvSpPr/>
          <p:nvPr/>
        </p:nvSpPr>
        <p:spPr>
          <a:xfrm>
            <a:off x="502920" y="2971800"/>
            <a:ext cx="548640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The selection logic</a:t>
            </a:r>
            <a:endParaRPr lang="en-US" sz="1400" dirty="0"/>
          </a:p>
        </p:txBody>
      </p:sp>
      <p:sp>
        <p:nvSpPr>
          <p:cNvPr id="12" name="Text 8"/>
          <p:cNvSpPr/>
          <p:nvPr/>
        </p:nvSpPr>
        <p:spPr>
          <a:xfrm>
            <a:off x="502920" y="3291840"/>
            <a:ext cx="5486400" cy="2103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No rule fires at the reading → Stage ②. A rule that does not fire cannot be tuned; the base must first grow.</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Rules fire, but the deficit remains → Stage ① first. It is the cheapest option and every change is reversible.</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Stages ① and ② have already been tried for this symptom and the deficit persists → Stage ③, if adaptation budget remains.</a:t>
            </a:r>
            <a:endParaRPr lang="en-US" sz="1250" dirty="0"/>
          </a:p>
        </p:txBody>
      </p:sp>
      <p:sp>
        <p:nvSpPr>
          <p:cNvPr id="13" name="Text 9"/>
          <p:cNvSpPr/>
          <p:nvPr/>
        </p:nvSpPr>
        <p:spPr>
          <a:xfrm>
            <a:off x="6263640" y="2971800"/>
            <a:ext cx="54406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Learning on top of the logic</a:t>
            </a:r>
            <a:endParaRPr lang="en-US" sz="1400" dirty="0"/>
          </a:p>
        </p:txBody>
      </p:sp>
      <p:sp>
        <p:nvSpPr>
          <p:cNvPr id="14" name="Text 10"/>
          <p:cNvSpPr/>
          <p:nvPr/>
        </p:nvSpPr>
        <p:spPr>
          <a:xfrm>
            <a:off x="6263640" y="3291840"/>
            <a:ext cx="5440680" cy="2651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controller keeps a score H(situation, stage): the average forecast improvement each stage achieved in that situation so far.</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It normally picks the stage with the highest score. In 10% of cycles it picks a different stage at random, so the scores keep being tested.</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After each trial the score moves toward the observed improvement by a small step (learning rate 0.05).</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Every choice, trial, and verdict is written to the log. The controller can be audited line by line.</a:t>
            </a:r>
            <a:endParaRPr lang="en-US" sz="1250" dirty="0"/>
          </a:p>
        </p:txBody>
      </p:sp>
      <p:sp>
        <p:nvSpPr>
          <p:cNvPr id="15" name="Shape 11"/>
          <p:cNvSpPr/>
          <p:nvPr/>
        </p:nvSpPr>
        <p:spPr>
          <a:xfrm>
            <a:off x="502920" y="5623560"/>
            <a:ext cx="5486400" cy="868680"/>
          </a:xfrm>
          <a:prstGeom prst="roundRect">
            <a:avLst>
              <a:gd name="adj" fmla="val 5263"/>
            </a:avLst>
          </a:prstGeom>
          <a:solidFill>
            <a:srgbClr val="FDE8EB"/>
          </a:solidFill>
          <a:ln/>
        </p:spPr>
      </p:sp>
      <p:sp>
        <p:nvSpPr>
          <p:cNvPr id="16" name="Text 12"/>
          <p:cNvSpPr/>
          <p:nvPr/>
        </p:nvSpPr>
        <p:spPr>
          <a:xfrm>
            <a:off x="777240" y="5733288"/>
            <a:ext cx="5029200" cy="73152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Result: </a:t>
            </a:r>
            <a:r>
              <a:rPr lang="en-US" sz="1250" dirty="0">
                <a:solidFill>
                  <a:srgbClr val="222222"/>
                </a:solidFill>
                <a:latin typeface="Calibri" pitchFamily="34" charset="0"/>
                <a:ea typeface="Calibri" pitchFamily="34" charset="-122"/>
                <a:cs typeface="Calibri" pitchFamily="34" charset="-120"/>
              </a:rPr>
              <a:t>the learned choices match the hand logic above — coverage gaps go to ②, deficits go to ① — because that is what actually improves the forecast.</a:t>
            </a:r>
            <a:endParaRPr lang="en-US" sz="1250" dirty="0"/>
          </a:p>
        </p:txBody>
      </p:sp>
      <p:sp>
        <p:nvSpPr>
          <p:cNvPr id="90005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57 / 113</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① : Parameter Tuning — Before and After</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igure4_6.png"/>
          <p:cNvPicPr>
            <a:picLocks noChangeAspect="1"/>
          </p:cNvPicPr>
          <p:nvPr/>
        </p:nvPicPr>
        <p:blipFill>
          <a:blip r:embed="rId5"/>
          <a:stretch>
            <a:fillRect/>
          </a:stretch>
        </p:blipFill>
        <p:spPr>
          <a:xfrm>
            <a:off x="411480" y="1498499"/>
            <a:ext cx="6400800" cy="2672281"/>
          </a:xfrm>
          <a:prstGeom prst="rect">
            <a:avLst/>
          </a:prstGeom>
        </p:spPr>
      </p:pic>
      <p:sp>
        <p:nvSpPr>
          <p:cNvPr id="7" name="Text 2"/>
          <p:cNvSpPr/>
          <p:nvPr/>
        </p:nvSpPr>
        <p:spPr>
          <a:xfrm>
            <a:off x="411480" y="4343400"/>
            <a:ext cx="640080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Left: a consequent value takes one bounded step. Right: a shared term boundary shifts; both terms move together, so the partition stays valid.</a:t>
            </a:r>
            <a:endParaRPr lang="en-US" sz="1200" dirty="0"/>
          </a:p>
        </p:txBody>
      </p:sp>
      <p:sp>
        <p:nvSpPr>
          <p:cNvPr id="8" name="Shape 3"/>
          <p:cNvSpPr/>
          <p:nvPr/>
        </p:nvSpPr>
        <p:spPr>
          <a:xfrm>
            <a:off x="7040880" y="1325880"/>
            <a:ext cx="4663440" cy="1371600"/>
          </a:xfrm>
          <a:prstGeom prst="roundRect">
            <a:avLst>
              <a:gd name="adj" fmla="val 3333"/>
            </a:avLst>
          </a:prstGeom>
          <a:solidFill>
            <a:srgbClr val="FFFFFF"/>
          </a:solidFill>
          <a:ln w="15240">
            <a:solidFill>
              <a:srgbClr val="6E6E6E"/>
            </a:solidFill>
            <a:prstDash val="solid"/>
          </a:ln>
        </p:spPr>
      </p:sp>
      <p:sp>
        <p:nvSpPr>
          <p:cNvPr id="9" name="Text 4"/>
          <p:cNvSpPr/>
          <p:nvPr/>
        </p:nvSpPr>
        <p:spPr>
          <a:xfrm>
            <a:off x="7178040" y="1399032"/>
            <a:ext cx="438912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rule R5 as seeded</a:t>
            </a:r>
            <a:endParaRPr lang="en-US" sz="1250" dirty="0"/>
          </a:p>
        </p:txBody>
      </p:sp>
      <p:sp>
        <p:nvSpPr>
          <p:cNvPr id="10" name="Text 5"/>
          <p:cNvSpPr/>
          <p:nvPr/>
        </p:nvSpPr>
        <p:spPr>
          <a:xfrm>
            <a:off x="7178040" y="1709928"/>
            <a:ext cx="4389120" cy="91440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level is VERY HIGH</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THEN suppression effort = 1.00</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 resource deployment = 0.80</a:t>
            </a:r>
            <a:endParaRPr lang="en-US" sz="1150" dirty="0"/>
          </a:p>
        </p:txBody>
      </p:sp>
      <p:sp>
        <p:nvSpPr>
          <p:cNvPr id="11" name="Shape 6"/>
          <p:cNvSpPr/>
          <p:nvPr/>
        </p:nvSpPr>
        <p:spPr>
          <a:xfrm>
            <a:off x="7040880" y="2880360"/>
            <a:ext cx="4663440" cy="1463040"/>
          </a:xfrm>
          <a:prstGeom prst="roundRect">
            <a:avLst>
              <a:gd name="adj" fmla="val 3125"/>
            </a:avLst>
          </a:prstGeom>
          <a:solidFill>
            <a:srgbClr val="FFFFFF"/>
          </a:solidFill>
          <a:ln w="15240">
            <a:solidFill>
              <a:srgbClr val="3E7C4F"/>
            </a:solidFill>
            <a:prstDash val="solid"/>
          </a:ln>
        </p:spPr>
      </p:sp>
      <p:sp>
        <p:nvSpPr>
          <p:cNvPr id="12" name="Text 7"/>
          <p:cNvSpPr/>
          <p:nvPr/>
        </p:nvSpPr>
        <p:spPr>
          <a:xfrm>
            <a:off x="7178040" y="2953512"/>
            <a:ext cx="438912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one accepted trial</a:t>
            </a:r>
            <a:endParaRPr lang="en-US" sz="1250" dirty="0"/>
          </a:p>
        </p:txBody>
      </p:sp>
      <p:sp>
        <p:nvSpPr>
          <p:cNvPr id="13" name="Text 8"/>
          <p:cNvSpPr/>
          <p:nvPr/>
        </p:nvSpPr>
        <p:spPr>
          <a:xfrm>
            <a:off x="7178040" y="3264408"/>
            <a:ext cx="4389120" cy="10058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level is VERY HIGH</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THEN suppression effort = 1.00 (at the upper clip)</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 resource deployment = 0.85 (+0.05 step)</a:t>
            </a:r>
            <a:endParaRPr lang="en-US" sz="1150" dirty="0"/>
          </a:p>
        </p:txBody>
      </p:sp>
      <p:sp>
        <p:nvSpPr>
          <p:cNvPr id="14" name="Text 9"/>
          <p:cNvSpPr/>
          <p:nvPr/>
        </p:nvSpPr>
        <p:spPr>
          <a:xfrm>
            <a:off x="502920" y="4983480"/>
            <a:ext cx="11247120" cy="15544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trial acts on the two strongest-firing rules of the failed cycle. Each consequent moves by at most 0.05 and stays inside [0, 1].</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Two futures are then simulated from the same seed: one with the change, one without. The change is kept only if the physical forecast cost strictly falls; otherwise it is reverted.</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Campaign record: 616 trials, 129 kept, 167 consequent updates in total.</a:t>
            </a:r>
            <a:endParaRPr lang="en-US" sz="1250" dirty="0"/>
          </a:p>
        </p:txBody>
      </p:sp>
      <p:sp>
        <p:nvSpPr>
          <p:cNvPr id="90005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58 / 113</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② — Mode 1 : A Rule Is Written on an Empty Combination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47a.png"/>
          <p:cNvPicPr>
            <a:picLocks noChangeAspect="1"/>
          </p:cNvPicPr>
          <p:nvPr/>
        </p:nvPicPr>
        <p:blipFill>
          <a:blip r:embed="rId5"/>
          <a:stretch>
            <a:fillRect/>
          </a:stretch>
        </p:blipFill>
        <p:spPr>
          <a:xfrm>
            <a:off x="558437" y="1371600"/>
            <a:ext cx="4598126" cy="4023360"/>
          </a:xfrm>
          <a:prstGeom prst="rect">
            <a:avLst/>
          </a:prstGeom>
        </p:spPr>
      </p:pic>
      <p:sp>
        <p:nvSpPr>
          <p:cNvPr id="7" name="Shape 2"/>
          <p:cNvSpPr/>
          <p:nvPr/>
        </p:nvSpPr>
        <p:spPr>
          <a:xfrm>
            <a:off x="5806440" y="1371600"/>
            <a:ext cx="5897880" cy="1737360"/>
          </a:xfrm>
          <a:prstGeom prst="roundRect">
            <a:avLst>
              <a:gd name="adj" fmla="val 2632"/>
            </a:avLst>
          </a:prstGeom>
          <a:solidFill>
            <a:srgbClr val="FFFFFF"/>
          </a:solidFill>
          <a:ln w="15240">
            <a:solidFill>
              <a:srgbClr val="6E6E6E"/>
            </a:solidFill>
            <a:prstDash val="solid"/>
          </a:ln>
        </p:spPr>
      </p:sp>
      <p:sp>
        <p:nvSpPr>
          <p:cNvPr id="8" name="Text 3"/>
          <p:cNvSpPr/>
          <p:nvPr/>
        </p:nvSpPr>
        <p:spPr>
          <a:xfrm>
            <a:off x="5943600" y="1444752"/>
            <a:ext cx="562356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the combination is empty</a:t>
            </a:r>
            <a:endParaRPr lang="en-US" sz="1250" dirty="0"/>
          </a:p>
        </p:txBody>
      </p:sp>
      <p:sp>
        <p:nvSpPr>
          <p:cNvPr id="9" name="Text 4"/>
          <p:cNvSpPr/>
          <p:nvPr/>
        </p:nvSpPr>
        <p:spPr>
          <a:xfrm>
            <a:off x="5943600" y="1755648"/>
            <a:ext cx="5623560" cy="128016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reading: fire threat is VERY HIGH AND</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 evacuation pressure is VERY HIGH</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 cell (VH, VH) holds no rule;</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no rule fires above the floor -&gt; only the</a:t>
            </a:r>
            <a:endParaRPr lang="en-US" sz="1150" dirty="0"/>
          </a:p>
          <a:p>
            <a:pPr marL="0" indent="0">
              <a:lnSpc>
                <a:spcPct val="102000"/>
              </a:lnSpc>
              <a:spcAft>
                <a:spcPts val="300"/>
              </a:spcAft>
              <a:buNone/>
            </a:pPr>
            <a:r>
              <a:rPr lang="en-US" sz="1150" i="1" dirty="0">
                <a:solidFill>
                  <a:srgbClr val="222222"/>
                </a:solidFill>
                <a:latin typeface="Consolas" pitchFamily="34" charset="0"/>
                <a:ea typeface="Consolas" pitchFamily="34" charset="-122"/>
                <a:cs typeface="Consolas" pitchFamily="34" charset="-120"/>
              </a:rPr>
              <a:t>watchful baseline acts</a:t>
            </a:r>
            <a:endParaRPr lang="en-US" sz="1150" dirty="0"/>
          </a:p>
        </p:txBody>
      </p:sp>
      <p:sp>
        <p:nvSpPr>
          <p:cNvPr id="10" name="Shape 5"/>
          <p:cNvSpPr/>
          <p:nvPr/>
        </p:nvSpPr>
        <p:spPr>
          <a:xfrm>
            <a:off x="5806440" y="3291840"/>
            <a:ext cx="5897880" cy="1920240"/>
          </a:xfrm>
          <a:prstGeom prst="roundRect">
            <a:avLst>
              <a:gd name="adj" fmla="val 2381"/>
            </a:avLst>
          </a:prstGeom>
          <a:solidFill>
            <a:srgbClr val="FFFFFF"/>
          </a:solidFill>
          <a:ln w="15240">
            <a:solidFill>
              <a:srgbClr val="3E7C4F"/>
            </a:solidFill>
            <a:prstDash val="solid"/>
          </a:ln>
        </p:spPr>
      </p:sp>
      <p:sp>
        <p:nvSpPr>
          <p:cNvPr id="11" name="Text 6"/>
          <p:cNvSpPr/>
          <p:nvPr/>
        </p:nvSpPr>
        <p:spPr>
          <a:xfrm>
            <a:off x="5943600" y="3364992"/>
            <a:ext cx="562356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rule A1 is written on the cell</a:t>
            </a:r>
            <a:endParaRPr lang="en-US" sz="1250" dirty="0"/>
          </a:p>
        </p:txBody>
      </p:sp>
      <p:sp>
        <p:nvSpPr>
          <p:cNvPr id="12" name="Text 7"/>
          <p:cNvSpPr/>
          <p:nvPr/>
        </p:nvSpPr>
        <p:spPr>
          <a:xfrm>
            <a:off x="5943600" y="3675888"/>
            <a:ext cx="5623560" cy="14630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IF fire threat is VERY HIGH AND</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 evacuation pressure is VERY HIGH</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THEN suppression effort &lt;- activation of fire threat</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 evacuation &lt;- activation of evac. pressure</a:t>
            </a:r>
            <a:endParaRPr lang="en-US" sz="1150" dirty="0"/>
          </a:p>
        </p:txBody>
      </p:sp>
      <p:sp>
        <p:nvSpPr>
          <p:cNvPr id="13" name="Text 8"/>
          <p:cNvSpPr/>
          <p:nvPr/>
        </p:nvSpPr>
        <p:spPr>
          <a:xfrm>
            <a:off x="502920" y="5577840"/>
            <a:ext cx="11247120" cy="960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consequents of the new rule are not guessed: each is set to what the strongest concept asks for — the family that answers the concept receives the concept's activation as its intensity.</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Because the slot was empty, the rule is accepted if the forecast with it is not worse than without it. Adjusting its numbers later is the job of stage ①.</a:t>
            </a:r>
            <a:endParaRPr lang="en-US" sz="1250" dirty="0"/>
          </a:p>
        </p:txBody>
      </p:sp>
      <p:sp>
        <p:nvSpPr>
          <p:cNvPr id="90005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59 / 113</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② — Mode 2 : A Narrow Term Splits an Ambiguous Reading</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F47b.png"/>
          <p:cNvPicPr>
            <a:picLocks noChangeAspect="1"/>
          </p:cNvPicPr>
          <p:nvPr/>
        </p:nvPicPr>
        <p:blipFill>
          <a:blip r:embed="rId5"/>
          <a:stretch>
            <a:fillRect/>
          </a:stretch>
        </p:blipFill>
        <p:spPr>
          <a:xfrm>
            <a:off x="437606" y="1371600"/>
            <a:ext cx="4839789" cy="4023360"/>
          </a:xfrm>
          <a:prstGeom prst="rect">
            <a:avLst/>
          </a:prstGeom>
        </p:spPr>
      </p:pic>
      <p:sp>
        <p:nvSpPr>
          <p:cNvPr id="7" name="Shape 2"/>
          <p:cNvSpPr/>
          <p:nvPr/>
        </p:nvSpPr>
        <p:spPr>
          <a:xfrm>
            <a:off x="5806440" y="1371600"/>
            <a:ext cx="5897880" cy="1737360"/>
          </a:xfrm>
          <a:prstGeom prst="roundRect">
            <a:avLst>
              <a:gd name="adj" fmla="val 2632"/>
            </a:avLst>
          </a:prstGeom>
          <a:solidFill>
            <a:srgbClr val="FFFFFF"/>
          </a:solidFill>
          <a:ln w="15240">
            <a:solidFill>
              <a:srgbClr val="6E6E6E"/>
            </a:solidFill>
            <a:prstDash val="solid"/>
          </a:ln>
        </p:spPr>
      </p:sp>
      <p:sp>
        <p:nvSpPr>
          <p:cNvPr id="8" name="Text 3"/>
          <p:cNvSpPr/>
          <p:nvPr/>
        </p:nvSpPr>
        <p:spPr>
          <a:xfrm>
            <a:off x="5943600" y="1444752"/>
            <a:ext cx="5623560" cy="274320"/>
          </a:xfrm>
          <a:prstGeom prst="rect">
            <a:avLst/>
          </a:prstGeom>
          <a:noFill/>
          <a:ln/>
        </p:spPr>
        <p:txBody>
          <a:bodyPr wrap="square" lIns="0" tIns="0" rIns="0" bIns="0" rtlCol="0" anchor="ctr"/>
          <a:lstStyle/>
          <a:p>
            <a:pPr marL="0" indent="0">
              <a:buNone/>
            </a:pPr>
            <a:r>
              <a:rPr lang="en-US" sz="1250" b="1" dirty="0">
                <a:solidFill>
                  <a:srgbClr val="6E6E6E"/>
                </a:solidFill>
                <a:latin typeface="Calibri" pitchFamily="34" charset="0"/>
                <a:ea typeface="Calibri" pitchFamily="34" charset="-122"/>
                <a:cs typeface="Calibri" pitchFamily="34" charset="-120"/>
              </a:rPr>
              <a:t>BEFORE — the reading is ambiguous</a:t>
            </a:r>
            <a:endParaRPr lang="en-US" sz="1250" dirty="0"/>
          </a:p>
        </p:txBody>
      </p:sp>
      <p:sp>
        <p:nvSpPr>
          <p:cNvPr id="9" name="Text 4"/>
          <p:cNvSpPr/>
          <p:nvPr/>
        </p:nvSpPr>
        <p:spPr>
          <a:xfrm>
            <a:off x="5943600" y="1755648"/>
            <a:ext cx="5623560" cy="128016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strongest concept reads x = 0.42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membership in L = 0.53, in M = 0.47</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neither reaches the threshold 0.62;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two different situations share one cell, and no</a:t>
            </a:r>
            <a:endParaRPr lang="en-US" sz="1150" dirty="0"/>
          </a:p>
          <a:p>
            <a:pPr marL="0" indent="0">
              <a:lnSpc>
                <a:spcPct val="102000"/>
              </a:lnSpc>
              <a:spcAft>
                <a:spcPts val="300"/>
              </a:spcAft>
              <a:buNone/>
            </a:pPr>
            <a:r>
              <a:rPr lang="en-US" sz="1150" i="1" dirty="0">
                <a:solidFill>
                  <a:srgbClr val="222222"/>
                </a:solidFill>
                <a:latin typeface="Consolas" pitchFamily="34" charset="0"/>
                <a:ea typeface="Consolas" pitchFamily="34" charset="-122"/>
                <a:cs typeface="Consolas" pitchFamily="34" charset="-120"/>
              </a:rPr>
              <a:t>change of consequents can separate them</a:t>
            </a:r>
            <a:endParaRPr lang="en-US" sz="1150" dirty="0"/>
          </a:p>
        </p:txBody>
      </p:sp>
      <p:sp>
        <p:nvSpPr>
          <p:cNvPr id="10" name="Shape 5"/>
          <p:cNvSpPr/>
          <p:nvPr/>
        </p:nvSpPr>
        <p:spPr>
          <a:xfrm>
            <a:off x="5806440" y="3291840"/>
            <a:ext cx="5897880" cy="1920240"/>
          </a:xfrm>
          <a:prstGeom prst="roundRect">
            <a:avLst>
              <a:gd name="adj" fmla="val 2381"/>
            </a:avLst>
          </a:prstGeom>
          <a:solidFill>
            <a:srgbClr val="FFFFFF"/>
          </a:solidFill>
          <a:ln w="15240">
            <a:solidFill>
              <a:srgbClr val="3E7C4F"/>
            </a:solidFill>
            <a:prstDash val="solid"/>
          </a:ln>
        </p:spPr>
      </p:sp>
      <p:sp>
        <p:nvSpPr>
          <p:cNvPr id="11" name="Text 6"/>
          <p:cNvSpPr/>
          <p:nvPr/>
        </p:nvSpPr>
        <p:spPr>
          <a:xfrm>
            <a:off x="5943600" y="3364992"/>
            <a:ext cx="5623560" cy="274320"/>
          </a:xfrm>
          <a:prstGeom prst="rect">
            <a:avLst/>
          </a:prstGeom>
          <a:noFill/>
          <a:ln/>
        </p:spPr>
        <p:txBody>
          <a:bodyPr wrap="square" lIns="0" tIns="0" rIns="0" bIns="0" rtlCol="0" anchor="ctr"/>
          <a:lstStyle/>
          <a:p>
            <a:pPr marL="0" indent="0">
              <a:buNone/>
            </a:pPr>
            <a:r>
              <a:rPr lang="en-US" sz="1250" b="1" dirty="0">
                <a:solidFill>
                  <a:srgbClr val="3E7C4F"/>
                </a:solidFill>
                <a:latin typeface="Calibri" pitchFamily="34" charset="0"/>
                <a:ea typeface="Calibri" pitchFamily="34" charset="-122"/>
                <a:cs typeface="Calibri" pitchFamily="34" charset="-120"/>
              </a:rPr>
              <a:t>AFTER — term X is inserted, then a rule is written</a:t>
            </a:r>
            <a:endParaRPr lang="en-US" sz="1250" dirty="0"/>
          </a:p>
        </p:txBody>
      </p:sp>
      <p:sp>
        <p:nvSpPr>
          <p:cNvPr id="12" name="Text 7"/>
          <p:cNvSpPr/>
          <p:nvPr/>
        </p:nvSpPr>
        <p:spPr>
          <a:xfrm>
            <a:off x="5943600" y="3675888"/>
            <a:ext cx="5623560" cy="1463040"/>
          </a:xfrm>
          <a:prstGeom prst="rect">
            <a:avLst/>
          </a:prstGeom>
          <a:noFill/>
          <a:ln/>
        </p:spPr>
        <p:txBody>
          <a:bodyPr wrap="square" lIns="0" tIns="0" rIns="0" bIns="0" rtlCol="0" anchor="t"/>
          <a:lstStyle/>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new term X: core 0.37-0.47, support 0.30-0.54,</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centred on the reading x = 0.42</a:t>
            </a:r>
            <a:endParaRPr lang="en-US" sz="1150" dirty="0"/>
          </a:p>
          <a:p>
            <a:pPr marL="0" indent="0">
              <a:lnSpc>
                <a:spcPct val="102000"/>
              </a:lnSpc>
              <a:spcAft>
                <a:spcPts val="300"/>
              </a:spcAft>
              <a:buNone/>
            </a:pPr>
            <a:r>
              <a:rPr lang="en-US" sz="1150" dirty="0">
                <a:solidFill>
                  <a:srgbClr val="222222"/>
                </a:solidFill>
                <a:latin typeface="Consolas" pitchFamily="34" charset="0"/>
                <a:ea typeface="Consolas" pitchFamily="34" charset="-122"/>
                <a:cs typeface="Consolas" pitchFamily="34" charset="-120"/>
              </a:rPr>
              <a:t>the concept now has 6 terms; the catalogue grows</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from 3125 to 3750 combinations</a:t>
            </a:r>
            <a:endParaRPr lang="en-US" sz="1150" dirty="0"/>
          </a:p>
          <a:p>
            <a:pPr marL="0" indent="0">
              <a:lnSpc>
                <a:spcPct val="102000"/>
              </a:lnSpc>
              <a:spcAft>
                <a:spcPts val="300"/>
              </a:spcAft>
              <a:buNone/>
            </a:pPr>
            <a:r>
              <a:rPr lang="en-US" sz="1150" b="1" dirty="0">
                <a:solidFill>
                  <a:srgbClr val="222222"/>
                </a:solidFill>
                <a:latin typeface="Consolas" pitchFamily="34" charset="0"/>
                <a:ea typeface="Consolas" pitchFamily="34" charset="-122"/>
                <a:cs typeface="Consolas" pitchFamily="34" charset="-120"/>
              </a:rPr>
              <a:t>a rule is then written on the refined cell (X,...)</a:t>
            </a:r>
            <a:endParaRPr lang="en-US" sz="1150" dirty="0"/>
          </a:p>
        </p:txBody>
      </p:sp>
      <p:sp>
        <p:nvSpPr>
          <p:cNvPr id="13" name="Text 8"/>
          <p:cNvSpPr/>
          <p:nvPr/>
        </p:nvSpPr>
        <p:spPr>
          <a:xfrm>
            <a:off x="502920" y="5577840"/>
            <a:ext cx="11247120" cy="9601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inserted term stays outside the Layer-3 aggregation: it is read on its own trapezoid, so the concept activations and the five-term algebra are unchanged. The growth stays on the rule side.</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Both modes together, over the campaign: 359 trials, 40 rules, 4 term insertions; at most three trials per cycle.</a:t>
            </a:r>
            <a:endParaRPr lang="en-US" sz="1250" dirty="0"/>
          </a:p>
        </p:txBody>
      </p:sp>
      <p:sp>
        <p:nvSpPr>
          <p:cNvPr id="90006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60 / 113</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One Proposal, Four Possible Products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tretch>
            <a:fillRect/>
          </a:stretch>
        </p:blipFill>
        <p:spPr>
          <a:xfrm>
            <a:off x="489563" y="1325880"/>
            <a:ext cx="3272834" cy="5212080"/>
          </a:xfrm>
          <a:prstGeom prst="rect">
            <a:avLst/>
          </a:prstGeom>
        </p:spPr>
      </p:pic>
      <p:sp>
        <p:nvSpPr>
          <p:cNvPr id="7" name="Text 2"/>
          <p:cNvSpPr/>
          <p:nvPr/>
        </p:nvSpPr>
        <p:spPr>
          <a:xfrm>
            <a:off x="4160520" y="1371600"/>
            <a:ext cx="7543800" cy="32918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One invocation returns exactly one candidate: a plain rule — or a package that adds exactly one new object, which the accompanying rule must use.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(a) macro intervention — a named, weighted bundle of ≤ 3 base families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(b) intermediate concept — a normalized blend of ≤ 4 existing inputs, joining the feature-concept hierarchy</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(c) clause actuator — a new intervention carrying its own geometry: clauses of (verified effect × sector × range × dose)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plain rule needs no new object; panels (a)–(c) show the three object types. The product follows the symptom: a recurring compound situation suggests a concept; repeated joint orders suggest a macro; a tactic outside the doctrine suggests an actuator.</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The next three slides zoom into each panel; then come the search problem behind the reply, its algorithm, and the classical alternatives.</a:t>
            </a:r>
            <a:endParaRPr lang="en-US" sz="1200" dirty="0"/>
          </a:p>
        </p:txBody>
      </p:sp>
      <p:sp>
        <p:nvSpPr>
          <p:cNvPr id="8" name="Shape 3"/>
          <p:cNvSpPr/>
          <p:nvPr/>
        </p:nvSpPr>
        <p:spPr>
          <a:xfrm>
            <a:off x="4160520" y="4800600"/>
            <a:ext cx="7543800" cy="1691640"/>
          </a:xfrm>
          <a:prstGeom prst="roundRect">
            <a:avLst>
              <a:gd name="adj" fmla="val 2703"/>
            </a:avLst>
          </a:prstGeom>
          <a:solidFill>
            <a:srgbClr val="F2F2F2"/>
          </a:solidFill>
          <a:ln/>
        </p:spPr>
      </p:sp>
      <p:sp>
        <p:nvSpPr>
          <p:cNvPr id="9" name="Text 4"/>
          <p:cNvSpPr/>
          <p:nvPr/>
        </p:nvSpPr>
        <p:spPr>
          <a:xfrm>
            <a:off x="4343400" y="4901184"/>
            <a:ext cx="7178040" cy="1517904"/>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Fixed base (the closed part):</a:t>
            </a:r>
            <a:r>
              <a:rPr lang="en-US" sz="1200" dirty="0">
                <a:solidFill>
                  <a:srgbClr val="222222"/>
                </a:solidFill>
                <a:latin typeface="Calibri" pitchFamily="34" charset="0"/>
                <a:ea typeface="Calibri" pitchFamily="34" charset="-122"/>
                <a:cs typeface="Calibri" pitchFamily="34" charset="-120"/>
              </a:rPr>
              <a:t>6 doctrine families — suppression effort, resource deployment, containment line, asset protection, evacuation, public warning
7 verified effects — wet, clear, ignite, coat, evacuate, prime, draft · 7 sectors — head, flank, rear, ring, at-fire, assets, populated</a:t>
            </a:r>
            <a:r>
              <a:rPr lang="en-US" sz="1200" i="1" dirty="0">
                <a:solidFill>
                  <a:srgbClr val="6E6E6E"/>
                </a:solidFill>
                <a:latin typeface="Calibri" pitchFamily="34" charset="0"/>
                <a:ea typeface="Calibri" pitchFamily="34" charset="-122"/>
                <a:cs typeface="Calibri" pitchFamily="34" charset="-120"/>
              </a:rPr>
              <a:t>Library actuators beyond doctrine: tactical_burn, water_drafting, retardant_drop — no seed rule orders them; discovering a use is the proposer's job.</a:t>
            </a:r>
            <a:endParaRPr lang="en-US" sz="1200" dirty="0"/>
          </a:p>
        </p:txBody>
      </p:sp>
      <p:sp>
        <p:nvSpPr>
          <p:cNvPr id="90006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61 / 113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(a) : Macro Intervention — a Named Bundle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b="75500"/>
          <a:stretch/>
        </p:blipFill>
        <p:spPr>
          <a:xfrm>
            <a:off x="822960" y="1325880"/>
            <a:ext cx="10515600" cy="4102866"/>
          </a:xfrm>
          <a:prstGeom prst="rect">
            <a:avLst/>
          </a:prstGeom>
        </p:spPr>
      </p:pic>
      <mc:AlternateContent xmlns:mc="http://schemas.openxmlformats.org/markup-compatibility/2006" xmlns:a14="http://schemas.microsoft.com/office/drawing/2010/main">
        <mc:Choice Requires="a14">
          <p:sp>
            <p:nvSpPr>
              <p:cNvPr id="7" name="Text 2"/>
              <p:cNvSpPr/>
              <p:nvPr/>
            </p:nvSpPr>
            <p:spPr>
              <a:xfrm>
                <a:off x="822960" y="5779008"/>
                <a:ext cx="10515600" cy="91440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A macro is a named bundle of at most 3 base families with fixed weights: backburn = containment line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1</m:t>
                        </m:r>
                      </m:sub>
                    </m:sSub>
                    <m:r>
                      <a:rPr lang="en-US" sz="1200">
                        <a:latin typeface="Cambria Math"/>
                      </a:rPr>
                      <m:t> = 0.6</m:t>
                    </m:r>
                  </m:oMath>
                </a14:m>
                <a:r>
                  <a:rPr lang="en-US" sz="1200" b="1" dirty="0">
                    <a:solidFill>
                      <a:srgbClr val="222222"/>
                    </a:solidFill>
                    <a:latin typeface="Calibri" pitchFamily="34" charset="0"/>
                    <a:ea typeface="Calibri" pitchFamily="34" charset="-122"/>
                    <a:cs typeface="Calibri" pitchFamily="34" charset="-120"/>
                  </a:rPr>
                  <a:t> + suppression effort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2</m:t>
                        </m:r>
                      </m:sub>
                    </m:sSub>
                    <m:r>
                      <a:rPr lang="en-US" sz="1200">
                        <a:latin typeface="Cambria Math"/>
                      </a:rPr>
                      <m:t> = 0.4</m:t>
                    </m:r>
                  </m:oMath>
                </a14:m>
                <a:r>
                  <a:rPr lang="en-US" sz="1200" b="1" dirty="0">
                    <a:solidFill>
                      <a:srgbClr val="222222"/>
                    </a:solidFill>
                    <a:latin typeface="Calibri" pitchFamily="34" charset="0"/>
                    <a:ea typeface="Calibri" pitchFamily="34" charset="-122"/>
                    <a:cs typeface="Calibri" pitchFamily="34" charset="-120"/>
                  </a:rPr>
                  <a: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Rules order it by name with a single intensity — THEN backburn at </a:t>
                </a:r>
                <a14:m>
                  <m:oMath xmlns:m="http://schemas.openxmlformats.org/officeDocument/2006/math">
                    <m:r>
                      <a:rPr lang="en-US" sz="1200">
                        <a:latin typeface="Cambria Math"/>
                      </a:rPr>
                      <m:t>𝑣</m:t>
                    </m:r>
                    <m:r>
                      <a:rPr lang="en-US" sz="1200">
                        <a:latin typeface="Cambria Math"/>
                      </a:rPr>
                      <m:t> = 0.8</m:t>
                    </m:r>
                  </m:oMath>
                </a14:m>
                <a:r>
                  <a:rPr lang="en-US" sz="1200" dirty="0">
                    <a:solidFill>
                      <a:srgbClr val="222222"/>
                    </a:solidFill>
                    <a:latin typeface="Calibri" pitchFamily="34" charset="0"/>
                    <a:ea typeface="Calibri" pitchFamily="34" charset="-122"/>
                    <a:cs typeface="Calibri" pitchFamily="34" charset="-120"/>
                  </a:rPr>
                  <a:t> — and at execution the order expands into the base families of the Layer-4 aggregation: containment line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1</m:t>
                        </m:r>
                      </m:sub>
                    </m:sSub>
                    <m:r>
                      <a:rPr lang="en-US" sz="1200">
                        <a:latin typeface="Cambria Math"/>
                      </a:rPr>
                      <m:t>⋅</m:t>
                    </m:r>
                    <m:r>
                      <a:rPr lang="en-US" sz="1200">
                        <a:latin typeface="Cambria Math"/>
                      </a:rPr>
                      <m:t>𝑣</m:t>
                    </m:r>
                    <m:r>
                      <a:rPr lang="en-US" sz="1200">
                        <a:latin typeface="Cambria Math"/>
                      </a:rPr>
                      <m:t> = 0.48</m:t>
                    </m:r>
                  </m:oMath>
                </a14:m>
                <a:r>
                  <a:rPr lang="en-US" sz="1200" dirty="0">
                    <a:solidFill>
                      <a:srgbClr val="222222"/>
                    </a:solidFill>
                    <a:latin typeface="Calibri" pitchFamily="34" charset="0"/>
                    <a:ea typeface="Calibri" pitchFamily="34" charset="-122"/>
                    <a:cs typeface="Calibri" pitchFamily="34" charset="-120"/>
                  </a:rPr>
                  <a:t>, suppression effort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2</m:t>
                        </m:r>
                      </m:sub>
                    </m:sSub>
                    <m:r>
                      <a:rPr lang="en-US" sz="1200">
                        <a:latin typeface="Cambria Math"/>
                      </a:rPr>
                      <m:t>⋅</m:t>
                    </m:r>
                    <m:r>
                      <a:rPr lang="en-US" sz="1200">
                        <a:latin typeface="Cambria Math"/>
                      </a:rPr>
                      <m:t>𝑣</m:t>
                    </m:r>
                    <m:r>
                      <a:rPr lang="en-US" sz="1200">
                        <a:latin typeface="Cambria Math"/>
                      </a:rPr>
                      <m:t> = 0.32</m:t>
                    </m:r>
                  </m:oMath>
                </a14:m>
                <a:r>
                  <a:rPr lang="en-US" sz="1200" dirty="0">
                    <a:solidFill>
                      <a:srgbClr val="222222"/>
                    </a:solidFill>
                    <a:latin typeface="Calibri" pitchFamily="34" charset="0"/>
                    <a:ea typeface="Calibri" pitchFamily="34" charset="-122"/>
                    <a:cs typeface="Calibri" pitchFamily="34" charset="-120"/>
                  </a:rPr>
                  <a: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Nothing new touches the physics: the macro only bundles existing families. It is admitted behind the payoff gates G5 and G5b, like every package.</a:t>
                </a:r>
                <a:endParaRPr lang="en-US" sz="1200" dirty="0"/>
              </a:p>
            </p:txBody>
          </p:sp>
        </mc:Choice>
        <mc:Fallback xmlns="">
          <p:sp>
            <p:nvSpPr>
              <p:cNvPr id="7" name="Text 2"/>
              <p:cNvSpPr>
                <a:spLocks noRot="1" noChangeAspect="1" noMove="1" noResize="1" noEditPoints="1" noAdjustHandles="1" noChangeArrowheads="1" noChangeShapeType="1" noTextEdit="1"/>
              </p:cNvSpPr>
              <p:nvPr/>
            </p:nvSpPr>
            <p:spPr>
              <a:xfrm>
                <a:off x="822960" y="5779008"/>
                <a:ext cx="10515600" cy="914400"/>
              </a:xfrm>
              <a:prstGeom prst="rect">
                <a:avLst/>
              </a:prstGeom>
              <a:blipFill>
                <a:blip r:embed="rId6"/>
                <a:stretch>
                  <a:fillRect l="-928" b="-29333"/>
                </a:stretch>
              </a:blipFill>
              <a:ln/>
            </p:spPr>
            <p:txBody>
              <a:bodyPr/>
              <a:lstStyle/>
              <a:p>
                <a:r>
                  <a:rPr lang="tr-TR">
                    <a:noFill/>
                  </a:rPr>
                  <a:t/>
                </a:r>
              </a:p>
            </p:txBody>
          </p:sp>
        </mc:Fallback>
      </mc:AlternateContent>
      <p:sp>
        <p:nvSpPr>
          <p:cNvPr id="90006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62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(b) : Intermediate Concept — a New Node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t="25000" b="40000"/>
          <a:stretch/>
        </p:blipFill>
        <p:spPr>
          <a:xfrm>
            <a:off x="411480" y="1371600"/>
            <a:ext cx="7315200" cy="4077382"/>
          </a:xfrm>
          <a:prstGeom prst="rect">
            <a:avLst/>
          </a:prstGeom>
        </p:spPr>
      </p:pic>
      <mc:AlternateContent xmlns:mc="http://schemas.openxmlformats.org/markup-compatibility/2006" xmlns:a14="http://schemas.microsoft.com/office/drawing/2010/main">
        <mc:Choice Requires="a14">
          <p:sp>
            <p:nvSpPr>
              <p:cNvPr id="7" name="Text 2"/>
              <p:cNvSpPr/>
              <p:nvPr/>
            </p:nvSpPr>
            <p:spPr>
              <a:xfrm>
                <a:off x="7909560" y="1463040"/>
                <a:ext cx="384048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A concept is a normalized blend of at most 4 existing inputs: ember spotting risk is </a:t>
                </a:r>
                <a14:m>
                  <m:oMath xmlns:m="http://schemas.openxmlformats.org/officeDocument/2006/math">
                    <m:sSub>
                      <m:sSubPr>
                        <m:ctrlPr>
                          <a:rPr lang="en-US" i="1">
                            <a:latin typeface="Cambria Math" panose="02040503050406030204" pitchFamily="18" charset="0"/>
                          </a:rPr>
                        </m:ctrlPr>
                      </m:sSubPr>
                      <m:e>
                        <m:r>
                          <a:rPr lang="en-US" sz="1200">
                            <a:latin typeface="Cambria Math"/>
                          </a:rPr>
                          <m:t>𝑐</m:t>
                        </m:r>
                      </m:e>
                      <m:sub>
                        <m:r>
                          <a:rPr lang="en-US" sz="1200">
                            <a:latin typeface="Cambria Math"/>
                          </a:rPr>
                          <m:t>𝑛𝑒𝑤</m:t>
                        </m:r>
                      </m:sub>
                    </m:sSub>
                    <m:r>
                      <a:rPr lang="en-US" sz="1200">
                        <a:latin typeface="Cambria Math"/>
                      </a:rPr>
                      <m:t> = 0.40⋅</m:t>
                    </m:r>
                    <m:sSub>
                      <m:sSubPr>
                        <m:ctrlPr>
                          <a:rPr lang="en-US" i="1">
                            <a:latin typeface="Cambria Math" panose="02040503050406030204" pitchFamily="18" charset="0"/>
                          </a:rPr>
                        </m:ctrlPr>
                      </m:sSubPr>
                      <m:e>
                        <m:r>
                          <a:rPr lang="en-US" sz="1200">
                            <a:latin typeface="Cambria Math"/>
                          </a:rPr>
                          <m:t>𝑧</m:t>
                        </m:r>
                      </m:e>
                      <m:sub>
                        <m:r>
                          <a:rPr lang="en-US" sz="1200">
                            <a:latin typeface="Cambria Math"/>
                          </a:rPr>
                          <m:t>2</m:t>
                        </m:r>
                      </m:sub>
                    </m:sSub>
                    <m:r>
                      <a:rPr lang="en-US" sz="1200">
                        <a:latin typeface="Cambria Math"/>
                      </a:rPr>
                      <m:t> + 0.35⋅</m:t>
                    </m:r>
                    <m:sSub>
                      <m:sSubPr>
                        <m:ctrlPr>
                          <a:rPr lang="en-US" i="1">
                            <a:latin typeface="Cambria Math" panose="02040503050406030204" pitchFamily="18" charset="0"/>
                          </a:rPr>
                        </m:ctrlPr>
                      </m:sSubPr>
                      <m:e>
                        <m:r>
                          <a:rPr lang="en-US" sz="1200">
                            <a:latin typeface="Cambria Math"/>
                          </a:rPr>
                          <m:t>𝑧</m:t>
                        </m:r>
                      </m:e>
                      <m:sub>
                        <m:r>
                          <a:rPr lang="en-US" sz="1200">
                            <a:latin typeface="Cambria Math"/>
                          </a:rPr>
                          <m:t>3</m:t>
                        </m:r>
                      </m:sub>
                    </m:sSub>
                    <m:r>
                      <a:rPr lang="en-US" sz="1200">
                        <a:latin typeface="Cambria Math"/>
                      </a:rPr>
                      <m:t> + 0.25⋅</m:t>
                    </m:r>
                    <m:sSub>
                      <m:sSubPr>
                        <m:ctrlPr>
                          <a:rPr lang="en-US" i="1">
                            <a:latin typeface="Cambria Math" panose="02040503050406030204" pitchFamily="18" charset="0"/>
                          </a:rPr>
                        </m:ctrlPr>
                      </m:sSubPr>
                      <m:e>
                        <m:r>
                          <a:rPr lang="en-US" sz="1200">
                            <a:latin typeface="Cambria Math"/>
                          </a:rPr>
                          <m:t>𝑧</m:t>
                        </m:r>
                      </m:e>
                      <m:sub>
                        <m:r>
                          <a:rPr lang="en-US" sz="1200">
                            <a:latin typeface="Cambria Math"/>
                          </a:rPr>
                          <m:t>5</m:t>
                        </m:r>
                      </m:sub>
                    </m:sSub>
                  </m:oMath>
                </a14:m>
                <a:r>
                  <a:rPr lang="en-US" sz="1200" b="1" dirty="0">
                    <a:solidFill>
                      <a:srgbClr val="222222"/>
                    </a:solidFill>
                    <a:latin typeface="Calibri" pitchFamily="34" charset="0"/>
                    <a:ea typeface="Calibri" pitchFamily="34" charset="-122"/>
                    <a:cs typeface="Calibri" pitchFamily="34" charset="-120"/>
                  </a:rPr>
                  <a:t> — spread potential, weather severity, fuel load — with </a:t>
                </a:r>
                <a14:m>
                  <m:oMath xmlns:m="http://schemas.openxmlformats.org/officeDocument/2006/math">
                    <m:r>
                      <a:rPr lang="en-US" sz="1200">
                        <a:latin typeface="Cambria Math"/>
                      </a:rPr>
                      <m:t>∑</m:t>
                    </m:r>
                    <m:sSub>
                      <m:sSubPr>
                        <m:ctrlPr>
                          <a:rPr lang="en-US" i="1">
                            <a:latin typeface="Cambria Math" panose="02040503050406030204" pitchFamily="18" charset="0"/>
                          </a:rPr>
                        </m:ctrlPr>
                      </m:sSubPr>
                      <m:e>
                        <m:r>
                          <a:rPr lang="en-US" sz="1200">
                            <a:latin typeface="Cambria Math"/>
                          </a:rPr>
                          <m:t>𝜔</m:t>
                        </m:r>
                      </m:e>
                      <m:sub>
                        <m:r>
                          <a:rPr lang="en-US" sz="1200">
                            <a:latin typeface="Cambria Math"/>
                          </a:rPr>
                          <m:t>𝑖</m:t>
                        </m:r>
                      </m:sub>
                    </m:sSub>
                    <m:r>
                      <a:rPr lang="en-US" sz="1200">
                        <a:latin typeface="Cambria Math"/>
                      </a:rPr>
                      <m:t> = 1</m:t>
                    </m:r>
                  </m:oMath>
                </a14:m>
                <a:r>
                  <a:rPr lang="en-US" sz="1200" b="1" dirty="0">
                    <a:solidFill>
                      <a:srgbClr val="222222"/>
                    </a:solidFill>
                    <a:latin typeface="Calibri" pitchFamily="34" charset="0"/>
                    <a:ea typeface="Calibri" pitchFamily="34" charset="-122"/>
                    <a:cs typeface="Calibri" pitchFamily="34" charset="-120"/>
                  </a:rPr>
                  <a: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It joins the hierarchy at level 1, 2 or 3 and receives a five-term activation and a confidence gate exactly like a native concept: the Layer-3 machinery is unchanged.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G2b guards against redundancy: </a:t>
                </a:r>
                <a14:m>
                  <m:oMath xmlns:m="http://schemas.openxmlformats.org/officeDocument/2006/math">
                    <m:r>
                      <a:rPr lang="en-US" sz="1200">
                        <a:latin typeface="Cambria Math"/>
                      </a:rPr>
                      <m:t>𝑐𝑜𝑠</m:t>
                    </m:r>
                    <m:r>
                      <a:rPr lang="en-US" sz="1200">
                        <a:latin typeface="Cambria Math"/>
                      </a:rPr>
                      <m:t>(</m:t>
                    </m:r>
                    <m:sSub>
                      <m:sSubPr>
                        <m:ctrlPr>
                          <a:rPr lang="en-US" i="1">
                            <a:latin typeface="Cambria Math" panose="02040503050406030204" pitchFamily="18" charset="0"/>
                          </a:rPr>
                        </m:ctrlPr>
                      </m:sSubPr>
                      <m:e>
                        <m:r>
                          <a:rPr lang="en-US" sz="1200">
                            <a:latin typeface="Cambria Math"/>
                          </a:rPr>
                          <m:t>𝜔</m:t>
                        </m:r>
                      </m:e>
                      <m:sub>
                        <m:r>
                          <a:rPr lang="en-US" sz="1200">
                            <a:latin typeface="Cambria Math"/>
                          </a:rPr>
                          <m:t>𝑛𝑒𝑤</m:t>
                        </m:r>
                      </m:sub>
                    </m:sSub>
                    <m:r>
                      <a:rPr lang="en-US" sz="1200">
                        <a:latin typeface="Cambria Math"/>
                      </a:rPr>
                      <m:t>, </m:t>
                    </m:r>
                    <m:sSub>
                      <m:sSubPr>
                        <m:ctrlPr>
                          <a:rPr lang="en-US" i="1">
                            <a:latin typeface="Cambria Math" panose="02040503050406030204" pitchFamily="18" charset="0"/>
                          </a:rPr>
                        </m:ctrlPr>
                      </m:sSubPr>
                      <m:e>
                        <m:r>
                          <a:rPr lang="en-US" sz="1200">
                            <a:latin typeface="Cambria Math"/>
                          </a:rPr>
                          <m:t>𝜔</m:t>
                        </m:r>
                      </m:e>
                      <m:sub>
                        <m:r>
                          <a:rPr lang="en-US" sz="1200">
                            <a:latin typeface="Cambria Math"/>
                          </a:rPr>
                          <m:t>𝑐</m:t>
                        </m:r>
                      </m:sub>
                    </m:sSub>
                    <m:r>
                      <a:rPr lang="en-US" sz="1200">
                        <a:latin typeface="Cambria Math"/>
                      </a:rPr>
                      <m:t>) &lt; 0.95</m:t>
                    </m:r>
                  </m:oMath>
                </a14:m>
                <a:r>
                  <a:rPr lang="en-US" sz="1200" dirty="0">
                    <a:solidFill>
                      <a:srgbClr val="222222"/>
                    </a:solidFill>
                    <a:latin typeface="Calibri" pitchFamily="34" charset="0"/>
                    <a:ea typeface="Calibri" pitchFamily="34" charset="-122"/>
                    <a:cs typeface="Calibri" pitchFamily="34" charset="-120"/>
                  </a:rPr>
                  <a:t> against every existing concept.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accompanying rule must cite it: IF ember spotting risk is H AND asset exposure risk is H THEN containment line 0.7.</a:t>
                </a:r>
                <a:endParaRPr lang="en-US" sz="1200" dirty="0"/>
              </a:p>
            </p:txBody>
          </p:sp>
        </mc:Choice>
        <mc:Fallback xmlns="">
          <p:sp>
            <p:nvSpPr>
              <p:cNvPr id="7" name="Text 2"/>
              <p:cNvSpPr>
                <a:spLocks noRot="1" noChangeAspect="1" noMove="1" noResize="1" noEditPoints="1" noAdjustHandles="1" noChangeArrowheads="1" noChangeShapeType="1" noTextEdit="1"/>
              </p:cNvSpPr>
              <p:nvPr/>
            </p:nvSpPr>
            <p:spPr>
              <a:xfrm>
                <a:off x="7909560" y="1463040"/>
                <a:ext cx="3840480" cy="4937760"/>
              </a:xfrm>
              <a:prstGeom prst="rect">
                <a:avLst/>
              </a:prstGeom>
              <a:blipFill>
                <a:blip r:embed="rId6"/>
                <a:stretch>
                  <a:fillRect l="-2540" t="-1111" r="-1905"/>
                </a:stretch>
              </a:blipFill>
              <a:ln/>
            </p:spPr>
            <p:txBody>
              <a:bodyPr/>
              <a:lstStyle/>
              <a:p>
                <a:r>
                  <a:rPr lang="tr-TR">
                    <a:noFill/>
                  </a:rPr>
                  <a:t/>
                </a:r>
              </a:p>
            </p:txBody>
          </p:sp>
        </mc:Fallback>
      </mc:AlternateContent>
      <p:sp>
        <p:nvSpPr>
          <p:cNvPr id="90006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63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Product (c) : Clause Actuator — a Tactic with Geometry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fig49" descr="/tmp/thx/deck/figs/Figure4_9.png"/>
          <p:cNvPicPr>
            <a:picLocks noChangeAspect="1"/>
          </p:cNvPicPr>
          <p:nvPr/>
        </p:nvPicPr>
        <p:blipFill>
          <a:blip r:embed="rId5"/>
          <a:srcRect t="61500"/>
          <a:stretch/>
        </p:blipFill>
        <p:spPr>
          <a:xfrm>
            <a:off x="411480" y="1371600"/>
            <a:ext cx="6766560" cy="4148736"/>
          </a:xfrm>
          <a:prstGeom prst="rect">
            <a:avLst/>
          </a:prstGeom>
        </p:spPr>
      </p:pic>
      <p:sp>
        <p:nvSpPr>
          <p:cNvPr id="7" name="Text 2"/>
          <p:cNvSpPr/>
          <p:nvPr/>
        </p:nvSpPr>
        <p:spPr>
          <a:xfrm>
            <a:off x="7360920" y="1463040"/>
            <a:ext cx="438912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An actuator carries its own geometry: at most 3 clauses, each one verified effect, on one sector, over a range of cells from the front, with a dose.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lakeside_capacity_bridge compiles into: draft on at-fire cells [0, 3] at 1.0; draft on head cells [0, 8] at 1.0; evacuate on populated cells [0, 6] at 1.0.</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A rule orders it by name: IF fire threat level is VH AND evacuation pressure is VH AND suppression feasibility is L THEN lakeside_capacity_bridge 1.00.</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G5 asks whether the growth pays; G5b repeats both rollouts with the actuator struck out — the payoff must belong to the new object itself.</a:t>
            </a:r>
            <a:endParaRPr lang="en-US" sz="1200" dirty="0"/>
          </a:p>
        </p:txBody>
      </p:sp>
      <p:sp>
        <p:nvSpPr>
          <p:cNvPr id="90006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64 / 113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The Search Problem</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261872"/>
            <a:ext cx="11247120" cy="1517904"/>
          </a:xfrm>
          <a:prstGeom prst="roundRect">
            <a:avLst>
              <a:gd name="adj" fmla="val 3012"/>
            </a:avLst>
          </a:prstGeom>
          <a:solidFill>
            <a:srgbClr val="F2F2F2"/>
          </a:solidFill>
          <a:ln/>
        </p:spPr>
      </p:sp>
      <p:sp>
        <p:nvSpPr>
          <p:cNvPr id="7" name="Text 3"/>
          <p:cNvSpPr/>
          <p:nvPr/>
        </p:nvSpPr>
        <p:spPr>
          <a:xfrm>
            <a:off x="777240" y="1371600"/>
            <a:ext cx="10698480" cy="365760"/>
          </a:xfrm>
          <a:prstGeom prst="rect">
            <a:avLst/>
          </a:prstGeom>
          <a:noFill/>
          <a:ln/>
        </p:spPr>
        <p:txBody>
          <a:bodyPr wrap="square" lIns="0" tIns="0" rIns="0" bIns="0" rtlCol="0" anchor="t"/>
          <a:lstStyle/>
          <a:p>
            <a:pPr marL="0" indent="0">
              <a:lnSpc>
                <a:spcPct val="104000"/>
              </a:lnSpc>
              <a:buNone/>
            </a:pPr>
            <a:r>
              <a:rPr lang="en-US" sz="1300" b="1" dirty="0">
                <a:solidFill>
                  <a:srgbClr val="E31836"/>
                </a:solidFill>
                <a:latin typeface="Calibri" pitchFamily="34" charset="0"/>
                <a:ea typeface="Calibri" pitchFamily="34" charset="-122"/>
                <a:cs typeface="Calibri" pitchFamily="34" charset="-120"/>
              </a:rPr>
              <a:t>The formal problem. </a:t>
            </a:r>
            <a:r>
              <a:rPr lang="en-US" sz="1250" dirty="0">
                <a:solidFill>
                  <a:srgbClr val="222222"/>
                </a:solidFill>
                <a:latin typeface="Calibri" pitchFamily="34" charset="0"/>
                <a:ea typeface="Calibri" pitchFamily="34" charset="-122"/>
                <a:cs typeface="Calibri" pitchFamily="34" charset="-120"/>
              </a:rPr>
              <a:t>Stage ③ is a constrained combinatorial search: find the admissible candidate that most improves the forecast physical cost.</a:t>
            </a:r>
            <a:endParaRPr lang="en-US" sz="1300" dirty="0"/>
          </a:p>
        </p:txBody>
      </p:sp>
      <mc:AlternateContent xmlns:mc="http://schemas.openxmlformats.org/markup-compatibility/2006" xmlns:a14="http://schemas.microsoft.com/office/drawing/2010/main">
        <mc:Choice Requires="a14">
          <p:sp>
            <p:nvSpPr>
              <p:cNvPr id="8" name="Text 4"/>
              <p:cNvSpPr/>
              <p:nvPr/>
            </p:nvSpPr>
            <p:spPr>
              <a:xfrm>
                <a:off x="777240" y="1737360"/>
                <a:ext cx="10698480" cy="603504"/>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sz="1500">
                              <a:latin typeface="Cambria Math"/>
                            </a:rPr>
                            <m:t>𝑐</m:t>
                          </m:r>
                        </m:e>
                        <m:sup>
                          <m:r>
                            <a:rPr lang="en-US" sz="1500">
                              <a:latin typeface="Cambria Math"/>
                            </a:rPr>
                            <m:t>⋆</m:t>
                          </m:r>
                        </m:sup>
                      </m:sSup>
                      <m:r>
                        <a:rPr lang="en-US" sz="1500">
                          <a:latin typeface="Cambria Math"/>
                        </a:rPr>
                        <m:t> = </m:t>
                      </m:r>
                      <m:limLow>
                        <m:limLowPr>
                          <m:ctrlPr>
                            <a:rPr lang="en-US" i="1">
                              <a:latin typeface="Cambria Math" panose="02040503050406030204" pitchFamily="18" charset="0"/>
                            </a:rPr>
                          </m:ctrlPr>
                        </m:limLowPr>
                        <m:e>
                          <m:r>
                            <a:rPr lang="en-US" sz="1500">
                              <a:latin typeface="Cambria Math"/>
                            </a:rPr>
                            <m:t>𝑎𝑟𝑔</m:t>
                          </m:r>
                          <m:r>
                            <a:rPr lang="en-US" sz="1500">
                              <a:latin typeface="Cambria Math"/>
                            </a:rPr>
                            <m:t> </m:t>
                          </m:r>
                          <m:r>
                            <a:rPr lang="en-US" sz="1500">
                              <a:latin typeface="Cambria Math"/>
                            </a:rPr>
                            <m:t>𝑚𝑖𝑛</m:t>
                          </m:r>
                        </m:e>
                        <m:lim>
                          <m:r>
                            <a:rPr lang="en-US" sz="1000">
                              <a:latin typeface="Cambria Math"/>
                            </a:rPr>
                            <m:t>𝑐</m:t>
                          </m:r>
                          <m:r>
                            <a:rPr lang="en-US" sz="1000">
                              <a:latin typeface="Cambria Math"/>
                            </a:rPr>
                            <m:t> ∈ </m:t>
                          </m:r>
                          <m:r>
                            <a:rPr lang="en-US" sz="1000">
                              <a:latin typeface="Cambria Math"/>
                            </a:rPr>
                            <m:t>𝒜</m:t>
                          </m:r>
                          <m:r>
                            <a:rPr lang="en-US" sz="1000">
                              <a:latin typeface="Cambria Math"/>
                            </a:rPr>
                            <m:t>(</m:t>
                          </m:r>
                          <m:sSub>
                            <m:sSubPr>
                              <m:ctrlPr>
                                <a:rPr lang="en-US" i="1">
                                  <a:latin typeface="Cambria Math" panose="02040503050406030204" pitchFamily="18" charset="0"/>
                                </a:rPr>
                              </m:ctrlPr>
                            </m:sSubPr>
                            <m:e>
                              <m:r>
                                <a:rPr lang="en-US" sz="1000">
                                  <a:latin typeface="Cambria Math"/>
                                </a:rPr>
                                <m:t>𝑉</m:t>
                              </m:r>
                            </m:e>
                            <m:sub>
                              <m:r>
                                <a:rPr lang="en-US" sz="1000">
                                  <a:latin typeface="Cambria Math"/>
                                </a:rPr>
                                <m:t>𝑘</m:t>
                              </m:r>
                            </m:sub>
                          </m:sSub>
                          <m:r>
                            <a:rPr lang="en-US" sz="1000">
                              <a:latin typeface="Cambria Math"/>
                            </a:rPr>
                            <m:t>)</m:t>
                          </m:r>
                        </m:lim>
                      </m:limLow>
                      <m:r>
                        <a:rPr lang="en-US" sz="1500">
                          <a:latin typeface="Cambria Math"/>
                        </a:rPr>
                        <m:t> </m:t>
                      </m:r>
                      <m:r>
                        <a:rPr lang="en-US" sz="1500">
                          <a:latin typeface="Cambria Math"/>
                        </a:rPr>
                        <m:t>𝛥</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500">
                                  <a:latin typeface="Cambria Math"/>
                                </a:rPr>
                                <m:t>𝐽</m:t>
                              </m:r>
                            </m:e>
                          </m:acc>
                        </m:e>
                        <m:sub>
                          <m:r>
                            <a:rPr lang="en-US" sz="1500">
                              <a:latin typeface="Cambria Math"/>
                            </a:rPr>
                            <m:t>𝑃h𝑦</m:t>
                          </m:r>
                        </m:sub>
                      </m:sSub>
                      <m:r>
                        <a:rPr lang="en-US" sz="1500">
                          <a:latin typeface="Cambria Math"/>
                        </a:rPr>
                        <m:t>(</m:t>
                      </m:r>
                      <m:r>
                        <a:rPr lang="en-US" sz="1500">
                          <a:latin typeface="Cambria Math"/>
                        </a:rPr>
                        <m:t>𝑐</m:t>
                      </m:r>
                      <m:r>
                        <a:rPr lang="en-US" sz="1500">
                          <a:latin typeface="Cambria Math"/>
                        </a:rPr>
                        <m:t>)</m:t>
                      </m:r>
                    </m:oMath>
                  </m:oMathPara>
                </a14:m>
                <a:endParaRPr lang="en-US" sz="1300" dirty="0"/>
              </a:p>
            </p:txBody>
          </p:sp>
        </mc:Choice>
        <mc:Fallback xmlns="">
          <p:sp>
            <p:nvSpPr>
              <p:cNvPr id="8" name="Text 4"/>
              <p:cNvSpPr>
                <a:spLocks noRot="1" noChangeAspect="1" noMove="1" noResize="1" noEditPoints="1" noAdjustHandles="1" noChangeArrowheads="1" noChangeShapeType="1" noTextEdit="1"/>
              </p:cNvSpPr>
              <p:nvPr/>
            </p:nvSpPr>
            <p:spPr>
              <a:xfrm>
                <a:off x="777240" y="1737360"/>
                <a:ext cx="10698480" cy="603504"/>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5"/>
              <p:cNvSpPr/>
              <p:nvPr/>
            </p:nvSpPr>
            <p:spPr>
              <a:xfrm>
                <a:off x="777240" y="2377440"/>
                <a:ext cx="10698480" cy="329184"/>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Each evaluation of </a:t>
                </a:r>
                <a14:m>
                  <m:oMath xmlns:m="http://schemas.openxmlformats.org/officeDocument/2006/math">
                    <m:r>
                      <a:rPr lang="en-US" sz="1250">
                        <a:latin typeface="Cambria Math"/>
                      </a:rPr>
                      <m:t>𝛥</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250">
                                <a:latin typeface="Cambria Math"/>
                              </a:rPr>
                              <m:t>𝐽</m:t>
                            </m:r>
                          </m:e>
                        </m:acc>
                      </m:e>
                      <m:sub>
                        <m:r>
                          <a:rPr lang="en-US" sz="1250">
                            <a:latin typeface="Cambria Math"/>
                          </a:rPr>
                          <m:t>𝑃h𝑦</m:t>
                        </m:r>
                      </m:sub>
                    </m:sSub>
                    <m:r>
                      <a:rPr lang="en-US" sz="1250">
                        <a:latin typeface="Cambria Math"/>
                      </a:rPr>
                      <m:t>(</m:t>
                    </m:r>
                    <m:r>
                      <a:rPr lang="en-US" sz="1250">
                        <a:latin typeface="Cambria Math"/>
                      </a:rPr>
                      <m:t>𝑐</m:t>
                    </m:r>
                    <m:r>
                      <a:rPr lang="en-US" sz="1250">
                        <a:latin typeface="Cambria Math"/>
                      </a:rPr>
                      <m:t>)</m:t>
                    </m:r>
                  </m:oMath>
                </a14:m>
                <a:r>
                  <a:rPr lang="en-US" sz="1250" b="1" dirty="0">
                    <a:solidFill>
                      <a:srgbClr val="000000"/>
                    </a:solidFill>
                    <a:latin typeface="Calibri" pitchFamily="34" charset="0"/>
                    <a:ea typeface="Calibri" pitchFamily="34" charset="-122"/>
                    <a:cs typeface="Calibri" pitchFamily="34" charset="-120"/>
                  </a:rPr>
                  <a:t> is one reseeded forecast rollout — and the cycle budget allows two.</a:t>
                </a:r>
                <a:endParaRPr lang="en-US" sz="1250" dirty="0"/>
              </a:p>
            </p:txBody>
          </p:sp>
        </mc:Choice>
        <mc:Fallback xmlns="">
          <p:sp>
            <p:nvSpPr>
              <p:cNvPr id="9" name="Text 5"/>
              <p:cNvSpPr>
                <a:spLocks noRot="1" noChangeAspect="1" noMove="1" noResize="1" noEditPoints="1" noAdjustHandles="1" noChangeArrowheads="1" noChangeShapeType="1" noTextEdit="1"/>
              </p:cNvSpPr>
              <p:nvPr/>
            </p:nvSpPr>
            <p:spPr>
              <a:xfrm>
                <a:off x="777240" y="2377440"/>
                <a:ext cx="10698480" cy="329184"/>
              </a:xfrm>
              <a:prstGeom prst="rect">
                <a:avLst/>
              </a:prstGeom>
              <a:blipFill>
                <a:blip r:embed="rId6"/>
                <a:stretch>
                  <a:fillRect l="-912" t="-22222" b="-5556"/>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6"/>
              <p:cNvSpPr/>
              <p:nvPr/>
            </p:nvSpPr>
            <p:spPr>
              <a:xfrm>
                <a:off x="502920" y="2926080"/>
                <a:ext cx="576072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Admissibility </a:t>
                </a:r>
                <a14:m>
                  <m:oMath xmlns:m="http://schemas.openxmlformats.org/officeDocument/2006/math">
                    <m:r>
                      <a:rPr lang="en-US" sz="1400">
                        <a:latin typeface="Cambria Math"/>
                      </a:rPr>
                      <m:t>𝒜</m:t>
                    </m:r>
                    <m:r>
                      <a:rPr lang="en-US" sz="1400">
                        <a:latin typeface="Cambria Math"/>
                      </a:rPr>
                      <m:t>(</m:t>
                    </m:r>
                    <m:sSub>
                      <m:sSubPr>
                        <m:ctrlPr>
                          <a:rPr lang="en-US" i="1">
                            <a:latin typeface="Cambria Math" panose="02040503050406030204" pitchFamily="18" charset="0"/>
                          </a:rPr>
                        </m:ctrlPr>
                      </m:sSubPr>
                      <m:e>
                        <m:r>
                          <a:rPr lang="en-US" sz="1400">
                            <a:latin typeface="Cambria Math"/>
                          </a:rPr>
                          <m:t>𝑉</m:t>
                        </m:r>
                      </m:e>
                      <m:sub>
                        <m:r>
                          <a:rPr lang="en-US" sz="1400">
                            <a:latin typeface="Cambria Math"/>
                          </a:rPr>
                          <m:t>𝑘</m:t>
                        </m:r>
                      </m:sub>
                    </m:sSub>
                    <m:r>
                      <a:rPr lang="en-US" sz="1400">
                        <a:latin typeface="Cambria Math"/>
                      </a:rPr>
                      <m:t>)</m:t>
                    </m:r>
                  </m:oMath>
                </a14:m>
                <a:r>
                  <a:rPr lang="en-US" sz="1400" b="1" dirty="0">
                    <a:solidFill>
                      <a:srgbClr val="E31836"/>
                    </a:solidFill>
                    <a:latin typeface="Calibri" pitchFamily="34" charset="0"/>
                    <a:ea typeface="Calibri" pitchFamily="34" charset="-122"/>
                    <a:cs typeface="Calibri" pitchFamily="34" charset="-120"/>
                  </a:rPr>
                  <a:t> — six predicates, checked free (G1–G2d)</a:t>
                </a:r>
                <a:endParaRPr lang="en-US" sz="1400" dirty="0"/>
              </a:p>
            </p:txBody>
          </p:sp>
        </mc:Choice>
        <mc:Fallback xmlns="">
          <p:sp>
            <p:nvSpPr>
              <p:cNvPr id="10" name="Text 6"/>
              <p:cNvSpPr>
                <a:spLocks noRot="1" noChangeAspect="1" noMove="1" noResize="1" noEditPoints="1" noAdjustHandles="1" noChangeArrowheads="1" noChangeShapeType="1" noTextEdit="1"/>
              </p:cNvSpPr>
              <p:nvPr/>
            </p:nvSpPr>
            <p:spPr>
              <a:xfrm>
                <a:off x="502920" y="2926080"/>
                <a:ext cx="5760720" cy="292608"/>
              </a:xfrm>
              <a:prstGeom prst="rect">
                <a:avLst/>
              </a:prstGeom>
              <a:blipFill>
                <a:blip r:embed="rId7"/>
                <a:stretch>
                  <a:fillRect l="-1905" t="-6250" b="-22917"/>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7"/>
              <p:cNvSpPr/>
              <p:nvPr/>
            </p:nvSpPr>
            <p:spPr>
              <a:xfrm>
                <a:off x="502920" y="3273552"/>
                <a:ext cx="5760720" cy="3246120"/>
              </a:xfrm>
              <a:prstGeom prst="rect">
                <a:avLst/>
              </a:prstGeom>
              <a:noFill/>
              <a:ln/>
            </p:spPr>
            <p:txBody>
              <a:bodyPr wrap="square" lIns="0" tIns="0" rIns="0" bIns="0" rtlCol="0" anchor="t"/>
              <a:lstStyle/>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Format — </a:t>
                </a:r>
                <a:r>
                  <a:rPr lang="en-US" sz="1200" dirty="0">
                    <a:solidFill>
                      <a:srgbClr val="222222"/>
                    </a:solidFill>
                    <a:latin typeface="Calibri" pitchFamily="34" charset="0"/>
                    <a:ea typeface="Calibri" pitchFamily="34" charset="-122"/>
                    <a:cs typeface="Calibri" pitchFamily="34" charset="-120"/>
                  </a:rPr>
                  <a:t>c is one rule — or one package: a rule plus exactly one new object o that the rule must use. Anything else does not parse.</a:t>
                </a:r>
                <a:endParaRPr lang="en-US" sz="1200" dirty="0"/>
              </a:p>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Vocabulary — </a:t>
                </a:r>
                <a:r>
                  <a:rPr lang="en-US" sz="1200" dirty="0">
                    <a:solidFill>
                      <a:srgbClr val="222222"/>
                    </a:solidFill>
                    <a:latin typeface="Calibri" pitchFamily="34" charset="0"/>
                    <a:ea typeface="Calibri" pitchFamily="34" charset="-122"/>
                    <a:cs typeface="Calibri" pitchFamily="34" charset="-120"/>
                  </a:rPr>
                  <a:t>every name in c already exists in </a:t>
                </a:r>
                <a14:m>
                  <m:oMath xmlns:m="http://schemas.openxmlformats.org/officeDocument/2006/math">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oMath>
                </a14:m>
                <a:r>
                  <a:rPr lang="en-US" sz="1200" dirty="0">
                    <a:solidFill>
                      <a:srgbClr val="222222"/>
                    </a:solidFill>
                    <a:latin typeface="Calibri" pitchFamily="34" charset="0"/>
                    <a:ea typeface="Calibri" pitchFamily="34" charset="-122"/>
                    <a:cs typeface="Calibri" pitchFamily="34" charset="-120"/>
                  </a:rPr>
                  <a:t>: concepts, terms, interventions, effects, sectors. The space is closed at proposal time.</a:t>
                </a:r>
                <a:endParaRPr lang="en-US" sz="1200" dirty="0"/>
              </a:p>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Arity — </a:t>
                </a:r>
                <a:r>
                  <a:rPr lang="en-US" sz="1200" dirty="0">
                    <a:solidFill>
                      <a:srgbClr val="222222"/>
                    </a:solidFill>
                    <a:latin typeface="Calibri" pitchFamily="34" charset="0"/>
                    <a:ea typeface="Calibri" pitchFamily="34" charset="-122"/>
                    <a:cs typeface="Calibri" pitchFamily="34" charset="-120"/>
                  </a:rPr>
                  <a:t>at most 3 antecedents and at most 3 consequents or clauses.</a:t>
                </a:r>
                <a:endParaRPr lang="en-US" sz="1200" dirty="0"/>
              </a:p>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Relevance — </a:t>
                </a:r>
                <a:r>
                  <a:rPr lang="en-US" sz="1200" dirty="0">
                    <a:solidFill>
                      <a:srgbClr val="222222"/>
                    </a:solidFill>
                    <a:latin typeface="Calibri" pitchFamily="34" charset="0"/>
                    <a:ea typeface="Calibri" pitchFamily="34" charset="-122"/>
                    <a:cs typeface="Calibri" pitchFamily="34" charset="-120"/>
                  </a:rPr>
                  <a:t>every antecedent is active in the present situation </a:t>
                </a:r>
                <a14:m>
                  <m:oMath xmlns:m="http://schemas.openxmlformats.org/officeDocument/2006/math">
                    <m:sSub>
                      <m:sSubPr>
                        <m:ctrlPr>
                          <a:rPr lang="en-US" i="1">
                            <a:latin typeface="Cambria Math" panose="02040503050406030204" pitchFamily="18" charset="0"/>
                          </a:rPr>
                        </m:ctrlPr>
                      </m:sSubPr>
                      <m:e>
                        <m:r>
                          <a:rPr lang="en-US" sz="1200">
                            <a:latin typeface="Cambria Math"/>
                          </a:rPr>
                          <m:t>𝑠</m:t>
                        </m:r>
                      </m:e>
                      <m:sub>
                        <m:r>
                          <a:rPr lang="en-US" sz="1200">
                            <a:latin typeface="Cambria Math"/>
                          </a:rPr>
                          <m:t>𝑘</m:t>
                        </m:r>
                      </m:sub>
                    </m:sSub>
                  </m:oMath>
                </a14:m>
                <a:r>
                  <a:rPr lang="en-US" sz="1200" dirty="0">
                    <a:solidFill>
                      <a:srgbClr val="222222"/>
                    </a:solidFill>
                    <a:latin typeface="Calibri" pitchFamily="34" charset="0"/>
                    <a:ea typeface="Calibri" pitchFamily="34" charset="-122"/>
                    <a:cs typeface="Calibri" pitchFamily="34" charset="-120"/>
                  </a:rPr>
                  <a:t>; a rule written for an absent situation is rejected free of charge.</a:t>
                </a:r>
                <a:endParaRPr lang="en-US" sz="1200" dirty="0"/>
              </a:p>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Budget — </a:t>
                </a:r>
                <a:r>
                  <a:rPr lang="en-US" sz="1200" dirty="0">
                    <a:solidFill>
                      <a:srgbClr val="222222"/>
                    </a:solidFill>
                    <a:latin typeface="Calibri" pitchFamily="34" charset="0"/>
                    <a:ea typeface="Calibri" pitchFamily="34" charset="-122"/>
                    <a:cs typeface="Calibri" pitchFamily="34" charset="-120"/>
                  </a:rPr>
                  <a:t>the ordered physical work fits the standing resource allocation.</a:t>
                </a:r>
                <a:endParaRPr lang="en-US" sz="1200" dirty="0"/>
              </a:p>
              <a:p>
                <a:pPr marL="0" indent="0">
                  <a:lnSpc>
                    <a:spcPct val="103000"/>
                  </a:lnSpc>
                  <a:buNone/>
                </a:pPr>
                <a:r>
                  <a:rPr lang="en-US" sz="1200" b="1" dirty="0">
                    <a:solidFill>
                      <a:srgbClr val="E31836"/>
                    </a:solidFill>
                    <a:latin typeface="Calibri" pitchFamily="34" charset="0"/>
                    <a:ea typeface="Calibri" pitchFamily="34" charset="-122"/>
                    <a:cs typeface="Calibri" pitchFamily="34" charset="-120"/>
                  </a:rPr>
                  <a:t>Novelty — </a:t>
                </a:r>
                <a:r>
                  <a:rPr lang="en-US" sz="1200" dirty="0">
                    <a:solidFill>
                      <a:srgbClr val="222222"/>
                    </a:solidFill>
                    <a:latin typeface="Calibri" pitchFamily="34" charset="0"/>
                    <a:ea typeface="Calibri" pitchFamily="34" charset="-122"/>
                    <a:cs typeface="Calibri" pitchFamily="34" charset="-120"/>
                  </a:rPr>
                  <a:t>a new concept must satisfy </a:t>
                </a:r>
                <a14:m>
                  <m:oMath xmlns:m="http://schemas.openxmlformats.org/officeDocument/2006/math">
                    <m:r>
                      <a:rPr lang="en-US" sz="1200">
                        <a:latin typeface="Cambria Math"/>
                      </a:rPr>
                      <m:t>𝑐𝑜𝑠</m:t>
                    </m:r>
                    <m:r>
                      <a:rPr lang="en-US" sz="1200">
                        <a:latin typeface="Cambria Math"/>
                      </a:rPr>
                      <m:t>(</m:t>
                    </m:r>
                    <m:sSub>
                      <m:sSubPr>
                        <m:ctrlPr>
                          <a:rPr lang="en-US" i="1">
                            <a:latin typeface="Cambria Math" panose="02040503050406030204" pitchFamily="18" charset="0"/>
                          </a:rPr>
                        </m:ctrlPr>
                      </m:sSubPr>
                      <m:e>
                        <m:r>
                          <a:rPr lang="en-US" sz="1200">
                            <a:latin typeface="Cambria Math"/>
                          </a:rPr>
                          <m:t>𝜔</m:t>
                        </m:r>
                      </m:e>
                      <m:sub>
                        <m:r>
                          <a:rPr lang="en-US" sz="1200">
                            <a:latin typeface="Cambria Math"/>
                          </a:rPr>
                          <m:t>𝑛𝑒𝑤</m:t>
                        </m:r>
                      </m:sub>
                    </m:sSub>
                    <m:r>
                      <a:rPr lang="en-US" sz="1200">
                        <a:latin typeface="Cambria Math"/>
                      </a:rPr>
                      <m:t>, </m:t>
                    </m:r>
                    <m:sSub>
                      <m:sSubPr>
                        <m:ctrlPr>
                          <a:rPr lang="en-US" i="1">
                            <a:latin typeface="Cambria Math" panose="02040503050406030204" pitchFamily="18" charset="0"/>
                          </a:rPr>
                        </m:ctrlPr>
                      </m:sSubPr>
                      <m:e>
                        <m:r>
                          <a:rPr lang="en-US" sz="1200">
                            <a:latin typeface="Cambria Math"/>
                          </a:rPr>
                          <m:t>𝜔</m:t>
                        </m:r>
                      </m:e>
                      <m:sub>
                        <m:r>
                          <a:rPr lang="en-US" sz="1200">
                            <a:latin typeface="Cambria Math"/>
                          </a:rPr>
                          <m:t>𝑐</m:t>
                        </m:r>
                      </m:sub>
                    </m:sSub>
                    <m:r>
                      <a:rPr lang="en-US" sz="1200">
                        <a:latin typeface="Cambria Math"/>
                      </a:rPr>
                      <m:t>) &lt; 0.95</m:t>
                    </m:r>
                  </m:oMath>
                </a14:m>
                <a:r>
                  <a:rPr lang="en-US" sz="1200" dirty="0">
                    <a:solidFill>
                      <a:srgbClr val="222222"/>
                    </a:solidFill>
                    <a:latin typeface="Calibri" pitchFamily="34" charset="0"/>
                    <a:ea typeface="Calibri" pitchFamily="34" charset="-122"/>
                    <a:cs typeface="Calibri" pitchFamily="34" charset="-120"/>
                  </a:rPr>
                  <a:t> against every existing concept: no duplicate under a new name.</a:t>
                </a:r>
                <a:endParaRPr lang="en-US" sz="1200" dirty="0"/>
              </a:p>
            </p:txBody>
          </p:sp>
        </mc:Choice>
        <mc:Fallback xmlns="">
          <p:sp>
            <p:nvSpPr>
              <p:cNvPr id="11" name="Text 7"/>
              <p:cNvSpPr>
                <a:spLocks noRot="1" noChangeAspect="1" noMove="1" noResize="1" noEditPoints="1" noAdjustHandles="1" noChangeArrowheads="1" noChangeShapeType="1" noTextEdit="1"/>
              </p:cNvSpPr>
              <p:nvPr/>
            </p:nvSpPr>
            <p:spPr>
              <a:xfrm>
                <a:off x="502920" y="3273552"/>
                <a:ext cx="5760720" cy="3246120"/>
              </a:xfrm>
              <a:prstGeom prst="rect">
                <a:avLst/>
              </a:prstGeom>
              <a:blipFill>
                <a:blip r:embed="rId8"/>
                <a:stretch>
                  <a:fillRect l="-1693" t="-1501" r="-423"/>
                </a:stretch>
              </a:blipFill>
              <a:ln/>
            </p:spPr>
            <p:txBody>
              <a:bodyPr/>
              <a:lstStyle/>
              <a:p>
                <a:r>
                  <a:rPr lang="tr-TR">
                    <a:noFill/>
                  </a:rPr>
                  <a:t/>
                </a:r>
              </a:p>
            </p:txBody>
          </p:sp>
        </mc:Fallback>
      </mc:AlternateContent>
      <p:sp>
        <p:nvSpPr>
          <p:cNvPr id="12" name="Text 8"/>
          <p:cNvSpPr/>
          <p:nvPr/>
        </p:nvSpPr>
        <p:spPr>
          <a:xfrm>
            <a:off x="6537960" y="2926080"/>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Why the budget forbids brute force</a:t>
            </a:r>
            <a:endParaRPr lang="en-US" sz="1400" dirty="0"/>
          </a:p>
        </p:txBody>
      </p:sp>
      <p:sp>
        <p:nvSpPr>
          <p:cNvPr id="13" name="Shape 9"/>
          <p:cNvSpPr/>
          <p:nvPr/>
        </p:nvSpPr>
        <p:spPr>
          <a:xfrm>
            <a:off x="6537960" y="3273552"/>
            <a:ext cx="5212080" cy="932688"/>
          </a:xfrm>
          <a:prstGeom prst="roundRect">
            <a:avLst>
              <a:gd name="adj" fmla="val 4902"/>
            </a:avLst>
          </a:prstGeom>
          <a:solidFill>
            <a:srgbClr val="F2F2F2"/>
          </a:solidFill>
          <a:ln/>
        </p:spPr>
      </p:sp>
      <p:sp>
        <p:nvSpPr>
          <p:cNvPr id="14" name="Text 10"/>
          <p:cNvSpPr/>
          <p:nvPr/>
        </p:nvSpPr>
        <p:spPr>
          <a:xfrm>
            <a:off x="6720840" y="3364992"/>
            <a:ext cx="4846320" cy="786384"/>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Rule space — </a:t>
            </a:r>
            <a:r>
              <a:rPr lang="en-US" sz="1200" dirty="0">
                <a:solidFill>
                  <a:srgbClr val="222222"/>
                </a:solidFill>
                <a:latin typeface="Calibri" pitchFamily="34" charset="0"/>
                <a:ea typeface="Calibri" pitchFamily="34" charset="-122"/>
                <a:cs typeface="Calibri" pitchFamily="34" charset="-120"/>
              </a:rPr>
              <a:t>the antecedent cells alone (up to 3 of 5 concepts, 5–6 terms each) number ≈ 1 500–2 500; each cell then carries continuous intensities on up to 3 of 6 families.</a:t>
            </a:r>
            <a:endParaRPr lang="en-US" sz="1200" dirty="0"/>
          </a:p>
        </p:txBody>
      </p:sp>
      <p:sp>
        <p:nvSpPr>
          <p:cNvPr id="15" name="Shape 11"/>
          <p:cNvSpPr/>
          <p:nvPr/>
        </p:nvSpPr>
        <p:spPr>
          <a:xfrm>
            <a:off x="6537960" y="4297680"/>
            <a:ext cx="5212080" cy="932688"/>
          </a:xfrm>
          <a:prstGeom prst="roundRect">
            <a:avLst>
              <a:gd name="adj" fmla="val 4902"/>
            </a:avLst>
          </a:prstGeom>
          <a:solidFill>
            <a:srgbClr val="F2F2F2"/>
          </a:solidFill>
          <a:ln/>
        </p:spPr>
      </p:sp>
      <p:sp>
        <p:nvSpPr>
          <p:cNvPr id="16" name="Text 12"/>
          <p:cNvSpPr/>
          <p:nvPr/>
        </p:nvSpPr>
        <p:spPr>
          <a:xfrm>
            <a:off x="6720840" y="4389120"/>
            <a:ext cx="4846320" cy="786384"/>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Actuator space — </a:t>
            </a:r>
            <a:r>
              <a:rPr lang="en-US" sz="1200" dirty="0">
                <a:solidFill>
                  <a:srgbClr val="222222"/>
                </a:solidFill>
                <a:latin typeface="Calibri" pitchFamily="34" charset="0"/>
                <a:ea typeface="Calibri" pitchFamily="34" charset="-122"/>
                <a:cs typeface="Calibri" pitchFamily="34" charset="-120"/>
              </a:rPr>
              <a:t>up to 3 clauses, each 7 effects × 7 sectors × a range band × a dose: the structural choices alone run into the millions before any continuous parameter is set.</a:t>
            </a:r>
            <a:endParaRPr lang="en-US" sz="1200" dirty="0"/>
          </a:p>
        </p:txBody>
      </p:sp>
      <p:sp>
        <p:nvSpPr>
          <p:cNvPr id="17" name="Shape 13"/>
          <p:cNvSpPr/>
          <p:nvPr/>
        </p:nvSpPr>
        <p:spPr>
          <a:xfrm>
            <a:off x="6537960" y="5321808"/>
            <a:ext cx="5212080" cy="1197864"/>
          </a:xfrm>
          <a:prstGeom prst="roundRect">
            <a:avLst>
              <a:gd name="adj" fmla="val 3817"/>
            </a:avLst>
          </a:prstGeom>
          <a:solidFill>
            <a:srgbClr val="FDE8EB"/>
          </a:solidFill>
          <a:ln/>
        </p:spPr>
      </p:sp>
      <mc:AlternateContent xmlns:mc="http://schemas.openxmlformats.org/markup-compatibility/2006" xmlns:a14="http://schemas.microsoft.com/office/drawing/2010/main">
        <mc:Choice Requires="a14">
          <p:sp>
            <p:nvSpPr>
              <p:cNvPr id="18" name="Text 14"/>
              <p:cNvSpPr/>
              <p:nvPr/>
            </p:nvSpPr>
            <p:spPr>
              <a:xfrm>
                <a:off x="6720840" y="5431536"/>
                <a:ext cx="4846320" cy="1024128"/>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Black-box objective — </a:t>
                </a:r>
                <a14:m>
                  <m:oMath xmlns:m="http://schemas.openxmlformats.org/officeDocument/2006/math">
                    <m:r>
                      <a:rPr lang="en-US" sz="1200">
                        <a:latin typeface="Cambria Math"/>
                      </a:rPr>
                      <m:t>𝛥</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200">
                                <a:latin typeface="Cambria Math"/>
                              </a:rPr>
                              <m:t>𝐽</m:t>
                            </m:r>
                          </m:e>
                        </m:acc>
                      </m:e>
                      <m:sub>
                        <m:r>
                          <a:rPr lang="en-US" sz="1200">
                            <a:latin typeface="Cambria Math"/>
                          </a:rPr>
                          <m:t>𝑃h𝑦</m:t>
                        </m:r>
                      </m:sub>
                    </m:sSub>
                    <m:r>
                      <a:rPr lang="en-US" sz="1200">
                        <a:latin typeface="Cambria Math"/>
                      </a:rPr>
                      <m:t>(</m:t>
                    </m:r>
                    <m:r>
                      <a:rPr lang="en-US" sz="1200">
                        <a:latin typeface="Cambria Math"/>
                      </a:rPr>
                      <m:t>𝑐</m:t>
                    </m:r>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 has no closed form: fire growth, crews and weather interact only through the simulation core. The sole oracle is a rollout — and it may be consulted twice per cycle.</a:t>
                </a:r>
                <a:endParaRPr lang="en-US" sz="1200" dirty="0"/>
              </a:p>
            </p:txBody>
          </p:sp>
        </mc:Choice>
        <mc:Fallback xmlns="">
          <p:sp>
            <p:nvSpPr>
              <p:cNvPr id="18" name="Text 14"/>
              <p:cNvSpPr>
                <a:spLocks noRot="1" noChangeAspect="1" noMove="1" noResize="1" noEditPoints="1" noAdjustHandles="1" noChangeArrowheads="1" noChangeShapeType="1" noTextEdit="1"/>
              </p:cNvSpPr>
              <p:nvPr/>
            </p:nvSpPr>
            <p:spPr>
              <a:xfrm>
                <a:off x="6720840" y="5431536"/>
                <a:ext cx="4846320" cy="1024128"/>
              </a:xfrm>
              <a:prstGeom prst="rect">
                <a:avLst/>
              </a:prstGeom>
              <a:blipFill>
                <a:blip r:embed="rId9"/>
                <a:stretch>
                  <a:fillRect l="-2013" t="-7738" r="-1132"/>
                </a:stretch>
              </a:blipFill>
              <a:ln/>
            </p:spPr>
            <p:txBody>
              <a:bodyPr/>
              <a:lstStyle/>
              <a:p>
                <a:r>
                  <a:rPr lang="tr-TR">
                    <a:noFill/>
                  </a:rPr>
                  <a:t/>
                </a:r>
              </a:p>
            </p:txBody>
          </p:sp>
        </mc:Fallback>
      </mc:AlternateContent>
      <p:sp>
        <p:nvSpPr>
          <p:cNvPr id="90006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65 / 113</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The Algorithm — Propose, Screen, Forecast, Accept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261872"/>
            <a:ext cx="630936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One invocation per triggering cycle</a:t>
            </a:r>
            <a:endParaRPr lang="en-US" sz="1400" dirty="0"/>
          </a:p>
        </p:txBody>
      </p:sp>
      <p:sp>
        <p:nvSpPr>
          <p:cNvPr id="7" name="Shape 3"/>
          <p:cNvSpPr/>
          <p:nvPr/>
        </p:nvSpPr>
        <p:spPr>
          <a:xfrm>
            <a:off x="457200" y="1609344"/>
            <a:ext cx="6309360" cy="786384"/>
          </a:xfrm>
          <a:prstGeom prst="roundRect">
            <a:avLst>
              <a:gd name="adj" fmla="val 5814"/>
            </a:avLst>
          </a:prstGeom>
          <a:solidFill>
            <a:srgbClr val="F2F2F2"/>
          </a:solidFill>
          <a:ln/>
        </p:spPr>
      </p:sp>
      <p:sp>
        <p:nvSpPr>
          <p:cNvPr id="8" name="Text 4"/>
          <p:cNvSpPr/>
          <p:nvPr/>
        </p:nvSpPr>
        <p:spPr>
          <a:xfrm>
            <a:off x="621792" y="1764792"/>
            <a:ext cx="384048" cy="457200"/>
          </a:xfrm>
          <a:prstGeom prst="rect">
            <a:avLst/>
          </a:prstGeom>
          <a:noFill/>
          <a:ln/>
        </p:spPr>
        <p:txBody>
          <a:bodyPr wrap="square" lIns="0" tIns="0" rIns="0" bIns="0" rtlCol="0" anchor="ctr"/>
          <a:lstStyle/>
          <a:p>
            <a:pPr marL="0" indent="0">
              <a:buNone/>
            </a:pPr>
            <a:r>
              <a:rPr lang="en-US" sz="2100" b="1" dirty="0">
                <a:solidFill>
                  <a:srgbClr val="E31836"/>
                </a:solidFill>
                <a:latin typeface="Cambria" pitchFamily="34" charset="0"/>
                <a:ea typeface="Cambria" pitchFamily="34" charset="-122"/>
                <a:cs typeface="Cambria" pitchFamily="34" charset="-120"/>
              </a:rPr>
              <a:t>1</a:t>
            </a:r>
            <a:endParaRPr lang="en-US" sz="2100" dirty="0"/>
          </a:p>
        </p:txBody>
      </p:sp>
      <mc:AlternateContent xmlns:mc="http://schemas.openxmlformats.org/markup-compatibility/2006" xmlns:a14="http://schemas.microsoft.com/office/drawing/2010/main">
        <mc:Choice Requires="a14">
          <p:sp>
            <p:nvSpPr>
              <p:cNvPr id="9" name="Text 5"/>
              <p:cNvSpPr/>
              <p:nvPr/>
            </p:nvSpPr>
            <p:spPr>
              <a:xfrm>
                <a:off x="1115568" y="1682496"/>
                <a:ext cx="5504688" cy="658368"/>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Summarize — </a:t>
                </a:r>
                <a:r>
                  <a:rPr lang="en-US" sz="1200" dirty="0">
                    <a:solidFill>
                      <a:srgbClr val="222222"/>
                    </a:solidFill>
                    <a:latin typeface="Calibri" pitchFamily="34" charset="0"/>
                    <a:ea typeface="Calibri" pitchFamily="34" charset="-122"/>
                    <a:cs typeface="Calibri" pitchFamily="34" charset="-120"/>
                  </a:rPr>
                  <a:t>build the deterministic prompt: the situation </a:t>
                </a:r>
                <a14:m>
                  <m:oMath xmlns:m="http://schemas.openxmlformats.org/officeDocument/2006/math">
                    <m:sSub>
                      <m:sSubPr>
                        <m:ctrlPr>
                          <a:rPr lang="en-US" i="1">
                            <a:latin typeface="Cambria Math" panose="02040503050406030204" pitchFamily="18" charset="0"/>
                          </a:rPr>
                        </m:ctrlPr>
                      </m:sSubPr>
                      <m:e>
                        <m:r>
                          <a:rPr lang="en-US" sz="1200">
                            <a:latin typeface="Cambria Math"/>
                          </a:rPr>
                          <m:t>𝑠</m:t>
                        </m:r>
                      </m:e>
                      <m:sub>
                        <m:r>
                          <a:rPr lang="en-US" sz="1200">
                            <a:latin typeface="Cambria Math"/>
                          </a:rPr>
                          <m:t>𝑘</m:t>
                        </m:r>
                      </m:sub>
                    </m:sSub>
                  </m:oMath>
                </a14:m>
                <a:r>
                  <a:rPr lang="en-US" sz="1200" dirty="0">
                    <a:solidFill>
                      <a:srgbClr val="222222"/>
                    </a:solidFill>
                    <a:latin typeface="Calibri" pitchFamily="34" charset="0"/>
                    <a:ea typeface="Calibri" pitchFamily="34" charset="-122"/>
                    <a:cs typeface="Calibri" pitchFamily="34" charset="-120"/>
                  </a:rPr>
                  <a:t> — gated activations, confidences, the recent cost trajectory, where residual cost sits on the map — plus the full vocabulary </a:t>
                </a:r>
                <a14:m>
                  <m:oMath xmlns:m="http://schemas.openxmlformats.org/officeDocument/2006/math">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oMath>
                </a14:m>
                <a:r>
                  <a:rPr lang="en-US" sz="1200" dirty="0">
                    <a:solidFill>
                      <a:srgbClr val="222222"/>
                    </a:solidFill>
                    <a:latin typeface="Calibri" pitchFamily="34" charset="0"/>
                    <a:ea typeface="Calibri" pitchFamily="34" charset="-122"/>
                    <a:cs typeface="Calibri" pitchFamily="34" charset="-120"/>
                  </a:rPr>
                  <a:t> and the actuator library with availability flags.</a:t>
                </a:r>
                <a:endParaRPr lang="en-US" sz="1200" dirty="0"/>
              </a:p>
            </p:txBody>
          </p:sp>
        </mc:Choice>
        <mc:Fallback xmlns="">
          <p:sp>
            <p:nvSpPr>
              <p:cNvPr id="9" name="Text 5"/>
              <p:cNvSpPr>
                <a:spLocks noRot="1" noChangeAspect="1" noMove="1" noResize="1" noEditPoints="1" noAdjustHandles="1" noChangeArrowheads="1" noChangeShapeType="1" noTextEdit="1"/>
              </p:cNvSpPr>
              <p:nvPr/>
            </p:nvSpPr>
            <p:spPr>
              <a:xfrm>
                <a:off x="1115568" y="1682496"/>
                <a:ext cx="5504688" cy="658368"/>
              </a:xfrm>
              <a:prstGeom prst="rect">
                <a:avLst/>
              </a:prstGeom>
              <a:blipFill>
                <a:blip r:embed="rId5"/>
                <a:stretch>
                  <a:fillRect l="-1661" b="-23148"/>
                </a:stretch>
              </a:blipFill>
              <a:ln/>
            </p:spPr>
            <p:txBody>
              <a:bodyPr/>
              <a:lstStyle/>
              <a:p>
                <a:r>
                  <a:rPr lang="tr-TR">
                    <a:noFill/>
                  </a:rPr>
                  <a:t/>
                </a:r>
              </a:p>
            </p:txBody>
          </p:sp>
        </mc:Fallback>
      </mc:AlternateContent>
      <p:sp>
        <p:nvSpPr>
          <p:cNvPr id="10" name="Shape 6"/>
          <p:cNvSpPr/>
          <p:nvPr/>
        </p:nvSpPr>
        <p:spPr>
          <a:xfrm>
            <a:off x="457200" y="2468880"/>
            <a:ext cx="6309360" cy="658368"/>
          </a:xfrm>
          <a:prstGeom prst="roundRect">
            <a:avLst>
              <a:gd name="adj" fmla="val 6944"/>
            </a:avLst>
          </a:prstGeom>
          <a:solidFill>
            <a:srgbClr val="F2F2F2"/>
          </a:solidFill>
          <a:ln/>
        </p:spPr>
      </p:sp>
      <p:sp>
        <p:nvSpPr>
          <p:cNvPr id="11" name="Text 7"/>
          <p:cNvSpPr/>
          <p:nvPr/>
        </p:nvSpPr>
        <p:spPr>
          <a:xfrm>
            <a:off x="621792" y="2560320"/>
            <a:ext cx="384048" cy="457200"/>
          </a:xfrm>
          <a:prstGeom prst="rect">
            <a:avLst/>
          </a:prstGeom>
          <a:noFill/>
          <a:ln/>
        </p:spPr>
        <p:txBody>
          <a:bodyPr wrap="square" lIns="0" tIns="0" rIns="0" bIns="0" rtlCol="0" anchor="ctr"/>
          <a:lstStyle/>
          <a:p>
            <a:pPr marL="0" indent="0">
              <a:buNone/>
            </a:pPr>
            <a:r>
              <a:rPr lang="en-US" sz="2100" b="1" dirty="0">
                <a:solidFill>
                  <a:srgbClr val="E31836"/>
                </a:solidFill>
                <a:latin typeface="Cambria" pitchFamily="34" charset="0"/>
                <a:ea typeface="Cambria" pitchFamily="34" charset="-122"/>
                <a:cs typeface="Cambria" pitchFamily="34" charset="-120"/>
              </a:rPr>
              <a:t>2</a:t>
            </a:r>
            <a:endParaRPr lang="en-US" sz="2100" dirty="0"/>
          </a:p>
        </p:txBody>
      </p:sp>
      <mc:AlternateContent xmlns:mc="http://schemas.openxmlformats.org/markup-compatibility/2006" xmlns:a14="http://schemas.microsoft.com/office/drawing/2010/main">
        <mc:Choice Requires="a14">
          <p:sp>
            <p:nvSpPr>
              <p:cNvPr id="12" name="Text 8"/>
              <p:cNvSpPr/>
              <p:nvPr/>
            </p:nvSpPr>
            <p:spPr>
              <a:xfrm>
                <a:off x="1115568" y="2542032"/>
                <a:ext cx="5504688" cy="530352"/>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Propose — </a:t>
                </a:r>
                <a:r>
                  <a:rPr lang="en-US" sz="1200" dirty="0">
                    <a:solidFill>
                      <a:srgbClr val="222222"/>
                    </a:solidFill>
                    <a:latin typeface="Calibri" pitchFamily="34" charset="0"/>
                    <a:ea typeface="Calibri" pitchFamily="34" charset="-122"/>
                    <a:cs typeface="Calibri" pitchFamily="34" charset="-120"/>
                  </a:rPr>
                  <a:t>draw one candidate </a:t>
                </a:r>
                <a14:m>
                  <m:oMath xmlns:m="http://schemas.openxmlformats.org/officeDocument/2006/math">
                    <m:r>
                      <a:rPr lang="en-US" sz="1200">
                        <a:latin typeface="Cambria Math"/>
                      </a:rPr>
                      <m:t>𝑐</m:t>
                    </m:r>
                    <m:r>
                      <a:rPr lang="en-US" sz="1200">
                        <a:latin typeface="Cambria Math"/>
                      </a:rPr>
                      <m:t>∼</m:t>
                    </m:r>
                    <m:r>
                      <a:rPr lang="en-US" sz="1200">
                        <a:latin typeface="Cambria Math"/>
                      </a:rPr>
                      <m:t>𝑞</m:t>
                    </m:r>
                    <m:r>
                      <a:rPr lang="en-US" sz="1200">
                        <a:latin typeface="Cambria Math"/>
                      </a:rPr>
                      <m:t>(</m:t>
                    </m:r>
                    <m:r>
                      <a:rPr lang="en-US" sz="1200">
                        <a:latin typeface="Cambria Math"/>
                      </a:rPr>
                      <m:t>𝑐</m:t>
                    </m:r>
                    <m:r>
                      <a:rPr lang="en-US" sz="1200">
                        <a:latin typeface="Cambria Math"/>
                      </a:rPr>
                      <m:t>∣</m:t>
                    </m:r>
                    <m:sSub>
                      <m:sSubPr>
                        <m:ctrlPr>
                          <a:rPr lang="en-US" i="1">
                            <a:latin typeface="Cambria Math" panose="02040503050406030204" pitchFamily="18" charset="0"/>
                          </a:rPr>
                        </m:ctrlPr>
                      </m:sSubPr>
                      <m:e>
                        <m:r>
                          <a:rPr lang="en-US" sz="1200">
                            <a:latin typeface="Cambria Math"/>
                          </a:rPr>
                          <m:t>𝑠</m:t>
                        </m:r>
                      </m:e>
                      <m:sub>
                        <m:r>
                          <a:rPr lang="en-US" sz="1200">
                            <a:latin typeface="Cambria Math"/>
                          </a:rPr>
                          <m:t>𝑘</m:t>
                        </m:r>
                      </m:sub>
                    </m:sSub>
                    <m:r>
                      <a:rPr lang="en-US" sz="1200">
                        <a:latin typeface="Cambria Math"/>
                      </a:rPr>
                      <m:t>, </m:t>
                    </m:r>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 one JSON rule, or one package with exactly one new object. The reply has no authority.</a:t>
                </a:r>
                <a:endParaRPr lang="en-US" sz="1200" dirty="0"/>
              </a:p>
            </p:txBody>
          </p:sp>
        </mc:Choice>
        <mc:Fallback xmlns="">
          <p:sp>
            <p:nvSpPr>
              <p:cNvPr id="12" name="Text 8"/>
              <p:cNvSpPr>
                <a:spLocks noRot="1" noChangeAspect="1" noMove="1" noResize="1" noEditPoints="1" noAdjustHandles="1" noChangeArrowheads="1" noChangeShapeType="1" noTextEdit="1"/>
              </p:cNvSpPr>
              <p:nvPr/>
            </p:nvSpPr>
            <p:spPr>
              <a:xfrm>
                <a:off x="1115568" y="2542032"/>
                <a:ext cx="5504688" cy="530352"/>
              </a:xfrm>
              <a:prstGeom prst="rect">
                <a:avLst/>
              </a:prstGeom>
              <a:blipFill>
                <a:blip r:embed="rId6"/>
                <a:stretch>
                  <a:fillRect l="-1661" t="-9195"/>
                </a:stretch>
              </a:blipFill>
              <a:ln/>
            </p:spPr>
            <p:txBody>
              <a:bodyPr/>
              <a:lstStyle/>
              <a:p>
                <a:r>
                  <a:rPr lang="tr-TR">
                    <a:noFill/>
                  </a:rPr>
                  <a:t/>
                </a:r>
              </a:p>
            </p:txBody>
          </p:sp>
        </mc:Fallback>
      </mc:AlternateContent>
      <p:sp>
        <p:nvSpPr>
          <p:cNvPr id="13" name="Shape 9"/>
          <p:cNvSpPr/>
          <p:nvPr/>
        </p:nvSpPr>
        <p:spPr>
          <a:xfrm>
            <a:off x="457200" y="3200400"/>
            <a:ext cx="6309360" cy="786384"/>
          </a:xfrm>
          <a:prstGeom prst="roundRect">
            <a:avLst>
              <a:gd name="adj" fmla="val 5814"/>
            </a:avLst>
          </a:prstGeom>
          <a:solidFill>
            <a:srgbClr val="F2F2F2"/>
          </a:solidFill>
          <a:ln/>
        </p:spPr>
      </p:sp>
      <p:sp>
        <p:nvSpPr>
          <p:cNvPr id="14" name="Text 10"/>
          <p:cNvSpPr/>
          <p:nvPr/>
        </p:nvSpPr>
        <p:spPr>
          <a:xfrm>
            <a:off x="621792" y="3355848"/>
            <a:ext cx="384048" cy="457200"/>
          </a:xfrm>
          <a:prstGeom prst="rect">
            <a:avLst/>
          </a:prstGeom>
          <a:noFill/>
          <a:ln/>
        </p:spPr>
        <p:txBody>
          <a:bodyPr wrap="square" lIns="0" tIns="0" rIns="0" bIns="0" rtlCol="0" anchor="ctr"/>
          <a:lstStyle/>
          <a:p>
            <a:pPr marL="0" indent="0">
              <a:buNone/>
            </a:pPr>
            <a:r>
              <a:rPr lang="en-US" sz="2100" b="1" dirty="0">
                <a:solidFill>
                  <a:srgbClr val="E31836"/>
                </a:solidFill>
                <a:latin typeface="Cambria" pitchFamily="34" charset="0"/>
                <a:ea typeface="Cambria" pitchFamily="34" charset="-122"/>
                <a:cs typeface="Cambria" pitchFamily="34" charset="-120"/>
              </a:rPr>
              <a:t>3</a:t>
            </a:r>
            <a:endParaRPr lang="en-US" sz="2100" dirty="0"/>
          </a:p>
        </p:txBody>
      </p:sp>
      <mc:AlternateContent xmlns:mc="http://schemas.openxmlformats.org/markup-compatibility/2006" xmlns:a14="http://schemas.microsoft.com/office/drawing/2010/main">
        <mc:Choice Requires="a14">
          <p:sp>
            <p:nvSpPr>
              <p:cNvPr id="15" name="Text 11"/>
              <p:cNvSpPr/>
              <p:nvPr/>
            </p:nvSpPr>
            <p:spPr>
              <a:xfrm>
                <a:off x="1115568" y="3273552"/>
                <a:ext cx="5504688" cy="658368"/>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Screen at zero cost — </a:t>
                </a:r>
                <a:r>
                  <a:rPr lang="en-US" sz="1200" dirty="0">
                    <a:solidFill>
                      <a:srgbClr val="222222"/>
                    </a:solidFill>
                    <a:latin typeface="Calibri" pitchFamily="34" charset="0"/>
                    <a:ea typeface="Calibri" pitchFamily="34" charset="-122"/>
                    <a:cs typeface="Calibri" pitchFamily="34" charset="-120"/>
                  </a:rPr>
                  <a:t>check the six predicates of </a:t>
                </a:r>
                <a14:m>
                  <m:oMath xmlns:m="http://schemas.openxmlformats.org/officeDocument/2006/math">
                    <m:r>
                      <a:rPr lang="en-US" sz="1200">
                        <a:latin typeface="Cambria Math"/>
                      </a:rPr>
                      <m:t>𝒜</m:t>
                    </m:r>
                    <m:r>
                      <a:rPr lang="en-US" sz="1200">
                        <a:latin typeface="Cambria Math"/>
                      </a:rPr>
                      <m:t>(</m:t>
                    </m:r>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 (gates G1–G2d). A failure is returned with the failing gate named, for a bounded number of revisions; no simulation is spent.</a:t>
                </a:r>
                <a:endParaRPr lang="en-US" sz="1200" dirty="0"/>
              </a:p>
            </p:txBody>
          </p:sp>
        </mc:Choice>
        <mc:Fallback xmlns="">
          <p:sp>
            <p:nvSpPr>
              <p:cNvPr id="15" name="Text 11"/>
              <p:cNvSpPr>
                <a:spLocks noRot="1" noChangeAspect="1" noMove="1" noResize="1" noEditPoints="1" noAdjustHandles="1" noChangeArrowheads="1" noChangeShapeType="1" noTextEdit="1"/>
              </p:cNvSpPr>
              <p:nvPr/>
            </p:nvSpPr>
            <p:spPr>
              <a:xfrm>
                <a:off x="1115568" y="3273552"/>
                <a:ext cx="5504688" cy="658368"/>
              </a:xfrm>
              <a:prstGeom prst="rect">
                <a:avLst/>
              </a:prstGeom>
              <a:blipFill>
                <a:blip r:embed="rId7"/>
                <a:stretch>
                  <a:fillRect l="-1661" t="-7407" r="-332"/>
                </a:stretch>
              </a:blipFill>
              <a:ln/>
            </p:spPr>
            <p:txBody>
              <a:bodyPr/>
              <a:lstStyle/>
              <a:p>
                <a:r>
                  <a:rPr lang="tr-TR">
                    <a:noFill/>
                  </a:rPr>
                  <a:t/>
                </a:r>
              </a:p>
            </p:txBody>
          </p:sp>
        </mc:Fallback>
      </mc:AlternateContent>
      <p:sp>
        <p:nvSpPr>
          <p:cNvPr id="16" name="Shape 12"/>
          <p:cNvSpPr/>
          <p:nvPr/>
        </p:nvSpPr>
        <p:spPr>
          <a:xfrm>
            <a:off x="457200" y="4059936"/>
            <a:ext cx="6309360" cy="658368"/>
          </a:xfrm>
          <a:prstGeom prst="roundRect">
            <a:avLst>
              <a:gd name="adj" fmla="val 6944"/>
            </a:avLst>
          </a:prstGeom>
          <a:solidFill>
            <a:srgbClr val="F2F2F2"/>
          </a:solidFill>
          <a:ln/>
        </p:spPr>
      </p:sp>
      <p:sp>
        <p:nvSpPr>
          <p:cNvPr id="17" name="Text 13"/>
          <p:cNvSpPr/>
          <p:nvPr/>
        </p:nvSpPr>
        <p:spPr>
          <a:xfrm>
            <a:off x="621792" y="4151376"/>
            <a:ext cx="384048" cy="457200"/>
          </a:xfrm>
          <a:prstGeom prst="rect">
            <a:avLst/>
          </a:prstGeom>
          <a:noFill/>
          <a:ln/>
        </p:spPr>
        <p:txBody>
          <a:bodyPr wrap="square" lIns="0" tIns="0" rIns="0" bIns="0" rtlCol="0" anchor="ctr"/>
          <a:lstStyle/>
          <a:p>
            <a:pPr marL="0" indent="0">
              <a:buNone/>
            </a:pPr>
            <a:r>
              <a:rPr lang="en-US" sz="2100" b="1" dirty="0">
                <a:solidFill>
                  <a:srgbClr val="E31836"/>
                </a:solidFill>
                <a:latin typeface="Cambria" pitchFamily="34" charset="0"/>
                <a:ea typeface="Cambria" pitchFamily="34" charset="-122"/>
                <a:cs typeface="Cambria" pitchFamily="34" charset="-120"/>
              </a:rPr>
              <a:t>4</a:t>
            </a:r>
            <a:endParaRPr lang="en-US" sz="2100" dirty="0"/>
          </a:p>
        </p:txBody>
      </p:sp>
      <mc:AlternateContent xmlns:mc="http://schemas.openxmlformats.org/markup-compatibility/2006" xmlns:a14="http://schemas.microsoft.com/office/drawing/2010/main">
        <mc:Choice Requires="a14">
          <p:sp>
            <p:nvSpPr>
              <p:cNvPr id="18" name="Text 14"/>
              <p:cNvSpPr/>
              <p:nvPr/>
            </p:nvSpPr>
            <p:spPr>
              <a:xfrm>
                <a:off x="1115568" y="4133088"/>
                <a:ext cx="5504688" cy="530352"/>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Forecast — </a:t>
                </a:r>
                <a:r>
                  <a:rPr lang="en-US" sz="1200" dirty="0">
                    <a:solidFill>
                      <a:srgbClr val="222222"/>
                    </a:solidFill>
                    <a:latin typeface="Calibri" pitchFamily="34" charset="0"/>
                    <a:ea typeface="Calibri" pitchFamily="34" charset="-122"/>
                    <a:cs typeface="Calibri" pitchFamily="34" charset="-120"/>
                  </a:rPr>
                  <a:t>spend the budget: two reseeded rollouts on independent seeds a and b (gates G3–G4) — the only evaluations of </a:t>
                </a:r>
                <a14:m>
                  <m:oMath xmlns:m="http://schemas.openxmlformats.org/officeDocument/2006/math">
                    <m:r>
                      <a:rPr lang="en-US" sz="1200">
                        <a:latin typeface="Cambria Math"/>
                      </a:rPr>
                      <m:t>𝛥</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200">
                                <a:latin typeface="Cambria Math"/>
                              </a:rPr>
                              <m:t>𝐽</m:t>
                            </m:r>
                          </m:e>
                        </m:acc>
                      </m:e>
                      <m:sub>
                        <m:r>
                          <a:rPr lang="en-US" sz="1200">
                            <a:latin typeface="Cambria Math"/>
                          </a:rPr>
                          <m:t>𝑃h𝑦</m:t>
                        </m:r>
                      </m:sub>
                    </m:sSub>
                    <m:r>
                      <a:rPr lang="en-US" sz="1200">
                        <a:latin typeface="Cambria Math"/>
                      </a:rPr>
                      <m:t>(</m:t>
                    </m:r>
                    <m:r>
                      <a:rPr lang="en-US" sz="1200">
                        <a:latin typeface="Cambria Math"/>
                      </a:rPr>
                      <m:t>𝑐</m:t>
                    </m:r>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a:t>
                </a:r>
                <a:endParaRPr lang="en-US" sz="1200" dirty="0"/>
              </a:p>
            </p:txBody>
          </p:sp>
        </mc:Choice>
        <mc:Fallback xmlns="">
          <p:sp>
            <p:nvSpPr>
              <p:cNvPr id="18" name="Text 14"/>
              <p:cNvSpPr>
                <a:spLocks noRot="1" noChangeAspect="1" noMove="1" noResize="1" noEditPoints="1" noAdjustHandles="1" noChangeArrowheads="1" noChangeShapeType="1" noTextEdit="1"/>
              </p:cNvSpPr>
              <p:nvPr/>
            </p:nvSpPr>
            <p:spPr>
              <a:xfrm>
                <a:off x="1115568" y="4133088"/>
                <a:ext cx="5504688" cy="530352"/>
              </a:xfrm>
              <a:prstGeom prst="rect">
                <a:avLst/>
              </a:prstGeom>
              <a:blipFill>
                <a:blip r:embed="rId8"/>
                <a:stretch>
                  <a:fillRect l="-1661" t="-9195"/>
                </a:stretch>
              </a:blipFill>
              <a:ln/>
            </p:spPr>
            <p:txBody>
              <a:bodyPr/>
              <a:lstStyle/>
              <a:p>
                <a:r>
                  <a:rPr lang="tr-TR">
                    <a:noFill/>
                  </a:rPr>
                  <a:t/>
                </a:r>
              </a:p>
            </p:txBody>
          </p:sp>
        </mc:Fallback>
      </mc:AlternateContent>
      <p:sp>
        <p:nvSpPr>
          <p:cNvPr id="19" name="Shape 15"/>
          <p:cNvSpPr/>
          <p:nvPr/>
        </p:nvSpPr>
        <p:spPr>
          <a:xfrm>
            <a:off x="457200" y="4791456"/>
            <a:ext cx="6309360" cy="658368"/>
          </a:xfrm>
          <a:prstGeom prst="roundRect">
            <a:avLst>
              <a:gd name="adj" fmla="val 6944"/>
            </a:avLst>
          </a:prstGeom>
          <a:solidFill>
            <a:srgbClr val="F2F2F2"/>
          </a:solidFill>
          <a:ln/>
        </p:spPr>
      </p:sp>
      <p:sp>
        <p:nvSpPr>
          <p:cNvPr id="20" name="Text 16"/>
          <p:cNvSpPr/>
          <p:nvPr/>
        </p:nvSpPr>
        <p:spPr>
          <a:xfrm>
            <a:off x="621792" y="4882896"/>
            <a:ext cx="384048" cy="457200"/>
          </a:xfrm>
          <a:prstGeom prst="rect">
            <a:avLst/>
          </a:prstGeom>
          <a:noFill/>
          <a:ln/>
        </p:spPr>
        <p:txBody>
          <a:bodyPr wrap="square" lIns="0" tIns="0" rIns="0" bIns="0" rtlCol="0" anchor="ctr"/>
          <a:lstStyle/>
          <a:p>
            <a:pPr marL="0" indent="0">
              <a:buNone/>
            </a:pPr>
            <a:r>
              <a:rPr lang="en-US" sz="2100" b="1" dirty="0">
                <a:solidFill>
                  <a:srgbClr val="E31836"/>
                </a:solidFill>
                <a:latin typeface="Cambria" pitchFamily="34" charset="0"/>
                <a:ea typeface="Cambria" pitchFamily="34" charset="-122"/>
                <a:cs typeface="Cambria" pitchFamily="34" charset="-120"/>
              </a:rPr>
              <a:t>5</a:t>
            </a:r>
            <a:endParaRPr lang="en-US" sz="2100" dirty="0"/>
          </a:p>
        </p:txBody>
      </p:sp>
      <p:sp>
        <p:nvSpPr>
          <p:cNvPr id="21" name="Text 17"/>
          <p:cNvSpPr/>
          <p:nvPr/>
        </p:nvSpPr>
        <p:spPr>
          <a:xfrm>
            <a:off x="1115568" y="4864608"/>
            <a:ext cx="5504688" cy="530352"/>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Accept — </a:t>
            </a:r>
            <a:r>
              <a:rPr lang="en-US" sz="1200" dirty="0">
                <a:solidFill>
                  <a:srgbClr val="222222"/>
                </a:solidFill>
                <a:latin typeface="Calibri" pitchFamily="34" charset="0"/>
                <a:ea typeface="Calibri" pitchFamily="34" charset="-122"/>
                <a:cs typeface="Calibri" pitchFamily="34" charset="-120"/>
              </a:rPr>
              <a:t>apply the decision logic on the right; a package additionally faces the payoff margin and the ablation test (gates G5, G5b).</a:t>
            </a:r>
            <a:endParaRPr lang="en-US" sz="1200" dirty="0"/>
          </a:p>
        </p:txBody>
      </p:sp>
      <p:sp>
        <p:nvSpPr>
          <p:cNvPr id="22" name="Shape 18"/>
          <p:cNvSpPr/>
          <p:nvPr/>
        </p:nvSpPr>
        <p:spPr>
          <a:xfrm>
            <a:off x="457200" y="5522976"/>
            <a:ext cx="6309360" cy="914400"/>
          </a:xfrm>
          <a:prstGeom prst="roundRect">
            <a:avLst>
              <a:gd name="adj" fmla="val 5000"/>
            </a:avLst>
          </a:prstGeom>
          <a:solidFill>
            <a:srgbClr val="F2F2F2"/>
          </a:solidFill>
          <a:ln/>
        </p:spPr>
      </p:sp>
      <p:sp>
        <p:nvSpPr>
          <p:cNvPr id="24" name="Text 20"/>
          <p:cNvSpPr/>
          <p:nvPr/>
        </p:nvSpPr>
        <p:spPr>
          <a:xfrm>
            <a:off x="1115568" y="5596128"/>
            <a:ext cx="5504688" cy="786384"/>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Record or stop — </a:t>
            </a:r>
            <a:r>
              <a:rPr lang="en-US" sz="1200" dirty="0">
                <a:solidFill>
                  <a:srgbClr val="222222"/>
                </a:solidFill>
                <a:latin typeface="Calibri" pitchFamily="34" charset="0"/>
                <a:ea typeface="Calibri" pitchFamily="34" charset="-122"/>
                <a:cs typeface="Calibri" pitchFamily="34" charset="-120"/>
              </a:rPr>
              <a:t>an admitted c enters doctrine with its birth cycle, triggering deficit and gate verdicts; a rejection that cost simulation ends the stage for this cycle. Wall-clock cap 90 s: a slow model means a skipped stage, never a stalled cycle.</a:t>
            </a:r>
            <a:endParaRPr lang="en-US" sz="1200" dirty="0"/>
          </a:p>
        </p:txBody>
      </p:sp>
      <p:sp>
        <p:nvSpPr>
          <p:cNvPr id="25" name="Text 21"/>
          <p:cNvSpPr/>
          <p:nvPr/>
        </p:nvSpPr>
        <p:spPr>
          <a:xfrm>
            <a:off x="6949440" y="1261872"/>
            <a:ext cx="480060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The acceptance logic — exact and model-free</a:t>
            </a:r>
            <a:endParaRPr lang="en-US" sz="1400" dirty="0"/>
          </a:p>
        </p:txBody>
      </p:sp>
      <p:sp>
        <p:nvSpPr>
          <p:cNvPr id="26" name="Shape 22"/>
          <p:cNvSpPr/>
          <p:nvPr/>
        </p:nvSpPr>
        <p:spPr>
          <a:xfrm>
            <a:off x="6949440" y="1609344"/>
            <a:ext cx="4800600" cy="1389888"/>
          </a:xfrm>
          <a:prstGeom prst="roundRect">
            <a:avLst>
              <a:gd name="adj" fmla="val 3289"/>
            </a:avLst>
          </a:prstGeom>
          <a:solidFill>
            <a:srgbClr val="FFFFFF"/>
          </a:solidFill>
          <a:ln w="15240">
            <a:solidFill>
              <a:srgbClr val="D6D6D6"/>
            </a:solidFill>
            <a:prstDash val="solid"/>
          </a:ln>
        </p:spPr>
      </p:sp>
      <p:sp>
        <p:nvSpPr>
          <p:cNvPr id="27" name="Text 23"/>
          <p:cNvSpPr/>
          <p:nvPr/>
        </p:nvSpPr>
        <p:spPr>
          <a:xfrm>
            <a:off x="7132320" y="1719072"/>
            <a:ext cx="4480560" cy="27432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A rule is admitted iff both futures strictly improve:</a:t>
            </a:r>
            <a:endParaRPr lang="en-US" sz="1200" dirty="0"/>
          </a:p>
        </p:txBody>
      </p:sp>
      <mc:AlternateContent xmlns:mc="http://schemas.openxmlformats.org/markup-compatibility/2006" xmlns:a14="http://schemas.microsoft.com/office/drawing/2010/main">
        <mc:Choice Requires="a14">
          <p:sp>
            <p:nvSpPr>
              <p:cNvPr id="28" name="Text 24"/>
              <p:cNvSpPr/>
              <p:nvPr/>
            </p:nvSpPr>
            <p:spPr>
              <a:xfrm>
                <a:off x="7132320" y="2011680"/>
                <a:ext cx="448056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300">
                          <a:latin typeface="Cambria Math"/>
                        </a:rPr>
                        <m:t>𝛥</m:t>
                      </m:r>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sz="1300">
                                  <a:latin typeface="Cambria Math"/>
                                </a:rPr>
                                <m:t>𝐽</m:t>
                              </m:r>
                            </m:e>
                          </m:acc>
                        </m:e>
                        <m:sub>
                          <m:r>
                            <a:rPr lang="en-US" sz="1300">
                              <a:latin typeface="Cambria Math"/>
                            </a:rPr>
                            <m:t>𝑃h𝑦</m:t>
                          </m:r>
                        </m:sub>
                        <m:sup>
                          <m:r>
                            <a:rPr lang="en-US" sz="1300">
                              <a:latin typeface="Cambria Math"/>
                            </a:rPr>
                            <m:t>(</m:t>
                          </m:r>
                          <m:r>
                            <a:rPr lang="en-US" sz="1300">
                              <a:latin typeface="Cambria Math"/>
                            </a:rPr>
                            <m:t>𝑎</m:t>
                          </m:r>
                          <m:r>
                            <a:rPr lang="en-US" sz="1300">
                              <a:latin typeface="Cambria Math"/>
                            </a:rPr>
                            <m:t>)</m:t>
                          </m:r>
                        </m:sup>
                      </m:sSubSup>
                      <m:r>
                        <a:rPr lang="en-US" sz="1300">
                          <a:latin typeface="Cambria Math"/>
                        </a:rPr>
                        <m:t>(</m:t>
                      </m:r>
                      <m:r>
                        <a:rPr lang="en-US" sz="1300">
                          <a:latin typeface="Cambria Math"/>
                        </a:rPr>
                        <m:t>𝑐</m:t>
                      </m:r>
                      <m:r>
                        <a:rPr lang="en-US" sz="1300">
                          <a:latin typeface="Cambria Math"/>
                        </a:rPr>
                        <m:t>) &lt; 0    ∧    </m:t>
                      </m:r>
                      <m:r>
                        <a:rPr lang="en-US" sz="1300">
                          <a:latin typeface="Cambria Math"/>
                        </a:rPr>
                        <m:t>𝛥</m:t>
                      </m:r>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sz="1300">
                                  <a:latin typeface="Cambria Math"/>
                                </a:rPr>
                                <m:t>𝐽</m:t>
                              </m:r>
                            </m:e>
                          </m:acc>
                        </m:e>
                        <m:sub>
                          <m:r>
                            <a:rPr lang="en-US" sz="1300">
                              <a:latin typeface="Cambria Math"/>
                            </a:rPr>
                            <m:t>𝑃h𝑦</m:t>
                          </m:r>
                        </m:sub>
                        <m:sup>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&lt; 0</m:t>
                      </m:r>
                    </m:oMath>
                  </m:oMathPara>
                </a14:m>
                <a:endParaRPr lang="en-US" sz="1300" dirty="0"/>
              </a:p>
            </p:txBody>
          </p:sp>
        </mc:Choice>
        <mc:Fallback xmlns="">
          <p:sp>
            <p:nvSpPr>
              <p:cNvPr id="28" name="Text 24"/>
              <p:cNvSpPr>
                <a:spLocks noRot="1" noChangeAspect="1" noMove="1" noResize="1" noEditPoints="1" noAdjustHandles="1" noChangeArrowheads="1" noChangeShapeType="1" noTextEdit="1"/>
              </p:cNvSpPr>
              <p:nvPr/>
            </p:nvSpPr>
            <p:spPr>
              <a:xfrm>
                <a:off x="7132320" y="2011680"/>
                <a:ext cx="4480560" cy="457200"/>
              </a:xfrm>
              <a:prstGeom prst="rect">
                <a:avLst/>
              </a:prstGeom>
              <a:blipFill>
                <a:blip r:embed="rId9"/>
                <a:stretch>
                  <a:fillRect/>
                </a:stretch>
              </a:blipFill>
              <a:ln/>
            </p:spPr>
            <p:txBody>
              <a:bodyPr/>
              <a:lstStyle/>
              <a:p>
                <a:r>
                  <a:rPr lang="tr-TR">
                    <a:noFill/>
                  </a:rPr>
                  <a:t/>
                </a:r>
              </a:p>
            </p:txBody>
          </p:sp>
        </mc:Fallback>
      </mc:AlternateContent>
      <p:sp>
        <p:nvSpPr>
          <p:cNvPr id="29" name="Text 25"/>
          <p:cNvSpPr/>
          <p:nvPr/>
        </p:nvSpPr>
        <p:spPr>
          <a:xfrm>
            <a:off x="7132320" y="2487168"/>
            <a:ext cx="4480560" cy="475488"/>
          </a:xfrm>
          <a:prstGeom prst="rect">
            <a:avLst/>
          </a:prstGeom>
          <a:noFill/>
          <a:ln/>
        </p:spPr>
        <p:txBody>
          <a:bodyPr wrap="square" lIns="0" tIns="0" rIns="0" bIns="0" rtlCol="0" anchor="t"/>
          <a:lstStyle/>
          <a:p>
            <a:pPr marL="0" indent="0">
              <a:lnSpc>
                <a:spcPct val="104000"/>
              </a:lnSpc>
              <a:buNone/>
            </a:pPr>
            <a:r>
              <a:rPr lang="en-US" sz="1200" dirty="0">
                <a:solidFill>
                  <a:srgbClr val="6E6E6E"/>
                </a:solidFill>
                <a:latin typeface="Calibri" pitchFamily="34" charset="0"/>
                <a:ea typeface="Calibri" pitchFamily="34" charset="-122"/>
                <a:cs typeface="Calibri" pitchFamily="34" charset="-120"/>
              </a:rPr>
              <a:t>One future can flatter a candidate; strict decrease on two independent seeds rejects artifacts of chance. Superscripts name the rollout seed.</a:t>
            </a:r>
            <a:endParaRPr lang="en-US" sz="1200" dirty="0"/>
          </a:p>
        </p:txBody>
      </p:sp>
      <p:sp>
        <p:nvSpPr>
          <p:cNvPr id="30" name="Shape 26"/>
          <p:cNvSpPr/>
          <p:nvPr/>
        </p:nvSpPr>
        <p:spPr>
          <a:xfrm>
            <a:off x="6949440" y="3145536"/>
            <a:ext cx="4800600" cy="2011680"/>
          </a:xfrm>
          <a:prstGeom prst="roundRect">
            <a:avLst>
              <a:gd name="adj" fmla="val 2273"/>
            </a:avLst>
          </a:prstGeom>
          <a:solidFill>
            <a:srgbClr val="FFFFFF"/>
          </a:solidFill>
          <a:ln w="15240">
            <a:solidFill>
              <a:srgbClr val="D6D6D6"/>
            </a:solidFill>
            <a:prstDash val="solid"/>
          </a:ln>
        </p:spPr>
      </p:sp>
      <p:sp>
        <p:nvSpPr>
          <p:cNvPr id="31" name="Text 27"/>
          <p:cNvSpPr/>
          <p:nvPr/>
        </p:nvSpPr>
        <p:spPr>
          <a:xfrm>
            <a:off x="7132320" y="3255264"/>
            <a:ext cx="4480560" cy="27432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A package must also pay for its new object o:</a:t>
            </a:r>
            <a:endParaRPr lang="en-US" sz="1200" dirty="0"/>
          </a:p>
        </p:txBody>
      </p:sp>
      <mc:AlternateContent xmlns:mc="http://schemas.openxmlformats.org/markup-compatibility/2006" xmlns:a14="http://schemas.microsoft.com/office/drawing/2010/main">
        <mc:Choice Requires="a14">
          <p:sp>
            <p:nvSpPr>
              <p:cNvPr id="32" name="Text 28"/>
              <p:cNvSpPr/>
              <p:nvPr/>
            </p:nvSpPr>
            <p:spPr>
              <a:xfrm>
                <a:off x="7132320" y="3547872"/>
                <a:ext cx="4480560" cy="420624"/>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300">
                          <a:latin typeface="Cambria Math"/>
                        </a:rPr>
                        <m:t>𝛥</m:t>
                      </m:r>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sz="1300">
                                  <a:latin typeface="Cambria Math"/>
                                </a:rPr>
                                <m:t>𝐽</m:t>
                              </m:r>
                            </m:e>
                          </m:acc>
                        </m:e>
                        <m:sub>
                          <m:r>
                            <a:rPr lang="en-US" sz="1300">
                              <a:latin typeface="Cambria Math"/>
                            </a:rPr>
                            <m:t>𝑃h𝑦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 −</m:t>
                      </m:r>
                      <m:sSub>
                        <m:sSubPr>
                          <m:ctrlPr>
                            <a:rPr lang="en-US" i="1">
                              <a:latin typeface="Cambria Math" panose="02040503050406030204" pitchFamily="18" charset="0"/>
                            </a:rPr>
                          </m:ctrlPr>
                        </m:sSubPr>
                        <m:e>
                          <m:r>
                            <a:rPr lang="en-US" sz="1300">
                              <a:latin typeface="Cambria Math"/>
                            </a:rPr>
                            <m:t>𝛿</m:t>
                          </m:r>
                        </m:e>
                        <m:sub>
                          <m:r>
                            <a:rPr lang="en-US" sz="1300">
                              <a:latin typeface="Cambria Math"/>
                            </a:rPr>
                            <m:t>𝑣</m:t>
                          </m:r>
                        </m:sub>
                      </m:sSub>
                    </m:oMath>
                  </m:oMathPara>
                </a14:m>
                <a:endParaRPr lang="en-US" sz="1300" dirty="0"/>
              </a:p>
            </p:txBody>
          </p:sp>
        </mc:Choice>
        <mc:Fallback xmlns="">
          <p:sp>
            <p:nvSpPr>
              <p:cNvPr id="32" name="Text 28"/>
              <p:cNvSpPr>
                <a:spLocks noRot="1" noChangeAspect="1" noMove="1" noResize="1" noEditPoints="1" noAdjustHandles="1" noChangeArrowheads="1" noChangeShapeType="1" noTextEdit="1"/>
              </p:cNvSpPr>
              <p:nvPr/>
            </p:nvSpPr>
            <p:spPr>
              <a:xfrm>
                <a:off x="7132320" y="3547872"/>
                <a:ext cx="4480560" cy="420624"/>
              </a:xfrm>
              <a:prstGeom prst="rect">
                <a:avLst/>
              </a:prstGeom>
              <a:blipFill>
                <a:blip r:embed="rId10"/>
                <a:stretch>
                  <a:fillRect t="-1449"/>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33" name="Text 29"/>
              <p:cNvSpPr/>
              <p:nvPr/>
            </p:nvSpPr>
            <p:spPr>
              <a:xfrm>
                <a:off x="7132320" y="3986784"/>
                <a:ext cx="448056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300">
                          <a:latin typeface="Cambria Math"/>
                        </a:rPr>
                        <m:t>𝛥</m:t>
                      </m:r>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sz="1300">
                                  <a:latin typeface="Cambria Math"/>
                                </a:rPr>
                                <m:t>𝐽</m:t>
                              </m:r>
                            </m:e>
                          </m:acc>
                        </m:e>
                        <m:sub>
                          <m:r>
                            <a:rPr lang="en-US" sz="1300">
                              <a:latin typeface="Cambria Math"/>
                            </a:rPr>
                            <m:t>𝑃h𝑦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 ∖ </m:t>
                      </m:r>
                      <m:r>
                        <a:rPr lang="en-US" sz="1300">
                          <a:latin typeface="Cambria Math"/>
                        </a:rPr>
                        <m:t>𝑜</m:t>
                      </m:r>
                      <m:r>
                        <a:rPr lang="en-US" sz="1300">
                          <a:latin typeface="Cambria Math"/>
                        </a:rPr>
                        <m:t>) &gt; </m:t>
                      </m:r>
                      <m:r>
                        <a:rPr lang="en-US" sz="1300">
                          <a:latin typeface="Cambria Math"/>
                        </a:rPr>
                        <m:t>𝛥</m:t>
                      </m:r>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sz="1300">
                                  <a:latin typeface="Cambria Math"/>
                                </a:rPr>
                                <m:t>𝐽</m:t>
                              </m:r>
                            </m:e>
                          </m:acc>
                        </m:e>
                        <m:sub>
                          <m:r>
                            <a:rPr lang="en-US" sz="1300">
                              <a:latin typeface="Cambria Math"/>
                            </a:rPr>
                            <m:t>𝑃h𝑦</m:t>
                          </m:r>
                        </m:sub>
                        <m:sup>
                          <m:r>
                            <a:rPr lang="en-US" sz="1300">
                              <a:latin typeface="Cambria Math"/>
                            </a:rPr>
                            <m:t>(</m:t>
                          </m:r>
                          <m:r>
                            <a:rPr lang="en-US" sz="1300">
                              <a:latin typeface="Cambria Math"/>
                            </a:rPr>
                            <m:t>𝑎</m:t>
                          </m:r>
                          <m:r>
                            <a:rPr lang="en-US" sz="1300">
                              <a:latin typeface="Cambria Math"/>
                            </a:rPr>
                            <m:t>,</m:t>
                          </m:r>
                          <m:r>
                            <a:rPr lang="en-US" sz="1300">
                              <a:latin typeface="Cambria Math"/>
                            </a:rPr>
                            <m:t>𝑏</m:t>
                          </m:r>
                          <m:r>
                            <a:rPr lang="en-US" sz="1300">
                              <a:latin typeface="Cambria Math"/>
                            </a:rPr>
                            <m:t>)</m:t>
                          </m:r>
                        </m:sup>
                      </m:sSubSup>
                      <m:r>
                        <a:rPr lang="en-US" sz="1300">
                          <a:latin typeface="Cambria Math"/>
                        </a:rPr>
                        <m:t>(</m:t>
                      </m:r>
                      <m:r>
                        <a:rPr lang="en-US" sz="1300">
                          <a:latin typeface="Cambria Math"/>
                        </a:rPr>
                        <m:t>𝑐</m:t>
                      </m:r>
                      <m:r>
                        <a:rPr lang="en-US" sz="1300">
                          <a:latin typeface="Cambria Math"/>
                        </a:rPr>
                        <m:t>)</m:t>
                      </m:r>
                    </m:oMath>
                  </m:oMathPara>
                </a14:m>
                <a:endParaRPr lang="en-US" sz="1300" dirty="0"/>
              </a:p>
            </p:txBody>
          </p:sp>
        </mc:Choice>
        <mc:Fallback xmlns="">
          <p:sp>
            <p:nvSpPr>
              <p:cNvPr id="33" name="Text 29"/>
              <p:cNvSpPr>
                <a:spLocks noRot="1" noChangeAspect="1" noMove="1" noResize="1" noEditPoints="1" noAdjustHandles="1" noChangeArrowheads="1" noChangeShapeType="1" noTextEdit="1"/>
              </p:cNvSpPr>
              <p:nvPr/>
            </p:nvSpPr>
            <p:spPr>
              <a:xfrm>
                <a:off x="7132320" y="3986784"/>
                <a:ext cx="4480560" cy="457200"/>
              </a:xfrm>
              <a:prstGeom prst="rect">
                <a:avLst/>
              </a:prstGeom>
              <a:blipFill>
                <a:blip r:embed="rId11"/>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34" name="Text 30"/>
              <p:cNvSpPr/>
              <p:nvPr/>
            </p:nvSpPr>
            <p:spPr>
              <a:xfrm>
                <a:off x="7132320" y="4480560"/>
                <a:ext cx="4480560" cy="658368"/>
              </a:xfrm>
              <a:prstGeom prst="rect">
                <a:avLst/>
              </a:prstGeom>
              <a:noFill/>
              <a:ln/>
            </p:spPr>
            <p:txBody>
              <a:bodyPr wrap="square" lIns="0" tIns="0" rIns="0" bIns="0" rtlCol="0" anchor="t"/>
              <a:lstStyle/>
              <a:p>
                <a:pPr marL="0" indent="0">
                  <a:lnSpc>
                    <a:spcPct val="104000"/>
                  </a:lnSpc>
                  <a:buNone/>
                </a:pPr>
                <a:r>
                  <a:rPr lang="en-US" sz="1200" dirty="0">
                    <a:solidFill>
                      <a:srgbClr val="6E6E6E"/>
                    </a:solidFill>
                    <a:latin typeface="Calibri" pitchFamily="34" charset="0"/>
                    <a:ea typeface="Calibri" pitchFamily="34" charset="-122"/>
                    <a:cs typeface="Calibri" pitchFamily="34" charset="-120"/>
                  </a:rPr>
                  <a:t>Both rollouts must beat the payoff margin </a:t>
                </a:r>
                <a14:m>
                  <m:oMath xmlns:m="http://schemas.openxmlformats.org/officeDocument/2006/math">
                    <m:sSub>
                      <m:sSubPr>
                        <m:ctrlPr>
                          <a:rPr lang="en-US" i="1">
                            <a:latin typeface="Cambria Math" panose="02040503050406030204" pitchFamily="18" charset="0"/>
                          </a:rPr>
                        </m:ctrlPr>
                      </m:sSubPr>
                      <m:e>
                        <m:r>
                          <a:rPr lang="en-US" sz="1200">
                            <a:latin typeface="Cambria Math"/>
                          </a:rPr>
                          <m:t>𝛿</m:t>
                        </m:r>
                      </m:e>
                      <m:sub>
                        <m:r>
                          <a:rPr lang="en-US" sz="1200">
                            <a:latin typeface="Cambria Math"/>
                          </a:rPr>
                          <m:t>𝑣</m:t>
                        </m:r>
                      </m:sub>
                    </m:sSub>
                    <m:r>
                      <a:rPr lang="en-US" sz="1200">
                        <a:latin typeface="Cambria Math"/>
                      </a:rPr>
                      <m:t> = 0.0001</m:t>
                    </m:r>
                  </m:oMath>
                </a14:m>
                <a:r>
                  <a:rPr lang="en-US" sz="1200" dirty="0">
                    <a:solidFill>
                      <a:srgbClr val="6E6E6E"/>
                    </a:solidFill>
                    <a:latin typeface="Calibri" pitchFamily="34" charset="0"/>
                    <a:ea typeface="Calibri" pitchFamily="34" charset="-122"/>
                    <a:cs typeface="Calibri" pitchFamily="34" charset="-120"/>
                  </a:rPr>
                  <a:t>; and in the ablation (G5b) o is struck out of c — the cost must rise in both futures, so the payoff belongs to o itself, not to the rule around it.</a:t>
                </a:r>
                <a:endParaRPr lang="en-US" sz="1200" dirty="0"/>
              </a:p>
            </p:txBody>
          </p:sp>
        </mc:Choice>
        <mc:Fallback xmlns="">
          <p:sp>
            <p:nvSpPr>
              <p:cNvPr id="34" name="Text 30"/>
              <p:cNvSpPr>
                <a:spLocks noRot="1" noChangeAspect="1" noMove="1" noResize="1" noEditPoints="1" noAdjustHandles="1" noChangeArrowheads="1" noChangeShapeType="1" noTextEdit="1"/>
              </p:cNvSpPr>
              <p:nvPr/>
            </p:nvSpPr>
            <p:spPr>
              <a:xfrm>
                <a:off x="7132320" y="4480560"/>
                <a:ext cx="4480560" cy="658368"/>
              </a:xfrm>
              <a:prstGeom prst="rect">
                <a:avLst/>
              </a:prstGeom>
              <a:blipFill>
                <a:blip r:embed="rId12"/>
                <a:stretch>
                  <a:fillRect l="-2041" b="-12963"/>
                </a:stretch>
              </a:blipFill>
              <a:ln/>
            </p:spPr>
            <p:txBody>
              <a:bodyPr/>
              <a:lstStyle/>
              <a:p>
                <a:r>
                  <a:rPr lang="tr-TR">
                    <a:noFill/>
                  </a:rPr>
                  <a:t/>
                </a:r>
              </a:p>
            </p:txBody>
          </p:sp>
        </mc:Fallback>
      </mc:AlternateContent>
      <p:sp>
        <p:nvSpPr>
          <p:cNvPr id="35" name="Shape 31"/>
          <p:cNvSpPr/>
          <p:nvPr/>
        </p:nvSpPr>
        <p:spPr>
          <a:xfrm>
            <a:off x="6949440" y="5303520"/>
            <a:ext cx="4800600" cy="1216152"/>
          </a:xfrm>
          <a:prstGeom prst="roundRect">
            <a:avLst>
              <a:gd name="adj" fmla="val 3759"/>
            </a:avLst>
          </a:prstGeom>
          <a:solidFill>
            <a:srgbClr val="FDE8EB"/>
          </a:solidFill>
          <a:ln/>
        </p:spPr>
      </p:sp>
      <p:sp>
        <p:nvSpPr>
          <p:cNvPr id="36" name="Text 32"/>
          <p:cNvSpPr/>
          <p:nvPr/>
        </p:nvSpPr>
        <p:spPr>
          <a:xfrm>
            <a:off x="7132320" y="5413248"/>
            <a:ext cx="4480560" cy="1042416"/>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Proposer-agnostic by construction — </a:t>
            </a:r>
            <a:r>
              <a:rPr lang="en-US" sz="1200" dirty="0">
                <a:solidFill>
                  <a:srgbClr val="222222"/>
                </a:solidFill>
                <a:latin typeface="Calibri" pitchFamily="34" charset="0"/>
                <a:ea typeface="Calibri" pitchFamily="34" charset="-122"/>
                <a:cs typeface="Calibri" pitchFamily="34" charset="-120"/>
              </a:rPr>
              <a:t>acceptance never asks who proposed. The same screen–forecast–accept chain admits candidates from a language model, an evolutionary search, or a human officer.</a:t>
            </a:r>
            <a:endParaRPr lang="en-US" sz="1200" dirty="0"/>
          </a:p>
        </p:txBody>
      </p:sp>
      <p:sp>
        <p:nvSpPr>
          <p:cNvPr id="90006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66 / 113</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Without a Language Model : the Classical Solvers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11247120" cy="347472"/>
          </a:xfrm>
          <a:prstGeom prst="rect">
            <a:avLst/>
          </a:prstGeom>
          <a:noFill/>
          <a:ln/>
        </p:spPr>
        <p:txBody>
          <a:bodyPr wrap="square" lIns="0" tIns="0" rIns="0" bIns="0" rtlCol="0" anchor="t"/>
          <a:lstStyle/>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The task is black-box combinatorial optimization under an evaluation budget of two rollouts. Each classical solver fails that budget in its own way:</a:t>
            </a:r>
            <a:endParaRPr lang="en-US" sz="1250" dirty="0"/>
          </a:p>
        </p:txBody>
      </p:sp>
      <p:sp>
        <p:nvSpPr>
          <p:cNvPr id="7" name="Shape 3"/>
          <p:cNvSpPr/>
          <p:nvPr/>
        </p:nvSpPr>
        <p:spPr>
          <a:xfrm>
            <a:off x="502920" y="1719072"/>
            <a:ext cx="5486400" cy="1444752"/>
          </a:xfrm>
          <a:prstGeom prst="roundRect">
            <a:avLst>
              <a:gd name="adj" fmla="val 3165"/>
            </a:avLst>
          </a:prstGeom>
          <a:solidFill>
            <a:srgbClr val="F2F2F2"/>
          </a:solidFill>
          <a:ln/>
        </p:spPr>
      </p:sp>
      <mc:AlternateContent xmlns:mc="http://schemas.openxmlformats.org/markup-compatibility/2006" xmlns:a14="http://schemas.microsoft.com/office/drawing/2010/main">
        <mc:Choice Requires="a14">
          <p:sp>
            <p:nvSpPr>
              <p:cNvPr id="8" name="Text 4"/>
              <p:cNvSpPr/>
              <p:nvPr/>
            </p:nvSpPr>
            <p:spPr>
              <a:xfrm>
                <a:off x="685800" y="1819656"/>
                <a:ext cx="5120640" cy="128016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Exhaustive enumeration — </a:t>
                </a:r>
                <a:r>
                  <a:rPr lang="en-US" sz="1200" dirty="0">
                    <a:solidFill>
                      <a:srgbClr val="222222"/>
                    </a:solidFill>
                    <a:latin typeface="Calibri" pitchFamily="34" charset="0"/>
                    <a:ea typeface="Calibri" pitchFamily="34" charset="-122"/>
                    <a:cs typeface="Calibri" pitchFamily="34" charset="-120"/>
                  </a:rPr>
                  <a:t>certifies the optimum only after evaluating every member of </a:t>
                </a:r>
                <a14:m>
                  <m:oMath xmlns:m="http://schemas.openxmlformats.org/officeDocument/2006/math">
                    <m:r>
                      <a:rPr lang="en-US" sz="1200">
                        <a:latin typeface="Cambria Math"/>
                      </a:rPr>
                      <m:t>𝒜</m:t>
                    </m:r>
                    <m:r>
                      <a:rPr lang="en-US" sz="1200">
                        <a:latin typeface="Cambria Math"/>
                      </a:rPr>
                      <m:t>(</m:t>
                    </m:r>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 the structural space alone runs into the millions, against a budget of two rollouts.</a:t>
                </a:r>
                <a:endParaRPr lang="en-US" sz="1200" dirty="0"/>
              </a:p>
            </p:txBody>
          </p:sp>
        </mc:Choice>
        <mc:Fallback xmlns="">
          <p:sp>
            <p:nvSpPr>
              <p:cNvPr id="8" name="Text 4"/>
              <p:cNvSpPr>
                <a:spLocks noRot="1" noChangeAspect="1" noMove="1" noResize="1" noEditPoints="1" noAdjustHandles="1" noChangeArrowheads="1" noChangeShapeType="1" noTextEdit="1"/>
              </p:cNvSpPr>
              <p:nvPr/>
            </p:nvSpPr>
            <p:spPr>
              <a:xfrm>
                <a:off x="685800" y="1819656"/>
                <a:ext cx="5120640" cy="1280160"/>
              </a:xfrm>
              <a:prstGeom prst="rect">
                <a:avLst/>
              </a:prstGeom>
              <a:blipFill>
                <a:blip r:embed="rId5"/>
                <a:stretch>
                  <a:fillRect l="-1905" t="-3810"/>
                </a:stretch>
              </a:blipFill>
              <a:ln/>
            </p:spPr>
            <p:txBody>
              <a:bodyPr/>
              <a:lstStyle/>
              <a:p>
                <a:r>
                  <a:rPr lang="tr-TR">
                    <a:noFill/>
                  </a:rPr>
                  <a:t/>
                </a:r>
              </a:p>
            </p:txBody>
          </p:sp>
        </mc:Fallback>
      </mc:AlternateContent>
      <p:sp>
        <p:nvSpPr>
          <p:cNvPr id="9" name="Shape 5"/>
          <p:cNvSpPr/>
          <p:nvPr/>
        </p:nvSpPr>
        <p:spPr>
          <a:xfrm>
            <a:off x="6263640" y="1719072"/>
            <a:ext cx="5486400" cy="1444752"/>
          </a:xfrm>
          <a:prstGeom prst="roundRect">
            <a:avLst>
              <a:gd name="adj" fmla="val 3165"/>
            </a:avLst>
          </a:prstGeom>
          <a:solidFill>
            <a:srgbClr val="F2F2F2"/>
          </a:solidFill>
          <a:ln/>
        </p:spPr>
      </p:sp>
      <p:sp>
        <p:nvSpPr>
          <p:cNvPr id="10" name="Text 6"/>
          <p:cNvSpPr/>
          <p:nvPr/>
        </p:nvSpPr>
        <p:spPr>
          <a:xfrm>
            <a:off x="6446520" y="1819656"/>
            <a:ext cx="5120640" cy="128016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Evolutionary / genetic fuzzy-rule search — </a:t>
            </a:r>
            <a:r>
              <a:rPr lang="en-US" sz="1200" dirty="0">
                <a:solidFill>
                  <a:srgbClr val="222222"/>
                </a:solidFill>
                <a:latin typeface="Calibri" pitchFamily="34" charset="0"/>
                <a:ea typeface="Calibri" pitchFamily="34" charset="-122"/>
                <a:cs typeface="Calibri" pitchFamily="34" charset="-120"/>
              </a:rPr>
              <a:t>the standard non-LLM route for growing rule bases. A population improved over generations costs hundreds of rollouts per admitted discovery, and its initial proposals are uniform — no prior of wildfire practice.</a:t>
            </a:r>
            <a:endParaRPr lang="en-US" sz="1200" dirty="0"/>
          </a:p>
        </p:txBody>
      </p:sp>
      <p:sp>
        <p:nvSpPr>
          <p:cNvPr id="11" name="Shape 7"/>
          <p:cNvSpPr/>
          <p:nvPr/>
        </p:nvSpPr>
        <p:spPr>
          <a:xfrm>
            <a:off x="502920" y="3291840"/>
            <a:ext cx="5486400" cy="1444752"/>
          </a:xfrm>
          <a:prstGeom prst="roundRect">
            <a:avLst>
              <a:gd name="adj" fmla="val 3165"/>
            </a:avLst>
          </a:prstGeom>
          <a:solidFill>
            <a:srgbClr val="F2F2F2"/>
          </a:solidFill>
          <a:ln/>
        </p:spPr>
      </p:sp>
      <mc:AlternateContent xmlns:mc="http://schemas.openxmlformats.org/markup-compatibility/2006" xmlns:a14="http://schemas.microsoft.com/office/drawing/2010/main">
        <mc:Choice Requires="a14">
          <p:sp>
            <p:nvSpPr>
              <p:cNvPr id="12" name="Text 8"/>
              <p:cNvSpPr/>
              <p:nvPr/>
            </p:nvSpPr>
            <p:spPr>
              <a:xfrm>
                <a:off x="685800" y="3392424"/>
                <a:ext cx="5120640" cy="128016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Bayesian optimization — </a:t>
                </a:r>
                <a:r>
                  <a:rPr lang="en-US" sz="1200" dirty="0">
                    <a:solidFill>
                      <a:srgbClr val="222222"/>
                    </a:solidFill>
                    <a:latin typeface="Calibri" pitchFamily="34" charset="0"/>
                    <a:ea typeface="Calibri" pitchFamily="34" charset="-122"/>
                    <a:cs typeface="Calibri" pitchFamily="34" charset="-120"/>
                  </a:rPr>
                  <a:t>models </a:t>
                </a:r>
                <a14:m>
                  <m:oMath xmlns:m="http://schemas.openxmlformats.org/officeDocument/2006/math">
                    <m:r>
                      <a:rPr lang="en-US" sz="1200">
                        <a:latin typeface="Cambria Math"/>
                      </a:rPr>
                      <m:t>𝛥</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200">
                                <a:latin typeface="Cambria Math"/>
                              </a:rPr>
                              <m:t>𝐽</m:t>
                            </m:r>
                          </m:e>
                        </m:acc>
                      </m:e>
                      <m:sub>
                        <m:r>
                          <a:rPr lang="en-US" sz="1200">
                            <a:latin typeface="Cambria Math"/>
                          </a:rPr>
                          <m:t>𝑃h𝑦</m:t>
                        </m:r>
                      </m:sub>
                    </m:sSub>
                    <m:r>
                      <a:rPr lang="en-US" sz="1200">
                        <a:latin typeface="Cambria Math"/>
                      </a:rPr>
                      <m:t>(</m:t>
                    </m:r>
                    <m:r>
                      <a:rPr lang="en-US" sz="1200">
                        <a:latin typeface="Cambria Math"/>
                      </a:rPr>
                      <m:t>𝑐</m:t>
                    </m:r>
                    <m:r>
                      <a:rPr lang="en-US" sz="1200">
                        <a:latin typeface="Cambria Math"/>
                      </a:rPr>
                      <m:t>)</m:t>
                    </m:r>
                  </m:oMath>
                </a14:m>
                <a:r>
                  <a:rPr lang="en-US" sz="1200" dirty="0">
                    <a:solidFill>
                      <a:srgbClr val="222222"/>
                    </a:solidFill>
                    <a:latin typeface="Calibri" pitchFamily="34" charset="0"/>
                    <a:ea typeface="Calibri" pitchFamily="34" charset="-122"/>
                    <a:cs typeface="Calibri" pitchFamily="34" charset="-120"/>
                  </a:rPr>
                  <a:t> with a surrogate and queries the most informative candidate. Suited to the continuous doses and weights — but this space is discrete and conditional (which effect, on which sector, under which concepts), and its dimension changes whenever </a:t>
                </a:r>
                <a14:m>
                  <m:oMath xmlns:m="http://schemas.openxmlformats.org/officeDocument/2006/math">
                    <m:sSub>
                      <m:sSubPr>
                        <m:ctrlPr>
                          <a:rPr lang="en-US" i="1">
                            <a:latin typeface="Cambria Math" panose="02040503050406030204" pitchFamily="18" charset="0"/>
                          </a:rPr>
                        </m:ctrlPr>
                      </m:sSubPr>
                      <m:e>
                        <m:r>
                          <a:rPr lang="en-US" sz="1200">
                            <a:latin typeface="Cambria Math"/>
                          </a:rPr>
                          <m:t>𝑉</m:t>
                        </m:r>
                      </m:e>
                      <m:sub>
                        <m:r>
                          <a:rPr lang="en-US" sz="1200">
                            <a:latin typeface="Cambria Math"/>
                          </a:rPr>
                          <m:t>𝑘</m:t>
                        </m:r>
                      </m:sub>
                    </m:sSub>
                  </m:oMath>
                </a14:m>
                <a:r>
                  <a:rPr lang="en-US" sz="1200" dirty="0">
                    <a:solidFill>
                      <a:srgbClr val="222222"/>
                    </a:solidFill>
                    <a:latin typeface="Calibri" pitchFamily="34" charset="0"/>
                    <a:ea typeface="Calibri" pitchFamily="34" charset="-122"/>
                    <a:cs typeface="Calibri" pitchFamily="34" charset="-120"/>
                  </a:rPr>
                  <a:t> grows: there is no fixed space to model.</a:t>
                </a:r>
                <a:endParaRPr lang="en-US" sz="1200" dirty="0"/>
              </a:p>
            </p:txBody>
          </p:sp>
        </mc:Choice>
        <mc:Fallback xmlns="">
          <p:sp>
            <p:nvSpPr>
              <p:cNvPr id="12" name="Text 8"/>
              <p:cNvSpPr>
                <a:spLocks noRot="1" noChangeAspect="1" noMove="1" noResize="1" noEditPoints="1" noAdjustHandles="1" noChangeArrowheads="1" noChangeShapeType="1" noTextEdit="1"/>
              </p:cNvSpPr>
              <p:nvPr/>
            </p:nvSpPr>
            <p:spPr>
              <a:xfrm>
                <a:off x="685800" y="3392424"/>
                <a:ext cx="5120640" cy="1280160"/>
              </a:xfrm>
              <a:prstGeom prst="rect">
                <a:avLst/>
              </a:prstGeom>
              <a:blipFill>
                <a:blip r:embed="rId6"/>
                <a:stretch>
                  <a:fillRect l="-1905" t="-6667" r="-1071"/>
                </a:stretch>
              </a:blipFill>
              <a:ln/>
            </p:spPr>
            <p:txBody>
              <a:bodyPr/>
              <a:lstStyle/>
              <a:p>
                <a:r>
                  <a:rPr lang="tr-TR">
                    <a:noFill/>
                  </a:rPr>
                  <a:t/>
                </a:r>
              </a:p>
            </p:txBody>
          </p:sp>
        </mc:Fallback>
      </mc:AlternateContent>
      <p:sp>
        <p:nvSpPr>
          <p:cNvPr id="13" name="Shape 9"/>
          <p:cNvSpPr/>
          <p:nvPr/>
        </p:nvSpPr>
        <p:spPr>
          <a:xfrm>
            <a:off x="6263640" y="3291840"/>
            <a:ext cx="5486400" cy="1444752"/>
          </a:xfrm>
          <a:prstGeom prst="roundRect">
            <a:avLst>
              <a:gd name="adj" fmla="val 3165"/>
            </a:avLst>
          </a:prstGeom>
          <a:solidFill>
            <a:srgbClr val="F2F2F2"/>
          </a:solidFill>
          <a:ln/>
        </p:spPr>
      </p:sp>
      <p:sp>
        <p:nvSpPr>
          <p:cNvPr id="14" name="Text 10"/>
          <p:cNvSpPr/>
          <p:nvPr/>
        </p:nvSpPr>
        <p:spPr>
          <a:xfrm>
            <a:off x="6446520" y="3392424"/>
            <a:ext cx="5120640" cy="128016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Reinforcement learning — </a:t>
            </a:r>
            <a:r>
              <a:rPr lang="en-US" sz="1200" dirty="0">
                <a:solidFill>
                  <a:srgbClr val="222222"/>
                </a:solidFill>
                <a:latin typeface="Calibri" pitchFamily="34" charset="0"/>
                <a:ea typeface="Calibri" pitchFamily="34" charset="-122"/>
                <a:cs typeface="Calibri" pitchFamily="34" charset="-120"/>
              </a:rPr>
              <a:t>could learn a proposal policy from experience, but is sample-hungry — and the action space itself is non-stationary: every admitted concept, macro or actuator changes it.</a:t>
            </a:r>
            <a:endParaRPr lang="en-US" sz="1200" dirty="0"/>
          </a:p>
        </p:txBody>
      </p:sp>
      <p:sp>
        <p:nvSpPr>
          <p:cNvPr id="15" name="Shape 11"/>
          <p:cNvSpPr/>
          <p:nvPr/>
        </p:nvSpPr>
        <p:spPr>
          <a:xfrm>
            <a:off x="502920" y="5029200"/>
            <a:ext cx="11247120" cy="1517904"/>
          </a:xfrm>
          <a:prstGeom prst="roundRect">
            <a:avLst>
              <a:gd name="adj" fmla="val 3012"/>
            </a:avLst>
          </a:prstGeom>
          <a:solidFill>
            <a:srgbClr val="FDE8EB"/>
          </a:solidFill>
          <a:ln/>
        </p:spPr>
      </p:sp>
      <mc:AlternateContent xmlns:mc="http://schemas.openxmlformats.org/markup-compatibility/2006" xmlns:a14="http://schemas.microsoft.com/office/drawing/2010/main">
        <mc:Choice Requires="a14">
          <p:sp>
            <p:nvSpPr>
              <p:cNvPr id="16" name="Text 12"/>
              <p:cNvSpPr/>
              <p:nvPr/>
            </p:nvSpPr>
            <p:spPr>
              <a:xfrm>
                <a:off x="777240" y="5157216"/>
                <a:ext cx="10698480" cy="1298448"/>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The language model, in exactly these terms. </a:t>
                </a:r>
                <a:r>
                  <a:rPr lang="en-US" sz="1250" dirty="0">
                    <a:solidFill>
                      <a:srgbClr val="222222"/>
                    </a:solidFill>
                    <a:latin typeface="Calibri" pitchFamily="34" charset="0"/>
                    <a:ea typeface="Calibri" pitchFamily="34" charset="-122"/>
                    <a:cs typeface="Calibri" pitchFamily="34" charset="-120"/>
                  </a:rPr>
                  <a:t>It is a learned proposal distribution over the same closed space, </a:t>
                </a:r>
                <a14:m>
                  <m:oMath xmlns:m="http://schemas.openxmlformats.org/officeDocument/2006/math">
                    <m:r>
                      <a:rPr lang="en-US" sz="1250">
                        <a:latin typeface="Cambria Math"/>
                      </a:rPr>
                      <m:t>𝑐</m:t>
                    </m:r>
                    <m:r>
                      <a:rPr lang="en-US" sz="1250">
                        <a:latin typeface="Cambria Math"/>
                      </a:rPr>
                      <m:t>∼</m:t>
                    </m:r>
                    <m:r>
                      <a:rPr lang="en-US" sz="1250">
                        <a:latin typeface="Cambria Math"/>
                      </a:rPr>
                      <m:t>𝑞</m:t>
                    </m:r>
                    <m:r>
                      <a:rPr lang="en-US" sz="1250">
                        <a:latin typeface="Cambria Math"/>
                      </a:rPr>
                      <m:t>(</m:t>
                    </m:r>
                    <m:r>
                      <a:rPr lang="en-US" sz="1250">
                        <a:latin typeface="Cambria Math"/>
                      </a:rPr>
                      <m:t>𝑐</m:t>
                    </m:r>
                    <m:r>
                      <a:rPr lang="en-US" sz="1250">
                        <a:latin typeface="Cambria Math"/>
                      </a:rPr>
                      <m:t>∣</m:t>
                    </m:r>
                    <m:sSub>
                      <m:sSubPr>
                        <m:ctrlPr>
                          <a:rPr lang="en-US" i="1">
                            <a:latin typeface="Cambria Math" panose="02040503050406030204" pitchFamily="18" charset="0"/>
                          </a:rPr>
                        </m:ctrlPr>
                      </m:sSubPr>
                      <m:e>
                        <m:r>
                          <a:rPr lang="en-US" sz="1250">
                            <a:latin typeface="Cambria Math"/>
                          </a:rPr>
                          <m:t>𝑠</m:t>
                        </m:r>
                      </m:e>
                      <m:sub>
                        <m:r>
                          <a:rPr lang="en-US" sz="1250">
                            <a:latin typeface="Cambria Math"/>
                          </a:rPr>
                          <m:t>𝑘</m:t>
                        </m:r>
                      </m:sub>
                    </m:sSub>
                    <m:r>
                      <a:rPr lang="en-US" sz="1250">
                        <a:latin typeface="Cambria Math"/>
                      </a:rPr>
                      <m:t>, </m:t>
                    </m:r>
                    <m:sSub>
                      <m:sSubPr>
                        <m:ctrlPr>
                          <a:rPr lang="en-US" i="1">
                            <a:latin typeface="Cambria Math" panose="02040503050406030204" pitchFamily="18" charset="0"/>
                          </a:rPr>
                        </m:ctrlPr>
                      </m:sSubPr>
                      <m:e>
                        <m:r>
                          <a:rPr lang="en-US" sz="1250">
                            <a:latin typeface="Cambria Math"/>
                          </a:rPr>
                          <m:t>𝑉</m:t>
                        </m:r>
                      </m:e>
                      <m:sub>
                        <m:r>
                          <a:rPr lang="en-US" sz="1250">
                            <a:latin typeface="Cambria Math"/>
                          </a:rPr>
                          <m:t>𝑘</m:t>
                        </m:r>
                      </m:sub>
                    </m:sSub>
                    <m:r>
                      <a:rPr lang="en-US" sz="1250">
                        <a:latin typeface="Cambria Math"/>
                      </a:rPr>
                      <m:t>)</m:t>
                    </m:r>
                  </m:oMath>
                </a14:m>
                <a:r>
                  <a:rPr lang="en-US" sz="1250" dirty="0">
                    <a:solidFill>
                      <a:srgbClr val="222222"/>
                    </a:solidFill>
                    <a:latin typeface="Calibri" pitchFamily="34" charset="0"/>
                    <a:ea typeface="Calibri" pitchFamily="34" charset="-122"/>
                    <a:cs typeface="Calibri" pitchFamily="34" charset="-120"/>
                  </a:rPr>
                  <a:t>, whose prior comes from text: it knows that a backburn is the ignite effect on a ring sector ahead of the head. Its two candidates per cycle therefore land in the gate-passing region far more often than uniform or evolved proposals. It replaces only the generator — screening, forecasting and acceptance are unchanged. Campaign evidence: 232 proposals → 47 admissions under the exact gates, about one admitted object per five proposals.</a:t>
                </a:r>
                <a:endParaRPr lang="en-US" sz="1300" dirty="0"/>
              </a:p>
            </p:txBody>
          </p:sp>
        </mc:Choice>
        <mc:Fallback xmlns="">
          <p:sp>
            <p:nvSpPr>
              <p:cNvPr id="16" name="Text 12"/>
              <p:cNvSpPr>
                <a:spLocks noRot="1" noChangeAspect="1" noMove="1" noResize="1" noEditPoints="1" noAdjustHandles="1" noChangeArrowheads="1" noChangeShapeType="1" noTextEdit="1"/>
              </p:cNvSpPr>
              <p:nvPr/>
            </p:nvSpPr>
            <p:spPr>
              <a:xfrm>
                <a:off x="777240" y="5157216"/>
                <a:ext cx="10698480" cy="1298448"/>
              </a:xfrm>
              <a:prstGeom prst="rect">
                <a:avLst/>
              </a:prstGeom>
              <a:blipFill>
                <a:blip r:embed="rId7"/>
                <a:stretch>
                  <a:fillRect l="-969" t="-3756" r="-114"/>
                </a:stretch>
              </a:blipFill>
              <a:ln/>
            </p:spPr>
            <p:txBody>
              <a:bodyPr/>
              <a:lstStyle/>
              <a:p>
                <a:r>
                  <a:rPr lang="tr-TR">
                    <a:noFill/>
                  </a:rPr>
                  <a:t/>
                </a:r>
              </a:p>
            </p:txBody>
          </p:sp>
        </mc:Fallback>
      </mc:AlternateContent>
      <p:sp>
        <p:nvSpPr>
          <p:cNvPr id="90006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67 / 113</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 ③ : Before and After, for Each of the Four Products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457200" y="1325880"/>
            <a:ext cx="5532120" cy="2423160"/>
          </a:xfrm>
          <a:prstGeom prst="roundRect">
            <a:avLst>
              <a:gd name="adj" fmla="val 1887"/>
            </a:avLst>
          </a:prstGeom>
          <a:solidFill>
            <a:srgbClr val="F2F2F2"/>
          </a:solidFill>
          <a:ln/>
        </p:spPr>
      </p:sp>
      <p:sp>
        <p:nvSpPr>
          <p:cNvPr id="7" name="Text 3"/>
          <p:cNvSpPr/>
          <p:nvPr/>
        </p:nvSpPr>
        <p:spPr>
          <a:xfrm>
            <a:off x="640080" y="1435608"/>
            <a:ext cx="5166360" cy="2240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New rule — G15 (admitted)</a:t>
            </a:r>
            <a:r>
              <a:rPr lang="en-US" sz="1200" b="1" dirty="0">
                <a:solidFill>
                  <a:srgbClr val="6E6E6E"/>
                </a:solidFill>
                <a:latin typeface="Calibri" pitchFamily="34" charset="0"/>
                <a:ea typeface="Calibri" pitchFamily="34" charset="-122"/>
                <a:cs typeface="Calibri" pitchFamily="34" charset="-120"/>
              </a:rPr>
              <a:t>Before: </a:t>
            </a:r>
            <a:r>
              <a:rPr lang="en-US" sz="1200" dirty="0">
                <a:solidFill>
                  <a:srgbClr val="222222"/>
                </a:solidFill>
                <a:latin typeface="Calibri" pitchFamily="34" charset="0"/>
                <a:ea typeface="Calibri" pitchFamily="34" charset="-122"/>
                <a:cs typeface="Calibri" pitchFamily="34" charset="-120"/>
              </a:rPr>
              <a:t>the cell (fire threat H, asset risk VH, feasibility VH) is uncovered, and no doctrine rule ever orders a retardant drop.</a:t>
            </a:r>
            <a:r>
              <a:rPr lang="en-US" sz="1200" b="1" dirty="0">
                <a:solidFill>
                  <a:srgbClr val="3E7C4F"/>
                </a:solidFill>
                <a:latin typeface="Calibri" pitchFamily="34" charset="0"/>
                <a:ea typeface="Calibri" pitchFamily="34" charset="-122"/>
                <a:cs typeface="Calibri" pitchFamily="34" charset="-120"/>
              </a:rPr>
              <a:t>After: </a:t>
            </a:r>
            <a:r>
              <a:rPr lang="en-US" sz="1200" dirty="0">
                <a:solidFill>
                  <a:srgbClr val="222222"/>
                </a:solidFill>
                <a:latin typeface="Calibri" pitchFamily="34" charset="0"/>
                <a:ea typeface="Calibri" pitchFamily="34" charset="-122"/>
                <a:cs typeface="Calibri" pitchFamily="34" charset="-120"/>
              </a:rPr>
              <a:t>IF fire threat is H AND asset risk is VH AND feasibility is VH THEN suppression 0.9, retardant drop 0.8, asset protection 0.7 — a library actuator enters use.</a:t>
            </a:r>
            <a:endParaRPr lang="en-US" sz="1250" dirty="0"/>
          </a:p>
        </p:txBody>
      </p:sp>
      <p:sp>
        <p:nvSpPr>
          <p:cNvPr id="8" name="Shape 4"/>
          <p:cNvSpPr/>
          <p:nvPr/>
        </p:nvSpPr>
        <p:spPr>
          <a:xfrm>
            <a:off x="6217920" y="1325880"/>
            <a:ext cx="5532120" cy="2423160"/>
          </a:xfrm>
          <a:prstGeom prst="roundRect">
            <a:avLst>
              <a:gd name="adj" fmla="val 1887"/>
            </a:avLst>
          </a:prstGeom>
          <a:solidFill>
            <a:srgbClr val="F2F2F2"/>
          </a:solidFill>
          <a:ln/>
        </p:spPr>
      </p:sp>
      <p:sp>
        <p:nvSpPr>
          <p:cNvPr id="9" name="Text 5"/>
          <p:cNvSpPr/>
          <p:nvPr/>
        </p:nvSpPr>
        <p:spPr>
          <a:xfrm>
            <a:off x="6400800" y="1435608"/>
            <a:ext cx="5166360" cy="2240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New concept — capacity_starved_head_pressure</a:t>
            </a:r>
            <a:r>
              <a:rPr lang="en-US" sz="1200" b="1" dirty="0">
                <a:solidFill>
                  <a:srgbClr val="6E6E6E"/>
                </a:solidFill>
                <a:latin typeface="Calibri" pitchFamily="34" charset="0"/>
                <a:ea typeface="Calibri" pitchFamily="34" charset="-122"/>
                <a:cs typeface="Calibri" pitchFamily="34" charset="-120"/>
              </a:rPr>
              <a:t>Before: </a:t>
            </a:r>
            <a:r>
              <a:rPr lang="en-US" sz="1200" dirty="0">
                <a:solidFill>
                  <a:srgbClr val="222222"/>
                </a:solidFill>
                <a:latin typeface="Calibri" pitchFamily="34" charset="0"/>
                <a:ea typeface="Calibri" pitchFamily="34" charset="-122"/>
                <a:cs typeface="Calibri" pitchFamily="34" charset="-120"/>
              </a:rPr>
              <a:t>a recurring situation (high threat, high urgency, capacity available) can only be expressed as three separate clauses in every rule.</a:t>
            </a:r>
            <a:r>
              <a:rPr lang="en-US" sz="1200" b="1" dirty="0">
                <a:solidFill>
                  <a:srgbClr val="3E7C4F"/>
                </a:solidFill>
                <a:latin typeface="Calibri" pitchFamily="34" charset="0"/>
                <a:ea typeface="Calibri" pitchFamily="34" charset="-122"/>
                <a:cs typeface="Calibri" pitchFamily="34" charset="-120"/>
              </a:rPr>
              <a:t>After: </a:t>
            </a:r>
            <a:r>
              <a:rPr lang="en-US" sz="1200" dirty="0">
                <a:solidFill>
                  <a:srgbClr val="222222"/>
                </a:solidFill>
                <a:latin typeface="Calibri" pitchFamily="34" charset="0"/>
                <a:ea typeface="Calibri" pitchFamily="34" charset="-122"/>
                <a:cs typeface="Calibri" pitchFamily="34" charset="-120"/>
              </a:rPr>
              <a:t>one named concept = 0.50 · fire threat + 0.30 · urgency + 0.20 · feasibility joins the hierarchy; later rules test it with a single clause.</a:t>
            </a:r>
            <a:endParaRPr lang="en-US" sz="1250" dirty="0"/>
          </a:p>
        </p:txBody>
      </p:sp>
      <p:sp>
        <p:nvSpPr>
          <p:cNvPr id="10" name="Shape 6"/>
          <p:cNvSpPr/>
          <p:nvPr/>
        </p:nvSpPr>
        <p:spPr>
          <a:xfrm>
            <a:off x="457200" y="3886200"/>
            <a:ext cx="5532120" cy="2423160"/>
          </a:xfrm>
          <a:prstGeom prst="roundRect">
            <a:avLst>
              <a:gd name="adj" fmla="val 1887"/>
            </a:avLst>
          </a:prstGeom>
          <a:solidFill>
            <a:srgbClr val="F2F2F2"/>
          </a:solidFill>
          <a:ln/>
        </p:spPr>
      </p:sp>
      <p:sp>
        <p:nvSpPr>
          <p:cNvPr id="11" name="Text 7"/>
          <p:cNvSpPr/>
          <p:nvPr/>
        </p:nvSpPr>
        <p:spPr>
          <a:xfrm>
            <a:off x="640080" y="3995928"/>
            <a:ext cx="5166360" cy="2240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New macro — waterborne_relay_and_shelter</a:t>
            </a:r>
            <a:r>
              <a:rPr lang="en-US" sz="1200" b="1" dirty="0">
                <a:solidFill>
                  <a:srgbClr val="6E6E6E"/>
                </a:solidFill>
                <a:latin typeface="Calibri" pitchFamily="34" charset="0"/>
                <a:ea typeface="Calibri" pitchFamily="34" charset="-122"/>
                <a:cs typeface="Calibri" pitchFamily="34" charset="-120"/>
              </a:rPr>
              <a:t>Before: </a:t>
            </a:r>
            <a:r>
              <a:rPr lang="en-US" sz="1200" dirty="0">
                <a:solidFill>
                  <a:srgbClr val="222222"/>
                </a:solidFill>
                <a:latin typeface="Calibri" pitchFamily="34" charset="0"/>
                <a:ea typeface="Calibri" pitchFamily="34" charset="-122"/>
                <a:cs typeface="Calibri" pitchFamily="34" charset="-120"/>
              </a:rPr>
              <a:t>sustaining water supply while sheltering the population requires three separate orders in every cycle.</a:t>
            </a:r>
            <a:r>
              <a:rPr lang="en-US" sz="1200" b="1" dirty="0">
                <a:solidFill>
                  <a:srgbClr val="3E7C4F"/>
                </a:solidFill>
                <a:latin typeface="Calibri" pitchFamily="34" charset="0"/>
                <a:ea typeface="Calibri" pitchFamily="34" charset="-122"/>
                <a:cs typeface="Calibri" pitchFamily="34" charset="-120"/>
              </a:rPr>
              <a:t>After: </a:t>
            </a:r>
            <a:r>
              <a:rPr lang="en-US" sz="1200" dirty="0">
                <a:solidFill>
                  <a:srgbClr val="222222"/>
                </a:solidFill>
                <a:latin typeface="Calibri" pitchFamily="34" charset="0"/>
                <a:ea typeface="Calibri" pitchFamily="34" charset="-122"/>
                <a:cs typeface="Calibri" pitchFamily="34" charset="-120"/>
              </a:rPr>
              <a:t>one named order = water drafting 1.00, evacuation 0.60, public warning 0.50, issued and tuned as a single consequent.</a:t>
            </a:r>
            <a:endParaRPr lang="en-US" sz="1250" dirty="0"/>
          </a:p>
        </p:txBody>
      </p:sp>
      <p:sp>
        <p:nvSpPr>
          <p:cNvPr id="12" name="Shape 8"/>
          <p:cNvSpPr/>
          <p:nvPr/>
        </p:nvSpPr>
        <p:spPr>
          <a:xfrm>
            <a:off x="6217920" y="3886200"/>
            <a:ext cx="5532120" cy="2423160"/>
          </a:xfrm>
          <a:prstGeom prst="roundRect">
            <a:avLst>
              <a:gd name="adj" fmla="val 1887"/>
            </a:avLst>
          </a:prstGeom>
          <a:solidFill>
            <a:srgbClr val="F2F2F2"/>
          </a:solidFill>
          <a:ln/>
        </p:spPr>
      </p:sp>
      <p:sp>
        <p:nvSpPr>
          <p:cNvPr id="13" name="Text 9"/>
          <p:cNvSpPr/>
          <p:nvPr/>
        </p:nvSpPr>
        <p:spPr>
          <a:xfrm>
            <a:off x="6400800" y="3995928"/>
            <a:ext cx="5166360" cy="2240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New actuator — preemptive_asset_coating</a:t>
            </a:r>
            <a:r>
              <a:rPr lang="en-US" sz="1200" b="1" dirty="0">
                <a:solidFill>
                  <a:srgbClr val="6E6E6E"/>
                </a:solidFill>
                <a:latin typeface="Calibri" pitchFamily="34" charset="0"/>
                <a:ea typeface="Calibri" pitchFamily="34" charset="-122"/>
                <a:cs typeface="Calibri" pitchFamily="34" charset="-120"/>
              </a:rPr>
              <a:t>Before: </a:t>
            </a:r>
            <a:r>
              <a:rPr lang="en-US" sz="1200" dirty="0">
                <a:solidFill>
                  <a:srgbClr val="222222"/>
                </a:solidFill>
                <a:latin typeface="Calibri" pitchFamily="34" charset="0"/>
                <a:ea typeface="Calibri" pitchFamily="34" charset="-122"/>
                <a:cs typeface="Calibri" pitchFamily="34" charset="-120"/>
              </a:rPr>
              <a:t>no doctrine action can coat assets before the fire front arrives; blending the six families cannot express it.</a:t>
            </a:r>
            <a:r>
              <a:rPr lang="en-US" sz="1200" b="1" dirty="0">
                <a:solidFill>
                  <a:srgbClr val="3E7C4F"/>
                </a:solidFill>
                <a:latin typeface="Calibri" pitchFamily="34" charset="0"/>
                <a:ea typeface="Calibri" pitchFamily="34" charset="-122"/>
                <a:cs typeface="Calibri" pitchFamily="34" charset="-120"/>
              </a:rPr>
              <a:t>After: </a:t>
            </a:r>
            <a:r>
              <a:rPr lang="en-US" sz="1200" dirty="0">
                <a:solidFill>
                  <a:srgbClr val="222222"/>
                </a:solidFill>
                <a:latin typeface="Calibri" pitchFamily="34" charset="0"/>
                <a:ea typeface="Calibri" pitchFamily="34" charset="-122"/>
                <a:cs typeface="Calibri" pitchFamily="34" charset="-120"/>
              </a:rPr>
              <a:t>coat on assets within 4 cells at 1.0, and coat on populated cells within 3 cells at 1.0 — a genuinely new tactic built from the fixed effects.</a:t>
            </a:r>
            <a:endParaRPr lang="en-US" sz="1250" dirty="0"/>
          </a:p>
        </p:txBody>
      </p:sp>
      <p:sp>
        <p:nvSpPr>
          <p:cNvPr id="14" name="Text 10"/>
          <p:cNvSpPr/>
          <p:nvPr/>
        </p:nvSpPr>
        <p:spPr>
          <a:xfrm>
            <a:off x="457200" y="6473952"/>
            <a:ext cx="1124712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All four are recorded, gate-admitted artifacts of the campaign, stored with their birth cycle, triggering deficit, and full gate verdicts.</a:t>
            </a:r>
            <a:endParaRPr lang="en-US" sz="1200" dirty="0"/>
          </a:p>
        </p:txBody>
      </p:sp>
      <p:sp>
        <p:nvSpPr>
          <p:cNvPr id="90006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68 / 113</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Gate by Gate: the preemptive_asset_coating Package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23" name="Table 0"/>
              <p:cNvGraphicFramePr>
                <a:graphicFrameLocks noGrp="1"/>
              </p:cNvGraphicFramePr>
              <p:nvPr/>
            </p:nvGraphicFramePr>
            <p:xfrm>
              <a:off x="457200" y="1298448"/>
              <a:ext cx="11247120" cy="4044696"/>
            </p:xfrm>
            <a:graphic>
              <a:graphicData uri="http://schemas.openxmlformats.org/drawingml/2006/table">
                <a:tbl>
                  <a:tblPr/>
                  <a:tblGrid>
                    <a:gridCol w="5943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40233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Gate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Question asked of this package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Verdict &amp; why</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Does the reply parse into antecedents / consequents / clauses?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one minified JSON object, well-formed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Closed vocabulary, arity, ranges, no duplicate antecedent cell?</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effects/sectors from the fixed lists, dose ∈ [0,1], cell unoccupied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(concepts only) </a:t>
                          </a:r>
                          <a14:m>
                            <m:oMath xmlns:m="http://schemas.openxmlformats.org/officeDocument/2006/math">
                              <m:r>
                                <a:rPr lang="en-US" sz="1150">
                                  <a:latin typeface="Cambria Math"/>
                                </a:rPr>
                                <m:t>𝑐𝑜𝑠</m:t>
                              </m:r>
                              <m:r>
                                <a:rPr lang="en-US" sz="1150">
                                  <a:latin typeface="Cambria Math"/>
                                </a:rPr>
                                <m:t>(</m:t>
                              </m:r>
                              <m:sSub>
                                <m:sSubPr>
                                  <m:ctrlPr>
                                    <a:rPr lang="en-US" i="1">
                                      <a:latin typeface="Cambria Math" panose="02040503050406030204" pitchFamily="18" charset="0"/>
                                    </a:rPr>
                                  </m:ctrlPr>
                                </m:sSubPr>
                                <m:e>
                                  <m:r>
                                    <a:rPr lang="en-US" sz="1150">
                                      <a:latin typeface="Cambria Math"/>
                                    </a:rPr>
                                    <m:t>𝜔</m:t>
                                  </m:r>
                                </m:e>
                                <m:sub>
                                  <m:r>
                                    <a:rPr lang="en-US" sz="1150">
                                      <a:latin typeface="Cambria Math"/>
                                    </a:rPr>
                                    <m:t>𝑛𝑒𝑤</m:t>
                                  </m:r>
                                </m:sub>
                              </m:sSub>
                              <m:r>
                                <a:rPr lang="en-US" sz="1150">
                                  <a:latin typeface="Cambria Math"/>
                                </a:rPr>
                                <m:t>, </m:t>
                              </m:r>
                              <m:sSub>
                                <m:sSubPr>
                                  <m:ctrlPr>
                                    <a:rPr lang="en-US" i="1">
                                      <a:latin typeface="Cambria Math" panose="02040503050406030204" pitchFamily="18" charset="0"/>
                                    </a:rPr>
                                  </m:ctrlPr>
                                </m:sSubPr>
                                <m:e>
                                  <m:r>
                                    <a:rPr lang="en-US" sz="1150">
                                      <a:latin typeface="Cambria Math"/>
                                    </a:rPr>
                                    <m:t>𝜔</m:t>
                                  </m:r>
                                </m:e>
                                <m:sub>
                                  <m:r>
                                    <a:rPr lang="en-US" sz="1150">
                                      <a:latin typeface="Cambria Math"/>
                                    </a:rPr>
                                    <m:t>𝑐</m:t>
                                  </m:r>
                                </m:sub>
                              </m:sSub>
                              <m:r>
                                <a:rPr lang="en-US" sz="1150">
                                  <a:latin typeface="Cambria Math"/>
                                </a:rPr>
                                <m:t>) &lt; 0.95</m:t>
                              </m:r>
                            </m:oMath>
                          </a14:m>
                          <a:r>
                            <a:rPr lang="en-US" sz="1150" dirty="0">
                              <a:solidFill>
                                <a:srgbClr val="222222"/>
                              </a:solidFill>
                              <a:latin typeface="Calibri" pitchFamily="34" charset="0"/>
                              <a:ea typeface="Calibri" pitchFamily="34" charset="-122"/>
                              <a:cs typeface="Calibri" pitchFamily="34" charset="-120"/>
                            </a:rPr>
                            <a:t> vs every concept?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 not applicable: the new object is an actuator</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G2c</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Does every antecedent fire in the present situation?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asset exposure risk VH is active where residual cost sits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Any physical work beyond the funded budget?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coating passes fit inside the standing allocation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Reseeded forecast, seed Va: does </a:t>
                          </a:r>
                          <a14:m>
                            <m:oMath xmlns:m="http://schemas.openxmlformats.org/officeDocument/2006/math">
                              <m:sSub>
                                <m:sSubPr>
                                  <m:ctrlPr>
                                    <a:rPr lang="en-US" i="1">
                                      <a:latin typeface="Cambria Math" panose="02040503050406030204" pitchFamily="18" charset="0"/>
                                    </a:rPr>
                                  </m:ctrlPr>
                                </m:sSubPr>
                                <m:e>
                                  <m:r>
                                    <a:rPr lang="en-US" sz="1150">
                                      <a:latin typeface="Cambria Math"/>
                                    </a:rPr>
                                    <m:t>𝐽</m:t>
                                  </m:r>
                                </m:e>
                                <m:sub>
                                  <m:r>
                                    <a:rPr lang="en-US" sz="1150">
                                      <a:latin typeface="Cambria Math"/>
                                    </a:rPr>
                                    <m:t>𝑃h𝑦</m:t>
                                  </m:r>
                                </m:sub>
                              </m:sSub>
                            </m:oMath>
                          </a14:m>
                          <a:r>
                            <a:rPr lang="en-US" sz="1150" dirty="0">
                              <a:solidFill>
                                <a:srgbClr val="222222"/>
                              </a:solidFill>
                              <a:latin typeface="Calibri" pitchFamily="34" charset="0"/>
                              <a:ea typeface="Calibri" pitchFamily="34" charset="-122"/>
                              <a:cs typeface="Calibri" pitchFamily="34" charset="-120"/>
                            </a:rPr>
                            <a:t> strictly fall?</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a:t>
                          </a:r>
                          <a14:m>
                            <m:oMath xmlns:m="http://schemas.openxmlformats.org/officeDocument/2006/math">
                              <m:r>
                                <a:rPr lang="en-US" sz="1150">
                                  <a:latin typeface="Cambria Math"/>
                                </a:rPr>
                                <m:t>𝛥</m:t>
                              </m:r>
                              <m:sSub>
                                <m:sSubPr>
                                  <m:ctrlPr>
                                    <a:rPr lang="en-US" i="1">
                                      <a:latin typeface="Cambria Math" panose="02040503050406030204" pitchFamily="18" charset="0"/>
                                    </a:rPr>
                                  </m:ctrlPr>
                                </m:sSubPr>
                                <m:e>
                                  <m:r>
                                    <a:rPr lang="en-US" sz="1150">
                                      <a:latin typeface="Cambria Math"/>
                                    </a:rPr>
                                    <m:t>𝐽</m:t>
                                  </m:r>
                                </m:e>
                                <m:sub>
                                  <m:r>
                                    <a:rPr lang="en-US" sz="1150">
                                      <a:latin typeface="Cambria Math"/>
                                    </a:rPr>
                                    <m:t>𝑃h𝑦</m:t>
                                  </m:r>
                                </m:sub>
                              </m:sSub>
                              <m:r>
                                <a:rPr lang="en-US" sz="1150">
                                  <a:latin typeface="Cambria Math"/>
                                </a:rPr>
                                <m:t> &lt; 0</m:t>
                              </m:r>
                            </m:oMath>
                          </a14:m>
                          <a:r>
                            <a:rPr lang="en-US" sz="1150" dirty="0">
                              <a:solidFill>
                                <a:srgbClr val="222222"/>
                              </a:solidFill>
                              <a:latin typeface="Calibri" pitchFamily="34" charset="0"/>
                              <a:ea typeface="Calibri" pitchFamily="34" charset="-122"/>
                              <a:cs typeface="Calibri" pitchFamily="34" charset="-120"/>
                            </a:rPr>
                            <a:t> — coated cells resist the head fire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1 rollout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Same strict check on independent seed Vb?</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the gain is not an artifact of one future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1 rollout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(packages) do both rollouts beat the payoff margin </a:t>
                          </a:r>
                          <a14:m>
                            <m:oMath xmlns:m="http://schemas.openxmlformats.org/officeDocument/2006/math">
                              <m:sSub>
                                <m:sSubPr>
                                  <m:ctrlPr>
                                    <a:rPr lang="en-US" i="1">
                                      <a:latin typeface="Cambria Math" panose="02040503050406030204" pitchFamily="18" charset="0"/>
                                    </a:rPr>
                                  </m:ctrlPr>
                                </m:sSubPr>
                                <m:e>
                                  <m:r>
                                    <a:rPr lang="en-US" sz="1150">
                                      <a:latin typeface="Cambria Math"/>
                                    </a:rPr>
                                    <m:t>𝛿</m:t>
                                  </m:r>
                                </m:e>
                                <m:sub>
                                  <m:r>
                                    <a:rPr lang="en-US" sz="1150">
                                      <a:latin typeface="Cambria Math"/>
                                    </a:rPr>
                                    <m:t>𝑣</m:t>
                                  </m:r>
                                </m:sub>
                              </m:sSub>
                            </m:oMath>
                          </a14:m>
                          <a:r>
                            <a:rPr lang="en-US" sz="1150" dirty="0">
                              <a:solidFill>
                                <a:srgbClr val="222222"/>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growth pays beyond </a:t>
                          </a:r>
                          <a14:m>
                            <m:oMath xmlns:m="http://schemas.openxmlformats.org/officeDocument/2006/math">
                              <m:sSub>
                                <m:sSubPr>
                                  <m:ctrlPr>
                                    <a:rPr lang="en-US" i="1">
                                      <a:latin typeface="Cambria Math" panose="02040503050406030204" pitchFamily="18" charset="0"/>
                                    </a:rPr>
                                  </m:ctrlPr>
                                </m:sSubPr>
                                <m:e>
                                  <m:r>
                                    <a:rPr lang="en-US" sz="1150">
                                      <a:latin typeface="Cambria Math"/>
                                    </a:rPr>
                                    <m:t>𝛿</m:t>
                                  </m:r>
                                </m:e>
                                <m:sub>
                                  <m:r>
                                    <a:rPr lang="en-US" sz="1150">
                                      <a:latin typeface="Cambria Math"/>
                                    </a:rPr>
                                    <m:t>𝑣</m:t>
                                  </m:r>
                                </m:sub>
                              </m:sSub>
                              <m:r>
                                <a:rPr lang="en-US" sz="1150">
                                  <a:latin typeface="Cambria Math"/>
                                </a:rPr>
                                <m:t> = 0.0001</m:t>
                              </m:r>
                            </m:oMath>
                          </a14:m>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2 rollouts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G5b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(packages) strike the new object out — does cost rise in both futures?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the payoff belongs to the actuator itself → ADMITTED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2 rollouts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Choice>
        <mc:Fallback xmlns="">
          <p:graphicFrame>
            <p:nvGraphicFramePr>
              <p:cNvPr id="23" name="Table 0"/>
              <p:cNvGraphicFramePr>
                <a:graphicFrameLocks noGrp="1"/>
              </p:cNvGraphicFramePr>
              <p:nvPr/>
            </p:nvGraphicFramePr>
            <p:xfrm>
              <a:off x="457200" y="1298448"/>
              <a:ext cx="11247120" cy="4044696"/>
            </p:xfrm>
            <a:graphic>
              <a:graphicData uri="http://schemas.openxmlformats.org/drawingml/2006/table">
                <a:tbl>
                  <a:tblPr/>
                  <a:tblGrid>
                    <a:gridCol w="5943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40233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Gate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Question asked of this package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Verdict &amp; why</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Does the reply parse into antecedents / consequents / clauses?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one minified JSON object, well-formed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Closed vocabulary, arity, ranges, no duplicate antecedent cell?</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effects/sectors from the fixed lists, dose ∈ [0,1], cell unoccupied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4348" t="-301515" r="-153478" b="-618182"/>
                          </a:stretch>
                        </a:blipFill>
                      </a:tcPr>
                    </a:tc>
                    <a:tc>
                      <a:txBody>
                        <a:bodyPr/>
                        <a:lstStyle/>
                        <a:p>
                          <a:pPr marL="0" indent="0">
                            <a:buNone/>
                          </a:pPr>
                          <a:r>
                            <a:rPr lang="en-US" sz="1150" dirty="0">
                              <a:solidFill>
                                <a:srgbClr val="6E6E6E"/>
                              </a:solidFill>
                              <a:latin typeface="Calibri" pitchFamily="34" charset="0"/>
                              <a:ea typeface="Calibri" pitchFamily="34" charset="-122"/>
                              <a:cs typeface="Calibri" pitchFamily="34" charset="-120"/>
                            </a:rPr>
                            <a:t>— not applicable: the new object is an actuator</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G2c</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Does every antecedent fire in the present situation?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asset exposure risk VH is active where residual cost sits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Any physical work beyond the funded budget?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coating passes fit inside the standing allocation</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4348" t="-601515" r="-153478" b="-318182"/>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90690" t="-601515" r="-21724" b="-318182"/>
                          </a:stretch>
                        </a:blipFill>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1 rollout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Same strict check on independent seed Vb?</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the gain is not an artifact of one future</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1 rollout</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4348" t="-801515" r="-153478" b="-118182"/>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90690" t="-801515" r="-21724" b="-118182"/>
                          </a:stretch>
                        </a:blipFill>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2 rollouts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4236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G5b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(packages) strike the new object out — does cost rise in both futures?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150" dirty="0">
                              <a:solidFill>
                                <a:srgbClr val="222222"/>
                              </a:solidFill>
                              <a:latin typeface="Calibri" pitchFamily="34" charset="0"/>
                              <a:ea typeface="Calibri" pitchFamily="34" charset="-122"/>
                              <a:cs typeface="Calibri" pitchFamily="34" charset="-120"/>
                            </a:rPr>
                            <a:t>✓ the payoff belongs to the actuator itself → ADMITTED</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150" dirty="0">
                              <a:solidFill>
                                <a:srgbClr val="6E6E6E"/>
                              </a:solidFill>
                              <a:latin typeface="Calibri" pitchFamily="34" charset="0"/>
                              <a:ea typeface="Calibri" pitchFamily="34" charset="-122"/>
                              <a:cs typeface="Calibri" pitchFamily="34" charset="-120"/>
                            </a:rPr>
                            <a:t>2 rollouts</a:t>
                          </a:r>
                          <a:endParaRPr lang="en-US" sz="115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Fallback>
      </mc:AlternateContent>
      <p:sp>
        <p:nvSpPr>
          <p:cNvPr id="7" name="Text 2"/>
          <p:cNvSpPr/>
          <p:nvPr/>
        </p:nvSpPr>
        <p:spPr>
          <a:xfrm>
            <a:off x="457200" y="5806440"/>
            <a:ext cx="11247120" cy="64008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Counter-example (cheap reject): </a:t>
            </a:r>
            <a:r>
              <a:rPr lang="en-US" sz="1200" dirty="0">
                <a:solidFill>
                  <a:srgbClr val="222222"/>
                </a:solidFill>
                <a:latin typeface="Calibri" pitchFamily="34" charset="0"/>
                <a:ea typeface="Calibri" pitchFamily="34" charset="-122"/>
                <a:cs typeface="Calibri" pitchFamily="34" charset="-120"/>
              </a:rPr>
              <a:t>a proposal citing evacuation pressure VH while the gated activation reads L fails G2c — returned to the proposer with the failing gate named, for a bounded revision. Rollout-costing rejections (G3–G5b) end the stage for the cycle instead.</a:t>
            </a:r>
            <a:endParaRPr lang="en-US" sz="1200" dirty="0"/>
          </a:p>
        </p:txBody>
      </p:sp>
      <p:sp>
        <p:nvSpPr>
          <p:cNvPr id="90006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69 / 113</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DSS FRAMEWORK : LAYER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Everything a Decision Cycle Can Do to Doctrine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457200" y="1371600"/>
            <a:ext cx="11247120" cy="1078992"/>
          </a:xfrm>
          <a:prstGeom prst="roundRect">
            <a:avLst>
              <a:gd name="adj" fmla="val 4237"/>
            </a:avLst>
          </a:prstGeom>
          <a:solidFill>
            <a:srgbClr val="F2F2F2"/>
          </a:solidFill>
          <a:ln/>
        </p:spPr>
      </p:sp>
      <p:sp>
        <p:nvSpPr>
          <p:cNvPr id="7" name="Text 3"/>
          <p:cNvSpPr/>
          <p:nvPr/>
        </p:nvSpPr>
        <p:spPr>
          <a:xfrm>
            <a:off x="658368" y="1627632"/>
            <a:ext cx="548640" cy="548640"/>
          </a:xfrm>
          <a:prstGeom prst="rect">
            <a:avLst/>
          </a:prstGeom>
          <a:noFill/>
          <a:ln/>
        </p:spPr>
        <p:txBody>
          <a:bodyPr wrap="square" lIns="0" tIns="0" rIns="0" bIns="0" rtlCol="0" anchor="ctr"/>
          <a:lstStyle/>
          <a:p>
            <a:pPr marL="0" indent="0">
              <a:buNone/>
            </a:pPr>
            <a:r>
              <a:rPr lang="en-US" sz="2600" b="1" dirty="0">
                <a:solidFill>
                  <a:srgbClr val="E31836"/>
                </a:solidFill>
                <a:latin typeface="Cambria" pitchFamily="34" charset="0"/>
                <a:ea typeface="Cambria" pitchFamily="34" charset="-122"/>
                <a:cs typeface="Cambria" pitchFamily="34" charset="-120"/>
              </a:rPr>
              <a:t>1</a:t>
            </a:r>
            <a:endParaRPr lang="en-US" sz="2600" dirty="0"/>
          </a:p>
        </p:txBody>
      </p:sp>
      <mc:AlternateContent xmlns:mc="http://schemas.openxmlformats.org/markup-compatibility/2006" xmlns:a14="http://schemas.microsoft.com/office/drawing/2010/main">
        <mc:Choice Requires="a14">
          <p:sp>
            <p:nvSpPr>
              <p:cNvPr id="8" name="Text 4"/>
              <p:cNvSpPr/>
              <p:nvPr/>
            </p:nvSpPr>
            <p:spPr>
              <a:xfrm>
                <a:off x="1371600" y="1481328"/>
                <a:ext cx="10149840" cy="914400"/>
              </a:xfrm>
              <a:prstGeom prst="rect">
                <a:avLst/>
              </a:prstGeom>
              <a:noFill/>
              <a:ln/>
            </p:spPr>
            <p:txBody>
              <a:bodyPr wrap="square" lIns="0" tIns="0" rIns="0" bIns="0" rtlCol="0" anchor="t"/>
              <a:lstStyle/>
              <a:p>
                <a:pPr marL="0" indent="0">
                  <a:lnSpc>
                    <a:spcPct val="104000"/>
                  </a:lnSpc>
                  <a:buNone/>
                </a:pPr>
                <a:r>
                  <a:rPr lang="en-US" sz="1350" b="1" dirty="0">
                    <a:solidFill>
                      <a:srgbClr val="000000"/>
                    </a:solidFill>
                    <a:latin typeface="Calibri" pitchFamily="34" charset="0"/>
                    <a:ea typeface="Calibri" pitchFamily="34" charset="-122"/>
                    <a:cs typeface="Calibri" pitchFamily="34" charset="-120"/>
                  </a:rPr>
                  <a:t>Applied as written — </a:t>
                </a:r>
                <a:r>
                  <a:rPr lang="en-US" sz="1250" dirty="0">
                    <a:solidFill>
                      <a:srgbClr val="222222"/>
                    </a:solidFill>
                    <a:latin typeface="Calibri" pitchFamily="34" charset="0"/>
                    <a:ea typeface="Calibri" pitchFamily="34" charset="-122"/>
                    <a:cs typeface="Calibri" pitchFamily="34" charset="-120"/>
                  </a:rPr>
                  <a:t>R5 fires on fire threat VH → </a:t>
                </a:r>
                <a14:m>
                  <m:oMath xmlns:m="http://schemas.openxmlformats.org/officeDocument/2006/math">
                    <m:r>
                      <a:rPr lang="en-US" sz="1250">
                        <a:latin typeface="Cambria Math"/>
                      </a:rPr>
                      <m:t>𝐽</m:t>
                    </m:r>
                    <m:r>
                      <a:rPr lang="en-US" sz="1250">
                        <a:latin typeface="Cambria Math"/>
                      </a:rPr>
                      <m:t> = 0.208</m:t>
                    </m:r>
                  </m:oMath>
                </a14:m>
                <a:r>
                  <a:rPr lang="en-US" sz="1250" dirty="0">
                    <a:solidFill>
                      <a:srgbClr val="222222"/>
                    </a:solidFill>
                    <a:latin typeface="Calibri" pitchFamily="34" charset="0"/>
                    <a:ea typeface="Calibri" pitchFamily="34" charset="-122"/>
                    <a:cs typeface="Calibri" pitchFamily="34" charset="-120"/>
                  </a:rPr>
                  <a:t> ≤ bound, </a:t>
                </a:r>
                <a14:m>
                  <m:oMath xmlns:m="http://schemas.openxmlformats.org/officeDocument/2006/math">
                    <m:r>
                      <a:rPr lang="en-US" sz="1250">
                        <a:latin typeface="Cambria Math"/>
                      </a:rPr>
                      <m:t>𝑄</m:t>
                    </m:r>
                    <m:r>
                      <a:rPr lang="en-US" sz="1250">
                        <a:latin typeface="Cambria Math"/>
                      </a:rPr>
                      <m:t> = 0.776 ≥ 0.60</m:t>
                    </m:r>
                  </m:oMath>
                </a14:m>
                <a:r>
                  <a:rPr lang="en-US" sz="1250" dirty="0">
                    <a:solidFill>
                      <a:srgbClr val="222222"/>
                    </a:solidFill>
                    <a:latin typeface="Calibri" pitchFamily="34" charset="0"/>
                    <a:ea typeface="Calibri" pitchFamily="34" charset="-122"/>
                    <a:cs typeface="Calibri" pitchFamily="34" charset="-120"/>
                  </a:rPr>
                  <a:t> → fielded unattenuated </a:t>
                </a:r>
                <a:r>
                  <a:rPr lang="en-US" sz="1150" i="1" dirty="0">
                    <a:solidFill>
                      <a:srgbClr val="6E6E6E"/>
                    </a:solidFill>
                    <a:latin typeface="Calibri" pitchFamily="34" charset="0"/>
                    <a:ea typeface="Calibri" pitchFamily="34" charset="-122"/>
                    <a:cs typeface="Calibri" pitchFamily="34" charset="-120"/>
                  </a:rPr>
                  <a:t>(the common case: 151 745 fielded orders passed the applicable gates)</a:t>
                </a:r>
                <a:endParaRPr lang="en-US" sz="1350" dirty="0"/>
              </a:p>
            </p:txBody>
          </p:sp>
        </mc:Choice>
        <mc:Fallback xmlns="">
          <p:sp>
            <p:nvSpPr>
              <p:cNvPr id="8" name="Text 4"/>
              <p:cNvSpPr>
                <a:spLocks noRot="1" noChangeAspect="1" noMove="1" noResize="1" noEditPoints="1" noAdjustHandles="1" noChangeArrowheads="1" noChangeShapeType="1" noTextEdit="1"/>
              </p:cNvSpPr>
              <p:nvPr/>
            </p:nvSpPr>
            <p:spPr>
              <a:xfrm>
                <a:off x="1371600" y="1481328"/>
                <a:ext cx="10149840" cy="914400"/>
              </a:xfrm>
              <a:prstGeom prst="rect">
                <a:avLst/>
              </a:prstGeom>
              <a:blipFill>
                <a:blip r:embed="rId5"/>
                <a:stretch>
                  <a:fillRect l="-1021" t="-6000"/>
                </a:stretch>
              </a:blipFill>
              <a:ln/>
            </p:spPr>
            <p:txBody>
              <a:bodyPr/>
              <a:lstStyle/>
              <a:p>
                <a:r>
                  <a:rPr lang="tr-TR">
                    <a:noFill/>
                  </a:rPr>
                  <a:t/>
                </a:r>
              </a:p>
            </p:txBody>
          </p:sp>
        </mc:Fallback>
      </mc:AlternateContent>
      <p:sp>
        <p:nvSpPr>
          <p:cNvPr id="9" name="Shape 5"/>
          <p:cNvSpPr/>
          <p:nvPr/>
        </p:nvSpPr>
        <p:spPr>
          <a:xfrm>
            <a:off x="457200" y="2578608"/>
            <a:ext cx="11247120" cy="1078992"/>
          </a:xfrm>
          <a:prstGeom prst="roundRect">
            <a:avLst>
              <a:gd name="adj" fmla="val 4237"/>
            </a:avLst>
          </a:prstGeom>
          <a:solidFill>
            <a:srgbClr val="F2F2F2"/>
          </a:solidFill>
          <a:ln/>
        </p:spPr>
      </p:sp>
      <p:sp>
        <p:nvSpPr>
          <p:cNvPr id="10" name="Text 6"/>
          <p:cNvSpPr/>
          <p:nvPr/>
        </p:nvSpPr>
        <p:spPr>
          <a:xfrm>
            <a:off x="658368" y="2834640"/>
            <a:ext cx="548640" cy="548640"/>
          </a:xfrm>
          <a:prstGeom prst="rect">
            <a:avLst/>
          </a:prstGeom>
          <a:noFill/>
          <a:ln/>
        </p:spPr>
        <p:txBody>
          <a:bodyPr wrap="square" lIns="0" tIns="0" rIns="0" bIns="0" rtlCol="0" anchor="ctr"/>
          <a:lstStyle/>
          <a:p>
            <a:pPr marL="0" indent="0">
              <a:buNone/>
            </a:pPr>
            <a:r>
              <a:rPr lang="en-US" sz="2600" b="1" dirty="0">
                <a:solidFill>
                  <a:srgbClr val="E31836"/>
                </a:solidFill>
                <a:latin typeface="Cambria" pitchFamily="34" charset="0"/>
                <a:ea typeface="Cambria" pitchFamily="34" charset="-122"/>
                <a:cs typeface="Cambria" pitchFamily="34" charset="-120"/>
              </a:rPr>
              <a:t>2</a:t>
            </a:r>
            <a:endParaRPr lang="en-US" sz="2600" dirty="0"/>
          </a:p>
        </p:txBody>
      </p:sp>
      <mc:AlternateContent xmlns:mc="http://schemas.openxmlformats.org/markup-compatibility/2006" xmlns:a14="http://schemas.microsoft.com/office/drawing/2010/main">
        <mc:Choice Requires="a14">
          <p:sp>
            <p:nvSpPr>
              <p:cNvPr id="11" name="Text 7"/>
              <p:cNvSpPr/>
              <p:nvPr/>
            </p:nvSpPr>
            <p:spPr>
              <a:xfrm>
                <a:off x="1371600" y="2688336"/>
                <a:ext cx="10149840" cy="914400"/>
              </a:xfrm>
              <a:prstGeom prst="rect">
                <a:avLst/>
              </a:prstGeom>
              <a:noFill/>
              <a:ln/>
            </p:spPr>
            <p:txBody>
              <a:bodyPr wrap="square" lIns="0" tIns="0" rIns="0" bIns="0" rtlCol="0" anchor="t"/>
              <a:lstStyle/>
              <a:p>
                <a:pPr marL="0" indent="0">
                  <a:lnSpc>
                    <a:spcPct val="104000"/>
                  </a:lnSpc>
                  <a:buNone/>
                </a:pPr>
                <a:r>
                  <a:rPr lang="en-US" sz="1350" b="1" dirty="0">
                    <a:solidFill>
                      <a:srgbClr val="000000"/>
                    </a:solidFill>
                    <a:latin typeface="Calibri" pitchFamily="34" charset="0"/>
                    <a:ea typeface="Calibri" pitchFamily="34" charset="-122"/>
                    <a:cs typeface="Calibri" pitchFamily="34" charset="-120"/>
                  </a:rPr>
                  <a:t>Tuned by stage ① — </a:t>
                </a:r>
                <a:r>
                  <a:rPr lang="en-US" sz="1250" dirty="0">
                    <a:solidFill>
                      <a:srgbClr val="222222"/>
                    </a:solidFill>
                    <a:latin typeface="Calibri" pitchFamily="34" charset="0"/>
                    <a:ea typeface="Calibri" pitchFamily="34" charset="-122"/>
                    <a:cs typeface="Calibri" pitchFamily="34" charset="-120"/>
                  </a:rPr>
                  <a:t>cost deficit, coverage intact → R5's consequents step </a:t>
                </a:r>
                <a14:m>
                  <m:oMath xmlns:m="http://schemas.openxmlformats.org/officeDocument/2006/math">
                    <m:r>
                      <a:rPr lang="en-US" sz="1250">
                        <a:latin typeface="Cambria Math"/>
                      </a:rPr>
                      <m:t>±0.05</m:t>
                    </m:r>
                  </m:oMath>
                </a14:m>
                <a:r>
                  <a:rPr lang="en-US" sz="1250" dirty="0">
                    <a:solidFill>
                      <a:srgbClr val="222222"/>
                    </a:solidFill>
                    <a:latin typeface="Calibri" pitchFamily="34" charset="0"/>
                    <a:ea typeface="Calibri" pitchFamily="34" charset="-122"/>
                    <a:cs typeface="Calibri" pitchFamily="34" charset="-120"/>
                  </a:rPr>
                  <a:t>, kept on strict </a:t>
                </a:r>
                <a14:m>
                  <m:oMath xmlns:m="http://schemas.openxmlformats.org/officeDocument/2006/math">
                    <m:sSub>
                      <m:sSubPr>
                        <m:ctrlPr>
                          <a:rPr lang="en-US" i="1">
                            <a:latin typeface="Cambria Math" panose="02040503050406030204" pitchFamily="18" charset="0"/>
                          </a:rPr>
                        </m:ctrlPr>
                      </m:sSubPr>
                      <m:e>
                        <m:r>
                          <a:rPr lang="en-US" sz="1250">
                            <a:latin typeface="Cambria Math"/>
                          </a:rPr>
                          <m:t>𝐽</m:t>
                        </m:r>
                      </m:e>
                      <m:sub>
                        <m:r>
                          <a:rPr lang="en-US" sz="1250">
                            <a:latin typeface="Cambria Math"/>
                          </a:rPr>
                          <m:t>𝑃h𝑦</m:t>
                        </m:r>
                      </m:sub>
                    </m:sSub>
                  </m:oMath>
                </a14:m>
                <a:r>
                  <a:rPr lang="en-US" sz="1250" dirty="0">
                    <a:solidFill>
                      <a:srgbClr val="222222"/>
                    </a:solidFill>
                    <a:latin typeface="Calibri" pitchFamily="34" charset="0"/>
                    <a:ea typeface="Calibri" pitchFamily="34" charset="-122"/>
                    <a:cs typeface="Calibri" pitchFamily="34" charset="-120"/>
                  </a:rPr>
                  <a:t> improvement </a:t>
                </a:r>
                <a:r>
                  <a:rPr lang="en-US" sz="1150" i="1" dirty="0">
                    <a:solidFill>
                      <a:srgbClr val="6E6E6E"/>
                    </a:solidFill>
                    <a:latin typeface="Calibri" pitchFamily="34" charset="0"/>
                    <a:ea typeface="Calibri" pitchFamily="34" charset="-122"/>
                    <a:cs typeface="Calibri" pitchFamily="34" charset="-120"/>
                  </a:rPr>
                  <a:t>(616 trials → 129 kept, 167 consequent updates)</a:t>
                </a:r>
                <a:endParaRPr lang="en-US" sz="1350" dirty="0"/>
              </a:p>
            </p:txBody>
          </p:sp>
        </mc:Choice>
        <mc:Fallback xmlns="">
          <p:sp>
            <p:nvSpPr>
              <p:cNvPr id="11" name="Text 7"/>
              <p:cNvSpPr>
                <a:spLocks noRot="1" noChangeAspect="1" noMove="1" noResize="1" noEditPoints="1" noAdjustHandles="1" noChangeArrowheads="1" noChangeShapeType="1" noTextEdit="1"/>
              </p:cNvSpPr>
              <p:nvPr/>
            </p:nvSpPr>
            <p:spPr>
              <a:xfrm>
                <a:off x="1371600" y="2688336"/>
                <a:ext cx="10149840" cy="914400"/>
              </a:xfrm>
              <a:prstGeom prst="rect">
                <a:avLst/>
              </a:prstGeom>
              <a:blipFill>
                <a:blip r:embed="rId6"/>
                <a:stretch>
                  <a:fillRect l="-1021"/>
                </a:stretch>
              </a:blipFill>
              <a:ln/>
            </p:spPr>
            <p:txBody>
              <a:bodyPr/>
              <a:lstStyle/>
              <a:p>
                <a:r>
                  <a:rPr lang="tr-TR">
                    <a:noFill/>
                  </a:rPr>
                  <a:t/>
                </a:r>
              </a:p>
            </p:txBody>
          </p:sp>
        </mc:Fallback>
      </mc:AlternateContent>
      <p:sp>
        <p:nvSpPr>
          <p:cNvPr id="12" name="Shape 8"/>
          <p:cNvSpPr/>
          <p:nvPr/>
        </p:nvSpPr>
        <p:spPr>
          <a:xfrm>
            <a:off x="457200" y="3785616"/>
            <a:ext cx="11247120" cy="1078992"/>
          </a:xfrm>
          <a:prstGeom prst="roundRect">
            <a:avLst>
              <a:gd name="adj" fmla="val 4237"/>
            </a:avLst>
          </a:prstGeom>
          <a:solidFill>
            <a:srgbClr val="F2F2F2"/>
          </a:solidFill>
          <a:ln/>
        </p:spPr>
      </p:sp>
      <p:sp>
        <p:nvSpPr>
          <p:cNvPr id="13" name="Text 9"/>
          <p:cNvSpPr/>
          <p:nvPr/>
        </p:nvSpPr>
        <p:spPr>
          <a:xfrm>
            <a:off x="658368" y="4041648"/>
            <a:ext cx="548640" cy="548640"/>
          </a:xfrm>
          <a:prstGeom prst="rect">
            <a:avLst/>
          </a:prstGeom>
          <a:noFill/>
          <a:ln/>
        </p:spPr>
        <p:txBody>
          <a:bodyPr wrap="square" lIns="0" tIns="0" rIns="0" bIns="0" rtlCol="0" anchor="ctr"/>
          <a:lstStyle/>
          <a:p>
            <a:pPr marL="0" indent="0">
              <a:buNone/>
            </a:pPr>
            <a:r>
              <a:rPr lang="en-US" sz="2600" b="1" dirty="0">
                <a:solidFill>
                  <a:srgbClr val="E31836"/>
                </a:solidFill>
                <a:latin typeface="Cambria" pitchFamily="34" charset="0"/>
                <a:ea typeface="Cambria" pitchFamily="34" charset="-122"/>
                <a:cs typeface="Cambria" pitchFamily="34" charset="-120"/>
              </a:rPr>
              <a:t>3</a:t>
            </a:r>
            <a:endParaRPr lang="en-US" sz="2600" dirty="0"/>
          </a:p>
        </p:txBody>
      </p:sp>
      <p:sp>
        <p:nvSpPr>
          <p:cNvPr id="14" name="Text 10"/>
          <p:cNvSpPr/>
          <p:nvPr/>
        </p:nvSpPr>
        <p:spPr>
          <a:xfrm>
            <a:off x="1371600" y="3895344"/>
            <a:ext cx="10149840" cy="914400"/>
          </a:xfrm>
          <a:prstGeom prst="rect">
            <a:avLst/>
          </a:prstGeom>
          <a:noFill/>
          <a:ln/>
        </p:spPr>
        <p:txBody>
          <a:bodyPr wrap="square" lIns="0" tIns="0" rIns="0" bIns="0" rtlCol="0" anchor="t"/>
          <a:lstStyle/>
          <a:p>
            <a:pPr marL="0" indent="0">
              <a:lnSpc>
                <a:spcPct val="104000"/>
              </a:lnSpc>
              <a:buNone/>
            </a:pPr>
            <a:r>
              <a:rPr lang="en-US" sz="1350" b="1" dirty="0">
                <a:solidFill>
                  <a:srgbClr val="000000"/>
                </a:solidFill>
                <a:latin typeface="Calibri" pitchFamily="34" charset="0"/>
                <a:ea typeface="Calibri" pitchFamily="34" charset="-122"/>
                <a:cs typeface="Calibri" pitchFamily="34" charset="-120"/>
              </a:rPr>
              <a:t>Grown by stage ② — </a:t>
            </a:r>
            <a:r>
              <a:rPr lang="en-US" sz="1250" dirty="0">
                <a:solidFill>
                  <a:srgbClr val="222222"/>
                </a:solidFill>
                <a:latin typeface="Calibri" pitchFamily="34" charset="0"/>
                <a:ea typeface="Calibri" pitchFamily="34" charset="-122"/>
                <a:cs typeface="Calibri" pitchFamily="34" charset="-120"/>
              </a:rPr>
              <a:t>coverage gap → a rule is written on the uncovered cell; ambiguity → a narrow term splits it </a:t>
            </a:r>
            <a:r>
              <a:rPr lang="en-US" sz="1150" i="1" dirty="0">
                <a:solidFill>
                  <a:srgbClr val="6E6E6E"/>
                </a:solidFill>
                <a:latin typeface="Calibri" pitchFamily="34" charset="0"/>
                <a:ea typeface="Calibri" pitchFamily="34" charset="-122"/>
                <a:cs typeface="Calibri" pitchFamily="34" charset="-120"/>
              </a:rPr>
              <a:t>(359 trials → 40 rules, 4 term insertions)</a:t>
            </a:r>
            <a:endParaRPr lang="en-US" sz="1350" dirty="0"/>
          </a:p>
        </p:txBody>
      </p:sp>
      <p:sp>
        <p:nvSpPr>
          <p:cNvPr id="15" name="Shape 11"/>
          <p:cNvSpPr/>
          <p:nvPr/>
        </p:nvSpPr>
        <p:spPr>
          <a:xfrm>
            <a:off x="457200" y="4992624"/>
            <a:ext cx="11247120" cy="1078992"/>
          </a:xfrm>
          <a:prstGeom prst="roundRect">
            <a:avLst>
              <a:gd name="adj" fmla="val 4237"/>
            </a:avLst>
          </a:prstGeom>
          <a:solidFill>
            <a:srgbClr val="FDE8EB"/>
          </a:solidFill>
          <a:ln/>
        </p:spPr>
      </p:sp>
      <p:sp>
        <p:nvSpPr>
          <p:cNvPr id="16" name="Text 12"/>
          <p:cNvSpPr/>
          <p:nvPr/>
        </p:nvSpPr>
        <p:spPr>
          <a:xfrm>
            <a:off x="658368" y="5248656"/>
            <a:ext cx="548640" cy="548640"/>
          </a:xfrm>
          <a:prstGeom prst="rect">
            <a:avLst/>
          </a:prstGeom>
          <a:noFill/>
          <a:ln/>
        </p:spPr>
        <p:txBody>
          <a:bodyPr wrap="square" lIns="0" tIns="0" rIns="0" bIns="0" rtlCol="0" anchor="ctr"/>
          <a:lstStyle/>
          <a:p>
            <a:pPr marL="0" indent="0">
              <a:buNone/>
            </a:pPr>
            <a:r>
              <a:rPr lang="en-US" sz="2600" b="1" dirty="0">
                <a:solidFill>
                  <a:srgbClr val="E31836"/>
                </a:solidFill>
                <a:latin typeface="Cambria" pitchFamily="34" charset="0"/>
                <a:ea typeface="Cambria" pitchFamily="34" charset="-122"/>
                <a:cs typeface="Cambria" pitchFamily="34" charset="-120"/>
              </a:rPr>
              <a:t>4</a:t>
            </a:r>
            <a:endParaRPr lang="en-US" sz="2600" dirty="0"/>
          </a:p>
        </p:txBody>
      </p:sp>
      <p:sp>
        <p:nvSpPr>
          <p:cNvPr id="17" name="Text 13"/>
          <p:cNvSpPr/>
          <p:nvPr/>
        </p:nvSpPr>
        <p:spPr>
          <a:xfrm>
            <a:off x="1371600" y="5102352"/>
            <a:ext cx="10149840" cy="914400"/>
          </a:xfrm>
          <a:prstGeom prst="rect">
            <a:avLst/>
          </a:prstGeom>
          <a:noFill/>
          <a:ln/>
        </p:spPr>
        <p:txBody>
          <a:bodyPr wrap="square" lIns="0" tIns="0" rIns="0" bIns="0" rtlCol="0" anchor="t"/>
          <a:lstStyle/>
          <a:p>
            <a:pPr marL="0" indent="0">
              <a:lnSpc>
                <a:spcPct val="104000"/>
              </a:lnSpc>
              <a:buNone/>
            </a:pPr>
            <a:r>
              <a:rPr lang="en-US" sz="1350" b="1" dirty="0">
                <a:solidFill>
                  <a:srgbClr val="000000"/>
                </a:solidFill>
                <a:latin typeface="Calibri" pitchFamily="34" charset="0"/>
                <a:ea typeface="Calibri" pitchFamily="34" charset="-122"/>
                <a:cs typeface="Calibri" pitchFamily="34" charset="-120"/>
              </a:rPr>
              <a:t>Created by stage ③ — </a:t>
            </a:r>
            <a:r>
              <a:rPr lang="en-US" sz="1250" dirty="0">
                <a:solidFill>
                  <a:srgbClr val="222222"/>
                </a:solidFill>
                <a:latin typeface="Calibri" pitchFamily="34" charset="0"/>
                <a:ea typeface="Calibri" pitchFamily="34" charset="-122"/>
                <a:cs typeface="Calibri" pitchFamily="34" charset="-120"/>
              </a:rPr>
              <a:t>evolving stages exhausted → the proposer drafts a rule — or a package: concept (capacity_starved_head_pressure), macro (waterborne_relay_and_shelter), or actuator (preemptive_asset_coating) — behind all nine gates </a:t>
            </a:r>
            <a:r>
              <a:rPr lang="en-US" sz="1150" i="1" dirty="0">
                <a:solidFill>
                  <a:srgbClr val="6E6E6E"/>
                </a:solidFill>
                <a:latin typeface="Calibri" pitchFamily="34" charset="0"/>
                <a:ea typeface="Calibri" pitchFamily="34" charset="-122"/>
                <a:cs typeface="Calibri" pitchFamily="34" charset="-120"/>
              </a:rPr>
              <a:t>(232 proposals → 47 admitted (36 rules + 11 packages))</a:t>
            </a:r>
            <a:endParaRPr lang="en-US" sz="1350" dirty="0"/>
          </a:p>
        </p:txBody>
      </p:sp>
      <p:sp>
        <p:nvSpPr>
          <p:cNvPr id="18" name="Text 14"/>
          <p:cNvSpPr/>
          <p:nvPr/>
        </p:nvSpPr>
        <p:spPr>
          <a:xfrm>
            <a:off x="502920" y="6309360"/>
            <a:ext cx="11155680" cy="411480"/>
          </a:xfrm>
          <a:prstGeom prst="rect">
            <a:avLst/>
          </a:prstGeom>
          <a:noFill/>
          <a:ln/>
        </p:spPr>
        <p:txBody>
          <a:bodyPr wrap="square" lIns="0" tIns="0" rIns="0" bIns="0" rtlCol="0" anchor="t"/>
          <a:lstStyle/>
          <a:p>
            <a:pPr marL="0" indent="0">
              <a:lnSpc>
                <a:spcPct val="104000"/>
              </a:lnSpc>
              <a:buNone/>
            </a:pPr>
            <a:r>
              <a:rPr lang="en-US" sz="1300" b="1" i="1" dirty="0">
                <a:solidFill>
                  <a:srgbClr val="E31836"/>
                </a:solidFill>
                <a:latin typeface="Calibri" pitchFamily="34" charset="0"/>
                <a:ea typeface="Calibri" pitchFamily="34" charset="-122"/>
                <a:cs typeface="Calibri" pitchFamily="34" charset="-120"/>
              </a:rPr>
              <a:t>Combinatorially open, physically closed: doctrine grows in rules, names, and tactics — the state vector, the decision axes, and the seven effects never change.</a:t>
            </a:r>
            <a:endParaRPr lang="en-US" sz="1300" dirty="0"/>
          </a:p>
        </p:txBody>
      </p:sp>
      <p:sp>
        <p:nvSpPr>
          <p:cNvPr id="90007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70 / 113</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28">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4</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Performance</a:t>
            </a:r>
            <a:endParaRPr lang="en-US" sz="4800" dirty="0"/>
          </a:p>
        </p:txBody>
      </p:sp>
      <p:sp>
        <p:nvSpPr>
          <p:cNvPr id="4" name="Text 2"/>
          <p:cNvSpPr/>
          <p:nvPr/>
        </p:nvSpPr>
        <p:spPr>
          <a:xfrm>
            <a:off x="822960" y="3703320"/>
            <a:ext cx="10607040" cy="1478280"/>
          </a:xfrm>
          <a:prstGeom prst="rect">
            <a:avLst/>
          </a:prstGeom>
          <a:noFill/>
          <a:ln/>
        </p:spPr>
        <p:txBody>
          <a:bodyPr wrap="square" lIns="0" tIns="0" rIns="0" bIns="0" rtlCol="0" anchor="ctr"/>
          <a:lstStyle/>
          <a:p>
            <a:pPr marL="0" indent="0">
              <a:buNone/>
            </a:pPr>
            <a:r>
              <a:rPr lang="en-US" sz="1800" dirty="0">
                <a:solidFill>
                  <a:srgbClr val="D9D9D9"/>
                </a:solidFill>
                <a:latin typeface="Calibri" pitchFamily="34" charset="0"/>
                <a:ea typeface="Calibri" pitchFamily="34" charset="-122"/>
                <a:cs typeface="Calibri" pitchFamily="34" charset="-120"/>
              </a:rPr>
              <a:t>Is the simulator a faithful proxy? </a:t>
            </a:r>
            <a:endParaRPr lang="tr-TR" sz="1800" dirty="0">
              <a:solidFill>
                <a:srgbClr val="D9D9D9"/>
              </a:solidFill>
              <a:latin typeface="Calibri" pitchFamily="34" charset="0"/>
              <a:ea typeface="Calibri" pitchFamily="34" charset="-122"/>
              <a:cs typeface="Calibri" pitchFamily="34" charset="-120"/>
            </a:endParaRPr>
          </a:p>
          <a:p>
            <a:pPr marL="0" indent="0">
              <a:buNone/>
            </a:pPr>
            <a:r>
              <a:rPr lang="en-US" sz="1800" dirty="0">
                <a:solidFill>
                  <a:srgbClr val="D9D9D9"/>
                </a:solidFill>
                <a:latin typeface="Calibri" pitchFamily="34" charset="0"/>
                <a:ea typeface="Calibri" pitchFamily="34" charset="-122"/>
                <a:cs typeface="Calibri" pitchFamily="34" charset="-120"/>
              </a:rPr>
              <a:t>Where do comparisons carry information?</a:t>
            </a:r>
            <a:endParaRPr lang="en-US" sz="1800" dirty="0"/>
          </a:p>
          <a:p>
            <a:pPr marL="0" indent="0">
              <a:buNone/>
            </a:pPr>
            <a:r>
              <a:rPr lang="en-US" sz="1800" dirty="0">
                <a:solidFill>
                  <a:srgbClr val="D9D9D9"/>
                </a:solidFill>
                <a:latin typeface="Calibri" pitchFamily="34" charset="0"/>
                <a:ea typeface="Calibri" pitchFamily="34" charset="-122"/>
                <a:cs typeface="Calibri" pitchFamily="34" charset="-120"/>
              </a:rPr>
              <a:t>Does openness pay? </a:t>
            </a:r>
            <a:endParaRPr lang="tr-TR" sz="1800" dirty="0">
              <a:solidFill>
                <a:srgbClr val="D9D9D9"/>
              </a:solidFill>
              <a:latin typeface="Calibri" pitchFamily="34" charset="0"/>
              <a:ea typeface="Calibri" pitchFamily="34" charset="-122"/>
              <a:cs typeface="Calibri" pitchFamily="34" charset="-120"/>
            </a:endParaRPr>
          </a:p>
          <a:p>
            <a:pPr marL="0" indent="0">
              <a:buNone/>
            </a:pPr>
            <a:r>
              <a:rPr lang="en-US" sz="1800" dirty="0">
                <a:solidFill>
                  <a:srgbClr val="D9D9D9"/>
                </a:solidFill>
                <a:latin typeface="Calibri" pitchFamily="34" charset="0"/>
                <a:ea typeface="Calibri" pitchFamily="34" charset="-122"/>
                <a:cs typeface="Calibri" pitchFamily="34" charset="-120"/>
              </a:rPr>
              <a:t>What did the generative stage actually build? </a:t>
            </a:r>
            <a:endParaRPr lang="tr-TR" sz="1800" dirty="0">
              <a:solidFill>
                <a:srgbClr val="D9D9D9"/>
              </a:solidFill>
              <a:latin typeface="Calibri" pitchFamily="34" charset="0"/>
              <a:ea typeface="Calibri" pitchFamily="34" charset="-122"/>
              <a:cs typeface="Calibri" pitchFamily="34" charset="-120"/>
            </a:endParaRPr>
          </a:p>
          <a:p>
            <a:pPr marL="0" indent="0">
              <a:buNone/>
            </a:pPr>
            <a:r>
              <a:rPr lang="en-US" sz="1800" dirty="0">
                <a:solidFill>
                  <a:srgbClr val="D9D9D9"/>
                </a:solidFill>
                <a:latin typeface="Calibri" pitchFamily="34" charset="0"/>
                <a:ea typeface="Calibri" pitchFamily="34" charset="-122"/>
                <a:cs typeface="Calibri" pitchFamily="34" charset="-120"/>
              </a:rPr>
              <a:t>Fast and scalable enough?</a:t>
            </a:r>
            <a:endParaRPr lang="en-US" sz="1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7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71 / 113</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RUBRIC</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Eight Criteria, Fixed Before the Experiments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43584"/>
            <a:ext cx="11247120" cy="566928"/>
          </a:xfrm>
          <a:prstGeom prst="rect">
            <a:avLst/>
          </a:prstGeom>
          <a:noFill/>
          <a:ln/>
        </p:spPr>
        <p:txBody>
          <a:bodyPr wrap="square" lIns="0" tIns="0" rIns="0" bIns="0" rtlCol="0" anchor="t"/>
          <a:lstStyle/>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No shared rubric exists in the wildfire-DSS literature; most published evaluations measure adoption, not decision improvement. </a:t>
            </a:r>
            <a:r>
              <a:rPr lang="en-US" sz="1250" b="1" dirty="0">
                <a:solidFill>
                  <a:srgbClr val="000000"/>
                </a:solidFill>
                <a:latin typeface="Calibri" pitchFamily="34" charset="0"/>
                <a:ea typeface="Calibri" pitchFamily="34" charset="-122"/>
                <a:cs typeface="Calibri" pitchFamily="34" charset="-120"/>
              </a:rPr>
              <a:t>This chapter fixes eight criteria in advance — from the technical and the decision-support traditions together — and audits every result against them at the end.</a:t>
            </a:r>
            <a:endParaRPr lang="en-US" sz="1250" dirty="0"/>
          </a:p>
        </p:txBody>
      </p:sp>
      <p:graphicFrame>
        <p:nvGraphicFramePr>
          <p:cNvPr id="7" name="Table 0"/>
          <p:cNvGraphicFramePr>
            <a:graphicFrameLocks noGrp="1"/>
          </p:cNvGraphicFramePr>
          <p:nvPr/>
        </p:nvGraphicFramePr>
        <p:xfrm>
          <a:off x="502920" y="1920240"/>
          <a:ext cx="11247120" cy="41148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the literature measures it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S1 Predictive fidelity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core reproduces observed fire behavior from real inputs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retrospective hindcasts; spatial-overlap and arrival-time scores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S2 Decision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recommended interventions improve the outcome vs a no-tool alternative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outcome deltas against no-action on matched scenarios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S3 Timeliness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latency compatible with operational tempo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decision-cycle wall time; detection-to-first-order time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S4 Robustness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graceful behavior under sensor loss, noise, communication failure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performance vs outage level; fail-safe engagement statistics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S5 Uncertainty handling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input uncertainty represented and propagated to the decision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ensemble and input-uncertainty propagation studies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S6 Adaptability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system extends its own knowledge when it does not cover the situation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learning curves; coverage growth; rediscovery of withheld knowledge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S7 Explainability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recommendation traceable to its evidence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trace completeness; interpretability as an adoption gate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S8 Scalability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cost grows manageably with domain size and number of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runtime and quality vs grid size and agent count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Text 3"/>
          <p:cNvSpPr/>
          <p:nvPr/>
        </p:nvSpPr>
        <p:spPr>
          <a:xfrm>
            <a:off x="502920" y="6263640"/>
            <a:ext cx="11247120" cy="36576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Sections: verification answers S1; sensitivity and the ladder answer S2–S5; the adaptation record answers S6–S7; tempo and scale answer S3 and S8. The audit returns as the closing table.</a:t>
            </a:r>
            <a:endParaRPr lang="en-US" sz="1200" dirty="0"/>
          </a:p>
        </p:txBody>
      </p:sp>
      <p:sp>
        <p:nvSpPr>
          <p:cNvPr id="90007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72 / 113</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SETUP</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Experimental Ground : Parameters and Assumptions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Shared parameters of all campaigns</a:t>
            </a:r>
            <a:endParaRPr lang="en-US" sz="14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nvGraphicFramePr>
            <p:xfrm>
              <a:off x="502920" y="1609344"/>
              <a:ext cx="5669280" cy="3840480"/>
            </p:xfrm>
            <a:graphic>
              <a:graphicData uri="http://schemas.openxmlformats.org/drawingml/2006/table">
                <a:tbl>
                  <a:tblPr/>
                  <a:tblGrid>
                    <a:gridCol w="32918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Grid (synthetic)</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200 × 200 cells at 90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Simulation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30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cycle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20 min (default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Attention threshold </a:t>
                          </a:r>
                          <a14:m>
                            <m:oMath xmlns:m="http://schemas.openxmlformats.org/officeDocument/2006/math">
                              <m:sSub>
                                <m:sSubPr>
                                  <m:ctrlPr>
                                    <a:rPr lang="en-US" i="1">
                                      <a:latin typeface="Cambria Math" panose="02040503050406030204" pitchFamily="18" charset="0"/>
                                    </a:rPr>
                                  </m:ctrlPr>
                                </m:sSubPr>
                                <m:e>
                                  <m:r>
                                    <a:rPr lang="en-US" sz="1200">
                                      <a:latin typeface="Cambria Math"/>
                                    </a:rPr>
                                    <m:t>𝜏</m:t>
                                  </m:r>
                                </m:e>
                                <m:sub>
                                  <m:r>
                                    <a:rPr lang="en-US" sz="1200">
                                      <a:latin typeface="Cambria Math"/>
                                    </a:rPr>
                                    <m:t>𝑎𝑡𝑡</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Satisficing bound </a:t>
                          </a:r>
                          <a14:m>
                            <m:oMath xmlns:m="http://schemas.openxmlformats.org/officeDocument/2006/math">
                              <m:sSub>
                                <m:sSubPr>
                                  <m:ctrlPr>
                                    <a:rPr lang="en-US" i="1">
                                      <a:latin typeface="Cambria Math" panose="02040503050406030204" pitchFamily="18" charset="0"/>
                                    </a:rPr>
                                  </m:ctrlPr>
                                </m:sSubPr>
                                <m:e>
                                  <m:r>
                                    <a:rPr lang="en-US" sz="1200">
                                      <a:latin typeface="Cambria Math"/>
                                    </a:rPr>
                                    <m:t>𝐽</m:t>
                                  </m:r>
                                </m:e>
                                <m:sub>
                                  <m:r>
                                    <a:rPr lang="en-US" sz="1200">
                                      <a:latin typeface="Cambria Math"/>
                                    </a:rPr>
                                    <m:t>𝑇𝐻</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Quality gate </a:t>
                          </a:r>
                          <a14:m>
                            <m:oMath xmlns:m="http://schemas.openxmlformats.org/officeDocument/2006/math">
                              <m:r>
                                <a:rPr lang="en-US" sz="1200">
                                  <a:latin typeface="Cambria Math"/>
                                </a:rPr>
                                <m:t>𝜂</m:t>
                              </m:r>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Trial basis (shadow forecast)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 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Monte Carlo runs per condition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50 (seeds 1–50)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i9-10900K, 32 GB RAM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Choice>
        <mc:Fallback xmlns="">
          <p:graphicFrame>
            <p:nvGraphicFramePr>
              <p:cNvPr id="7" name="Table 0"/>
              <p:cNvGraphicFramePr>
                <a:graphicFrameLocks noGrp="1"/>
              </p:cNvGraphicFramePr>
              <p:nvPr/>
            </p:nvGraphicFramePr>
            <p:xfrm>
              <a:off x="502920" y="1609344"/>
              <a:ext cx="5669280" cy="3840480"/>
            </p:xfrm>
            <a:graphic>
              <a:graphicData uri="http://schemas.openxmlformats.org/drawingml/2006/table">
                <a:tbl>
                  <a:tblPr/>
                  <a:tblGrid>
                    <a:gridCol w="32918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Grid (synthetic)</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200 × 200 cells at 90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Simulation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30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cycle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 20 min (default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85" t="-401587" r="-72458" b="-503175"/>
                          </a:stretch>
                        </a:blipFill>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85" t="-501587" r="-72458" b="-403175"/>
                          </a:stretch>
                        </a:blipFill>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185" t="-601587" r="-72458" b="-303175"/>
                          </a:stretch>
                        </a:blipFill>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Trial basis (shadow forecast)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 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Monte Carlo runs per condition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50 (seeds 1–50)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i9-10900K, 32 GB RAM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Fallback>
      </mc:AlternateContent>
      <p:sp>
        <p:nvSpPr>
          <p:cNvPr id="8" name="Text 3"/>
          <p:cNvSpPr/>
          <p:nvPr/>
        </p:nvSpPr>
        <p:spPr>
          <a:xfrm>
            <a:off x="6537960" y="1261872"/>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Two scenario families</a:t>
            </a:r>
            <a:endParaRPr lang="en-US" sz="1400" dirty="0"/>
          </a:p>
        </p:txBody>
      </p:sp>
      <p:sp>
        <p:nvSpPr>
          <p:cNvPr id="9" name="Text 4"/>
          <p:cNvSpPr/>
          <p:nvPr/>
        </p:nvSpPr>
        <p:spPr>
          <a:xfrm>
            <a:off x="6537960" y="1609344"/>
            <a:ext cx="5212080" cy="137160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Synthetic — </a:t>
            </a:r>
            <a:r>
              <a:rPr lang="en-US" sz="1200" dirty="0">
                <a:solidFill>
                  <a:srgbClr val="222222"/>
                </a:solidFill>
                <a:latin typeface="Calibri" pitchFamily="34" charset="0"/>
                <a:ea typeface="Calibri" pitchFamily="34" charset="-122"/>
                <a:cs typeface="Calibri" pitchFamily="34" charset="-120"/>
              </a:rPr>
              <a:t>procedurally generated worlds: terrain presets, seeded settlements and roads, capacity-limited bases; ignitions on the least reachable burnable cells.</a:t>
            </a:r>
            <a:r>
              <a:rPr lang="en-US" sz="1200" b="1" dirty="0">
                <a:solidFill>
                  <a:srgbClr val="000000"/>
                </a:solidFill>
                <a:latin typeface="Calibri" pitchFamily="34" charset="0"/>
                <a:ea typeface="Calibri" pitchFamily="34" charset="-122"/>
                <a:cs typeface="Calibri" pitchFamily="34" charset="-120"/>
              </a:rPr>
              <a:t>Historical — </a:t>
            </a:r>
            <a:r>
              <a:rPr lang="en-US" sz="1200" dirty="0">
                <a:solidFill>
                  <a:srgbClr val="222222"/>
                </a:solidFill>
                <a:latin typeface="Calibri" pitchFamily="34" charset="0"/>
                <a:ea typeface="Calibri" pitchFamily="34" charset="-122"/>
                <a:cs typeface="Calibri" pitchFamily="34" charset="-120"/>
              </a:rPr>
              <a:t>documented fires reconstructed on 90 m grids from real terrain, fuel, and weather data.</a:t>
            </a:r>
            <a:endParaRPr lang="en-US" sz="1200" dirty="0"/>
          </a:p>
        </p:txBody>
      </p:sp>
      <p:sp>
        <p:nvSpPr>
          <p:cNvPr id="10" name="Text 5"/>
          <p:cNvSpPr/>
          <p:nvPr/>
        </p:nvSpPr>
        <p:spPr>
          <a:xfrm>
            <a:off x="6537960" y="3063240"/>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Stated assumptions </a:t>
            </a:r>
            <a:endParaRPr lang="en-US" sz="1400" dirty="0"/>
          </a:p>
        </p:txBody>
      </p:sp>
      <p:sp>
        <p:nvSpPr>
          <p:cNvPr id="11" name="Text 6"/>
          <p:cNvSpPr/>
          <p:nvPr/>
        </p:nvSpPr>
        <p:spPr>
          <a:xfrm>
            <a:off x="6537960" y="3401568"/>
            <a:ext cx="5212080" cy="30175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Uniform precipitation; equilibrium dead-fuel moisture; fuel classes from a land-cover product; crews and aircraft as capacity fields, not units.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Decisions on a fixed cycle; sensing and communication reliable unless an experiment perturbs them.</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Cost priorities that weight J are fixed and known for a run; generative changes act only after passing the gates.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Evacuation is charged through the response capacity it consumes; exposure counts actively burning cells only.</a:t>
            </a:r>
            <a:endParaRPr lang="en-US" sz="1200" dirty="0"/>
          </a:p>
        </p:txBody>
      </p:sp>
      <p:sp>
        <p:nvSpPr>
          <p:cNvPr id="12" name="Text 7"/>
          <p:cNvSpPr/>
          <p:nvPr/>
        </p:nvSpPr>
        <p:spPr>
          <a:xfrm>
            <a:off x="502920" y="5989320"/>
            <a:ext cx="566928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Deviations — thin seed profiles, adaptation off, perturbed observation — are the controlled variables of the individual experiments.</a:t>
            </a:r>
            <a:endParaRPr lang="en-US" sz="1200" dirty="0"/>
          </a:p>
        </p:txBody>
      </p:sp>
      <p:sp>
        <p:nvSpPr>
          <p:cNvPr id="90007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73 / 113</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VERIFICATION 1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Blind Hindcasts on Four Real Fires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98448"/>
            <a:ext cx="11247120" cy="19659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The test is blind: the simulator receives only the real inputs of a documented fire, with no tuning on that fire. All spread parameters are frozen at the literature-calibrated values of Appendix A before any hindcast is run.</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Independent public data: terrain from Copernicus GLO-30, fuel from ESA WorldCover 2021, weather from ERA5 hourly with equilibrium dead-fuel moisture, ignitions and reference burn from NASA FIRMS VIIRS 375 m.</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core models free spread and no suppression, so it overpredicts the final area by design. It is therefore scored on how the front propagates — coverage, front position, arrival time — not on area overlap.</a:t>
            </a:r>
            <a:endParaRPr lang="en-US" sz="1250" dirty="0"/>
          </a:p>
        </p:txBody>
      </p:sp>
      <p:sp>
        <p:nvSpPr>
          <p:cNvPr id="7" name="Text 3"/>
          <p:cNvSpPr/>
          <p:nvPr/>
        </p:nvSpPr>
        <p:spPr>
          <a:xfrm>
            <a:off x="502920" y="3383280"/>
            <a:ext cx="1124712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The four cases</a:t>
            </a:r>
            <a:endParaRPr lang="en-US" sz="1400" dirty="0"/>
          </a:p>
        </p:txBody>
      </p:sp>
      <p:graphicFrame>
        <p:nvGraphicFramePr>
          <p:cNvPr id="8" name="Table 0"/>
          <p:cNvGraphicFramePr>
            <a:graphicFrameLocks noGrp="1"/>
          </p:cNvGraphicFramePr>
          <p:nvPr/>
        </p:nvGraphicFramePr>
        <p:xfrm>
          <a:off x="502920" y="3730752"/>
          <a:ext cx="11247120" cy="1920240"/>
        </p:xfrm>
        <a:graphic>
          <a:graphicData uri="http://schemas.openxmlformats.org/drawingml/2006/table">
            <a:tbl>
              <a:tblPr/>
              <a:tblGrid>
                <a:gridCol w="37490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Bounding box (°E,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Sc1 Manavgat (Antalya) 2021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31.30–31.80 E, 36.72–37.08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2021-07-28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Sc2 Marmaris (Muğla) 2021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28.10–28.55 E, 36.75–37.05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2021-07-29</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Sc3 Milas (Muğla) 2021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27.70–28.35 E, 36.95–37.35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2021-08-01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72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Sc4 Kayadere (Çanakkale) 2023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26.50–27.00 E, 39.90–40.20 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2023-08-22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Shape 4"/>
          <p:cNvSpPr/>
          <p:nvPr/>
        </p:nvSpPr>
        <p:spPr>
          <a:xfrm>
            <a:off x="502920" y="5806440"/>
            <a:ext cx="11247120" cy="731520"/>
          </a:xfrm>
          <a:prstGeom prst="roundRect">
            <a:avLst>
              <a:gd name="adj" fmla="val 6250"/>
            </a:avLst>
          </a:prstGeom>
          <a:solidFill>
            <a:srgbClr val="F2F2F2"/>
          </a:solidFill>
          <a:ln/>
        </p:spPr>
      </p:sp>
      <p:sp>
        <p:nvSpPr>
          <p:cNvPr id="10" name="Text 5"/>
          <p:cNvSpPr/>
          <p:nvPr/>
        </p:nvSpPr>
        <p:spPr>
          <a:xfrm>
            <a:off x="777240" y="5943600"/>
            <a:ext cx="10698480" cy="50292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Chosen to differ in fuel, terrain, and wind. </a:t>
            </a:r>
            <a:r>
              <a:rPr lang="en-US" sz="1250" dirty="0">
                <a:solidFill>
                  <a:srgbClr val="222222"/>
                </a:solidFill>
                <a:latin typeface="Calibri" pitchFamily="34" charset="0"/>
                <a:ea typeface="Calibri" pitchFamily="34" charset="-122"/>
                <a:cs typeface="Calibri" pitchFamily="34" charset="-120"/>
              </a:rPr>
              <a:t>Each case is run in 50 stochastic replicates; the scores on the next slides are the replicate means.</a:t>
            </a:r>
            <a:endParaRPr lang="en-US" sz="1250" dirty="0"/>
          </a:p>
        </p:txBody>
      </p:sp>
      <p:sp>
        <p:nvSpPr>
          <p:cNvPr id="90007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74 / 113</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VERIFICATION 2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Three Front-Propagation Criteria, with Acceptance Levels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298448"/>
            <a:ext cx="11247120" cy="1481328"/>
          </a:xfrm>
          <a:prstGeom prst="roundRect">
            <a:avLst>
              <a:gd name="adj" fmla="val 3086"/>
            </a:avLst>
          </a:prstGeom>
          <a:solidFill>
            <a:srgbClr val="F2F2F2"/>
          </a:solidFill>
          <a:ln/>
        </p:spPr>
      </p:sp>
      <p:sp>
        <p:nvSpPr>
          <p:cNvPr id="7" name="Text 3"/>
          <p:cNvSpPr/>
          <p:nvPr/>
        </p:nvSpPr>
        <p:spPr>
          <a:xfrm>
            <a:off x="777240" y="1408176"/>
            <a:ext cx="10698480" cy="45720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Coverage — probability of detection. </a:t>
            </a:r>
            <a:r>
              <a:rPr lang="en-US" sz="1200" dirty="0">
                <a:solidFill>
                  <a:srgbClr val="222222"/>
                </a:solidFill>
                <a:latin typeface="Calibri" pitchFamily="34" charset="0"/>
                <a:ea typeface="Calibri" pitchFamily="34" charset="-122"/>
                <a:cs typeface="Calibri" pitchFamily="34" charset="-120"/>
              </a:rPr>
              <a:t>The share of the observed burn the model reaches; insensitive to overprediction, so it stays informative on a free run.</a:t>
            </a:r>
            <a:endParaRPr lang="en-US" sz="1250" dirty="0"/>
          </a:p>
        </p:txBody>
      </p:sp>
      <mc:AlternateContent xmlns:mc="http://schemas.openxmlformats.org/markup-compatibility/2006" xmlns:a14="http://schemas.microsoft.com/office/drawing/2010/main">
        <mc:Choice Requires="a14">
          <p:sp>
            <p:nvSpPr>
              <p:cNvPr id="8" name="Text 4"/>
              <p:cNvSpPr/>
              <p:nvPr/>
            </p:nvSpPr>
            <p:spPr>
              <a:xfrm>
                <a:off x="777240" y="1874520"/>
                <a:ext cx="7680960" cy="7772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𝑃𝑂𝐷</m:t>
                      </m:r>
                      <m:r>
                        <a:rPr lang="en-US" sz="1400">
                          <a:latin typeface="Cambria Math"/>
                        </a:rPr>
                        <m:t>=</m:t>
                      </m:r>
                      <m:f>
                        <m:fPr>
                          <m:ctrlPr>
                            <a:rPr lang="en-US" i="1">
                              <a:latin typeface="Cambria Math" panose="02040503050406030204" pitchFamily="18" charset="0"/>
                            </a:rPr>
                          </m:ctrlPr>
                        </m:fPr>
                        <m:num>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r>
                            <a:rPr lang="en-US" sz="1400">
                              <a:latin typeface="Cambria Math"/>
                            </a:rPr>
                            <m:t>|</m:t>
                          </m:r>
                        </m:num>
                        <m:den>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r>
                            <a:rPr lang="en-US" sz="1400">
                              <a:latin typeface="Cambria Math"/>
                            </a:rPr>
                            <m:t>|</m:t>
                          </m:r>
                        </m:den>
                      </m:f>
                    </m:oMath>
                  </m:oMathPara>
                </a14:m>
                <a:endParaRPr lang="en-US" sz="1300" dirty="0"/>
              </a:p>
            </p:txBody>
          </p:sp>
        </mc:Choice>
        <mc:Fallback xmlns="">
          <p:sp>
            <p:nvSpPr>
              <p:cNvPr id="8" name="Text 4"/>
              <p:cNvSpPr>
                <a:spLocks noRot="1" noChangeAspect="1" noMove="1" noResize="1" noEditPoints="1" noAdjustHandles="1" noChangeArrowheads="1" noChangeShapeType="1" noTextEdit="1"/>
              </p:cNvSpPr>
              <p:nvPr/>
            </p:nvSpPr>
            <p:spPr>
              <a:xfrm>
                <a:off x="777240" y="1874520"/>
                <a:ext cx="7680960" cy="777240"/>
              </a:xfrm>
              <a:prstGeom prst="rect">
                <a:avLst/>
              </a:prstGeom>
              <a:blipFill>
                <a:blip r:embed="rId5"/>
                <a:stretch>
                  <a:fillRect/>
                </a:stretch>
              </a:blipFill>
              <a:ln/>
            </p:spPr>
            <p:txBody>
              <a:bodyPr/>
              <a:lstStyle/>
              <a:p>
                <a:r>
                  <a:rPr lang="tr-TR">
                    <a:noFill/>
                  </a:rPr>
                  <a:t/>
                </a:r>
              </a:p>
            </p:txBody>
          </p:sp>
        </mc:Fallback>
      </mc:AlternateContent>
      <p:sp>
        <p:nvSpPr>
          <p:cNvPr id="9" name="Text 5"/>
          <p:cNvSpPr/>
          <p:nvPr/>
        </p:nvSpPr>
        <p:spPr>
          <a:xfrm>
            <a:off x="8229600" y="1965960"/>
            <a:ext cx="3291840" cy="777240"/>
          </a:xfrm>
          <a:prstGeom prst="rect">
            <a:avLst/>
          </a:prstGeom>
          <a:noFill/>
          <a:ln/>
        </p:spPr>
        <p:txBody>
          <a:bodyPr wrap="square" lIns="0" tIns="0" rIns="0" bIns="0" rtlCol="0" anchor="t"/>
          <a:lstStyle/>
          <a:p>
            <a:pPr marL="0" indent="0">
              <a:lnSpc>
                <a:spcPct val="104000"/>
              </a:lnSpc>
              <a:buNone/>
            </a:pPr>
            <a:r>
              <a:rPr lang="en-US" sz="1200" dirty="0">
                <a:solidFill>
                  <a:srgbClr val="6E6E6E"/>
                </a:solidFill>
                <a:latin typeface="Calibri" pitchFamily="34" charset="0"/>
                <a:ea typeface="Calibri" pitchFamily="34" charset="-122"/>
                <a:cs typeface="Calibri" pitchFamily="34" charset="-120"/>
              </a:rPr>
              <a:t>accept at ≥ 0.70 — the level at which calibrated growth models and vegetation-parameterized FARSITE report good footprint agreement</a:t>
            </a:r>
            <a:endParaRPr lang="en-US" sz="1200" dirty="0"/>
          </a:p>
        </p:txBody>
      </p:sp>
      <p:sp>
        <p:nvSpPr>
          <p:cNvPr id="10" name="Shape 6"/>
          <p:cNvSpPr/>
          <p:nvPr/>
        </p:nvSpPr>
        <p:spPr>
          <a:xfrm>
            <a:off x="502920" y="2889504"/>
            <a:ext cx="11247120" cy="1737360"/>
          </a:xfrm>
          <a:prstGeom prst="roundRect">
            <a:avLst>
              <a:gd name="adj" fmla="val 2632"/>
            </a:avLst>
          </a:prstGeom>
          <a:solidFill>
            <a:srgbClr val="F2F2F2"/>
          </a:solidFill>
          <a:ln/>
        </p:spPr>
      </p:sp>
      <p:sp>
        <p:nvSpPr>
          <p:cNvPr id="11" name="Text 7"/>
          <p:cNvSpPr/>
          <p:nvPr/>
        </p:nvSpPr>
        <p:spPr>
          <a:xfrm>
            <a:off x="777240" y="2999232"/>
            <a:ext cx="10698480" cy="45720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Front position error. </a:t>
            </a:r>
            <a:r>
              <a:rPr lang="en-US" sz="1200" dirty="0">
                <a:solidFill>
                  <a:srgbClr val="222222"/>
                </a:solidFill>
                <a:latin typeface="Calibri" pitchFamily="34" charset="0"/>
                <a:ea typeface="Calibri" pitchFamily="34" charset="-122"/>
                <a:cs typeface="Calibri" pitchFamily="34" charset="-120"/>
              </a:rPr>
              <a:t>Mean symmetric distance between simulated and observed fronts, judged relative to the equivalent radius of the observed burn.</a:t>
            </a:r>
            <a:endParaRPr lang="en-US" sz="1250" dirty="0"/>
          </a:p>
        </p:txBody>
      </p:sp>
      <mc:AlternateContent xmlns:mc="http://schemas.openxmlformats.org/markup-compatibility/2006" xmlns:a14="http://schemas.microsoft.com/office/drawing/2010/main">
        <mc:Choice Requires="a14">
          <p:sp>
            <p:nvSpPr>
              <p:cNvPr id="12" name="Text 8"/>
              <p:cNvSpPr/>
              <p:nvPr/>
            </p:nvSpPr>
            <p:spPr>
              <a:xfrm>
                <a:off x="777240" y="3456432"/>
                <a:ext cx="768096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sz="1400">
                                  <a:latin typeface="Cambria Math"/>
                                </a:rPr>
                                <m:t>𝑑</m:t>
                              </m:r>
                            </m:e>
                            <m:sub>
                              <m:r>
                                <a:rPr lang="en-US" sz="1400">
                                  <a:latin typeface="Cambria Math"/>
                                </a:rPr>
                                <m:t>𝐹𝑟𝑜𝑛𝑡</m:t>
                              </m:r>
                            </m:sub>
                          </m:sSub>
                        </m:e>
                      </m:acc>
                      <m: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𝛴</m:t>
                              </m:r>
                            </m:e>
                            <m:sub>
                              <m:r>
                                <a:rPr lang="en-US" sz="1400">
                                  <a:latin typeface="Cambria Math"/>
                                </a:rPr>
                                <m:t>𝑥</m:t>
                              </m:r>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sub>
                          </m:sSub>
                          <m:r>
                            <a:rPr lang="en-US" sz="1400">
                              <a:latin typeface="Cambria Math"/>
                            </a:rPr>
                            <m:t>𝐷</m:t>
                          </m:r>
                          <m:r>
                            <a:rPr lang="en-US" sz="1400">
                              <a:latin typeface="Cambria Math"/>
                            </a:rPr>
                            <m:t>(</m:t>
                          </m:r>
                          <m:r>
                            <a:rPr lang="en-US" sz="1400">
                              <a:latin typeface="Cambria Math"/>
                            </a:rPr>
                            <m:t>𝑥</m:t>
                          </m:r>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𝛴</m:t>
                              </m:r>
                            </m:e>
                            <m:sub>
                              <m:r>
                                <a:rPr lang="en-US" sz="1400">
                                  <a:latin typeface="Cambria Math"/>
                                </a:rPr>
                                <m:t>𝑦</m:t>
                              </m:r>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sub>
                          </m:sSub>
                          <m:r>
                            <a:rPr lang="en-US" sz="1400">
                              <a:latin typeface="Cambria Math"/>
                            </a:rPr>
                            <m:t>𝐷</m:t>
                          </m:r>
                          <m:r>
                            <a:rPr lang="en-US" sz="1400">
                              <a:latin typeface="Cambria Math"/>
                            </a:rPr>
                            <m:t>(</m:t>
                          </m:r>
                          <m:r>
                            <a:rPr lang="en-US" sz="1400">
                              <a:latin typeface="Cambria Math"/>
                            </a:rPr>
                            <m:t>𝑦</m:t>
                          </m:r>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r>
                            <a:rPr lang="en-US" sz="1400">
                              <a:latin typeface="Cambria Math"/>
                            </a:rPr>
                            <m:t>)</m:t>
                          </m:r>
                        </m:num>
                        <m:den>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r>
                            <a:rPr lang="en-US" sz="1400">
                              <a:latin typeface="Cambria Math"/>
                            </a:rPr>
                            <m:t>|+|</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r>
                            <a:rPr lang="en-US" sz="1400">
                              <a:latin typeface="Cambria Math"/>
                            </a:rPr>
                            <m:t>|</m:t>
                          </m:r>
                        </m:den>
                      </m:f>
                    </m:oMath>
                  </m:oMathPara>
                </a14:m>
                <a:endParaRPr lang="en-US" sz="1300" dirty="0"/>
              </a:p>
            </p:txBody>
          </p:sp>
        </mc:Choice>
        <mc:Fallback xmlns="">
          <p:sp>
            <p:nvSpPr>
              <p:cNvPr id="12" name="Text 8"/>
              <p:cNvSpPr>
                <a:spLocks noRot="1" noChangeAspect="1" noMove="1" noResize="1" noEditPoints="1" noAdjustHandles="1" noChangeArrowheads="1" noChangeShapeType="1" noTextEdit="1"/>
              </p:cNvSpPr>
              <p:nvPr/>
            </p:nvSpPr>
            <p:spPr>
              <a:xfrm>
                <a:off x="777240" y="3456432"/>
                <a:ext cx="7680960" cy="64008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3" name="Text 9"/>
              <p:cNvSpPr/>
              <p:nvPr/>
            </p:nvSpPr>
            <p:spPr>
              <a:xfrm>
                <a:off x="777240" y="4114800"/>
                <a:ext cx="7680960" cy="4572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𝑅</m:t>
                      </m:r>
                      <m:r>
                        <a:rPr lang="en-US" sz="1400">
                          <a:latin typeface="Cambria Math"/>
                        </a:rPr>
                        <m:t> </m:t>
                      </m:r>
                      <m:r>
                        <m:rPr>
                          <m:aln/>
                        </m:rPr>
                        <a:rPr lang="en-US" sz="1400">
                          <a:latin typeface="Cambria Math"/>
                        </a:rPr>
                        <m:t>=</m:t>
                      </m:r>
                      <m:rad>
                        <m:radPr>
                          <m:ctrlPr>
                            <a:rPr lang="en-US" i="1">
                              <a:latin typeface="Cambria Math" panose="02040503050406030204" pitchFamily="18" charset="0"/>
                            </a:rPr>
                          </m:ctrlPr>
                        </m:radPr>
                        <m:deg/>
                        <m:e>
                          <m:d>
                            <m:dPr>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𝑏𝑢𝑟𝑛𝑒𝑑</m:t>
                                      </m:r>
                                    </m:sub>
                                  </m:sSub>
                                </m:e>
                              </m:d>
                              <m:r>
                                <a:rPr lang="en-US" sz="1400">
                                  <a:latin typeface="Cambria Math"/>
                                </a:rPr>
                                <m:t> </m:t>
                              </m:r>
                              <m:sSub>
                                <m:sSubPr>
                                  <m:ctrlPr>
                                    <a:rPr lang="en-US" i="1">
                                      <a:latin typeface="Cambria Math" panose="02040503050406030204" pitchFamily="18" charset="0"/>
                                    </a:rPr>
                                  </m:ctrlPr>
                                </m:sSubPr>
                                <m:e>
                                  <m:r>
                                    <a:rPr lang="en-US" sz="1400">
                                      <a:latin typeface="Cambria Math"/>
                                    </a:rPr>
                                    <m:t>𝐴</m:t>
                                  </m:r>
                                </m:e>
                                <m:sub>
                                  <m:r>
                                    <a:rPr lang="en-US" sz="1400">
                                      <a:latin typeface="Cambria Math"/>
                                    </a:rPr>
                                    <m:t>𝑐𝑒𝑙𝑙</m:t>
                                  </m:r>
                                </m:sub>
                              </m:sSub>
                            </m:e>
                          </m:d>
                          <m:r>
                            <a:rPr lang="en-US" sz="1400">
                              <a:latin typeface="Cambria Math"/>
                            </a:rPr>
                            <m:t>/</m:t>
                          </m:r>
                          <m:r>
                            <a:rPr lang="en-US" sz="1400">
                              <a:latin typeface="Cambria Math"/>
                            </a:rPr>
                            <m:t>𝜋</m:t>
                          </m:r>
                        </m:e>
                      </m:rad>
                      <m:r>
                        <a:rPr lang="en-US" sz="1400">
                          <a:latin typeface="Cambria Math"/>
                        </a:rPr>
                        <m:t>, </m:t>
                      </m:r>
                      <m:sSub>
                        <m:sSubPr>
                          <m:ctrlPr>
                            <a:rPr lang="en-US" i="1">
                              <a:latin typeface="Cambria Math" panose="02040503050406030204" pitchFamily="18" charset="0"/>
                            </a:rPr>
                          </m:ctrlPr>
                        </m:sSubPr>
                        <m:e>
                          <m:r>
                            <m:rPr>
                              <m:sty m:val="p"/>
                            </m:rPr>
                            <a:rPr lang="en-US" sz="1400">
                              <a:latin typeface="Cambria Math"/>
                            </a:rPr>
                            <m:t>TH</m:t>
                          </m:r>
                        </m:e>
                        <m:sub>
                          <m:r>
                            <a:rPr lang="en-US" sz="1400">
                              <a:latin typeface="Cambria Math"/>
                            </a:rPr>
                            <m:t>𝐹𝑟𝑜𝑛𝑡</m:t>
                          </m:r>
                        </m:sub>
                      </m:sSub>
                      <m:r>
                        <a:rPr lang="en-US" sz="1400">
                          <a:latin typeface="Cambria Math"/>
                        </a:rPr>
                        <m:t>=1−</m:t>
                      </m:r>
                      <m:f>
                        <m:fPr>
                          <m:ctrlPr>
                            <a:rPr lang="en-US" i="1">
                              <a:latin typeface="Cambria Math" panose="02040503050406030204" pitchFamily="18" charset="0"/>
                            </a:rPr>
                          </m:ctrlPr>
                        </m:fPr>
                        <m:num>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sz="1400">
                                      <a:latin typeface="Cambria Math"/>
                                    </a:rPr>
                                    <m:t>𝑑</m:t>
                                  </m:r>
                                </m:e>
                                <m:sub>
                                  <m:r>
                                    <a:rPr lang="en-US" sz="1400">
                                      <a:latin typeface="Cambria Math"/>
                                    </a:rPr>
                                    <m:t>𝐹𝑟𝑜𝑛𝑡</m:t>
                                  </m:r>
                                </m:sub>
                              </m:sSub>
                            </m:e>
                          </m:acc>
                        </m:num>
                        <m:den>
                          <m:r>
                            <a:rPr lang="en-US" sz="1400">
                              <a:latin typeface="Cambria Math"/>
                            </a:rPr>
                            <m:t>𝑅</m:t>
                          </m:r>
                        </m:den>
                      </m:f>
                    </m:oMath>
                  </m:oMathPara>
                </a14:m>
                <a:endParaRPr lang="en-US" sz="1300" dirty="0"/>
              </a:p>
            </p:txBody>
          </p:sp>
        </mc:Choice>
        <mc:Fallback xmlns="">
          <p:sp>
            <p:nvSpPr>
              <p:cNvPr id="13" name="Text 9"/>
              <p:cNvSpPr>
                <a:spLocks noRot="1" noChangeAspect="1" noMove="1" noResize="1" noEditPoints="1" noAdjustHandles="1" noChangeArrowheads="1" noChangeShapeType="1" noTextEdit="1"/>
              </p:cNvSpPr>
              <p:nvPr/>
            </p:nvSpPr>
            <p:spPr>
              <a:xfrm>
                <a:off x="777240" y="4114800"/>
                <a:ext cx="7680960" cy="457200"/>
              </a:xfrm>
              <a:prstGeom prst="rect">
                <a:avLst/>
              </a:prstGeom>
              <a:blipFill>
                <a:blip r:embed="rId7"/>
                <a:stretch>
                  <a:fillRect t="-2667" b="-10667"/>
                </a:stretch>
              </a:blipFill>
              <a:ln/>
            </p:spPr>
            <p:txBody>
              <a:bodyPr/>
              <a:lstStyle/>
              <a:p>
                <a:r>
                  <a:rPr lang="tr-TR">
                    <a:noFill/>
                  </a:rPr>
                  <a:t/>
                </a:r>
              </a:p>
            </p:txBody>
          </p:sp>
        </mc:Fallback>
      </mc:AlternateContent>
      <p:sp>
        <p:nvSpPr>
          <p:cNvPr id="14" name="Text 10"/>
          <p:cNvSpPr/>
          <p:nvPr/>
        </p:nvSpPr>
        <p:spPr>
          <a:xfrm>
            <a:off x="8229600" y="3566160"/>
            <a:ext cx="3291840" cy="1005840"/>
          </a:xfrm>
          <a:prstGeom prst="rect">
            <a:avLst/>
          </a:prstGeom>
          <a:noFill/>
          <a:ln/>
        </p:spPr>
        <p:txBody>
          <a:bodyPr wrap="square" lIns="0" tIns="0" rIns="0" bIns="0" rtlCol="0" anchor="t"/>
          <a:lstStyle/>
          <a:p>
            <a:pPr marL="0" indent="0">
              <a:lnSpc>
                <a:spcPct val="104000"/>
              </a:lnSpc>
              <a:buNone/>
            </a:pPr>
            <a:r>
              <a:rPr lang="en-US" sz="1200" dirty="0">
                <a:solidFill>
                  <a:srgbClr val="6E6E6E"/>
                </a:solidFill>
                <a:latin typeface="Calibri" pitchFamily="34" charset="0"/>
                <a:ea typeface="Calibri" pitchFamily="34" charset="-122"/>
                <a:cs typeface="Calibri" pitchFamily="34" charset="-120"/>
              </a:rPr>
              <a:t>accept when the relative error is below 0.3 (score above 0.7, like the coverage level)</a:t>
            </a:r>
            <a:endParaRPr lang="en-US" sz="1200" dirty="0"/>
          </a:p>
        </p:txBody>
      </p:sp>
      <p:sp>
        <p:nvSpPr>
          <p:cNvPr id="15" name="Shape 11"/>
          <p:cNvSpPr/>
          <p:nvPr/>
        </p:nvSpPr>
        <p:spPr>
          <a:xfrm>
            <a:off x="502920" y="4736592"/>
            <a:ext cx="11247120" cy="1737360"/>
          </a:xfrm>
          <a:prstGeom prst="roundRect">
            <a:avLst>
              <a:gd name="adj" fmla="val 2632"/>
            </a:avLst>
          </a:prstGeom>
          <a:solidFill>
            <a:srgbClr val="F2F2F2"/>
          </a:solidFill>
          <a:ln/>
        </p:spPr>
      </p:sp>
      <p:sp>
        <p:nvSpPr>
          <p:cNvPr id="16" name="Text 12"/>
          <p:cNvSpPr/>
          <p:nvPr/>
        </p:nvSpPr>
        <p:spPr>
          <a:xfrm>
            <a:off x="777240" y="4846320"/>
            <a:ext cx="10698480" cy="50292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Arrival-time agreement. </a:t>
            </a:r>
            <a:r>
              <a:rPr lang="en-US" sz="1200" dirty="0">
                <a:solidFill>
                  <a:srgbClr val="222222"/>
                </a:solidFill>
                <a:latin typeface="Calibri" pitchFamily="34" charset="0"/>
                <a:ea typeface="Calibri" pitchFamily="34" charset="-122"/>
                <a:cs typeface="Calibri" pitchFamily="34" charset="-120"/>
              </a:rPr>
              <a:t>Mean absolute difference between simulated arrival and first satellite detection over the cells both records burn — the direct rate-of-spread test, least sensitive to suppression.</a:t>
            </a:r>
            <a:endParaRPr lang="en-US" sz="1250" dirty="0"/>
          </a:p>
        </p:txBody>
      </p:sp>
      <mc:AlternateContent xmlns:mc="http://schemas.openxmlformats.org/markup-compatibility/2006" xmlns:a14="http://schemas.microsoft.com/office/drawing/2010/main">
        <mc:Choice Requires="a14">
          <p:sp>
            <p:nvSpPr>
              <p:cNvPr id="17" name="Text 13"/>
              <p:cNvSpPr/>
              <p:nvPr/>
            </p:nvSpPr>
            <p:spPr>
              <a:xfrm>
                <a:off x="777240" y="5376672"/>
                <a:ext cx="7680960" cy="5943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𝜏</m:t>
                          </m:r>
                        </m:e>
                        <m:sub>
                          <m:r>
                            <a:rPr lang="en-US" sz="1400">
                              <a:latin typeface="Cambria Math"/>
                            </a:rPr>
                            <m:t>𝑀𝐴𝐸</m:t>
                          </m:r>
                        </m:sub>
                      </m:sSub>
                      <m:r>
                        <a:rPr lang="en-US" sz="1400">
                          <a:latin typeface="Cambria Math"/>
                        </a:rPr>
                        <m:t>=</m:t>
                      </m:r>
                      <m:f>
                        <m:fPr>
                          <m:ctrlPr>
                            <a:rPr lang="en-US" i="1">
                              <a:latin typeface="Cambria Math" panose="02040503050406030204" pitchFamily="18" charset="0"/>
                            </a:rPr>
                          </m:ctrlPr>
                        </m:fPr>
                        <m:num>
                          <m:r>
                            <a:rPr lang="en-US" sz="1400">
                              <a:latin typeface="Cambria Math"/>
                            </a:rPr>
                            <m:t>1</m:t>
                          </m:r>
                        </m:num>
                        <m:den>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𝑐𝑒𝑙𝑙𝑠</m:t>
                              </m:r>
                            </m:sub>
                          </m:sSub>
                        </m:den>
                      </m:f>
                      <m:sSub>
                        <m:sSubPr>
                          <m:ctrlPr>
                            <a:rPr lang="en-US" i="1">
                              <a:latin typeface="Cambria Math" panose="02040503050406030204" pitchFamily="18" charset="0"/>
                            </a:rPr>
                          </m:ctrlPr>
                        </m:sSubPr>
                        <m:e>
                          <m:r>
                            <a:rPr lang="en-US" sz="1400">
                              <a:latin typeface="Cambria Math"/>
                            </a:rPr>
                            <m:t>𝛴</m:t>
                          </m:r>
                        </m:e>
                        <m:sub>
                          <m:r>
                            <a:rPr lang="en-US" sz="1400">
                              <a:latin typeface="Cambria Math"/>
                            </a:rPr>
                            <m:t>𝑐</m:t>
                          </m:r>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sub>
                      </m:sSub>
                      <m:d>
                        <m:dPr>
                          <m:begChr m:val="|"/>
                          <m:endChr m:val="|"/>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sz="1400">
                                  <a:latin typeface="Cambria Math"/>
                                </a:rPr>
                                <m:t>𝑡</m:t>
                              </m:r>
                            </m:e>
                            <m:sub>
                              <m:r>
                                <a:rPr lang="en-US" sz="1400">
                                  <a:latin typeface="Cambria Math"/>
                                </a:rPr>
                                <m:t>𝑐</m:t>
                              </m:r>
                            </m:sub>
                            <m:sup>
                              <m:r>
                                <a:rPr lang="en-US" sz="1400">
                                  <a:latin typeface="Cambria Math"/>
                                </a:rPr>
                                <m:t>𝑆𝑖𝑚</m:t>
                              </m:r>
                            </m:sup>
                          </m:sSubSup>
                          <m:r>
                            <a:rPr lang="en-US" sz="1400">
                              <a:latin typeface="Cambria Math"/>
                            </a:rPr>
                            <m:t>−</m:t>
                          </m:r>
                          <m:sSubSup>
                            <m:sSubSupPr>
                              <m:ctrlPr>
                                <a:rPr lang="en-US" i="1">
                                  <a:latin typeface="Cambria Math" panose="02040503050406030204" pitchFamily="18" charset="0"/>
                                </a:rPr>
                              </m:ctrlPr>
                            </m:sSubSupPr>
                            <m:e>
                              <m:r>
                                <a:rPr lang="en-US" sz="1400">
                                  <a:latin typeface="Cambria Math"/>
                                </a:rPr>
                                <m:t>𝑡</m:t>
                              </m:r>
                            </m:e>
                            <m:sub>
                              <m:r>
                                <a:rPr lang="en-US" sz="1400">
                                  <a:latin typeface="Cambria Math"/>
                                </a:rPr>
                                <m:t>𝑐</m:t>
                              </m:r>
                            </m:sub>
                            <m:sup>
                              <m:r>
                                <a:rPr lang="en-US" sz="1400">
                                  <a:latin typeface="Cambria Math"/>
                                </a:rPr>
                                <m:t>𝑅𝑒</m:t>
                              </m:r>
                            </m:sup>
                          </m:sSubSup>
                        </m:e>
                      </m:d>
                      <m:r>
                        <a:rPr lang="en-US" sz="1400">
                          <a:latin typeface="Cambria Math"/>
                        </a:rPr>
                        <m:t>; </m:t>
                      </m:r>
                      <m:sSub>
                        <m:sSubPr>
                          <m:ctrlPr>
                            <a:rPr lang="en-US" i="1">
                              <a:latin typeface="Cambria Math" panose="02040503050406030204" pitchFamily="18" charset="0"/>
                            </a:rPr>
                          </m:ctrlPr>
                        </m:sSubPr>
                        <m:e>
                          <m:r>
                            <a:rPr lang="en-US" sz="1400">
                              <a:latin typeface="Cambria Math"/>
                            </a:rPr>
                            <m:t>𝑁</m:t>
                          </m:r>
                        </m:e>
                        <m:sub>
                          <m:r>
                            <a:rPr lang="en-US" sz="1400">
                              <a:latin typeface="Cambria Math"/>
                            </a:rPr>
                            <m:t>𝑐𝑒𝑙𝑙𝑠</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𝑆𝑖𝑚</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𝐹𝑅</m:t>
                          </m:r>
                        </m:e>
                        <m:sub>
                          <m:r>
                            <a:rPr lang="en-US" sz="1400">
                              <a:latin typeface="Cambria Math"/>
                            </a:rPr>
                            <m:t>𝑅𝑒</m:t>
                          </m:r>
                        </m:sub>
                      </m:sSub>
                      <m:r>
                        <a:rPr lang="en-US" sz="1400">
                          <a:latin typeface="Cambria Math"/>
                        </a:rPr>
                        <m:t>|</m:t>
                      </m:r>
                    </m:oMath>
                  </m:oMathPara>
                </a14:m>
                <a:endParaRPr lang="en-US" sz="1300" dirty="0"/>
              </a:p>
            </p:txBody>
          </p:sp>
        </mc:Choice>
        <mc:Fallback xmlns="">
          <p:sp>
            <p:nvSpPr>
              <p:cNvPr id="17" name="Text 13"/>
              <p:cNvSpPr>
                <a:spLocks noRot="1" noChangeAspect="1" noMove="1" noResize="1" noEditPoints="1" noAdjustHandles="1" noChangeArrowheads="1" noChangeShapeType="1" noTextEdit="1"/>
              </p:cNvSpPr>
              <p:nvPr/>
            </p:nvSpPr>
            <p:spPr>
              <a:xfrm>
                <a:off x="777240" y="5376672"/>
                <a:ext cx="7680960" cy="59436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8" name="Text 14"/>
              <p:cNvSpPr/>
              <p:nvPr/>
            </p:nvSpPr>
            <p:spPr>
              <a:xfrm>
                <a:off x="777240" y="5989320"/>
                <a:ext cx="7680960" cy="4114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en-US" sz="1400">
                              <a:latin typeface="Cambria Math"/>
                            </a:rPr>
                            <m:t>TH</m:t>
                          </m:r>
                        </m:e>
                        <m:sub>
                          <m:r>
                            <a:rPr lang="en-US" sz="1400">
                              <a:latin typeface="Cambria Math"/>
                            </a:rPr>
                            <m:t>𝑀𝐴𝐸</m:t>
                          </m:r>
                        </m:sub>
                      </m:sSub>
                      <m:r>
                        <a:rPr lang="en-US" sz="1400">
                          <a:latin typeface="Cambria Math"/>
                        </a:rPr>
                        <m:t>=1−</m:t>
                      </m:r>
                      <m:sSub>
                        <m:sSubPr>
                          <m:ctrlPr>
                            <a:rPr lang="en-US" i="1">
                              <a:latin typeface="Cambria Math" panose="02040503050406030204" pitchFamily="18" charset="0"/>
                            </a:rPr>
                          </m:ctrlPr>
                        </m:sSubPr>
                        <m:e>
                          <m:r>
                            <a:rPr lang="en-US" sz="1400">
                              <a:latin typeface="Cambria Math"/>
                            </a:rPr>
                            <m:t>𝜏</m:t>
                          </m:r>
                        </m:e>
                        <m:sub>
                          <m:r>
                            <a:rPr lang="en-US" sz="1400">
                              <a:latin typeface="Cambria Math"/>
                            </a:rPr>
                            <m:t>𝑀𝐴𝐸</m:t>
                          </m:r>
                        </m:sub>
                      </m:sSub>
                      <m:r>
                        <a:rPr lang="en-US" sz="1400">
                          <a:latin typeface="Cambria Math"/>
                        </a:rPr>
                        <m:t>/</m:t>
                      </m:r>
                      <m:r>
                        <a:rPr lang="en-US" sz="1400">
                          <a:latin typeface="Cambria Math"/>
                        </a:rPr>
                        <m:t>𝑇</m:t>
                      </m:r>
                    </m:oMath>
                  </m:oMathPara>
                </a14:m>
                <a:endParaRPr lang="en-US" sz="1300" dirty="0"/>
              </a:p>
            </p:txBody>
          </p:sp>
        </mc:Choice>
        <mc:Fallback xmlns="">
          <p:sp>
            <p:nvSpPr>
              <p:cNvPr id="18" name="Text 14"/>
              <p:cNvSpPr>
                <a:spLocks noRot="1" noChangeAspect="1" noMove="1" noResize="1" noEditPoints="1" noAdjustHandles="1" noChangeArrowheads="1" noChangeShapeType="1" noTextEdit="1"/>
              </p:cNvSpPr>
              <p:nvPr/>
            </p:nvSpPr>
            <p:spPr>
              <a:xfrm>
                <a:off x="777240" y="5989320"/>
                <a:ext cx="7680960" cy="411480"/>
              </a:xfrm>
              <a:prstGeom prst="rect">
                <a:avLst/>
              </a:prstGeom>
              <a:blipFill>
                <a:blip r:embed="rId9"/>
                <a:stretch>
                  <a:fillRect/>
                </a:stretch>
              </a:blipFill>
              <a:ln/>
            </p:spPr>
            <p:txBody>
              <a:bodyPr/>
              <a:lstStyle/>
              <a:p>
                <a:r>
                  <a:rPr lang="tr-TR">
                    <a:noFill/>
                  </a:rPr>
                  <a:t/>
                </a:r>
              </a:p>
            </p:txBody>
          </p:sp>
        </mc:Fallback>
      </mc:AlternateContent>
      <p:sp>
        <p:nvSpPr>
          <p:cNvPr id="19" name="Text 15"/>
          <p:cNvSpPr/>
          <p:nvPr/>
        </p:nvSpPr>
        <p:spPr>
          <a:xfrm>
            <a:off x="8229600" y="5440680"/>
            <a:ext cx="3291840" cy="914400"/>
          </a:xfrm>
          <a:prstGeom prst="rect">
            <a:avLst/>
          </a:prstGeom>
          <a:noFill/>
          <a:ln/>
        </p:spPr>
        <p:txBody>
          <a:bodyPr wrap="square" lIns="0" tIns="0" rIns="0" bIns="0" rtlCol="0" anchor="t"/>
          <a:lstStyle/>
          <a:p>
            <a:pPr marL="0" indent="0">
              <a:lnSpc>
                <a:spcPct val="104000"/>
              </a:lnSpc>
              <a:buNone/>
            </a:pPr>
            <a:r>
              <a:rPr lang="en-US" sz="1200" dirty="0">
                <a:solidFill>
                  <a:srgbClr val="6E6E6E"/>
                </a:solidFill>
                <a:latin typeface="Calibri" pitchFamily="34" charset="0"/>
                <a:ea typeface="Calibri" pitchFamily="34" charset="-122"/>
                <a:cs typeface="Calibri" pitchFamily="34" charset="-120"/>
              </a:rPr>
              <a:t>accept when the error relative to the observed duration is below 0.3; the largest observed ratio is 0.29</a:t>
            </a:r>
            <a:endParaRPr lang="en-US" sz="1200" dirty="0"/>
          </a:p>
        </p:txBody>
      </p:sp>
      <p:sp>
        <p:nvSpPr>
          <p:cNvPr id="90007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75 / 113</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VERIFICATION 3 OF 3</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Hindcast Results : 86–94% Overall Agreement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7" name="Table 0"/>
              <p:cNvGraphicFramePr>
                <a:graphicFrameLocks noGrp="1"/>
              </p:cNvGraphicFramePr>
              <p:nvPr/>
            </p:nvGraphicFramePr>
            <p:xfrm>
              <a:off x="502920" y="1371600"/>
              <a:ext cx="5760720" cy="3840480"/>
            </p:xfrm>
            <a:graphic>
              <a:graphicData uri="http://schemas.openxmlformats.org/drawingml/2006/table">
                <a:tbl>
                  <a:tblPr/>
                  <a:tblGrid>
                    <a:gridCol w="28346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Burned cells (obs.)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1 288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3 922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387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4 915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Equivalent radius (m)</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1 823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3 180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1 000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3 560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Observed duration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58.7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Front distance </a:t>
                          </a:r>
                          <a14:m>
                            <m:oMath xmlns:m="http://schemas.openxmlformats.org/officeDocument/2006/math">
                              <m:sSub>
                                <m:sSubPr>
                                  <m:ctrlPr>
                                    <a:rPr lang="en-US" i="1">
                                      <a:latin typeface="Cambria Math" panose="02040503050406030204" pitchFamily="18" charset="0"/>
                                    </a:rPr>
                                  </m:ctrlPr>
                                </m:sSubPr>
                                <m:e>
                                  <m:r>
                                    <a:rPr lang="en-US" sz="1200">
                                      <a:latin typeface="Cambria Math"/>
                                    </a:rPr>
                                    <m:t>𝑑</m:t>
                                  </m:r>
                                </m:e>
                                <m:sub>
                                  <m:r>
                                    <a:rPr lang="en-US" sz="1200">
                                      <a:latin typeface="Cambria Math"/>
                                    </a:rPr>
                                    <m:t>𝑓𝑟𝑜𝑛𝑡</m:t>
                                  </m:r>
                                </m:sub>
                              </m:sSub>
                            </m:oMath>
                          </a14:m>
                          <a:r>
                            <a:rPr lang="en-US" sz="1200" b="1" dirty="0">
                              <a:solidFill>
                                <a:srgbClr val="222222"/>
                              </a:solidFill>
                              <a:latin typeface="Calibri" pitchFamily="34" charset="0"/>
                              <a:ea typeface="Calibri" pitchFamily="34" charset="-122"/>
                              <a:cs typeface="Calibri" pitchFamily="34" charset="-120"/>
                            </a:rPr>
                            <a:t> (m)</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329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391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Arrival error </a:t>
                          </a:r>
                          <a14:m>
                            <m:oMath xmlns:m="http://schemas.openxmlformats.org/officeDocument/2006/math">
                              <m:sSub>
                                <m:sSubPr>
                                  <m:ctrlPr>
                                    <a:rPr lang="en-US" i="1">
                                      <a:latin typeface="Cambria Math" panose="02040503050406030204" pitchFamily="18" charset="0"/>
                                    </a:rPr>
                                  </m:ctrlPr>
                                </m:sSubPr>
                                <m:e>
                                  <m:r>
                                    <a:rPr lang="en-US" sz="1200">
                                      <a:latin typeface="Cambria Math"/>
                                    </a:rPr>
                                    <m:t>𝜏</m:t>
                                  </m:r>
                                </m:e>
                                <m:sub>
                                  <m:r>
                                    <a:rPr lang="en-US" sz="1200">
                                      <a:latin typeface="Cambria Math"/>
                                    </a:rPr>
                                    <m:t>𝑀𝐴𝐸</m:t>
                                  </m:r>
                                </m:sub>
                              </m:sSub>
                            </m:oMath>
                          </a14:m>
                          <a:r>
                            <a:rPr lang="en-US" sz="1200" b="1" dirty="0">
                              <a:solidFill>
                                <a:srgbClr val="222222"/>
                              </a:solidFill>
                              <a:latin typeface="Calibri" pitchFamily="34" charset="0"/>
                              <a:ea typeface="Calibri" pitchFamily="34" charset="-122"/>
                              <a:cs typeface="Calibri" pitchFamily="34" charset="-120"/>
                            </a:rPr>
                            <a:t>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4.04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2.58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Front score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Arrival score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Overall success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Choice>
        <mc:Fallback xmlns="">
          <p:graphicFrame>
            <p:nvGraphicFramePr>
              <p:cNvPr id="7" name="Table 0"/>
              <p:cNvGraphicFramePr>
                <a:graphicFrameLocks noGrp="1"/>
              </p:cNvGraphicFramePr>
              <p:nvPr/>
            </p:nvGraphicFramePr>
            <p:xfrm>
              <a:off x="502920" y="1371600"/>
              <a:ext cx="5760720" cy="3840480"/>
            </p:xfrm>
            <a:graphic>
              <a:graphicData uri="http://schemas.openxmlformats.org/drawingml/2006/table">
                <a:tbl>
                  <a:tblPr/>
                  <a:tblGrid>
                    <a:gridCol w="28346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Burned cells (obs.)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1 288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3 922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387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4 915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Equivalent radius (m)</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1 823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3 180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1 000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3 560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Observed duration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58.7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15" t="-401587" r="-103871" b="-503175"/>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329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391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15" t="-501587" r="-103871" b="-403175"/>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4.04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2.58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Front score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Arrival score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Overall success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mc:Fallback>
      </mc:AlternateContent>
      <p:sp>
        <p:nvSpPr>
          <p:cNvPr id="6" name="Text 2"/>
          <p:cNvSpPr/>
          <p:nvPr/>
        </p:nvSpPr>
        <p:spPr>
          <a:xfrm>
            <a:off x="6537960" y="1280160"/>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Agreement maps</a:t>
            </a:r>
            <a:endParaRPr lang="en-US" sz="1400" dirty="0"/>
          </a:p>
        </p:txBody>
      </p:sp>
      <p:pic>
        <p:nvPicPr>
          <p:cNvPr id="8" name="Image 2" descr="/tmp/thx/deck/figs/ch5_27.jpeg"/>
          <p:cNvPicPr>
            <a:picLocks noChangeAspect="1"/>
          </p:cNvPicPr>
          <p:nvPr/>
        </p:nvPicPr>
        <p:blipFill>
          <a:blip r:embed="rId6"/>
          <a:stretch>
            <a:fillRect/>
          </a:stretch>
        </p:blipFill>
        <p:spPr>
          <a:xfrm>
            <a:off x="6537960" y="1725258"/>
            <a:ext cx="2560320" cy="1990165"/>
          </a:xfrm>
          <a:prstGeom prst="rect">
            <a:avLst/>
          </a:prstGeom>
        </p:spPr>
      </p:pic>
      <p:pic>
        <p:nvPicPr>
          <p:cNvPr id="9" name="Image 3" descr="/tmp/thx/deck/figs/ch5_28.png"/>
          <p:cNvPicPr>
            <a:picLocks noChangeAspect="1"/>
          </p:cNvPicPr>
          <p:nvPr/>
        </p:nvPicPr>
        <p:blipFill>
          <a:blip r:embed="rId7"/>
          <a:stretch>
            <a:fillRect/>
          </a:stretch>
        </p:blipFill>
        <p:spPr>
          <a:xfrm>
            <a:off x="9189720" y="1661691"/>
            <a:ext cx="2560320" cy="2117298"/>
          </a:xfrm>
          <a:prstGeom prst="rect">
            <a:avLst/>
          </a:prstGeom>
        </p:spPr>
      </p:pic>
      <p:pic>
        <p:nvPicPr>
          <p:cNvPr id="10" name="Image 4" descr="/tmp/thx/deck/figs/ch5_29.png"/>
          <p:cNvPicPr>
            <a:picLocks noChangeAspect="1"/>
          </p:cNvPicPr>
          <p:nvPr/>
        </p:nvPicPr>
        <p:blipFill>
          <a:blip r:embed="rId8"/>
          <a:stretch>
            <a:fillRect/>
          </a:stretch>
        </p:blipFill>
        <p:spPr>
          <a:xfrm>
            <a:off x="6617298" y="3886200"/>
            <a:ext cx="2401645" cy="2148840"/>
          </a:xfrm>
          <a:prstGeom prst="rect">
            <a:avLst/>
          </a:prstGeom>
        </p:spPr>
      </p:pic>
      <p:pic>
        <p:nvPicPr>
          <p:cNvPr id="11" name="Image 5" descr="/tmp/thx/deck/figs/ch5_30.png"/>
          <p:cNvPicPr>
            <a:picLocks noChangeAspect="1"/>
          </p:cNvPicPr>
          <p:nvPr/>
        </p:nvPicPr>
        <p:blipFill>
          <a:blip r:embed="rId9"/>
          <a:stretch>
            <a:fillRect/>
          </a:stretch>
        </p:blipFill>
        <p:spPr>
          <a:xfrm>
            <a:off x="9189720" y="3978497"/>
            <a:ext cx="2560320" cy="1964245"/>
          </a:xfrm>
          <a:prstGeom prst="rect">
            <a:avLst/>
          </a:prstGeom>
        </p:spPr>
      </p:pic>
      <p:sp>
        <p:nvSpPr>
          <p:cNvPr id="12" name="Text 3"/>
          <p:cNvSpPr/>
          <p:nvPr/>
        </p:nvSpPr>
        <p:spPr>
          <a:xfrm>
            <a:off x="6537960" y="6126480"/>
            <a:ext cx="5212080" cy="320040"/>
          </a:xfrm>
          <a:prstGeom prst="rect">
            <a:avLst/>
          </a:prstGeom>
          <a:noFill/>
          <a:ln/>
        </p:spPr>
        <p:txBody>
          <a:bodyPr wrap="square" lIns="0" tIns="0" rIns="0" bIns="0" rtlCol="0" anchor="t"/>
          <a:lstStyle/>
          <a:p>
            <a:pPr marL="0" indent="0">
              <a:lnSpc>
                <a:spcPct val="104000"/>
              </a:lnSpc>
              <a:buNone/>
            </a:pPr>
            <a:r>
              <a:rPr lang="en-US" sz="1200" b="1" dirty="0">
                <a:solidFill>
                  <a:srgbClr val="3E7C4F"/>
                </a:solidFill>
                <a:latin typeface="Calibri" pitchFamily="34" charset="0"/>
                <a:ea typeface="Calibri" pitchFamily="34" charset="-122"/>
                <a:cs typeface="Calibri" pitchFamily="34" charset="-120"/>
              </a:rPr>
              <a:t>green </a:t>
            </a:r>
            <a:r>
              <a:rPr lang="en-US" sz="1200" dirty="0">
                <a:solidFill>
                  <a:srgbClr val="222222"/>
                </a:solidFill>
                <a:latin typeface="Calibri" pitchFamily="34" charset="0"/>
                <a:ea typeface="Calibri" pitchFamily="34" charset="-122"/>
                <a:cs typeface="Calibri" pitchFamily="34" charset="-120"/>
              </a:rPr>
              <a:t>correct burn · </a:t>
            </a:r>
            <a:r>
              <a:rPr lang="en-US" sz="1200" b="1" dirty="0">
                <a:solidFill>
                  <a:srgbClr val="E31836"/>
                </a:solidFill>
                <a:latin typeface="Calibri" pitchFamily="34" charset="0"/>
                <a:ea typeface="Calibri" pitchFamily="34" charset="-122"/>
                <a:cs typeface="Calibri" pitchFamily="34" charset="-120"/>
              </a:rPr>
              <a:t>red </a:t>
            </a:r>
            <a:r>
              <a:rPr lang="en-US" sz="1200" dirty="0">
                <a:solidFill>
                  <a:srgbClr val="222222"/>
                </a:solidFill>
                <a:latin typeface="Calibri" pitchFamily="34" charset="0"/>
                <a:ea typeface="Calibri" pitchFamily="34" charset="-122"/>
                <a:cs typeface="Calibri" pitchFamily="34" charset="-120"/>
              </a:rPr>
              <a:t>simulated only · </a:t>
            </a:r>
            <a:r>
              <a:rPr lang="en-US" sz="1200" b="1" dirty="0">
                <a:solidFill>
                  <a:srgbClr val="2B5DA8"/>
                </a:solidFill>
                <a:latin typeface="Calibri" pitchFamily="34" charset="0"/>
                <a:ea typeface="Calibri" pitchFamily="34" charset="-122"/>
                <a:cs typeface="Calibri" pitchFamily="34" charset="-120"/>
              </a:rPr>
              <a:t>blue </a:t>
            </a:r>
            <a:r>
              <a:rPr lang="en-US" sz="1200" dirty="0">
                <a:solidFill>
                  <a:srgbClr val="222222"/>
                </a:solidFill>
                <a:latin typeface="Calibri" pitchFamily="34" charset="0"/>
                <a:ea typeface="Calibri" pitchFamily="34" charset="-122"/>
                <a:cs typeface="Calibri" pitchFamily="34" charset="-120"/>
              </a:rPr>
              <a:t>observed only · </a:t>
            </a:r>
            <a:r>
              <a:rPr lang="en-US" sz="1200" b="1" dirty="0">
                <a:solidFill>
                  <a:srgbClr val="B8860B"/>
                </a:solidFill>
                <a:latin typeface="Calibri" pitchFamily="34" charset="0"/>
                <a:ea typeface="Calibri" pitchFamily="34" charset="-122"/>
                <a:cs typeface="Calibri" pitchFamily="34" charset="-120"/>
              </a:rPr>
              <a:t>yellow </a:t>
            </a:r>
            <a:r>
              <a:rPr lang="en-US" sz="1200" dirty="0">
                <a:solidFill>
                  <a:srgbClr val="222222"/>
                </a:solidFill>
                <a:latin typeface="Calibri" pitchFamily="34" charset="0"/>
                <a:ea typeface="Calibri" pitchFamily="34" charset="-122"/>
                <a:cs typeface="Calibri" pitchFamily="34" charset="-120"/>
              </a:rPr>
              <a:t>ignition</a:t>
            </a:r>
            <a:endParaRPr lang="en-US" sz="1200" dirty="0"/>
          </a:p>
        </p:txBody>
      </p:sp>
      <p:sp>
        <p:nvSpPr>
          <p:cNvPr id="13" name="Shape 4"/>
          <p:cNvSpPr/>
          <p:nvPr/>
        </p:nvSpPr>
        <p:spPr>
          <a:xfrm>
            <a:off x="502920" y="5257800"/>
            <a:ext cx="5760720" cy="1234440"/>
          </a:xfrm>
          <a:prstGeom prst="roundRect">
            <a:avLst>
              <a:gd name="adj" fmla="val 3704"/>
            </a:avLst>
          </a:prstGeom>
          <a:solidFill>
            <a:srgbClr val="FDE8EB"/>
          </a:solidFill>
          <a:ln/>
        </p:spPr>
      </p:sp>
      <p:sp>
        <p:nvSpPr>
          <p:cNvPr id="14" name="Text 5"/>
          <p:cNvSpPr/>
          <p:nvPr/>
        </p:nvSpPr>
        <p:spPr>
          <a:xfrm>
            <a:off x="777240" y="5376672"/>
            <a:ext cx="5212080" cy="105156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Reading. </a:t>
            </a:r>
            <a:r>
              <a:rPr lang="en-US" sz="1250" dirty="0">
                <a:solidFill>
                  <a:srgbClr val="222222"/>
                </a:solidFill>
                <a:latin typeface="Calibri" pitchFamily="34" charset="0"/>
                <a:ea typeface="Calibri" pitchFamily="34" charset="-122"/>
                <a:cs typeface="Calibri" pitchFamily="34" charset="-120"/>
              </a:rPr>
              <a:t>All three criteria pass their acceptance levels in all four cases: POD 85–97%, front score 82–90%, arrival score 71–98%. The red halo is the designed overprediction of a suppression-free core.</a:t>
            </a:r>
            <a:endParaRPr lang="en-US" sz="1250" dirty="0"/>
          </a:p>
        </p:txBody>
      </p:sp>
      <p:sp>
        <p:nvSpPr>
          <p:cNvPr id="90007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76 / 113</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1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Sensitivity Design : One Bias at a Time, 880 Runs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98448"/>
            <a:ext cx="11247120" cy="19202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Every parameter has a nominal value — the value the framework actually runs with. A bias is a controlled deviation from it: the question is not which value is best, but how much miscalibration the loop tolerates.</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One parameter is displaced at a time while all others hold nominal (Morris; Saltelli), so attribution is unambiguous. Each bias level is repeated over five independent worlds; figures show the mean with its 95% interval.</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two situational axes — fire load and resource level — are swept first to find an operating point where the layer is neither winning nor losing outright; the biases are applied around that point.</a:t>
            </a:r>
            <a:endParaRPr lang="en-US" sz="1250" dirty="0"/>
          </a:p>
        </p:txBody>
      </p:sp>
      <mc:AlternateContent xmlns:mc="http://schemas.openxmlformats.org/markup-compatibility/2006" xmlns:a14="http://schemas.microsoft.com/office/drawing/2010/main">
        <mc:Choice Requires="a14">
          <p:graphicFrame>
            <p:nvGraphicFramePr>
              <p:cNvPr id="8" name="Table 0"/>
              <p:cNvGraphicFramePr>
                <a:graphicFrameLocks noGrp="1"/>
              </p:cNvGraphicFramePr>
              <p:nvPr/>
            </p:nvGraphicFramePr>
            <p:xfrm>
              <a:off x="502920" y="3291840"/>
              <a:ext cx="11247120" cy="3218688"/>
            </p:xfrm>
            <a:graphic>
              <a:graphicData uri="http://schemas.openxmlformats.org/drawingml/2006/table">
                <a:tbl>
                  <a:tblPr/>
                  <a:tblGrid>
                    <a:gridCol w="2743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6126480">
                      <a:extLst>
                        <a:ext uri="{9D8B030D-6E8A-4147-A177-3AD203B41FA5}">
                          <a16:colId xmlns:a16="http://schemas.microsoft.com/office/drawing/2014/main" val="20003"/>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Nominal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Bias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Simultaneous 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fire load: fires started at step 0 on the least reachable cells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Resource level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0.10 – 1.00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scale on the pool; binds as a total budget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Local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sub-areas evaluated on their own, competing for the shared pool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Attention threshold </a:t>
                          </a:r>
                          <a14:m>
                            <m:oMath xmlns:m="http://schemas.openxmlformats.org/officeDocument/2006/math">
                              <m:sSub>
                                <m:sSubPr>
                                  <m:ctrlPr>
                                    <a:rPr lang="en-US" i="1">
                                      <a:latin typeface="Cambria Math" panose="02040503050406030204" pitchFamily="18" charset="0"/>
                                    </a:rPr>
                                  </m:ctrlPr>
                                </m:sSubPr>
                                <m:e>
                                  <m:r>
                                    <a:rPr lang="en-US" sz="1200">
                                      <a:latin typeface="Cambria Math"/>
                                    </a:rPr>
                                    <m:t>𝜏</m:t>
                                  </m:r>
                                </m:e>
                                <m:sub>
                                  <m:r>
                                    <a:rPr lang="en-US" sz="1200">
                                      <a:latin typeface="Cambria Math"/>
                                    </a:rPr>
                                    <m:t>𝑎𝑡𝑡</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0.05 – 0.95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priority at which a region is attended rather than monitored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No-harm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45 – 90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lookahead over which candidate and no-action are compared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Satisficing bound </a:t>
                          </a:r>
                          <a14:m>
                            <m:oMath xmlns:m="http://schemas.openxmlformats.org/officeDocument/2006/math">
                              <m:sSub>
                                <m:sSubPr>
                                  <m:ctrlPr>
                                    <a:rPr lang="en-US" i="1">
                                      <a:latin typeface="Cambria Math" panose="02040503050406030204" pitchFamily="18" charset="0"/>
                                    </a:rPr>
                                  </m:ctrlPr>
                                </m:sSubPr>
                                <m:e>
                                  <m:r>
                                    <a:rPr lang="en-US" sz="1200">
                                      <a:latin typeface="Cambria Math"/>
                                    </a:rPr>
                                    <m:t>𝐽</m:t>
                                  </m:r>
                                </m:e>
                                <m:sub>
                                  <m:r>
                                    <a:rPr lang="en-US" sz="1200">
                                      <a:latin typeface="Cambria Math"/>
                                    </a:rPr>
                                    <m:t>𝑇𝐻</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 – 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cost at which standing orders are accepted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Quality gate </a:t>
                          </a:r>
                          <a14:m>
                            <m:oMath xmlns:m="http://schemas.openxmlformats.org/officeDocument/2006/math">
                              <m:r>
                                <a:rPr lang="en-US" sz="1200">
                                  <a:latin typeface="Cambria Math"/>
                                </a:rPr>
                                <m:t>𝜂</m:t>
                              </m:r>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 – 0.90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minimum quality for offensive orders at full strength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mc:Choice>
        <mc:Fallback xmlns="">
          <p:graphicFrame>
            <p:nvGraphicFramePr>
              <p:cNvPr id="8" name="Table 0"/>
              <p:cNvGraphicFramePr>
                <a:graphicFrameLocks noGrp="1"/>
              </p:cNvGraphicFramePr>
              <p:nvPr/>
            </p:nvGraphicFramePr>
            <p:xfrm>
              <a:off x="502920" y="3291840"/>
              <a:ext cx="11247120" cy="3218688"/>
            </p:xfrm>
            <a:graphic>
              <a:graphicData uri="http://schemas.openxmlformats.org/drawingml/2006/table">
                <a:tbl>
                  <a:tblPr/>
                  <a:tblGrid>
                    <a:gridCol w="2743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6126480">
                      <a:extLst>
                        <a:ext uri="{9D8B030D-6E8A-4147-A177-3AD203B41FA5}">
                          <a16:colId xmlns:a16="http://schemas.microsoft.com/office/drawing/2014/main" val="20003"/>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Nominal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Bias range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Simultaneous 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fire load: fires started at step 0 on the least reachable cells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Resource level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0.10 – 1.00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scale on the pool; binds as a total budget across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Local regions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16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sub-areas evaluated on their own, competing for the shared pool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22" t="-401515" r="-310667" b="-303030"/>
                          </a:stretch>
                        </a:blipFill>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0.05 – 0.95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priority at which a region is attended rather than monitored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No-harm horizon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45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45 – 90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lookahead over which candidate and no-action are compared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22" t="-601515" r="-310667" b="-103030"/>
                          </a:stretch>
                        </a:blipFill>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 – 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cost at which standing orders are accepted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222" t="-701515" r="-310667" b="-3030"/>
                          </a:stretch>
                        </a:blipFill>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 – 0.90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minimum quality for offensive orders at full strength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mc:Fallback>
      </mc:AlternateContent>
      <p:sp>
        <p:nvSpPr>
          <p:cNvPr id="90007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77 / 113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2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Locating the Operating Point : Fire Load × Resource Pool</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31.png"/>
          <p:cNvPicPr>
            <a:picLocks noChangeAspect="1"/>
          </p:cNvPicPr>
          <p:nvPr/>
        </p:nvPicPr>
        <p:blipFill>
          <a:blip r:embed="rId5"/>
          <a:stretch>
            <a:fillRect/>
          </a:stretch>
        </p:blipFill>
        <p:spPr>
          <a:xfrm>
            <a:off x="411480" y="1472501"/>
            <a:ext cx="6675120" cy="4644519"/>
          </a:xfrm>
          <a:prstGeom prst="rect">
            <a:avLst/>
          </a:prstGeom>
        </p:spPr>
      </p:pic>
      <p:sp>
        <p:nvSpPr>
          <p:cNvPr id="7" name="Text 2"/>
          <p:cNvSpPr/>
          <p:nvPr/>
        </p:nvSpPr>
        <p:spPr>
          <a:xfrm>
            <a:off x="7315200" y="1463040"/>
            <a:ext cx="443484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Each cell: physical cost as a share of the free burn of the same world.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Lost throughout — at a tenth of the pool with more than one ignition, the cost stays at 77–83% of the free burn whatever else is set.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Held throughout — with a full or three-quarter pool and up to four ignitions, 14–32%.</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Only a few cells are decidable. The sweeps run at the one nearest the midpoint: four ignitions with a quarter of the pool — 50% of free burn on the mean, 28% in the least severe world.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A bias study at a lost or won operating point would report a robustness that belongs to the situation, not to the system.</a:t>
            </a:r>
            <a:endParaRPr lang="en-US" sz="1200" dirty="0"/>
          </a:p>
        </p:txBody>
      </p:sp>
      <p:sp>
        <p:nvSpPr>
          <p:cNvPr id="90007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78 / 113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3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Observation Coverage × Fire Load, per Resource Pool</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32.png"/>
          <p:cNvPicPr>
            <a:picLocks noChangeAspect="1"/>
          </p:cNvPicPr>
          <p:nvPr/>
        </p:nvPicPr>
        <p:blipFill>
          <a:blip r:embed="rId5"/>
          <a:stretch>
            <a:fillRect/>
          </a:stretch>
        </p:blipFill>
        <p:spPr>
          <a:xfrm>
            <a:off x="411480" y="1484504"/>
            <a:ext cx="3611880" cy="2151631"/>
          </a:xfrm>
          <a:prstGeom prst="rect">
            <a:avLst/>
          </a:prstGeom>
        </p:spPr>
      </p:pic>
      <p:pic>
        <p:nvPicPr>
          <p:cNvPr id="7" name="Image 3" descr="/tmp/thx/deck/figs/ch5_33.png"/>
          <p:cNvPicPr>
            <a:picLocks noChangeAspect="1"/>
          </p:cNvPicPr>
          <p:nvPr/>
        </p:nvPicPr>
        <p:blipFill>
          <a:blip r:embed="rId6"/>
          <a:stretch>
            <a:fillRect/>
          </a:stretch>
        </p:blipFill>
        <p:spPr>
          <a:xfrm>
            <a:off x="4069080" y="1529206"/>
            <a:ext cx="3611880" cy="2062229"/>
          </a:xfrm>
          <a:prstGeom prst="rect">
            <a:avLst/>
          </a:prstGeom>
        </p:spPr>
      </p:pic>
      <p:pic>
        <p:nvPicPr>
          <p:cNvPr id="8" name="Image 4" descr="/tmp/thx/deck/figs/ch5_34.png"/>
          <p:cNvPicPr>
            <a:picLocks noChangeAspect="1"/>
          </p:cNvPicPr>
          <p:nvPr/>
        </p:nvPicPr>
        <p:blipFill>
          <a:blip r:embed="rId7"/>
          <a:stretch>
            <a:fillRect/>
          </a:stretch>
        </p:blipFill>
        <p:spPr>
          <a:xfrm>
            <a:off x="411480" y="3997014"/>
            <a:ext cx="3611880" cy="2155813"/>
          </a:xfrm>
          <a:prstGeom prst="rect">
            <a:avLst/>
          </a:prstGeom>
        </p:spPr>
      </p:pic>
      <p:pic>
        <p:nvPicPr>
          <p:cNvPr id="9" name="Image 5" descr="/tmp/thx/deck/figs/ch5_35.png"/>
          <p:cNvPicPr>
            <a:picLocks noChangeAspect="1"/>
          </p:cNvPicPr>
          <p:nvPr/>
        </p:nvPicPr>
        <p:blipFill>
          <a:blip r:embed="rId8"/>
          <a:stretch>
            <a:fillRect/>
          </a:stretch>
        </p:blipFill>
        <p:spPr>
          <a:xfrm>
            <a:off x="4069080" y="4011902"/>
            <a:ext cx="3611880" cy="2126037"/>
          </a:xfrm>
          <a:prstGeom prst="rect">
            <a:avLst/>
          </a:prstGeom>
        </p:spPr>
      </p:pic>
      <p:sp>
        <p:nvSpPr>
          <p:cNvPr id="10" name="Text 2"/>
          <p:cNvSpPr/>
          <p:nvPr/>
        </p:nvSpPr>
        <p:spPr>
          <a:xfrm>
            <a:off x="411480" y="6355080"/>
            <a:ext cx="731520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Pools 0.25, 0.50 (top), 0.75, 1.00 (bottom); rows = deployed sensors, columns = simultaneous ignitions.</a:t>
            </a:r>
            <a:endParaRPr lang="en-US" sz="1200" dirty="0"/>
          </a:p>
        </p:txBody>
      </p:sp>
      <p:sp>
        <p:nvSpPr>
          <p:cNvPr id="11" name="Text 3"/>
          <p:cNvSpPr/>
          <p:nvPr/>
        </p:nvSpPr>
        <p:spPr>
          <a:xfrm>
            <a:off x="7909560" y="1463040"/>
            <a:ext cx="3840480" cy="49377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Observation decides at light load: one ignition falls from ≈70% of free burn with 1 sensor to ≈20% with full coverage — and saturates early: 5 and 9 sensors give the same result.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Resource decides at heavy load: 12 ignitions at full coverage drop from 86% (quarter pool) to ≈46% (full pool) while single-ignition cells barely move.</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Complementary, not interchangeable: a blind map is not recovered by resource, a scarce pool is not recovered by observation.</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Bias reading: coverage tolerates loss down to five sensors at no measurable cost, then degrades smoothly, not abruptly.</a:t>
            </a:r>
            <a:endParaRPr lang="en-US" sz="1200" dirty="0"/>
          </a:p>
        </p:txBody>
      </p:sp>
      <p:sp>
        <p:nvSpPr>
          <p:cNvPr id="90007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79 / 113</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PARAMETER ANALYSES 4 OF 4</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Decision Cycle, Satisficing Bound, Quality Gate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56692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Decision cycle — how long a plan may age</a:t>
            </a:r>
            <a:endParaRPr lang="en-US" sz="1400" dirty="0"/>
          </a:p>
        </p:txBody>
      </p:sp>
      <mc:AlternateContent xmlns:mc="http://schemas.openxmlformats.org/markup-compatibility/2006" xmlns:a14="http://schemas.microsoft.com/office/drawing/2010/main">
        <mc:Choice Requires="a14">
          <p:sp>
            <p:nvSpPr>
              <p:cNvPr id="7" name="Text 3"/>
              <p:cNvSpPr/>
              <p:nvPr/>
            </p:nvSpPr>
            <p:spPr>
              <a:xfrm>
                <a:off x="502920" y="1591056"/>
                <a:ext cx="5669280" cy="566928"/>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r>
                        <a:rPr lang="en-US" sz="1400">
                          <a:latin typeface="Cambria Math"/>
                        </a:rPr>
                        <m:t>𝛥</m:t>
                      </m:r>
                      <m:sSub>
                        <m:sSubPr>
                          <m:ctrlPr>
                            <a:rPr lang="en-US" i="1">
                              <a:latin typeface="Cambria Math" panose="02040503050406030204" pitchFamily="18" charset="0"/>
                            </a:rPr>
                          </m:ctrlPr>
                        </m:sSubPr>
                        <m:e>
                          <m:r>
                            <m:rPr>
                              <m:sty m:val="p"/>
                            </m:rPr>
                            <a:rPr lang="en-US" sz="1400">
                              <a:latin typeface="Cambria Math"/>
                            </a:rPr>
                            <m:t>t</m:t>
                          </m:r>
                        </m:e>
                        <m:sub>
                          <m:r>
                            <m:rPr>
                              <m:sty m:val="p"/>
                            </m:rPr>
                            <a:rPr lang="en-US" sz="1400">
                              <a:latin typeface="Cambria Math"/>
                            </a:rPr>
                            <m:t>decision</m:t>
                          </m:r>
                        </m:sub>
                      </m:sSub>
                      <m:r>
                        <a:rPr lang="en-US" sz="1400">
                          <a:latin typeface="Cambria Math"/>
                        </a:rPr>
                        <m:t>=</m:t>
                      </m:r>
                      <m:r>
                        <m:rPr>
                          <m:sty m:val="p"/>
                        </m:rPr>
                        <a:rPr lang="en-US" sz="1400">
                          <a:latin typeface="Cambria Math"/>
                        </a:rPr>
                        <m:t>max</m:t>
                      </m:r>
                      <m:d>
                        <m:dPr>
                          <m:ctrlPr>
                            <a:rPr lang="en-US" i="1">
                              <a:latin typeface="Cambria Math" panose="02040503050406030204" pitchFamily="18" charset="0"/>
                            </a:rPr>
                          </m:ctrlPr>
                        </m:dPr>
                        <m:e>
                          <m:r>
                            <a:rPr lang="en-US" sz="1400">
                              <a:latin typeface="Cambria Math"/>
                            </a:rPr>
                            <m:t>𝛥</m:t>
                          </m:r>
                          <m:r>
                            <a:rPr lang="en-US" sz="1400">
                              <a:latin typeface="Cambria Math"/>
                            </a:rPr>
                            <m:t>𝑡</m:t>
                          </m:r>
                          <m:r>
                            <a:rPr lang="en-US" sz="1400">
                              <a:latin typeface="Cambria Math"/>
                            </a:rPr>
                            <m:t>,</m:t>
                          </m:r>
                          <m:r>
                            <m:rPr>
                              <m:sty m:val="p"/>
                            </m:rPr>
                            <a:rPr lang="en-US" sz="1400">
                              <a:latin typeface="Cambria Math"/>
                            </a:rPr>
                            <m:t>min</m:t>
                          </m:r>
                          <m:d>
                            <m:dPr>
                              <m:ctrlPr>
                                <a:rPr lang="en-US" i="1">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𝐶</m:t>
                                      </m:r>
                                    </m:e>
                                    <m:sub>
                                      <m:r>
                                        <a:rPr lang="en-US" sz="1400">
                                          <a:latin typeface="Cambria Math"/>
                                        </a:rPr>
                                        <m:t>𝑠𝑖𝑧𝑒</m:t>
                                      </m:r>
                                    </m:sub>
                                  </m:sSub>
                                </m:num>
                                <m:den>
                                  <m:r>
                                    <a:rPr lang="en-US" sz="1400">
                                      <a:latin typeface="Cambria Math"/>
                                    </a:rPr>
                                    <m:t>2</m:t>
                                  </m:r>
                                  <m:sSub>
                                    <m:sSubPr>
                                      <m:ctrlPr>
                                        <a:rPr lang="en-US" i="1">
                                          <a:latin typeface="Cambria Math" panose="02040503050406030204" pitchFamily="18" charset="0"/>
                                        </a:rPr>
                                      </m:ctrlPr>
                                    </m:sSubPr>
                                    <m:e>
                                      <m:r>
                                        <a:rPr lang="en-US" sz="1400">
                                          <a:latin typeface="Cambria Math"/>
                                        </a:rPr>
                                        <m:t>𝑅</m:t>
                                      </m:r>
                                    </m:e>
                                    <m:sub>
                                      <m:r>
                                        <m:rPr>
                                          <m:sty m:val="p"/>
                                        </m:rPr>
                                        <a:rPr lang="en-US" sz="1400">
                                          <a:latin typeface="Cambria Math"/>
                                        </a:rPr>
                                        <m:t>spread</m:t>
                                      </m:r>
                                    </m:sub>
                                  </m:sSub>
                                </m:den>
                              </m:f>
                              <m: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𝜏</m:t>
                                      </m:r>
                                    </m:e>
                                    <m:sub>
                                      <m:r>
                                        <a:rPr lang="en-US" sz="1400">
                                          <a:latin typeface="Cambria Math"/>
                                        </a:rPr>
                                        <m:t>𝐻𝑜𝑟𝑖𝑧𝑜𝑛</m:t>
                                      </m:r>
                                    </m:sub>
                                  </m:sSub>
                                </m:num>
                                <m:den>
                                  <m:r>
                                    <a:rPr lang="en-US" sz="1400">
                                      <a:latin typeface="Cambria Math"/>
                                    </a:rPr>
                                    <m:t>5</m:t>
                                  </m:r>
                                </m:den>
                              </m:f>
                            </m:e>
                          </m:d>
                        </m:e>
                      </m:d>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502920" y="1591056"/>
                <a:ext cx="5669280" cy="566928"/>
              </a:xfrm>
              <a:prstGeom prst="rect">
                <a:avLst/>
              </a:prstGeom>
              <a:blipFill>
                <a:blip r:embed="rId5"/>
                <a:stretch>
                  <a:fillRect t="-23656" b="-29032"/>
                </a:stretch>
              </a:blipFill>
              <a:ln/>
            </p:spPr>
            <p:txBody>
              <a:bodyPr/>
              <a:lstStyle/>
              <a:p>
                <a:r>
                  <a:rPr lang="tr-TR">
                    <a:noFill/>
                  </a:rPr>
                  <a:t/>
                </a:r>
              </a:p>
            </p:txBody>
          </p:sp>
        </mc:Fallback>
      </mc:AlternateContent>
      <p:sp>
        <p:nvSpPr>
          <p:cNvPr id="8" name="Text 4"/>
          <p:cNvSpPr/>
          <p:nvPr/>
        </p:nvSpPr>
        <p:spPr>
          <a:xfrm>
            <a:off x="502920" y="2212848"/>
            <a:ext cx="5669280" cy="141732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Two bounds: the front advances at most half a cell between decisions, and the plan is revised at least five times inside the no-harm horizon; the result is floored at the integration step. </a:t>
            </a:r>
            <a:r>
              <a:rPr lang="en-US" sz="1200" b="1" dirty="0">
                <a:solidFill>
                  <a:srgbClr val="000000"/>
                </a:solidFill>
                <a:latin typeface="Calibri" pitchFamily="34" charset="0"/>
                <a:ea typeface="Calibri" pitchFamily="34" charset="-122"/>
                <a:cs typeface="Calibri" pitchFamily="34" charset="-120"/>
              </a:rPr>
              <a:t>Lengthening the cycle degrades the paired gain monotonically for both fire types — graded, not cliff-edged; the five-world half-width of 11.75 points bounds the effect size.</a:t>
            </a:r>
            <a:endParaRPr lang="en-US" sz="1200" dirty="0"/>
          </a:p>
        </p:txBody>
      </p:sp>
      <p:pic>
        <p:nvPicPr>
          <p:cNvPr id="9" name="Image 2" descr="/tmp/thx/deck/figs/ch5_38.png"/>
          <p:cNvPicPr>
            <a:picLocks noChangeAspect="1"/>
          </p:cNvPicPr>
          <p:nvPr/>
        </p:nvPicPr>
        <p:blipFill>
          <a:blip r:embed="rId6"/>
          <a:stretch>
            <a:fillRect/>
          </a:stretch>
        </p:blipFill>
        <p:spPr>
          <a:xfrm>
            <a:off x="1353814" y="3703320"/>
            <a:ext cx="3967492" cy="2743200"/>
          </a:xfrm>
          <a:prstGeom prst="rect">
            <a:avLst/>
          </a:prstGeom>
        </p:spPr>
      </p:pic>
      <p:sp>
        <p:nvSpPr>
          <p:cNvPr id="10" name="Text 5"/>
          <p:cNvSpPr/>
          <p:nvPr/>
        </p:nvSpPr>
        <p:spPr>
          <a:xfrm>
            <a:off x="6537960" y="1261872"/>
            <a:ext cx="521208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Two thresholds, two rates</a:t>
            </a:r>
            <a:endParaRPr lang="en-US" sz="1400" dirty="0"/>
          </a:p>
        </p:txBody>
      </p:sp>
      <p:pic>
        <p:nvPicPr>
          <p:cNvPr id="11" name="Image 3" descr="/tmp/thx/deck/figs/ch5_39.png"/>
          <p:cNvPicPr>
            <a:picLocks noChangeAspect="1"/>
          </p:cNvPicPr>
          <p:nvPr/>
        </p:nvPicPr>
        <p:blipFill>
          <a:blip r:embed="rId7"/>
          <a:stretch>
            <a:fillRect/>
          </a:stretch>
        </p:blipFill>
        <p:spPr>
          <a:xfrm>
            <a:off x="6537960" y="1634245"/>
            <a:ext cx="2560320" cy="1833862"/>
          </a:xfrm>
          <a:prstGeom prst="rect">
            <a:avLst/>
          </a:prstGeom>
        </p:spPr>
      </p:pic>
      <p:pic>
        <p:nvPicPr>
          <p:cNvPr id="12" name="Image 4" descr="/tmp/thx/deck/figs/ch5_40.png"/>
          <p:cNvPicPr>
            <a:picLocks noChangeAspect="1"/>
          </p:cNvPicPr>
          <p:nvPr/>
        </p:nvPicPr>
        <p:blipFill>
          <a:blip r:embed="rId8"/>
          <a:stretch>
            <a:fillRect/>
          </a:stretch>
        </p:blipFill>
        <p:spPr>
          <a:xfrm>
            <a:off x="9144000" y="1630229"/>
            <a:ext cx="2560320" cy="1841893"/>
          </a:xfrm>
          <a:prstGeom prst="rect">
            <a:avLst/>
          </a:prstGeom>
        </p:spPr>
      </p:pic>
      <mc:AlternateContent xmlns:mc="http://schemas.openxmlformats.org/markup-compatibility/2006" xmlns:a14="http://schemas.microsoft.com/office/drawing/2010/main">
        <mc:Choice Requires="a14">
          <p:sp>
            <p:nvSpPr>
              <p:cNvPr id="13" name="Text 6"/>
              <p:cNvSpPr/>
              <p:nvPr/>
            </p:nvSpPr>
            <p:spPr>
              <a:xfrm>
                <a:off x="6537960" y="3657600"/>
                <a:ext cx="5212080" cy="28346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bound sets how often the adaptation ladder is engaged: 42.0% of cycles at the configured 0.35; flat at 29.5% above 0.45, where the relative margin against no action always binds instead.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Between 0.35 and 0.45 the engagement falls ≈1.3 points per 0.01 of upward bias; below nominal it rises steeply — tolerant upward, proportional downward.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Each threshold acts only where its quantity varies: the no-action forecast spans 0.06–0.46 (median 0.23), and decision quality stays in </a:t>
                </a:r>
                <a14:m>
                  <m:oMath xmlns:m="http://schemas.openxmlformats.org/officeDocument/2006/math">
                    <m:r>
                      <a:rPr lang="en-US" sz="1200">
                        <a:latin typeface="Cambria Math"/>
                      </a:rPr>
                      <m:t>𝑄</m:t>
                    </m:r>
                    <m:r>
                      <a:rPr lang="en-US" sz="1200">
                        <a:latin typeface="Cambria Math"/>
                      </a:rPr>
                      <m:t> ∈ [0.55, 0.85]</m:t>
                    </m:r>
                  </m:oMath>
                </a14:m>
                <a:r>
                  <a:rPr lang="en-US" sz="1200" dirty="0">
                    <a:solidFill>
                      <a:srgbClr val="222222"/>
                    </a:solidFill>
                    <a:latin typeface="Calibri" pitchFamily="34" charset="0"/>
                    <a:ea typeface="Calibri" pitchFamily="34" charset="-122"/>
                    <a:cs typeface="Calibri" pitchFamily="34" charset="-120"/>
                  </a:rPr>
                  <a:t>.</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Summary — steep directions: the decision cycle and a pool below one half. Tolerant: coverage, the ceiling above nominal, the gate inside the occupied quality band.</a:t>
                </a:r>
                <a:endParaRPr lang="en-US" sz="1200" dirty="0"/>
              </a:p>
            </p:txBody>
          </p:sp>
        </mc:Choice>
        <mc:Fallback xmlns="">
          <p:sp>
            <p:nvSpPr>
              <p:cNvPr id="13" name="Text 6"/>
              <p:cNvSpPr>
                <a:spLocks noRot="1" noChangeAspect="1" noMove="1" noResize="1" noEditPoints="1" noAdjustHandles="1" noChangeArrowheads="1" noChangeShapeType="1" noTextEdit="1"/>
              </p:cNvSpPr>
              <p:nvPr/>
            </p:nvSpPr>
            <p:spPr>
              <a:xfrm>
                <a:off x="6537960" y="3657600"/>
                <a:ext cx="5212080" cy="2834640"/>
              </a:xfrm>
              <a:prstGeom prst="rect">
                <a:avLst/>
              </a:prstGeom>
              <a:blipFill>
                <a:blip r:embed="rId9"/>
                <a:stretch>
                  <a:fillRect l="-1871" t="-1935" r="-1637"/>
                </a:stretch>
              </a:blipFill>
              <a:ln/>
            </p:spPr>
            <p:txBody>
              <a:bodyPr/>
              <a:lstStyle/>
              <a:p>
                <a:r>
                  <a:rPr lang="tr-TR">
                    <a:noFill/>
                  </a:rPr>
                  <a:t/>
                </a:r>
              </a:p>
            </p:txBody>
          </p:sp>
        </mc:Fallback>
      </mc:AlternateContent>
      <p:sp>
        <p:nvSpPr>
          <p:cNvPr id="90008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80 / 113</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1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Improvement Ladder : Four Configurations, Identical Fires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371600"/>
            <a:ext cx="6309360" cy="640080"/>
          </a:xfrm>
          <a:prstGeom prst="roundRect">
            <a:avLst>
              <a:gd name="adj" fmla="val 7143"/>
            </a:avLst>
          </a:prstGeom>
          <a:solidFill>
            <a:srgbClr val="F2F2F2"/>
          </a:solidFill>
          <a:ln/>
        </p:spPr>
      </p:sp>
      <mc:AlternateContent xmlns:mc="http://schemas.openxmlformats.org/markup-compatibility/2006" xmlns:a14="http://schemas.microsoft.com/office/drawing/2010/main">
        <mc:Choice Requires="a14">
          <p:sp>
            <p:nvSpPr>
              <p:cNvPr id="7" name="Text 3"/>
              <p:cNvSpPr/>
              <p:nvPr/>
            </p:nvSpPr>
            <p:spPr>
              <a:xfrm>
                <a:off x="731520" y="1453896"/>
                <a:ext cx="589788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250">
                            <a:latin typeface="Cambria Math"/>
                          </a:rPr>
                          <m:t>𝑇</m:t>
                        </m:r>
                      </m:e>
                      <m:sub>
                        <m:r>
                          <a:rPr lang="en-US" sz="1250">
                            <a:latin typeface="Cambria Math"/>
                          </a:rPr>
                          <m:t>0</m:t>
                        </m:r>
                      </m:sub>
                    </m:sSub>
                  </m:oMath>
                </a14:m>
                <a:r>
                  <a:rPr lang="en-US" sz="1250" b="1" dirty="0">
                    <a:solidFill>
                      <a:srgbClr val="E31836"/>
                    </a:solidFill>
                    <a:latin typeface="Calibri" pitchFamily="34" charset="0"/>
                    <a:ea typeface="Calibri" pitchFamily="34" charset="-122"/>
                    <a:cs typeface="Calibri" pitchFamily="34" charset="-120"/>
                  </a:rPr>
                  <a:t> · No action — </a:t>
                </a:r>
                <a:r>
                  <a:rPr lang="en-US" sz="1200" dirty="0">
                    <a:solidFill>
                      <a:srgbClr val="222222"/>
                    </a:solidFill>
                    <a:latin typeface="Calibri" pitchFamily="34" charset="0"/>
                    <a:ea typeface="Calibri" pitchFamily="34" charset="-122"/>
                    <a:cs typeface="Calibri" pitchFamily="34" charset="-120"/>
                  </a:rPr>
                  <a:t>issues no orders; fixes the cost of inaction and serves as the exact paired counterfactual</a:t>
                </a:r>
                <a:endParaRPr lang="en-US" sz="1250" dirty="0"/>
              </a:p>
            </p:txBody>
          </p:sp>
        </mc:Choice>
        <mc:Fallback xmlns="">
          <p:sp>
            <p:nvSpPr>
              <p:cNvPr id="7" name="Text 3"/>
              <p:cNvSpPr>
                <a:spLocks noRot="1" noChangeAspect="1" noMove="1" noResize="1" noEditPoints="1" noAdjustHandles="1" noChangeArrowheads="1" noChangeShapeType="1" noTextEdit="1"/>
              </p:cNvSpPr>
              <p:nvPr/>
            </p:nvSpPr>
            <p:spPr>
              <a:xfrm>
                <a:off x="731520" y="1453896"/>
                <a:ext cx="5897880" cy="502920"/>
              </a:xfrm>
              <a:prstGeom prst="rect">
                <a:avLst/>
              </a:prstGeom>
              <a:blipFill>
                <a:blip r:embed="rId5"/>
                <a:stretch>
                  <a:fillRect l="-1550" b="-10976"/>
                </a:stretch>
              </a:blipFill>
              <a:ln/>
            </p:spPr>
            <p:txBody>
              <a:bodyPr/>
              <a:lstStyle/>
              <a:p>
                <a:r>
                  <a:rPr lang="tr-TR">
                    <a:noFill/>
                  </a:rPr>
                  <a:t/>
                </a:r>
              </a:p>
            </p:txBody>
          </p:sp>
        </mc:Fallback>
      </mc:AlternateContent>
      <p:sp>
        <p:nvSpPr>
          <p:cNvPr id="8" name="Shape 4"/>
          <p:cNvSpPr/>
          <p:nvPr/>
        </p:nvSpPr>
        <p:spPr>
          <a:xfrm>
            <a:off x="502920" y="2084832"/>
            <a:ext cx="6309360" cy="640080"/>
          </a:xfrm>
          <a:prstGeom prst="roundRect">
            <a:avLst>
              <a:gd name="adj" fmla="val 7143"/>
            </a:avLst>
          </a:prstGeom>
          <a:solidFill>
            <a:srgbClr val="F2F2F2"/>
          </a:solidFill>
          <a:ln/>
        </p:spPr>
      </p:sp>
      <mc:AlternateContent xmlns:mc="http://schemas.openxmlformats.org/markup-compatibility/2006" xmlns:a14="http://schemas.microsoft.com/office/drawing/2010/main">
        <mc:Choice Requires="a14">
          <p:sp>
            <p:nvSpPr>
              <p:cNvPr id="9" name="Text 5"/>
              <p:cNvSpPr/>
              <p:nvPr/>
            </p:nvSpPr>
            <p:spPr>
              <a:xfrm>
                <a:off x="731520" y="2167128"/>
                <a:ext cx="589788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250">
                            <a:latin typeface="Cambria Math"/>
                          </a:rPr>
                          <m:t>𝑇</m:t>
                        </m:r>
                      </m:e>
                      <m:sub>
                        <m:r>
                          <a:rPr lang="en-US" sz="1250">
                            <a:latin typeface="Cambria Math"/>
                          </a:rPr>
                          <m:t>𝐹</m:t>
                        </m:r>
                        <m:r>
                          <a:rPr lang="en-US" sz="1250">
                            <a:latin typeface="Cambria Math"/>
                          </a:rPr>
                          <m:t>5</m:t>
                        </m:r>
                      </m:sub>
                    </m:sSub>
                  </m:oMath>
                </a14:m>
                <a:r>
                  <a:rPr lang="en-US" sz="1250" b="1" dirty="0">
                    <a:solidFill>
                      <a:srgbClr val="E31836"/>
                    </a:solidFill>
                    <a:latin typeface="Calibri" pitchFamily="34" charset="0"/>
                    <a:ea typeface="Calibri" pitchFamily="34" charset="-122"/>
                    <a:cs typeface="Calibri" pitchFamily="34" charset="-120"/>
                  </a:rPr>
                  <a:t> · Seed base — </a:t>
                </a:r>
                <a:r>
                  <a:rPr lang="en-US" sz="1200" dirty="0">
                    <a:solidFill>
                      <a:srgbClr val="222222"/>
                    </a:solidFill>
                    <a:latin typeface="Calibri" pitchFamily="34" charset="0"/>
                    <a:ea typeface="Calibri" pitchFamily="34" charset="-122"/>
                    <a:cs typeface="Calibri" pitchFamily="34" charset="-120"/>
                  </a:rPr>
                  <a:t>the decision layer on the minimal five-rule doctrine</a:t>
                </a:r>
                <a:endParaRPr lang="en-US" sz="1250" dirty="0"/>
              </a:p>
            </p:txBody>
          </p:sp>
        </mc:Choice>
        <mc:Fallback xmlns="">
          <p:sp>
            <p:nvSpPr>
              <p:cNvPr id="9" name="Text 5"/>
              <p:cNvSpPr>
                <a:spLocks noRot="1" noChangeAspect="1" noMove="1" noResize="1" noEditPoints="1" noAdjustHandles="1" noChangeArrowheads="1" noChangeShapeType="1" noTextEdit="1"/>
              </p:cNvSpPr>
              <p:nvPr/>
            </p:nvSpPr>
            <p:spPr>
              <a:xfrm>
                <a:off x="731520" y="2167128"/>
                <a:ext cx="5897880" cy="502920"/>
              </a:xfrm>
              <a:prstGeom prst="rect">
                <a:avLst/>
              </a:prstGeom>
              <a:blipFill>
                <a:blip r:embed="rId6"/>
                <a:stretch>
                  <a:fillRect l="-930"/>
                </a:stretch>
              </a:blipFill>
              <a:ln/>
            </p:spPr>
            <p:txBody>
              <a:bodyPr/>
              <a:lstStyle/>
              <a:p>
                <a:r>
                  <a:rPr lang="tr-TR">
                    <a:noFill/>
                  </a:rPr>
                  <a:t/>
                </a:r>
              </a:p>
            </p:txBody>
          </p:sp>
        </mc:Fallback>
      </mc:AlternateContent>
      <p:sp>
        <p:nvSpPr>
          <p:cNvPr id="10" name="Shape 6"/>
          <p:cNvSpPr/>
          <p:nvPr/>
        </p:nvSpPr>
        <p:spPr>
          <a:xfrm>
            <a:off x="502920" y="2798064"/>
            <a:ext cx="6309360" cy="640080"/>
          </a:xfrm>
          <a:prstGeom prst="roundRect">
            <a:avLst>
              <a:gd name="adj" fmla="val 7143"/>
            </a:avLst>
          </a:prstGeom>
          <a:solidFill>
            <a:srgbClr val="F2F2F2"/>
          </a:solidFill>
          <a:ln/>
        </p:spPr>
      </p:sp>
      <mc:AlternateContent xmlns:mc="http://schemas.openxmlformats.org/markup-compatibility/2006" xmlns:a14="http://schemas.microsoft.com/office/drawing/2010/main">
        <mc:Choice Requires="a14">
          <p:sp>
            <p:nvSpPr>
              <p:cNvPr id="11" name="Text 7"/>
              <p:cNvSpPr/>
              <p:nvPr/>
            </p:nvSpPr>
            <p:spPr>
              <a:xfrm>
                <a:off x="731520" y="2880360"/>
                <a:ext cx="589788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250">
                            <a:latin typeface="Cambria Math"/>
                          </a:rPr>
                          <m:t>𝑇</m:t>
                        </m:r>
                      </m:e>
                      <m:sub>
                        <m:r>
                          <a:rPr lang="en-US" sz="1250">
                            <a:latin typeface="Cambria Math"/>
                          </a:rPr>
                          <m:t>𝐹</m:t>
                        </m:r>
                        <m:r>
                          <a:rPr lang="en-US" sz="1250">
                            <a:latin typeface="Cambria Math"/>
                          </a:rPr>
                          <m:t>5+</m:t>
                        </m:r>
                        <m:r>
                          <a:rPr lang="en-US" sz="1250">
                            <a:latin typeface="Cambria Math"/>
                          </a:rPr>
                          <m:t>𝐸𝑣</m:t>
                        </m:r>
                      </m:sub>
                    </m:sSub>
                  </m:oMath>
                </a14:m>
                <a:r>
                  <a:rPr lang="en-US" sz="1250" b="1" dirty="0">
                    <a:solidFill>
                      <a:srgbClr val="E31836"/>
                    </a:solidFill>
                    <a:latin typeface="Calibri" pitchFamily="34" charset="0"/>
                    <a:ea typeface="Calibri" pitchFamily="34" charset="-122"/>
                    <a:cs typeface="Calibri" pitchFamily="34" charset="-120"/>
                  </a:rPr>
                  <a:t> · + evFIS — </a:t>
                </a:r>
                <a:r>
                  <a:rPr lang="en-US" sz="1200" dirty="0">
                    <a:solidFill>
                      <a:srgbClr val="222222"/>
                    </a:solidFill>
                    <a:latin typeface="Calibri" pitchFamily="34" charset="0"/>
                    <a:ea typeface="Calibri" pitchFamily="34" charset="-122"/>
                    <a:cs typeface="Calibri" pitchFamily="34" charset="-120"/>
                  </a:rPr>
                  <a:t>adds adaptation stages ① and ② : consequent tuning and resolution growth</a:t>
                </a:r>
                <a:endParaRPr lang="en-US" sz="1250" dirty="0"/>
              </a:p>
            </p:txBody>
          </p:sp>
        </mc:Choice>
        <mc:Fallback xmlns="">
          <p:sp>
            <p:nvSpPr>
              <p:cNvPr id="11" name="Text 7"/>
              <p:cNvSpPr>
                <a:spLocks noRot="1" noChangeAspect="1" noMove="1" noResize="1" noEditPoints="1" noAdjustHandles="1" noChangeArrowheads="1" noChangeShapeType="1" noTextEdit="1"/>
              </p:cNvSpPr>
              <p:nvPr/>
            </p:nvSpPr>
            <p:spPr>
              <a:xfrm>
                <a:off x="731520" y="2880360"/>
                <a:ext cx="5897880" cy="502920"/>
              </a:xfrm>
              <a:prstGeom prst="rect">
                <a:avLst/>
              </a:prstGeom>
              <a:blipFill>
                <a:blip r:embed="rId7"/>
                <a:stretch>
                  <a:fillRect l="-1550" b="-10976"/>
                </a:stretch>
              </a:blipFill>
              <a:ln/>
            </p:spPr>
            <p:txBody>
              <a:bodyPr/>
              <a:lstStyle/>
              <a:p>
                <a:r>
                  <a:rPr lang="tr-TR">
                    <a:noFill/>
                  </a:rPr>
                  <a:t/>
                </a:r>
              </a:p>
            </p:txBody>
          </p:sp>
        </mc:Fallback>
      </mc:AlternateContent>
      <p:sp>
        <p:nvSpPr>
          <p:cNvPr id="12" name="Shape 8"/>
          <p:cNvSpPr/>
          <p:nvPr/>
        </p:nvSpPr>
        <p:spPr>
          <a:xfrm>
            <a:off x="502920" y="3511296"/>
            <a:ext cx="6309360" cy="640080"/>
          </a:xfrm>
          <a:prstGeom prst="roundRect">
            <a:avLst>
              <a:gd name="adj" fmla="val 7143"/>
            </a:avLst>
          </a:prstGeom>
          <a:solidFill>
            <a:srgbClr val="FDE8EB"/>
          </a:solidFill>
          <a:ln/>
        </p:spPr>
      </p:sp>
      <mc:AlternateContent xmlns:mc="http://schemas.openxmlformats.org/markup-compatibility/2006" xmlns:a14="http://schemas.microsoft.com/office/drawing/2010/main">
        <mc:Choice Requires="a14">
          <p:sp>
            <p:nvSpPr>
              <p:cNvPr id="13" name="Text 9"/>
              <p:cNvSpPr/>
              <p:nvPr/>
            </p:nvSpPr>
            <p:spPr>
              <a:xfrm>
                <a:off x="731520" y="3593592"/>
                <a:ext cx="5897880" cy="502920"/>
              </a:xfrm>
              <a:prstGeom prst="rect">
                <a:avLst/>
              </a:prstGeom>
              <a:noFill/>
              <a:ln/>
            </p:spPr>
            <p:txBody>
              <a:bodyPr wrap="square" lIns="0" tIns="0" rIns="0" bIns="0" rtlCol="0" anchor="t"/>
              <a:lstStyle/>
              <a:p>
                <a:pPr marL="0" indent="0">
                  <a:lnSpc>
                    <a:spcPct val="104000"/>
                  </a:lnSpc>
                  <a:buNone/>
                </a:pPr>
                <a14:m>
                  <m:oMath xmlns:m="http://schemas.openxmlformats.org/officeDocument/2006/math">
                    <m:sSub>
                      <m:sSubPr>
                        <m:ctrlPr>
                          <a:rPr lang="en-US" i="1">
                            <a:latin typeface="Cambria Math" panose="02040503050406030204" pitchFamily="18" charset="0"/>
                          </a:rPr>
                        </m:ctrlPr>
                      </m:sSubPr>
                      <m:e>
                        <m:r>
                          <a:rPr lang="en-US" sz="1250">
                            <a:latin typeface="Cambria Math"/>
                          </a:rPr>
                          <m:t>𝑇</m:t>
                        </m:r>
                      </m:e>
                      <m:sub>
                        <m:r>
                          <a:rPr lang="en-US" sz="1250">
                            <a:latin typeface="Cambria Math"/>
                          </a:rPr>
                          <m:t>𝐷𝐴</m:t>
                        </m:r>
                      </m:sub>
                    </m:sSub>
                  </m:oMath>
                </a14:m>
                <a:r>
                  <a:rPr lang="en-US" sz="1250" b="1" dirty="0">
                    <a:solidFill>
                      <a:srgbClr val="E31836"/>
                    </a:solidFill>
                    <a:latin typeface="Calibri" pitchFamily="34" charset="0"/>
                    <a:ea typeface="Calibri" pitchFamily="34" charset="-122"/>
                    <a:cs typeface="Calibri" pitchFamily="34" charset="-120"/>
                  </a:rPr>
                  <a:t> · DisasterAware — </a:t>
                </a:r>
                <a:r>
                  <a:rPr lang="en-US" sz="1200" dirty="0">
                    <a:solidFill>
                      <a:srgbClr val="222222"/>
                    </a:solidFill>
                    <a:latin typeface="Calibri" pitchFamily="34" charset="0"/>
                    <a:ea typeface="Calibri" pitchFamily="34" charset="-122"/>
                    <a:cs typeface="Calibri" pitchFamily="34" charset="-120"/>
                  </a:rPr>
                  <a:t>the full staged adaptation — the open decision space, including stage ③</a:t>
                </a:r>
                <a:endParaRPr lang="en-US" sz="1250" dirty="0"/>
              </a:p>
            </p:txBody>
          </p:sp>
        </mc:Choice>
        <mc:Fallback xmlns="">
          <p:sp>
            <p:nvSpPr>
              <p:cNvPr id="13" name="Text 9"/>
              <p:cNvSpPr>
                <a:spLocks noRot="1" noChangeAspect="1" noMove="1" noResize="1" noEditPoints="1" noAdjustHandles="1" noChangeArrowheads="1" noChangeShapeType="1" noTextEdit="1"/>
              </p:cNvSpPr>
              <p:nvPr/>
            </p:nvSpPr>
            <p:spPr>
              <a:xfrm>
                <a:off x="731520" y="3593592"/>
                <a:ext cx="5897880" cy="502920"/>
              </a:xfrm>
              <a:prstGeom prst="rect">
                <a:avLst/>
              </a:prstGeom>
              <a:blipFill>
                <a:blip r:embed="rId8"/>
                <a:stretch>
                  <a:fillRect l="-1550" r="-1653" b="-10976"/>
                </a:stretch>
              </a:blipFill>
              <a:ln/>
            </p:spPr>
            <p:txBody>
              <a:bodyPr/>
              <a:lstStyle/>
              <a:p>
                <a:r>
                  <a:rPr lang="tr-TR">
                    <a:noFill/>
                  </a:rPr>
                  <a:t/>
                </a:r>
              </a:p>
            </p:txBody>
          </p:sp>
        </mc:Fallback>
      </mc:AlternateContent>
      <p:sp>
        <p:nvSpPr>
          <p:cNvPr id="14" name="Text 10"/>
          <p:cNvSpPr/>
          <p:nvPr/>
        </p:nvSpPr>
        <p:spPr>
          <a:xfrm>
            <a:off x="7040880" y="1371600"/>
            <a:ext cx="4709160" cy="28346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Each rung is priced against the one below it; the full configuration against all three prices the open decision space.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Monte Carlo over a fixed seed set: every seed generates one world, and all configurations replay that identical world — outcome differences come from the decision mechanism alone.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Evaluation seeds are disjoint from every seed used in development and calibration. Episodes run to extinction or 12 h; costs are compared at a common 6 h checkpoint.</a:t>
            </a:r>
            <a:endParaRPr lang="en-US" sz="1200" dirty="0"/>
          </a:p>
        </p:txBody>
      </p:sp>
      <p:sp>
        <p:nvSpPr>
          <p:cNvPr id="15" name="Shape 11"/>
          <p:cNvSpPr/>
          <p:nvPr/>
        </p:nvSpPr>
        <p:spPr>
          <a:xfrm>
            <a:off x="502920" y="4343400"/>
            <a:ext cx="11247120" cy="2148840"/>
          </a:xfrm>
          <a:prstGeom prst="roundRect">
            <a:avLst>
              <a:gd name="adj" fmla="val 2128"/>
            </a:avLst>
          </a:prstGeom>
          <a:solidFill>
            <a:srgbClr val="F2F2F2"/>
          </a:solidFill>
          <a:ln/>
        </p:spPr>
      </p:sp>
      <p:sp>
        <p:nvSpPr>
          <p:cNvPr id="16" name="Text 12"/>
          <p:cNvSpPr/>
          <p:nvPr/>
        </p:nvSpPr>
        <p:spPr>
          <a:xfrm>
            <a:off x="777240" y="4480560"/>
            <a:ext cx="10698480" cy="68580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Two costs (from the five-term decision cost): </a:t>
            </a:r>
            <a:r>
              <a:rPr lang="en-US" sz="1250" dirty="0">
                <a:solidFill>
                  <a:srgbClr val="222222"/>
                </a:solidFill>
                <a:latin typeface="Calibri" pitchFamily="34" charset="0"/>
                <a:ea typeface="Calibri" pitchFamily="34" charset="-122"/>
                <a:cs typeface="Calibri" pitchFamily="34" charset="-120"/>
              </a:rPr>
              <a:t>the against-no-action comparison uses the physical part, because no action pays no response and no delay by definition — a total-cost comparison would reward inaction. The total cost is reported for the acting configurations.</a:t>
            </a:r>
            <a:endParaRPr lang="en-US" sz="1250" dirty="0"/>
          </a:p>
        </p:txBody>
      </p:sp>
      <mc:AlternateContent xmlns:mc="http://schemas.openxmlformats.org/markup-compatibility/2006" xmlns:a14="http://schemas.microsoft.com/office/drawing/2010/main">
        <mc:Choice Requires="a14">
          <p:sp>
            <p:nvSpPr>
              <p:cNvPr id="17" name="Text 13"/>
              <p:cNvSpPr/>
              <p:nvPr/>
            </p:nvSpPr>
            <p:spPr>
              <a:xfrm>
                <a:off x="777240" y="5212080"/>
                <a:ext cx="5257800" cy="6858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𝑃h𝑦</m:t>
                          </m:r>
                        </m:sub>
                      </m:sSub>
                      <m:r>
                        <m:rPr>
                          <m:aln/>
                        </m:rPr>
                        <a:rPr lang="en-US" sz="1400">
                          <a:latin typeface="Cambria Math"/>
                        </a:rPr>
                        <m:t>=</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𝑗</m:t>
                                  </m:r>
                                </m:sub>
                              </m:sSub>
                            </m:e>
                          </m:nary>
                        </m:num>
                        <m:den>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i="1">
                              <a:latin typeface="Cambria Math" panose="02040503050406030204" pitchFamily="18" charset="0"/>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e>
                      </m:d>
                    </m:oMath>
                  </m:oMathPara>
                </a14:m>
                <a:endParaRPr lang="en-US" sz="1300" dirty="0"/>
              </a:p>
            </p:txBody>
          </p:sp>
        </mc:Choice>
        <mc:Fallback xmlns="">
          <p:sp>
            <p:nvSpPr>
              <p:cNvPr id="17" name="Text 13"/>
              <p:cNvSpPr>
                <a:spLocks noRot="1" noChangeAspect="1" noMove="1" noResize="1" noEditPoints="1" noAdjustHandles="1" noChangeArrowheads="1" noChangeShapeType="1" noTextEdit="1"/>
              </p:cNvSpPr>
              <p:nvPr/>
            </p:nvSpPr>
            <p:spPr>
              <a:xfrm>
                <a:off x="777240" y="5212080"/>
                <a:ext cx="5257800" cy="685800"/>
              </a:xfrm>
              <a:prstGeom prst="rect">
                <a:avLst/>
              </a:prstGeom>
              <a:blipFill>
                <a:blip r:embed="rId9"/>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8" name="Text 14"/>
              <p:cNvSpPr/>
              <p:nvPr/>
            </p:nvSpPr>
            <p:spPr>
              <a:xfrm>
                <a:off x="6217920" y="5212080"/>
                <a:ext cx="5257800" cy="6858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𝑇𝑜𝑡</m:t>
                          </m:r>
                        </m:sub>
                      </m:sSub>
                      <m:r>
                        <m:rPr>
                          <m:aln/>
                        </m:rPr>
                        <a:rPr lang="en-US" sz="1400">
                          <a:latin typeface="Cambria Math"/>
                        </a:rPr>
                        <m:t>=</m:t>
                      </m:r>
                      <m:r>
                        <a:rPr lang="en-US" sz="1400">
                          <a:latin typeface="Cambria Math"/>
                        </a:rPr>
                        <m:t> </m:t>
                      </m:r>
                      <m:f>
                        <m:fPr>
                          <m:ctrlPr>
                            <a:rPr lang="en-US" i="1">
                              <a:latin typeface="Cambria Math" panose="02040503050406030204" pitchFamily="18" charset="0"/>
                            </a:rPr>
                          </m:ctrlPr>
                        </m:fPr>
                        <m:num>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sSub>
                                <m:sSubPr>
                                  <m:ctrlPr>
                                    <a:rPr lang="en-US" i="1">
                                      <a:latin typeface="Cambria Math" panose="02040503050406030204" pitchFamily="18" charset="0"/>
                                    </a:rPr>
                                  </m:ctrlPr>
                                </m:sSubPr>
                                <m:e>
                                  <m:r>
                                    <a:rPr lang="en-US" sz="1400">
                                      <a:latin typeface="Cambria Math"/>
                                    </a:rPr>
                                    <m:t>𝐽</m:t>
                                  </m:r>
                                </m:e>
                                <m:sub>
                                  <m:r>
                                    <a:rPr lang="en-US" sz="1400">
                                      <a:latin typeface="Cambria Math"/>
                                    </a:rPr>
                                    <m:t>𝑗</m:t>
                                  </m:r>
                                </m:sub>
                              </m:sSub>
                            </m:e>
                          </m:nary>
                        </m:num>
                        <m:den>
                          <m:nary>
                            <m:naryPr>
                              <m:chr m:val="∑"/>
                              <m:limLoc m:val="undOvr"/>
                              <m:ctrlPr>
                                <a:rPr lang="en-US" i="1">
                                  <a:latin typeface="Cambria Math" panose="02040503050406030204" pitchFamily="18" charset="0"/>
                                </a:rPr>
                              </m:ctrlPr>
                            </m:naryPr>
                            <m:sub>
                              <m:r>
                                <a:rPr lang="en-US" sz="1400">
                                  <a:latin typeface="Cambria Math"/>
                                </a:rPr>
                                <m:t>𝑗</m:t>
                              </m:r>
                            </m:sub>
                            <m:sup/>
                            <m:e>
                              <m:sSub>
                                <m:sSubPr>
                                  <m:ctrlPr>
                                    <a:rPr lang="en-US" i="1">
                                      <a:latin typeface="Cambria Math" panose="02040503050406030204" pitchFamily="18" charset="0"/>
                                    </a:rPr>
                                  </m:ctrlPr>
                                </m:sSubPr>
                                <m:e>
                                  <m:r>
                                    <a:rPr lang="en-US" sz="1400">
                                      <a:latin typeface="Cambria Math"/>
                                    </a:rPr>
                                    <m:t>𝑤</m:t>
                                  </m:r>
                                </m:e>
                                <m:sub>
                                  <m:r>
                                    <a:rPr lang="en-US" sz="1400">
                                      <a:latin typeface="Cambria Math"/>
                                    </a:rPr>
                                    <m:t>𝑗</m:t>
                                  </m:r>
                                </m:sub>
                              </m:sSub>
                            </m:e>
                          </m:nary>
                        </m:den>
                      </m:f>
                      <m:r>
                        <a:rPr lang="en-US" sz="1400">
                          <a:latin typeface="Cambria Math"/>
                        </a:rPr>
                        <m:t>,  </m:t>
                      </m:r>
                      <m:r>
                        <a:rPr lang="en-US" sz="1400">
                          <a:latin typeface="Cambria Math"/>
                        </a:rPr>
                        <m:t>𝑗</m:t>
                      </m:r>
                      <m:r>
                        <a:rPr lang="en-US" sz="1400">
                          <a:latin typeface="Cambria Math"/>
                        </a:rPr>
                        <m:t>∈</m:t>
                      </m:r>
                      <m:d>
                        <m:dPr>
                          <m:begChr m:val="{"/>
                          <m:endChr m:val="}"/>
                          <m:ctrlPr>
                            <a:rPr lang="en-US" i="1">
                              <a:latin typeface="Cambria Math" panose="02040503050406030204" pitchFamily="18" charset="0"/>
                            </a:rPr>
                          </m:ctrlPr>
                        </m:dPr>
                        <m:e>
                          <m:r>
                            <a:rPr lang="en-US" sz="1400">
                              <a:latin typeface="Cambria Math"/>
                            </a:rPr>
                            <m:t>𝑏𝑢𝑟𝑛</m:t>
                          </m:r>
                          <m:r>
                            <a:rPr lang="en-US" sz="1400">
                              <a:latin typeface="Cambria Math"/>
                            </a:rPr>
                            <m:t>, </m:t>
                          </m:r>
                          <m:r>
                            <a:rPr lang="en-US" sz="1400">
                              <a:latin typeface="Cambria Math"/>
                            </a:rPr>
                            <m:t>𝑎𝑠𝑠𝑒𝑡</m:t>
                          </m:r>
                          <m:r>
                            <a:rPr lang="en-US" sz="1400">
                              <a:latin typeface="Cambria Math"/>
                            </a:rPr>
                            <m:t>, </m:t>
                          </m:r>
                          <m:r>
                            <a:rPr lang="en-US" sz="1400">
                              <a:latin typeface="Cambria Math"/>
                            </a:rPr>
                            <m:t>𝑝𝑜𝑝</m:t>
                          </m:r>
                          <m:r>
                            <a:rPr lang="en-US" sz="1400">
                              <a:latin typeface="Cambria Math"/>
                            </a:rPr>
                            <m:t>, </m:t>
                          </m:r>
                          <m:r>
                            <a:rPr lang="en-US" sz="1400">
                              <a:latin typeface="Cambria Math"/>
                            </a:rPr>
                            <m:t>𝑟𝑒𝑠𝑝</m:t>
                          </m:r>
                          <m:r>
                            <a:rPr lang="en-US" sz="1400">
                              <a:latin typeface="Cambria Math"/>
                            </a:rPr>
                            <m:t>, </m:t>
                          </m:r>
                          <m:r>
                            <a:rPr lang="en-US" sz="1400">
                              <a:latin typeface="Cambria Math"/>
                            </a:rPr>
                            <m:t>𝑑𝑒𝑙𝑎𝑦</m:t>
                          </m:r>
                        </m:e>
                      </m:d>
                    </m:oMath>
                  </m:oMathPara>
                </a14:m>
                <a:endParaRPr lang="en-US" sz="1300" dirty="0"/>
              </a:p>
            </p:txBody>
          </p:sp>
        </mc:Choice>
        <mc:Fallback xmlns="">
          <p:sp>
            <p:nvSpPr>
              <p:cNvPr id="18" name="Text 14"/>
              <p:cNvSpPr>
                <a:spLocks noRot="1" noChangeAspect="1" noMove="1" noResize="1" noEditPoints="1" noAdjustHandles="1" noChangeArrowheads="1" noChangeShapeType="1" noTextEdit="1"/>
              </p:cNvSpPr>
              <p:nvPr/>
            </p:nvSpPr>
            <p:spPr>
              <a:xfrm>
                <a:off x="6217920" y="5212080"/>
                <a:ext cx="5257800" cy="685800"/>
              </a:xfrm>
              <a:prstGeom prst="rect">
                <a:avLst/>
              </a:prstGeom>
              <a:blipFill>
                <a:blip r:embed="rId10"/>
                <a:stretch>
                  <a:fillRect/>
                </a:stretch>
              </a:blipFill>
              <a:ln/>
            </p:spPr>
            <p:txBody>
              <a:bodyPr/>
              <a:lstStyle/>
              <a:p>
                <a:r>
                  <a:rPr lang="tr-TR">
                    <a:noFill/>
                  </a:rPr>
                  <a:t/>
                </a:r>
              </a:p>
            </p:txBody>
          </p:sp>
        </mc:Fallback>
      </mc:AlternateContent>
      <p:sp>
        <p:nvSpPr>
          <p:cNvPr id="19" name="Text 15"/>
          <p:cNvSpPr/>
          <p:nvPr/>
        </p:nvSpPr>
        <p:spPr>
          <a:xfrm>
            <a:off x="777240" y="5943600"/>
            <a:ext cx="10698480" cy="365760"/>
          </a:xfrm>
          <a:prstGeom prst="rect">
            <a:avLst/>
          </a:prstGeom>
          <a:noFill/>
          <a:ln/>
        </p:spPr>
        <p:txBody>
          <a:bodyPr wrap="square" lIns="0" tIns="0" rIns="0" bIns="0" rtlCol="0" anchor="t"/>
          <a:lstStyle/>
          <a:p>
            <a:pPr marL="0" indent="0" algn="ctr">
              <a:lnSpc>
                <a:spcPct val="104000"/>
              </a:lnSpc>
              <a:buNone/>
            </a:pPr>
            <a:r>
              <a:rPr lang="en-US" sz="1200" i="1" dirty="0">
                <a:solidFill>
                  <a:srgbClr val="6E6E6E"/>
                </a:solidFill>
                <a:latin typeface="Calibri" pitchFamily="34" charset="0"/>
                <a:ea typeface="Calibri" pitchFamily="34" charset="-122"/>
                <a:cs typeface="Calibri" pitchFamily="34" charset="-120"/>
              </a:rPr>
              <a:t>weights 1.0 / 1.0 / 1.0 / 0.2 / 0.2 over burn, asset, population, response, delay — normalized 0.29 / 0.29 / 0.29 / 0.06 / 0.06</a:t>
            </a:r>
            <a:endParaRPr lang="en-US" sz="1200" dirty="0"/>
          </a:p>
        </p:txBody>
      </p:sp>
      <p:sp>
        <p:nvSpPr>
          <p:cNvPr id="90008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81 / 113</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2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Five Scenario Families : Landscape × Resource Sufficiency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2104385028"/>
              </p:ext>
            </p:extLst>
          </p:nvPr>
        </p:nvGraphicFramePr>
        <p:xfrm>
          <a:off x="502920" y="1064684"/>
          <a:ext cx="11247120" cy="2414016"/>
        </p:xfrm>
        <a:graphic>
          <a:graphicData uri="http://schemas.openxmlformats.org/drawingml/2006/table">
            <a:tbl>
              <a:tblPr/>
              <a:tblGrid>
                <a:gridCol w="548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4023360">
                  <a:extLst>
                    <a:ext uri="{9D8B030D-6E8A-4147-A177-3AD203B41FA5}">
                      <a16:colId xmlns:a16="http://schemas.microsoft.com/office/drawing/2014/main" val="20004"/>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Landscape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Resource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Ignitions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assesses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Remote forest (≈2 small settlements)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Sufficient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remote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baseline suppression competence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Remote forest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Limited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 remote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area protection under scarcity; allocation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WUI (≈15 settlements, high assets)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Sufficient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 near the interface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life/asset prioritization; evacuation discipline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WUI</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Limited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 near the interface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full operational stress; the demonstrative scenario</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S5</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 S4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S4 under degraded observation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7" name="Image 2" descr="/tmp/thx/deck/figs/ch5_41.png"/>
          <p:cNvPicPr>
            <a:picLocks noChangeAspect="1"/>
          </p:cNvPicPr>
          <p:nvPr/>
        </p:nvPicPr>
        <p:blipFill>
          <a:blip r:embed="rId5"/>
          <a:stretch>
            <a:fillRect/>
          </a:stretch>
        </p:blipFill>
        <p:spPr>
          <a:xfrm>
            <a:off x="502920" y="3794760"/>
            <a:ext cx="2651760" cy="2651760"/>
          </a:xfrm>
          <a:prstGeom prst="rect">
            <a:avLst/>
          </a:prstGeom>
        </p:spPr>
      </p:pic>
      <p:pic>
        <p:nvPicPr>
          <p:cNvPr id="8" name="Image 3" descr="/tmp/thx/deck/figs/ch5_42.png"/>
          <p:cNvPicPr>
            <a:picLocks noChangeAspect="1"/>
          </p:cNvPicPr>
          <p:nvPr/>
        </p:nvPicPr>
        <p:blipFill>
          <a:blip r:embed="rId6"/>
          <a:stretch>
            <a:fillRect/>
          </a:stretch>
        </p:blipFill>
        <p:spPr>
          <a:xfrm>
            <a:off x="3246120" y="3794760"/>
            <a:ext cx="2651760" cy="2651760"/>
          </a:xfrm>
          <a:prstGeom prst="rect">
            <a:avLst/>
          </a:prstGeom>
        </p:spPr>
      </p:pic>
      <p:pic>
        <p:nvPicPr>
          <p:cNvPr id="9" name="Image 4" descr="/tmp/thx/deck/figs/ch5_43.png"/>
          <p:cNvPicPr>
            <a:picLocks noChangeAspect="1"/>
          </p:cNvPicPr>
          <p:nvPr/>
        </p:nvPicPr>
        <p:blipFill>
          <a:blip r:embed="rId7"/>
          <a:stretch>
            <a:fillRect/>
          </a:stretch>
        </p:blipFill>
        <p:spPr>
          <a:xfrm>
            <a:off x="5989320" y="3794760"/>
            <a:ext cx="2651760" cy="2651760"/>
          </a:xfrm>
          <a:prstGeom prst="rect">
            <a:avLst/>
          </a:prstGeom>
        </p:spPr>
      </p:pic>
      <p:pic>
        <p:nvPicPr>
          <p:cNvPr id="10" name="Image 5" descr="/tmp/thx/deck/figs/ch5_44.png"/>
          <p:cNvPicPr>
            <a:picLocks noChangeAspect="1"/>
          </p:cNvPicPr>
          <p:nvPr/>
        </p:nvPicPr>
        <p:blipFill>
          <a:blip r:embed="rId8"/>
          <a:stretch>
            <a:fillRect/>
          </a:stretch>
        </p:blipFill>
        <p:spPr>
          <a:xfrm>
            <a:off x="8732520" y="3794760"/>
            <a:ext cx="2651760" cy="2651760"/>
          </a:xfrm>
          <a:prstGeom prst="rect">
            <a:avLst/>
          </a:prstGeom>
        </p:spPr>
      </p:pic>
      <p:sp>
        <p:nvSpPr>
          <p:cNvPr id="11" name="Text 2"/>
          <p:cNvSpPr/>
          <p:nvPr/>
        </p:nvSpPr>
        <p:spPr>
          <a:xfrm>
            <a:off x="502920" y="6489960"/>
            <a:ext cx="1124712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Representative worlds of S1 · S2 · S3 · S4. Weather is held at critical fire weather in all scenarios — dry fuels, strong wind — so the scenario axes remain the only controlled difference. Fifty worlds per scenario.</a:t>
            </a:r>
            <a:endParaRPr lang="en-US" sz="1200" dirty="0"/>
          </a:p>
        </p:txBody>
      </p:sp>
      <p:sp>
        <p:nvSpPr>
          <p:cNvPr id="12" name="Text 3"/>
          <p:cNvSpPr/>
          <p:nvPr/>
        </p:nvSpPr>
        <p:spPr>
          <a:xfrm>
            <a:off x="502920" y="3520440"/>
            <a:ext cx="11247120" cy="274320"/>
          </a:xfrm>
          <a:prstGeom prst="rect">
            <a:avLst/>
          </a:prstGeom>
          <a:noFill/>
          <a:ln/>
        </p:spPr>
        <p:txBody>
          <a:bodyPr wrap="square" lIns="0" tIns="0" rIns="0" bIns="0" rtlCol="0" anchor="t"/>
          <a:lstStyle/>
          <a:p>
            <a:pPr marL="0" indent="0">
              <a:lnSpc>
                <a:spcPct val="104000"/>
              </a:lnSpc>
              <a:buNone/>
            </a:pPr>
            <a:r>
              <a:rPr lang="en-US" sz="1200" dirty="0">
                <a:solidFill>
                  <a:srgbClr val="222222"/>
                </a:solidFill>
                <a:latin typeface="Calibri" pitchFamily="34" charset="0"/>
                <a:ea typeface="Calibri" pitchFamily="34" charset="-122"/>
                <a:cs typeface="Calibri" pitchFamily="34" charset="-120"/>
              </a:rPr>
              <a:t>Resource effectiveness exceeds 50% when sufficient, falls below 50% when limited.</a:t>
            </a:r>
            <a:endParaRPr lang="en-US" sz="1200" dirty="0"/>
          </a:p>
        </p:txBody>
      </p:sp>
      <p:sp>
        <p:nvSpPr>
          <p:cNvPr id="90008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82 / 113</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3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Every Rung Pays; the Open Space Pays Most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47.png"/>
          <p:cNvPicPr>
            <a:picLocks noChangeAspect="1"/>
          </p:cNvPicPr>
          <p:nvPr/>
        </p:nvPicPr>
        <p:blipFill>
          <a:blip r:embed="rId5"/>
          <a:stretch>
            <a:fillRect/>
          </a:stretch>
        </p:blipFill>
        <p:spPr>
          <a:xfrm>
            <a:off x="472509" y="1371600"/>
            <a:ext cx="6644502" cy="4846320"/>
          </a:xfrm>
          <a:prstGeom prst="rect">
            <a:avLst/>
          </a:prstGeom>
        </p:spPr>
      </p:pic>
      <p:sp>
        <p:nvSpPr>
          <p:cNvPr id="7" name="Text 2"/>
          <p:cNvSpPr/>
          <p:nvPr/>
        </p:nvSpPr>
        <p:spPr>
          <a:xfrm>
            <a:off x="7315200" y="1463040"/>
            <a:ext cx="4434840" cy="502920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Seed base: mean burned area 220 → 84 ha (−62%); mean physical cost 0.506 → 0.163.</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 evFIS: 84 → 78 ha; affected population 609 → 511; total cost 0.185 → 0.169. The saving is the delay term, 0.318 → 0.233 — tuned consequents commit the same resources sooner.</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Full DisasterAware: 39 ha (−82% vs free burn); population ≈300; total cost 0.112; physical cost 0.090 — the lowest of the four after its own effort is charged.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Two honest readings: the no-action total of 0.446 carries no response or delay and is reference only; and the last rung combines the open mechanism with the wider verified vocabulary — the ladder isolates each capability step, not the two factors inside this one.</a:t>
            </a:r>
            <a:endParaRPr lang="en-US" sz="1200" dirty="0"/>
          </a:p>
        </p:txBody>
      </p:sp>
      <p:sp>
        <p:nvSpPr>
          <p:cNvPr id="8" name="Text 3"/>
          <p:cNvSpPr/>
          <p:nvPr/>
        </p:nvSpPr>
        <p:spPr>
          <a:xfrm>
            <a:off x="411480" y="6263640"/>
            <a:ext cx="676656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Burned area, burned forest, affected population as shares of the no-DSS run, per scenario.</a:t>
            </a:r>
            <a:endParaRPr lang="en-US" sz="1200" dirty="0"/>
          </a:p>
        </p:txBody>
      </p:sp>
      <p:sp>
        <p:nvSpPr>
          <p:cNvPr id="90008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83 / 113</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4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Physical Outcome per Scenario</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5" name="Table 0"/>
          <p:cNvGraphicFramePr>
            <a:graphicFrameLocks noGrp="1"/>
          </p:cNvGraphicFramePr>
          <p:nvPr/>
        </p:nvGraphicFramePr>
        <p:xfrm>
          <a:off x="457200" y="1371600"/>
          <a:ext cx="5532120" cy="3392424"/>
        </p:xfrm>
        <a:graphic>
          <a:graphicData uri="http://schemas.openxmlformats.org/drawingml/2006/table">
            <a:tbl>
              <a:tblPr/>
              <a:tblGrid>
                <a:gridCol w="16916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tblGrid>
              <a:tr h="283464">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Burned (ha)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Forest (ha)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Aff. pop.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Out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S1 — remote forest, sufficient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1"/>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243.3 ± 16.1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111.1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3117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96.7 ± 53.6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84.7 ± 46.2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36.0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22.8 ± 24.5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S2 — remote forest, limited</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6"/>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242.2 ± 23.7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108.3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3318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157.3 ± 49.3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67.5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727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154.6 ± 39.9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67.1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633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28346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84.8 ± 37.6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35.5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graphicFrame>
        <p:nvGraphicFramePr>
          <p:cNvPr id="29" name="Table 1"/>
          <p:cNvGraphicFramePr>
            <a:graphicFrameLocks noGrp="1"/>
          </p:cNvGraphicFramePr>
          <p:nvPr/>
        </p:nvGraphicFramePr>
        <p:xfrm>
          <a:off x="6217920" y="1371600"/>
          <a:ext cx="5532120" cy="3538728"/>
        </p:xfrm>
        <a:graphic>
          <a:graphicData uri="http://schemas.openxmlformats.org/drawingml/2006/table">
            <a:tbl>
              <a:tblPr/>
              <a:tblGrid>
                <a:gridCol w="16916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tblGrid>
              <a:tr h="283464">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Burned (ha)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Forest (ha)</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Aff. pop.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Out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S3 — WUI, sufficient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1"/>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178.9 ± 37.4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42.7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4868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28.0 ± 13.9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30.5 ± 12.0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11.4 ± 7.4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S4 / S5 — WUI, limited / + degraded obs.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6"/>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218.1 ± 23.7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48.2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6202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66.2 ± 25.8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889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54.6 ± 18.9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739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187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28346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35.7 ± 17.0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501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r h="28346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DisasterAware (S5)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39.3 ± 10.0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573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8" name="Shape 2"/>
          <p:cNvSpPr/>
          <p:nvPr/>
        </p:nvSpPr>
        <p:spPr>
          <a:xfrm>
            <a:off x="457200" y="5989320"/>
            <a:ext cx="11292840" cy="566928"/>
          </a:xfrm>
          <a:prstGeom prst="roundRect">
            <a:avLst>
              <a:gd name="adj" fmla="val 8065"/>
            </a:avLst>
          </a:prstGeom>
          <a:solidFill>
            <a:srgbClr val="FDE8EB"/>
          </a:solidFill>
          <a:ln/>
        </p:spPr>
      </p:sp>
      <p:sp>
        <p:nvSpPr>
          <p:cNvPr id="9" name="Text 3"/>
          <p:cNvSpPr/>
          <p:nvPr/>
        </p:nvSpPr>
        <p:spPr>
          <a:xfrm>
            <a:off x="731520" y="6089904"/>
            <a:ext cx="10789920" cy="41148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S5 prices the confidence machinery: under degraded observation the full configuration loses 10% (35.7 → 39.3 ha) and remains the best of the four — degradation, not breakage.</a:t>
            </a:r>
            <a:endParaRPr lang="en-US" sz="1250" dirty="0"/>
          </a:p>
        </p:txBody>
      </p:sp>
      <p:sp>
        <p:nvSpPr>
          <p:cNvPr id="90008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84 / 113</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5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Decision-Cost Terms per Scenario </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755729563"/>
              </p:ext>
            </p:extLst>
          </p:nvPr>
        </p:nvGraphicFramePr>
        <p:xfrm>
          <a:off x="457200" y="1115568"/>
          <a:ext cx="5532120" cy="3017520"/>
        </p:xfrm>
        <a:graphic>
          <a:graphicData uri="http://schemas.openxmlformats.org/drawingml/2006/table">
            <a:tbl>
              <a:tblPr/>
              <a:tblGrid>
                <a:gridCol w="1554480">
                  <a:extLst>
                    <a:ext uri="{9D8B030D-6E8A-4147-A177-3AD203B41FA5}">
                      <a16:colId xmlns:a16="http://schemas.microsoft.com/office/drawing/2014/main" val="20000"/>
                    </a:ext>
                  </a:extLst>
                </a:gridCol>
                <a:gridCol w="576072">
                  <a:extLst>
                    <a:ext uri="{9D8B030D-6E8A-4147-A177-3AD203B41FA5}">
                      <a16:colId xmlns:a16="http://schemas.microsoft.com/office/drawing/2014/main" val="20001"/>
                    </a:ext>
                  </a:extLst>
                </a:gridCol>
                <a:gridCol w="576072">
                  <a:extLst>
                    <a:ext uri="{9D8B030D-6E8A-4147-A177-3AD203B41FA5}">
                      <a16:colId xmlns:a16="http://schemas.microsoft.com/office/drawing/2014/main" val="20002"/>
                    </a:ext>
                  </a:extLst>
                </a:gridCol>
                <a:gridCol w="576072">
                  <a:extLst>
                    <a:ext uri="{9D8B030D-6E8A-4147-A177-3AD203B41FA5}">
                      <a16:colId xmlns:a16="http://schemas.microsoft.com/office/drawing/2014/main" val="20003"/>
                    </a:ext>
                  </a:extLst>
                </a:gridCol>
                <a:gridCol w="576072">
                  <a:extLst>
                    <a:ext uri="{9D8B030D-6E8A-4147-A177-3AD203B41FA5}">
                      <a16:colId xmlns:a16="http://schemas.microsoft.com/office/drawing/2014/main" val="20004"/>
                    </a:ext>
                  </a:extLst>
                </a:gridCol>
                <a:gridCol w="576072">
                  <a:extLst>
                    <a:ext uri="{9D8B030D-6E8A-4147-A177-3AD203B41FA5}">
                      <a16:colId xmlns:a16="http://schemas.microsoft.com/office/drawing/2014/main" val="20005"/>
                    </a:ext>
                  </a:extLst>
                </a:gridCol>
                <a:gridCol w="548640">
                  <a:extLst>
                    <a:ext uri="{9D8B030D-6E8A-4147-A177-3AD203B41FA5}">
                      <a16:colId xmlns:a16="http://schemas.microsoft.com/office/drawing/2014/main" val="20006"/>
                    </a:ext>
                  </a:extLst>
                </a:gridCol>
                <a:gridCol w="548640">
                  <a:extLst>
                    <a:ext uri="{9D8B030D-6E8A-4147-A177-3AD203B41FA5}">
                      <a16:colId xmlns:a16="http://schemas.microsoft.com/office/drawing/2014/main" val="20007"/>
                    </a:ext>
                  </a:extLst>
                </a:gridCol>
              </a:tblGrid>
              <a:tr h="274320">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Burn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Asset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Phys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.640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.804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.456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.517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.093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.417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.177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.427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.386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.162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.499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.636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.839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.131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.536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.248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.766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.254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.510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.181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.277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.248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.364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.775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.274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3984904395"/>
              </p:ext>
            </p:extLst>
          </p:nvPr>
        </p:nvGraphicFramePr>
        <p:xfrm>
          <a:off x="6202680" y="841248"/>
          <a:ext cx="5532120" cy="3291840"/>
        </p:xfrm>
        <a:graphic>
          <a:graphicData uri="http://schemas.openxmlformats.org/drawingml/2006/table">
            <a:tbl>
              <a:tblPr/>
              <a:tblGrid>
                <a:gridCol w="1554480">
                  <a:extLst>
                    <a:ext uri="{9D8B030D-6E8A-4147-A177-3AD203B41FA5}">
                      <a16:colId xmlns:a16="http://schemas.microsoft.com/office/drawing/2014/main" val="20000"/>
                    </a:ext>
                  </a:extLst>
                </a:gridCol>
                <a:gridCol w="576072">
                  <a:extLst>
                    <a:ext uri="{9D8B030D-6E8A-4147-A177-3AD203B41FA5}">
                      <a16:colId xmlns:a16="http://schemas.microsoft.com/office/drawing/2014/main" val="20001"/>
                    </a:ext>
                  </a:extLst>
                </a:gridCol>
                <a:gridCol w="576072">
                  <a:extLst>
                    <a:ext uri="{9D8B030D-6E8A-4147-A177-3AD203B41FA5}">
                      <a16:colId xmlns:a16="http://schemas.microsoft.com/office/drawing/2014/main" val="20002"/>
                    </a:ext>
                  </a:extLst>
                </a:gridCol>
                <a:gridCol w="576072">
                  <a:extLst>
                    <a:ext uri="{9D8B030D-6E8A-4147-A177-3AD203B41FA5}">
                      <a16:colId xmlns:a16="http://schemas.microsoft.com/office/drawing/2014/main" val="20003"/>
                    </a:ext>
                  </a:extLst>
                </a:gridCol>
                <a:gridCol w="576072">
                  <a:extLst>
                    <a:ext uri="{9D8B030D-6E8A-4147-A177-3AD203B41FA5}">
                      <a16:colId xmlns:a16="http://schemas.microsoft.com/office/drawing/2014/main" val="20004"/>
                    </a:ext>
                  </a:extLst>
                </a:gridCol>
                <a:gridCol w="576072">
                  <a:extLst>
                    <a:ext uri="{9D8B030D-6E8A-4147-A177-3AD203B41FA5}">
                      <a16:colId xmlns:a16="http://schemas.microsoft.com/office/drawing/2014/main" val="20005"/>
                    </a:ext>
                  </a:extLst>
                </a:gridCol>
                <a:gridCol w="548640">
                  <a:extLst>
                    <a:ext uri="{9D8B030D-6E8A-4147-A177-3AD203B41FA5}">
                      <a16:colId xmlns:a16="http://schemas.microsoft.com/office/drawing/2014/main" val="20006"/>
                    </a:ext>
                  </a:extLst>
                </a:gridCol>
                <a:gridCol w="548640">
                  <a:extLst>
                    <a:ext uri="{9D8B030D-6E8A-4147-A177-3AD203B41FA5}">
                      <a16:colId xmlns:a16="http://schemas.microsoft.com/office/drawing/2014/main" val="20007"/>
                    </a:ext>
                  </a:extLst>
                </a:gridCol>
              </a:tblGrid>
              <a:tr h="274320">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Burn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Asset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Phys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.565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.639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.380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.073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.179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&lt;.001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.213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&lt;.001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.066</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S4 (S5 in italics)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tc>
                  <a:txBody>
                    <a:bodyPr/>
                    <a:lstStyle/>
                    <a:p>
                      <a:pPr marL="0" indent="0">
                        <a:buNone/>
                      </a:pP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E31836"/>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 action</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.624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.808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.137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.461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.523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Seed base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.310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.304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.183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.167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 evFIS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.279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DisasterAware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r h="274320">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DisasterAware (S5)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90008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85 / 113</a:t>
            </a:r>
          </a:p>
        </p:txBody>
      </p:sp>
      <p:pic>
        <p:nvPicPr>
          <p:cNvPr id="11" name="Picture 35">
            <a:extLst>
              <a:ext uri="{FF2B5EF4-FFF2-40B4-BE49-F238E27FC236}">
                <a16:creationId xmlns:a16="http://schemas.microsoft.com/office/drawing/2014/main" id="{7E6BC15F-9BB8-4D28-B60B-E3C4FFFCA4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0814" y="4236450"/>
            <a:ext cx="4259761" cy="257355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a:extLst>
              <a:ext uri="{FF2B5EF4-FFF2-40B4-BE49-F238E27FC236}">
                <a16:creationId xmlns:a16="http://schemas.microsoft.com/office/drawing/2014/main" id="{65E41C48-3767-4E85-A2EB-B81B58A8FF72}"/>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723160" y="4506111"/>
            <a:ext cx="4268026" cy="2303018"/>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PERFORMANCE 6 OF 6</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Adaptation Is Frequent; Acceptance Is Strict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0.png"/>
          <p:cNvPicPr>
            <a:picLocks noChangeAspect="1"/>
          </p:cNvPicPr>
          <p:nvPr/>
        </p:nvPicPr>
        <p:blipFill>
          <a:blip r:embed="rId5"/>
          <a:stretch>
            <a:fillRect/>
          </a:stretch>
        </p:blipFill>
        <p:spPr>
          <a:xfrm>
            <a:off x="640080" y="1325880"/>
            <a:ext cx="7040880" cy="3017520"/>
          </a:xfrm>
          <a:prstGeom prst="rect">
            <a:avLst/>
          </a:prstGeom>
        </p:spPr>
      </p:pic>
      <p:sp>
        <p:nvSpPr>
          <p:cNvPr id="7" name="Text 2"/>
          <p:cNvSpPr/>
          <p:nvPr/>
        </p:nvSpPr>
        <p:spPr>
          <a:xfrm>
            <a:off x="457200" y="4343400"/>
            <a:ext cx="740664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Left: the two evolving-fuzzy funnels; right: the generative gate cascade. Low acceptance is the intended behavior of a gated design: trials are cheap and rejected safely on the forecast.</a:t>
            </a:r>
            <a:endParaRPr lang="en-US" sz="1200" dirty="0"/>
          </a:p>
        </p:txBody>
      </p:sp>
      <p:sp>
        <p:nvSpPr>
          <p:cNvPr id="8" name="Text 3"/>
          <p:cNvSpPr/>
          <p:nvPr/>
        </p:nvSpPr>
        <p:spPr>
          <a:xfrm>
            <a:off x="8001000" y="1371600"/>
            <a:ext cx="3749040" cy="32918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Campaign: 160 recorded runs, 7 130 decision cycles (142 runs / 6 140 cycles carry the adaptation analyses).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Stage ① parametric: 616 trials → 129 kept (21%)</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Stage ② resolution: 359 trials → 40 kept (11%)</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Stage ③ generative: 232 invocations → 47 admitted (36 rules + 11 packages); 42 generated rules survive dedup and pruning</a:t>
            </a:r>
            <a:endParaRPr lang="en-US" sz="1200" dirty="0"/>
          </a:p>
        </p:txBody>
      </p:sp>
      <p:graphicFrame>
        <p:nvGraphicFramePr>
          <p:cNvPr id="17" name="Table 0"/>
          <p:cNvGraphicFramePr>
            <a:graphicFrameLocks noGrp="1"/>
          </p:cNvGraphicFramePr>
          <p:nvPr/>
        </p:nvGraphicFramePr>
        <p:xfrm>
          <a:off x="457200" y="5074920"/>
          <a:ext cx="6400800" cy="1700784"/>
        </p:xfrm>
        <a:graphic>
          <a:graphicData uri="http://schemas.openxmlformats.org/drawingml/2006/table">
            <a:tbl>
              <a:tblPr/>
              <a:tblGrid>
                <a:gridCol w="4572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23774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Constraint ledger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Candidate interventions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157 247</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Fielded interventions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151 745</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Withheld before the order</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5 502</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Fail-safe engagements (region cycles)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5 338</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No-harm veto (cycles)</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Post-execution actuator shortfall</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not logged</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Shape 4"/>
          <p:cNvSpPr/>
          <p:nvPr/>
        </p:nvSpPr>
        <p:spPr>
          <a:xfrm>
            <a:off x="7086600" y="5074920"/>
            <a:ext cx="4663440" cy="1463040"/>
          </a:xfrm>
          <a:prstGeom prst="roundRect">
            <a:avLst>
              <a:gd name="adj" fmla="val 3125"/>
            </a:avLst>
          </a:prstGeom>
          <a:solidFill>
            <a:srgbClr val="FDE8EB"/>
          </a:solidFill>
          <a:ln/>
        </p:spPr>
      </p:sp>
      <p:sp>
        <p:nvSpPr>
          <p:cNvPr id="11" name="Text 5"/>
          <p:cNvSpPr/>
          <p:nvPr/>
        </p:nvSpPr>
        <p:spPr>
          <a:xfrm>
            <a:off x="7315200" y="5212080"/>
            <a:ext cx="4206240" cy="118872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The last row is stated as it stands: </a:t>
            </a:r>
            <a:r>
              <a:rPr lang="en-US" sz="1200" dirty="0">
                <a:solidFill>
                  <a:srgbClr val="222222"/>
                </a:solidFill>
                <a:latin typeface="Calibri" pitchFamily="34" charset="0"/>
                <a:ea typeface="Calibri" pitchFamily="34" charset="-122"/>
                <a:cs typeface="Calibri" pitchFamily="34" charset="-120"/>
              </a:rPr>
              <a:t>the pool record that would carry it was added to the cycle log after these runs — the logs are silent on that quantity, not clear of it.</a:t>
            </a:r>
            <a:endParaRPr lang="en-US" sz="1200" dirty="0"/>
          </a:p>
        </p:txBody>
      </p:sp>
      <p:sp>
        <p:nvSpPr>
          <p:cNvPr id="90008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86 / 113</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ADAPTATION DETAIL</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Stages ① ② : Every Edit Is a Recorded, Bounded Correction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80160"/>
            <a:ext cx="11247120" cy="59436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In total: 167 consequent updates (103 escalations, 64 de-escalations), 5 membership-boundary shifts, 4 term insertions, 40 rules instantiated on empty cells. </a:t>
            </a:r>
            <a:r>
              <a:rPr lang="en-US" sz="1250" dirty="0">
                <a:solidFill>
                  <a:srgbClr val="222222"/>
                </a:solidFill>
                <a:latin typeface="Calibri" pitchFamily="34" charset="0"/>
                <a:ea typeface="Calibri" pitchFamily="34" charset="-122"/>
                <a:cs typeface="Calibri" pitchFamily="34" charset="-120"/>
              </a:rPr>
              <a:t>Each entry passed its own forecast test at the moment of acceptance; nothing is a slow parameter drift.</a:t>
            </a:r>
            <a:endParaRPr lang="en-US" sz="1250" dirty="0"/>
          </a:p>
        </p:txBody>
      </p:sp>
      <p:sp>
        <p:nvSpPr>
          <p:cNvPr id="7" name="Shape 3"/>
          <p:cNvSpPr/>
          <p:nvPr/>
        </p:nvSpPr>
        <p:spPr>
          <a:xfrm>
            <a:off x="502920" y="1965960"/>
            <a:ext cx="11247120" cy="841248"/>
          </a:xfrm>
          <a:prstGeom prst="roundRect">
            <a:avLst>
              <a:gd name="adj" fmla="val 5435"/>
            </a:avLst>
          </a:prstGeom>
          <a:solidFill>
            <a:srgbClr val="F2F2F2"/>
          </a:solidFill>
          <a:ln/>
        </p:spPr>
      </p:sp>
      <p:sp>
        <p:nvSpPr>
          <p:cNvPr id="8" name="Text 4"/>
          <p:cNvSpPr/>
          <p:nvPr/>
        </p:nvSpPr>
        <p:spPr>
          <a:xfrm>
            <a:off x="731520" y="20391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Consequent step — escalation (+0.05) — </a:t>
            </a:r>
            <a:r>
              <a:rPr lang="en-US" sz="1200" dirty="0">
                <a:solidFill>
                  <a:srgbClr val="222222"/>
                </a:solidFill>
                <a:latin typeface="Calibri" pitchFamily="34" charset="0"/>
                <a:ea typeface="Calibri" pitchFamily="34" charset="-122"/>
                <a:cs typeface="Calibri" pitchFamily="34" charset="-120"/>
              </a:rPr>
              <a:t>cost above the bound while the rule keeps firing: right actions, insufficient intensity</a:t>
            </a:r>
            <a:r>
              <a:rPr lang="en-US" sz="1150" dirty="0">
                <a:solidFill>
                  <a:srgbClr val="000000"/>
                </a:solidFill>
                <a:latin typeface="Consolas" pitchFamily="34" charset="0"/>
                <a:ea typeface="Consolas" pitchFamily="34" charset="-122"/>
                <a:cs typeface="Consolas" pitchFamily="34" charset="-120"/>
              </a:rPr>
              <a:t>G5: downwind_retardant_shield 0.90 → 0.95; asset_protection 0.70 → 0.75; resource_deployment 0.70 → 0.75</a:t>
            </a:r>
            <a:endParaRPr lang="en-US" sz="1200" dirty="0"/>
          </a:p>
        </p:txBody>
      </p:sp>
      <p:sp>
        <p:nvSpPr>
          <p:cNvPr id="9" name="Shape 5"/>
          <p:cNvSpPr/>
          <p:nvPr/>
        </p:nvSpPr>
        <p:spPr>
          <a:xfrm>
            <a:off x="502920" y="2880360"/>
            <a:ext cx="11247120" cy="841248"/>
          </a:xfrm>
          <a:prstGeom prst="roundRect">
            <a:avLst>
              <a:gd name="adj" fmla="val 5435"/>
            </a:avLst>
          </a:prstGeom>
          <a:solidFill>
            <a:srgbClr val="F2F2F2"/>
          </a:solidFill>
          <a:ln/>
        </p:spPr>
      </p:sp>
      <p:sp>
        <p:nvSpPr>
          <p:cNvPr id="10" name="Text 6"/>
          <p:cNvSpPr/>
          <p:nvPr/>
        </p:nvSpPr>
        <p:spPr>
          <a:xfrm>
            <a:off x="731520" y="29535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Consequent step — de-escalation (−0.05) — </a:t>
            </a:r>
            <a:r>
              <a:rPr lang="en-US" sz="1200" dirty="0">
                <a:solidFill>
                  <a:srgbClr val="222222"/>
                </a:solidFill>
                <a:latin typeface="Calibri" pitchFamily="34" charset="0"/>
                <a:ea typeface="Calibri" pitchFamily="34" charset="-122"/>
                <a:cs typeface="Calibri" pitchFamily="34" charset="-120"/>
              </a:rPr>
              <a:t>response and delay dominate late in the incident: actions stronger than the remaining situation</a:t>
            </a:r>
            <a:r>
              <a:rPr lang="en-US" sz="1150" dirty="0">
                <a:solidFill>
                  <a:srgbClr val="000000"/>
                </a:solidFill>
                <a:latin typeface="Consolas" pitchFamily="34" charset="0"/>
                <a:ea typeface="Consolas" pitchFamily="34" charset="-122"/>
                <a:cs typeface="Consolas" pitchFamily="34" charset="-120"/>
              </a:rPr>
              <a:t>G33: suppression_effort 0.90 → 0.85; water_drafting 0.80 → 0.75; containment_line 0.70 → 0.65 (t = 90 min)</a:t>
            </a:r>
            <a:endParaRPr lang="en-US" sz="1200" dirty="0"/>
          </a:p>
        </p:txBody>
      </p:sp>
      <p:sp>
        <p:nvSpPr>
          <p:cNvPr id="11" name="Shape 7"/>
          <p:cNvSpPr/>
          <p:nvPr/>
        </p:nvSpPr>
        <p:spPr>
          <a:xfrm>
            <a:off x="502920" y="3794760"/>
            <a:ext cx="11247120" cy="841248"/>
          </a:xfrm>
          <a:prstGeom prst="roundRect">
            <a:avLst>
              <a:gd name="adj" fmla="val 5435"/>
            </a:avLst>
          </a:prstGeom>
          <a:solidFill>
            <a:srgbClr val="F2F2F2"/>
          </a:solidFill>
          <a:ln/>
        </p:spPr>
      </p:sp>
      <p:sp>
        <p:nvSpPr>
          <p:cNvPr id="12" name="Text 8"/>
          <p:cNvSpPr/>
          <p:nvPr/>
        </p:nvSpPr>
        <p:spPr>
          <a:xfrm>
            <a:off x="731520" y="38679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Membership-boundary shift — </a:t>
            </a:r>
            <a:r>
              <a:rPr lang="en-US" sz="1200" dirty="0">
                <a:solidFill>
                  <a:srgbClr val="222222"/>
                </a:solidFill>
                <a:latin typeface="Calibri" pitchFamily="34" charset="0"/>
                <a:ea typeface="Calibri" pitchFamily="34" charset="-122"/>
                <a:cs typeface="Calibri" pitchFamily="34" charset="-120"/>
              </a:rPr>
              <a:t>fire alive but no rule fires above the coverage threshold: rules must fire earlier or later</a:t>
            </a:r>
            <a:r>
              <a:rPr lang="en-US" sz="1150" dirty="0">
                <a:solidFill>
                  <a:srgbClr val="000000"/>
                </a:solidFill>
                <a:latin typeface="Consolas" pitchFamily="34" charset="0"/>
                <a:ea typeface="Consolas" pitchFamily="34" charset="-122"/>
                <a:cs typeface="Consolas" pitchFamily="34" charset="-120"/>
              </a:rPr>
              <a:t>suppression_feasibility: shared edge moved inside the H–VH band (0.67 – 0.84)</a:t>
            </a:r>
            <a:endParaRPr lang="en-US" sz="1200" dirty="0"/>
          </a:p>
        </p:txBody>
      </p:sp>
      <p:sp>
        <p:nvSpPr>
          <p:cNvPr id="13" name="Shape 9"/>
          <p:cNvSpPr/>
          <p:nvPr/>
        </p:nvSpPr>
        <p:spPr>
          <a:xfrm>
            <a:off x="502920" y="4709160"/>
            <a:ext cx="11247120" cy="841248"/>
          </a:xfrm>
          <a:prstGeom prst="roundRect">
            <a:avLst>
              <a:gd name="adj" fmla="val 5435"/>
            </a:avLst>
          </a:prstGeom>
          <a:solidFill>
            <a:srgbClr val="F2F2F2"/>
          </a:solidFill>
          <a:ln/>
        </p:spPr>
      </p:sp>
      <p:sp>
        <p:nvSpPr>
          <p:cNvPr id="14" name="Text 10"/>
          <p:cNvSpPr/>
          <p:nvPr/>
        </p:nvSpPr>
        <p:spPr>
          <a:xfrm>
            <a:off x="731520" y="47823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Term insertion — </a:t>
            </a:r>
            <a:r>
              <a:rPr lang="en-US" sz="1200" dirty="0">
                <a:solidFill>
                  <a:srgbClr val="222222"/>
                </a:solidFill>
                <a:latin typeface="Calibri" pitchFamily="34" charset="0"/>
                <a:ea typeface="Calibri" pitchFamily="34" charset="-122"/>
                <a:cs typeface="Calibri" pitchFamily="34" charset="-120"/>
              </a:rPr>
              <a:t>a coverage gap survives boundary shifts: the partition lacks resolution</a:t>
            </a:r>
            <a:r>
              <a:rPr lang="en-US" sz="1150" dirty="0">
                <a:solidFill>
                  <a:srgbClr val="000000"/>
                </a:solidFill>
                <a:latin typeface="Consolas" pitchFamily="34" charset="0"/>
                <a:ea typeface="Consolas" pitchFamily="34" charset="-122"/>
                <a:cs typeface="Consolas" pitchFamily="34" charset="-120"/>
              </a:rPr>
              <a:t>suppression_feasibility: new term inserted at 0.74, splitting the H–VH band</a:t>
            </a:r>
            <a:endParaRPr lang="en-US" sz="1200" dirty="0"/>
          </a:p>
        </p:txBody>
      </p:sp>
      <p:sp>
        <p:nvSpPr>
          <p:cNvPr id="15" name="Shape 11"/>
          <p:cNvSpPr/>
          <p:nvPr/>
        </p:nvSpPr>
        <p:spPr>
          <a:xfrm>
            <a:off x="502920" y="5623560"/>
            <a:ext cx="11247120" cy="841248"/>
          </a:xfrm>
          <a:prstGeom prst="roundRect">
            <a:avLst>
              <a:gd name="adj" fmla="val 5435"/>
            </a:avLst>
          </a:prstGeom>
          <a:solidFill>
            <a:srgbClr val="F2F2F2"/>
          </a:solidFill>
          <a:ln/>
        </p:spPr>
      </p:sp>
      <p:sp>
        <p:nvSpPr>
          <p:cNvPr id="16" name="Text 12"/>
          <p:cNvSpPr/>
          <p:nvPr/>
        </p:nvSpPr>
        <p:spPr>
          <a:xfrm>
            <a:off x="731520" y="5696712"/>
            <a:ext cx="10789920" cy="731520"/>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Rule instantiation — </a:t>
            </a:r>
            <a:r>
              <a:rPr lang="en-US" sz="1200" dirty="0">
                <a:solidFill>
                  <a:srgbClr val="222222"/>
                </a:solidFill>
                <a:latin typeface="Calibri" pitchFamily="34" charset="0"/>
                <a:ea typeface="Calibri" pitchFamily="34" charset="-122"/>
                <a:cs typeface="Calibri" pitchFamily="34" charset="-120"/>
              </a:rPr>
              <a:t>the reading falls into an uncovered antecedent cell while fire is alive</a:t>
            </a:r>
            <a:r>
              <a:rPr lang="en-US" sz="1150" dirty="0">
                <a:solidFill>
                  <a:srgbClr val="000000"/>
                </a:solidFill>
                <a:latin typeface="Consolas" pitchFamily="34" charset="0"/>
                <a:ea typeface="Consolas" pitchFamily="34" charset="-122"/>
                <a:cs typeface="Consolas" pitchFamily="34" charset="-120"/>
              </a:rPr>
              <a:t>A1: IF suppression_feasibility VH ∧ asset_exposure_risk VH THEN asset_protection 0.56, resource_deployment 0.23</a:t>
            </a:r>
            <a:endParaRPr lang="en-US" sz="1200" dirty="0"/>
          </a:p>
        </p:txBody>
      </p:sp>
      <p:sp>
        <p:nvSpPr>
          <p:cNvPr id="90008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87 / 113</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GENERATIVE PRODUCTS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Stage-③ Ledger : Seven Macros and One Concept</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9" name="Table 0"/>
          <p:cNvGraphicFramePr>
            <a:graphicFrameLocks noGrp="1"/>
          </p:cNvGraphicFramePr>
          <p:nvPr/>
        </p:nvGraphicFramePr>
        <p:xfrm>
          <a:off x="457200" y="1371600"/>
          <a:ext cx="6035040" cy="3364992"/>
        </p:xfrm>
        <a:graphic>
          <a:graphicData uri="http://schemas.openxmlformats.org/drawingml/2006/table">
            <a:tbl>
              <a:tblPr/>
              <a:tblGrid>
                <a:gridCol w="26517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Recorded definition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downwind_containment_shield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containment_line 1.0 + suppression_effort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downwind_retardant_shield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retardant_drop 1.0 + containment_line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drafting_sustained_attack</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water_drafting 1.0 + suppression_effort 0.9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head_knockdown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water_drafting 1.0 + suppression_effort 0.9 + retardant_drop 0.6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wet_containment_line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water_drafting 1.0 + containment_line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counterfire_strip</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tactical_burn 1.0 + containment_line 0.6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Macro drafting_retardant_shuttle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retardant_drop 1.0 + water_drafting 0.6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Concept interface_exposure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 asset_exposure_risk + 0.5 evacuation_pressure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pic>
        <p:nvPicPr>
          <p:cNvPr id="7" name="Image 2" descr="/tmp/thx/deck/figs/ch5_52.png"/>
          <p:cNvPicPr>
            <a:picLocks noChangeAspect="1"/>
          </p:cNvPicPr>
          <p:nvPr/>
        </p:nvPicPr>
        <p:blipFill>
          <a:blip r:embed="rId5"/>
          <a:stretch>
            <a:fillRect/>
          </a:stretch>
        </p:blipFill>
        <p:spPr>
          <a:xfrm>
            <a:off x="6720840" y="1531620"/>
            <a:ext cx="5029200" cy="2514600"/>
          </a:xfrm>
          <a:prstGeom prst="rect">
            <a:avLst/>
          </a:prstGeom>
        </p:spPr>
      </p:pic>
      <p:sp>
        <p:nvSpPr>
          <p:cNvPr id="8" name="Text 2"/>
          <p:cNvSpPr/>
          <p:nvPr/>
        </p:nvSpPr>
        <p:spPr>
          <a:xfrm>
            <a:off x="6720840" y="4206240"/>
            <a:ext cx="5029200" cy="457200"/>
          </a:xfrm>
          <a:prstGeom prst="rect">
            <a:avLst/>
          </a:prstGeom>
          <a:noFill/>
          <a:ln/>
        </p:spPr>
        <p:txBody>
          <a:bodyPr wrap="square" lIns="0" tIns="0" rIns="0" bIns="0" rtlCol="0" anchor="t"/>
          <a:lstStyle/>
          <a:p>
            <a:pPr marL="0" indent="0">
              <a:lnSpc>
                <a:spcPct val="104000"/>
              </a:lnSpc>
              <a:buNone/>
            </a:pPr>
            <a:r>
              <a:rPr lang="tr-TR" sz="1200" i="1" dirty="0">
                <a:solidFill>
                  <a:srgbClr val="6E6E6E"/>
                </a:solidFill>
                <a:latin typeface="Calibri" pitchFamily="34" charset="0"/>
                <a:ea typeface="Calibri" pitchFamily="34" charset="-122"/>
                <a:cs typeface="Calibri" pitchFamily="34" charset="-120"/>
              </a:rPr>
              <a:t>C</a:t>
            </a:r>
            <a:r>
              <a:rPr lang="en-US" sz="1200" i="1" dirty="0" err="1">
                <a:solidFill>
                  <a:srgbClr val="6E6E6E"/>
                </a:solidFill>
                <a:latin typeface="Calibri" pitchFamily="34" charset="0"/>
                <a:ea typeface="Calibri" pitchFamily="34" charset="-122"/>
                <a:cs typeface="Calibri" pitchFamily="34" charset="-120"/>
              </a:rPr>
              <a:t>omposition</a:t>
            </a:r>
            <a:r>
              <a:rPr lang="en-US" sz="1200" i="1" dirty="0">
                <a:solidFill>
                  <a:srgbClr val="6E6E6E"/>
                </a:solidFill>
                <a:latin typeface="Calibri" pitchFamily="34" charset="0"/>
                <a:ea typeface="Calibri" pitchFamily="34" charset="-122"/>
                <a:cs typeface="Calibri" pitchFamily="34" charset="-120"/>
              </a:rPr>
              <a:t> weights over physical channels; weights are per-channel intensities and need not sum to one.</a:t>
            </a:r>
            <a:endParaRPr lang="en-US" sz="1200" dirty="0"/>
          </a:p>
        </p:txBody>
      </p:sp>
      <p:sp>
        <p:nvSpPr>
          <p:cNvPr id="9" name="Text 3"/>
          <p:cNvSpPr/>
          <p:nvPr/>
        </p:nvSpPr>
        <p:spPr>
          <a:xfrm>
            <a:off x="457200" y="4800600"/>
            <a:ext cx="6035040" cy="173736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Each product was born at a stated moment of a specific incident under a logged cost deficit.</a:t>
            </a:r>
            <a:endParaRPr lang="en-US" sz="1200" dirty="0"/>
          </a:p>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Three base channels — water drafting, retardant drop, tactical burn — are physics no seed rule orders: the macros compose capabilities the doctrine ignored, not new effects.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One renaming for honesty: the macro logged as downwind_backburn carries no igniting clause, so it is listed as downwind_containment_shield; the macro that does carry fire is counterfire_strip.</a:t>
            </a:r>
            <a:endParaRPr lang="en-US" sz="1200" dirty="0"/>
          </a:p>
        </p:txBody>
      </p:sp>
      <p:sp>
        <p:nvSpPr>
          <p:cNvPr id="10" name="Shape 4"/>
          <p:cNvSpPr/>
          <p:nvPr/>
        </p:nvSpPr>
        <p:spPr>
          <a:xfrm>
            <a:off x="6720840" y="4800600"/>
            <a:ext cx="5029200" cy="1691640"/>
          </a:xfrm>
          <a:prstGeom prst="roundRect">
            <a:avLst>
              <a:gd name="adj" fmla="val 2703"/>
            </a:avLst>
          </a:prstGeom>
          <a:solidFill>
            <a:srgbClr val="FDE8EB"/>
          </a:solidFill>
          <a:ln/>
        </p:spPr>
      </p:sp>
      <p:sp>
        <p:nvSpPr>
          <p:cNvPr id="11" name="Text 5"/>
          <p:cNvSpPr/>
          <p:nvPr/>
        </p:nvSpPr>
        <p:spPr>
          <a:xfrm>
            <a:off x="6949440" y="4937760"/>
            <a:ext cx="4572000" cy="146304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interface_exposure enters Layer 3 like a native concept </a:t>
            </a:r>
            <a:r>
              <a:rPr lang="en-US" sz="1200" dirty="0">
                <a:solidFill>
                  <a:srgbClr val="222222"/>
                </a:solidFill>
                <a:latin typeface="Calibri" pitchFamily="34" charset="0"/>
                <a:ea typeface="Calibri" pitchFamily="34" charset="-122"/>
                <a:cs typeface="Calibri" pitchFamily="34" charset="-120"/>
              </a:rPr>
              <a:t>: the five seed concepts could not name the pressure where exposed assets and evacuation demand meet; rule G14 fires on it to protect the wildland-urban interface, and later rules may cite it.</a:t>
            </a:r>
            <a:endParaRPr lang="en-US" sz="1200" dirty="0"/>
          </a:p>
        </p:txBody>
      </p:sp>
      <p:sp>
        <p:nvSpPr>
          <p:cNvPr id="90008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88 / 113</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GENERATIVE PRODUCTS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Vocabulary Being Used, Not Merely Grown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555256193"/>
              </p:ext>
            </p:extLst>
          </p:nvPr>
        </p:nvGraphicFramePr>
        <p:xfrm>
          <a:off x="457200" y="1172731"/>
          <a:ext cx="11292840" cy="2743200"/>
        </p:xfrm>
        <a:graphic>
          <a:graphicData uri="http://schemas.openxmlformats.org/drawingml/2006/table">
            <a:tbl>
              <a:tblPr/>
              <a:tblGrid>
                <a:gridCol w="64008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 (gated decision concepts)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 (intensities)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intervention_urgency VH ∧ fire_threat_level 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downwind_containment_shield 0.9; retardant_drop 0.8; asset_protection 0.6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fire_threat_level ≥ H ∧ suppression_feasibility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head_knockdown 0.95;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fire_threat_level ≥ H ∧ evacuation_pressure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wet_containment_line 0.9;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suppression_feasibility VH ∧ fire_threat_level 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counterfire_strip 0.9; resource_deployment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G14</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interface_exposure VH ∧ suppression_feasibility VH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asset_protection 0.9; containment_line 0.8; resource_deployment 0.7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2"/>
          <p:cNvSpPr/>
          <p:nvPr/>
        </p:nvSpPr>
        <p:spPr>
          <a:xfrm>
            <a:off x="457200" y="3931920"/>
            <a:ext cx="11292840" cy="502920"/>
          </a:xfrm>
          <a:prstGeom prst="rect">
            <a:avLst/>
          </a:prstGeom>
          <a:noFill/>
          <a:ln/>
        </p:spPr>
        <p:txBody>
          <a:bodyPr wrap="square" lIns="0" tIns="0" rIns="0" bIns="0" rtlCol="0" anchor="t"/>
          <a:lstStyle/>
          <a:p>
            <a:pPr marL="0" indent="0">
              <a:lnSpc>
                <a:spcPct val="104000"/>
              </a:lnSpc>
              <a:buNone/>
            </a:pPr>
            <a:r>
              <a:rPr lang="tr-TR" sz="1200" i="1" dirty="0">
                <a:solidFill>
                  <a:srgbClr val="6E6E6E"/>
                </a:solidFill>
                <a:latin typeface="Calibri" pitchFamily="34" charset="0"/>
                <a:ea typeface="Calibri" pitchFamily="34" charset="-122"/>
                <a:cs typeface="Calibri" pitchFamily="34" charset="-120"/>
              </a:rPr>
              <a:t>F</a:t>
            </a:r>
            <a:r>
              <a:rPr lang="en-US" sz="1200" i="1" dirty="0" err="1">
                <a:solidFill>
                  <a:srgbClr val="6E6E6E"/>
                </a:solidFill>
                <a:latin typeface="Calibri" pitchFamily="34" charset="0"/>
                <a:ea typeface="Calibri" pitchFamily="34" charset="-122"/>
                <a:cs typeface="Calibri" pitchFamily="34" charset="-120"/>
              </a:rPr>
              <a:t>ive</a:t>
            </a:r>
            <a:r>
              <a:rPr lang="en-US" sz="1200" i="1" dirty="0">
                <a:solidFill>
                  <a:srgbClr val="6E6E6E"/>
                </a:solidFill>
                <a:latin typeface="Calibri" pitchFamily="34" charset="0"/>
                <a:ea typeface="Calibri" pitchFamily="34" charset="-122"/>
                <a:cs typeface="Calibri" pitchFamily="34" charset="-120"/>
              </a:rPr>
              <a:t> admitted generative rules that consume generated macros and the generated concept. G14 is the composed case: a rule the system wrote, firing on a concept the system invented, through the same gates.</a:t>
            </a:r>
            <a:endParaRPr lang="en-US" sz="1200" dirty="0"/>
          </a:p>
        </p:txBody>
      </p:sp>
      <p:pic>
        <p:nvPicPr>
          <p:cNvPr id="8" name="Image 2" descr="/tmp/thx/deck/figs/ch5_51.png"/>
          <p:cNvPicPr>
            <a:picLocks noChangeAspect="1"/>
          </p:cNvPicPr>
          <p:nvPr/>
        </p:nvPicPr>
        <p:blipFill>
          <a:blip r:embed="rId5"/>
          <a:stretch>
            <a:fillRect/>
          </a:stretch>
        </p:blipFill>
        <p:spPr>
          <a:xfrm>
            <a:off x="1295666" y="4480560"/>
            <a:ext cx="3260828" cy="2011680"/>
          </a:xfrm>
          <a:prstGeom prst="rect">
            <a:avLst/>
          </a:prstGeom>
        </p:spPr>
      </p:pic>
      <p:sp>
        <p:nvSpPr>
          <p:cNvPr id="9" name="Shape 3"/>
          <p:cNvSpPr/>
          <p:nvPr/>
        </p:nvSpPr>
        <p:spPr>
          <a:xfrm>
            <a:off x="5623560" y="4480560"/>
            <a:ext cx="6126480" cy="2011680"/>
          </a:xfrm>
          <a:prstGeom prst="roundRect">
            <a:avLst>
              <a:gd name="adj" fmla="val 2273"/>
            </a:avLst>
          </a:prstGeom>
          <a:solidFill>
            <a:srgbClr val="FDE8EB"/>
          </a:solidFill>
          <a:ln/>
        </p:spPr>
      </p:sp>
      <p:sp>
        <p:nvSpPr>
          <p:cNvPr id="10" name="Text 4"/>
          <p:cNvSpPr/>
          <p:nvPr/>
        </p:nvSpPr>
        <p:spPr>
          <a:xfrm>
            <a:off x="5852160" y="4590288"/>
            <a:ext cx="5669280" cy="182880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Two recorded reuse events carry the open-space claim:</a:t>
            </a:r>
            <a:r>
              <a:rPr lang="en-US" sz="1200" dirty="0">
                <a:solidFill>
                  <a:srgbClr val="222222"/>
                </a:solidFill>
                <a:latin typeface="Calibri" pitchFamily="34" charset="0"/>
                <a:ea typeface="Calibri" pitchFamily="34" charset="-122"/>
                <a:cs typeface="Calibri" pitchFamily="34" charset="-120"/>
              </a:rPr>
              <a:t>· forward_draft_relay is ordered by a rule whose antecedent is capacity_starved_head_pressure — one generated object invoked through another.
· lakeside_capacity_bridge, written at minute 48, is ordered again at minute 114 by a separately admitted rule that had no part in creating it.</a:t>
            </a:r>
            <a:r>
              <a:rPr lang="en-US" sz="1200" b="1" dirty="0">
                <a:solidFill>
                  <a:srgbClr val="E31836"/>
                </a:solidFill>
                <a:latin typeface="Calibri" pitchFamily="34" charset="0"/>
                <a:ea typeface="Calibri" pitchFamily="34" charset="-122"/>
                <a:cs typeface="Calibri" pitchFamily="34" charset="-120"/>
              </a:rPr>
              <a:t>An admitted object enters the vocabulary on the same footing as a doctrinal one.</a:t>
            </a:r>
            <a:endParaRPr lang="en-US" sz="1250" dirty="0"/>
          </a:p>
        </p:txBody>
      </p:sp>
      <p:sp>
        <p:nvSpPr>
          <p:cNvPr id="90008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89 / 113</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DISCOVERED TACTICS 1 OF 2</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Clause-Actuator Campaign : 35 Proposals, 19 Admissions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457200" y="1298448"/>
            <a:ext cx="11292840" cy="123444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A second campaign runs the full gate chain ending in G5b: five seeds × two arms over 205 decision cycles on the same worlds — the arms differ only in whether the geometry diagnosis is raised in the situation summary.</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Both arms produced admitted actuators (4 of 7 with the diagnosis, 3 of 7 without): the diagnosis changes what the proposer attends to; the gates decide the rest.</a:t>
            </a:r>
            <a:endParaRPr lang="en-US" sz="1250" dirty="0"/>
          </a:p>
        </p:txBody>
      </p:sp>
      <p:graphicFrame>
        <p:nvGraphicFramePr>
          <p:cNvPr id="21" name="Table 0"/>
          <p:cNvGraphicFramePr>
            <a:graphicFrameLocks noGrp="1"/>
          </p:cNvGraphicFramePr>
          <p:nvPr/>
        </p:nvGraphicFramePr>
        <p:xfrm>
          <a:off x="457200" y="2606040"/>
          <a:ext cx="5760720" cy="219456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Object kind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Proposed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Admitted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 refusals fell</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Plain rule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G3: 6 · G4 A/B: 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Intermediate concept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G5: 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Macro intervention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Clause actuator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G5: 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G3: 6 · G4: 1 · G5: 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8" name="Image 2" descr="/tmp/thx/deck/figs/ch5_54.png"/>
          <p:cNvPicPr>
            <a:picLocks noChangeAspect="1"/>
          </p:cNvPicPr>
          <p:nvPr/>
        </p:nvPicPr>
        <p:blipFill>
          <a:blip r:embed="rId5"/>
          <a:stretch>
            <a:fillRect/>
          </a:stretch>
        </p:blipFill>
        <p:spPr>
          <a:xfrm>
            <a:off x="6400800" y="2709326"/>
            <a:ext cx="5349240" cy="1896549"/>
          </a:xfrm>
          <a:prstGeom prst="rect">
            <a:avLst/>
          </a:prstGeom>
        </p:spPr>
      </p:pic>
      <p:sp>
        <p:nvSpPr>
          <p:cNvPr id="9" name="Text 3"/>
          <p:cNvSpPr/>
          <p:nvPr/>
        </p:nvSpPr>
        <p:spPr>
          <a:xfrm>
            <a:off x="6400800" y="4709160"/>
            <a:ext cx="5349240" cy="45720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(a) proposed vs admitted by kind; (b) the forecast cost each admitted actuator removed on the two reseeded rollouts.</a:t>
            </a:r>
            <a:endParaRPr lang="en-US" sz="1200" dirty="0"/>
          </a:p>
        </p:txBody>
      </p:sp>
      <p:sp>
        <p:nvSpPr>
          <p:cNvPr id="10" name="Shape 4"/>
          <p:cNvSpPr/>
          <p:nvPr/>
        </p:nvSpPr>
        <p:spPr>
          <a:xfrm>
            <a:off x="457200" y="4846320"/>
            <a:ext cx="5760720" cy="1691640"/>
          </a:xfrm>
          <a:prstGeom prst="roundRect">
            <a:avLst>
              <a:gd name="adj" fmla="val 2703"/>
            </a:avLst>
          </a:prstGeom>
          <a:solidFill>
            <a:srgbClr val="F2F2F2"/>
          </a:solidFill>
          <a:ln/>
        </p:spPr>
      </p:sp>
      <p:sp>
        <p:nvSpPr>
          <p:cNvPr id="11" name="Text 5"/>
          <p:cNvSpPr/>
          <p:nvPr/>
        </p:nvSpPr>
        <p:spPr>
          <a:xfrm>
            <a:off x="685800" y="4956048"/>
            <a:ext cx="5303520" cy="146304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The refusals carry information: </a:t>
            </a:r>
            <a:r>
              <a:rPr lang="en-US" sz="1200" dirty="0">
                <a:solidFill>
                  <a:srgbClr val="222222"/>
                </a:solidFill>
                <a:latin typeface="Calibri" pitchFamily="34" charset="0"/>
                <a:ea typeface="Calibri" pitchFamily="34" charset="-122"/>
                <a:cs typeface="Calibri" pitchFamily="34" charset="-120"/>
              </a:rPr>
              <a:t>six refused actuators returned a forecast identical to none — the sector resolved to no cells, the coat fell below extinction moisture, or the pool had nothing to give — and one raised the cost. All three causes are geometric.</a:t>
            </a:r>
            <a:endParaRPr lang="en-US" sz="1200" dirty="0"/>
          </a:p>
        </p:txBody>
      </p:sp>
      <p:sp>
        <p:nvSpPr>
          <p:cNvPr id="12" name="Shape 6"/>
          <p:cNvSpPr/>
          <p:nvPr/>
        </p:nvSpPr>
        <p:spPr>
          <a:xfrm>
            <a:off x="6400800" y="5257800"/>
            <a:ext cx="5349240" cy="1280160"/>
          </a:xfrm>
          <a:prstGeom prst="roundRect">
            <a:avLst>
              <a:gd name="adj" fmla="val 3571"/>
            </a:avLst>
          </a:prstGeom>
          <a:solidFill>
            <a:srgbClr val="FDE8EB"/>
          </a:solidFill>
          <a:ln/>
        </p:spPr>
      </p:sp>
      <p:sp>
        <p:nvSpPr>
          <p:cNvPr id="13" name="Text 7"/>
          <p:cNvSpPr/>
          <p:nvPr/>
        </p:nvSpPr>
        <p:spPr>
          <a:xfrm>
            <a:off x="6629400" y="5367528"/>
            <a:ext cx="4892040" cy="109728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One marginal admission, stated openly: </a:t>
            </a:r>
            <a:r>
              <a:rPr lang="en-US" sz="1200" dirty="0">
                <a:solidFill>
                  <a:srgbClr val="222222"/>
                </a:solidFill>
                <a:latin typeface="Calibri" pitchFamily="34" charset="0"/>
                <a:ea typeface="Calibri" pitchFamily="34" charset="-122"/>
                <a:cs typeface="Calibri" pitchFamily="34" charset="-120"/>
              </a:rPr>
              <a:t>lakeside_capacity_bridge cleared the margin on one rollout barely (the other removed 0.014). Its re-order at minute 114 by an unrelated rule is the evidence the gain was real.</a:t>
            </a:r>
            <a:endParaRPr lang="en-US" sz="1200" dirty="0"/>
          </a:p>
        </p:txBody>
      </p:sp>
      <p:sp>
        <p:nvSpPr>
          <p:cNvPr id="90009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90 / 113</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DISCOVERED TACTICS 2 OF 2</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Seven Admitted Actuators, Two Tactical Families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2019669933"/>
              </p:ext>
            </p:extLst>
          </p:nvPr>
        </p:nvGraphicFramePr>
        <p:xfrm>
          <a:off x="457200" y="1371600"/>
          <a:ext cx="11292840" cy="3511296"/>
        </p:xfrm>
        <a:graphic>
          <a:graphicData uri="http://schemas.openxmlformats.org/drawingml/2006/table">
            <a:tbl>
              <a:tblPr/>
              <a:tblGrid>
                <a:gridCol w="2911043">
                  <a:extLst>
                    <a:ext uri="{9D8B030D-6E8A-4147-A177-3AD203B41FA5}">
                      <a16:colId xmlns:a16="http://schemas.microsoft.com/office/drawing/2014/main" val="20000"/>
                    </a:ext>
                  </a:extLst>
                </a:gridCol>
                <a:gridCol w="8381797">
                  <a:extLst>
                    <a:ext uri="{9D8B030D-6E8A-4147-A177-3AD203B41FA5}">
                      <a16:colId xmlns:a16="http://schemas.microsoft.com/office/drawing/2014/main" val="20002"/>
                    </a:ext>
                  </a:extLst>
                </a:gridCol>
              </a:tblGrid>
              <a:tr h="43891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Actuator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Clauses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asset_shield_band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6] at 1.0; coat on populated [0, 6] at 1.0; draft on assets [0, 8]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asset_shield_belt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5] at 1.0; draft on at_fire [0, 6] at 0.8</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preemptive_asset_coat_ring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4] at 1.0; coat on head [1, 6]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preemptive_asset_coating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coat on assets [0, 4] at 1.0; coat on populated [0, 3]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forward_draft_relay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3] at 1.0; draft on ring [0, 8] at 1.0; evacuate on populated [0, 15]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lakeside_capacity_bridge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3] at 1.0; draft on head [0, 8] at 1.0; evacuate on populated [0, 6]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43891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shoreline_capacity_bridge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draft on at_fire [0, 8] at 1.0; draft on ring [0, 15] at 1.0; evacuate on populated [0, 15] at 1.0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7" name="Shape 2"/>
          <p:cNvSpPr/>
          <p:nvPr/>
        </p:nvSpPr>
        <p:spPr>
          <a:xfrm>
            <a:off x="457200" y="5257800"/>
            <a:ext cx="5532120" cy="1280160"/>
          </a:xfrm>
          <a:prstGeom prst="roundRect">
            <a:avLst>
              <a:gd name="adj" fmla="val 3571"/>
            </a:avLst>
          </a:prstGeom>
          <a:solidFill>
            <a:srgbClr val="F2F2F2"/>
          </a:solidFill>
          <a:ln/>
        </p:spPr>
      </p:sp>
      <p:sp>
        <p:nvSpPr>
          <p:cNvPr id="8" name="Text 3"/>
          <p:cNvSpPr/>
          <p:nvPr/>
        </p:nvSpPr>
        <p:spPr>
          <a:xfrm>
            <a:off x="685800" y="5376672"/>
            <a:ext cx="5074920" cy="1097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preventive coating. </a:t>
            </a:r>
            <a:r>
              <a:rPr lang="en-US" sz="1200" dirty="0">
                <a:solidFill>
                  <a:srgbClr val="222222"/>
                </a:solidFill>
                <a:latin typeface="Calibri" pitchFamily="34" charset="0"/>
                <a:ea typeface="Calibri" pitchFamily="34" charset="-122"/>
                <a:cs typeface="Calibri" pitchFamily="34" charset="-120"/>
              </a:rPr>
              <a:t>Coat assets and populated cells before the fire arrives: a tactic with no counterpart in the seed doctrine, whose asset protection raises a posture but lays no retardant.</a:t>
            </a:r>
            <a:endParaRPr lang="en-US" sz="1250" dirty="0"/>
          </a:p>
        </p:txBody>
      </p:sp>
      <p:sp>
        <p:nvSpPr>
          <p:cNvPr id="9" name="Shape 4"/>
          <p:cNvSpPr/>
          <p:nvPr/>
        </p:nvSpPr>
        <p:spPr>
          <a:xfrm>
            <a:off x="6217920" y="5257800"/>
            <a:ext cx="5532120" cy="1280160"/>
          </a:xfrm>
          <a:prstGeom prst="roundRect">
            <a:avLst>
              <a:gd name="adj" fmla="val 3571"/>
            </a:avLst>
          </a:prstGeom>
          <a:solidFill>
            <a:srgbClr val="F2F2F2"/>
          </a:solidFill>
          <a:ln/>
        </p:spPr>
      </p:sp>
      <p:sp>
        <p:nvSpPr>
          <p:cNvPr id="10" name="Text 5"/>
          <p:cNvSpPr/>
          <p:nvPr/>
        </p:nvSpPr>
        <p:spPr>
          <a:xfrm>
            <a:off x="6446520" y="5376672"/>
            <a:ext cx="5074920" cy="109728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drafting substitution. </a:t>
            </a:r>
            <a:r>
              <a:rPr lang="en-US" sz="1200" dirty="0">
                <a:solidFill>
                  <a:srgbClr val="222222"/>
                </a:solidFill>
                <a:latin typeface="Calibri" pitchFamily="34" charset="0"/>
                <a:ea typeface="Calibri" pitchFamily="34" charset="-122"/>
                <a:cs typeface="Calibri" pitchFamily="34" charset="-120"/>
              </a:rPr>
              <a:t>On an incident whose pool is spent, drafting raises the yield of crews already committed instead of asking for crews that are not — with evacuation behind them.</a:t>
            </a:r>
            <a:endParaRPr lang="en-US" sz="1250" dirty="0"/>
          </a:p>
        </p:txBody>
      </p:sp>
      <p:sp>
        <p:nvSpPr>
          <p:cNvPr id="90009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91 / 113</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TRACEABILITY</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One Incident End to End; Every Order Explains Itself</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3.png"/>
          <p:cNvPicPr>
            <a:picLocks noChangeAspect="1"/>
          </p:cNvPicPr>
          <p:nvPr/>
        </p:nvPicPr>
        <p:blipFill>
          <a:blip r:embed="rId5"/>
          <a:stretch>
            <a:fillRect/>
          </a:stretch>
        </p:blipFill>
        <p:spPr>
          <a:xfrm>
            <a:off x="2382708" y="1325880"/>
            <a:ext cx="7441823" cy="3108960"/>
          </a:xfrm>
          <a:prstGeom prst="rect">
            <a:avLst/>
          </a:prstGeom>
        </p:spPr>
      </p:pic>
      <p:sp>
        <p:nvSpPr>
          <p:cNvPr id="7" name="Text 2"/>
          <p:cNvSpPr/>
          <p:nvPr/>
        </p:nvSpPr>
        <p:spPr>
          <a:xfrm>
            <a:off x="457200" y="4434840"/>
            <a:ext cx="1129284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Upper: cumulative burned area flattening as the fire is held, active cells peaking and driven to near zero; lower: adaptation events by stage (accepted ▲, rejected ✕). Accepted trials cluster in the early minutes; later proposals are mostly rejected because little is left to improve.</a:t>
            </a:r>
            <a:endParaRPr lang="en-US" sz="1200" dirty="0"/>
          </a:p>
        </p:txBody>
      </p:sp>
      <p:sp>
        <p:nvSpPr>
          <p:cNvPr id="8" name="Shape 3"/>
          <p:cNvSpPr/>
          <p:nvPr/>
        </p:nvSpPr>
        <p:spPr>
          <a:xfrm>
            <a:off x="457200" y="5074920"/>
            <a:ext cx="11292840" cy="1463040"/>
          </a:xfrm>
          <a:prstGeom prst="roundRect">
            <a:avLst>
              <a:gd name="adj" fmla="val 3125"/>
            </a:avLst>
          </a:prstGeom>
          <a:solidFill>
            <a:srgbClr val="F2F2F2"/>
          </a:solidFill>
          <a:ln/>
        </p:spPr>
      </p:sp>
      <p:sp>
        <p:nvSpPr>
          <p:cNvPr id="9" name="Text 4"/>
          <p:cNvSpPr/>
          <p:nvPr/>
        </p:nvSpPr>
        <p:spPr>
          <a:xfrm>
            <a:off x="731520" y="5212080"/>
            <a:ext cx="10789920" cy="12344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One decision, line by line (five minutes after ignition): </a:t>
            </a:r>
            <a:r>
              <a:rPr lang="en-US" sz="1250" dirty="0">
                <a:solidFill>
                  <a:srgbClr val="222222"/>
                </a:solidFill>
                <a:latin typeface="Calibri" pitchFamily="34" charset="0"/>
                <a:ea typeface="Calibri" pitchFamily="34" charset="-122"/>
                <a:cs typeface="Calibri" pitchFamily="34" charset="-120"/>
              </a:rPr>
              <a:t>ten sensor readings with per-feature confidence → gated concept activations (asset exposure risk 0.85, feasibility 0.79) → twelve rules fire (G5 strongest at 0.50) → candidate orders over seven channels → satisficing test: forecast 0.0490 against no-action 0.2568, bound 0.2500, accepted → quality 0.776 ≥ 0.60, no derating → fielded as written at attention share 1.00. </a:t>
            </a:r>
            <a:r>
              <a:rPr lang="en-US" sz="1250" i="1" dirty="0">
                <a:solidFill>
                  <a:srgbClr val="6E6E6E"/>
                </a:solidFill>
                <a:latin typeface="Calibri" pitchFamily="34" charset="0"/>
                <a:ea typeface="Calibri" pitchFamily="34" charset="-122"/>
                <a:cs typeface="Calibri" pitchFamily="34" charset="-120"/>
              </a:rPr>
              <a:t>The full row-by-row table is in the backup.</a:t>
            </a:r>
            <a:endParaRPr lang="en-US" sz="1250" dirty="0"/>
          </a:p>
        </p:txBody>
      </p:sp>
      <p:sp>
        <p:nvSpPr>
          <p:cNvPr id="90009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92 / 113</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EVIDENCE : TEMPO &amp; SCALE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Milliseconds Against a Twelve-Minute Cycle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pic>
        <p:nvPicPr>
          <p:cNvPr id="6" name="Image 2" descr="/tmp/thx/deck/figs/ch5_55.png"/>
          <p:cNvPicPr>
            <a:picLocks noChangeAspect="1"/>
          </p:cNvPicPr>
          <p:nvPr/>
        </p:nvPicPr>
        <p:blipFill>
          <a:blip r:embed="rId5"/>
          <a:stretch>
            <a:fillRect/>
          </a:stretch>
        </p:blipFill>
        <p:spPr>
          <a:xfrm>
            <a:off x="457200" y="1391824"/>
            <a:ext cx="6126480" cy="3800032"/>
          </a:xfrm>
          <a:prstGeom prst="rect">
            <a:avLst/>
          </a:prstGeom>
        </p:spPr>
      </p:pic>
      <p:sp>
        <p:nvSpPr>
          <p:cNvPr id="7" name="Text 2"/>
          <p:cNvSpPr/>
          <p:nvPr/>
        </p:nvSpPr>
        <p:spPr>
          <a:xfrm>
            <a:off x="457200" y="5212080"/>
            <a:ext cx="6126480" cy="36576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Cost of one decision as a share of the cycle, for 1–16 local regions at 2, 6, and 12-minute cycles.</a:t>
            </a:r>
            <a:endParaRPr lang="en-US" sz="1200" dirty="0"/>
          </a:p>
        </p:txBody>
      </p:sp>
      <p:graphicFrame>
        <p:nvGraphicFramePr>
          <p:cNvPr id="24" name="Table 0"/>
          <p:cNvGraphicFramePr>
            <a:graphicFrameLocks noGrp="1"/>
          </p:cNvGraphicFramePr>
          <p:nvPr/>
        </p:nvGraphicFramePr>
        <p:xfrm>
          <a:off x="6858000" y="1371600"/>
          <a:ext cx="4892040" cy="2304288"/>
        </p:xfrm>
        <a:graphic>
          <a:graphicData uri="http://schemas.openxmlformats.org/drawingml/2006/table">
            <a:tbl>
              <a:tblPr/>
              <a:tblGrid>
                <a:gridCol w="32461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Latency of one decision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Median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274 ms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Ninetieth percentile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909 ms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Slowest observed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1 277 ms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Decision cycle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12 min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Median share of the cycle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Ignition → first fielded offensive order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2 min, in all ten worlds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9" name="Text 3"/>
          <p:cNvSpPr/>
          <p:nvPr/>
        </p:nvSpPr>
        <p:spPr>
          <a:xfrm>
            <a:off x="6858000" y="3794760"/>
            <a:ext cx="4892040" cy="274320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b="1" dirty="0">
                <a:solidFill>
                  <a:srgbClr val="222222"/>
                </a:solidFill>
                <a:latin typeface="Calibri" pitchFamily="34" charset="0"/>
                <a:ea typeface="Calibri" pitchFamily="34" charset="-122"/>
                <a:cs typeface="Calibri" pitchFamily="34" charset="-120"/>
              </a:rPr>
              <a:t>Every point lies between 0.02 and 0.16% of the cycle; sixteen times the agents cost only 1.16–1.29 times the share — each agent reasons over its own region, so more regions split the work.</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real driver is domain size: six times the forecast horizon raised the median decision ×1.4; four times the grid raised it ×6.9.</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spread comes from the adaptation stages, which run only on a failed acceptance test and each add a shadow forecast. No step of the loop delays the first response.</a:t>
            </a:r>
            <a:endParaRPr lang="en-US" sz="1200" dirty="0"/>
          </a:p>
        </p:txBody>
      </p:sp>
      <p:sp>
        <p:nvSpPr>
          <p:cNvPr id="90009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93 / 113</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VERDICT : COMPLIANCE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Rubric Returns : Four Met in Full, Four Bounded</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5" name="Table 0"/>
          <p:cNvGraphicFramePr>
            <a:graphicFrameLocks noGrp="1"/>
          </p:cNvGraphicFramePr>
          <p:nvPr/>
        </p:nvGraphicFramePr>
        <p:xfrm>
          <a:off x="457200" y="1371600"/>
          <a:ext cx="11292840" cy="4773168"/>
        </p:xfrm>
        <a:graphic>
          <a:graphicData uri="http://schemas.openxmlformats.org/drawingml/2006/table">
            <a:tbl>
              <a:tblPr/>
              <a:tblGrid>
                <a:gridCol w="210312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8686800">
                  <a:extLst>
                    <a:ext uri="{9D8B030D-6E8A-4147-A177-3AD203B41FA5}">
                      <a16:colId xmlns:a16="http://schemas.microsoft.com/office/drawing/2014/main" val="20002"/>
                    </a:ext>
                  </a:extLst>
                </a:gridCol>
              </a:tblGrid>
              <a:tr h="53035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 and where it stops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Predictive fidelity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four blind hindcasts: 86–94% overall, POD 85–97%; final area overpredicted by design in the suppression-free core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Timeliness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median 274 ms vs a 12-min cycle; first offensive order at 2 min in all ten worlds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Adaptability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① 129/616, ② 40/359; ③ seven macros and one concept, each with a logged birth moment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3E7C4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0.02–0.16% of the cycle; ×16 agents → ×1.16–1.29; the cost follows cells, not agents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Decision quality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E3183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220 → 39 ha (−82%), physical cost 0.506 → 0.090, lowest in every scenario — no baseline policy beyond no action is tested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Robustness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E3183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S5: +10% burned area, still best of four — met for observation loss; sensor noise and communication failure untested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Uncertainty handling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E3183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feature carries a confidence that gates its concept — ensemble propagation of weather and fuel uncertainty was not run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5303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Explainability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lgn="ctr">
                        <a:buNone/>
                      </a:pPr>
                      <a:r>
                        <a:rPr lang="en-US" sz="1400" b="1" dirty="0">
                          <a:solidFill>
                            <a:srgbClr val="E3183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edit, rejection, and object logged with deficit, gate, and consumer — operator-side interpretability not yet evaluated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Text 2"/>
          <p:cNvSpPr/>
          <p:nvPr/>
        </p:nvSpPr>
        <p:spPr>
          <a:xfrm>
            <a:off x="457200" y="6172200"/>
            <a:ext cx="11292840" cy="365760"/>
          </a:xfrm>
          <a:prstGeom prst="rect">
            <a:avLst/>
          </a:prstGeom>
          <a:noFill/>
          <a:ln/>
        </p:spPr>
        <p:txBody>
          <a:bodyPr wrap="square" lIns="0" tIns="0" rIns="0" bIns="0" rtlCol="0" anchor="t"/>
          <a:lstStyle/>
          <a:p>
            <a:pPr marL="0" indent="0">
              <a:lnSpc>
                <a:spcPct val="104000"/>
              </a:lnSpc>
              <a:buNone/>
            </a:pPr>
            <a:r>
              <a:rPr lang="en-US" sz="1250" b="1" i="1" dirty="0">
                <a:solidFill>
                  <a:srgbClr val="E31836"/>
                </a:solidFill>
                <a:latin typeface="Calibri" pitchFamily="34" charset="0"/>
                <a:ea typeface="Calibri" pitchFamily="34" charset="-122"/>
                <a:cs typeface="Calibri" pitchFamily="34" charset="-120"/>
              </a:rPr>
              <a:t>A rubric that reports only its successes carries no information: the four bounded criteria are stated here, not hidden in Chapter 6.</a:t>
            </a:r>
            <a:endParaRPr lang="en-US" sz="1250" dirty="0"/>
          </a:p>
        </p:txBody>
      </p:sp>
      <p:sp>
        <p:nvSpPr>
          <p:cNvPr id="90009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94 / 113</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VERDICT : HYPOTHESES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All Three Hypotheses Supported by Pre-Registered Criteria</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26" name="Table 0"/>
          <p:cNvGraphicFramePr>
            <a:graphicFrameLocks noGrp="1"/>
          </p:cNvGraphicFramePr>
          <p:nvPr/>
        </p:nvGraphicFramePr>
        <p:xfrm>
          <a:off x="457200" y="1417320"/>
          <a:ext cx="11292840" cy="3657600"/>
        </p:xfrm>
        <a:graphic>
          <a:graphicData uri="http://schemas.openxmlformats.org/drawingml/2006/table">
            <a:tbl>
              <a:tblPr/>
              <a:tblGrid>
                <a:gridCol w="173736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914400">
                <a:tc>
                  <a:txBody>
                    <a:bodyPr/>
                    <a:lstStyle/>
                    <a:p>
                      <a:pPr marL="0" indent="0">
                        <a:buNone/>
                      </a:pP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Acceptance criterion (fixed in advance)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Observed result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44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H1 Open &amp; fast</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open configurations outperform the static base in every scenario family, at a latency compatible with the cycle</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lowest cost in all five families; one decision costs &lt; 0.2% of the cycle from 1 to 16 agents</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H2 Traceable</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fielded order carries its concept, rule, and confidence trace; the loop's response to its parameters is quantified</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trace and ledgers complete over the recorded runs; sensitivity to cycle, bound, and gate reported</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H3 Gated end-to-end</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every fielded intervention passes the applicable pre-execution gates; the first offensive order arrives within the first cycle</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all 151 745 fielded orders passed; 5 502 candidates withheld; first order at the first decision cycle</a:t>
                      </a:r>
                      <a:endParaRPr lang="en-US" sz="1200" dirty="0">
                        <a:latin typeface="Calibri" charset="0"/>
                        <a:ea typeface="Calibri" charset="0"/>
                        <a:cs typeface="Calibri" charset="0"/>
                      </a:endParaRPr>
                    </a:p>
                  </a:txBody>
                  <a:tcPr marL="54864" marR="54864" marT="54864" marB="54864"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2"/>
          <p:cNvSpPr/>
          <p:nvPr/>
        </p:nvSpPr>
        <p:spPr>
          <a:xfrm>
            <a:off x="457200" y="4892040"/>
            <a:ext cx="11292840" cy="1645920"/>
          </a:xfrm>
          <a:prstGeom prst="roundRect">
            <a:avLst>
              <a:gd name="adj" fmla="val 2778"/>
            </a:avLst>
          </a:prstGeom>
          <a:solidFill>
            <a:srgbClr val="FDE8EB"/>
          </a:solidFill>
          <a:ln/>
        </p:spPr>
      </p:sp>
      <p:sp>
        <p:nvSpPr>
          <p:cNvPr id="8" name="Text 3"/>
          <p:cNvSpPr/>
          <p:nvPr/>
        </p:nvSpPr>
        <p:spPr>
          <a:xfrm>
            <a:off x="731520" y="5029200"/>
            <a:ext cx="10789920" cy="1463040"/>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The vocabulary level completes the evidence line. </a:t>
            </a:r>
            <a:r>
              <a:rPr lang="en-US" sz="1250" dirty="0">
                <a:solidFill>
                  <a:srgbClr val="222222"/>
                </a:solidFill>
                <a:latin typeface="Calibri" pitchFamily="34" charset="0"/>
                <a:ea typeface="Calibri" pitchFamily="34" charset="-122"/>
                <a:cs typeface="Calibri" pitchFamily="34" charset="-120"/>
              </a:rPr>
              <a:t>The open configuration did not only choose better among the orders it was given: it composed seven interventions the seed doctrine does not contain, each admitted only after lowering the forecast physical cost on two independently reseeded futures — and one of them was later ordered by a rule that had no part in creating it.</a:t>
            </a:r>
            <a:endParaRPr lang="en-US" sz="1300" dirty="0"/>
          </a:p>
        </p:txBody>
      </p:sp>
      <p:sp>
        <p:nvSpPr>
          <p:cNvPr id="90009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95 / 113</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42">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137160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DEMONSTRATION</a:t>
            </a:r>
            <a:endParaRPr lang="en-US" sz="1500" dirty="0"/>
          </a:p>
        </p:txBody>
      </p:sp>
      <p:sp>
        <p:nvSpPr>
          <p:cNvPr id="3" name="Text 1"/>
          <p:cNvSpPr/>
          <p:nvPr/>
        </p:nvSpPr>
        <p:spPr>
          <a:xfrm>
            <a:off x="822960" y="1783080"/>
            <a:ext cx="10515600"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DisasterAware in Action</a:t>
            </a:r>
            <a:endParaRPr lang="en-US" sz="4400" dirty="0"/>
          </a:p>
        </p:txBody>
      </p:sp>
      <p:sp>
        <p:nvSpPr>
          <p:cNvPr id="4" name="Shape 2"/>
          <p:cNvSpPr/>
          <p:nvPr/>
        </p:nvSpPr>
        <p:spPr>
          <a:xfrm>
            <a:off x="822960" y="2926080"/>
            <a:ext cx="6766560" cy="3200400"/>
          </a:xfrm>
          <a:prstGeom prst="roundRect">
            <a:avLst>
              <a:gd name="adj" fmla="val 2286"/>
            </a:avLst>
          </a:prstGeom>
          <a:solidFill>
            <a:srgbClr val="1C1C1C"/>
          </a:solidFill>
          <a:ln w="12700">
            <a:solidFill>
              <a:srgbClr val="5A5A5A"/>
            </a:solidFill>
            <a:prstDash val="dash"/>
          </a:ln>
        </p:spPr>
      </p:sp>
      <p:sp>
        <p:nvSpPr>
          <p:cNvPr id="5" name="Text 3"/>
          <p:cNvSpPr/>
          <p:nvPr/>
        </p:nvSpPr>
        <p:spPr>
          <a:xfrm>
            <a:off x="822960" y="2926080"/>
            <a:ext cx="6766560" cy="3200400"/>
          </a:xfrm>
          <a:prstGeom prst="rect">
            <a:avLst/>
          </a:prstGeom>
          <a:noFill/>
          <a:ln/>
        </p:spPr>
        <p:txBody>
          <a:bodyPr wrap="square" lIns="0" tIns="0" rIns="0" bIns="0" rtlCol="0" anchor="ctr"/>
          <a:lstStyle/>
          <a:p>
            <a:pPr marL="0" indent="0" algn="ctr">
              <a:buNone/>
            </a:pPr>
            <a:r>
              <a:rPr lang="en-US" sz="2400" dirty="0">
                <a:solidFill>
                  <a:srgbClr val="9A9A9A"/>
                </a:solidFill>
                <a:latin typeface="Calibri" pitchFamily="34" charset="0"/>
                <a:ea typeface="Calibri" pitchFamily="34" charset="-122"/>
                <a:cs typeface="Calibri" pitchFamily="34" charset="-120"/>
              </a:rPr>
              <a:t>▶ demo / video</a:t>
            </a:r>
            <a:endParaRPr lang="en-US" sz="2400" dirty="0"/>
          </a:p>
        </p:txBody>
      </p:sp>
      <p:sp>
        <p:nvSpPr>
          <p:cNvPr id="6" name="Text 4"/>
          <p:cNvSpPr/>
          <p:nvPr/>
        </p:nvSpPr>
        <p:spPr>
          <a:xfrm>
            <a:off x="7955280" y="3200400"/>
            <a:ext cx="3840480" cy="274320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500" dirty="0">
                <a:solidFill>
                  <a:srgbClr val="D9D9D9"/>
                </a:solidFill>
                <a:latin typeface="Calibri" pitchFamily="34" charset="0"/>
                <a:ea typeface="Calibri" pitchFamily="34" charset="-122"/>
                <a:cs typeface="Calibri" pitchFamily="34" charset="-120"/>
              </a:rPr>
              <a:t>Web UI dashboard: map view, scenario manager</a:t>
            </a:r>
            <a:endParaRPr lang="en-US" sz="1500" dirty="0"/>
          </a:p>
          <a:p>
            <a:pPr marL="152400" indent="-152400">
              <a:lnSpc>
                <a:spcPct val="105000"/>
              </a:lnSpc>
              <a:spcAft>
                <a:spcPts val="1000"/>
              </a:spcAft>
              <a:buSzPct val="100000"/>
              <a:buChar char="•"/>
            </a:pPr>
            <a:r>
              <a:rPr lang="en-US" sz="1500" dirty="0">
                <a:solidFill>
                  <a:srgbClr val="D9D9D9"/>
                </a:solidFill>
                <a:latin typeface="Calibri" pitchFamily="34" charset="0"/>
                <a:ea typeface="Calibri" pitchFamily="34" charset="-122"/>
                <a:cs typeface="Calibri" pitchFamily="34" charset="-120"/>
              </a:rPr>
              <a:t>Live cycle: observation → concepts → order</a:t>
            </a:r>
            <a:endParaRPr lang="en-US" sz="1500" dirty="0"/>
          </a:p>
          <a:p>
            <a:pPr marL="152400" indent="-152400">
              <a:lnSpc>
                <a:spcPct val="105000"/>
              </a:lnSpc>
              <a:spcAft>
                <a:spcPts val="1000"/>
              </a:spcAft>
              <a:buSzPct val="100000"/>
              <a:buChar char="•"/>
            </a:pPr>
            <a:r>
              <a:rPr lang="en-US" sz="1500" dirty="0">
                <a:solidFill>
                  <a:srgbClr val="D9D9D9"/>
                </a:solidFill>
                <a:latin typeface="Calibri" pitchFamily="34" charset="0"/>
                <a:ea typeface="Calibri" pitchFamily="34" charset="-122"/>
                <a:cs typeface="Calibri" pitchFamily="34" charset="-120"/>
              </a:rPr>
              <a:t>An adaptation trial and its gate verdict</a:t>
            </a:r>
            <a:endParaRPr lang="en-US" sz="1500" dirty="0"/>
          </a:p>
          <a:p>
            <a:pPr marL="152400" indent="-152400">
              <a:lnSpc>
                <a:spcPct val="105000"/>
              </a:lnSpc>
              <a:spcAft>
                <a:spcPts val="1000"/>
              </a:spcAft>
              <a:buSzPct val="100000"/>
              <a:buChar char="•"/>
            </a:pPr>
            <a:r>
              <a:rPr lang="en-US" sz="1500" dirty="0">
                <a:solidFill>
                  <a:srgbClr val="D9D9D9"/>
                </a:solidFill>
                <a:latin typeface="Calibri" pitchFamily="34" charset="0"/>
                <a:ea typeface="Calibri" pitchFamily="34" charset="-122"/>
                <a:cs typeface="Calibri" pitchFamily="34" charset="-120"/>
              </a:rPr>
              <a:t>The decision chronicle for one fielded order</a:t>
            </a:r>
            <a:endParaRPr lang="en-US" sz="1500" dirty="0"/>
          </a:p>
        </p:txBody>
      </p:sp>
      <p:pic>
        <p:nvPicPr>
          <p:cNvPr id="7"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9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96 / 113</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2194560"/>
            <a:ext cx="5486400" cy="365760"/>
          </a:xfrm>
          <a:prstGeom prst="rect">
            <a:avLst/>
          </a:prstGeom>
          <a:noFill/>
          <a:ln/>
        </p:spPr>
        <p:txBody>
          <a:bodyPr wrap="square" lIns="0" tIns="0" rIns="0" bIns="0" rtlCol="0" anchor="ctr"/>
          <a:lstStyle/>
          <a:p>
            <a:pPr marL="0" indent="0">
              <a:buNone/>
            </a:pPr>
            <a:r>
              <a:rPr lang="en-US" sz="1500" b="1" kern="0" spc="300" dirty="0">
                <a:solidFill>
                  <a:srgbClr val="E31836"/>
                </a:solidFill>
                <a:latin typeface="Calibri" pitchFamily="34" charset="0"/>
                <a:ea typeface="Calibri" pitchFamily="34" charset="-122"/>
                <a:cs typeface="Calibri" pitchFamily="34" charset="-120"/>
              </a:rPr>
              <a:t>PART </a:t>
            </a:r>
            <a:r>
              <a:rPr lang="tr-TR" sz="1500" b="1" kern="0" spc="300" dirty="0">
                <a:solidFill>
                  <a:srgbClr val="E31836"/>
                </a:solidFill>
                <a:latin typeface="Calibri" pitchFamily="34" charset="0"/>
                <a:ea typeface="Calibri" pitchFamily="34" charset="-122"/>
                <a:cs typeface="Calibri" pitchFamily="34" charset="-120"/>
              </a:rPr>
              <a:t>5</a:t>
            </a:r>
            <a:endParaRPr lang="en-US" sz="1500" dirty="0"/>
          </a:p>
        </p:txBody>
      </p:sp>
      <p:sp>
        <p:nvSpPr>
          <p:cNvPr id="3" name="Text 1"/>
          <p:cNvSpPr/>
          <p:nvPr/>
        </p:nvSpPr>
        <p:spPr>
          <a:xfrm>
            <a:off x="822960" y="2606040"/>
            <a:ext cx="10607040" cy="914400"/>
          </a:xfrm>
          <a:prstGeom prst="rect">
            <a:avLst/>
          </a:prstGeom>
          <a:noFill/>
          <a:ln/>
        </p:spPr>
        <p:txBody>
          <a:bodyPr wrap="square" lIns="0" tIns="0" rIns="0" bIns="0" rtlCol="0" anchor="ctr"/>
          <a:lstStyle/>
          <a:p>
            <a:pPr marL="0" indent="0">
              <a:buNone/>
            </a:pPr>
            <a:r>
              <a:rPr lang="tr-TR" sz="4800" b="1" dirty="0" err="1">
                <a:solidFill>
                  <a:srgbClr val="FFFFFF"/>
                </a:solidFill>
                <a:latin typeface="Cambria" pitchFamily="34" charset="0"/>
                <a:ea typeface="Cambria" pitchFamily="34" charset="-122"/>
                <a:cs typeface="Cambria" pitchFamily="34" charset="-120"/>
              </a:rPr>
              <a:t>Conclusion</a:t>
            </a:r>
            <a:r>
              <a:rPr lang="tr-TR" sz="4800" b="1" dirty="0">
                <a:solidFill>
                  <a:srgbClr val="FFFFFF"/>
                </a:solidFill>
                <a:latin typeface="Cambria" pitchFamily="34" charset="0"/>
                <a:ea typeface="Cambria" pitchFamily="34" charset="-122"/>
                <a:cs typeface="Cambria" pitchFamily="34" charset="-120"/>
              </a:rPr>
              <a:t> &amp; </a:t>
            </a:r>
            <a:r>
              <a:rPr lang="tr-TR" sz="4800" b="1" dirty="0" err="1">
                <a:solidFill>
                  <a:srgbClr val="FFFFFF"/>
                </a:solidFill>
                <a:latin typeface="Cambria" pitchFamily="34" charset="0"/>
                <a:ea typeface="Cambria" pitchFamily="34" charset="-122"/>
                <a:cs typeface="Cambria" pitchFamily="34" charset="-120"/>
              </a:rPr>
              <a:t>Future</a:t>
            </a:r>
            <a:r>
              <a:rPr lang="tr-TR" sz="4800" b="1" dirty="0">
                <a:solidFill>
                  <a:srgbClr val="FFFFFF"/>
                </a:solidFill>
                <a:latin typeface="Cambria" pitchFamily="34" charset="0"/>
                <a:ea typeface="Cambria" pitchFamily="34" charset="-122"/>
                <a:cs typeface="Cambria" pitchFamily="34" charset="-120"/>
              </a:rPr>
              <a:t> </a:t>
            </a:r>
            <a:r>
              <a:rPr lang="tr-TR" sz="4800" b="1" dirty="0" err="1">
                <a:solidFill>
                  <a:srgbClr val="FFFFFF"/>
                </a:solidFill>
                <a:latin typeface="Cambria" pitchFamily="34" charset="0"/>
                <a:ea typeface="Cambria" pitchFamily="34" charset="-122"/>
                <a:cs typeface="Cambria" pitchFamily="34" charset="-120"/>
              </a:rPr>
              <a:t>Work</a:t>
            </a:r>
            <a:endParaRPr lang="en-US" sz="4800" dirty="0"/>
          </a:p>
        </p:txBody>
      </p:sp>
      <p:pic>
        <p:nvPicPr>
          <p:cNvPr id="5"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6"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09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97 / 113</a:t>
            </a:r>
          </a:p>
        </p:txBody>
      </p:sp>
    </p:spTree>
    <p:extLst>
      <p:ext uri="{BB962C8B-B14F-4D97-AF65-F5344CB8AC3E}">
        <p14:creationId xmlns:p14="http://schemas.microsoft.com/office/powerpoint/2010/main" val="22591727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CONCLUSIONS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What This Thesis Establishes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80160"/>
            <a:ext cx="11247120" cy="914400"/>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DisasterAware: </a:t>
            </a:r>
            <a:r>
              <a:rPr lang="en-US" sz="1250" dirty="0">
                <a:solidFill>
                  <a:srgbClr val="222222"/>
                </a:solidFill>
                <a:latin typeface="Calibri" pitchFamily="34" charset="0"/>
                <a:ea typeface="Calibri" pitchFamily="34" charset="-122"/>
                <a:cs typeface="Calibri" pitchFamily="34" charset="-120"/>
              </a:rPr>
              <a:t>ten confidence-carrying observation features → five decision concepts → a sparse Takagi–Sugeno rule base → satisficing acceptance and a graduated fail-safe → a non-inferring global coordinator — with a three-stage ladder (parameters ①, resolution ②, vocabulary ③) that adapts the doctrine behind gates, on a simulation core kept strictly separate.</a:t>
            </a:r>
            <a:endParaRPr lang="en-US" sz="1250" dirty="0"/>
          </a:p>
        </p:txBody>
      </p:sp>
      <p:sp>
        <p:nvSpPr>
          <p:cNvPr id="7" name="Shape 3"/>
          <p:cNvSpPr/>
          <p:nvPr/>
        </p:nvSpPr>
        <p:spPr>
          <a:xfrm>
            <a:off x="502920" y="2331720"/>
            <a:ext cx="11247120" cy="1280160"/>
          </a:xfrm>
          <a:prstGeom prst="roundRect">
            <a:avLst>
              <a:gd name="adj" fmla="val 3571"/>
            </a:avLst>
          </a:prstGeom>
          <a:solidFill>
            <a:srgbClr val="F2F2F2"/>
          </a:solidFill>
          <a:ln/>
        </p:spPr>
      </p:sp>
      <p:sp>
        <p:nvSpPr>
          <p:cNvPr id="8" name="Text 4"/>
          <p:cNvSpPr/>
          <p:nvPr/>
        </p:nvSpPr>
        <p:spPr>
          <a:xfrm>
            <a:off x="777240" y="2423160"/>
            <a:ext cx="10698480" cy="1115568"/>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C1 — the open decision space (answers G1, carries H1)</a:t>
            </a:r>
            <a:r>
              <a:rPr lang="en-US" sz="1200" dirty="0">
                <a:solidFill>
                  <a:srgbClr val="222222"/>
                </a:solidFill>
                <a:latin typeface="Calibri" pitchFamily="34" charset="0"/>
                <a:ea typeface="Calibri" pitchFamily="34" charset="-122"/>
                <a:cs typeface="Calibri" pitchFamily="34" charset="-120"/>
              </a:rPr>
              <a:t>A closed catalogue would need 3 125 rules; the framework starts from five and adds only what the field demands: 40 instantiated rules, seven macros, one concept — plus seven clause actuators in the dedicated campaign. The additions matter: the full open space halves the burned area of the static base, and ×16 agents cost at most ×1.29.</a:t>
            </a:r>
            <a:endParaRPr lang="en-US" sz="1250" dirty="0"/>
          </a:p>
        </p:txBody>
      </p:sp>
      <p:sp>
        <p:nvSpPr>
          <p:cNvPr id="9" name="Shape 5"/>
          <p:cNvSpPr/>
          <p:nvPr/>
        </p:nvSpPr>
        <p:spPr>
          <a:xfrm>
            <a:off x="502920" y="3703320"/>
            <a:ext cx="11247120" cy="1280160"/>
          </a:xfrm>
          <a:prstGeom prst="roundRect">
            <a:avLst>
              <a:gd name="adj" fmla="val 3571"/>
            </a:avLst>
          </a:prstGeom>
          <a:solidFill>
            <a:srgbClr val="F2F2F2"/>
          </a:solidFill>
          <a:ln/>
        </p:spPr>
      </p:sp>
      <p:sp>
        <p:nvSpPr>
          <p:cNvPr id="10" name="Text 6"/>
          <p:cNvSpPr/>
          <p:nvPr/>
        </p:nvSpPr>
        <p:spPr>
          <a:xfrm>
            <a:off x="777240" y="3794760"/>
            <a:ext cx="10698480" cy="1115568"/>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C2 — uncertainty handling with built-in explanation (answers G2, carries H2)</a:t>
            </a:r>
            <a:r>
              <a:rPr lang="en-US" sz="1200" dirty="0">
                <a:solidFill>
                  <a:srgbClr val="222222"/>
                </a:solidFill>
                <a:latin typeface="Calibri" pitchFamily="34" charset="0"/>
                <a:ea typeface="Calibri" pitchFamily="34" charset="-122"/>
                <a:cs typeface="Calibri" pitchFamily="34" charset="-120"/>
              </a:rPr>
              <a:t>Every order traces to its concepts, rules, and per-feature confidence with no post-hoc attribution; every edit and rejection is logged with its reason. The sensitivity study states which settings move the outcome and explains the flat cases from the mechanism. Under degraded observation the loop loses 10% and stays best.</a:t>
            </a:r>
            <a:endParaRPr lang="en-US" sz="1250" dirty="0"/>
          </a:p>
        </p:txBody>
      </p:sp>
      <p:sp>
        <p:nvSpPr>
          <p:cNvPr id="11" name="Shape 7"/>
          <p:cNvSpPr/>
          <p:nvPr/>
        </p:nvSpPr>
        <p:spPr>
          <a:xfrm>
            <a:off x="502920" y="5074920"/>
            <a:ext cx="11247120" cy="1280160"/>
          </a:xfrm>
          <a:prstGeom prst="roundRect">
            <a:avLst>
              <a:gd name="adj" fmla="val 3571"/>
            </a:avLst>
          </a:prstGeom>
          <a:solidFill>
            <a:srgbClr val="F2F2F2"/>
          </a:solidFill>
          <a:ln/>
        </p:spPr>
      </p:sp>
      <p:sp>
        <p:nvSpPr>
          <p:cNvPr id="12" name="Text 8"/>
          <p:cNvSpPr/>
          <p:nvPr/>
        </p:nvSpPr>
        <p:spPr>
          <a:xfrm>
            <a:off x="777240" y="5166360"/>
            <a:ext cx="10698480" cy="1115568"/>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C3 — end-to-end demonstration over separated cores (answers G3, carries H3)</a:t>
            </a:r>
            <a:r>
              <a:rPr lang="en-US" sz="1200" dirty="0">
                <a:solidFill>
                  <a:srgbClr val="222222"/>
                </a:solidFill>
                <a:latin typeface="Calibri" pitchFamily="34" charset="0"/>
                <a:ea typeface="Calibri" pitchFamily="34" charset="-122"/>
                <a:cs typeface="Calibri" pitchFamily="34" charset="-120"/>
              </a:rPr>
              <a:t>The simulator is validated first and independently (86–94% on four blind hindcasts); on that ground the loop runs ignition → containment: 220 → 84 → 78 → 39 ha, physical cost 0.506 → 0.090, at 274 ms median per decision.</a:t>
            </a:r>
            <a:endParaRPr lang="en-US" sz="1250" dirty="0"/>
          </a:p>
        </p:txBody>
      </p:sp>
      <p:sp>
        <p:nvSpPr>
          <p:cNvPr id="13" name="Text 9"/>
          <p:cNvSpPr/>
          <p:nvPr/>
        </p:nvSpPr>
        <p:spPr>
          <a:xfrm>
            <a:off x="502920" y="6446520"/>
            <a:ext cx="11247120" cy="320040"/>
          </a:xfrm>
          <a:prstGeom prst="rect">
            <a:avLst/>
          </a:prstGeom>
          <a:noFill/>
          <a:ln/>
        </p:spPr>
        <p:txBody>
          <a:bodyPr wrap="square" lIns="0" tIns="0" rIns="0" bIns="0" rtlCol="0" anchor="t"/>
          <a:lstStyle/>
          <a:p>
            <a:pPr marL="0" indent="0">
              <a:lnSpc>
                <a:spcPct val="104000"/>
              </a:lnSpc>
              <a:buNone/>
            </a:pPr>
            <a:r>
              <a:rPr lang="en-US" sz="1250" b="1" i="1" dirty="0">
                <a:solidFill>
                  <a:srgbClr val="E31836"/>
                </a:solidFill>
                <a:latin typeface="Calibri" pitchFamily="34" charset="0"/>
                <a:ea typeface="Calibri" pitchFamily="34" charset="-122"/>
                <a:cs typeface="Calibri" pitchFamily="34" charset="-120"/>
              </a:rPr>
              <a:t>Each contribution is delivered against the criterion set for it in advance; the limits that remain mark the path of the future work rather than a gap in the argument.</a:t>
            </a:r>
            <a:endParaRPr lang="en-US" sz="1250" dirty="0"/>
          </a:p>
        </p:txBody>
      </p:sp>
      <p:sp>
        <p:nvSpPr>
          <p:cNvPr id="90009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98 / 113</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CONCLUSIONS</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Three Boundaries, Stated Directly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371600"/>
            <a:ext cx="11247120" cy="1554480"/>
          </a:xfrm>
          <a:prstGeom prst="roundRect">
            <a:avLst>
              <a:gd name="adj" fmla="val 2941"/>
            </a:avLst>
          </a:prstGeom>
          <a:solidFill>
            <a:srgbClr val="F2F2F2"/>
          </a:solidFill>
          <a:ln/>
        </p:spPr>
      </p:sp>
      <p:sp>
        <p:nvSpPr>
          <p:cNvPr id="7" name="Text 3"/>
          <p:cNvSpPr/>
          <p:nvPr/>
        </p:nvSpPr>
        <p:spPr>
          <a:xfrm>
            <a:off x="731520" y="1828800"/>
            <a:ext cx="548640" cy="640080"/>
          </a:xfrm>
          <a:prstGeom prst="rect">
            <a:avLst/>
          </a:prstGeom>
          <a:noFill/>
          <a:ln/>
        </p:spPr>
        <p:txBody>
          <a:bodyPr wrap="square" lIns="0" tIns="0" rIns="0" bIns="0" rtlCol="0" anchor="ctr"/>
          <a:lstStyle/>
          <a:p>
            <a:pPr marL="0" indent="0">
              <a:buNone/>
            </a:pPr>
            <a:r>
              <a:rPr lang="en-US" sz="3000" b="1" dirty="0">
                <a:solidFill>
                  <a:srgbClr val="E31836"/>
                </a:solidFill>
                <a:latin typeface="Cambria" pitchFamily="34" charset="0"/>
                <a:ea typeface="Cambria" pitchFamily="34" charset="-122"/>
                <a:cs typeface="Cambria" pitchFamily="34" charset="-120"/>
              </a:rPr>
              <a:t>1</a:t>
            </a:r>
            <a:endParaRPr lang="en-US" sz="3000" dirty="0"/>
          </a:p>
        </p:txBody>
      </p:sp>
      <p:sp>
        <p:nvSpPr>
          <p:cNvPr id="8" name="Text 4"/>
          <p:cNvSpPr/>
          <p:nvPr/>
        </p:nvSpPr>
        <p:spPr>
          <a:xfrm>
            <a:off x="1417320" y="1490472"/>
            <a:ext cx="10149840" cy="1371600"/>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The comparison base is internal. </a:t>
            </a:r>
            <a:r>
              <a:rPr lang="en-US" sz="1200" dirty="0">
                <a:solidFill>
                  <a:srgbClr val="222222"/>
                </a:solidFill>
                <a:latin typeface="Calibri" pitchFamily="34" charset="0"/>
                <a:ea typeface="Calibri" pitchFamily="34" charset="-122"/>
                <a:cs typeface="Calibri" pitchFamily="34" charset="-120"/>
              </a:rPr>
              <a:t>The ladder's configurations differ only in the capabilities they enable, and paired runs share their worlds, so each difference isolates one capability. No external system appears: deployed tools such as WFDSS document and evaluate decisions but do not generate interventions over an open space, so a like-for-like target does not exist in the reviewed literature.</a:t>
            </a:r>
            <a:endParaRPr lang="en-US" sz="1300" dirty="0"/>
          </a:p>
        </p:txBody>
      </p:sp>
      <p:sp>
        <p:nvSpPr>
          <p:cNvPr id="9" name="Shape 5"/>
          <p:cNvSpPr/>
          <p:nvPr/>
        </p:nvSpPr>
        <p:spPr>
          <a:xfrm>
            <a:off x="502920" y="3035808"/>
            <a:ext cx="11247120" cy="1554480"/>
          </a:xfrm>
          <a:prstGeom prst="roundRect">
            <a:avLst>
              <a:gd name="adj" fmla="val 2941"/>
            </a:avLst>
          </a:prstGeom>
          <a:solidFill>
            <a:srgbClr val="F2F2F2"/>
          </a:solidFill>
          <a:ln/>
        </p:spPr>
      </p:sp>
      <p:sp>
        <p:nvSpPr>
          <p:cNvPr id="10" name="Text 6"/>
          <p:cNvSpPr/>
          <p:nvPr/>
        </p:nvSpPr>
        <p:spPr>
          <a:xfrm>
            <a:off x="731520" y="3493008"/>
            <a:ext cx="548640" cy="640080"/>
          </a:xfrm>
          <a:prstGeom prst="rect">
            <a:avLst/>
          </a:prstGeom>
          <a:noFill/>
          <a:ln/>
        </p:spPr>
        <p:txBody>
          <a:bodyPr wrap="square" lIns="0" tIns="0" rIns="0" bIns="0" rtlCol="0" anchor="ctr"/>
          <a:lstStyle/>
          <a:p>
            <a:pPr marL="0" indent="0">
              <a:buNone/>
            </a:pPr>
            <a:r>
              <a:rPr lang="en-US" sz="3000" b="1" dirty="0">
                <a:solidFill>
                  <a:srgbClr val="E31836"/>
                </a:solidFill>
                <a:latin typeface="Cambria" pitchFamily="34" charset="0"/>
                <a:ea typeface="Cambria" pitchFamily="34" charset="-122"/>
                <a:cs typeface="Cambria" pitchFamily="34" charset="-120"/>
              </a:rPr>
              <a:t>2</a:t>
            </a:r>
            <a:endParaRPr lang="en-US" sz="3000" dirty="0"/>
          </a:p>
        </p:txBody>
      </p:sp>
      <p:sp>
        <p:nvSpPr>
          <p:cNvPr id="11" name="Text 7"/>
          <p:cNvSpPr/>
          <p:nvPr/>
        </p:nvSpPr>
        <p:spPr>
          <a:xfrm>
            <a:off x="1417320" y="3154680"/>
            <a:ext cx="10149840" cy="1371600"/>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The validation base is four fires. </a:t>
            </a:r>
            <a:r>
              <a:rPr lang="en-US" sz="1200" dirty="0">
                <a:solidFill>
                  <a:srgbClr val="222222"/>
                </a:solidFill>
                <a:latin typeface="Calibri" pitchFamily="34" charset="0"/>
                <a:ea typeface="Calibri" pitchFamily="34" charset="-122"/>
                <a:cs typeface="Calibri" pitchFamily="34" charset="-120"/>
              </a:rPr>
              <a:t>The 86–94% agreement is reported over stochastic replicates of four historical cases. The core is designed as a faithful proxy for the decision layer, not as a contribution to fire science — testability was preferred over maximal fidelity by design. A broader case base is a natural extension.</a:t>
            </a:r>
            <a:endParaRPr lang="en-US" sz="1300" dirty="0"/>
          </a:p>
        </p:txBody>
      </p:sp>
      <p:sp>
        <p:nvSpPr>
          <p:cNvPr id="12" name="Shape 8"/>
          <p:cNvSpPr/>
          <p:nvPr/>
        </p:nvSpPr>
        <p:spPr>
          <a:xfrm>
            <a:off x="502920" y="4700016"/>
            <a:ext cx="11247120" cy="1554480"/>
          </a:xfrm>
          <a:prstGeom prst="roundRect">
            <a:avLst>
              <a:gd name="adj" fmla="val 2941"/>
            </a:avLst>
          </a:prstGeom>
          <a:solidFill>
            <a:srgbClr val="FDE8EB"/>
          </a:solidFill>
          <a:ln/>
        </p:spPr>
      </p:sp>
      <p:sp>
        <p:nvSpPr>
          <p:cNvPr id="13" name="Text 9"/>
          <p:cNvSpPr/>
          <p:nvPr/>
        </p:nvSpPr>
        <p:spPr>
          <a:xfrm>
            <a:off x="731520" y="5157216"/>
            <a:ext cx="548640" cy="640080"/>
          </a:xfrm>
          <a:prstGeom prst="rect">
            <a:avLst/>
          </a:prstGeom>
          <a:noFill/>
          <a:ln/>
        </p:spPr>
        <p:txBody>
          <a:bodyPr wrap="square" lIns="0" tIns="0" rIns="0" bIns="0" rtlCol="0" anchor="ctr"/>
          <a:lstStyle/>
          <a:p>
            <a:pPr marL="0" indent="0">
              <a:buNone/>
            </a:pPr>
            <a:r>
              <a:rPr lang="en-US" sz="3000" b="1" dirty="0">
                <a:solidFill>
                  <a:srgbClr val="E31836"/>
                </a:solidFill>
                <a:latin typeface="Cambria" pitchFamily="34" charset="0"/>
                <a:ea typeface="Cambria" pitchFamily="34" charset="-122"/>
                <a:cs typeface="Cambria" pitchFamily="34" charset="-120"/>
              </a:rPr>
              <a:t>3</a:t>
            </a:r>
            <a:endParaRPr lang="en-US" sz="3000" dirty="0"/>
          </a:p>
        </p:txBody>
      </p:sp>
      <p:sp>
        <p:nvSpPr>
          <p:cNvPr id="14" name="Text 10"/>
          <p:cNvSpPr/>
          <p:nvPr/>
        </p:nvSpPr>
        <p:spPr>
          <a:xfrm>
            <a:off x="1417320" y="4818888"/>
            <a:ext cx="10149840" cy="1371600"/>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The proposer is not bitwise reproducible. </a:t>
            </a:r>
            <a:r>
              <a:rPr lang="en-US" sz="1200" dirty="0">
                <a:solidFill>
                  <a:srgbClr val="222222"/>
                </a:solidFill>
                <a:latin typeface="Calibri" pitchFamily="34" charset="0"/>
                <a:ea typeface="Calibri" pitchFamily="34" charset="-122"/>
                <a:cs typeface="Calibri" pitchFamily="34" charset="-120"/>
              </a:rPr>
              <a:t>Individual LLM proposals cannot be replayed exactly; the campaign is documented with the pinned model, transport, standing prompt, and seed design, so the procedure is repeatable. Nothing enters the rule base on the model's authority: every admission rests on deterministic gates ending in reseeded forecast comparisons, with every verdict and margin logged.</a:t>
            </a:r>
            <a:endParaRPr lang="en-US" sz="1300" dirty="0"/>
          </a:p>
        </p:txBody>
      </p:sp>
      <p:sp>
        <p:nvSpPr>
          <p:cNvPr id="90009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99 / 113</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FUTURE WORK</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Four Studies, in Their Natural Order</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325880"/>
            <a:ext cx="11247120" cy="1170432"/>
          </a:xfrm>
          <a:prstGeom prst="roundRect">
            <a:avLst>
              <a:gd name="adj" fmla="val 3906"/>
            </a:avLst>
          </a:prstGeom>
          <a:solidFill>
            <a:srgbClr val="F2F2F2"/>
          </a:solidFill>
          <a:ln/>
        </p:spPr>
      </p:sp>
      <p:sp>
        <p:nvSpPr>
          <p:cNvPr id="7" name="Text 3"/>
          <p:cNvSpPr/>
          <p:nvPr/>
        </p:nvSpPr>
        <p:spPr>
          <a:xfrm>
            <a:off x="731520" y="1618488"/>
            <a:ext cx="548640" cy="594360"/>
          </a:xfrm>
          <a:prstGeom prst="rect">
            <a:avLst/>
          </a:prstGeom>
          <a:noFill/>
          <a:ln/>
        </p:spPr>
        <p:txBody>
          <a:bodyPr wrap="square" lIns="0" tIns="0" rIns="0" bIns="0" rtlCol="0" anchor="ctr"/>
          <a:lstStyle/>
          <a:p>
            <a:pPr marL="0" indent="0">
              <a:buNone/>
            </a:pPr>
            <a:r>
              <a:rPr lang="en-US" sz="2800" b="1" dirty="0">
                <a:solidFill>
                  <a:srgbClr val="E31836"/>
                </a:solidFill>
                <a:latin typeface="Cambria" pitchFamily="34" charset="0"/>
                <a:ea typeface="Cambria" pitchFamily="34" charset="-122"/>
                <a:cs typeface="Cambria" pitchFamily="34" charset="-120"/>
              </a:rPr>
              <a:t>1</a:t>
            </a:r>
            <a:endParaRPr lang="en-US" sz="2800" dirty="0"/>
          </a:p>
        </p:txBody>
      </p:sp>
      <p:sp>
        <p:nvSpPr>
          <p:cNvPr id="8" name="Text 4"/>
          <p:cNvSpPr/>
          <p:nvPr/>
        </p:nvSpPr>
        <p:spPr>
          <a:xfrm>
            <a:off x="1417320" y="1417320"/>
            <a:ext cx="10149840" cy="10058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Operator study — the field side — </a:t>
            </a:r>
            <a:r>
              <a:rPr lang="en-US" sz="1200" dirty="0">
                <a:solidFill>
                  <a:srgbClr val="222222"/>
                </a:solidFill>
                <a:latin typeface="Calibri" pitchFamily="34" charset="0"/>
                <a:ea typeface="Calibri" pitchFamily="34" charset="-122"/>
                <a:cs typeface="Calibri" pitchFamily="34" charset="-120"/>
              </a:rPr>
              <a:t>Place the traceability record in front of incident commanders: do they read it, trust it, change decisions because of it? A tabletop exercise — the same incident with and without the framework — separates the tool's effect from the operator's skill, and evaluates what no simulator can: whether the concepts speak the field's language, and whether a commander accepts an order the machine adapted mid-incident.</a:t>
            </a:r>
            <a:endParaRPr lang="en-US" sz="1250" dirty="0"/>
          </a:p>
        </p:txBody>
      </p:sp>
      <p:sp>
        <p:nvSpPr>
          <p:cNvPr id="9" name="Shape 5"/>
          <p:cNvSpPr/>
          <p:nvPr/>
        </p:nvSpPr>
        <p:spPr>
          <a:xfrm>
            <a:off x="502920" y="2587752"/>
            <a:ext cx="11247120" cy="1170432"/>
          </a:xfrm>
          <a:prstGeom prst="roundRect">
            <a:avLst>
              <a:gd name="adj" fmla="val 3906"/>
            </a:avLst>
          </a:prstGeom>
          <a:solidFill>
            <a:srgbClr val="F2F2F2"/>
          </a:solidFill>
          <a:ln/>
        </p:spPr>
      </p:sp>
      <p:sp>
        <p:nvSpPr>
          <p:cNvPr id="10" name="Text 6"/>
          <p:cNvSpPr/>
          <p:nvPr/>
        </p:nvSpPr>
        <p:spPr>
          <a:xfrm>
            <a:off x="731520" y="2880360"/>
            <a:ext cx="548640" cy="594360"/>
          </a:xfrm>
          <a:prstGeom prst="rect">
            <a:avLst/>
          </a:prstGeom>
          <a:noFill/>
          <a:ln/>
        </p:spPr>
        <p:txBody>
          <a:bodyPr wrap="square" lIns="0" tIns="0" rIns="0" bIns="0" rtlCol="0" anchor="ctr"/>
          <a:lstStyle/>
          <a:p>
            <a:pPr marL="0" indent="0">
              <a:buNone/>
            </a:pPr>
            <a:r>
              <a:rPr lang="en-US" sz="2800" b="1" dirty="0">
                <a:solidFill>
                  <a:srgbClr val="E31836"/>
                </a:solidFill>
                <a:latin typeface="Cambria" pitchFamily="34" charset="0"/>
                <a:ea typeface="Cambria" pitchFamily="34" charset="-122"/>
                <a:cs typeface="Cambria" pitchFamily="34" charset="-120"/>
              </a:rPr>
              <a:t>2</a:t>
            </a:r>
            <a:endParaRPr lang="en-US" sz="2800" dirty="0"/>
          </a:p>
        </p:txBody>
      </p:sp>
      <p:sp>
        <p:nvSpPr>
          <p:cNvPr id="11" name="Text 7"/>
          <p:cNvSpPr/>
          <p:nvPr/>
        </p:nvSpPr>
        <p:spPr>
          <a:xfrm>
            <a:off x="1417320" y="2679192"/>
            <a:ext cx="10149840" cy="10058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Transfer to other hazards — the generality test — </a:t>
            </a:r>
            <a:r>
              <a:rPr lang="en-US" sz="1200" dirty="0">
                <a:solidFill>
                  <a:srgbClr val="222222"/>
                </a:solidFill>
                <a:latin typeface="Calibri" pitchFamily="34" charset="0"/>
                <a:ea typeface="Calibri" pitchFamily="34" charset="-122"/>
                <a:cs typeface="Calibri" pitchFamily="34" charset="-120"/>
              </a:rPr>
              <a:t>Nothing in the decision layer is fire-specific. Keep the layer, swap the simulation core for floods, industrial plumes, or search and rescue, rewrite only the features and seed rules. The cost of that rewriting is itself the result: it measures how much of the framework is architecture and how much is wildfire.</a:t>
            </a:r>
            <a:endParaRPr lang="en-US" sz="1250" dirty="0"/>
          </a:p>
        </p:txBody>
      </p:sp>
      <p:sp>
        <p:nvSpPr>
          <p:cNvPr id="12" name="Shape 8"/>
          <p:cNvSpPr/>
          <p:nvPr/>
        </p:nvSpPr>
        <p:spPr>
          <a:xfrm>
            <a:off x="502920" y="3849624"/>
            <a:ext cx="11247120" cy="1170432"/>
          </a:xfrm>
          <a:prstGeom prst="roundRect">
            <a:avLst>
              <a:gd name="adj" fmla="val 3906"/>
            </a:avLst>
          </a:prstGeom>
          <a:solidFill>
            <a:srgbClr val="F2F2F2"/>
          </a:solidFill>
          <a:ln/>
        </p:spPr>
      </p:sp>
      <p:sp>
        <p:nvSpPr>
          <p:cNvPr id="13" name="Text 9"/>
          <p:cNvSpPr/>
          <p:nvPr/>
        </p:nvSpPr>
        <p:spPr>
          <a:xfrm>
            <a:off x="731520" y="4142232"/>
            <a:ext cx="548640" cy="594360"/>
          </a:xfrm>
          <a:prstGeom prst="rect">
            <a:avLst/>
          </a:prstGeom>
          <a:noFill/>
          <a:ln/>
        </p:spPr>
        <p:txBody>
          <a:bodyPr wrap="square" lIns="0" tIns="0" rIns="0" bIns="0" rtlCol="0" anchor="ctr"/>
          <a:lstStyle/>
          <a:p>
            <a:pPr marL="0" indent="0">
              <a:buNone/>
            </a:pPr>
            <a:r>
              <a:rPr lang="en-US" sz="2800" b="1" dirty="0">
                <a:solidFill>
                  <a:srgbClr val="E31836"/>
                </a:solidFill>
                <a:latin typeface="Cambria" pitchFamily="34" charset="0"/>
                <a:ea typeface="Cambria" pitchFamily="34" charset="-122"/>
                <a:cs typeface="Cambria" pitchFamily="34" charset="-120"/>
              </a:rPr>
              <a:t>3</a:t>
            </a:r>
            <a:endParaRPr lang="en-US" sz="2800" dirty="0"/>
          </a:p>
        </p:txBody>
      </p:sp>
      <p:sp>
        <p:nvSpPr>
          <p:cNvPr id="14" name="Text 10"/>
          <p:cNvSpPr/>
          <p:nvPr/>
        </p:nvSpPr>
        <p:spPr>
          <a:xfrm>
            <a:off x="1417320" y="3941064"/>
            <a:ext cx="10149840" cy="10058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Ensemble uncertainty — inside the simulator — </a:t>
            </a:r>
            <a:r>
              <a:rPr lang="en-US" sz="1200" dirty="0">
                <a:solidFill>
                  <a:srgbClr val="222222"/>
                </a:solidFill>
                <a:latin typeface="Calibri" pitchFamily="34" charset="0"/>
                <a:ea typeface="Calibri" pitchFamily="34" charset="-122"/>
                <a:cs typeface="Calibri" pitchFamily="34" charset="-120"/>
              </a:rPr>
              <a:t>Confidence gating and replicate spread are reported; forecast uncertainty is not yet propagated as an ensemble. Run the closed loop over equally plausible forecasts and report the decisions that remain stable across the set.</a:t>
            </a:r>
            <a:endParaRPr lang="en-US" sz="1250" dirty="0"/>
          </a:p>
        </p:txBody>
      </p:sp>
      <p:sp>
        <p:nvSpPr>
          <p:cNvPr id="15" name="Shape 11"/>
          <p:cNvSpPr/>
          <p:nvPr/>
        </p:nvSpPr>
        <p:spPr>
          <a:xfrm>
            <a:off x="502920" y="5111496"/>
            <a:ext cx="11247120" cy="1170432"/>
          </a:xfrm>
          <a:prstGeom prst="roundRect">
            <a:avLst>
              <a:gd name="adj" fmla="val 3906"/>
            </a:avLst>
          </a:prstGeom>
          <a:solidFill>
            <a:srgbClr val="F2F2F2"/>
          </a:solidFill>
          <a:ln/>
        </p:spPr>
      </p:sp>
      <p:sp>
        <p:nvSpPr>
          <p:cNvPr id="16" name="Text 12"/>
          <p:cNvSpPr/>
          <p:nvPr/>
        </p:nvSpPr>
        <p:spPr>
          <a:xfrm>
            <a:off x="731520" y="5404104"/>
            <a:ext cx="548640" cy="594360"/>
          </a:xfrm>
          <a:prstGeom prst="rect">
            <a:avLst/>
          </a:prstGeom>
          <a:noFill/>
          <a:ln/>
        </p:spPr>
        <p:txBody>
          <a:bodyPr wrap="square" lIns="0" tIns="0" rIns="0" bIns="0" rtlCol="0" anchor="ctr"/>
          <a:lstStyle/>
          <a:p>
            <a:pPr marL="0" indent="0">
              <a:buNone/>
            </a:pPr>
            <a:r>
              <a:rPr lang="en-US" sz="2800" b="1" dirty="0">
                <a:solidFill>
                  <a:srgbClr val="E31836"/>
                </a:solidFill>
                <a:latin typeface="Cambria" pitchFamily="34" charset="0"/>
                <a:ea typeface="Cambria" pitchFamily="34" charset="-122"/>
                <a:cs typeface="Cambria" pitchFamily="34" charset="-120"/>
              </a:rPr>
              <a:t>4</a:t>
            </a:r>
            <a:endParaRPr lang="en-US" sz="2800" dirty="0"/>
          </a:p>
        </p:txBody>
      </p:sp>
      <p:sp>
        <p:nvSpPr>
          <p:cNvPr id="17" name="Text 13"/>
          <p:cNvSpPr/>
          <p:nvPr/>
        </p:nvSpPr>
        <p:spPr>
          <a:xfrm>
            <a:off x="1417320" y="5202936"/>
            <a:ext cx="10149840" cy="100584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Domain scale — the complementary bound — </a:t>
            </a:r>
            <a:r>
              <a:rPr lang="en-US" sz="1200" dirty="0">
                <a:solidFill>
                  <a:srgbClr val="222222"/>
                </a:solidFill>
                <a:latin typeface="Calibri" pitchFamily="34" charset="0"/>
                <a:ea typeface="Calibri" pitchFamily="34" charset="-122"/>
                <a:cs typeface="Calibri" pitchFamily="34" charset="-120"/>
              </a:rPr>
              <a:t>The scaling result bounds the hierarchy against the number of agents. The complementary study grows the domain itself — cells and incident size — with agents fixed, and states where the decision cycle stops being sufficient.</a:t>
            </a:r>
            <a:endParaRPr lang="en-US" sz="1250" dirty="0"/>
          </a:p>
        </p:txBody>
      </p:sp>
      <p:sp>
        <p:nvSpPr>
          <p:cNvPr id="18" name="Text 14"/>
          <p:cNvSpPr/>
          <p:nvPr/>
        </p:nvSpPr>
        <p:spPr>
          <a:xfrm>
            <a:off x="502920" y="6446520"/>
            <a:ext cx="11247120" cy="320040"/>
          </a:xfrm>
          <a:prstGeom prst="rect">
            <a:avLst/>
          </a:prstGeom>
          <a:noFill/>
          <a:ln/>
        </p:spPr>
        <p:txBody>
          <a:bodyPr wrap="square" lIns="0" tIns="0" rIns="0" bIns="0" rtlCol="0" anchor="t"/>
          <a:lstStyle/>
          <a:p>
            <a:pPr marL="0" indent="0">
              <a:lnSpc>
                <a:spcPct val="104000"/>
              </a:lnSpc>
              <a:buNone/>
            </a:pPr>
            <a:r>
              <a:rPr lang="en-US" sz="1250" b="1" i="1" dirty="0">
                <a:solidFill>
                  <a:srgbClr val="E31836"/>
                </a:solidFill>
                <a:latin typeface="Calibri" pitchFamily="34" charset="0"/>
                <a:ea typeface="Calibri" pitchFamily="34" charset="-122"/>
                <a:cs typeface="Calibri" pitchFamily="34" charset="-120"/>
              </a:rPr>
              <a:t>None requires a change to the framework; each extends the evidence around it.</a:t>
            </a:r>
            <a:endParaRPr lang="en-US" sz="1250" dirty="0"/>
          </a:p>
        </p:txBody>
      </p:sp>
      <p:sp>
        <p:nvSpPr>
          <p:cNvPr id="90010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100 / 113</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43">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Text 0"/>
          <p:cNvSpPr/>
          <p:nvPr/>
        </p:nvSpPr>
        <p:spPr>
          <a:xfrm>
            <a:off x="822960" y="1371600"/>
            <a:ext cx="100584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3" name="Text 1"/>
          <p:cNvSpPr/>
          <p:nvPr/>
        </p:nvSpPr>
        <p:spPr>
          <a:xfrm>
            <a:off x="822960" y="2468880"/>
            <a:ext cx="10515600" cy="548640"/>
          </a:xfrm>
          <a:prstGeom prst="rect">
            <a:avLst/>
          </a:prstGeom>
          <a:noFill/>
          <a:ln/>
        </p:spPr>
        <p:txBody>
          <a:bodyPr wrap="square" lIns="0" tIns="0" rIns="0" bIns="0" rtlCol="0" anchor="ctr"/>
          <a:lstStyle/>
          <a:p>
            <a:pPr marL="0" indent="0">
              <a:buNone/>
            </a:pPr>
            <a:r>
              <a:rPr lang="en-US" sz="2000" i="1" dirty="0">
                <a:solidFill>
                  <a:srgbClr val="D9D9D9"/>
                </a:solidFill>
                <a:latin typeface="Cambria" pitchFamily="34" charset="0"/>
                <a:ea typeface="Cambria" pitchFamily="34" charset="-122"/>
                <a:cs typeface="Cambria" pitchFamily="34" charset="-120"/>
              </a:rPr>
              <a:t>DisasterAware : open where tactics live, closed where physics rules.</a:t>
            </a:r>
            <a:endParaRPr lang="en-US" sz="2000" dirty="0"/>
          </a:p>
        </p:txBody>
      </p:sp>
      <p:sp>
        <p:nvSpPr>
          <p:cNvPr id="4" name="Text 2"/>
          <p:cNvSpPr/>
          <p:nvPr/>
        </p:nvSpPr>
        <p:spPr>
          <a:xfrm>
            <a:off x="822960" y="3566160"/>
            <a:ext cx="7315200" cy="365760"/>
          </a:xfrm>
          <a:prstGeom prst="rect">
            <a:avLst/>
          </a:prstGeom>
          <a:noFill/>
          <a:ln/>
        </p:spPr>
        <p:txBody>
          <a:bodyPr wrap="square" lIns="0" tIns="0" rIns="0" bIns="0" rtlCol="0" anchor="ctr"/>
          <a:lstStyle/>
          <a:p>
            <a:pPr marL="0" indent="0">
              <a:buNone/>
            </a:pPr>
            <a:r>
              <a:rPr lang="en-US" sz="1400" b="1" kern="0" spc="200" dirty="0">
                <a:solidFill>
                  <a:srgbClr val="E31836"/>
                </a:solidFill>
                <a:latin typeface="Calibri" pitchFamily="34" charset="0"/>
                <a:ea typeface="Calibri" pitchFamily="34" charset="-122"/>
                <a:cs typeface="Calibri" pitchFamily="34" charset="-120"/>
              </a:rPr>
              <a:t>With gratitude to the examining committee and the thesis monitoring committee</a:t>
            </a:r>
            <a:endParaRPr lang="en-US" sz="1400" dirty="0"/>
          </a:p>
        </p:txBody>
      </p:sp>
      <p:sp>
        <p:nvSpPr>
          <p:cNvPr id="5" name="Text 3"/>
          <p:cNvSpPr/>
          <p:nvPr/>
        </p:nvSpPr>
        <p:spPr>
          <a:xfrm>
            <a:off x="822960" y="3977640"/>
            <a:ext cx="7772400" cy="1737360"/>
          </a:xfrm>
          <a:prstGeom prst="rect">
            <a:avLst/>
          </a:prstGeom>
          <a:noFill/>
          <a:ln/>
        </p:spPr>
        <p:txBody>
          <a:bodyPr wrap="square" lIns="0" tIns="0" rIns="0" bIns="0" rtlCol="0" anchor="ctr"/>
          <a:lstStyle/>
          <a:p>
            <a:pPr marL="0" indent="0">
              <a:lnSpc>
                <a:spcPct val="125000"/>
              </a:lnSpc>
              <a:buNone/>
            </a:pPr>
            <a:r>
              <a:rPr lang="en-US" sz="1700" dirty="0">
                <a:solidFill>
                  <a:srgbClr val="EDEDED"/>
                </a:solidFill>
                <a:latin typeface="Calibri" pitchFamily="34" charset="0"/>
                <a:ea typeface="Calibri" pitchFamily="34" charset="-122"/>
                <a:cs typeface="Calibri" pitchFamily="34" charset="-120"/>
              </a:rPr>
              <a:t>Prof. Dr. Mehmet Önder Efe  (Committee Chair)
Prof. Dr. Mehmet Kemal Leblebicioğlu  (Supervisor · Thesis Monitoring Committee)
Prof. Dr. Klaus Werner Schmidt
Assoc. Prof. Dr. Ahmet Güneş  (Thesis Monitoring Committee)
Assist. Prof. Dr. Kenan Ahıska  (Thesis Monitoring Committee)</a:t>
            </a:r>
            <a:endParaRPr lang="en-US" sz="1700" dirty="0"/>
          </a:p>
        </p:txBody>
      </p:sp>
      <p:sp>
        <p:nvSpPr>
          <p:cNvPr id="6" name="Text 4"/>
          <p:cNvSpPr/>
          <p:nvPr/>
        </p:nvSpPr>
        <p:spPr>
          <a:xfrm>
            <a:off x="822960" y="6035040"/>
            <a:ext cx="5486400" cy="365760"/>
          </a:xfrm>
          <a:prstGeom prst="rect">
            <a:avLst/>
          </a:prstGeom>
          <a:noFill/>
          <a:ln/>
        </p:spPr>
        <p:txBody>
          <a:bodyPr wrap="square" lIns="0" tIns="0" rIns="0" bIns="0" rtlCol="0" anchor="ctr"/>
          <a:lstStyle/>
          <a:p>
            <a:pPr marL="0" indent="0">
              <a:buNone/>
            </a:pPr>
            <a:r>
              <a:rPr lang="en-US" sz="1700" b="1" dirty="0">
                <a:solidFill>
                  <a:srgbClr val="E31836"/>
                </a:solidFill>
                <a:latin typeface="Calibri" pitchFamily="34" charset="0"/>
                <a:ea typeface="Calibri" pitchFamily="34" charset="-122"/>
                <a:cs typeface="Calibri" pitchFamily="34" charset="-120"/>
              </a:rPr>
              <a:t>Questions welcome.</a:t>
            </a:r>
            <a:endParaRPr lang="en-US" sz="1700" dirty="0"/>
          </a:p>
        </p:txBody>
      </p:sp>
      <p:pic>
        <p:nvPicPr>
          <p:cNvPr id="7"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8"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90010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101 / 113</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A</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Rate of Spread : the Rothermel-like Semi-Empirical Mapping</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43584"/>
            <a:ext cx="11247120" cy="548640"/>
          </a:xfrm>
          <a:prstGeom prst="rect">
            <a:avLst/>
          </a:prstGeom>
          <a:noFill/>
          <a:ln/>
        </p:spPr>
        <p:txBody>
          <a:bodyPr wrap="square" lIns="0" tIns="0" rIns="0" bIns="0" rtlCol="0" anchor="t"/>
          <a:lstStyle/>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A grid-consistent, DSS-oriented abstraction inspired by semi-empirical fire-behavior models (Rothermel, 1972): </a:t>
            </a:r>
            <a:r>
              <a:rPr lang="en-US" sz="1250" b="1" dirty="0">
                <a:solidFill>
                  <a:srgbClr val="000000"/>
                </a:solidFill>
                <a:latin typeface="Calibri" pitchFamily="34" charset="0"/>
                <a:ea typeface="Calibri" pitchFamily="34" charset="-122"/>
                <a:cs typeface="Calibri" pitchFamily="34" charset="-120"/>
              </a:rPr>
              <a:t>output in normalized cells-per-step, every factor tied to an already-defined state or input.</a:t>
            </a:r>
            <a:endParaRPr lang="en-US" sz="1250" dirty="0"/>
          </a:p>
        </p:txBody>
      </p:sp>
      <mc:AlternateContent xmlns:mc="http://schemas.openxmlformats.org/markup-compatibility/2006" xmlns:a14="http://schemas.microsoft.com/office/drawing/2010/main">
        <mc:Choice Requires="a14">
          <p:sp>
            <p:nvSpPr>
              <p:cNvPr id="7" name="Text 3"/>
              <p:cNvSpPr/>
              <p:nvPr/>
            </p:nvSpPr>
            <p:spPr>
              <a:xfrm>
                <a:off x="502920" y="1783080"/>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𝑠𝑝𝑟𝑒𝑎𝑑</m:t>
                          </m:r>
                          <m:r>
                            <a:rPr lang="en-US" sz="1400">
                              <a:latin typeface="Cambria Math"/>
                            </a:rPr>
                            <m:t>,</m:t>
                          </m:r>
                          <m:r>
                            <a:rPr lang="en-US" sz="1400">
                              <a:latin typeface="Cambria Math"/>
                            </a:rPr>
                            <m:t>𝑘</m:t>
                          </m:r>
                        </m:sub>
                      </m:sSub>
                      <m:r>
                        <a:rPr lang="en-US" sz="1400">
                          <a:latin typeface="Cambria Math"/>
                        </a:rPr>
                        <m:t> </m:t>
                      </m:r>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𝑟</m:t>
                          </m:r>
                        </m:e>
                        <m:sub>
                          <m:r>
                            <a:rPr lang="en-US" sz="1400">
                              <a:latin typeface="Cambria Math"/>
                            </a:rPr>
                            <m:t>𝑏𝑎𝑠𝑒</m:t>
                          </m:r>
                        </m:sub>
                      </m:sSub>
                      <m:r>
                        <a:rPr lang="en-US" sz="1400">
                          <a:latin typeface="Cambria Math"/>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m:t>
                      </m:r>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𝑚𝑜𝑖𝑠𝑡</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𝑤𝑖𝑛𝑑</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𝑠𝑙𝑜𝑝𝑒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 </m:t>
                      </m:r>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𝑎𝑠𝑝𝑒𝑐𝑡</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502920" y="1783080"/>
                <a:ext cx="6949440" cy="548640"/>
              </a:xfrm>
              <a:prstGeom prst="rect">
                <a:avLst/>
              </a:prstGeom>
              <a:blipFill>
                <a:blip r:embed="rId5"/>
                <a:stretch>
                  <a:fillRect t="-5556" b="-1444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502920" y="2377440"/>
                <a:ext cx="6949440" cy="5943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𝑚𝑜𝑖𝑠𝑡</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max</m:t>
                          </m:r>
                        </m:fName>
                        <m:e>
                          <m:d>
                            <m:dPr>
                              <m:ctrlPr>
                                <a:rPr lang="en-US" i="1">
                                  <a:latin typeface="Cambria Math" panose="02040503050406030204" pitchFamily="18" charset="0"/>
                                </a:rPr>
                              </m:ctrlPr>
                            </m:dPr>
                            <m:e>
                              <m:r>
                                <a:rPr lang="en-US" sz="1400">
                                  <a:latin typeface="Cambria Math"/>
                                </a:rPr>
                                <m:t>0,1−</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𝑚𝑜𝑖𝑠𝑡</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sSub>
                                    <m:sSubPr>
                                      <m:ctrlPr>
                                        <a:rPr lang="en-US" i="1">
                                          <a:latin typeface="Cambria Math" panose="02040503050406030204" pitchFamily="18" charset="0"/>
                                        </a:rPr>
                                      </m:ctrlPr>
                                    </m:sSubPr>
                                    <m:e>
                                      <m:r>
                                        <a:rPr lang="en-US" sz="1400">
                                          <a:latin typeface="Cambria Math"/>
                                        </a:rPr>
                                        <m:t>𝑚</m:t>
                                      </m:r>
                                    </m:e>
                                    <m:sub>
                                      <m:r>
                                        <a:rPr lang="en-US" sz="1400">
                                          <a:latin typeface="Cambria Math"/>
                                        </a:rPr>
                                        <m:t>𝑒𝑥𝑡</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den>
                              </m:f>
                            </m:e>
                          </m:d>
                        </m:e>
                      </m:func>
                    </m:oMath>
                  </m:oMathPara>
                </a14:m>
                <a:endParaRPr lang="en-US" sz="1300" dirty="0"/>
              </a:p>
            </p:txBody>
          </p:sp>
        </mc:Choice>
        <mc:Fallback xmlns="">
          <p:sp>
            <p:nvSpPr>
              <p:cNvPr id="8" name="Text 4"/>
              <p:cNvSpPr>
                <a:spLocks noRot="1" noChangeAspect="1" noMove="1" noResize="1" noEditPoints="1" noAdjustHandles="1" noChangeArrowheads="1" noChangeShapeType="1" noTextEdit="1"/>
              </p:cNvSpPr>
              <p:nvPr/>
            </p:nvSpPr>
            <p:spPr>
              <a:xfrm>
                <a:off x="502920" y="2377440"/>
                <a:ext cx="6949440" cy="594360"/>
              </a:xfrm>
              <a:prstGeom prst="rect">
                <a:avLst/>
              </a:prstGeom>
              <a:blipFill>
                <a:blip r:embed="rId6"/>
                <a:stretch>
                  <a:fillRect t="-6122" b="-11224"/>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5"/>
              <p:cNvSpPr/>
              <p:nvPr/>
            </p:nvSpPr>
            <p:spPr>
              <a:xfrm>
                <a:off x="502920" y="3017520"/>
                <a:ext cx="6949440" cy="59436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𝑤𝑖𝑛𝑑</m:t>
                          </m:r>
                        </m:sub>
                      </m:sSub>
                      <m:r>
                        <a:rPr lang="en-US" sz="1400">
                          <a:latin typeface="Cambria Math"/>
                        </a:rPr>
                        <m:t>(</m:t>
                      </m:r>
                      <m:r>
                        <a:rPr lang="en-US" sz="1400">
                          <a:latin typeface="Cambria Math"/>
                        </a:rPr>
                        <m:t>𝑥</m:t>
                      </m:r>
                      <m:r>
                        <a:rPr lang="en-US" sz="1400">
                          <a:latin typeface="Cambria Math"/>
                        </a:rPr>
                        <m:t>,</m:t>
                      </m:r>
                      <m:r>
                        <a:rPr lang="en-US" sz="1400">
                          <a:latin typeface="Cambria Math"/>
                        </a:rPr>
                        <m:t>𝑦</m:t>
                      </m:r>
                      <m:r>
                        <a:rPr lang="en-US" sz="1400">
                          <a:latin typeface="Cambria Math"/>
                        </a:rPr>
                        <m:t>)=1+</m:t>
                      </m:r>
                      <m:sSub>
                        <m:sSubPr>
                          <m:ctrlPr>
                            <a:rPr lang="en-US" i="1">
                              <a:latin typeface="Cambria Math" panose="02040503050406030204" pitchFamily="18" charset="0"/>
                            </a:rPr>
                          </m:ctrlPr>
                        </m:sSubPr>
                        <m:e>
                          <m:r>
                            <a:rPr lang="en-US" sz="1400">
                              <a:latin typeface="Cambria Math"/>
                            </a:rPr>
                            <m:t>𝑎</m:t>
                          </m:r>
                        </m:e>
                        <m:sub>
                          <m:r>
                            <a:rPr lang="en-US" sz="1400">
                              <a:latin typeface="Cambria Math"/>
                            </a:rPr>
                            <m:t>𝑤</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r>
                        <a:rPr lang="en-US" sz="1400">
                          <a:latin typeface="Cambria Math"/>
                        </a:rPr>
                        <m:t>(</m:t>
                      </m:r>
                      <m:r>
                        <a:rPr lang="en-US" sz="1400">
                          <a:latin typeface="Cambria Math"/>
                        </a:rPr>
                        <m:t>𝑥</m:t>
                      </m:r>
                      <m:r>
                        <a:rPr lang="en-US" sz="1400">
                          <a:latin typeface="Cambria Math"/>
                        </a:rPr>
                        <m:t>,</m:t>
                      </m:r>
                      <m:r>
                        <a:rPr lang="en-US" sz="1400">
                          <a:latin typeface="Cambria Math"/>
                        </a:rPr>
                        <m:t>𝑦</m:t>
                      </m:r>
                      <m:r>
                        <a:rPr lang="en-US" sz="1400">
                          <a:latin typeface="Cambria Math"/>
                        </a:rPr>
                        <m:t>))⋅</m:t>
                      </m:r>
                      <m:r>
                        <a:rPr lang="en-US" sz="1400">
                          <a:latin typeface="Cambria Math"/>
                        </a:rPr>
                        <m:t>𝑡𝑎𝑛h</m:t>
                      </m:r>
                      <m:d>
                        <m:dPr>
                          <m:ctrlPr>
                            <a:rPr lang="en-US" i="1">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𝑊</m:t>
                                  </m:r>
                                </m:e>
                                <m:sub>
                                  <m:r>
                                    <a:rPr lang="en-US" sz="1400">
                                      <a:latin typeface="Cambria Math"/>
                                    </a:rPr>
                                    <m:t>𝑤𝑠</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sSub>
                                <m:sSubPr>
                                  <m:ctrlPr>
                                    <a:rPr lang="en-US" i="1">
                                      <a:latin typeface="Cambria Math" panose="02040503050406030204" pitchFamily="18" charset="0"/>
                                    </a:rPr>
                                  </m:ctrlPr>
                                </m:sSubPr>
                                <m:e>
                                  <m:r>
                                    <a:rPr lang="en-US" sz="1400">
                                      <a:latin typeface="Cambria Math"/>
                                    </a:rPr>
                                    <m:t>𝑤</m:t>
                                  </m:r>
                                </m:e>
                                <m:sub>
                                  <m:r>
                                    <a:rPr lang="en-US" sz="1400">
                                      <a:latin typeface="Cambria Math"/>
                                    </a:rPr>
                                    <m:t>0</m:t>
                                  </m:r>
                                </m:sub>
                              </m:sSub>
                            </m:den>
                          </m:f>
                        </m:e>
                      </m:d>
                    </m:oMath>
                  </m:oMathPara>
                </a14:m>
                <a:endParaRPr lang="en-US" sz="1300" dirty="0"/>
              </a:p>
            </p:txBody>
          </p:sp>
        </mc:Choice>
        <mc:Fallback xmlns="">
          <p:sp>
            <p:nvSpPr>
              <p:cNvPr id="9" name="Text 5"/>
              <p:cNvSpPr>
                <a:spLocks noRot="1" noChangeAspect="1" noMove="1" noResize="1" noEditPoints="1" noAdjustHandles="1" noChangeArrowheads="1" noChangeShapeType="1" noTextEdit="1"/>
              </p:cNvSpPr>
              <p:nvPr/>
            </p:nvSpPr>
            <p:spPr>
              <a:xfrm>
                <a:off x="502920" y="3017520"/>
                <a:ext cx="6949440" cy="594360"/>
              </a:xfrm>
              <a:prstGeom prst="rect">
                <a:avLst/>
              </a:prstGeom>
              <a:blipFill>
                <a:blip r:embed="rId7"/>
                <a:stretch>
                  <a:fillRect b="-204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6"/>
              <p:cNvSpPr/>
              <p:nvPr/>
            </p:nvSpPr>
            <p:spPr>
              <a:xfrm>
                <a:off x="502920" y="3657600"/>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𝑠𝑙𝑜𝑝𝑒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min</m:t>
                          </m:r>
                        </m:fName>
                        <m:e>
                          <m:d>
                            <m:dPr>
                              <m:ctrlPr>
                                <a:rPr lang="en-US" i="1">
                                  <a:latin typeface="Cambria Math" panose="02040503050406030204" pitchFamily="18" charset="0"/>
                                </a:rPr>
                              </m:ctrlPr>
                            </m:dPr>
                            <m:e>
                              <m:r>
                                <a:rPr lang="en-US" sz="1400">
                                  <a:latin typeface="Cambria Math"/>
                                </a:rPr>
                                <m:t>3, 1+</m:t>
                              </m:r>
                              <m:sSub>
                                <m:sSubPr>
                                  <m:ctrlPr>
                                    <a:rPr lang="en-US" i="1">
                                      <a:latin typeface="Cambria Math" panose="02040503050406030204" pitchFamily="18" charset="0"/>
                                    </a:rPr>
                                  </m:ctrlPr>
                                </m:sSubPr>
                                <m:e>
                                  <m:r>
                                    <a:rPr lang="en-US" sz="1400">
                                      <a:latin typeface="Cambria Math"/>
                                    </a:rPr>
                                    <m:t>𝑎</m:t>
                                  </m:r>
                                </m:e>
                                <m:sub>
                                  <m:r>
                                    <a:rPr lang="en-US" sz="1400">
                                      <a:latin typeface="Cambria Math"/>
                                    </a:rPr>
                                    <m:t>𝑠</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tan</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𝑠𝑙𝑜𝑝𝑒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func>
                            </m:e>
                          </m:d>
                        </m:e>
                      </m:func>
                    </m:oMath>
                  </m:oMathPara>
                </a14:m>
                <a:endParaRPr lang="en-US" sz="1300" dirty="0"/>
              </a:p>
            </p:txBody>
          </p:sp>
        </mc:Choice>
        <mc:Fallback xmlns="">
          <p:sp>
            <p:nvSpPr>
              <p:cNvPr id="10" name="Text 6"/>
              <p:cNvSpPr>
                <a:spLocks noRot="1" noChangeAspect="1" noMove="1" noResize="1" noEditPoints="1" noAdjustHandles="1" noChangeArrowheads="1" noChangeShapeType="1" noTextEdit="1"/>
              </p:cNvSpPr>
              <p:nvPr/>
            </p:nvSpPr>
            <p:spPr>
              <a:xfrm>
                <a:off x="502920" y="3657600"/>
                <a:ext cx="6949440" cy="54864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7"/>
              <p:cNvSpPr/>
              <p:nvPr/>
            </p:nvSpPr>
            <p:spPr>
              <a:xfrm>
                <a:off x="502920" y="4251960"/>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𝑔</m:t>
                          </m:r>
                        </m:e>
                        <m:sub>
                          <m:r>
                            <a:rPr lang="en-US" sz="1400">
                              <a:latin typeface="Cambria Math"/>
                            </a:rPr>
                            <m:t>𝑎𝑠𝑝𝑒𝑐𝑡</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=1+</m:t>
                      </m:r>
                      <m:sSub>
                        <m:sSubPr>
                          <m:ctrlPr>
                            <a:rPr lang="en-US" i="1">
                              <a:latin typeface="Cambria Math" panose="02040503050406030204" pitchFamily="18" charset="0"/>
                            </a:rPr>
                          </m:ctrlPr>
                        </m:sSubPr>
                        <m:e>
                          <m:r>
                            <a:rPr lang="en-US" sz="1400">
                              <a:latin typeface="Cambria Math"/>
                            </a:rPr>
                            <m:t>𝑎</m:t>
                          </m:r>
                        </m:e>
                        <m:sub>
                          <m:r>
                            <a:rPr lang="en-US" sz="1400">
                              <a:latin typeface="Cambria Math"/>
                            </a:rPr>
                            <m:t>𝑎𝑠𝑝</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𝑎𝑠𝑝𝑒𝑐𝑡</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𝑊</m:t>
                                  </m:r>
                                </m:e>
                                <m:sub>
                                  <m:r>
                                    <a:rPr lang="en-US" sz="1400">
                                      <a:latin typeface="Cambria Math"/>
                                    </a:rPr>
                                    <m:t>𝑤𝑑</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func>
                    </m:oMath>
                  </m:oMathPara>
                </a14:m>
                <a:endParaRPr lang="en-US" sz="1300" dirty="0"/>
              </a:p>
            </p:txBody>
          </p:sp>
        </mc:Choice>
        <mc:Fallback xmlns="">
          <p:sp>
            <p:nvSpPr>
              <p:cNvPr id="11" name="Text 7"/>
              <p:cNvSpPr>
                <a:spLocks noRot="1" noChangeAspect="1" noMove="1" noResize="1" noEditPoints="1" noAdjustHandles="1" noChangeArrowheads="1" noChangeShapeType="1" noTextEdit="1"/>
              </p:cNvSpPr>
              <p:nvPr/>
            </p:nvSpPr>
            <p:spPr>
              <a:xfrm>
                <a:off x="502920" y="4251960"/>
                <a:ext cx="6949440" cy="548640"/>
              </a:xfrm>
              <a:prstGeom prst="rect">
                <a:avLst/>
              </a:prstGeom>
              <a:blipFill>
                <a:blip r:embed="rId9"/>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8"/>
              <p:cNvSpPr/>
              <p:nvPr/>
            </p:nvSpPr>
            <p:spPr>
              <a:xfrm>
                <a:off x="7680960" y="1783080"/>
                <a:ext cx="4069080" cy="301752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Moisture damping: spread is suppressed at the extinction threshold </a:t>
                </a:r>
                <a14:m>
                  <m:oMath xmlns:m="http://schemas.openxmlformats.org/officeDocument/2006/math">
                    <m:sSub>
                      <m:sSubPr>
                        <m:ctrlPr>
                          <a:rPr lang="en-US" i="1">
                            <a:latin typeface="Cambria Math" panose="02040503050406030204" pitchFamily="18" charset="0"/>
                          </a:rPr>
                        </m:ctrlPr>
                      </m:sSubPr>
                      <m:e>
                        <m:r>
                          <a:rPr lang="en-US" sz="1200">
                            <a:latin typeface="Cambria Math"/>
                          </a:rPr>
                          <m:t>𝑚</m:t>
                        </m:r>
                      </m:e>
                      <m:sub>
                        <m:r>
                          <a:rPr lang="en-US" sz="1200">
                            <a:latin typeface="Cambria Math"/>
                          </a:rPr>
                          <m:t>𝑒𝑥𝑡</m:t>
                        </m:r>
                      </m:sub>
                    </m:sSub>
                  </m:oMath>
                </a14:m>
                <a:r>
                  <a:rPr lang="en-US" sz="1200" dirty="0">
                    <a:solidFill>
                      <a:srgbClr val="222222"/>
                    </a:solidFill>
                    <a:latin typeface="Calibri" pitchFamily="34" charset="0"/>
                    <a:ea typeface="Calibri" pitchFamily="34" charset="-122"/>
                    <a:cs typeface="Calibri" pitchFamily="34" charset="-120"/>
                  </a:rPr>
                  <a:t>; the max(0, ·) keeps rates non-negative.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Wind: tanh saturation, scaling constant 10 m/s — amplification grows but stays bounded in extreme wind.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Slope: preheating on the upslope side; capped at ×3 so near-vertical DEM cells do not diverge.</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Aspect–wind alignment: cos(·) ≈ 1 accelerates, opposed wind decelerates.</a:t>
                </a:r>
                <a:endParaRPr lang="en-US" sz="1200" dirty="0"/>
              </a:p>
            </p:txBody>
          </p:sp>
        </mc:Choice>
        <mc:Fallback xmlns="">
          <p:sp>
            <p:nvSpPr>
              <p:cNvPr id="12" name="Text 8"/>
              <p:cNvSpPr>
                <a:spLocks noRot="1" noChangeAspect="1" noMove="1" noResize="1" noEditPoints="1" noAdjustHandles="1" noChangeArrowheads="1" noChangeShapeType="1" noTextEdit="1"/>
              </p:cNvSpPr>
              <p:nvPr/>
            </p:nvSpPr>
            <p:spPr>
              <a:xfrm>
                <a:off x="7680960" y="1783080"/>
                <a:ext cx="4069080" cy="3017520"/>
              </a:xfrm>
              <a:prstGeom prst="rect">
                <a:avLst/>
              </a:prstGeom>
              <a:blipFill>
                <a:blip r:embed="rId10"/>
                <a:stretch>
                  <a:fillRect l="-2395" t="-2020" r="-2246"/>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3" name="Table 0"/>
              <p:cNvGraphicFramePr>
                <a:graphicFrameLocks noGrp="1"/>
              </p:cNvGraphicFramePr>
              <p:nvPr/>
            </p:nvGraphicFramePr>
            <p:xfrm>
              <a:off x="502920" y="4983480"/>
              <a:ext cx="6949440" cy="1528572"/>
            </p:xfrm>
            <a:graphic>
              <a:graphicData uri="http://schemas.openxmlformats.org/drawingml/2006/table">
                <a:tbl>
                  <a:tblPr/>
                  <a:tblGrid>
                    <a:gridCol w="19202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Fuel type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00">
                                        <a:latin typeface="Cambria Math"/>
                                      </a:rPr>
                                      <m:t>𝑟</m:t>
                                    </m:r>
                                  </m:e>
                                  <m:sub>
                                    <m:r>
                                      <a:rPr lang="en-US" sz="1200">
                                        <a:latin typeface="Cambria Math"/>
                                      </a:rPr>
                                      <m:t>𝑏𝑎𝑠𝑒</m:t>
                                    </m:r>
                                  </m:sub>
                                </m:sSub>
                              </m:oMath>
                            </m:oMathPara>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00">
                                        <a:latin typeface="Cambria Math"/>
                                      </a:rPr>
                                      <m:t>𝑚</m:t>
                                    </m:r>
                                  </m:e>
                                  <m:sub>
                                    <m:r>
                                      <a:rPr lang="en-US" sz="1200">
                                        <a:latin typeface="Cambria Math"/>
                                      </a:rPr>
                                      <m:t>𝑒𝑥𝑡</m:t>
                                    </m:r>
                                  </m:sub>
                                </m:sSub>
                              </m:oMath>
                            </m:oMathPara>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00">
                                        <a:latin typeface="Cambria Math"/>
                                      </a:rPr>
                                      <m:t>𝑎</m:t>
                                    </m:r>
                                  </m:e>
                                  <m:sub>
                                    <m:r>
                                      <a:rPr lang="en-US" sz="1200">
                                        <a:latin typeface="Cambria Math"/>
                                      </a:rPr>
                                      <m:t>𝑤</m:t>
                                    </m:r>
                                  </m:sub>
                                </m:sSub>
                              </m:oMath>
                            </m:oMathPara>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00">
                                        <a:latin typeface="Cambria Math"/>
                                      </a:rPr>
                                      <m:t>𝑎</m:t>
                                    </m:r>
                                  </m:e>
                                  <m:sub>
                                    <m:r>
                                      <a:rPr lang="en-US" sz="1200">
                                        <a:latin typeface="Cambria Math"/>
                                      </a:rPr>
                                      <m:t>𝑠</m:t>
                                    </m:r>
                                  </m:sub>
                                </m:sSub>
                              </m:oMath>
                            </m:oMathPara>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200">
                                        <a:latin typeface="Cambria Math"/>
                                      </a:rPr>
                                      <m:t>𝑎</m:t>
                                    </m:r>
                                  </m:e>
                                  <m:sub>
                                    <m:r>
                                      <a:rPr lang="en-US" sz="1200">
                                        <a:latin typeface="Cambria Math"/>
                                      </a:rPr>
                                      <m:t>𝑎𝑠𝑝</m:t>
                                    </m:r>
                                  </m:sub>
                                </m:sSub>
                              </m:oMath>
                            </m:oMathPara>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Shrub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Pine litter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Hardwood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Choice>
        <mc:Fallback xmlns="">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4983480"/>
              <a:ext cx="6949440" cy="1528572"/>
            </p:xfrm>
            <a:graphic>
              <a:graphicData uri="http://schemas.openxmlformats.org/drawingml/2006/table">
                <a:tbl>
                  <a:tblPr/>
                  <a:tblGrid>
                    <a:gridCol w="19202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tblGrid>
                  <a:tr h="35814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Fuel type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1"/>
                          <a:stretch>
                            <a:fillRect l="-191515" t="-1695" r="-401818" b="-3372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1"/>
                          <a:stretch>
                            <a:fillRect l="-289759" t="-1695" r="-299398" b="-3372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1"/>
                          <a:stretch>
                            <a:fillRect l="-392121" t="-1695" r="-201212" b="-3372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1"/>
                          <a:stretch>
                            <a:fillRect l="-492121" t="-1695" r="-101212" b="-337288"/>
                          </a:stretch>
                        </a:blip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1"/>
                          <a:stretch>
                            <a:fillRect l="-592121" t="-1695" r="-1212" b="-337288"/>
                          </a:stretch>
                        </a:blip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Shrub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Pine litter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Hardwood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Fallback>
      </mc:AlternateContent>
      <p:sp>
        <p:nvSpPr>
          <p:cNvPr id="14" name="Shape 9"/>
          <p:cNvSpPr/>
          <p:nvPr/>
        </p:nvSpPr>
        <p:spPr>
          <a:xfrm>
            <a:off x="7680960" y="4983480"/>
            <a:ext cx="4069080" cy="1554480"/>
          </a:xfrm>
          <a:prstGeom prst="roundRect">
            <a:avLst>
              <a:gd name="adj" fmla="val 2941"/>
            </a:avLst>
          </a:prstGeom>
          <a:solidFill>
            <a:srgbClr val="FDE8EB"/>
          </a:solidFill>
          <a:ln/>
        </p:spPr>
      </p:sp>
      <mc:AlternateContent xmlns:mc="http://schemas.openxmlformats.org/markup-compatibility/2006" xmlns:a14="http://schemas.microsoft.com/office/drawing/2010/main">
        <mc:Choice Requires="a14">
          <p:sp>
            <p:nvSpPr>
              <p:cNvPr id="15" name="Text 10"/>
              <p:cNvSpPr/>
              <p:nvPr/>
            </p:nvSpPr>
            <p:spPr>
              <a:xfrm>
                <a:off x="7909560" y="5093208"/>
                <a:ext cx="3611880" cy="137160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Calibration. </a:t>
                </a:r>
                <a:r>
                  <a:rPr lang="en-US" sz="1200" dirty="0">
                    <a:solidFill>
                      <a:srgbClr val="222222"/>
                    </a:solidFill>
                    <a:latin typeface="Calibri" pitchFamily="34" charset="0"/>
                    <a:ea typeface="Calibri" pitchFamily="34" charset="-122"/>
                    <a:cs typeface="Calibri" pitchFamily="34" charset="-120"/>
                  </a:rPr>
                  <a:t>At 90 m cells and 30 min steps, one cell/step = 3 m/min, so the base rates carry a metric reading and reproduce benchmark head-fire rates: grass tens of m/min, shrub 5–10, litter 2–4, hardwood &lt; 1. Other discretizations rescale by (90 m/</a:t>
                </a:r>
                <a14:m>
                  <m:oMath xmlns:m="http://schemas.openxmlformats.org/officeDocument/2006/math">
                    <m:r>
                      <a:rPr lang="en-US" sz="1200">
                        <a:latin typeface="Cambria Math"/>
                      </a:rPr>
                      <m:t>𝛥</m:t>
                    </m:r>
                    <m:r>
                      <a:rPr lang="en-US" sz="1200">
                        <a:latin typeface="Cambria Math"/>
                      </a:rPr>
                      <m:t>𝑥</m:t>
                    </m:r>
                  </m:oMath>
                </a14:m>
                <a:r>
                  <a:rPr lang="en-US" sz="1200" dirty="0">
                    <a:solidFill>
                      <a:srgbClr val="222222"/>
                    </a:solidFill>
                    <a:latin typeface="Calibri" pitchFamily="34" charset="0"/>
                    <a:ea typeface="Calibri" pitchFamily="34" charset="-122"/>
                    <a:cs typeface="Calibri" pitchFamily="34" charset="-120"/>
                  </a:rPr>
                  <a:t>)·(</a:t>
                </a:r>
                <a14:m>
                  <m:oMath xmlns:m="http://schemas.openxmlformats.org/officeDocument/2006/math">
                    <m:r>
                      <a:rPr lang="en-US" sz="1200">
                        <a:latin typeface="Cambria Math"/>
                      </a:rPr>
                      <m:t>𝛥</m:t>
                    </m:r>
                    <m:r>
                      <a:rPr lang="en-US" sz="1200">
                        <a:latin typeface="Cambria Math"/>
                      </a:rPr>
                      <m:t>𝑡</m:t>
                    </m:r>
                  </m:oMath>
                </a14:m>
                <a:r>
                  <a:rPr lang="en-US" sz="1200" dirty="0">
                    <a:solidFill>
                      <a:srgbClr val="222222"/>
                    </a:solidFill>
                    <a:latin typeface="Calibri" pitchFamily="34" charset="0"/>
                    <a:ea typeface="Calibri" pitchFamily="34" charset="-122"/>
                    <a:cs typeface="Calibri" pitchFamily="34" charset="-120"/>
                  </a:rPr>
                  <a:t>/30 min).</a:t>
                </a:r>
                <a:endParaRPr lang="en-US" sz="1200" dirty="0"/>
              </a:p>
            </p:txBody>
          </p:sp>
        </mc:Choice>
        <mc:Fallback xmlns="">
          <p:sp>
            <p:nvSpPr>
              <p:cNvPr id="15" name="Text 10"/>
              <p:cNvSpPr>
                <a:spLocks noRot="1" noChangeAspect="1" noMove="1" noResize="1" noEditPoints="1" noAdjustHandles="1" noChangeArrowheads="1" noChangeShapeType="1" noTextEdit="1"/>
              </p:cNvSpPr>
              <p:nvPr/>
            </p:nvSpPr>
            <p:spPr>
              <a:xfrm>
                <a:off x="7909560" y="5093208"/>
                <a:ext cx="3611880" cy="1371600"/>
              </a:xfrm>
              <a:prstGeom prst="rect">
                <a:avLst/>
              </a:prstGeom>
              <a:blipFill>
                <a:blip r:embed="rId12"/>
                <a:stretch>
                  <a:fillRect l="-2703" t="-3556" r="-169"/>
                </a:stretch>
              </a:blipFill>
              <a:ln/>
            </p:spPr>
            <p:txBody>
              <a:bodyPr/>
              <a:lstStyle/>
              <a:p>
                <a:r>
                  <a:rPr lang="tr-TR">
                    <a:noFill/>
                  </a:rPr>
                  <a:t/>
                </a:r>
              </a:p>
            </p:txBody>
          </p:sp>
        </mc:Fallback>
      </mc:AlternateContent>
      <p:sp>
        <p:nvSpPr>
          <p:cNvPr id="90010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102 / 113</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B</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Fuel Mass Evolution : Combustion Consumption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11247120" cy="45720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The consumption ratio is not a stored state: </a:t>
            </a:r>
            <a:r>
              <a:rPr lang="en-US" sz="1250" dirty="0">
                <a:solidFill>
                  <a:srgbClr val="222222"/>
                </a:solidFill>
                <a:latin typeface="Calibri" pitchFamily="34" charset="0"/>
                <a:ea typeface="Calibri" pitchFamily="34" charset="-122"/>
                <a:cs typeface="Calibri" pitchFamily="34" charset="-120"/>
              </a:rPr>
              <a:t>it is computed algebraically each step as a bounded function of fuel type and surface moisture.</a:t>
            </a:r>
            <a:endParaRPr lang="en-US" sz="1250" dirty="0"/>
          </a:p>
        </p:txBody>
      </p:sp>
      <mc:AlternateContent xmlns:mc="http://schemas.openxmlformats.org/markup-compatibility/2006" xmlns:a14="http://schemas.microsoft.com/office/drawing/2010/main">
        <mc:Choice Requires="a14">
          <p:sp>
            <p:nvSpPr>
              <p:cNvPr id="7" name="Text 3"/>
              <p:cNvSpPr/>
              <p:nvPr/>
            </p:nvSpPr>
            <p:spPr>
              <a:xfrm>
                <a:off x="502920" y="1783080"/>
                <a:ext cx="6949440" cy="6858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𝑏𝑢𝑟𝑛</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m:rPr>
                              <m:sty m:val="p"/>
                            </m:rPr>
                            <a:rPr lang="en-US" sz="1400">
                              <a:latin typeface="Cambria Math"/>
                            </a:rPr>
                            <m:t>sat</m:t>
                          </m:r>
                        </m:e>
                        <m:sub>
                          <m:d>
                            <m:dPr>
                              <m:begChr m:val="["/>
                              <m:endChr m:val="]"/>
                              <m:sepChr m:val=","/>
                              <m:ctrlPr>
                                <a:rPr lang="en-US" i="1">
                                  <a:latin typeface="Cambria Math" panose="02040503050406030204" pitchFamily="18" charset="0"/>
                                </a:rPr>
                              </m:ctrlPr>
                            </m:dPr>
                            <m:e>
                              <m:r>
                                <a:rPr lang="en-US" sz="1400">
                                  <a:latin typeface="Cambria Math"/>
                                </a:rPr>
                                <m:t>0</m:t>
                              </m:r>
                            </m:e>
                            <m:e>
                              <m:r>
                                <a:rPr lang="en-US" sz="1400">
                                  <a:latin typeface="Cambria Math"/>
                                </a:rPr>
                                <m:t>1</m:t>
                              </m:r>
                            </m:e>
                          </m:d>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𝑏</m:t>
                              </m:r>
                            </m:e>
                            <m:sub>
                              <m:r>
                                <a:rPr lang="en-US" sz="1400">
                                  <a:latin typeface="Cambria Math"/>
                                </a:rPr>
                                <m:t>𝑏𝑎𝑠𝑒</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𝑡𝑦𝑝𝑒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m:t>
                          </m:r>
                          <m:d>
                            <m:dPr>
                              <m:ctrlPr>
                                <a:rPr lang="en-US" i="1">
                                  <a:latin typeface="Cambria Math" panose="02040503050406030204" pitchFamily="18" charset="0"/>
                                </a:rPr>
                              </m:ctrlPr>
                            </m:dPr>
                            <m:e>
                              <m:r>
                                <a:rPr lang="en-US" sz="1400">
                                  <a:latin typeface="Cambria Math"/>
                                </a:rPr>
                                <m:t>1−</m:t>
                              </m:r>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𝑚𝑜𝑖𝑠𝑡</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d>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502920" y="1783080"/>
                <a:ext cx="6949440" cy="68580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502920" y="2606040"/>
                <a:ext cx="6949440" cy="1554480"/>
              </a:xfrm>
              <a:prstGeom prst="rect">
                <a:avLst/>
              </a:prstGeom>
              <a:noFill/>
              <a:ln/>
            </p:spPr>
            <p:txBody>
              <a:bodyPr wrap="square" lIns="0" tIns="0" rIns="0" bIns="0" rtlCol="0" anchor="t"/>
              <a:lstStyle/>
              <a:p>
                <a:pPr marL="152400" indent="-152400">
                  <a:lnSpc>
                    <a:spcPct val="104000"/>
                  </a:lnSpc>
                  <a:spcAft>
                    <a:spcPts val="600"/>
                  </a:spcAft>
                  <a:buSzPct val="100000"/>
                  <a:buChar char="•"/>
                </a:pPr>
                <a14:m>
                  <m:oMath xmlns:m="http://schemas.openxmlformats.org/officeDocument/2006/math">
                    <m:sSub>
                      <m:sSubPr>
                        <m:ctrlPr>
                          <a:rPr lang="en-US" i="1">
                            <a:latin typeface="Cambria Math" panose="02040503050406030204" pitchFamily="18" charset="0"/>
                          </a:rPr>
                        </m:ctrlPr>
                      </m:sSubPr>
                      <m:e>
                        <m:r>
                          <a:rPr lang="en-US" sz="1250">
                            <a:latin typeface="Cambria Math"/>
                          </a:rPr>
                          <m:t>𝑏</m:t>
                        </m:r>
                      </m:e>
                      <m:sub>
                        <m:r>
                          <a:rPr lang="en-US" sz="1250">
                            <a:latin typeface="Cambria Math"/>
                          </a:rPr>
                          <m:t>𝑏𝑎𝑠𝑒</m:t>
                        </m:r>
                      </m:sub>
                    </m:sSub>
                  </m:oMath>
                </a14:m>
                <a:r>
                  <a:rPr lang="en-US" sz="1250" dirty="0">
                    <a:solidFill>
                      <a:srgbClr val="222222"/>
                    </a:solidFill>
                    <a:latin typeface="Calibri" pitchFamily="34" charset="0"/>
                    <a:ea typeface="Calibri" pitchFamily="34" charset="-122"/>
                    <a:cs typeface="Calibri" pitchFamily="34" charset="-120"/>
                  </a:rPr>
                  <a:t> is the baseline combustion coefficient of the fuel class — a fraction of fuel consumed per step, calibrated to the time resolution, not a universal constant.</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linear moisture factor sends the burn fraction to zero as moisture approaches one; the saturation operator keeps the ratio in [0, 1].</a:t>
                </a:r>
                <a:endParaRPr lang="en-US" sz="1250" dirty="0"/>
              </a:p>
            </p:txBody>
          </p:sp>
        </mc:Choice>
        <mc:Fallback xmlns="">
          <p:sp>
            <p:nvSpPr>
              <p:cNvPr id="8" name="Text 4"/>
              <p:cNvSpPr>
                <a:spLocks noRot="1" noChangeAspect="1" noMove="1" noResize="1" noEditPoints="1" noAdjustHandles="1" noChangeArrowheads="1" noChangeShapeType="1" noTextEdit="1"/>
              </p:cNvSpPr>
              <p:nvPr/>
            </p:nvSpPr>
            <p:spPr>
              <a:xfrm>
                <a:off x="502920" y="2606040"/>
                <a:ext cx="6949440" cy="1554480"/>
              </a:xfrm>
              <a:prstGeom prst="rect">
                <a:avLst/>
              </a:prstGeom>
              <a:blipFill>
                <a:blip r:embed="rId6"/>
                <a:stretch>
                  <a:fillRect l="-2018" t="-5490"/>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9" name="Table 0"/>
              <p:cNvGraphicFramePr>
                <a:graphicFrameLocks noGrp="1"/>
              </p:cNvGraphicFramePr>
              <p:nvPr/>
            </p:nvGraphicFramePr>
            <p:xfrm>
              <a:off x="502920" y="4206240"/>
              <a:ext cx="6949440" cy="1657922"/>
            </p:xfrm>
            <a:graphic>
              <a:graphicData uri="http://schemas.openxmlformats.org/drawingml/2006/table">
                <a:tbl>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Fuel type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sz="1200">
                                      <a:latin typeface="Cambria Math"/>
                                    </a:rPr>
                                    <m:t>𝑏</m:t>
                                  </m:r>
                                </m:e>
                                <m:sub>
                                  <m:r>
                                    <a:rPr lang="en-US" sz="1200">
                                      <a:latin typeface="Cambria Math"/>
                                    </a:rPr>
                                    <m:t>𝑏𝑎𝑠𝑒</m:t>
                                  </m:r>
                                </m:sub>
                              </m:sSub>
                            </m:oMath>
                          </a14:m>
                          <a:r>
                            <a:rPr lang="en-US" sz="1200" b="1" dirty="0">
                              <a:solidFill>
                                <a:srgbClr val="FFFFFF"/>
                              </a:solidFill>
                              <a:latin typeface="Calibri" pitchFamily="34" charset="0"/>
                              <a:ea typeface="Calibri" pitchFamily="34" charset="-122"/>
                              <a:cs typeface="Calibri" pitchFamily="34" charset="-120"/>
                            </a:rPr>
                            <a:t> (per step)</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burn duration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short, fast consumption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Shrub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moderate consumption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Pine litter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sustained surface burn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Hardwood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slow combustion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Choice>
        <mc:Fallback xmlns="">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4206240"/>
              <a:ext cx="6949440" cy="1657922"/>
            </p:xfrm>
            <a:graphic>
              <a:graphicData uri="http://schemas.openxmlformats.org/drawingml/2006/table">
                <a:tbl>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4118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Fuel type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7"/>
                          <a:stretch>
                            <a:fillRect l="-100000" t="-1786" r="-145619" b="-391071"/>
                          </a:stretch>
                        </a:blip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burn duration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short, fast consumption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Shrub</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moderate consumption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Pine litter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sustained surface burn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Hardwood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slow combustion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Fallback>
      </mc:AlternateContent>
      <p:sp>
        <p:nvSpPr>
          <p:cNvPr id="10" name="Shape 5"/>
          <p:cNvSpPr/>
          <p:nvPr/>
        </p:nvSpPr>
        <p:spPr>
          <a:xfrm>
            <a:off x="7680960" y="1783080"/>
            <a:ext cx="4069080" cy="4114800"/>
          </a:xfrm>
          <a:prstGeom prst="roundRect">
            <a:avLst>
              <a:gd name="adj" fmla="val 1124"/>
            </a:avLst>
          </a:prstGeom>
          <a:solidFill>
            <a:srgbClr val="F2F2F2"/>
          </a:solidFill>
          <a:ln/>
        </p:spPr>
      </p:sp>
      <p:sp>
        <p:nvSpPr>
          <p:cNvPr id="11" name="Text 6"/>
          <p:cNvSpPr/>
          <p:nvPr/>
        </p:nvSpPr>
        <p:spPr>
          <a:xfrm>
            <a:off x="7909560" y="1920240"/>
            <a:ext cx="3611880" cy="384048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Calibration. </a:t>
            </a:r>
            <a:r>
              <a:rPr lang="en-US" sz="1200" dirty="0">
                <a:solidFill>
                  <a:srgbClr val="222222"/>
                </a:solidFill>
                <a:latin typeface="Calibri" pitchFamily="34" charset="0"/>
                <a:ea typeface="Calibri" pitchFamily="34" charset="-122"/>
                <a:cs typeface="Calibri" pitchFamily="34" charset="-120"/>
              </a:rPr>
              <a:t>Coefficients are chosen so that, in dry conditions without suppression, fuel mass falls significantly over several steps without numerical instability.</a:t>
            </a:r>
            <a:r>
              <a:rPr lang="en-US" sz="1200" b="1" dirty="0">
                <a:solidFill>
                  <a:srgbClr val="000000"/>
                </a:solidFill>
                <a:latin typeface="Calibri" pitchFamily="34" charset="0"/>
                <a:ea typeface="Calibri" pitchFamily="34" charset="-122"/>
                <a:cs typeface="Calibri" pitchFamily="34" charset="-120"/>
              </a:rPr>
              <a:t>Structural differences — </a:t>
            </a:r>
            <a:r>
              <a:rPr lang="en-US" sz="1200" dirty="0">
                <a:solidFill>
                  <a:srgbClr val="222222"/>
                </a:solidFill>
                <a:latin typeface="Calibri" pitchFamily="34" charset="0"/>
                <a:ea typeface="Calibri" pitchFamily="34" charset="-122"/>
                <a:cs typeface="Calibri" pitchFamily="34" charset="-120"/>
              </a:rPr>
              <a:t>density, packing ratio, heat release — are abstracted into the fuel-dependent coefficient rather than modeled separately.</a:t>
            </a:r>
            <a:endParaRPr lang="en-US" sz="1200" dirty="0"/>
          </a:p>
        </p:txBody>
      </p:sp>
      <p:sp>
        <p:nvSpPr>
          <p:cNvPr id="90010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103 / 113</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B</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Suppression Mapping : Five Multiplicative Factors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sp>
            <p:nvSpPr>
              <p:cNvPr id="6" name="Text 2"/>
              <p:cNvSpPr/>
              <p:nvPr/>
            </p:nvSpPr>
            <p:spPr>
              <a:xfrm>
                <a:off x="502920" y="1298448"/>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𝑟𝑒𝑑</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𝑠</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𝑐𝑎𝑝</m:t>
                          </m:r>
                          <m:r>
                            <a:rPr lang="en-US" sz="1400">
                              <a:latin typeface="Cambria Math"/>
                            </a:rPr>
                            <m:t>,</m:t>
                          </m:r>
                          <m:r>
                            <a:rPr lang="en-US" sz="1400">
                              <a:latin typeface="Cambria Math"/>
                            </a:rPr>
                            <m:t>𝑘</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𝑎𝑣𝑎𝑖𝑙</m:t>
                          </m:r>
                          <m:r>
                            <a:rPr lang="en-US" sz="1400">
                              <a:latin typeface="Cambria Math"/>
                            </a:rPr>
                            <m:t>,</m:t>
                          </m:r>
                          <m:r>
                            <a:rPr lang="en-US" sz="1400">
                              <a:latin typeface="Cambria Math"/>
                            </a:rPr>
                            <m:t>𝑘</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𝑟𝑒𝑎𝑐h</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𝑒𝑓𝑓</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oMath>
                  </m:oMathPara>
                </a14:m>
                <a:endParaRPr lang="en-US" sz="1300" dirty="0"/>
              </a:p>
            </p:txBody>
          </p:sp>
        </mc:Choice>
        <mc:Fallback xmlns="">
          <p:sp>
            <p:nvSpPr>
              <p:cNvPr id="6" name="Text 2"/>
              <p:cNvSpPr>
                <a:spLocks noRot="1" noChangeAspect="1" noMove="1" noResize="1" noEditPoints="1" noAdjustHandles="1" noChangeArrowheads="1" noChangeShapeType="1" noTextEdit="1"/>
              </p:cNvSpPr>
              <p:nvPr/>
            </p:nvSpPr>
            <p:spPr>
              <a:xfrm>
                <a:off x="502920" y="1298448"/>
                <a:ext cx="6949440" cy="54864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7" name="Text 3"/>
              <p:cNvSpPr/>
              <p:nvPr/>
            </p:nvSpPr>
            <p:spPr>
              <a:xfrm>
                <a:off x="502920" y="1883664"/>
                <a:ext cx="33832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𝑐𝑎𝑝</m:t>
                          </m:r>
                          <m:r>
                            <a:rPr lang="en-US" sz="1400">
                              <a:latin typeface="Cambria Math"/>
                            </a:rPr>
                            <m:t>,</m:t>
                          </m:r>
                          <m:r>
                            <a:rPr lang="en-US" sz="1400">
                              <a:latin typeface="Cambria Math"/>
                            </a:rPr>
                            <m:t>𝑘</m:t>
                          </m:r>
                        </m:sub>
                      </m:sSub>
                      <m: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𝑐𝑎𝑝</m:t>
                              </m:r>
                              <m:r>
                                <a:rPr lang="en-US" sz="1400">
                                  <a:latin typeface="Cambria Math"/>
                                </a:rPr>
                                <m:t>,</m:t>
                              </m:r>
                              <m:r>
                                <a:rPr lang="en-US" sz="1400">
                                  <a:latin typeface="Cambria Math"/>
                                </a:rPr>
                                <m:t>𝑘</m:t>
                              </m:r>
                            </m:sub>
                          </m:sSub>
                        </m:num>
                        <m:den>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𝑐𝑎𝑝</m:t>
                              </m:r>
                              <m:r>
                                <a:rPr lang="en-US" sz="1400">
                                  <a:latin typeface="Cambria Math"/>
                                </a:rPr>
                                <m:t>,</m:t>
                              </m:r>
                              <m:r>
                                <a:rPr lang="en-US" sz="1400">
                                  <a:latin typeface="Cambria Math"/>
                                </a:rPr>
                                <m:t>𝑚𝑎𝑥</m:t>
                              </m:r>
                            </m:sub>
                          </m:sSub>
                        </m:den>
                      </m:f>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502920" y="1883664"/>
                <a:ext cx="3383280" cy="54864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4069080" y="1883664"/>
                <a:ext cx="338328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𝑎𝑣𝑎𝑖𝑙</m:t>
                          </m:r>
                          <m:r>
                            <a:rPr lang="en-US" sz="1400">
                              <a:latin typeface="Cambria Math"/>
                            </a:rPr>
                            <m:t>,</m:t>
                          </m:r>
                          <m:r>
                            <a:rPr lang="en-US" sz="1400">
                              <a:latin typeface="Cambria Math"/>
                            </a:rPr>
                            <m:t>𝑘</m:t>
                          </m:r>
                        </m:sub>
                      </m:sSub>
                      <m:r>
                        <a:rPr lang="en-US" sz="1400">
                          <a:latin typeface="Cambria Math"/>
                        </a:rPr>
                        <m:t>=</m:t>
                      </m:r>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𝑎𝑣𝑎𝑖𝑙</m:t>
                          </m:r>
                          <m:r>
                            <a:rPr lang="en-US" sz="1400">
                              <a:latin typeface="Cambria Math"/>
                            </a:rPr>
                            <m:t>,</m:t>
                          </m:r>
                          <m:r>
                            <a:rPr lang="en-US" sz="1400">
                              <a:latin typeface="Cambria Math"/>
                            </a:rPr>
                            <m:t>𝑘</m:t>
                          </m:r>
                        </m:sub>
                      </m:sSub>
                    </m:oMath>
                  </m:oMathPara>
                </a14:m>
                <a:endParaRPr lang="en-US" sz="1300" dirty="0"/>
              </a:p>
            </p:txBody>
          </p:sp>
        </mc:Choice>
        <mc:Fallback xmlns="">
          <p:sp>
            <p:nvSpPr>
              <p:cNvPr id="8" name="Text 4"/>
              <p:cNvSpPr>
                <a:spLocks noRot="1" noChangeAspect="1" noMove="1" noResize="1" noEditPoints="1" noAdjustHandles="1" noChangeArrowheads="1" noChangeShapeType="1" noTextEdit="1"/>
              </p:cNvSpPr>
              <p:nvPr/>
            </p:nvSpPr>
            <p:spPr>
              <a:xfrm>
                <a:off x="4069080" y="1883664"/>
                <a:ext cx="3383280" cy="548640"/>
              </a:xfrm>
              <a:prstGeom prst="rect">
                <a:avLst/>
              </a:prstGeom>
              <a:blipFill>
                <a:blip r:embed="rId7"/>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5"/>
              <p:cNvSpPr/>
              <p:nvPr/>
            </p:nvSpPr>
            <p:spPr>
              <a:xfrm>
                <a:off x="502920" y="2468880"/>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𝑟𝑒𝑎𝑐h</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r>
                        <m:rPr>
                          <m:sty m:val="p"/>
                        </m:rPr>
                        <a:rPr lang="en-US" sz="1400">
                          <a:latin typeface="Cambria Math"/>
                        </a:rPr>
                        <m:t>exp</m:t>
                      </m:r>
                      <m:d>
                        <m:dPr>
                          <m:ctrlPr>
                            <a:rPr lang="en-US" i="1">
                              <a:latin typeface="Cambria Math" panose="02040503050406030204" pitchFamily="18" charset="0"/>
                            </a:rPr>
                          </m:ctrlPr>
                        </m:dPr>
                        <m:e>
                          <m:r>
                            <a:rPr lang="en-US" sz="1400">
                              <a:latin typeface="Cambria Math"/>
                            </a:rPr>
                            <m:t>−</m:t>
                          </m:r>
                          <m:sSub>
                            <m:sSubPr>
                              <m:ctrlPr>
                                <a:rPr lang="en-US" i="1">
                                  <a:latin typeface="Cambria Math" panose="02040503050406030204" pitchFamily="18" charset="0"/>
                                </a:rPr>
                              </m:ctrlPr>
                            </m:sSubPr>
                            <m:e>
                              <m:r>
                                <a:rPr lang="en-US" sz="1400">
                                  <a:latin typeface="Cambria Math"/>
                                </a:rPr>
                                <m:t>𝛽</m:t>
                              </m:r>
                            </m:e>
                            <m:sub>
                              <m:r>
                                <a:rPr lang="en-US" sz="1400">
                                  <a:latin typeface="Cambria Math"/>
                                </a:rPr>
                                <m:t>𝑡</m:t>
                              </m:r>
                            </m:sub>
                          </m:sSub>
                          <m:r>
                            <m:rPr>
                              <m:nor/>
                            </m:rPr>
                            <a:rPr lang="en-US" sz="1400">
                              <a:latin typeface="Cambria Math"/>
                            </a:rPr>
                            <m:t> </m:t>
                          </m:r>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𝑡𝑖𝑚𝑒</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r>
                        <a:rPr lang="en-US" sz="1400">
                          <a:latin typeface="Cambria Math"/>
                        </a:rPr>
                        <m:t>⋅</m:t>
                      </m:r>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𝑎𝑐𝑐𝑒𝑠𝑠</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oMath>
                  </m:oMathPara>
                </a14:m>
                <a:endParaRPr lang="en-US" sz="1300" dirty="0"/>
              </a:p>
            </p:txBody>
          </p:sp>
        </mc:Choice>
        <mc:Fallback xmlns="">
          <p:sp>
            <p:nvSpPr>
              <p:cNvPr id="9" name="Text 5"/>
              <p:cNvSpPr>
                <a:spLocks noRot="1" noChangeAspect="1" noMove="1" noResize="1" noEditPoints="1" noAdjustHandles="1" noChangeArrowheads="1" noChangeShapeType="1" noTextEdit="1"/>
              </p:cNvSpPr>
              <p:nvPr/>
            </p:nvSpPr>
            <p:spPr>
              <a:xfrm>
                <a:off x="502920" y="2468880"/>
                <a:ext cx="6949440" cy="548640"/>
              </a:xfrm>
              <a:prstGeom prst="rect">
                <a:avLst/>
              </a:prstGeom>
              <a:blipFill>
                <a:blip r:embed="rId8"/>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6"/>
              <p:cNvSpPr/>
              <p:nvPr/>
            </p:nvSpPr>
            <p:spPr>
              <a:xfrm>
                <a:off x="502920" y="3054096"/>
                <a:ext cx="6949440" cy="54864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𝜂</m:t>
                          </m:r>
                        </m:e>
                        <m:sub>
                          <m:r>
                            <a:rPr lang="en-US" sz="1400">
                              <a:latin typeface="Cambria Math"/>
                            </a:rPr>
                            <m:t>𝑒𝑓𝑓</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𝑒𝑓𝑓</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r>
                            <a:rPr lang="en-US" sz="1400">
                              <a:latin typeface="Cambria Math"/>
                            </a:rPr>
                            <m:t>1+</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𝐼</m:t>
                              </m:r>
                            </m:sub>
                          </m:sSub>
                          <m:r>
                            <m:rPr>
                              <m:nor/>
                            </m:rPr>
                            <a:rPr lang="en-US" sz="1400">
                              <a:latin typeface="Cambria Math"/>
                            </a:rPr>
                            <m:t> </m:t>
                          </m:r>
                          <m:sSub>
                            <m:sSubPr>
                              <m:ctrlPr>
                                <a:rPr lang="en-US" i="1">
                                  <a:latin typeface="Cambria Math" panose="02040503050406030204" pitchFamily="18" charset="0"/>
                                </a:rPr>
                              </m:ctrlPr>
                            </m:sSubPr>
                            <m:e>
                              <m:r>
                                <a:rPr lang="en-US" sz="1400">
                                  <a:latin typeface="Cambria Math"/>
                                </a:rPr>
                                <m:t>𝐼</m:t>
                              </m:r>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den>
                      </m:f>
                    </m:oMath>
                  </m:oMathPara>
                </a14:m>
                <a:endParaRPr lang="en-US" sz="1300" dirty="0"/>
              </a:p>
            </p:txBody>
          </p:sp>
        </mc:Choice>
        <mc:Fallback xmlns="">
          <p:sp>
            <p:nvSpPr>
              <p:cNvPr id="10" name="Text 6"/>
              <p:cNvSpPr>
                <a:spLocks noRot="1" noChangeAspect="1" noMove="1" noResize="1" noEditPoints="1" noAdjustHandles="1" noChangeArrowheads="1" noChangeShapeType="1" noTextEdit="1"/>
              </p:cNvSpPr>
              <p:nvPr/>
            </p:nvSpPr>
            <p:spPr>
              <a:xfrm>
                <a:off x="502920" y="3054096"/>
                <a:ext cx="6949440" cy="548640"/>
              </a:xfrm>
              <a:prstGeom prst="rect">
                <a:avLst/>
              </a:prstGeom>
              <a:blipFill>
                <a:blip r:embed="rId9"/>
                <a:stretch>
                  <a:fillRect b="-3333"/>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1" name="Text 7"/>
              <p:cNvSpPr/>
              <p:nvPr/>
            </p:nvSpPr>
            <p:spPr>
              <a:xfrm>
                <a:off x="502920" y="3639312"/>
                <a:ext cx="694944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sz="1400">
                              <a:latin typeface="Cambria Math"/>
                            </a:rPr>
                            <m:t>𝐹</m:t>
                          </m:r>
                        </m:e>
                        <m:sub>
                          <m:r>
                            <a:rPr lang="en-US" sz="1400">
                              <a:latin typeface="Cambria Math"/>
                            </a:rPr>
                            <m:t>𝑟𝑒𝑑</m:t>
                          </m:r>
                          <m:r>
                            <a:rPr lang="en-US" sz="1400">
                              <a:latin typeface="Cambria Math"/>
                            </a:rPr>
                            <m:t>,</m:t>
                          </m:r>
                          <m:r>
                            <a:rPr lang="en-US" sz="1400">
                              <a:latin typeface="Cambria Math"/>
                            </a:rPr>
                            <m:t>𝑘</m:t>
                          </m:r>
                        </m:sub>
                        <m:sup>
                          <m:r>
                            <a:rPr lang="en-US" sz="1400">
                              <a:latin typeface="Cambria Math"/>
                            </a:rPr>
                            <m:t>𝑟𝑎𝑤</m:t>
                          </m:r>
                        </m:sup>
                      </m:sSubSup>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𝛼</m:t>
                          </m:r>
                        </m:e>
                        <m:sub>
                          <m:r>
                            <a:rPr lang="en-US" sz="1400">
                              <a:latin typeface="Cambria Math"/>
                            </a:rPr>
                            <m:t>𝑠</m:t>
                          </m:r>
                        </m:sub>
                      </m:sSub>
                      <m:r>
                        <a:rPr lang="en-US" sz="1400">
                          <a:latin typeface="Cambria Math"/>
                        </a:rPr>
                        <m:t>⋅</m:t>
                      </m:r>
                      <m:d>
                        <m:dPr>
                          <m:ctrlPr>
                            <a:rPr lang="en-US" i="1">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𝑐𝑎𝑝</m:t>
                                  </m:r>
                                  <m:r>
                                    <a:rPr lang="en-US" sz="1400">
                                      <a:latin typeface="Cambria Math"/>
                                    </a:rPr>
                                    <m:t>,</m:t>
                                  </m:r>
                                  <m:r>
                                    <a:rPr lang="en-US" sz="1400">
                                      <a:latin typeface="Cambria Math"/>
                                    </a:rPr>
                                    <m:t>𝑘</m:t>
                                  </m:r>
                                </m:sub>
                              </m:sSub>
                            </m:num>
                            <m:den>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𝑐𝑎𝑝</m:t>
                                  </m:r>
                                  <m:r>
                                    <a:rPr lang="en-US" sz="1400">
                                      <a:latin typeface="Cambria Math"/>
                                    </a:rPr>
                                    <m:t>,</m:t>
                                  </m:r>
                                  <m:r>
                                    <a:rPr lang="en-US" sz="1400">
                                      <a:latin typeface="Cambria Math"/>
                                    </a:rPr>
                                    <m:t>𝑚𝑎𝑥</m:t>
                                  </m:r>
                                </m:sub>
                              </m:sSub>
                            </m:den>
                          </m:f>
                        </m:e>
                      </m:d>
                      <m:r>
                        <a:rPr lang="en-US" sz="1400">
                          <a:latin typeface="Cambria Math"/>
                        </a:rPr>
                        <m:t>⋅</m:t>
                      </m:r>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𝑎𝑣𝑎𝑖𝑙</m:t>
                          </m:r>
                          <m:r>
                            <a:rPr lang="en-US" sz="1400">
                              <a:latin typeface="Cambria Math"/>
                            </a:rPr>
                            <m:t>,</m:t>
                          </m:r>
                          <m:r>
                            <a:rPr lang="en-US" sz="1400">
                              <a:latin typeface="Cambria Math"/>
                            </a:rPr>
                            <m:t>𝑘</m:t>
                          </m:r>
                        </m:sub>
                      </m:sSub>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exp</m:t>
                          </m:r>
                        </m:fName>
                        <m:e>
                          <m:d>
                            <m:dPr>
                              <m:ctrlPr>
                                <a:rPr lang="en-US" i="1">
                                  <a:latin typeface="Cambria Math" panose="02040503050406030204" pitchFamily="18" charset="0"/>
                                </a:rPr>
                              </m:ctrlPr>
                            </m:dPr>
                            <m:e>
                              <m:r>
                                <a:rPr lang="en-US" sz="1400">
                                  <a:latin typeface="Cambria Math"/>
                                </a:rPr>
                                <m:t>−</m:t>
                              </m:r>
                              <m:sSub>
                                <m:sSubPr>
                                  <m:ctrlPr>
                                    <a:rPr lang="en-US" i="1">
                                      <a:latin typeface="Cambria Math" panose="02040503050406030204" pitchFamily="18" charset="0"/>
                                    </a:rPr>
                                  </m:ctrlPr>
                                </m:sSubPr>
                                <m:e>
                                  <m:r>
                                    <a:rPr lang="en-US" sz="1400">
                                      <a:latin typeface="Cambria Math"/>
                                    </a:rPr>
                                    <m:t>𝛽</m:t>
                                  </m:r>
                                </m:e>
                                <m:sub>
                                  <m:r>
                                    <a:rPr lang="en-US" sz="1400">
                                      <a:latin typeface="Cambria Math"/>
                                    </a:rPr>
                                    <m:t>𝑡</m:t>
                                  </m:r>
                                </m:sub>
                              </m:sSub>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𝑡𝑖𝑚𝑒</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func>
                      <m:r>
                        <a:rPr lang="en-US" sz="1400">
                          <a:latin typeface="Cambria Math"/>
                        </a:rPr>
                        <m:t>⋅</m:t>
                      </m:r>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𝑎𝑐𝑐𝑒𝑠𝑠</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𝑅</m:t>
                              </m:r>
                            </m:e>
                            <m:sub>
                              <m:r>
                                <a:rPr lang="en-US" sz="1400">
                                  <a:latin typeface="Cambria Math"/>
                                </a:rPr>
                                <m:t>𝑒𝑓𝑓</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r>
                            <a:rPr lang="en-US" sz="1400">
                              <a:latin typeface="Cambria Math"/>
                            </a:rPr>
                            <m:t>1+</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𝐼</m:t>
                              </m:r>
                            </m:sub>
                          </m:sSub>
                          <m:sSub>
                            <m:sSubPr>
                              <m:ctrlPr>
                                <a:rPr lang="en-US" i="1">
                                  <a:latin typeface="Cambria Math" panose="02040503050406030204" pitchFamily="18" charset="0"/>
                                </a:rPr>
                              </m:ctrlPr>
                            </m:sSubPr>
                            <m:e>
                              <m:r>
                                <a:rPr lang="en-US" sz="1400">
                                  <a:latin typeface="Cambria Math"/>
                                </a:rPr>
                                <m:t>𝐼</m:t>
                              </m:r>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den>
                      </m:f>
                    </m:oMath>
                  </m:oMathPara>
                </a14:m>
                <a:endParaRPr lang="en-US" sz="1300" dirty="0"/>
              </a:p>
            </p:txBody>
          </p:sp>
        </mc:Choice>
        <mc:Fallback xmlns="">
          <p:sp>
            <p:nvSpPr>
              <p:cNvPr id="11" name="Text 7"/>
              <p:cNvSpPr>
                <a:spLocks noRot="1" noChangeAspect="1" noMove="1" noResize="1" noEditPoints="1" noAdjustHandles="1" noChangeArrowheads="1" noChangeShapeType="1" noTextEdit="1"/>
              </p:cNvSpPr>
              <p:nvPr/>
            </p:nvSpPr>
            <p:spPr>
              <a:xfrm>
                <a:off x="502920" y="3639312"/>
                <a:ext cx="6949440" cy="640080"/>
              </a:xfrm>
              <a:prstGeom prst="rect">
                <a:avLst/>
              </a:prstGeom>
              <a:blipFill>
                <a:blip r:embed="rId10"/>
                <a:stretch>
                  <a:fillRect t="-12381" b="-20952"/>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2" name="Text 8"/>
              <p:cNvSpPr/>
              <p:nvPr/>
            </p:nvSpPr>
            <p:spPr>
              <a:xfrm>
                <a:off x="7680960" y="1298448"/>
                <a:ext cx="4069080" cy="3291840"/>
              </a:xfrm>
              <a:prstGeom prst="rect">
                <a:avLst/>
              </a:prstGeom>
              <a:noFill/>
              <a:ln/>
            </p:spPr>
            <p:txBody>
              <a:bodyPr wrap="square" lIns="0" tIns="0" rIns="0" bIns="0" rtlCol="0" anchor="t"/>
              <a:lstStyle/>
              <a:p>
                <a:pPr marL="152400" indent="-152400">
                  <a:lnSpc>
                    <a:spcPct val="104000"/>
                  </a:lnSpc>
                  <a:spcAft>
                    <a:spcPts val="600"/>
                  </a:spcAft>
                  <a:buSzPct val="100000"/>
                  <a:buChar char="•"/>
                </a:pPr>
                <a14:m>
                  <m:oMath xmlns:m="http://schemas.openxmlformats.org/officeDocument/2006/math">
                    <m:sSub>
                      <m:sSubPr>
                        <m:ctrlPr>
                          <a:rPr lang="en-US" i="1">
                            <a:latin typeface="Cambria Math" panose="02040503050406030204" pitchFamily="18" charset="0"/>
                          </a:rPr>
                        </m:ctrlPr>
                      </m:sSubPr>
                      <m:e>
                        <m:r>
                          <a:rPr lang="en-US" sz="1200">
                            <a:latin typeface="Cambria Math"/>
                          </a:rPr>
                          <m:t>𝛼</m:t>
                        </m:r>
                      </m:e>
                      <m:sub>
                        <m:r>
                          <a:rPr lang="en-US" sz="1200">
                            <a:latin typeface="Cambria Math"/>
                          </a:rPr>
                          <m:t>𝑠</m:t>
                        </m:r>
                      </m:sub>
                    </m:sSub>
                  </m:oMath>
                </a14:m>
                <a:r>
                  <a:rPr lang="en-US" sz="1200" dirty="0">
                    <a:solidFill>
                      <a:srgbClr val="222222"/>
                    </a:solidFill>
                    <a:latin typeface="Calibri" pitchFamily="34" charset="0"/>
                    <a:ea typeface="Calibri" pitchFamily="34" charset="-122"/>
                    <a:cs typeface="Calibri" pitchFamily="34" charset="-120"/>
                  </a:rPr>
                  <a:t> — global gain: how strong one step of suppression can be; dimensionless fraction per step.</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Capacity and availability — magnitude vs a strict necessary condition: undeployable resources contribute zero.</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Reachability — exponential decay with travel time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𝑡</m:t>
                        </m:r>
                      </m:sub>
                    </m:sSub>
                  </m:oMath>
                </a14:m>
                <a:r>
                  <a:rPr lang="en-US" sz="1200" dirty="0">
                    <a:solidFill>
                      <a:srgbClr val="222222"/>
                    </a:solidFill>
                    <a:latin typeface="Calibri" pitchFamily="34" charset="0"/>
                    <a:ea typeface="Calibri" pitchFamily="34" charset="-122"/>
                    <a:cs typeface="Calibri" pitchFamily="34" charset="-120"/>
                  </a:rPr>
                  <a:t>, reference 0.03 per minute) times static terrain access.</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Effectiveness — high intensity resists suppression (</a:t>
                </a:r>
                <a14:m>
                  <m:oMath xmlns:m="http://schemas.openxmlformats.org/officeDocument/2006/math">
                    <m:sSub>
                      <m:sSubPr>
                        <m:ctrlPr>
                          <a:rPr lang="en-US" i="1">
                            <a:latin typeface="Cambria Math" panose="02040503050406030204" pitchFamily="18" charset="0"/>
                          </a:rPr>
                        </m:ctrlPr>
                      </m:sSubPr>
                      <m:e>
                        <m:r>
                          <a:rPr lang="en-US" sz="1200">
                            <a:latin typeface="Cambria Math"/>
                          </a:rPr>
                          <m:t>𝛾</m:t>
                        </m:r>
                      </m:e>
                      <m:sub>
                        <m:r>
                          <a:rPr lang="en-US" sz="1200">
                            <a:latin typeface="Cambria Math"/>
                          </a:rPr>
                          <m:t>𝐼</m:t>
                        </m:r>
                      </m:sub>
                    </m:sSub>
                  </m:oMath>
                </a14:m>
                <a:r>
                  <a:rPr lang="en-US" sz="1200" dirty="0">
                    <a:solidFill>
                      <a:srgbClr val="222222"/>
                    </a:solidFill>
                    <a:latin typeface="Calibri" pitchFamily="34" charset="0"/>
                    <a:ea typeface="Calibri" pitchFamily="34" charset="-122"/>
                    <a:cs typeface="Calibri" pitchFamily="34" charset="-120"/>
                  </a:rPr>
                  <a:t>): the denominator grows with the current-state intensity.</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Saturation: reduction never exceeds the remaining fuel load — no negative fuel states.</a:t>
                </a:r>
                <a:endParaRPr lang="en-US" sz="1200" dirty="0"/>
              </a:p>
            </p:txBody>
          </p:sp>
        </mc:Choice>
        <mc:Fallback xmlns="">
          <p:sp>
            <p:nvSpPr>
              <p:cNvPr id="12" name="Text 8"/>
              <p:cNvSpPr>
                <a:spLocks noRot="1" noChangeAspect="1" noMove="1" noResize="1" noEditPoints="1" noAdjustHandles="1" noChangeArrowheads="1" noChangeShapeType="1" noTextEdit="1"/>
              </p:cNvSpPr>
              <p:nvPr/>
            </p:nvSpPr>
            <p:spPr>
              <a:xfrm>
                <a:off x="7680960" y="1298448"/>
                <a:ext cx="4069080" cy="3291840"/>
              </a:xfrm>
              <a:prstGeom prst="rect">
                <a:avLst/>
              </a:prstGeom>
              <a:blipFill>
                <a:blip r:embed="rId11"/>
                <a:stretch>
                  <a:fillRect l="-3293" t="-2407" r="-1048"/>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graphicFrame>
            <p:nvGraphicFramePr>
              <p:cNvPr id="13" name="Table 0"/>
              <p:cNvGraphicFramePr>
                <a:graphicFrameLocks noGrp="1"/>
              </p:cNvGraphicFramePr>
              <p:nvPr/>
            </p:nvGraphicFramePr>
            <p:xfrm>
              <a:off x="502920" y="4572000"/>
              <a:ext cx="11247120" cy="1463040"/>
            </p:xfrm>
            <a:graphic>
              <a:graphicData uri="http://schemas.openxmlformats.org/drawingml/2006/table">
                <a:tbl>
                  <a:tblPr/>
                  <a:tblGrid>
                    <a:gridCol w="29260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range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Effect when increased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Global gain </a:t>
                          </a:r>
                          <a14:m>
                            <m:oMath xmlns:m="http://schemas.openxmlformats.org/officeDocument/2006/math">
                              <m:sSub>
                                <m:sSubPr>
                                  <m:ctrlPr>
                                    <a:rPr lang="en-US" i="1">
                                      <a:latin typeface="Cambria Math" panose="02040503050406030204" pitchFamily="18" charset="0"/>
                                    </a:rPr>
                                  </m:ctrlPr>
                                </m:sSubPr>
                                <m:e>
                                  <m:r>
                                    <a:rPr lang="en-US" sz="1200">
                                      <a:latin typeface="Cambria Math"/>
                                    </a:rPr>
                                    <m:t>𝛼</m:t>
                                  </m:r>
                                </m:e>
                                <m:sub>
                                  <m:r>
                                    <a:rPr lang="en-US" sz="1200">
                                      <a:latin typeface="Cambria Math"/>
                                    </a:rPr>
                                    <m:t>𝑠</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 – 0.30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stronger mitigation per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Travel-time decay </a:t>
                          </a:r>
                          <a14:m>
                            <m:oMath xmlns:m="http://schemas.openxmlformats.org/officeDocument/2006/math">
                              <m:sSub>
                                <m:sSubPr>
                                  <m:ctrlPr>
                                    <a:rPr lang="en-US" i="1">
                                      <a:latin typeface="Cambria Math" panose="02040503050406030204" pitchFamily="18" charset="0"/>
                                    </a:rPr>
                                  </m:ctrlPr>
                                </m:sSubPr>
                                <m:e>
                                  <m:r>
                                    <a:rPr lang="en-US" sz="1200">
                                      <a:latin typeface="Cambria Math"/>
                                    </a:rPr>
                                    <m:t>𝛽</m:t>
                                  </m:r>
                                </m:e>
                                <m:sub>
                                  <m:r>
                                    <a:rPr lang="en-US" sz="1200">
                                      <a:latin typeface="Cambria Math"/>
                                    </a:rPr>
                                    <m:t>𝑡</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 – 0.10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faster decay of effectiveness with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Intensity resistance </a:t>
                          </a:r>
                          <a14:m>
                            <m:oMath xmlns:m="http://schemas.openxmlformats.org/officeDocument/2006/math">
                              <m:sSub>
                                <m:sSubPr>
                                  <m:ctrlPr>
                                    <a:rPr lang="en-US" i="1">
                                      <a:latin typeface="Cambria Math" panose="02040503050406030204" pitchFamily="18" charset="0"/>
                                    </a:rPr>
                                  </m:ctrlPr>
                                </m:sSubPr>
                                <m:e>
                                  <m:r>
                                    <a:rPr lang="en-US" sz="1200">
                                      <a:latin typeface="Cambria Math"/>
                                    </a:rPr>
                                    <m:t>𝛾</m:t>
                                  </m:r>
                                </m:e>
                                <m:sub>
                                  <m:r>
                                    <a:rPr lang="en-US" sz="1200">
                                      <a:latin typeface="Cambria Math"/>
                                    </a:rPr>
                                    <m:t>𝐼</m:t>
                                  </m:r>
                                </m:sub>
                              </m:sSub>
                            </m:oMath>
                          </a14:m>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 – 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intense fires progressively harder to suppress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Choice>
        <mc:Fallback xmlns="">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4572000"/>
              <a:ext cx="11247120" cy="1463040"/>
            </p:xfrm>
            <a:graphic>
              <a:graphicData uri="http://schemas.openxmlformats.org/drawingml/2006/table">
                <a:tbl>
                  <a:tblPr/>
                  <a:tblGrid>
                    <a:gridCol w="29260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range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Effect when increased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65760">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2"/>
                          <a:stretch>
                            <a:fillRect l="-208" t="-101667" r="-285000" b="-211667"/>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 – 0.30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stronger mitigation per step</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2"/>
                          <a:stretch>
                            <a:fillRect l="-208" t="-201667" r="-285000" b="-111667"/>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0.01 – 0.10 /min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faster decay of effectiveness with delay</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endParaRPr lang="tr-T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12"/>
                          <a:stretch>
                            <a:fillRect l="-208" t="-301667" r="-285000" b="-11667"/>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 – 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intense fires progressively harder to suppress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Fallback>
      </mc:AlternateContent>
      <p:sp>
        <p:nvSpPr>
          <p:cNvPr id="14" name="Text 9"/>
          <p:cNvSpPr/>
          <p:nvPr/>
        </p:nvSpPr>
        <p:spPr>
          <a:xfrm>
            <a:off x="502920" y="5989320"/>
            <a:ext cx="11247120" cy="5486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Each factor enters multiplicatively: vanishing capacity, availability, or reachability annuls the mitigation; intensity attenuates it; the product stays bounded for discrete-time simulation. Calibration: historical response data, doctrine constraints, or structured sensitivity analysis.</a:t>
            </a:r>
            <a:endParaRPr lang="en-US" sz="1200" dirty="0"/>
          </a:p>
        </p:txBody>
      </p:sp>
      <p:sp>
        <p:nvSpPr>
          <p:cNvPr id="900104"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104 / 113</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C</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Fire Intensity Proxy : Normalized, Bounded, Interpretable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61872"/>
            <a:ext cx="11247120" cy="45720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A bounded indicator of local combustion strength — not flame temperature. </a:t>
            </a:r>
            <a:r>
              <a:rPr lang="en-US" sz="1250" dirty="0">
                <a:solidFill>
                  <a:srgbClr val="222222"/>
                </a:solidFill>
                <a:latin typeface="Calibri" pitchFamily="34" charset="0"/>
                <a:ea typeface="Calibri" pitchFamily="34" charset="-122"/>
                <a:cs typeface="Calibri" pitchFamily="34" charset="-120"/>
              </a:rPr>
              <a:t>Used for suppression resistance, risk prioritization, decision-layer features, and visualization.</a:t>
            </a:r>
            <a:endParaRPr lang="en-US" sz="1250" dirty="0"/>
          </a:p>
        </p:txBody>
      </p:sp>
      <mc:AlternateContent xmlns:mc="http://schemas.openxmlformats.org/markup-compatibility/2006" xmlns:a14="http://schemas.microsoft.com/office/drawing/2010/main">
        <mc:Choice Requires="a14">
          <p:sp>
            <p:nvSpPr>
              <p:cNvPr id="7" name="Text 3"/>
              <p:cNvSpPr/>
              <p:nvPr/>
            </p:nvSpPr>
            <p:spPr>
              <a:xfrm>
                <a:off x="502920" y="1783080"/>
                <a:ext cx="356616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𝐹</m:t>
                              </m:r>
                            </m:e>
                          </m:acc>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m:rPr>
                          <m:aln/>
                        </m:rP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𝑙𝑜𝑎𝑑</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sSub>
                            <m:sSubPr>
                              <m:ctrlPr>
                                <a:rPr lang="en-US" i="1">
                                  <a:latin typeface="Cambria Math" panose="02040503050406030204" pitchFamily="18" charset="0"/>
                                </a:rPr>
                              </m:ctrlPr>
                            </m:sSubPr>
                            <m:e>
                              <m:r>
                                <a:rPr lang="en-US" sz="1400">
                                  <a:latin typeface="Cambria Math"/>
                                </a:rPr>
                                <m:t>𝐹</m:t>
                              </m:r>
                            </m:e>
                            <m:sub>
                              <m:r>
                                <a:rPr lang="en-US" sz="1400">
                                  <a:latin typeface="Cambria Math"/>
                                </a:rPr>
                                <m:t>𝑙𝑜𝑎𝑑</m:t>
                              </m:r>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max</m:t>
                                  </m:r>
                                </m:fName>
                                <m:e/>
                              </m:func>
                            </m:sub>
                          </m:sSub>
                        </m:den>
                      </m:f>
                    </m:oMath>
                  </m:oMathPara>
                </a14:m>
                <a:endParaRPr lang="en-US" sz="1300" dirty="0"/>
              </a:p>
            </p:txBody>
          </p:sp>
        </mc:Choice>
        <mc:Fallback xmlns="">
          <p:sp>
            <p:nvSpPr>
              <p:cNvPr id="7" name="Text 3"/>
              <p:cNvSpPr>
                <a:spLocks noRot="1" noChangeAspect="1" noMove="1" noResize="1" noEditPoints="1" noAdjustHandles="1" noChangeArrowheads="1" noChangeShapeType="1" noTextEdit="1"/>
              </p:cNvSpPr>
              <p:nvPr/>
            </p:nvSpPr>
            <p:spPr>
              <a:xfrm>
                <a:off x="502920" y="1783080"/>
                <a:ext cx="3566160" cy="640080"/>
              </a:xfrm>
              <a:prstGeom prst="rect">
                <a:avLst/>
              </a:prstGeom>
              <a:blipFill>
                <a:blip r:embed="rId5"/>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8" name="Text 4"/>
              <p:cNvSpPr/>
              <p:nvPr/>
            </p:nvSpPr>
            <p:spPr>
              <a:xfrm>
                <a:off x="4206240" y="1783080"/>
                <a:ext cx="356616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𝑊</m:t>
                              </m:r>
                            </m:e>
                          </m:acc>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m:rPr>
                          <m:aln/>
                        </m:rPr>
                        <a:rPr lang="en-US" sz="1400">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1400">
                                  <a:latin typeface="Cambria Math"/>
                                </a:rPr>
                                <m:t>𝑊</m:t>
                              </m:r>
                            </m:e>
                            <m:sub>
                              <m:r>
                                <a:rPr lang="en-US" sz="1400">
                                  <a:latin typeface="Cambria Math"/>
                                </a:rPr>
                                <m:t>𝑤𝑠</m:t>
                              </m:r>
                              <m:r>
                                <a:rPr lang="en-US" sz="1400">
                                  <a:latin typeface="Cambria Math"/>
                                </a:rPr>
                                <m:t>,</m:t>
                              </m:r>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num>
                        <m:den>
                          <m:sSub>
                            <m:sSubPr>
                              <m:ctrlPr>
                                <a:rPr lang="en-US" i="1">
                                  <a:latin typeface="Cambria Math" panose="02040503050406030204" pitchFamily="18" charset="0"/>
                                </a:rPr>
                              </m:ctrlPr>
                            </m:sSubPr>
                            <m:e>
                              <m:r>
                                <a:rPr lang="en-US" sz="1400">
                                  <a:latin typeface="Cambria Math"/>
                                </a:rPr>
                                <m:t>𝑊</m:t>
                              </m:r>
                            </m:e>
                            <m:sub>
                              <m:r>
                                <a:rPr lang="en-US" sz="1400">
                                  <a:latin typeface="Cambria Math"/>
                                </a:rPr>
                                <m:t>𝑤𝑠</m:t>
                              </m:r>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max</m:t>
                                  </m:r>
                                </m:fName>
                                <m:e/>
                              </m:func>
                            </m:sub>
                          </m:sSub>
                        </m:den>
                      </m:f>
                    </m:oMath>
                  </m:oMathPara>
                </a14:m>
                <a:endParaRPr lang="en-US" sz="1300" dirty="0"/>
              </a:p>
            </p:txBody>
          </p:sp>
        </mc:Choice>
        <mc:Fallback xmlns="">
          <p:sp>
            <p:nvSpPr>
              <p:cNvPr id="8" name="Text 4"/>
              <p:cNvSpPr>
                <a:spLocks noRot="1" noChangeAspect="1" noMove="1" noResize="1" noEditPoints="1" noAdjustHandles="1" noChangeArrowheads="1" noChangeShapeType="1" noTextEdit="1"/>
              </p:cNvSpPr>
              <p:nvPr/>
            </p:nvSpPr>
            <p:spPr>
              <a:xfrm>
                <a:off x="4206240" y="1783080"/>
                <a:ext cx="3566160" cy="640080"/>
              </a:xfrm>
              <a:prstGeom prst="rect">
                <a:avLst/>
              </a:prstGeom>
              <a:blipFill>
                <a:blip r:embed="rId6"/>
                <a:stretch>
                  <a:fillRect/>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9" name="Text 5"/>
              <p:cNvSpPr/>
              <p:nvPr/>
            </p:nvSpPr>
            <p:spPr>
              <a:xfrm>
                <a:off x="7909560" y="1783080"/>
                <a:ext cx="3566160" cy="64008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r>
                            <a:rPr lang="en-US" sz="1400">
                              <a:latin typeface="Cambria Math"/>
                            </a:rPr>
                            <m:t>𝑆</m:t>
                          </m:r>
                        </m:e>
                      </m:acc>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m:rPr>
                          <m:aln/>
                        </m:rPr>
                        <a:rPr lang="en-US" sz="1400">
                          <a:latin typeface="Cambria Math"/>
                        </a:rPr>
                        <m:t>=</m:t>
                      </m:r>
                      <m:f>
                        <m:fPr>
                          <m:ctrlPr>
                            <a:rPr lang="en-US" i="1">
                              <a:latin typeface="Cambria Math" panose="02040503050406030204" pitchFamily="18" charset="0"/>
                            </a:rPr>
                          </m:ctrlPr>
                        </m:fPr>
                        <m:num>
                          <m:func>
                            <m:funcPr>
                              <m:ctrlPr>
                                <a:rPr lang="en-US" i="1">
                                  <a:latin typeface="Cambria Math" panose="02040503050406030204" pitchFamily="18" charset="0"/>
                                </a:rPr>
                              </m:ctrlPr>
                            </m:funcPr>
                            <m:fName>
                              <m:r>
                                <m:rPr>
                                  <m:sty m:val="p"/>
                                </m:rPr>
                                <a:rPr lang="en-US" sz="1400">
                                  <a:latin typeface="Cambria Math"/>
                                </a:rPr>
                                <m:t>tan</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𝑠𝑙𝑜𝑝𝑒</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func>
                        </m:num>
                        <m:den>
                          <m:func>
                            <m:funcPr>
                              <m:ctrlPr>
                                <a:rPr lang="en-US" i="1">
                                  <a:latin typeface="Cambria Math" panose="02040503050406030204" pitchFamily="18" charset="0"/>
                                </a:rPr>
                              </m:ctrlPr>
                            </m:funcPr>
                            <m:fName>
                              <m:r>
                                <m:rPr>
                                  <m:sty m:val="p"/>
                                </m:rPr>
                                <a:rPr lang="en-US" sz="1400">
                                  <a:latin typeface="Cambria Math"/>
                                </a:rPr>
                                <m:t>tan</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sz="1400">
                                          <a:latin typeface="Cambria Math"/>
                                        </a:rPr>
                                        <m:t>𝐺</m:t>
                                      </m:r>
                                    </m:e>
                                    <m:sub>
                                      <m:r>
                                        <a:rPr lang="en-US" sz="1400">
                                          <a:latin typeface="Cambria Math"/>
                                        </a:rPr>
                                        <m:t>𝑠𝑙𝑜𝑝𝑒</m:t>
                                      </m:r>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max</m:t>
                                          </m:r>
                                        </m:fName>
                                        <m:e/>
                                      </m:func>
                                    </m:sub>
                                  </m:sSub>
                                </m:e>
                              </m:d>
                            </m:e>
                          </m:func>
                        </m:den>
                      </m:f>
                    </m:oMath>
                  </m:oMathPara>
                </a14:m>
                <a:endParaRPr lang="en-US" sz="1300" dirty="0"/>
              </a:p>
            </p:txBody>
          </p:sp>
        </mc:Choice>
        <mc:Fallback xmlns="">
          <p:sp>
            <p:nvSpPr>
              <p:cNvPr id="9" name="Text 5"/>
              <p:cNvSpPr>
                <a:spLocks noRot="1" noChangeAspect="1" noMove="1" noResize="1" noEditPoints="1" noAdjustHandles="1" noChangeArrowheads="1" noChangeShapeType="1" noTextEdit="1"/>
              </p:cNvSpPr>
              <p:nvPr/>
            </p:nvSpPr>
            <p:spPr>
              <a:xfrm>
                <a:off x="7909560" y="1783080"/>
                <a:ext cx="3566160" cy="640080"/>
              </a:xfrm>
              <a:prstGeom prst="rect">
                <a:avLst/>
              </a:prstGeom>
              <a:blipFill>
                <a:blip r:embed="rId7"/>
                <a:stretch>
                  <a:fillRect t="-5714" b="-8571"/>
                </a:stretch>
              </a:blipFill>
              <a:ln/>
            </p:spPr>
            <p:txBody>
              <a:bodyPr/>
              <a:lstStyle/>
              <a:p>
                <a:r>
                  <a:rPr lang="tr-TR">
                    <a:noFill/>
                  </a:rPr>
                  <a:t/>
                </a:r>
              </a:p>
            </p:txBody>
          </p:sp>
        </mc:Fallback>
      </mc:AlternateContent>
      <mc:AlternateContent xmlns:mc="http://schemas.openxmlformats.org/markup-compatibility/2006" xmlns:a14="http://schemas.microsoft.com/office/drawing/2010/main">
        <mc:Choice Requires="a14">
          <p:sp>
            <p:nvSpPr>
              <p:cNvPr id="10" name="Text 6"/>
              <p:cNvSpPr/>
              <p:nvPr/>
            </p:nvSpPr>
            <p:spPr>
              <a:xfrm>
                <a:off x="502920" y="2514600"/>
                <a:ext cx="11064240" cy="685800"/>
              </a:xfrm>
              <a:prstGeom prst="rect">
                <a:avLst/>
              </a:prstGeom>
              <a:noFill/>
              <a:ln/>
            </p:spPr>
            <p:txBody>
              <a:bodyPr wrap="square" lIns="0" tIns="0" rIns="0" bIns="0"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1400">
                              <a:latin typeface="Cambria Math"/>
                            </a:rPr>
                            <m:t>𝐼</m:t>
                          </m:r>
                        </m:e>
                        <m:sub>
                          <m:r>
                            <a:rPr lang="en-US" sz="1400">
                              <a:latin typeface="Cambria Math"/>
                            </a:rPr>
                            <m:t>𝑘</m:t>
                          </m:r>
                          <m:r>
                            <a:rPr lang="en-US" sz="1400">
                              <a:latin typeface="Cambria Math"/>
                            </a:rPr>
                            <m:t>+1</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𝐵</m:t>
                          </m:r>
                        </m:e>
                        <m:sub>
                          <m:r>
                            <a:rPr lang="en-US" sz="1400">
                              <a:latin typeface="Cambria Math"/>
                            </a:rPr>
                            <m:t>𝑘</m:t>
                          </m:r>
                          <m:r>
                            <a:rPr lang="en-US" sz="1400">
                              <a:latin typeface="Cambria Math"/>
                            </a:rPr>
                            <m:t>+1</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func>
                        <m:funcPr>
                          <m:ctrlPr>
                            <a:rPr lang="en-US" i="1">
                              <a:latin typeface="Cambria Math" panose="02040503050406030204" pitchFamily="18" charset="0"/>
                            </a:rPr>
                          </m:ctrlPr>
                        </m:funcPr>
                        <m:fName>
                          <m:r>
                            <m:rPr>
                              <m:sty m:val="p"/>
                            </m:rPr>
                            <a:rPr lang="en-US" sz="1400">
                              <a:latin typeface="Cambria Math"/>
                            </a:rPr>
                            <m:t>tanh</m:t>
                          </m:r>
                        </m:fName>
                        <m:e>
                          <m:d>
                            <m:dPr>
                              <m:ctrlPr>
                                <a:rPr lang="en-US" i="1">
                                  <a:latin typeface="Cambria Math" panose="02040503050406030204" pitchFamily="18" charset="0"/>
                                </a:rPr>
                              </m:ctrlPr>
                            </m:dPr>
                            <m:e>
                              <m:r>
                                <a:rPr lang="en-US" sz="1400">
                                  <a:latin typeface="Cambria Math"/>
                                </a:rPr>
                                <m:t>𝛽</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𝐹</m:t>
                                          </m:r>
                                        </m:e>
                                      </m:acc>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𝑊</m:t>
                                      </m:r>
                                    </m:sub>
                                  </m:sSub>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sz="1400">
                                              <a:latin typeface="Cambria Math"/>
                                            </a:rPr>
                                            <m:t>𝑊</m:t>
                                          </m:r>
                                        </m:e>
                                      </m:acc>
                                    </m:e>
                                    <m:sub>
                                      <m:r>
                                        <a:rPr lang="en-US" sz="1400">
                                          <a:latin typeface="Cambria Math"/>
                                        </a:rPr>
                                        <m:t>𝑘</m:t>
                                      </m:r>
                                    </m:sub>
                                  </m:sSub>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r>
                                    <a:rPr lang="en-US" sz="1400">
                                      <a:latin typeface="Cambria Math"/>
                                    </a:rPr>
                                    <m:t>+</m:t>
                                  </m:r>
                                  <m:sSub>
                                    <m:sSubPr>
                                      <m:ctrlPr>
                                        <a:rPr lang="en-US" i="1">
                                          <a:latin typeface="Cambria Math" panose="02040503050406030204" pitchFamily="18" charset="0"/>
                                        </a:rPr>
                                      </m:ctrlPr>
                                    </m:sSubPr>
                                    <m:e>
                                      <m:r>
                                        <a:rPr lang="en-US" sz="1400">
                                          <a:latin typeface="Cambria Math"/>
                                        </a:rPr>
                                        <m:t>𝛾</m:t>
                                      </m:r>
                                    </m:e>
                                    <m:sub>
                                      <m:r>
                                        <a:rPr lang="en-US" sz="1400">
                                          <a:latin typeface="Cambria Math"/>
                                        </a:rPr>
                                        <m:t>𝑆</m:t>
                                      </m:r>
                                    </m:sub>
                                  </m:sSub>
                                  <m:acc>
                                    <m:accPr>
                                      <m:chr m:val="̃"/>
                                      <m:ctrlPr>
                                        <a:rPr lang="en-US" i="1">
                                          <a:latin typeface="Cambria Math" panose="02040503050406030204" pitchFamily="18" charset="0"/>
                                        </a:rPr>
                                      </m:ctrlPr>
                                    </m:accPr>
                                    <m:e>
                                      <m:r>
                                        <a:rPr lang="en-US" sz="1400">
                                          <a:latin typeface="Cambria Math"/>
                                        </a:rPr>
                                        <m:t>𝑆</m:t>
                                      </m:r>
                                    </m:e>
                                  </m:acc>
                                  <m:d>
                                    <m:dPr>
                                      <m:ctrlPr>
                                        <a:rPr lang="en-US" i="1">
                                          <a:latin typeface="Cambria Math" panose="02040503050406030204" pitchFamily="18" charset="0"/>
                                        </a:rPr>
                                      </m:ctrlPr>
                                    </m:dPr>
                                    <m:e>
                                      <m:r>
                                        <a:rPr lang="en-US" sz="1400">
                                          <a:latin typeface="Cambria Math"/>
                                        </a:rPr>
                                        <m:t>𝑥</m:t>
                                      </m:r>
                                      <m:r>
                                        <a:rPr lang="en-US" sz="1400">
                                          <a:latin typeface="Cambria Math"/>
                                        </a:rPr>
                                        <m:t>,</m:t>
                                      </m:r>
                                      <m:r>
                                        <a:rPr lang="en-US" sz="1400">
                                          <a:latin typeface="Cambria Math"/>
                                        </a:rPr>
                                        <m:t>𝑦</m:t>
                                      </m:r>
                                    </m:e>
                                  </m:d>
                                </m:e>
                              </m:d>
                            </m:e>
                          </m:d>
                        </m:e>
                      </m:func>
                    </m:oMath>
                  </m:oMathPara>
                </a14:m>
                <a:endParaRPr lang="en-US" sz="1300" dirty="0"/>
              </a:p>
            </p:txBody>
          </p:sp>
        </mc:Choice>
        <mc:Fallback xmlns="">
          <p:sp>
            <p:nvSpPr>
              <p:cNvPr id="10" name="Text 6"/>
              <p:cNvSpPr>
                <a:spLocks noRot="1" noChangeAspect="1" noMove="1" noResize="1" noEditPoints="1" noAdjustHandles="1" noChangeArrowheads="1" noChangeShapeType="1" noTextEdit="1"/>
              </p:cNvSpPr>
              <p:nvPr/>
            </p:nvSpPr>
            <p:spPr>
              <a:xfrm>
                <a:off x="502920" y="2514600"/>
                <a:ext cx="11064240" cy="685800"/>
              </a:xfrm>
              <a:prstGeom prst="rect">
                <a:avLst/>
              </a:prstGeom>
              <a:blipFill>
                <a:blip r:embed="rId8"/>
                <a:stretch>
                  <a:fillRect/>
                </a:stretch>
              </a:blipFill>
              <a:ln/>
            </p:spPr>
            <p:txBody>
              <a:bodyPr/>
              <a:lstStyle/>
              <a:p>
                <a:r>
                  <a:rPr lang="tr-TR">
                    <a:noFill/>
                  </a:rPr>
                  <a:t/>
                </a:r>
              </a:p>
            </p:txBody>
          </p:sp>
        </mc:Fallback>
      </mc:AlternateContent>
      <p:sp>
        <p:nvSpPr>
          <p:cNvPr id="11" name="Text 7"/>
          <p:cNvSpPr/>
          <p:nvPr/>
        </p:nvSpPr>
        <p:spPr>
          <a:xfrm>
            <a:off x="502920" y="3383280"/>
            <a:ext cx="6949440" cy="20116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Inputs are normalized by their reference maxima (fuel load, 20 m/s wind, maximum terrain slope), so the proxy is scale- and resolution-consistent.</a:t>
            </a:r>
            <a:endParaRPr lang="en-US" sz="1250" dirty="0"/>
          </a:p>
          <a:p>
            <a:pPr marL="152400" indent="-152400">
              <a:lnSpc>
                <a:spcPct val="104000"/>
              </a:lnSpc>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burning-status factor forces zero intensity on non-burning cells; tanh bounds the proxy in [0, 1].</a:t>
            </a:r>
            <a:endParaRPr lang="en-US" sz="1250" dirty="0"/>
          </a:p>
          <a:p>
            <a:pPr marL="152400" indent="-152400">
              <a:lnSpc>
                <a:spcPct val="104000"/>
              </a:lnSpc>
              <a:spcAft>
                <a:spcPts val="600"/>
              </a:spcAft>
              <a:buSzPct val="100000"/>
              <a:buChar char="•"/>
            </a:pPr>
            <a:r>
              <a:rPr lang="en-US" sz="1250" b="1" dirty="0">
                <a:solidFill>
                  <a:srgbClr val="222222"/>
                </a:solidFill>
                <a:latin typeface="Calibri" pitchFamily="34" charset="0"/>
                <a:ea typeface="Calibri" pitchFamily="34" charset="-122"/>
                <a:cs typeface="Calibri" pitchFamily="34" charset="-120"/>
              </a:rPr>
              <a:t>Fuel load remains the dominant contributor; wind and slope act as amplifying modifiers.</a:t>
            </a:r>
            <a:endParaRPr lang="en-US" sz="1250" dirty="0"/>
          </a:p>
        </p:txBody>
      </p:sp>
      <mc:AlternateContent xmlns:mc="http://schemas.openxmlformats.org/markup-compatibility/2006" xmlns:a14="http://schemas.microsoft.com/office/drawing/2010/main">
        <mc:Choice Requires="a14">
          <p:graphicFrame>
            <p:nvGraphicFramePr>
              <p:cNvPr id="12" name="Table 0"/>
              <p:cNvGraphicFramePr>
                <a:graphicFrameLocks noGrp="1"/>
              </p:cNvGraphicFramePr>
              <p:nvPr/>
            </p:nvGraphicFramePr>
            <p:xfrm>
              <a:off x="7680960" y="3383280"/>
              <a:ext cx="4069080" cy="1883664"/>
            </p:xfrm>
            <a:graphic>
              <a:graphicData uri="http://schemas.openxmlformats.org/drawingml/2006/table">
                <a:tbl>
                  <a:tblPr/>
                  <a:tblGrid>
                    <a:gridCol w="132588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Range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Interpretation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84048">
                    <a:tc>
                      <a:txBody>
                        <a:bodyPr/>
                        <a:lstStyle/>
                        <a:p>
                          <a:pPr marL="0" indent="0">
                            <a:buNone/>
                          </a:pPr>
                          <a14:m>
                            <m:oMath xmlns:m="http://schemas.openxmlformats.org/officeDocument/2006/math">
                              <m:r>
                                <a:rPr lang="en-US" sz="1200">
                                  <a:latin typeface="Cambria Math"/>
                                </a:rPr>
                                <m:t>𝛽</m:t>
                              </m:r>
                            </m:oMath>
                          </a14:m>
                          <a:r>
                            <a:rPr lang="en-US" sz="1200" b="1" dirty="0">
                              <a:solidFill>
                                <a:srgbClr val="222222"/>
                              </a:solidFill>
                              <a:latin typeface="Calibri" pitchFamily="34" charset="0"/>
                              <a:ea typeface="Calibri" pitchFamily="34" charset="-122"/>
                              <a:cs typeface="Calibri" pitchFamily="34" charset="-120"/>
                            </a:rPr>
                            <a:t> global gain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moderate amplification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sz="1200">
                                      <a:latin typeface="Cambria Math"/>
                                    </a:rPr>
                                    <m:t>𝛾</m:t>
                                  </m:r>
                                </m:e>
                                <m:sub>
                                  <m:r>
                                    <a:rPr lang="en-US" sz="1200">
                                      <a:latin typeface="Cambria Math"/>
                                    </a:rPr>
                                    <m:t>𝑊</m:t>
                                  </m:r>
                                </m:sub>
                              </m:sSub>
                            </m:oMath>
                          </a14:m>
                          <a:r>
                            <a:rPr lang="en-US" sz="1200" b="1" dirty="0">
                              <a:solidFill>
                                <a:srgbClr val="222222"/>
                              </a:solidFill>
                              <a:latin typeface="Calibri" pitchFamily="34" charset="0"/>
                              <a:ea typeface="Calibri" pitchFamily="34" charset="-122"/>
                              <a:cs typeface="Calibri" pitchFamily="34" charset="-120"/>
                            </a:rPr>
                            <a:t> wind weight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 –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wind moderately increases intensity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sz="1200">
                                      <a:latin typeface="Cambria Math"/>
                                    </a:rPr>
                                    <m:t>𝛾</m:t>
                                  </m:r>
                                </m:e>
                                <m:sub>
                                  <m:r>
                                    <a:rPr lang="en-US" sz="1200">
                                      <a:latin typeface="Cambria Math"/>
                                    </a:rPr>
                                    <m:t>𝑆</m:t>
                                  </m:r>
                                </m:sub>
                              </m:sSub>
                            </m:oMath>
                          </a14:m>
                          <a:r>
                            <a:rPr lang="en-US" sz="1200" b="1" dirty="0">
                              <a:solidFill>
                                <a:srgbClr val="222222"/>
                              </a:solidFill>
                              <a:latin typeface="Calibri" pitchFamily="34" charset="0"/>
                              <a:ea typeface="Calibri" pitchFamily="34" charset="-122"/>
                              <a:cs typeface="Calibri" pitchFamily="34" charset="-120"/>
                            </a:rPr>
                            <a:t> slope weight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 – 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slope has secondary influence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Choice>
        <mc:Fallback xmlns="">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680960" y="3383280"/>
              <a:ext cx="4069080" cy="1883664"/>
            </p:xfrm>
            <a:graphic>
              <a:graphicData uri="http://schemas.openxmlformats.org/drawingml/2006/table">
                <a:tbl>
                  <a:tblPr/>
                  <a:tblGrid>
                    <a:gridCol w="132588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Range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Interpretation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38912">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9"/>
                          <a:stretch>
                            <a:fillRect l="-459" t="-88889" r="-207339" b="-254167"/>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1 – 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moderate amplification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9"/>
                          <a:stretch>
                            <a:fillRect l="-459" t="-188889" r="-207339" b="-154167"/>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 –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wind moderately increases intensity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621792">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9"/>
                          <a:stretch>
                            <a:fillRect l="-459" t="-203922" r="-207339" b="-8824"/>
                          </a:stretch>
                        </a:blipFill>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 – 0.5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6E6E6E"/>
                              </a:solidFill>
                              <a:latin typeface="Calibri" pitchFamily="34" charset="0"/>
                              <a:ea typeface="Calibri" pitchFamily="34" charset="-122"/>
                              <a:cs typeface="Calibri" pitchFamily="34" charset="-120"/>
                            </a:rPr>
                            <a:t>slope has secondary influence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mc:Fallback>
      </mc:AlternateContent>
      <p:sp>
        <p:nvSpPr>
          <p:cNvPr id="13" name="Shape 8"/>
          <p:cNvSpPr/>
          <p:nvPr/>
        </p:nvSpPr>
        <p:spPr>
          <a:xfrm>
            <a:off x="502920" y="5577840"/>
            <a:ext cx="11247120" cy="914400"/>
          </a:xfrm>
          <a:prstGeom prst="roundRect">
            <a:avLst>
              <a:gd name="adj" fmla="val 5000"/>
            </a:avLst>
          </a:prstGeom>
          <a:solidFill>
            <a:srgbClr val="F2F2F2"/>
          </a:solidFill>
          <a:ln/>
        </p:spPr>
      </p:sp>
      <p:sp>
        <p:nvSpPr>
          <p:cNvPr id="14" name="Text 9"/>
          <p:cNvSpPr/>
          <p:nvPr/>
        </p:nvSpPr>
        <p:spPr>
          <a:xfrm>
            <a:off x="777240" y="5705856"/>
            <a:ext cx="10698480" cy="731520"/>
          </a:xfrm>
          <a:prstGeom prst="rect">
            <a:avLst/>
          </a:prstGeom>
          <a:noFill/>
          <a:ln/>
        </p:spPr>
        <p:txBody>
          <a:bodyPr wrap="square" lIns="0" tIns="0" rIns="0" bIns="0" rtlCol="0" anchor="t"/>
          <a:lstStyle/>
          <a:p>
            <a:pPr marL="0" indent="0">
              <a:lnSpc>
                <a:spcPct val="104000"/>
              </a:lnSpc>
              <a:buNone/>
            </a:pPr>
            <a:r>
              <a:rPr lang="en-US" sz="1250" b="1" dirty="0">
                <a:solidFill>
                  <a:srgbClr val="000000"/>
                </a:solidFill>
                <a:latin typeface="Calibri" pitchFamily="34" charset="0"/>
                <a:ea typeface="Calibri" pitchFamily="34" charset="-122"/>
                <a:cs typeface="Calibri" pitchFamily="34" charset="-120"/>
              </a:rPr>
              <a:t>Why a proxy: </a:t>
            </a:r>
            <a:r>
              <a:rPr lang="en-US" sz="1250" dirty="0">
                <a:solidFill>
                  <a:srgbClr val="222222"/>
                </a:solidFill>
                <a:latin typeface="Calibri" pitchFamily="34" charset="0"/>
                <a:ea typeface="Calibri" pitchFamily="34" charset="-122"/>
                <a:cs typeface="Calibri" pitchFamily="34" charset="-120"/>
              </a:rPr>
              <a:t>the decision layer needs a stable, comparable severity signal across cells and scenarios — not a heat-flux model. Suppression effectiveness reads this proxy at the current state, before the transition, so mitigation decisions rest on observable conditions.</a:t>
            </a:r>
            <a:endParaRPr lang="en-US" sz="1250" dirty="0"/>
          </a:p>
        </p:txBody>
      </p:sp>
      <p:sp>
        <p:nvSpPr>
          <p:cNvPr id="900105"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105 / 113</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D</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Complete Concept Wiring : Every Weight of the Hierarchy</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mc:AlternateContent xmlns:mc="http://schemas.openxmlformats.org/markup-compatibility/2006" xmlns:a14="http://schemas.microsoft.com/office/drawing/2010/main">
        <mc:Choice Requires="a14">
          <p:graphicFrame>
            <p:nvGraphicFramePr>
              <p:cNvPr id="6" name="Table 0"/>
              <p:cNvGraphicFramePr>
                <a:graphicFrameLocks noGrp="1"/>
              </p:cNvGraphicFramePr>
              <p:nvPr/>
            </p:nvGraphicFramePr>
            <p:xfrm>
              <a:off x="457200" y="1325880"/>
              <a:ext cx="11292840" cy="4398264"/>
            </p:xfrm>
            <a:graphic>
              <a:graphicData uri="http://schemas.openxmlformats.org/drawingml/2006/table">
                <a:tbl>
                  <a:tblPr/>
                  <a:tblGrid>
                    <a:gridCol w="246888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3832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Contributors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Weights </a:t>
                          </a:r>
                          <a14:m>
                            <m:oMath xmlns:m="http://schemas.openxmlformats.org/officeDocument/2006/math">
                              <m:r>
                                <a:rPr lang="en-US" sz="1200">
                                  <a:latin typeface="Cambria Math"/>
                                </a:rPr>
                                <m:t>𝜔</m:t>
                              </m:r>
                            </m:oMath>
                          </a14:m>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fire severity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intensity, spread potential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0.60, 0.40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spread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spread potential, weather severity, ignition proximity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0.45, 0.35, 0.20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fuel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weather severity, fuel load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asset 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crew reachability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resource accessibility, access &amp; road status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0.55, 0.45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logistics support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availability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fire threat level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severity, spread hazard, fuel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0.50, 0.30, 0.20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asset exposure risk</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spread hazard, asset 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suppression feasibility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crew reachability, logistics support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0.50, 0.50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L3 intervention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asset exposure risk, temporal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0.40, 0.35, 0.25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L3 evacuation pressure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 risk, inverted access &amp; road status, temporal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0.45, 0.25, 0.30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1"/>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L4 operational priority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asset exposure risk</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0.55, 0.45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mc:Choice>
        <mc:Fallback xmlns="">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92840" cy="4398264"/>
            </p:xfrm>
            <a:graphic>
              <a:graphicData uri="http://schemas.openxmlformats.org/drawingml/2006/table">
                <a:tbl>
                  <a:tblPr/>
                  <a:tblGrid>
                    <a:gridCol w="246888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3832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Contributors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endParaRPr lang="tr-T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blipFill>
                          <a:blip r:embed="rId5"/>
                          <a:stretch>
                            <a:fillRect l="-365829" t="-1786" r="-503" b="-1194643"/>
                          </a:stretch>
                        </a:blipFill>
                      </a:tcPr>
                    </a:tc>
                    <a:extLst>
                      <a:ext uri="{0D108BD9-81ED-4DB2-BD59-A6C34878D82A}">
                        <a16:rowId xmlns:a16="http://schemas.microsoft.com/office/drawing/2014/main" val="10000"/>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fire severity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intensity, spread potential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0.60, 0.40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spread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spread potential, weather severity, ignition proximity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0.45, 0.35, 0.20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fuel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weather severity, fuel load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asset 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crew reachability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resource accessibility, access &amp; road status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0.55, 0.45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L1 logistics support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availability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fire threat level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severity, spread hazard, fuel hazard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0.50, 0.30, 0.20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asset exposure risk</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spread hazard, asset value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0.40, 0.60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L2 suppression feasibility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crew reachability, logistics support</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0.50, 0.50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L3 intervention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asset exposure risk, temporal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0.40, 0.35, 0.25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L3 evacuation pressure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exposure risk, inverted access &amp; road status, temporal urgency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0.45, 0.25, 0.30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1"/>
                      </a:ext>
                    </a:extLst>
                  </a:tr>
                  <a:tr h="338328">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L4 operational priority</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level, asset exposure risk</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0.55, 0.45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mc:Fallback>
      </mc:AlternateContent>
      <mc:AlternateContent xmlns:mc="http://schemas.openxmlformats.org/markup-compatibility/2006" xmlns:a14="http://schemas.microsoft.com/office/drawing/2010/main">
        <mc:Choice Requires="a14">
          <p:sp>
            <p:nvSpPr>
              <p:cNvPr id="7" name="Text 2"/>
              <p:cNvSpPr/>
              <p:nvPr/>
            </p:nvSpPr>
            <p:spPr>
              <a:xfrm>
                <a:off x="457200" y="5897880"/>
                <a:ext cx="11292840" cy="640080"/>
              </a:xfrm>
              <a:prstGeom prst="rect">
                <a:avLst/>
              </a:prstGeom>
              <a:noFill/>
              <a:ln/>
            </p:spPr>
            <p:txBody>
              <a:bodyPr wrap="square" lIns="0" tIns="0" rIns="0" bIns="0" rtlCol="0" anchor="t"/>
              <a:lstStyle/>
              <a:p>
                <a:pPr marL="0" indent="0">
                  <a:lnSpc>
                    <a:spcPct val="104000"/>
                  </a:lnSpc>
                  <a:buNone/>
                </a:pPr>
                <a:r>
                  <a:rPr lang="en-US" sz="1250" dirty="0">
                    <a:solidFill>
                      <a:srgbClr val="222222"/>
                    </a:solidFill>
                    <a:latin typeface="Calibri" pitchFamily="34" charset="0"/>
                    <a:ea typeface="Calibri" pitchFamily="34" charset="-122"/>
                    <a:cs typeface="Calibri" pitchFamily="34" charset="-120"/>
                  </a:rPr>
                  <a:t>the full aggregation wiring of levels 1–4. Two constants close the layer : persistence decay </a:t>
                </a:r>
                <a14:m>
                  <m:oMath xmlns:m="http://schemas.openxmlformats.org/officeDocument/2006/math">
                    <m:r>
                      <a:rPr lang="en-US" sz="1250">
                        <a:latin typeface="Cambria Math"/>
                      </a:rPr>
                      <m:t>𝜌</m:t>
                    </m:r>
                    <m:r>
                      <a:rPr lang="en-US" sz="1250">
                        <a:latin typeface="Cambria Math"/>
                      </a:rPr>
                      <m:t> = 0.90</m:t>
                    </m:r>
                  </m:oMath>
                </a14:m>
                <a:r>
                  <a:rPr lang="en-US" sz="1250" dirty="0">
                    <a:solidFill>
                      <a:srgbClr val="222222"/>
                    </a:solidFill>
                    <a:latin typeface="Calibri" pitchFamily="34" charset="0"/>
                    <a:ea typeface="Calibri" pitchFamily="34" charset="-122"/>
                    <a:cs typeface="Calibri" pitchFamily="34" charset="-120"/>
                  </a:rPr>
                  <a:t> and coverage floor </a:t>
                </a:r>
                <a14:m>
                  <m:oMath xmlns:m="http://schemas.openxmlformats.org/officeDocument/2006/math">
                    <m:sSub>
                      <m:sSubPr>
                        <m:ctrlPr>
                          <a:rPr lang="en-US" i="1">
                            <a:latin typeface="Cambria Math" panose="02040503050406030204" pitchFamily="18" charset="0"/>
                          </a:rPr>
                        </m:ctrlPr>
                      </m:sSubPr>
                      <m:e>
                        <m:r>
                          <a:rPr lang="en-US" sz="1250">
                            <a:latin typeface="Cambria Math"/>
                          </a:rPr>
                          <m:t>𝛼</m:t>
                        </m:r>
                      </m:e>
                      <m:sub>
                        <m:r>
                          <a:rPr lang="en-US" sz="1250">
                            <a:latin typeface="Cambria Math"/>
                          </a:rPr>
                          <m:t>𝑚𝑖𝑛</m:t>
                        </m:r>
                      </m:sub>
                    </m:sSub>
                    <m:r>
                      <a:rPr lang="en-US" sz="1250">
                        <a:latin typeface="Cambria Math"/>
                      </a:rPr>
                      <m:t> = 0.05</m:t>
                    </m:r>
                  </m:oMath>
                </a14:m>
                <a:r>
                  <a:rPr lang="en-US" sz="1250" dirty="0">
                    <a:solidFill>
                      <a:srgbClr val="222222"/>
                    </a:solidFill>
                    <a:latin typeface="Calibri" pitchFamily="34" charset="0"/>
                    <a:ea typeface="Calibri" pitchFamily="34" charset="-122"/>
                    <a:cs typeface="Calibri" pitchFamily="34" charset="-120"/>
                  </a:rPr>
                  <a:t>. </a:t>
                </a:r>
                <a:r>
                  <a:rPr lang="en-US" sz="1250" b="1" dirty="0">
                    <a:solidFill>
                      <a:srgbClr val="000000"/>
                    </a:solidFill>
                    <a:latin typeface="Calibri" pitchFamily="34" charset="0"/>
                    <a:ea typeface="Calibri" pitchFamily="34" charset="-122"/>
                    <a:cs typeface="Calibri" pitchFamily="34" charset="-120"/>
                  </a:rPr>
                  <a:t>The one exception in the wiring: evacuation pressure uses the complement of access &amp; road status.</a:t>
                </a:r>
                <a:endParaRPr lang="en-US" sz="1250" dirty="0"/>
              </a:p>
            </p:txBody>
          </p:sp>
        </mc:Choice>
        <mc:Fallback xmlns="">
          <p:sp>
            <p:nvSpPr>
              <p:cNvPr id="7" name="Text 2"/>
              <p:cNvSpPr>
                <a:spLocks noRot="1" noChangeAspect="1" noMove="1" noResize="1" noEditPoints="1" noAdjustHandles="1" noChangeArrowheads="1" noChangeShapeType="1" noTextEdit="1"/>
              </p:cNvSpPr>
              <p:nvPr/>
            </p:nvSpPr>
            <p:spPr>
              <a:xfrm>
                <a:off x="457200" y="5897880"/>
                <a:ext cx="11292840" cy="640080"/>
              </a:xfrm>
              <a:prstGeom prst="rect">
                <a:avLst/>
              </a:prstGeom>
              <a:blipFill>
                <a:blip r:embed="rId6"/>
                <a:stretch>
                  <a:fillRect l="-863"/>
                </a:stretch>
              </a:blipFill>
              <a:ln/>
            </p:spPr>
            <p:txBody>
              <a:bodyPr/>
              <a:lstStyle/>
              <a:p>
                <a:r>
                  <a:rPr lang="tr-TR">
                    <a:noFill/>
                  </a:rPr>
                  <a:t/>
                </a:r>
              </a:p>
            </p:txBody>
          </p:sp>
        </mc:Fallback>
      </mc:AlternateContent>
      <p:sp>
        <p:nvSpPr>
          <p:cNvPr id="900106"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106 / 113</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D</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Shared Five-Term Partition and Vector Semantics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7" name="Table 0"/>
          <p:cNvGraphicFramePr>
            <a:graphicFrameLocks noGrp="1"/>
          </p:cNvGraphicFramePr>
          <p:nvPr/>
        </p:nvGraphicFramePr>
        <p:xfrm>
          <a:off x="502920" y="1371600"/>
          <a:ext cx="512064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Trapezoid (a, b, c, 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very low</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(0.00, 0.00, 0.15, 0.30)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(0.15, 0.30, 0.35, 0.50)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(0.35, 0.50, 0.55, 0.70)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(0.55, 0.70, 0.75, 0.90)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very high</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(0.75, 0.90, 1.00, 1.00)</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Text 2"/>
              <p:cNvSpPr/>
              <p:nvPr/>
            </p:nvSpPr>
            <p:spPr>
              <a:xfrm>
                <a:off x="502920" y="3657600"/>
                <a:ext cx="5120640" cy="73152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one partition for all features and concepts, on the unit interval; the end terms saturate at the boundaries. Overlaps guarantee the coverage floor </a:t>
                </a:r>
                <a14:m>
                  <m:oMath xmlns:m="http://schemas.openxmlformats.org/officeDocument/2006/math">
                    <m:sSub>
                      <m:sSubPr>
                        <m:ctrlPr>
                          <a:rPr lang="en-US" i="1">
                            <a:latin typeface="Cambria Math" panose="02040503050406030204" pitchFamily="18" charset="0"/>
                          </a:rPr>
                        </m:ctrlPr>
                      </m:sSubPr>
                      <m:e>
                        <m:r>
                          <a:rPr lang="en-US" sz="1200">
                            <a:latin typeface="Cambria Math"/>
                          </a:rPr>
                          <m:t>𝛼</m:t>
                        </m:r>
                      </m:e>
                      <m:sub>
                        <m:r>
                          <a:rPr lang="en-US" sz="1200">
                            <a:latin typeface="Cambria Math"/>
                          </a:rPr>
                          <m:t>𝑚𝑖𝑛</m:t>
                        </m:r>
                      </m:sub>
                    </m:sSub>
                    <m:r>
                      <a:rPr lang="en-US" sz="1200">
                        <a:latin typeface="Cambria Math"/>
                      </a:rPr>
                      <m:t> = 0.05</m:t>
                    </m:r>
                  </m:oMath>
                </a14:m>
                <a:r>
                  <a:rPr lang="en-US" sz="1200" i="1" dirty="0">
                    <a:solidFill>
                      <a:srgbClr val="6E6E6E"/>
                    </a:solidFill>
                    <a:latin typeface="Calibri" pitchFamily="34" charset="0"/>
                    <a:ea typeface="Calibri" pitchFamily="34" charset="-122"/>
                    <a:cs typeface="Calibri" pitchFamily="34" charset="-120"/>
                  </a:rPr>
                  <a:t>.</a:t>
                </a:r>
                <a:endParaRPr lang="en-US" sz="1200" dirty="0"/>
              </a:p>
            </p:txBody>
          </p:sp>
        </mc:Choice>
        <mc:Fallback xmlns="">
          <p:sp>
            <p:nvSpPr>
              <p:cNvPr id="6" name="Text 2"/>
              <p:cNvSpPr>
                <a:spLocks noRot="1" noChangeAspect="1" noMove="1" noResize="1" noEditPoints="1" noAdjustHandles="1" noChangeArrowheads="1" noChangeShapeType="1" noTextEdit="1"/>
              </p:cNvSpPr>
              <p:nvPr/>
            </p:nvSpPr>
            <p:spPr>
              <a:xfrm>
                <a:off x="502920" y="3657600"/>
                <a:ext cx="5120640" cy="731520"/>
              </a:xfrm>
              <a:prstGeom prst="rect">
                <a:avLst/>
              </a:prstGeom>
              <a:blipFill>
                <a:blip r:embed="rId5"/>
                <a:stretch>
                  <a:fillRect l="-1905" t="-6667"/>
                </a:stretch>
              </a:blipFill>
              <a:ln/>
            </p:spPr>
            <p:txBody>
              <a:bodyPr/>
              <a:lstStyle/>
              <a:p>
                <a:r>
                  <a:rPr lang="tr-TR">
                    <a:noFill/>
                  </a:rPr>
                  <a:t/>
                </a:r>
              </a:p>
            </p:txBody>
          </p:sp>
        </mc:Fallback>
      </mc:AlternateContent>
      <p:sp>
        <p:nvSpPr>
          <p:cNvPr id="8" name="Shape 3"/>
          <p:cNvSpPr/>
          <p:nvPr/>
        </p:nvSpPr>
        <p:spPr>
          <a:xfrm>
            <a:off x="5989320" y="1371600"/>
            <a:ext cx="5760720" cy="4846320"/>
          </a:xfrm>
          <a:prstGeom prst="roundRect">
            <a:avLst>
              <a:gd name="adj" fmla="val 943"/>
            </a:avLst>
          </a:prstGeom>
          <a:solidFill>
            <a:srgbClr val="F2F2F2"/>
          </a:solidFill>
          <a:ln/>
        </p:spPr>
      </p:sp>
      <p:sp>
        <p:nvSpPr>
          <p:cNvPr id="9" name="Text 4"/>
          <p:cNvSpPr/>
          <p:nvPr/>
        </p:nvSpPr>
        <p:spPr>
          <a:xfrm>
            <a:off x="6263640" y="1536192"/>
            <a:ext cx="5212080" cy="4572000"/>
          </a:xfrm>
          <a:prstGeom prst="rect">
            <a:avLst/>
          </a:prstGeom>
          <a:noFill/>
          <a:ln/>
        </p:spPr>
        <p:txBody>
          <a:bodyPr wrap="square" lIns="0" tIns="0" rIns="0" bIns="0" rtlCol="0" anchor="t"/>
          <a:lstStyle/>
          <a:p>
            <a:pPr marL="0" indent="0">
              <a:lnSpc>
                <a:spcPct val="104000"/>
              </a:lnSpc>
              <a:buNone/>
            </a:pPr>
            <a:r>
              <a:rPr lang="en-US" sz="1300" b="1" dirty="0">
                <a:solidFill>
                  <a:srgbClr val="E31836"/>
                </a:solidFill>
                <a:latin typeface="Calibri" pitchFamily="34" charset="0"/>
                <a:ea typeface="Calibri" pitchFamily="34" charset="-122"/>
                <a:cs typeface="Calibri" pitchFamily="34" charset="-120"/>
              </a:rPr>
              <a:t>Membership is computed with vectors, exactly as in the code.</a:t>
            </a:r>
            <a:r>
              <a:rPr lang="en-US" sz="1250" dirty="0">
                <a:solidFill>
                  <a:srgbClr val="222222"/>
                </a:solidFill>
                <a:latin typeface="Calibri" pitchFamily="34" charset="0"/>
                <a:ea typeface="Calibri" pitchFamily="34" charset="-122"/>
                <a:cs typeface="Calibri" pitchFamily="34" charset="-120"/>
              </a:rPr>
              <a:t>Each input value fuzzifies into a five-term membership vector; the aggregation combines these vectors term by term. A concept activation is therefore a five-term vector, not a single number.
Rule antecedents read the vector directly — the membership of a linguistic term is its matching component.</a:t>
            </a:r>
            <a:r>
              <a:rPr lang="en-US" sz="1250" b="1" dirty="0">
                <a:solidFill>
                  <a:srgbClr val="000000"/>
                </a:solidFill>
                <a:latin typeface="Calibri" pitchFamily="34" charset="0"/>
                <a:ea typeface="Calibri" pitchFamily="34" charset="-122"/>
                <a:cs typeface="Calibri" pitchFamily="34" charset="-120"/>
              </a:rPr>
              <a:t>A scalar is needed only three times: </a:t>
            </a:r>
            <a:r>
              <a:rPr lang="en-US" sz="1250" dirty="0">
                <a:solidFill>
                  <a:srgbClr val="222222"/>
                </a:solidFill>
                <a:latin typeface="Calibri" pitchFamily="34" charset="0"/>
                <a:ea typeface="Calibri" pitchFamily="34" charset="-122"/>
                <a:cs typeface="Calibri" pitchFamily="34" charset="-120"/>
              </a:rPr>
              <a:t>the priority sent to the coordinator, the quality measure, and reporting — the expected value over the term centers. The worked examples follow the highest component of each vector, which passes through the same weighted sums and is a faithful sample of the full computation.</a:t>
            </a:r>
            <a:r>
              <a:rPr lang="en-US" sz="1250" i="1" dirty="0">
                <a:solidFill>
                  <a:srgbClr val="6E6E6E"/>
                </a:solidFill>
                <a:latin typeface="Calibri" pitchFamily="34" charset="0"/>
                <a:ea typeface="Calibri" pitchFamily="34" charset="-122"/>
                <a:cs typeface="Calibri" pitchFamily="34" charset="-120"/>
              </a:rPr>
              <a:t>Per-pair term tables are not required; adaptation refines the shared partition by splitting terms where the field needs it.</a:t>
            </a:r>
            <a:endParaRPr lang="en-US" sz="1300" dirty="0"/>
          </a:p>
        </p:txBody>
      </p:sp>
      <p:sp>
        <p:nvSpPr>
          <p:cNvPr id="900107"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107 / 113</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Generative Rules Admitted over the Recorded Runs (G1–G13)</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8" name="Table 0"/>
          <p:cNvGraphicFramePr>
            <a:graphicFrameLocks noGrp="1"/>
          </p:cNvGraphicFramePr>
          <p:nvPr/>
        </p:nvGraphicFramePr>
        <p:xfrm>
          <a:off x="457200" y="1325880"/>
          <a:ext cx="11292840" cy="914400"/>
        </p:xfrm>
        <a:graphic>
          <a:graphicData uri="http://schemas.openxmlformats.org/drawingml/2006/table">
            <a:tbl>
              <a:tblPr/>
              <a:tblGrid>
                <a:gridCol w="5943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 (gated decision concepts)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 (intensities)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H ∧ feasibility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retardant drop 0.8; deployment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urgency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retardant drop 0.8; deployment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fire threat H ∧ urgency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0.95; retardant drop 0.85; deployment 0.9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urgency VH ∧ fire threat M</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downwind_containment_shield 0.9; retardant drop 0.8; asset prot. 0.6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risk VH ∧ feasibility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downwind_retardant_shield 0.9; asset prot. 0.7; deployment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 H ∧ feasibility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head_knockdown 0.95; deployment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fire threat ≥ H ∧ evac. pressure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wet_containment_line 0.9; deployment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H ∧ fire threat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counterfire_strip 0.9; deployment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asset risk H ∧ evac. pressure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water drafting 0.8; deployment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9"/>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risk VH ∧ feasibility VH ∧ urgency VL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prot. 0.9; containment 0.8; retardant drop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0"/>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G11</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asset risk VH ∧ fire threat VL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water drafting 0.8; deployment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1"/>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G12</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asset risk VH ∧ evac. pressure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water drafting 0.8; retardant drop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2"/>
                  </a:ext>
                </a:extLst>
              </a:tr>
              <a:tr h="329184">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G13</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asset risk VH ∧ urgency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0.95; water drafting 0.8; retardant drop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
        <p:nvSpPr>
          <p:cNvPr id="7" name="Text 2"/>
          <p:cNvSpPr/>
          <p:nvPr/>
        </p:nvSpPr>
        <p:spPr>
          <a:xfrm>
            <a:off x="457200" y="6309360"/>
            <a:ext cx="11292840" cy="36576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VL/L/M/H/VH terms; "≥ X" = satisfied at level X or above; intensities on [0, 1], reproduced verbatim from the store. Every rule remains permanently marked machine-proposed in its provenance trail.</a:t>
            </a:r>
            <a:endParaRPr lang="en-US" sz="1200" dirty="0"/>
          </a:p>
        </p:txBody>
      </p:sp>
      <p:sp>
        <p:nvSpPr>
          <p:cNvPr id="900108"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108 / 113</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Generative Rules (G14–G20) and Admitted Vocabulary Objects</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9" name="Table 0"/>
          <p:cNvGraphicFramePr>
            <a:graphicFrameLocks noGrp="1"/>
          </p:cNvGraphicFramePr>
          <p:nvPr/>
        </p:nvGraphicFramePr>
        <p:xfrm>
          <a:off x="457200" y="1325880"/>
          <a:ext cx="11292840" cy="914400"/>
        </p:xfrm>
        <a:graphic>
          <a:graphicData uri="http://schemas.openxmlformats.org/drawingml/2006/table">
            <a:tbl>
              <a:tblPr/>
              <a:tblGrid>
                <a:gridCol w="5943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IF</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G14</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interface_exposure VH ∧ feasibility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prot. 0.90; containment 0.80; deployment 0.70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G15</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H ∧ asset risk VH ∧ feasibility VH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retardant drop 0.8; asset prot.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G16</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risk VH ∧ feasibility VH ∧ evac. pressure VL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containment 0.8; retardant drop 0.7; deployment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H ∧ feasibility 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containment 0.9; retardant drop 0.8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G18</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feasibility VH ∧ fire threat VL ∧ urgency VL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suppression 0.9; water drafting 0.8; containment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G19</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urgency H ∧ feasibility L ∧ asset risk H</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retardant drop 0.9; containment 0.8; water drafting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G20</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asset risk H ∧ evac. pressure VH ∧ feasibility L</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 drafting 0.9; suppression 0.8; retardant drop 0.7</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7" name="Text 2"/>
          <p:cNvSpPr/>
          <p:nvPr/>
        </p:nvSpPr>
        <p:spPr>
          <a:xfrm>
            <a:off x="457200" y="4206240"/>
            <a:ext cx="1129284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Vocabulary objects with their recorded definitions (examples)</a:t>
            </a:r>
            <a:endParaRPr lang="en-US" sz="1400" dirty="0"/>
          </a:p>
        </p:txBody>
      </p:sp>
      <p:graphicFrame>
        <p:nvGraphicFramePr>
          <p:cNvPr id="17" name="Table 1"/>
          <p:cNvGraphicFramePr>
            <a:graphicFrameLocks noGrp="1"/>
          </p:cNvGraphicFramePr>
          <p:nvPr/>
        </p:nvGraphicFramePr>
        <p:xfrm>
          <a:off x="457200" y="4553712"/>
          <a:ext cx="1129284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6995160">
                  <a:extLst>
                    <a:ext uri="{9D8B030D-6E8A-4147-A177-3AD203B41FA5}">
                      <a16:colId xmlns:a16="http://schemas.microsoft.com/office/drawing/2014/main" val="20002"/>
                    </a:ext>
                  </a:extLst>
                </a:gridCol>
              </a:tblGrid>
              <a:tr h="30175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Kind</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Recorded definition</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3017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capacity_starved_head_pressure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fire_threat 0.50, urgency 0.30, feasibility 0.20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head_run_pressure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fire_threat 0.40, urgency 0.30, evac. pressure 0.20, feasibility 0.10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Concept</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village_interface_pressure</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urgency 0.40, evac. pressure 0.30, fire_threat 0.30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buNone/>
                      </a:pPr>
                      <a:r>
                        <a:rPr lang="en-US" sz="1200" b="1" dirty="0">
                          <a:solidFill>
                            <a:srgbClr val="222222"/>
                          </a:solidFill>
                          <a:latin typeface="Calibri" pitchFamily="34" charset="0"/>
                          <a:ea typeface="Calibri" pitchFamily="34" charset="-122"/>
                          <a:cs typeface="Calibri" pitchFamily="34" charset="-120"/>
                        </a:rPr>
                        <a:t>Macro</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waterborne_relay_and_shelter</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water_drafting 1.00, evacuation 0.60, public_warning 0.50</a:t>
                      </a:r>
                      <a:endParaRPr lang="en-US" sz="1200" dirty="0">
                        <a:latin typeface="Calibri" charset="0"/>
                        <a:ea typeface="Calibri" charset="0"/>
                        <a:cs typeface="Calibri" charset="0"/>
                      </a:endParaRPr>
                    </a:p>
                  </a:txBody>
                  <a:tcPr marL="27432" marR="27432" marT="27432" marB="27432"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p:nvPr/>
        </p:nvSpPr>
        <p:spPr>
          <a:xfrm>
            <a:off x="457200" y="6355080"/>
            <a:ext cx="11292840" cy="320040"/>
          </a:xfrm>
          <a:prstGeom prst="rect">
            <a:avLst/>
          </a:prstGeom>
          <a:noFill/>
          <a:ln/>
        </p:spPr>
        <p:txBody>
          <a:bodyPr wrap="square" lIns="0" tIns="0" rIns="0" bIns="0" rtlCol="0" anchor="t"/>
          <a:lstStyle/>
          <a:p>
            <a:pPr marL="0" indent="0">
              <a:lnSpc>
                <a:spcPct val="104000"/>
              </a:lnSpc>
              <a:buNone/>
            </a:pPr>
            <a:r>
              <a:rPr lang="en-US" sz="1200" i="1" dirty="0">
                <a:solidFill>
                  <a:srgbClr val="6E6E6E"/>
                </a:solidFill>
                <a:latin typeface="Calibri" pitchFamily="34" charset="0"/>
                <a:ea typeface="Calibri" pitchFamily="34" charset="-122"/>
                <a:cs typeface="Calibri" pitchFamily="34" charset="-120"/>
              </a:rPr>
              <a:t>The seven admitted clause actuators are on the Discovered Tactics slide; a rule citing a name not listed here refers to an admitted object whose definition is recorded in the same lineage store.</a:t>
            </a:r>
            <a:endParaRPr lang="en-US" sz="1200" dirty="0"/>
          </a:p>
        </p:txBody>
      </p:sp>
      <p:sp>
        <p:nvSpPr>
          <p:cNvPr id="900109"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109 / 113</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F</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The Proposer Contract : One Fixed, Auditable Interface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325880"/>
            <a:ext cx="11247120" cy="1051560"/>
          </a:xfrm>
          <a:prstGeom prst="roundRect">
            <a:avLst>
              <a:gd name="adj" fmla="val 4348"/>
            </a:avLst>
          </a:prstGeom>
          <a:solidFill>
            <a:srgbClr val="F2F2F2"/>
          </a:solidFill>
          <a:ln/>
        </p:spPr>
      </p:sp>
      <p:sp>
        <p:nvSpPr>
          <p:cNvPr id="7" name="Text 3"/>
          <p:cNvSpPr/>
          <p:nvPr/>
        </p:nvSpPr>
        <p:spPr>
          <a:xfrm>
            <a:off x="777240" y="1417320"/>
            <a:ext cx="10698480" cy="896112"/>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Input — </a:t>
            </a:r>
            <a:r>
              <a:rPr lang="en-US" sz="1200" dirty="0">
                <a:solidFill>
                  <a:srgbClr val="222222"/>
                </a:solidFill>
                <a:latin typeface="Calibri" pitchFamily="34" charset="0"/>
                <a:ea typeface="Calibri" pitchFamily="34" charset="-122"/>
                <a:cs typeface="Calibri" pitchFamily="34" charset="-120"/>
              </a:rPr>
              <a:t>A deterministic situation summary — concept activations, observation confidence, recent cost trajectory, rule-base statistics, residual-cost location — plus the complete current vocabulary and an actuator library annotated with map availability (a water tactic on a dry map cannot be ordered by construction).</a:t>
            </a:r>
            <a:endParaRPr lang="en-US" sz="1250" dirty="0"/>
          </a:p>
        </p:txBody>
      </p:sp>
      <p:sp>
        <p:nvSpPr>
          <p:cNvPr id="8" name="Shape 4"/>
          <p:cNvSpPr/>
          <p:nvPr/>
        </p:nvSpPr>
        <p:spPr>
          <a:xfrm>
            <a:off x="502920" y="2459736"/>
            <a:ext cx="11247120" cy="1051560"/>
          </a:xfrm>
          <a:prstGeom prst="roundRect">
            <a:avLst>
              <a:gd name="adj" fmla="val 4348"/>
            </a:avLst>
          </a:prstGeom>
          <a:solidFill>
            <a:srgbClr val="F2F2F2"/>
          </a:solidFill>
          <a:ln/>
        </p:spPr>
      </p:sp>
      <p:sp>
        <p:nvSpPr>
          <p:cNvPr id="9" name="Text 5"/>
          <p:cNvSpPr/>
          <p:nvPr/>
        </p:nvSpPr>
        <p:spPr>
          <a:xfrm>
            <a:off x="777240" y="2551176"/>
            <a:ext cx="10698480" cy="896112"/>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Output — </a:t>
            </a:r>
            <a:r>
              <a:rPr lang="en-US" sz="1200" dirty="0">
                <a:solidFill>
                  <a:srgbClr val="222222"/>
                </a:solidFill>
                <a:latin typeface="Calibri" pitchFamily="34" charset="0"/>
                <a:ea typeface="Calibri" pitchFamily="34" charset="-122"/>
                <a:cs typeface="Calibri" pitchFamily="34" charset="-120"/>
              </a:rPr>
              <a:t>Exactly one minified JSON object: one rule (≤ 3 antecedents, ≤ 3 consequents, intensities in [0, 1]) — optionally a package with exactly one new object (concept ≤ 4 inputs, macro ≤ 3 channels, or clause actuator over the seven verified effects × seven sectors) that the rule must use.</a:t>
            </a:r>
            <a:endParaRPr lang="en-US" sz="1250" dirty="0"/>
          </a:p>
        </p:txBody>
      </p:sp>
      <p:sp>
        <p:nvSpPr>
          <p:cNvPr id="10" name="Shape 6"/>
          <p:cNvSpPr/>
          <p:nvPr/>
        </p:nvSpPr>
        <p:spPr>
          <a:xfrm>
            <a:off x="502920" y="3593592"/>
            <a:ext cx="11247120" cy="1051560"/>
          </a:xfrm>
          <a:prstGeom prst="roundRect">
            <a:avLst>
              <a:gd name="adj" fmla="val 4348"/>
            </a:avLst>
          </a:prstGeom>
          <a:solidFill>
            <a:srgbClr val="F2F2F2"/>
          </a:solidFill>
          <a:ln/>
        </p:spPr>
      </p:sp>
      <p:sp>
        <p:nvSpPr>
          <p:cNvPr id="11" name="Text 7"/>
          <p:cNvSpPr/>
          <p:nvPr/>
        </p:nvSpPr>
        <p:spPr>
          <a:xfrm>
            <a:off x="777240" y="3685032"/>
            <a:ext cx="10698480" cy="896112"/>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Discipline — </a:t>
            </a:r>
            <a:r>
              <a:rPr lang="en-US" sz="1200" dirty="0">
                <a:solidFill>
                  <a:srgbClr val="222222"/>
                </a:solidFill>
                <a:latin typeface="Calibri" pitchFamily="34" charset="0"/>
                <a:ea typeface="Calibri" pitchFamily="34" charset="-122"/>
                <a:cs typeface="Calibri" pitchFamily="34" charset="-120"/>
              </a:rPr>
              <a:t>No tools, no free text, 90-second wall-clock budget: a slow call is a skipped stage in the log, never a stalled cycle. Notation slips (a number where a term belongs) are repaired to the nearest term, and every repair is stamped into the rule's provenance note.</a:t>
            </a:r>
            <a:endParaRPr lang="en-US" sz="1250" dirty="0"/>
          </a:p>
        </p:txBody>
      </p:sp>
      <p:sp>
        <p:nvSpPr>
          <p:cNvPr id="12" name="Shape 8"/>
          <p:cNvSpPr/>
          <p:nvPr/>
        </p:nvSpPr>
        <p:spPr>
          <a:xfrm>
            <a:off x="502920" y="4727448"/>
            <a:ext cx="11247120" cy="1051560"/>
          </a:xfrm>
          <a:prstGeom prst="roundRect">
            <a:avLst>
              <a:gd name="adj" fmla="val 4348"/>
            </a:avLst>
          </a:prstGeom>
          <a:solidFill>
            <a:srgbClr val="FDE8EB"/>
          </a:solidFill>
          <a:ln/>
        </p:spPr>
      </p:sp>
      <p:sp>
        <p:nvSpPr>
          <p:cNvPr id="13" name="Text 9"/>
          <p:cNvSpPr/>
          <p:nvPr/>
        </p:nvSpPr>
        <p:spPr>
          <a:xfrm>
            <a:off x="777240" y="4818888"/>
            <a:ext cx="10698480" cy="896112"/>
          </a:xfrm>
          <a:prstGeom prst="rect">
            <a:avLst/>
          </a:prstGeom>
          <a:noFill/>
          <a:ln/>
        </p:spPr>
        <p:txBody>
          <a:bodyPr wrap="square" lIns="0" tIns="0" rIns="0" bIns="0" rtlCol="0" anchor="t"/>
          <a:lstStyle/>
          <a:p>
            <a:pPr marL="0" indent="0">
              <a:lnSpc>
                <a:spcPct val="104000"/>
              </a:lnSpc>
              <a:buNone/>
            </a:pPr>
            <a:r>
              <a:rPr lang="en-US" sz="1250" b="1" dirty="0">
                <a:solidFill>
                  <a:srgbClr val="E31836"/>
                </a:solidFill>
                <a:latin typeface="Calibri" pitchFamily="34" charset="0"/>
                <a:ea typeface="Calibri" pitchFamily="34" charset="-122"/>
                <a:cs typeface="Calibri" pitchFamily="34" charset="-120"/>
              </a:rPr>
              <a:t>Authority — </a:t>
            </a:r>
            <a:r>
              <a:rPr lang="en-US" sz="1200" dirty="0">
                <a:solidFill>
                  <a:srgbClr val="222222"/>
                </a:solidFill>
                <a:latin typeface="Calibri" pitchFamily="34" charset="0"/>
                <a:ea typeface="Calibri" pitchFamily="34" charset="-122"/>
                <a:cs typeface="Calibri" pitchFamily="34" charset="-120"/>
              </a:rPr>
              <a:t>None. The physical basis is fixed — observation features, decision axes, seven verified effects — and every proposal passes gates G1–G5b before any order can be influenced by it. Model identifier and transport are pinned per campaign and recorded in every run log.</a:t>
            </a:r>
            <a:endParaRPr lang="en-US" sz="1250" dirty="0"/>
          </a:p>
        </p:txBody>
      </p:sp>
      <p:sp>
        <p:nvSpPr>
          <p:cNvPr id="14" name="Text 10"/>
          <p:cNvSpPr/>
          <p:nvPr/>
        </p:nvSpPr>
        <p:spPr>
          <a:xfrm>
            <a:off x="502920" y="5989320"/>
            <a:ext cx="11247120" cy="594360"/>
          </a:xfrm>
          <a:prstGeom prst="rect">
            <a:avLst/>
          </a:prstGeom>
          <a:noFill/>
          <a:ln/>
        </p:spPr>
        <p:txBody>
          <a:bodyPr wrap="square" lIns="0" tIns="0" rIns="0" bIns="0" rtlCol="0" anchor="t"/>
          <a:lstStyle/>
          <a:p>
            <a:pPr marL="0" indent="0">
              <a:lnSpc>
                <a:spcPct val="104000"/>
              </a:lnSpc>
              <a:buNone/>
            </a:pPr>
            <a:r>
              <a:rPr lang="en-US" sz="1200" b="1" dirty="0">
                <a:solidFill>
                  <a:srgbClr val="000000"/>
                </a:solidFill>
                <a:latin typeface="Calibri" pitchFamily="34" charset="0"/>
                <a:ea typeface="Calibri" pitchFamily="34" charset="-122"/>
                <a:cs typeface="Calibri" pitchFamily="34" charset="-120"/>
              </a:rPr>
              <a:t>System instruction (abstract): </a:t>
            </a:r>
            <a:r>
              <a:rPr lang="en-US" sz="1200" i="1" dirty="0">
                <a:solidFill>
                  <a:srgbClr val="222222"/>
                </a:solidFill>
                <a:latin typeface="Calibri" pitchFamily="34" charset="0"/>
                <a:ea typeface="Calibri" pitchFamily="34" charset="-122"/>
                <a:cs typeface="Calibri" pitchFamily="34" charset="-120"/>
              </a:rPr>
              <a:t>"Propose a single candidate rule that reduces residual decision cost. Use only the concepts, interventions, terms, and map-available actuators given to you. A new clause actuator must compose only the verified effects, be drawn from real wildfire practice, and be named honestly. Output one minified JSON object — nothing else."</a:t>
            </a:r>
            <a:endParaRPr lang="en-US" sz="1200" dirty="0"/>
          </a:p>
        </p:txBody>
      </p:sp>
      <p:sp>
        <p:nvSpPr>
          <p:cNvPr id="900110"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110 / 113</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APPENDIX F</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Anatomy of the Standing Mission Brief (One Recorded Run)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Shape 2"/>
          <p:cNvSpPr/>
          <p:nvPr/>
        </p:nvSpPr>
        <p:spPr>
          <a:xfrm>
            <a:off x="502920" y="1325880"/>
            <a:ext cx="5486400" cy="1609344"/>
          </a:xfrm>
          <a:prstGeom prst="roundRect">
            <a:avLst>
              <a:gd name="adj" fmla="val 2841"/>
            </a:avLst>
          </a:prstGeom>
          <a:solidFill>
            <a:srgbClr val="F2F2F2"/>
          </a:solidFill>
          <a:ln/>
        </p:spPr>
      </p:sp>
      <p:sp>
        <p:nvSpPr>
          <p:cNvPr id="7" name="Text 3"/>
          <p:cNvSpPr/>
          <p:nvPr/>
        </p:nvSpPr>
        <p:spPr>
          <a:xfrm>
            <a:off x="704088" y="1426464"/>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Map affordances — </a:t>
            </a:r>
            <a:r>
              <a:rPr lang="en-US" sz="1200" dirty="0">
                <a:solidFill>
                  <a:srgbClr val="222222"/>
                </a:solidFill>
                <a:latin typeface="Calibri" pitchFamily="34" charset="0"/>
                <a:ea typeface="Calibri" pitchFamily="34" charset="-122"/>
                <a:cs typeface="Calibri" pitchFamily="34" charset="-120"/>
              </a:rPr>
              <a:t>100 × 70 cells at 30 m; land cover shares; 206 water cells centred near (52,17) — "engines and aircraft can draft there, so sustained capacity near the water is real".</a:t>
            </a:r>
            <a:endParaRPr lang="en-US" sz="1200" dirty="0"/>
          </a:p>
        </p:txBody>
      </p:sp>
      <p:sp>
        <p:nvSpPr>
          <p:cNvPr id="8" name="Shape 4"/>
          <p:cNvSpPr/>
          <p:nvPr/>
        </p:nvSpPr>
        <p:spPr>
          <a:xfrm>
            <a:off x="6263640" y="1325880"/>
            <a:ext cx="5486400" cy="1609344"/>
          </a:xfrm>
          <a:prstGeom prst="roundRect">
            <a:avLst>
              <a:gd name="adj" fmla="val 2841"/>
            </a:avLst>
          </a:prstGeom>
          <a:solidFill>
            <a:srgbClr val="F2F2F2"/>
          </a:solidFill>
          <a:ln/>
        </p:spPr>
      </p:sp>
      <p:sp>
        <p:nvSpPr>
          <p:cNvPr id="9" name="Text 5"/>
          <p:cNvSpPr/>
          <p:nvPr/>
        </p:nvSpPr>
        <p:spPr>
          <a:xfrm>
            <a:off x="6464808" y="1426464"/>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Assets by value and life — </a:t>
            </a:r>
            <a:r>
              <a:rPr lang="en-US" sz="1200" dirty="0">
                <a:solidFill>
                  <a:srgbClr val="222222"/>
                </a:solidFill>
                <a:latin typeface="Calibri" pitchFamily="34" charset="0"/>
                <a:ea typeface="Calibri" pitchFamily="34" charset="-122"/>
                <a:cs typeface="Calibri" pitchFamily="34" charset="-120"/>
              </a:rPr>
              <a:t>town of ~12 600 with hospital, power plant, water treatment (values 0.8–1.0); a village of ~3 150; one evacuation route — protection priorities: critical 0.40, population 0.25, building 0.20, evacuation 0.15.</a:t>
            </a:r>
            <a:endParaRPr lang="en-US" sz="1200" dirty="0"/>
          </a:p>
        </p:txBody>
      </p:sp>
      <p:sp>
        <p:nvSpPr>
          <p:cNvPr id="10" name="Shape 6"/>
          <p:cNvSpPr/>
          <p:nvPr/>
        </p:nvSpPr>
        <p:spPr>
          <a:xfrm>
            <a:off x="502920" y="3026664"/>
            <a:ext cx="5486400" cy="1609344"/>
          </a:xfrm>
          <a:prstGeom prst="roundRect">
            <a:avLst>
              <a:gd name="adj" fmla="val 2841"/>
            </a:avLst>
          </a:prstGeom>
          <a:solidFill>
            <a:srgbClr val="F2F2F2"/>
          </a:solidFill>
          <a:ln/>
        </p:spPr>
      </p:sp>
      <p:sp>
        <p:nvSpPr>
          <p:cNvPr id="11" name="Text 7"/>
          <p:cNvSpPr/>
          <p:nvPr/>
        </p:nvSpPr>
        <p:spPr>
          <a:xfrm>
            <a:off x="704088" y="3127248"/>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The two weight sets — </a:t>
            </a:r>
            <a:r>
              <a:rPr lang="en-US" sz="1200" dirty="0">
                <a:solidFill>
                  <a:srgbClr val="222222"/>
                </a:solidFill>
                <a:latin typeface="Calibri" pitchFamily="34" charset="0"/>
                <a:ea typeface="Calibri" pitchFamily="34" charset="-122"/>
                <a:cs typeface="Calibri" pitchFamily="34" charset="-120"/>
              </a:rPr>
              <a:t>WHERE effort goes (protection priorities) vs WHAT counts as a bad outcome (loss weights of J: burn 0.29, asset 0.29, population 0.29, response 0.06, delay 0.06); trials are judged on the physical part.</a:t>
            </a:r>
            <a:endParaRPr lang="en-US" sz="1200" dirty="0"/>
          </a:p>
        </p:txBody>
      </p:sp>
      <p:sp>
        <p:nvSpPr>
          <p:cNvPr id="12" name="Shape 8"/>
          <p:cNvSpPr/>
          <p:nvPr/>
        </p:nvSpPr>
        <p:spPr>
          <a:xfrm>
            <a:off x="6263640" y="3026664"/>
            <a:ext cx="5486400" cy="1609344"/>
          </a:xfrm>
          <a:prstGeom prst="roundRect">
            <a:avLst>
              <a:gd name="adj" fmla="val 2841"/>
            </a:avLst>
          </a:prstGeom>
          <a:solidFill>
            <a:srgbClr val="F2F2F2"/>
          </a:solidFill>
          <a:ln/>
        </p:spPr>
      </p:sp>
      <p:sp>
        <p:nvSpPr>
          <p:cNvPr id="13" name="Text 9"/>
          <p:cNvSpPr/>
          <p:nvPr/>
        </p:nvSpPr>
        <p:spPr>
          <a:xfrm>
            <a:off x="6464808" y="3127248"/>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Doctrine vs library — </a:t>
            </a:r>
            <a:r>
              <a:rPr lang="en-US" sz="1200" dirty="0">
                <a:solidFill>
                  <a:srgbClr val="222222"/>
                </a:solidFill>
                <a:latin typeface="Calibri" pitchFamily="34" charset="0"/>
                <a:ea typeface="Calibri" pitchFamily="34" charset="-122"/>
                <a:cs typeface="Calibri" pitchFamily="34" charset="-120"/>
              </a:rPr>
              <a:t>six seeded families — and the actuator library no seed rule orders (tactical_burn, water_drafting, retardant_drop): "discovering a use is your job", each with its real-fire caveat.</a:t>
            </a:r>
            <a:endParaRPr lang="en-US" sz="1200" dirty="0"/>
          </a:p>
        </p:txBody>
      </p:sp>
      <p:sp>
        <p:nvSpPr>
          <p:cNvPr id="14" name="Shape 10"/>
          <p:cNvSpPr/>
          <p:nvPr/>
        </p:nvSpPr>
        <p:spPr>
          <a:xfrm>
            <a:off x="502920" y="4727448"/>
            <a:ext cx="5486400" cy="1609344"/>
          </a:xfrm>
          <a:prstGeom prst="roundRect">
            <a:avLst>
              <a:gd name="adj" fmla="val 2841"/>
            </a:avLst>
          </a:prstGeom>
          <a:solidFill>
            <a:srgbClr val="F2F2F2"/>
          </a:solidFill>
          <a:ln/>
        </p:spPr>
      </p:sp>
      <p:sp>
        <p:nvSpPr>
          <p:cNvPr id="15" name="Text 11"/>
          <p:cNvSpPr/>
          <p:nvPr/>
        </p:nvSpPr>
        <p:spPr>
          <a:xfrm>
            <a:off x="704088" y="4828032"/>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When to invent what — </a:t>
            </a:r>
            <a:r>
              <a:rPr lang="en-US" sz="1200" dirty="0">
                <a:solidFill>
                  <a:srgbClr val="222222"/>
                </a:solidFill>
                <a:latin typeface="Calibri" pitchFamily="34" charset="0"/>
                <a:ea typeface="Calibri" pitchFamily="34" charset="-122"/>
                <a:cs typeface="Calibri" pitchFamily="34" charset="-120"/>
              </a:rPr>
              <a:t>plain rule / new concept (recurring unnameable situation) / composite (two channels as one) / clause actuator (the tactic needs its own geometry) — "use only what THIS map supports".</a:t>
            </a:r>
            <a:endParaRPr lang="en-US" sz="1200" dirty="0"/>
          </a:p>
        </p:txBody>
      </p:sp>
      <p:sp>
        <p:nvSpPr>
          <p:cNvPr id="16" name="Shape 12"/>
          <p:cNvSpPr/>
          <p:nvPr/>
        </p:nvSpPr>
        <p:spPr>
          <a:xfrm>
            <a:off x="6263640" y="4727448"/>
            <a:ext cx="5486400" cy="1609344"/>
          </a:xfrm>
          <a:prstGeom prst="roundRect">
            <a:avLst>
              <a:gd name="adj" fmla="val 2841"/>
            </a:avLst>
          </a:prstGeom>
          <a:solidFill>
            <a:srgbClr val="F2F2F2"/>
          </a:solidFill>
          <a:ln/>
        </p:spPr>
      </p:sp>
      <p:sp>
        <p:nvSpPr>
          <p:cNvPr id="17" name="Text 13"/>
          <p:cNvSpPr/>
          <p:nvPr/>
        </p:nvSpPr>
        <p:spPr>
          <a:xfrm>
            <a:off x="6464808" y="4828032"/>
            <a:ext cx="5074920" cy="1426464"/>
          </a:xfrm>
          <a:prstGeom prst="rect">
            <a:avLst/>
          </a:prstGeom>
          <a:noFill/>
          <a:ln/>
        </p:spPr>
        <p:txBody>
          <a:bodyPr wrap="square" lIns="0" tIns="0" rIns="0" bIns="0" rtlCol="0" anchor="t"/>
          <a:lstStyle/>
          <a:p>
            <a:pPr marL="0" indent="0">
              <a:lnSpc>
                <a:spcPct val="104000"/>
              </a:lnSpc>
              <a:buNone/>
            </a:pPr>
            <a:r>
              <a:rPr lang="en-US" sz="1200" b="1" dirty="0">
                <a:solidFill>
                  <a:srgbClr val="E31836"/>
                </a:solidFill>
                <a:latin typeface="Calibri" pitchFamily="34" charset="0"/>
                <a:ea typeface="Calibri" pitchFamily="34" charset="-122"/>
                <a:cs typeface="Calibri" pitchFamily="34" charset="-120"/>
              </a:rPr>
              <a:t>Standing rules — </a:t>
            </a:r>
            <a:r>
              <a:rPr lang="en-US" sz="1200" dirty="0">
                <a:solidFill>
                  <a:srgbClr val="222222"/>
                </a:solidFill>
                <a:latin typeface="Calibri" pitchFamily="34" charset="0"/>
                <a:ea typeface="Calibri" pitchFamily="34" charset="-122"/>
                <a:cs typeface="Calibri" pitchFamily="34" charset="-120"/>
              </a:rPr>
              <a:t>every proposal must fire in the situation it is proposed for; orders must move a 45-minute forecast; a rejected proposal returns once with the failing gate named — fix exactly that.</a:t>
            </a:r>
            <a:endParaRPr lang="en-US" sz="1200" dirty="0"/>
          </a:p>
        </p:txBody>
      </p:sp>
      <p:sp>
        <p:nvSpPr>
          <p:cNvPr id="18" name="Text 14"/>
          <p:cNvSpPr/>
          <p:nvPr/>
        </p:nvSpPr>
        <p:spPr>
          <a:xfrm>
            <a:off x="502920" y="6446520"/>
            <a:ext cx="11247120" cy="320040"/>
          </a:xfrm>
          <a:prstGeom prst="rect">
            <a:avLst/>
          </a:prstGeom>
          <a:noFill/>
          <a:ln/>
        </p:spPr>
        <p:txBody>
          <a:bodyPr wrap="square" lIns="0" tIns="0" rIns="0" bIns="0" rtlCol="0" anchor="t"/>
          <a:lstStyle/>
          <a:p>
            <a:pPr marL="0" indent="0">
              <a:lnSpc>
                <a:spcPct val="104000"/>
              </a:lnSpc>
              <a:buNone/>
            </a:pPr>
            <a:r>
              <a:rPr lang="en-US" sz="1250" b="1" i="1" dirty="0">
                <a:solidFill>
                  <a:srgbClr val="E31836"/>
                </a:solidFill>
                <a:latin typeface="Calibri" pitchFamily="34" charset="0"/>
                <a:ea typeface="Calibri" pitchFamily="34" charset="-122"/>
                <a:cs typeface="Calibri" pitchFamily="34" charset="-120"/>
              </a:rPr>
              <a:t>Built once per incident, sent verbatim on every generative call of that run, and written to the run log for audit.</a:t>
            </a:r>
            <a:endParaRPr lang="en-US" sz="1250" dirty="0"/>
          </a:p>
        </p:txBody>
      </p:sp>
      <p:sp>
        <p:nvSpPr>
          <p:cNvPr id="900111"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111 / 113</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SCOPE OF THE SENSITIVITY EVIDENCE</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What Is Swept, What Is Fixed by Design</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sp>
        <p:nvSpPr>
          <p:cNvPr id="6" name="Text 2"/>
          <p:cNvSpPr/>
          <p:nvPr/>
        </p:nvSpPr>
        <p:spPr>
          <a:xfrm>
            <a:off x="502920" y="1280160"/>
            <a:ext cx="548640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Swept — one bias at a time</a:t>
            </a:r>
            <a:endParaRPr lang="en-US" sz="1400" dirty="0"/>
          </a:p>
        </p:txBody>
      </p:sp>
      <mc:AlternateContent xmlns:mc="http://schemas.openxmlformats.org/markup-compatibility/2006" xmlns:a14="http://schemas.microsoft.com/office/drawing/2010/main">
        <mc:Choice Requires="a14">
          <p:sp>
            <p:nvSpPr>
              <p:cNvPr id="7" name="Text 3"/>
              <p:cNvSpPr/>
              <p:nvPr/>
            </p:nvSpPr>
            <p:spPr>
              <a:xfrm>
                <a:off x="502920" y="1627632"/>
                <a:ext cx="5486400" cy="246888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Fire load (1–12 ignitions) and resource level (0.10–1.00) — the situational axes that locate the operating point</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Local regions (1–16), attention threshold </a:t>
                </a:r>
                <a14:m>
                  <m:oMath xmlns:m="http://schemas.openxmlformats.org/officeDocument/2006/math">
                    <m:sSub>
                      <m:sSubPr>
                        <m:ctrlPr>
                          <a:rPr lang="en-US" i="1">
                            <a:latin typeface="Cambria Math" panose="02040503050406030204" pitchFamily="18" charset="0"/>
                          </a:rPr>
                        </m:ctrlPr>
                      </m:sSubPr>
                      <m:e>
                        <m:r>
                          <a:rPr lang="en-US" sz="1200">
                            <a:latin typeface="Cambria Math"/>
                          </a:rPr>
                          <m:t>𝜏</m:t>
                        </m:r>
                      </m:e>
                      <m:sub>
                        <m:r>
                          <a:rPr lang="en-US" sz="1200">
                            <a:latin typeface="Cambria Math"/>
                          </a:rPr>
                          <m:t>𝑎𝑡𝑡</m:t>
                        </m:r>
                      </m:sub>
                    </m:sSub>
                  </m:oMath>
                </a14:m>
                <a:r>
                  <a:rPr lang="en-US" sz="1200" dirty="0">
                    <a:solidFill>
                      <a:srgbClr val="222222"/>
                    </a:solidFill>
                    <a:latin typeface="Calibri" pitchFamily="34" charset="0"/>
                    <a:ea typeface="Calibri" pitchFamily="34" charset="-122"/>
                    <a:cs typeface="Calibri" pitchFamily="34" charset="-120"/>
                  </a:rPr>
                  <a:t>, no-harm horizon (45–90 min)</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Satisficing bound </a:t>
                </a:r>
                <a14:m>
                  <m:oMath xmlns:m="http://schemas.openxmlformats.org/officeDocument/2006/math">
                    <m:sSub>
                      <m:sSubPr>
                        <m:ctrlPr>
                          <a:rPr lang="en-US" i="1">
                            <a:latin typeface="Cambria Math" panose="02040503050406030204" pitchFamily="18" charset="0"/>
                          </a:rPr>
                        </m:ctrlPr>
                      </m:sSubPr>
                      <m:e>
                        <m:r>
                          <a:rPr lang="en-US" sz="1200">
                            <a:latin typeface="Cambria Math"/>
                          </a:rPr>
                          <m:t>𝐽</m:t>
                        </m:r>
                      </m:e>
                      <m:sub>
                        <m:r>
                          <a:rPr lang="en-US" sz="1200">
                            <a:latin typeface="Cambria Math"/>
                          </a:rPr>
                          <m:t>𝑇𝐻</m:t>
                        </m:r>
                      </m:sub>
                    </m:sSub>
                  </m:oMath>
                </a14:m>
                <a:r>
                  <a:rPr lang="en-US" sz="1200" dirty="0">
                    <a:solidFill>
                      <a:srgbClr val="222222"/>
                    </a:solidFill>
                    <a:latin typeface="Calibri" pitchFamily="34" charset="0"/>
                    <a:ea typeface="Calibri" pitchFamily="34" charset="-122"/>
                    <a:cs typeface="Calibri" pitchFamily="34" charset="-120"/>
                  </a:rPr>
                  <a:t> (0.15–0.60) and quality gate </a:t>
                </a:r>
                <a14:m>
                  <m:oMath xmlns:m="http://schemas.openxmlformats.org/officeDocument/2006/math">
                    <m:r>
                      <a:rPr lang="en-US" sz="1200">
                        <a:latin typeface="Cambria Math"/>
                      </a:rPr>
                      <m:t>𝜂</m:t>
                    </m:r>
                  </m:oMath>
                </a14:m>
                <a:r>
                  <a:rPr lang="en-US" sz="1200" dirty="0">
                    <a:solidFill>
                      <a:srgbClr val="222222"/>
                    </a:solidFill>
                    <a:latin typeface="Calibri" pitchFamily="34" charset="0"/>
                    <a:ea typeface="Calibri" pitchFamily="34" charset="-122"/>
                    <a:cs typeface="Calibri" pitchFamily="34" charset="-120"/>
                  </a:rPr>
                  <a:t> (0.30–0.90)</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Observation coverage (1–9 sensors), decision cycle (2–20 min)</a:t>
                </a:r>
                <a:endParaRPr lang="en-US" sz="1200" dirty="0"/>
              </a:p>
            </p:txBody>
          </p:sp>
        </mc:Choice>
        <mc:Fallback xmlns="">
          <p:sp>
            <p:nvSpPr>
              <p:cNvPr id="7" name="Text 3"/>
              <p:cNvSpPr>
                <a:spLocks noRot="1" noChangeAspect="1" noMove="1" noResize="1" noEditPoints="1" noAdjustHandles="1" noChangeArrowheads="1" noChangeShapeType="1" noTextEdit="1"/>
              </p:cNvSpPr>
              <p:nvPr/>
            </p:nvSpPr>
            <p:spPr>
              <a:xfrm>
                <a:off x="502920" y="1627632"/>
                <a:ext cx="5486400" cy="2468880"/>
              </a:xfrm>
              <a:prstGeom prst="rect">
                <a:avLst/>
              </a:prstGeom>
              <a:blipFill>
                <a:blip r:embed="rId5"/>
                <a:stretch>
                  <a:fillRect l="-1778" t="-2222"/>
                </a:stretch>
              </a:blipFill>
              <a:ln/>
            </p:spPr>
            <p:txBody>
              <a:bodyPr/>
              <a:lstStyle/>
              <a:p>
                <a:r>
                  <a:rPr lang="tr-TR">
                    <a:noFill/>
                  </a:rPr>
                  <a:t/>
                </a:r>
              </a:p>
            </p:txBody>
          </p:sp>
        </mc:Fallback>
      </mc:AlternateContent>
      <p:sp>
        <p:nvSpPr>
          <p:cNvPr id="8" name="Text 4"/>
          <p:cNvSpPr/>
          <p:nvPr/>
        </p:nvSpPr>
        <p:spPr>
          <a:xfrm>
            <a:off x="6446520" y="1280160"/>
            <a:ext cx="5303520" cy="292608"/>
          </a:xfrm>
          <a:prstGeom prst="rect">
            <a:avLst/>
          </a:prstGeom>
          <a:noFill/>
          <a:ln/>
        </p:spPr>
        <p:txBody>
          <a:bodyPr wrap="square" lIns="0" tIns="0" rIns="0" bIns="0" rtlCol="0" anchor="ctr"/>
          <a:lstStyle/>
          <a:p>
            <a:pPr marL="0" indent="0">
              <a:buNone/>
            </a:pPr>
            <a:r>
              <a:rPr lang="en-US" sz="1400" b="1" dirty="0">
                <a:solidFill>
                  <a:srgbClr val="E31836"/>
                </a:solidFill>
                <a:latin typeface="Calibri" pitchFamily="34" charset="0"/>
                <a:ea typeface="Calibri" pitchFamily="34" charset="-122"/>
                <a:cs typeface="Calibri" pitchFamily="34" charset="-120"/>
              </a:rPr>
              <a:t>Fixed and known for a run (by design)</a:t>
            </a:r>
            <a:endParaRPr lang="en-US" sz="1400" dirty="0"/>
          </a:p>
        </p:txBody>
      </p:sp>
      <p:sp>
        <p:nvSpPr>
          <p:cNvPr id="9" name="Text 5"/>
          <p:cNvSpPr/>
          <p:nvPr/>
        </p:nvSpPr>
        <p:spPr>
          <a:xfrm>
            <a:off x="6446520" y="1627632"/>
            <a:ext cx="5303520" cy="2286000"/>
          </a:xfrm>
          <a:prstGeom prst="rect">
            <a:avLst/>
          </a:prstGeom>
          <a:noFill/>
          <a:ln/>
        </p:spPr>
        <p:txBody>
          <a:bodyPr wrap="square" lIns="0" tIns="0" rIns="0" bIns="0" rtlCol="0" anchor="t"/>
          <a:lstStyle/>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Loss weights of J: burn / asset / population 0.29 each; response / delay 0.06 each (1.0-1.0-1.0-0.2-0.2 normalized)</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Protection priorities: critical 0.40, population 0.25, building 0.20, evacuation 0.15</a:t>
            </a:r>
            <a:endParaRPr lang="en-US" sz="1200" dirty="0"/>
          </a:p>
          <a:p>
            <a:pPr marL="152400" indent="-152400">
              <a:lnSpc>
                <a:spcPct val="104000"/>
              </a:lnSpc>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The spread parameters of Appendix A — frozen at literature-calibrated values before any experiment</a:t>
            </a:r>
            <a:endParaRPr lang="en-US" sz="1200" dirty="0"/>
          </a:p>
        </p:txBody>
      </p:sp>
      <p:sp>
        <p:nvSpPr>
          <p:cNvPr id="10" name="Shape 6"/>
          <p:cNvSpPr/>
          <p:nvPr/>
        </p:nvSpPr>
        <p:spPr>
          <a:xfrm>
            <a:off x="502920" y="4114800"/>
            <a:ext cx="11247120" cy="2377440"/>
          </a:xfrm>
          <a:prstGeom prst="roundRect">
            <a:avLst>
              <a:gd name="adj" fmla="val 1923"/>
            </a:avLst>
          </a:prstGeom>
          <a:solidFill>
            <a:srgbClr val="FDE8EB"/>
          </a:solidFill>
          <a:ln/>
        </p:spPr>
      </p:sp>
      <p:sp>
        <p:nvSpPr>
          <p:cNvPr id="11" name="Text 7"/>
          <p:cNvSpPr/>
          <p:nvPr/>
        </p:nvSpPr>
        <p:spPr>
          <a:xfrm>
            <a:off x="777240" y="4261104"/>
            <a:ext cx="10698480" cy="2103120"/>
          </a:xfrm>
          <a:prstGeom prst="rect">
            <a:avLst/>
          </a:prstGeom>
          <a:noFill/>
          <a:ln/>
        </p:spPr>
        <p:txBody>
          <a:bodyPr wrap="square" lIns="0" tIns="0" rIns="0" bIns="0" rtlCol="0" anchor="t"/>
          <a:lstStyle/>
          <a:p>
            <a:pPr marL="0" indent="0">
              <a:lnSpc>
                <a:spcPct val="104000"/>
              </a:lnSpc>
              <a:buNone/>
            </a:pPr>
            <a:r>
              <a:rPr lang="en-US" sz="1300" b="1" dirty="0">
                <a:solidFill>
                  <a:srgbClr val="000000"/>
                </a:solidFill>
                <a:latin typeface="Calibri" pitchFamily="34" charset="0"/>
                <a:ea typeface="Calibri" pitchFamily="34" charset="-122"/>
                <a:cs typeface="Calibri" pitchFamily="34" charset="-120"/>
              </a:rPr>
              <a:t>Why the priority and cost weights are not swept. </a:t>
            </a:r>
            <a:r>
              <a:rPr lang="en-US" sz="1250" dirty="0">
                <a:solidFill>
                  <a:srgbClr val="222222"/>
                </a:solidFill>
                <a:latin typeface="Calibri" pitchFamily="34" charset="0"/>
                <a:ea typeface="Calibri" pitchFamily="34" charset="-122"/>
                <a:cs typeface="Calibri" pitchFamily="34" charset="-120"/>
              </a:rPr>
              <a:t>They are doctrine, not loop parameters: the thesis states them as a fixed-and-known assumption of every run, and the sensitivity design biases the parameters of the decision loop around one operating point. A bias of the objective itself — different loss weights, different protection priorities, a mis-specified fuel map or wind field — changes what "good" means rather than how well the loop pursues it; the thesis notes such plant-side biases enter the evidence only through the degraded-observation scenario S5 and would require dedicated runs to separate. </a:t>
            </a:r>
            <a:r>
              <a:rPr lang="en-US" sz="1250" b="1" dirty="0">
                <a:solidFill>
                  <a:srgbClr val="E31836"/>
                </a:solidFill>
                <a:latin typeface="Calibri" pitchFamily="34" charset="0"/>
                <a:ea typeface="Calibri" pitchFamily="34" charset="-122"/>
                <a:cs typeface="Calibri" pitchFamily="34" charset="-120"/>
              </a:rPr>
              <a:t>If the jury asks "what if the priorities change": the honest answer is that the weights are configuration, every result is conditional on them, and a weight-sweep is exactly the kind of dedicated campaign the boundary statement of Chapter 5 anticipates.</a:t>
            </a:r>
            <a:endParaRPr lang="en-US" sz="1300" dirty="0"/>
          </a:p>
        </p:txBody>
      </p:sp>
      <p:sp>
        <p:nvSpPr>
          <p:cNvPr id="900112"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112 / 113</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02920" y="237744"/>
            <a:ext cx="10058400" cy="292608"/>
          </a:xfrm>
          <a:prstGeom prst="rect">
            <a:avLst/>
          </a:prstGeom>
          <a:noFill/>
          <a:ln/>
        </p:spPr>
        <p:txBody>
          <a:bodyPr wrap="square" lIns="0" tIns="0" rIns="0" bIns="0" rtlCol="0" anchor="ctr"/>
          <a:lstStyle/>
          <a:p>
            <a:pPr marL="0" indent="0">
              <a:buNone/>
            </a:pPr>
            <a:r>
              <a:rPr lang="en-US" sz="1300" b="1" kern="0" spc="200" dirty="0">
                <a:solidFill>
                  <a:srgbClr val="E31836"/>
                </a:solidFill>
                <a:latin typeface="Calibri" pitchFamily="34" charset="0"/>
                <a:ea typeface="Calibri" pitchFamily="34" charset="-122"/>
                <a:cs typeface="Calibri" pitchFamily="34" charset="-120"/>
              </a:rPr>
              <a:t>BACKUP · ONE DECISION IN FULL</a:t>
            </a:r>
            <a:endParaRPr lang="en-US" sz="1300" dirty="0"/>
          </a:p>
        </p:txBody>
      </p:sp>
      <p:sp>
        <p:nvSpPr>
          <p:cNvPr id="3" name="Text 1"/>
          <p:cNvSpPr/>
          <p:nvPr/>
        </p:nvSpPr>
        <p:spPr>
          <a:xfrm>
            <a:off x="502920" y="493776"/>
            <a:ext cx="11247120" cy="621792"/>
          </a:xfrm>
          <a:prstGeom prst="rect">
            <a:avLst/>
          </a:prstGeom>
          <a:noFill/>
          <a:ln/>
        </p:spPr>
        <p:txBody>
          <a:bodyPr wrap="square" lIns="0" tIns="0" rIns="0" bIns="0" rtlCol="0" anchor="ctr"/>
          <a:lstStyle/>
          <a:p>
            <a:pPr marL="0" indent="0">
              <a:buNone/>
            </a:pPr>
            <a:r>
              <a:rPr lang="en-US" sz="2500" b="1" dirty="0">
                <a:solidFill>
                  <a:srgbClr val="000000"/>
                </a:solidFill>
                <a:latin typeface="Cambria" pitchFamily="34" charset="0"/>
                <a:ea typeface="Cambria" pitchFamily="34" charset="-122"/>
                <a:cs typeface="Cambria" pitchFamily="34" charset="-120"/>
              </a:rPr>
              <a:t>A Single Decision, Line by Line</a:t>
            </a:r>
            <a:endParaRPr lang="en-US" sz="2500" dirty="0"/>
          </a:p>
        </p:txBody>
      </p:sp>
      <p:pic>
        <p:nvPicPr>
          <p:cNvPr id="4" name="Image 0" descr="/tmp/thx/deck/figs/metu_emblem.png"/>
          <p:cNvPicPr>
            <a:picLocks noChangeAspect="1"/>
          </p:cNvPicPr>
          <p:nvPr/>
        </p:nvPicPr>
        <p:blipFill>
          <a:blip r:embed="rId3"/>
          <a:stretch>
            <a:fillRect/>
          </a:stretch>
        </p:blipFill>
        <p:spPr>
          <a:xfrm>
            <a:off x="10716768" y="184607"/>
            <a:ext cx="475488" cy="398882"/>
          </a:xfrm>
          <a:prstGeom prst="rect">
            <a:avLst/>
          </a:prstGeom>
        </p:spPr>
      </p:pic>
      <p:pic>
        <p:nvPicPr>
          <p:cNvPr id="5" name="Image 1" descr="/tmp/thx/deck/figs/eee_logo.png"/>
          <p:cNvPicPr>
            <a:picLocks noChangeAspect="1"/>
          </p:cNvPicPr>
          <p:nvPr/>
        </p:nvPicPr>
        <p:blipFill>
          <a:blip r:embed="rId4"/>
          <a:stretch>
            <a:fillRect/>
          </a:stretch>
        </p:blipFill>
        <p:spPr>
          <a:xfrm>
            <a:off x="11265408" y="186217"/>
            <a:ext cx="475488" cy="395662"/>
          </a:xfrm>
          <a:prstGeom prst="rect">
            <a:avLst/>
          </a:prstGeom>
        </p:spPr>
      </p:pic>
      <p:graphicFrame>
        <p:nvGraphicFramePr>
          <p:cNvPr id="13" name="Table 0"/>
          <p:cNvGraphicFramePr>
            <a:graphicFrameLocks noGrp="1"/>
          </p:cNvGraphicFramePr>
          <p:nvPr/>
        </p:nvGraphicFramePr>
        <p:xfrm>
          <a:off x="457200" y="1371600"/>
          <a:ext cx="11292840" cy="4526280"/>
        </p:xfrm>
        <a:graphic>
          <a:graphicData uri="http://schemas.openxmlformats.org/drawingml/2006/table">
            <a:tbl>
              <a:tblPr/>
              <a:tblGrid>
                <a:gridCol w="1737360">
                  <a:extLst>
                    <a:ext uri="{9D8B030D-6E8A-4147-A177-3AD203B41FA5}">
                      <a16:colId xmlns:a16="http://schemas.microsoft.com/office/drawing/2014/main" val="20000"/>
                    </a:ext>
                  </a:extLst>
                </a:gridCol>
                <a:gridCol w="9555480">
                  <a:extLst>
                    <a:ext uri="{9D8B030D-6E8A-4147-A177-3AD203B41FA5}">
                      <a16:colId xmlns:a16="http://schemas.microsoft.com/office/drawing/2014/main" val="20001"/>
                    </a:ext>
                  </a:extLst>
                </a:gridCol>
              </a:tblGrid>
              <a:tr h="5029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record holds</a:t>
                      </a:r>
                      <a:endParaRPr lang="en-US" sz="1200" dirty="0">
                        <a:latin typeface="Calibri" charset="0"/>
                        <a:ea typeface="Calibri" charset="0"/>
                        <a:cs typeface="Calibri" charset="0"/>
                      </a:endParaRPr>
                    </a:p>
                  </a:txBody>
                  <a:tcPr marL="36576" marR="36576" marT="36576" marB="36576"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Observation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intensity 0.97 (conf. 0.97) · ignition proximity 1.00 (0.97) · asset exposure 1.00 (1.00) · fuel load 0.70 (0.12) · suppression availability 1.00 (1.00) — five of the ten features; the full vector is in the cycle record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Concept gate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0.12 · asset exposure risk 0.97 · feasibility 1.00 · urgency 0.12 · evacuation pressure 0.97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Effective activation</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fire threat 0.36 · asset risk 0.85 · feasibility 0.79 · urgency 0.38 · evac. pressure 0.62</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Rules fired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G5 0.50 · R20 0.19 · G2 0.19 · G4 0.19 · G1 0.17 · G3 0.17 · G6 0.17 · G7 0.17 · G8 0.17 · G9 0.17 · R26 0.11 · R7 0.07</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Candidate orders</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water drafting 0.84 · containment 0.83 · retardant drop 0.82 · suppression 0.80 · asset prot. 0.75 · deployment 0.70 · evacuation 0.66</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Satisficing test</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forecast 0.0490 vs no-action 0.2568, bound 0.2500 → accepted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6"/>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Quality gate</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0.776 vs 0.60 → no derating</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7"/>
                  </a:ext>
                </a:extLst>
              </a:tr>
              <a:tr h="502920">
                <a:tc>
                  <a:txBody>
                    <a:bodyPr/>
                    <a:lstStyle/>
                    <a:p>
                      <a:pPr marL="0" indent="0">
                        <a:buNone/>
                      </a:pPr>
                      <a:r>
                        <a:rPr lang="en-US" sz="1200" b="1" dirty="0">
                          <a:solidFill>
                            <a:srgbClr val="E31836"/>
                          </a:solidFill>
                          <a:latin typeface="Calibri" pitchFamily="34" charset="0"/>
                          <a:ea typeface="Calibri" pitchFamily="34" charset="-122"/>
                          <a:cs typeface="Calibri" pitchFamily="34" charset="-120"/>
                        </a:rPr>
                        <a:t>Fielded order</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tc>
                  <a:txBody>
                    <a:bodyPr/>
                    <a:lstStyle/>
                    <a:p>
                      <a:pPr marL="0" indent="0">
                        <a:buNone/>
                      </a:pPr>
                      <a:r>
                        <a:rPr lang="en-US" sz="1200" dirty="0">
                          <a:solidFill>
                            <a:srgbClr val="222222"/>
                          </a:solidFill>
                          <a:latin typeface="Calibri" pitchFamily="34" charset="0"/>
                          <a:ea typeface="Calibri" pitchFamily="34" charset="-122"/>
                          <a:cs typeface="Calibri" pitchFamily="34" charset="-120"/>
                        </a:rPr>
                        <a:t>the candidate as written, at attention share 1.00 (region attended)</a:t>
                      </a:r>
                      <a:endParaRPr lang="en-US" sz="1200" dirty="0">
                        <a:latin typeface="Calibri" charset="0"/>
                        <a:ea typeface="Calibri" charset="0"/>
                        <a:cs typeface="Calibri" charset="0"/>
                      </a:endParaRPr>
                    </a:p>
                  </a:txBody>
                  <a:tcPr marL="45720" marR="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Text 2"/>
          <p:cNvSpPr/>
          <p:nvPr/>
        </p:nvSpPr>
        <p:spPr>
          <a:xfrm>
            <a:off x="457200" y="6309360"/>
            <a:ext cx="11292840" cy="320040"/>
          </a:xfrm>
          <a:prstGeom prst="rect">
            <a:avLst/>
          </a:prstGeom>
          <a:noFill/>
          <a:ln/>
        </p:spPr>
        <p:txBody>
          <a:bodyPr wrap="square" lIns="0" tIns="0" rIns="0" bIns="0" rtlCol="0" anchor="t"/>
          <a:lstStyle/>
          <a:p>
            <a:pPr marL="0" indent="0">
              <a:lnSpc>
                <a:spcPct val="104000"/>
              </a:lnSpc>
              <a:buNone/>
            </a:pPr>
            <a:r>
              <a:rPr lang="en-US" sz="1250" i="1" dirty="0">
                <a:solidFill>
                  <a:srgbClr val="6E6E6E"/>
                </a:solidFill>
                <a:latin typeface="Calibri" pitchFamily="34" charset="0"/>
                <a:ea typeface="Calibri" pitchFamily="34" charset="-122"/>
                <a:cs typeface="Calibri" pitchFamily="34" charset="-120"/>
              </a:rPr>
              <a:t>Five minutes after ignition, the attended region of a recorded incident. Each line is produced by the line above it — the row order is the order the layer works in.</a:t>
            </a:r>
            <a:endParaRPr lang="en-US" sz="1250" dirty="0"/>
          </a:p>
        </p:txBody>
      </p:sp>
      <p:sp>
        <p:nvSpPr>
          <p:cNvPr id="900113" name="PageNum"/>
          <p:cNvSpPr txBox="1"/>
          <p:nvPr/>
        </p:nvSpPr>
        <p:spPr>
          <a:xfrm>
            <a:off x="11350000" y="6530000"/>
            <a:ext cx="750000" cy="280000"/>
          </a:xfrm>
          <a:prstGeom prst="rect">
            <a:avLst/>
          </a:prstGeom>
          <a:noFill/>
        </p:spPr>
        <p:txBody>
          <a:bodyPr wrap="none" rtlCol="0" anchor="ctr"/>
          <a:lstStyle/>
          <a:p>
            <a:pPr algn="r"/>
            <a:r>
              <a:rPr lang="en-US" sz="1100">
                <a:solidFill>
                  <a:srgbClr val="A6A6A6"/>
                </a:solidFill>
                <a:latin typeface="Calibri"/>
              </a:rPr>
              <a:t>113 / 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910</TotalTime>
  <Words>27871</Words>
  <Application>Microsoft Office PowerPoint</Application>
  <PresentationFormat>Widescreen</PresentationFormat>
  <Paragraphs>2570</Paragraphs>
  <Slides>113</Slides>
  <Notes>113</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113</vt:i4>
      </vt:variant>
    </vt:vector>
  </HeadingPairs>
  <TitlesOfParts>
    <vt:vector size="121" baseType="lpstr">
      <vt:lpstr>Arial</vt:lpstr>
      <vt:lpstr>Calibri</vt:lpstr>
      <vt:lpstr>Cambria</vt:lpstr>
      <vt:lpstr>Cambria Math</vt:lpstr>
      <vt:lpstr>Consolas</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cakman</dc:creator>
  <cp:lastModifiedBy>cakman</cp:lastModifiedBy>
  <cp:revision>46</cp:revision>
  <dcterms:created xsi:type="dcterms:W3CDTF">2026-08-13T07:33:11Z</dcterms:created>
  <dcterms:modified xsi:type="dcterms:W3CDTF">2026-08-14T13:04:52Z</dcterms:modified>
</cp:coreProperties>
</file>